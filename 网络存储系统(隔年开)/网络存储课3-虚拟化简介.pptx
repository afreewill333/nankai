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61" r:id="rId2"/>
    <p:sldId id="390" r:id="rId3"/>
    <p:sldId id="567" r:id="rId4"/>
    <p:sldId id="369" r:id="rId5"/>
    <p:sldId id="557" r:id="rId6"/>
    <p:sldId id="372" r:id="rId7"/>
    <p:sldId id="568" r:id="rId8"/>
    <p:sldId id="554" r:id="rId9"/>
    <p:sldId id="374" r:id="rId10"/>
    <p:sldId id="558" r:id="rId11"/>
    <p:sldId id="375" r:id="rId12"/>
    <p:sldId id="555" r:id="rId13"/>
    <p:sldId id="380" r:id="rId14"/>
    <p:sldId id="556" r:id="rId15"/>
    <p:sldId id="566" r:id="rId16"/>
    <p:sldId id="563" r:id="rId17"/>
    <p:sldId id="569" r:id="rId18"/>
    <p:sldId id="564" r:id="rId19"/>
    <p:sldId id="565" r:id="rId20"/>
    <p:sldId id="559" r:id="rId21"/>
    <p:sldId id="562" r:id="rId22"/>
    <p:sldId id="560" r:id="rId23"/>
    <p:sldId id="366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8503A-27D3-468A-BEE6-6B914082727A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59360-EF56-45BC-ABE6-E9B502F40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17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46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328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702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6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967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730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全虚拟化又分为 纯软件全虚拟化和硬件辅助，这里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全虚拟化主要是纯软件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69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007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654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65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558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相比全虚拟化，减少了陷入内核的次数，减少了数据的拷贝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54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160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578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562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128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138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008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2940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9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377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36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01231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01298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45895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555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65108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77256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2012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34279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8746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7346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3832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2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18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37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56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7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594" indent="-228594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smilejay.com/2012/08/qemu-kvm-cache-off/" TargetMode="External"/><Relationship Id="rId7" Type="http://schemas.openxmlformats.org/officeDocument/2006/relationships/hyperlink" Target="https://www.slideshare.net/igalia/improving-the-performance-of-the-qcow2-format-kvm-forum-2017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nblogs.com/sammyliu/p/5066895.html" TargetMode="External"/><Relationship Id="rId5" Type="http://schemas.openxmlformats.org/officeDocument/2006/relationships/hyperlink" Target="https://www.thomas-krenn.com/en/wiki/Linux_Storage_Stack_Diagram" TargetMode="External"/><Relationship Id="rId4" Type="http://schemas.openxmlformats.org/officeDocument/2006/relationships/hyperlink" Target="https://www.ibm.com/developerworks/cn/linux/l-virtio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68944" y="1554976"/>
            <a:ext cx="5032148" cy="882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ts val="6520"/>
              </a:lnSpc>
              <a:spcAft>
                <a:spcPct val="0"/>
              </a:spcAft>
            </a:pPr>
            <a:r>
              <a:rPr kumimoji="1" lang="zh-CN" altLang="en-US" sz="54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存储虚拟化介绍</a:t>
            </a:r>
            <a:endParaRPr kumimoji="1" lang="en-US" altLang="zh-CN" sz="54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3463" y="5219702"/>
            <a:ext cx="2662908" cy="8798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崔立骁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 2019.</a:t>
            </a: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10.</a:t>
            </a: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12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cuilx@nbjl.nankai.edu.cn</a:t>
            </a:r>
            <a:endParaRPr kumimoji="1" lang="zh-CN" altLang="en-US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dirty="0">
                <a:solidFill>
                  <a:prstClr val="white">
                    <a:lumMod val="9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prstClr val="white">
                  <a:lumMod val="9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认识虚拟化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44179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认识虚拟化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内存虚拟化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86571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什么是虚拟化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B20AA5-67B0-4438-89FF-749FA5CFFAA5}"/>
              </a:ext>
            </a:extLst>
          </p:cNvPr>
          <p:cNvSpPr txBox="1"/>
          <p:nvPr/>
        </p:nvSpPr>
        <p:spPr>
          <a:xfrm>
            <a:off x="654259" y="3846593"/>
            <a:ext cx="8101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操作系统的硬件抽象（虚拟内存，文件，设备）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虚拟机（</a:t>
            </a:r>
            <a:r>
              <a:rPr lang="en-US" altLang="zh-CN" dirty="0" err="1"/>
              <a:t>i.e</a:t>
            </a:r>
            <a:r>
              <a:rPr lang="en-US" altLang="zh-CN" dirty="0"/>
              <a:t> </a:t>
            </a:r>
            <a:r>
              <a:rPr lang="en-US" altLang="zh-CN" dirty="0" err="1"/>
              <a:t>qemu</a:t>
            </a:r>
            <a:r>
              <a:rPr lang="en-US" altLang="zh-CN" dirty="0"/>
              <a:t>, VMware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容器（</a:t>
            </a:r>
            <a:r>
              <a:rPr lang="en-US" altLang="zh-CN" dirty="0" err="1"/>
              <a:t>i.e</a:t>
            </a:r>
            <a:r>
              <a:rPr lang="en-US" altLang="zh-CN" dirty="0"/>
              <a:t> docker</a:t>
            </a:r>
            <a:r>
              <a:rPr lang="zh-CN" altLang="en-US" dirty="0"/>
              <a:t>）</a:t>
            </a:r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0847C319-EAD7-46BA-9E8A-3C827170790B}"/>
              </a:ext>
            </a:extLst>
          </p:cNvPr>
          <p:cNvSpPr/>
          <p:nvPr/>
        </p:nvSpPr>
        <p:spPr>
          <a:xfrm>
            <a:off x="5921205" y="4002041"/>
            <a:ext cx="246888" cy="132188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EFBF869C-4205-4AD7-90EC-0B3AFB61BE54}"/>
              </a:ext>
            </a:extLst>
          </p:cNvPr>
          <p:cNvSpPr/>
          <p:nvPr/>
        </p:nvSpPr>
        <p:spPr>
          <a:xfrm>
            <a:off x="3523421" y="4585257"/>
            <a:ext cx="246888" cy="738664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8B32B9-C72D-43B3-BC6D-48041439815F}"/>
              </a:ext>
            </a:extLst>
          </p:cNvPr>
          <p:cNvSpPr txBox="1"/>
          <p:nvPr/>
        </p:nvSpPr>
        <p:spPr>
          <a:xfrm>
            <a:off x="4010107" y="4807285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狭义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B45EC5-550A-4A1C-9F19-BFED88145848}"/>
              </a:ext>
            </a:extLst>
          </p:cNvPr>
          <p:cNvSpPr txBox="1"/>
          <p:nvPr/>
        </p:nvSpPr>
        <p:spPr>
          <a:xfrm>
            <a:off x="6337259" y="4437953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8529B3-AECD-451A-83EC-762F82D37C59}"/>
              </a:ext>
            </a:extLst>
          </p:cNvPr>
          <p:cNvSpPr txBox="1"/>
          <p:nvPr/>
        </p:nvSpPr>
        <p:spPr>
          <a:xfrm>
            <a:off x="459252" y="2247423"/>
            <a:ext cx="8225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虚拟化是对资源的抽象，根据不同的需求定制资源划分方式</a:t>
            </a:r>
          </a:p>
        </p:txBody>
      </p:sp>
    </p:spTree>
    <p:extLst>
      <p:ext uri="{BB962C8B-B14F-4D97-AF65-F5344CB8AC3E}">
        <p14:creationId xmlns:p14="http://schemas.microsoft.com/office/powerpoint/2010/main" val="34631843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认识虚拟机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91AE6B-CD3A-44B9-9231-F21858AAC855}"/>
              </a:ext>
            </a:extLst>
          </p:cNvPr>
          <p:cNvSpPr txBox="1"/>
          <p:nvPr/>
        </p:nvSpPr>
        <p:spPr>
          <a:xfrm>
            <a:off x="347472" y="1399032"/>
            <a:ext cx="844402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虚拟机是什么？</a:t>
            </a:r>
            <a:endParaRPr lang="en-US" altLang="zh-CN" sz="2000" dirty="0"/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一种模拟的计算机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</a:t>
            </a:r>
            <a:r>
              <a:rPr lang="en-US" altLang="zh-CN" dirty="0"/>
              <a:t>host</a:t>
            </a:r>
            <a:r>
              <a:rPr lang="zh-CN" altLang="en-US" dirty="0"/>
              <a:t>机作为一个应用程序运行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良好的隔离性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860D0A-2420-4BB5-B027-FB8F554A1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43" y="4058114"/>
            <a:ext cx="6501348" cy="22972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7CECB4-7AAE-4732-90AE-CD8B24F2C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9" y="2799886"/>
            <a:ext cx="6397832" cy="34683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2A8B5F8-16C9-409F-BEA7-6ECB47D0BF38}"/>
              </a:ext>
            </a:extLst>
          </p:cNvPr>
          <p:cNvSpPr txBox="1"/>
          <p:nvPr/>
        </p:nvSpPr>
        <p:spPr>
          <a:xfrm>
            <a:off x="5614416" y="6406724"/>
            <a:ext cx="3664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摘自 </a:t>
            </a:r>
            <a:r>
              <a:rPr lang="en-US" altLang="zh-CN" sz="1200" dirty="0"/>
              <a:t>MIT 6.828</a:t>
            </a:r>
            <a:r>
              <a:rPr lang="zh-CN" altLang="en-US" sz="1200" dirty="0"/>
              <a:t>课程讲义</a:t>
            </a:r>
          </a:p>
        </p:txBody>
      </p:sp>
    </p:spTree>
    <p:extLst>
      <p:ext uri="{BB962C8B-B14F-4D97-AF65-F5344CB8AC3E}">
        <p14:creationId xmlns:p14="http://schemas.microsoft.com/office/powerpoint/2010/main" val="40378087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虚拟机的发展历史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C9B34FB-FB0D-4D18-B7EE-3509A0B71A21}"/>
              </a:ext>
            </a:extLst>
          </p:cNvPr>
          <p:cNvCxnSpPr/>
          <p:nvPr/>
        </p:nvCxnSpPr>
        <p:spPr>
          <a:xfrm>
            <a:off x="813816" y="2560320"/>
            <a:ext cx="762609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6B64223C-3E3D-4563-B13E-1ADF91C7634A}"/>
              </a:ext>
            </a:extLst>
          </p:cNvPr>
          <p:cNvSpPr/>
          <p:nvPr/>
        </p:nvSpPr>
        <p:spPr>
          <a:xfrm>
            <a:off x="1426464" y="2487168"/>
            <a:ext cx="137160" cy="13714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7BEB28-08EB-49BA-8719-4DD08B12A4EE}"/>
              </a:ext>
            </a:extLst>
          </p:cNvPr>
          <p:cNvSpPr txBox="1"/>
          <p:nvPr/>
        </p:nvSpPr>
        <p:spPr>
          <a:xfrm>
            <a:off x="950976" y="2862072"/>
            <a:ext cx="157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 </a:t>
            </a:r>
            <a:r>
              <a:rPr lang="en-US" altLang="zh-CN" sz="1400" dirty="0"/>
              <a:t>1959</a:t>
            </a:r>
            <a:r>
              <a:rPr lang="zh-CN" altLang="en-US" sz="1400" dirty="0"/>
              <a:t>，提出分时操作系统概念</a:t>
            </a: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119B0F2C-AC17-46D9-9DB2-32E0A5F7901E}"/>
              </a:ext>
            </a:extLst>
          </p:cNvPr>
          <p:cNvSpPr/>
          <p:nvPr/>
        </p:nvSpPr>
        <p:spPr>
          <a:xfrm>
            <a:off x="3291840" y="2502427"/>
            <a:ext cx="137160" cy="13714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1D6BD5-449B-41B7-BE76-2C225A7CBE52}"/>
              </a:ext>
            </a:extLst>
          </p:cNvPr>
          <p:cNvSpPr txBox="1"/>
          <p:nvPr/>
        </p:nvSpPr>
        <p:spPr>
          <a:xfrm>
            <a:off x="2523744" y="1782230"/>
            <a:ext cx="19842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 </a:t>
            </a:r>
            <a:r>
              <a:rPr lang="en-US" altLang="zh-CN" sz="1400" dirty="0"/>
              <a:t>1960s</a:t>
            </a:r>
            <a:r>
              <a:rPr lang="zh-CN" altLang="en-US" sz="1400" dirty="0"/>
              <a:t>，</a:t>
            </a:r>
            <a:r>
              <a:rPr lang="en-US" altLang="zh-CN" sz="1400" dirty="0"/>
              <a:t>IBMsystem370</a:t>
            </a:r>
            <a:r>
              <a:rPr lang="zh-CN" altLang="en-US" sz="1400" dirty="0"/>
              <a:t>机的分时系统命名为虚拟机。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FED89FF-4319-4BDC-B805-FD517A701B40}"/>
              </a:ext>
            </a:extLst>
          </p:cNvPr>
          <p:cNvSpPr/>
          <p:nvPr/>
        </p:nvSpPr>
        <p:spPr>
          <a:xfrm>
            <a:off x="5138928" y="2503960"/>
            <a:ext cx="137160" cy="13714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A4F5C5-C194-4477-B219-9DB8A883FED4}"/>
              </a:ext>
            </a:extLst>
          </p:cNvPr>
          <p:cNvSpPr txBox="1"/>
          <p:nvPr/>
        </p:nvSpPr>
        <p:spPr>
          <a:xfrm>
            <a:off x="4572000" y="2727151"/>
            <a:ext cx="1572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 </a:t>
            </a:r>
            <a:r>
              <a:rPr lang="en-US" altLang="zh-CN" sz="1400" dirty="0"/>
              <a:t>1990s</a:t>
            </a:r>
            <a:r>
              <a:rPr lang="zh-CN" altLang="en-US" sz="1400" dirty="0"/>
              <a:t>，</a:t>
            </a:r>
            <a:r>
              <a:rPr lang="en-US" altLang="zh-CN" sz="1400" dirty="0"/>
              <a:t>VMware</a:t>
            </a:r>
            <a:r>
              <a:rPr lang="zh-CN" altLang="en-US" sz="1400" dirty="0"/>
              <a:t>创立，虚拟机再次火热</a:t>
            </a: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E53A3AD3-AC9A-4AEE-9D8E-3B85F1F6691F}"/>
              </a:ext>
            </a:extLst>
          </p:cNvPr>
          <p:cNvSpPr/>
          <p:nvPr/>
        </p:nvSpPr>
        <p:spPr>
          <a:xfrm>
            <a:off x="6986016" y="2504845"/>
            <a:ext cx="137160" cy="13714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FE9183-E38F-4D49-AF27-35BE89B09332}"/>
              </a:ext>
            </a:extLst>
          </p:cNvPr>
          <p:cNvSpPr txBox="1"/>
          <p:nvPr/>
        </p:nvSpPr>
        <p:spPr>
          <a:xfrm>
            <a:off x="6217920" y="1782230"/>
            <a:ext cx="1572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 </a:t>
            </a:r>
            <a:r>
              <a:rPr lang="en-US" altLang="zh-CN" sz="1400" dirty="0"/>
              <a:t>2000s</a:t>
            </a:r>
            <a:r>
              <a:rPr lang="zh-CN" altLang="en-US" sz="1400" dirty="0"/>
              <a:t>，</a:t>
            </a:r>
            <a:r>
              <a:rPr lang="en-US" altLang="zh-CN" sz="1400" dirty="0"/>
              <a:t>Intel</a:t>
            </a:r>
            <a:r>
              <a:rPr lang="zh-CN" altLang="en-US" sz="1400" dirty="0"/>
              <a:t>和</a:t>
            </a:r>
            <a:r>
              <a:rPr lang="en-US" altLang="zh-CN" sz="1400" dirty="0"/>
              <a:t>AMD</a:t>
            </a:r>
            <a:r>
              <a:rPr lang="zh-CN" altLang="en-US" sz="1400" dirty="0"/>
              <a:t>为虚拟化提供硬件支持。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DEFF2E-40C4-4F80-8037-1199539C0C91}"/>
              </a:ext>
            </a:extLst>
          </p:cNvPr>
          <p:cNvSpPr txBox="1"/>
          <p:nvPr/>
        </p:nvSpPr>
        <p:spPr>
          <a:xfrm>
            <a:off x="740664" y="3886200"/>
            <a:ext cx="7818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Hypervisor/VMM</a:t>
            </a:r>
            <a:r>
              <a:rPr lang="zh-CN" altLang="en-US" dirty="0"/>
              <a:t> ：虚拟机管理程序</a:t>
            </a:r>
            <a:r>
              <a:rPr lang="en-US" altLang="zh-CN" dirty="0"/>
              <a:t>/</a:t>
            </a:r>
            <a:r>
              <a:rPr lang="zh-CN" altLang="en-US" dirty="0"/>
              <a:t>虚拟机监视器。虚拟化最核心的组件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常见的</a:t>
            </a:r>
            <a:r>
              <a:rPr lang="en-US" altLang="zh-CN" dirty="0"/>
              <a:t>Hypervisor/VMM</a:t>
            </a:r>
            <a:r>
              <a:rPr lang="zh-CN" altLang="en-US" dirty="0"/>
              <a:t> 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02ED259-3243-46FB-B588-C35ECE76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0" y="4827450"/>
            <a:ext cx="2552700" cy="14382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F58ECE4-01E0-481E-BC88-07DD64CC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447" y="4829563"/>
            <a:ext cx="2245106" cy="13816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003494A-EFB4-4EB2-85CA-9AD2AAC075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67" t="29609" r="10267" b="30944"/>
          <a:stretch/>
        </p:blipFill>
        <p:spPr>
          <a:xfrm>
            <a:off x="6223486" y="5016732"/>
            <a:ext cx="2216426" cy="110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92716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33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认识虚拟化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</a:t>
            </a:r>
            <a:endParaRPr kumimoji="1" lang="en-US" altLang="zh-CN" sz="20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类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虚拟化的崩溃一致性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内存虚拟化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020271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虚拟化原理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D5CBCD4-EF95-4DFB-B991-4960A0504DB3}"/>
              </a:ext>
            </a:extLst>
          </p:cNvPr>
          <p:cNvSpPr/>
          <p:nvPr/>
        </p:nvSpPr>
        <p:spPr>
          <a:xfrm>
            <a:off x="557784" y="2073037"/>
            <a:ext cx="1508760" cy="55833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虚拟机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8B2F8B1-B195-4A25-8EE3-28C915ABF8FA}"/>
              </a:ext>
            </a:extLst>
          </p:cNvPr>
          <p:cNvSpPr/>
          <p:nvPr/>
        </p:nvSpPr>
        <p:spPr>
          <a:xfrm>
            <a:off x="557783" y="3234190"/>
            <a:ext cx="3104849" cy="5232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hypervisor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4B0C35-BC71-4394-9A88-54416E75B15B}"/>
              </a:ext>
            </a:extLst>
          </p:cNvPr>
          <p:cNvSpPr/>
          <p:nvPr/>
        </p:nvSpPr>
        <p:spPr>
          <a:xfrm>
            <a:off x="557784" y="4360229"/>
            <a:ext cx="3104848" cy="594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硬件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91AE6B-CD3A-44B9-9231-F21858AAC855}"/>
              </a:ext>
            </a:extLst>
          </p:cNvPr>
          <p:cNvSpPr txBox="1"/>
          <p:nvPr/>
        </p:nvSpPr>
        <p:spPr>
          <a:xfrm>
            <a:off x="3867912" y="1910751"/>
            <a:ext cx="49235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敏感指令：只能在内核态执行的指令集合</a:t>
            </a:r>
            <a:endParaRPr lang="en-US" altLang="zh-CN" sz="2000" dirty="0"/>
          </a:p>
          <a:p>
            <a:r>
              <a:rPr lang="zh-CN" altLang="en-US" sz="2000" dirty="0"/>
              <a:t>特权指令：在用户态执行可以引起陷入（内核态）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敏感指令 ∈ 特权指令         机器可以虚拟化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虚拟化技术：陷入 </a:t>
            </a:r>
            <a:r>
              <a:rPr lang="en-US" altLang="zh-CN" sz="2000" dirty="0"/>
              <a:t>– </a:t>
            </a:r>
            <a:r>
              <a:rPr lang="zh-CN" altLang="en-US" sz="2000" dirty="0"/>
              <a:t>仿真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硬件辅助虚拟化技术：</a:t>
            </a:r>
            <a:r>
              <a:rPr lang="en-US" altLang="zh-CN" sz="2000" dirty="0"/>
              <a:t>Intel VT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EAFDB77-D271-46C5-BB25-671505B1D2CD}"/>
              </a:ext>
            </a:extLst>
          </p:cNvPr>
          <p:cNvSpPr/>
          <p:nvPr/>
        </p:nvSpPr>
        <p:spPr>
          <a:xfrm>
            <a:off x="2212848" y="2095279"/>
            <a:ext cx="1508760" cy="55833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虚拟机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4412E70-412E-4F2E-8CEC-F2A7479B21A1}"/>
              </a:ext>
            </a:extLst>
          </p:cNvPr>
          <p:cNvCxnSpPr>
            <a:stCxn id="9" idx="2"/>
          </p:cNvCxnSpPr>
          <p:nvPr/>
        </p:nvCxnSpPr>
        <p:spPr>
          <a:xfrm>
            <a:off x="2967228" y="2653614"/>
            <a:ext cx="0" cy="5805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D134759-542D-4D82-91F9-58E949CD7C6B}"/>
              </a:ext>
            </a:extLst>
          </p:cNvPr>
          <p:cNvCxnSpPr/>
          <p:nvPr/>
        </p:nvCxnSpPr>
        <p:spPr>
          <a:xfrm>
            <a:off x="2967228" y="3779653"/>
            <a:ext cx="0" cy="5805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470C5FA-DB3C-4BCE-B2C8-7E8048DEF602}"/>
              </a:ext>
            </a:extLst>
          </p:cNvPr>
          <p:cNvCxnSpPr>
            <a:cxnSpLocks/>
          </p:cNvCxnSpPr>
          <p:nvPr/>
        </p:nvCxnSpPr>
        <p:spPr>
          <a:xfrm flipV="1">
            <a:off x="2561844" y="2671899"/>
            <a:ext cx="0" cy="5622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B0F2518A-2B0D-4773-A0CE-198628E8B0A1}"/>
              </a:ext>
            </a:extLst>
          </p:cNvPr>
          <p:cNvSpPr/>
          <p:nvPr/>
        </p:nvSpPr>
        <p:spPr>
          <a:xfrm>
            <a:off x="6430287" y="3227832"/>
            <a:ext cx="338328" cy="20116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84306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全虚拟化与类虚拟化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B3622E-F131-4EC1-8C6C-69886D6ABD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3" t="3801" r="52513" b="3342"/>
          <a:stretch/>
        </p:blipFill>
        <p:spPr>
          <a:xfrm>
            <a:off x="987553" y="1593151"/>
            <a:ext cx="3401566" cy="2286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55C90B-9CA0-40F0-AAAF-BE71DF717380}"/>
              </a:ext>
            </a:extLst>
          </p:cNvPr>
          <p:cNvSpPr txBox="1"/>
          <p:nvPr/>
        </p:nvSpPr>
        <p:spPr>
          <a:xfrm>
            <a:off x="768096" y="4233672"/>
            <a:ext cx="7845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全虚拟化：依靠陷入</a:t>
            </a:r>
            <a:r>
              <a:rPr lang="en-US" altLang="zh-CN" dirty="0"/>
              <a:t>-</a:t>
            </a:r>
            <a:r>
              <a:rPr lang="zh-CN" altLang="en-US" dirty="0"/>
              <a:t>仿真的方法实现虚拟化，</a:t>
            </a:r>
            <a:r>
              <a:rPr lang="en-US" altLang="zh-CN" dirty="0"/>
              <a:t>guest</a:t>
            </a:r>
            <a:r>
              <a:rPr lang="zh-CN" altLang="en-US" dirty="0"/>
              <a:t>操作系统感知不到自身运行在虚拟环境中。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类</a:t>
            </a:r>
            <a:r>
              <a:rPr lang="zh-CN" altLang="en-US"/>
              <a:t>虚拟</a:t>
            </a:r>
            <a:r>
              <a:rPr lang="zh-CN" altLang="en-US" dirty="0"/>
              <a:t>化：需要修改</a:t>
            </a:r>
            <a:r>
              <a:rPr lang="en-US" altLang="zh-CN" dirty="0"/>
              <a:t>guest</a:t>
            </a:r>
            <a:r>
              <a:rPr lang="zh-CN" altLang="en-US" dirty="0"/>
              <a:t>操作系统代码，</a:t>
            </a:r>
            <a:r>
              <a:rPr lang="en-US" altLang="zh-CN" dirty="0"/>
              <a:t>guest</a:t>
            </a:r>
            <a:r>
              <a:rPr lang="zh-CN" altLang="en-US" dirty="0"/>
              <a:t>操作系统知道自身运行在虚拟环境中，并通过某些协议与</a:t>
            </a:r>
            <a:r>
              <a:rPr lang="en-US" altLang="zh-CN" dirty="0"/>
              <a:t>hypervisor</a:t>
            </a:r>
            <a:r>
              <a:rPr lang="zh-CN" altLang="en-US" dirty="0"/>
              <a:t>交互。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4E5026-E8CD-4699-8224-747757C496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28" t="3097" r="1178" b="2428"/>
          <a:stretch/>
        </p:blipFill>
        <p:spPr>
          <a:xfrm>
            <a:off x="4754883" y="1593151"/>
            <a:ext cx="324611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057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874D586-3F68-4E02-B9D8-9A264BB812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1" t="35333" r="5228" b="7199"/>
          <a:stretch/>
        </p:blipFill>
        <p:spPr>
          <a:xfrm>
            <a:off x="1838870" y="1378451"/>
            <a:ext cx="4955122" cy="349534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25EE871-9EC7-4AB4-B240-82381CF309B4}"/>
              </a:ext>
            </a:extLst>
          </p:cNvPr>
          <p:cNvSpPr txBox="1"/>
          <p:nvPr/>
        </p:nvSpPr>
        <p:spPr>
          <a:xfrm>
            <a:off x="654259" y="4873798"/>
            <a:ext cx="7324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将镜像文件模拟为硬件设备，供虚拟机使用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Host</a:t>
            </a:r>
            <a:r>
              <a:rPr lang="zh-CN" altLang="en-US" dirty="0"/>
              <a:t>：管理镜像文件</a:t>
            </a:r>
            <a:endParaRPr lang="en-US" altLang="zh-CN" dirty="0"/>
          </a:p>
          <a:p>
            <a:r>
              <a:rPr lang="en-US" altLang="zh-CN" dirty="0"/>
              <a:t>Hypervisor</a:t>
            </a:r>
            <a:r>
              <a:rPr lang="zh-CN" altLang="en-US" dirty="0"/>
              <a:t>：模拟执行</a:t>
            </a:r>
            <a:r>
              <a:rPr lang="en-US" altLang="zh-CN" dirty="0"/>
              <a:t>guest</a:t>
            </a:r>
            <a:r>
              <a:rPr lang="zh-CN" altLang="en-US" dirty="0"/>
              <a:t>中的</a:t>
            </a:r>
            <a:r>
              <a:rPr lang="en-US" altLang="zh-CN" dirty="0"/>
              <a:t>I/O</a:t>
            </a:r>
            <a:r>
              <a:rPr lang="zh-CN" altLang="en-US" dirty="0"/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68528364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07889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D5AB1B-0AD9-4C2C-A150-4BD269B392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0" t="36933" r="5450" b="5600"/>
          <a:stretch/>
        </p:blipFill>
        <p:spPr>
          <a:xfrm>
            <a:off x="265178" y="1435562"/>
            <a:ext cx="5184646" cy="35190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9276563-81CB-4B32-957C-27C7E0DBF107}"/>
              </a:ext>
            </a:extLst>
          </p:cNvPr>
          <p:cNvSpPr txBox="1"/>
          <p:nvPr/>
        </p:nvSpPr>
        <p:spPr>
          <a:xfrm>
            <a:off x="5541264" y="1554480"/>
            <a:ext cx="316382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客户机的设备驱动程序发起 </a:t>
            </a:r>
            <a:r>
              <a:rPr lang="en-US" altLang="zh-CN" sz="1600" dirty="0"/>
              <a:t>I/O </a:t>
            </a:r>
            <a:r>
              <a:rPr lang="zh-CN" altLang="en-US" sz="1600" dirty="0"/>
              <a:t>请求操作请求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KVM </a:t>
            </a:r>
            <a:r>
              <a:rPr lang="zh-CN" altLang="en-US" sz="1600" dirty="0"/>
              <a:t>模块捕获拦截这次 </a:t>
            </a:r>
            <a:r>
              <a:rPr lang="en-US" altLang="zh-CN" sz="1600" dirty="0"/>
              <a:t>I/O </a:t>
            </a:r>
            <a:r>
              <a:rPr lang="zh-CN" altLang="en-US" sz="1600" dirty="0"/>
              <a:t>请求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 KVM</a:t>
            </a:r>
            <a:r>
              <a:rPr lang="zh-CN" altLang="en-US" sz="1600" dirty="0"/>
              <a:t>将本次 </a:t>
            </a:r>
            <a:r>
              <a:rPr lang="en-US" altLang="zh-CN" sz="1600" dirty="0"/>
              <a:t>I/O </a:t>
            </a:r>
            <a:r>
              <a:rPr lang="zh-CN" altLang="en-US" sz="1600" dirty="0"/>
              <a:t>请求的信息放到 </a:t>
            </a:r>
            <a:r>
              <a:rPr lang="en-US" altLang="zh-CN" sz="1600" dirty="0"/>
              <a:t>I/O </a:t>
            </a:r>
            <a:r>
              <a:rPr lang="zh-CN" altLang="en-US" sz="1600" dirty="0"/>
              <a:t>共享页 （</a:t>
            </a:r>
            <a:r>
              <a:rPr lang="en-US" altLang="zh-CN" sz="1600" dirty="0"/>
              <a:t>sharing page</a:t>
            </a:r>
            <a:r>
              <a:rPr lang="zh-CN" altLang="en-US" sz="1600" dirty="0"/>
              <a:t>），并通知用户空间的 </a:t>
            </a:r>
            <a:r>
              <a:rPr lang="en-US" altLang="zh-CN" sz="1600" dirty="0"/>
              <a:t>QEMU </a:t>
            </a:r>
            <a:r>
              <a:rPr lang="zh-CN" altLang="en-US" sz="1600" dirty="0"/>
              <a:t>程序。</a:t>
            </a:r>
            <a:r>
              <a:rPr lang="en-US" altLang="zh-CN" sz="16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QEMU </a:t>
            </a:r>
            <a:r>
              <a:rPr lang="zh-CN" altLang="en-US" sz="1600" dirty="0"/>
              <a:t>程序获得 </a:t>
            </a:r>
            <a:r>
              <a:rPr lang="en-US" altLang="zh-CN" sz="1600" dirty="0"/>
              <a:t>I/O </a:t>
            </a:r>
            <a:r>
              <a:rPr lang="zh-CN" altLang="en-US" sz="1600" dirty="0"/>
              <a:t>操作的具体信息之后，交由硬件模拟代码来模拟出本次 </a:t>
            </a:r>
            <a:r>
              <a:rPr lang="en-US" altLang="zh-CN" sz="1600" dirty="0"/>
              <a:t>I/O </a:t>
            </a:r>
            <a:r>
              <a:rPr lang="zh-CN" altLang="en-US" sz="1600" dirty="0"/>
              <a:t>操作。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 QEMU </a:t>
            </a:r>
            <a:r>
              <a:rPr lang="zh-CN" altLang="en-US" sz="1600" dirty="0"/>
              <a:t>将完成结果放回 </a:t>
            </a:r>
            <a:r>
              <a:rPr lang="en-US" altLang="zh-CN" sz="1600" dirty="0"/>
              <a:t>I/O </a:t>
            </a:r>
            <a:r>
              <a:rPr lang="zh-CN" altLang="en-US" sz="1600" dirty="0"/>
              <a:t>共享页，并通知 </a:t>
            </a:r>
            <a:r>
              <a:rPr lang="en-US" altLang="zh-CN" sz="1600" dirty="0"/>
              <a:t>KMV </a:t>
            </a:r>
            <a:r>
              <a:rPr lang="zh-CN" altLang="en-US" sz="1600" dirty="0"/>
              <a:t>模块。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KVM </a:t>
            </a:r>
            <a:r>
              <a:rPr lang="zh-CN" altLang="en-US" sz="1600" dirty="0"/>
              <a:t>模块的捕获代码读取 </a:t>
            </a:r>
            <a:r>
              <a:rPr lang="en-US" altLang="zh-CN" sz="1600" dirty="0"/>
              <a:t>I/O </a:t>
            </a:r>
            <a:r>
              <a:rPr lang="zh-CN" altLang="en-US" sz="1600" dirty="0"/>
              <a:t>共享页中的操作结果，并把结果放回客户机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1149167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07889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–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类虚拟化 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38A197-8C68-452A-B7DD-063A1D657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" r="53491"/>
          <a:stretch/>
        </p:blipFill>
        <p:spPr>
          <a:xfrm>
            <a:off x="654259" y="1408176"/>
            <a:ext cx="3411093" cy="41854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950093-63BD-4C58-9939-304041DD4A8E}"/>
              </a:ext>
            </a:extLst>
          </p:cNvPr>
          <p:cNvSpPr txBox="1"/>
          <p:nvPr/>
        </p:nvSpPr>
        <p:spPr>
          <a:xfrm>
            <a:off x="4480560" y="1618488"/>
            <a:ext cx="41970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guest</a:t>
            </a:r>
            <a:r>
              <a:rPr lang="zh-CN" altLang="en-US" dirty="0"/>
              <a:t>操作系统中安装前端驱动（</a:t>
            </a:r>
            <a:r>
              <a:rPr lang="en-US" altLang="zh-CN" dirty="0"/>
              <a:t>front end driver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前端驱动接受用户进程请求，并将</a:t>
            </a:r>
            <a:r>
              <a:rPr lang="en-US" altLang="zh-CN" dirty="0"/>
              <a:t>I/O</a:t>
            </a:r>
            <a:r>
              <a:rPr lang="zh-CN" altLang="en-US" dirty="0"/>
              <a:t>请求传送给后端驱动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host</a:t>
            </a:r>
            <a:r>
              <a:rPr lang="zh-CN" altLang="en-US" dirty="0"/>
              <a:t>的</a:t>
            </a:r>
            <a:r>
              <a:rPr lang="en-US" altLang="zh-CN" dirty="0"/>
              <a:t>hypervisor</a:t>
            </a:r>
            <a:r>
              <a:rPr lang="zh-CN" altLang="en-US" dirty="0"/>
              <a:t>中安装后端驱动（</a:t>
            </a:r>
            <a:r>
              <a:rPr lang="en-US" altLang="zh-CN" dirty="0"/>
              <a:t>backend driver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后端驱动接受前端驱动传递的</a:t>
            </a:r>
            <a:r>
              <a:rPr lang="en-US" altLang="zh-CN" dirty="0"/>
              <a:t>I/O</a:t>
            </a:r>
            <a:r>
              <a:rPr lang="zh-CN" altLang="en-US" dirty="0"/>
              <a:t>请求并模拟处理该请求</a:t>
            </a:r>
          </a:p>
        </p:txBody>
      </p:sp>
    </p:spTree>
    <p:extLst>
      <p:ext uri="{BB962C8B-B14F-4D97-AF65-F5344CB8AC3E}">
        <p14:creationId xmlns:p14="http://schemas.microsoft.com/office/powerpoint/2010/main" val="305161664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07889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–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类虚拟化 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8F122A-0E3A-42EA-A31C-A2E0CCF47D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3"/>
          <a:stretch/>
        </p:blipFill>
        <p:spPr>
          <a:xfrm>
            <a:off x="1739876" y="1243584"/>
            <a:ext cx="5664247" cy="34466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729FE09-A00A-4531-A130-C2F3F5AAE5A5}"/>
              </a:ext>
            </a:extLst>
          </p:cNvPr>
          <p:cNvSpPr txBox="1"/>
          <p:nvPr/>
        </p:nvSpPr>
        <p:spPr>
          <a:xfrm>
            <a:off x="654259" y="4954589"/>
            <a:ext cx="8169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Guest</a:t>
            </a:r>
            <a:r>
              <a:rPr lang="zh-CN" altLang="en-US" dirty="0"/>
              <a:t>到</a:t>
            </a:r>
            <a:r>
              <a:rPr lang="en-US" altLang="zh-CN" dirty="0"/>
              <a:t>Host</a:t>
            </a:r>
            <a:r>
              <a:rPr lang="zh-CN" altLang="en-US" dirty="0"/>
              <a:t>：</a:t>
            </a:r>
            <a:r>
              <a:rPr lang="en-US" altLang="zh-CN" dirty="0"/>
              <a:t>hypervisor call</a:t>
            </a:r>
            <a:r>
              <a:rPr lang="zh-CN" altLang="en-US" dirty="0"/>
              <a:t>。类似于</a:t>
            </a:r>
            <a:r>
              <a:rPr lang="en-US" altLang="zh-CN" dirty="0"/>
              <a:t>system call</a:t>
            </a:r>
            <a:r>
              <a:rPr lang="zh-CN" altLang="en-US" dirty="0"/>
              <a:t>，只不过是陷入</a:t>
            </a:r>
            <a:r>
              <a:rPr lang="en-US" altLang="zh-CN" dirty="0"/>
              <a:t>hypervisor</a:t>
            </a:r>
          </a:p>
          <a:p>
            <a:r>
              <a:rPr lang="en-US" altLang="zh-CN" dirty="0"/>
              <a:t>Host</a:t>
            </a:r>
            <a:r>
              <a:rPr lang="zh-CN" altLang="en-US" dirty="0"/>
              <a:t>到</a:t>
            </a:r>
            <a:r>
              <a:rPr lang="en-US" altLang="zh-CN" dirty="0"/>
              <a:t>Guest</a:t>
            </a:r>
            <a:r>
              <a:rPr lang="zh-CN" altLang="en-US" dirty="0"/>
              <a:t>：</a:t>
            </a:r>
            <a:r>
              <a:rPr lang="en-US" altLang="zh-CN" dirty="0"/>
              <a:t>KVM</a:t>
            </a:r>
            <a:r>
              <a:rPr lang="zh-CN" altLang="en-US" dirty="0"/>
              <a:t>通知</a:t>
            </a:r>
          </a:p>
          <a:p>
            <a:r>
              <a:rPr lang="en-US" altLang="zh-CN" dirty="0"/>
              <a:t>1. KVM </a:t>
            </a:r>
            <a:r>
              <a:rPr lang="zh-CN" altLang="en-US" dirty="0"/>
              <a:t>通过中断的方式通知 </a:t>
            </a:r>
            <a:r>
              <a:rPr lang="en-US" altLang="zh-CN" dirty="0"/>
              <a:t>QEMU </a:t>
            </a:r>
            <a:r>
              <a:rPr lang="zh-CN" altLang="en-US" dirty="0"/>
              <a:t>去获取数据，放到 </a:t>
            </a:r>
            <a:r>
              <a:rPr lang="en-US" altLang="zh-CN" dirty="0" err="1"/>
              <a:t>virtio</a:t>
            </a:r>
            <a:r>
              <a:rPr lang="en-US" altLang="zh-CN" dirty="0"/>
              <a:t> queue </a:t>
            </a:r>
            <a:r>
              <a:rPr lang="zh-CN" altLang="en-US" dirty="0"/>
              <a:t>中</a:t>
            </a:r>
          </a:p>
          <a:p>
            <a:r>
              <a:rPr lang="en-US" altLang="zh-CN" dirty="0"/>
              <a:t>2. KVM </a:t>
            </a:r>
            <a:r>
              <a:rPr lang="zh-CN" altLang="en-US" dirty="0"/>
              <a:t>再通知 </a:t>
            </a:r>
            <a:r>
              <a:rPr lang="en-US" altLang="zh-CN" dirty="0"/>
              <a:t>Guest </a:t>
            </a:r>
            <a:r>
              <a:rPr lang="zh-CN" altLang="en-US" dirty="0"/>
              <a:t>去 </a:t>
            </a:r>
            <a:r>
              <a:rPr lang="en-US" altLang="zh-CN" dirty="0" err="1"/>
              <a:t>virtio</a:t>
            </a:r>
            <a:r>
              <a:rPr lang="en-US" altLang="zh-CN" dirty="0"/>
              <a:t> queue </a:t>
            </a:r>
            <a:r>
              <a:rPr lang="zh-CN" altLang="en-US" dirty="0"/>
              <a:t>中取数据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24209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9" y="507889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 –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 类虚拟化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3073CD-48B3-4BDB-9F2A-F3D7B1AD3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91627"/>
            <a:ext cx="76581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001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崩溃一致性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B23407-1578-48B6-BB86-E1810A07922B}"/>
              </a:ext>
            </a:extLst>
          </p:cNvPr>
          <p:cNvSpPr txBox="1"/>
          <p:nvPr/>
        </p:nvSpPr>
        <p:spPr>
          <a:xfrm>
            <a:off x="475488" y="1453896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虚拟机调用</a:t>
            </a:r>
            <a:r>
              <a:rPr lang="en-US" altLang="zh-CN" dirty="0"/>
              <a:t>write</a:t>
            </a:r>
            <a:r>
              <a:rPr lang="zh-CN" altLang="en-US" dirty="0"/>
              <a:t>，数据会真正写到硬件上吗？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7611FB-3E0D-47F5-BF51-B8877CEADE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42" t="40510" r="7409" b="9530"/>
          <a:stretch/>
        </p:blipFill>
        <p:spPr>
          <a:xfrm>
            <a:off x="539496" y="2286000"/>
            <a:ext cx="3695599" cy="25104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759A53-DF6C-4070-B033-558D4F8C4A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01" t="20661" r="4499" b="6064"/>
          <a:stretch/>
        </p:blipFill>
        <p:spPr>
          <a:xfrm>
            <a:off x="4972915" y="1823228"/>
            <a:ext cx="4087366" cy="463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1631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崩溃一致性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627700-3FF2-4607-8B0C-F87A1856A1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541" b="1318"/>
          <a:stretch/>
        </p:blipFill>
        <p:spPr>
          <a:xfrm>
            <a:off x="230461" y="1402498"/>
            <a:ext cx="4695063" cy="488289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317F18-3250-4000-BA7C-34012A4FF7D4}"/>
              </a:ext>
            </a:extLst>
          </p:cNvPr>
          <p:cNvSpPr txBox="1"/>
          <p:nvPr/>
        </p:nvSpPr>
        <p:spPr>
          <a:xfrm>
            <a:off x="5349240" y="1554481"/>
            <a:ext cx="35642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虚拟机提供不同强度的一致性保证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以</a:t>
            </a:r>
            <a:r>
              <a:rPr lang="en-US" altLang="zh-CN" sz="1600" dirty="0" err="1"/>
              <a:t>qemu</a:t>
            </a:r>
            <a:r>
              <a:rPr lang="zh-CN" altLang="en-US" sz="1600" dirty="0"/>
              <a:t>为例，设定不同的</a:t>
            </a:r>
            <a:r>
              <a:rPr lang="en-US" altLang="zh-CN" sz="1600" dirty="0"/>
              <a:t>cache mode</a:t>
            </a:r>
            <a:r>
              <a:rPr lang="zh-CN" altLang="en-US" sz="1600" dirty="0"/>
              <a:t>决定数据在</a:t>
            </a:r>
            <a:r>
              <a:rPr lang="en-US" altLang="zh-CN" sz="1600" dirty="0"/>
              <a:t>host</a:t>
            </a:r>
            <a:r>
              <a:rPr lang="zh-CN" altLang="en-US" sz="1600" dirty="0"/>
              <a:t>的具体写入位置。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Mode=writeback  </a:t>
            </a:r>
            <a:r>
              <a:rPr lang="zh-CN" altLang="en-US" sz="1600" dirty="0"/>
              <a:t>写入</a:t>
            </a:r>
            <a:r>
              <a:rPr lang="en-US" altLang="zh-CN" sz="1600" dirty="0"/>
              <a:t>host </a:t>
            </a:r>
            <a:r>
              <a:rPr lang="en-US" altLang="zh-CN" sz="1600" dirty="0" err="1"/>
              <a:t>pageCache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Mode=None </a:t>
            </a:r>
            <a:r>
              <a:rPr lang="zh-CN" altLang="en-US" sz="1600" dirty="0"/>
              <a:t>绕过</a:t>
            </a:r>
            <a:r>
              <a:rPr lang="en-US" altLang="zh-CN" sz="1600" dirty="0"/>
              <a:t>page cache</a:t>
            </a:r>
            <a:r>
              <a:rPr lang="zh-CN" altLang="en-US" sz="1600" dirty="0"/>
              <a:t>，写入硬件缓存区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Mode=writethrough </a:t>
            </a:r>
            <a:r>
              <a:rPr lang="zh-CN" altLang="en-US" sz="1600" dirty="0"/>
              <a:t>写入磁盘硬件</a:t>
            </a:r>
          </a:p>
        </p:txBody>
      </p:sp>
    </p:spTree>
    <p:extLst>
      <p:ext uri="{BB962C8B-B14F-4D97-AF65-F5344CB8AC3E}">
        <p14:creationId xmlns:p14="http://schemas.microsoft.com/office/powerpoint/2010/main" val="32056002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2900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认识虚拟化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内存虚拟化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影子页表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硬件辅助虚拟化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87800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虚拟内存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1B37F4-ED72-42FB-8650-9A128791C6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0" t="31281" r="3600" b="9442"/>
          <a:stretch/>
        </p:blipFill>
        <p:spPr>
          <a:xfrm>
            <a:off x="230461" y="1271017"/>
            <a:ext cx="6812280" cy="32063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B9F422-4727-4661-905F-8D8F8EEB6E1A}"/>
              </a:ext>
            </a:extLst>
          </p:cNvPr>
          <p:cNvSpPr txBox="1"/>
          <p:nvPr/>
        </p:nvSpPr>
        <p:spPr>
          <a:xfrm>
            <a:off x="384048" y="4544568"/>
            <a:ext cx="8138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通过页表完成虚拟地址到物理地址的转换，在硬件</a:t>
            </a:r>
            <a:r>
              <a:rPr lang="en-US" altLang="zh-CN" dirty="0"/>
              <a:t>MMU</a:t>
            </a:r>
            <a:r>
              <a:rPr lang="zh-CN" altLang="en-US" dirty="0"/>
              <a:t>上完成转换。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页目录表的起始物理地址加载到</a:t>
            </a:r>
            <a:r>
              <a:rPr lang="en-US" altLang="zh-CN" dirty="0"/>
              <a:t>CR3</a:t>
            </a:r>
            <a:r>
              <a:rPr lang="zh-CN" altLang="en-US" dirty="0"/>
              <a:t>寄存器中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物理地址空间是连续的，都从</a:t>
            </a:r>
            <a:r>
              <a:rPr lang="en-US" altLang="zh-CN" dirty="0"/>
              <a:t>0</a:t>
            </a:r>
            <a:r>
              <a:rPr lang="zh-CN" altLang="en-US" dirty="0"/>
              <a:t>号地址开始</a:t>
            </a:r>
          </a:p>
        </p:txBody>
      </p:sp>
    </p:spTree>
    <p:extLst>
      <p:ext uri="{BB962C8B-B14F-4D97-AF65-F5344CB8AC3E}">
        <p14:creationId xmlns:p14="http://schemas.microsoft.com/office/powerpoint/2010/main" val="399769524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挑战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B9F422-4727-4661-905F-8D8F8EEB6E1A}"/>
              </a:ext>
            </a:extLst>
          </p:cNvPr>
          <p:cNvSpPr txBox="1"/>
          <p:nvPr/>
        </p:nvSpPr>
        <p:spPr>
          <a:xfrm>
            <a:off x="230461" y="1480732"/>
            <a:ext cx="8138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一个物理机上可运行多个虚拟机，每一个虚拟机的物理地址空间都要从</a:t>
            </a:r>
            <a:r>
              <a:rPr lang="en-US" altLang="zh-CN" dirty="0"/>
              <a:t>0</a:t>
            </a:r>
            <a:r>
              <a:rPr lang="zh-CN" altLang="en-US" dirty="0"/>
              <a:t>号地址开始。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5D3EC8-471D-4A07-9CE7-BB5510F214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5" b="33040"/>
          <a:stretch/>
        </p:blipFill>
        <p:spPr>
          <a:xfrm>
            <a:off x="570150" y="2127063"/>
            <a:ext cx="7458782" cy="28167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6559316-BDA6-4B51-916D-75F0A053837C}"/>
              </a:ext>
            </a:extLst>
          </p:cNvPr>
          <p:cNvSpPr txBox="1"/>
          <p:nvPr/>
        </p:nvSpPr>
        <p:spPr>
          <a:xfrm>
            <a:off x="230461" y="5064317"/>
            <a:ext cx="8138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引入客户机物理地址空间，作为中间转换层。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VMM/hypervisor</a:t>
            </a:r>
            <a:r>
              <a:rPr lang="zh-CN" altLang="en-US" dirty="0"/>
              <a:t>维护</a:t>
            </a:r>
            <a:r>
              <a:rPr lang="en-US" altLang="zh-CN" dirty="0"/>
              <a:t>GPA</a:t>
            </a:r>
            <a:r>
              <a:rPr lang="zh-CN" altLang="en-US" dirty="0"/>
              <a:t>到</a:t>
            </a:r>
            <a:r>
              <a:rPr lang="en-US" altLang="zh-CN" dirty="0"/>
              <a:t>HPA</a:t>
            </a:r>
            <a:r>
              <a:rPr lang="zh-CN" altLang="en-US" dirty="0"/>
              <a:t>的映射关系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）拦截虚拟机对</a:t>
            </a:r>
            <a:r>
              <a:rPr lang="en-US" altLang="zh-CN" dirty="0"/>
              <a:t>GPA</a:t>
            </a:r>
            <a:r>
              <a:rPr lang="zh-CN" altLang="en-US" dirty="0"/>
              <a:t>的访问，并转化为</a:t>
            </a:r>
            <a:r>
              <a:rPr lang="en-US" altLang="zh-CN" dirty="0"/>
              <a:t>HPA</a:t>
            </a:r>
          </a:p>
        </p:txBody>
      </p:sp>
    </p:spTree>
    <p:extLst>
      <p:ext uri="{BB962C8B-B14F-4D97-AF65-F5344CB8AC3E}">
        <p14:creationId xmlns:p14="http://schemas.microsoft.com/office/powerpoint/2010/main" val="531205866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影子页表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CB63C5-4951-49A5-8856-592D72A0D46F}"/>
              </a:ext>
            </a:extLst>
          </p:cNvPr>
          <p:cNvSpPr txBox="1"/>
          <p:nvPr/>
        </p:nvSpPr>
        <p:spPr>
          <a:xfrm>
            <a:off x="429768" y="1380744"/>
            <a:ext cx="8366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影子页表（</a:t>
            </a:r>
            <a:r>
              <a:rPr lang="en-US" altLang="zh-CN" dirty="0"/>
              <a:t>shadow page table</a:t>
            </a:r>
            <a:r>
              <a:rPr lang="zh-CN" altLang="en-US" dirty="0"/>
              <a:t>）：软件全虚拟化的内存虚拟化，</a:t>
            </a:r>
            <a:r>
              <a:rPr lang="en-US" altLang="zh-CN" dirty="0"/>
              <a:t>GVA -&gt; HPA</a:t>
            </a:r>
          </a:p>
          <a:p>
            <a:endParaRPr lang="en-US" altLang="zh-CN" dirty="0"/>
          </a:p>
          <a:p>
            <a:r>
              <a:rPr lang="en-US" altLang="zh-CN" dirty="0"/>
              <a:t>MMU</a:t>
            </a:r>
            <a:r>
              <a:rPr lang="zh-CN" altLang="en-US" dirty="0"/>
              <a:t>只能完成一次虚拟地址到物理地址的翻译，直接使用客户机页表在</a:t>
            </a:r>
            <a:r>
              <a:rPr lang="en-US" altLang="zh-CN" dirty="0"/>
              <a:t>MMU</a:t>
            </a:r>
            <a:r>
              <a:rPr lang="zh-CN" altLang="en-US" dirty="0"/>
              <a:t>上翻译，只能将</a:t>
            </a:r>
            <a:r>
              <a:rPr lang="en-US" altLang="zh-CN" dirty="0"/>
              <a:t>GVA</a:t>
            </a:r>
            <a:r>
              <a:rPr lang="zh-CN" altLang="en-US" dirty="0"/>
              <a:t>转化为</a:t>
            </a:r>
            <a:r>
              <a:rPr lang="en-US" altLang="zh-CN" dirty="0"/>
              <a:t>GPA</a:t>
            </a:r>
            <a:r>
              <a:rPr lang="zh-CN" altLang="en-US" dirty="0"/>
              <a:t>，</a:t>
            </a:r>
            <a:r>
              <a:rPr lang="en-US" altLang="zh-CN" dirty="0"/>
              <a:t>GPA</a:t>
            </a:r>
            <a:r>
              <a:rPr lang="zh-CN" altLang="en-US" dirty="0"/>
              <a:t>直接发送到内存总线上将引起错误。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FA2873-ADD2-4E97-8197-42748A5D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21" y="2718116"/>
            <a:ext cx="6891854" cy="38598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645994-C584-4172-ABEE-A97A26881A3F}"/>
              </a:ext>
            </a:extLst>
          </p:cNvPr>
          <p:cNvSpPr txBox="1"/>
          <p:nvPr/>
        </p:nvSpPr>
        <p:spPr>
          <a:xfrm>
            <a:off x="5788152" y="6581001"/>
            <a:ext cx="3664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摘自 </a:t>
            </a:r>
            <a:r>
              <a:rPr lang="en-US" altLang="zh-CN" sz="1200" dirty="0"/>
              <a:t>MIT 6.828</a:t>
            </a:r>
            <a:r>
              <a:rPr lang="zh-CN" altLang="en-US" sz="1200" dirty="0"/>
              <a:t>课程讲义</a:t>
            </a:r>
          </a:p>
        </p:txBody>
      </p:sp>
    </p:spTree>
    <p:extLst>
      <p:ext uri="{BB962C8B-B14F-4D97-AF65-F5344CB8AC3E}">
        <p14:creationId xmlns:p14="http://schemas.microsoft.com/office/powerpoint/2010/main" val="400561319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影子页表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8DC68A-40D2-4175-91C1-884F1F82B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9" y="1439579"/>
            <a:ext cx="5081535" cy="47469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BC97C9D-035B-4122-8AB6-DA8C8140E6D0}"/>
              </a:ext>
            </a:extLst>
          </p:cNvPr>
          <p:cNvSpPr txBox="1"/>
          <p:nvPr/>
        </p:nvSpPr>
        <p:spPr>
          <a:xfrm>
            <a:off x="2798064" y="6285394"/>
            <a:ext cx="354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摘自</a:t>
            </a:r>
            <a:r>
              <a:rPr lang="en-US" altLang="zh-CN" sz="1200" dirty="0"/>
              <a:t>《</a:t>
            </a:r>
            <a:r>
              <a:rPr lang="zh-CN" altLang="en-US" sz="1200" dirty="0"/>
              <a:t>系统虚拟化</a:t>
            </a:r>
            <a:r>
              <a:rPr lang="en-US" altLang="zh-CN" sz="1200" dirty="0"/>
              <a:t>——</a:t>
            </a:r>
            <a:r>
              <a:rPr lang="zh-CN" altLang="en-US" sz="1200" dirty="0"/>
              <a:t>原理与实现</a:t>
            </a:r>
            <a:r>
              <a:rPr lang="en-US" altLang="zh-CN" sz="1200" dirty="0"/>
              <a:t>》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1E84C0-E796-4184-869A-229C1426C889}"/>
              </a:ext>
            </a:extLst>
          </p:cNvPr>
          <p:cNvSpPr txBox="1"/>
          <p:nvPr/>
        </p:nvSpPr>
        <p:spPr>
          <a:xfrm>
            <a:off x="5056632" y="1439579"/>
            <a:ext cx="38496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主要思想：</a:t>
            </a:r>
            <a:endParaRPr lang="en-US" altLang="zh-CN" dirty="0"/>
          </a:p>
          <a:p>
            <a:r>
              <a:rPr lang="zh-CN" altLang="en-US" dirty="0"/>
              <a:t>客户机页表加载到虚拟</a:t>
            </a:r>
            <a:r>
              <a:rPr lang="en-US" altLang="zh-CN" dirty="0"/>
              <a:t>MMU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影子页表加载到物理</a:t>
            </a:r>
            <a:r>
              <a:rPr lang="en-US" altLang="zh-CN" dirty="0"/>
              <a:t>MMU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600" dirty="0"/>
              <a:t>具体实现：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客户机中每一个进程在宿主机都有一个影子页表与之对应。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当客户机触发缺页中断时，不仅要更新客户机页表，也要陷入到</a:t>
            </a:r>
            <a:r>
              <a:rPr lang="en-US" altLang="zh-CN" sz="1600" dirty="0"/>
              <a:t>VMM</a:t>
            </a:r>
            <a:r>
              <a:rPr lang="zh-CN" altLang="en-US" sz="1600" dirty="0"/>
              <a:t>中更新影子页表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缺陷：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采用纯软件维护地址映射关系，在影子页表与客户机页表同步时开销过大。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需要为每个客户机进程维护影子页表，消耗物理内存。</a:t>
            </a:r>
            <a:endParaRPr lang="en-US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644696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1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硬件辅助虚拟化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939C23-39E7-4827-8DBD-4EF613E051AF}"/>
              </a:ext>
            </a:extLst>
          </p:cNvPr>
          <p:cNvSpPr txBox="1"/>
          <p:nvPr/>
        </p:nvSpPr>
        <p:spPr>
          <a:xfrm>
            <a:off x="411480" y="1316736"/>
            <a:ext cx="7003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Intel VT-x</a:t>
            </a:r>
            <a:r>
              <a:rPr lang="zh-CN" altLang="en-US" dirty="0"/>
              <a:t>技术提供</a:t>
            </a:r>
            <a:r>
              <a:rPr lang="en-US" altLang="zh-CN" dirty="0"/>
              <a:t>EPT</a:t>
            </a:r>
            <a:r>
              <a:rPr lang="zh-CN" altLang="en-US" dirty="0"/>
              <a:t>（</a:t>
            </a:r>
            <a:r>
              <a:rPr lang="en-US" altLang="zh-CN" dirty="0"/>
              <a:t>extended page table</a:t>
            </a:r>
            <a:r>
              <a:rPr lang="zh-CN" altLang="en-US" dirty="0"/>
              <a:t>）硬件</a:t>
            </a:r>
            <a:endParaRPr lang="en-US" altLang="zh-CN" dirty="0"/>
          </a:p>
          <a:p>
            <a:r>
              <a:rPr lang="en-US" altLang="zh-CN" dirty="0"/>
              <a:t>MMU</a:t>
            </a:r>
            <a:r>
              <a:rPr lang="zh-CN" altLang="en-US" dirty="0"/>
              <a:t>：</a:t>
            </a:r>
            <a:r>
              <a:rPr lang="en-US" altLang="zh-CN" dirty="0"/>
              <a:t>GVA -&gt; GPA</a:t>
            </a:r>
          </a:p>
          <a:p>
            <a:r>
              <a:rPr lang="en-US" altLang="zh-CN" dirty="0"/>
              <a:t>EPT</a:t>
            </a:r>
            <a:r>
              <a:rPr lang="zh-CN" altLang="en-US" dirty="0"/>
              <a:t>：</a:t>
            </a:r>
            <a:r>
              <a:rPr lang="en-US" altLang="zh-CN" dirty="0"/>
              <a:t>GPA -&gt; HPA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664863-2AF4-4EFE-AD7A-4CC8597D9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165" y="2240066"/>
            <a:ext cx="5857669" cy="434737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419E371-6EF4-4753-B726-C3389CE20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030" y="6587444"/>
            <a:ext cx="3548180" cy="3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75737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024" y="2502877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参考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CF93DA-86F4-EF48-90EF-ECDB72D88FE3}"/>
              </a:ext>
            </a:extLst>
          </p:cNvPr>
          <p:cNvSpPr/>
          <p:nvPr/>
        </p:nvSpPr>
        <p:spPr>
          <a:xfrm>
            <a:off x="477443" y="3208960"/>
            <a:ext cx="818911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[1] 《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系统虚拟化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原理与实现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》,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复旦大学并行处理研究所，英特尔开源软件技术中心，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2008.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[2]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《Operating Systems: Three Easy Pieces》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,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Remzi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H.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and Andrea C.,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Books ,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March, 2015 (Version 0.80)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[3]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  <a:hlinkClick r:id="rId3"/>
              </a:rPr>
              <a:t>http://smilejay.com/2012/08/qemu-kvm-cache-off/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[4]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  <a:hlinkClick r:id="rId4"/>
              </a:rPr>
              <a:t>https://www.ibm.com/developerworks/cn/linux/l-virtio/index.html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[5]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  <a:hlinkClick r:id="rId5"/>
              </a:rPr>
              <a:t>https://www.thomas-krenn.com/en/wiki/Linux_Storage_Stack_Diagram</a:t>
            </a:r>
            <a:endParaRPr lang="fr-FR" altLang="zh-CN" sz="1200" dirty="0">
              <a:solidFill>
                <a:prstClr val="black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[6] Andrew.S Tanenbaum. Modern Opreating Systems. 2009(Thrid Edition).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[7] 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  <a:hlinkClick r:id="rId6"/>
              </a:rPr>
              <a:t>https://www.cnblogs.com/sammyliu/p/5066895.html</a:t>
            </a:r>
            <a:endParaRPr lang="en-US" altLang="zh-CN" sz="1200" dirty="0">
              <a:solidFill>
                <a:prstClr val="black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[8]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 </a:t>
            </a: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  <a:hlinkClick r:id="rId7"/>
              </a:rPr>
              <a:t>https://www.slideshare.net/igalia/improving-the-performance-of-the-qcow2-format-kvm-forum-2017</a:t>
            </a:r>
            <a:endParaRPr lang="fr-FR" altLang="zh-CN" sz="1200" dirty="0">
              <a:solidFill>
                <a:prstClr val="black"/>
              </a:solidFill>
              <a:latin typeface="Candara" panose="020E0502030303020204" pitchFamily="34" charset="0"/>
              <a:ea typeface="宋体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[9]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 </a:t>
            </a: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Hennessy, John L., and David A. Patterson. </a:t>
            </a:r>
            <a:r>
              <a:rPr lang="fr-FR" altLang="zh-CN" sz="1200" i="1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Computer architecture: a quantitative </a:t>
            </a:r>
            <a:r>
              <a:rPr lang="fr-FR" altLang="zh-CN" sz="1200" i="1" dirty="0" err="1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approach</a:t>
            </a: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. Elsevier, 2011.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zh-CN" sz="1200" dirty="0">
              <a:solidFill>
                <a:prstClr val="black"/>
              </a:solidFill>
              <a:latin typeface="Calibri Light" panose="020F0302020204030204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7E1C52-CE76-CF4D-BEB5-C75931393AFF}"/>
              </a:ext>
            </a:extLst>
          </p:cNvPr>
          <p:cNvSpPr txBox="1"/>
          <p:nvPr/>
        </p:nvSpPr>
        <p:spPr>
          <a:xfrm>
            <a:off x="2077720" y="1612128"/>
            <a:ext cx="4587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Thanks!</a:t>
            </a:r>
            <a:r>
              <a:rPr kumimoji="1" lang="zh-CN" altLang="en-US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   </a:t>
            </a:r>
            <a:r>
              <a:rPr kumimoji="1" lang="en-US" altLang="zh-CN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Questions?</a:t>
            </a:r>
            <a:endParaRPr kumimoji="1" lang="zh-CN" altLang="en-US" sz="4000" b="1" dirty="0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2030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1044</Words>
  <Application>Microsoft Office PowerPoint</Application>
  <PresentationFormat>全屏显示(4:3)</PresentationFormat>
  <Paragraphs>172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Microsoft YaHei</vt:lpstr>
      <vt:lpstr>Arial</vt:lpstr>
      <vt:lpstr>Calibri</vt:lpstr>
      <vt:lpstr>Calibri Light</vt:lpstr>
      <vt:lpstr>Candara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崔 立骁</dc:creator>
  <cp:lastModifiedBy>崔 立骁</cp:lastModifiedBy>
  <cp:revision>173</cp:revision>
  <dcterms:created xsi:type="dcterms:W3CDTF">2019-10-06T06:46:54Z</dcterms:created>
  <dcterms:modified xsi:type="dcterms:W3CDTF">2019-10-07T09:14:44Z</dcterms:modified>
</cp:coreProperties>
</file>