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media/image8.jpg" ContentType="image/pn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61" r:id="rId2"/>
    <p:sldId id="308" r:id="rId3"/>
    <p:sldId id="256" r:id="rId4"/>
    <p:sldId id="309" r:id="rId5"/>
    <p:sldId id="310" r:id="rId6"/>
    <p:sldId id="311" r:id="rId7"/>
    <p:sldId id="312" r:id="rId8"/>
    <p:sldId id="314" r:id="rId9"/>
    <p:sldId id="316" r:id="rId10"/>
    <p:sldId id="315" r:id="rId11"/>
    <p:sldId id="317" r:id="rId12"/>
    <p:sldId id="318" r:id="rId13"/>
    <p:sldId id="319" r:id="rId14"/>
    <p:sldId id="323" r:id="rId15"/>
    <p:sldId id="324" r:id="rId16"/>
    <p:sldId id="320" r:id="rId17"/>
    <p:sldId id="321" r:id="rId18"/>
    <p:sldId id="322" r:id="rId19"/>
    <p:sldId id="313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4615"/>
  </p:normalViewPr>
  <p:slideViewPr>
    <p:cSldViewPr snapToGrid="0" snapToObjects="1">
      <p:cViewPr varScale="1">
        <p:scale>
          <a:sx n="112" d="100"/>
          <a:sy n="112" d="100"/>
        </p:scale>
        <p:origin x="57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50FCEE-2D35-8547-9A4C-C0F5093D06C0}" type="datetimeFigureOut">
              <a:rPr kumimoji="1" lang="zh-CN" altLang="en-US" smtClean="0"/>
              <a:t>2019/11/27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01B98-7C95-0C43-BA7D-465246416BC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60206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64956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81011A-73A1-2A42-A16B-53A3577857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CF484EE-9753-4246-B03B-54F3BC6A21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D7F396D-87FA-8E40-823A-34DE9B056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0CFEE-2D79-5C43-9B72-B61A38988C3A}" type="datetimeFigureOut">
              <a:rPr kumimoji="1" lang="zh-CN" altLang="en-US" smtClean="0"/>
              <a:t>2019/11/27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7469AF7-C143-FD4F-9205-A8D200777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AB4C516-5F9E-D44A-8E3D-08C2E70A9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1F65D-A6CE-E24A-85A3-4E59A1CF0FC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32224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ED4A29-7CC2-1745-AF1F-307496DAA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A1AD13F-4275-3A4C-9B2A-C2F33CA4F1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677F63F-A443-3B4B-BA62-1C0E36D07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0CFEE-2D79-5C43-9B72-B61A38988C3A}" type="datetimeFigureOut">
              <a:rPr kumimoji="1" lang="zh-CN" altLang="en-US" smtClean="0"/>
              <a:t>2019/11/27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FAA05D-C892-7B4C-A751-435030CD9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E1E444E-117C-9542-97E0-FABE80191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1F65D-A6CE-E24A-85A3-4E59A1CF0FC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680402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790801-F9FB-B24B-9B56-06B634DCF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FACF8AC-E0FA-C341-870B-6E2B1E116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9C3B95-20C9-994E-A3F6-EB92A9087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0CFEE-2D79-5C43-9B72-B61A38988C3A}" type="datetimeFigureOut">
              <a:rPr kumimoji="1" lang="zh-CN" altLang="en-US" smtClean="0"/>
              <a:t>2019/11/27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81BC6A-9565-6E44-8626-11D2A5522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0995213-A1E0-FF41-A161-913D35E12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1F65D-A6CE-E24A-85A3-4E59A1CF0FC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56444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F535AA-E5D0-C04A-89F4-4B25ED487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70FCED5-7AA6-2840-9901-C748A39773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2E91EFF-E82D-614E-8AA2-65F3EEC6A8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33EFDF2-0246-114D-9D0A-5996D3D37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0CFEE-2D79-5C43-9B72-B61A38988C3A}" type="datetimeFigureOut">
              <a:rPr kumimoji="1" lang="zh-CN" altLang="en-US" smtClean="0"/>
              <a:t>2019/11/27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97C90A9-3303-1D4C-9882-EE7D2BB0B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2313720-9CD3-374D-A401-C50D59850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1F65D-A6CE-E24A-85A3-4E59A1CF0FC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64951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F60E95-AE0F-1F40-AB32-B95F7B759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10661E8-3F65-9647-A404-F0277B01A1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60B9E29-F33A-5541-9F3A-32486E541E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4A2BB71-902E-FF4A-8286-6B2201AB8C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1E3464C-991E-AC4A-B95F-CB04AD7AAC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27D5973-41C2-AB48-8720-41E6F28E7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0CFEE-2D79-5C43-9B72-B61A38988C3A}" type="datetimeFigureOut">
              <a:rPr kumimoji="1" lang="zh-CN" altLang="en-US" smtClean="0"/>
              <a:t>2019/11/27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C51A47A-B03E-0A49-B85A-F569C4758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101D3F4-CCA5-CB45-A8AD-217D44476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1F65D-A6CE-E24A-85A3-4E59A1CF0FC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76777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C89B6E-D09C-4946-9300-F3957AB2F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0AE91BB-E143-5243-BE61-20A36A27C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0CFEE-2D79-5C43-9B72-B61A38988C3A}" type="datetimeFigureOut">
              <a:rPr kumimoji="1" lang="zh-CN" altLang="en-US" smtClean="0"/>
              <a:t>2019/11/27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3E7069E-AAB5-8848-A940-8B6C91978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1A95414-60B1-D147-8CA9-9860ADAA9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1F65D-A6CE-E24A-85A3-4E59A1CF0FC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10063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7B148EB-5B4B-0D4A-BC4A-FC32088EA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0CFEE-2D79-5C43-9B72-B61A38988C3A}" type="datetimeFigureOut">
              <a:rPr kumimoji="1" lang="zh-CN" altLang="en-US" smtClean="0"/>
              <a:t>2019/11/27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8E6577E-56B2-D046-9754-1631F0849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ECCB45E-CD9D-8A4F-9B26-95F16B509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1F65D-A6CE-E24A-85A3-4E59A1CF0FC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599600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E15D3F-AE3B-EC44-B731-9E7A7F309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9DD61C9-8267-3947-B122-2A4110EB08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F86FC18-AC17-8843-A005-3750039844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46CDF86-BE57-CC4A-943C-04B78F5FE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0CFEE-2D79-5C43-9B72-B61A38988C3A}" type="datetimeFigureOut">
              <a:rPr kumimoji="1" lang="zh-CN" altLang="en-US" smtClean="0"/>
              <a:t>2019/11/27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7AA3AD-F07A-014D-9AA5-D3DE4F247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49C91D3-7FFE-9D46-8A65-B91C74272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1F65D-A6CE-E24A-85A3-4E59A1CF0FC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27284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D34FC7-DE55-2E43-9EA5-A766F6893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78B46AB-AEC8-584A-BA7E-211C0905C3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8D71DBF-FEE8-4F4F-A143-68D690BE48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426DF38-A77E-1E47-AEF6-773406E93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0CFEE-2D79-5C43-9B72-B61A38988C3A}" type="datetimeFigureOut">
              <a:rPr kumimoji="1" lang="zh-CN" altLang="en-US" smtClean="0"/>
              <a:t>2019/11/27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D118073-BE84-4D44-BC0F-457884D03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80B81ED-6898-0244-8568-3BE015B97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1F65D-A6CE-E24A-85A3-4E59A1CF0FC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25214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1118E3-C635-7243-9F63-EF3205D1B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C64F1CD-AE2C-3B48-A76F-D2D431F7BD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FB6D52-41C0-FD43-95C5-6EFC1BF3D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0CFEE-2D79-5C43-9B72-B61A38988C3A}" type="datetimeFigureOut">
              <a:rPr kumimoji="1" lang="zh-CN" altLang="en-US" smtClean="0"/>
              <a:t>2019/11/27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A2F18AC-BC62-2E41-8302-7BA810F62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69F3E8D-AEBD-E846-812C-622D63E28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1F65D-A6CE-E24A-85A3-4E59A1CF0FC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2824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58264F2-EA01-274E-8708-C4C78EEF99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76C01C8-A7C7-3743-957D-43263D26BE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D54C83E-BFBE-0B4C-9BD8-01C6B1C1B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0CFEE-2D79-5C43-9B72-B61A38988C3A}" type="datetimeFigureOut">
              <a:rPr kumimoji="1" lang="zh-CN" altLang="en-US" smtClean="0"/>
              <a:t>2019/11/27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47C7D40-6342-5A4E-A2A8-6046FD780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E12C49-449B-1D41-8717-0965A4818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1F65D-A6CE-E24A-85A3-4E59A1CF0FC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67845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AF01C91-EF80-564E-93A5-7F18111F9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666AE47-D3D7-6D40-B36B-94B19A2AD7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83E1DBC-103A-3744-A232-7574B7678C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A0CFEE-2D79-5C43-9B72-B61A38988C3A}" type="datetimeFigureOut">
              <a:rPr kumimoji="1" lang="zh-CN" altLang="en-US" smtClean="0"/>
              <a:t>2019/11/27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C940AD8-8645-1949-8FFD-D15BDFE010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35FADB-40F6-FB4E-A317-3887167FC8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1F65D-A6CE-E24A-85A3-4E59A1CF0FC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12392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8D189A03-44F4-B14C-98B5-5798E68607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47" y="80963"/>
            <a:ext cx="12192000" cy="6858000"/>
          </a:xfrm>
          <a:prstGeom prst="rect">
            <a:avLst/>
          </a:prstGeom>
        </p:spPr>
      </p:pic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9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/>
          </a:p>
        </p:txBody>
      </p:sp>
      <p:sp>
        <p:nvSpPr>
          <p:cNvPr id="2" name="文本框 1"/>
          <p:cNvSpPr txBox="1"/>
          <p:nvPr/>
        </p:nvSpPr>
        <p:spPr>
          <a:xfrm>
            <a:off x="8325493" y="436651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349021" y="1554975"/>
            <a:ext cx="7520007" cy="8517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6520"/>
              </a:lnSpc>
            </a:pPr>
            <a:r>
              <a:rPr kumimoji="1" lang="zh-CN" altLang="en-US" sz="4400" dirty="0">
                <a:latin typeface="Microsoft YaHei" charset="-122"/>
                <a:ea typeface="Microsoft YaHei" charset="-122"/>
                <a:cs typeface="Microsoft YaHei" charset="-122"/>
              </a:rPr>
              <a:t>连续数据保护和重复数据删除</a:t>
            </a:r>
            <a:endParaRPr kumimoji="1" lang="en-US" altLang="zh-CN" sz="44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570265" y="5219701"/>
            <a:ext cx="3037306" cy="8797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zh-CN" altLang="en-US" sz="2000" dirty="0">
                <a:latin typeface="Microsoft YaHei" charset="-122"/>
                <a:ea typeface="Microsoft YaHei" charset="-122"/>
                <a:cs typeface="Microsoft YaHei" charset="-122"/>
              </a:rPr>
              <a:t>何柯文</a:t>
            </a:r>
            <a:endParaRPr kumimoji="1" lang="en-US" altLang="zh-CN" sz="2000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algn="ctr">
              <a:lnSpc>
                <a:spcPct val="150000"/>
              </a:lnSpc>
            </a:pPr>
            <a:r>
              <a:rPr kumimoji="1" lang="en-US" altLang="zh-CN" sz="1600" dirty="0" err="1">
                <a:latin typeface="Microsoft YaHei" charset="-122"/>
                <a:ea typeface="Microsoft YaHei" charset="-122"/>
                <a:cs typeface="Microsoft YaHei" charset="-122"/>
              </a:rPr>
              <a:t>hekewen@nbjl.nankai.edu.cn</a:t>
            </a:r>
            <a:endParaRPr kumimoji="1" lang="zh-CN" altLang="en-US" sz="16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945492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DE1CA11F-5758-E94E-8134-D4314F9BA7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91435"/>
            <a:ext cx="12192001" cy="6766565"/>
          </a:xfr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6FDF1F6A-2E19-E843-9FA5-40C090EA3335}"/>
              </a:ext>
            </a:extLst>
          </p:cNvPr>
          <p:cNvSpPr txBox="1"/>
          <p:nvPr/>
        </p:nvSpPr>
        <p:spPr>
          <a:xfrm>
            <a:off x="4255770" y="2844225"/>
            <a:ext cx="36804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200" dirty="0"/>
              <a:t>Deduplication</a:t>
            </a:r>
            <a:r>
              <a:rPr kumimoji="1" lang="zh-CN" altLang="en-US" sz="3200" dirty="0"/>
              <a:t>介绍</a:t>
            </a:r>
          </a:p>
        </p:txBody>
      </p:sp>
    </p:spTree>
    <p:extLst>
      <p:ext uri="{BB962C8B-B14F-4D97-AF65-F5344CB8AC3E}">
        <p14:creationId xmlns:p14="http://schemas.microsoft.com/office/powerpoint/2010/main" val="23012170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BD187321-051C-A347-93D9-C8F9D6C263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91435"/>
            <a:ext cx="12192001" cy="676656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125B772-E090-4849-AB08-82B61566D432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2" y="833120"/>
            <a:ext cx="5761038" cy="500761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55E549E7-08E3-0C4D-8931-07A2289C6CE1}"/>
              </a:ext>
            </a:extLst>
          </p:cNvPr>
          <p:cNvSpPr txBox="1"/>
          <p:nvPr/>
        </p:nvSpPr>
        <p:spPr>
          <a:xfrm>
            <a:off x="491490" y="220457"/>
            <a:ext cx="2606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Deduplication</a:t>
            </a:r>
            <a:r>
              <a:rPr kumimoji="1" lang="zh-CN" altLang="en-US" dirty="0"/>
              <a:t>基本流程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AE03B19-0D15-FA4C-B8AE-947AC3F506CB}"/>
              </a:ext>
            </a:extLst>
          </p:cNvPr>
          <p:cNvSpPr txBox="1"/>
          <p:nvPr/>
        </p:nvSpPr>
        <p:spPr>
          <a:xfrm>
            <a:off x="6012180" y="1628765"/>
            <a:ext cx="542925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/>
              <a:t>数据分块：一般采用</a:t>
            </a:r>
            <a:r>
              <a:rPr lang="en-US" altLang="zh-CN" dirty="0"/>
              <a:t>4~12KB</a:t>
            </a:r>
            <a:r>
              <a:rPr lang="zh-CN" altLang="zh-CN" dirty="0"/>
              <a:t>的定长块分块或者采用</a:t>
            </a:r>
            <a:r>
              <a:rPr lang="en-US" altLang="zh-CN" dirty="0"/>
              <a:t>Rabin-Hash</a:t>
            </a:r>
            <a:r>
              <a:rPr lang="zh-CN" altLang="zh-CN" dirty="0"/>
              <a:t>的非定长块分块；</a:t>
            </a:r>
          </a:p>
          <a:p>
            <a:r>
              <a:rPr lang="zh-CN" altLang="zh-CN" dirty="0"/>
              <a:t>指纹计算：对每个数据块进行指纹计算，一般计算的方法采用安全散列算法（</a:t>
            </a:r>
            <a:r>
              <a:rPr lang="en-US" altLang="zh-CN" dirty="0"/>
              <a:t>secure hash algorithm-256</a:t>
            </a:r>
            <a:r>
              <a:rPr lang="zh-CN" altLang="zh-CN" dirty="0"/>
              <a:t>，</a:t>
            </a:r>
            <a:r>
              <a:rPr lang="en-US" altLang="zh-CN" dirty="0"/>
              <a:t> SHA-256</a:t>
            </a:r>
            <a:r>
              <a:rPr lang="zh-CN" altLang="zh-CN" dirty="0"/>
              <a:t>）或者消息摘要算法（</a:t>
            </a:r>
            <a:r>
              <a:rPr lang="en-US" altLang="zh-CN" dirty="0"/>
              <a:t>message digest algorithm-5</a:t>
            </a:r>
            <a:r>
              <a:rPr lang="zh-CN" altLang="zh-CN" dirty="0"/>
              <a:t>，</a:t>
            </a:r>
            <a:r>
              <a:rPr lang="en-US" altLang="zh-CN" dirty="0"/>
              <a:t>MD5</a:t>
            </a:r>
            <a:r>
              <a:rPr lang="zh-CN" altLang="zh-CN" dirty="0"/>
              <a:t>）等方法进行计算；</a:t>
            </a:r>
          </a:p>
          <a:p>
            <a:r>
              <a:rPr lang="zh-CN" altLang="zh-CN" dirty="0"/>
              <a:t>指纹查找：将得到的指纹针与外存中的指纹进行比对，判断指纹是否重复；</a:t>
            </a:r>
          </a:p>
          <a:p>
            <a:r>
              <a:rPr lang="zh-CN" altLang="zh-CN" dirty="0"/>
              <a:t>数据压缩：主要针对重复删除过后的数据块进行压缩，本部分为可选部分；</a:t>
            </a:r>
          </a:p>
          <a:p>
            <a:r>
              <a:rPr lang="zh-CN" altLang="zh-CN" dirty="0"/>
              <a:t>数据存储：将非重复指纹和对应磁盘存入外存或者传输给远端的数据中心，实现重复数据的合并．</a:t>
            </a:r>
          </a:p>
        </p:txBody>
      </p:sp>
    </p:spTree>
    <p:extLst>
      <p:ext uri="{BB962C8B-B14F-4D97-AF65-F5344CB8AC3E}">
        <p14:creationId xmlns:p14="http://schemas.microsoft.com/office/powerpoint/2010/main" val="4236781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4">
            <a:extLst>
              <a:ext uri="{FF2B5EF4-FFF2-40B4-BE49-F238E27FC236}">
                <a16:creationId xmlns:a16="http://schemas.microsoft.com/office/drawing/2014/main" id="{FCB440D0-D29E-2049-BC8B-A54CDCD362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91435"/>
            <a:ext cx="12192001" cy="676656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5106BDE5-9FA6-AF45-BEEC-FE9A131A929E}"/>
              </a:ext>
            </a:extLst>
          </p:cNvPr>
          <p:cNvSpPr txBox="1"/>
          <p:nvPr/>
        </p:nvSpPr>
        <p:spPr>
          <a:xfrm>
            <a:off x="491490" y="220457"/>
            <a:ext cx="2606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dirty="0"/>
              <a:t>数据分块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7853C30-DDF7-0449-B441-DD2C16A393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993895"/>
            <a:ext cx="4672233" cy="248158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2AAD056-87A8-714C-8D1D-5EB60F7727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3753" y="1993894"/>
            <a:ext cx="6320704" cy="2481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1084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4">
            <a:extLst>
              <a:ext uri="{FF2B5EF4-FFF2-40B4-BE49-F238E27FC236}">
                <a16:creationId xmlns:a16="http://schemas.microsoft.com/office/drawing/2014/main" id="{0D407F21-AED6-B448-8728-6234F6461E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91435"/>
            <a:ext cx="12192001" cy="676656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59222764-827F-EE49-8D41-68D06B615E69}"/>
              </a:ext>
            </a:extLst>
          </p:cNvPr>
          <p:cNvSpPr txBox="1"/>
          <p:nvPr/>
        </p:nvSpPr>
        <p:spPr>
          <a:xfrm>
            <a:off x="491490" y="220457"/>
            <a:ext cx="2606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dirty="0"/>
              <a:t>数据分块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738970E-C7F6-AD46-99F4-7E9DA3956A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490" y="1261319"/>
            <a:ext cx="7920990" cy="377357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A82181B4-F0BE-4D4E-840F-5E4B1CAFD7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2106" y="2053580"/>
            <a:ext cx="3722080" cy="2750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5854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4">
            <a:extLst>
              <a:ext uri="{FF2B5EF4-FFF2-40B4-BE49-F238E27FC236}">
                <a16:creationId xmlns:a16="http://schemas.microsoft.com/office/drawing/2014/main" id="{65336CFF-A9E6-7042-A889-2A028919DA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91435"/>
            <a:ext cx="12192001" cy="676656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57DE2443-07E0-4B49-9F8F-E1816D1D3C60}"/>
              </a:ext>
            </a:extLst>
          </p:cNvPr>
          <p:cNvSpPr txBox="1"/>
          <p:nvPr/>
        </p:nvSpPr>
        <p:spPr>
          <a:xfrm>
            <a:off x="3627120" y="2844225"/>
            <a:ext cx="51282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200" dirty="0"/>
              <a:t>Deduplication</a:t>
            </a:r>
            <a:r>
              <a:rPr kumimoji="1" lang="zh-CN" altLang="en-US" sz="3200" dirty="0"/>
              <a:t>优化策略</a:t>
            </a:r>
          </a:p>
        </p:txBody>
      </p:sp>
    </p:spTree>
    <p:extLst>
      <p:ext uri="{BB962C8B-B14F-4D97-AF65-F5344CB8AC3E}">
        <p14:creationId xmlns:p14="http://schemas.microsoft.com/office/powerpoint/2010/main" val="11887168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92A557-5CE2-E84E-8BBF-3E2D95741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6737807-8E5C-4F45-881F-3835891B77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4" name="内容占位符 4">
            <a:extLst>
              <a:ext uri="{FF2B5EF4-FFF2-40B4-BE49-F238E27FC236}">
                <a16:creationId xmlns:a16="http://schemas.microsoft.com/office/drawing/2014/main" id="{7E8BFEE0-143E-8241-BBFD-455873A5DD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91435"/>
            <a:ext cx="12192001" cy="676656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70E03756-855A-EA43-AC61-A384C027DCFF}"/>
              </a:ext>
            </a:extLst>
          </p:cNvPr>
          <p:cNvSpPr txBox="1"/>
          <p:nvPr/>
        </p:nvSpPr>
        <p:spPr>
          <a:xfrm>
            <a:off x="255270" y="230188"/>
            <a:ext cx="51282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200" dirty="0"/>
              <a:t>Deduplication</a:t>
            </a:r>
            <a:r>
              <a:rPr kumimoji="1" lang="zh-CN" altLang="en-US" sz="3200" dirty="0"/>
              <a:t>优化策略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5CCC77D-8933-DD4C-8ECF-F2001C806E20}"/>
              </a:ext>
            </a:extLst>
          </p:cNvPr>
          <p:cNvSpPr txBox="1"/>
          <p:nvPr/>
        </p:nvSpPr>
        <p:spPr>
          <a:xfrm>
            <a:off x="1165860" y="814963"/>
            <a:ext cx="777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勤奋数据删除</a:t>
            </a:r>
            <a:r>
              <a:rPr lang="en-US" altLang="zh-CN" dirty="0"/>
              <a:t>[1]</a:t>
            </a:r>
            <a:r>
              <a:rPr lang="zh-CN" altLang="zh-CN" dirty="0">
                <a:effectLst/>
              </a:rPr>
              <a:t> </a:t>
            </a:r>
            <a:endParaRPr kumimoji="1" lang="zh-CN" altLang="en-US" dirty="0"/>
          </a:p>
        </p:txBody>
      </p:sp>
      <p:pic>
        <p:nvPicPr>
          <p:cNvPr id="8" name="图片 7" descr="图片包含 屏幕截图&#10;&#10;描述已自动生成">
            <a:extLst>
              <a:ext uri="{FF2B5EF4-FFF2-40B4-BE49-F238E27FC236}">
                <a16:creationId xmlns:a16="http://schemas.microsoft.com/office/drawing/2014/main" id="{61A1F863-96FA-C248-A53C-5DED8661937B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5860" y="1319232"/>
            <a:ext cx="4795520" cy="4679295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D0102D8F-6508-9140-804C-55FF47DB4A53}"/>
              </a:ext>
            </a:extLst>
          </p:cNvPr>
          <p:cNvSpPr txBox="1"/>
          <p:nvPr/>
        </p:nvSpPr>
        <p:spPr>
          <a:xfrm>
            <a:off x="6720840" y="1595240"/>
            <a:ext cx="4570095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/>
              <a:t>勤奋指纹查找算法</a:t>
            </a:r>
            <a:r>
              <a:rPr lang="en-US" altLang="zh-CN" dirty="0"/>
              <a:t>.</a:t>
            </a:r>
            <a:endParaRPr lang="zh-CN" altLang="zh-CN" dirty="0"/>
          </a:p>
          <a:p>
            <a:r>
              <a:rPr lang="zh-CN" altLang="zh-CN" dirty="0"/>
              <a:t>输入：指纹数据流；</a:t>
            </a:r>
          </a:p>
          <a:p>
            <a:r>
              <a:rPr lang="zh-CN" altLang="zh-CN" dirty="0"/>
              <a:t>输出：指纹是否重复并进行存储</a:t>
            </a:r>
            <a:r>
              <a:rPr lang="en-US" altLang="zh-CN" dirty="0"/>
              <a:t>.</a:t>
            </a:r>
            <a:endParaRPr lang="zh-CN" altLang="zh-CN" dirty="0"/>
          </a:p>
          <a:p>
            <a:r>
              <a:rPr lang="en-US" altLang="zh-CN" dirty="0"/>
              <a:t>1) </a:t>
            </a:r>
            <a:r>
              <a:rPr lang="zh-CN" altLang="zh-CN" dirty="0"/>
              <a:t>输入指纹进行</a:t>
            </a:r>
            <a:r>
              <a:rPr lang="en-US" altLang="zh-CN" dirty="0"/>
              <a:t>Bloom Filter</a:t>
            </a:r>
            <a:r>
              <a:rPr lang="zh-CN" altLang="zh-CN" dirty="0"/>
              <a:t>进行初次筛选，</a:t>
            </a:r>
            <a:r>
              <a:rPr lang="en-US" altLang="zh-CN" dirty="0"/>
              <a:t>﻿</a:t>
            </a:r>
            <a:r>
              <a:rPr lang="zh-CN" altLang="zh-CN" dirty="0"/>
              <a:t>被判断为不存在于</a:t>
            </a:r>
            <a:r>
              <a:rPr lang="en-US" altLang="zh-CN" dirty="0"/>
              <a:t>Bloom Filter</a:t>
            </a:r>
            <a:r>
              <a:rPr lang="zh-CN" altLang="zh-CN" dirty="0"/>
              <a:t>的指纹说明为非重复指纹，存入外存；判断为重复的指纹，说明是可能重复的，进行下面的环节继续查找 </a:t>
            </a:r>
            <a:r>
              <a:rPr lang="en-US" altLang="zh-CN" dirty="0"/>
              <a:t>;</a:t>
            </a:r>
            <a:endParaRPr lang="zh-CN" altLang="zh-CN" dirty="0"/>
          </a:p>
          <a:p>
            <a:r>
              <a:rPr lang="en-US" altLang="zh-CN" dirty="0"/>
              <a:t>2) </a:t>
            </a:r>
            <a:r>
              <a:rPr lang="zh-CN" altLang="zh-CN" dirty="0"/>
              <a:t>指纹进入</a:t>
            </a:r>
            <a:r>
              <a:rPr lang="en-US" altLang="zh-CN" dirty="0"/>
              <a:t>DRAM</a:t>
            </a:r>
            <a:r>
              <a:rPr lang="zh-CN" altLang="zh-CN" dirty="0"/>
              <a:t>的</a:t>
            </a:r>
            <a:r>
              <a:rPr lang="en-US" altLang="zh-CN" dirty="0"/>
              <a:t>Cache</a:t>
            </a:r>
            <a:r>
              <a:rPr lang="zh-CN" altLang="zh-CN" dirty="0"/>
              <a:t>进行查找，如果查找该指纹，说明指纹是重复的；否则，进入第</a:t>
            </a:r>
            <a:r>
              <a:rPr lang="en-US" altLang="zh-CN" dirty="0"/>
              <a:t>3</a:t>
            </a:r>
            <a:r>
              <a:rPr lang="zh-CN" altLang="zh-CN" dirty="0"/>
              <a:t>环节进行外存查找；</a:t>
            </a:r>
          </a:p>
          <a:p>
            <a:r>
              <a:rPr lang="en-US" altLang="zh-CN" dirty="0"/>
              <a:t>3) </a:t>
            </a:r>
            <a:r>
              <a:rPr lang="zh-CN" altLang="zh-CN" dirty="0"/>
              <a:t>指纹进行外存查找，判断为相同指纹后，预取进</a:t>
            </a:r>
            <a:r>
              <a:rPr lang="en-US" altLang="zh-CN" dirty="0"/>
              <a:t>Cache</a:t>
            </a:r>
            <a:r>
              <a:rPr lang="zh-CN" altLang="zh-CN" dirty="0"/>
              <a:t>；没有找到相同指纹，则说明该指纹不重复，存入外存</a:t>
            </a:r>
            <a:r>
              <a:rPr lang="en-US" altLang="zh-CN" dirty="0"/>
              <a:t>.</a:t>
            </a:r>
            <a:endParaRPr lang="zh-CN" altLang="zh-CN" dirty="0"/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776653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4">
            <a:extLst>
              <a:ext uri="{FF2B5EF4-FFF2-40B4-BE49-F238E27FC236}">
                <a16:creationId xmlns:a16="http://schemas.microsoft.com/office/drawing/2014/main" id="{0D2D6A9D-1366-ED48-B9C6-5D767DC360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02865"/>
            <a:ext cx="12192001" cy="676656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9BAF81DA-9872-6C45-A143-84A41EE3E02E}"/>
              </a:ext>
            </a:extLst>
          </p:cNvPr>
          <p:cNvSpPr txBox="1"/>
          <p:nvPr/>
        </p:nvSpPr>
        <p:spPr>
          <a:xfrm>
            <a:off x="255270" y="230188"/>
            <a:ext cx="51282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200" dirty="0"/>
              <a:t>Deduplication</a:t>
            </a:r>
            <a:r>
              <a:rPr kumimoji="1" lang="zh-CN" altLang="en-US" sz="3200" dirty="0"/>
              <a:t>优化策略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1821E46-F72C-A745-B02F-0F9883E85884}"/>
              </a:ext>
            </a:extLst>
          </p:cNvPr>
          <p:cNvSpPr txBox="1"/>
          <p:nvPr/>
        </p:nvSpPr>
        <p:spPr>
          <a:xfrm>
            <a:off x="685800" y="1074420"/>
            <a:ext cx="342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Bloom Filter</a:t>
            </a:r>
            <a:endParaRPr kumimoji="1"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BC4AB1A-FD02-914C-9677-A8A7529FF617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270" y="2522220"/>
            <a:ext cx="5568950" cy="216408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5300B89C-7D90-1245-AFF1-FA036B807EB9}"/>
              </a:ext>
            </a:extLst>
          </p:cNvPr>
          <p:cNvSpPr txBox="1"/>
          <p:nvPr/>
        </p:nvSpPr>
        <p:spPr>
          <a:xfrm>
            <a:off x="6640830" y="1074420"/>
            <a:ext cx="453771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数据结构特点：准确率换空间</a:t>
            </a:r>
            <a:endParaRPr kumimoji="1" lang="en-US" altLang="zh-CN" dirty="0"/>
          </a:p>
          <a:p>
            <a:r>
              <a:rPr kumimoji="1" lang="zh-CN" altLang="en-US" dirty="0"/>
              <a:t>查询操作：</a:t>
            </a:r>
            <a:r>
              <a:rPr lang="zh-CN" altLang="zh-CN" dirty="0"/>
              <a:t>输入指纹，指纹通过</a:t>
            </a:r>
            <a:r>
              <a:rPr lang="en-US" altLang="zh-CN" dirty="0"/>
              <a:t>K</a:t>
            </a:r>
            <a:r>
              <a:rPr lang="zh-CN" altLang="zh-CN" dirty="0"/>
              <a:t>个</a:t>
            </a:r>
            <a:r>
              <a:rPr lang="en-US" altLang="zh-CN" dirty="0"/>
              <a:t>Hash</a:t>
            </a:r>
            <a:r>
              <a:rPr lang="zh-CN" altLang="zh-CN" dirty="0"/>
              <a:t>函数映射到</a:t>
            </a:r>
            <a:r>
              <a:rPr lang="en-US" altLang="zh-CN" dirty="0"/>
              <a:t>Bit Array</a:t>
            </a:r>
            <a:r>
              <a:rPr lang="zh-CN" altLang="zh-CN" dirty="0"/>
              <a:t>的不同位上，如果映射的位都为</a:t>
            </a:r>
            <a:r>
              <a:rPr lang="en-US" altLang="zh-CN" dirty="0"/>
              <a:t>1</a:t>
            </a:r>
            <a:r>
              <a:rPr lang="zh-CN" altLang="zh-CN" dirty="0"/>
              <a:t>，则该指纹存在；否则，这个指纹不存在，并将对应位置为</a:t>
            </a:r>
            <a:r>
              <a:rPr lang="en-US" altLang="zh-CN" dirty="0"/>
              <a:t>1</a:t>
            </a:r>
            <a:r>
              <a:rPr lang="zh-CN" altLang="zh-CN" dirty="0"/>
              <a:t>，将这个元素设定为已访问。</a:t>
            </a:r>
            <a:r>
              <a:rPr lang="zh-CN" altLang="zh-CN" dirty="0">
                <a:effectLst/>
              </a:rPr>
              <a:t> </a:t>
            </a:r>
            <a:endParaRPr lang="en-US" altLang="zh-CN" dirty="0">
              <a:effectLst/>
            </a:endParaRPr>
          </a:p>
          <a:p>
            <a:r>
              <a:rPr lang="en-US" altLang="zh-CN" dirty="0"/>
              <a:t>Bloom Filter</a:t>
            </a:r>
            <a:r>
              <a:rPr lang="zh-CN" altLang="zh-CN" dirty="0"/>
              <a:t>通过元素的增加会导致判断正例的准确率降低，极端情况即所有位置为</a:t>
            </a:r>
            <a:r>
              <a:rPr lang="en-US" altLang="zh-CN" dirty="0"/>
              <a:t>1</a:t>
            </a:r>
            <a:r>
              <a:rPr lang="zh-CN" altLang="zh-CN" dirty="0"/>
              <a:t>，判断所有都存在。所以是明显的准确率换空间的数据结构。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343193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4">
            <a:extLst>
              <a:ext uri="{FF2B5EF4-FFF2-40B4-BE49-F238E27FC236}">
                <a16:creationId xmlns:a16="http://schemas.microsoft.com/office/drawing/2014/main" id="{CCB2C7B6-2796-C541-99A5-53701889B1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91435"/>
            <a:ext cx="12192001" cy="676656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B3002A11-94B6-934C-8D99-71CAC45B6190}"/>
              </a:ext>
            </a:extLst>
          </p:cNvPr>
          <p:cNvSpPr txBox="1"/>
          <p:nvPr/>
        </p:nvSpPr>
        <p:spPr>
          <a:xfrm>
            <a:off x="255270" y="230188"/>
            <a:ext cx="51282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200" dirty="0"/>
              <a:t>Deduplication</a:t>
            </a:r>
            <a:r>
              <a:rPr kumimoji="1" lang="zh-CN" altLang="en-US" sz="3200" dirty="0"/>
              <a:t>优化策略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EC9615E-3767-1A42-ACCA-7099D6B1B561}"/>
              </a:ext>
            </a:extLst>
          </p:cNvPr>
          <p:cNvSpPr txBox="1"/>
          <p:nvPr/>
        </p:nvSpPr>
        <p:spPr>
          <a:xfrm>
            <a:off x="685800" y="1074420"/>
            <a:ext cx="342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Cache</a:t>
            </a:r>
            <a:r>
              <a:rPr kumimoji="1" lang="zh-CN" altLang="en-US" dirty="0"/>
              <a:t>策略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A5B0621-CB7E-A244-AB92-94016B509A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3139"/>
            <a:ext cx="2994660" cy="267668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B132306A-29A7-A54F-B9DD-887B063617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9010" y="2155231"/>
            <a:ext cx="2994659" cy="2784593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B3481A51-55EF-4E49-92FE-3B5B66126DA7}"/>
              </a:ext>
            </a:extLst>
          </p:cNvPr>
          <p:cNvSpPr txBox="1"/>
          <p:nvPr/>
        </p:nvSpPr>
        <p:spPr>
          <a:xfrm>
            <a:off x="7132320" y="2901196"/>
            <a:ext cx="3771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利用备份系统指纹的空间局部性。</a:t>
            </a:r>
            <a:endParaRPr kumimoji="1" lang="en-US" altLang="zh-CN" dirty="0"/>
          </a:p>
          <a:p>
            <a:r>
              <a:rPr kumimoji="1" lang="zh-CN" altLang="en-US" dirty="0"/>
              <a:t>预取指纹来减少</a:t>
            </a:r>
            <a:r>
              <a:rPr kumimoji="1" lang="en-US" altLang="zh-CN" dirty="0"/>
              <a:t>I/O</a:t>
            </a:r>
            <a:r>
              <a:rPr kumimoji="1" lang="zh-CN" altLang="en-US" dirty="0"/>
              <a:t>访问</a:t>
            </a:r>
          </a:p>
        </p:txBody>
      </p:sp>
    </p:spTree>
    <p:extLst>
      <p:ext uri="{BB962C8B-B14F-4D97-AF65-F5344CB8AC3E}">
        <p14:creationId xmlns:p14="http://schemas.microsoft.com/office/powerpoint/2010/main" val="10693009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4">
            <a:extLst>
              <a:ext uri="{FF2B5EF4-FFF2-40B4-BE49-F238E27FC236}">
                <a16:creationId xmlns:a16="http://schemas.microsoft.com/office/drawing/2014/main" id="{EBBAF929-3EB7-8B4F-8462-554B9D72D3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91435"/>
            <a:ext cx="12192001" cy="676656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01580ADA-66BE-D24E-8A12-54F504EF06CC}"/>
              </a:ext>
            </a:extLst>
          </p:cNvPr>
          <p:cNvSpPr txBox="1"/>
          <p:nvPr/>
        </p:nvSpPr>
        <p:spPr>
          <a:xfrm>
            <a:off x="255270" y="230188"/>
            <a:ext cx="51282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200" dirty="0"/>
              <a:t>Deduplication</a:t>
            </a:r>
            <a:r>
              <a:rPr kumimoji="1" lang="zh-CN" altLang="en-US" sz="3200" dirty="0"/>
              <a:t>优化策略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DD59214-34CB-A545-969E-B9B371612FD2}"/>
              </a:ext>
            </a:extLst>
          </p:cNvPr>
          <p:cNvSpPr txBox="1"/>
          <p:nvPr/>
        </p:nvSpPr>
        <p:spPr>
          <a:xfrm>
            <a:off x="560070" y="960120"/>
            <a:ext cx="2526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Lazy </a:t>
            </a:r>
            <a:r>
              <a:rPr kumimoji="1" lang="en-US" altLang="zh-CN" dirty="0" err="1"/>
              <a:t>dedup</a:t>
            </a:r>
            <a:endParaRPr kumimoji="1"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70F983D-1ACB-454A-B3CA-6818009FA875}"/>
              </a:ext>
            </a:extLst>
          </p:cNvPr>
          <p:cNvSpPr txBox="1"/>
          <p:nvPr/>
        </p:nvSpPr>
        <p:spPr>
          <a:xfrm>
            <a:off x="7246620" y="1354452"/>
            <a:ext cx="35433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勤奋数据删除产生的问题：</a:t>
            </a:r>
            <a:br>
              <a:rPr kumimoji="1" lang="en-US" altLang="zh-CN" dirty="0"/>
            </a:br>
            <a:r>
              <a:rPr kumimoji="1" lang="zh-CN" altLang="en-US" dirty="0"/>
              <a:t>（</a:t>
            </a:r>
            <a:r>
              <a:rPr kumimoji="1" lang="en-US" altLang="zh-CN" dirty="0"/>
              <a:t>1</a:t>
            </a:r>
            <a:r>
              <a:rPr kumimoji="1" lang="zh-CN" altLang="en-US" dirty="0"/>
              <a:t>）文件数据块的空间局部性被破坏。</a:t>
            </a:r>
            <a:endParaRPr kumimoji="1" lang="en-US" altLang="zh-CN" dirty="0"/>
          </a:p>
          <a:p>
            <a:r>
              <a:rPr kumimoji="1" lang="zh-CN" altLang="en-US" dirty="0"/>
              <a:t>采取的措施：</a:t>
            </a:r>
            <a:br>
              <a:rPr kumimoji="1" lang="en-US" altLang="zh-CN" dirty="0"/>
            </a:br>
            <a:r>
              <a:rPr kumimoji="1" lang="zh-CN" altLang="en-US" dirty="0"/>
              <a:t>需要重新设计预取策略来解决数据块空间局部性被破坏的问题。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AB717F3-2CC0-1F40-B3CA-4FC73162BE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864" y="1354451"/>
            <a:ext cx="3808517" cy="4563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3058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4">
            <a:extLst>
              <a:ext uri="{FF2B5EF4-FFF2-40B4-BE49-F238E27FC236}">
                <a16:creationId xmlns:a16="http://schemas.microsoft.com/office/drawing/2014/main" id="{A975AC1E-1824-8F48-A06F-8337C88B65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91435"/>
            <a:ext cx="12192001" cy="676656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DDAEA692-7BB8-CB4A-8578-920EE8F9597F}"/>
              </a:ext>
            </a:extLst>
          </p:cNvPr>
          <p:cNvSpPr txBox="1"/>
          <p:nvPr/>
        </p:nvSpPr>
        <p:spPr>
          <a:xfrm>
            <a:off x="255270" y="230188"/>
            <a:ext cx="51282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200" dirty="0"/>
              <a:t>Deduplication</a:t>
            </a:r>
            <a:r>
              <a:rPr kumimoji="1" lang="zh-CN" altLang="en-US" sz="3200" dirty="0"/>
              <a:t>优化策略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A5B1C6E-E006-BD49-98A1-A8A05E4865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2898" y="953716"/>
            <a:ext cx="4990169" cy="502417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2DE8483-BFA3-B34B-A291-D3E808F76E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5219" y="2117087"/>
            <a:ext cx="5584629" cy="271526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9819FD24-022C-F74C-A191-A1E363970D6A}"/>
              </a:ext>
            </a:extLst>
          </p:cNvPr>
          <p:cNvSpPr txBox="1"/>
          <p:nvPr/>
        </p:nvSpPr>
        <p:spPr>
          <a:xfrm>
            <a:off x="514350" y="880110"/>
            <a:ext cx="2526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Lazy </a:t>
            </a:r>
            <a:r>
              <a:rPr kumimoji="1" lang="en-US" altLang="zh-CN" dirty="0" err="1"/>
              <a:t>dedup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962656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4">
            <a:extLst>
              <a:ext uri="{FF2B5EF4-FFF2-40B4-BE49-F238E27FC236}">
                <a16:creationId xmlns:a16="http://schemas.microsoft.com/office/drawing/2014/main" id="{734F87A2-C132-8F43-8EAA-E5AB1F7628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91435"/>
            <a:ext cx="12192001" cy="676656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6A8DF37A-981A-0546-BB80-85F2BED49E0B}"/>
              </a:ext>
            </a:extLst>
          </p:cNvPr>
          <p:cNvSpPr txBox="1"/>
          <p:nvPr/>
        </p:nvSpPr>
        <p:spPr>
          <a:xfrm>
            <a:off x="255270" y="230188"/>
            <a:ext cx="51282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200" dirty="0"/>
              <a:t>Deduplication</a:t>
            </a:r>
            <a:r>
              <a:rPr kumimoji="1" lang="zh-CN" altLang="en-US" sz="3200" dirty="0"/>
              <a:t>优化策略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7E470CD-C3CA-C34C-BD60-1D9FB18DF4F2}"/>
              </a:ext>
            </a:extLst>
          </p:cNvPr>
          <p:cNvSpPr txBox="1"/>
          <p:nvPr/>
        </p:nvSpPr>
        <p:spPr>
          <a:xfrm>
            <a:off x="514350" y="880110"/>
            <a:ext cx="2526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Lazy </a:t>
            </a:r>
            <a:r>
              <a:rPr kumimoji="1" lang="en-US" altLang="zh-CN" dirty="0" err="1"/>
              <a:t>dedup</a:t>
            </a:r>
            <a:endParaRPr kumimoji="1"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47C291E-4B26-2D43-B8C1-529EF206C5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4261" y="631143"/>
            <a:ext cx="3935359" cy="559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4515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4">
            <a:extLst>
              <a:ext uri="{FF2B5EF4-FFF2-40B4-BE49-F238E27FC236}">
                <a16:creationId xmlns:a16="http://schemas.microsoft.com/office/drawing/2014/main" id="{7F447EAF-1DAF-2146-A3F7-A290D93F21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" y="91435"/>
            <a:ext cx="12192001" cy="676656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B16B913D-8A48-4842-B9F1-CCFD62392650}"/>
              </a:ext>
            </a:extLst>
          </p:cNvPr>
          <p:cNvSpPr txBox="1"/>
          <p:nvPr/>
        </p:nvSpPr>
        <p:spPr>
          <a:xfrm>
            <a:off x="255270" y="230188"/>
            <a:ext cx="51282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200" dirty="0"/>
              <a:t>Deduplication</a:t>
            </a:r>
            <a:r>
              <a:rPr kumimoji="1" lang="zh-CN" altLang="en-US" sz="3200" dirty="0"/>
              <a:t>优化策略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C2477FE-CA85-1E46-95BF-F69FC653B5C9}"/>
              </a:ext>
            </a:extLst>
          </p:cNvPr>
          <p:cNvSpPr txBox="1"/>
          <p:nvPr/>
        </p:nvSpPr>
        <p:spPr>
          <a:xfrm>
            <a:off x="514350" y="880110"/>
            <a:ext cx="2526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Lazy </a:t>
            </a:r>
            <a:r>
              <a:rPr kumimoji="1" lang="en-US" altLang="zh-CN" dirty="0" err="1"/>
              <a:t>dedup</a:t>
            </a:r>
            <a:r>
              <a:rPr kumimoji="1" lang="zh-CN" altLang="en-US" dirty="0"/>
              <a:t>优化效果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C5F3549-495F-D440-A526-C2D2808EFF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270" y="2057082"/>
            <a:ext cx="6208439" cy="2743835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3A7074EC-2593-CC44-BCD0-8B8B56264489}"/>
              </a:ext>
            </a:extLst>
          </p:cNvPr>
          <p:cNvSpPr txBox="1"/>
          <p:nvPr/>
        </p:nvSpPr>
        <p:spPr>
          <a:xfrm>
            <a:off x="6823710" y="1064776"/>
            <a:ext cx="494919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err="1"/>
              <a:t>Vm</a:t>
            </a:r>
            <a:r>
              <a:rPr kumimoji="1" lang="zh-CN" altLang="en-US" dirty="0"/>
              <a:t>数据集：从</a:t>
            </a:r>
            <a:r>
              <a:rPr kumimoji="1" lang="en-US" altLang="zh-CN" dirty="0" err="1"/>
              <a:t>Vmware’s</a:t>
            </a:r>
            <a:r>
              <a:rPr kumimoji="1" lang="en-US" altLang="zh-CN" dirty="0"/>
              <a:t> Virtual Appliance Marketplace</a:t>
            </a:r>
            <a:r>
              <a:rPr kumimoji="1" lang="zh-CN" altLang="en-US" dirty="0"/>
              <a:t>瞎子啊的虚拟机磁盘镜像文件；</a:t>
            </a:r>
            <a:endParaRPr kumimoji="1" lang="en-US" altLang="zh-CN" dirty="0"/>
          </a:p>
          <a:p>
            <a:r>
              <a:rPr kumimoji="1" lang="en-US" altLang="zh-CN" dirty="0" err="1"/>
              <a:t>Src</a:t>
            </a:r>
            <a:r>
              <a:rPr kumimoji="1" lang="zh-CN" altLang="en-US" dirty="0"/>
              <a:t>：从南开大学的</a:t>
            </a:r>
            <a:r>
              <a:rPr kumimoji="1" lang="en-US" altLang="zh-CN" dirty="0"/>
              <a:t>Linux</a:t>
            </a:r>
            <a:r>
              <a:rPr kumimoji="1" lang="zh-CN" altLang="en-US" dirty="0"/>
              <a:t>镜像站下载下来的多版本文件；</a:t>
            </a:r>
            <a:endParaRPr kumimoji="1" lang="en-US" altLang="zh-CN" dirty="0"/>
          </a:p>
          <a:p>
            <a:r>
              <a:rPr kumimoji="1" lang="en-US" altLang="zh-CN" dirty="0" err="1"/>
              <a:t>FSLHomes</a:t>
            </a:r>
            <a:r>
              <a:rPr kumimoji="1" lang="zh-CN" altLang="en-US" dirty="0"/>
              <a:t>：石溪大学的公开数据集</a:t>
            </a:r>
            <a:endParaRPr kumimoji="1" lang="en-US" altLang="zh-CN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D4A13A19-6F06-5F41-BF45-2B419DDD3F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9" y="3064947"/>
            <a:ext cx="5537200" cy="250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522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4">
            <a:extLst>
              <a:ext uri="{FF2B5EF4-FFF2-40B4-BE49-F238E27FC236}">
                <a16:creationId xmlns:a16="http://schemas.microsoft.com/office/drawing/2014/main" id="{2E88F927-1116-A341-89CB-D91F72F3C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91435"/>
            <a:ext cx="12192001" cy="676656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0DE74532-44FC-AA48-B3B1-D04AA200FD4E}"/>
              </a:ext>
            </a:extLst>
          </p:cNvPr>
          <p:cNvSpPr txBox="1"/>
          <p:nvPr/>
        </p:nvSpPr>
        <p:spPr>
          <a:xfrm>
            <a:off x="255270" y="230188"/>
            <a:ext cx="51282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200" dirty="0"/>
              <a:t>Deduplication</a:t>
            </a:r>
            <a:r>
              <a:rPr kumimoji="1" lang="zh-CN" altLang="en-US" sz="3200" dirty="0"/>
              <a:t>优化策略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BBD29AC-CE43-D84E-A8F6-EA9AFBD6A3D1}"/>
              </a:ext>
            </a:extLst>
          </p:cNvPr>
          <p:cNvSpPr txBox="1"/>
          <p:nvPr/>
        </p:nvSpPr>
        <p:spPr>
          <a:xfrm>
            <a:off x="514350" y="880110"/>
            <a:ext cx="4194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Lazy </a:t>
            </a:r>
            <a:r>
              <a:rPr kumimoji="1" lang="en-US" altLang="zh-CN" dirty="0" err="1"/>
              <a:t>dedup</a:t>
            </a:r>
            <a:r>
              <a:rPr kumimoji="1" lang="zh-CN" altLang="en-US" dirty="0"/>
              <a:t>在不同硬件上的优化效果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6A0504D-FA99-294D-A95B-EC171CEFB1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198" y="1398810"/>
            <a:ext cx="5319802" cy="4060379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5E89AECC-1A78-2846-A2ED-645DEAD40E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7124" y="1715391"/>
            <a:ext cx="5473752" cy="3427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4056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4">
            <a:extLst>
              <a:ext uri="{FF2B5EF4-FFF2-40B4-BE49-F238E27FC236}">
                <a16:creationId xmlns:a16="http://schemas.microsoft.com/office/drawing/2014/main" id="{5F2013B0-AA19-7942-850F-B8FCBC95E9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1" cy="676656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10ED21BE-4A1B-E347-B1AC-0D6232EB6149}"/>
              </a:ext>
            </a:extLst>
          </p:cNvPr>
          <p:cNvSpPr txBox="1"/>
          <p:nvPr/>
        </p:nvSpPr>
        <p:spPr>
          <a:xfrm>
            <a:off x="255270" y="230188"/>
            <a:ext cx="51282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200" dirty="0"/>
              <a:t>Deduplication</a:t>
            </a:r>
            <a:r>
              <a:rPr kumimoji="1" lang="zh-CN" altLang="en-US" sz="3200" dirty="0"/>
              <a:t>优化策略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93B6982-A6C3-B245-9D0E-36FDF87D1F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260" y="1323340"/>
            <a:ext cx="3924300" cy="5080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0472832-2B6E-784E-9C46-7155B71588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350" y="2130167"/>
            <a:ext cx="4102100" cy="4191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1167163A-6F36-3A4E-BDE8-D37B65C5D7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260" y="2966794"/>
            <a:ext cx="6324600" cy="6096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23EDD81-0312-0444-9849-25CF5D9BCD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860" y="4307398"/>
            <a:ext cx="6350000" cy="7874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19197800-D9F8-7A49-BE6E-DDBC015287A3}"/>
              </a:ext>
            </a:extLst>
          </p:cNvPr>
          <p:cNvSpPr txBox="1"/>
          <p:nvPr/>
        </p:nvSpPr>
        <p:spPr>
          <a:xfrm>
            <a:off x="7221855" y="1577340"/>
            <a:ext cx="462915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建模得到三点结论：</a:t>
            </a:r>
            <a:br>
              <a:rPr kumimoji="1" lang="en-US" altLang="zh-CN" dirty="0"/>
            </a:br>
            <a:r>
              <a:rPr lang="en-US" altLang="zh-CN" dirty="0"/>
              <a:t>1) </a:t>
            </a:r>
            <a:r>
              <a:rPr lang="zh-CN" altLang="zh-CN" dirty="0"/>
              <a:t>当外存存储设备采用</a:t>
            </a:r>
            <a:r>
              <a:rPr lang="en-US" altLang="zh-CN" dirty="0" err="1"/>
              <a:t>Optane</a:t>
            </a:r>
            <a:r>
              <a:rPr lang="en-US" altLang="zh-CN" dirty="0"/>
              <a:t> SSD</a:t>
            </a:r>
            <a:r>
              <a:rPr lang="zh-CN" altLang="zh-CN" dirty="0"/>
              <a:t>这种新型</a:t>
            </a:r>
            <a:r>
              <a:rPr lang="en-US" altLang="zh-CN" dirty="0"/>
              <a:t>SSD</a:t>
            </a:r>
            <a:r>
              <a:rPr lang="zh-CN" altLang="zh-CN" dirty="0"/>
              <a:t>的时候，这种存储设备的优化针对于重复数据删除系统的指纹查找效率足够，再采用更快的存储设备</a:t>
            </a:r>
            <a:r>
              <a:rPr lang="en-US" altLang="zh-CN" dirty="0"/>
              <a:t>(</a:t>
            </a:r>
            <a:r>
              <a:rPr lang="zh-CN" altLang="zh-CN" dirty="0"/>
              <a:t>例如</a:t>
            </a:r>
            <a:r>
              <a:rPr lang="en-US" altLang="zh-CN" dirty="0"/>
              <a:t>PM)</a:t>
            </a:r>
            <a:r>
              <a:rPr lang="zh-CN" altLang="zh-CN" dirty="0"/>
              <a:t>，性能提升并不明显．</a:t>
            </a:r>
          </a:p>
          <a:p>
            <a:r>
              <a:rPr lang="en-US" altLang="zh-CN" dirty="0"/>
              <a:t>2) </a:t>
            </a:r>
            <a:r>
              <a:rPr lang="zh-CN" altLang="zh-CN" dirty="0"/>
              <a:t>当外存存储设备的性能越来越好的时候，最优局部性环的值会越来越小．</a:t>
            </a:r>
          </a:p>
          <a:p>
            <a:r>
              <a:rPr lang="en-US" altLang="zh-CN" dirty="0"/>
              <a:t>3) </a:t>
            </a:r>
            <a:r>
              <a:rPr lang="zh-CN" altLang="zh-CN" dirty="0"/>
              <a:t>当使用</a:t>
            </a:r>
            <a:r>
              <a:rPr lang="en-US" altLang="zh-CN" dirty="0" err="1"/>
              <a:t>Optane</a:t>
            </a:r>
            <a:r>
              <a:rPr lang="en-US" altLang="zh-CN" dirty="0"/>
              <a:t> SSD</a:t>
            </a:r>
            <a:r>
              <a:rPr lang="zh-CN" altLang="zh-CN" dirty="0"/>
              <a:t>或者持久型内存的时候，甚至不采用局部性环的相关优化，采用勤奋指纹查找算法的效率更高．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731666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4">
            <a:extLst>
              <a:ext uri="{FF2B5EF4-FFF2-40B4-BE49-F238E27FC236}">
                <a16:creationId xmlns:a16="http://schemas.microsoft.com/office/drawing/2014/main" id="{03D26EE7-8A08-5244-8B27-C993F4B04E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" y="91435"/>
            <a:ext cx="12192001" cy="676656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D3B9A58C-B8F8-1543-AE26-5B930781D161}"/>
              </a:ext>
            </a:extLst>
          </p:cNvPr>
          <p:cNvSpPr txBox="1"/>
          <p:nvPr/>
        </p:nvSpPr>
        <p:spPr>
          <a:xfrm>
            <a:off x="255270" y="230188"/>
            <a:ext cx="51282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200" dirty="0"/>
              <a:t>Deduplication</a:t>
            </a:r>
            <a:r>
              <a:rPr kumimoji="1" lang="zh-CN" altLang="en-US" sz="3200" dirty="0"/>
              <a:t>优化策略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FFA58C7-E054-E842-9E6A-5048298DAC26}"/>
              </a:ext>
            </a:extLst>
          </p:cNvPr>
          <p:cNvSpPr/>
          <p:nvPr/>
        </p:nvSpPr>
        <p:spPr>
          <a:xfrm>
            <a:off x="1253490" y="1023577"/>
            <a:ext cx="100965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SiLo: A Similarity-Locality based Near-Exact Deduplication Scheme with Low RAM Overhead and High Throughput，同时数据块的空间局部性以及文件的相似性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C312338-CE00-754B-AE3F-78D80E226C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440" y="1747105"/>
            <a:ext cx="5575300" cy="41148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A6CB019F-7F36-5B47-8574-B65304CAD4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1740" y="1878522"/>
            <a:ext cx="5549900" cy="349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5095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4">
            <a:extLst>
              <a:ext uri="{FF2B5EF4-FFF2-40B4-BE49-F238E27FC236}">
                <a16:creationId xmlns:a16="http://schemas.microsoft.com/office/drawing/2014/main" id="{17807D68-EF04-2F42-B27D-5943C70688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91435"/>
            <a:ext cx="12192001" cy="676656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F94F5247-9320-9A46-91EC-F57435BAD7AE}"/>
              </a:ext>
            </a:extLst>
          </p:cNvPr>
          <p:cNvSpPr txBox="1"/>
          <p:nvPr/>
        </p:nvSpPr>
        <p:spPr>
          <a:xfrm>
            <a:off x="255270" y="230188"/>
            <a:ext cx="51282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200" dirty="0"/>
              <a:t>Deduplication</a:t>
            </a:r>
            <a:r>
              <a:rPr kumimoji="1" lang="zh-CN" altLang="en-US" sz="3200" dirty="0"/>
              <a:t>优化策略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8679437-9223-DA48-89F8-C1855D9158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895350"/>
            <a:ext cx="4918710" cy="478674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94277AC-96C2-E342-A144-9783EDA00B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0904" y="1225550"/>
            <a:ext cx="5930900" cy="440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5353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4">
            <a:extLst>
              <a:ext uri="{FF2B5EF4-FFF2-40B4-BE49-F238E27FC236}">
                <a16:creationId xmlns:a16="http://schemas.microsoft.com/office/drawing/2014/main" id="{286AAC12-B45F-A548-A51F-87217A6C51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91435"/>
            <a:ext cx="12192001" cy="676656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4E7076C7-DD6A-1347-BF7A-6743AE18E02B}"/>
              </a:ext>
            </a:extLst>
          </p:cNvPr>
          <p:cNvSpPr txBox="1"/>
          <p:nvPr/>
        </p:nvSpPr>
        <p:spPr>
          <a:xfrm>
            <a:off x="255270" y="230188"/>
            <a:ext cx="51282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200" dirty="0"/>
              <a:t>Deduplication</a:t>
            </a:r>
            <a:r>
              <a:rPr kumimoji="1" lang="zh-CN" altLang="en-US" sz="3200" dirty="0"/>
              <a:t>优化策略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BC3E964-99CD-6647-9E4C-5AE28E1883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6377" y="828390"/>
            <a:ext cx="6450453" cy="5799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0927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004003-8FA0-7646-9776-F873EE842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C53DCA9-D530-AA46-ABCF-2A20F0FB58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4" name="内容占位符 4">
            <a:extLst>
              <a:ext uri="{FF2B5EF4-FFF2-40B4-BE49-F238E27FC236}">
                <a16:creationId xmlns:a16="http://schemas.microsoft.com/office/drawing/2014/main" id="{17A649F8-1EFF-2E46-84F2-7B4CF529AA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91435"/>
            <a:ext cx="12192001" cy="676656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478CFF21-6B92-BF4C-9C86-A04FBA4A0A86}"/>
              </a:ext>
            </a:extLst>
          </p:cNvPr>
          <p:cNvSpPr txBox="1"/>
          <p:nvPr/>
        </p:nvSpPr>
        <p:spPr>
          <a:xfrm>
            <a:off x="255270" y="230188"/>
            <a:ext cx="51282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dirty="0"/>
              <a:t>参考文献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28C76E2-55D3-0E49-9DA4-BA25BD287B43}"/>
              </a:ext>
            </a:extLst>
          </p:cNvPr>
          <p:cNvSpPr txBox="1"/>
          <p:nvPr/>
        </p:nvSpPr>
        <p:spPr>
          <a:xfrm>
            <a:off x="1657350" y="1431042"/>
            <a:ext cx="917829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[1]</a:t>
            </a:r>
            <a:r>
              <a:rPr lang="en-US" altLang="zh-CN" dirty="0"/>
              <a:t> Zhu B, Li Kai, Patterson RH. Avoiding the disk bottleneck in the data domain deduplication file system[C] // Proc of the 6th USENIX </a:t>
            </a:r>
            <a:r>
              <a:rPr lang="en-US" altLang="zh-CN" dirty="0" err="1"/>
              <a:t>Conf</a:t>
            </a:r>
            <a:r>
              <a:rPr lang="en-US" altLang="zh-CN" dirty="0"/>
              <a:t> on File and Storage Technologies. Berkeley, CA: USENIX Association, 2008:1-14</a:t>
            </a:r>
          </a:p>
          <a:p>
            <a:r>
              <a:rPr lang="en-US" altLang="zh-CN" dirty="0"/>
              <a:t>[2] Xia Wen, Jiang Hong, Feng Dan et al. </a:t>
            </a:r>
            <a:r>
              <a:rPr lang="en-US" altLang="zh-CN" dirty="0" err="1"/>
              <a:t>SiLo</a:t>
            </a:r>
            <a:r>
              <a:rPr lang="en-US" altLang="zh-CN" dirty="0"/>
              <a:t>: A similarity-locality based near-exact deduplication scheme with low RAM overhead and high throughput[C] // Proc of 2011 USENIX Annual Technical Conf. Berkeley, CA: USENIX Association, 2011: 26-30</a:t>
            </a:r>
            <a:endParaRPr lang="zh-CN" altLang="zh-CN" dirty="0"/>
          </a:p>
          <a:p>
            <a:endParaRPr lang="zh-CN" altLang="zh-CN" dirty="0"/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735352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571</Words>
  <Application>Microsoft Macintosh PowerPoint</Application>
  <PresentationFormat>宽屏</PresentationFormat>
  <Paragraphs>57</Paragraphs>
  <Slides>19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6" baseType="lpstr">
      <vt:lpstr>等线</vt:lpstr>
      <vt:lpstr>等线 Light</vt:lpstr>
      <vt:lpstr>Microsoft YaHei</vt:lpstr>
      <vt:lpstr>Arial</vt:lpstr>
      <vt:lpstr>Calibri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何 柯文</dc:creator>
  <cp:lastModifiedBy>何 柯文</cp:lastModifiedBy>
  <cp:revision>27</cp:revision>
  <dcterms:created xsi:type="dcterms:W3CDTF">2019-11-27T12:13:15Z</dcterms:created>
  <dcterms:modified xsi:type="dcterms:W3CDTF">2019-11-27T13:53:37Z</dcterms:modified>
</cp:coreProperties>
</file>