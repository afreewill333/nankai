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261" r:id="rId2"/>
    <p:sldId id="390" r:id="rId3"/>
    <p:sldId id="591" r:id="rId4"/>
    <p:sldId id="587" r:id="rId5"/>
    <p:sldId id="575" r:id="rId6"/>
    <p:sldId id="586" r:id="rId7"/>
    <p:sldId id="588" r:id="rId8"/>
    <p:sldId id="589" r:id="rId9"/>
    <p:sldId id="590" r:id="rId10"/>
    <p:sldId id="593" r:id="rId11"/>
    <p:sldId id="570" r:id="rId12"/>
    <p:sldId id="572" r:id="rId13"/>
    <p:sldId id="571" r:id="rId14"/>
    <p:sldId id="579" r:id="rId15"/>
    <p:sldId id="578" r:id="rId16"/>
    <p:sldId id="583" r:id="rId17"/>
    <p:sldId id="584" r:id="rId18"/>
    <p:sldId id="596" r:id="rId19"/>
    <p:sldId id="599" r:id="rId20"/>
    <p:sldId id="600" r:id="rId21"/>
    <p:sldId id="595" r:id="rId22"/>
    <p:sldId id="585" r:id="rId23"/>
    <p:sldId id="598" r:id="rId24"/>
    <p:sldId id="574" r:id="rId25"/>
    <p:sldId id="597" r:id="rId26"/>
    <p:sldId id="616" r:id="rId27"/>
    <p:sldId id="613" r:id="rId28"/>
    <p:sldId id="369" r:id="rId29"/>
    <p:sldId id="622" r:id="rId30"/>
    <p:sldId id="614" r:id="rId31"/>
    <p:sldId id="569" r:id="rId32"/>
    <p:sldId id="615" r:id="rId33"/>
    <p:sldId id="617" r:id="rId34"/>
    <p:sldId id="576" r:id="rId35"/>
    <p:sldId id="577" r:id="rId36"/>
    <p:sldId id="618" r:id="rId37"/>
    <p:sldId id="580" r:id="rId38"/>
    <p:sldId id="619" r:id="rId39"/>
    <p:sldId id="620" r:id="rId40"/>
    <p:sldId id="621" r:id="rId41"/>
    <p:sldId id="601" r:id="rId42"/>
    <p:sldId id="602" r:id="rId43"/>
    <p:sldId id="603" r:id="rId44"/>
    <p:sldId id="604" r:id="rId45"/>
    <p:sldId id="366" r:id="rId4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27" autoAdjust="0"/>
    <p:restoredTop sz="75780" autoAdjust="0"/>
  </p:normalViewPr>
  <p:slideViewPr>
    <p:cSldViewPr snapToGrid="0">
      <p:cViewPr varScale="1">
        <p:scale>
          <a:sx n="84" d="100"/>
          <a:sy n="84" d="100"/>
        </p:scale>
        <p:origin x="39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C8503A-27D3-468A-BEE6-6B914082727A}" type="datetimeFigureOut">
              <a:rPr lang="zh-CN" altLang="en-US" smtClean="0"/>
              <a:t>2019/10/17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59360-EF56-45BC-ABE6-E9B502F40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177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3855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9466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广义上虚拟化：一切皆虚拟</a:t>
            </a:r>
            <a:endParaRPr kumimoji="1" lang="en-US" altLang="zh-CN" baseline="0" dirty="0"/>
          </a:p>
          <a:p>
            <a:r>
              <a:rPr kumimoji="1" lang="zh-CN" altLang="en-US" baseline="0" dirty="0"/>
              <a:t>狭义上虚拟化：</a:t>
            </a:r>
            <a:r>
              <a:rPr kumimoji="1" lang="en-US" altLang="zh-CN" baseline="0" dirty="0"/>
              <a:t>VMM</a:t>
            </a:r>
            <a:r>
              <a:rPr kumimoji="1" lang="zh-CN" altLang="en-US" baseline="0" dirty="0"/>
              <a:t>进行截取并重定向，让虚拟机误以为自己独享物理资源。物理机可以被抽象，分割为多个虚拟的逻辑主机，向上支持多个操作系统及其之上的运行环境和程序。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kumimoji="1" lang="zh-CN" altLang="en-US" baseline="0" dirty="0"/>
              <a:t>软件虚拟化：把客户每条指令“二进制翻译”，缺点是慢，软件复杂。优点是可以呈现多种平台。</a:t>
            </a:r>
            <a:endParaRPr kumimoji="1" lang="en-US" altLang="zh-CN" baseline="0" dirty="0"/>
          </a:p>
          <a:p>
            <a:r>
              <a:rPr kumimoji="1" lang="zh-CN" altLang="en-US" baseline="0" dirty="0"/>
              <a:t>硬件虚拟化：绝大部分指令可直接运行在虚拟化硬件上，少数指令（</a:t>
            </a:r>
            <a:r>
              <a:rPr kumimoji="1" lang="en-US" altLang="zh-CN" baseline="0" dirty="0"/>
              <a:t>IO</a:t>
            </a:r>
            <a:r>
              <a:rPr kumimoji="1" lang="zh-CN" altLang="en-US" baseline="0" dirty="0"/>
              <a:t>指令）需要</a:t>
            </a:r>
            <a:r>
              <a:rPr kumimoji="1" lang="en-US" altLang="zh-CN" baseline="0" dirty="0"/>
              <a:t>VMM</a:t>
            </a:r>
            <a:r>
              <a:rPr kumimoji="1" lang="zh-CN" altLang="en-US" baseline="0" dirty="0"/>
              <a:t>捕获模拟。性能接近原生系统。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kumimoji="1" lang="zh-CN" altLang="en-US" baseline="0" dirty="0"/>
              <a:t>半虚拟化弱化了</a:t>
            </a:r>
            <a:r>
              <a:rPr kumimoji="1" lang="en-US" altLang="zh-CN" baseline="0" dirty="0"/>
              <a:t>GUEST</a:t>
            </a:r>
            <a:r>
              <a:rPr kumimoji="1" lang="zh-CN" altLang="en-US" baseline="0" dirty="0"/>
              <a:t>特殊指令被捕获重定向的要求，转为</a:t>
            </a:r>
            <a:r>
              <a:rPr kumimoji="1" lang="en-US" altLang="zh-CN" baseline="0" dirty="0"/>
              <a:t>GUEST</a:t>
            </a:r>
            <a:r>
              <a:rPr kumimoji="1" lang="zh-CN" altLang="en-US" baseline="0" dirty="0"/>
              <a:t>主动对</a:t>
            </a:r>
            <a:r>
              <a:rPr kumimoji="1" lang="en-US" altLang="zh-CN" baseline="0" dirty="0"/>
              <a:t>HOST</a:t>
            </a:r>
            <a:r>
              <a:rPr kumimoji="1" lang="zh-CN" altLang="en-US" baseline="0" dirty="0"/>
              <a:t>的主动通知。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0343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aseline="0" dirty="0"/>
              <a:t>KVM</a:t>
            </a:r>
            <a:r>
              <a:rPr kumimoji="1" lang="zh-CN" altLang="en-US" baseline="0" dirty="0"/>
              <a:t>内核模块负责：客户机创建，虚拟内存的分配，</a:t>
            </a:r>
            <a:r>
              <a:rPr kumimoji="1" lang="en-US" altLang="zh-CN" baseline="0" dirty="0"/>
              <a:t>CPU</a:t>
            </a:r>
            <a:r>
              <a:rPr kumimoji="1" lang="zh-CN" altLang="en-US" baseline="0" dirty="0"/>
              <a:t>执行模式切换，</a:t>
            </a:r>
            <a:r>
              <a:rPr kumimoji="1" lang="en-US" altLang="zh-CN" baseline="0" dirty="0"/>
              <a:t>vCPU</a:t>
            </a:r>
            <a:r>
              <a:rPr kumimoji="1" lang="zh-CN" altLang="en-US" baseline="0" dirty="0"/>
              <a:t>寄存器的访问，</a:t>
            </a:r>
            <a:r>
              <a:rPr kumimoji="1" lang="en-US" altLang="zh-CN" baseline="0" dirty="0"/>
              <a:t>vCPU</a:t>
            </a:r>
            <a:r>
              <a:rPr kumimoji="1" lang="zh-CN" altLang="en-US" baseline="0" dirty="0"/>
              <a:t>的执行。</a:t>
            </a:r>
            <a:r>
              <a:rPr kumimoji="1" lang="en-US" altLang="zh-CN" baseline="0" dirty="0"/>
              <a:t>KVM</a:t>
            </a:r>
            <a:r>
              <a:rPr kumimoji="1" lang="zh-CN" altLang="en-US" baseline="0" dirty="0"/>
              <a:t>模块创建一个</a:t>
            </a:r>
            <a:r>
              <a:rPr kumimoji="1" lang="en-US" altLang="zh-CN" baseline="0" dirty="0"/>
              <a:t>/dev/</a:t>
            </a:r>
            <a:r>
              <a:rPr kumimoji="1" lang="en-US" altLang="zh-CN" baseline="0" dirty="0" err="1"/>
              <a:t>kvm</a:t>
            </a:r>
            <a:r>
              <a:rPr kumimoji="1" lang="zh-CN" altLang="en-US" baseline="0" dirty="0"/>
              <a:t>设备，</a:t>
            </a:r>
            <a:r>
              <a:rPr kumimoji="1" lang="en-US" altLang="zh-CN" baseline="0" dirty="0"/>
              <a:t>QEMU</a:t>
            </a:r>
            <a:r>
              <a:rPr kumimoji="1" lang="zh-CN" altLang="en-US" baseline="0" dirty="0"/>
              <a:t>用</a:t>
            </a:r>
            <a:r>
              <a:rPr kumimoji="1" lang="en-US" altLang="zh-CN" baseline="0" dirty="0" err="1"/>
              <a:t>ioctl</a:t>
            </a:r>
            <a:r>
              <a:rPr kumimoji="1" lang="zh-CN" altLang="en-US" baseline="0" dirty="0"/>
              <a:t>与设备交互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kumimoji="1" lang="en-US" altLang="zh-CN" baseline="0" dirty="0"/>
              <a:t>QEMU</a:t>
            </a:r>
            <a:r>
              <a:rPr kumimoji="1" lang="zh-CN" altLang="en-US" baseline="0" dirty="0"/>
              <a:t>用户态工具负责：模拟</a:t>
            </a:r>
            <a:r>
              <a:rPr kumimoji="1" lang="en-US" altLang="zh-CN" baseline="0" dirty="0"/>
              <a:t>BIOS</a:t>
            </a:r>
            <a:r>
              <a:rPr kumimoji="1" lang="zh-CN" altLang="en-US" baseline="0" dirty="0"/>
              <a:t>，</a:t>
            </a:r>
            <a:r>
              <a:rPr kumimoji="1" lang="en-US" altLang="zh-CN" baseline="0" dirty="0"/>
              <a:t>PCI/PCIE</a:t>
            </a:r>
            <a:r>
              <a:rPr kumimoji="1" lang="zh-CN" altLang="en-US" baseline="0" dirty="0"/>
              <a:t>总线，磁盘，网卡等。通过</a:t>
            </a:r>
            <a:r>
              <a:rPr kumimoji="1" lang="en-US" altLang="zh-CN" baseline="0" dirty="0" err="1"/>
              <a:t>ioctl</a:t>
            </a:r>
            <a:r>
              <a:rPr kumimoji="1" lang="zh-CN" altLang="en-US" baseline="0" dirty="0"/>
              <a:t>系统调用和</a:t>
            </a:r>
            <a:r>
              <a:rPr kumimoji="1" lang="en-US" altLang="zh-CN" baseline="0" dirty="0"/>
              <a:t>KVM</a:t>
            </a:r>
            <a:r>
              <a:rPr kumimoji="1" lang="zh-CN" altLang="en-US" baseline="0" dirty="0"/>
              <a:t>内核模块交互；事实上</a:t>
            </a:r>
            <a:r>
              <a:rPr kumimoji="1" lang="en-US" altLang="zh-CN" baseline="0" dirty="0"/>
              <a:t>QEMU</a:t>
            </a:r>
            <a:r>
              <a:rPr kumimoji="1" lang="zh-CN" altLang="en-US" baseline="0" dirty="0"/>
              <a:t>是个软件全虚拟化的解决方案，通过二进制翻译，优点是跨平台，但性能差。在</a:t>
            </a:r>
            <a:r>
              <a:rPr kumimoji="1" lang="en-US" altLang="zh-CN" baseline="0" dirty="0" err="1"/>
              <a:t>qemu-kvm</a:t>
            </a:r>
            <a:r>
              <a:rPr kumimoji="1" lang="zh-CN" altLang="en-US" baseline="0" dirty="0"/>
              <a:t>下，</a:t>
            </a:r>
            <a:r>
              <a:rPr kumimoji="1" lang="en-US" altLang="zh-CN" baseline="0" dirty="0" err="1"/>
              <a:t>qemu</a:t>
            </a:r>
            <a:r>
              <a:rPr kumimoji="1" lang="zh-CN" altLang="en-US" baseline="0" dirty="0"/>
              <a:t>提供客户机的设备模拟。得以提升性能。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kumimoji="1" lang="zh-CN" altLang="en-US" baseline="0" dirty="0"/>
              <a:t>每个客户机是一个</a:t>
            </a:r>
            <a:r>
              <a:rPr kumimoji="1" lang="en-US" altLang="zh-CN" baseline="0" dirty="0"/>
              <a:t>Linux</a:t>
            </a:r>
            <a:r>
              <a:rPr kumimoji="1" lang="zh-CN" altLang="en-US" baseline="0" dirty="0"/>
              <a:t>（</a:t>
            </a:r>
            <a:r>
              <a:rPr kumimoji="1" lang="en-US" altLang="zh-CN" baseline="0" dirty="0"/>
              <a:t>QEMU</a:t>
            </a:r>
            <a:r>
              <a:rPr kumimoji="1" lang="zh-CN" altLang="en-US" baseline="0" dirty="0"/>
              <a:t>）进程，客户机中每个</a:t>
            </a:r>
            <a:r>
              <a:rPr kumimoji="1" lang="en-US" altLang="zh-CN" baseline="0" dirty="0"/>
              <a:t>vCPU</a:t>
            </a:r>
            <a:r>
              <a:rPr kumimoji="1" lang="zh-CN" altLang="en-US" baseline="0" dirty="0"/>
              <a:t>对应此</a:t>
            </a:r>
            <a:r>
              <a:rPr kumimoji="1" lang="en-US" altLang="zh-CN" baseline="0" dirty="0"/>
              <a:t>QEMU</a:t>
            </a:r>
            <a:r>
              <a:rPr kumimoji="1" lang="zh-CN" altLang="en-US" baseline="0" dirty="0"/>
              <a:t>进程派生的一个执行线程，一个宿主机只有一个</a:t>
            </a:r>
            <a:r>
              <a:rPr kumimoji="1" lang="en-US" altLang="zh-CN" baseline="0" dirty="0"/>
              <a:t>KVM</a:t>
            </a:r>
            <a:r>
              <a:rPr kumimoji="1" lang="zh-CN" altLang="en-US" baseline="0" dirty="0"/>
              <a:t>内核模块，所有客户机都与它交互。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kumimoji="1" lang="en-US" altLang="zh-CN" baseline="0" dirty="0"/>
              <a:t>QEMU</a:t>
            </a:r>
            <a:r>
              <a:rPr kumimoji="1" lang="zh-CN" altLang="en-US" baseline="0" dirty="0"/>
              <a:t>进程与其他普通用户进程一样接受</a:t>
            </a:r>
            <a:r>
              <a:rPr kumimoji="1" lang="en-US" altLang="zh-CN" baseline="0" dirty="0"/>
              <a:t>Host </a:t>
            </a:r>
            <a:r>
              <a:rPr kumimoji="1" lang="zh-CN" altLang="en-US" baseline="0" dirty="0"/>
              <a:t>内核调度。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kumimoji="1" lang="en-US" altLang="zh-CN" baseline="0" dirty="0"/>
              <a:t>QEMU-KVM</a:t>
            </a:r>
            <a:r>
              <a:rPr kumimoji="1" lang="zh-CN" altLang="en-US" baseline="0" dirty="0"/>
              <a:t>上半部分为</a:t>
            </a:r>
            <a:r>
              <a:rPr kumimoji="1" lang="en-US" altLang="zh-CN" baseline="0" dirty="0"/>
              <a:t>QEMU</a:t>
            </a:r>
            <a:r>
              <a:rPr kumimoji="1" lang="zh-CN" altLang="en-US" baseline="0" dirty="0"/>
              <a:t>结构，下半部分为</a:t>
            </a:r>
            <a:r>
              <a:rPr kumimoji="1" lang="en-US" altLang="zh-CN" baseline="0" dirty="0"/>
              <a:t>KVM</a:t>
            </a:r>
            <a:r>
              <a:rPr kumimoji="1" lang="zh-CN" altLang="en-US" baseline="0" dirty="0"/>
              <a:t>结构，</a:t>
            </a:r>
            <a:r>
              <a:rPr kumimoji="1" lang="en-US" altLang="zh-CN" baseline="0" dirty="0"/>
              <a:t>KVM</a:t>
            </a:r>
            <a:r>
              <a:rPr kumimoji="1" lang="zh-CN" altLang="en-US" baseline="0" dirty="0"/>
              <a:t>结构分为 硬件无关的</a:t>
            </a:r>
            <a:r>
              <a:rPr kumimoji="1" lang="en-US" altLang="zh-CN" baseline="0" dirty="0"/>
              <a:t>KVM</a:t>
            </a:r>
            <a:r>
              <a:rPr kumimoji="1" lang="zh-CN" altLang="en-US" baseline="0" dirty="0"/>
              <a:t>内核模块 以及 硬件相关的虚拟化技术硬件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7648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8391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aseline="0" dirty="0"/>
              <a:t>Intel</a:t>
            </a:r>
            <a:r>
              <a:rPr kumimoji="1" lang="zh-CN" altLang="en-US" baseline="0" dirty="0"/>
              <a:t>在处理器级别提供了对虚拟化技术的支持：</a:t>
            </a:r>
            <a:r>
              <a:rPr kumimoji="1" lang="en-US" altLang="zh-CN" baseline="0" dirty="0"/>
              <a:t>VMX</a:t>
            </a:r>
            <a:r>
              <a:rPr kumimoji="1" lang="zh-CN" altLang="en-US" baseline="0" dirty="0"/>
              <a:t>（</a:t>
            </a:r>
            <a:r>
              <a:rPr kumimoji="1" lang="en-US" altLang="zh-CN" baseline="0" dirty="0"/>
              <a:t>virtual machine extension</a:t>
            </a:r>
            <a:r>
              <a:rPr kumimoji="1" lang="zh-CN" altLang="en-US" baseline="0" dirty="0"/>
              <a:t>），分为两种操作模式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kumimoji="1" lang="zh-CN" altLang="en-US" baseline="0" dirty="0"/>
              <a:t>非根操作是相对受限的，</a:t>
            </a:r>
            <a:r>
              <a:rPr kumimoji="1" lang="en-US" altLang="zh-CN" baseline="0" dirty="0"/>
              <a:t>Guest</a:t>
            </a:r>
            <a:r>
              <a:rPr kumimoji="1" lang="zh-CN" altLang="en-US" baseline="0" dirty="0"/>
              <a:t>中的一些敏感指令或异常会触发“</a:t>
            </a:r>
            <a:r>
              <a:rPr kumimoji="1" lang="en-US" altLang="zh-CN" baseline="0" dirty="0"/>
              <a:t>VM_EXIT</a:t>
            </a:r>
            <a:r>
              <a:rPr kumimoji="1" lang="zh-CN" altLang="en-US" baseline="0" dirty="0"/>
              <a:t>”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kumimoji="1" lang="zh-CN" altLang="en-US" baseline="0" dirty="0"/>
              <a:t>一次</a:t>
            </a:r>
            <a:r>
              <a:rPr kumimoji="1" lang="en-US" altLang="zh-CN" baseline="0" dirty="0"/>
              <a:t>VM_EXIT</a:t>
            </a:r>
            <a:r>
              <a:rPr kumimoji="1" lang="zh-CN" altLang="en-US" baseline="0" dirty="0"/>
              <a:t>的代价很高，可能会消耗成百上千的</a:t>
            </a:r>
            <a:r>
              <a:rPr kumimoji="1" lang="en-US" altLang="zh-CN" baseline="0" dirty="0"/>
              <a:t>CPU</a:t>
            </a:r>
            <a:r>
              <a:rPr kumimoji="1" lang="zh-CN" altLang="en-US" baseline="0" dirty="0"/>
              <a:t>周期。而一般指令只需要几个</a:t>
            </a:r>
            <a:r>
              <a:rPr kumimoji="1" lang="en-US" altLang="zh-CN" baseline="0" dirty="0"/>
              <a:t>CPU</a:t>
            </a:r>
            <a:r>
              <a:rPr kumimoji="1" lang="zh-CN" altLang="en-US" baseline="0" dirty="0"/>
              <a:t>周期，因此要尽量减少</a:t>
            </a:r>
            <a:r>
              <a:rPr kumimoji="1" lang="en-US" altLang="zh-CN" baseline="0" dirty="0"/>
              <a:t>VM_EXIT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9951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每个客户机是一个</a:t>
            </a:r>
            <a:r>
              <a:rPr kumimoji="1" lang="en-US" altLang="zh-CN" baseline="0" dirty="0"/>
              <a:t>Linux</a:t>
            </a:r>
            <a:r>
              <a:rPr kumimoji="1" lang="zh-CN" altLang="en-US" baseline="0" dirty="0"/>
              <a:t>（</a:t>
            </a:r>
            <a:r>
              <a:rPr kumimoji="1" lang="en-US" altLang="zh-CN" baseline="0" dirty="0"/>
              <a:t>QEMU</a:t>
            </a:r>
            <a:r>
              <a:rPr kumimoji="1" lang="zh-CN" altLang="en-US" baseline="0" dirty="0"/>
              <a:t>）进程，客户机中每个</a:t>
            </a:r>
            <a:r>
              <a:rPr kumimoji="1" lang="en-US" altLang="zh-CN" baseline="0" dirty="0"/>
              <a:t>vCPU</a:t>
            </a:r>
            <a:r>
              <a:rPr kumimoji="1" lang="zh-CN" altLang="en-US" baseline="0" dirty="0"/>
              <a:t>对应此</a:t>
            </a:r>
            <a:r>
              <a:rPr kumimoji="1" lang="en-US" altLang="zh-CN" baseline="0" dirty="0"/>
              <a:t>QEMU</a:t>
            </a:r>
            <a:r>
              <a:rPr kumimoji="1" lang="zh-CN" altLang="en-US" baseline="0" dirty="0"/>
              <a:t>进程派生的一个执行线程。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3791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aseline="0" dirty="0"/>
              <a:t>SMP</a:t>
            </a:r>
            <a:r>
              <a:rPr kumimoji="1" lang="zh-CN" altLang="en-US" baseline="0" dirty="0"/>
              <a:t>被广泛使用。在</a:t>
            </a:r>
            <a:r>
              <a:rPr kumimoji="1" lang="en-US" altLang="zh-CN" baseline="0" dirty="0"/>
              <a:t>SMP</a:t>
            </a:r>
            <a:r>
              <a:rPr kumimoji="1" lang="zh-CN" altLang="en-US" baseline="0" dirty="0"/>
              <a:t>系统中，多处理器运行一个</a:t>
            </a:r>
            <a:r>
              <a:rPr kumimoji="1" lang="en-US" altLang="zh-CN" baseline="0" dirty="0"/>
              <a:t>OS</a:t>
            </a:r>
            <a:r>
              <a:rPr kumimoji="1" lang="zh-CN" altLang="en-US" baseline="0" dirty="0"/>
              <a:t>，使多个进程能真正并行，单进程的多线程也能得到并行执行。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kumimoji="1" lang="en-US" altLang="zh-CN" baseline="0" dirty="0"/>
              <a:t>Intel Xen</a:t>
            </a:r>
            <a:r>
              <a:rPr kumimoji="1" lang="zh-CN" altLang="en-US" baseline="0" dirty="0"/>
              <a:t>使用多核技术实现</a:t>
            </a:r>
            <a:r>
              <a:rPr kumimoji="1" lang="en-US" altLang="zh-CN" baseline="0" dirty="0"/>
              <a:t>SMP</a:t>
            </a:r>
            <a:r>
              <a:rPr kumimoji="1" lang="zh-CN" altLang="en-US" baseline="0" dirty="0"/>
              <a:t>系统。软件方面，主流操作系统都提供了</a:t>
            </a:r>
            <a:r>
              <a:rPr kumimoji="1" lang="en-US" altLang="zh-CN" baseline="0" dirty="0"/>
              <a:t>SMP</a:t>
            </a:r>
            <a:r>
              <a:rPr kumimoji="1" lang="zh-CN" altLang="en-US" baseline="0" dirty="0"/>
              <a:t>的支持。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kumimoji="1" lang="en-US" altLang="zh-CN" baseline="0" dirty="0"/>
              <a:t>QEMU</a:t>
            </a:r>
            <a:r>
              <a:rPr kumimoji="1" lang="zh-CN" altLang="en-US" baseline="0" dirty="0"/>
              <a:t>模拟</a:t>
            </a:r>
            <a:r>
              <a:rPr kumimoji="1" lang="en-US" altLang="zh-CN" baseline="0" dirty="0"/>
              <a:t>SMP</a:t>
            </a:r>
            <a:r>
              <a:rPr kumimoji="1" lang="zh-CN" altLang="en-US" baseline="0" dirty="0"/>
              <a:t>架构，每个</a:t>
            </a:r>
            <a:r>
              <a:rPr kumimoji="1" lang="en-US" altLang="zh-CN" baseline="0" dirty="0"/>
              <a:t>vCPU</a:t>
            </a:r>
            <a:r>
              <a:rPr kumimoji="1" lang="zh-CN" altLang="en-US" baseline="0" dirty="0"/>
              <a:t>在</a:t>
            </a:r>
            <a:r>
              <a:rPr kumimoji="1" lang="en-US" altLang="zh-CN" baseline="0" dirty="0"/>
              <a:t>HOST</a:t>
            </a:r>
            <a:r>
              <a:rPr kumimoji="1" lang="zh-CN" altLang="en-US" baseline="0" dirty="0"/>
              <a:t>是一个线程。根据底层硬件的不同，通过两种方式模拟</a:t>
            </a:r>
            <a:r>
              <a:rPr kumimoji="1" lang="en-US" altLang="zh-CN" baseline="0" dirty="0"/>
              <a:t>SMP</a:t>
            </a:r>
          </a:p>
          <a:p>
            <a:endParaRPr kumimoji="1" lang="en-US" altLang="zh-CN" baseline="0" dirty="0"/>
          </a:p>
          <a:p>
            <a:r>
              <a:rPr kumimoji="1" lang="en-US" altLang="zh-CN" baseline="0" dirty="0"/>
              <a:t>QEMU</a:t>
            </a:r>
            <a:r>
              <a:rPr kumimoji="1" lang="zh-CN" altLang="en-US" baseline="0" dirty="0"/>
              <a:t>命令指定</a:t>
            </a:r>
            <a:r>
              <a:rPr kumimoji="1" lang="en-US" altLang="zh-CN" baseline="0" dirty="0"/>
              <a:t>SMP</a:t>
            </a:r>
            <a:r>
              <a:rPr kumimoji="1" lang="zh-CN" altLang="en-US" baseline="0" dirty="0"/>
              <a:t>配置：</a:t>
            </a:r>
            <a:r>
              <a:rPr kumimoji="1" lang="en-US" altLang="zh-CN" baseline="0" dirty="0" err="1"/>
              <a:t>cpu</a:t>
            </a:r>
            <a:r>
              <a:rPr kumimoji="1" lang="zh-CN" altLang="en-US" baseline="0" dirty="0"/>
              <a:t>数，每个</a:t>
            </a:r>
            <a:r>
              <a:rPr kumimoji="1" lang="en-US" altLang="zh-CN" baseline="0" dirty="0" err="1"/>
              <a:t>cpu</a:t>
            </a:r>
            <a:r>
              <a:rPr kumimoji="1" lang="zh-CN" altLang="en-US" baseline="0" dirty="0"/>
              <a:t>中</a:t>
            </a:r>
            <a:r>
              <a:rPr kumimoji="1" lang="en-US" altLang="zh-CN" baseline="0" dirty="0"/>
              <a:t>core</a:t>
            </a:r>
            <a:r>
              <a:rPr kumimoji="1" lang="zh-CN" altLang="en-US" baseline="0" dirty="0"/>
              <a:t>，</a:t>
            </a:r>
            <a:r>
              <a:rPr kumimoji="1" lang="en-US" altLang="zh-CN" baseline="0" dirty="0"/>
              <a:t>core</a:t>
            </a:r>
            <a:r>
              <a:rPr kumimoji="1" lang="zh-CN" altLang="en-US" baseline="0" dirty="0"/>
              <a:t>的</a:t>
            </a:r>
            <a:r>
              <a:rPr kumimoji="1" lang="en-US" altLang="zh-CN" baseline="0" dirty="0"/>
              <a:t>threads</a:t>
            </a:r>
            <a:r>
              <a:rPr kumimoji="1" lang="zh-CN" altLang="en-US" baseline="0" dirty="0"/>
              <a:t>数等等。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4428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aseline="0" dirty="0"/>
              <a:t>-</a:t>
            </a:r>
            <a:r>
              <a:rPr kumimoji="1" lang="en-US" altLang="zh-CN" baseline="0" dirty="0" err="1"/>
              <a:t>smp</a:t>
            </a:r>
            <a:r>
              <a:rPr kumimoji="1" lang="zh-CN" altLang="en-US" baseline="0" dirty="0"/>
              <a:t>表示分配</a:t>
            </a:r>
            <a:r>
              <a:rPr kumimoji="1" lang="en-US" altLang="zh-CN" baseline="0" dirty="0"/>
              <a:t>8</a:t>
            </a:r>
            <a:r>
              <a:rPr kumimoji="1" lang="zh-CN" altLang="en-US" baseline="0" dirty="0"/>
              <a:t>个</a:t>
            </a:r>
            <a:r>
              <a:rPr kumimoji="1" lang="en-US" altLang="zh-CN" baseline="0" dirty="0"/>
              <a:t>vCPU</a:t>
            </a:r>
            <a:r>
              <a:rPr kumimoji="1" lang="zh-CN" altLang="en-US" baseline="0" dirty="0"/>
              <a:t>给客户机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kumimoji="1" lang="zh-CN" altLang="en-US" baseline="0" dirty="0"/>
              <a:t>从客户机上看，客户机系统识别了</a:t>
            </a:r>
            <a:r>
              <a:rPr kumimoji="1" lang="en-US" altLang="zh-CN" baseline="0" dirty="0"/>
              <a:t>8</a:t>
            </a:r>
            <a:r>
              <a:rPr kumimoji="1" lang="zh-CN" altLang="en-US" baseline="0" dirty="0"/>
              <a:t>个物理</a:t>
            </a:r>
            <a:r>
              <a:rPr kumimoji="1" lang="en-US" altLang="zh-CN" baseline="0" dirty="0"/>
              <a:t>CPU</a:t>
            </a:r>
            <a:r>
              <a:rPr kumimoji="1" lang="zh-CN" altLang="en-US" baseline="0" dirty="0"/>
              <a:t>，没有多核，超线程之类的架构，默认为</a:t>
            </a:r>
            <a:r>
              <a:rPr kumimoji="1" lang="en-US" altLang="zh-CN" baseline="0" dirty="0"/>
              <a:t>1</a:t>
            </a:r>
          </a:p>
          <a:p>
            <a:endParaRPr kumimoji="1" lang="en-US" altLang="zh-CN" baseline="0" dirty="0"/>
          </a:p>
          <a:p>
            <a:r>
              <a:rPr kumimoji="1" lang="zh-CN" altLang="en-US" baseline="0" dirty="0"/>
              <a:t>从</a:t>
            </a:r>
            <a:r>
              <a:rPr kumimoji="1" lang="en-US" altLang="zh-CN" baseline="0" dirty="0"/>
              <a:t>HOST</a:t>
            </a:r>
            <a:r>
              <a:rPr kumimoji="1" lang="zh-CN" altLang="en-US" baseline="0" dirty="0"/>
              <a:t>上看，</a:t>
            </a:r>
            <a:r>
              <a:rPr kumimoji="1" lang="en-US" altLang="zh-CN" baseline="0" dirty="0"/>
              <a:t>PID</a:t>
            </a:r>
            <a:r>
              <a:rPr kumimoji="1" lang="zh-CN" altLang="en-US" baseline="0" dirty="0"/>
              <a:t>为</a:t>
            </a:r>
            <a:r>
              <a:rPr kumimoji="1" lang="en-US" altLang="zh-CN" baseline="0" dirty="0"/>
              <a:t>186360</a:t>
            </a:r>
            <a:r>
              <a:rPr kumimoji="1" lang="zh-CN" altLang="en-US" baseline="0" dirty="0"/>
              <a:t>的进程是</a:t>
            </a:r>
            <a:r>
              <a:rPr kumimoji="1" lang="en-US" altLang="zh-CN" baseline="0" dirty="0"/>
              <a:t>QEMU</a:t>
            </a:r>
            <a:r>
              <a:rPr kumimoji="1" lang="zh-CN" altLang="en-US" baseline="0" dirty="0"/>
              <a:t>启动进程，产生了</a:t>
            </a:r>
            <a:r>
              <a:rPr kumimoji="1" lang="en-US" altLang="zh-CN" baseline="0" dirty="0"/>
              <a:t>8</a:t>
            </a:r>
            <a:r>
              <a:rPr kumimoji="1" lang="zh-CN" altLang="en-US" baseline="0" dirty="0"/>
              <a:t>个线程作为客户机的</a:t>
            </a:r>
            <a:r>
              <a:rPr kumimoji="1" lang="en-US" altLang="zh-CN" baseline="0" dirty="0"/>
              <a:t>8</a:t>
            </a:r>
            <a:r>
              <a:rPr kumimoji="1" lang="zh-CN" altLang="en-US" baseline="0" dirty="0"/>
              <a:t>个</a:t>
            </a:r>
            <a:r>
              <a:rPr kumimoji="1" lang="en-US" altLang="zh-CN" baseline="0" dirty="0"/>
              <a:t>vCPU</a:t>
            </a:r>
            <a:r>
              <a:rPr kumimoji="1" lang="zh-CN" altLang="en-US" baseline="0" dirty="0"/>
              <a:t>来运行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8240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80310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介绍全虚拟化</a:t>
            </a:r>
            <a:r>
              <a:rPr kumimoji="1" lang="en-US" altLang="zh-CN" baseline="0" dirty="0"/>
              <a:t>IO</a:t>
            </a:r>
            <a:r>
              <a:rPr kumimoji="1" lang="zh-CN" altLang="en-US" baseline="0" dirty="0"/>
              <a:t>的流程，会出现多次</a:t>
            </a:r>
            <a:r>
              <a:rPr kumimoji="1" lang="en-US" altLang="zh-CN" baseline="0" dirty="0"/>
              <a:t>VM</a:t>
            </a:r>
            <a:r>
              <a:rPr kumimoji="1" lang="zh-CN" altLang="en-US" baseline="0" dirty="0"/>
              <a:t>退出，和内存的复制。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KVM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能借助硬件虚拟化技术提供的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CPU,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内存的虚拟化提升效率，但其本身不提供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设备以及虚拟机管理的支持，需要通过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QEMU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软件方式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来实现。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4028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相对于全虚拟化</a:t>
            </a:r>
            <a:r>
              <a:rPr kumimoji="1" lang="en-US" altLang="zh-CN" baseline="0" dirty="0"/>
              <a:t>IO</a:t>
            </a:r>
            <a:r>
              <a:rPr kumimoji="1" lang="zh-CN" altLang="en-US" baseline="0" dirty="0"/>
              <a:t>模式需要使用</a:t>
            </a:r>
            <a:r>
              <a:rPr kumimoji="1" lang="en-US" altLang="zh-CN" baseline="0" dirty="0"/>
              <a:t>KVM</a:t>
            </a:r>
            <a:r>
              <a:rPr kumimoji="1" lang="zh-CN" altLang="en-US" baseline="0" dirty="0"/>
              <a:t>捕获，即内核的多次切换。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kumimoji="1" lang="en-US" altLang="zh-CN" baseline="0" dirty="0" err="1"/>
              <a:t>Virtio</a:t>
            </a:r>
            <a:r>
              <a:rPr kumimoji="1" lang="zh-CN" altLang="en-US" baseline="0" dirty="0"/>
              <a:t>是一个在</a:t>
            </a:r>
            <a:r>
              <a:rPr kumimoji="1" lang="en-US" altLang="zh-CN" baseline="0" dirty="0"/>
              <a:t>VMM</a:t>
            </a:r>
            <a:r>
              <a:rPr kumimoji="1" lang="zh-CN" altLang="en-US" baseline="0" dirty="0"/>
              <a:t>之上的抽象</a:t>
            </a:r>
            <a:r>
              <a:rPr kumimoji="1" lang="en-US" altLang="zh-CN" baseline="0" dirty="0"/>
              <a:t>API</a:t>
            </a:r>
            <a:r>
              <a:rPr kumimoji="1" lang="zh-CN" altLang="en-US" baseline="0" dirty="0"/>
              <a:t>接口，让客户机知道自己运行在虚拟化环境中，根据</a:t>
            </a:r>
            <a:r>
              <a:rPr kumimoji="1" lang="en-US" altLang="zh-CN" baseline="0" dirty="0" err="1"/>
              <a:t>virtio</a:t>
            </a:r>
            <a:r>
              <a:rPr kumimoji="1" lang="zh-CN" altLang="en-US" baseline="0" dirty="0"/>
              <a:t>标准和前后端协作，在客户机中达到更好的性能。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kumimoji="1" lang="en-US" altLang="zh-CN" baseline="0" dirty="0" err="1"/>
              <a:t>virtio</a:t>
            </a:r>
            <a:r>
              <a:rPr kumimoji="1" lang="zh-CN" altLang="en-US" baseline="0" dirty="0"/>
              <a:t>的前后端驱动通过</a:t>
            </a:r>
            <a:r>
              <a:rPr kumimoji="1" lang="en-US" altLang="zh-CN" baseline="0" dirty="0"/>
              <a:t>virtual queue</a:t>
            </a:r>
            <a:r>
              <a:rPr kumimoji="1" lang="zh-CN" altLang="en-US" baseline="0" dirty="0"/>
              <a:t>来交互，共享内存。同时这也减少了内存复制。弱化了对</a:t>
            </a:r>
            <a:r>
              <a:rPr kumimoji="1" lang="en-US" altLang="zh-CN" baseline="0" dirty="0"/>
              <a:t>GUEST IO</a:t>
            </a:r>
            <a:r>
              <a:rPr kumimoji="1" lang="zh-CN" altLang="en-US" baseline="0" dirty="0"/>
              <a:t>指令的捕获要求，转换为了主动通知。我认为这种通知比较轻。批量数据再进行</a:t>
            </a:r>
            <a:r>
              <a:rPr kumimoji="1" lang="en-US" altLang="zh-CN" baseline="0" dirty="0"/>
              <a:t>kick</a:t>
            </a:r>
            <a:r>
              <a:rPr kumimoji="1" lang="zh-CN" altLang="en-US" baseline="0" dirty="0"/>
              <a:t>中断。</a:t>
            </a:r>
            <a:endParaRPr kumimoji="1" lang="en-US" altLang="zh-CN" baseline="0" dirty="0"/>
          </a:p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71929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一般来说 </a:t>
            </a:r>
            <a:r>
              <a:rPr kumimoji="1" lang="en-US" altLang="zh-CN" baseline="0" dirty="0" err="1"/>
              <a:t>virtio</a:t>
            </a:r>
            <a:r>
              <a:rPr kumimoji="1" lang="zh-CN" altLang="en-US" baseline="0" dirty="0"/>
              <a:t>支持五种设备驱动，块设备，网络设备，</a:t>
            </a:r>
            <a:r>
              <a:rPr kumimoji="1" lang="en-US" altLang="zh-CN" baseline="0" dirty="0"/>
              <a:t>PCI</a:t>
            </a:r>
            <a:r>
              <a:rPr kumimoji="1" lang="zh-CN" altLang="en-US" baseline="0" dirty="0"/>
              <a:t>设备等。</a:t>
            </a:r>
            <a:endParaRPr kumimoji="1" lang="en-US" altLang="zh-CN" baseline="0" dirty="0"/>
          </a:p>
          <a:p>
            <a:r>
              <a:rPr kumimoji="1" lang="zh-CN" altLang="en-US" baseline="0" dirty="0"/>
              <a:t>不论</a:t>
            </a:r>
            <a:r>
              <a:rPr kumimoji="1" lang="en-US" altLang="zh-CN" baseline="0" dirty="0" err="1"/>
              <a:t>virtio</a:t>
            </a:r>
            <a:r>
              <a:rPr kumimoji="1" lang="en-US" altLang="zh-CN" baseline="0" dirty="0"/>
              <a:t> </a:t>
            </a:r>
            <a:r>
              <a:rPr kumimoji="1" lang="zh-CN" altLang="en-US" baseline="0" dirty="0"/>
              <a:t>前端驱动是什么，</a:t>
            </a:r>
            <a:r>
              <a:rPr kumimoji="1" lang="en-US" altLang="zh-CN" baseline="0" dirty="0" err="1"/>
              <a:t>virtio</a:t>
            </a:r>
            <a:r>
              <a:rPr kumimoji="1" lang="en-US" altLang="zh-CN" baseline="0" dirty="0"/>
              <a:t> </a:t>
            </a:r>
            <a:r>
              <a:rPr kumimoji="1" lang="en-US" altLang="zh-CN" baseline="0" dirty="0" err="1"/>
              <a:t>api</a:t>
            </a:r>
            <a:r>
              <a:rPr kumimoji="1" lang="zh-CN" altLang="en-US" baseline="0" dirty="0"/>
              <a:t>层提供统一的接口，即定义了数据传输的规范。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Virtio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是半虚拟化中的通用模拟设备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的抽象层，需要在虚拟机内部安装特定的驱动程序（前端驱动），并在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hypervisor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负责实现其功能模拟的程序（后端程序）。虚拟化设备采用事件通知和数据传递机制大幅提升性能。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除了前后端驱动之外，还定义了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virtio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层和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transport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层来支持前后端的批量数据传输。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91666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23672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Vring</a:t>
            </a:r>
            <a:r>
              <a:rPr lang="zh-CN" altLang="en-US" dirty="0"/>
              <a:t>实现了环形缓冲区，并且可以一次性保存前端驱动的多次</a:t>
            </a:r>
            <a:r>
              <a:rPr lang="en-US" altLang="zh-CN" dirty="0"/>
              <a:t>IO</a:t>
            </a:r>
            <a:r>
              <a:rPr lang="zh-CN" altLang="en-US" dirty="0"/>
              <a:t>请求，并交给后端批量处理。并非</a:t>
            </a:r>
            <a:r>
              <a:rPr lang="en-US" altLang="zh-CN" dirty="0"/>
              <a:t>guest</a:t>
            </a:r>
            <a:r>
              <a:rPr lang="zh-CN" altLang="en-US" dirty="0"/>
              <a:t>的每次</a:t>
            </a:r>
            <a:r>
              <a:rPr lang="en-US" altLang="zh-CN" dirty="0"/>
              <a:t>IO</a:t>
            </a:r>
            <a:r>
              <a:rPr lang="zh-CN" altLang="en-US" dirty="0"/>
              <a:t>请求都处理，提高了</a:t>
            </a:r>
            <a:r>
              <a:rPr lang="en-US" altLang="zh-CN" dirty="0"/>
              <a:t>guest</a:t>
            </a:r>
            <a:r>
              <a:rPr lang="zh-CN" altLang="en-US" dirty="0"/>
              <a:t>与</a:t>
            </a:r>
            <a:r>
              <a:rPr lang="en-US" altLang="zh-CN" dirty="0"/>
              <a:t>hypervisor</a:t>
            </a:r>
            <a:r>
              <a:rPr lang="zh-CN" altLang="en-US" dirty="0"/>
              <a:t>信息交换的效率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95787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aseline="0" dirty="0"/>
              <a:t>Kick</a:t>
            </a:r>
            <a:r>
              <a:rPr kumimoji="1" lang="zh-CN" altLang="en-US" baseline="0" dirty="0"/>
              <a:t>包含</a:t>
            </a:r>
            <a:r>
              <a:rPr kumimoji="1" lang="en-US" altLang="zh-CN" baseline="0" dirty="0" err="1"/>
              <a:t>kick_prepare</a:t>
            </a:r>
            <a:r>
              <a:rPr kumimoji="1" lang="zh-CN" altLang="en-US" baseline="0" dirty="0"/>
              <a:t>，先检查后端是否处理过慢，若已准备好会进行。会把</a:t>
            </a:r>
            <a:r>
              <a:rPr kumimoji="1" lang="en-US" altLang="zh-CN" baseline="0" dirty="0" err="1"/>
              <a:t>vq</a:t>
            </a:r>
            <a:r>
              <a:rPr kumimoji="1" lang="zh-CN" altLang="en-US" baseline="0" dirty="0"/>
              <a:t>写到</a:t>
            </a:r>
            <a:r>
              <a:rPr kumimoji="1" lang="en-US" altLang="zh-CN" baseline="0" dirty="0"/>
              <a:t>notification register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05944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我觉得</a:t>
            </a:r>
            <a:r>
              <a:rPr kumimoji="1" lang="en-US" altLang="zh-CN" baseline="0" dirty="0" err="1"/>
              <a:t>virtio</a:t>
            </a:r>
            <a:r>
              <a:rPr kumimoji="1" lang="zh-CN" altLang="en-US" baseline="0" dirty="0"/>
              <a:t>的核心贡献是：把被动捕获转换为主动通知，这样</a:t>
            </a:r>
            <a:r>
              <a:rPr kumimoji="1" lang="en-US" altLang="zh-CN" baseline="0" dirty="0"/>
              <a:t>guest</a:t>
            </a:r>
            <a:r>
              <a:rPr kumimoji="1" lang="zh-CN" altLang="en-US" baseline="0" dirty="0"/>
              <a:t>可以自行控制传输机制。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48524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aseline="0" dirty="0" err="1"/>
              <a:t>Virtio</a:t>
            </a:r>
            <a:r>
              <a:rPr kumimoji="1" lang="zh-CN" altLang="en-US" baseline="0" dirty="0"/>
              <a:t>后端使用</a:t>
            </a:r>
            <a:r>
              <a:rPr kumimoji="1" lang="en-US" altLang="zh-CN" baseline="0" dirty="0" err="1"/>
              <a:t>libaio</a:t>
            </a:r>
            <a:endParaRPr kumimoji="1" lang="en-US" altLang="zh-CN" baseline="0" dirty="0"/>
          </a:p>
          <a:p>
            <a:r>
              <a:rPr kumimoji="1" lang="en-US" altLang="zh-CN" baseline="0" dirty="0" err="1"/>
              <a:t>vhost</a:t>
            </a:r>
            <a:r>
              <a:rPr kumimoji="1" lang="zh-CN" altLang="en-US" baseline="0" dirty="0"/>
              <a:t>进一步减少了</a:t>
            </a:r>
            <a:r>
              <a:rPr kumimoji="1" lang="en-US" altLang="zh-CN" baseline="0" dirty="0"/>
              <a:t>VM_EXIT</a:t>
            </a:r>
          </a:p>
          <a:p>
            <a:endParaRPr kumimoji="1" lang="en-US" altLang="zh-CN" baseline="0" dirty="0"/>
          </a:p>
          <a:p>
            <a:r>
              <a:rPr kumimoji="1" lang="en-US" altLang="zh-CN" baseline="0" dirty="0"/>
              <a:t>SPDK</a:t>
            </a:r>
            <a:r>
              <a:rPr kumimoji="1" lang="zh-CN" altLang="en-US" baseline="0" dirty="0"/>
              <a:t>提供了</a:t>
            </a:r>
            <a:r>
              <a:rPr kumimoji="1" lang="en-US" altLang="zh-CN" baseline="0" dirty="0" err="1"/>
              <a:t>scsi</a:t>
            </a:r>
            <a:r>
              <a:rPr kumimoji="1" lang="en-US" altLang="zh-CN" baseline="0" dirty="0"/>
              <a:t> blk </a:t>
            </a:r>
            <a:r>
              <a:rPr kumimoji="1" lang="zh-CN" altLang="en-US" baseline="0" dirty="0"/>
              <a:t>协议的</a:t>
            </a:r>
            <a:r>
              <a:rPr kumimoji="1" lang="en-US" altLang="zh-CN" baseline="0" dirty="0" err="1"/>
              <a:t>vhost</a:t>
            </a:r>
            <a:r>
              <a:rPr kumimoji="1" lang="en-US" altLang="zh-CN" baseline="0" dirty="0"/>
              <a:t> </a:t>
            </a:r>
            <a:r>
              <a:rPr kumimoji="1" lang="zh-CN" altLang="en-US" baseline="0" dirty="0"/>
              <a:t>驱动，目前也有一些对新硬件的研究，如提出</a:t>
            </a:r>
            <a:r>
              <a:rPr kumimoji="1" lang="en-US" altLang="zh-CN" baseline="0" dirty="0" err="1"/>
              <a:t>vhosh-nvme</a:t>
            </a:r>
            <a:r>
              <a:rPr kumimoji="1" lang="zh-CN" altLang="en-US" baseline="0" dirty="0"/>
              <a:t>驱动。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71014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让客户机按独占方式访问</a:t>
            </a:r>
            <a:r>
              <a:rPr kumimoji="1" lang="en-US" altLang="zh-CN" baseline="0" dirty="0"/>
              <a:t>PCI</a:t>
            </a:r>
            <a:r>
              <a:rPr kumimoji="1" lang="zh-CN" altLang="en-US" baseline="0" dirty="0"/>
              <a:t>设备。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kumimoji="1" lang="zh-CN" altLang="en-US" baseline="0" dirty="0"/>
              <a:t>客户机看来，设备是连接在</a:t>
            </a:r>
            <a:r>
              <a:rPr kumimoji="1" lang="en-US" altLang="zh-CN" baseline="0" dirty="0"/>
              <a:t>PCI</a:t>
            </a:r>
            <a:r>
              <a:rPr kumimoji="1" lang="zh-CN" altLang="en-US" baseline="0" dirty="0"/>
              <a:t>总线上，几乎不需要</a:t>
            </a:r>
            <a:r>
              <a:rPr kumimoji="1" lang="en-US" altLang="zh-CN" baseline="0" dirty="0"/>
              <a:t>VMM</a:t>
            </a:r>
            <a:r>
              <a:rPr kumimoji="1" lang="zh-CN" altLang="en-US" baseline="0" dirty="0"/>
              <a:t>的参与。极大减少了（消除）</a:t>
            </a:r>
            <a:r>
              <a:rPr kumimoji="1" lang="en-US" altLang="zh-CN" baseline="0" dirty="0"/>
              <a:t>VM_EXIT</a:t>
            </a:r>
          </a:p>
          <a:p>
            <a:endParaRPr kumimoji="1" lang="en-US" altLang="zh-CN" baseline="0" dirty="0"/>
          </a:p>
          <a:p>
            <a:r>
              <a:rPr kumimoji="1" lang="en-US" altLang="zh-CN" baseline="0" dirty="0"/>
              <a:t>VT-d</a:t>
            </a:r>
            <a:r>
              <a:rPr kumimoji="1" lang="zh-CN" altLang="en-US" baseline="0" dirty="0"/>
              <a:t>的局限：  </a:t>
            </a:r>
            <a:endParaRPr kumimoji="1" lang="en-US" altLang="zh-CN" baseline="0" dirty="0"/>
          </a:p>
          <a:p>
            <a:pPr marL="228600" indent="-228600">
              <a:buAutoNum type="arabicPeriod"/>
            </a:pPr>
            <a:r>
              <a:rPr kumimoji="1" lang="zh-CN" altLang="en-US" baseline="0" dirty="0"/>
              <a:t>服务器主板允许添加的</a:t>
            </a:r>
            <a:r>
              <a:rPr kumimoji="1" lang="en-US" altLang="zh-CN" baseline="0" dirty="0"/>
              <a:t>PCI</a:t>
            </a:r>
            <a:r>
              <a:rPr kumimoji="1" lang="zh-CN" altLang="en-US" baseline="0" dirty="0"/>
              <a:t>设备有限</a:t>
            </a:r>
            <a:endParaRPr kumimoji="1" lang="en-US" altLang="zh-CN" baseline="0" dirty="0"/>
          </a:p>
          <a:p>
            <a:pPr marL="228600" indent="-228600">
              <a:buAutoNum type="arabicPeriod"/>
            </a:pPr>
            <a:r>
              <a:rPr kumimoji="1" lang="zh-CN" altLang="en-US" baseline="0" dirty="0"/>
              <a:t>成本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04489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让客户机按独占方式访问</a:t>
            </a:r>
            <a:r>
              <a:rPr kumimoji="1" lang="en-US" altLang="zh-CN" baseline="0" dirty="0"/>
              <a:t>PCI</a:t>
            </a:r>
            <a:r>
              <a:rPr kumimoji="1" lang="zh-CN" altLang="en-US" baseline="0" dirty="0"/>
              <a:t>设备。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kumimoji="1" lang="zh-CN" altLang="en-US" baseline="0" dirty="0"/>
              <a:t>客户机看来，设备是连接在</a:t>
            </a:r>
            <a:r>
              <a:rPr kumimoji="1" lang="en-US" altLang="zh-CN" baseline="0" dirty="0"/>
              <a:t>PCI</a:t>
            </a:r>
            <a:r>
              <a:rPr kumimoji="1" lang="zh-CN" altLang="en-US" baseline="0" dirty="0"/>
              <a:t>总线上，几乎不需要</a:t>
            </a:r>
            <a:r>
              <a:rPr kumimoji="1" lang="en-US" altLang="zh-CN" baseline="0" dirty="0"/>
              <a:t>VMM</a:t>
            </a:r>
            <a:r>
              <a:rPr kumimoji="1" lang="zh-CN" altLang="en-US" baseline="0" dirty="0"/>
              <a:t>的参与。极大减少了（消除）</a:t>
            </a:r>
            <a:r>
              <a:rPr kumimoji="1" lang="en-US" altLang="zh-CN" baseline="0" dirty="0"/>
              <a:t>VM_EXIT</a:t>
            </a:r>
          </a:p>
          <a:p>
            <a:endParaRPr kumimoji="1" lang="en-US" altLang="zh-CN" baseline="0" dirty="0"/>
          </a:p>
          <a:p>
            <a:r>
              <a:rPr kumimoji="1" lang="en-US" altLang="zh-CN" baseline="0" dirty="0"/>
              <a:t>VT-d</a:t>
            </a:r>
            <a:r>
              <a:rPr kumimoji="1" lang="zh-CN" altLang="en-US" baseline="0" dirty="0"/>
              <a:t>的局限：  </a:t>
            </a:r>
            <a:endParaRPr kumimoji="1" lang="en-US" altLang="zh-CN" baseline="0" dirty="0"/>
          </a:p>
          <a:p>
            <a:pPr marL="228600" indent="-228600">
              <a:buAutoNum type="arabicPeriod"/>
            </a:pPr>
            <a:r>
              <a:rPr kumimoji="1" lang="zh-CN" altLang="en-US" baseline="0" dirty="0"/>
              <a:t>服务器主板允许添加的</a:t>
            </a:r>
            <a:r>
              <a:rPr kumimoji="1" lang="en-US" altLang="zh-CN" baseline="0" dirty="0"/>
              <a:t>PCI</a:t>
            </a:r>
            <a:r>
              <a:rPr kumimoji="1" lang="zh-CN" altLang="en-US" baseline="0" dirty="0"/>
              <a:t>设备有限</a:t>
            </a:r>
            <a:endParaRPr kumimoji="1" lang="en-US" altLang="zh-CN" baseline="0" dirty="0"/>
          </a:p>
          <a:p>
            <a:pPr marL="228600" indent="-228600">
              <a:buAutoNum type="arabicPeriod"/>
            </a:pPr>
            <a:r>
              <a:rPr kumimoji="1" lang="zh-CN" altLang="en-US" baseline="0" dirty="0"/>
              <a:t>成本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12441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0708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存储后端除了本地镜像文件，还可以把完整磁盘或</a:t>
            </a:r>
            <a:r>
              <a:rPr kumimoji="1" lang="en-US" altLang="zh-CN" baseline="0" dirty="0"/>
              <a:t>LVM</a:t>
            </a:r>
            <a:r>
              <a:rPr kumimoji="1" lang="zh-CN" altLang="en-US" baseline="0" dirty="0"/>
              <a:t>分区作为镜像分配给客户使用，这往往性能更高，但为了防止客户破坏，再者物理磁盘的管理和易用性都不如镜像文件。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kumimoji="1" lang="zh-CN" altLang="en-US" baseline="0" dirty="0"/>
              <a:t>或者也可以是挂载</a:t>
            </a:r>
            <a:r>
              <a:rPr kumimoji="1" lang="en-US" altLang="zh-CN" baseline="0" dirty="0"/>
              <a:t>NFS</a:t>
            </a:r>
            <a:r>
              <a:rPr kumimoji="1" lang="zh-CN" altLang="en-US" baseline="0" dirty="0"/>
              <a:t>，远端文件系统为</a:t>
            </a:r>
            <a:r>
              <a:rPr kumimoji="1" lang="en-US" altLang="zh-CN" baseline="0" dirty="0"/>
              <a:t>guest</a:t>
            </a:r>
            <a:r>
              <a:rPr kumimoji="1" lang="zh-CN" altLang="en-US" baseline="0" dirty="0"/>
              <a:t>开放读写权限。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60685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aseline="0" dirty="0" err="1"/>
              <a:t>Preallocation</a:t>
            </a:r>
            <a:r>
              <a:rPr kumimoji="1" lang="zh-CN" altLang="en-US" baseline="0" dirty="0"/>
              <a:t>参数不同导致预分配大小以及花费时间不同。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kumimoji="1" lang="zh-CN" altLang="en-US" baseline="0" dirty="0"/>
              <a:t>在</a:t>
            </a:r>
            <a:r>
              <a:rPr kumimoji="1" lang="en-US" altLang="zh-CN" baseline="0" dirty="0"/>
              <a:t>host</a:t>
            </a:r>
            <a:r>
              <a:rPr kumimoji="1" lang="zh-CN" altLang="en-US" baseline="0" dirty="0"/>
              <a:t>文件系统（</a:t>
            </a:r>
            <a:r>
              <a:rPr kumimoji="1" lang="en-US" altLang="zh-CN" baseline="0" dirty="0"/>
              <a:t>ext4</a:t>
            </a:r>
            <a:r>
              <a:rPr kumimoji="1" lang="zh-CN" altLang="en-US" baseline="0" dirty="0"/>
              <a:t>）支持</a:t>
            </a:r>
            <a:r>
              <a:rPr kumimoji="1" lang="en-US" altLang="zh-CN" baseline="0" dirty="0"/>
              <a:t>hole</a:t>
            </a:r>
            <a:r>
              <a:rPr kumimoji="1" lang="zh-CN" altLang="en-US" baseline="0" dirty="0"/>
              <a:t>，稀疏文件在实际写入才分配空间，灵活且省空间。但在初次写入数据需要分配物理空间，效率稍低。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kumimoji="1" lang="en-US" altLang="zh-CN" baseline="0" dirty="0"/>
              <a:t>Qcow2</a:t>
            </a:r>
            <a:r>
              <a:rPr kumimoji="1" lang="zh-CN" altLang="en-US" baseline="0" dirty="0"/>
              <a:t>较</a:t>
            </a:r>
            <a:r>
              <a:rPr kumimoji="1" lang="en-US" altLang="zh-CN" baseline="0" dirty="0"/>
              <a:t>raw</a:t>
            </a:r>
            <a:r>
              <a:rPr kumimoji="1" lang="zh-CN" altLang="en-US" baseline="0" dirty="0"/>
              <a:t>有加密安全性。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kumimoji="1" lang="en-US" altLang="zh-CN" baseline="0" dirty="0"/>
              <a:t>Qcow2</a:t>
            </a:r>
            <a:r>
              <a:rPr kumimoji="1" lang="zh-CN" altLang="en-US" baseline="0" dirty="0"/>
              <a:t>具有多种</a:t>
            </a:r>
            <a:r>
              <a:rPr kumimoji="1" lang="en-US" altLang="zh-CN" baseline="0" dirty="0"/>
              <a:t>feature</a:t>
            </a:r>
            <a:r>
              <a:rPr kumimoji="1" lang="zh-CN" altLang="en-US" baseline="0"/>
              <a:t>。这种处理可能会降低读写操作的速度。</a:t>
            </a:r>
            <a:endParaRPr kumimoji="1" lang="en-US" altLang="zh-CN" baseline="0" dirty="0"/>
          </a:p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60849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这里假设</a:t>
            </a:r>
            <a:r>
              <a:rPr kumimoji="1" lang="en-US" altLang="zh-CN" baseline="0" dirty="0"/>
              <a:t>L1</a:t>
            </a:r>
            <a:r>
              <a:rPr kumimoji="1" lang="zh-CN" altLang="en-US" baseline="0" dirty="0"/>
              <a:t>表不需要扩展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24654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aseline="0" dirty="0"/>
              <a:t>Image header</a:t>
            </a:r>
            <a:r>
              <a:rPr kumimoji="1" lang="zh-CN" altLang="en-US" baseline="0" dirty="0"/>
              <a:t>类似于文件系统的超级块：一个设备或文件的全局信息，比如说两种</a:t>
            </a:r>
            <a:r>
              <a:rPr kumimoji="1" lang="en-US" altLang="zh-CN" baseline="0" dirty="0"/>
              <a:t>table</a:t>
            </a:r>
            <a:r>
              <a:rPr kumimoji="1" lang="zh-CN" altLang="en-US" baseline="0" dirty="0"/>
              <a:t>的首地址</a:t>
            </a:r>
            <a:endParaRPr kumimoji="1" lang="en-US" altLang="zh-CN" baseline="0" dirty="0"/>
          </a:p>
          <a:p>
            <a:r>
              <a:rPr kumimoji="1" lang="en-US" altLang="zh-CN" baseline="0" dirty="0"/>
              <a:t>Image file</a:t>
            </a:r>
            <a:r>
              <a:rPr kumimoji="1" lang="zh-CN" altLang="en-US" baseline="0" dirty="0"/>
              <a:t>按照</a:t>
            </a:r>
            <a:r>
              <a:rPr kumimoji="1" lang="en-US" altLang="zh-CN" baseline="0" dirty="0"/>
              <a:t>cluster</a:t>
            </a:r>
            <a:r>
              <a:rPr kumimoji="1" lang="zh-CN" altLang="en-US" baseline="0" dirty="0"/>
              <a:t>粒度组织的，（</a:t>
            </a:r>
            <a:r>
              <a:rPr kumimoji="1" lang="en-US" altLang="zh-CN" baseline="0" dirty="0"/>
              <a:t>cluster</a:t>
            </a:r>
            <a:r>
              <a:rPr kumimoji="1" lang="zh-CN" altLang="en-US" baseline="0" dirty="0"/>
              <a:t>的大小也存储在</a:t>
            </a:r>
            <a:r>
              <a:rPr kumimoji="1" lang="en-US" altLang="zh-CN" baseline="0" dirty="0"/>
              <a:t>image header</a:t>
            </a:r>
            <a:r>
              <a:rPr kumimoji="1" lang="zh-CN" altLang="en-US" baseline="0" dirty="0"/>
              <a:t>中）</a:t>
            </a:r>
            <a:endParaRPr kumimoji="1" lang="en-US" altLang="zh-CN" baseline="0" dirty="0"/>
          </a:p>
          <a:p>
            <a:r>
              <a:rPr kumimoji="1" lang="en-US" altLang="zh-CN" baseline="0" dirty="0"/>
              <a:t>VBA</a:t>
            </a:r>
            <a:r>
              <a:rPr kumimoji="1" lang="zh-CN" altLang="en-US" baseline="0" dirty="0"/>
              <a:t>分为三段，通过两层</a:t>
            </a:r>
            <a:r>
              <a:rPr kumimoji="1" lang="en-US" altLang="zh-CN" baseline="0" dirty="0"/>
              <a:t>lookup</a:t>
            </a:r>
            <a:r>
              <a:rPr kumimoji="1" lang="zh-CN" altLang="en-US" baseline="0" dirty="0"/>
              <a:t>表定位数据位置。</a:t>
            </a:r>
            <a:endParaRPr kumimoji="1" lang="en-US" altLang="zh-CN" baseline="0" dirty="0"/>
          </a:p>
          <a:p>
            <a:r>
              <a:rPr kumimoji="1" lang="en-US" altLang="zh-CN" baseline="0" dirty="0"/>
              <a:t>Reference table</a:t>
            </a:r>
            <a:r>
              <a:rPr kumimoji="1" lang="zh-CN" altLang="en-US" baseline="0" dirty="0"/>
              <a:t>记录每个</a:t>
            </a:r>
            <a:r>
              <a:rPr kumimoji="1" lang="en-US" altLang="zh-CN" baseline="0" dirty="0"/>
              <a:t>cluster</a:t>
            </a:r>
            <a:r>
              <a:rPr kumimoji="1" lang="zh-CN" altLang="en-US" baseline="0" dirty="0"/>
              <a:t>，可用于快照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kumimoji="1" lang="zh-CN" altLang="en-US" baseline="0" dirty="0"/>
              <a:t>介绍一下写数据到</a:t>
            </a:r>
            <a:r>
              <a:rPr kumimoji="1" lang="en-US" altLang="zh-CN" baseline="0" dirty="0"/>
              <a:t>qcow2</a:t>
            </a:r>
            <a:r>
              <a:rPr kumimoji="1" lang="zh-CN" altLang="en-US" baseline="0" dirty="0"/>
              <a:t>虚拟磁盘的流程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29339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这里假设</a:t>
            </a:r>
            <a:r>
              <a:rPr kumimoji="1" lang="en-US" altLang="zh-CN" baseline="0" dirty="0"/>
              <a:t>L1</a:t>
            </a:r>
            <a:r>
              <a:rPr kumimoji="1" lang="zh-CN" altLang="en-US" baseline="0" dirty="0"/>
              <a:t>表不需要扩展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05916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54272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介绍</a:t>
            </a:r>
            <a:r>
              <a:rPr kumimoji="1" lang="en-US" altLang="zh-CN" baseline="0" dirty="0" err="1"/>
              <a:t>fdatasync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07020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介绍</a:t>
            </a:r>
            <a:r>
              <a:rPr kumimoji="1" lang="en-US" altLang="zh-CN" baseline="0" dirty="0" err="1"/>
              <a:t>fdatasync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77202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03885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80034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50672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53544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58760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在覆盖写时，数据丢失现象可能会发生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8672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在覆盖写时，数据丢失现象可能会发生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05629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82012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在</a:t>
            </a:r>
            <a:r>
              <a:rPr kumimoji="1" lang="en-US" altLang="zh-CN" baseline="0" dirty="0"/>
              <a:t>host</a:t>
            </a:r>
            <a:r>
              <a:rPr kumimoji="1" lang="zh-CN" altLang="en-US" baseline="0" dirty="0"/>
              <a:t>上进行的优化</a:t>
            </a:r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264510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14006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22963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baseline="0" dirty="0"/>
              <a:t>虚拟机静态迁移：在</a:t>
            </a:r>
            <a:r>
              <a:rPr kumimoji="1" lang="en-US" altLang="zh-CN" baseline="0" dirty="0"/>
              <a:t>QEMU monitor</a:t>
            </a:r>
            <a:r>
              <a:rPr kumimoji="1" lang="zh-CN" altLang="en-US" baseline="0" dirty="0"/>
              <a:t>先保存客户机镜像快照，暂停客户机，将镜像文件复制到目的宿主机。再在</a:t>
            </a:r>
            <a:r>
              <a:rPr kumimoji="1" lang="en-US" altLang="zh-CN" baseline="0" dirty="0"/>
              <a:t>monitor</a:t>
            </a:r>
            <a:r>
              <a:rPr kumimoji="1" lang="zh-CN" altLang="en-US" baseline="0" dirty="0"/>
              <a:t>中恢复快照。</a:t>
            </a:r>
            <a:endParaRPr kumimoji="1" lang="en-US" altLang="zh-CN" baseline="0" dirty="0"/>
          </a:p>
          <a:p>
            <a:endParaRPr kumimoji="1" lang="en-US" altLang="zh-CN" baseline="0" dirty="0"/>
          </a:p>
          <a:p>
            <a:r>
              <a:rPr kumimoji="1" lang="zh-CN" altLang="en-US" baseline="0" dirty="0"/>
              <a:t>动态迁移：若源和目的宿主机共享存储系统，只需通过网络发送客户机</a:t>
            </a:r>
            <a:r>
              <a:rPr kumimoji="1" lang="en-US" altLang="zh-CN" baseline="0" dirty="0"/>
              <a:t>vCPU</a:t>
            </a:r>
            <a:r>
              <a:rPr kumimoji="1" lang="zh-CN" altLang="en-US" baseline="0" dirty="0"/>
              <a:t>指向状态，内存内容，虚拟设备状态即可。</a:t>
            </a:r>
            <a:endParaRPr kumimoji="1" lang="en-US" altLang="zh-CN" baseline="0" dirty="0"/>
          </a:p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84983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003236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70279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403594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5B9210-A5D6-DF4A-BCF1-E487EA4C0D1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宋体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0364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38CC2-A0DA-0A42-9C3B-B99D8DFE8A35}" type="datetimeFigureOut">
              <a:rPr lang="zh-CN" altLang="en-US" smtClean="0"/>
              <a:pPr>
                <a:defRPr/>
              </a:pPr>
              <a:t>2019/10/17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F175-A356-8641-8B8C-2BC1BAE79F1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201231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D12BB8-9261-4D4B-98FD-C0F0AA2E9A14}" type="datetimeFigureOut">
              <a:rPr lang="zh-CN" altLang="en-US" smtClean="0"/>
              <a:pPr>
                <a:defRPr/>
              </a:pPr>
              <a:t>2019/10/17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A8BDDE-DE15-9A4E-B6F5-7D907F81153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012982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6D4EE-D3EF-4F4B-84A5-4EDA7B66ACC6}" type="datetimeFigureOut">
              <a:rPr lang="zh-CN" altLang="en-US" smtClean="0"/>
              <a:pPr>
                <a:defRPr/>
              </a:pPr>
              <a:t>2019/10/17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6DD28A-AA70-C249-93DE-44022C331C6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45895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34650D-803F-3649-8BE6-A1B7A3B11F99}" type="datetimeFigureOut">
              <a:rPr lang="zh-CN" altLang="en-US" smtClean="0"/>
              <a:pPr>
                <a:defRPr/>
              </a:pPr>
              <a:t>2019/10/17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38A0D8-B9E1-5F47-ADDF-1F1E8F331A7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5559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8D43A-8F0F-5D46-A343-06333ADB0560}" type="datetimeFigureOut">
              <a:rPr lang="zh-CN" altLang="en-US" smtClean="0"/>
              <a:pPr>
                <a:defRPr/>
              </a:pPr>
              <a:t>2019/10/17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70463-E988-D144-BBEE-FC4623AD6C2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065108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0C01F-CEF2-EA4C-85CA-CBF3E7F4DD65}" type="datetimeFigureOut">
              <a:rPr lang="zh-CN" altLang="en-US" smtClean="0"/>
              <a:pPr>
                <a:defRPr/>
              </a:pPr>
              <a:t>2019/10/17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95A4DD-1280-BB47-A602-2C4DAB99FF88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772560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B2A7B1-2167-7F47-9127-07644A71B60F}" type="datetimeFigureOut">
              <a:rPr lang="zh-CN" altLang="en-US" smtClean="0"/>
              <a:pPr>
                <a:defRPr/>
              </a:pPr>
              <a:t>2019/10/17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65D7B-B108-694B-A9F0-6F3476ECBDB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220123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C0D54-D0A2-8647-BDAD-39E60643A4AA}" type="datetimeFigureOut">
              <a:rPr lang="zh-CN" altLang="en-US" smtClean="0"/>
              <a:pPr>
                <a:defRPr/>
              </a:pPr>
              <a:t>2019/10/17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0DE58-F619-754F-BCBC-313BF1478D2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342791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3163E-B686-3245-B20A-8F7674AE5CAC}" type="datetimeFigureOut">
              <a:rPr lang="zh-CN" altLang="en-US" smtClean="0"/>
              <a:pPr>
                <a:defRPr/>
              </a:pPr>
              <a:t>2019/10/17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19B7D-6BEB-0641-9251-9FA303027C7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458746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3A3D3-B973-7244-9EC6-9D0618F24062}" type="datetimeFigureOut">
              <a:rPr lang="zh-CN" altLang="en-US" smtClean="0"/>
              <a:pPr>
                <a:defRPr/>
              </a:pPr>
              <a:t>2019/10/17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6548C-ABE1-4B4C-895C-8DD5E5C1168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373466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680492-F7A2-E24D-8177-01BCF1312587}" type="datetimeFigureOut">
              <a:rPr lang="zh-CN" altLang="en-US" smtClean="0"/>
              <a:pPr>
                <a:defRPr/>
              </a:pPr>
              <a:t>2019/10/17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9F4E41-E0E2-7A41-9508-905906144EC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338326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9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4F0E8F8-0A90-2744-B08D-155929A4155E}" type="datetimeFigureOut">
              <a:rPr lang="zh-CN" altLang="en-US" smtClean="0"/>
              <a:pPr>
                <a:defRPr/>
              </a:pPr>
              <a:t>2019/10/17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FB58A7E-3A13-824A-A0CA-841E6508255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626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fade/>
  </p:transition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18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37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56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75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594" indent="-228594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cuilx@nbjl.nankai,edu.cn" TargetMode="External"/><Relationship Id="rId4" Type="http://schemas.openxmlformats.org/officeDocument/2006/relationships/hyperlink" Target="mailto:zhaos@nbjl.nankai.edu.c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hangjaycee/real_tech/wiki/virtualcatalog" TargetMode="External"/><Relationship Id="rId7" Type="http://schemas.openxmlformats.org/officeDocument/2006/relationships/hyperlink" Target="https://www.ibm.com/developerworks/cn/linux/l-virtio/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lihanlu.cn/virtio-introduction/" TargetMode="External"/><Relationship Id="rId5" Type="http://schemas.openxmlformats.org/officeDocument/2006/relationships/hyperlink" Target="https://zhuanlan.zhihu.com/p/38533234?utm_source=wechat_session&amp;utm_medium=social&amp;utm_oi=770240115548110848" TargetMode="External"/><Relationship Id="rId4" Type="http://schemas.openxmlformats.org/officeDocument/2006/relationships/hyperlink" Target="https://developer.ibm.com/articles/l-virt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01495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>
              <a:solidFill>
                <a:prstClr val="black"/>
              </a:solidFill>
              <a:latin typeface="Calibri" charset="0"/>
              <a:ea typeface="宋体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68948" y="1554976"/>
            <a:ext cx="5032147" cy="8822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0" fontAlgn="base" hangingPunct="0">
              <a:lnSpc>
                <a:spcPts val="6520"/>
              </a:lnSpc>
              <a:spcAft>
                <a:spcPct val="0"/>
              </a:spcAft>
            </a:pPr>
            <a:r>
              <a:rPr kumimoji="1" lang="zh-CN" altLang="en-US" sz="54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存储虚拟化介绍</a:t>
            </a:r>
            <a:endParaRPr kumimoji="1" lang="en-US" altLang="zh-CN" sz="54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07318" y="4954589"/>
            <a:ext cx="3355406" cy="16185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赵盛，崔立骁</a:t>
            </a:r>
            <a:r>
              <a:rPr kumimoji="1" lang="en-US" altLang="zh-CN" sz="20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  2019.</a:t>
            </a:r>
            <a:r>
              <a:rPr kumimoji="1" lang="zh-CN" altLang="en-US" sz="20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0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10.</a:t>
            </a:r>
            <a:r>
              <a:rPr kumimoji="1" lang="zh-CN" altLang="en-US" sz="20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kumimoji="1" lang="en-US" altLang="zh-CN" sz="20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18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  <a:hlinkClick r:id="rId4"/>
              </a:rPr>
              <a:t>zhaos@nbjl.nankai.edu.cn</a:t>
            </a:r>
            <a:endParaRPr kumimoji="1" lang="en-US" altLang="zh-CN" sz="16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 err="1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  <a:hlinkClick r:id="rId5"/>
              </a:rPr>
              <a:t>cuilx@nbjl.nankai,edu.cn</a:t>
            </a:r>
            <a:endParaRPr kumimoji="1" lang="en-US" altLang="zh-CN" sz="16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16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01495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>
              <a:solidFill>
                <a:prstClr val="black"/>
              </a:solidFill>
              <a:latin typeface="Calibri" charset="0"/>
              <a:ea typeface="宋体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76720" y="117397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dirty="0">
                <a:solidFill>
                  <a:prstClr val="white">
                    <a:lumMod val="95000"/>
                  </a:prstClr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dirty="0">
              <a:solidFill>
                <a:prstClr val="white">
                  <a:lumMod val="95000"/>
                </a:prst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43901" y="2011680"/>
            <a:ext cx="6062939" cy="1955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</a:pP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CPU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虚拟化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</a:pPr>
            <a:r>
              <a:rPr kumimoji="1" lang="en-US" altLang="zh-CN" sz="2800" dirty="0" err="1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Virtio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原理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镜像文件管理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2441792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虚拟化概述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8C0FBC-9E29-427D-BD81-9C8F93562E7F}"/>
              </a:ext>
            </a:extLst>
          </p:cNvPr>
          <p:cNvSpPr txBox="1"/>
          <p:nvPr/>
        </p:nvSpPr>
        <p:spPr>
          <a:xfrm>
            <a:off x="447472" y="1300074"/>
            <a:ext cx="824905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虚拟化：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把下层的物理资源抽象为逻辑资源，供上层使用。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“偷梁换柱”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按实现方式分类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硬件平系统虚拟化包括：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7F739E50-3328-4CC9-ADAD-CCA507FC7B12}"/>
              </a:ext>
            </a:extLst>
          </p:cNvPr>
          <p:cNvSpPr/>
          <p:nvPr/>
        </p:nvSpPr>
        <p:spPr>
          <a:xfrm>
            <a:off x="948690" y="2697480"/>
            <a:ext cx="125730" cy="69723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F4FAB9C-A303-4B8D-ADC3-040FAD349E4E}"/>
              </a:ext>
            </a:extLst>
          </p:cNvPr>
          <p:cNvSpPr txBox="1"/>
          <p:nvPr/>
        </p:nvSpPr>
        <p:spPr>
          <a:xfrm>
            <a:off x="1242317" y="2594610"/>
            <a:ext cx="1798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软件虚拟化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>
                <a:solidFill>
                  <a:srgbClr val="FF0000"/>
                </a:solidFill>
              </a:rPr>
              <a:t>硬件辅助虚拟化</a:t>
            </a:r>
          </a:p>
        </p:txBody>
      </p: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5D74EFCB-3789-4BF5-840C-1BAC703EFB59}"/>
              </a:ext>
            </a:extLst>
          </p:cNvPr>
          <p:cNvSpPr/>
          <p:nvPr/>
        </p:nvSpPr>
        <p:spPr>
          <a:xfrm>
            <a:off x="3835225" y="2667389"/>
            <a:ext cx="125730" cy="69723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6EA2C12-FAA4-4AC0-8C6B-A75F21BE5383}"/>
              </a:ext>
            </a:extLst>
          </p:cNvPr>
          <p:cNvSpPr txBox="1"/>
          <p:nvPr/>
        </p:nvSpPr>
        <p:spPr>
          <a:xfrm>
            <a:off x="4128852" y="2564519"/>
            <a:ext cx="1798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全虚拟化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半虚拟化</a:t>
            </a:r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61684C1E-E55B-40A9-8058-E6450DFA23B8}"/>
              </a:ext>
            </a:extLst>
          </p:cNvPr>
          <p:cNvSpPr/>
          <p:nvPr/>
        </p:nvSpPr>
        <p:spPr>
          <a:xfrm>
            <a:off x="3379340" y="4393498"/>
            <a:ext cx="129669" cy="116442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C82304-E0F2-4A72-B166-0D205AE405AB}"/>
              </a:ext>
            </a:extLst>
          </p:cNvPr>
          <p:cNvSpPr txBox="1"/>
          <p:nvPr/>
        </p:nvSpPr>
        <p:spPr>
          <a:xfrm>
            <a:off x="3672968" y="4290629"/>
            <a:ext cx="17980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内存虚拟化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IO</a:t>
            </a:r>
            <a:r>
              <a:rPr lang="zh-CN" altLang="en-US" dirty="0"/>
              <a:t>虚拟化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CPU</a:t>
            </a:r>
            <a:r>
              <a:rPr lang="zh-CN" altLang="en-US" dirty="0"/>
              <a:t>虚拟化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6BBD6E-096B-4DBC-88E9-6BE63417A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54" y="2115454"/>
            <a:ext cx="7578090" cy="365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54495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/>
      <p:bldP spid="14" grpId="0" animBg="1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KVM</a:t>
            </a:r>
            <a:r>
              <a:rPr kumimoji="1" lang="zh-CN" altLang="en-US" sz="16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（</a:t>
            </a:r>
            <a:r>
              <a:rPr kumimoji="1" lang="en-US" altLang="zh-CN" sz="16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Kernel-based Virtual Machine</a:t>
            </a:r>
            <a:r>
              <a:rPr kumimoji="1" lang="zh-CN" altLang="en-US" sz="16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）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架构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8C0FBC-9E29-427D-BD81-9C8F93562E7F}"/>
              </a:ext>
            </a:extLst>
          </p:cNvPr>
          <p:cNvSpPr txBox="1"/>
          <p:nvPr/>
        </p:nvSpPr>
        <p:spPr>
          <a:xfrm>
            <a:off x="447472" y="1300074"/>
            <a:ext cx="824905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KVM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依赖硬件虚拟化的支持：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Intel VT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AMD-V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技术；硬件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EPT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特性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KVM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核心模块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QEMU-KVM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架构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一次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VM_EXIT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开销很高。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09AEDED-ACC3-4BE3-87AA-1EEFF460D62C}"/>
              </a:ext>
            </a:extLst>
          </p:cNvPr>
          <p:cNvSpPr txBox="1"/>
          <p:nvPr/>
        </p:nvSpPr>
        <p:spPr>
          <a:xfrm>
            <a:off x="4411980" y="6304449"/>
            <a:ext cx="3360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KVM</a:t>
            </a:r>
            <a:r>
              <a:rPr lang="zh-CN" altLang="en-US" sz="1200" dirty="0"/>
              <a:t>虚拟化基础架构</a:t>
            </a:r>
            <a:endParaRPr lang="zh-CN" altLang="en-US" dirty="0"/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CB46D70D-9451-4404-8320-09A9C9A9509F}"/>
              </a:ext>
            </a:extLst>
          </p:cNvPr>
          <p:cNvSpPr/>
          <p:nvPr/>
        </p:nvSpPr>
        <p:spPr>
          <a:xfrm>
            <a:off x="2617470" y="2193129"/>
            <a:ext cx="114300" cy="92333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E874F57-8AD8-43E8-AAC8-DAB1DB64A440}"/>
              </a:ext>
            </a:extLst>
          </p:cNvPr>
          <p:cNvSpPr txBox="1"/>
          <p:nvPr/>
        </p:nvSpPr>
        <p:spPr>
          <a:xfrm>
            <a:off x="2868930" y="2054629"/>
            <a:ext cx="4240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KVM</a:t>
            </a:r>
            <a:r>
              <a:rPr lang="zh-CN" altLang="en-US" dirty="0"/>
              <a:t>内核模块：</a:t>
            </a:r>
            <a:r>
              <a:rPr lang="en-US" altLang="zh-CN" dirty="0"/>
              <a:t>CPU</a:t>
            </a:r>
            <a:r>
              <a:rPr lang="zh-CN" altLang="en-US" dirty="0"/>
              <a:t>和内存的虚拟化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QEMU</a:t>
            </a:r>
            <a:r>
              <a:rPr lang="zh-CN" altLang="en-US" dirty="0"/>
              <a:t>用户态工具：设备模拟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355956-3949-432A-BFD1-B0B273D3C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326" y="3247647"/>
            <a:ext cx="4654552" cy="295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0496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9" grpId="0" animBg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01495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76720" y="117397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43901" y="2011680"/>
            <a:ext cx="6062939" cy="1955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CPU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虚拟化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457200" marR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2800" dirty="0" err="1">
                <a:solidFill>
                  <a:schemeClr val="bg2">
                    <a:lumMod val="90000"/>
                  </a:schemeClr>
                </a:solidFill>
                <a:latin typeface="Microsoft YaHei" charset="-122"/>
                <a:ea typeface="Microsoft YaHei" charset="-122"/>
              </a:rPr>
              <a:t>Virtio</a:t>
            </a:r>
            <a:r>
              <a:rPr kumimoji="1" lang="zh-CN" altLang="en-US" sz="2800" dirty="0">
                <a:solidFill>
                  <a:schemeClr val="bg2">
                    <a:lumMod val="90000"/>
                  </a:schemeClr>
                </a:solidFill>
                <a:latin typeface="Microsoft YaHei" charset="-122"/>
                <a:ea typeface="Microsoft YaHei" charset="-122"/>
              </a:rPr>
              <a:t>原理</a:t>
            </a:r>
            <a:endParaRPr kumimoji="1" lang="en-US" altLang="zh-CN" sz="2800" dirty="0">
              <a:solidFill>
                <a:schemeClr val="bg2">
                  <a:lumMod val="90000"/>
                </a:schemeClr>
              </a:solidFill>
              <a:latin typeface="Microsoft YaHei" charset="-122"/>
              <a:ea typeface="Microsoft YaHei" charset="-122"/>
            </a:endParaRPr>
          </a:p>
          <a:p>
            <a:pPr marL="457200" marR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800" dirty="0">
                <a:solidFill>
                  <a:schemeClr val="bg2">
                    <a:lumMod val="90000"/>
                  </a:schemeClr>
                </a:solidFill>
                <a:latin typeface="Microsoft YaHei" charset="-122"/>
                <a:ea typeface="Microsoft YaHei" charset="-122"/>
              </a:rPr>
              <a:t>镜像文件管理</a:t>
            </a:r>
            <a:endParaRPr kumimoji="1" lang="en-US" altLang="zh-CN" sz="2800" dirty="0">
              <a:solidFill>
                <a:schemeClr val="bg2">
                  <a:lumMod val="90000"/>
                </a:schemeClr>
              </a:solidFill>
              <a:latin typeface="Microsoft YaHei" charset="-122"/>
              <a:ea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5952013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CPU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虚拟化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8C0FBC-9E29-427D-BD81-9C8F93562E7F}"/>
              </a:ext>
            </a:extLst>
          </p:cNvPr>
          <p:cNvSpPr txBox="1"/>
          <p:nvPr/>
        </p:nvSpPr>
        <p:spPr>
          <a:xfrm>
            <a:off x="528529" y="1517244"/>
            <a:ext cx="824905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VMX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virtual-machine extensions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一次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VM_EXIT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开销很高。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3BAF2AF5-BB6E-4B05-8807-318571378746}"/>
              </a:ext>
            </a:extLst>
          </p:cNvPr>
          <p:cNvSpPr/>
          <p:nvPr/>
        </p:nvSpPr>
        <p:spPr>
          <a:xfrm>
            <a:off x="4320540" y="1246015"/>
            <a:ext cx="114300" cy="92333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DAE6FB-28EE-4A9E-B1D7-2F5DCF54924A}"/>
              </a:ext>
            </a:extLst>
          </p:cNvPr>
          <p:cNvSpPr txBox="1"/>
          <p:nvPr/>
        </p:nvSpPr>
        <p:spPr>
          <a:xfrm>
            <a:off x="4572000" y="1107515"/>
            <a:ext cx="3406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根模式：</a:t>
            </a:r>
            <a:r>
              <a:rPr lang="en-US" altLang="zh-CN" dirty="0"/>
              <a:t>KVM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非根模式：</a:t>
            </a:r>
            <a:r>
              <a:rPr lang="en-US" altLang="zh-CN" dirty="0"/>
              <a:t>Guest</a:t>
            </a:r>
            <a:r>
              <a:rPr lang="zh-CN" altLang="en-US" dirty="0"/>
              <a:t>软件栈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D709808-E521-47BB-8673-7AAC2562B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820" y="2741919"/>
            <a:ext cx="4723809" cy="225714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909AEDED-ACC3-4BE3-87AA-1EEFF460D62C}"/>
              </a:ext>
            </a:extLst>
          </p:cNvPr>
          <p:cNvSpPr txBox="1"/>
          <p:nvPr/>
        </p:nvSpPr>
        <p:spPr>
          <a:xfrm>
            <a:off x="2670514" y="5063757"/>
            <a:ext cx="3360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VMM</a:t>
            </a:r>
            <a:r>
              <a:rPr lang="zh-CN" altLang="en-US" sz="1200" dirty="0"/>
              <a:t>与</a:t>
            </a:r>
            <a:r>
              <a:rPr lang="en-US" altLang="zh-CN" sz="1200" dirty="0"/>
              <a:t>GUEST</a:t>
            </a:r>
            <a:r>
              <a:rPr lang="zh-CN" altLang="en-US" sz="1200" dirty="0"/>
              <a:t>之间的交互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27472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CPU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虚拟化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——vCPU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的概念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8C0FBC-9E29-427D-BD81-9C8F93562E7F}"/>
              </a:ext>
            </a:extLst>
          </p:cNvPr>
          <p:cNvSpPr txBox="1"/>
          <p:nvPr/>
        </p:nvSpPr>
        <p:spPr>
          <a:xfrm>
            <a:off x="528529" y="1517244"/>
            <a:ext cx="824905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vCPU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的工作模式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3BAF2AF5-BB6E-4B05-8807-318571378746}"/>
              </a:ext>
            </a:extLst>
          </p:cNvPr>
          <p:cNvSpPr/>
          <p:nvPr/>
        </p:nvSpPr>
        <p:spPr>
          <a:xfrm>
            <a:off x="1085850" y="2091690"/>
            <a:ext cx="91440" cy="130302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DAE6FB-28EE-4A9E-B1D7-2F5DCF54924A}"/>
              </a:ext>
            </a:extLst>
          </p:cNvPr>
          <p:cNvSpPr txBox="1"/>
          <p:nvPr/>
        </p:nvSpPr>
        <p:spPr>
          <a:xfrm>
            <a:off x="1337310" y="1987480"/>
            <a:ext cx="65836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客户模式：主要执行</a:t>
            </a:r>
            <a:r>
              <a:rPr lang="en-US" altLang="zh-CN" dirty="0"/>
              <a:t>Guest</a:t>
            </a:r>
            <a:r>
              <a:rPr lang="zh-CN" altLang="en-US" dirty="0"/>
              <a:t>中的大部分指令。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内核模式：捕获和处理客户模式下的特权指令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用户模式：</a:t>
            </a:r>
            <a:r>
              <a:rPr lang="en-US" altLang="zh-CN" dirty="0"/>
              <a:t>IO</a:t>
            </a:r>
            <a:r>
              <a:rPr lang="zh-CN" altLang="en-US" dirty="0"/>
              <a:t>模拟，由</a:t>
            </a:r>
            <a:r>
              <a:rPr lang="en-US" altLang="zh-CN" dirty="0"/>
              <a:t>QEMU</a:t>
            </a:r>
            <a:r>
              <a:rPr lang="zh-CN" altLang="en-US" dirty="0"/>
              <a:t>代码实现。</a:t>
            </a:r>
            <a:endParaRPr lang="en-US" altLang="zh-CN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09AEDED-ACC3-4BE3-87AA-1EEFF460D62C}"/>
              </a:ext>
            </a:extLst>
          </p:cNvPr>
          <p:cNvSpPr txBox="1"/>
          <p:nvPr/>
        </p:nvSpPr>
        <p:spPr>
          <a:xfrm>
            <a:off x="2972846" y="6357433"/>
            <a:ext cx="3360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vCPU</a:t>
            </a:r>
            <a:r>
              <a:rPr lang="zh-CN" altLang="en-US" sz="1200" dirty="0"/>
              <a:t>在</a:t>
            </a:r>
            <a:r>
              <a:rPr lang="en-US" altLang="zh-CN" sz="1200" dirty="0"/>
              <a:t>KVM</a:t>
            </a:r>
            <a:r>
              <a:rPr lang="zh-CN" altLang="en-US" sz="1200" dirty="0"/>
              <a:t>中的</a:t>
            </a:r>
            <a:r>
              <a:rPr lang="en-US" altLang="zh-CN" sz="1200" dirty="0"/>
              <a:t>3</a:t>
            </a:r>
            <a:r>
              <a:rPr lang="zh-CN" altLang="en-US" sz="1200" dirty="0"/>
              <a:t>种执行模式的转换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2D9B08F-4717-40D8-903C-ED13BE76B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0711" y="3601283"/>
            <a:ext cx="4496877" cy="275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95810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CPU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虚拟化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——SMP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的支持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8C0FBC-9E29-427D-BD81-9C8F93562E7F}"/>
              </a:ext>
            </a:extLst>
          </p:cNvPr>
          <p:cNvSpPr txBox="1"/>
          <p:nvPr/>
        </p:nvSpPr>
        <p:spPr>
          <a:xfrm>
            <a:off x="528529" y="1517244"/>
            <a:ext cx="8249055" cy="867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SMP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系统：共享内存资源的多处理器系统。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Intel Xen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Pentium 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Core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MacOS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QEMU-KVM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也提供了对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SMP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架构的模拟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QEMU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命令指定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smp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配置参数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3BAF2AF5-BB6E-4B05-8807-318571378746}"/>
              </a:ext>
            </a:extLst>
          </p:cNvPr>
          <p:cNvSpPr/>
          <p:nvPr/>
        </p:nvSpPr>
        <p:spPr>
          <a:xfrm>
            <a:off x="1017270" y="2948940"/>
            <a:ext cx="137160" cy="70866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DAE6FB-28EE-4A9E-B1D7-2F5DCF54924A}"/>
              </a:ext>
            </a:extLst>
          </p:cNvPr>
          <p:cNvSpPr txBox="1"/>
          <p:nvPr/>
        </p:nvSpPr>
        <p:spPr>
          <a:xfrm>
            <a:off x="1268730" y="2844730"/>
            <a:ext cx="6583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物理设备支持</a:t>
            </a:r>
            <a:r>
              <a:rPr lang="en-US" altLang="zh-CN" dirty="0"/>
              <a:t>SMP</a:t>
            </a:r>
            <a:r>
              <a:rPr lang="zh-CN" altLang="en-US" dirty="0"/>
              <a:t>系统：同时运行</a:t>
            </a:r>
            <a:r>
              <a:rPr lang="en-US" altLang="zh-CN" dirty="0"/>
              <a:t>vCPU</a:t>
            </a:r>
            <a:r>
              <a:rPr lang="zh-CN" altLang="en-US" dirty="0"/>
              <a:t>线程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物理设备不支持</a:t>
            </a:r>
            <a:r>
              <a:rPr lang="en-US" altLang="zh-CN" dirty="0"/>
              <a:t>SMP</a:t>
            </a:r>
            <a:r>
              <a:rPr lang="zh-CN" altLang="en-US" dirty="0"/>
              <a:t>系统：分时调度模拟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05AA75C-A946-4726-AAB7-6D9D79A8C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73" y="4351323"/>
            <a:ext cx="7260421" cy="70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27127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CPU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虚拟化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——SMP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的支持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8C0FBC-9E29-427D-BD81-9C8F93562E7F}"/>
              </a:ext>
            </a:extLst>
          </p:cNvPr>
          <p:cNvSpPr txBox="1"/>
          <p:nvPr/>
        </p:nvSpPr>
        <p:spPr>
          <a:xfrm>
            <a:off x="528528" y="1231494"/>
            <a:ext cx="8249055" cy="867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从客户机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GUEST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端看：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从宿主机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HOST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端看：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09AEDED-ACC3-4BE3-87AA-1EEFF460D62C}"/>
              </a:ext>
            </a:extLst>
          </p:cNvPr>
          <p:cNvSpPr txBox="1"/>
          <p:nvPr/>
        </p:nvSpPr>
        <p:spPr>
          <a:xfrm>
            <a:off x="2972846" y="6357433"/>
            <a:ext cx="3360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vCPU</a:t>
            </a:r>
            <a:r>
              <a:rPr lang="zh-CN" altLang="en-US" sz="1200" dirty="0"/>
              <a:t>在</a:t>
            </a:r>
            <a:r>
              <a:rPr lang="en-US" altLang="zh-CN" sz="1200" dirty="0"/>
              <a:t>KVM</a:t>
            </a:r>
            <a:r>
              <a:rPr lang="zh-CN" altLang="en-US" sz="1200" dirty="0"/>
              <a:t>中的</a:t>
            </a:r>
            <a:r>
              <a:rPr lang="en-US" altLang="zh-CN" sz="1200" dirty="0"/>
              <a:t>3</a:t>
            </a:r>
            <a:r>
              <a:rPr lang="zh-CN" altLang="en-US" sz="1200" dirty="0"/>
              <a:t>种执行模式的转换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BAC35CD-1AD1-4135-A3A7-5844B1E61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281" y="1163306"/>
            <a:ext cx="6119438" cy="55734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1658CD0-0479-40A8-9C29-3335B56F9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8930" y="2107308"/>
            <a:ext cx="4453955" cy="12515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399BB0E-17BC-424A-9F81-C346C5D7D2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417" y="3880873"/>
            <a:ext cx="8658510" cy="274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22321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01495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76720" y="117397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43901" y="2011680"/>
            <a:ext cx="6062939" cy="1955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  <a:defRPr/>
            </a:pPr>
            <a:r>
              <a:rPr kumimoji="1" lang="en-US" altLang="zh-CN" sz="2800" dirty="0">
                <a:solidFill>
                  <a:srgbClr val="E7E6E6">
                    <a:lumMod val="90000"/>
                  </a:srgbClr>
                </a:solidFill>
                <a:latin typeface="Microsoft YaHei" charset="-122"/>
                <a:ea typeface="Microsoft YaHei" charset="-122"/>
              </a:rPr>
              <a:t>CPU</a:t>
            </a:r>
            <a:r>
              <a:rPr kumimoji="1" lang="zh-CN" altLang="en-US" sz="2800" dirty="0">
                <a:solidFill>
                  <a:srgbClr val="E7E6E6">
                    <a:lumMod val="90000"/>
                  </a:srgbClr>
                </a:solidFill>
                <a:latin typeface="Microsoft YaHei" charset="-122"/>
                <a:ea typeface="Microsoft YaHei" charset="-122"/>
              </a:rPr>
              <a:t>虚拟化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Virtio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原理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镜像</a:t>
            </a:r>
            <a:r>
              <a:rPr kumimoji="1" lang="zh-CN" altLang="en-US" sz="2800" dirty="0">
                <a:solidFill>
                  <a:srgbClr val="E7E6E6">
                    <a:lumMod val="90000"/>
                  </a:srgbClr>
                </a:solidFill>
                <a:latin typeface="Microsoft YaHei" charset="-122"/>
                <a:ea typeface="Microsoft YaHei" charset="-122"/>
              </a:rPr>
              <a:t>文件管理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Microsoft YaHei" charset="-122"/>
              <a:ea typeface="Microsoft YaHei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8552383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全虚拟化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I/O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8C0FBC-9E29-427D-BD81-9C8F93562E7F}"/>
              </a:ext>
            </a:extLst>
          </p:cNvPr>
          <p:cNvSpPr txBox="1"/>
          <p:nvPr/>
        </p:nvSpPr>
        <p:spPr>
          <a:xfrm>
            <a:off x="285835" y="1112995"/>
            <a:ext cx="8249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请求需被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VMM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捕获处理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B047CB7-14D4-44F0-960D-D024F22F69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40" t="36933" r="5450" b="5600"/>
          <a:stretch/>
        </p:blipFill>
        <p:spPr>
          <a:xfrm>
            <a:off x="1870546" y="2820474"/>
            <a:ext cx="5079634" cy="3447751"/>
          </a:xfrm>
          <a:prstGeom prst="rect">
            <a:avLst/>
          </a:prstGeom>
        </p:spPr>
      </p:pic>
      <p:sp>
        <p:nvSpPr>
          <p:cNvPr id="6" name="左大括号 5">
            <a:extLst>
              <a:ext uri="{FF2B5EF4-FFF2-40B4-BE49-F238E27FC236}">
                <a16:creationId xmlns:a16="http://schemas.microsoft.com/office/drawing/2014/main" id="{20D11709-97A6-46FA-8864-B637AD0323B7}"/>
              </a:ext>
            </a:extLst>
          </p:cNvPr>
          <p:cNvSpPr/>
          <p:nvPr/>
        </p:nvSpPr>
        <p:spPr>
          <a:xfrm>
            <a:off x="1200150" y="2001354"/>
            <a:ext cx="137160" cy="70866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375105-7CAA-4145-98A3-A5F9A6FA4756}"/>
              </a:ext>
            </a:extLst>
          </p:cNvPr>
          <p:cNvSpPr txBox="1"/>
          <p:nvPr/>
        </p:nvSpPr>
        <p:spPr>
          <a:xfrm>
            <a:off x="1451610" y="1897144"/>
            <a:ext cx="6583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优点： 客户机无需修改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缺点：</a:t>
            </a:r>
            <a:r>
              <a:rPr lang="en-US" altLang="zh-CN" dirty="0"/>
              <a:t>VM</a:t>
            </a:r>
            <a:r>
              <a:rPr lang="zh-CN" altLang="en-US" dirty="0"/>
              <a:t>切换次数多，多次内存复制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F1EE08-2166-4D86-8B7B-E40A07D04F99}"/>
              </a:ext>
            </a:extLst>
          </p:cNvPr>
          <p:cNvSpPr txBox="1"/>
          <p:nvPr/>
        </p:nvSpPr>
        <p:spPr>
          <a:xfrm>
            <a:off x="3063240" y="6129725"/>
            <a:ext cx="3360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全虚拟化</a:t>
            </a:r>
            <a:r>
              <a:rPr lang="en-US" altLang="zh-CN" sz="1200" dirty="0"/>
              <a:t>IO</a:t>
            </a:r>
            <a:r>
              <a:rPr lang="zh-CN" altLang="en-US" sz="1200" dirty="0"/>
              <a:t>流程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497699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775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半（类）虚拟化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I/O——</a:t>
            </a:r>
            <a:r>
              <a:rPr kumimoji="1" lang="en-US" altLang="zh-CN" sz="2800" dirty="0" err="1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Virtio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实现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8D820C5-798D-4176-8252-00FF8604C2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03"/>
          <a:stretch/>
        </p:blipFill>
        <p:spPr>
          <a:xfrm>
            <a:off x="1825369" y="2767543"/>
            <a:ext cx="5493262" cy="334262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20862FAB-41A4-4FBD-A4D2-15E4215CB5FC}"/>
              </a:ext>
            </a:extLst>
          </p:cNvPr>
          <p:cNvSpPr txBox="1"/>
          <p:nvPr/>
        </p:nvSpPr>
        <p:spPr>
          <a:xfrm>
            <a:off x="379379" y="1478604"/>
            <a:ext cx="82490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Guest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Host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之间通过某种传输规则（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virtio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）进行通信。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减少了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路径长度，上下文切换次数。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98F5D3-664D-4564-9F63-DBCFDCBFE58B}"/>
              </a:ext>
            </a:extLst>
          </p:cNvPr>
          <p:cNvSpPr txBox="1"/>
          <p:nvPr/>
        </p:nvSpPr>
        <p:spPr>
          <a:xfrm>
            <a:off x="2823696" y="6198782"/>
            <a:ext cx="3360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半虚拟化</a:t>
            </a:r>
            <a:r>
              <a:rPr lang="en-US" altLang="zh-CN" sz="1200" dirty="0"/>
              <a:t>IO</a:t>
            </a:r>
            <a:r>
              <a:rPr lang="zh-CN" altLang="en-US" sz="1200" dirty="0"/>
              <a:t>流程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820735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err="1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Virtio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结构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5D2F5B7-D6EE-4A9A-B4FC-46BA873D5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66132"/>
            <a:ext cx="5291414" cy="2942492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2105692-D116-44BC-BDD6-0990CC74BAB0}"/>
              </a:ext>
            </a:extLst>
          </p:cNvPr>
          <p:cNvCxnSpPr/>
          <p:nvPr/>
        </p:nvCxnSpPr>
        <p:spPr>
          <a:xfrm>
            <a:off x="409416" y="3080530"/>
            <a:ext cx="8249055" cy="0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4306B9E9-70CF-43C6-849C-71E9EAF91183}"/>
              </a:ext>
            </a:extLst>
          </p:cNvPr>
          <p:cNvSpPr txBox="1"/>
          <p:nvPr/>
        </p:nvSpPr>
        <p:spPr>
          <a:xfrm>
            <a:off x="7061598" y="2611607"/>
            <a:ext cx="1315270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前端驱动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8253BCF-5869-4EE9-961D-F18814333BF9}"/>
              </a:ext>
            </a:extLst>
          </p:cNvPr>
          <p:cNvCxnSpPr/>
          <p:nvPr/>
        </p:nvCxnSpPr>
        <p:spPr>
          <a:xfrm>
            <a:off x="406434" y="3716535"/>
            <a:ext cx="8249055" cy="0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0FE4A88-BA08-4D76-8848-C94B694D386E}"/>
              </a:ext>
            </a:extLst>
          </p:cNvPr>
          <p:cNvSpPr txBox="1"/>
          <p:nvPr/>
        </p:nvSpPr>
        <p:spPr>
          <a:xfrm>
            <a:off x="4633983" y="3247610"/>
            <a:ext cx="4201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Virtio</a:t>
            </a:r>
            <a:r>
              <a:rPr lang="en-US" altLang="zh-CN" dirty="0"/>
              <a:t> API</a:t>
            </a:r>
            <a:r>
              <a:rPr lang="zh-CN" altLang="en-US" dirty="0"/>
              <a:t>层：定义了</a:t>
            </a:r>
            <a:r>
              <a:rPr lang="en-US" altLang="zh-CN" dirty="0" err="1"/>
              <a:t>virtul</a:t>
            </a:r>
            <a:r>
              <a:rPr lang="en-US" altLang="zh-CN" dirty="0"/>
              <a:t> queue</a:t>
            </a:r>
            <a:r>
              <a:rPr lang="zh-CN" altLang="en-US" dirty="0"/>
              <a:t>接口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66616AB-F0C3-448D-A561-F2976B929D01}"/>
              </a:ext>
            </a:extLst>
          </p:cNvPr>
          <p:cNvCxnSpPr/>
          <p:nvPr/>
        </p:nvCxnSpPr>
        <p:spPr>
          <a:xfrm>
            <a:off x="406434" y="4412688"/>
            <a:ext cx="8249055" cy="0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9C83ACCA-153F-4549-B9E0-2E59E1006010}"/>
              </a:ext>
            </a:extLst>
          </p:cNvPr>
          <p:cNvSpPr txBox="1"/>
          <p:nvPr/>
        </p:nvSpPr>
        <p:spPr>
          <a:xfrm>
            <a:off x="4633983" y="3763452"/>
            <a:ext cx="4595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Transport</a:t>
            </a:r>
            <a:r>
              <a:rPr lang="zh-CN" altLang="en-US" dirty="0"/>
              <a:t>层：</a:t>
            </a:r>
            <a:r>
              <a:rPr lang="en-US" altLang="zh-CN" dirty="0" err="1"/>
              <a:t>virtul</a:t>
            </a:r>
            <a:r>
              <a:rPr lang="en-US" altLang="zh-CN" dirty="0"/>
              <a:t> queue</a:t>
            </a:r>
            <a:r>
              <a:rPr lang="zh-CN" altLang="en-US" dirty="0"/>
              <a:t>接口的实现（</a:t>
            </a:r>
            <a:r>
              <a:rPr lang="en-US" altLang="zh-CN" dirty="0" err="1"/>
              <a:t>vring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，前后端实现要遵循统一标准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9DBDE65-EB0C-4C65-9474-6211ADF26FD3}"/>
              </a:ext>
            </a:extLst>
          </p:cNvPr>
          <p:cNvSpPr txBox="1"/>
          <p:nvPr/>
        </p:nvSpPr>
        <p:spPr>
          <a:xfrm>
            <a:off x="7061598" y="4478434"/>
            <a:ext cx="1315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后端驱动</a:t>
            </a:r>
          </a:p>
        </p:txBody>
      </p:sp>
    </p:spTree>
    <p:extLst>
      <p:ext uri="{BB962C8B-B14F-4D97-AF65-F5344CB8AC3E}">
        <p14:creationId xmlns:p14="http://schemas.microsoft.com/office/powerpoint/2010/main" val="163873874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4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err="1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Virtio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规范简介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F623626-F0FF-4259-B964-A59AF9C2ED41}"/>
              </a:ext>
            </a:extLst>
          </p:cNvPr>
          <p:cNvSpPr txBox="1"/>
          <p:nvPr/>
        </p:nvSpPr>
        <p:spPr>
          <a:xfrm>
            <a:off x="356031" y="876574"/>
            <a:ext cx="8249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virtQueue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的具体实现的结构是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vRing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（环形缓冲区）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vRing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由三部分组成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504ABDA-5885-4842-8672-4E1E53151107}"/>
              </a:ext>
            </a:extLst>
          </p:cNvPr>
          <p:cNvSpPr txBox="1"/>
          <p:nvPr/>
        </p:nvSpPr>
        <p:spPr>
          <a:xfrm>
            <a:off x="654259" y="2218770"/>
            <a:ext cx="66726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55555"/>
                </a:solidFill>
                <a:latin typeface="Lato"/>
              </a:rPr>
              <a:t> Descriptor Table          </a:t>
            </a:r>
            <a:r>
              <a:rPr lang="zh-CN" altLang="en-US" sz="1600" b="1" dirty="0">
                <a:solidFill>
                  <a:srgbClr val="555555"/>
                </a:solidFill>
                <a:latin typeface="Lato"/>
              </a:rPr>
              <a:t>描述符表</a:t>
            </a:r>
            <a:endParaRPr lang="en-US" altLang="zh-CN" sz="1600" dirty="0">
              <a:solidFill>
                <a:srgbClr val="555555"/>
              </a:solidFill>
              <a:latin typeface="Lato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55555"/>
                </a:solidFill>
                <a:latin typeface="Lato"/>
              </a:rPr>
              <a:t> Available Ring</a:t>
            </a:r>
            <a:r>
              <a:rPr lang="zh-CN" altLang="en-US" sz="1600" b="1" dirty="0">
                <a:solidFill>
                  <a:srgbClr val="555555"/>
                </a:solidFill>
                <a:latin typeface="Lato"/>
              </a:rPr>
              <a:t>             可用环形缓冲区</a:t>
            </a:r>
            <a:endParaRPr lang="en-US" altLang="zh-CN" sz="1600" b="1" dirty="0">
              <a:solidFill>
                <a:srgbClr val="555555"/>
              </a:solidFill>
              <a:latin typeface="Lato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55555"/>
                </a:solidFill>
                <a:latin typeface="Lato"/>
              </a:rPr>
              <a:t> Used Ring                   </a:t>
            </a:r>
            <a:r>
              <a:rPr lang="zh-CN" altLang="en-US" sz="1600" b="1" dirty="0">
                <a:solidFill>
                  <a:srgbClr val="555555"/>
                </a:solidFill>
                <a:latin typeface="Lato"/>
              </a:rPr>
              <a:t>已用环形缓冲区</a:t>
            </a:r>
            <a:endParaRPr lang="en-US" altLang="zh-CN" sz="1600" dirty="0">
              <a:solidFill>
                <a:srgbClr val="555555"/>
              </a:solidFill>
              <a:latin typeface="Lato"/>
            </a:endParaRPr>
          </a:p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8B0F32F-FBDD-4F2C-9C6B-AF03FBAC0B3A}"/>
              </a:ext>
            </a:extLst>
          </p:cNvPr>
          <p:cNvSpPr txBox="1"/>
          <p:nvPr/>
        </p:nvSpPr>
        <p:spPr>
          <a:xfrm>
            <a:off x="356031" y="3583126"/>
            <a:ext cx="8249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数据传输的单位是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Buffer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CAD9A07-9B4E-436D-A3F6-C046C1587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59" y="1593078"/>
            <a:ext cx="4277545" cy="471876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8140813-21EB-428D-A475-1EE119651431}"/>
              </a:ext>
            </a:extLst>
          </p:cNvPr>
          <p:cNvSpPr txBox="1"/>
          <p:nvPr/>
        </p:nvSpPr>
        <p:spPr>
          <a:xfrm>
            <a:off x="654259" y="4114964"/>
            <a:ext cx="6672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555555"/>
                </a:solidFill>
                <a:latin typeface="Lato"/>
              </a:rPr>
              <a:t>内部被表示为一个散集列表（</a:t>
            </a:r>
            <a:r>
              <a:rPr lang="en-US" altLang="zh-CN" sz="1600" dirty="0">
                <a:solidFill>
                  <a:srgbClr val="555555"/>
                </a:solidFill>
                <a:latin typeface="Lato"/>
              </a:rPr>
              <a:t>scatter-gather</a:t>
            </a:r>
            <a:r>
              <a:rPr lang="zh-CN" altLang="en-US" sz="1600" dirty="0">
                <a:solidFill>
                  <a:srgbClr val="555555"/>
                </a:solidFill>
                <a:latin typeface="Lato"/>
              </a:rPr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195227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err="1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Virtio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规范简介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8C0FBC-9E29-427D-BD81-9C8F93562E7F}"/>
              </a:ext>
            </a:extLst>
          </p:cNvPr>
          <p:cNvSpPr txBox="1"/>
          <p:nvPr/>
        </p:nvSpPr>
        <p:spPr>
          <a:xfrm>
            <a:off x="285547" y="1362232"/>
            <a:ext cx="8249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Avail/Used Ring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结构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80D56E6-C802-4C90-9183-1AF4618F9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47" y="1980801"/>
            <a:ext cx="2133333" cy="135238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EC4E7BE-652E-436E-9054-0B52EA89F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2043" y="2686051"/>
            <a:ext cx="5955171" cy="378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761463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6297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err="1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Virtio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规范简介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——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数据流动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1026" name="Picture 2" descr="https://lihanlu.bj.bcebos.com/virtiovring.png@!lihanlu">
            <a:extLst>
              <a:ext uri="{FF2B5EF4-FFF2-40B4-BE49-F238E27FC236}">
                <a16:creationId xmlns:a16="http://schemas.microsoft.com/office/drawing/2014/main" id="{51BCA15B-AAE1-4770-9EA4-7BD817A27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6" y="1227466"/>
            <a:ext cx="5928635" cy="5126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B59DFB3-4AE2-4FDC-86A6-44BCA201A518}"/>
              </a:ext>
            </a:extLst>
          </p:cNvPr>
          <p:cNvSpPr txBox="1"/>
          <p:nvPr/>
        </p:nvSpPr>
        <p:spPr>
          <a:xfrm>
            <a:off x="5779477" y="1477108"/>
            <a:ext cx="3493477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/>
              <a:t>根据</a:t>
            </a:r>
            <a:r>
              <a:rPr lang="en-US" altLang="zh-CN" dirty="0"/>
              <a:t>IO Request</a:t>
            </a:r>
            <a:r>
              <a:rPr lang="zh-CN" altLang="en-US" dirty="0"/>
              <a:t>填充</a:t>
            </a:r>
            <a:r>
              <a:rPr lang="en-US" altLang="zh-CN" dirty="0" err="1"/>
              <a:t>scatterlist</a:t>
            </a:r>
            <a:endParaRPr lang="en-US" altLang="zh-CN" dirty="0"/>
          </a:p>
          <a:p>
            <a:pPr marL="342900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/>
              <a:t>得到</a:t>
            </a:r>
            <a:r>
              <a:rPr lang="en-US" altLang="zh-CN" dirty="0" err="1"/>
              <a:t>scatterlist</a:t>
            </a:r>
            <a:r>
              <a:rPr lang="zh-CN" altLang="en-US" dirty="0"/>
              <a:t>的</a:t>
            </a:r>
            <a:r>
              <a:rPr lang="en-US" altLang="zh-CN" dirty="0"/>
              <a:t>GPA</a:t>
            </a:r>
            <a:r>
              <a:rPr lang="zh-CN" altLang="en-US" dirty="0"/>
              <a:t>填入描述符表</a:t>
            </a:r>
            <a:endParaRPr lang="en-US" altLang="zh-CN" dirty="0"/>
          </a:p>
          <a:p>
            <a:pPr marL="342900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/>
              <a:t>将描述符表的表头信息写入</a:t>
            </a:r>
            <a:r>
              <a:rPr lang="en-US" altLang="zh-CN" dirty="0"/>
              <a:t>Avail </a:t>
            </a:r>
            <a:r>
              <a:rPr lang="en-US" altLang="zh-CN" dirty="0" err="1"/>
              <a:t>Vring</a:t>
            </a:r>
            <a:r>
              <a:rPr lang="zh-CN" altLang="en-US" dirty="0"/>
              <a:t>并更新</a:t>
            </a:r>
            <a:r>
              <a:rPr lang="en-US" altLang="zh-CN" dirty="0" err="1"/>
              <a:t>idx</a:t>
            </a:r>
            <a:endParaRPr lang="en-US" altLang="zh-CN" dirty="0"/>
          </a:p>
          <a:p>
            <a:pPr marL="342900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/>
              <a:t>Guest</a:t>
            </a:r>
            <a:r>
              <a:rPr lang="zh-CN" altLang="en-US" dirty="0"/>
              <a:t>调用</a:t>
            </a:r>
            <a:r>
              <a:rPr lang="en-US" altLang="zh-CN" dirty="0"/>
              <a:t>kick</a:t>
            </a:r>
            <a:r>
              <a:rPr lang="zh-CN" altLang="en-US" dirty="0"/>
              <a:t>通知后端数据已就绪。通知导致</a:t>
            </a:r>
            <a:r>
              <a:rPr lang="en-US" altLang="zh-CN" dirty="0"/>
              <a:t>VM_EXIT</a:t>
            </a:r>
          </a:p>
          <a:p>
            <a:pPr marL="342900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/>
              <a:t>KVM</a:t>
            </a:r>
            <a:r>
              <a:rPr lang="zh-CN" altLang="en-US" dirty="0"/>
              <a:t>会判断原因，后端会读出</a:t>
            </a:r>
            <a:r>
              <a:rPr lang="en-US" altLang="zh-CN" dirty="0" err="1"/>
              <a:t>vring</a:t>
            </a:r>
            <a:r>
              <a:rPr lang="zh-CN" altLang="en-US" dirty="0"/>
              <a:t>的位置信息</a:t>
            </a:r>
            <a:endParaRPr lang="en-US" altLang="zh-CN" dirty="0"/>
          </a:p>
          <a:p>
            <a:pPr marL="342900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/>
              <a:t>后端从</a:t>
            </a:r>
            <a:r>
              <a:rPr lang="en-US" altLang="zh-CN" dirty="0"/>
              <a:t>avail </a:t>
            </a:r>
            <a:r>
              <a:rPr lang="en-US" altLang="zh-CN" dirty="0" err="1"/>
              <a:t>Vring</a:t>
            </a:r>
            <a:r>
              <a:rPr lang="zh-CN" altLang="en-US" dirty="0"/>
              <a:t>取</a:t>
            </a:r>
            <a:r>
              <a:rPr lang="en-US" altLang="zh-CN" dirty="0"/>
              <a:t>BUFFER</a:t>
            </a:r>
            <a:r>
              <a:rPr lang="zh-CN" altLang="en-US" dirty="0"/>
              <a:t>信息进行处理</a:t>
            </a:r>
            <a:endParaRPr lang="en-US" altLang="zh-CN" dirty="0"/>
          </a:p>
          <a:p>
            <a:pPr marL="342900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/>
              <a:t>将处理完成的描述符表头信息写入</a:t>
            </a:r>
            <a:r>
              <a:rPr lang="en-US" altLang="zh-CN" dirty="0"/>
              <a:t>Used </a:t>
            </a:r>
            <a:r>
              <a:rPr lang="en-US" altLang="zh-CN" dirty="0" err="1"/>
              <a:t>Vring</a:t>
            </a:r>
            <a:endParaRPr lang="en-US" altLang="zh-CN" dirty="0"/>
          </a:p>
          <a:p>
            <a:pPr marL="342900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/>
              <a:t>通过中断注入通知前端</a:t>
            </a:r>
          </a:p>
        </p:txBody>
      </p:sp>
    </p:spTree>
    <p:extLst>
      <p:ext uri="{BB962C8B-B14F-4D97-AF65-F5344CB8AC3E}">
        <p14:creationId xmlns:p14="http://schemas.microsoft.com/office/powerpoint/2010/main" val="395473832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6297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半虚拟化 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VS 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全虚拟化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1A24B74-E8E8-4BB5-8C4C-8605865F3B8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40" t="36933" r="5450" b="5600"/>
          <a:stretch/>
        </p:blipFill>
        <p:spPr>
          <a:xfrm>
            <a:off x="0" y="1565095"/>
            <a:ext cx="4372708" cy="296793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C5589D6-BBD9-4BD4-9301-4B71535F0A3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903"/>
          <a:stretch/>
        </p:blipFill>
        <p:spPr>
          <a:xfrm>
            <a:off x="4572000" y="1565095"/>
            <a:ext cx="4519990" cy="2750397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8E4259B-33A3-40F9-AF9A-4BCC3B7AE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692637"/>
              </p:ext>
            </p:extLst>
          </p:nvPr>
        </p:nvGraphicFramePr>
        <p:xfrm>
          <a:off x="1503835" y="4767661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65587870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158712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63440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全虚拟化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半虚拟化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568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内存复制次数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991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上下文切换次数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951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较慢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接近本地性能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685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978188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6297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 err="1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Virtio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后端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——</a:t>
            </a:r>
            <a:r>
              <a:rPr kumimoji="1" lang="en-US" altLang="zh-CN" sz="2800" dirty="0" err="1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vhost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412205-927C-4513-8C81-47ABF9A9AB34}"/>
              </a:ext>
            </a:extLst>
          </p:cNvPr>
          <p:cNvSpPr txBox="1"/>
          <p:nvPr/>
        </p:nvSpPr>
        <p:spPr>
          <a:xfrm>
            <a:off x="205740" y="1303020"/>
            <a:ext cx="8401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Virtio</a:t>
            </a:r>
            <a:r>
              <a:rPr lang="zh-CN" altLang="en-US" dirty="0"/>
              <a:t>前后端交互导致的</a:t>
            </a:r>
            <a:r>
              <a:rPr lang="en-US" altLang="zh-CN" dirty="0"/>
              <a:t>VM_EXIT</a:t>
            </a:r>
            <a:r>
              <a:rPr lang="zh-CN" altLang="en-US" dirty="0"/>
              <a:t>和</a:t>
            </a:r>
            <a:r>
              <a:rPr lang="en-US" altLang="zh-CN" dirty="0"/>
              <a:t>VM_ENTRY</a:t>
            </a:r>
            <a:r>
              <a:rPr lang="zh-CN" altLang="en-US" dirty="0"/>
              <a:t>开销依然存在。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Vhost</a:t>
            </a:r>
            <a:r>
              <a:rPr lang="zh-CN" altLang="en-US" dirty="0"/>
              <a:t>作为</a:t>
            </a:r>
            <a:r>
              <a:rPr lang="en-US" altLang="zh-CN" dirty="0" err="1"/>
              <a:t>virtio</a:t>
            </a:r>
            <a:r>
              <a:rPr lang="zh-CN" altLang="en-US" dirty="0"/>
              <a:t>后端，独立于</a:t>
            </a:r>
            <a:r>
              <a:rPr lang="en-US" altLang="zh-CN" dirty="0"/>
              <a:t>QEMU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38139B0D-6B95-424E-BF23-A17848965F52}"/>
              </a:ext>
            </a:extLst>
          </p:cNvPr>
          <p:cNvSpPr/>
          <p:nvPr/>
        </p:nvSpPr>
        <p:spPr>
          <a:xfrm>
            <a:off x="4400550" y="1874254"/>
            <a:ext cx="137160" cy="70866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AE5B250-4832-4C9B-A08C-515C76B00A09}"/>
              </a:ext>
            </a:extLst>
          </p:cNvPr>
          <p:cNvSpPr txBox="1"/>
          <p:nvPr/>
        </p:nvSpPr>
        <p:spPr>
          <a:xfrm>
            <a:off x="4652010" y="1770044"/>
            <a:ext cx="6583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vhost</a:t>
            </a:r>
            <a:r>
              <a:rPr lang="en-US" altLang="zh-CN" dirty="0"/>
              <a:t>-kernel</a:t>
            </a:r>
          </a:p>
          <a:p>
            <a:endParaRPr lang="en-US" altLang="zh-CN" dirty="0"/>
          </a:p>
          <a:p>
            <a:r>
              <a:rPr lang="en-US" altLang="zh-CN" dirty="0"/>
              <a:t>SPDK </a:t>
            </a:r>
            <a:r>
              <a:rPr lang="en-US" altLang="zh-CN" dirty="0" err="1"/>
              <a:t>vhost</a:t>
            </a:r>
            <a:r>
              <a:rPr lang="en-US" altLang="zh-CN" dirty="0"/>
              <a:t>-user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564633A-EBEA-43DE-B9D6-D241F437E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" y="2788654"/>
            <a:ext cx="2705720" cy="377941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383EE60-EA56-4567-8416-2B36E486E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4310" y="2754364"/>
            <a:ext cx="2705720" cy="383159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AD856D5-8D72-4A94-9616-6B3E7C860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0030" y="2871439"/>
            <a:ext cx="3183920" cy="367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38629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6297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设备直接分配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——VT-d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412205-927C-4513-8C81-47ABF9A9AB34}"/>
              </a:ext>
            </a:extLst>
          </p:cNvPr>
          <p:cNvSpPr txBox="1"/>
          <p:nvPr/>
        </p:nvSpPr>
        <p:spPr>
          <a:xfrm>
            <a:off x="205740" y="1303020"/>
            <a:ext cx="84010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之前所谈的设备模拟方式（全虚拟化，</a:t>
            </a:r>
            <a:r>
              <a:rPr lang="en-US" altLang="zh-CN" dirty="0" err="1"/>
              <a:t>virtio</a:t>
            </a:r>
            <a:r>
              <a:rPr lang="zh-CN" altLang="en-US" dirty="0"/>
              <a:t>）都可归为软件层次的模拟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PCI </a:t>
            </a:r>
            <a:r>
              <a:rPr lang="zh-CN" altLang="en-US" dirty="0"/>
              <a:t>设备直接分配（</a:t>
            </a:r>
            <a:r>
              <a:rPr lang="en-US" altLang="zh-CN" dirty="0"/>
              <a:t>Intel VT-d</a:t>
            </a:r>
            <a:r>
              <a:rPr lang="zh-CN" altLang="en-US" dirty="0"/>
              <a:t>，</a:t>
            </a:r>
            <a:r>
              <a:rPr lang="en-US" altLang="zh-CN" dirty="0"/>
              <a:t>AMD-Vi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      --</a:t>
            </a:r>
            <a:r>
              <a:rPr lang="zh-CN" altLang="en-US" dirty="0"/>
              <a:t>允许将宿主机的物理</a:t>
            </a:r>
            <a:r>
              <a:rPr lang="en-US" altLang="zh-CN" dirty="0"/>
              <a:t>PCI</a:t>
            </a:r>
            <a:r>
              <a:rPr lang="zh-CN" altLang="en-US" dirty="0"/>
              <a:t>设备直接分配给客户机完全使用。</a:t>
            </a:r>
            <a:endParaRPr lang="en-US" altLang="zh-CN" dirty="0"/>
          </a:p>
          <a:p>
            <a:r>
              <a:rPr lang="en-US" altLang="zh-CN" dirty="0"/>
              <a:t>      --</a:t>
            </a:r>
            <a:r>
              <a:rPr lang="zh-CN" altLang="en-US" dirty="0"/>
              <a:t>可分配网卡，磁盘控制器，</a:t>
            </a:r>
            <a:r>
              <a:rPr lang="en-US" altLang="zh-CN" dirty="0"/>
              <a:t>VGA</a:t>
            </a:r>
            <a:r>
              <a:rPr lang="zh-CN" altLang="en-US" dirty="0"/>
              <a:t>显卡等。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CCA54F0-23E7-4FDB-B06E-1C4890A91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863" y="2759995"/>
            <a:ext cx="4856274" cy="350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70702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6297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设备直接分配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——SR-IOV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技术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412205-927C-4513-8C81-47ABF9A9AB34}"/>
              </a:ext>
            </a:extLst>
          </p:cNvPr>
          <p:cNvSpPr txBox="1"/>
          <p:nvPr/>
        </p:nvSpPr>
        <p:spPr>
          <a:xfrm>
            <a:off x="205740" y="1303020"/>
            <a:ext cx="84010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SR-IOV</a:t>
            </a:r>
            <a:r>
              <a:rPr lang="zh-CN" altLang="en-US" dirty="0"/>
              <a:t>（</a:t>
            </a:r>
            <a:r>
              <a:rPr lang="en-US" altLang="zh-CN" dirty="0"/>
              <a:t>Single Root I/O Virtualization and Sharing</a:t>
            </a:r>
            <a:r>
              <a:rPr lang="zh-CN" altLang="en-US" dirty="0"/>
              <a:t>）支持多个虚拟机共享同一个物理设备资源。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862851-0A47-4383-A82C-FD64D198CE58}"/>
              </a:ext>
            </a:extLst>
          </p:cNvPr>
          <p:cNvSpPr txBox="1"/>
          <p:nvPr/>
        </p:nvSpPr>
        <p:spPr>
          <a:xfrm>
            <a:off x="2726055" y="6204230"/>
            <a:ext cx="3360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KVM</a:t>
            </a:r>
            <a:r>
              <a:rPr lang="zh-CN" altLang="en-US" sz="1200" dirty="0"/>
              <a:t>中使用</a:t>
            </a:r>
            <a:r>
              <a:rPr lang="en-US" altLang="zh-CN" sz="1200" dirty="0"/>
              <a:t>SR-IOV</a:t>
            </a:r>
            <a:r>
              <a:rPr lang="zh-CN" altLang="en-US" sz="1200" dirty="0"/>
              <a:t>功能示意图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4C4A50-88D5-4131-8FA1-0D001EBC1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67" y="2419788"/>
            <a:ext cx="5266418" cy="365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7821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01495" y="43665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宋体" charset="0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76720" y="117397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  <a:endParaRPr kumimoji="1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943901" y="2011680"/>
            <a:ext cx="6062939" cy="1955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CPU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Microsoft YaHei" charset="-122"/>
                <a:ea typeface="Microsoft YaHei" charset="-122"/>
                <a:cs typeface="+mn-cs"/>
              </a:rPr>
              <a:t>虚拟化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  <a:defRPr/>
            </a:pPr>
            <a:r>
              <a:rPr kumimoji="1" lang="en-US" altLang="zh-CN" sz="2800" dirty="0" err="1">
                <a:solidFill>
                  <a:srgbClr val="E7E6E6">
                    <a:lumMod val="90000"/>
                  </a:srgbClr>
                </a:solidFill>
                <a:latin typeface="Microsoft YaHei" charset="-122"/>
                <a:ea typeface="Microsoft YaHei" charset="-122"/>
              </a:rPr>
              <a:t>Virtio</a:t>
            </a:r>
            <a:r>
              <a:rPr kumimoji="1" lang="zh-CN" altLang="en-US" sz="2800" dirty="0">
                <a:solidFill>
                  <a:srgbClr val="E7E6E6">
                    <a:lumMod val="90000"/>
                  </a:srgbClr>
                </a:solidFill>
                <a:latin typeface="Microsoft YaHei" charset="-122"/>
                <a:ea typeface="Microsoft YaHei" charset="-122"/>
              </a:rPr>
              <a:t>原理</a:t>
            </a:r>
            <a:endParaRPr kumimoji="1" lang="en-US" altLang="zh-CN" sz="2800" dirty="0">
              <a:solidFill>
                <a:srgbClr val="E7E6E6">
                  <a:lumMod val="90000"/>
                </a:srgbClr>
              </a:solidFill>
              <a:latin typeface="Microsoft YaHei" charset="-122"/>
              <a:ea typeface="Microsoft YaHei" charset="-122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>
                  <a:lumMod val="95000"/>
                </a:prstClr>
              </a:buClr>
              <a:buSzPct val="75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镜像文件管理</a:t>
            </a:r>
          </a:p>
        </p:txBody>
      </p:sp>
    </p:spTree>
    <p:extLst>
      <p:ext uri="{BB962C8B-B14F-4D97-AF65-F5344CB8AC3E}">
        <p14:creationId xmlns:p14="http://schemas.microsoft.com/office/powerpoint/2010/main" val="229248306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6297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QEMU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的存储栈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C860CA7-74AB-44C7-B67C-F280650EE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4" y="2726396"/>
            <a:ext cx="5957509" cy="278433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83F79AB-08AB-446D-A8D5-49FD6EA9FB73}"/>
              </a:ext>
            </a:extLst>
          </p:cNvPr>
          <p:cNvSpPr txBox="1"/>
          <p:nvPr/>
        </p:nvSpPr>
        <p:spPr>
          <a:xfrm>
            <a:off x="316523" y="1371600"/>
            <a:ext cx="8264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QEMU</a:t>
            </a:r>
            <a:r>
              <a:rPr lang="zh-CN" altLang="en-US" dirty="0"/>
              <a:t>向上层</a:t>
            </a:r>
            <a:r>
              <a:rPr lang="en-US" altLang="zh-CN" dirty="0"/>
              <a:t>Guest</a:t>
            </a:r>
            <a:r>
              <a:rPr lang="zh-CN" altLang="en-US" dirty="0"/>
              <a:t>模拟一个物理设备，将上层的请求转换为对下层</a:t>
            </a:r>
            <a:r>
              <a:rPr lang="en-US" altLang="zh-CN" dirty="0"/>
              <a:t>HOST</a:t>
            </a:r>
            <a:r>
              <a:rPr lang="zh-CN" altLang="en-US" dirty="0"/>
              <a:t>文件系统的文件操作。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4D040FD-C6FA-4ACB-9579-4D2FF68EBFFB}"/>
              </a:ext>
            </a:extLst>
          </p:cNvPr>
          <p:cNvSpPr txBox="1"/>
          <p:nvPr/>
        </p:nvSpPr>
        <p:spPr>
          <a:xfrm>
            <a:off x="5585313" y="2648408"/>
            <a:ext cx="32355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设备模拟层：决定了向上层模拟的是哪种物理设备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格式驱动层：对应了镜像文件的格式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协议驱动层：对应用什么作为存储后端。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BA81C05-A7FD-455E-B32B-8B5C3823C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683" y="1837988"/>
            <a:ext cx="2248447" cy="498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06725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6297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镜像文件格式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3F79AB-08AB-446D-A8D5-49FD6EA9FB73}"/>
              </a:ext>
            </a:extLst>
          </p:cNvPr>
          <p:cNvSpPr txBox="1"/>
          <p:nvPr/>
        </p:nvSpPr>
        <p:spPr>
          <a:xfrm>
            <a:off x="316523" y="1371600"/>
            <a:ext cx="82647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QEMU</a:t>
            </a:r>
            <a:r>
              <a:rPr lang="zh-CN" altLang="en-US" dirty="0"/>
              <a:t>支持多种镜像文件格式 ：</a:t>
            </a:r>
            <a:r>
              <a:rPr lang="en-US" altLang="zh-CN" dirty="0"/>
              <a:t>RAW, QCOW2, VMDK…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镜像文件特性：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398AEF-908E-4523-8A63-406DDAFE77D0}"/>
              </a:ext>
            </a:extLst>
          </p:cNvPr>
          <p:cNvSpPr txBox="1"/>
          <p:nvPr/>
        </p:nvSpPr>
        <p:spPr>
          <a:xfrm>
            <a:off x="2597858" y="6340621"/>
            <a:ext cx="3360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稀疏文件特性</a:t>
            </a:r>
            <a:endParaRPr lang="zh-CN" altLang="en-US" dirty="0"/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2122538D-83FC-43CB-B878-C8208CD3C616}"/>
              </a:ext>
            </a:extLst>
          </p:cNvPr>
          <p:cNvSpPr/>
          <p:nvPr/>
        </p:nvSpPr>
        <p:spPr>
          <a:xfrm>
            <a:off x="2506657" y="1859013"/>
            <a:ext cx="90327" cy="100247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25FB6A-30D6-48C5-AE7C-5DF3F8F1E83C}"/>
              </a:ext>
            </a:extLst>
          </p:cNvPr>
          <p:cNvSpPr txBox="1"/>
          <p:nvPr/>
        </p:nvSpPr>
        <p:spPr>
          <a:xfrm>
            <a:off x="2758117" y="1754804"/>
            <a:ext cx="50814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稀疏文件</a:t>
            </a:r>
            <a:endParaRPr lang="en-US" altLang="zh-CN" dirty="0"/>
          </a:p>
          <a:p>
            <a:r>
              <a:rPr lang="zh-CN" altLang="en-US" dirty="0"/>
              <a:t>快照</a:t>
            </a:r>
            <a:endParaRPr lang="en-US" altLang="zh-CN" dirty="0"/>
          </a:p>
          <a:p>
            <a:r>
              <a:rPr lang="zh-CN" altLang="en-US" dirty="0"/>
              <a:t>基础镜像</a:t>
            </a:r>
            <a:endParaRPr lang="en-US" altLang="zh-CN" dirty="0"/>
          </a:p>
          <a:p>
            <a:r>
              <a:rPr lang="zh-CN" altLang="en-US" dirty="0"/>
              <a:t>压缩</a:t>
            </a:r>
            <a:endParaRPr lang="en-US" altLang="zh-CN" dirty="0"/>
          </a:p>
          <a:p>
            <a:r>
              <a:rPr lang="zh-CN" altLang="en-US" dirty="0"/>
              <a:t>加密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88731F6-2629-456E-AA58-1FDDB6639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9" y="3178716"/>
            <a:ext cx="7247619" cy="31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63814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基础镜像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B5E039-773F-4369-9E17-F2EE1FC53A28}"/>
              </a:ext>
            </a:extLst>
          </p:cNvPr>
          <p:cNvSpPr txBox="1"/>
          <p:nvPr/>
        </p:nvSpPr>
        <p:spPr>
          <a:xfrm>
            <a:off x="654259" y="4143221"/>
            <a:ext cx="76430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可以在基础镜像上创建新镜像。新镜像与原镜像有相同的数据，读取时直接访问基础镜像。当进行改写时，将进行写时复制，数据被写入新镜像中。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通过基础镜像功能，可以快速的备份和部署虚拟机，因此在云技术中被广泛应用。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84B802-7D39-41CF-B8B3-3FA4546A0D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00" t="51895" r="4000" b="5467"/>
          <a:stretch/>
        </p:blipFill>
        <p:spPr>
          <a:xfrm>
            <a:off x="694944" y="1453103"/>
            <a:ext cx="7754112" cy="246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989347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6297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QCOW2 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文件格式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3F79AB-08AB-446D-A8D5-49FD6EA9FB73}"/>
              </a:ext>
            </a:extLst>
          </p:cNvPr>
          <p:cNvSpPr txBox="1"/>
          <p:nvPr/>
        </p:nvSpPr>
        <p:spPr>
          <a:xfrm>
            <a:off x="316523" y="1371600"/>
            <a:ext cx="8264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Qcow2</a:t>
            </a:r>
            <a:r>
              <a:rPr lang="zh-CN" altLang="en-US" dirty="0"/>
              <a:t>虚拟磁盘文件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BBC310-671C-4725-B220-857862F24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666" y="3173551"/>
            <a:ext cx="6266667" cy="302857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4398AEF-908E-4523-8A63-406DDAFE77D0}"/>
              </a:ext>
            </a:extLst>
          </p:cNvPr>
          <p:cNvSpPr txBox="1"/>
          <p:nvPr/>
        </p:nvSpPr>
        <p:spPr>
          <a:xfrm>
            <a:off x="2891790" y="6202122"/>
            <a:ext cx="3360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Qcow2</a:t>
            </a:r>
            <a:r>
              <a:rPr lang="zh-CN" altLang="en-US" sz="1200" dirty="0"/>
              <a:t>磁盘文件组织格式</a:t>
            </a:r>
            <a:endParaRPr lang="zh-CN" altLang="en-US" dirty="0"/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2122538D-83FC-43CB-B878-C8208CD3C616}"/>
              </a:ext>
            </a:extLst>
          </p:cNvPr>
          <p:cNvSpPr/>
          <p:nvPr/>
        </p:nvSpPr>
        <p:spPr>
          <a:xfrm>
            <a:off x="3248405" y="1475809"/>
            <a:ext cx="90327" cy="100247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25FB6A-30D6-48C5-AE7C-5DF3F8F1E83C}"/>
              </a:ext>
            </a:extLst>
          </p:cNvPr>
          <p:cNvSpPr txBox="1"/>
          <p:nvPr/>
        </p:nvSpPr>
        <p:spPr>
          <a:xfrm>
            <a:off x="3499865" y="1371600"/>
            <a:ext cx="50814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Image header</a:t>
            </a:r>
          </a:p>
          <a:p>
            <a:r>
              <a:rPr lang="en-US" altLang="zh-CN" dirty="0"/>
              <a:t>Two-level lookup table</a:t>
            </a:r>
          </a:p>
          <a:p>
            <a:r>
              <a:rPr lang="en-US" altLang="zh-CN" dirty="0"/>
              <a:t>Reference table</a:t>
            </a:r>
          </a:p>
          <a:p>
            <a:r>
              <a:rPr lang="en-US" altLang="zh-CN" dirty="0"/>
              <a:t>Data Cluster</a:t>
            </a:r>
          </a:p>
        </p:txBody>
      </p:sp>
    </p:spTree>
    <p:extLst>
      <p:ext uri="{BB962C8B-B14F-4D97-AF65-F5344CB8AC3E}">
        <p14:creationId xmlns:p14="http://schemas.microsoft.com/office/powerpoint/2010/main" val="12901920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Qcow2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追加写流程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B5E039-773F-4369-9E17-F2EE1FC53A28}"/>
              </a:ext>
            </a:extLst>
          </p:cNvPr>
          <p:cNvSpPr txBox="1"/>
          <p:nvPr/>
        </p:nvSpPr>
        <p:spPr>
          <a:xfrm>
            <a:off x="479008" y="3429000"/>
            <a:ext cx="85195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对一个镜像文件进行追加写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查找</a:t>
            </a:r>
            <a:r>
              <a:rPr lang="en-US" altLang="zh-CN" dirty="0"/>
              <a:t>L1 table</a:t>
            </a:r>
            <a:r>
              <a:rPr lang="zh-CN" altLang="en-US" dirty="0"/>
              <a:t>，对应的</a:t>
            </a:r>
            <a:r>
              <a:rPr lang="en-US" altLang="zh-CN" dirty="0"/>
              <a:t>L2 table</a:t>
            </a:r>
            <a:r>
              <a:rPr lang="zh-CN" altLang="en-US" dirty="0"/>
              <a:t>还没有创建。分配一个空数据块，并更新相应的</a:t>
            </a:r>
            <a:r>
              <a:rPr lang="en-US" altLang="zh-CN" dirty="0"/>
              <a:t>ref count</a:t>
            </a:r>
          </a:p>
          <a:p>
            <a:pPr marL="342900" indent="-342900">
              <a:buAutoNum type="arabicPeriod"/>
            </a:pPr>
            <a:r>
              <a:rPr lang="zh-CN" altLang="en-US" dirty="0"/>
              <a:t>将分配好的</a:t>
            </a:r>
            <a:r>
              <a:rPr lang="en-US" altLang="zh-CN" dirty="0"/>
              <a:t>L2 table</a:t>
            </a:r>
            <a:r>
              <a:rPr lang="zh-CN" altLang="en-US" dirty="0"/>
              <a:t>写入相应内容（指向的数据块地址）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更新</a:t>
            </a:r>
            <a:r>
              <a:rPr lang="en-US" altLang="zh-CN" dirty="0"/>
              <a:t>L1 table</a:t>
            </a:r>
            <a:r>
              <a:rPr lang="zh-CN" altLang="en-US" dirty="0"/>
              <a:t>，增加一项指向新分配的</a:t>
            </a:r>
            <a:r>
              <a:rPr lang="en-US" altLang="zh-CN" dirty="0"/>
              <a:t>L2 table</a:t>
            </a:r>
          </a:p>
          <a:p>
            <a:pPr marL="342900" indent="-342900">
              <a:buAutoNum type="arabicPeriod"/>
            </a:pPr>
            <a:r>
              <a:rPr lang="zh-CN" altLang="en-US" dirty="0"/>
              <a:t>将数据写入相应位置，同时更新相关块的</a:t>
            </a:r>
            <a:r>
              <a:rPr lang="en-US" altLang="zh-CN" dirty="0"/>
              <a:t>ref count</a:t>
            </a:r>
          </a:p>
          <a:p>
            <a:pPr marL="342900" indent="-342900">
              <a:buAutoNum type="arabicPeriod"/>
            </a:pPr>
            <a:r>
              <a:rPr lang="zh-CN" altLang="en-US" dirty="0"/>
              <a:t>更新</a:t>
            </a:r>
            <a:r>
              <a:rPr lang="en-US" altLang="zh-CN" dirty="0"/>
              <a:t>L2 table </a:t>
            </a:r>
            <a:r>
              <a:rPr lang="zh-CN" altLang="en-US" dirty="0"/>
              <a:t>，增加一项指向新分配的数据块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D1EABC-4E89-4005-A3B3-B698B2AF5B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68" b="27448"/>
          <a:stretch/>
        </p:blipFill>
        <p:spPr>
          <a:xfrm>
            <a:off x="479009" y="1552027"/>
            <a:ext cx="8180360" cy="116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82512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虚拟机镜像文件优化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920A8A6-B782-42D3-9642-239301894A42}"/>
              </a:ext>
            </a:extLst>
          </p:cNvPr>
          <p:cNvSpPr txBox="1"/>
          <p:nvPr/>
        </p:nvSpPr>
        <p:spPr>
          <a:xfrm>
            <a:off x="1060704" y="2203704"/>
            <a:ext cx="754380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/>
              <a:t>Mitigating Sync Amplification for</a:t>
            </a:r>
          </a:p>
          <a:p>
            <a:pPr algn="ctr"/>
            <a:r>
              <a:rPr lang="en-US" altLang="zh-CN" sz="3600" dirty="0"/>
              <a:t> Copy-on-write Virtual Disk</a:t>
            </a:r>
          </a:p>
          <a:p>
            <a:pPr algn="ctr"/>
            <a:r>
              <a:rPr lang="en-US" altLang="zh-CN" sz="2000" dirty="0" err="1"/>
              <a:t>Qingshu</a:t>
            </a:r>
            <a:r>
              <a:rPr lang="en-US" altLang="zh-CN" sz="2000" dirty="0"/>
              <a:t> Chen, Liang </a:t>
            </a:r>
            <a:r>
              <a:rPr lang="en-US" altLang="zh-CN" sz="2000" dirty="0" err="1"/>
              <a:t>Liang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Yubin</a:t>
            </a:r>
            <a:r>
              <a:rPr lang="en-US" altLang="zh-CN" sz="2000" dirty="0"/>
              <a:t> Xia‡, </a:t>
            </a:r>
            <a:r>
              <a:rPr lang="en-US" altLang="zh-CN" sz="2000" dirty="0" err="1"/>
              <a:t>Haibo</a:t>
            </a:r>
            <a:r>
              <a:rPr lang="en-US" altLang="zh-CN" sz="2000" dirty="0"/>
              <a:t> Chen‡∗, </a:t>
            </a:r>
            <a:r>
              <a:rPr lang="en-US" altLang="zh-CN" sz="2000" dirty="0" err="1"/>
              <a:t>Hyunsoo</a:t>
            </a:r>
            <a:r>
              <a:rPr lang="en-US" altLang="zh-CN" sz="2000" dirty="0"/>
              <a:t> Kim†</a:t>
            </a:r>
          </a:p>
          <a:p>
            <a:pPr algn="ctr"/>
            <a:endParaRPr lang="en-US" altLang="zh-CN" sz="2000" i="1" dirty="0"/>
          </a:p>
          <a:p>
            <a:pPr algn="ctr"/>
            <a:r>
              <a:rPr lang="en-US" altLang="zh-CN" i="1" dirty="0"/>
              <a:t>Institute of Parallel and Distributed Systems, Shanghai Jiao Tong University</a:t>
            </a:r>
          </a:p>
          <a:p>
            <a:pPr algn="ctr"/>
            <a:r>
              <a:rPr lang="en-US" altLang="zh-CN" dirty="0"/>
              <a:t>† </a:t>
            </a:r>
            <a:r>
              <a:rPr lang="en-US" altLang="zh-CN" i="1" dirty="0"/>
              <a:t>Samsung Electronics Co., Ltd.</a:t>
            </a:r>
          </a:p>
          <a:p>
            <a:pPr algn="ctr"/>
            <a:endParaRPr lang="en-US" altLang="zh-CN" i="1" dirty="0"/>
          </a:p>
          <a:p>
            <a:pPr algn="ctr"/>
            <a:endParaRPr lang="en-US" altLang="zh-CN" i="1" dirty="0"/>
          </a:p>
          <a:p>
            <a:pPr algn="ctr"/>
            <a:r>
              <a:rPr lang="en-US" altLang="zh-CN" sz="2800" i="1" dirty="0"/>
              <a:t>FAST ‘ 16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46807698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Sync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调用流程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613E69E-5190-46D6-A645-E0DF9D57AF2D}"/>
              </a:ext>
            </a:extLst>
          </p:cNvPr>
          <p:cNvSpPr txBox="1"/>
          <p:nvPr/>
        </p:nvSpPr>
        <p:spPr>
          <a:xfrm>
            <a:off x="996696" y="4904522"/>
            <a:ext cx="7150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Guest</a:t>
            </a:r>
            <a:r>
              <a:rPr lang="zh-CN" altLang="en-US" dirty="0"/>
              <a:t>调用</a:t>
            </a:r>
            <a:r>
              <a:rPr lang="en-US" altLang="zh-CN" dirty="0"/>
              <a:t>sync</a:t>
            </a:r>
            <a:r>
              <a:rPr lang="zh-CN" altLang="en-US" dirty="0"/>
              <a:t>，意味着将数据持久化，即真正写入镜像文件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VMM</a:t>
            </a:r>
            <a:r>
              <a:rPr lang="zh-CN" altLang="en-US" dirty="0"/>
              <a:t>中的镜像驱动要在</a:t>
            </a:r>
            <a:r>
              <a:rPr lang="en-US" altLang="zh-CN" dirty="0"/>
              <a:t>host</a:t>
            </a:r>
            <a:r>
              <a:rPr lang="zh-CN" altLang="en-US" dirty="0"/>
              <a:t>端发起</a:t>
            </a:r>
            <a:r>
              <a:rPr lang="en-US" altLang="zh-CN" dirty="0"/>
              <a:t>sync</a:t>
            </a:r>
            <a:r>
              <a:rPr lang="zh-CN" altLang="en-US" dirty="0"/>
              <a:t>，将</a:t>
            </a:r>
            <a:r>
              <a:rPr lang="en-US" altLang="zh-CN" dirty="0"/>
              <a:t>guest</a:t>
            </a:r>
            <a:r>
              <a:rPr lang="zh-CN" altLang="en-US" dirty="0"/>
              <a:t>传递的数据写入物理磁盘</a:t>
            </a:r>
            <a:endParaRPr lang="en-US" altLang="zh-CN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E0F043F-E6EA-4AE6-B3EC-D3277C5E03C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00" t="34088" r="3700" b="7196"/>
          <a:stretch/>
        </p:blipFill>
        <p:spPr>
          <a:xfrm>
            <a:off x="996696" y="1321690"/>
            <a:ext cx="7150608" cy="337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1843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日志文件系统的工作步骤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613E69E-5190-46D6-A645-E0DF9D57AF2D}"/>
              </a:ext>
            </a:extLst>
          </p:cNvPr>
          <p:cNvSpPr txBox="1"/>
          <p:nvPr/>
        </p:nvSpPr>
        <p:spPr>
          <a:xfrm>
            <a:off x="654259" y="1397675"/>
            <a:ext cx="71506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dirty="0"/>
              <a:t>Journal write </a:t>
            </a:r>
            <a:r>
              <a:rPr lang="zh-CN" altLang="en-US" dirty="0"/>
              <a:t>： 把事务写入日志。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Journal commit</a:t>
            </a:r>
            <a:r>
              <a:rPr lang="zh-CN" altLang="en-US" dirty="0"/>
              <a:t>：日志同步写到磁盘后，提交事务。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Checkpoint</a:t>
            </a:r>
            <a:r>
              <a:rPr lang="zh-CN" altLang="en-US" dirty="0"/>
              <a:t>： 进行真正的写操作，把元数据和数据写入文件系统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Free</a:t>
            </a:r>
            <a:r>
              <a:rPr lang="zh-CN" altLang="en-US" dirty="0"/>
              <a:t>： 回收日志占用的硬盘空间</a:t>
            </a:r>
            <a:endParaRPr lang="en-US" altLang="zh-CN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B23BE23-2434-45E0-AA3D-9C15E572BB55}"/>
              </a:ext>
            </a:extLst>
          </p:cNvPr>
          <p:cNvSpPr txBox="1"/>
          <p:nvPr/>
        </p:nvSpPr>
        <p:spPr>
          <a:xfrm>
            <a:off x="845820" y="4688086"/>
            <a:ext cx="6195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记录日志的方式：</a:t>
            </a:r>
          </a:p>
        </p:txBody>
      </p:sp>
      <p:sp>
        <p:nvSpPr>
          <p:cNvPr id="3" name="左大括号 2">
            <a:extLst>
              <a:ext uri="{FF2B5EF4-FFF2-40B4-BE49-F238E27FC236}">
                <a16:creationId xmlns:a16="http://schemas.microsoft.com/office/drawing/2014/main" id="{FE071962-3620-4CF4-BA79-7AB7E7292976}"/>
              </a:ext>
            </a:extLst>
          </p:cNvPr>
          <p:cNvSpPr/>
          <p:nvPr/>
        </p:nvSpPr>
        <p:spPr>
          <a:xfrm>
            <a:off x="3051810" y="4354830"/>
            <a:ext cx="45719" cy="126873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E97EA7-247D-4DF1-A874-959F36D25968}"/>
              </a:ext>
            </a:extLst>
          </p:cNvPr>
          <p:cNvSpPr txBox="1"/>
          <p:nvPr/>
        </p:nvSpPr>
        <p:spPr>
          <a:xfrm>
            <a:off x="3097529" y="4250531"/>
            <a:ext cx="40919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Data Journaling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Metadata Journaling</a:t>
            </a:r>
          </a:p>
        </p:txBody>
      </p:sp>
    </p:spTree>
    <p:extLst>
      <p:ext uri="{BB962C8B-B14F-4D97-AF65-F5344CB8AC3E}">
        <p14:creationId xmlns:p14="http://schemas.microsoft.com/office/powerpoint/2010/main" val="381126666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文件系统的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sync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放大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07DBC8E-B19A-428C-BED9-448A3E407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65" y="1362885"/>
            <a:ext cx="7516368" cy="351766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95B0AC6-9BDE-4751-B242-C3238347AE56}"/>
              </a:ext>
            </a:extLst>
          </p:cNvPr>
          <p:cNvSpPr txBox="1"/>
          <p:nvPr/>
        </p:nvSpPr>
        <p:spPr>
          <a:xfrm>
            <a:off x="685752" y="5139255"/>
            <a:ext cx="80573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为保证崩溃一致性，文件系统提供了强弱不同的日志。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上图所示的是元数据日志的</a:t>
            </a:r>
            <a:r>
              <a:rPr lang="en-US" altLang="zh-CN" dirty="0"/>
              <a:t>sync</a:t>
            </a:r>
            <a:r>
              <a:rPr lang="zh-CN" altLang="en-US" dirty="0"/>
              <a:t>放大，由于日志本身和</a:t>
            </a:r>
            <a:r>
              <a:rPr lang="en-US" altLang="zh-CN" dirty="0"/>
              <a:t>commit</a:t>
            </a:r>
            <a:r>
              <a:rPr lang="zh-CN" altLang="en-US" dirty="0"/>
              <a:t>请求的</a:t>
            </a:r>
            <a:r>
              <a:rPr lang="en-US" altLang="zh-CN" dirty="0"/>
              <a:t>flush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en-US" altLang="zh-CN" dirty="0"/>
              <a:t>Sync</a:t>
            </a:r>
            <a:r>
              <a:rPr lang="zh-CN" altLang="en-US" dirty="0"/>
              <a:t>放大了两倍。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D8776F-642E-46D4-A230-9502EDB1639A}"/>
              </a:ext>
            </a:extLst>
          </p:cNvPr>
          <p:cNvSpPr/>
          <p:nvPr/>
        </p:nvSpPr>
        <p:spPr>
          <a:xfrm>
            <a:off x="877824" y="4761103"/>
            <a:ext cx="67025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JM: metadata logged in the journal         JC: journal commit block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7963810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镜像文件的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sync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放大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7471D3A-58CB-471B-9094-E8A7F6638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836" y="1424814"/>
            <a:ext cx="8608328" cy="352977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4B5E039-773F-4369-9E17-F2EE1FC53A28}"/>
              </a:ext>
            </a:extLst>
          </p:cNvPr>
          <p:cNvSpPr txBox="1"/>
          <p:nvPr/>
        </p:nvSpPr>
        <p:spPr>
          <a:xfrm>
            <a:off x="267836" y="4585257"/>
            <a:ext cx="62362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为了具备镜像管理功能，</a:t>
            </a:r>
            <a:r>
              <a:rPr lang="en-US" altLang="zh-CN" dirty="0"/>
              <a:t>qcow2</a:t>
            </a:r>
            <a:r>
              <a:rPr lang="zh-CN" altLang="en-US" dirty="0"/>
              <a:t>镜像拥有复杂的元数据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Qcow2</a:t>
            </a:r>
            <a:r>
              <a:rPr lang="zh-CN" altLang="en-US" dirty="0"/>
              <a:t>镜像依靠</a:t>
            </a:r>
            <a:r>
              <a:rPr lang="en-US" altLang="zh-CN" dirty="0"/>
              <a:t>sync</a:t>
            </a:r>
            <a:r>
              <a:rPr lang="zh-CN" altLang="en-US" dirty="0"/>
              <a:t>顺序保证元数据和数据的崩溃一致性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顺序一致性导致</a:t>
            </a:r>
            <a:r>
              <a:rPr lang="en-US" altLang="zh-CN" dirty="0"/>
              <a:t>guest</a:t>
            </a:r>
            <a:r>
              <a:rPr lang="zh-CN" altLang="en-US" dirty="0"/>
              <a:t>的一次</a:t>
            </a:r>
            <a:r>
              <a:rPr lang="en-US" altLang="zh-CN" dirty="0"/>
              <a:t>sync</a:t>
            </a:r>
            <a:r>
              <a:rPr lang="zh-CN" altLang="en-US" dirty="0"/>
              <a:t>请求在底层被放大了</a:t>
            </a:r>
            <a:r>
              <a:rPr lang="en-US" altLang="zh-CN" dirty="0"/>
              <a:t>4</a:t>
            </a:r>
            <a:r>
              <a:rPr lang="zh-CN" altLang="en-US" dirty="0"/>
              <a:t>倍</a:t>
            </a:r>
          </a:p>
        </p:txBody>
      </p:sp>
    </p:spTree>
    <p:extLst>
      <p:ext uri="{BB962C8B-B14F-4D97-AF65-F5344CB8AC3E}">
        <p14:creationId xmlns:p14="http://schemas.microsoft.com/office/powerpoint/2010/main" val="15543326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镜像文件的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sync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放大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5B5D33C-053A-4771-8E88-B94A655A81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3" b="16714"/>
          <a:stretch/>
        </p:blipFill>
        <p:spPr>
          <a:xfrm>
            <a:off x="262890" y="1602173"/>
            <a:ext cx="8618220" cy="308869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23BA8A1-988B-4F85-A889-6673D4EB9A3C}"/>
              </a:ext>
            </a:extLst>
          </p:cNvPr>
          <p:cNvSpPr txBox="1"/>
          <p:nvPr/>
        </p:nvSpPr>
        <p:spPr>
          <a:xfrm>
            <a:off x="3298930" y="5139255"/>
            <a:ext cx="4745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8X </a:t>
            </a:r>
            <a:r>
              <a:rPr lang="zh-CN" altLang="en-US" sz="2400" dirty="0"/>
              <a:t>的</a:t>
            </a:r>
            <a:r>
              <a:rPr lang="en-US" altLang="zh-CN" sz="2400" dirty="0"/>
              <a:t>sync </a:t>
            </a:r>
            <a:r>
              <a:rPr lang="zh-CN" altLang="en-US" sz="2400" dirty="0"/>
              <a:t>放大</a:t>
            </a:r>
          </a:p>
        </p:txBody>
      </p:sp>
    </p:spTree>
    <p:extLst>
      <p:ext uri="{BB962C8B-B14F-4D97-AF65-F5344CB8AC3E}">
        <p14:creationId xmlns:p14="http://schemas.microsoft.com/office/powerpoint/2010/main" val="382010679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减小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sync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放大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B5E039-773F-4369-9E17-F2EE1FC53A28}"/>
              </a:ext>
            </a:extLst>
          </p:cNvPr>
          <p:cNvSpPr txBox="1"/>
          <p:nvPr/>
        </p:nvSpPr>
        <p:spPr>
          <a:xfrm>
            <a:off x="312226" y="1563624"/>
            <a:ext cx="8519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利用</a:t>
            </a:r>
            <a:r>
              <a:rPr lang="en-US" altLang="zh-CN" dirty="0"/>
              <a:t>Journal</a:t>
            </a:r>
            <a:r>
              <a:rPr lang="zh-CN" altLang="en-US" dirty="0"/>
              <a:t>减少</a:t>
            </a:r>
            <a:r>
              <a:rPr lang="en-US" altLang="zh-CN" dirty="0"/>
              <a:t>sync</a:t>
            </a:r>
            <a:r>
              <a:rPr lang="zh-CN" altLang="en-US" dirty="0"/>
              <a:t>调用的次数，每一个镜像文件拥有自己独立的</a:t>
            </a:r>
            <a:r>
              <a:rPr lang="en-US" altLang="zh-CN" dirty="0"/>
              <a:t>journal</a:t>
            </a:r>
            <a:r>
              <a:rPr lang="zh-CN" altLang="en-US" dirty="0"/>
              <a:t>存储区域</a:t>
            </a:r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75CADA4-F367-4CF5-A1F6-0C25C65D9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151" y="2012936"/>
            <a:ext cx="5965698" cy="428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16726"/>
      </p:ext>
    </p:extLst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无数据日志模式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8D1EA0E-59F8-4BC5-8E88-98526CDA2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7" y="1434349"/>
            <a:ext cx="4972485" cy="345911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14D418E-71D2-4C13-BC4C-63DB69B70063}"/>
              </a:ext>
            </a:extLst>
          </p:cNvPr>
          <p:cNvSpPr txBox="1"/>
          <p:nvPr/>
        </p:nvSpPr>
        <p:spPr>
          <a:xfrm>
            <a:off x="905256" y="1434349"/>
            <a:ext cx="265905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数据写入顺序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原始系统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无数据日志模式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DCFD32-B621-4977-AE9F-D470B1E4BCE2}"/>
              </a:ext>
            </a:extLst>
          </p:cNvPr>
          <p:cNvSpPr txBox="1"/>
          <p:nvPr/>
        </p:nvSpPr>
        <p:spPr>
          <a:xfrm>
            <a:off x="1042416" y="5004894"/>
            <a:ext cx="70591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记录元数据和数据</a:t>
            </a:r>
            <a:r>
              <a:rPr lang="en-US" altLang="zh-CN" dirty="0"/>
              <a:t>checksum</a:t>
            </a:r>
            <a:r>
              <a:rPr lang="zh-CN" altLang="en-US" dirty="0"/>
              <a:t>的日志，</a:t>
            </a:r>
            <a:r>
              <a:rPr lang="en-US" altLang="zh-CN" dirty="0"/>
              <a:t>checksum</a:t>
            </a:r>
            <a:r>
              <a:rPr lang="zh-CN" altLang="en-US" dirty="0"/>
              <a:t>为了恢复时检查数据的正确性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将三次</a:t>
            </a:r>
            <a:r>
              <a:rPr lang="en-US" altLang="zh-CN" dirty="0"/>
              <a:t>sync</a:t>
            </a:r>
            <a:r>
              <a:rPr lang="zh-CN" altLang="en-US" dirty="0"/>
              <a:t>减少为一次</a:t>
            </a:r>
            <a:r>
              <a:rPr lang="en-US" altLang="zh-CN" dirty="0"/>
              <a:t>sync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1232672"/>
      </p:ext>
    </p:extLst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无数据日志模式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4D418E-71D2-4C13-BC4C-63DB69B70063}"/>
              </a:ext>
            </a:extLst>
          </p:cNvPr>
          <p:cNvSpPr txBox="1"/>
          <p:nvPr/>
        </p:nvSpPr>
        <p:spPr>
          <a:xfrm>
            <a:off x="905256" y="1434350"/>
            <a:ext cx="7324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无数据日志模式不能保证数据一定是完整的，可能出现数据丢失的现象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DCFD32-B621-4977-AE9F-D470B1E4BCE2}"/>
              </a:ext>
            </a:extLst>
          </p:cNvPr>
          <p:cNvSpPr txBox="1"/>
          <p:nvPr/>
        </p:nvSpPr>
        <p:spPr>
          <a:xfrm>
            <a:off x="1042416" y="5004894"/>
            <a:ext cx="7059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）提交事务</a:t>
            </a:r>
            <a:r>
              <a:rPr lang="en-US" altLang="zh-CN" dirty="0"/>
              <a:t>1</a:t>
            </a:r>
            <a:r>
              <a:rPr lang="zh-CN" altLang="en-US" dirty="0"/>
              <a:t>，写入</a:t>
            </a:r>
            <a:r>
              <a:rPr lang="en-US" altLang="zh-CN" dirty="0"/>
              <a:t>data A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470199D-2BD8-46A8-8AF9-38AB1A23C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1860075"/>
            <a:ext cx="7059168" cy="30945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DC3F07E-3DA9-4E74-9C15-DC11236229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807"/>
          <a:stretch/>
        </p:blipFill>
        <p:spPr>
          <a:xfrm>
            <a:off x="1042416" y="1803682"/>
            <a:ext cx="7301743" cy="309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19933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无数据日志模式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4D418E-71D2-4C13-BC4C-63DB69B70063}"/>
              </a:ext>
            </a:extLst>
          </p:cNvPr>
          <p:cNvSpPr txBox="1"/>
          <p:nvPr/>
        </p:nvSpPr>
        <p:spPr>
          <a:xfrm>
            <a:off x="905256" y="1434350"/>
            <a:ext cx="7324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无数据日志模式不能保证数据一定是完整的，可能出现数据丢失的现象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DCFD32-B621-4977-AE9F-D470B1E4BCE2}"/>
              </a:ext>
            </a:extLst>
          </p:cNvPr>
          <p:cNvSpPr txBox="1"/>
          <p:nvPr/>
        </p:nvSpPr>
        <p:spPr>
          <a:xfrm>
            <a:off x="1042416" y="5004894"/>
            <a:ext cx="70591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）提交事务</a:t>
            </a:r>
            <a:r>
              <a:rPr lang="en-US" altLang="zh-CN" dirty="0"/>
              <a:t>1</a:t>
            </a:r>
            <a:r>
              <a:rPr lang="zh-CN" altLang="en-US" dirty="0"/>
              <a:t>，写入</a:t>
            </a:r>
            <a:r>
              <a:rPr lang="en-US" altLang="zh-CN" dirty="0"/>
              <a:t>data A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）事务</a:t>
            </a:r>
            <a:r>
              <a:rPr lang="en-US" altLang="zh-CN" dirty="0"/>
              <a:t>2</a:t>
            </a:r>
            <a:r>
              <a:rPr lang="zh-CN" altLang="en-US" dirty="0"/>
              <a:t>写入</a:t>
            </a:r>
            <a:r>
              <a:rPr lang="en-US" altLang="zh-CN" dirty="0"/>
              <a:t>data B</a:t>
            </a:r>
            <a:r>
              <a:rPr lang="zh-CN" altLang="en-US" dirty="0"/>
              <a:t>，此时系统</a:t>
            </a:r>
            <a:r>
              <a:rPr lang="en-US" altLang="zh-CN" dirty="0"/>
              <a:t>crash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96AD6F4-BA53-4E93-94B4-1B5EA7B499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0" t="17837" b="4671"/>
          <a:stretch/>
        </p:blipFill>
        <p:spPr>
          <a:xfrm>
            <a:off x="914400" y="1772178"/>
            <a:ext cx="6922008" cy="3417382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E6299FF9-8DBA-45DE-B905-8B99E2037698}"/>
              </a:ext>
            </a:extLst>
          </p:cNvPr>
          <p:cNvSpPr/>
          <p:nvPr/>
        </p:nvSpPr>
        <p:spPr>
          <a:xfrm>
            <a:off x="2231136" y="2173669"/>
            <a:ext cx="4288536" cy="7553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Data checksum </a:t>
            </a:r>
            <a:r>
              <a:rPr lang="zh-CN" altLang="en-US" sz="2000" dirty="0"/>
              <a:t>≠ </a:t>
            </a:r>
            <a:r>
              <a:rPr lang="en-US" altLang="zh-CN" sz="2000" dirty="0"/>
              <a:t>checksum(data B)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7452171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全量数据日志模式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4D418E-71D2-4C13-BC4C-63DB69B70063}"/>
              </a:ext>
            </a:extLst>
          </p:cNvPr>
          <p:cNvSpPr txBox="1"/>
          <p:nvPr/>
        </p:nvSpPr>
        <p:spPr>
          <a:xfrm>
            <a:off x="155448" y="1452637"/>
            <a:ext cx="26590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zh-CN" altLang="en-US" dirty="0"/>
              <a:t>无数据日志模式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全量数据日志模式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DCFD32-B621-4977-AE9F-D470B1E4BCE2}"/>
              </a:ext>
            </a:extLst>
          </p:cNvPr>
          <p:cNvSpPr txBox="1"/>
          <p:nvPr/>
        </p:nvSpPr>
        <p:spPr>
          <a:xfrm>
            <a:off x="1042416" y="5264610"/>
            <a:ext cx="7059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日志中包含要写入的数据，引入了写放大解决无数据日志模式下覆盖写数据不能恢复的情况</a:t>
            </a:r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7CE49D7-47EF-4346-A87A-18AFA9334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256" y="1270224"/>
            <a:ext cx="6620256" cy="35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165870"/>
      </p:ext>
    </p:extLst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预分配镜像文件元数据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4D418E-71D2-4C13-BC4C-63DB69B70063}"/>
              </a:ext>
            </a:extLst>
          </p:cNvPr>
          <p:cNvSpPr txBox="1"/>
          <p:nvPr/>
        </p:nvSpPr>
        <p:spPr>
          <a:xfrm>
            <a:off x="905256" y="1434350"/>
            <a:ext cx="7324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当文件需要增长时，元数据的提交会在文件系统造成</a:t>
            </a:r>
            <a:r>
              <a:rPr lang="en-US" altLang="zh-CN" dirty="0"/>
              <a:t>sync</a:t>
            </a:r>
            <a:r>
              <a:rPr lang="zh-CN" altLang="en-US" dirty="0"/>
              <a:t>放大。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host</a:t>
            </a:r>
            <a:r>
              <a:rPr lang="zh-CN" altLang="en-US" dirty="0"/>
              <a:t>上发起</a:t>
            </a:r>
            <a:r>
              <a:rPr lang="en-US" altLang="zh-CN" dirty="0"/>
              <a:t>sync</a:t>
            </a:r>
            <a:r>
              <a:rPr lang="zh-CN" altLang="en-US" dirty="0"/>
              <a:t>时，如果镜像文件是追加写，也会产生部分写放大。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5B66A79-0AA1-480B-9C9B-4BAD94B92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5766"/>
            <a:ext cx="9144000" cy="266882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285893F-EA09-4246-A9A5-8F7E54EC5088}"/>
              </a:ext>
            </a:extLst>
          </p:cNvPr>
          <p:cNvSpPr txBox="1"/>
          <p:nvPr/>
        </p:nvSpPr>
        <p:spPr>
          <a:xfrm>
            <a:off x="905256" y="5100484"/>
            <a:ext cx="7324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在每次追加写时，预先为镜像文件分配一些冗余空间。在下次追加写时就不需要改变文件元数据，从而减小</a:t>
            </a:r>
            <a:r>
              <a:rPr lang="en-US" altLang="zh-CN" dirty="0"/>
              <a:t>sync</a:t>
            </a:r>
            <a:r>
              <a:rPr lang="zh-CN" altLang="en-US" dirty="0"/>
              <a:t>放大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79643318"/>
      </p:ext>
    </p:extLst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实验结果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B5E039-773F-4369-9E17-F2EE1FC53A28}"/>
              </a:ext>
            </a:extLst>
          </p:cNvPr>
          <p:cNvSpPr txBox="1"/>
          <p:nvPr/>
        </p:nvSpPr>
        <p:spPr>
          <a:xfrm>
            <a:off x="312226" y="1563624"/>
            <a:ext cx="8519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Benchmark</a:t>
            </a:r>
            <a:r>
              <a:rPr lang="zh-CN" altLang="en-US" dirty="0"/>
              <a:t>：</a:t>
            </a:r>
            <a:r>
              <a:rPr lang="en-US" altLang="zh-CN" dirty="0" err="1"/>
              <a:t>Varmail</a:t>
            </a:r>
            <a:r>
              <a:rPr lang="zh-CN" altLang="en-US" dirty="0"/>
              <a:t>、</a:t>
            </a:r>
            <a:r>
              <a:rPr lang="en-US" altLang="zh-CN" dirty="0" err="1"/>
              <a:t>Tpcc</a:t>
            </a:r>
            <a:endParaRPr lang="en-US" altLang="zh-CN" dirty="0"/>
          </a:p>
          <a:p>
            <a:r>
              <a:rPr lang="zh-CN" altLang="en-US" dirty="0"/>
              <a:t>镜像文件实际存储介质：</a:t>
            </a:r>
            <a:r>
              <a:rPr lang="en-US" altLang="zh-CN" dirty="0"/>
              <a:t>HDD</a:t>
            </a:r>
          </a:p>
          <a:p>
            <a:r>
              <a:rPr lang="zh-CN" altLang="en-US" dirty="0"/>
              <a:t>评价指标：吞吐（</a:t>
            </a:r>
            <a:r>
              <a:rPr lang="en-US" altLang="zh-CN" dirty="0"/>
              <a:t>throughput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54FCF6-7C1A-43C2-9CF2-18BB61C70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21" y="2937583"/>
            <a:ext cx="7878879" cy="274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377311"/>
      </p:ext>
    </p:extLst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实验结果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B5E039-773F-4369-9E17-F2EE1FC53A28}"/>
              </a:ext>
            </a:extLst>
          </p:cNvPr>
          <p:cNvSpPr txBox="1"/>
          <p:nvPr/>
        </p:nvSpPr>
        <p:spPr>
          <a:xfrm>
            <a:off x="312226" y="1563624"/>
            <a:ext cx="8519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Benchmark</a:t>
            </a:r>
            <a:r>
              <a:rPr lang="zh-CN" altLang="en-US" dirty="0"/>
              <a:t>：</a:t>
            </a:r>
            <a:r>
              <a:rPr lang="en-US" altLang="zh-CN" dirty="0" err="1"/>
              <a:t>Varmail</a:t>
            </a:r>
            <a:r>
              <a:rPr lang="zh-CN" altLang="en-US" dirty="0"/>
              <a:t>、</a:t>
            </a:r>
            <a:r>
              <a:rPr lang="en-US" altLang="zh-CN" dirty="0" err="1"/>
              <a:t>Tpcc</a:t>
            </a:r>
            <a:endParaRPr lang="en-US" altLang="zh-CN" dirty="0"/>
          </a:p>
          <a:p>
            <a:r>
              <a:rPr lang="zh-CN" altLang="en-US" dirty="0"/>
              <a:t>镜像文件实际存储介质：</a:t>
            </a:r>
            <a:r>
              <a:rPr lang="en-US" altLang="zh-CN" dirty="0"/>
              <a:t>SSD</a:t>
            </a:r>
          </a:p>
          <a:p>
            <a:r>
              <a:rPr lang="zh-CN" altLang="en-US" dirty="0"/>
              <a:t>评价指标：吞吐（</a:t>
            </a:r>
            <a:r>
              <a:rPr lang="en-US" altLang="zh-CN" dirty="0"/>
              <a:t>throughput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BBCC402-5E8B-414D-84DE-C30370386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761" y="2937583"/>
            <a:ext cx="7414478" cy="253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73191"/>
      </p:ext>
    </p:extLst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6297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虚拟化迁移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3F79AB-08AB-446D-A8D5-49FD6EA9FB73}"/>
              </a:ext>
            </a:extLst>
          </p:cNvPr>
          <p:cNvSpPr txBox="1"/>
          <p:nvPr/>
        </p:nvSpPr>
        <p:spPr>
          <a:xfrm>
            <a:off x="316523" y="1371600"/>
            <a:ext cx="82647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迁移： 包括系统整体迁移和某个工作负载的迁移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虚拟化迁移：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398AEF-908E-4523-8A63-406DDAFE77D0}"/>
              </a:ext>
            </a:extLst>
          </p:cNvPr>
          <p:cNvSpPr txBox="1"/>
          <p:nvPr/>
        </p:nvSpPr>
        <p:spPr>
          <a:xfrm>
            <a:off x="2891790" y="6202122"/>
            <a:ext cx="3360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基于共享存储的</a:t>
            </a:r>
            <a:r>
              <a:rPr lang="en-US" altLang="zh-CN" sz="1200" dirty="0"/>
              <a:t>KVM</a:t>
            </a:r>
            <a:r>
              <a:rPr lang="zh-CN" altLang="en-US" sz="1200" dirty="0"/>
              <a:t>动态迁移</a:t>
            </a:r>
            <a:endParaRPr lang="zh-CN" altLang="en-US" dirty="0"/>
          </a:p>
        </p:txBody>
      </p:sp>
      <p:sp>
        <p:nvSpPr>
          <p:cNvPr id="12" name="左大括号 11">
            <a:extLst>
              <a:ext uri="{FF2B5EF4-FFF2-40B4-BE49-F238E27FC236}">
                <a16:creationId xmlns:a16="http://schemas.microsoft.com/office/drawing/2014/main" id="{B55FA989-57F8-4ED9-B6C3-9EA137B1AD43}"/>
              </a:ext>
            </a:extLst>
          </p:cNvPr>
          <p:cNvSpPr/>
          <p:nvPr/>
        </p:nvSpPr>
        <p:spPr>
          <a:xfrm>
            <a:off x="2240220" y="2071582"/>
            <a:ext cx="116118" cy="63445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D501F7C-1E6E-41A3-BFDE-144AC0F85BEE}"/>
              </a:ext>
            </a:extLst>
          </p:cNvPr>
          <p:cNvSpPr txBox="1"/>
          <p:nvPr/>
        </p:nvSpPr>
        <p:spPr>
          <a:xfrm>
            <a:off x="2444788" y="1973222"/>
            <a:ext cx="5081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静态迁移：迁移时客户机服务不可用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动态迁移：无明显服务暂停时间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21B634-7534-4E90-84FA-37799B9FF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403" y="3057837"/>
            <a:ext cx="6597007" cy="303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537374"/>
      </p:ext>
    </p:extLst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6297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性能测试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——CPU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虚拟化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398AEF-908E-4523-8A63-406DDAFE77D0}"/>
              </a:ext>
            </a:extLst>
          </p:cNvPr>
          <p:cNvSpPr txBox="1"/>
          <p:nvPr/>
        </p:nvSpPr>
        <p:spPr>
          <a:xfrm>
            <a:off x="442602" y="3579787"/>
            <a:ext cx="3360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SPEC CPU2006</a:t>
            </a:r>
            <a:r>
              <a:rPr lang="zh-CN" altLang="en-US" sz="1200" dirty="0"/>
              <a:t>整形和浮点型测试的得分比较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A41AB29-AF42-4717-A8AC-E14890CCD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3654"/>
            <a:ext cx="4783015" cy="238613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AA4B8ED-8381-4442-A4DE-792CADCCE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0985" y="3579787"/>
            <a:ext cx="4434825" cy="283488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A18AB2C-D443-403E-B321-16BCC7709521}"/>
              </a:ext>
            </a:extLst>
          </p:cNvPr>
          <p:cNvSpPr txBox="1"/>
          <p:nvPr/>
        </p:nvSpPr>
        <p:spPr>
          <a:xfrm>
            <a:off x="4898187" y="6346513"/>
            <a:ext cx="3360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内核编译所需时间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6992474"/>
      </p:ext>
    </p:extLst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6297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性能测试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——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内存虚拟化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398AEF-908E-4523-8A63-406DDAFE77D0}"/>
              </a:ext>
            </a:extLst>
          </p:cNvPr>
          <p:cNvSpPr txBox="1"/>
          <p:nvPr/>
        </p:nvSpPr>
        <p:spPr>
          <a:xfrm>
            <a:off x="442602" y="3756052"/>
            <a:ext cx="3360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STREAM</a:t>
            </a:r>
            <a:r>
              <a:rPr lang="zh-CN" altLang="en-US" sz="1200" dirty="0"/>
              <a:t>访存带宽对比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A18AB2C-D443-403E-B321-16BCC7709521}"/>
              </a:ext>
            </a:extLst>
          </p:cNvPr>
          <p:cNvSpPr txBox="1"/>
          <p:nvPr/>
        </p:nvSpPr>
        <p:spPr>
          <a:xfrm>
            <a:off x="4898187" y="6346513"/>
            <a:ext cx="3360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STREAM</a:t>
            </a:r>
            <a:r>
              <a:rPr lang="zh-CN" altLang="en-US" sz="1200" dirty="0"/>
              <a:t>访存平均响应时间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19722E2-C721-43BB-BB3C-9D26A0FF8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5593"/>
            <a:ext cx="4419600" cy="259045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C658E73-9AB2-421C-89C0-F39C1B810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5358" y="3472209"/>
            <a:ext cx="4841219" cy="287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45315"/>
      </p:ext>
    </p:extLst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53F571-3FE3-414E-8DE9-03044D097F3C}"/>
              </a:ext>
            </a:extLst>
          </p:cNvPr>
          <p:cNvSpPr txBox="1"/>
          <p:nvPr/>
        </p:nvSpPr>
        <p:spPr>
          <a:xfrm>
            <a:off x="654259" y="589775"/>
            <a:ext cx="6297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性能测试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——IO</a:t>
            </a: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虚拟化</a:t>
            </a:r>
            <a:endParaRPr kumimoji="1" lang="en-US" altLang="zh-CN" sz="2800" dirty="0">
              <a:solidFill>
                <a:prstClr val="black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A18AB2C-D443-403E-B321-16BCC7709521}"/>
              </a:ext>
            </a:extLst>
          </p:cNvPr>
          <p:cNvSpPr txBox="1"/>
          <p:nvPr/>
        </p:nvSpPr>
        <p:spPr>
          <a:xfrm>
            <a:off x="2891790" y="5713467"/>
            <a:ext cx="3360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FIO</a:t>
            </a:r>
            <a:r>
              <a:rPr lang="zh-CN" altLang="en-US" sz="1200" dirty="0"/>
              <a:t>测试磁盘（</a:t>
            </a:r>
            <a:r>
              <a:rPr lang="en-US" altLang="zh-CN" sz="1200" dirty="0"/>
              <a:t>SATA</a:t>
            </a:r>
            <a:r>
              <a:rPr lang="zh-CN" altLang="en-US" sz="1200" dirty="0"/>
              <a:t>磁盘）读写速率对比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343B17-498C-4DDF-B8C3-C2A3453C6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9" y="1682366"/>
            <a:ext cx="7856491" cy="391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097540"/>
      </p:ext>
    </p:extLst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1"/>
          <p:cNvSpPr txBox="1">
            <a:spLocks noChangeArrowheads="1"/>
          </p:cNvSpPr>
          <p:nvPr/>
        </p:nvSpPr>
        <p:spPr bwMode="auto">
          <a:xfrm>
            <a:off x="-7464425" y="495458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chemeClr val="tx1"/>
                </a:solidFill>
                <a:latin typeface="Calibri" charset="0"/>
                <a:ea typeface="宋体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 sz="2000">
                <a:solidFill>
                  <a:schemeClr val="tx1"/>
                </a:solidFill>
                <a:latin typeface="Calibri" charset="0"/>
                <a:ea typeface="宋体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>
                <a:solidFill>
                  <a:schemeClr val="tx1"/>
                </a:solidFill>
                <a:latin typeface="Calibri" charset="0"/>
                <a:ea typeface="宋体" charset="0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zh-CN" altLang="en-US" sz="1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7024" y="2502877"/>
            <a:ext cx="528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参考</a:t>
            </a:r>
            <a:r>
              <a:rPr kumimoji="1" lang="en-US" altLang="zh-CN" sz="2800" dirty="0">
                <a:solidFill>
                  <a:prstClr val="black"/>
                </a:solidFill>
                <a:latin typeface="Microsoft YaHei" charset="-122"/>
                <a:ea typeface="Microsoft YaHei" charset="-122"/>
                <a:cs typeface="Microsoft YaHei" charset="-122"/>
              </a:rPr>
              <a:t>: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CF93DA-86F4-EF48-90EF-ECDB72D88FE3}"/>
              </a:ext>
            </a:extLst>
          </p:cNvPr>
          <p:cNvSpPr/>
          <p:nvPr/>
        </p:nvSpPr>
        <p:spPr>
          <a:xfrm>
            <a:off x="477443" y="3208960"/>
            <a:ext cx="8552257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[1] 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《KVM</a:t>
            </a:r>
            <a:r>
              <a:rPr lang="zh-CN" altLang="en-US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实战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》</a:t>
            </a:r>
            <a:r>
              <a:rPr lang="zh-CN" altLang="en-US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，任永杰，程舟，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2019.</a:t>
            </a:r>
            <a:endParaRPr lang="en-US" altLang="zh-CN" sz="1200" dirty="0">
              <a:solidFill>
                <a:prstClr val="black"/>
              </a:solidFill>
              <a:latin typeface="Candara" panose="020E0502030303020204" pitchFamily="34" charset="0"/>
              <a:ea typeface="Microsoft YaHei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[2]</a:t>
            </a:r>
            <a:r>
              <a:rPr lang="zh-CN" altLang="en-US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 </a:t>
            </a:r>
            <a:r>
              <a:rPr lang="en-US" altLang="zh-CN" sz="1200" dirty="0">
                <a:hlinkClick r:id="rId3"/>
              </a:rPr>
              <a:t>https://github.com/zhangjaycee/real_tech/wiki/virtualcatalog</a:t>
            </a:r>
            <a:endParaRPr lang="en-US" altLang="zh-CN" sz="12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[3] </a:t>
            </a: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《</a:t>
            </a:r>
            <a:r>
              <a:rPr lang="zh-CN" altLang="en-US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系统虚拟化</a:t>
            </a: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——</a:t>
            </a:r>
            <a:r>
              <a:rPr lang="zh-CN" altLang="en-US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原理与实现</a:t>
            </a: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》,</a:t>
            </a:r>
            <a:r>
              <a:rPr lang="zh-CN" altLang="en-US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 复旦大学并行处理研究所，英特尔开源软件技术中心，</a:t>
            </a: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2008.</a:t>
            </a: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[4] </a:t>
            </a:r>
            <a:r>
              <a:rPr lang="en-US" altLang="zh-CN" sz="1200" dirty="0">
                <a:hlinkClick r:id="rId4"/>
              </a:rPr>
              <a:t>https://developer.ibm.com/articles/l-virtio/</a:t>
            </a:r>
            <a:endParaRPr lang="en-US" altLang="zh-CN" sz="1200" dirty="0">
              <a:solidFill>
                <a:srgbClr val="000000"/>
              </a:solidFill>
              <a:latin typeface="Candara" panose="020E0502030303020204" pitchFamily="34" charset="0"/>
              <a:ea typeface="Microsoft YaHei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[5] </a:t>
            </a:r>
            <a:r>
              <a:rPr lang="en-US" altLang="zh-CN" sz="1200" dirty="0">
                <a:hlinkClick r:id="rId5"/>
              </a:rPr>
              <a:t>https://zhuanlan.zhihu.com/p/38533234?utm_source=wechat_session&amp;utm_medium=social&amp;utm_oi=770240115548110848</a:t>
            </a:r>
            <a:endParaRPr lang="fr-FR" altLang="zh-CN" sz="1200" dirty="0">
              <a:solidFill>
                <a:prstClr val="black"/>
              </a:solidFill>
              <a:latin typeface="Candara" panose="020E0502030303020204" pitchFamily="34" charset="0"/>
              <a:ea typeface="Microsoft YaHei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[6] Chen, Qingshu, et al. "Mitigating sync amplification for copy-on-write virtual disk." 14th {USENIX} Conference on File and Storage Technologies ({FAST} 16). 2016.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[7] Yang, </a:t>
            </a:r>
            <a:r>
              <a:rPr lang="en-US" altLang="zh-CN" sz="1200" dirty="0" err="1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Ziye</a:t>
            </a: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, et al. "SPDK </a:t>
            </a:r>
            <a:r>
              <a:rPr lang="en-US" altLang="zh-CN" sz="1200" dirty="0" err="1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vhost-NVMe</a:t>
            </a: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: Accelerating I/</a:t>
            </a:r>
            <a:r>
              <a:rPr lang="en-US" altLang="zh-CN" sz="1200" dirty="0" err="1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Os</a:t>
            </a: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 in virtual machines on </a:t>
            </a:r>
            <a:r>
              <a:rPr lang="en-US" altLang="zh-CN" sz="1200" dirty="0" err="1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NVMe</a:t>
            </a: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 SSDs via user space </a:t>
            </a:r>
            <a:r>
              <a:rPr lang="en-US" altLang="zh-CN" sz="1200" dirty="0" err="1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vhost</a:t>
            </a: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Microsoft YaHei" panose="020B0503020204020204" pitchFamily="34" charset="-122"/>
              </a:rPr>
              <a:t> target." 2018 IEEE 8th International Symposium on Cloud and Service Computing (SC2). IEEE, 2018.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宋体" charset="0"/>
              </a:rPr>
              <a:t>[8]</a:t>
            </a:r>
            <a:r>
              <a:rPr lang="zh-CN" altLang="en-US" sz="1200" dirty="0">
                <a:solidFill>
                  <a:prstClr val="black"/>
                </a:solidFill>
                <a:latin typeface="Candara" panose="020E0502030303020204" pitchFamily="34" charset="0"/>
                <a:ea typeface="宋体" charset="0"/>
              </a:rPr>
              <a:t> </a:t>
            </a:r>
            <a:r>
              <a:rPr lang="en-US" altLang="zh-CN" sz="1200" dirty="0">
                <a:hlinkClick r:id="rId6"/>
              </a:rPr>
              <a:t>http://lihanlu.cn/virtio-introduction/</a:t>
            </a:r>
            <a:endParaRPr lang="fr-FR" altLang="zh-CN" sz="1200" dirty="0">
              <a:solidFill>
                <a:prstClr val="black"/>
              </a:solidFill>
              <a:latin typeface="Candara" panose="020E0502030303020204" pitchFamily="34" charset="0"/>
              <a:ea typeface="宋体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prstClr val="black"/>
                </a:solidFill>
                <a:latin typeface="Candara" panose="020E0502030303020204" pitchFamily="34" charset="0"/>
                <a:ea typeface="宋体" charset="0"/>
              </a:rPr>
              <a:t>[9]</a:t>
            </a:r>
            <a:r>
              <a:rPr lang="zh-CN" altLang="en-US" sz="1200" dirty="0">
                <a:solidFill>
                  <a:prstClr val="black"/>
                </a:solidFill>
                <a:latin typeface="Candara" panose="020E0502030303020204" pitchFamily="34" charset="0"/>
                <a:ea typeface="宋体" charset="0"/>
              </a:rPr>
              <a:t> </a:t>
            </a:r>
            <a:r>
              <a:rPr lang="en-US" altLang="zh-CN" sz="1200" dirty="0">
                <a:hlinkClick r:id="rId7"/>
              </a:rPr>
              <a:t>https://www.ibm.com/developerworks/cn/linux/l-virtio/</a:t>
            </a:r>
            <a:endParaRPr lang="fr-FR" altLang="zh-CN" sz="1200" dirty="0">
              <a:solidFill>
                <a:prstClr val="black"/>
              </a:solidFill>
              <a:latin typeface="Calibri Light" panose="020F0302020204030204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7E1C52-CE76-CF4D-BEB5-C75931393AFF}"/>
              </a:ext>
            </a:extLst>
          </p:cNvPr>
          <p:cNvSpPr txBox="1"/>
          <p:nvPr/>
        </p:nvSpPr>
        <p:spPr>
          <a:xfrm>
            <a:off x="2077720" y="1612128"/>
            <a:ext cx="4587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4000" b="1" dirty="0">
                <a:solidFill>
                  <a:prstClr val="black"/>
                </a:solidFill>
                <a:latin typeface="Calibri" charset="0"/>
                <a:ea typeface="宋体" charset="0"/>
              </a:rPr>
              <a:t>Thanks!</a:t>
            </a:r>
            <a:r>
              <a:rPr kumimoji="1" lang="zh-CN" altLang="en-US" sz="4000" b="1" dirty="0">
                <a:solidFill>
                  <a:prstClr val="black"/>
                </a:solidFill>
                <a:latin typeface="Calibri" charset="0"/>
                <a:ea typeface="宋体" charset="0"/>
              </a:rPr>
              <a:t>   </a:t>
            </a:r>
            <a:r>
              <a:rPr kumimoji="1" lang="en-US" altLang="zh-CN" sz="4000" b="1" dirty="0">
                <a:solidFill>
                  <a:prstClr val="black"/>
                </a:solidFill>
                <a:latin typeface="Calibri" charset="0"/>
                <a:ea typeface="宋体" charset="0"/>
              </a:rPr>
              <a:t>Questions?</a:t>
            </a:r>
            <a:endParaRPr kumimoji="1" lang="zh-CN" altLang="en-US" sz="4000" b="1" dirty="0">
              <a:solidFill>
                <a:prstClr val="black"/>
              </a:solidFill>
              <a:latin typeface="Calibri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20304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主题2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2" id="{E0D1F83F-22F0-D546-91D8-FF7C6B24B14B}" vid="{5AF26BE8-7839-1342-A4CE-8DF56C8D06F1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6121</TotalTime>
  <Words>3431</Words>
  <Application>Microsoft Office PowerPoint</Application>
  <PresentationFormat>全屏显示(4:3)</PresentationFormat>
  <Paragraphs>555</Paragraphs>
  <Slides>45</Slides>
  <Notes>45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7" baseType="lpstr">
      <vt:lpstr>Lato</vt:lpstr>
      <vt:lpstr>等线</vt:lpstr>
      <vt:lpstr>宋体</vt:lpstr>
      <vt:lpstr>Microsoft YaHei</vt:lpstr>
      <vt:lpstr>Microsoft YaHei</vt:lpstr>
      <vt:lpstr>Arial</vt:lpstr>
      <vt:lpstr>Calibri</vt:lpstr>
      <vt:lpstr>Calibri Light</vt:lpstr>
      <vt:lpstr>Candara</vt:lpstr>
      <vt:lpstr>Times New Roman</vt:lpstr>
      <vt:lpstr>Wingdings</vt:lpstr>
      <vt:lpstr>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崔 立骁</dc:creator>
  <cp:lastModifiedBy>zhao sheng</cp:lastModifiedBy>
  <cp:revision>319</cp:revision>
  <dcterms:created xsi:type="dcterms:W3CDTF">2019-10-06T06:46:54Z</dcterms:created>
  <dcterms:modified xsi:type="dcterms:W3CDTF">2019-10-17T14:20:58Z</dcterms:modified>
</cp:coreProperties>
</file>