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52"/>
  </p:notesMasterIdLst>
  <p:sldIdLst>
    <p:sldId id="261" r:id="rId2"/>
    <p:sldId id="390" r:id="rId3"/>
    <p:sldId id="355" r:id="rId4"/>
    <p:sldId id="369" r:id="rId5"/>
    <p:sldId id="368" r:id="rId6"/>
    <p:sldId id="306" r:id="rId7"/>
    <p:sldId id="371" r:id="rId8"/>
    <p:sldId id="372" r:id="rId9"/>
    <p:sldId id="373" r:id="rId10"/>
    <p:sldId id="374" r:id="rId11"/>
    <p:sldId id="375" r:id="rId12"/>
    <p:sldId id="380" r:id="rId13"/>
    <p:sldId id="379" r:id="rId14"/>
    <p:sldId id="381" r:id="rId15"/>
    <p:sldId id="382" r:id="rId16"/>
    <p:sldId id="378" r:id="rId17"/>
    <p:sldId id="384" r:id="rId18"/>
    <p:sldId id="385" r:id="rId19"/>
    <p:sldId id="393" r:id="rId20"/>
    <p:sldId id="549" r:id="rId21"/>
    <p:sldId id="394" r:id="rId22"/>
    <p:sldId id="398" r:id="rId23"/>
    <p:sldId id="399" r:id="rId24"/>
    <p:sldId id="396" r:id="rId25"/>
    <p:sldId id="550" r:id="rId26"/>
    <p:sldId id="388" r:id="rId27"/>
    <p:sldId id="400" r:id="rId28"/>
    <p:sldId id="383" r:id="rId29"/>
    <p:sldId id="386" r:id="rId30"/>
    <p:sldId id="387" r:id="rId31"/>
    <p:sldId id="340" r:id="rId32"/>
    <p:sldId id="404" r:id="rId33"/>
    <p:sldId id="405" r:id="rId34"/>
    <p:sldId id="401" r:id="rId35"/>
    <p:sldId id="274" r:id="rId36"/>
    <p:sldId id="273" r:id="rId37"/>
    <p:sldId id="391" r:id="rId38"/>
    <p:sldId id="392" r:id="rId39"/>
    <p:sldId id="543" r:id="rId40"/>
    <p:sldId id="538" r:id="rId41"/>
    <p:sldId id="539" r:id="rId42"/>
    <p:sldId id="540" r:id="rId43"/>
    <p:sldId id="541" r:id="rId44"/>
    <p:sldId id="542" r:id="rId45"/>
    <p:sldId id="544" r:id="rId46"/>
    <p:sldId id="548" r:id="rId47"/>
    <p:sldId id="545" r:id="rId48"/>
    <p:sldId id="547" r:id="rId49"/>
    <p:sldId id="546" r:id="rId50"/>
    <p:sldId id="366" r:id="rId51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宋体" charset="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宋体" charset="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宋体" charset="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宋体" charset="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宋体" charset="0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charset="0"/>
        <a:ea typeface="宋体" charset="0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charset="0"/>
        <a:ea typeface="宋体" charset="0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charset="0"/>
        <a:ea typeface="宋体" charset="0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charset="0"/>
        <a:ea typeface="宋体" charset="0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30F6"/>
    <a:srgbClr val="66005C"/>
    <a:srgbClr val="FF7E79"/>
    <a:srgbClr val="EAEFF7"/>
    <a:srgbClr val="EBF0F7"/>
    <a:srgbClr val="E2E2E2"/>
    <a:srgbClr val="B330D4"/>
    <a:srgbClr val="BD31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FECB4D8-DB02-4DC6-A0A2-4F2EBAE1DC90}" styleName="中度样式 1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主题样式 2 - 个性色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主题样式 1 - 个性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801"/>
    <p:restoredTop sz="81319"/>
  </p:normalViewPr>
  <p:slideViewPr>
    <p:cSldViewPr snapToGrid="0" snapToObjects="1">
      <p:cViewPr varScale="1">
        <p:scale>
          <a:sx n="102" d="100"/>
          <a:sy n="102" d="100"/>
        </p:scale>
        <p:origin x="10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kumimoji="1"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kumimoji="1" sz="1200"/>
            </a:lvl1pPr>
          </a:lstStyle>
          <a:p>
            <a:pPr>
              <a:defRPr/>
            </a:pPr>
            <a:fld id="{EFA51185-30DC-254A-9DD6-8F7A8C8C9CE7}" type="datetimeFigureOut">
              <a:rPr lang="zh-CN" altLang="en-US"/>
              <a:pPr>
                <a:defRPr/>
              </a:pPr>
              <a:t>2019/9/29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二级</a:t>
            </a:r>
          </a:p>
          <a:p>
            <a:pPr lvl="2"/>
            <a:r>
              <a:rPr lang="zh-CN" altLang="en-US" noProof="0"/>
              <a:t>三级</a:t>
            </a:r>
          </a:p>
          <a:p>
            <a:pPr lvl="3"/>
            <a:r>
              <a:rPr lang="zh-CN" altLang="en-US" noProof="0"/>
              <a:t>四级</a:t>
            </a:r>
          </a:p>
          <a:p>
            <a:pPr lvl="4"/>
            <a:r>
              <a:rPr lang="zh-CN" altLang="en-US" noProof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kumimoji="1"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kumimoji="1" sz="1200"/>
            </a:lvl1pPr>
          </a:lstStyle>
          <a:p>
            <a:pPr>
              <a:defRPr/>
            </a:pPr>
            <a:fld id="{0B5B9210-A5D6-DF4A-BCF1-E487EA4C0D1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215075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38554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94661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94957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07020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9376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56075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整体架构：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4</a:t>
            </a:r>
            <a:r>
              <a:rPr kumimoji="1" lang="zh-CN" altLang="en-US" dirty="0"/>
              <a:t>种</a:t>
            </a:r>
            <a:r>
              <a:rPr kumimoji="1" lang="en-US" altLang="zh-CN" dirty="0"/>
              <a:t>queue</a:t>
            </a:r>
            <a:r>
              <a:rPr kumimoji="1" lang="zh-CN" altLang="en-US" dirty="0"/>
              <a:t>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两种</a:t>
            </a:r>
            <a:r>
              <a:rPr kumimoji="1" lang="en-US" altLang="zh-CN" dirty="0"/>
              <a:t>Queue</a:t>
            </a:r>
            <a:r>
              <a:rPr kumimoji="1" lang="zh-CN" altLang="en-US" dirty="0"/>
              <a:t> </a:t>
            </a:r>
            <a:r>
              <a:rPr kumimoji="1" lang="en-US" altLang="zh-CN" dirty="0"/>
              <a:t>Pair</a:t>
            </a:r>
            <a:r>
              <a:rPr kumimoji="1" lang="zh-CN" altLang="en-US" dirty="0"/>
              <a:t>，每个</a:t>
            </a:r>
            <a:r>
              <a:rPr kumimoji="1" lang="en-US" altLang="zh-CN" dirty="0"/>
              <a:t>Queue</a:t>
            </a:r>
            <a:r>
              <a:rPr kumimoji="1" lang="zh-CN" altLang="en-US" dirty="0"/>
              <a:t> </a:t>
            </a:r>
            <a:r>
              <a:rPr kumimoji="1" lang="en-US" altLang="zh-CN" dirty="0"/>
              <a:t>Pair</a:t>
            </a:r>
            <a:r>
              <a:rPr kumimoji="1" lang="zh-CN" altLang="en-US" dirty="0"/>
              <a:t> 都由 </a:t>
            </a:r>
            <a:r>
              <a:rPr kumimoji="1" lang="en-US" altLang="zh-CN" dirty="0"/>
              <a:t>SQ/CQ</a:t>
            </a:r>
            <a:r>
              <a:rPr kumimoji="1" lang="zh-CN" altLang="en-US" dirty="0"/>
              <a:t>构成。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管理</a:t>
            </a:r>
            <a:r>
              <a:rPr kumimoji="1" lang="en-US" altLang="zh-CN" dirty="0"/>
              <a:t>SQ/CQ</a:t>
            </a:r>
            <a:r>
              <a:rPr kumimoji="1" lang="zh-CN" altLang="en-US" dirty="0"/>
              <a:t>就一对。数据</a:t>
            </a:r>
            <a:r>
              <a:rPr kumimoji="1" lang="en-US" altLang="zh-CN" dirty="0"/>
              <a:t>SQ/CQ</a:t>
            </a:r>
            <a:r>
              <a:rPr kumimoji="1" lang="zh-CN" altLang="en-US" dirty="0"/>
              <a:t>多对儿。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40669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传输协议需要硬件固件和</a:t>
            </a:r>
            <a:r>
              <a:rPr kumimoji="1" lang="en-US" altLang="zh-CN" dirty="0"/>
              <a:t>host</a:t>
            </a:r>
            <a:r>
              <a:rPr kumimoji="1" lang="zh-CN" altLang="en-US" dirty="0"/>
              <a:t>操作系统的</a:t>
            </a:r>
            <a:r>
              <a:rPr kumimoji="1" lang="en-US" altLang="zh-CN" dirty="0"/>
              <a:t>NVMe</a:t>
            </a:r>
            <a:r>
              <a:rPr kumimoji="1" lang="zh-CN" altLang="en-US" dirty="0"/>
              <a:t>驱动之间按协议的规定来实现交互和数据传输。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除了</a:t>
            </a:r>
            <a:r>
              <a:rPr kumimoji="1" lang="en-US" altLang="zh-CN" dirty="0"/>
              <a:t>Queue</a:t>
            </a:r>
            <a:r>
              <a:rPr kumimoji="1" lang="zh-CN" altLang="en-US" dirty="0"/>
              <a:t>外，还有</a:t>
            </a:r>
            <a:r>
              <a:rPr kumimoji="1" lang="en-US" altLang="zh-CN" dirty="0"/>
              <a:t>DB</a:t>
            </a:r>
            <a:r>
              <a:rPr kumimoji="1" lang="zh-CN" altLang="en-US" dirty="0"/>
              <a:t> </a:t>
            </a:r>
            <a:r>
              <a:rPr kumimoji="1" lang="en-US" altLang="zh-CN" dirty="0"/>
              <a:t>(Doorbell),DB</a:t>
            </a:r>
            <a:r>
              <a:rPr kumimoji="1" lang="zh-CN" altLang="en-US" dirty="0"/>
              <a:t>是在</a:t>
            </a:r>
            <a:r>
              <a:rPr kumimoji="1" lang="en-US" altLang="zh-CN" dirty="0"/>
              <a:t>SSD</a:t>
            </a:r>
            <a:r>
              <a:rPr kumimoji="1" lang="zh-CN" altLang="en-US" dirty="0"/>
              <a:t>中的寄存器，</a:t>
            </a:r>
            <a:r>
              <a:rPr kumimoji="1" lang="en-US" altLang="zh-CN" dirty="0"/>
              <a:t>Host</a:t>
            </a:r>
            <a:r>
              <a:rPr kumimoji="1" lang="zh-CN" altLang="en-US" dirty="0"/>
              <a:t>通过</a:t>
            </a:r>
            <a:r>
              <a:rPr kumimoji="1" lang="en-US" altLang="zh-CN" dirty="0"/>
              <a:t>DB</a:t>
            </a:r>
            <a:r>
              <a:rPr kumimoji="1" lang="zh-CN" altLang="en-US" dirty="0"/>
              <a:t>通知</a:t>
            </a:r>
            <a:r>
              <a:rPr kumimoji="1" lang="en-US" altLang="zh-CN" dirty="0"/>
              <a:t>SSD</a:t>
            </a:r>
            <a:r>
              <a:rPr kumimoji="1" lang="zh-CN" altLang="en-US" dirty="0"/>
              <a:t>，</a:t>
            </a:r>
            <a:r>
              <a:rPr kumimoji="1" lang="en-US" altLang="zh-CN" dirty="0"/>
              <a:t>SSD</a:t>
            </a:r>
            <a:r>
              <a:rPr kumimoji="1" lang="zh-CN" altLang="en-US" dirty="0"/>
              <a:t>通过中断通知</a:t>
            </a:r>
            <a:r>
              <a:rPr kumimoji="1" lang="en-US" altLang="zh-CN" dirty="0"/>
              <a:t>Host</a:t>
            </a:r>
            <a:r>
              <a:rPr kumimoji="1" lang="zh-CN" altLang="en-US" dirty="0"/>
              <a:t>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看一下步骤：</a:t>
            </a:r>
            <a:endParaRPr kumimoji="1" lang="en-US" altLang="zh-CN" dirty="0"/>
          </a:p>
          <a:p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39672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4568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80075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6531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5548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95128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80873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3980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23801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04156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18413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18007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36699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3195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36823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7390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6541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98452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46208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99432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271436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311312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466010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5095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953328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084172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175026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传输协议需要硬件固件和</a:t>
            </a:r>
            <a:r>
              <a:rPr kumimoji="1" lang="en-US" altLang="zh-CN" dirty="0"/>
              <a:t>host</a:t>
            </a:r>
            <a:r>
              <a:rPr kumimoji="1" lang="zh-CN" altLang="en-US" dirty="0"/>
              <a:t>操作系统的</a:t>
            </a:r>
            <a:r>
              <a:rPr kumimoji="1" lang="en-US" altLang="zh-CN" dirty="0"/>
              <a:t>NVMe</a:t>
            </a:r>
            <a:r>
              <a:rPr kumimoji="1" lang="zh-CN" altLang="en-US" dirty="0"/>
              <a:t>驱动之间按协议的规定来实现交互和数据传输。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除了</a:t>
            </a:r>
            <a:r>
              <a:rPr kumimoji="1" lang="en-US" altLang="zh-CN" dirty="0"/>
              <a:t>Queue</a:t>
            </a:r>
            <a:r>
              <a:rPr kumimoji="1" lang="zh-CN" altLang="en-US" dirty="0"/>
              <a:t>外，还有</a:t>
            </a:r>
            <a:r>
              <a:rPr kumimoji="1" lang="en-US" altLang="zh-CN" dirty="0"/>
              <a:t>DB</a:t>
            </a:r>
            <a:r>
              <a:rPr kumimoji="1" lang="zh-CN" altLang="en-US" dirty="0"/>
              <a:t> </a:t>
            </a:r>
            <a:r>
              <a:rPr kumimoji="1" lang="en-US" altLang="zh-CN" dirty="0"/>
              <a:t>(Doorbell),DB</a:t>
            </a:r>
            <a:r>
              <a:rPr kumimoji="1" lang="zh-CN" altLang="en-US" dirty="0"/>
              <a:t>是在</a:t>
            </a:r>
            <a:r>
              <a:rPr kumimoji="1" lang="en-US" altLang="zh-CN" dirty="0"/>
              <a:t>SSD</a:t>
            </a:r>
            <a:r>
              <a:rPr kumimoji="1" lang="zh-CN" altLang="en-US" dirty="0"/>
              <a:t>中的寄存器，</a:t>
            </a:r>
            <a:r>
              <a:rPr kumimoji="1" lang="en-US" altLang="zh-CN" dirty="0"/>
              <a:t>Host</a:t>
            </a:r>
            <a:r>
              <a:rPr kumimoji="1" lang="zh-CN" altLang="en-US" dirty="0"/>
              <a:t>通过</a:t>
            </a:r>
            <a:r>
              <a:rPr kumimoji="1" lang="en-US" altLang="zh-CN" dirty="0"/>
              <a:t>DB</a:t>
            </a:r>
            <a:r>
              <a:rPr kumimoji="1" lang="zh-CN" altLang="en-US" dirty="0"/>
              <a:t>通知</a:t>
            </a:r>
            <a:r>
              <a:rPr kumimoji="1" lang="en-US" altLang="zh-CN" dirty="0"/>
              <a:t>SSD</a:t>
            </a:r>
            <a:r>
              <a:rPr kumimoji="1" lang="zh-CN" altLang="en-US" dirty="0"/>
              <a:t>，</a:t>
            </a:r>
            <a:r>
              <a:rPr kumimoji="1" lang="en-US" altLang="zh-CN" dirty="0"/>
              <a:t>SSD</a:t>
            </a:r>
            <a:r>
              <a:rPr kumimoji="1" lang="zh-CN" altLang="en-US" dirty="0"/>
              <a:t>通过中断通知</a:t>
            </a:r>
            <a:r>
              <a:rPr kumimoji="1" lang="en-US" altLang="zh-CN" dirty="0"/>
              <a:t>Host</a:t>
            </a:r>
            <a:r>
              <a:rPr kumimoji="1" lang="zh-CN" altLang="en-US" dirty="0"/>
              <a:t>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看一下步骤：</a:t>
            </a:r>
            <a:endParaRPr kumimoji="1" lang="en-US" altLang="zh-CN" dirty="0"/>
          </a:p>
          <a:p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454314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整体架构：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4</a:t>
            </a:r>
            <a:r>
              <a:rPr kumimoji="1" lang="zh-CN" altLang="en-US" dirty="0"/>
              <a:t>种</a:t>
            </a:r>
            <a:r>
              <a:rPr kumimoji="1" lang="en-US" altLang="zh-CN" dirty="0"/>
              <a:t>queue</a:t>
            </a:r>
            <a:r>
              <a:rPr kumimoji="1" lang="zh-CN" altLang="en-US" dirty="0"/>
              <a:t>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两种</a:t>
            </a:r>
            <a:r>
              <a:rPr kumimoji="1" lang="en-US" altLang="zh-CN" dirty="0"/>
              <a:t>Queue</a:t>
            </a:r>
            <a:r>
              <a:rPr kumimoji="1" lang="zh-CN" altLang="en-US" dirty="0"/>
              <a:t> </a:t>
            </a:r>
            <a:r>
              <a:rPr kumimoji="1" lang="en-US" altLang="zh-CN" dirty="0"/>
              <a:t>Pair</a:t>
            </a:r>
            <a:r>
              <a:rPr kumimoji="1" lang="zh-CN" altLang="en-US" dirty="0"/>
              <a:t>，每个</a:t>
            </a:r>
            <a:r>
              <a:rPr kumimoji="1" lang="en-US" altLang="zh-CN" dirty="0"/>
              <a:t>Queue</a:t>
            </a:r>
            <a:r>
              <a:rPr kumimoji="1" lang="zh-CN" altLang="en-US" dirty="0"/>
              <a:t> </a:t>
            </a:r>
            <a:r>
              <a:rPr kumimoji="1" lang="en-US" altLang="zh-CN" dirty="0"/>
              <a:t>Pair</a:t>
            </a:r>
            <a:r>
              <a:rPr kumimoji="1" lang="zh-CN" altLang="en-US" dirty="0"/>
              <a:t> 都由 </a:t>
            </a:r>
            <a:r>
              <a:rPr kumimoji="1" lang="en-US" altLang="zh-CN" dirty="0"/>
              <a:t>SQ/CQ</a:t>
            </a:r>
            <a:r>
              <a:rPr kumimoji="1" lang="zh-CN" altLang="en-US" dirty="0"/>
              <a:t>构成。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管理</a:t>
            </a:r>
            <a:r>
              <a:rPr kumimoji="1" lang="en-US" altLang="zh-CN" dirty="0"/>
              <a:t>SQ/CQ</a:t>
            </a:r>
            <a:r>
              <a:rPr kumimoji="1" lang="zh-CN" altLang="en-US" dirty="0"/>
              <a:t>就一对。数据</a:t>
            </a:r>
            <a:r>
              <a:rPr kumimoji="1" lang="en-US" altLang="zh-CN" dirty="0"/>
              <a:t>SQ/CQ</a:t>
            </a:r>
            <a:r>
              <a:rPr kumimoji="1" lang="zh-CN" altLang="en-US" dirty="0"/>
              <a:t>多对儿。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099609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80501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786636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106496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077875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011005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752056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251487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403390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594530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4866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940298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611902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795863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03640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238CC2-A0DA-0A42-9C3B-B99D8DFE8A35}" type="datetimeFigureOut">
              <a:rPr lang="zh-CN" altLang="en-US" smtClean="0"/>
              <a:pPr>
                <a:defRPr/>
              </a:pPr>
              <a:t>2019/9/29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21F175-A356-8641-8B8C-2BC1BAE79F14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D12BB8-9261-4D4B-98FD-C0F0AA2E9A14}" type="datetimeFigureOut">
              <a:rPr lang="zh-CN" altLang="en-US" smtClean="0"/>
              <a:pPr>
                <a:defRPr/>
              </a:pPr>
              <a:t>2019/9/29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A8BDDE-DE15-9A4E-B6F5-7D907F811531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C6D4EE-D3EF-4F4B-84A5-4EDA7B66ACC6}" type="datetimeFigureOut">
              <a:rPr lang="zh-CN" altLang="en-US" smtClean="0"/>
              <a:pPr>
                <a:defRPr/>
              </a:pPr>
              <a:t>2019/9/29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6DD28A-AA70-C249-93DE-44022C331C62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34650D-803F-3649-8BE6-A1B7A3B11F99}" type="datetimeFigureOut">
              <a:rPr lang="zh-CN" altLang="en-US" smtClean="0"/>
              <a:pPr>
                <a:defRPr/>
              </a:pPr>
              <a:t>2019/9/29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38A0D8-B9E1-5F47-ADDF-1F1E8F331A74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C8D43A-8F0F-5D46-A343-06333ADB0560}" type="datetimeFigureOut">
              <a:rPr lang="zh-CN" altLang="en-US" smtClean="0"/>
              <a:pPr>
                <a:defRPr/>
              </a:pPr>
              <a:t>2019/9/29</a:t>
            </a:fld>
            <a:endParaRPr lang="zh-CN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C70463-E988-D144-BBEE-FC4623AD6C23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20C01F-CEF2-EA4C-85CA-CBF3E7F4DD65}" type="datetimeFigureOut">
              <a:rPr lang="zh-CN" altLang="en-US" smtClean="0"/>
              <a:pPr>
                <a:defRPr/>
              </a:pPr>
              <a:t>2019/9/29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95A4DD-1280-BB47-A602-2C4DAB99FF88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B2A7B1-2167-7F47-9127-07644A71B60F}" type="datetimeFigureOut">
              <a:rPr lang="zh-CN" altLang="en-US" smtClean="0"/>
              <a:pPr>
                <a:defRPr/>
              </a:pPr>
              <a:t>2019/9/29</a:t>
            </a:fld>
            <a:endParaRPr lang="zh-CN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E65D7B-B108-694B-A9F0-6F3476ECBDBF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6C0D54-D0A2-8647-BDAD-39E60643A4AA}" type="datetimeFigureOut">
              <a:rPr lang="zh-CN" altLang="en-US" smtClean="0"/>
              <a:pPr>
                <a:defRPr/>
              </a:pPr>
              <a:t>2019/9/29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00DE58-F619-754F-BCBC-313BF1478D2F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23163E-B686-3245-B20A-8F7674AE5CAC}" type="datetimeFigureOut">
              <a:rPr lang="zh-CN" altLang="en-US" smtClean="0"/>
              <a:pPr>
                <a:defRPr/>
              </a:pPr>
              <a:t>2019/9/29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D19B7D-6BEB-0641-9251-9FA303027C7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03A3D3-B973-7244-9EC6-9D0618F24062}" type="datetimeFigureOut">
              <a:rPr lang="zh-CN" altLang="en-US" smtClean="0"/>
              <a:pPr>
                <a:defRPr/>
              </a:pPr>
              <a:t>2019/9/29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66548C-ABE1-4B4C-895C-8DD5E5C1168E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680492-F7A2-E24D-8177-01BCF1312587}" type="datetimeFigureOut">
              <a:rPr lang="zh-CN" altLang="en-US" smtClean="0"/>
              <a:pPr>
                <a:defRPr/>
              </a:pPr>
              <a:t>2019/9/29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9F4E41-E0E2-7A41-9508-905906144EC2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kumimoji="1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4F0E8F8-0A90-2744-B08D-155929A4155E}" type="datetimeFigureOut">
              <a:rPr lang="zh-CN" altLang="en-US" smtClean="0"/>
              <a:pPr>
                <a:defRPr/>
              </a:pPr>
              <a:t>2019/9/29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kumimoji="1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kumimoji="1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FB58A7E-3A13-824A-A0CA-841E65082551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0106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med">
    <p:fade/>
  </p:transition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tiff"/><Relationship Id="rId4" Type="http://schemas.openxmlformats.org/officeDocument/2006/relationships/image" Target="../media/image5.tif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e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e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eshare.net/igalia/improving-the-performance-of-the-qcow2-format-kvm-forum-2017" TargetMode="External"/><Relationship Id="rId3" Type="http://schemas.openxmlformats.org/officeDocument/2006/relationships/hyperlink" Target="https://unix.stackexchange.com/questions/144561/in-what-sense-does-sata-talk-scsi-how-much-is-shared-between-scsi-and-ata" TargetMode="External"/><Relationship Id="rId7" Type="http://schemas.openxmlformats.org/officeDocument/2006/relationships/hyperlink" Target="https://dev.mysql.com/doc/refman/8.0/en/innodb-architecture.html" TargetMode="Externa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lwn.net/Articles/736534/" TargetMode="External"/><Relationship Id="rId5" Type="http://schemas.openxmlformats.org/officeDocument/2006/relationships/hyperlink" Target="https://www.slideshare.net/kerneltlv/high-performance-storage-devices-in-the-linux-kernel" TargetMode="External"/><Relationship Id="rId4" Type="http://schemas.openxmlformats.org/officeDocument/2006/relationships/hyperlink" Target="https://www.thomas-krenn.com/en/wiki/Linux_Storage_Stack_Diagram" TargetMode="External"/><Relationship Id="rId9" Type="http://schemas.openxmlformats.org/officeDocument/2006/relationships/hyperlink" Target="https://events.static.linuxfound.org/sites/events/files/slides/LightNVM-Vault2015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6801492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83952" y="1554975"/>
            <a:ext cx="7802136" cy="17158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6520"/>
              </a:lnSpc>
              <a:spcBef>
                <a:spcPts val="0"/>
              </a:spcBef>
            </a:pPr>
            <a:r>
              <a:rPr kumimoji="1" lang="zh-CN" altLang="en-US" sz="5400" dirty="0">
                <a:latin typeface="Microsoft YaHei" charset="-122"/>
                <a:ea typeface="Microsoft YaHei" charset="-122"/>
                <a:cs typeface="Microsoft YaHei" charset="-122"/>
              </a:rPr>
              <a:t>软硬件存储栈</a:t>
            </a:r>
            <a:endParaRPr kumimoji="1" lang="en-US" altLang="zh-CN" sz="54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algn="ctr">
              <a:lnSpc>
                <a:spcPts val="6520"/>
              </a:lnSpc>
              <a:spcBef>
                <a:spcPts val="0"/>
              </a:spcBef>
            </a:pPr>
            <a:r>
              <a:rPr kumimoji="1" lang="zh-CN" altLang="en-US" sz="5400" dirty="0">
                <a:latin typeface="Microsoft YaHei" charset="-122"/>
                <a:ea typeface="Microsoft YaHei" charset="-122"/>
                <a:cs typeface="Microsoft YaHei" charset="-122"/>
              </a:rPr>
              <a:t>及针对高性能设备的优化</a:t>
            </a:r>
            <a:endParaRPr kumimoji="1" lang="en-US" altLang="zh-CN" sz="54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104420" y="5219700"/>
            <a:ext cx="2920992" cy="879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2000" dirty="0">
                <a:latin typeface="Microsoft YaHei" charset="-122"/>
                <a:ea typeface="Microsoft YaHei" charset="-122"/>
                <a:cs typeface="Microsoft YaHei" charset="-122"/>
              </a:rPr>
              <a:t>张佳辰</a:t>
            </a:r>
            <a:r>
              <a:rPr kumimoji="1" lang="en-US" altLang="zh-CN" sz="2000" dirty="0">
                <a:latin typeface="Microsoft YaHei" charset="-122"/>
                <a:ea typeface="Microsoft YaHei" charset="-122"/>
                <a:cs typeface="Microsoft YaHei" charset="-122"/>
              </a:rPr>
              <a:t>   2019.</a:t>
            </a:r>
            <a:r>
              <a:rPr kumimoji="1" lang="zh-CN" altLang="en-US" sz="2000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000" dirty="0">
                <a:latin typeface="Microsoft YaHei" charset="-122"/>
                <a:ea typeface="Microsoft YaHei" charset="-122"/>
                <a:cs typeface="Microsoft YaHei" charset="-122"/>
              </a:rPr>
              <a:t>9.</a:t>
            </a:r>
            <a:r>
              <a:rPr kumimoji="1" lang="zh-CN" altLang="en-US" sz="2000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000" dirty="0">
                <a:latin typeface="Microsoft YaHei" charset="-122"/>
                <a:ea typeface="Microsoft YaHei" charset="-122"/>
                <a:cs typeface="Microsoft YaHei" charset="-122"/>
              </a:rPr>
              <a:t>29</a:t>
            </a:r>
          </a:p>
          <a:p>
            <a:pPr algn="ctr">
              <a:lnSpc>
                <a:spcPct val="150000"/>
              </a:lnSpc>
            </a:pPr>
            <a:r>
              <a:rPr kumimoji="1" lang="en-US" altLang="zh-CN" sz="1600" dirty="0" err="1">
                <a:latin typeface="Microsoft YaHei" charset="-122"/>
                <a:ea typeface="Microsoft YaHei" charset="-122"/>
                <a:cs typeface="Microsoft YaHei" charset="-122"/>
              </a:rPr>
              <a:t>jczhang@nbjl.nankai.edu.cn</a:t>
            </a:r>
            <a:endParaRPr kumimoji="1" lang="zh-CN" altLang="en-US" sz="16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6801492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376717" y="1173975"/>
            <a:ext cx="11079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600" dirty="0">
                <a:solidFill>
                  <a:schemeClr val="bg1">
                    <a:lumMod val="9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目录</a:t>
            </a:r>
            <a:endParaRPr kumimoji="1" lang="en-US" altLang="zh-CN" sz="3600" dirty="0">
              <a:solidFill>
                <a:schemeClr val="bg1">
                  <a:lumMod val="95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70166" y="2411366"/>
            <a:ext cx="6373834" cy="2601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    </a:t>
            </a:r>
            <a:r>
              <a:rPr kumimoji="1" lang="en-US" altLang="zh-CN" sz="2800" dirty="0" err="1">
                <a:latin typeface="Microsoft YaHei" charset="-122"/>
                <a:ea typeface="Microsoft YaHei" charset="-122"/>
                <a:cs typeface="Microsoft YaHei" charset="-122"/>
              </a:rPr>
              <a:t>NVMe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硬件存储栈</a:t>
            </a:r>
            <a:endParaRPr kumimoji="1" lang="en-US" altLang="zh-CN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    软件存储栈</a:t>
            </a:r>
            <a:endParaRPr kumimoji="1" lang="en-US" altLang="zh-CN" sz="28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    高性能软件存储栈优化</a:t>
            </a:r>
            <a:endParaRPr kumimoji="1" lang="en-US" altLang="zh-CN" sz="28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    存储栈发展趋势</a:t>
            </a:r>
            <a:endParaRPr kumimoji="1" lang="en-US" altLang="zh-CN" sz="28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62441792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6801492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376717" y="1173975"/>
            <a:ext cx="11079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600" dirty="0">
                <a:solidFill>
                  <a:schemeClr val="bg1">
                    <a:lumMod val="9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目录</a:t>
            </a:r>
            <a:endParaRPr kumimoji="1" lang="en-US" altLang="zh-CN" sz="3600" dirty="0">
              <a:solidFill>
                <a:schemeClr val="bg1">
                  <a:lumMod val="95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70166" y="2411366"/>
            <a:ext cx="6373834" cy="3432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    </a:t>
            </a:r>
            <a:r>
              <a:rPr kumimoji="1" lang="en-US" altLang="zh-CN" sz="2800" dirty="0" err="1">
                <a:latin typeface="Microsoft YaHei" charset="-122"/>
                <a:ea typeface="Microsoft YaHei" charset="-122"/>
                <a:cs typeface="Microsoft YaHei" charset="-122"/>
              </a:rPr>
              <a:t>NVMe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硬件存储栈</a:t>
            </a:r>
            <a:endParaRPr kumimoji="1" lang="en-US" altLang="zh-CN" sz="28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1371600" lvl="2" indent="-457200">
              <a:lnSpc>
                <a:spcPct val="150000"/>
              </a:lnSpc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kumimoji="1"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PCIe</a:t>
            </a:r>
            <a:r>
              <a:rPr kumimoji="1"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 传输</a:t>
            </a:r>
            <a:endParaRPr kumimoji="1" lang="en-US" altLang="zh-CN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1371600" lvl="2" indent="-457200">
              <a:lnSpc>
                <a:spcPct val="150000"/>
              </a:lnSpc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kumimoji="1" lang="en-US" altLang="zh-CN" dirty="0" err="1">
                <a:latin typeface="Microsoft YaHei" charset="-122"/>
                <a:ea typeface="Microsoft YaHei" charset="-122"/>
                <a:cs typeface="Microsoft YaHei" charset="-122"/>
              </a:rPr>
              <a:t>NVMe</a:t>
            </a:r>
            <a:r>
              <a:rPr kumimoji="1"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 协议</a:t>
            </a:r>
            <a:endParaRPr kumimoji="1" lang="en-US" altLang="zh-CN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    软件存储栈</a:t>
            </a:r>
            <a:endParaRPr kumimoji="1" lang="en-US" altLang="zh-CN" sz="2800" dirty="0">
              <a:solidFill>
                <a:schemeClr val="tx1">
                  <a:lumMod val="50000"/>
                  <a:lumOff val="50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    高性能软件存储栈优化</a:t>
            </a:r>
            <a:endParaRPr kumimoji="1" lang="en-US" altLang="zh-CN" sz="2800" dirty="0">
              <a:solidFill>
                <a:schemeClr val="tx1">
                  <a:lumMod val="50000"/>
                  <a:lumOff val="50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    存储栈发展趋势</a:t>
            </a:r>
            <a:endParaRPr kumimoji="1" lang="en-US" altLang="zh-CN" sz="2800" dirty="0">
              <a:solidFill>
                <a:schemeClr val="tx1">
                  <a:lumMod val="50000"/>
                  <a:lumOff val="50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01547455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53F571-3FE3-414E-8DE9-03044D097F3C}"/>
              </a:ext>
            </a:extLst>
          </p:cNvPr>
          <p:cNvSpPr txBox="1"/>
          <p:nvPr/>
        </p:nvSpPr>
        <p:spPr>
          <a:xfrm>
            <a:off x="654258" y="589775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 err="1">
                <a:latin typeface="Microsoft YaHei" charset="-122"/>
                <a:ea typeface="Microsoft YaHei" charset="-122"/>
                <a:cs typeface="Microsoft YaHei" charset="-122"/>
              </a:rPr>
              <a:t>NVMe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硬件存储栈</a:t>
            </a:r>
            <a:endParaRPr kumimoji="1" lang="en-US" altLang="zh-CN" sz="28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4287EF5-E629-E14C-868C-D4B9EB64F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" y="1598585"/>
            <a:ext cx="4216400" cy="43307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504859D-47B7-8B49-B271-63DE22F800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7710" y="1816950"/>
            <a:ext cx="2805092" cy="175812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E448B86-729B-C24A-A4C0-E087FC28E7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2113" y="3503064"/>
            <a:ext cx="4356287" cy="2765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18435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654258" y="589775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硬件存储栈简介 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–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PCIe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层</a:t>
            </a:r>
            <a:endParaRPr kumimoji="1" lang="en-US" altLang="zh-CN" sz="28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C9D4AB1-7C24-BE41-ACFF-A33D034F2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005" y="2684287"/>
            <a:ext cx="4107995" cy="245524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2C2BC67-5C34-B541-AD8A-96BBFA9A50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7583" y="1660422"/>
            <a:ext cx="3412071" cy="4382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608769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7F92D87-7D8D-E644-8E5B-EA66F169C128}"/>
              </a:ext>
            </a:extLst>
          </p:cNvPr>
          <p:cNvSpPr txBox="1"/>
          <p:nvPr/>
        </p:nvSpPr>
        <p:spPr>
          <a:xfrm>
            <a:off x="654258" y="589775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硬件存储栈简介 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–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PCIe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层</a:t>
            </a:r>
            <a:endParaRPr kumimoji="1" lang="en-US" altLang="zh-CN" sz="28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542D15D-9D2B-EC4A-8887-C9021928199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0229"/>
          <a:stretch/>
        </p:blipFill>
        <p:spPr>
          <a:xfrm>
            <a:off x="1605382" y="5244436"/>
            <a:ext cx="5636557" cy="111965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0EE5EE2-ED76-E24A-84F8-D63FB35573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5113" y="1476327"/>
            <a:ext cx="4597093" cy="3768109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6FB8EAD6-B9B8-8D47-AE16-FFE94F2EBF3C}"/>
              </a:ext>
            </a:extLst>
          </p:cNvPr>
          <p:cNvSpPr txBox="1"/>
          <p:nvPr/>
        </p:nvSpPr>
        <p:spPr>
          <a:xfrm>
            <a:off x="3638831" y="6179425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数据传输格式</a:t>
            </a:r>
          </a:p>
        </p:txBody>
      </p:sp>
    </p:spTree>
    <p:extLst>
      <p:ext uri="{BB962C8B-B14F-4D97-AF65-F5344CB8AC3E}">
        <p14:creationId xmlns:p14="http://schemas.microsoft.com/office/powerpoint/2010/main" val="82443182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6801492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73100" y="4483100"/>
            <a:ext cx="7247433" cy="19543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kumimoji="1"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Admin</a:t>
            </a:r>
            <a:r>
              <a:rPr kumimoji="1"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SQ/CQ</a:t>
            </a:r>
            <a:r>
              <a:rPr kumimoji="1"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 每个系统只有一对。</a:t>
            </a:r>
            <a:endParaRPr kumimoji="1" lang="en-US" altLang="zh-CN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kumimoji="1"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I/O</a:t>
            </a:r>
            <a:r>
              <a:rPr kumimoji="1"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SQ/CQ</a:t>
            </a:r>
            <a:r>
              <a:rPr kumimoji="1"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可以最多有</a:t>
            </a:r>
            <a:r>
              <a:rPr kumimoji="1"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65535</a:t>
            </a:r>
            <a:r>
              <a:rPr kumimoji="1"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对：</a:t>
            </a:r>
            <a:endParaRPr kumimoji="1" lang="en-US" altLang="zh-CN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lvl="1">
              <a:lnSpc>
                <a:spcPct val="150000"/>
              </a:lnSpc>
            </a:pPr>
            <a:r>
              <a:rPr kumimoji="1" lang="en-US" altLang="zh-CN" sz="1600" dirty="0">
                <a:latin typeface="Microsoft YaHei" charset="-122"/>
                <a:ea typeface="Microsoft YaHei" charset="-122"/>
                <a:cs typeface="Microsoft YaHei" charset="-122"/>
              </a:rPr>
              <a:t>	</a:t>
            </a:r>
            <a:r>
              <a:rPr kumimoji="1"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每个物理核最多</a:t>
            </a:r>
            <a:r>
              <a:rPr kumimoji="1" lang="en-US" altLang="zh-CN" sz="1600" dirty="0">
                <a:latin typeface="Microsoft YaHei" charset="-122"/>
                <a:ea typeface="Microsoft YaHei" charset="-122"/>
                <a:cs typeface="Microsoft YaHei" charset="-122"/>
              </a:rPr>
              <a:t>1</a:t>
            </a:r>
            <a:r>
              <a:rPr kumimoji="1"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个</a:t>
            </a:r>
            <a:r>
              <a:rPr kumimoji="1" lang="en-US" altLang="zh-CN" sz="1600" dirty="0">
                <a:latin typeface="Microsoft YaHei" charset="-122"/>
                <a:ea typeface="Microsoft YaHei" charset="-122"/>
                <a:cs typeface="Microsoft YaHei" charset="-122"/>
              </a:rPr>
              <a:t>CQ</a:t>
            </a:r>
            <a:r>
              <a:rPr kumimoji="1"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；</a:t>
            </a:r>
            <a:endParaRPr kumimoji="1" lang="en-US" altLang="zh-CN" sz="16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r>
              <a:rPr kumimoji="1"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      </a:t>
            </a:r>
            <a:r>
              <a:rPr kumimoji="1" lang="en-US" altLang="zh-CN" sz="1600" dirty="0">
                <a:latin typeface="Microsoft YaHei" charset="-122"/>
                <a:ea typeface="Microsoft YaHei" charset="-122"/>
                <a:cs typeface="Microsoft YaHei" charset="-122"/>
              </a:rPr>
              <a:t>	</a:t>
            </a:r>
            <a:r>
              <a:rPr kumimoji="1"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 但每个核可以有多个</a:t>
            </a:r>
            <a:r>
              <a:rPr kumimoji="1" lang="en-US" altLang="zh-CN" sz="1600" dirty="0">
                <a:latin typeface="Microsoft YaHei" charset="-122"/>
                <a:ea typeface="Microsoft YaHei" charset="-122"/>
                <a:cs typeface="Microsoft YaHei" charset="-122"/>
              </a:rPr>
              <a:t>SQ</a:t>
            </a:r>
            <a:r>
              <a:rPr kumimoji="1"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，因此可以实现线程粒度的不同优先级。</a:t>
            </a:r>
            <a:endParaRPr kumimoji="1" lang="en-US" altLang="zh-CN" sz="16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kumimoji="1"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SSD</a:t>
            </a:r>
            <a:r>
              <a:rPr kumimoji="1"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中还有称为</a:t>
            </a:r>
            <a:r>
              <a:rPr kumimoji="1"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Doorbell</a:t>
            </a:r>
            <a:r>
              <a:rPr kumimoji="1"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的寄存器，负责记录</a:t>
            </a:r>
            <a:r>
              <a:rPr kumimoji="1"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SQ/CQ</a:t>
            </a:r>
            <a:r>
              <a:rPr kumimoji="1"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的完成情况。</a:t>
            </a:r>
            <a:endParaRPr kumimoji="1" lang="en-US" altLang="zh-CN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99" y="1482728"/>
            <a:ext cx="7773197" cy="311467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93B3202-1757-3B4B-A6F9-0F22D053E632}"/>
              </a:ext>
            </a:extLst>
          </p:cNvPr>
          <p:cNvSpPr txBox="1"/>
          <p:nvPr/>
        </p:nvSpPr>
        <p:spPr>
          <a:xfrm>
            <a:off x="654258" y="589775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硬件存储栈简介 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–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800" dirty="0" err="1">
                <a:latin typeface="Microsoft YaHei" charset="-122"/>
                <a:ea typeface="Microsoft YaHei" charset="-122"/>
                <a:cs typeface="Microsoft YaHei" charset="-122"/>
              </a:rPr>
              <a:t>NVMe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协议</a:t>
            </a:r>
            <a:endParaRPr kumimoji="1" lang="en-US" altLang="zh-CN" sz="28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9156103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99" y="1482728"/>
            <a:ext cx="7773197" cy="3114672"/>
          </a:xfrm>
          <a:prstGeom prst="rect">
            <a:avLst/>
          </a:prstGeom>
        </p:spPr>
      </p:pic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6801492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429000" y="6350001"/>
            <a:ext cx="4622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/>
              <a:t>摘自</a:t>
            </a:r>
            <a:r>
              <a:rPr kumimoji="1" lang="en-US" altLang="zh-CN" sz="1200" dirty="0"/>
              <a:t>《</a:t>
            </a:r>
            <a:r>
              <a:rPr kumimoji="1" lang="zh-CN" altLang="en-US" sz="1200" dirty="0"/>
              <a:t>深入浅出</a:t>
            </a:r>
            <a:r>
              <a:rPr kumimoji="1" lang="en-US" altLang="zh-CN" sz="1200" dirty="0"/>
              <a:t>SSD</a:t>
            </a:r>
            <a:r>
              <a:rPr kumimoji="1" lang="zh-CN" altLang="en-US" sz="1200" dirty="0"/>
              <a:t>：固态存储核心技术、原理与实战</a:t>
            </a:r>
            <a:r>
              <a:rPr kumimoji="1" lang="en-US" altLang="zh-CN" sz="1200" dirty="0"/>
              <a:t>》</a:t>
            </a:r>
            <a:endParaRPr kumimoji="1" lang="zh-CN" altLang="en-US" sz="1200" dirty="0"/>
          </a:p>
        </p:txBody>
      </p:sp>
      <p:sp>
        <p:nvSpPr>
          <p:cNvPr id="10" name="文本框 9"/>
          <p:cNvSpPr txBox="1"/>
          <p:nvPr/>
        </p:nvSpPr>
        <p:spPr>
          <a:xfrm>
            <a:off x="1257301" y="4648200"/>
            <a:ext cx="67944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主机写命令到</a:t>
            </a:r>
            <a:r>
              <a:rPr kumimoji="1" lang="en-US" altLang="zh-CN" sz="1400" dirty="0">
                <a:latin typeface="Microsoft YaHei" charset="-122"/>
                <a:ea typeface="Microsoft YaHei" charset="-122"/>
                <a:cs typeface="Microsoft YaHei" charset="-122"/>
              </a:rPr>
              <a:t>SQ</a:t>
            </a: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；</a:t>
            </a:r>
            <a:r>
              <a:rPr kumimoji="1" lang="en-US" altLang="zh-CN" sz="1400" dirty="0">
                <a:latin typeface="Microsoft YaHei" charset="-122"/>
                <a:ea typeface="Microsoft YaHei" charset="-122"/>
                <a:cs typeface="Microsoft YaHei" charset="-122"/>
              </a:rPr>
              <a:t>			(Host</a:t>
            </a: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写</a:t>
            </a:r>
            <a:r>
              <a:rPr kumimoji="1" lang="en-US" altLang="zh-CN" sz="1400" dirty="0">
                <a:latin typeface="Microsoft YaHei" charset="-122"/>
                <a:ea typeface="Microsoft YaHei" charset="-122"/>
                <a:cs typeface="Microsoft YaHei" charset="-122"/>
              </a:rPr>
              <a:t>SQ)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主机写</a:t>
            </a:r>
            <a:r>
              <a:rPr kumimoji="1" lang="en-US" altLang="zh-CN" sz="1400" dirty="0">
                <a:latin typeface="Microsoft YaHei" charset="-122"/>
                <a:ea typeface="Microsoft YaHei" charset="-122"/>
                <a:cs typeface="Microsoft YaHei" charset="-122"/>
              </a:rPr>
              <a:t>SQ</a:t>
            </a: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的</a:t>
            </a:r>
            <a:r>
              <a:rPr kumimoji="1" lang="en-US" altLang="zh-CN" sz="1400" dirty="0">
                <a:latin typeface="Microsoft YaHei" charset="-122"/>
                <a:ea typeface="Microsoft YaHei" charset="-122"/>
                <a:cs typeface="Microsoft YaHei" charset="-122"/>
              </a:rPr>
              <a:t>DB</a:t>
            </a: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，通知</a:t>
            </a:r>
            <a:r>
              <a:rPr kumimoji="1" lang="en-US" altLang="zh-CN" sz="1400" dirty="0">
                <a:latin typeface="Microsoft YaHei" charset="-122"/>
                <a:ea typeface="Microsoft YaHei" charset="-122"/>
                <a:cs typeface="Microsoft YaHei" charset="-122"/>
              </a:rPr>
              <a:t>SSD</a:t>
            </a: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取指；</a:t>
            </a:r>
            <a:r>
              <a:rPr kumimoji="1" lang="en-US" altLang="zh-CN" sz="1400" dirty="0">
                <a:latin typeface="Microsoft YaHei" charset="-122"/>
                <a:ea typeface="Microsoft YaHei" charset="-122"/>
                <a:cs typeface="Microsoft YaHei" charset="-122"/>
              </a:rPr>
              <a:t>		(Host</a:t>
            </a: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通知</a:t>
            </a:r>
            <a:r>
              <a:rPr kumimoji="1" lang="en-US" altLang="zh-CN" sz="1400" dirty="0">
                <a:latin typeface="Microsoft YaHei" charset="-122"/>
                <a:ea typeface="Microsoft YaHei" charset="-122"/>
                <a:cs typeface="Microsoft YaHei" charset="-122"/>
              </a:rPr>
              <a:t>SSD)</a:t>
            </a: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endParaRPr kumimoji="1" lang="en-US" altLang="zh-CN" sz="14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sz="1400" dirty="0">
                <a:latin typeface="Microsoft YaHei" charset="-122"/>
                <a:ea typeface="Microsoft YaHei" charset="-122"/>
                <a:cs typeface="Microsoft YaHei" charset="-122"/>
              </a:rPr>
              <a:t>SSD</a:t>
            </a: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到</a:t>
            </a:r>
            <a:r>
              <a:rPr kumimoji="1" lang="en-US" altLang="zh-CN" sz="1400" dirty="0">
                <a:latin typeface="Microsoft YaHei" charset="-122"/>
                <a:ea typeface="Microsoft YaHei" charset="-122"/>
                <a:cs typeface="Microsoft YaHei" charset="-122"/>
              </a:rPr>
              <a:t>SQ</a:t>
            </a: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中取指执行，并写执行结果到</a:t>
            </a:r>
            <a:r>
              <a:rPr kumimoji="1" lang="en-US" altLang="zh-CN" sz="1400" dirty="0">
                <a:latin typeface="Microsoft YaHei" charset="-122"/>
                <a:ea typeface="Microsoft YaHei" charset="-122"/>
                <a:cs typeface="Microsoft YaHei" charset="-122"/>
              </a:rPr>
              <a:t>CQ</a:t>
            </a: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；</a:t>
            </a:r>
            <a:r>
              <a:rPr kumimoji="1" lang="en-US" altLang="zh-CN" sz="1400" dirty="0">
                <a:latin typeface="Microsoft YaHei" charset="-122"/>
                <a:ea typeface="Microsoft YaHei" charset="-122"/>
                <a:cs typeface="Microsoft YaHei" charset="-122"/>
              </a:rPr>
              <a:t>	(SSD</a:t>
            </a: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执行并写</a:t>
            </a:r>
            <a:r>
              <a:rPr kumimoji="1" lang="en-US" altLang="zh-CN" sz="1400" dirty="0">
                <a:latin typeface="Microsoft YaHei" charset="-122"/>
                <a:ea typeface="Microsoft YaHei" charset="-122"/>
                <a:cs typeface="Microsoft YaHei" charset="-122"/>
              </a:rPr>
              <a:t>CQ)</a:t>
            </a: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endParaRPr kumimoji="1" lang="en-US" altLang="zh-CN" sz="14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然后</a:t>
            </a:r>
            <a:r>
              <a:rPr kumimoji="1" lang="en-US" altLang="zh-CN" sz="1400" dirty="0">
                <a:latin typeface="Microsoft YaHei" charset="-122"/>
                <a:ea typeface="Microsoft YaHei" charset="-122"/>
                <a:cs typeface="Microsoft YaHei" charset="-122"/>
              </a:rPr>
              <a:t>SSD</a:t>
            </a: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发</a:t>
            </a:r>
            <a:r>
              <a:rPr kumimoji="1" lang="en-US" altLang="zh-CN" sz="1400" dirty="0">
                <a:latin typeface="Microsoft YaHei" charset="-122"/>
                <a:ea typeface="Microsoft YaHei" charset="-122"/>
                <a:cs typeface="Microsoft YaHei" charset="-122"/>
              </a:rPr>
              <a:t>(MSI-X)</a:t>
            </a: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中断通知主机指令完成； </a:t>
            </a:r>
            <a:r>
              <a:rPr kumimoji="1" lang="en-US" altLang="zh-CN" sz="1400" dirty="0">
                <a:latin typeface="Microsoft YaHei" charset="-122"/>
                <a:ea typeface="Microsoft YaHei" charset="-122"/>
                <a:cs typeface="Microsoft YaHei" charset="-122"/>
              </a:rPr>
              <a:t>	(SSD</a:t>
            </a: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通知</a:t>
            </a:r>
            <a:r>
              <a:rPr kumimoji="1" lang="en-US" altLang="zh-CN" sz="1400" dirty="0">
                <a:latin typeface="Microsoft YaHei" charset="-122"/>
                <a:ea typeface="Microsoft YaHei" charset="-122"/>
                <a:cs typeface="Microsoft YaHei" charset="-122"/>
              </a:rPr>
              <a:t>Host)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收到中断，主机处理</a:t>
            </a:r>
            <a:r>
              <a:rPr kumimoji="1" lang="en-US" altLang="zh-CN" sz="1400" dirty="0">
                <a:latin typeface="Microsoft YaHei" charset="-122"/>
                <a:ea typeface="Microsoft YaHei" charset="-122"/>
                <a:cs typeface="Microsoft YaHei" charset="-122"/>
              </a:rPr>
              <a:t>CQ</a:t>
            </a: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，查看指令完成状态； </a:t>
            </a:r>
            <a:r>
              <a:rPr kumimoji="1" lang="en-US" altLang="zh-CN" sz="1400" dirty="0">
                <a:latin typeface="Microsoft YaHei" charset="-122"/>
                <a:ea typeface="Microsoft YaHei" charset="-122"/>
                <a:cs typeface="Microsoft YaHei" charset="-122"/>
              </a:rPr>
              <a:t>	(Host</a:t>
            </a: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处理完成</a:t>
            </a:r>
            <a:r>
              <a:rPr kumimoji="1" lang="en-US" altLang="zh-CN" sz="1400" dirty="0">
                <a:latin typeface="Microsoft YaHei" charset="-122"/>
                <a:ea typeface="Microsoft YaHei" charset="-122"/>
                <a:cs typeface="Microsoft YaHei" charset="-122"/>
              </a:rPr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通过</a:t>
            </a:r>
            <a:r>
              <a:rPr kumimoji="1" lang="en-US" altLang="zh-CN" sz="1400" dirty="0">
                <a:latin typeface="Microsoft YaHei" charset="-122"/>
                <a:ea typeface="Microsoft YaHei" charset="-122"/>
                <a:cs typeface="Microsoft YaHei" charset="-122"/>
              </a:rPr>
              <a:t>DB</a:t>
            </a: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回复</a:t>
            </a:r>
            <a:r>
              <a:rPr kumimoji="1" lang="en-US" altLang="zh-CN" sz="1400" dirty="0">
                <a:latin typeface="Microsoft YaHei" charset="-122"/>
                <a:ea typeface="Microsoft YaHei" charset="-122"/>
                <a:cs typeface="Microsoft YaHei" charset="-122"/>
              </a:rPr>
              <a:t>SSD</a:t>
            </a: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：指令执行已完！</a:t>
            </a:r>
            <a:r>
              <a:rPr kumimoji="1" lang="en-US" altLang="zh-CN" sz="1400" dirty="0">
                <a:latin typeface="Microsoft YaHei" charset="-122"/>
                <a:ea typeface="Microsoft YaHei" charset="-122"/>
                <a:cs typeface="Microsoft YaHei" charset="-122"/>
              </a:rPr>
              <a:t>		(Host</a:t>
            </a: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通知</a:t>
            </a:r>
            <a:r>
              <a:rPr kumimoji="1" lang="en-US" altLang="zh-CN" sz="1400" dirty="0">
                <a:latin typeface="Microsoft YaHei" charset="-122"/>
                <a:ea typeface="Microsoft YaHei" charset="-122"/>
                <a:cs typeface="Microsoft YaHei" charset="-122"/>
              </a:rPr>
              <a:t>SSD</a:t>
            </a: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完成</a:t>
            </a:r>
            <a:r>
              <a:rPr kumimoji="1" lang="en-US" altLang="zh-CN" sz="1400" dirty="0">
                <a:latin typeface="Microsoft YaHei" charset="-122"/>
                <a:ea typeface="Microsoft YaHei" charset="-122"/>
                <a:cs typeface="Microsoft YaHei" charset="-122"/>
              </a:rPr>
              <a:t>)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F8E656A-AE9C-A64C-AF7F-E3557E192828}"/>
              </a:ext>
            </a:extLst>
          </p:cNvPr>
          <p:cNvSpPr txBox="1"/>
          <p:nvPr/>
        </p:nvSpPr>
        <p:spPr>
          <a:xfrm>
            <a:off x="654258" y="589775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硬件存储栈简介 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–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800" dirty="0" err="1">
                <a:latin typeface="Microsoft YaHei" charset="-122"/>
                <a:ea typeface="Microsoft YaHei" charset="-122"/>
                <a:cs typeface="Microsoft YaHei" charset="-122"/>
              </a:rPr>
              <a:t>NVMe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协议</a:t>
            </a:r>
            <a:endParaRPr kumimoji="1" lang="en-US" altLang="zh-CN" sz="28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49592716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6801492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376717" y="1173975"/>
            <a:ext cx="11079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600" dirty="0">
                <a:solidFill>
                  <a:schemeClr val="bg1">
                    <a:lumMod val="9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目录</a:t>
            </a:r>
            <a:endParaRPr kumimoji="1" lang="en-US" altLang="zh-CN" sz="3600" dirty="0">
              <a:solidFill>
                <a:schemeClr val="bg1">
                  <a:lumMod val="95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70166" y="2411366"/>
            <a:ext cx="6373834" cy="3847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    </a:t>
            </a:r>
            <a:r>
              <a:rPr kumimoji="1" lang="en-US" altLang="zh-CN" sz="2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NVMe</a:t>
            </a:r>
            <a:r>
              <a:rPr kumimoji="1"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硬件存储栈</a:t>
            </a:r>
            <a:endParaRPr kumimoji="1" lang="en-US" altLang="zh-CN" sz="2800" dirty="0">
              <a:solidFill>
                <a:schemeClr val="tx1">
                  <a:lumMod val="50000"/>
                  <a:lumOff val="50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    软件存储栈</a:t>
            </a:r>
            <a:endParaRPr kumimoji="1" lang="en-US" altLang="zh-CN" sz="28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1371600" lvl="2" indent="-457200">
              <a:lnSpc>
                <a:spcPct val="150000"/>
              </a:lnSpc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Linux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内核存储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I/O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栈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371600" lvl="2" indent="-457200">
              <a:lnSpc>
                <a:spcPct val="150000"/>
              </a:lnSpc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用户态存储栈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371600" lvl="2" indent="-457200">
              <a:lnSpc>
                <a:spcPct val="150000"/>
              </a:lnSpc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Persistent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Memory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存储栈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    高性能软件存储栈优化</a:t>
            </a:r>
            <a:endParaRPr kumimoji="1" lang="en-US" altLang="zh-CN" sz="2800" dirty="0">
              <a:solidFill>
                <a:schemeClr val="tx1">
                  <a:lumMod val="50000"/>
                  <a:lumOff val="50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    存储栈发展趋势</a:t>
            </a:r>
            <a:endParaRPr kumimoji="1" lang="en-US" altLang="zh-CN" sz="2800" dirty="0">
              <a:solidFill>
                <a:schemeClr val="tx1">
                  <a:lumMod val="50000"/>
                  <a:lumOff val="50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0617323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F8E656A-AE9C-A64C-AF7F-E3557E192828}"/>
              </a:ext>
            </a:extLst>
          </p:cNvPr>
          <p:cNvSpPr txBox="1"/>
          <p:nvPr/>
        </p:nvSpPr>
        <p:spPr>
          <a:xfrm>
            <a:off x="654258" y="589775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Linux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内核存储栈 </a:t>
            </a:r>
            <a:r>
              <a:rPr kumimoji="1" lang="en-US" altLang="zh-CN" sz="2000" dirty="0">
                <a:latin typeface="Microsoft YaHei" charset="-122"/>
                <a:ea typeface="Microsoft YaHei" charset="-122"/>
                <a:cs typeface="Microsoft YaHei" charset="-122"/>
              </a:rPr>
              <a:t>[5]</a:t>
            </a:r>
            <a:endParaRPr kumimoji="1" lang="en-US" altLang="zh-CN" sz="28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A6D057B-57B7-8342-AF04-EAB6D2080FD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1" t="2467"/>
          <a:stretch/>
        </p:blipFill>
        <p:spPr>
          <a:xfrm>
            <a:off x="1446661" y="1446663"/>
            <a:ext cx="3766783" cy="4821562"/>
          </a:xfrm>
          <a:prstGeom prst="rect">
            <a:avLst/>
          </a:prstGeom>
        </p:spPr>
      </p:pic>
      <p:sp>
        <p:nvSpPr>
          <p:cNvPr id="4" name="右大括号 3">
            <a:extLst>
              <a:ext uri="{FF2B5EF4-FFF2-40B4-BE49-F238E27FC236}">
                <a16:creationId xmlns:a16="http://schemas.microsoft.com/office/drawing/2014/main" id="{74418985-9446-F344-8F97-1F7FF94CA762}"/>
              </a:ext>
            </a:extLst>
          </p:cNvPr>
          <p:cNvSpPr/>
          <p:nvPr/>
        </p:nvSpPr>
        <p:spPr>
          <a:xfrm>
            <a:off x="5636524" y="2070952"/>
            <a:ext cx="245661" cy="62908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右大括号 10">
            <a:extLst>
              <a:ext uri="{FF2B5EF4-FFF2-40B4-BE49-F238E27FC236}">
                <a16:creationId xmlns:a16="http://schemas.microsoft.com/office/drawing/2014/main" id="{498A68E6-38C7-1C4F-8639-5399E21CC471}"/>
              </a:ext>
            </a:extLst>
          </p:cNvPr>
          <p:cNvSpPr/>
          <p:nvPr/>
        </p:nvSpPr>
        <p:spPr>
          <a:xfrm>
            <a:off x="5636524" y="2718748"/>
            <a:ext cx="232013" cy="166647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右大括号 12">
            <a:extLst>
              <a:ext uri="{FF2B5EF4-FFF2-40B4-BE49-F238E27FC236}">
                <a16:creationId xmlns:a16="http://schemas.microsoft.com/office/drawing/2014/main" id="{4AA761C2-6188-044C-9931-434800E5876A}"/>
              </a:ext>
            </a:extLst>
          </p:cNvPr>
          <p:cNvSpPr/>
          <p:nvPr/>
        </p:nvSpPr>
        <p:spPr>
          <a:xfrm>
            <a:off x="5650172" y="4385228"/>
            <a:ext cx="232013" cy="188299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C94D7FC-CA0B-9A4A-8CC3-A1009E64BEA5}"/>
              </a:ext>
            </a:extLst>
          </p:cNvPr>
          <p:cNvSpPr txBox="1"/>
          <p:nvPr/>
        </p:nvSpPr>
        <p:spPr>
          <a:xfrm>
            <a:off x="5895833" y="2188654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文件系统层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E424B63-AF2A-184E-999B-839C32D6B7C0}"/>
              </a:ext>
            </a:extLst>
          </p:cNvPr>
          <p:cNvSpPr txBox="1"/>
          <p:nvPr/>
        </p:nvSpPr>
        <p:spPr>
          <a:xfrm>
            <a:off x="6166437" y="3331943"/>
            <a:ext cx="9941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块</a:t>
            </a:r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IO</a:t>
            </a: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8924E8B-DA8C-7C43-9FFC-B84939C40C6C}"/>
              </a:ext>
            </a:extLst>
          </p:cNvPr>
          <p:cNvSpPr txBox="1"/>
          <p:nvPr/>
        </p:nvSpPr>
        <p:spPr>
          <a:xfrm>
            <a:off x="5990386" y="5140406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设备驱动层</a:t>
            </a:r>
          </a:p>
        </p:txBody>
      </p:sp>
      <p:sp>
        <p:nvSpPr>
          <p:cNvPr id="18" name="右大括号 17">
            <a:extLst>
              <a:ext uri="{FF2B5EF4-FFF2-40B4-BE49-F238E27FC236}">
                <a16:creationId xmlns:a16="http://schemas.microsoft.com/office/drawing/2014/main" id="{BA029329-8D17-7647-BF79-AA28E9D22009}"/>
              </a:ext>
            </a:extLst>
          </p:cNvPr>
          <p:cNvSpPr/>
          <p:nvPr/>
        </p:nvSpPr>
        <p:spPr>
          <a:xfrm>
            <a:off x="5650172" y="1446663"/>
            <a:ext cx="218365" cy="62908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FE7466D-81D6-EA49-9452-CECAEE4138E3}"/>
              </a:ext>
            </a:extLst>
          </p:cNvPr>
          <p:cNvSpPr txBox="1"/>
          <p:nvPr/>
        </p:nvSpPr>
        <p:spPr>
          <a:xfrm>
            <a:off x="6138663" y="1561150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应用层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EF2ECAF-CEA7-E840-95A0-3B415D14F74D}"/>
              </a:ext>
            </a:extLst>
          </p:cNvPr>
          <p:cNvSpPr txBox="1"/>
          <p:nvPr/>
        </p:nvSpPr>
        <p:spPr>
          <a:xfrm>
            <a:off x="7763104" y="1646774"/>
            <a:ext cx="1031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用户态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2" name="直线连接符 21">
            <a:extLst>
              <a:ext uri="{FF2B5EF4-FFF2-40B4-BE49-F238E27FC236}">
                <a16:creationId xmlns:a16="http://schemas.microsoft.com/office/drawing/2014/main" id="{78550B19-646D-514D-8B7F-E5E24ACE915F}"/>
              </a:ext>
            </a:extLst>
          </p:cNvPr>
          <p:cNvCxnSpPr>
            <a:cxnSpLocks/>
          </p:cNvCxnSpPr>
          <p:nvPr/>
        </p:nvCxnSpPr>
        <p:spPr>
          <a:xfrm>
            <a:off x="968990" y="2070952"/>
            <a:ext cx="7900818" cy="0"/>
          </a:xfrm>
          <a:prstGeom prst="line">
            <a:avLst/>
          </a:prstGeom>
          <a:ln w="381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4F415DB5-D516-2A4B-85A5-DE53CF6E5569}"/>
              </a:ext>
            </a:extLst>
          </p:cNvPr>
          <p:cNvSpPr txBox="1"/>
          <p:nvPr/>
        </p:nvSpPr>
        <p:spPr>
          <a:xfrm>
            <a:off x="7763105" y="2125798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内核态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3846057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3" grpId="0" animBg="1"/>
      <p:bldP spid="5" grpId="0"/>
      <p:bldP spid="14" grpId="0"/>
      <p:bldP spid="16" grpId="0"/>
      <p:bldP spid="18" grpId="0" animBg="1"/>
      <p:bldP spid="19" grpId="0"/>
      <p:bldP spid="17" grpId="0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F8E656A-AE9C-A64C-AF7F-E3557E192828}"/>
              </a:ext>
            </a:extLst>
          </p:cNvPr>
          <p:cNvSpPr txBox="1"/>
          <p:nvPr/>
        </p:nvSpPr>
        <p:spPr>
          <a:xfrm>
            <a:off x="654258" y="507888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Linux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内核存储栈 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--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应用层</a:t>
            </a:r>
            <a:endParaRPr kumimoji="1" lang="en-US" altLang="zh-CN" sz="28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9A02373-0D55-C945-AE9C-F66391D2E913}"/>
              </a:ext>
            </a:extLst>
          </p:cNvPr>
          <p:cNvSpPr txBox="1"/>
          <p:nvPr/>
        </p:nvSpPr>
        <p:spPr>
          <a:xfrm>
            <a:off x="654258" y="4477811"/>
            <a:ext cx="77519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最不固定</a:t>
            </a: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灵活</a:t>
            </a: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，但也是存储栈重要一环，比如数据库存储引擎一般实现于应用层，最终通过系统调用进入文件系统层。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A16188D-A759-DF45-88BF-0471FB818C7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5937"/>
          <a:stretch/>
        </p:blipFill>
        <p:spPr>
          <a:xfrm>
            <a:off x="753562" y="1766404"/>
            <a:ext cx="7652624" cy="2029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491675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F8E656A-AE9C-A64C-AF7F-E3557E192828}"/>
              </a:ext>
            </a:extLst>
          </p:cNvPr>
          <p:cNvSpPr txBox="1"/>
          <p:nvPr/>
        </p:nvSpPr>
        <p:spPr>
          <a:xfrm>
            <a:off x="654258" y="507888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Linux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内核存储栈 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--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文件系统层 </a:t>
            </a:r>
            <a:endParaRPr kumimoji="1" lang="en-US" altLang="zh-CN" sz="28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9A02373-0D55-C945-AE9C-F66391D2E913}"/>
              </a:ext>
            </a:extLst>
          </p:cNvPr>
          <p:cNvSpPr txBox="1"/>
          <p:nvPr/>
        </p:nvSpPr>
        <p:spPr>
          <a:xfrm>
            <a:off x="429904" y="4124146"/>
            <a:ext cx="85912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VFS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为不同文件系统的实现提供统一的接口，调用对应的文件系统实现。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主要分两个路径</a:t>
            </a: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Buffered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I/O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使用</a:t>
            </a:r>
            <a:r>
              <a:rPr kumimoji="1" lang="en-US" altLang="zh-CN" sz="20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Page</a:t>
            </a:r>
            <a:r>
              <a:rPr kumimoji="1" lang="zh-CN" altLang="en-US" sz="20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20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Cache</a:t>
            </a: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Direct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I/O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(open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文件时加</a:t>
            </a:r>
            <a:r>
              <a:rPr kumimoji="1" lang="en-US" altLang="zh-CN" sz="20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O_DIRECT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标志</a:t>
            </a: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 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C4868A8-8A10-9F44-8AD9-02EBC84EB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531" y="1333916"/>
            <a:ext cx="6094184" cy="23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242092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70616793-20DF-9348-B1CA-59ED385AB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7180" y="1967867"/>
            <a:ext cx="3272050" cy="2217834"/>
          </a:xfrm>
          <a:prstGeom prst="rect">
            <a:avLst/>
          </a:prstGeom>
        </p:spPr>
      </p:pic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F8E656A-AE9C-A64C-AF7F-E3557E192828}"/>
              </a:ext>
            </a:extLst>
          </p:cNvPr>
          <p:cNvSpPr txBox="1"/>
          <p:nvPr/>
        </p:nvSpPr>
        <p:spPr>
          <a:xfrm>
            <a:off x="654258" y="507888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文件系统层 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--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作用和功能</a:t>
            </a:r>
            <a:endParaRPr kumimoji="1" lang="en-US" altLang="zh-CN" sz="28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9A02373-0D55-C945-AE9C-F66391D2E913}"/>
              </a:ext>
            </a:extLst>
          </p:cNvPr>
          <p:cNvSpPr txBox="1"/>
          <p:nvPr/>
        </p:nvSpPr>
        <p:spPr>
          <a:xfrm>
            <a:off x="654258" y="1569492"/>
            <a:ext cx="77519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文件和文件夹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目录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形式的管理是最为广泛使用的数据存储抽象。文件系统负责管理文件数据的存取。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6721408-559B-584A-B199-97B0AEF4FA01}"/>
              </a:ext>
            </a:extLst>
          </p:cNvPr>
          <p:cNvSpPr txBox="1"/>
          <p:nvPr/>
        </p:nvSpPr>
        <p:spPr>
          <a:xfrm>
            <a:off x="1433016" y="4195187"/>
            <a:ext cx="5800298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一些文件系统的常用接口：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2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创建删除文件：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		</a:t>
            </a:r>
            <a:r>
              <a:rPr kumimoji="1" lang="en-US" altLang="zh-CN" sz="16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creat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,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unlink</a:t>
            </a:r>
          </a:p>
          <a:p>
            <a:pPr lvl="2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打开文件： 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		open</a:t>
            </a:r>
          </a:p>
          <a:p>
            <a:pPr lvl="2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读写文件： 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		read,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write</a:t>
            </a:r>
          </a:p>
          <a:p>
            <a:pPr lvl="2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映射文件：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		</a:t>
            </a:r>
            <a:r>
              <a:rPr kumimoji="1" lang="en-US" altLang="zh-CN" sz="16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mmap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2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与磁盘同步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刷盘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		</a:t>
            </a:r>
            <a:r>
              <a:rPr kumimoji="1" lang="en-US" altLang="zh-CN" sz="16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fsync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,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6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msync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2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修改权限：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		</a:t>
            </a:r>
            <a:r>
              <a:rPr kumimoji="1" lang="en-US" altLang="zh-CN" sz="16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chmod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2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获取文件信息：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		stat</a:t>
            </a:r>
            <a:endParaRPr kumimoji="1" lang="zh-CN" altLang="en-US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1653709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F8E656A-AE9C-A64C-AF7F-E3557E192828}"/>
              </a:ext>
            </a:extLst>
          </p:cNvPr>
          <p:cNvSpPr txBox="1"/>
          <p:nvPr/>
        </p:nvSpPr>
        <p:spPr>
          <a:xfrm>
            <a:off x="654258" y="507888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文件系统层 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--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page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cache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9A02373-0D55-C945-AE9C-F66391D2E913}"/>
              </a:ext>
            </a:extLst>
          </p:cNvPr>
          <p:cNvSpPr txBox="1"/>
          <p:nvPr/>
        </p:nvSpPr>
        <p:spPr>
          <a:xfrm>
            <a:off x="556145" y="1735822"/>
            <a:ext cx="7731457" cy="3269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Linux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系统默认的</a:t>
            </a: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buffered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IO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读写会“吃掉”暂时空闲的内存空间用于缓存文件数据，这部分缓存称为 </a:t>
            </a: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page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cache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Page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cache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对提升磁盘</a:t>
            </a: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I/O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性能，充分利用内存资源。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但有些应用在用户态实现自己的文件缓存，因此可以用</a:t>
            </a: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direct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IO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来绕过</a:t>
            </a: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page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cache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88919488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F8E656A-AE9C-A64C-AF7F-E3557E192828}"/>
              </a:ext>
            </a:extLst>
          </p:cNvPr>
          <p:cNvSpPr txBox="1"/>
          <p:nvPr/>
        </p:nvSpPr>
        <p:spPr>
          <a:xfrm>
            <a:off x="654258" y="507888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文件系统层 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--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page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cache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9A02373-0D55-C945-AE9C-F66391D2E913}"/>
              </a:ext>
            </a:extLst>
          </p:cNvPr>
          <p:cNvSpPr txBox="1"/>
          <p:nvPr/>
        </p:nvSpPr>
        <p:spPr>
          <a:xfrm>
            <a:off x="429904" y="1572049"/>
            <a:ext cx="8284191" cy="78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Buffered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I/O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kumimoji="1" lang="en-US" altLang="zh-CN" sz="16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Page</a:t>
            </a:r>
            <a:r>
              <a:rPr kumimoji="1" lang="zh-CN" altLang="en-US" sz="16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Cache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):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内核以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4K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页为单位进行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IO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请求和文件数据缓存。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Direct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I/O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kumimoji="1" lang="en-US" altLang="zh-CN" sz="16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O_DIRECT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):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不使用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page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cache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，但偏移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地址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大小等要和扇区大小对齐。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C08FBF3-9B82-1348-A78A-99A683AC3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72059"/>
            <a:ext cx="4034645" cy="282154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30A48F3-252C-4241-85E0-3CFED196E7E9}"/>
              </a:ext>
            </a:extLst>
          </p:cNvPr>
          <p:cNvSpPr txBox="1"/>
          <p:nvPr/>
        </p:nvSpPr>
        <p:spPr>
          <a:xfrm>
            <a:off x="819313" y="5893604"/>
            <a:ext cx="2479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Buffered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I/O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写示例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ED9E960-CAFB-B742-B00A-7C1234E9B2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7158" y="2586359"/>
            <a:ext cx="4926842" cy="330724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EB8992B-B172-4544-BE32-51E1C0031362}"/>
              </a:ext>
            </a:extLst>
          </p:cNvPr>
          <p:cNvSpPr txBox="1"/>
          <p:nvPr/>
        </p:nvSpPr>
        <p:spPr>
          <a:xfrm>
            <a:off x="5440771" y="5893604"/>
            <a:ext cx="2479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Direct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I/O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写示例</a:t>
            </a:r>
          </a:p>
        </p:txBody>
      </p:sp>
    </p:spTree>
    <p:extLst>
      <p:ext uri="{BB962C8B-B14F-4D97-AF65-F5344CB8AC3E}">
        <p14:creationId xmlns:p14="http://schemas.microsoft.com/office/powerpoint/2010/main" val="1108981288"/>
      </p:ext>
    </p:extLst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C6E8351-42B2-6846-8E8F-02B509BAB533}"/>
              </a:ext>
            </a:extLst>
          </p:cNvPr>
          <p:cNvSpPr txBox="1"/>
          <p:nvPr/>
        </p:nvSpPr>
        <p:spPr>
          <a:xfrm>
            <a:off x="839245" y="4309635"/>
            <a:ext cx="7528141" cy="1289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Stackable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block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layer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(bio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layer)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管理逻辑块到物理资源的映射，实现一些存储虚拟化的特性。支持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md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(RAID),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LVM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卷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,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块层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cache(</a:t>
            </a:r>
            <a:r>
              <a:rPr kumimoji="1"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Bcache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等功能。数据重复删除、远程备份等功能也适合在这一层实现。</a:t>
            </a:r>
            <a:endParaRPr kumimoji="1" lang="zh-CN" altLang="en-US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9D38C32-CCE5-7F44-A2A2-61EDBB54D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356" y="1987852"/>
            <a:ext cx="8079288" cy="206310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DDD4D2E-FE49-7640-A6F7-C66A5BB99084}"/>
              </a:ext>
            </a:extLst>
          </p:cNvPr>
          <p:cNvSpPr txBox="1"/>
          <p:nvPr/>
        </p:nvSpPr>
        <p:spPr>
          <a:xfrm>
            <a:off x="230460" y="572606"/>
            <a:ext cx="71849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Linux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内核存储栈</a:t>
            </a:r>
            <a:r>
              <a:rPr kumimoji="1" lang="zh-CN" altLang="en-US" sz="2000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000" dirty="0">
                <a:latin typeface="Microsoft YaHei" charset="-122"/>
                <a:ea typeface="Microsoft YaHei" charset="-122"/>
                <a:cs typeface="Microsoft YaHei" charset="-122"/>
              </a:rPr>
              <a:t>--</a:t>
            </a:r>
            <a:r>
              <a:rPr kumimoji="1" lang="zh-CN" altLang="en-US" sz="2000" dirty="0">
                <a:latin typeface="Microsoft YaHei" charset="-122"/>
                <a:ea typeface="Microsoft YaHei" charset="-122"/>
                <a:cs typeface="Microsoft YaHei" charset="-122"/>
              </a:rPr>
              <a:t>  块层 </a:t>
            </a:r>
            <a:r>
              <a:rPr kumimoji="1" lang="en-US" altLang="zh-CN" sz="2000" dirty="0">
                <a:latin typeface="Microsoft YaHei" charset="-122"/>
                <a:ea typeface="Microsoft YaHei" charset="-122"/>
                <a:cs typeface="Microsoft YaHei" charset="-122"/>
              </a:rPr>
              <a:t>Stackable</a:t>
            </a:r>
            <a:r>
              <a:rPr kumimoji="1" lang="zh-CN" altLang="en-US" sz="2000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000" dirty="0">
                <a:latin typeface="Microsoft YaHei" charset="-122"/>
                <a:ea typeface="Microsoft YaHei" charset="-122"/>
                <a:cs typeface="Microsoft YaHei" charset="-122"/>
              </a:rPr>
              <a:t>Layers</a:t>
            </a:r>
            <a:endParaRPr kumimoji="1" lang="en-US" altLang="zh-CN" sz="28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5162037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722C622-3958-F24F-9A05-79CF9DA8F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7863" y="1544077"/>
            <a:ext cx="5849655" cy="290516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F66CA4E-5DD8-1F47-A9AD-BA3FC62AF78A}"/>
              </a:ext>
            </a:extLst>
          </p:cNvPr>
          <p:cNvSpPr txBox="1"/>
          <p:nvPr/>
        </p:nvSpPr>
        <p:spPr>
          <a:xfrm>
            <a:off x="839243" y="4954588"/>
            <a:ext cx="74655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块调度层主要包括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single-queue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multi-queue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两种请求队列，每种队列又对应自己的调度器。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67D58AD-3389-1F46-8636-1F9B75A1E8D7}"/>
              </a:ext>
            </a:extLst>
          </p:cNvPr>
          <p:cNvSpPr txBox="1"/>
          <p:nvPr/>
        </p:nvSpPr>
        <p:spPr>
          <a:xfrm>
            <a:off x="230460" y="572606"/>
            <a:ext cx="58496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Linux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内核存储栈</a:t>
            </a:r>
            <a:r>
              <a:rPr kumimoji="1" lang="zh-CN" altLang="en-US" sz="2000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000" dirty="0">
                <a:latin typeface="Microsoft YaHei" charset="-122"/>
                <a:ea typeface="Microsoft YaHei" charset="-122"/>
                <a:cs typeface="Microsoft YaHei" charset="-122"/>
              </a:rPr>
              <a:t>--</a:t>
            </a:r>
            <a:r>
              <a:rPr kumimoji="1" lang="zh-CN" altLang="en-US" sz="2000" dirty="0">
                <a:latin typeface="Microsoft YaHei" charset="-122"/>
                <a:ea typeface="Microsoft YaHei" charset="-122"/>
                <a:cs typeface="Microsoft YaHei" charset="-122"/>
              </a:rPr>
              <a:t>  块层 </a:t>
            </a:r>
            <a:r>
              <a:rPr kumimoji="1" lang="en-US" altLang="zh-CN" sz="2000" dirty="0">
                <a:latin typeface="Microsoft YaHei" charset="-122"/>
                <a:ea typeface="Microsoft YaHei" charset="-122"/>
                <a:cs typeface="Microsoft YaHei" charset="-122"/>
              </a:rPr>
              <a:t>I/O</a:t>
            </a:r>
            <a:r>
              <a:rPr kumimoji="1" lang="zh-CN" altLang="en-US" sz="2000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000" dirty="0">
                <a:latin typeface="Microsoft YaHei" charset="-122"/>
                <a:ea typeface="Microsoft YaHei" charset="-122"/>
                <a:cs typeface="Microsoft YaHei" charset="-122"/>
              </a:rPr>
              <a:t>Scheduler</a:t>
            </a:r>
            <a:endParaRPr kumimoji="1" lang="en-US" altLang="zh-CN" sz="28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2949957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F8E656A-AE9C-A64C-AF7F-E3557E192828}"/>
              </a:ext>
            </a:extLst>
          </p:cNvPr>
          <p:cNvSpPr txBox="1"/>
          <p:nvPr/>
        </p:nvSpPr>
        <p:spPr>
          <a:xfrm>
            <a:off x="654258" y="507888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块层 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–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I/O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Scheduler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endParaRPr kumimoji="1" lang="en-US" altLang="zh-CN" sz="28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F66CA4E-5DD8-1F47-A9AD-BA3FC62AF78A}"/>
              </a:ext>
            </a:extLst>
          </p:cNvPr>
          <p:cNvSpPr txBox="1"/>
          <p:nvPr/>
        </p:nvSpPr>
        <p:spPr>
          <a:xfrm>
            <a:off x="654258" y="1710347"/>
            <a:ext cx="803880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I/O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调度器：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lang="fr-FR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oop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fr-FR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(no </a:t>
            </a:r>
            <a:r>
              <a:rPr lang="fr-FR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operation</a:t>
            </a:r>
            <a:r>
              <a:rPr lang="fr-FR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):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简单的</a:t>
            </a:r>
            <a:r>
              <a:rPr lang="fr-FR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FIFO</a:t>
            </a:r>
            <a:r>
              <a:rPr lang="zh-CN" altLang="fr-F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直接插入到调度队列的末尾。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deadline: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有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个请求队列。其中有一对分别是放读写请求队列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排序队列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；另一对是按最后期限排列的读写请求队列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fr-FR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deadline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队列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CFQ(</a:t>
            </a:r>
            <a:r>
              <a:rPr lang="fr-FR" altLang="zh-CN" sz="16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complete</a:t>
            </a:r>
            <a:r>
              <a:rPr lang="fr-FR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fr-FR" altLang="zh-CN" sz="16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fairness</a:t>
            </a:r>
            <a:r>
              <a:rPr lang="fr-FR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queue): 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多个请求队列，用</a:t>
            </a:r>
            <a:r>
              <a:rPr lang="fr-FR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hash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将一个进程号的请求发到一个请求队列（因此，一个进程常发到一个队列）。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altLang="zh-CN" sz="16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Anticipatory</a:t>
            </a:r>
            <a:r>
              <a:rPr lang="fr-FR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("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预期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", 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默认算法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[2]): 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类似</a:t>
            </a:r>
            <a:r>
              <a:rPr lang="fr-FR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deadline</a:t>
            </a:r>
            <a:r>
              <a:rPr lang="zh-CN" altLang="fr-FR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但加入了一些启发式准则。</a:t>
            </a:r>
            <a:endParaRPr lang="zh-CN" alt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55606987"/>
      </p:ext>
    </p:extLst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F8E656A-AE9C-A64C-AF7F-E3557E192828}"/>
              </a:ext>
            </a:extLst>
          </p:cNvPr>
          <p:cNvSpPr txBox="1"/>
          <p:nvPr/>
        </p:nvSpPr>
        <p:spPr>
          <a:xfrm>
            <a:off x="654258" y="507888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块层 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–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I/O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Scheduler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endParaRPr kumimoji="1" lang="en-US" altLang="zh-CN" sz="28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F66CA4E-5DD8-1F47-A9AD-BA3FC62AF78A}"/>
              </a:ext>
            </a:extLst>
          </p:cNvPr>
          <p:cNvSpPr txBox="1"/>
          <p:nvPr/>
        </p:nvSpPr>
        <p:spPr>
          <a:xfrm>
            <a:off x="654258" y="1710347"/>
            <a:ext cx="8038805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I/O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调度器：</a:t>
            </a:r>
            <a:r>
              <a:rPr lang="fr-FR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lang="fr-FR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oop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fr-FR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(no </a:t>
            </a:r>
            <a:r>
              <a:rPr lang="fr-FR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operation</a:t>
            </a:r>
            <a:r>
              <a:rPr lang="fr-FR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):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简单的</a:t>
            </a:r>
            <a:r>
              <a:rPr lang="fr-FR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FIFO</a:t>
            </a:r>
            <a:r>
              <a:rPr lang="zh-CN" altLang="fr-F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直接插入到调度队列的末尾。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deadline: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有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个请求队列。其中有一对分别是放读写请求队列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排序队列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；另一对是按最后期限排列的读写请求队列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fr-FR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deadline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队列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CFQ(</a:t>
            </a:r>
            <a:r>
              <a:rPr lang="fr-FR" altLang="zh-CN" sz="16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complete</a:t>
            </a:r>
            <a:r>
              <a:rPr lang="fr-FR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fr-FR" altLang="zh-CN" sz="16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fairness</a:t>
            </a:r>
            <a:r>
              <a:rPr lang="fr-FR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queue): 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多个请求队列，用</a:t>
            </a:r>
            <a:r>
              <a:rPr lang="fr-FR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hash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将一个进程号的请求发到一个请求队列（因此，一个进程常发到一个队列）。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altLang="zh-CN" sz="16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Anticipatory</a:t>
            </a:r>
            <a:r>
              <a:rPr lang="fr-FR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("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预期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", 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默认算法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[2]): 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类似</a:t>
            </a:r>
            <a:r>
              <a:rPr lang="fr-FR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deadline</a:t>
            </a:r>
            <a:r>
              <a:rPr lang="zh-CN" altLang="fr-FR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但加入了一些启发式准则。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CN" altLang="en-US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Multi-queue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调度器：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none: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类似于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single-queue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</a:t>
            </a:r>
            <a:r>
              <a:rPr kumimoji="1"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noop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调度器。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mq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-deadline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bfq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kyber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17640913"/>
      </p:ext>
    </p:extLst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F8E656A-AE9C-A64C-AF7F-E3557E192828}"/>
              </a:ext>
            </a:extLst>
          </p:cNvPr>
          <p:cNvSpPr txBox="1"/>
          <p:nvPr/>
        </p:nvSpPr>
        <p:spPr>
          <a:xfrm>
            <a:off x="654258" y="507888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块层 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–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I/O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Scheduler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endParaRPr kumimoji="1" lang="en-US" altLang="zh-CN" sz="28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F66CA4E-5DD8-1F47-A9AD-BA3FC62AF78A}"/>
              </a:ext>
            </a:extLst>
          </p:cNvPr>
          <p:cNvSpPr txBox="1"/>
          <p:nvPr/>
        </p:nvSpPr>
        <p:spPr>
          <a:xfrm>
            <a:off x="654258" y="1798029"/>
            <a:ext cx="803880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为什么会有</a:t>
            </a:r>
            <a:r>
              <a: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multi-queue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[14]</a:t>
            </a:r>
            <a:endParaRPr kumimoji="1"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>
              <a:buAutoNum type="arabicParenBoth"/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利用了多核的特性提升</a:t>
            </a: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IO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调度层的可扩展性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buAutoNum type="arabicParenBoth"/>
            </a:pP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buAutoNum type="arabicParenBoth"/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可以更好地利用</a:t>
            </a:r>
            <a:r>
              <a:rPr kumimoji="1" lang="en-US" altLang="zh-CN" sz="20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NVMe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等高性能存储设备的并性能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111EF1C-5B80-6E41-A37F-36D8BC504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67916"/>
            <a:ext cx="8933603" cy="231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422807"/>
      </p:ext>
    </p:extLst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F8E656A-AE9C-A64C-AF7F-E3557E192828}"/>
              </a:ext>
            </a:extLst>
          </p:cNvPr>
          <p:cNvSpPr txBox="1"/>
          <p:nvPr/>
        </p:nvSpPr>
        <p:spPr>
          <a:xfrm>
            <a:off x="654258" y="507888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用户态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(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应用层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)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存储栈</a:t>
            </a:r>
            <a:endParaRPr kumimoji="1" lang="en-US" altLang="zh-CN" sz="28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F612CB5-F393-E649-97EB-5CD3C8FE622C}"/>
              </a:ext>
            </a:extLst>
          </p:cNvPr>
          <p:cNvSpPr txBox="1"/>
          <p:nvPr/>
        </p:nvSpPr>
        <p:spPr>
          <a:xfrm>
            <a:off x="630960" y="1876395"/>
            <a:ext cx="7882080" cy="2305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数据库、大数据存储引擎、虚拟机等场景都有自己的文件格式，相当于用户态也有自己的存储栈：</a:t>
            </a:r>
            <a:endParaRPr kumimoji="1"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MySQL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数据库支持多种存储引擎。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QEMU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虚拟机支持多种虚拟磁盘格式。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Docker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支持多种“存储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driver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”，用于管理容器镜像的分层。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4816507"/>
      </p:ext>
    </p:extLst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F8E656A-AE9C-A64C-AF7F-E3557E192828}"/>
              </a:ext>
            </a:extLst>
          </p:cNvPr>
          <p:cNvSpPr txBox="1"/>
          <p:nvPr/>
        </p:nvSpPr>
        <p:spPr>
          <a:xfrm>
            <a:off x="654258" y="507888"/>
            <a:ext cx="5870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用户态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(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应用层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)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存储栈 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--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MySQL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C4BBF6A-C373-5440-9C26-3E19B256B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559" y="1457803"/>
            <a:ext cx="6508344" cy="4180627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1A8AC21D-4755-9149-B53F-A0FE3484D3A9}"/>
              </a:ext>
            </a:extLst>
          </p:cNvPr>
          <p:cNvSpPr/>
          <p:nvPr/>
        </p:nvSpPr>
        <p:spPr>
          <a:xfrm>
            <a:off x="1914545" y="5711728"/>
            <a:ext cx="531491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MySQL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支持多种存储引擎 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fr-FR" altLang="zh-CN" sz="1600" dirty="0"/>
              <a:t> </a:t>
            </a:r>
            <a:r>
              <a:rPr lang="fr-FR" altLang="zh-CN" sz="1600" dirty="0" err="1"/>
              <a:t>InnoDB</a:t>
            </a:r>
            <a:r>
              <a:rPr lang="en-US" altLang="zh-CN" sz="1600" dirty="0"/>
              <a:t>,</a:t>
            </a:r>
            <a:r>
              <a:rPr lang="zh-CN" altLang="en-US" sz="1600" dirty="0"/>
              <a:t> </a:t>
            </a:r>
            <a:r>
              <a:rPr lang="fr-FR" altLang="zh-CN" sz="1600" dirty="0" err="1"/>
              <a:t>MyISAM</a:t>
            </a:r>
            <a:r>
              <a:rPr lang="en-US" altLang="zh-CN" sz="1600" dirty="0"/>
              <a:t>,</a:t>
            </a:r>
            <a:r>
              <a:rPr lang="zh-CN" altLang="en-US" sz="1600" dirty="0"/>
              <a:t> </a:t>
            </a:r>
            <a:r>
              <a:rPr lang="fr-FR" altLang="zh-CN" sz="1600" dirty="0"/>
              <a:t>Memory</a:t>
            </a:r>
            <a:r>
              <a:rPr lang="en-US" altLang="zh-CN" sz="1600" dirty="0"/>
              <a:t>,</a:t>
            </a:r>
            <a:r>
              <a:rPr lang="zh-CN" altLang="en-US" sz="1600" dirty="0"/>
              <a:t> </a:t>
            </a:r>
            <a:r>
              <a:rPr lang="fr-FR" altLang="zh-CN" sz="1600" dirty="0"/>
              <a:t>CSV</a:t>
            </a:r>
            <a:r>
              <a:rPr lang="en-US" altLang="zh-CN" sz="1600" dirty="0"/>
              <a:t>,</a:t>
            </a:r>
            <a:r>
              <a:rPr lang="zh-CN" altLang="en-US" sz="1600" dirty="0"/>
              <a:t> </a:t>
            </a:r>
            <a:r>
              <a:rPr lang="fr-FR" altLang="zh-CN" sz="1600" dirty="0" err="1"/>
              <a:t>Merge</a:t>
            </a:r>
            <a:r>
              <a:rPr lang="en-US" altLang="zh-CN" sz="1600" dirty="0"/>
              <a:t>,</a:t>
            </a:r>
            <a:r>
              <a:rPr lang="zh-CN" altLang="en-US" sz="1600" dirty="0"/>
              <a:t> </a:t>
            </a:r>
            <a:r>
              <a:rPr lang="fr-FR" altLang="zh-CN" sz="1600" dirty="0"/>
              <a:t>Archive</a:t>
            </a:r>
            <a:r>
              <a:rPr lang="en-US" altLang="zh-CN" sz="1600" dirty="0"/>
              <a:t>,</a:t>
            </a:r>
            <a:r>
              <a:rPr lang="zh-CN" altLang="en-US" sz="1600" dirty="0"/>
              <a:t> </a:t>
            </a:r>
            <a:r>
              <a:rPr lang="fr-FR" altLang="zh-CN" sz="1600" dirty="0" err="1"/>
              <a:t>Federated</a:t>
            </a:r>
            <a:r>
              <a:rPr lang="en-US" altLang="zh-CN" sz="1600" dirty="0"/>
              <a:t>,</a:t>
            </a:r>
            <a:r>
              <a:rPr lang="zh-CN" altLang="en-US" sz="1600" dirty="0"/>
              <a:t> </a:t>
            </a:r>
            <a:r>
              <a:rPr lang="fr-FR" altLang="zh-CN" sz="1600" dirty="0" err="1"/>
              <a:t>Blackhole</a:t>
            </a:r>
            <a:r>
              <a:rPr lang="en-US" altLang="zh-CN" sz="1600" dirty="0"/>
              <a:t>,</a:t>
            </a:r>
            <a:r>
              <a:rPr lang="zh-CN" altLang="en-US" sz="1600" dirty="0"/>
              <a:t> </a:t>
            </a:r>
            <a:r>
              <a:rPr lang="fr-FR" altLang="zh-CN" sz="1600" dirty="0" err="1"/>
              <a:t>Example</a:t>
            </a:r>
            <a:r>
              <a:rPr lang="zh-CN" altLang="en-US" sz="1600" dirty="0"/>
              <a:t> </a:t>
            </a:r>
            <a:r>
              <a:rPr lang="en-US" altLang="zh-CN" sz="1600" dirty="0"/>
              <a:t>…)</a:t>
            </a:r>
            <a:endParaRPr lang="fr-FR" altLang="zh-CN" sz="16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C5A80D8-89C0-9C4F-922B-338532E577A8}"/>
              </a:ext>
            </a:extLst>
          </p:cNvPr>
          <p:cNvSpPr/>
          <p:nvPr/>
        </p:nvSpPr>
        <p:spPr>
          <a:xfrm>
            <a:off x="1029861" y="4055686"/>
            <a:ext cx="6775740" cy="898902"/>
          </a:xfrm>
          <a:prstGeom prst="rect">
            <a:avLst/>
          </a:prstGeom>
          <a:noFill/>
          <a:ln w="571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26084431"/>
      </p:ext>
    </p:extLst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F8E656A-AE9C-A64C-AF7F-E3557E192828}"/>
              </a:ext>
            </a:extLst>
          </p:cNvPr>
          <p:cNvSpPr txBox="1"/>
          <p:nvPr/>
        </p:nvSpPr>
        <p:spPr>
          <a:xfrm>
            <a:off x="654258" y="507888"/>
            <a:ext cx="5870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用户态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(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应用层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)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存储栈 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--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MySQL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7360A9D-458B-9742-9535-408362C5A1C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160" b="3232"/>
          <a:stretch/>
        </p:blipFill>
        <p:spPr>
          <a:xfrm>
            <a:off x="1894984" y="1700232"/>
            <a:ext cx="5354027" cy="4122668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4EDE3C5E-1E19-A848-B3B0-B8000810442B}"/>
              </a:ext>
            </a:extLst>
          </p:cNvPr>
          <p:cNvSpPr/>
          <p:nvPr/>
        </p:nvSpPr>
        <p:spPr>
          <a:xfrm>
            <a:off x="3144364" y="5822900"/>
            <a:ext cx="285526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MySQL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6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InnoDB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存储格式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[9]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2079150"/>
      </p:ext>
    </p:extLst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F8E656A-AE9C-A64C-AF7F-E3557E192828}"/>
              </a:ext>
            </a:extLst>
          </p:cNvPr>
          <p:cNvSpPr txBox="1"/>
          <p:nvPr/>
        </p:nvSpPr>
        <p:spPr>
          <a:xfrm>
            <a:off x="654258" y="507888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用户态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(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应用层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)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存储栈 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--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QEMU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06AFDA9-A903-7A4D-850B-988667AB7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454" y="1396823"/>
            <a:ext cx="2010427" cy="445313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20AC546A-E7FC-BF40-A497-1868F444FF3E}"/>
              </a:ext>
            </a:extLst>
          </p:cNvPr>
          <p:cNvSpPr/>
          <p:nvPr/>
        </p:nvSpPr>
        <p:spPr>
          <a:xfrm>
            <a:off x="945454" y="5849953"/>
            <a:ext cx="21707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QEMU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虚拟机存储栈 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右大括号 4">
            <a:extLst>
              <a:ext uri="{FF2B5EF4-FFF2-40B4-BE49-F238E27FC236}">
                <a16:creationId xmlns:a16="http://schemas.microsoft.com/office/drawing/2014/main" id="{382BDBC6-EAD9-2847-8D9E-AE4939A9FA0C}"/>
              </a:ext>
            </a:extLst>
          </p:cNvPr>
          <p:cNvSpPr/>
          <p:nvPr/>
        </p:nvSpPr>
        <p:spPr>
          <a:xfrm>
            <a:off x="3102474" y="2929816"/>
            <a:ext cx="191612" cy="103966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9E8825B-95F9-254B-A7DD-631238E3C41F}"/>
              </a:ext>
            </a:extLst>
          </p:cNvPr>
          <p:cNvSpPr txBox="1"/>
          <p:nvPr/>
        </p:nvSpPr>
        <p:spPr>
          <a:xfrm>
            <a:off x="3294086" y="3150458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QEMU</a:t>
            </a: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</a:t>
            </a:r>
            <a:endParaRPr kumimoji="1"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用户态存储栈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F1DDCF4-4209-3B4B-AA84-F597FC7B55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5646" y="1614238"/>
            <a:ext cx="2621134" cy="3670815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0828E59A-800A-AD46-873C-921937B3F1BA}"/>
              </a:ext>
            </a:extLst>
          </p:cNvPr>
          <p:cNvSpPr/>
          <p:nvPr/>
        </p:nvSpPr>
        <p:spPr>
          <a:xfrm>
            <a:off x="5370819" y="5868183"/>
            <a:ext cx="298992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QEMU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qcow2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镜像格式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[10]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00753670"/>
      </p:ext>
    </p:extLst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F8E656A-AE9C-A64C-AF7F-E3557E192828}"/>
              </a:ext>
            </a:extLst>
          </p:cNvPr>
          <p:cNvSpPr txBox="1"/>
          <p:nvPr/>
        </p:nvSpPr>
        <p:spPr>
          <a:xfrm>
            <a:off x="654258" y="507888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Persistent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Memory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存储栈</a:t>
            </a:r>
            <a:endParaRPr kumimoji="1" lang="en-US" altLang="zh-CN" sz="28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6CDBC62-FF62-4D43-A280-601DA8B55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4812" y="1905566"/>
            <a:ext cx="2871142" cy="4044297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641CD38A-FABE-9B42-810E-E56B68034AC1}"/>
              </a:ext>
            </a:extLst>
          </p:cNvPr>
          <p:cNvSpPr txBox="1"/>
          <p:nvPr/>
        </p:nvSpPr>
        <p:spPr>
          <a:xfrm>
            <a:off x="2047107" y="598078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常规存储栈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1776C40-9BBF-FC4F-A5ED-E8B7A5D72890}"/>
              </a:ext>
            </a:extLst>
          </p:cNvPr>
          <p:cNvSpPr txBox="1"/>
          <p:nvPr/>
        </p:nvSpPr>
        <p:spPr>
          <a:xfrm>
            <a:off x="5758067" y="5945589"/>
            <a:ext cx="1244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PM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存储栈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B150979A-1552-9444-85A8-DFA32B3A77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7524" y="1901291"/>
            <a:ext cx="2757944" cy="4044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921452"/>
      </p:ext>
    </p:extLst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6801492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376717" y="1173975"/>
            <a:ext cx="11079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600" dirty="0">
                <a:solidFill>
                  <a:schemeClr val="bg1">
                    <a:lumMod val="9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目录</a:t>
            </a:r>
            <a:endParaRPr kumimoji="1" lang="en-US" altLang="zh-CN" sz="3600" dirty="0">
              <a:solidFill>
                <a:schemeClr val="bg1">
                  <a:lumMod val="95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70166" y="2411366"/>
            <a:ext cx="6373834" cy="4290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    </a:t>
            </a:r>
            <a:r>
              <a:rPr kumimoji="1" lang="en-US" altLang="zh-CN" sz="2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NVMe</a:t>
            </a:r>
            <a:r>
              <a:rPr kumimoji="1"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硬件存储栈</a:t>
            </a:r>
            <a:endParaRPr kumimoji="1" lang="en-US" altLang="zh-CN" sz="2800" dirty="0">
              <a:solidFill>
                <a:schemeClr val="tx1">
                  <a:lumMod val="50000"/>
                  <a:lumOff val="50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    </a:t>
            </a:r>
            <a:r>
              <a:rPr kumimoji="1"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软件存储栈</a:t>
            </a:r>
            <a:endParaRPr kumimoji="1" lang="en-US" altLang="zh-CN" sz="2800" dirty="0">
              <a:solidFill>
                <a:schemeClr val="tx1">
                  <a:lumMod val="50000"/>
                  <a:lumOff val="50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    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高性能软件存储栈优化</a:t>
            </a:r>
            <a:endParaRPr kumimoji="1" lang="en-US" altLang="zh-CN" sz="28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1371600" lvl="2" indent="-457200">
              <a:lnSpc>
                <a:spcPct val="150000"/>
              </a:lnSpc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存储性能指标 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延迟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吞吐曲线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  <a:p>
            <a:pPr marL="1371600" lvl="2" indent="-457200">
              <a:lnSpc>
                <a:spcPct val="150000"/>
              </a:lnSpc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延迟优化 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轮询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  <a:p>
            <a:pPr marL="1371600" lvl="2" indent="-457200">
              <a:lnSpc>
                <a:spcPct val="150000"/>
              </a:lnSpc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可扩展性优化 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多队列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  <a:p>
            <a:pPr marL="457200" indent="-457200">
              <a:lnSpc>
                <a:spcPct val="150000"/>
              </a:lnSpc>
              <a:buClr>
                <a:schemeClr val="bg1"/>
              </a:buClr>
              <a:buSzPct val="75000"/>
              <a:buFont typeface="Wingdings" pitchFamily="2" charset="2"/>
              <a:buChar char="l"/>
            </a:pPr>
            <a:r>
              <a:rPr kumimoji="1"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    </a:t>
            </a:r>
            <a:r>
              <a:rPr kumimoji="1"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存储栈发展趋势</a:t>
            </a:r>
            <a:endParaRPr kumimoji="1"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1371600" lvl="2" indent="-457200">
              <a:lnSpc>
                <a:spcPct val="150000"/>
              </a:lnSpc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9733713"/>
      </p:ext>
    </p:extLst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DD9C94B-9069-A44B-91AA-C4049D57B3CF}"/>
              </a:ext>
            </a:extLst>
          </p:cNvPr>
          <p:cNvSpPr txBox="1"/>
          <p:nvPr/>
        </p:nvSpPr>
        <p:spPr>
          <a:xfrm>
            <a:off x="308079" y="552678"/>
            <a:ext cx="59116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存储性能指标</a:t>
            </a:r>
            <a:endParaRPr kumimoji="1" lang="en-US" altLang="zh-CN" sz="28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0B3754F-8982-3449-AEA5-6E481089A48A}"/>
              </a:ext>
            </a:extLst>
          </p:cNvPr>
          <p:cNvSpPr txBox="1"/>
          <p:nvPr/>
        </p:nvSpPr>
        <p:spPr>
          <a:xfrm>
            <a:off x="1227748" y="1231072"/>
            <a:ext cx="697513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延迟 </a:t>
            </a:r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(Latency)</a:t>
            </a: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完成一次操作的时间。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测试方法： 小块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(4KB),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单线程</a:t>
            </a:r>
            <a:endParaRPr kumimoji="1"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kumimoji="1" lang="en-US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带宽 </a:t>
            </a:r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(Bandwidth)</a:t>
            </a: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读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写速度。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测试方法： 大块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(64KB~8MB),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单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多线程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kumimoji="1" lang="en-US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IOPS</a:t>
            </a: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(I/O</a:t>
            </a: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operations</a:t>
            </a: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per</a:t>
            </a: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second)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每秒的操作数。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测试方法：小块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(4KB),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多线程</a:t>
            </a:r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4F2C96D-876B-8B4C-BE32-34A76916C2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5951" y="4112731"/>
            <a:ext cx="1898610" cy="69163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18B0739-0674-314E-AD99-BA7CC0C87C5C}"/>
              </a:ext>
            </a:extLst>
          </p:cNvPr>
          <p:cNvSpPr txBox="1"/>
          <p:nvPr/>
        </p:nvSpPr>
        <p:spPr>
          <a:xfrm>
            <a:off x="4407983" y="3510899"/>
            <a:ext cx="135896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持久型内存</a:t>
            </a:r>
            <a:endParaRPr kumimoji="1" lang="zh-CN" altLang="en-US" sz="27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106CD9A-EDA5-DA45-8431-052DF6AC529F}"/>
              </a:ext>
            </a:extLst>
          </p:cNvPr>
          <p:cNvSpPr txBox="1"/>
          <p:nvPr/>
        </p:nvSpPr>
        <p:spPr>
          <a:xfrm>
            <a:off x="2270044" y="3500642"/>
            <a:ext cx="8996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Lantinghei SC Demibold" panose="02000000000000000000" pitchFamily="2" charset="-122"/>
                <a:ea typeface="Lantinghei SC Demibold" panose="02000000000000000000" pitchFamily="2" charset="-122"/>
              </a:rPr>
              <a:t>DRAM</a:t>
            </a:r>
          </a:p>
          <a:p>
            <a:pPr algn="ctr"/>
            <a:r>
              <a:rPr kumimoji="1" lang="zh-CN" altLang="en-US" dirty="0">
                <a:latin typeface="Lantinghei SC Demibold" panose="02000000000000000000" pitchFamily="2" charset="-122"/>
                <a:ea typeface="Lantinghei SC Demibold" panose="02000000000000000000" pitchFamily="2" charset="-122"/>
              </a:rPr>
              <a:t>内存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58E42CB-F6E3-FB47-ADBE-AADACED9F820}"/>
              </a:ext>
            </a:extLst>
          </p:cNvPr>
          <p:cNvSpPr txBox="1"/>
          <p:nvPr/>
        </p:nvSpPr>
        <p:spPr>
          <a:xfrm>
            <a:off x="6802967" y="3454859"/>
            <a:ext cx="12570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Lantinghei SC Demibold" panose="02000000000000000000" pitchFamily="2" charset="-122"/>
                <a:ea typeface="Lantinghei SC Demibold" panose="02000000000000000000" pitchFamily="2" charset="-122"/>
              </a:rPr>
              <a:t>HDD/SSD</a:t>
            </a:r>
          </a:p>
          <a:p>
            <a:pPr algn="ctr"/>
            <a:r>
              <a:rPr kumimoji="1" lang="zh-CN" altLang="en-US" dirty="0">
                <a:latin typeface="Lantinghei SC Demibold" panose="02000000000000000000" pitchFamily="2" charset="-122"/>
                <a:ea typeface="Lantinghei SC Demibold" panose="02000000000000000000" pitchFamily="2" charset="-122"/>
              </a:rPr>
              <a:t>存储</a:t>
            </a: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D39FACCE-9E18-794E-88CB-3B15DB767723}"/>
              </a:ext>
            </a:extLst>
          </p:cNvPr>
          <p:cNvGraphicFramePr>
            <a:graphicFrameLocks noGrp="1"/>
          </p:cNvGraphicFramePr>
          <p:nvPr/>
        </p:nvGraphicFramePr>
        <p:xfrm>
          <a:off x="-476071" y="5054761"/>
          <a:ext cx="9029733" cy="1051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7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7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0390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500" dirty="0">
                          <a:solidFill>
                            <a:schemeClr val="tx1"/>
                          </a:solidFill>
                          <a:latin typeface="Lantinghei SC Demibold" panose="02000000000000000000" pitchFamily="2" charset="-122"/>
                          <a:ea typeface="Lantinghei SC Demibold" panose="02000000000000000000" pitchFamily="2" charset="-122"/>
                        </a:rPr>
                        <a:t>延迟</a:t>
                      </a: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solidFill>
                            <a:srgbClr val="00B050"/>
                          </a:solidFill>
                          <a:latin typeface="Lantinghei SC Demibold" panose="02000000000000000000" pitchFamily="2" charset="-122"/>
                          <a:ea typeface="Lantinghei SC Demibold" panose="02000000000000000000" pitchFamily="2" charset="-122"/>
                        </a:rPr>
                        <a:t>~100</a:t>
                      </a:r>
                      <a:r>
                        <a:rPr lang="zh-CN" altLang="en-US" sz="1500" dirty="0">
                          <a:solidFill>
                            <a:srgbClr val="00B050"/>
                          </a:solidFill>
                          <a:latin typeface="Lantinghei SC Demibold" panose="02000000000000000000" pitchFamily="2" charset="-122"/>
                          <a:ea typeface="Lantinghei SC Demibold" panose="02000000000000000000" pitchFamily="2" charset="-122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00B050"/>
                          </a:solidFill>
                          <a:latin typeface="Lantinghei SC Demibold" panose="02000000000000000000" pitchFamily="2" charset="-122"/>
                          <a:ea typeface="Lantinghei SC Demibold" panose="02000000000000000000" pitchFamily="2" charset="-122"/>
                        </a:rPr>
                        <a:t>ns</a:t>
                      </a:r>
                      <a:endParaRPr lang="zh-CN" altLang="en-US" sz="1500" dirty="0">
                        <a:solidFill>
                          <a:srgbClr val="00B050"/>
                        </a:solidFill>
                        <a:latin typeface="Lantinghei SC Demibold" panose="02000000000000000000" pitchFamily="2" charset="-122"/>
                        <a:ea typeface="Lantinghei SC Demibold" panose="02000000000000000000" pitchFamily="2" charset="-122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solidFill>
                            <a:schemeClr val="accent2"/>
                          </a:solidFill>
                          <a:latin typeface="Lantinghei SC Demibold" panose="02000000000000000000" pitchFamily="2" charset="-122"/>
                          <a:ea typeface="Lantinghei SC Demibold" panose="02000000000000000000" pitchFamily="2" charset="-122"/>
                        </a:rPr>
                        <a:t>~250</a:t>
                      </a:r>
                      <a:r>
                        <a:rPr lang="zh-CN" altLang="en-US" sz="1500" dirty="0">
                          <a:solidFill>
                            <a:schemeClr val="accent2"/>
                          </a:solidFill>
                          <a:latin typeface="Lantinghei SC Demibold" panose="02000000000000000000" pitchFamily="2" charset="-122"/>
                          <a:ea typeface="Lantinghei SC Demibold" panose="02000000000000000000" pitchFamily="2" charset="-122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chemeClr val="accent2"/>
                          </a:solidFill>
                          <a:latin typeface="Lantinghei SC Demibold" panose="02000000000000000000" pitchFamily="2" charset="-122"/>
                          <a:ea typeface="Lantinghei SC Demibold" panose="02000000000000000000" pitchFamily="2" charset="-122"/>
                        </a:rPr>
                        <a:t>ns</a:t>
                      </a:r>
                      <a:endParaRPr lang="zh-CN" altLang="en-US" sz="1500" dirty="0">
                        <a:solidFill>
                          <a:schemeClr val="accent2"/>
                        </a:solidFill>
                        <a:latin typeface="Lantinghei SC Demibold" panose="02000000000000000000" pitchFamily="2" charset="-122"/>
                        <a:ea typeface="Lantinghei SC Demibold" panose="02000000000000000000" pitchFamily="2" charset="-122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solidFill>
                            <a:srgbClr val="C00000"/>
                          </a:solidFill>
                          <a:latin typeface="Lantinghei SC Demibold" panose="02000000000000000000" pitchFamily="2" charset="-122"/>
                          <a:ea typeface="Lantinghei SC Demibold" panose="02000000000000000000" pitchFamily="2" charset="-122"/>
                        </a:rPr>
                        <a:t>10us</a:t>
                      </a:r>
                      <a:r>
                        <a:rPr lang="zh-CN" altLang="en-US" sz="1500" dirty="0">
                          <a:solidFill>
                            <a:srgbClr val="C00000"/>
                          </a:solidFill>
                          <a:latin typeface="Lantinghei SC Demibold" panose="02000000000000000000" pitchFamily="2" charset="-122"/>
                          <a:ea typeface="Lantinghei SC Demibold" panose="02000000000000000000" pitchFamily="2" charset="-122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C00000"/>
                          </a:solidFill>
                          <a:latin typeface="Lantinghei SC Demibold" panose="02000000000000000000" pitchFamily="2" charset="-122"/>
                          <a:ea typeface="Lantinghei SC Demibold" panose="02000000000000000000" pitchFamily="2" charset="-122"/>
                        </a:rPr>
                        <a:t>~</a:t>
                      </a:r>
                      <a:r>
                        <a:rPr lang="zh-CN" altLang="en-US" sz="1500" dirty="0">
                          <a:solidFill>
                            <a:srgbClr val="C00000"/>
                          </a:solidFill>
                          <a:latin typeface="Lantinghei SC Demibold" panose="02000000000000000000" pitchFamily="2" charset="-122"/>
                          <a:ea typeface="Lantinghei SC Demibold" panose="02000000000000000000" pitchFamily="2" charset="-122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C00000"/>
                          </a:solidFill>
                          <a:latin typeface="Lantinghei SC Demibold" panose="02000000000000000000" pitchFamily="2" charset="-122"/>
                          <a:ea typeface="Lantinghei SC Demibold" panose="02000000000000000000" pitchFamily="2" charset="-122"/>
                        </a:rPr>
                        <a:t>10ms</a:t>
                      </a:r>
                      <a:endParaRPr lang="zh-CN" altLang="en-US" sz="1500" dirty="0">
                        <a:solidFill>
                          <a:srgbClr val="C00000"/>
                        </a:solidFill>
                        <a:latin typeface="Lantinghei SC Demibold" panose="02000000000000000000" pitchFamily="2" charset="-122"/>
                        <a:ea typeface="Lantinghei SC Demibold" panose="02000000000000000000" pitchFamily="2" charset="-122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390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500" dirty="0">
                          <a:solidFill>
                            <a:schemeClr val="tx1"/>
                          </a:solidFill>
                          <a:latin typeface="Lantinghei SC Demibold" panose="02000000000000000000" pitchFamily="2" charset="-122"/>
                          <a:ea typeface="Lantinghei SC Demibold" panose="02000000000000000000" pitchFamily="2" charset="-122"/>
                        </a:rPr>
                        <a:t>单条读带宽</a:t>
                      </a: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solidFill>
                            <a:srgbClr val="00B050"/>
                          </a:solidFill>
                          <a:latin typeface="Lantinghei SC Demibold" panose="02000000000000000000" pitchFamily="2" charset="-122"/>
                          <a:ea typeface="Lantinghei SC Demibold" panose="02000000000000000000" pitchFamily="2" charset="-122"/>
                        </a:rPr>
                        <a:t>~20</a:t>
                      </a:r>
                      <a:r>
                        <a:rPr lang="zh-CN" altLang="en-US" sz="1500" dirty="0">
                          <a:solidFill>
                            <a:srgbClr val="00B050"/>
                          </a:solidFill>
                          <a:latin typeface="Lantinghei SC Demibold" panose="02000000000000000000" pitchFamily="2" charset="-122"/>
                          <a:ea typeface="Lantinghei SC Demibold" panose="02000000000000000000" pitchFamily="2" charset="-122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00B050"/>
                          </a:solidFill>
                          <a:latin typeface="Lantinghei SC Demibold" panose="02000000000000000000" pitchFamily="2" charset="-122"/>
                          <a:ea typeface="Lantinghei SC Demibold" panose="02000000000000000000" pitchFamily="2" charset="-122"/>
                        </a:rPr>
                        <a:t>GB/s</a:t>
                      </a:r>
                      <a:endParaRPr lang="zh-CN" altLang="en-US" sz="1500" dirty="0">
                        <a:solidFill>
                          <a:srgbClr val="00B050"/>
                        </a:solidFill>
                        <a:latin typeface="Lantinghei SC Demibold" panose="02000000000000000000" pitchFamily="2" charset="-122"/>
                        <a:ea typeface="Lantinghei SC Demibold" panose="02000000000000000000" pitchFamily="2" charset="-122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solidFill>
                            <a:schemeClr val="accent2"/>
                          </a:solidFill>
                          <a:latin typeface="Lantinghei SC Demibold" panose="02000000000000000000" pitchFamily="2" charset="-122"/>
                          <a:ea typeface="Lantinghei SC Demibold" panose="02000000000000000000" pitchFamily="2" charset="-122"/>
                        </a:rPr>
                        <a:t>~</a:t>
                      </a:r>
                      <a:r>
                        <a:rPr lang="zh-CN" altLang="en-US" sz="1500" dirty="0">
                          <a:solidFill>
                            <a:schemeClr val="accent2"/>
                          </a:solidFill>
                          <a:latin typeface="Lantinghei SC Demibold" panose="02000000000000000000" pitchFamily="2" charset="-122"/>
                          <a:ea typeface="Lantinghei SC Demibold" panose="02000000000000000000" pitchFamily="2" charset="-122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chemeClr val="accent2"/>
                          </a:solidFill>
                          <a:latin typeface="Lantinghei SC Demibold" panose="02000000000000000000" pitchFamily="2" charset="-122"/>
                          <a:ea typeface="Lantinghei SC Demibold" panose="02000000000000000000" pitchFamily="2" charset="-122"/>
                        </a:rPr>
                        <a:t>7</a:t>
                      </a:r>
                      <a:r>
                        <a:rPr lang="zh-CN" altLang="en-US" sz="1500" dirty="0">
                          <a:solidFill>
                            <a:schemeClr val="accent2"/>
                          </a:solidFill>
                          <a:latin typeface="Lantinghei SC Demibold" panose="02000000000000000000" pitchFamily="2" charset="-122"/>
                          <a:ea typeface="Lantinghei SC Demibold" panose="02000000000000000000" pitchFamily="2" charset="-122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chemeClr val="accent2"/>
                          </a:solidFill>
                          <a:latin typeface="Lantinghei SC Demibold" panose="02000000000000000000" pitchFamily="2" charset="-122"/>
                          <a:ea typeface="Lantinghei SC Demibold" panose="02000000000000000000" pitchFamily="2" charset="-122"/>
                        </a:rPr>
                        <a:t>GB/s</a:t>
                      </a:r>
                      <a:endParaRPr lang="zh-CN" altLang="en-US" sz="1500" dirty="0">
                        <a:solidFill>
                          <a:schemeClr val="accent2"/>
                        </a:solidFill>
                        <a:latin typeface="Lantinghei SC Demibold" panose="02000000000000000000" pitchFamily="2" charset="-122"/>
                        <a:ea typeface="Lantinghei SC Demibold" panose="02000000000000000000" pitchFamily="2" charset="-122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solidFill>
                            <a:srgbClr val="C00000"/>
                          </a:solidFill>
                          <a:latin typeface="Lantinghei SC Demibold" panose="02000000000000000000" pitchFamily="2" charset="-122"/>
                          <a:ea typeface="Lantinghei SC Demibold" panose="02000000000000000000" pitchFamily="2" charset="-122"/>
                        </a:rPr>
                        <a:t>120</a:t>
                      </a:r>
                      <a:r>
                        <a:rPr lang="zh-CN" altLang="en-US" sz="1500" dirty="0">
                          <a:solidFill>
                            <a:srgbClr val="C00000"/>
                          </a:solidFill>
                          <a:latin typeface="Lantinghei SC Demibold" panose="02000000000000000000" pitchFamily="2" charset="-122"/>
                          <a:ea typeface="Lantinghei SC Demibold" panose="02000000000000000000" pitchFamily="2" charset="-122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C00000"/>
                          </a:solidFill>
                          <a:latin typeface="Lantinghei SC Demibold" panose="02000000000000000000" pitchFamily="2" charset="-122"/>
                          <a:ea typeface="Lantinghei SC Demibold" panose="02000000000000000000" pitchFamily="2" charset="-122"/>
                        </a:rPr>
                        <a:t>MB</a:t>
                      </a:r>
                      <a:r>
                        <a:rPr lang="zh-CN" altLang="en-US" sz="1500" dirty="0">
                          <a:solidFill>
                            <a:srgbClr val="C00000"/>
                          </a:solidFill>
                          <a:latin typeface="Lantinghei SC Demibold" panose="02000000000000000000" pitchFamily="2" charset="-122"/>
                          <a:ea typeface="Lantinghei SC Demibold" panose="02000000000000000000" pitchFamily="2" charset="-122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C00000"/>
                          </a:solidFill>
                          <a:latin typeface="Lantinghei SC Demibold" panose="02000000000000000000" pitchFamily="2" charset="-122"/>
                          <a:ea typeface="Lantinghei SC Demibold" panose="02000000000000000000" pitchFamily="2" charset="-122"/>
                        </a:rPr>
                        <a:t>~</a:t>
                      </a:r>
                      <a:r>
                        <a:rPr lang="zh-CN" altLang="en-US" sz="1500" dirty="0">
                          <a:solidFill>
                            <a:srgbClr val="C00000"/>
                          </a:solidFill>
                          <a:latin typeface="Lantinghei SC Demibold" panose="02000000000000000000" pitchFamily="2" charset="-122"/>
                          <a:ea typeface="Lantinghei SC Demibold" panose="02000000000000000000" pitchFamily="2" charset="-122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C00000"/>
                          </a:solidFill>
                          <a:latin typeface="Lantinghei SC Demibold" panose="02000000000000000000" pitchFamily="2" charset="-122"/>
                          <a:ea typeface="Lantinghei SC Demibold" panose="02000000000000000000" pitchFamily="2" charset="-122"/>
                        </a:rPr>
                        <a:t>2.5</a:t>
                      </a:r>
                      <a:r>
                        <a:rPr lang="zh-CN" altLang="en-US" sz="1500" dirty="0">
                          <a:solidFill>
                            <a:srgbClr val="C00000"/>
                          </a:solidFill>
                          <a:latin typeface="Lantinghei SC Demibold" panose="02000000000000000000" pitchFamily="2" charset="-122"/>
                          <a:ea typeface="Lantinghei SC Demibold" panose="02000000000000000000" pitchFamily="2" charset="-122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C00000"/>
                          </a:solidFill>
                          <a:latin typeface="Lantinghei SC Demibold" panose="02000000000000000000" pitchFamily="2" charset="-122"/>
                          <a:ea typeface="Lantinghei SC Demibold" panose="02000000000000000000" pitchFamily="2" charset="-122"/>
                        </a:rPr>
                        <a:t>GB/s</a:t>
                      </a:r>
                      <a:endParaRPr lang="zh-CN" altLang="en-US" sz="1500" dirty="0">
                        <a:solidFill>
                          <a:srgbClr val="C00000"/>
                        </a:solidFill>
                        <a:latin typeface="Lantinghei SC Demibold" panose="02000000000000000000" pitchFamily="2" charset="-122"/>
                        <a:ea typeface="Lantinghei SC Demibold" panose="02000000000000000000" pitchFamily="2" charset="-122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390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500" dirty="0">
                          <a:solidFill>
                            <a:schemeClr val="tx1"/>
                          </a:solidFill>
                          <a:latin typeface="Lantinghei SC Demibold" panose="02000000000000000000" pitchFamily="2" charset="-122"/>
                          <a:ea typeface="Lantinghei SC Demibold" panose="02000000000000000000" pitchFamily="2" charset="-122"/>
                        </a:rPr>
                        <a:t>单条写带宽</a:t>
                      </a: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solidFill>
                            <a:srgbClr val="00B050"/>
                          </a:solidFill>
                          <a:latin typeface="Lantinghei SC Demibold" panose="02000000000000000000" pitchFamily="2" charset="-122"/>
                          <a:ea typeface="Lantinghei SC Demibold" panose="02000000000000000000" pitchFamily="2" charset="-122"/>
                        </a:rPr>
                        <a:t>~13.5</a:t>
                      </a:r>
                      <a:r>
                        <a:rPr lang="zh-CN" altLang="en-US" sz="1500" dirty="0">
                          <a:solidFill>
                            <a:srgbClr val="00B050"/>
                          </a:solidFill>
                          <a:latin typeface="Lantinghei SC Demibold" panose="02000000000000000000" pitchFamily="2" charset="-122"/>
                          <a:ea typeface="Lantinghei SC Demibold" panose="02000000000000000000" pitchFamily="2" charset="-122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00B050"/>
                          </a:solidFill>
                          <a:latin typeface="Lantinghei SC Demibold" panose="02000000000000000000" pitchFamily="2" charset="-122"/>
                          <a:ea typeface="Lantinghei SC Demibold" panose="02000000000000000000" pitchFamily="2" charset="-122"/>
                        </a:rPr>
                        <a:t>GB/s</a:t>
                      </a:r>
                      <a:endParaRPr lang="zh-CN" altLang="en-US" sz="1500" dirty="0">
                        <a:solidFill>
                          <a:srgbClr val="00B050"/>
                        </a:solidFill>
                        <a:latin typeface="Lantinghei SC Demibold" panose="02000000000000000000" pitchFamily="2" charset="-122"/>
                        <a:ea typeface="Lantinghei SC Demibold" panose="02000000000000000000" pitchFamily="2" charset="-122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solidFill>
                            <a:schemeClr val="accent2"/>
                          </a:solidFill>
                          <a:latin typeface="Lantinghei SC Demibold" panose="02000000000000000000" pitchFamily="2" charset="-122"/>
                          <a:ea typeface="Lantinghei SC Demibold" panose="02000000000000000000" pitchFamily="2" charset="-122"/>
                        </a:rPr>
                        <a:t>~</a:t>
                      </a:r>
                      <a:r>
                        <a:rPr lang="zh-CN" altLang="en-US" sz="1500" dirty="0">
                          <a:solidFill>
                            <a:schemeClr val="accent2"/>
                          </a:solidFill>
                          <a:latin typeface="Lantinghei SC Demibold" panose="02000000000000000000" pitchFamily="2" charset="-122"/>
                          <a:ea typeface="Lantinghei SC Demibold" panose="02000000000000000000" pitchFamily="2" charset="-122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chemeClr val="accent2"/>
                          </a:solidFill>
                          <a:latin typeface="Lantinghei SC Demibold" panose="02000000000000000000" pitchFamily="2" charset="-122"/>
                          <a:ea typeface="Lantinghei SC Demibold" panose="02000000000000000000" pitchFamily="2" charset="-122"/>
                        </a:rPr>
                        <a:t>2.3</a:t>
                      </a:r>
                      <a:r>
                        <a:rPr lang="zh-CN" altLang="en-US" sz="1500" dirty="0">
                          <a:solidFill>
                            <a:schemeClr val="accent2"/>
                          </a:solidFill>
                          <a:latin typeface="Lantinghei SC Demibold" panose="02000000000000000000" pitchFamily="2" charset="-122"/>
                          <a:ea typeface="Lantinghei SC Demibold" panose="02000000000000000000" pitchFamily="2" charset="-122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chemeClr val="accent2"/>
                          </a:solidFill>
                          <a:latin typeface="Lantinghei SC Demibold" panose="02000000000000000000" pitchFamily="2" charset="-122"/>
                          <a:ea typeface="Lantinghei SC Demibold" panose="02000000000000000000" pitchFamily="2" charset="-122"/>
                        </a:rPr>
                        <a:t>GB/s</a:t>
                      </a:r>
                      <a:endParaRPr lang="zh-CN" altLang="en-US" sz="1500" dirty="0">
                        <a:solidFill>
                          <a:schemeClr val="accent2"/>
                        </a:solidFill>
                        <a:latin typeface="Lantinghei SC Demibold" panose="02000000000000000000" pitchFamily="2" charset="-122"/>
                        <a:ea typeface="Lantinghei SC Demibold" panose="02000000000000000000" pitchFamily="2" charset="-122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solidFill>
                            <a:srgbClr val="C00000"/>
                          </a:solidFill>
                          <a:latin typeface="Lantinghei SC Demibold" panose="02000000000000000000" pitchFamily="2" charset="-122"/>
                          <a:ea typeface="Lantinghei SC Demibold" panose="02000000000000000000" pitchFamily="2" charset="-122"/>
                        </a:rPr>
                        <a:t>80</a:t>
                      </a:r>
                      <a:r>
                        <a:rPr lang="zh-CN" altLang="en-US" sz="1500" dirty="0">
                          <a:solidFill>
                            <a:srgbClr val="C00000"/>
                          </a:solidFill>
                          <a:latin typeface="Lantinghei SC Demibold" panose="02000000000000000000" pitchFamily="2" charset="-122"/>
                          <a:ea typeface="Lantinghei SC Demibold" panose="02000000000000000000" pitchFamily="2" charset="-122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C00000"/>
                          </a:solidFill>
                          <a:latin typeface="Lantinghei SC Demibold" panose="02000000000000000000" pitchFamily="2" charset="-122"/>
                          <a:ea typeface="Lantinghei SC Demibold" panose="02000000000000000000" pitchFamily="2" charset="-122"/>
                        </a:rPr>
                        <a:t>MB</a:t>
                      </a:r>
                      <a:r>
                        <a:rPr lang="zh-CN" altLang="en-US" sz="1500" dirty="0">
                          <a:solidFill>
                            <a:srgbClr val="C00000"/>
                          </a:solidFill>
                          <a:latin typeface="Lantinghei SC Demibold" panose="02000000000000000000" pitchFamily="2" charset="-122"/>
                          <a:ea typeface="Lantinghei SC Demibold" panose="02000000000000000000" pitchFamily="2" charset="-122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C00000"/>
                          </a:solidFill>
                          <a:latin typeface="Lantinghei SC Demibold" panose="02000000000000000000" pitchFamily="2" charset="-122"/>
                          <a:ea typeface="Lantinghei SC Demibold" panose="02000000000000000000" pitchFamily="2" charset="-122"/>
                        </a:rPr>
                        <a:t>~</a:t>
                      </a:r>
                      <a:r>
                        <a:rPr lang="zh-CN" altLang="en-US" sz="1500" dirty="0">
                          <a:solidFill>
                            <a:srgbClr val="C00000"/>
                          </a:solidFill>
                          <a:latin typeface="Lantinghei SC Demibold" panose="02000000000000000000" pitchFamily="2" charset="-122"/>
                          <a:ea typeface="Lantinghei SC Demibold" panose="02000000000000000000" pitchFamily="2" charset="-122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C00000"/>
                          </a:solidFill>
                          <a:latin typeface="Lantinghei SC Demibold" panose="02000000000000000000" pitchFamily="2" charset="-122"/>
                          <a:ea typeface="Lantinghei SC Demibold" panose="02000000000000000000" pitchFamily="2" charset="-122"/>
                        </a:rPr>
                        <a:t>2.2</a:t>
                      </a:r>
                      <a:r>
                        <a:rPr lang="zh-CN" altLang="en-US" sz="1500" dirty="0">
                          <a:solidFill>
                            <a:srgbClr val="C00000"/>
                          </a:solidFill>
                          <a:latin typeface="Lantinghei SC Demibold" panose="02000000000000000000" pitchFamily="2" charset="-122"/>
                          <a:ea typeface="Lantinghei SC Demibold" panose="02000000000000000000" pitchFamily="2" charset="-122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C00000"/>
                          </a:solidFill>
                          <a:latin typeface="Lantinghei SC Demibold" panose="02000000000000000000" pitchFamily="2" charset="-122"/>
                          <a:ea typeface="Lantinghei SC Demibold" panose="02000000000000000000" pitchFamily="2" charset="-122"/>
                        </a:rPr>
                        <a:t>GB.s</a:t>
                      </a:r>
                      <a:endParaRPr lang="zh-CN" altLang="en-US" sz="1500" dirty="0">
                        <a:solidFill>
                          <a:srgbClr val="C00000"/>
                        </a:solidFill>
                        <a:latin typeface="Lantinghei SC Demibold" panose="02000000000000000000" pitchFamily="2" charset="-122"/>
                        <a:ea typeface="Lantinghei SC Demibold" panose="02000000000000000000" pitchFamily="2" charset="-122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6" name="图片 15">
            <a:extLst>
              <a:ext uri="{FF2B5EF4-FFF2-40B4-BE49-F238E27FC236}">
                <a16:creationId xmlns:a16="http://schemas.microsoft.com/office/drawing/2014/main" id="{D4AB2554-3BD9-2949-BBDC-80B0E79D47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93085">
            <a:off x="1932522" y="3671225"/>
            <a:ext cx="1574648" cy="157464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4E55EC40-007E-2D42-8E33-02C5FFE65A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6834" y="3812266"/>
            <a:ext cx="1209341" cy="1209341"/>
          </a:xfrm>
          <a:prstGeom prst="rect">
            <a:avLst/>
          </a:prstGeom>
        </p:spPr>
      </p:pic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8CC5AED2-F9A9-0B4C-B02B-2B367B3431D5}"/>
              </a:ext>
            </a:extLst>
          </p:cNvPr>
          <p:cNvCxnSpPr>
            <a:cxnSpLocks/>
          </p:cNvCxnSpPr>
          <p:nvPr/>
        </p:nvCxnSpPr>
        <p:spPr>
          <a:xfrm>
            <a:off x="801863" y="4911525"/>
            <a:ext cx="762733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977689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DD9C94B-9069-A44B-91AA-C4049D57B3CF}"/>
              </a:ext>
            </a:extLst>
          </p:cNvPr>
          <p:cNvSpPr txBox="1"/>
          <p:nvPr/>
        </p:nvSpPr>
        <p:spPr>
          <a:xfrm>
            <a:off x="308079" y="552678"/>
            <a:ext cx="59116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存储性能指标 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–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延迟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吞吐曲线</a:t>
            </a:r>
            <a:endParaRPr kumimoji="1" lang="en-US" altLang="zh-CN" sz="28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B9B513C-AA1E-0B43-AF8D-DF294F585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028" y="1290768"/>
            <a:ext cx="4795294" cy="366382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7CADCF9-557E-2C45-93E0-C8AA04DB724A}"/>
              </a:ext>
            </a:extLst>
          </p:cNvPr>
          <p:cNvSpPr txBox="1"/>
          <p:nvPr/>
        </p:nvSpPr>
        <p:spPr>
          <a:xfrm>
            <a:off x="876822" y="5130028"/>
            <a:ext cx="8267178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三种设备的延迟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吞吐曲线</a:t>
            </a: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[8]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 可以发现在接近吞吐极限时延迟也急剧增加。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所以对于延迟敏感的上层的在线应用，一定要考虑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IO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负载，尽量不要打满。</a:t>
            </a:r>
          </a:p>
        </p:txBody>
      </p:sp>
    </p:spTree>
    <p:extLst>
      <p:ext uri="{BB962C8B-B14F-4D97-AF65-F5344CB8AC3E}">
        <p14:creationId xmlns:p14="http://schemas.microsoft.com/office/powerpoint/2010/main" val="1069569887"/>
      </p:ext>
    </p:extLst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83C5D58-F9E3-414D-BC2A-AC5F360FDED1}"/>
              </a:ext>
            </a:extLst>
          </p:cNvPr>
          <p:cNvSpPr txBox="1"/>
          <p:nvPr/>
        </p:nvSpPr>
        <p:spPr>
          <a:xfrm>
            <a:off x="551146" y="1489748"/>
            <a:ext cx="2130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一点排队论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[12]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  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1BB73F1-771D-2E45-9C4E-5B1D2C5C94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8665" y="1349796"/>
            <a:ext cx="3905233" cy="119016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5AA3BC62-182F-074C-9384-D1E3B7683D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4965" y="2648117"/>
            <a:ext cx="5171259" cy="74015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9E885E9-8D85-FA4A-845D-EBB8C0F484E1}"/>
              </a:ext>
            </a:extLst>
          </p:cNvPr>
          <p:cNvSpPr txBox="1"/>
          <p:nvPr/>
        </p:nvSpPr>
        <p:spPr>
          <a:xfrm>
            <a:off x="551146" y="3429000"/>
            <a:ext cx="82797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其中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Server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utilization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数值为到达速率除以服务速率，可以理解为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IOPS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除以最大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IOPS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值。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Time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server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可以理解为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latency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的最小值。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CE62033-637A-6148-A334-21168FC315B6}"/>
              </a:ext>
            </a:extLst>
          </p:cNvPr>
          <p:cNvSpPr txBox="1"/>
          <p:nvPr/>
        </p:nvSpPr>
        <p:spPr>
          <a:xfrm>
            <a:off x="247473" y="4954588"/>
            <a:ext cx="44978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Latency</a:t>
            </a:r>
            <a:r>
              <a:rPr kumimoji="1" lang="zh-CN" altLang="en-US" sz="2000" dirty="0"/>
              <a:t>  </a:t>
            </a:r>
            <a:r>
              <a:rPr kumimoji="1" lang="en-US" altLang="zh-CN" sz="2000" dirty="0"/>
              <a:t>=</a:t>
            </a:r>
            <a:r>
              <a:rPr kumimoji="1" lang="zh-CN" altLang="en-US" sz="2000" dirty="0"/>
              <a:t>  </a:t>
            </a:r>
            <a:r>
              <a:rPr kumimoji="1" lang="en-US" altLang="zh-CN" sz="2400" dirty="0"/>
              <a:t>Time</a:t>
            </a:r>
            <a:r>
              <a:rPr kumimoji="1" lang="en-US" altLang="zh-CN" sz="1400" dirty="0"/>
              <a:t>server</a:t>
            </a:r>
            <a:r>
              <a:rPr kumimoji="1" lang="zh-CN" altLang="en-US" sz="2000" dirty="0"/>
              <a:t>  </a:t>
            </a:r>
            <a:r>
              <a:rPr kumimoji="1" lang="en-US" altLang="zh-CN" sz="2000" dirty="0"/>
              <a:t>+</a:t>
            </a:r>
            <a:r>
              <a:rPr kumimoji="1" lang="zh-CN" altLang="en-US" sz="2000" dirty="0"/>
              <a:t>  </a:t>
            </a:r>
            <a:r>
              <a:rPr kumimoji="1" lang="en-US" altLang="zh-CN" sz="2400" dirty="0" err="1"/>
              <a:t>Time</a:t>
            </a:r>
            <a:r>
              <a:rPr kumimoji="1" lang="en-US" altLang="zh-CN" sz="1400" dirty="0" err="1"/>
              <a:t>queue</a:t>
            </a:r>
            <a:endParaRPr kumimoji="1" lang="en-US" altLang="zh-CN" sz="1400" dirty="0"/>
          </a:p>
          <a:p>
            <a:r>
              <a:rPr kumimoji="1" lang="en-US" altLang="zh-CN" sz="2000" dirty="0"/>
              <a:t>=</a:t>
            </a:r>
            <a:r>
              <a:rPr kumimoji="1" lang="zh-CN" altLang="en-US" sz="2000" dirty="0"/>
              <a:t> </a:t>
            </a:r>
            <a:r>
              <a:rPr kumimoji="1" lang="en-US" altLang="zh-CN" sz="2400" dirty="0"/>
              <a:t>Time</a:t>
            </a:r>
            <a:r>
              <a:rPr kumimoji="1" lang="en-US" altLang="zh-CN" sz="1400" dirty="0"/>
              <a:t>server</a:t>
            </a:r>
            <a:r>
              <a:rPr kumimoji="1" lang="zh-CN" altLang="en-US" sz="2000" dirty="0"/>
              <a:t>  </a:t>
            </a:r>
            <a:r>
              <a:rPr kumimoji="1" lang="en-US" altLang="zh-CN" sz="2000" dirty="0"/>
              <a:t>×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[1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/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(1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-</a:t>
            </a:r>
            <a:r>
              <a:rPr kumimoji="1" lang="zh-CN" altLang="en-US" sz="1100" dirty="0"/>
              <a:t> 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Server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Utilization)]</a:t>
            </a:r>
            <a:endParaRPr kumimoji="1" lang="zh-CN" altLang="en-US" sz="32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B7BDD78-155D-A145-AE24-0ECB4212914C}"/>
              </a:ext>
            </a:extLst>
          </p:cNvPr>
          <p:cNvSpPr txBox="1"/>
          <p:nvPr/>
        </p:nvSpPr>
        <p:spPr>
          <a:xfrm>
            <a:off x="308079" y="552678"/>
            <a:ext cx="59116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存储性能指标 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–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延迟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吞吐曲线</a:t>
            </a:r>
            <a:endParaRPr kumimoji="1" lang="en-US" altLang="zh-CN" sz="28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189D603-2D6A-2341-BD5F-01B25DCFCFF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675" b="29595"/>
          <a:stretch/>
        </p:blipFill>
        <p:spPr>
          <a:xfrm>
            <a:off x="4582364" y="4058107"/>
            <a:ext cx="4375899" cy="2469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253539"/>
      </p:ext>
    </p:extLst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0B3754F-8982-3449-AEA5-6E481089A48A}"/>
              </a:ext>
            </a:extLst>
          </p:cNvPr>
          <p:cNvSpPr txBox="1"/>
          <p:nvPr/>
        </p:nvSpPr>
        <p:spPr>
          <a:xfrm>
            <a:off x="878681" y="1556277"/>
            <a:ext cx="73866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吞吐</a:t>
            </a:r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(IOPS)</a:t>
            </a: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–</a:t>
            </a: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延迟</a:t>
            </a:r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(Latency)</a:t>
            </a: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曲线</a:t>
            </a:r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2B82EA3-5C00-AB41-9A16-40B36D647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3864" y="3244107"/>
            <a:ext cx="3938175" cy="308313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35660995-801B-B346-AB5E-1673C008774E}"/>
              </a:ext>
            </a:extLst>
          </p:cNvPr>
          <p:cNvSpPr txBox="1"/>
          <p:nvPr/>
        </p:nvSpPr>
        <p:spPr>
          <a:xfrm>
            <a:off x="678263" y="2277081"/>
            <a:ext cx="73866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对</a:t>
            </a:r>
            <a:r>
              <a:rPr kumimoji="1"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Optane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等超高性能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SSD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，单线程无法提高设备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queue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depth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，需要用多个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IO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线程才能测到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SSD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的最大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IOPS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03E2BA9-1802-7A4A-9336-3A689CFA694B}"/>
              </a:ext>
            </a:extLst>
          </p:cNvPr>
          <p:cNvSpPr txBox="1"/>
          <p:nvPr/>
        </p:nvSpPr>
        <p:spPr>
          <a:xfrm>
            <a:off x="308079" y="552678"/>
            <a:ext cx="59116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存储性能指标 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–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延迟</a:t>
            </a:r>
            <a:r>
              <a:rPr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吞吐曲线</a:t>
            </a:r>
            <a:endParaRPr kumimoji="1" lang="en-US" altLang="zh-CN" sz="28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31840073"/>
      </p:ext>
    </p:extLst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785" y="1478643"/>
            <a:ext cx="2438400" cy="4749800"/>
          </a:xfrm>
          <a:prstGeom prst="rect">
            <a:avLst/>
          </a:prstGeom>
        </p:spPr>
      </p:pic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786" y="1480054"/>
            <a:ext cx="2438400" cy="647700"/>
          </a:xfrm>
          <a:prstGeom prst="rect">
            <a:avLst/>
          </a:prstGeom>
        </p:spPr>
      </p:pic>
      <p:sp>
        <p:nvSpPr>
          <p:cNvPr id="22" name="左大括号 21"/>
          <p:cNvSpPr/>
          <p:nvPr/>
        </p:nvSpPr>
        <p:spPr>
          <a:xfrm>
            <a:off x="731521" y="2529528"/>
            <a:ext cx="115503" cy="1436080"/>
          </a:xfrm>
          <a:prstGeom prst="leftBrace">
            <a:avLst>
              <a:gd name="adj1" fmla="val 28333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2000"/>
          </a:p>
        </p:txBody>
      </p:sp>
      <p:sp>
        <p:nvSpPr>
          <p:cNvPr id="18" name="文本框 17"/>
          <p:cNvSpPr txBox="1"/>
          <p:nvPr/>
        </p:nvSpPr>
        <p:spPr>
          <a:xfrm>
            <a:off x="0" y="3022334"/>
            <a:ext cx="840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900" b="1"/>
              <a:t>Virtualization</a:t>
            </a:r>
            <a:endParaRPr kumimoji="1" lang="en-US" altLang="zh-CN" sz="900" b="1" dirty="0"/>
          </a:p>
          <a:p>
            <a:r>
              <a:rPr kumimoji="1" lang="en-US" altLang="zh-CN" sz="900" b="1" dirty="0"/>
              <a:t>I/O</a:t>
            </a:r>
            <a:r>
              <a:rPr kumimoji="1" lang="zh-CN" altLang="en-US" sz="900" b="1" dirty="0"/>
              <a:t> </a:t>
            </a:r>
            <a:r>
              <a:rPr kumimoji="1" lang="en-US" altLang="zh-CN" sz="900" b="1" dirty="0"/>
              <a:t>layers</a:t>
            </a:r>
            <a:endParaRPr kumimoji="1" lang="zh-CN" altLang="en-US" sz="900" b="1" dirty="0"/>
          </a:p>
        </p:txBody>
      </p:sp>
      <p:cxnSp>
        <p:nvCxnSpPr>
          <p:cNvPr id="8" name="曲线连接符 7">
            <a:extLst>
              <a:ext uri="{FF2B5EF4-FFF2-40B4-BE49-F238E27FC236}">
                <a16:creationId xmlns:a16="http://schemas.microsoft.com/office/drawing/2014/main" id="{71E15F3A-A7C7-AD45-9102-648664FE3B49}"/>
              </a:ext>
            </a:extLst>
          </p:cNvPr>
          <p:cNvCxnSpPr>
            <a:cxnSpLocks/>
          </p:cNvCxnSpPr>
          <p:nvPr/>
        </p:nvCxnSpPr>
        <p:spPr>
          <a:xfrm rot="10800000" flipV="1">
            <a:off x="3703676" y="3091269"/>
            <a:ext cx="1473231" cy="12700"/>
          </a:xfrm>
          <a:prstGeom prst="curved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曲线连接符 13">
            <a:extLst>
              <a:ext uri="{FF2B5EF4-FFF2-40B4-BE49-F238E27FC236}">
                <a16:creationId xmlns:a16="http://schemas.microsoft.com/office/drawing/2014/main" id="{703DC37E-B2EE-5A40-8939-27308ABAAA1F}"/>
              </a:ext>
            </a:extLst>
          </p:cNvPr>
          <p:cNvCxnSpPr>
            <a:cxnSpLocks/>
            <a:stCxn id="4" idx="1"/>
          </p:cNvCxnSpPr>
          <p:nvPr/>
        </p:nvCxnSpPr>
        <p:spPr>
          <a:xfrm rot="10800000" flipV="1">
            <a:off x="3695780" y="3121609"/>
            <a:ext cx="1473228" cy="610429"/>
          </a:xfrm>
          <a:prstGeom prst="curved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曲线连接符 33">
            <a:extLst>
              <a:ext uri="{FF2B5EF4-FFF2-40B4-BE49-F238E27FC236}">
                <a16:creationId xmlns:a16="http://schemas.microsoft.com/office/drawing/2014/main" id="{8B582BAB-017C-B345-B074-1E7437C53057}"/>
              </a:ext>
            </a:extLst>
          </p:cNvPr>
          <p:cNvCxnSpPr>
            <a:cxnSpLocks/>
          </p:cNvCxnSpPr>
          <p:nvPr/>
        </p:nvCxnSpPr>
        <p:spPr>
          <a:xfrm rot="10800000" flipV="1">
            <a:off x="3653484" y="3022333"/>
            <a:ext cx="2430228" cy="2117197"/>
          </a:xfrm>
          <a:prstGeom prst="curved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曲线连接符 37">
            <a:extLst>
              <a:ext uri="{FF2B5EF4-FFF2-40B4-BE49-F238E27FC236}">
                <a16:creationId xmlns:a16="http://schemas.microsoft.com/office/drawing/2014/main" id="{42646CBB-5A01-F541-BAFE-6C2545E0A817}"/>
              </a:ext>
            </a:extLst>
          </p:cNvPr>
          <p:cNvCxnSpPr>
            <a:cxnSpLocks/>
          </p:cNvCxnSpPr>
          <p:nvPr/>
        </p:nvCxnSpPr>
        <p:spPr>
          <a:xfrm rot="10800000" flipV="1">
            <a:off x="3653486" y="3022334"/>
            <a:ext cx="3046844" cy="2853493"/>
          </a:xfrm>
          <a:prstGeom prst="curved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8BC210CA-8C8B-D549-8752-4383F4CF5366}"/>
              </a:ext>
            </a:extLst>
          </p:cNvPr>
          <p:cNvSpPr txBox="1"/>
          <p:nvPr/>
        </p:nvSpPr>
        <p:spPr>
          <a:xfrm>
            <a:off x="5169008" y="2936944"/>
            <a:ext cx="2688557" cy="369332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6384"/>
                </a:solidFill>
              </a:rPr>
              <a:t>多队列技术 </a:t>
            </a:r>
            <a:r>
              <a:rPr kumimoji="1" lang="en-US" altLang="zh-CN" dirty="0">
                <a:solidFill>
                  <a:srgbClr val="FF6384"/>
                </a:solidFill>
              </a:rPr>
              <a:t>(multi-queue)</a:t>
            </a:r>
            <a:endParaRPr kumimoji="1" lang="en-US" altLang="zh-CN" dirty="0">
              <a:solidFill>
                <a:srgbClr val="308CF4"/>
              </a:solidFill>
            </a:endParaRPr>
          </a:p>
        </p:txBody>
      </p:sp>
      <p:cxnSp>
        <p:nvCxnSpPr>
          <p:cNvPr id="44" name="曲线连接符 43">
            <a:extLst>
              <a:ext uri="{FF2B5EF4-FFF2-40B4-BE49-F238E27FC236}">
                <a16:creationId xmlns:a16="http://schemas.microsoft.com/office/drawing/2014/main" id="{FF3DAF3C-133C-D340-B37A-E96D8FC1D843}"/>
              </a:ext>
            </a:extLst>
          </p:cNvPr>
          <p:cNvCxnSpPr>
            <a:cxnSpLocks/>
          </p:cNvCxnSpPr>
          <p:nvPr/>
        </p:nvCxnSpPr>
        <p:spPr>
          <a:xfrm rot="10800000">
            <a:off x="3695783" y="3247572"/>
            <a:ext cx="2303965" cy="195550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曲线连接符 48">
            <a:extLst>
              <a:ext uri="{FF2B5EF4-FFF2-40B4-BE49-F238E27FC236}">
                <a16:creationId xmlns:a16="http://schemas.microsoft.com/office/drawing/2014/main" id="{DF734221-A78E-A84A-A168-737E80D4531A}"/>
              </a:ext>
            </a:extLst>
          </p:cNvPr>
          <p:cNvCxnSpPr>
            <a:cxnSpLocks/>
            <a:stCxn id="6" idx="1"/>
          </p:cNvCxnSpPr>
          <p:nvPr/>
        </p:nvCxnSpPr>
        <p:spPr>
          <a:xfrm rot="10800000">
            <a:off x="3695789" y="3817247"/>
            <a:ext cx="1728661" cy="137804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曲线连接符 54">
            <a:extLst>
              <a:ext uri="{FF2B5EF4-FFF2-40B4-BE49-F238E27FC236}">
                <a16:creationId xmlns:a16="http://schemas.microsoft.com/office/drawing/2014/main" id="{178CFB6E-DFF8-BC48-AEE9-A0B45CF25AF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653484" y="5251055"/>
            <a:ext cx="1797789" cy="1443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曲线连接符 64">
            <a:extLst>
              <a:ext uri="{FF2B5EF4-FFF2-40B4-BE49-F238E27FC236}">
                <a16:creationId xmlns:a16="http://schemas.microsoft.com/office/drawing/2014/main" id="{1E1C9C2E-DDFE-E549-ADD1-93E3248483CB}"/>
              </a:ext>
            </a:extLst>
          </p:cNvPr>
          <p:cNvCxnSpPr>
            <a:cxnSpLocks/>
          </p:cNvCxnSpPr>
          <p:nvPr/>
        </p:nvCxnSpPr>
        <p:spPr>
          <a:xfrm rot="10800000" flipV="1">
            <a:off x="3653483" y="5295698"/>
            <a:ext cx="1797790" cy="647009"/>
          </a:xfrm>
          <a:prstGeom prst="curvedConnector3">
            <a:avLst>
              <a:gd name="adj1" fmla="val 3960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曲线连接符 71">
            <a:extLst>
              <a:ext uri="{FF2B5EF4-FFF2-40B4-BE49-F238E27FC236}">
                <a16:creationId xmlns:a16="http://schemas.microsoft.com/office/drawing/2014/main" id="{A8CFF062-6C17-7146-91D3-6220BB65BEA8}"/>
              </a:ext>
            </a:extLst>
          </p:cNvPr>
          <p:cNvCxnSpPr>
            <a:cxnSpLocks/>
          </p:cNvCxnSpPr>
          <p:nvPr/>
        </p:nvCxnSpPr>
        <p:spPr>
          <a:xfrm rot="10800000">
            <a:off x="3703677" y="1803907"/>
            <a:ext cx="3424710" cy="3335624"/>
          </a:xfrm>
          <a:prstGeom prst="curvedConnector3">
            <a:avLst>
              <a:gd name="adj1" fmla="val 6291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9D2A88E1-6348-0A44-AFE7-AC1485600149}"/>
              </a:ext>
            </a:extLst>
          </p:cNvPr>
          <p:cNvSpPr/>
          <p:nvPr/>
        </p:nvSpPr>
        <p:spPr>
          <a:xfrm>
            <a:off x="5424449" y="5010627"/>
            <a:ext cx="2433116" cy="369332"/>
          </a:xfrm>
          <a:prstGeom prst="rect">
            <a:avLst/>
          </a:prstGeom>
          <a:solidFill>
            <a:schemeClr val="bg1"/>
          </a:solidFill>
          <a:ln>
            <a:solidFill>
              <a:srgbClr val="1A68F0"/>
            </a:solidFill>
          </a:ln>
        </p:spPr>
        <p:txBody>
          <a:bodyPr wrap="square">
            <a:spAutoFit/>
          </a:bodyPr>
          <a:lstStyle/>
          <a:p>
            <a:r>
              <a:rPr kumimoji="1" lang="zh-CN" altLang="en-US" b="1" dirty="0">
                <a:solidFill>
                  <a:srgbClr val="308CF4"/>
                </a:solidFill>
              </a:rPr>
              <a:t>轮询完成 </a:t>
            </a:r>
            <a:r>
              <a:rPr kumimoji="1" lang="en-US" altLang="zh-CN" b="1" dirty="0">
                <a:solidFill>
                  <a:srgbClr val="308CF4"/>
                </a:solidFill>
              </a:rPr>
              <a:t>(polling)</a:t>
            </a:r>
            <a:endParaRPr lang="zh-CN" altLang="en-US" b="1" dirty="0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E71DE1E6-15EA-CD47-82B5-83C5A0DC044C}"/>
              </a:ext>
            </a:extLst>
          </p:cNvPr>
          <p:cNvSpPr txBox="1"/>
          <p:nvPr/>
        </p:nvSpPr>
        <p:spPr>
          <a:xfrm>
            <a:off x="5906710" y="3344476"/>
            <a:ext cx="20152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利用多核、多队列提升</a:t>
            </a:r>
            <a:r>
              <a:rPr kumimoji="1" lang="en-US" altLang="zh-CN" sz="1200" dirty="0"/>
              <a:t>IOPS</a:t>
            </a:r>
            <a:endParaRPr kumimoji="1" lang="zh-CN" altLang="en-US" sz="1200" dirty="0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A832475A-6A8D-0341-8C9F-3945F58D6751}"/>
              </a:ext>
            </a:extLst>
          </p:cNvPr>
          <p:cNvSpPr txBox="1"/>
          <p:nvPr/>
        </p:nvSpPr>
        <p:spPr>
          <a:xfrm>
            <a:off x="5906710" y="5475148"/>
            <a:ext cx="18742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占用</a:t>
            </a:r>
            <a:r>
              <a:rPr kumimoji="1" lang="en-US" altLang="zh-CN" sz="1200" dirty="0"/>
              <a:t>CPU</a:t>
            </a:r>
            <a:r>
              <a:rPr kumimoji="1" lang="zh-CN" altLang="en-US" sz="1200" dirty="0"/>
              <a:t>进行轮询代替</a:t>
            </a:r>
            <a:endParaRPr kumimoji="1" lang="en-US" altLang="zh-CN" sz="1200" dirty="0"/>
          </a:p>
          <a:p>
            <a:r>
              <a:rPr kumimoji="1" lang="zh-CN" altLang="en-US" sz="1200" dirty="0"/>
              <a:t>             中断或者消息通知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818FD28-8D25-C04E-89FA-41B31F92B7FE}"/>
              </a:ext>
            </a:extLst>
          </p:cNvPr>
          <p:cNvSpPr txBox="1"/>
          <p:nvPr/>
        </p:nvSpPr>
        <p:spPr>
          <a:xfrm>
            <a:off x="308079" y="552678"/>
            <a:ext cx="59116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存储栈的性能优化</a:t>
            </a:r>
            <a:endParaRPr kumimoji="1" lang="en-US" altLang="zh-CN" sz="28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9369179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785" y="1478643"/>
            <a:ext cx="2438400" cy="4749800"/>
          </a:xfrm>
          <a:prstGeom prst="rect">
            <a:avLst/>
          </a:prstGeom>
        </p:spPr>
      </p:pic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786" y="1480054"/>
            <a:ext cx="2438400" cy="647700"/>
          </a:xfrm>
          <a:prstGeom prst="rect">
            <a:avLst/>
          </a:prstGeom>
        </p:spPr>
      </p:pic>
      <p:sp>
        <p:nvSpPr>
          <p:cNvPr id="22" name="左大括号 21"/>
          <p:cNvSpPr/>
          <p:nvPr/>
        </p:nvSpPr>
        <p:spPr>
          <a:xfrm>
            <a:off x="731521" y="2529528"/>
            <a:ext cx="115503" cy="1436080"/>
          </a:xfrm>
          <a:prstGeom prst="leftBrace">
            <a:avLst>
              <a:gd name="adj1" fmla="val 28333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2000"/>
          </a:p>
        </p:txBody>
      </p:sp>
      <p:sp>
        <p:nvSpPr>
          <p:cNvPr id="18" name="文本框 17"/>
          <p:cNvSpPr txBox="1"/>
          <p:nvPr/>
        </p:nvSpPr>
        <p:spPr>
          <a:xfrm>
            <a:off x="0" y="3022334"/>
            <a:ext cx="840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900" b="1"/>
              <a:t>Virtualization</a:t>
            </a:r>
            <a:endParaRPr kumimoji="1" lang="en-US" altLang="zh-CN" sz="900" b="1" dirty="0"/>
          </a:p>
          <a:p>
            <a:r>
              <a:rPr kumimoji="1" lang="en-US" altLang="zh-CN" sz="900" b="1" dirty="0"/>
              <a:t>I/O</a:t>
            </a:r>
            <a:r>
              <a:rPr kumimoji="1" lang="zh-CN" altLang="en-US" sz="900" b="1" dirty="0"/>
              <a:t> </a:t>
            </a:r>
            <a:r>
              <a:rPr kumimoji="1" lang="en-US" altLang="zh-CN" sz="900" b="1" dirty="0"/>
              <a:t>layers</a:t>
            </a:r>
            <a:endParaRPr kumimoji="1" lang="zh-CN" altLang="en-US" sz="900" b="1" dirty="0"/>
          </a:p>
        </p:txBody>
      </p:sp>
      <p:cxnSp>
        <p:nvCxnSpPr>
          <p:cNvPr id="44" name="曲线连接符 43">
            <a:extLst>
              <a:ext uri="{FF2B5EF4-FFF2-40B4-BE49-F238E27FC236}">
                <a16:creationId xmlns:a16="http://schemas.microsoft.com/office/drawing/2014/main" id="{FF3DAF3C-133C-D340-B37A-E96D8FC1D843}"/>
              </a:ext>
            </a:extLst>
          </p:cNvPr>
          <p:cNvCxnSpPr>
            <a:cxnSpLocks/>
          </p:cNvCxnSpPr>
          <p:nvPr/>
        </p:nvCxnSpPr>
        <p:spPr>
          <a:xfrm rot="10800000">
            <a:off x="3695783" y="3247572"/>
            <a:ext cx="2303965" cy="195550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曲线连接符 48">
            <a:extLst>
              <a:ext uri="{FF2B5EF4-FFF2-40B4-BE49-F238E27FC236}">
                <a16:creationId xmlns:a16="http://schemas.microsoft.com/office/drawing/2014/main" id="{DF734221-A78E-A84A-A168-737E80D4531A}"/>
              </a:ext>
            </a:extLst>
          </p:cNvPr>
          <p:cNvCxnSpPr>
            <a:cxnSpLocks/>
            <a:stCxn id="6" idx="1"/>
          </p:cNvCxnSpPr>
          <p:nvPr/>
        </p:nvCxnSpPr>
        <p:spPr>
          <a:xfrm rot="10800000">
            <a:off x="3695789" y="3817247"/>
            <a:ext cx="1728661" cy="137804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曲线连接符 54">
            <a:extLst>
              <a:ext uri="{FF2B5EF4-FFF2-40B4-BE49-F238E27FC236}">
                <a16:creationId xmlns:a16="http://schemas.microsoft.com/office/drawing/2014/main" id="{178CFB6E-DFF8-BC48-AEE9-A0B45CF25AF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653484" y="5251055"/>
            <a:ext cx="1797789" cy="1443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曲线连接符 64">
            <a:extLst>
              <a:ext uri="{FF2B5EF4-FFF2-40B4-BE49-F238E27FC236}">
                <a16:creationId xmlns:a16="http://schemas.microsoft.com/office/drawing/2014/main" id="{1E1C9C2E-DDFE-E549-ADD1-93E3248483CB}"/>
              </a:ext>
            </a:extLst>
          </p:cNvPr>
          <p:cNvCxnSpPr>
            <a:cxnSpLocks/>
          </p:cNvCxnSpPr>
          <p:nvPr/>
        </p:nvCxnSpPr>
        <p:spPr>
          <a:xfrm rot="10800000" flipV="1">
            <a:off x="3653483" y="5295698"/>
            <a:ext cx="1797790" cy="647009"/>
          </a:xfrm>
          <a:prstGeom prst="curvedConnector3">
            <a:avLst>
              <a:gd name="adj1" fmla="val 3960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曲线连接符 71">
            <a:extLst>
              <a:ext uri="{FF2B5EF4-FFF2-40B4-BE49-F238E27FC236}">
                <a16:creationId xmlns:a16="http://schemas.microsoft.com/office/drawing/2014/main" id="{A8CFF062-6C17-7146-91D3-6220BB65BEA8}"/>
              </a:ext>
            </a:extLst>
          </p:cNvPr>
          <p:cNvCxnSpPr>
            <a:cxnSpLocks/>
          </p:cNvCxnSpPr>
          <p:nvPr/>
        </p:nvCxnSpPr>
        <p:spPr>
          <a:xfrm rot="10800000">
            <a:off x="3703677" y="1803907"/>
            <a:ext cx="3424710" cy="3335624"/>
          </a:xfrm>
          <a:prstGeom prst="curvedConnector3">
            <a:avLst>
              <a:gd name="adj1" fmla="val 6291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9D2A88E1-6348-0A44-AFE7-AC1485600149}"/>
              </a:ext>
            </a:extLst>
          </p:cNvPr>
          <p:cNvSpPr/>
          <p:nvPr/>
        </p:nvSpPr>
        <p:spPr>
          <a:xfrm>
            <a:off x="5424449" y="5010627"/>
            <a:ext cx="2433116" cy="369332"/>
          </a:xfrm>
          <a:prstGeom prst="rect">
            <a:avLst/>
          </a:prstGeom>
          <a:solidFill>
            <a:schemeClr val="bg1"/>
          </a:solidFill>
          <a:ln>
            <a:solidFill>
              <a:srgbClr val="1A68F0"/>
            </a:solidFill>
          </a:ln>
        </p:spPr>
        <p:txBody>
          <a:bodyPr wrap="square">
            <a:spAutoFit/>
          </a:bodyPr>
          <a:lstStyle/>
          <a:p>
            <a:r>
              <a:rPr kumimoji="1" lang="zh-CN" altLang="en-US" b="1" dirty="0">
                <a:solidFill>
                  <a:srgbClr val="308CF4"/>
                </a:solidFill>
              </a:rPr>
              <a:t>轮询完成 </a:t>
            </a:r>
            <a:r>
              <a:rPr kumimoji="1" lang="en-US" altLang="zh-CN" b="1" dirty="0">
                <a:solidFill>
                  <a:srgbClr val="308CF4"/>
                </a:solidFill>
              </a:rPr>
              <a:t>(polling)</a:t>
            </a:r>
            <a:endParaRPr lang="zh-CN" altLang="en-US" b="1" dirty="0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A832475A-6A8D-0341-8C9F-3945F58D6751}"/>
              </a:ext>
            </a:extLst>
          </p:cNvPr>
          <p:cNvSpPr txBox="1"/>
          <p:nvPr/>
        </p:nvSpPr>
        <p:spPr>
          <a:xfrm>
            <a:off x="5906710" y="5475148"/>
            <a:ext cx="18742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占用</a:t>
            </a:r>
            <a:r>
              <a:rPr kumimoji="1" lang="en-US" altLang="zh-CN" sz="1200" dirty="0"/>
              <a:t>CPU</a:t>
            </a:r>
            <a:r>
              <a:rPr kumimoji="1" lang="zh-CN" altLang="en-US" sz="1200" dirty="0"/>
              <a:t>进行轮询代替</a:t>
            </a:r>
            <a:endParaRPr kumimoji="1" lang="en-US" altLang="zh-CN" sz="1200" dirty="0"/>
          </a:p>
          <a:p>
            <a:r>
              <a:rPr kumimoji="1" lang="zh-CN" altLang="en-US" sz="1200" dirty="0"/>
              <a:t>             中断或者消息通知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07A66DD-2498-1149-BCB4-B0076F95F75E}"/>
              </a:ext>
            </a:extLst>
          </p:cNvPr>
          <p:cNvSpPr txBox="1"/>
          <p:nvPr/>
        </p:nvSpPr>
        <p:spPr>
          <a:xfrm>
            <a:off x="308079" y="552678"/>
            <a:ext cx="59116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延迟优化 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–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轮询</a:t>
            </a:r>
            <a:endParaRPr kumimoji="1" lang="en-US" altLang="zh-CN" sz="28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519D080-A7FE-3C47-803B-BFBFB6537704}"/>
              </a:ext>
            </a:extLst>
          </p:cNvPr>
          <p:cNvSpPr txBox="1"/>
          <p:nvPr/>
        </p:nvSpPr>
        <p:spPr>
          <a:xfrm>
            <a:off x="5329054" y="1641619"/>
            <a:ext cx="3695714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chemeClr val="accent1">
                    <a:lumMod val="75000"/>
                  </a:schemeClr>
                </a:solidFill>
              </a:rPr>
              <a:t>思路：</a:t>
            </a:r>
            <a:endParaRPr kumimoji="1" lang="en-US" altLang="zh-CN" sz="28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kumimoji="1" lang="zh-CN" altLang="en-US" dirty="0"/>
              <a:t>     用轮询代替中断</a:t>
            </a:r>
            <a:r>
              <a:rPr kumimoji="1" lang="en-US" altLang="zh-CN" dirty="0"/>
              <a:t>(</a:t>
            </a:r>
            <a:r>
              <a:rPr kumimoji="1" lang="zh-CN" altLang="en-US" dirty="0"/>
              <a:t>或事件</a:t>
            </a:r>
            <a:r>
              <a:rPr kumimoji="1" lang="en-US" altLang="zh-CN" dirty="0"/>
              <a:t>)</a:t>
            </a:r>
            <a:r>
              <a:rPr kumimoji="1" lang="zh-CN" altLang="en-US" dirty="0"/>
              <a:t>，减小软件栈延迟，缺点是增加了</a:t>
            </a:r>
            <a:r>
              <a:rPr kumimoji="1" lang="en-US" altLang="zh-CN" dirty="0"/>
              <a:t>CPU</a:t>
            </a:r>
            <a:r>
              <a:rPr kumimoji="1" lang="zh-CN" altLang="en-US" dirty="0"/>
              <a:t>占用率。</a:t>
            </a:r>
          </a:p>
        </p:txBody>
      </p:sp>
    </p:spTree>
    <p:extLst>
      <p:ext uri="{BB962C8B-B14F-4D97-AF65-F5344CB8AC3E}">
        <p14:creationId xmlns:p14="http://schemas.microsoft.com/office/powerpoint/2010/main" val="3432708683"/>
      </p:ext>
    </p:extLst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07A66DD-2498-1149-BCB4-B0076F95F75E}"/>
              </a:ext>
            </a:extLst>
          </p:cNvPr>
          <p:cNvSpPr txBox="1"/>
          <p:nvPr/>
        </p:nvSpPr>
        <p:spPr>
          <a:xfrm>
            <a:off x="308079" y="552678"/>
            <a:ext cx="59116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延迟优化 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–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轮询</a:t>
            </a:r>
            <a:endParaRPr kumimoji="1" lang="en-US" altLang="zh-CN" sz="28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9B97010-D13A-9C40-9B60-E68EB7FB8A1E}"/>
              </a:ext>
            </a:extLst>
          </p:cNvPr>
          <p:cNvSpPr txBox="1"/>
          <p:nvPr/>
        </p:nvSpPr>
        <p:spPr>
          <a:xfrm>
            <a:off x="406280" y="1247849"/>
            <a:ext cx="7620000" cy="1669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内核中的</a:t>
            </a:r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polling</a:t>
            </a: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endParaRPr kumimoji="1" lang="en-US" altLang="zh-CN" sz="2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endParaRPr kumimoji="1" lang="fr-FR" altLang="zh-CN" sz="10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(1)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irq_poll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可以减少中断数。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原理是在第一次中断后开始处理所有可用的事件，当所有事件处理完后才开中断。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(2)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当</a:t>
            </a:r>
            <a:r>
              <a:rPr kumimoji="1"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blk_mq_poll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在可以在块层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polling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同步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I/O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D0195F5-31FA-754D-B42E-00C55753A9B9}"/>
              </a:ext>
            </a:extLst>
          </p:cNvPr>
          <p:cNvSpPr txBox="1"/>
          <p:nvPr/>
        </p:nvSpPr>
        <p:spPr>
          <a:xfrm>
            <a:off x="406280" y="3089488"/>
            <a:ext cx="7620000" cy="2557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用户态的</a:t>
            </a:r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polling</a:t>
            </a:r>
          </a:p>
          <a:p>
            <a:r>
              <a:rPr kumimoji="1" lang="zh-CN" altLang="en-US" sz="11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  <a:endParaRPr kumimoji="1" lang="en-US" altLang="zh-CN" sz="11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(1)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QEMU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中轮询 </a:t>
            </a:r>
            <a:r>
              <a:rPr kumimoji="1"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vring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减少 </a:t>
            </a:r>
            <a:r>
              <a:rPr kumimoji="1"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virtqueue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kick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造成的</a:t>
            </a:r>
            <a:r>
              <a:rPr kumimoji="1"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vm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-exit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次数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(2)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主动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poll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libaio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的完成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(3)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内核提供最新的</a:t>
            </a:r>
            <a:r>
              <a:rPr kumimoji="1"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io_uring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系列系统调用提供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polling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模式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(4)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SPDK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实现了基于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polling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完成状态的用户态</a:t>
            </a:r>
            <a:r>
              <a:rPr kumimoji="1"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NVMe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驱动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	</a:t>
            </a:r>
          </a:p>
          <a:p>
            <a:pPr>
              <a:lnSpc>
                <a:spcPct val="150000"/>
              </a:lnSpc>
            </a:pP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28FB7A2-2604-5D40-B46C-3E6232A282A5}"/>
              </a:ext>
            </a:extLst>
          </p:cNvPr>
          <p:cNvSpPr/>
          <p:nvPr/>
        </p:nvSpPr>
        <p:spPr>
          <a:xfrm>
            <a:off x="406280" y="5430915"/>
            <a:ext cx="8022921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用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polling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代替中断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事件通知，</a:t>
            </a:r>
            <a:r>
              <a:rPr kumimoji="1" lang="en-US" altLang="zh-CN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Optane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SSD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从延迟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13us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降到到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7us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QEMU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虚拟机存储栈的延迟可以降低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10us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左右的延迟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[11] 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kumimoji="1"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078852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785" y="1478643"/>
            <a:ext cx="2438400" cy="4749800"/>
          </a:xfrm>
          <a:prstGeom prst="rect">
            <a:avLst/>
          </a:prstGeom>
        </p:spPr>
      </p:pic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786" y="1480054"/>
            <a:ext cx="2438400" cy="647700"/>
          </a:xfrm>
          <a:prstGeom prst="rect">
            <a:avLst/>
          </a:prstGeom>
        </p:spPr>
      </p:pic>
      <p:sp>
        <p:nvSpPr>
          <p:cNvPr id="22" name="左大括号 21"/>
          <p:cNvSpPr/>
          <p:nvPr/>
        </p:nvSpPr>
        <p:spPr>
          <a:xfrm>
            <a:off x="731521" y="2529528"/>
            <a:ext cx="115503" cy="1436080"/>
          </a:xfrm>
          <a:prstGeom prst="leftBrace">
            <a:avLst>
              <a:gd name="adj1" fmla="val 28333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2000"/>
          </a:p>
        </p:txBody>
      </p:sp>
      <p:sp>
        <p:nvSpPr>
          <p:cNvPr id="18" name="文本框 17"/>
          <p:cNvSpPr txBox="1"/>
          <p:nvPr/>
        </p:nvSpPr>
        <p:spPr>
          <a:xfrm>
            <a:off x="0" y="3022334"/>
            <a:ext cx="840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900" b="1"/>
              <a:t>Virtualization</a:t>
            </a:r>
            <a:endParaRPr kumimoji="1" lang="en-US" altLang="zh-CN" sz="900" b="1" dirty="0"/>
          </a:p>
          <a:p>
            <a:r>
              <a:rPr kumimoji="1" lang="en-US" altLang="zh-CN" sz="900" b="1" dirty="0"/>
              <a:t>I/O</a:t>
            </a:r>
            <a:r>
              <a:rPr kumimoji="1" lang="zh-CN" altLang="en-US" sz="900" b="1" dirty="0"/>
              <a:t> </a:t>
            </a:r>
            <a:r>
              <a:rPr kumimoji="1" lang="en-US" altLang="zh-CN" sz="900" b="1" dirty="0"/>
              <a:t>layers</a:t>
            </a:r>
            <a:endParaRPr kumimoji="1" lang="zh-CN" altLang="en-US" sz="900" b="1" dirty="0"/>
          </a:p>
        </p:txBody>
      </p:sp>
      <p:cxnSp>
        <p:nvCxnSpPr>
          <p:cNvPr id="8" name="曲线连接符 7">
            <a:extLst>
              <a:ext uri="{FF2B5EF4-FFF2-40B4-BE49-F238E27FC236}">
                <a16:creationId xmlns:a16="http://schemas.microsoft.com/office/drawing/2014/main" id="{71E15F3A-A7C7-AD45-9102-648664FE3B49}"/>
              </a:ext>
            </a:extLst>
          </p:cNvPr>
          <p:cNvCxnSpPr>
            <a:cxnSpLocks/>
          </p:cNvCxnSpPr>
          <p:nvPr/>
        </p:nvCxnSpPr>
        <p:spPr>
          <a:xfrm rot="10800000" flipV="1">
            <a:off x="3703676" y="3091269"/>
            <a:ext cx="1473231" cy="12700"/>
          </a:xfrm>
          <a:prstGeom prst="curved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曲线连接符 13">
            <a:extLst>
              <a:ext uri="{FF2B5EF4-FFF2-40B4-BE49-F238E27FC236}">
                <a16:creationId xmlns:a16="http://schemas.microsoft.com/office/drawing/2014/main" id="{703DC37E-B2EE-5A40-8939-27308ABAAA1F}"/>
              </a:ext>
            </a:extLst>
          </p:cNvPr>
          <p:cNvCxnSpPr>
            <a:cxnSpLocks/>
            <a:stCxn id="4" idx="1"/>
          </p:cNvCxnSpPr>
          <p:nvPr/>
        </p:nvCxnSpPr>
        <p:spPr>
          <a:xfrm rot="10800000" flipV="1">
            <a:off x="3695780" y="3121609"/>
            <a:ext cx="1473228" cy="610429"/>
          </a:xfrm>
          <a:prstGeom prst="curved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曲线连接符 33">
            <a:extLst>
              <a:ext uri="{FF2B5EF4-FFF2-40B4-BE49-F238E27FC236}">
                <a16:creationId xmlns:a16="http://schemas.microsoft.com/office/drawing/2014/main" id="{8B582BAB-017C-B345-B074-1E7437C53057}"/>
              </a:ext>
            </a:extLst>
          </p:cNvPr>
          <p:cNvCxnSpPr>
            <a:cxnSpLocks/>
          </p:cNvCxnSpPr>
          <p:nvPr/>
        </p:nvCxnSpPr>
        <p:spPr>
          <a:xfrm rot="10800000" flipV="1">
            <a:off x="3653484" y="3022333"/>
            <a:ext cx="2430228" cy="2117197"/>
          </a:xfrm>
          <a:prstGeom prst="curved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曲线连接符 37">
            <a:extLst>
              <a:ext uri="{FF2B5EF4-FFF2-40B4-BE49-F238E27FC236}">
                <a16:creationId xmlns:a16="http://schemas.microsoft.com/office/drawing/2014/main" id="{42646CBB-5A01-F541-BAFE-6C2545E0A817}"/>
              </a:ext>
            </a:extLst>
          </p:cNvPr>
          <p:cNvCxnSpPr>
            <a:cxnSpLocks/>
          </p:cNvCxnSpPr>
          <p:nvPr/>
        </p:nvCxnSpPr>
        <p:spPr>
          <a:xfrm rot="10800000" flipV="1">
            <a:off x="3653486" y="3022334"/>
            <a:ext cx="3046844" cy="2853493"/>
          </a:xfrm>
          <a:prstGeom prst="curved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8BC210CA-8C8B-D549-8752-4383F4CF5366}"/>
              </a:ext>
            </a:extLst>
          </p:cNvPr>
          <p:cNvSpPr txBox="1"/>
          <p:nvPr/>
        </p:nvSpPr>
        <p:spPr>
          <a:xfrm>
            <a:off x="5169008" y="2936944"/>
            <a:ext cx="2688557" cy="369332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6384"/>
                </a:solidFill>
              </a:rPr>
              <a:t>多队列技术 </a:t>
            </a:r>
            <a:r>
              <a:rPr kumimoji="1" lang="en-US" altLang="zh-CN" dirty="0">
                <a:solidFill>
                  <a:srgbClr val="FF6384"/>
                </a:solidFill>
              </a:rPr>
              <a:t>(multi-queue)</a:t>
            </a:r>
            <a:endParaRPr kumimoji="1" lang="en-US" altLang="zh-CN" dirty="0">
              <a:solidFill>
                <a:srgbClr val="308CF4"/>
              </a:solidFill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E71DE1E6-15EA-CD47-82B5-83C5A0DC044C}"/>
              </a:ext>
            </a:extLst>
          </p:cNvPr>
          <p:cNvSpPr txBox="1"/>
          <p:nvPr/>
        </p:nvSpPr>
        <p:spPr>
          <a:xfrm>
            <a:off x="5906710" y="3344476"/>
            <a:ext cx="20152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利用多核、多队列提升</a:t>
            </a:r>
            <a:r>
              <a:rPr kumimoji="1" lang="en-US" altLang="zh-CN" sz="1200" dirty="0"/>
              <a:t>IOPS</a:t>
            </a:r>
            <a:endParaRPr kumimoji="1" lang="zh-CN" altLang="en-US" sz="1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548D459-D7DA-CF46-9F39-167B497D5E56}"/>
              </a:ext>
            </a:extLst>
          </p:cNvPr>
          <p:cNvSpPr txBox="1"/>
          <p:nvPr/>
        </p:nvSpPr>
        <p:spPr>
          <a:xfrm>
            <a:off x="5431091" y="4628713"/>
            <a:ext cx="3695714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rgbClr val="C00000"/>
                </a:solidFill>
              </a:rPr>
              <a:t>思路</a:t>
            </a:r>
            <a:r>
              <a:rPr kumimoji="1" lang="en-US" altLang="zh-CN" sz="2800" dirty="0">
                <a:solidFill>
                  <a:srgbClr val="C00000"/>
                </a:solidFill>
              </a:rPr>
              <a:t>:</a:t>
            </a:r>
          </a:p>
          <a:p>
            <a:r>
              <a:rPr kumimoji="1" lang="zh-CN" altLang="en-US" dirty="0"/>
              <a:t>     用多队列提升多核系统具有</a:t>
            </a:r>
            <a:r>
              <a:rPr kumimoji="1" lang="en-US" altLang="zh-CN" dirty="0"/>
              <a:t>IO</a:t>
            </a:r>
            <a:r>
              <a:rPr kumimoji="1" lang="zh-CN" altLang="en-US" dirty="0"/>
              <a:t>请求的扩展性，也利用了多通道存储设备的硬件并进性，提升</a:t>
            </a:r>
            <a:r>
              <a:rPr kumimoji="1" lang="en-US" altLang="zh-CN" dirty="0"/>
              <a:t>IOPS</a:t>
            </a:r>
            <a:r>
              <a:rPr kumimoji="1" lang="zh-CN" altLang="en-US" dirty="0"/>
              <a:t>。</a:t>
            </a:r>
            <a:endParaRPr kumimoji="1" lang="en-US" altLang="zh-CN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4F7A0CC-95BF-B241-9508-10A43A96E1C1}"/>
              </a:ext>
            </a:extLst>
          </p:cNvPr>
          <p:cNvSpPr txBox="1"/>
          <p:nvPr/>
        </p:nvSpPr>
        <p:spPr>
          <a:xfrm>
            <a:off x="308079" y="552678"/>
            <a:ext cx="59116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可扩展性优化 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–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多队列</a:t>
            </a:r>
            <a:endParaRPr kumimoji="1" lang="en-US" altLang="zh-CN" sz="28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74684830"/>
      </p:ext>
    </p:extLst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6801492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D7FB532-1F05-7841-9805-632E0009A12A}"/>
              </a:ext>
            </a:extLst>
          </p:cNvPr>
          <p:cNvSpPr txBox="1"/>
          <p:nvPr/>
        </p:nvSpPr>
        <p:spPr>
          <a:xfrm>
            <a:off x="715714" y="1311621"/>
            <a:ext cx="2843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solidFill>
                  <a:srgbClr val="FF6384"/>
                </a:solidFill>
              </a:rPr>
              <a:t>Linux</a:t>
            </a:r>
            <a:r>
              <a:rPr kumimoji="1" lang="zh-CN" altLang="en-US" sz="2400" dirty="0">
                <a:solidFill>
                  <a:srgbClr val="FF6384"/>
                </a:solidFill>
              </a:rPr>
              <a:t> 块层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BC06FE9-0141-D541-A9B8-FA24D131C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446" y="2199278"/>
            <a:ext cx="6641108" cy="4160992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DBC41652-D04A-AE45-A659-EB575ED16204}"/>
              </a:ext>
            </a:extLst>
          </p:cNvPr>
          <p:cNvSpPr/>
          <p:nvPr/>
        </p:nvSpPr>
        <p:spPr>
          <a:xfrm>
            <a:off x="5915473" y="3416643"/>
            <a:ext cx="1556952" cy="1217141"/>
          </a:xfrm>
          <a:prstGeom prst="rect">
            <a:avLst/>
          </a:prstGeom>
          <a:noFill/>
          <a:ln w="381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8AC519E-A22E-2241-B337-82715EC40000}"/>
              </a:ext>
            </a:extLst>
          </p:cNvPr>
          <p:cNvSpPr txBox="1"/>
          <p:nvPr/>
        </p:nvSpPr>
        <p:spPr>
          <a:xfrm>
            <a:off x="533903" y="1840791"/>
            <a:ext cx="4143185" cy="4589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kumimoji="1"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Linux</a:t>
            </a:r>
            <a:r>
              <a:rPr kumimoji="1"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块层的</a:t>
            </a:r>
            <a:r>
              <a:rPr kumimoji="1"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blk-</a:t>
            </a:r>
            <a:r>
              <a:rPr kumimoji="1" lang="en-US" altLang="zh-CN" dirty="0" err="1">
                <a:latin typeface="Microsoft YaHei" charset="-122"/>
                <a:ea typeface="Microsoft YaHei" charset="-122"/>
                <a:cs typeface="Microsoft YaHei" charset="-122"/>
              </a:rPr>
              <a:t>mq</a:t>
            </a:r>
            <a:r>
              <a:rPr kumimoji="1"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模式是多队列的</a:t>
            </a:r>
            <a:endParaRPr kumimoji="1" lang="en-US" altLang="zh-CN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BEEEB31-A32D-DC45-B03D-16BC0611669E}"/>
              </a:ext>
            </a:extLst>
          </p:cNvPr>
          <p:cNvSpPr txBox="1"/>
          <p:nvPr/>
        </p:nvSpPr>
        <p:spPr>
          <a:xfrm>
            <a:off x="308079" y="552678"/>
            <a:ext cx="59116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可扩展性优化 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--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多队列</a:t>
            </a:r>
            <a:endParaRPr kumimoji="1" lang="en-US" altLang="zh-CN" sz="28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1114847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6801492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33903" y="1840791"/>
            <a:ext cx="3943708" cy="4589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kumimoji="1" lang="en-US" altLang="zh-CN" dirty="0" err="1">
                <a:latin typeface="Microsoft YaHei" charset="-122"/>
                <a:ea typeface="Microsoft YaHei" charset="-122"/>
                <a:cs typeface="Microsoft YaHei" charset="-122"/>
              </a:rPr>
              <a:t>NVMe</a:t>
            </a:r>
            <a:r>
              <a:rPr kumimoji="1"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协议驱动是支持多队列的：</a:t>
            </a:r>
            <a:endParaRPr kumimoji="1" lang="en-US" altLang="zh-CN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0912" y="2369642"/>
            <a:ext cx="5462175" cy="218866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894BBF3-2AC3-4943-B8D4-E47E6D836350}"/>
              </a:ext>
            </a:extLst>
          </p:cNvPr>
          <p:cNvSpPr txBox="1"/>
          <p:nvPr/>
        </p:nvSpPr>
        <p:spPr>
          <a:xfrm>
            <a:off x="715714" y="1311621"/>
            <a:ext cx="2843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 err="1">
                <a:solidFill>
                  <a:srgbClr val="FF6384"/>
                </a:solidFill>
              </a:rPr>
              <a:t>NVMe</a:t>
            </a:r>
            <a:r>
              <a:rPr kumimoji="1" lang="zh-CN" altLang="en-US" sz="2400" dirty="0">
                <a:solidFill>
                  <a:srgbClr val="FF6384"/>
                </a:solidFill>
              </a:rPr>
              <a:t>驱动层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340926C-4C34-0241-8246-F945F6F87494}"/>
              </a:ext>
            </a:extLst>
          </p:cNvPr>
          <p:cNvSpPr txBox="1"/>
          <p:nvPr/>
        </p:nvSpPr>
        <p:spPr>
          <a:xfrm>
            <a:off x="1149349" y="4628245"/>
            <a:ext cx="6845299" cy="1384995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主机写命令到</a:t>
            </a:r>
            <a:r>
              <a:rPr kumimoji="1" lang="en-US" altLang="zh-CN" sz="1400" dirty="0">
                <a:latin typeface="Microsoft YaHei" charset="-122"/>
                <a:ea typeface="Microsoft YaHei" charset="-122"/>
                <a:cs typeface="Microsoft YaHei" charset="-122"/>
              </a:rPr>
              <a:t>SQ</a:t>
            </a: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；</a:t>
            </a:r>
            <a:r>
              <a:rPr kumimoji="1" lang="en-US" altLang="zh-CN" sz="1400" dirty="0">
                <a:latin typeface="Microsoft YaHei" charset="-122"/>
                <a:ea typeface="Microsoft YaHei" charset="-122"/>
                <a:cs typeface="Microsoft YaHei" charset="-122"/>
              </a:rPr>
              <a:t>			(Host</a:t>
            </a: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写</a:t>
            </a:r>
            <a:r>
              <a:rPr kumimoji="1" lang="en-US" altLang="zh-CN" sz="1400" dirty="0">
                <a:latin typeface="Microsoft YaHei" charset="-122"/>
                <a:ea typeface="Microsoft YaHei" charset="-122"/>
                <a:cs typeface="Microsoft YaHei" charset="-122"/>
              </a:rPr>
              <a:t>SQ)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主机写</a:t>
            </a:r>
            <a:r>
              <a:rPr kumimoji="1" lang="en-US" altLang="zh-CN" sz="1400" dirty="0">
                <a:latin typeface="Microsoft YaHei" charset="-122"/>
                <a:ea typeface="Microsoft YaHei" charset="-122"/>
                <a:cs typeface="Microsoft YaHei" charset="-122"/>
              </a:rPr>
              <a:t>SQ</a:t>
            </a: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的</a:t>
            </a:r>
            <a:r>
              <a:rPr kumimoji="1" lang="en-US" altLang="zh-CN" sz="1400" dirty="0">
                <a:latin typeface="Microsoft YaHei" charset="-122"/>
                <a:ea typeface="Microsoft YaHei" charset="-122"/>
                <a:cs typeface="Microsoft YaHei" charset="-122"/>
              </a:rPr>
              <a:t>DB</a:t>
            </a: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，通知</a:t>
            </a:r>
            <a:r>
              <a:rPr kumimoji="1" lang="en-US" altLang="zh-CN" sz="1400" dirty="0">
                <a:latin typeface="Microsoft YaHei" charset="-122"/>
                <a:ea typeface="Microsoft YaHei" charset="-122"/>
                <a:cs typeface="Microsoft YaHei" charset="-122"/>
              </a:rPr>
              <a:t>SSD</a:t>
            </a: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取指；</a:t>
            </a:r>
            <a:r>
              <a:rPr kumimoji="1" lang="en-US" altLang="zh-CN" sz="1400" dirty="0">
                <a:latin typeface="Microsoft YaHei" charset="-122"/>
                <a:ea typeface="Microsoft YaHei" charset="-122"/>
                <a:cs typeface="Microsoft YaHei" charset="-122"/>
              </a:rPr>
              <a:t>		(Host</a:t>
            </a: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通知</a:t>
            </a:r>
            <a:r>
              <a:rPr kumimoji="1" lang="en-US" altLang="zh-CN" sz="1400" dirty="0">
                <a:latin typeface="Microsoft YaHei" charset="-122"/>
                <a:ea typeface="Microsoft YaHei" charset="-122"/>
                <a:cs typeface="Microsoft YaHei" charset="-122"/>
              </a:rPr>
              <a:t>SSD)</a:t>
            </a: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endParaRPr kumimoji="1" lang="en-US" altLang="zh-CN" sz="14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sz="1400" dirty="0">
                <a:latin typeface="Microsoft YaHei" charset="-122"/>
                <a:ea typeface="Microsoft YaHei" charset="-122"/>
                <a:cs typeface="Microsoft YaHei" charset="-122"/>
              </a:rPr>
              <a:t>SSD</a:t>
            </a: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到</a:t>
            </a:r>
            <a:r>
              <a:rPr kumimoji="1" lang="en-US" altLang="zh-CN" sz="1400" dirty="0">
                <a:latin typeface="Microsoft YaHei" charset="-122"/>
                <a:ea typeface="Microsoft YaHei" charset="-122"/>
                <a:cs typeface="Microsoft YaHei" charset="-122"/>
              </a:rPr>
              <a:t>SQ</a:t>
            </a: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中取指执行，并写执行结果到</a:t>
            </a:r>
            <a:r>
              <a:rPr kumimoji="1" lang="en-US" altLang="zh-CN" sz="1400" dirty="0">
                <a:latin typeface="Microsoft YaHei" charset="-122"/>
                <a:ea typeface="Microsoft YaHei" charset="-122"/>
                <a:cs typeface="Microsoft YaHei" charset="-122"/>
              </a:rPr>
              <a:t>CQ</a:t>
            </a: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；</a:t>
            </a:r>
            <a:r>
              <a:rPr kumimoji="1" lang="en-US" altLang="zh-CN" sz="1400" dirty="0">
                <a:latin typeface="Microsoft YaHei" charset="-122"/>
                <a:ea typeface="Microsoft YaHei" charset="-122"/>
                <a:cs typeface="Microsoft YaHei" charset="-122"/>
              </a:rPr>
              <a:t>	(SSD</a:t>
            </a: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执行并写</a:t>
            </a:r>
            <a:r>
              <a:rPr kumimoji="1" lang="en-US" altLang="zh-CN" sz="1400" dirty="0">
                <a:latin typeface="Microsoft YaHei" charset="-122"/>
                <a:ea typeface="Microsoft YaHei" charset="-122"/>
                <a:cs typeface="Microsoft YaHei" charset="-122"/>
              </a:rPr>
              <a:t>CQ)</a:t>
            </a: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endParaRPr kumimoji="1" lang="en-US" altLang="zh-CN" sz="14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然后</a:t>
            </a:r>
            <a:r>
              <a:rPr kumimoji="1" lang="en-US" altLang="zh-CN" sz="1400" dirty="0">
                <a:latin typeface="Microsoft YaHei" charset="-122"/>
                <a:ea typeface="Microsoft YaHei" charset="-122"/>
                <a:cs typeface="Microsoft YaHei" charset="-122"/>
              </a:rPr>
              <a:t>SSD</a:t>
            </a: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发中断通知主机指令完成； </a:t>
            </a:r>
            <a:r>
              <a:rPr kumimoji="1" lang="en-US" altLang="zh-CN" sz="1400" dirty="0">
                <a:latin typeface="Microsoft YaHei" charset="-122"/>
                <a:ea typeface="Microsoft YaHei" charset="-122"/>
                <a:cs typeface="Microsoft YaHei" charset="-122"/>
              </a:rPr>
              <a:t>		(SSD</a:t>
            </a: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通知</a:t>
            </a:r>
            <a:r>
              <a:rPr kumimoji="1" lang="en-US" altLang="zh-CN" sz="1400" dirty="0">
                <a:latin typeface="Microsoft YaHei" charset="-122"/>
                <a:ea typeface="Microsoft YaHei" charset="-122"/>
                <a:cs typeface="Microsoft YaHei" charset="-122"/>
              </a:rPr>
              <a:t>Host)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收到中断，主机处理</a:t>
            </a:r>
            <a:r>
              <a:rPr kumimoji="1" lang="en-US" altLang="zh-CN" sz="1400" dirty="0">
                <a:latin typeface="Microsoft YaHei" charset="-122"/>
                <a:ea typeface="Microsoft YaHei" charset="-122"/>
                <a:cs typeface="Microsoft YaHei" charset="-122"/>
              </a:rPr>
              <a:t>CQ</a:t>
            </a: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，查看指令完成状态； </a:t>
            </a:r>
            <a:r>
              <a:rPr kumimoji="1" lang="en-US" altLang="zh-CN" sz="1400" dirty="0">
                <a:latin typeface="Microsoft YaHei" charset="-122"/>
                <a:ea typeface="Microsoft YaHei" charset="-122"/>
                <a:cs typeface="Microsoft YaHei" charset="-122"/>
              </a:rPr>
              <a:t>	(Host</a:t>
            </a: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处理完成</a:t>
            </a:r>
            <a:r>
              <a:rPr kumimoji="1" lang="en-US" altLang="zh-CN" sz="1400" dirty="0">
                <a:latin typeface="Microsoft YaHei" charset="-122"/>
                <a:ea typeface="Microsoft YaHei" charset="-122"/>
                <a:cs typeface="Microsoft YaHei" charset="-122"/>
              </a:rPr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通过</a:t>
            </a:r>
            <a:r>
              <a:rPr kumimoji="1" lang="en-US" altLang="zh-CN" sz="1400" dirty="0">
                <a:latin typeface="Microsoft YaHei" charset="-122"/>
                <a:ea typeface="Microsoft YaHei" charset="-122"/>
                <a:cs typeface="Microsoft YaHei" charset="-122"/>
              </a:rPr>
              <a:t>DB</a:t>
            </a: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回复</a:t>
            </a:r>
            <a:r>
              <a:rPr kumimoji="1" lang="en-US" altLang="zh-CN" sz="1400" dirty="0">
                <a:latin typeface="Microsoft YaHei" charset="-122"/>
                <a:ea typeface="Microsoft YaHei" charset="-122"/>
                <a:cs typeface="Microsoft YaHei" charset="-122"/>
              </a:rPr>
              <a:t>SSD</a:t>
            </a: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：指令执行已完！</a:t>
            </a:r>
            <a:r>
              <a:rPr kumimoji="1" lang="en-US" altLang="zh-CN" sz="1400" dirty="0">
                <a:latin typeface="Microsoft YaHei" charset="-122"/>
                <a:ea typeface="Microsoft YaHei" charset="-122"/>
                <a:cs typeface="Microsoft YaHei" charset="-122"/>
              </a:rPr>
              <a:t>		(Host</a:t>
            </a: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通知</a:t>
            </a:r>
            <a:r>
              <a:rPr kumimoji="1" lang="en-US" altLang="zh-CN" sz="1400" dirty="0">
                <a:latin typeface="Microsoft YaHei" charset="-122"/>
                <a:ea typeface="Microsoft YaHei" charset="-122"/>
                <a:cs typeface="Microsoft YaHei" charset="-122"/>
              </a:rPr>
              <a:t>SSD</a:t>
            </a: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完成</a:t>
            </a:r>
            <a:r>
              <a:rPr kumimoji="1" lang="en-US" altLang="zh-CN" sz="1400" dirty="0">
                <a:latin typeface="Microsoft YaHei" charset="-122"/>
                <a:ea typeface="Microsoft YaHei" charset="-122"/>
                <a:cs typeface="Microsoft YaHei" charset="-122"/>
              </a:rPr>
              <a:t>)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36CADC9-D5E0-8442-867E-687221CEDB7A}"/>
              </a:ext>
            </a:extLst>
          </p:cNvPr>
          <p:cNvSpPr txBox="1"/>
          <p:nvPr/>
        </p:nvSpPr>
        <p:spPr>
          <a:xfrm>
            <a:off x="3558746" y="6083559"/>
            <a:ext cx="1701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NVMe</a:t>
            </a:r>
            <a:r>
              <a:rPr kumimoji="1" lang="zh-CN" altLang="en-US" dirty="0"/>
              <a:t>协议流程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5B7589A-DF54-EE4C-809C-F66B75423377}"/>
              </a:ext>
            </a:extLst>
          </p:cNvPr>
          <p:cNvSpPr txBox="1"/>
          <p:nvPr/>
        </p:nvSpPr>
        <p:spPr>
          <a:xfrm>
            <a:off x="308079" y="552678"/>
            <a:ext cx="59116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可扩展性优化 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--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多队列</a:t>
            </a:r>
            <a:endParaRPr kumimoji="1" lang="en-US" altLang="zh-CN" sz="28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16795649"/>
      </p:ext>
    </p:extLst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6801492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376717" y="1173975"/>
            <a:ext cx="11079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600" dirty="0">
                <a:solidFill>
                  <a:schemeClr val="bg1">
                    <a:lumMod val="9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目录</a:t>
            </a:r>
            <a:endParaRPr kumimoji="1" lang="en-US" altLang="zh-CN" sz="3600" dirty="0">
              <a:solidFill>
                <a:schemeClr val="bg1">
                  <a:lumMod val="95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70166" y="2411366"/>
            <a:ext cx="6373834" cy="4274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    </a:t>
            </a:r>
            <a:r>
              <a:rPr kumimoji="1" lang="en-US" altLang="zh-CN" sz="2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NVMe</a:t>
            </a:r>
            <a:r>
              <a:rPr kumimoji="1"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硬件存储栈</a:t>
            </a:r>
            <a:endParaRPr kumimoji="1" lang="en-US" altLang="zh-CN" sz="2800" dirty="0">
              <a:solidFill>
                <a:schemeClr val="tx1">
                  <a:lumMod val="50000"/>
                  <a:lumOff val="50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    软件存储栈</a:t>
            </a:r>
            <a:endParaRPr kumimoji="1" lang="en-US" altLang="zh-CN" sz="2800" dirty="0">
              <a:solidFill>
                <a:schemeClr val="tx1">
                  <a:lumMod val="50000"/>
                  <a:lumOff val="50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     </a:t>
            </a:r>
            <a:r>
              <a:rPr kumimoji="1"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高性能软件存储栈优化</a:t>
            </a:r>
            <a:endParaRPr kumimoji="1" lang="en-US" altLang="zh-CN" sz="2800" dirty="0">
              <a:solidFill>
                <a:schemeClr val="tx1">
                  <a:lumMod val="50000"/>
                  <a:lumOff val="50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    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存储栈发展趋势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 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 charset="-122"/>
            </a:endParaRPr>
          </a:p>
          <a:p>
            <a:pPr marL="1371600" lvl="2" indent="-457200">
              <a:lnSpc>
                <a:spcPct val="150000"/>
              </a:lnSpc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用户态存储栈 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(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内核态 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-&gt;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用户态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)</a:t>
            </a:r>
          </a:p>
          <a:p>
            <a:pPr marL="1371600" lvl="2" indent="-457200">
              <a:lnSpc>
                <a:spcPct val="150000"/>
              </a:lnSpc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存储栈的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offload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 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(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软件 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-&gt;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 硬件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)</a:t>
            </a:r>
          </a:p>
          <a:p>
            <a:pPr marL="1371600" lvl="2" indent="-457200">
              <a:lnSpc>
                <a:spcPct val="150000"/>
              </a:lnSpc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软件定义存储 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(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硬件 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-&gt;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 软件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)</a:t>
            </a:r>
          </a:p>
          <a:p>
            <a:pPr marL="1371600" lvl="2" indent="-457200">
              <a:lnSpc>
                <a:spcPct val="150000"/>
              </a:lnSpc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endParaRPr kumimoji="1"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378346"/>
      </p:ext>
    </p:extLst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F8E656A-AE9C-A64C-AF7F-E3557E192828}"/>
              </a:ext>
            </a:extLst>
          </p:cNvPr>
          <p:cNvSpPr txBox="1"/>
          <p:nvPr/>
        </p:nvSpPr>
        <p:spPr>
          <a:xfrm>
            <a:off x="654258" y="507888"/>
            <a:ext cx="34087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存储栈发展趋势</a:t>
            </a:r>
            <a:endParaRPr kumimoji="1" lang="en-US" altLang="zh-CN" sz="28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E69539A8-6A2C-DA4E-BB59-07B641A11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687" y="2175247"/>
            <a:ext cx="7350625" cy="3887350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898BFF3A-6B8E-AA43-B536-0C0057441F06}"/>
              </a:ext>
            </a:extLst>
          </p:cNvPr>
          <p:cNvSpPr txBox="1"/>
          <p:nvPr/>
        </p:nvSpPr>
        <p:spPr>
          <a:xfrm>
            <a:off x="654258" y="1380933"/>
            <a:ext cx="54633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用户态存储栈 </a:t>
            </a:r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(</a:t>
            </a: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内核态 </a:t>
            </a:r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-&gt;</a:t>
            </a: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用户态</a:t>
            </a:r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)</a:t>
            </a: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 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 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--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SPDK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为例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7482DB9-AEAF-EE4A-99CF-C70CC636C1DB}"/>
              </a:ext>
            </a:extLst>
          </p:cNvPr>
          <p:cNvSpPr txBox="1"/>
          <p:nvPr/>
        </p:nvSpPr>
        <p:spPr>
          <a:xfrm>
            <a:off x="3219093" y="6099829"/>
            <a:ext cx="1542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SPDK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架构图</a:t>
            </a:r>
          </a:p>
        </p:txBody>
      </p:sp>
    </p:spTree>
    <p:extLst>
      <p:ext uri="{BB962C8B-B14F-4D97-AF65-F5344CB8AC3E}">
        <p14:creationId xmlns:p14="http://schemas.microsoft.com/office/powerpoint/2010/main" val="869883342"/>
      </p:ext>
    </p:extLst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F8E656A-AE9C-A64C-AF7F-E3557E192828}"/>
              </a:ext>
            </a:extLst>
          </p:cNvPr>
          <p:cNvSpPr txBox="1"/>
          <p:nvPr/>
        </p:nvSpPr>
        <p:spPr>
          <a:xfrm>
            <a:off x="654258" y="507888"/>
            <a:ext cx="34087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存储栈发展趋势</a:t>
            </a:r>
            <a:endParaRPr kumimoji="1" lang="en-US" altLang="zh-CN" sz="28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FA6027A-190C-EC4F-9CE9-17BC8CBCEFC9}"/>
              </a:ext>
            </a:extLst>
          </p:cNvPr>
          <p:cNvSpPr txBox="1"/>
          <p:nvPr/>
        </p:nvSpPr>
        <p:spPr>
          <a:xfrm>
            <a:off x="654258" y="1380933"/>
            <a:ext cx="54633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用户态存储栈 </a:t>
            </a:r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(</a:t>
            </a: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内核态 </a:t>
            </a:r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-&gt;</a:t>
            </a: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用户态</a:t>
            </a:r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)</a:t>
            </a: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 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 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--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SPDK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为例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502C796-3A46-5F4F-B14A-E8B8B33F0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4812" y="1905566"/>
            <a:ext cx="2871142" cy="404429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680D670-D002-5648-9DBA-8B4DCBAD86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2110" y="1905566"/>
            <a:ext cx="2799106" cy="404429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268240E-AB76-8341-A51F-2ACE1AD183A8}"/>
              </a:ext>
            </a:extLst>
          </p:cNvPr>
          <p:cNvSpPr txBox="1"/>
          <p:nvPr/>
        </p:nvSpPr>
        <p:spPr>
          <a:xfrm>
            <a:off x="2047107" y="598078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常规存储栈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0A69065-7FF8-1746-A232-C79BB55CE5CC}"/>
              </a:ext>
            </a:extLst>
          </p:cNvPr>
          <p:cNvSpPr txBox="1"/>
          <p:nvPr/>
        </p:nvSpPr>
        <p:spPr>
          <a:xfrm>
            <a:off x="5205754" y="5980780"/>
            <a:ext cx="1473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SPDK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存储栈</a:t>
            </a:r>
          </a:p>
        </p:txBody>
      </p:sp>
    </p:spTree>
    <p:extLst>
      <p:ext uri="{BB962C8B-B14F-4D97-AF65-F5344CB8AC3E}">
        <p14:creationId xmlns:p14="http://schemas.microsoft.com/office/powerpoint/2010/main" val="3635880841"/>
      </p:ext>
    </p:extLst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49447" y="2121418"/>
            <a:ext cx="8445106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KV SSD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相当于在普通</a:t>
            </a:r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SSD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上强化了</a:t>
            </a:r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Flash Translate Layer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的功能，这包括：</a:t>
            </a:r>
            <a:endParaRPr lang="en-US" altLang="zh-CN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buFont typeface="Arial" charset="0"/>
              <a:buChar char="•"/>
            </a:pPr>
            <a:r>
              <a:rPr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原本</a:t>
            </a:r>
            <a:r>
              <a:rPr lang="en-US" altLang="zh-CN" sz="1600" dirty="0">
                <a:latin typeface="Microsoft YaHei" charset="-122"/>
                <a:ea typeface="Microsoft YaHei" charset="-122"/>
                <a:cs typeface="Microsoft YaHei" charset="-122"/>
              </a:rPr>
              <a:t>garbage collection</a:t>
            </a:r>
            <a:r>
              <a:rPr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在</a:t>
            </a:r>
            <a:r>
              <a:rPr lang="en-US" altLang="zh-CN" sz="1600" dirty="0">
                <a:latin typeface="Microsoft YaHei" charset="-122"/>
                <a:ea typeface="Microsoft YaHei" charset="-122"/>
                <a:cs typeface="Microsoft YaHei" charset="-122"/>
              </a:rPr>
              <a:t>SSD</a:t>
            </a:r>
            <a:r>
              <a:rPr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和</a:t>
            </a:r>
            <a:r>
              <a:rPr lang="en-US" altLang="zh-CN" sz="1600" dirty="0">
                <a:latin typeface="Microsoft YaHei" charset="-122"/>
                <a:ea typeface="Microsoft YaHei" charset="-122"/>
                <a:cs typeface="Microsoft YaHei" charset="-122"/>
              </a:rPr>
              <a:t>database</a:t>
            </a:r>
            <a:r>
              <a:rPr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软件中各占一层，</a:t>
            </a:r>
            <a:r>
              <a:rPr lang="en-US" altLang="zh-CN" sz="1600" dirty="0">
                <a:latin typeface="Microsoft YaHei" charset="-122"/>
                <a:ea typeface="Microsoft YaHei" charset="-122"/>
                <a:cs typeface="Microsoft YaHei" charset="-122"/>
              </a:rPr>
              <a:t>KV SSD</a:t>
            </a:r>
            <a:r>
              <a:rPr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将其纳入</a:t>
            </a:r>
            <a:r>
              <a:rPr lang="en-US" altLang="zh-CN" sz="1600" dirty="0">
                <a:latin typeface="Microsoft YaHei" charset="-122"/>
                <a:ea typeface="Microsoft YaHei" charset="-122"/>
                <a:cs typeface="Microsoft YaHei" charset="-122"/>
              </a:rPr>
              <a:t>FTL</a:t>
            </a:r>
            <a:r>
              <a:rPr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中为一层。</a:t>
            </a:r>
            <a:endParaRPr lang="en-US" altLang="zh-CN" sz="16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buFont typeface="Arial" charset="0"/>
              <a:buChar char="•"/>
            </a:pPr>
            <a:r>
              <a:rPr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原本</a:t>
            </a:r>
            <a:r>
              <a:rPr lang="en-US" altLang="zh-CN" sz="1600" dirty="0">
                <a:latin typeface="Microsoft YaHei" charset="-122"/>
                <a:ea typeface="Microsoft YaHei" charset="-122"/>
                <a:cs typeface="Microsoft YaHei" charset="-122"/>
              </a:rPr>
              <a:t>KV-&gt;LBA</a:t>
            </a:r>
            <a:r>
              <a:rPr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的转换运行在</a:t>
            </a:r>
            <a:r>
              <a:rPr lang="en-US" altLang="zh-CN" sz="1600" dirty="0">
                <a:latin typeface="Microsoft YaHei" charset="-122"/>
                <a:ea typeface="Microsoft YaHei" charset="-122"/>
                <a:cs typeface="Microsoft YaHei" charset="-122"/>
              </a:rPr>
              <a:t>host</a:t>
            </a:r>
            <a:r>
              <a:rPr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，</a:t>
            </a:r>
            <a:r>
              <a:rPr lang="en-US" altLang="zh-CN" sz="1600" dirty="0">
                <a:latin typeface="Microsoft YaHei" charset="-122"/>
                <a:ea typeface="Microsoft YaHei" charset="-122"/>
                <a:cs typeface="Microsoft YaHei" charset="-122"/>
              </a:rPr>
              <a:t>KV SSD</a:t>
            </a:r>
            <a:r>
              <a:rPr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将其纳入</a:t>
            </a:r>
            <a:r>
              <a:rPr lang="en-US" altLang="zh-CN" sz="1600" dirty="0">
                <a:latin typeface="Microsoft YaHei" charset="-122"/>
                <a:ea typeface="Microsoft YaHei" charset="-122"/>
                <a:cs typeface="Microsoft YaHei" charset="-122"/>
              </a:rPr>
              <a:t>FTL</a:t>
            </a:r>
            <a:r>
              <a:rPr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，向上层提供</a:t>
            </a:r>
            <a:r>
              <a:rPr lang="en-US" altLang="zh-CN" sz="1600" dirty="0">
                <a:latin typeface="Microsoft YaHei" charset="-122"/>
                <a:ea typeface="Microsoft YaHei" charset="-122"/>
                <a:cs typeface="Microsoft YaHei" charset="-122"/>
              </a:rPr>
              <a:t>KV</a:t>
            </a:r>
            <a:r>
              <a:rPr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接口。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28E2022-370D-419C-9540-96616AC6B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2" y="3838752"/>
            <a:ext cx="4058788" cy="224415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D44B2980-B996-48FD-9E78-EB464E714A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6555" y="3429000"/>
            <a:ext cx="4565375" cy="288829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6A57E39-B413-E549-9134-E2AC1C72B841}"/>
              </a:ext>
            </a:extLst>
          </p:cNvPr>
          <p:cNvSpPr txBox="1"/>
          <p:nvPr/>
        </p:nvSpPr>
        <p:spPr>
          <a:xfrm>
            <a:off x="654258" y="507888"/>
            <a:ext cx="34087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存储栈发展趋势</a:t>
            </a:r>
            <a:endParaRPr kumimoji="1" lang="en-US" altLang="zh-CN" sz="28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25DD447-67AC-D340-B5DD-02BC2FD72355}"/>
              </a:ext>
            </a:extLst>
          </p:cNvPr>
          <p:cNvSpPr/>
          <p:nvPr/>
        </p:nvSpPr>
        <p:spPr>
          <a:xfrm>
            <a:off x="654258" y="1426479"/>
            <a:ext cx="57966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存储栈的</a:t>
            </a:r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offload</a:t>
            </a: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 </a:t>
            </a:r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(</a:t>
            </a: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软件 </a:t>
            </a:r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-&gt;</a:t>
            </a: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 硬件</a:t>
            </a:r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)</a:t>
            </a:r>
            <a:r>
              <a:rPr kumimoji="1"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  </a:t>
            </a: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--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  </a:t>
            </a: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KVSSD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为例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239985675"/>
      </p:ext>
    </p:extLst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254002" y="1384117"/>
            <a:ext cx="844510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KV SSD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向上层提供的是“可变”的</a:t>
            </a:r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KV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接口，与普通</a:t>
            </a:r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SSD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的块存储接口相比：</a:t>
            </a:r>
            <a:endParaRPr lang="en-US" altLang="zh-CN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endParaRPr lang="en-US" altLang="zh-CN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buFont typeface="Arial" charset="0"/>
              <a:buChar char="•"/>
            </a:pP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支持可变大小的</a:t>
            </a:r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Keys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，而非固定大小的</a:t>
            </a:r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Logical Block Addresses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（通常为</a:t>
            </a:r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48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或</a:t>
            </a:r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64bit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）</a:t>
            </a:r>
            <a:endParaRPr lang="en-US" altLang="zh-CN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buFont typeface="Arial" charset="0"/>
              <a:buChar char="•"/>
            </a:pPr>
            <a:endParaRPr lang="en-US" altLang="zh-CN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buFont typeface="Arial" charset="0"/>
              <a:buChar char="•"/>
            </a:pP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支持可变大小的</a:t>
            </a:r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Values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，而非固定大小的</a:t>
            </a:r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Blocks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（通常为</a:t>
            </a:r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512bytes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或</a:t>
            </a:r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4KB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）</a:t>
            </a:r>
            <a:endParaRPr lang="en-US" altLang="zh-CN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54002" y="421660"/>
            <a:ext cx="2257349" cy="7258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kumimoji="1" lang="en-US" altLang="zh-CN" sz="2400" dirty="0">
                <a:latin typeface="Microsoft YaHei" charset="-122"/>
                <a:ea typeface="Microsoft YaHei" charset="-122"/>
                <a:cs typeface="Microsoft YaHei" charset="-122"/>
              </a:rPr>
              <a:t>KV SSD</a:t>
            </a:r>
            <a:r>
              <a:rPr kumimoji="1" lang="zh-CN" altLang="en-US" sz="2400" dirty="0">
                <a:latin typeface="Microsoft YaHei" charset="-122"/>
                <a:ea typeface="Microsoft YaHei" charset="-122"/>
                <a:cs typeface="Microsoft YaHei" charset="-122"/>
              </a:rPr>
              <a:t>的原理</a:t>
            </a:r>
            <a:endParaRPr lang="en-US" altLang="zh-CN" sz="24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A7BFAE1-734E-4C7A-84E8-43CD71277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336" y="3126609"/>
            <a:ext cx="6621314" cy="2980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516753"/>
      </p:ext>
    </p:extLst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254002" y="1384117"/>
            <a:ext cx="844510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KV SSD 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相比于传统</a:t>
            </a:r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SSD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存储栈</a:t>
            </a:r>
            <a:endParaRPr lang="en-US" altLang="zh-CN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buFont typeface="Arial" charset="0"/>
              <a:buChar char="•"/>
            </a:pP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传统</a:t>
            </a:r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KV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存储栈需要多个复杂软件层实现从</a:t>
            </a:r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KV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数据到逻辑块的转换。此外，一些</a:t>
            </a:r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KV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应用也定义了自己的数据结构（</a:t>
            </a:r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LSM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，</a:t>
            </a:r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B-tree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等）来管理</a:t>
            </a:r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KV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数据，但这些软件层往往需要较高的内存，同时也导致较高的写入放大。</a:t>
            </a:r>
            <a:endParaRPr lang="en-US" altLang="zh-CN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buFont typeface="Arial" charset="0"/>
              <a:buChar char="•"/>
            </a:pPr>
            <a:endParaRPr lang="en-US" altLang="zh-CN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buFont typeface="Arial" charset="0"/>
              <a:buChar char="•"/>
            </a:pPr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KV SSD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的</a:t>
            </a:r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KV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存储栈较</a:t>
            </a:r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thin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，通过降低</a:t>
            </a:r>
            <a:r>
              <a:rPr lang="en-US" altLang="zh-CN" dirty="0" err="1">
                <a:latin typeface="Microsoft YaHei" charset="-122"/>
                <a:ea typeface="Microsoft YaHei" charset="-122"/>
                <a:cs typeface="Microsoft YaHei" charset="-122"/>
              </a:rPr>
              <a:t>cpu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的内存利用来减少主机系统的负担。</a:t>
            </a:r>
            <a:endParaRPr lang="en-US" altLang="zh-CN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54002" y="421660"/>
            <a:ext cx="2501006" cy="7258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kumimoji="1" lang="en-US" altLang="zh-CN" sz="2400" dirty="0">
                <a:latin typeface="Microsoft YaHei" charset="-122"/>
                <a:ea typeface="Microsoft YaHei" charset="-122"/>
                <a:cs typeface="Microsoft YaHei" charset="-122"/>
              </a:rPr>
              <a:t>KV SSD</a:t>
            </a:r>
            <a:r>
              <a:rPr kumimoji="1" lang="zh-CN" altLang="en-US" sz="2400" dirty="0">
                <a:latin typeface="Microsoft YaHei" charset="-122"/>
                <a:ea typeface="Microsoft YaHei" charset="-122"/>
                <a:cs typeface="Microsoft YaHei" charset="-122"/>
              </a:rPr>
              <a:t>的存储栈</a:t>
            </a:r>
            <a:endParaRPr lang="en-US" altLang="zh-CN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BF5D1E7-4614-4ABA-8B35-D82598F98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33" y="3305261"/>
            <a:ext cx="3208271" cy="2530589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7DD580F-824A-4D98-9A12-5015734E7B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7716" y="3429000"/>
            <a:ext cx="4707483" cy="2329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42564"/>
      </p:ext>
    </p:extLst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254002" y="1384117"/>
            <a:ext cx="844510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altLang="zh-CN" dirty="0" err="1">
                <a:latin typeface="Microsoft YaHei" charset="-122"/>
                <a:ea typeface="Microsoft YaHei" charset="-122"/>
                <a:cs typeface="Microsoft YaHei" charset="-122"/>
              </a:rPr>
              <a:t>NVMe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在设备驱动和</a:t>
            </a:r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KV SSD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之间定义了接口标准，包括</a:t>
            </a:r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Store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，</a:t>
            </a:r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Retrieve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，</a:t>
            </a:r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Delete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，</a:t>
            </a:r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Exist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和</a:t>
            </a:r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Iterate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。</a:t>
            </a:r>
            <a:endParaRPr lang="en-US" altLang="zh-CN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buFont typeface="Arial" charset="0"/>
              <a:buChar char="•"/>
            </a:pPr>
            <a:endParaRPr lang="en-US" altLang="zh-CN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buFont typeface="Arial" charset="0"/>
              <a:buChar char="•"/>
            </a:pPr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SNIA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在上层应用和设备驱动之间定义了</a:t>
            </a:r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API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规范。</a:t>
            </a:r>
            <a:endParaRPr lang="en-US" altLang="zh-CN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54002" y="421660"/>
            <a:ext cx="2501006" cy="7258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kumimoji="1" lang="en-US" altLang="zh-CN" sz="2400" dirty="0">
                <a:latin typeface="Microsoft YaHei" charset="-122"/>
                <a:ea typeface="Microsoft YaHei" charset="-122"/>
                <a:cs typeface="Microsoft YaHei" charset="-122"/>
              </a:rPr>
              <a:t>KV SSD</a:t>
            </a:r>
            <a:r>
              <a:rPr kumimoji="1" lang="zh-CN" altLang="en-US" sz="2400" dirty="0">
                <a:latin typeface="Microsoft YaHei" charset="-122"/>
                <a:ea typeface="Microsoft YaHei" charset="-122"/>
                <a:cs typeface="Microsoft YaHei" charset="-122"/>
              </a:rPr>
              <a:t>的标准化</a:t>
            </a:r>
            <a:endParaRPr lang="en-US" altLang="zh-CN" sz="24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6BDFC2E-44C4-44F2-B820-4F835A337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1904" y="2802162"/>
            <a:ext cx="4812353" cy="3126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823594"/>
      </p:ext>
    </p:extLst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85893" y="1382268"/>
            <a:ext cx="666924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KV SSD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相对于在普通</a:t>
            </a:r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SSD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上运行的</a:t>
            </a:r>
            <a:r>
              <a:rPr lang="en-US" altLang="zh-CN" dirty="0" err="1">
                <a:latin typeface="Microsoft YaHei" charset="-122"/>
                <a:ea typeface="Microsoft YaHei" charset="-122"/>
                <a:cs typeface="Microsoft YaHei" charset="-122"/>
              </a:rPr>
              <a:t>Rocksdb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，具有：</a:t>
            </a:r>
            <a:endParaRPr lang="en-US" altLang="zh-CN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endParaRPr lang="en-US" altLang="zh-CN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buFont typeface="Arial" charset="0"/>
              <a:buChar char="•"/>
            </a:pP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更好的性能</a:t>
            </a:r>
            <a:endParaRPr lang="en-US" altLang="zh-CN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buFont typeface="Arial" charset="0"/>
              <a:buChar char="•"/>
            </a:pP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更好的</a:t>
            </a:r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IO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效率</a:t>
            </a:r>
            <a:endParaRPr lang="en-US" altLang="zh-CN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buFont typeface="Arial" charset="0"/>
              <a:buChar char="•"/>
            </a:pP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更好的扩展性</a:t>
            </a:r>
            <a:endParaRPr lang="en-US" altLang="zh-CN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buFont typeface="Arial" charset="0"/>
              <a:buChar char="•"/>
            </a:pPr>
            <a:endParaRPr lang="en-US" altLang="zh-CN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54002" y="421660"/>
            <a:ext cx="2193229" cy="7258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kumimoji="1" lang="en-US" altLang="zh-CN" sz="2400" dirty="0">
                <a:latin typeface="Microsoft YaHei" charset="-122"/>
                <a:ea typeface="Microsoft YaHei" charset="-122"/>
                <a:cs typeface="Microsoft YaHei" charset="-122"/>
              </a:rPr>
              <a:t>KV SSD</a:t>
            </a:r>
            <a:r>
              <a:rPr kumimoji="1" lang="zh-CN" altLang="en-US" sz="2400" dirty="0">
                <a:latin typeface="Microsoft YaHei" charset="-122"/>
                <a:ea typeface="Microsoft YaHei" charset="-122"/>
                <a:cs typeface="Microsoft YaHei" charset="-122"/>
              </a:rPr>
              <a:t>的性能</a:t>
            </a:r>
            <a:endParaRPr lang="en-US" altLang="zh-CN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08F5876-822F-40FB-A2BE-B2028B5912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53" y="3371362"/>
            <a:ext cx="4375235" cy="2297521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FDE44CE-77DB-4350-8D9A-206F1CBD86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4444" y="3371361"/>
            <a:ext cx="4111096" cy="2297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750853"/>
      </p:ext>
    </p:extLst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F8E656A-AE9C-A64C-AF7F-E3557E192828}"/>
              </a:ext>
            </a:extLst>
          </p:cNvPr>
          <p:cNvSpPr txBox="1"/>
          <p:nvPr/>
        </p:nvSpPr>
        <p:spPr>
          <a:xfrm>
            <a:off x="654258" y="507888"/>
            <a:ext cx="34087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存储栈发展趋势</a:t>
            </a:r>
            <a:endParaRPr kumimoji="1" lang="en-US" altLang="zh-CN" sz="28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502C796-3A46-5F4F-B14A-E8B8B33F0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4812" y="1905566"/>
            <a:ext cx="2871142" cy="404429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6A8BEEF-890F-CF49-9690-A58815226147}"/>
              </a:ext>
            </a:extLst>
          </p:cNvPr>
          <p:cNvSpPr txBox="1"/>
          <p:nvPr/>
        </p:nvSpPr>
        <p:spPr>
          <a:xfrm>
            <a:off x="2047107" y="598078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常规存储栈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C41A07F-7801-7242-916D-4D94D5FC4610}"/>
              </a:ext>
            </a:extLst>
          </p:cNvPr>
          <p:cNvSpPr txBox="1"/>
          <p:nvPr/>
        </p:nvSpPr>
        <p:spPr>
          <a:xfrm>
            <a:off x="5030390" y="5980780"/>
            <a:ext cx="2819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KVSSD/</a:t>
            </a:r>
            <a:r>
              <a:rPr kumimoji="1"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SmartSSD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存储栈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7DD3C6E-A89B-6940-A5A1-A0A070DFCD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5526" y="1905565"/>
            <a:ext cx="2878466" cy="4044296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0F59F02C-23C0-F74E-8CC7-E153C2822162}"/>
              </a:ext>
            </a:extLst>
          </p:cNvPr>
          <p:cNvSpPr/>
          <p:nvPr/>
        </p:nvSpPr>
        <p:spPr>
          <a:xfrm>
            <a:off x="654258" y="1426479"/>
            <a:ext cx="57966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存储栈的</a:t>
            </a:r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offload</a:t>
            </a: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 </a:t>
            </a:r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(</a:t>
            </a: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软件 </a:t>
            </a:r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-&gt;</a:t>
            </a: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 硬件</a:t>
            </a:r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)</a:t>
            </a:r>
            <a:r>
              <a:rPr kumimoji="1"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  </a:t>
            </a: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--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  </a:t>
            </a: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KVSSD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为例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959590719"/>
      </p:ext>
    </p:extLst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F8E656A-AE9C-A64C-AF7F-E3557E192828}"/>
              </a:ext>
            </a:extLst>
          </p:cNvPr>
          <p:cNvSpPr txBox="1"/>
          <p:nvPr/>
        </p:nvSpPr>
        <p:spPr>
          <a:xfrm>
            <a:off x="654258" y="507888"/>
            <a:ext cx="34087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存储栈发展趋势</a:t>
            </a:r>
            <a:endParaRPr kumimoji="1" lang="en-US" altLang="zh-CN" sz="28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FA6027A-190C-EC4F-9CE9-17BC8CBCEFC9}"/>
              </a:ext>
            </a:extLst>
          </p:cNvPr>
          <p:cNvSpPr txBox="1"/>
          <p:nvPr/>
        </p:nvSpPr>
        <p:spPr>
          <a:xfrm>
            <a:off x="654258" y="1380933"/>
            <a:ext cx="65149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软件定义存储 </a:t>
            </a:r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(</a:t>
            </a: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硬件 </a:t>
            </a:r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-&gt;</a:t>
            </a: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 软件</a:t>
            </a:r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)</a:t>
            </a: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 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--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 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Open-channel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SSD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为例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B1190FF-F606-5149-81B1-A2E66CF94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0044" y="1829704"/>
            <a:ext cx="5683912" cy="321906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B8E7327-7939-BC40-BA60-A08F2C0202F5}"/>
              </a:ext>
            </a:extLst>
          </p:cNvPr>
          <p:cNvSpPr txBox="1"/>
          <p:nvPr/>
        </p:nvSpPr>
        <p:spPr>
          <a:xfrm>
            <a:off x="764088" y="5344714"/>
            <a:ext cx="7615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将部分的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FTL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功能移到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Host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server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，少部分留在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SSD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controller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。相比传统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SSD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更灵活。</a:t>
            </a:r>
          </a:p>
        </p:txBody>
      </p:sp>
    </p:spTree>
    <p:extLst>
      <p:ext uri="{BB962C8B-B14F-4D97-AF65-F5344CB8AC3E}">
        <p14:creationId xmlns:p14="http://schemas.microsoft.com/office/powerpoint/2010/main" val="489120657"/>
      </p:ext>
    </p:extLst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F8E656A-AE9C-A64C-AF7F-E3557E192828}"/>
              </a:ext>
            </a:extLst>
          </p:cNvPr>
          <p:cNvSpPr txBox="1"/>
          <p:nvPr/>
        </p:nvSpPr>
        <p:spPr>
          <a:xfrm>
            <a:off x="654258" y="507888"/>
            <a:ext cx="34087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存储栈发展趋势</a:t>
            </a:r>
            <a:endParaRPr kumimoji="1" lang="en-US" altLang="zh-CN" sz="28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FA6027A-190C-EC4F-9CE9-17BC8CBCEFC9}"/>
              </a:ext>
            </a:extLst>
          </p:cNvPr>
          <p:cNvSpPr txBox="1"/>
          <p:nvPr/>
        </p:nvSpPr>
        <p:spPr>
          <a:xfrm>
            <a:off x="654258" y="1380933"/>
            <a:ext cx="65149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软件定义存储 </a:t>
            </a:r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(</a:t>
            </a: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硬件 </a:t>
            </a:r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-&gt;</a:t>
            </a: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 软件</a:t>
            </a:r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)</a:t>
            </a: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 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--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 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Open-channel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SSD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为例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436DCF5-63D0-AD41-A0BF-2541ADB2F12F}"/>
              </a:ext>
            </a:extLst>
          </p:cNvPr>
          <p:cNvSpPr txBox="1"/>
          <p:nvPr/>
        </p:nvSpPr>
        <p:spPr>
          <a:xfrm>
            <a:off x="862416" y="2800707"/>
            <a:ext cx="244502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</a:t>
            </a: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原</a:t>
            </a:r>
            <a:r>
              <a:rPr kumimoji="1" lang="en-US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FTL</a:t>
            </a:r>
            <a:endParaRPr kumimoji="1" lang="en-US" altLang="zh-CN" sz="3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kumimoji="1" lang="en-US" altLang="zh-CN" sz="1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fr-FR" altLang="zh-CN" dirty="0"/>
              <a:t>data placement</a:t>
            </a:r>
          </a:p>
          <a:p>
            <a:r>
              <a:rPr lang="fr-FR" altLang="zh-CN" dirty="0"/>
              <a:t>I/O </a:t>
            </a:r>
            <a:r>
              <a:rPr lang="fr-FR" altLang="zh-CN" dirty="0" err="1"/>
              <a:t>scheduling</a:t>
            </a:r>
            <a:endParaRPr lang="fr-FR" altLang="zh-CN" dirty="0"/>
          </a:p>
          <a:p>
            <a:r>
              <a:rPr kumimoji="1" lang="en-US" altLang="zh-CN" dirty="0"/>
              <a:t>Garbage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collection</a:t>
            </a:r>
          </a:p>
          <a:p>
            <a:r>
              <a:rPr lang="fr-FR" altLang="zh-CN" dirty="0"/>
              <a:t>Media-</a:t>
            </a:r>
            <a:r>
              <a:rPr lang="fr-FR" altLang="zh-CN" dirty="0" err="1"/>
              <a:t>centric</a:t>
            </a:r>
            <a:r>
              <a:rPr lang="fr-FR" altLang="zh-CN" dirty="0"/>
              <a:t> </a:t>
            </a:r>
            <a:r>
              <a:rPr lang="fr-FR" altLang="zh-CN" dirty="0" err="1"/>
              <a:t>metadata</a:t>
            </a:r>
            <a:endParaRPr lang="fr-FR" altLang="zh-CN" dirty="0"/>
          </a:p>
          <a:p>
            <a:r>
              <a:rPr lang="fr-FR" altLang="zh-CN" dirty="0" err="1"/>
              <a:t>error</a:t>
            </a:r>
            <a:r>
              <a:rPr lang="fr-FR" altLang="zh-CN" dirty="0"/>
              <a:t> handling</a:t>
            </a:r>
          </a:p>
          <a:p>
            <a:r>
              <a:rPr lang="fr-FR" altLang="zh-CN" dirty="0" err="1"/>
              <a:t>Scrubbing</a:t>
            </a:r>
            <a:endParaRPr lang="fr-FR" altLang="zh-CN" dirty="0"/>
          </a:p>
          <a:p>
            <a:r>
              <a:rPr lang="fr-FR" altLang="zh-CN" dirty="0"/>
              <a:t>wear-</a:t>
            </a:r>
            <a:r>
              <a:rPr lang="fr-FR" altLang="zh-CN" dirty="0" err="1"/>
              <a:t>leveling</a:t>
            </a:r>
            <a:endParaRPr kumimoji="1"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D18D268-4D1B-3348-895E-1CF4746081C2}"/>
              </a:ext>
            </a:extLst>
          </p:cNvPr>
          <p:cNvSpPr txBox="1"/>
          <p:nvPr/>
        </p:nvSpPr>
        <p:spPr>
          <a:xfrm>
            <a:off x="4259556" y="2800707"/>
            <a:ext cx="301806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</a:t>
            </a:r>
            <a:r>
              <a:rPr kumimoji="1" lang="en-US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Open-channel</a:t>
            </a:r>
            <a:endParaRPr kumimoji="1"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fr-FR" altLang="zh-CN" sz="1200" dirty="0"/>
          </a:p>
          <a:p>
            <a:r>
              <a:rPr lang="fr-FR" altLang="zh-CN" dirty="0">
                <a:solidFill>
                  <a:schemeClr val="accent6">
                    <a:lumMod val="75000"/>
                  </a:schemeClr>
                </a:solidFill>
              </a:rPr>
              <a:t>data placement</a:t>
            </a:r>
          </a:p>
          <a:p>
            <a:r>
              <a:rPr lang="fr-FR" altLang="zh-CN" dirty="0">
                <a:solidFill>
                  <a:schemeClr val="accent6">
                    <a:lumMod val="75000"/>
                  </a:schemeClr>
                </a:solidFill>
              </a:rPr>
              <a:t>I/O </a:t>
            </a:r>
            <a:r>
              <a:rPr lang="fr-FR" altLang="zh-CN" dirty="0" err="1">
                <a:solidFill>
                  <a:schemeClr val="accent6">
                    <a:lumMod val="75000"/>
                  </a:schemeClr>
                </a:solidFill>
              </a:rPr>
              <a:t>scheduling</a:t>
            </a:r>
            <a:endParaRPr lang="fr-FR" altLang="zh-CN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kumimoji="1" lang="en-US" altLang="zh-CN" dirty="0">
                <a:solidFill>
                  <a:schemeClr val="accent6">
                    <a:lumMod val="75000"/>
                  </a:schemeClr>
                </a:solidFill>
              </a:rPr>
              <a:t>Garbage</a:t>
            </a:r>
            <a:r>
              <a:rPr kumimoji="1" lang="zh-CN" alt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kumimoji="1" lang="en-US" altLang="zh-CN" dirty="0">
                <a:solidFill>
                  <a:schemeClr val="accent6">
                    <a:lumMod val="75000"/>
                  </a:schemeClr>
                </a:solidFill>
              </a:rPr>
              <a:t>collection</a:t>
            </a:r>
          </a:p>
          <a:p>
            <a:r>
              <a:rPr lang="fr-FR" altLang="zh-CN" dirty="0"/>
              <a:t>Media-</a:t>
            </a:r>
            <a:r>
              <a:rPr lang="fr-FR" altLang="zh-CN" dirty="0" err="1"/>
              <a:t>centric</a:t>
            </a:r>
            <a:r>
              <a:rPr lang="fr-FR" altLang="zh-CN" dirty="0"/>
              <a:t> </a:t>
            </a:r>
            <a:r>
              <a:rPr lang="fr-FR" altLang="zh-CN" dirty="0" err="1"/>
              <a:t>metadata</a:t>
            </a:r>
            <a:endParaRPr lang="fr-FR" altLang="zh-CN" dirty="0"/>
          </a:p>
          <a:p>
            <a:r>
              <a:rPr lang="fr-FR" altLang="zh-CN" dirty="0" err="1"/>
              <a:t>error</a:t>
            </a:r>
            <a:r>
              <a:rPr lang="fr-FR" altLang="zh-CN" dirty="0"/>
              <a:t> handling</a:t>
            </a:r>
          </a:p>
          <a:p>
            <a:r>
              <a:rPr lang="fr-FR" altLang="zh-CN" dirty="0" err="1"/>
              <a:t>Scrubbing</a:t>
            </a:r>
            <a:endParaRPr lang="fr-FR" altLang="zh-CN" dirty="0"/>
          </a:p>
          <a:p>
            <a:r>
              <a:rPr lang="fr-FR" altLang="zh-CN" dirty="0"/>
              <a:t>wear-</a:t>
            </a:r>
            <a:r>
              <a:rPr lang="fr-FR" altLang="zh-CN" dirty="0" err="1"/>
              <a:t>leveling</a:t>
            </a:r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9C83802-EDB5-844C-B001-C3C577F39B20}"/>
              </a:ext>
            </a:extLst>
          </p:cNvPr>
          <p:cNvSpPr txBox="1"/>
          <p:nvPr/>
        </p:nvSpPr>
        <p:spPr>
          <a:xfrm>
            <a:off x="7019251" y="4611216"/>
            <a:ext cx="1262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Device-side</a:t>
            </a:r>
            <a:endParaRPr kumimoji="1"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669F998-485E-6245-AFB3-8BF0D027361E}"/>
              </a:ext>
            </a:extLst>
          </p:cNvPr>
          <p:cNvSpPr txBox="1"/>
          <p:nvPr/>
        </p:nvSpPr>
        <p:spPr>
          <a:xfrm>
            <a:off x="7019251" y="3666863"/>
            <a:ext cx="1696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chemeClr val="accent6">
                    <a:lumMod val="75000"/>
                  </a:schemeClr>
                </a:solidFill>
              </a:rPr>
              <a:t>Host</a:t>
            </a:r>
            <a:r>
              <a:rPr kumimoji="1" lang="zh-CN" alt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kumimoji="1" lang="en-US" altLang="zh-CN" dirty="0">
                <a:solidFill>
                  <a:schemeClr val="accent6">
                    <a:lumMod val="75000"/>
                  </a:schemeClr>
                </a:solidFill>
              </a:rPr>
              <a:t>server-side</a:t>
            </a:r>
            <a:endParaRPr kumimoji="1" lang="zh-CN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4" name="右大括号 13">
            <a:extLst>
              <a:ext uri="{FF2B5EF4-FFF2-40B4-BE49-F238E27FC236}">
                <a16:creationId xmlns:a16="http://schemas.microsoft.com/office/drawing/2014/main" id="{81B5B64B-6D76-8E4D-BAFE-3C4C8EF9656D}"/>
              </a:ext>
            </a:extLst>
          </p:cNvPr>
          <p:cNvSpPr/>
          <p:nvPr/>
        </p:nvSpPr>
        <p:spPr>
          <a:xfrm>
            <a:off x="6742359" y="3469485"/>
            <a:ext cx="200416" cy="76408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右大括号 16">
            <a:extLst>
              <a:ext uri="{FF2B5EF4-FFF2-40B4-BE49-F238E27FC236}">
                <a16:creationId xmlns:a16="http://schemas.microsoft.com/office/drawing/2014/main" id="{75A005ED-BF71-924D-9F60-1A472BF6C1E6}"/>
              </a:ext>
            </a:extLst>
          </p:cNvPr>
          <p:cNvSpPr/>
          <p:nvPr/>
        </p:nvSpPr>
        <p:spPr>
          <a:xfrm>
            <a:off x="6742359" y="4331778"/>
            <a:ext cx="200416" cy="99269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69257248"/>
      </p:ext>
    </p:extLst>
  </p:cSld>
  <p:clrMapOvr>
    <a:masterClrMapping/>
  </p:clrMapOvr>
  <p:transition spd="med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F8E656A-AE9C-A64C-AF7F-E3557E192828}"/>
              </a:ext>
            </a:extLst>
          </p:cNvPr>
          <p:cNvSpPr txBox="1"/>
          <p:nvPr/>
        </p:nvSpPr>
        <p:spPr>
          <a:xfrm>
            <a:off x="654258" y="507888"/>
            <a:ext cx="34087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存储栈发展趋势</a:t>
            </a:r>
            <a:endParaRPr kumimoji="1" lang="en-US" altLang="zh-CN" sz="28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FA6027A-190C-EC4F-9CE9-17BC8CBCEFC9}"/>
              </a:ext>
            </a:extLst>
          </p:cNvPr>
          <p:cNvSpPr txBox="1"/>
          <p:nvPr/>
        </p:nvSpPr>
        <p:spPr>
          <a:xfrm>
            <a:off x="654258" y="1380933"/>
            <a:ext cx="65149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软件定义存储 </a:t>
            </a:r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(</a:t>
            </a: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硬件 </a:t>
            </a:r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-&gt;</a:t>
            </a: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 软件</a:t>
            </a:r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)</a:t>
            </a: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 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--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 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Open-channel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SSD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为例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9BE65EF-A0EC-3D42-9153-3B6AB70C9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7732" y="2040992"/>
            <a:ext cx="5761451" cy="405883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37C6522-D3B3-DB4B-B241-34D4C033312D}"/>
              </a:ext>
            </a:extLst>
          </p:cNvPr>
          <p:cNvSpPr txBox="1"/>
          <p:nvPr/>
        </p:nvSpPr>
        <p:spPr>
          <a:xfrm>
            <a:off x="3219093" y="6099829"/>
            <a:ext cx="2138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LightNVM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架构图</a:t>
            </a:r>
          </a:p>
        </p:txBody>
      </p:sp>
    </p:spTree>
    <p:extLst>
      <p:ext uri="{BB962C8B-B14F-4D97-AF65-F5344CB8AC3E}">
        <p14:creationId xmlns:p14="http://schemas.microsoft.com/office/powerpoint/2010/main" val="1610632323"/>
      </p:ext>
    </p:extLst>
  </p:cSld>
  <p:clrMapOvr>
    <a:masterClrMapping/>
  </p:clrMapOvr>
  <p:transition spd="med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F8E656A-AE9C-A64C-AF7F-E3557E192828}"/>
              </a:ext>
            </a:extLst>
          </p:cNvPr>
          <p:cNvSpPr txBox="1"/>
          <p:nvPr/>
        </p:nvSpPr>
        <p:spPr>
          <a:xfrm>
            <a:off x="654258" y="507888"/>
            <a:ext cx="34087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存储栈发展趋势</a:t>
            </a:r>
            <a:endParaRPr kumimoji="1" lang="en-US" altLang="zh-CN" sz="28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FA6027A-190C-EC4F-9CE9-17BC8CBCEFC9}"/>
              </a:ext>
            </a:extLst>
          </p:cNvPr>
          <p:cNvSpPr txBox="1"/>
          <p:nvPr/>
        </p:nvSpPr>
        <p:spPr>
          <a:xfrm>
            <a:off x="654258" y="1380933"/>
            <a:ext cx="65149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软件定义存储 </a:t>
            </a:r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(</a:t>
            </a: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硬件 </a:t>
            </a:r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-&gt;</a:t>
            </a: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 软件</a:t>
            </a:r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)</a:t>
            </a: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 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--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 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Open-channel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SSD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charset="-122"/>
              </a:rPr>
              <a:t>为例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502C796-3A46-5F4F-B14A-E8B8B33F0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4812" y="1905566"/>
            <a:ext cx="2871142" cy="404429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6A8BEEF-890F-CF49-9690-A58815226147}"/>
              </a:ext>
            </a:extLst>
          </p:cNvPr>
          <p:cNvSpPr txBox="1"/>
          <p:nvPr/>
        </p:nvSpPr>
        <p:spPr>
          <a:xfrm>
            <a:off x="2047107" y="598078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常规存储栈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C41A07F-7801-7242-916D-4D94D5FC4610}"/>
              </a:ext>
            </a:extLst>
          </p:cNvPr>
          <p:cNvSpPr txBox="1"/>
          <p:nvPr/>
        </p:nvSpPr>
        <p:spPr>
          <a:xfrm>
            <a:off x="5030390" y="5980780"/>
            <a:ext cx="2961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Open-channel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SSD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存储栈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12CBFDA-9BFF-6845-997D-EBADE9018C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1130" y="1863908"/>
            <a:ext cx="2871142" cy="403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292682"/>
      </p:ext>
    </p:extLst>
  </p:cSld>
  <p:clrMapOvr>
    <a:masterClrMapping/>
  </p:clrMapOvr>
  <p:transition spd="med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77023" y="2502877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参考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: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4CF93DA-86F4-EF48-90EF-ECDB72D88FE3}"/>
              </a:ext>
            </a:extLst>
          </p:cNvPr>
          <p:cNvSpPr/>
          <p:nvPr/>
        </p:nvSpPr>
        <p:spPr>
          <a:xfrm>
            <a:off x="477441" y="3208960"/>
            <a:ext cx="818911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+mj-lt"/>
                <a:ea typeface="Microsoft YaHei" panose="020B0503020204020204" pitchFamily="34" charset="-122"/>
              </a:rPr>
              <a:t>[1]</a:t>
            </a:r>
            <a:r>
              <a:rPr lang="zh-CN" altLang="en-US" sz="1200" dirty="0">
                <a:latin typeface="+mj-lt"/>
                <a:ea typeface="Microsoft YaHei" panose="020B0503020204020204" pitchFamily="34" charset="-122"/>
              </a:rPr>
              <a:t> </a:t>
            </a:r>
            <a:r>
              <a:rPr lang="en-US" altLang="zh-CN" sz="1200" dirty="0">
                <a:latin typeface="+mj-lt"/>
                <a:ea typeface="Microsoft YaHei" panose="020B0503020204020204" pitchFamily="34" charset="-122"/>
              </a:rPr>
              <a:t>《</a:t>
            </a:r>
            <a:r>
              <a:rPr lang="zh-CN" altLang="en-US" sz="1200" dirty="0">
                <a:latin typeface="+mj-lt"/>
                <a:ea typeface="Microsoft YaHei" panose="020B0503020204020204" pitchFamily="34" charset="-122"/>
              </a:rPr>
              <a:t>大话存储</a:t>
            </a:r>
            <a:r>
              <a:rPr lang="en-US" altLang="zh-CN" sz="1200" dirty="0">
                <a:latin typeface="+mj-lt"/>
                <a:ea typeface="Microsoft YaHei" panose="020B0503020204020204" pitchFamily="34" charset="-122"/>
              </a:rPr>
              <a:t>2:</a:t>
            </a:r>
            <a:r>
              <a:rPr lang="zh-CN" altLang="en-US" sz="1200" dirty="0">
                <a:latin typeface="+mj-lt"/>
                <a:ea typeface="Microsoft YaHei" panose="020B0503020204020204" pitchFamily="34" charset="-122"/>
              </a:rPr>
              <a:t>存储系统架构与底层原理极限剖析</a:t>
            </a:r>
            <a:r>
              <a:rPr lang="en-US" altLang="zh-CN" sz="1200" dirty="0">
                <a:latin typeface="+mj-lt"/>
                <a:ea typeface="Microsoft YaHei" panose="020B0503020204020204" pitchFamily="34" charset="-122"/>
              </a:rPr>
              <a:t>》</a:t>
            </a:r>
          </a:p>
          <a:p>
            <a:r>
              <a:rPr lang="en-US" altLang="zh-CN" sz="1200" dirty="0">
                <a:latin typeface="+mj-lt"/>
                <a:ea typeface="Microsoft YaHei" panose="020B0503020204020204" pitchFamily="34" charset="-122"/>
              </a:rPr>
              <a:t>[2]</a:t>
            </a:r>
            <a:r>
              <a:rPr lang="zh-CN" altLang="en-US" sz="1200" dirty="0">
                <a:latin typeface="+mj-lt"/>
                <a:ea typeface="Microsoft YaHei" panose="020B0503020204020204" pitchFamily="34" charset="-122"/>
              </a:rPr>
              <a:t> </a:t>
            </a:r>
            <a:r>
              <a:rPr lang="en-US" altLang="zh-CN" sz="1200" dirty="0">
                <a:latin typeface="+mj-lt"/>
                <a:ea typeface="Microsoft YaHei" panose="020B0503020204020204" pitchFamily="34" charset="-122"/>
              </a:rPr>
              <a:t>《</a:t>
            </a:r>
            <a:r>
              <a:rPr lang="zh-CN" altLang="en-US" sz="1200" dirty="0">
                <a:latin typeface="+mj-lt"/>
                <a:ea typeface="Microsoft YaHei" panose="020B0503020204020204" pitchFamily="34" charset="-122"/>
              </a:rPr>
              <a:t>深入浅出</a:t>
            </a:r>
            <a:r>
              <a:rPr lang="en-US" altLang="zh-CN" sz="1200" dirty="0">
                <a:latin typeface="+mj-lt"/>
                <a:ea typeface="Microsoft YaHei" panose="020B0503020204020204" pitchFamily="34" charset="-122"/>
              </a:rPr>
              <a:t>SSD</a:t>
            </a:r>
            <a:r>
              <a:rPr lang="zh-CN" altLang="en-US" sz="1200" dirty="0">
                <a:latin typeface="+mj-lt"/>
                <a:ea typeface="Microsoft YaHei" panose="020B0503020204020204" pitchFamily="34" charset="-122"/>
              </a:rPr>
              <a:t>：固态存储核心技术、原理与实战</a:t>
            </a:r>
            <a:r>
              <a:rPr lang="en-US" altLang="zh-CN" sz="1200" dirty="0">
                <a:latin typeface="+mj-lt"/>
                <a:ea typeface="Microsoft YaHei" panose="020B0503020204020204" pitchFamily="34" charset="-122"/>
              </a:rPr>
              <a:t>》</a:t>
            </a:r>
          </a:p>
          <a:p>
            <a:r>
              <a:rPr lang="en-US" altLang="zh-CN" sz="1200" dirty="0">
                <a:latin typeface="+mj-lt"/>
                <a:ea typeface="Microsoft YaHei" panose="020B0503020204020204" pitchFamily="34" charset="-122"/>
              </a:rPr>
              <a:t>[3]</a:t>
            </a:r>
            <a:r>
              <a:rPr lang="zh-CN" altLang="en-US" sz="1200" dirty="0">
                <a:latin typeface="+mj-lt"/>
                <a:ea typeface="Microsoft YaHei" panose="020B0503020204020204" pitchFamily="34" charset="-122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+mj-lt"/>
                <a:ea typeface="Microsoft YaHei" panose="020B0503020204020204" pitchFamily="34" charset="-122"/>
              </a:rPr>
              <a:t>《Operating Systems: Three Easy Pieces》</a:t>
            </a:r>
            <a:r>
              <a:rPr lang="en-US" altLang="zh-CN" sz="1200" dirty="0">
                <a:latin typeface="+mj-lt"/>
                <a:ea typeface="Microsoft YaHei" panose="020B0503020204020204" pitchFamily="34" charset="-122"/>
              </a:rPr>
              <a:t>,</a:t>
            </a:r>
            <a:r>
              <a:rPr lang="zh-CN" altLang="en-US" sz="1200" dirty="0">
                <a:latin typeface="+mj-lt"/>
                <a:ea typeface="Microsoft YaHei" panose="020B0503020204020204" pitchFamily="34" charset="-122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+mj-lt"/>
                <a:ea typeface="Microsoft YaHei" panose="020B0503020204020204" pitchFamily="34" charset="-122"/>
              </a:rPr>
              <a:t>Remzi</a:t>
            </a:r>
            <a:r>
              <a:rPr lang="en-US" altLang="zh-CN" sz="1200" dirty="0">
                <a:solidFill>
                  <a:srgbClr val="000000"/>
                </a:solidFill>
                <a:latin typeface="+mj-lt"/>
                <a:ea typeface="Microsoft YaHei" panose="020B0503020204020204" pitchFamily="34" charset="-122"/>
              </a:rPr>
              <a:t> H. </a:t>
            </a:r>
            <a:r>
              <a:rPr lang="en-US" altLang="zh-CN" sz="1200" dirty="0" err="1">
                <a:solidFill>
                  <a:srgbClr val="000000"/>
                </a:solidFill>
                <a:latin typeface="+mj-lt"/>
                <a:ea typeface="Microsoft YaHei" panose="020B0503020204020204" pitchFamily="34" charset="-122"/>
              </a:rPr>
              <a:t>Arpaci-Dusseau</a:t>
            </a:r>
            <a:r>
              <a:rPr lang="en-US" altLang="zh-CN" sz="1200" dirty="0">
                <a:solidFill>
                  <a:srgbClr val="000000"/>
                </a:solidFill>
                <a:latin typeface="+mj-lt"/>
                <a:ea typeface="Microsoft YaHei" panose="020B0503020204020204" pitchFamily="34" charset="-122"/>
              </a:rPr>
              <a:t> and Andrea C.,</a:t>
            </a:r>
            <a:r>
              <a:rPr lang="zh-CN" altLang="en-US" sz="1200" dirty="0">
                <a:solidFill>
                  <a:srgbClr val="000000"/>
                </a:solidFill>
                <a:latin typeface="+mj-lt"/>
                <a:ea typeface="Microsoft YaHei" panose="020B0503020204020204" pitchFamily="34" charset="-122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+mj-lt"/>
                <a:ea typeface="Microsoft YaHei" panose="020B0503020204020204" pitchFamily="34" charset="-122"/>
              </a:rPr>
              <a:t>Arpaci-Dusseau</a:t>
            </a:r>
            <a:r>
              <a:rPr lang="en-US" altLang="zh-CN" sz="1200" dirty="0">
                <a:solidFill>
                  <a:srgbClr val="000000"/>
                </a:solidFill>
                <a:latin typeface="+mj-lt"/>
                <a:ea typeface="Microsoft YaHei" panose="020B0503020204020204" pitchFamily="34" charset="-122"/>
              </a:rPr>
              <a:t>,</a:t>
            </a:r>
            <a:r>
              <a:rPr lang="zh-CN" altLang="en-US" sz="1200" dirty="0">
                <a:solidFill>
                  <a:srgbClr val="000000"/>
                </a:solidFill>
                <a:latin typeface="+mj-lt"/>
                <a:ea typeface="Microsoft YaHei" panose="020B0503020204020204" pitchFamily="34" charset="-122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+mj-lt"/>
                <a:ea typeface="Microsoft YaHei" panose="020B0503020204020204" pitchFamily="34" charset="-122"/>
              </a:rPr>
              <a:t>Arpaci-Dusseau</a:t>
            </a:r>
            <a:r>
              <a:rPr lang="en-US" altLang="zh-CN" sz="1200" dirty="0">
                <a:solidFill>
                  <a:srgbClr val="000000"/>
                </a:solidFill>
                <a:latin typeface="+mj-lt"/>
                <a:ea typeface="Microsoft YaHei" panose="020B0503020204020204" pitchFamily="34" charset="-122"/>
              </a:rPr>
              <a:t> Books ,</a:t>
            </a:r>
            <a:r>
              <a:rPr lang="zh-CN" altLang="en-US" sz="1200" dirty="0">
                <a:solidFill>
                  <a:srgbClr val="000000"/>
                </a:solidFill>
                <a:latin typeface="+mj-lt"/>
                <a:ea typeface="Microsoft YaHei" panose="020B0503020204020204" pitchFamily="34" charset="-122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+mj-lt"/>
                <a:ea typeface="Microsoft YaHei" panose="020B0503020204020204" pitchFamily="34" charset="-122"/>
              </a:rPr>
              <a:t>March, 2015 (Version 0.80)</a:t>
            </a:r>
          </a:p>
          <a:p>
            <a:r>
              <a:rPr lang="en-US" altLang="zh-CN" sz="1200" dirty="0">
                <a:solidFill>
                  <a:srgbClr val="000000"/>
                </a:solidFill>
                <a:latin typeface="+mj-lt"/>
                <a:ea typeface="Microsoft YaHei" panose="020B0503020204020204" pitchFamily="34" charset="-122"/>
              </a:rPr>
              <a:t>[4]</a:t>
            </a:r>
            <a:r>
              <a:rPr lang="zh-CN" altLang="en-US" sz="1200" dirty="0">
                <a:solidFill>
                  <a:srgbClr val="000000"/>
                </a:solidFill>
                <a:latin typeface="+mj-lt"/>
                <a:ea typeface="Microsoft YaHei" panose="020B0503020204020204" pitchFamily="34" charset="-122"/>
              </a:rPr>
              <a:t> </a:t>
            </a:r>
            <a:r>
              <a:rPr lang="fr-FR" altLang="zh-CN" sz="1200" dirty="0">
                <a:latin typeface="+mj-lt"/>
                <a:ea typeface="Microsoft YaHei" panose="020B0503020204020204" pitchFamily="34" charset="-122"/>
                <a:hlinkClick r:id="rId3"/>
              </a:rPr>
              <a:t>https://unix.stackexchange.com/questions/144561/in-what-sense-does-sata-talk-scsi-how-much-is-shared-between-scsi-and-ata</a:t>
            </a:r>
            <a:endParaRPr lang="fr-FR" altLang="zh-CN" sz="1200" dirty="0">
              <a:latin typeface="+mj-lt"/>
              <a:ea typeface="Microsoft YaHei" panose="020B0503020204020204" pitchFamily="34" charset="-122"/>
            </a:endParaRPr>
          </a:p>
          <a:p>
            <a:r>
              <a:rPr lang="en-US" altLang="zh-CN" sz="1200" dirty="0">
                <a:solidFill>
                  <a:srgbClr val="000000"/>
                </a:solidFill>
                <a:latin typeface="+mj-lt"/>
                <a:ea typeface="Microsoft YaHei" panose="020B0503020204020204" pitchFamily="34" charset="-122"/>
              </a:rPr>
              <a:t>[5]</a:t>
            </a:r>
            <a:r>
              <a:rPr lang="zh-CN" altLang="en-US" sz="1200" dirty="0">
                <a:solidFill>
                  <a:srgbClr val="000000"/>
                </a:solidFill>
                <a:latin typeface="+mj-lt"/>
                <a:ea typeface="Microsoft YaHei" panose="020B0503020204020204" pitchFamily="34" charset="-122"/>
              </a:rPr>
              <a:t> </a:t>
            </a:r>
            <a:r>
              <a:rPr lang="fr-FR" altLang="zh-CN" sz="1200" dirty="0">
                <a:latin typeface="+mj-lt"/>
                <a:ea typeface="Microsoft YaHei" panose="020B0503020204020204" pitchFamily="34" charset="-122"/>
                <a:hlinkClick r:id="rId4"/>
              </a:rPr>
              <a:t>https://www.thomas-krenn.com/en/wiki/Linux_Storage_Stack_Diagram</a:t>
            </a:r>
            <a:endParaRPr lang="fr-FR" altLang="zh-CN" sz="1200" dirty="0">
              <a:latin typeface="+mj-lt"/>
              <a:ea typeface="Microsoft YaHei" panose="020B0503020204020204" pitchFamily="34" charset="-122"/>
            </a:endParaRPr>
          </a:p>
          <a:p>
            <a:r>
              <a:rPr lang="en-US" altLang="zh-CN" sz="1200" dirty="0">
                <a:solidFill>
                  <a:srgbClr val="000000"/>
                </a:solidFill>
                <a:latin typeface="+mj-lt"/>
                <a:ea typeface="Microsoft YaHei" panose="020B0503020204020204" pitchFamily="34" charset="-122"/>
              </a:rPr>
              <a:t>[6]</a:t>
            </a:r>
            <a:r>
              <a:rPr lang="zh-CN" altLang="en-US" sz="1200" dirty="0">
                <a:solidFill>
                  <a:srgbClr val="000000"/>
                </a:solidFill>
                <a:latin typeface="+mj-lt"/>
                <a:ea typeface="Microsoft YaHei" panose="020B0503020204020204" pitchFamily="34" charset="-122"/>
              </a:rPr>
              <a:t> </a:t>
            </a:r>
            <a:r>
              <a:rPr lang="fr-FR" altLang="zh-CN" sz="1200" dirty="0">
                <a:latin typeface="+mj-lt"/>
                <a:ea typeface="Microsoft YaHei" panose="020B0503020204020204" pitchFamily="34" charset="-122"/>
                <a:hlinkClick r:id="rId5"/>
              </a:rPr>
              <a:t>https://www.slideshare.net/kerneltlv/high-performance-storage-devices-in-the-linux-kernel</a:t>
            </a:r>
            <a:endParaRPr lang="fr-FR" altLang="zh-CN" sz="1200" dirty="0">
              <a:latin typeface="+mj-lt"/>
              <a:ea typeface="Microsoft YaHei" panose="020B0503020204020204" pitchFamily="34" charset="-122"/>
            </a:endParaRPr>
          </a:p>
          <a:p>
            <a:r>
              <a:rPr lang="en-US" altLang="zh-CN" sz="1200" dirty="0">
                <a:solidFill>
                  <a:srgbClr val="000000"/>
                </a:solidFill>
                <a:latin typeface="+mj-lt"/>
                <a:ea typeface="Microsoft YaHei" panose="020B0503020204020204" pitchFamily="34" charset="-122"/>
              </a:rPr>
              <a:t>[7]</a:t>
            </a:r>
            <a:r>
              <a:rPr lang="zh-CN" altLang="en-US" sz="1200" dirty="0">
                <a:solidFill>
                  <a:srgbClr val="000000"/>
                </a:solidFill>
                <a:latin typeface="+mj-lt"/>
                <a:ea typeface="Microsoft YaHei" panose="020B0503020204020204" pitchFamily="34" charset="-122"/>
              </a:rPr>
              <a:t> </a:t>
            </a:r>
            <a:r>
              <a:rPr lang="fr-FR" altLang="zh-CN" sz="1200" dirty="0">
                <a:latin typeface="+mj-lt"/>
                <a:ea typeface="Microsoft YaHei" panose="020B0503020204020204" pitchFamily="34" charset="-122"/>
              </a:rPr>
              <a:t>A block layer introduction</a:t>
            </a:r>
            <a:r>
              <a:rPr lang="en-US" altLang="zh-CN" sz="1200" dirty="0">
                <a:solidFill>
                  <a:srgbClr val="000000"/>
                </a:solidFill>
                <a:latin typeface="+mj-lt"/>
                <a:ea typeface="Microsoft YaHei" panose="020B0503020204020204" pitchFamily="34" charset="-122"/>
              </a:rPr>
              <a:t>,</a:t>
            </a:r>
            <a:r>
              <a:rPr lang="zh-CN" altLang="en-US" sz="1200" dirty="0">
                <a:solidFill>
                  <a:srgbClr val="000000"/>
                </a:solidFill>
                <a:latin typeface="+mj-lt"/>
                <a:ea typeface="Microsoft YaHei" panose="020B0503020204020204" pitchFamily="34" charset="-122"/>
              </a:rPr>
              <a:t> </a:t>
            </a:r>
            <a:r>
              <a:rPr lang="fr-FR" altLang="zh-CN" sz="1200" dirty="0">
                <a:latin typeface="+mj-lt"/>
                <a:ea typeface="Microsoft YaHei" panose="020B0503020204020204" pitchFamily="34" charset="-122"/>
                <a:hlinkClick r:id="rId6"/>
              </a:rPr>
              <a:t>https://lwn.net/Articles/736534/</a:t>
            </a:r>
            <a:endParaRPr lang="fr-FR" altLang="zh-CN" sz="1200" dirty="0">
              <a:latin typeface="+mj-lt"/>
              <a:ea typeface="Microsoft YaHei" panose="020B0503020204020204" pitchFamily="34" charset="-122"/>
            </a:endParaRPr>
          </a:p>
          <a:p>
            <a:r>
              <a:rPr lang="en-US" altLang="zh-CN" sz="1200" dirty="0">
                <a:latin typeface="+mj-lt"/>
                <a:ea typeface="Microsoft YaHei" panose="020B0503020204020204" pitchFamily="34" charset="-122"/>
              </a:rPr>
              <a:t>[8]</a:t>
            </a:r>
            <a:r>
              <a:rPr lang="zh-CN" altLang="en-US" sz="1200" dirty="0">
                <a:latin typeface="+mj-lt"/>
                <a:ea typeface="Microsoft YaHei" panose="020B0503020204020204" pitchFamily="34" charset="-122"/>
              </a:rPr>
              <a:t> </a:t>
            </a:r>
            <a:r>
              <a:rPr lang="fr-FR" altLang="zh-CN" sz="1200" dirty="0"/>
              <a:t>A. </a:t>
            </a:r>
            <a:r>
              <a:rPr lang="fr-FR" altLang="zh-CN" sz="1200" dirty="0" err="1"/>
              <a:t>Foong</a:t>
            </a:r>
            <a:r>
              <a:rPr lang="fr-FR" altLang="zh-CN" sz="1200" dirty="0"/>
              <a:t> and F. Hady, “Platform Storage Performance </a:t>
            </a:r>
            <a:r>
              <a:rPr lang="fr-FR" altLang="zh-CN" sz="1200" dirty="0" err="1"/>
              <a:t>With</a:t>
            </a:r>
            <a:r>
              <a:rPr lang="fr-FR" altLang="zh-CN" sz="1200" dirty="0"/>
              <a:t> 3D </a:t>
            </a:r>
            <a:r>
              <a:rPr lang="fr-FR" altLang="zh-CN" sz="1200" dirty="0" err="1"/>
              <a:t>XPoint</a:t>
            </a:r>
            <a:r>
              <a:rPr lang="fr-FR" altLang="zh-CN" sz="1200" dirty="0"/>
              <a:t> </a:t>
            </a:r>
            <a:r>
              <a:rPr lang="fr-FR" altLang="zh-CN" sz="1200" dirty="0" err="1"/>
              <a:t>Technology</a:t>
            </a:r>
            <a:r>
              <a:rPr lang="fr-FR" altLang="zh-CN" sz="1200" dirty="0"/>
              <a:t>,” vol. 105, no. 9, pp. 1822–1833, 2017.</a:t>
            </a:r>
          </a:p>
          <a:p>
            <a:r>
              <a:rPr lang="en-US" altLang="zh-CN" sz="1200" dirty="0"/>
              <a:t>[9]</a:t>
            </a:r>
            <a:r>
              <a:rPr lang="fr-FR" altLang="zh-CN" sz="1200" dirty="0"/>
              <a:t> </a:t>
            </a:r>
            <a:r>
              <a:rPr lang="fr-FR" altLang="zh-CN" sz="1200" dirty="0" err="1"/>
              <a:t>InnoDB</a:t>
            </a:r>
            <a:r>
              <a:rPr lang="fr-FR" altLang="zh-CN" sz="1200" dirty="0"/>
              <a:t> Architecture</a:t>
            </a:r>
            <a:r>
              <a:rPr lang="en-US" altLang="zh-CN" sz="1200" dirty="0"/>
              <a:t>,</a:t>
            </a:r>
            <a:r>
              <a:rPr lang="zh-CN" altLang="en-US" sz="1200" dirty="0"/>
              <a:t> </a:t>
            </a:r>
            <a:r>
              <a:rPr lang="fr-FR" altLang="zh-CN" sz="1200" dirty="0">
                <a:hlinkClick r:id="rId7"/>
              </a:rPr>
              <a:t>https://dev.mysql.com/doc/refman/8.0/en/innodb-architecture.html</a:t>
            </a:r>
            <a:endParaRPr lang="fr-FR" altLang="zh-CN" sz="1200" dirty="0"/>
          </a:p>
          <a:p>
            <a:r>
              <a:rPr lang="en-US" altLang="zh-CN" sz="1200" dirty="0"/>
              <a:t>[10]</a:t>
            </a:r>
            <a:r>
              <a:rPr lang="zh-CN" altLang="en-US" sz="1200" dirty="0"/>
              <a:t> </a:t>
            </a:r>
            <a:r>
              <a:rPr lang="fr-FR" altLang="zh-CN" sz="1200" dirty="0">
                <a:hlinkClick r:id="rId8"/>
              </a:rPr>
              <a:t>https://www.slideshare.net/igalia/improving-the-performance-of-the-qcow2-format-kvm-forum-2017</a:t>
            </a:r>
            <a:endParaRPr lang="fr-FR" altLang="zh-CN" sz="1200" dirty="0"/>
          </a:p>
          <a:p>
            <a:r>
              <a:rPr lang="en-US" altLang="zh-CN" sz="1200" dirty="0"/>
              <a:t>[11]</a:t>
            </a:r>
            <a:r>
              <a:rPr lang="zh-CN" altLang="en-US" sz="1200" dirty="0"/>
              <a:t> </a:t>
            </a:r>
            <a:r>
              <a:rPr lang="fr-FR" altLang="zh-CN" sz="1200" dirty="0"/>
              <a:t>L. S. </a:t>
            </a:r>
            <a:r>
              <a:rPr lang="fr-FR" altLang="zh-CN" sz="1200" dirty="0" err="1"/>
              <a:t>Hajnoczi</a:t>
            </a:r>
            <a:r>
              <a:rPr lang="fr-FR" altLang="zh-CN" sz="1200" dirty="0"/>
              <a:t> and K. V. M. Forum, “</a:t>
            </a:r>
            <a:r>
              <a:rPr lang="fr-FR" altLang="zh-CN" sz="1200" dirty="0" err="1"/>
              <a:t>Applying</a:t>
            </a:r>
            <a:r>
              <a:rPr lang="fr-FR" altLang="zh-CN" sz="1200" dirty="0"/>
              <a:t> Polling Techniques to QEMU,” 2017.</a:t>
            </a:r>
          </a:p>
          <a:p>
            <a:r>
              <a:rPr lang="en-US" altLang="zh-CN" sz="1200" dirty="0"/>
              <a:t>[12]</a:t>
            </a:r>
            <a:r>
              <a:rPr lang="zh-CN" altLang="en-US" sz="1200" dirty="0"/>
              <a:t> </a:t>
            </a:r>
            <a:r>
              <a:rPr lang="fr-FR" altLang="zh-CN" sz="1200" dirty="0"/>
              <a:t>Hennessy, John L., and David A. Patterson. </a:t>
            </a:r>
            <a:r>
              <a:rPr lang="fr-FR" altLang="zh-CN" sz="1200" i="1" dirty="0"/>
              <a:t>Computer architecture: a quantitative </a:t>
            </a:r>
            <a:r>
              <a:rPr lang="fr-FR" altLang="zh-CN" sz="1200" i="1" dirty="0" err="1"/>
              <a:t>approach</a:t>
            </a:r>
            <a:r>
              <a:rPr lang="fr-FR" altLang="zh-CN" sz="1200" dirty="0"/>
              <a:t>. Elsevier, 2011.</a:t>
            </a:r>
          </a:p>
          <a:p>
            <a:r>
              <a:rPr lang="en-US" altLang="zh-CN" sz="1200" dirty="0">
                <a:latin typeface="+mj-lt"/>
                <a:ea typeface="Microsoft YaHei" panose="020B0503020204020204" pitchFamily="34" charset="-122"/>
              </a:rPr>
              <a:t>[13]</a:t>
            </a:r>
            <a:r>
              <a:rPr lang="zh-CN" altLang="en-US" sz="1200" dirty="0">
                <a:latin typeface="+mj-lt"/>
                <a:ea typeface="Microsoft YaHei" panose="020B0503020204020204" pitchFamily="34" charset="-122"/>
              </a:rPr>
              <a:t> </a:t>
            </a:r>
            <a:r>
              <a:rPr lang="fr-FR" altLang="zh-CN" sz="1200" dirty="0"/>
              <a:t>Open-Channel Solid State Drives</a:t>
            </a:r>
            <a:r>
              <a:rPr lang="en-US" altLang="zh-CN" sz="1200" dirty="0"/>
              <a:t>,</a:t>
            </a:r>
            <a:r>
              <a:rPr lang="zh-CN" altLang="en-US" sz="1200" dirty="0"/>
              <a:t> </a:t>
            </a:r>
            <a:r>
              <a:rPr lang="fr-FR" altLang="zh-CN" sz="1200" dirty="0">
                <a:hlinkClick r:id="rId9"/>
              </a:rPr>
              <a:t>https://events.static.linuxfound.org/sites/events/files/slides/LightNVM-Vault2015.pdf</a:t>
            </a:r>
            <a:endParaRPr lang="fr-FR" altLang="zh-CN" sz="1200" dirty="0"/>
          </a:p>
          <a:p>
            <a:r>
              <a:rPr lang="en-US" altLang="zh-CN" sz="1200" dirty="0">
                <a:latin typeface="+mj-lt"/>
                <a:ea typeface="Microsoft YaHei" panose="020B0503020204020204" pitchFamily="34" charset="-122"/>
              </a:rPr>
              <a:t>[14]</a:t>
            </a:r>
            <a:r>
              <a:rPr lang="zh-CN" altLang="en-US" sz="1200" dirty="0">
                <a:latin typeface="+mj-lt"/>
                <a:ea typeface="Microsoft YaHei" panose="020B0503020204020204" pitchFamily="34" charset="-122"/>
              </a:rPr>
              <a:t> </a:t>
            </a:r>
            <a:r>
              <a:rPr lang="fr-FR" altLang="zh-CN" sz="1200" dirty="0"/>
              <a:t>M. </a:t>
            </a:r>
            <a:r>
              <a:rPr lang="fr-FR" altLang="zh-CN" sz="1200" dirty="0" err="1"/>
              <a:t>Bjørling</a:t>
            </a:r>
            <a:r>
              <a:rPr lang="fr-FR" altLang="zh-CN" sz="1200" dirty="0"/>
              <a:t>, J. </a:t>
            </a:r>
            <a:r>
              <a:rPr lang="fr-FR" altLang="zh-CN" sz="1200" dirty="0" err="1"/>
              <a:t>Axboe</a:t>
            </a:r>
            <a:r>
              <a:rPr lang="fr-FR" altLang="zh-CN" sz="1200" dirty="0"/>
              <a:t>, D. </a:t>
            </a:r>
            <a:r>
              <a:rPr lang="fr-FR" altLang="zh-CN" sz="1200" dirty="0" err="1"/>
              <a:t>Nellans</a:t>
            </a:r>
            <a:r>
              <a:rPr lang="fr-FR" altLang="zh-CN" sz="1200" dirty="0"/>
              <a:t>, and P. Bonnet, “Linux block IO: </a:t>
            </a:r>
            <a:r>
              <a:rPr lang="fr-FR" altLang="zh-CN" sz="1200" dirty="0" err="1"/>
              <a:t>Introducing</a:t>
            </a:r>
            <a:r>
              <a:rPr lang="fr-FR" altLang="zh-CN" sz="1200" dirty="0"/>
              <a:t> Multi-queue SSD Access on Multi-</a:t>
            </a:r>
            <a:r>
              <a:rPr lang="fr-FR" altLang="zh-CN" sz="1200" dirty="0" err="1"/>
              <a:t>core</a:t>
            </a:r>
            <a:r>
              <a:rPr lang="fr-FR" altLang="zh-CN" sz="1200" dirty="0"/>
              <a:t> </a:t>
            </a:r>
            <a:r>
              <a:rPr lang="fr-FR" altLang="zh-CN" sz="1200" dirty="0" err="1"/>
              <a:t>Systems</a:t>
            </a:r>
            <a:r>
              <a:rPr lang="fr-FR" altLang="zh-CN" sz="1200" dirty="0"/>
              <a:t>,” </a:t>
            </a:r>
            <a:r>
              <a:rPr lang="fr-FR" altLang="zh-CN" sz="1200" i="1" dirty="0" err="1"/>
              <a:t>Systor</a:t>
            </a:r>
            <a:r>
              <a:rPr lang="fr-FR" altLang="zh-CN" sz="1200" i="1" dirty="0"/>
              <a:t> ’13</a:t>
            </a:r>
            <a:r>
              <a:rPr lang="fr-FR" altLang="zh-CN" sz="1200" dirty="0"/>
              <a:t>, p. 1, 2013.</a:t>
            </a:r>
          </a:p>
          <a:p>
            <a:endParaRPr lang="fr-FR" altLang="zh-CN" sz="1200" dirty="0">
              <a:latin typeface="+mj-lt"/>
              <a:ea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B7E1C52-CE76-CF4D-BEB5-C75931393AFF}"/>
              </a:ext>
            </a:extLst>
          </p:cNvPr>
          <p:cNvSpPr txBox="1"/>
          <p:nvPr/>
        </p:nvSpPr>
        <p:spPr>
          <a:xfrm>
            <a:off x="2077718" y="1612128"/>
            <a:ext cx="4587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000" b="1" dirty="0"/>
              <a:t>Thanks!</a:t>
            </a:r>
            <a:r>
              <a:rPr kumimoji="1" lang="zh-CN" altLang="en-US" sz="4000" b="1" dirty="0"/>
              <a:t>   </a:t>
            </a:r>
            <a:r>
              <a:rPr kumimoji="1" lang="en-US" altLang="zh-CN" sz="4000" b="1" dirty="0"/>
              <a:t>Questions?</a:t>
            </a:r>
            <a:endParaRPr kumimoji="1" lang="zh-CN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95820304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主题2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主题2" id="{E0D1F83F-22F0-D546-91D8-FF7C6B24B14B}" vid="{5AF26BE8-7839-1342-A4CE-8DF56C8D06F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主题2</Template>
  <TotalTime>62197</TotalTime>
  <Words>2665</Words>
  <Application>Microsoft Macintosh PowerPoint</Application>
  <PresentationFormat>全屏显示(4:3)</PresentationFormat>
  <Paragraphs>384</Paragraphs>
  <Slides>50</Slides>
  <Notes>50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57" baseType="lpstr">
      <vt:lpstr>Microsoft YaHei</vt:lpstr>
      <vt:lpstr>Lantinghei SC Demibold</vt:lpstr>
      <vt:lpstr>Arial</vt:lpstr>
      <vt:lpstr>Calibri</vt:lpstr>
      <vt:lpstr>Calibri Light</vt:lpstr>
      <vt:lpstr>Wingdings</vt:lpstr>
      <vt:lpstr>主题2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周会总结</dc:title>
  <dc:creator>Jaycee Zhang</dc:creator>
  <cp:lastModifiedBy>张 佳辰</cp:lastModifiedBy>
  <cp:revision>869</cp:revision>
  <cp:lastPrinted>2017-05-11T02:50:32Z</cp:lastPrinted>
  <dcterms:created xsi:type="dcterms:W3CDTF">2016-12-13T05:37:29Z</dcterms:created>
  <dcterms:modified xsi:type="dcterms:W3CDTF">2019-09-29T02:17:29Z</dcterms:modified>
</cp:coreProperties>
</file>