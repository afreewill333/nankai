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notesMasterIdLst>
    <p:notesMasterId r:id="rId60"/>
  </p:notesMasterIdLst>
  <p:sldIdLst>
    <p:sldId id="261" r:id="rId2"/>
    <p:sldId id="390" r:id="rId3"/>
    <p:sldId id="355" r:id="rId4"/>
    <p:sldId id="578" r:id="rId5"/>
    <p:sldId id="577" r:id="rId6"/>
    <p:sldId id="588" r:id="rId7"/>
    <p:sldId id="579" r:id="rId8"/>
    <p:sldId id="582" r:id="rId9"/>
    <p:sldId id="583" r:id="rId10"/>
    <p:sldId id="584" r:id="rId11"/>
    <p:sldId id="585" r:id="rId12"/>
    <p:sldId id="354" r:id="rId13"/>
    <p:sldId id="589" r:id="rId14"/>
    <p:sldId id="356" r:id="rId15"/>
    <p:sldId id="357" r:id="rId16"/>
    <p:sldId id="358" r:id="rId17"/>
    <p:sldId id="359" r:id="rId18"/>
    <p:sldId id="360" r:id="rId19"/>
    <p:sldId id="361" r:id="rId20"/>
    <p:sldId id="362" r:id="rId21"/>
    <p:sldId id="363" r:id="rId22"/>
    <p:sldId id="590" r:id="rId23"/>
    <p:sldId id="319" r:id="rId24"/>
    <p:sldId id="322" r:id="rId25"/>
    <p:sldId id="321" r:id="rId26"/>
    <p:sldId id="323" r:id="rId27"/>
    <p:sldId id="324" r:id="rId28"/>
    <p:sldId id="325" r:id="rId29"/>
    <p:sldId id="327" r:id="rId30"/>
    <p:sldId id="329" r:id="rId31"/>
    <p:sldId id="551" r:id="rId32"/>
    <p:sldId id="554" r:id="rId33"/>
    <p:sldId id="555" r:id="rId34"/>
    <p:sldId id="556" r:id="rId35"/>
    <p:sldId id="557" r:id="rId36"/>
    <p:sldId id="558" r:id="rId37"/>
    <p:sldId id="559" r:id="rId38"/>
    <p:sldId id="563" r:id="rId39"/>
    <p:sldId id="564" r:id="rId40"/>
    <p:sldId id="565" r:id="rId41"/>
    <p:sldId id="566" r:id="rId42"/>
    <p:sldId id="567" r:id="rId43"/>
    <p:sldId id="568" r:id="rId44"/>
    <p:sldId id="569" r:id="rId45"/>
    <p:sldId id="570" r:id="rId46"/>
    <p:sldId id="571" r:id="rId47"/>
    <p:sldId id="572" r:id="rId48"/>
    <p:sldId id="573" r:id="rId49"/>
    <p:sldId id="574" r:id="rId50"/>
    <p:sldId id="576" r:id="rId51"/>
    <p:sldId id="373" r:id="rId52"/>
    <p:sldId id="587" r:id="rId53"/>
    <p:sldId id="591" r:id="rId54"/>
    <p:sldId id="592" r:id="rId55"/>
    <p:sldId id="593" r:id="rId56"/>
    <p:sldId id="594" r:id="rId57"/>
    <p:sldId id="581" r:id="rId58"/>
    <p:sldId id="295" r:id="rId59"/>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Calibri" charset="0"/>
        <a:ea typeface="宋体" charset="0"/>
        <a:cs typeface="+mn-cs"/>
      </a:defRPr>
    </a:lvl1pPr>
    <a:lvl2pPr marL="457200" algn="l" rtl="0" eaLnBrk="0" fontAlgn="base" hangingPunct="0">
      <a:spcBef>
        <a:spcPct val="0"/>
      </a:spcBef>
      <a:spcAft>
        <a:spcPct val="0"/>
      </a:spcAft>
      <a:defRPr kern="1200">
        <a:solidFill>
          <a:schemeClr val="tx1"/>
        </a:solidFill>
        <a:latin typeface="Calibri" charset="0"/>
        <a:ea typeface="宋体" charset="0"/>
        <a:cs typeface="+mn-cs"/>
      </a:defRPr>
    </a:lvl2pPr>
    <a:lvl3pPr marL="914400" algn="l" rtl="0" eaLnBrk="0" fontAlgn="base" hangingPunct="0">
      <a:spcBef>
        <a:spcPct val="0"/>
      </a:spcBef>
      <a:spcAft>
        <a:spcPct val="0"/>
      </a:spcAft>
      <a:defRPr kern="1200">
        <a:solidFill>
          <a:schemeClr val="tx1"/>
        </a:solidFill>
        <a:latin typeface="Calibri" charset="0"/>
        <a:ea typeface="宋体" charset="0"/>
        <a:cs typeface="+mn-cs"/>
      </a:defRPr>
    </a:lvl3pPr>
    <a:lvl4pPr marL="1371600" algn="l" rtl="0" eaLnBrk="0" fontAlgn="base" hangingPunct="0">
      <a:spcBef>
        <a:spcPct val="0"/>
      </a:spcBef>
      <a:spcAft>
        <a:spcPct val="0"/>
      </a:spcAft>
      <a:defRPr kern="1200">
        <a:solidFill>
          <a:schemeClr val="tx1"/>
        </a:solidFill>
        <a:latin typeface="Calibri" charset="0"/>
        <a:ea typeface="宋体" charset="0"/>
        <a:cs typeface="+mn-cs"/>
      </a:defRPr>
    </a:lvl4pPr>
    <a:lvl5pPr marL="1828800" algn="l" rtl="0" eaLnBrk="0" fontAlgn="base" hangingPunct="0">
      <a:spcBef>
        <a:spcPct val="0"/>
      </a:spcBef>
      <a:spcAft>
        <a:spcPct val="0"/>
      </a:spcAft>
      <a:defRPr kern="1200">
        <a:solidFill>
          <a:schemeClr val="tx1"/>
        </a:solidFill>
        <a:latin typeface="Calibri" charset="0"/>
        <a:ea typeface="宋体" charset="0"/>
        <a:cs typeface="+mn-cs"/>
      </a:defRPr>
    </a:lvl5pPr>
    <a:lvl6pPr marL="2286000" algn="l" defTabSz="914400" rtl="0" eaLnBrk="1" latinLnBrk="0" hangingPunct="1">
      <a:defRPr kern="1200">
        <a:solidFill>
          <a:schemeClr val="tx1"/>
        </a:solidFill>
        <a:latin typeface="Calibri" charset="0"/>
        <a:ea typeface="宋体" charset="0"/>
        <a:cs typeface="+mn-cs"/>
      </a:defRPr>
    </a:lvl6pPr>
    <a:lvl7pPr marL="2743200" algn="l" defTabSz="914400" rtl="0" eaLnBrk="1" latinLnBrk="0" hangingPunct="1">
      <a:defRPr kern="1200">
        <a:solidFill>
          <a:schemeClr val="tx1"/>
        </a:solidFill>
        <a:latin typeface="Calibri" charset="0"/>
        <a:ea typeface="宋体" charset="0"/>
        <a:cs typeface="+mn-cs"/>
      </a:defRPr>
    </a:lvl7pPr>
    <a:lvl8pPr marL="3200400" algn="l" defTabSz="914400" rtl="0" eaLnBrk="1" latinLnBrk="0" hangingPunct="1">
      <a:defRPr kern="1200">
        <a:solidFill>
          <a:schemeClr val="tx1"/>
        </a:solidFill>
        <a:latin typeface="Calibri" charset="0"/>
        <a:ea typeface="宋体" charset="0"/>
        <a:cs typeface="+mn-cs"/>
      </a:defRPr>
    </a:lvl8pPr>
    <a:lvl9pPr marL="3657600" algn="l" defTabSz="914400" rtl="0" eaLnBrk="1" latinLnBrk="0" hangingPunct="1">
      <a:defRPr kern="1200">
        <a:solidFill>
          <a:schemeClr val="tx1"/>
        </a:solidFill>
        <a:latin typeface="Calibri" charset="0"/>
        <a:ea typeface="宋体" charset="0"/>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630F6"/>
    <a:srgbClr val="66005C"/>
    <a:srgbClr val="FF7E79"/>
    <a:srgbClr val="EAEFF7"/>
    <a:srgbClr val="EBF0F7"/>
    <a:srgbClr val="E2E2E2"/>
    <a:srgbClr val="B330D4"/>
    <a:srgbClr val="BD31D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1FECB4D8-DB02-4DC6-A0A2-4F2EBAE1DC90}" styleName="中度样式 1 - 强调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D113A9D2-9D6B-4929-AA2D-F23B5EE8CBE7}" styleName="主题样式 2 - 个性色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775DCB02-9BB8-47FD-8907-85C794F793BA}" styleName="主题样式 1 - 个性色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F2DE63D5-997A-4646-A377-4702673A728D}" styleName="浅色样式 2 - 强调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E9639D4-E3E2-4D34-9284-5A2195B3D0D7}" styleName="浅色样式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2833802-FEF1-4C79-8D5D-14CF1EAF98D9}" styleName="浅色样式 2 - 强调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211" autoAdjust="0"/>
    <p:restoredTop sz="81319"/>
  </p:normalViewPr>
  <p:slideViewPr>
    <p:cSldViewPr snapToGrid="0" snapToObjects="1">
      <p:cViewPr varScale="1">
        <p:scale>
          <a:sx n="93" d="100"/>
          <a:sy n="93" d="100"/>
        </p:scale>
        <p:origin x="4344" y="78"/>
      </p:cViewPr>
      <p:guideLst/>
    </p:cSldViewPr>
  </p:slid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kumimoji="1" sz="1200"/>
            </a:lvl1pPr>
          </a:lstStyle>
          <a:p>
            <a:pPr>
              <a:defRPr/>
            </a:pPr>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kumimoji="1" sz="1200"/>
            </a:lvl1pPr>
          </a:lstStyle>
          <a:p>
            <a:pPr>
              <a:defRPr/>
            </a:pPr>
            <a:fld id="{EFA51185-30DC-254A-9DD6-8F7A8C8C9CE7}" type="datetimeFigureOut">
              <a:rPr lang="zh-CN" altLang="en-US"/>
              <a:pPr>
                <a:defRPr/>
              </a:pPr>
              <a:t>2019/12/10</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二级</a:t>
            </a:r>
          </a:p>
          <a:p>
            <a:pPr lvl="2"/>
            <a:r>
              <a:rPr lang="zh-CN" altLang="en-US" noProof="0"/>
              <a:t>三级</a:t>
            </a:r>
          </a:p>
          <a:p>
            <a:pPr lvl="3"/>
            <a:r>
              <a:rPr lang="zh-CN" altLang="en-US" noProof="0"/>
              <a:t>四级</a:t>
            </a:r>
          </a:p>
          <a:p>
            <a:pPr lvl="4"/>
            <a:r>
              <a:rPr lang="zh-CN" altLang="en-US" noProof="0"/>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kumimoji="1" sz="1200"/>
            </a:lvl1pPr>
          </a:lstStyle>
          <a:p>
            <a:pPr>
              <a:defRPr/>
            </a:pPr>
            <a:endParaRPr lang="zh-CN" altLang="en-US"/>
          </a:p>
        </p:txBody>
      </p:sp>
      <p:sp>
        <p:nvSpPr>
          <p:cNvPr id="7" name="幻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kumimoji="1" sz="1200"/>
            </a:lvl1pPr>
          </a:lstStyle>
          <a:p>
            <a:pPr>
              <a:defRPr/>
            </a:pPr>
            <a:fld id="{0B5B9210-A5D6-DF4A-BCF1-E487EA4C0D19}" type="slidenum">
              <a:rPr lang="zh-CN" altLang="en-US"/>
              <a:pPr>
                <a:defRPr/>
              </a:pPr>
              <a:t>‹#›</a:t>
            </a:fld>
            <a:endParaRPr lang="zh-CN" altLang="en-US"/>
          </a:p>
        </p:txBody>
      </p:sp>
    </p:spTree>
    <p:extLst>
      <p:ext uri="{BB962C8B-B14F-4D97-AF65-F5344CB8AC3E}">
        <p14:creationId xmlns:p14="http://schemas.microsoft.com/office/powerpoint/2010/main" val="130215075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3" Type="http://schemas.openxmlformats.org/officeDocument/2006/relationships/hyperlink" Target="http://www.dbms2.com/2009/05/11/facebook-hadoop-and-hive/" TargetMode="External"/><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pPr>
              <a:defRPr/>
            </a:pPr>
            <a:fld id="{0B5B9210-A5D6-DF4A-BCF1-E487EA4C0D19}" type="slidenum">
              <a:rPr lang="zh-CN" altLang="en-US" smtClean="0"/>
              <a:pPr>
                <a:defRPr/>
              </a:pPr>
              <a:t>1</a:t>
            </a:fld>
            <a:endParaRPr lang="zh-CN" altLang="en-US"/>
          </a:p>
        </p:txBody>
      </p:sp>
    </p:spTree>
    <p:extLst>
      <p:ext uri="{BB962C8B-B14F-4D97-AF65-F5344CB8AC3E}">
        <p14:creationId xmlns:p14="http://schemas.microsoft.com/office/powerpoint/2010/main" val="8438554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pPr>
              <a:defRPr/>
            </a:pPr>
            <a:fld id="{0B5B9210-A5D6-DF4A-BCF1-E487EA4C0D19}" type="slidenum">
              <a:rPr lang="zh-CN" altLang="en-US" smtClean="0"/>
              <a:pPr>
                <a:defRPr/>
              </a:pPr>
              <a:t>2</a:t>
            </a:fld>
            <a:endParaRPr lang="zh-CN" altLang="en-US"/>
          </a:p>
        </p:txBody>
      </p:sp>
    </p:spTree>
    <p:extLst>
      <p:ext uri="{BB962C8B-B14F-4D97-AF65-F5344CB8AC3E}">
        <p14:creationId xmlns:p14="http://schemas.microsoft.com/office/powerpoint/2010/main" val="8394661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pPr>
              <a:defRPr/>
            </a:pPr>
            <a:fld id="{0B5B9210-A5D6-DF4A-BCF1-E487EA4C0D19}" type="slidenum">
              <a:rPr lang="zh-CN" altLang="en-US" smtClean="0"/>
              <a:pPr>
                <a:defRPr/>
              </a:pPr>
              <a:t>3</a:t>
            </a:fld>
            <a:endParaRPr lang="zh-CN" altLang="en-US"/>
          </a:p>
        </p:txBody>
      </p:sp>
    </p:spTree>
    <p:extLst>
      <p:ext uri="{BB962C8B-B14F-4D97-AF65-F5344CB8AC3E}">
        <p14:creationId xmlns:p14="http://schemas.microsoft.com/office/powerpoint/2010/main" val="29894957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baseline="0" dirty="0"/>
          </a:p>
        </p:txBody>
      </p:sp>
      <p:sp>
        <p:nvSpPr>
          <p:cNvPr id="4" name="幻灯片编号占位符 3"/>
          <p:cNvSpPr>
            <a:spLocks noGrp="1"/>
          </p:cNvSpPr>
          <p:nvPr>
            <p:ph type="sldNum" sz="quarter" idx="10"/>
          </p:nvPr>
        </p:nvSpPr>
        <p:spPr/>
        <p:txBody>
          <a:bodyPr/>
          <a:lstStyle/>
          <a:p>
            <a:pPr>
              <a:defRPr/>
            </a:pPr>
            <a:fld id="{0B5B9210-A5D6-DF4A-BCF1-E487EA4C0D19}" type="slidenum">
              <a:rPr lang="zh-CN" altLang="en-US" smtClean="0"/>
              <a:pPr>
                <a:defRPr/>
              </a:pPr>
              <a:t>4</a:t>
            </a:fld>
            <a:endParaRPr lang="zh-CN" altLang="en-US"/>
          </a:p>
        </p:txBody>
      </p:sp>
    </p:spTree>
    <p:extLst>
      <p:ext uri="{BB962C8B-B14F-4D97-AF65-F5344CB8AC3E}">
        <p14:creationId xmlns:p14="http://schemas.microsoft.com/office/powerpoint/2010/main" val="14642160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baseline="0" dirty="0"/>
          </a:p>
        </p:txBody>
      </p:sp>
      <p:sp>
        <p:nvSpPr>
          <p:cNvPr id="4" name="幻灯片编号占位符 3"/>
          <p:cNvSpPr>
            <a:spLocks noGrp="1"/>
          </p:cNvSpPr>
          <p:nvPr>
            <p:ph type="sldNum" sz="quarter" idx="10"/>
          </p:nvPr>
        </p:nvSpPr>
        <p:spPr/>
        <p:txBody>
          <a:bodyPr/>
          <a:lstStyle/>
          <a:p>
            <a:pPr>
              <a:defRPr/>
            </a:pPr>
            <a:fld id="{0B5B9210-A5D6-DF4A-BCF1-E487EA4C0D19}" type="slidenum">
              <a:rPr lang="zh-CN" altLang="en-US" smtClean="0"/>
              <a:pPr>
                <a:defRPr/>
              </a:pPr>
              <a:t>5</a:t>
            </a:fld>
            <a:endParaRPr lang="zh-CN" altLang="en-US"/>
          </a:p>
        </p:txBody>
      </p:sp>
    </p:spTree>
    <p:extLst>
      <p:ext uri="{BB962C8B-B14F-4D97-AF65-F5344CB8AC3E}">
        <p14:creationId xmlns:p14="http://schemas.microsoft.com/office/powerpoint/2010/main" val="28251816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baseline="0" dirty="0"/>
          </a:p>
        </p:txBody>
      </p:sp>
      <p:sp>
        <p:nvSpPr>
          <p:cNvPr id="4" name="幻灯片编号占位符 3"/>
          <p:cNvSpPr>
            <a:spLocks noGrp="1"/>
          </p:cNvSpPr>
          <p:nvPr>
            <p:ph type="sldNum" sz="quarter" idx="10"/>
          </p:nvPr>
        </p:nvSpPr>
        <p:spPr/>
        <p:txBody>
          <a:bodyPr/>
          <a:lstStyle/>
          <a:p>
            <a:pPr>
              <a:defRPr/>
            </a:pPr>
            <a:fld id="{0B5B9210-A5D6-DF4A-BCF1-E487EA4C0D19}" type="slidenum">
              <a:rPr lang="zh-CN" altLang="en-US" smtClean="0"/>
              <a:pPr>
                <a:defRPr/>
              </a:pPr>
              <a:t>6</a:t>
            </a:fld>
            <a:endParaRPr lang="zh-CN" altLang="en-US"/>
          </a:p>
        </p:txBody>
      </p:sp>
    </p:spTree>
    <p:extLst>
      <p:ext uri="{BB962C8B-B14F-4D97-AF65-F5344CB8AC3E}">
        <p14:creationId xmlns:p14="http://schemas.microsoft.com/office/powerpoint/2010/main" val="29444820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baseline="0" dirty="0"/>
          </a:p>
        </p:txBody>
      </p:sp>
      <p:sp>
        <p:nvSpPr>
          <p:cNvPr id="4" name="幻灯片编号占位符 3"/>
          <p:cNvSpPr>
            <a:spLocks noGrp="1"/>
          </p:cNvSpPr>
          <p:nvPr>
            <p:ph type="sldNum" sz="quarter" idx="10"/>
          </p:nvPr>
        </p:nvSpPr>
        <p:spPr/>
        <p:txBody>
          <a:bodyPr/>
          <a:lstStyle/>
          <a:p>
            <a:pPr>
              <a:defRPr/>
            </a:pPr>
            <a:fld id="{0B5B9210-A5D6-DF4A-BCF1-E487EA4C0D19}" type="slidenum">
              <a:rPr lang="zh-CN" altLang="en-US" smtClean="0"/>
              <a:pPr>
                <a:defRPr/>
              </a:pPr>
              <a:t>7</a:t>
            </a:fld>
            <a:endParaRPr lang="zh-CN" altLang="en-US"/>
          </a:p>
        </p:txBody>
      </p:sp>
    </p:spTree>
    <p:extLst>
      <p:ext uri="{BB962C8B-B14F-4D97-AF65-F5344CB8AC3E}">
        <p14:creationId xmlns:p14="http://schemas.microsoft.com/office/powerpoint/2010/main" val="27901520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baseline="0" dirty="0"/>
          </a:p>
        </p:txBody>
      </p:sp>
      <p:sp>
        <p:nvSpPr>
          <p:cNvPr id="4" name="幻灯片编号占位符 3"/>
          <p:cNvSpPr>
            <a:spLocks noGrp="1"/>
          </p:cNvSpPr>
          <p:nvPr>
            <p:ph type="sldNum" sz="quarter" idx="10"/>
          </p:nvPr>
        </p:nvSpPr>
        <p:spPr/>
        <p:txBody>
          <a:bodyPr/>
          <a:lstStyle/>
          <a:p>
            <a:pPr>
              <a:defRPr/>
            </a:pPr>
            <a:fld id="{0B5B9210-A5D6-DF4A-BCF1-E487EA4C0D19}" type="slidenum">
              <a:rPr lang="zh-CN" altLang="en-US" smtClean="0"/>
              <a:pPr>
                <a:defRPr/>
              </a:pPr>
              <a:t>8</a:t>
            </a:fld>
            <a:endParaRPr lang="zh-CN" altLang="en-US"/>
          </a:p>
        </p:txBody>
      </p:sp>
    </p:spTree>
    <p:extLst>
      <p:ext uri="{BB962C8B-B14F-4D97-AF65-F5344CB8AC3E}">
        <p14:creationId xmlns:p14="http://schemas.microsoft.com/office/powerpoint/2010/main" val="574779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baseline="0" dirty="0"/>
          </a:p>
        </p:txBody>
      </p:sp>
      <p:sp>
        <p:nvSpPr>
          <p:cNvPr id="4" name="幻灯片编号占位符 3"/>
          <p:cNvSpPr>
            <a:spLocks noGrp="1"/>
          </p:cNvSpPr>
          <p:nvPr>
            <p:ph type="sldNum" sz="quarter" idx="10"/>
          </p:nvPr>
        </p:nvSpPr>
        <p:spPr/>
        <p:txBody>
          <a:bodyPr/>
          <a:lstStyle/>
          <a:p>
            <a:pPr>
              <a:defRPr/>
            </a:pPr>
            <a:fld id="{0B5B9210-A5D6-DF4A-BCF1-E487EA4C0D19}" type="slidenum">
              <a:rPr lang="zh-CN" altLang="en-US" smtClean="0"/>
              <a:pPr>
                <a:defRPr/>
              </a:pPr>
              <a:t>9</a:t>
            </a:fld>
            <a:endParaRPr lang="zh-CN" altLang="en-US"/>
          </a:p>
        </p:txBody>
      </p:sp>
    </p:spTree>
    <p:extLst>
      <p:ext uri="{BB962C8B-B14F-4D97-AF65-F5344CB8AC3E}">
        <p14:creationId xmlns:p14="http://schemas.microsoft.com/office/powerpoint/2010/main" val="23098389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baseline="0" dirty="0"/>
          </a:p>
        </p:txBody>
      </p:sp>
      <p:sp>
        <p:nvSpPr>
          <p:cNvPr id="4" name="幻灯片编号占位符 3"/>
          <p:cNvSpPr>
            <a:spLocks noGrp="1"/>
          </p:cNvSpPr>
          <p:nvPr>
            <p:ph type="sldNum" sz="quarter" idx="10"/>
          </p:nvPr>
        </p:nvSpPr>
        <p:spPr/>
        <p:txBody>
          <a:bodyPr/>
          <a:lstStyle/>
          <a:p>
            <a:pPr>
              <a:defRPr/>
            </a:pPr>
            <a:fld id="{0B5B9210-A5D6-DF4A-BCF1-E487EA4C0D19}" type="slidenum">
              <a:rPr lang="zh-CN" altLang="en-US" smtClean="0"/>
              <a:pPr>
                <a:defRPr/>
              </a:pPr>
              <a:t>10</a:t>
            </a:fld>
            <a:endParaRPr lang="zh-CN" altLang="en-US"/>
          </a:p>
        </p:txBody>
      </p:sp>
    </p:spTree>
    <p:extLst>
      <p:ext uri="{BB962C8B-B14F-4D97-AF65-F5344CB8AC3E}">
        <p14:creationId xmlns:p14="http://schemas.microsoft.com/office/powerpoint/2010/main" val="26076183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baseline="0" dirty="0"/>
          </a:p>
        </p:txBody>
      </p:sp>
      <p:sp>
        <p:nvSpPr>
          <p:cNvPr id="4" name="幻灯片编号占位符 3"/>
          <p:cNvSpPr>
            <a:spLocks noGrp="1"/>
          </p:cNvSpPr>
          <p:nvPr>
            <p:ph type="sldNum" sz="quarter" idx="10"/>
          </p:nvPr>
        </p:nvSpPr>
        <p:spPr/>
        <p:txBody>
          <a:bodyPr/>
          <a:lstStyle/>
          <a:p>
            <a:pPr>
              <a:defRPr/>
            </a:pPr>
            <a:fld id="{0B5B9210-A5D6-DF4A-BCF1-E487EA4C0D19}" type="slidenum">
              <a:rPr lang="zh-CN" altLang="en-US" smtClean="0"/>
              <a:pPr>
                <a:defRPr/>
              </a:pPr>
              <a:t>11</a:t>
            </a:fld>
            <a:endParaRPr lang="zh-CN" altLang="en-US"/>
          </a:p>
        </p:txBody>
      </p:sp>
    </p:spTree>
    <p:extLst>
      <p:ext uri="{BB962C8B-B14F-4D97-AF65-F5344CB8AC3E}">
        <p14:creationId xmlns:p14="http://schemas.microsoft.com/office/powerpoint/2010/main" val="18646165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8B572A69-8240-42E5-9E76-DBC0E843EAC7}" type="slidenum">
              <a:rPr lang="en-US" smtClean="0"/>
              <a:pPr/>
              <a:t>12</a:t>
            </a:fld>
            <a:endParaRPr lang="en-US" dirty="0"/>
          </a:p>
        </p:txBody>
      </p:sp>
    </p:spTree>
    <p:extLst>
      <p:ext uri="{BB962C8B-B14F-4D97-AF65-F5344CB8AC3E}">
        <p14:creationId xmlns:p14="http://schemas.microsoft.com/office/powerpoint/2010/main" val="34293187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sz="1400" b="1" dirty="0">
              <a:solidFill>
                <a:srgbClr val="FF0000"/>
              </a:solidFill>
            </a:endParaRPr>
          </a:p>
        </p:txBody>
      </p:sp>
      <p:sp>
        <p:nvSpPr>
          <p:cNvPr id="4" name="Slide Number Placeholder 3"/>
          <p:cNvSpPr>
            <a:spLocks noGrp="1"/>
          </p:cNvSpPr>
          <p:nvPr>
            <p:ph type="sldNum" sz="quarter" idx="10"/>
          </p:nvPr>
        </p:nvSpPr>
        <p:spPr/>
        <p:txBody>
          <a:bodyPr/>
          <a:lstStyle/>
          <a:p>
            <a:fld id="{8B572A69-8240-42E5-9E76-DBC0E843EAC7}" type="slidenum">
              <a:rPr lang="en-US" smtClean="0"/>
              <a:pPr/>
              <a:t>14</a:t>
            </a:fld>
            <a:endParaRPr lang="en-US" dirty="0"/>
          </a:p>
        </p:txBody>
      </p:sp>
    </p:spTree>
    <p:extLst>
      <p:ext uri="{BB962C8B-B14F-4D97-AF65-F5344CB8AC3E}">
        <p14:creationId xmlns:p14="http://schemas.microsoft.com/office/powerpoint/2010/main" val="25523983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8B572A69-8240-42E5-9E76-DBC0E843EAC7}" type="slidenum">
              <a:rPr lang="en-US" smtClean="0"/>
              <a:pPr/>
              <a:t>15</a:t>
            </a:fld>
            <a:endParaRPr lang="en-US" dirty="0"/>
          </a:p>
        </p:txBody>
      </p:sp>
    </p:spTree>
    <p:extLst>
      <p:ext uri="{BB962C8B-B14F-4D97-AF65-F5344CB8AC3E}">
        <p14:creationId xmlns:p14="http://schemas.microsoft.com/office/powerpoint/2010/main" val="18055668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0" dirty="0">
                <a:latin typeface="Garamond" pitchFamily="18" charset="0"/>
              </a:rPr>
              <a:t>2 Reduce tasks concurrently perform aggregation on the data of each department and then generate the final output to HDFS</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0" dirty="0">
              <a:latin typeface="Garamond" pitchFamily="18" charset="0"/>
            </a:endParaRPr>
          </a:p>
          <a:p>
            <a:endParaRPr lang="en-US" b="0" dirty="0"/>
          </a:p>
        </p:txBody>
      </p:sp>
      <p:sp>
        <p:nvSpPr>
          <p:cNvPr id="4" name="Slide Number Placeholder 3"/>
          <p:cNvSpPr>
            <a:spLocks noGrp="1"/>
          </p:cNvSpPr>
          <p:nvPr>
            <p:ph type="sldNum" sz="quarter" idx="10"/>
          </p:nvPr>
        </p:nvSpPr>
        <p:spPr/>
        <p:txBody>
          <a:bodyPr/>
          <a:lstStyle/>
          <a:p>
            <a:fld id="{8B572A69-8240-42E5-9E76-DBC0E843EAC7}" type="slidenum">
              <a:rPr lang="en-US" smtClean="0"/>
              <a:pPr/>
              <a:t>16</a:t>
            </a:fld>
            <a:endParaRPr lang="en-US" dirty="0"/>
          </a:p>
        </p:txBody>
      </p:sp>
    </p:spTree>
    <p:extLst>
      <p:ext uri="{BB962C8B-B14F-4D97-AF65-F5344CB8AC3E}">
        <p14:creationId xmlns:p14="http://schemas.microsoft.com/office/powerpoint/2010/main" val="6617745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dirty="0" err="1"/>
              <a:t>MapReduce</a:t>
            </a:r>
            <a:r>
              <a:rPr lang="en-US" baseline="0" dirty="0"/>
              <a:t> programming model and its implementation has been proven to be a very important framework to deal with Big Data. </a:t>
            </a:r>
            <a:r>
              <a:rPr lang="en-US" baseline="0" dirty="0" err="1"/>
              <a:t>MapReduce</a:t>
            </a:r>
            <a:r>
              <a:rPr lang="en-US" baseline="0" dirty="0"/>
              <a:t> is a</a:t>
            </a:r>
            <a:r>
              <a:rPr lang="en-US" dirty="0"/>
              <a:t> simple but effective programming model designed to process huge volumes of data concurrently on a cluster. A data processing procedure is composed by one or multiple MR jobs. In every MR job, data</a:t>
            </a:r>
            <a:r>
              <a:rPr lang="en-US" baseline="0" dirty="0"/>
              <a:t> is organized as key/value pairs. For example, we can have a kind of key/value pair with name of a person as key and the age of him or her as value. Typically, a </a:t>
            </a:r>
            <a:r>
              <a:rPr lang="en-US" baseline="0" dirty="0" err="1"/>
              <a:t>mr</a:t>
            </a:r>
            <a:r>
              <a:rPr lang="en-US" baseline="0" dirty="0"/>
              <a:t> job has two parts, a map function and a reduce function. These two functions will transform a key/value pair to another kind of key/value pair. These two functions are invoked by map and reduce tasks, respectively. Right now, </a:t>
            </a:r>
            <a:r>
              <a:rPr lang="en-US" baseline="0" dirty="0" err="1"/>
              <a:t>Hadoop</a:t>
            </a:r>
            <a:r>
              <a:rPr lang="en-US" baseline="0" dirty="0"/>
              <a:t> is the most </a:t>
            </a:r>
            <a:r>
              <a:rPr lang="en-US" sz="2400" b="0" dirty="0">
                <a:solidFill>
                  <a:srgbClr val="FFFF00"/>
                </a:solidFill>
                <a:latin typeface="Garamond" pitchFamily="18" charset="0"/>
              </a:rPr>
              <a:t>widely used implementation of </a:t>
            </a:r>
            <a:r>
              <a:rPr lang="en-US" sz="2400" b="0" dirty="0" err="1">
                <a:solidFill>
                  <a:srgbClr val="FFFF00"/>
                </a:solidFill>
                <a:latin typeface="Garamond" pitchFamily="18" charset="0"/>
              </a:rPr>
              <a:t>MapReduce</a:t>
            </a:r>
            <a:r>
              <a:rPr lang="en-US" sz="2400" b="0" dirty="0">
                <a:solidFill>
                  <a:srgbClr val="FFFF00"/>
                </a:solidFill>
                <a:latin typeface="Garamond" pitchFamily="18" charset="0"/>
              </a:rPr>
              <a:t>.  Hundreds of society-dependent corporations/organizations have</a:t>
            </a:r>
            <a:r>
              <a:rPr lang="en-US" sz="2400" b="0" baseline="0" dirty="0">
                <a:solidFill>
                  <a:srgbClr val="FFFF00"/>
                </a:solidFill>
                <a:latin typeface="Garamond" pitchFamily="18" charset="0"/>
              </a:rPr>
              <a:t> chosen </a:t>
            </a:r>
            <a:r>
              <a:rPr lang="en-US" sz="2400" b="0" baseline="0" dirty="0" err="1">
                <a:solidFill>
                  <a:srgbClr val="FFFF00"/>
                </a:solidFill>
                <a:latin typeface="Garamond" pitchFamily="18" charset="0"/>
              </a:rPr>
              <a:t>hadoop</a:t>
            </a:r>
            <a:r>
              <a:rPr lang="en-US" sz="2400" b="0" baseline="0" dirty="0">
                <a:solidFill>
                  <a:srgbClr val="FFFF00"/>
                </a:solidFill>
                <a:latin typeface="Garamond" pitchFamily="18" charset="0"/>
              </a:rPr>
              <a:t> and its ecosystem as their </a:t>
            </a:r>
            <a:r>
              <a:rPr lang="en-US" sz="2400" b="0" dirty="0">
                <a:solidFill>
                  <a:srgbClr val="FFFF00"/>
                </a:solidFill>
                <a:latin typeface="Garamond" pitchFamily="18" charset="0"/>
              </a:rPr>
              <a:t>big data analytics platform,</a:t>
            </a:r>
            <a:r>
              <a:rPr lang="en-US" sz="2400" b="0" baseline="0" dirty="0">
                <a:solidFill>
                  <a:srgbClr val="FFFF00"/>
                </a:solidFill>
                <a:latin typeface="Garamond" pitchFamily="18" charset="0"/>
              </a:rPr>
              <a:t> such as </a:t>
            </a:r>
            <a:r>
              <a:rPr lang="en-US" sz="2400" b="0" dirty="0" err="1">
                <a:solidFill>
                  <a:schemeClr val="accent5">
                    <a:lumMod val="20000"/>
                    <a:lumOff val="80000"/>
                  </a:schemeClr>
                </a:solidFill>
                <a:latin typeface="Garamond" pitchFamily="18" charset="0"/>
              </a:rPr>
              <a:t>Facebook</a:t>
            </a:r>
            <a:r>
              <a:rPr lang="en-US" sz="2400" b="0" dirty="0">
                <a:solidFill>
                  <a:schemeClr val="accent5">
                    <a:lumMod val="20000"/>
                    <a:lumOff val="80000"/>
                  </a:schemeClr>
                </a:solidFill>
                <a:latin typeface="Garamond" pitchFamily="18" charset="0"/>
              </a:rPr>
              <a:t>, IBM, NY Times, Yahoo! …. </a:t>
            </a:r>
            <a:endParaRPr lang="en-US" b="0" dirty="0"/>
          </a:p>
        </p:txBody>
      </p:sp>
      <p:sp>
        <p:nvSpPr>
          <p:cNvPr id="4" name="Slide Number Placeholder 3"/>
          <p:cNvSpPr>
            <a:spLocks noGrp="1"/>
          </p:cNvSpPr>
          <p:nvPr>
            <p:ph type="sldNum" sz="quarter" idx="10"/>
          </p:nvPr>
        </p:nvSpPr>
        <p:spPr/>
        <p:txBody>
          <a:bodyPr/>
          <a:lstStyle/>
          <a:p>
            <a:fld id="{8B572A69-8240-42E5-9E76-DBC0E843EAC7}" type="slidenum">
              <a:rPr lang="en-US" smtClean="0"/>
              <a:pPr/>
              <a:t>17</a:t>
            </a:fld>
            <a:endParaRPr lang="en-US" dirty="0"/>
          </a:p>
        </p:txBody>
      </p:sp>
    </p:spTree>
    <p:extLst>
      <p:ext uri="{BB962C8B-B14F-4D97-AF65-F5344CB8AC3E}">
        <p14:creationId xmlns:p14="http://schemas.microsoft.com/office/powerpoint/2010/main" val="10588443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Let’s quickly review the</a:t>
            </a:r>
            <a:r>
              <a:rPr lang="en-US" baseline="0" dirty="0"/>
              <a:t> execution of a </a:t>
            </a:r>
            <a:r>
              <a:rPr lang="en-US" baseline="0" dirty="0" err="1"/>
              <a:t>MapReduce</a:t>
            </a:r>
            <a:r>
              <a:rPr lang="en-US" baseline="0" dirty="0"/>
              <a:t> job, or be specific </a:t>
            </a:r>
            <a:r>
              <a:rPr lang="en-US" baseline="0" dirty="0" err="1"/>
              <a:t>Hadoop</a:t>
            </a:r>
            <a:r>
              <a:rPr lang="en-US" baseline="0" dirty="0"/>
              <a:t> Job. In a </a:t>
            </a:r>
            <a:r>
              <a:rPr lang="en-US" baseline="0" dirty="0" err="1"/>
              <a:t>Hadoop</a:t>
            </a:r>
            <a:r>
              <a:rPr lang="en-US" baseline="0" dirty="0"/>
              <a:t> cluster, there is master node, which will take care all of control level work, such as job scheduling and task assignment. There are a bunch of worker nodes, which will do data processing work specified by Map or Reduce function. In the cluster, data is stored in a distributed file system, in </a:t>
            </a:r>
            <a:r>
              <a:rPr lang="en-US" baseline="0" dirty="0" err="1"/>
              <a:t>hadoop</a:t>
            </a:r>
            <a:r>
              <a:rPr lang="en-US" baseline="0" dirty="0"/>
              <a:t>, it is </a:t>
            </a:r>
            <a:r>
              <a:rPr lang="en-US" baseline="0" dirty="0" err="1"/>
              <a:t>hadoop</a:t>
            </a:r>
            <a:r>
              <a:rPr lang="en-US" baseline="0" dirty="0"/>
              <a:t> distributed file system. The execution of a MR job has 6 steps. Firstly, a user will submit his or her MR program, or called MR job. Then, when this job is ready to be executed, the master will assign map and reduce tasks to worker nodes. </a:t>
            </a:r>
            <a:endParaRPr lang="en-US" dirty="0"/>
          </a:p>
        </p:txBody>
      </p:sp>
      <p:sp>
        <p:nvSpPr>
          <p:cNvPr id="4" name="Slide Number Placeholder 3"/>
          <p:cNvSpPr>
            <a:spLocks noGrp="1"/>
          </p:cNvSpPr>
          <p:nvPr>
            <p:ph type="sldNum" sz="quarter" idx="10"/>
          </p:nvPr>
        </p:nvSpPr>
        <p:spPr/>
        <p:txBody>
          <a:bodyPr/>
          <a:lstStyle/>
          <a:p>
            <a:fld id="{8B572A69-8240-42E5-9E76-DBC0E843EAC7}" type="slidenum">
              <a:rPr lang="en-US" smtClean="0"/>
              <a:pPr/>
              <a:t>18</a:t>
            </a:fld>
            <a:endParaRPr lang="en-US" dirty="0"/>
          </a:p>
        </p:txBody>
      </p:sp>
    </p:spTree>
    <p:extLst>
      <p:ext uri="{BB962C8B-B14F-4D97-AF65-F5344CB8AC3E}">
        <p14:creationId xmlns:p14="http://schemas.microsoft.com/office/powerpoint/2010/main" val="316286700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8B572A69-8240-42E5-9E76-DBC0E843EAC7}" type="slidenum">
              <a:rPr lang="en-US" smtClean="0"/>
              <a:pPr/>
              <a:t>19</a:t>
            </a:fld>
            <a:endParaRPr lang="en-US" dirty="0"/>
          </a:p>
        </p:txBody>
      </p:sp>
    </p:spTree>
    <p:extLst>
      <p:ext uri="{BB962C8B-B14F-4D97-AF65-F5344CB8AC3E}">
        <p14:creationId xmlns:p14="http://schemas.microsoft.com/office/powerpoint/2010/main" val="107643095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There</a:t>
            </a:r>
            <a:r>
              <a:rPr lang="en-US" baseline="0" dirty="0"/>
              <a:t> are three phases in the job execution. First one is map phase, in this phase, the worker nodes associated with map tasks will concurrently process the input data and generate intermediate key/value pairs. Then, in the shuffle phase, the intermediate results will be distributed to worker nodes associated with reduce tasks. All key/value pairs with same key will be distributed to the same reduce tasks. After that, the worker nodes associated with reduce tasks will concurrently process the intermediate key/value pairs and generate the results of this job. Finally, the output will be stored back to HDFS. </a:t>
            </a:r>
            <a:endParaRPr lang="en-US" dirty="0"/>
          </a:p>
        </p:txBody>
      </p:sp>
      <p:sp>
        <p:nvSpPr>
          <p:cNvPr id="4" name="Slide Number Placeholder 3"/>
          <p:cNvSpPr>
            <a:spLocks noGrp="1"/>
          </p:cNvSpPr>
          <p:nvPr>
            <p:ph type="sldNum" sz="quarter" idx="10"/>
          </p:nvPr>
        </p:nvSpPr>
        <p:spPr/>
        <p:txBody>
          <a:bodyPr/>
          <a:lstStyle/>
          <a:p>
            <a:fld id="{8B572A69-8240-42E5-9E76-DBC0E843EAC7}" type="slidenum">
              <a:rPr lang="en-US" smtClean="0"/>
              <a:pPr/>
              <a:t>20</a:t>
            </a:fld>
            <a:endParaRPr lang="en-US" dirty="0"/>
          </a:p>
        </p:txBody>
      </p:sp>
    </p:spTree>
    <p:extLst>
      <p:ext uri="{BB962C8B-B14F-4D97-AF65-F5344CB8AC3E}">
        <p14:creationId xmlns:p14="http://schemas.microsoft.com/office/powerpoint/2010/main" val="6715410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Although </a:t>
            </a:r>
            <a:r>
              <a:rPr lang="en-US" dirty="0" err="1"/>
              <a:t>mapreduce</a:t>
            </a:r>
            <a:r>
              <a:rPr lang="en-US" baseline="0" dirty="0"/>
              <a:t> programming model hide the complex parallel programming work, programmers should know a MR job is resources consuming. There are three kinds of nontrivial costs. First is the job-scheduling and task-startup costs. Second is the network transfer in the shuffle phase. Finally, the third one is the potential costs on remotely access map input data once a map task is not co-located with its input data. </a:t>
            </a:r>
            <a:endParaRPr lang="en-US" dirty="0"/>
          </a:p>
        </p:txBody>
      </p:sp>
      <p:sp>
        <p:nvSpPr>
          <p:cNvPr id="4" name="Slide Number Placeholder 3"/>
          <p:cNvSpPr>
            <a:spLocks noGrp="1"/>
          </p:cNvSpPr>
          <p:nvPr>
            <p:ph type="sldNum" sz="quarter" idx="10"/>
          </p:nvPr>
        </p:nvSpPr>
        <p:spPr/>
        <p:txBody>
          <a:bodyPr/>
          <a:lstStyle/>
          <a:p>
            <a:fld id="{8B572A69-8240-42E5-9E76-DBC0E843EAC7}" type="slidenum">
              <a:rPr lang="en-US" smtClean="0"/>
              <a:pPr/>
              <a:t>21</a:t>
            </a:fld>
            <a:endParaRPr lang="en-US" dirty="0"/>
          </a:p>
        </p:txBody>
      </p:sp>
    </p:spTree>
    <p:extLst>
      <p:ext uri="{BB962C8B-B14F-4D97-AF65-F5344CB8AC3E}">
        <p14:creationId xmlns:p14="http://schemas.microsoft.com/office/powerpoint/2010/main" val="94003312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pPr>
              <a:defRPr/>
            </a:pPr>
            <a:fld id="{0B5B9210-A5D6-DF4A-BCF1-E487EA4C0D19}" type="slidenum">
              <a:rPr lang="zh-CN" altLang="en-US" smtClean="0"/>
              <a:pPr>
                <a:defRPr/>
              </a:pPr>
              <a:t>22</a:t>
            </a:fld>
            <a:endParaRPr lang="zh-CN" altLang="en-US"/>
          </a:p>
        </p:txBody>
      </p:sp>
    </p:spTree>
    <p:extLst>
      <p:ext uri="{BB962C8B-B14F-4D97-AF65-F5344CB8AC3E}">
        <p14:creationId xmlns:p14="http://schemas.microsoft.com/office/powerpoint/2010/main" val="261601424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baseline="0" dirty="0"/>
              <a:t>narrow down the scope</a:t>
            </a:r>
          </a:p>
          <a:p>
            <a:r>
              <a:rPr lang="en-US" baseline="0" dirty="0"/>
              <a:t>big data analytics -&gt; </a:t>
            </a:r>
            <a:r>
              <a:rPr lang="en-US" baseline="0" dirty="0" err="1"/>
              <a:t>sql</a:t>
            </a:r>
            <a:r>
              <a:rPr lang="en-US" baseline="0" dirty="0"/>
              <a:t>-like</a:t>
            </a:r>
          </a:p>
          <a:p>
            <a:r>
              <a:rPr lang="en-US" baseline="0" dirty="0"/>
              <a:t>big data -&gt; 2-dimensional table in relational </a:t>
            </a:r>
            <a:r>
              <a:rPr lang="en-US" baseline="0" dirty="0" err="1"/>
              <a:t>db</a:t>
            </a:r>
            <a:r>
              <a:rPr lang="en-US" baseline="0" dirty="0"/>
              <a:t> (arbitrary # rows, fixed # columns)</a:t>
            </a:r>
          </a:p>
          <a:p>
            <a:r>
              <a:rPr lang="en-US" baseline="0" dirty="0"/>
              <a:t>the storage end consists of a cluster of servers</a:t>
            </a:r>
          </a:p>
          <a:p>
            <a:r>
              <a:rPr lang="en-US" baseline="0" dirty="0"/>
              <a:t>question -&gt; how should we divide and distribute the data to each server, and how we organize them on each local disk</a:t>
            </a:r>
          </a:p>
          <a:p>
            <a:endParaRPr lang="en-US" baseline="0" dirty="0"/>
          </a:p>
          <a:p>
            <a:r>
              <a:rPr lang="en-US" baseline="0" dirty="0"/>
              <a:t>we call each answer to this question, a table placement method</a:t>
            </a:r>
            <a:endParaRPr lang="en-US" dirty="0"/>
          </a:p>
        </p:txBody>
      </p:sp>
      <p:sp>
        <p:nvSpPr>
          <p:cNvPr id="4" name="灯片编号占位符 3"/>
          <p:cNvSpPr>
            <a:spLocks noGrp="1"/>
          </p:cNvSpPr>
          <p:nvPr>
            <p:ph type="sldNum" sz="quarter" idx="10"/>
          </p:nvPr>
        </p:nvSpPr>
        <p:spPr/>
        <p:txBody>
          <a:bodyPr/>
          <a:lstStyle/>
          <a:p>
            <a:fld id="{8B572A69-8240-42E5-9E76-DBC0E843EAC7}" type="slidenum">
              <a:rPr lang="en-US" smtClean="0"/>
              <a:pPr/>
              <a:t>23</a:t>
            </a:fld>
            <a:endParaRPr lang="en-US" dirty="0"/>
          </a:p>
        </p:txBody>
      </p:sp>
    </p:spTree>
    <p:extLst>
      <p:ext uri="{BB962C8B-B14F-4D97-AF65-F5344CB8AC3E}">
        <p14:creationId xmlns:p14="http://schemas.microsoft.com/office/powerpoint/2010/main" val="144872294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F4F727A-7A01-2D4E-8D38-2F7B31955994}" type="slidenum">
              <a:rPr lang="en-US" smtClean="0"/>
              <a:t>24</a:t>
            </a:fld>
            <a:endParaRPr lang="en-US"/>
          </a:p>
        </p:txBody>
      </p:sp>
    </p:spTree>
    <p:extLst>
      <p:ext uri="{BB962C8B-B14F-4D97-AF65-F5344CB8AC3E}">
        <p14:creationId xmlns:p14="http://schemas.microsoft.com/office/powerpoint/2010/main" val="58330524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Needs hints to take advantage of row-stores,</a:t>
            </a:r>
            <a:r>
              <a:rPr lang="en-US" baseline="0" dirty="0"/>
              <a:t> column stores, and compression. </a:t>
            </a:r>
            <a:endParaRPr lang="en-US" dirty="0"/>
          </a:p>
        </p:txBody>
      </p:sp>
      <p:sp>
        <p:nvSpPr>
          <p:cNvPr id="4" name="Slide Number Placeholder 3"/>
          <p:cNvSpPr>
            <a:spLocks noGrp="1"/>
          </p:cNvSpPr>
          <p:nvPr>
            <p:ph type="sldNum" sz="quarter" idx="10"/>
          </p:nvPr>
        </p:nvSpPr>
        <p:spPr/>
        <p:txBody>
          <a:bodyPr/>
          <a:lstStyle/>
          <a:p>
            <a:fld id="{8B572A69-8240-42E5-9E76-DBC0E843EAC7}" type="slidenum">
              <a:rPr lang="en-US" smtClean="0"/>
              <a:pPr/>
              <a:t>25</a:t>
            </a:fld>
            <a:endParaRPr lang="en-US"/>
          </a:p>
        </p:txBody>
      </p:sp>
    </p:spTree>
    <p:extLst>
      <p:ext uri="{BB962C8B-B14F-4D97-AF65-F5344CB8AC3E}">
        <p14:creationId xmlns:p14="http://schemas.microsoft.com/office/powerpoint/2010/main" val="196974649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Consistent format to</a:t>
            </a:r>
            <a:r>
              <a:rPr lang="en-US" baseline="0" dirty="0"/>
              <a:t> the previous presentations of row-store and column-store </a:t>
            </a:r>
            <a:endParaRPr lang="en-US" dirty="0"/>
          </a:p>
        </p:txBody>
      </p:sp>
      <p:sp>
        <p:nvSpPr>
          <p:cNvPr id="4" name="Slide Number Placeholder 3"/>
          <p:cNvSpPr>
            <a:spLocks noGrp="1"/>
          </p:cNvSpPr>
          <p:nvPr>
            <p:ph type="sldNum" sz="quarter" idx="10"/>
          </p:nvPr>
        </p:nvSpPr>
        <p:spPr/>
        <p:txBody>
          <a:bodyPr/>
          <a:lstStyle/>
          <a:p>
            <a:fld id="{8B572A69-8240-42E5-9E76-DBC0E843EAC7}" type="slidenum">
              <a:rPr lang="en-US" smtClean="0"/>
              <a:pPr/>
              <a:t>26</a:t>
            </a:fld>
            <a:endParaRPr lang="en-US" dirty="0"/>
          </a:p>
        </p:txBody>
      </p:sp>
    </p:spTree>
    <p:extLst>
      <p:ext uri="{BB962C8B-B14F-4D97-AF65-F5344CB8AC3E}">
        <p14:creationId xmlns:p14="http://schemas.microsoft.com/office/powerpoint/2010/main" val="326318897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So far it looks</a:t>
            </a:r>
            <a:r>
              <a:rPr lang="en-US" baseline="0" dirty="0"/>
              <a:t> as same as the row-store</a:t>
            </a:r>
          </a:p>
          <a:p>
            <a:r>
              <a:rPr lang="en-US" baseline="0" dirty="0"/>
              <a:t>Now I will show you the difference</a:t>
            </a:r>
            <a:endParaRPr lang="en-US" dirty="0"/>
          </a:p>
        </p:txBody>
      </p:sp>
      <p:sp>
        <p:nvSpPr>
          <p:cNvPr id="4" name="Slide Number Placeholder 3"/>
          <p:cNvSpPr>
            <a:spLocks noGrp="1"/>
          </p:cNvSpPr>
          <p:nvPr>
            <p:ph type="sldNum" sz="quarter" idx="10"/>
          </p:nvPr>
        </p:nvSpPr>
        <p:spPr/>
        <p:txBody>
          <a:bodyPr/>
          <a:lstStyle/>
          <a:p>
            <a:fld id="{8B572A69-8240-42E5-9E76-DBC0E843EAC7}" type="slidenum">
              <a:rPr lang="en-US" smtClean="0"/>
              <a:pPr/>
              <a:t>27</a:t>
            </a:fld>
            <a:endParaRPr lang="en-US"/>
          </a:p>
        </p:txBody>
      </p:sp>
    </p:spTree>
    <p:extLst>
      <p:ext uri="{BB962C8B-B14F-4D97-AF65-F5344CB8AC3E}">
        <p14:creationId xmlns:p14="http://schemas.microsoft.com/office/powerpoint/2010/main" val="298456944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No duplication</a:t>
            </a:r>
          </a:p>
        </p:txBody>
      </p:sp>
      <p:sp>
        <p:nvSpPr>
          <p:cNvPr id="4" name="Slide Number Placeholder 3"/>
          <p:cNvSpPr>
            <a:spLocks noGrp="1"/>
          </p:cNvSpPr>
          <p:nvPr>
            <p:ph type="sldNum" sz="quarter" idx="10"/>
          </p:nvPr>
        </p:nvSpPr>
        <p:spPr/>
        <p:txBody>
          <a:bodyPr/>
          <a:lstStyle/>
          <a:p>
            <a:fld id="{8B572A69-8240-42E5-9E76-DBC0E843EAC7}" type="slidenum">
              <a:rPr lang="en-US" smtClean="0"/>
              <a:pPr/>
              <a:t>28</a:t>
            </a:fld>
            <a:endParaRPr lang="en-US"/>
          </a:p>
        </p:txBody>
      </p:sp>
    </p:spTree>
    <p:extLst>
      <p:ext uri="{BB962C8B-B14F-4D97-AF65-F5344CB8AC3E}">
        <p14:creationId xmlns:p14="http://schemas.microsoft.com/office/powerpoint/2010/main" val="332529761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No duplication</a:t>
            </a:r>
          </a:p>
        </p:txBody>
      </p:sp>
      <p:sp>
        <p:nvSpPr>
          <p:cNvPr id="4" name="Slide Number Placeholder 3"/>
          <p:cNvSpPr>
            <a:spLocks noGrp="1"/>
          </p:cNvSpPr>
          <p:nvPr>
            <p:ph type="sldNum" sz="quarter" idx="10"/>
          </p:nvPr>
        </p:nvSpPr>
        <p:spPr/>
        <p:txBody>
          <a:bodyPr/>
          <a:lstStyle/>
          <a:p>
            <a:fld id="{8B572A69-8240-42E5-9E76-DBC0E843EAC7}" type="slidenum">
              <a:rPr lang="en-US" smtClean="0"/>
              <a:pPr/>
              <a:t>29</a:t>
            </a:fld>
            <a:endParaRPr lang="en-US"/>
          </a:p>
        </p:txBody>
      </p:sp>
    </p:spTree>
    <p:extLst>
      <p:ext uri="{BB962C8B-B14F-4D97-AF65-F5344CB8AC3E}">
        <p14:creationId xmlns:p14="http://schemas.microsoft.com/office/powerpoint/2010/main" val="393300844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hlinkClick r:id="rId3"/>
              </a:rPr>
              <a:t>http://www.dbms2.com/2009/05/11/facebook-hadoop-and-hive/</a:t>
            </a:r>
            <a:endParaRPr lang="en-US" dirty="0"/>
          </a:p>
        </p:txBody>
      </p:sp>
      <p:sp>
        <p:nvSpPr>
          <p:cNvPr id="4" name="Slide Number Placeholder 3"/>
          <p:cNvSpPr>
            <a:spLocks noGrp="1"/>
          </p:cNvSpPr>
          <p:nvPr>
            <p:ph type="sldNum" sz="quarter" idx="10"/>
          </p:nvPr>
        </p:nvSpPr>
        <p:spPr/>
        <p:txBody>
          <a:bodyPr/>
          <a:lstStyle/>
          <a:p>
            <a:fld id="{8B572A69-8240-42E5-9E76-DBC0E843EAC7}" type="slidenum">
              <a:rPr lang="en-US" smtClean="0"/>
              <a:pPr/>
              <a:t>30</a:t>
            </a:fld>
            <a:endParaRPr lang="en-US" dirty="0"/>
          </a:p>
        </p:txBody>
      </p:sp>
    </p:spTree>
    <p:extLst>
      <p:ext uri="{BB962C8B-B14F-4D97-AF65-F5344CB8AC3E}">
        <p14:creationId xmlns:p14="http://schemas.microsoft.com/office/powerpoint/2010/main" val="197096299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baseline="0" dirty="0"/>
          </a:p>
        </p:txBody>
      </p:sp>
      <p:sp>
        <p:nvSpPr>
          <p:cNvPr id="4" name="幻灯片编号占位符 3"/>
          <p:cNvSpPr>
            <a:spLocks noGrp="1"/>
          </p:cNvSpPr>
          <p:nvPr>
            <p:ph type="sldNum" sz="quarter" idx="10"/>
          </p:nvPr>
        </p:nvSpPr>
        <p:spPr/>
        <p:txBody>
          <a:bodyPr/>
          <a:lstStyle/>
          <a:p>
            <a:pPr>
              <a:defRPr/>
            </a:pPr>
            <a:fld id="{0B5B9210-A5D6-DF4A-BCF1-E487EA4C0D19}" type="slidenum">
              <a:rPr lang="zh-CN" altLang="en-US" smtClean="0"/>
              <a:pPr>
                <a:defRPr/>
              </a:pPr>
              <a:t>31</a:t>
            </a:fld>
            <a:endParaRPr lang="zh-CN" altLang="en-US"/>
          </a:p>
        </p:txBody>
      </p:sp>
    </p:spTree>
    <p:extLst>
      <p:ext uri="{BB962C8B-B14F-4D97-AF65-F5344CB8AC3E}">
        <p14:creationId xmlns:p14="http://schemas.microsoft.com/office/powerpoint/2010/main" val="194994112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baseline="0" dirty="0"/>
          </a:p>
        </p:txBody>
      </p:sp>
      <p:sp>
        <p:nvSpPr>
          <p:cNvPr id="4" name="幻灯片编号占位符 3"/>
          <p:cNvSpPr>
            <a:spLocks noGrp="1"/>
          </p:cNvSpPr>
          <p:nvPr>
            <p:ph type="sldNum" sz="quarter" idx="10"/>
          </p:nvPr>
        </p:nvSpPr>
        <p:spPr/>
        <p:txBody>
          <a:bodyPr/>
          <a:lstStyle/>
          <a:p>
            <a:pPr>
              <a:defRPr/>
            </a:pPr>
            <a:fld id="{0B5B9210-A5D6-DF4A-BCF1-E487EA4C0D19}" type="slidenum">
              <a:rPr lang="zh-CN" altLang="en-US" smtClean="0"/>
              <a:pPr>
                <a:defRPr/>
              </a:pPr>
              <a:t>32</a:t>
            </a:fld>
            <a:endParaRPr lang="zh-CN" altLang="en-US"/>
          </a:p>
        </p:txBody>
      </p:sp>
    </p:spTree>
    <p:extLst>
      <p:ext uri="{BB962C8B-B14F-4D97-AF65-F5344CB8AC3E}">
        <p14:creationId xmlns:p14="http://schemas.microsoft.com/office/powerpoint/2010/main" val="224845648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baseline="0" dirty="0"/>
          </a:p>
        </p:txBody>
      </p:sp>
      <p:sp>
        <p:nvSpPr>
          <p:cNvPr id="4" name="幻灯片编号占位符 3"/>
          <p:cNvSpPr>
            <a:spLocks noGrp="1"/>
          </p:cNvSpPr>
          <p:nvPr>
            <p:ph type="sldNum" sz="quarter" idx="10"/>
          </p:nvPr>
        </p:nvSpPr>
        <p:spPr/>
        <p:txBody>
          <a:bodyPr/>
          <a:lstStyle/>
          <a:p>
            <a:pPr>
              <a:defRPr/>
            </a:pPr>
            <a:fld id="{0B5B9210-A5D6-DF4A-BCF1-E487EA4C0D19}" type="slidenum">
              <a:rPr lang="zh-CN" altLang="en-US" smtClean="0"/>
              <a:pPr>
                <a:defRPr/>
              </a:pPr>
              <a:t>33</a:t>
            </a:fld>
            <a:endParaRPr lang="zh-CN" altLang="en-US"/>
          </a:p>
        </p:txBody>
      </p:sp>
    </p:spTree>
    <p:extLst>
      <p:ext uri="{BB962C8B-B14F-4D97-AF65-F5344CB8AC3E}">
        <p14:creationId xmlns:p14="http://schemas.microsoft.com/office/powerpoint/2010/main" val="177868898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baseline="0" dirty="0"/>
          </a:p>
        </p:txBody>
      </p:sp>
      <p:sp>
        <p:nvSpPr>
          <p:cNvPr id="4" name="幻灯片编号占位符 3"/>
          <p:cNvSpPr>
            <a:spLocks noGrp="1"/>
          </p:cNvSpPr>
          <p:nvPr>
            <p:ph type="sldNum" sz="quarter" idx="10"/>
          </p:nvPr>
        </p:nvSpPr>
        <p:spPr/>
        <p:txBody>
          <a:bodyPr/>
          <a:lstStyle/>
          <a:p>
            <a:pPr>
              <a:defRPr/>
            </a:pPr>
            <a:fld id="{0B5B9210-A5D6-DF4A-BCF1-E487EA4C0D19}" type="slidenum">
              <a:rPr lang="zh-CN" altLang="en-US" smtClean="0"/>
              <a:pPr>
                <a:defRPr/>
              </a:pPr>
              <a:t>34</a:t>
            </a:fld>
            <a:endParaRPr lang="zh-CN" altLang="en-US"/>
          </a:p>
        </p:txBody>
      </p:sp>
    </p:spTree>
    <p:extLst>
      <p:ext uri="{BB962C8B-B14F-4D97-AF65-F5344CB8AC3E}">
        <p14:creationId xmlns:p14="http://schemas.microsoft.com/office/powerpoint/2010/main" val="168836938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baseline="0" dirty="0"/>
          </a:p>
        </p:txBody>
      </p:sp>
      <p:sp>
        <p:nvSpPr>
          <p:cNvPr id="4" name="幻灯片编号占位符 3"/>
          <p:cNvSpPr>
            <a:spLocks noGrp="1"/>
          </p:cNvSpPr>
          <p:nvPr>
            <p:ph type="sldNum" sz="quarter" idx="10"/>
          </p:nvPr>
        </p:nvSpPr>
        <p:spPr/>
        <p:txBody>
          <a:bodyPr/>
          <a:lstStyle/>
          <a:p>
            <a:pPr>
              <a:defRPr/>
            </a:pPr>
            <a:fld id="{0B5B9210-A5D6-DF4A-BCF1-E487EA4C0D19}" type="slidenum">
              <a:rPr lang="zh-CN" altLang="en-US" smtClean="0"/>
              <a:pPr>
                <a:defRPr/>
              </a:pPr>
              <a:t>35</a:t>
            </a:fld>
            <a:endParaRPr lang="zh-CN" altLang="en-US"/>
          </a:p>
        </p:txBody>
      </p:sp>
    </p:spTree>
    <p:extLst>
      <p:ext uri="{BB962C8B-B14F-4D97-AF65-F5344CB8AC3E}">
        <p14:creationId xmlns:p14="http://schemas.microsoft.com/office/powerpoint/2010/main" val="185301340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baseline="0" dirty="0"/>
          </a:p>
        </p:txBody>
      </p:sp>
      <p:sp>
        <p:nvSpPr>
          <p:cNvPr id="4" name="幻灯片编号占位符 3"/>
          <p:cNvSpPr>
            <a:spLocks noGrp="1"/>
          </p:cNvSpPr>
          <p:nvPr>
            <p:ph type="sldNum" sz="quarter" idx="10"/>
          </p:nvPr>
        </p:nvSpPr>
        <p:spPr/>
        <p:txBody>
          <a:bodyPr/>
          <a:lstStyle/>
          <a:p>
            <a:pPr>
              <a:defRPr/>
            </a:pPr>
            <a:fld id="{0B5B9210-A5D6-DF4A-BCF1-E487EA4C0D19}" type="slidenum">
              <a:rPr lang="zh-CN" altLang="en-US" smtClean="0"/>
              <a:pPr>
                <a:defRPr/>
              </a:pPr>
              <a:t>36</a:t>
            </a:fld>
            <a:endParaRPr lang="zh-CN" altLang="en-US"/>
          </a:p>
        </p:txBody>
      </p:sp>
    </p:spTree>
    <p:extLst>
      <p:ext uri="{BB962C8B-B14F-4D97-AF65-F5344CB8AC3E}">
        <p14:creationId xmlns:p14="http://schemas.microsoft.com/office/powerpoint/2010/main" val="350088782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baseline="0" dirty="0"/>
          </a:p>
        </p:txBody>
      </p:sp>
      <p:sp>
        <p:nvSpPr>
          <p:cNvPr id="4" name="幻灯片编号占位符 3"/>
          <p:cNvSpPr>
            <a:spLocks noGrp="1"/>
          </p:cNvSpPr>
          <p:nvPr>
            <p:ph type="sldNum" sz="quarter" idx="10"/>
          </p:nvPr>
        </p:nvSpPr>
        <p:spPr/>
        <p:txBody>
          <a:bodyPr/>
          <a:lstStyle/>
          <a:p>
            <a:pPr>
              <a:defRPr/>
            </a:pPr>
            <a:fld id="{0B5B9210-A5D6-DF4A-BCF1-E487EA4C0D19}" type="slidenum">
              <a:rPr lang="zh-CN" altLang="en-US" smtClean="0"/>
              <a:pPr>
                <a:defRPr/>
              </a:pPr>
              <a:t>37</a:t>
            </a:fld>
            <a:endParaRPr lang="zh-CN" altLang="en-US"/>
          </a:p>
        </p:txBody>
      </p:sp>
    </p:spTree>
    <p:extLst>
      <p:ext uri="{BB962C8B-B14F-4D97-AF65-F5344CB8AC3E}">
        <p14:creationId xmlns:p14="http://schemas.microsoft.com/office/powerpoint/2010/main" val="210162624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baseline="0" dirty="0"/>
          </a:p>
        </p:txBody>
      </p:sp>
      <p:sp>
        <p:nvSpPr>
          <p:cNvPr id="4" name="幻灯片编号占位符 3"/>
          <p:cNvSpPr>
            <a:spLocks noGrp="1"/>
          </p:cNvSpPr>
          <p:nvPr>
            <p:ph type="sldNum" sz="quarter" idx="10"/>
          </p:nvPr>
        </p:nvSpPr>
        <p:spPr/>
        <p:txBody>
          <a:bodyPr/>
          <a:lstStyle/>
          <a:p>
            <a:pPr>
              <a:defRPr/>
            </a:pPr>
            <a:fld id="{0B5B9210-A5D6-DF4A-BCF1-E487EA4C0D19}" type="slidenum">
              <a:rPr lang="zh-CN" altLang="en-US" smtClean="0"/>
              <a:pPr>
                <a:defRPr/>
              </a:pPr>
              <a:t>38</a:t>
            </a:fld>
            <a:endParaRPr lang="zh-CN" altLang="en-US"/>
          </a:p>
        </p:txBody>
      </p:sp>
    </p:spTree>
    <p:extLst>
      <p:ext uri="{BB962C8B-B14F-4D97-AF65-F5344CB8AC3E}">
        <p14:creationId xmlns:p14="http://schemas.microsoft.com/office/powerpoint/2010/main" val="228604100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baseline="0" dirty="0"/>
          </a:p>
        </p:txBody>
      </p:sp>
      <p:sp>
        <p:nvSpPr>
          <p:cNvPr id="4" name="幻灯片编号占位符 3"/>
          <p:cNvSpPr>
            <a:spLocks noGrp="1"/>
          </p:cNvSpPr>
          <p:nvPr>
            <p:ph type="sldNum" sz="quarter" idx="10"/>
          </p:nvPr>
        </p:nvSpPr>
        <p:spPr/>
        <p:txBody>
          <a:bodyPr/>
          <a:lstStyle/>
          <a:p>
            <a:pPr>
              <a:defRPr/>
            </a:pPr>
            <a:fld id="{0B5B9210-A5D6-DF4A-BCF1-E487EA4C0D19}" type="slidenum">
              <a:rPr lang="zh-CN" altLang="en-US" smtClean="0"/>
              <a:pPr>
                <a:defRPr/>
              </a:pPr>
              <a:t>39</a:t>
            </a:fld>
            <a:endParaRPr lang="zh-CN" altLang="en-US"/>
          </a:p>
        </p:txBody>
      </p:sp>
    </p:spTree>
    <p:extLst>
      <p:ext uri="{BB962C8B-B14F-4D97-AF65-F5344CB8AC3E}">
        <p14:creationId xmlns:p14="http://schemas.microsoft.com/office/powerpoint/2010/main" val="9246213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baseline="0" dirty="0"/>
          </a:p>
        </p:txBody>
      </p:sp>
      <p:sp>
        <p:nvSpPr>
          <p:cNvPr id="4" name="幻灯片编号占位符 3"/>
          <p:cNvSpPr>
            <a:spLocks noGrp="1"/>
          </p:cNvSpPr>
          <p:nvPr>
            <p:ph type="sldNum" sz="quarter" idx="10"/>
          </p:nvPr>
        </p:nvSpPr>
        <p:spPr/>
        <p:txBody>
          <a:bodyPr/>
          <a:lstStyle/>
          <a:p>
            <a:pPr>
              <a:defRPr/>
            </a:pPr>
            <a:fld id="{0B5B9210-A5D6-DF4A-BCF1-E487EA4C0D19}" type="slidenum">
              <a:rPr lang="zh-CN" altLang="en-US" smtClean="0"/>
              <a:pPr>
                <a:defRPr/>
              </a:pPr>
              <a:t>40</a:t>
            </a:fld>
            <a:endParaRPr lang="zh-CN" altLang="en-US"/>
          </a:p>
        </p:txBody>
      </p:sp>
    </p:spTree>
    <p:extLst>
      <p:ext uri="{BB962C8B-B14F-4D97-AF65-F5344CB8AC3E}">
        <p14:creationId xmlns:p14="http://schemas.microsoft.com/office/powerpoint/2010/main" val="68173202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baseline="0" dirty="0"/>
          </a:p>
        </p:txBody>
      </p:sp>
      <p:sp>
        <p:nvSpPr>
          <p:cNvPr id="4" name="幻灯片编号占位符 3"/>
          <p:cNvSpPr>
            <a:spLocks noGrp="1"/>
          </p:cNvSpPr>
          <p:nvPr>
            <p:ph type="sldNum" sz="quarter" idx="10"/>
          </p:nvPr>
        </p:nvSpPr>
        <p:spPr/>
        <p:txBody>
          <a:bodyPr/>
          <a:lstStyle/>
          <a:p>
            <a:pPr>
              <a:defRPr/>
            </a:pPr>
            <a:fld id="{0B5B9210-A5D6-DF4A-BCF1-E487EA4C0D19}" type="slidenum">
              <a:rPr lang="zh-CN" altLang="en-US" smtClean="0"/>
              <a:pPr>
                <a:defRPr/>
              </a:pPr>
              <a:t>41</a:t>
            </a:fld>
            <a:endParaRPr lang="zh-CN" altLang="en-US"/>
          </a:p>
        </p:txBody>
      </p:sp>
    </p:spTree>
    <p:extLst>
      <p:ext uri="{BB962C8B-B14F-4D97-AF65-F5344CB8AC3E}">
        <p14:creationId xmlns:p14="http://schemas.microsoft.com/office/powerpoint/2010/main" val="61777007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baseline="0" dirty="0"/>
          </a:p>
        </p:txBody>
      </p:sp>
      <p:sp>
        <p:nvSpPr>
          <p:cNvPr id="4" name="幻灯片编号占位符 3"/>
          <p:cNvSpPr>
            <a:spLocks noGrp="1"/>
          </p:cNvSpPr>
          <p:nvPr>
            <p:ph type="sldNum" sz="quarter" idx="10"/>
          </p:nvPr>
        </p:nvSpPr>
        <p:spPr/>
        <p:txBody>
          <a:bodyPr/>
          <a:lstStyle/>
          <a:p>
            <a:pPr>
              <a:defRPr/>
            </a:pPr>
            <a:fld id="{0B5B9210-A5D6-DF4A-BCF1-E487EA4C0D19}" type="slidenum">
              <a:rPr lang="zh-CN" altLang="en-US" smtClean="0"/>
              <a:pPr>
                <a:defRPr/>
              </a:pPr>
              <a:t>42</a:t>
            </a:fld>
            <a:endParaRPr lang="zh-CN" altLang="en-US"/>
          </a:p>
        </p:txBody>
      </p:sp>
    </p:spTree>
    <p:extLst>
      <p:ext uri="{BB962C8B-B14F-4D97-AF65-F5344CB8AC3E}">
        <p14:creationId xmlns:p14="http://schemas.microsoft.com/office/powerpoint/2010/main" val="198023547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baseline="0" dirty="0"/>
          </a:p>
        </p:txBody>
      </p:sp>
      <p:sp>
        <p:nvSpPr>
          <p:cNvPr id="4" name="幻灯片编号占位符 3"/>
          <p:cNvSpPr>
            <a:spLocks noGrp="1"/>
          </p:cNvSpPr>
          <p:nvPr>
            <p:ph type="sldNum" sz="quarter" idx="10"/>
          </p:nvPr>
        </p:nvSpPr>
        <p:spPr/>
        <p:txBody>
          <a:bodyPr/>
          <a:lstStyle/>
          <a:p>
            <a:pPr>
              <a:defRPr/>
            </a:pPr>
            <a:fld id="{0B5B9210-A5D6-DF4A-BCF1-E487EA4C0D19}" type="slidenum">
              <a:rPr lang="zh-CN" altLang="en-US" smtClean="0"/>
              <a:pPr>
                <a:defRPr/>
              </a:pPr>
              <a:t>43</a:t>
            </a:fld>
            <a:endParaRPr lang="zh-CN" altLang="en-US"/>
          </a:p>
        </p:txBody>
      </p:sp>
    </p:spTree>
    <p:extLst>
      <p:ext uri="{BB962C8B-B14F-4D97-AF65-F5344CB8AC3E}">
        <p14:creationId xmlns:p14="http://schemas.microsoft.com/office/powerpoint/2010/main" val="335230869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baseline="0" dirty="0"/>
          </a:p>
        </p:txBody>
      </p:sp>
      <p:sp>
        <p:nvSpPr>
          <p:cNvPr id="4" name="幻灯片编号占位符 3"/>
          <p:cNvSpPr>
            <a:spLocks noGrp="1"/>
          </p:cNvSpPr>
          <p:nvPr>
            <p:ph type="sldNum" sz="quarter" idx="10"/>
          </p:nvPr>
        </p:nvSpPr>
        <p:spPr/>
        <p:txBody>
          <a:bodyPr/>
          <a:lstStyle/>
          <a:p>
            <a:pPr>
              <a:defRPr/>
            </a:pPr>
            <a:fld id="{0B5B9210-A5D6-DF4A-BCF1-E487EA4C0D19}" type="slidenum">
              <a:rPr lang="zh-CN" altLang="en-US" smtClean="0"/>
              <a:pPr>
                <a:defRPr/>
              </a:pPr>
              <a:t>44</a:t>
            </a:fld>
            <a:endParaRPr lang="zh-CN" altLang="en-US"/>
          </a:p>
        </p:txBody>
      </p:sp>
    </p:spTree>
    <p:extLst>
      <p:ext uri="{BB962C8B-B14F-4D97-AF65-F5344CB8AC3E}">
        <p14:creationId xmlns:p14="http://schemas.microsoft.com/office/powerpoint/2010/main" val="90859714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baseline="0" dirty="0"/>
          </a:p>
        </p:txBody>
      </p:sp>
      <p:sp>
        <p:nvSpPr>
          <p:cNvPr id="4" name="幻灯片编号占位符 3"/>
          <p:cNvSpPr>
            <a:spLocks noGrp="1"/>
          </p:cNvSpPr>
          <p:nvPr>
            <p:ph type="sldNum" sz="quarter" idx="10"/>
          </p:nvPr>
        </p:nvSpPr>
        <p:spPr/>
        <p:txBody>
          <a:bodyPr/>
          <a:lstStyle/>
          <a:p>
            <a:pPr>
              <a:defRPr/>
            </a:pPr>
            <a:fld id="{0B5B9210-A5D6-DF4A-BCF1-E487EA4C0D19}" type="slidenum">
              <a:rPr lang="zh-CN" altLang="en-US" smtClean="0"/>
              <a:pPr>
                <a:defRPr/>
              </a:pPr>
              <a:t>45</a:t>
            </a:fld>
            <a:endParaRPr lang="zh-CN" altLang="en-US"/>
          </a:p>
        </p:txBody>
      </p:sp>
    </p:spTree>
    <p:extLst>
      <p:ext uri="{BB962C8B-B14F-4D97-AF65-F5344CB8AC3E}">
        <p14:creationId xmlns:p14="http://schemas.microsoft.com/office/powerpoint/2010/main" val="372598982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baseline="0" dirty="0"/>
          </a:p>
        </p:txBody>
      </p:sp>
      <p:sp>
        <p:nvSpPr>
          <p:cNvPr id="4" name="幻灯片编号占位符 3"/>
          <p:cNvSpPr>
            <a:spLocks noGrp="1"/>
          </p:cNvSpPr>
          <p:nvPr>
            <p:ph type="sldNum" sz="quarter" idx="10"/>
          </p:nvPr>
        </p:nvSpPr>
        <p:spPr/>
        <p:txBody>
          <a:bodyPr/>
          <a:lstStyle/>
          <a:p>
            <a:pPr>
              <a:defRPr/>
            </a:pPr>
            <a:fld id="{0B5B9210-A5D6-DF4A-BCF1-E487EA4C0D19}" type="slidenum">
              <a:rPr lang="zh-CN" altLang="en-US" smtClean="0"/>
              <a:pPr>
                <a:defRPr/>
              </a:pPr>
              <a:t>46</a:t>
            </a:fld>
            <a:endParaRPr lang="zh-CN" altLang="en-US"/>
          </a:p>
        </p:txBody>
      </p:sp>
    </p:spTree>
    <p:extLst>
      <p:ext uri="{BB962C8B-B14F-4D97-AF65-F5344CB8AC3E}">
        <p14:creationId xmlns:p14="http://schemas.microsoft.com/office/powerpoint/2010/main" val="250730958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baseline="0" dirty="0"/>
          </a:p>
        </p:txBody>
      </p:sp>
      <p:sp>
        <p:nvSpPr>
          <p:cNvPr id="4" name="幻灯片编号占位符 3"/>
          <p:cNvSpPr>
            <a:spLocks noGrp="1"/>
          </p:cNvSpPr>
          <p:nvPr>
            <p:ph type="sldNum" sz="quarter" idx="10"/>
          </p:nvPr>
        </p:nvSpPr>
        <p:spPr/>
        <p:txBody>
          <a:bodyPr/>
          <a:lstStyle/>
          <a:p>
            <a:pPr>
              <a:defRPr/>
            </a:pPr>
            <a:fld id="{0B5B9210-A5D6-DF4A-BCF1-E487EA4C0D19}" type="slidenum">
              <a:rPr lang="zh-CN" altLang="en-US" smtClean="0"/>
              <a:pPr>
                <a:defRPr/>
              </a:pPr>
              <a:t>47</a:t>
            </a:fld>
            <a:endParaRPr lang="zh-CN" altLang="en-US"/>
          </a:p>
        </p:txBody>
      </p:sp>
    </p:spTree>
    <p:extLst>
      <p:ext uri="{BB962C8B-B14F-4D97-AF65-F5344CB8AC3E}">
        <p14:creationId xmlns:p14="http://schemas.microsoft.com/office/powerpoint/2010/main" val="25115566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baseline="0" dirty="0"/>
          </a:p>
        </p:txBody>
      </p:sp>
      <p:sp>
        <p:nvSpPr>
          <p:cNvPr id="4" name="幻灯片编号占位符 3"/>
          <p:cNvSpPr>
            <a:spLocks noGrp="1"/>
          </p:cNvSpPr>
          <p:nvPr>
            <p:ph type="sldNum" sz="quarter" idx="10"/>
          </p:nvPr>
        </p:nvSpPr>
        <p:spPr/>
        <p:txBody>
          <a:bodyPr/>
          <a:lstStyle/>
          <a:p>
            <a:pPr>
              <a:defRPr/>
            </a:pPr>
            <a:fld id="{0B5B9210-A5D6-DF4A-BCF1-E487EA4C0D19}" type="slidenum">
              <a:rPr lang="zh-CN" altLang="en-US" smtClean="0"/>
              <a:pPr>
                <a:defRPr/>
              </a:pPr>
              <a:t>48</a:t>
            </a:fld>
            <a:endParaRPr lang="zh-CN" altLang="en-US"/>
          </a:p>
        </p:txBody>
      </p:sp>
    </p:spTree>
    <p:extLst>
      <p:ext uri="{BB962C8B-B14F-4D97-AF65-F5344CB8AC3E}">
        <p14:creationId xmlns:p14="http://schemas.microsoft.com/office/powerpoint/2010/main" val="148833459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baseline="0" dirty="0"/>
          </a:p>
        </p:txBody>
      </p:sp>
      <p:sp>
        <p:nvSpPr>
          <p:cNvPr id="4" name="幻灯片编号占位符 3"/>
          <p:cNvSpPr>
            <a:spLocks noGrp="1"/>
          </p:cNvSpPr>
          <p:nvPr>
            <p:ph type="sldNum" sz="quarter" idx="10"/>
          </p:nvPr>
        </p:nvSpPr>
        <p:spPr/>
        <p:txBody>
          <a:bodyPr/>
          <a:lstStyle/>
          <a:p>
            <a:pPr>
              <a:defRPr/>
            </a:pPr>
            <a:fld id="{0B5B9210-A5D6-DF4A-BCF1-E487EA4C0D19}" type="slidenum">
              <a:rPr lang="zh-CN" altLang="en-US" smtClean="0"/>
              <a:pPr>
                <a:defRPr/>
              </a:pPr>
              <a:t>49</a:t>
            </a:fld>
            <a:endParaRPr lang="zh-CN" altLang="en-US"/>
          </a:p>
        </p:txBody>
      </p:sp>
    </p:spTree>
    <p:extLst>
      <p:ext uri="{BB962C8B-B14F-4D97-AF65-F5344CB8AC3E}">
        <p14:creationId xmlns:p14="http://schemas.microsoft.com/office/powerpoint/2010/main" val="142343796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baseline="0" dirty="0"/>
          </a:p>
        </p:txBody>
      </p:sp>
      <p:sp>
        <p:nvSpPr>
          <p:cNvPr id="4" name="幻灯片编号占位符 3"/>
          <p:cNvSpPr>
            <a:spLocks noGrp="1"/>
          </p:cNvSpPr>
          <p:nvPr>
            <p:ph type="sldNum" sz="quarter" idx="10"/>
          </p:nvPr>
        </p:nvSpPr>
        <p:spPr/>
        <p:txBody>
          <a:bodyPr/>
          <a:lstStyle/>
          <a:p>
            <a:pPr>
              <a:defRPr/>
            </a:pPr>
            <a:fld id="{0B5B9210-A5D6-DF4A-BCF1-E487EA4C0D19}" type="slidenum">
              <a:rPr lang="zh-CN" altLang="en-US" smtClean="0"/>
              <a:pPr>
                <a:defRPr/>
              </a:pPr>
              <a:t>50</a:t>
            </a:fld>
            <a:endParaRPr lang="zh-CN" altLang="en-US"/>
          </a:p>
        </p:txBody>
      </p:sp>
    </p:spTree>
    <p:extLst>
      <p:ext uri="{BB962C8B-B14F-4D97-AF65-F5344CB8AC3E}">
        <p14:creationId xmlns:p14="http://schemas.microsoft.com/office/powerpoint/2010/main" val="309829738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pPr>
              <a:defRPr/>
            </a:pPr>
            <a:fld id="{0B5B9210-A5D6-DF4A-BCF1-E487EA4C0D19}" type="slidenum">
              <a:rPr lang="zh-CN" altLang="en-US" smtClean="0"/>
              <a:pPr>
                <a:defRPr/>
              </a:pPr>
              <a:t>51</a:t>
            </a:fld>
            <a:endParaRPr lang="zh-CN" altLang="en-US"/>
          </a:p>
        </p:txBody>
      </p:sp>
    </p:spTree>
    <p:extLst>
      <p:ext uri="{BB962C8B-B14F-4D97-AF65-F5344CB8AC3E}">
        <p14:creationId xmlns:p14="http://schemas.microsoft.com/office/powerpoint/2010/main" val="355145688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baseline="0" dirty="0"/>
          </a:p>
        </p:txBody>
      </p:sp>
      <p:sp>
        <p:nvSpPr>
          <p:cNvPr id="4" name="幻灯片编号占位符 3"/>
          <p:cNvSpPr>
            <a:spLocks noGrp="1"/>
          </p:cNvSpPr>
          <p:nvPr>
            <p:ph type="sldNum" sz="quarter" idx="10"/>
          </p:nvPr>
        </p:nvSpPr>
        <p:spPr/>
        <p:txBody>
          <a:bodyPr/>
          <a:lstStyle/>
          <a:p>
            <a:pPr>
              <a:defRPr/>
            </a:pPr>
            <a:fld id="{0B5B9210-A5D6-DF4A-BCF1-E487EA4C0D19}" type="slidenum">
              <a:rPr lang="zh-CN" altLang="en-US" smtClean="0"/>
              <a:pPr>
                <a:defRPr/>
              </a:pPr>
              <a:t>52</a:t>
            </a:fld>
            <a:endParaRPr lang="zh-CN" altLang="en-US"/>
          </a:p>
        </p:txBody>
      </p:sp>
    </p:spTree>
    <p:extLst>
      <p:ext uri="{BB962C8B-B14F-4D97-AF65-F5344CB8AC3E}">
        <p14:creationId xmlns:p14="http://schemas.microsoft.com/office/powerpoint/2010/main" val="170780882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baseline="0" dirty="0"/>
          </a:p>
        </p:txBody>
      </p:sp>
      <p:sp>
        <p:nvSpPr>
          <p:cNvPr id="4" name="幻灯片编号占位符 3"/>
          <p:cNvSpPr>
            <a:spLocks noGrp="1"/>
          </p:cNvSpPr>
          <p:nvPr>
            <p:ph type="sldNum" sz="quarter" idx="10"/>
          </p:nvPr>
        </p:nvSpPr>
        <p:spPr/>
        <p:txBody>
          <a:bodyPr/>
          <a:lstStyle/>
          <a:p>
            <a:pPr>
              <a:defRPr/>
            </a:pPr>
            <a:fld id="{0B5B9210-A5D6-DF4A-BCF1-E487EA4C0D19}" type="slidenum">
              <a:rPr lang="zh-CN" altLang="en-US" smtClean="0"/>
              <a:pPr>
                <a:defRPr/>
              </a:pPr>
              <a:t>53</a:t>
            </a:fld>
            <a:endParaRPr lang="zh-CN" altLang="en-US"/>
          </a:p>
        </p:txBody>
      </p:sp>
    </p:spTree>
    <p:extLst>
      <p:ext uri="{BB962C8B-B14F-4D97-AF65-F5344CB8AC3E}">
        <p14:creationId xmlns:p14="http://schemas.microsoft.com/office/powerpoint/2010/main" val="317135476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baseline="0" dirty="0"/>
          </a:p>
        </p:txBody>
      </p:sp>
      <p:sp>
        <p:nvSpPr>
          <p:cNvPr id="4" name="幻灯片编号占位符 3"/>
          <p:cNvSpPr>
            <a:spLocks noGrp="1"/>
          </p:cNvSpPr>
          <p:nvPr>
            <p:ph type="sldNum" sz="quarter" idx="10"/>
          </p:nvPr>
        </p:nvSpPr>
        <p:spPr/>
        <p:txBody>
          <a:bodyPr/>
          <a:lstStyle/>
          <a:p>
            <a:pPr>
              <a:defRPr/>
            </a:pPr>
            <a:fld id="{0B5B9210-A5D6-DF4A-BCF1-E487EA4C0D19}" type="slidenum">
              <a:rPr lang="zh-CN" altLang="en-US" smtClean="0"/>
              <a:pPr>
                <a:defRPr/>
              </a:pPr>
              <a:t>54</a:t>
            </a:fld>
            <a:endParaRPr lang="zh-CN" altLang="en-US"/>
          </a:p>
        </p:txBody>
      </p:sp>
    </p:spTree>
    <p:extLst>
      <p:ext uri="{BB962C8B-B14F-4D97-AF65-F5344CB8AC3E}">
        <p14:creationId xmlns:p14="http://schemas.microsoft.com/office/powerpoint/2010/main" val="21109745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baseline="0" dirty="0"/>
          </a:p>
        </p:txBody>
      </p:sp>
      <p:sp>
        <p:nvSpPr>
          <p:cNvPr id="4" name="幻灯片编号占位符 3"/>
          <p:cNvSpPr>
            <a:spLocks noGrp="1"/>
          </p:cNvSpPr>
          <p:nvPr>
            <p:ph type="sldNum" sz="quarter" idx="10"/>
          </p:nvPr>
        </p:nvSpPr>
        <p:spPr/>
        <p:txBody>
          <a:bodyPr/>
          <a:lstStyle/>
          <a:p>
            <a:pPr>
              <a:defRPr/>
            </a:pPr>
            <a:fld id="{0B5B9210-A5D6-DF4A-BCF1-E487EA4C0D19}" type="slidenum">
              <a:rPr lang="zh-CN" altLang="en-US" smtClean="0"/>
              <a:pPr>
                <a:defRPr/>
              </a:pPr>
              <a:t>55</a:t>
            </a:fld>
            <a:endParaRPr lang="zh-CN" altLang="en-US"/>
          </a:p>
        </p:txBody>
      </p:sp>
    </p:spTree>
    <p:extLst>
      <p:ext uri="{BB962C8B-B14F-4D97-AF65-F5344CB8AC3E}">
        <p14:creationId xmlns:p14="http://schemas.microsoft.com/office/powerpoint/2010/main" val="115441669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baseline="0" dirty="0"/>
          </a:p>
        </p:txBody>
      </p:sp>
      <p:sp>
        <p:nvSpPr>
          <p:cNvPr id="4" name="幻灯片编号占位符 3"/>
          <p:cNvSpPr>
            <a:spLocks noGrp="1"/>
          </p:cNvSpPr>
          <p:nvPr>
            <p:ph type="sldNum" sz="quarter" idx="10"/>
          </p:nvPr>
        </p:nvSpPr>
        <p:spPr/>
        <p:txBody>
          <a:bodyPr/>
          <a:lstStyle/>
          <a:p>
            <a:pPr>
              <a:defRPr/>
            </a:pPr>
            <a:fld id="{0B5B9210-A5D6-DF4A-BCF1-E487EA4C0D19}" type="slidenum">
              <a:rPr lang="zh-CN" altLang="en-US" smtClean="0"/>
              <a:pPr>
                <a:defRPr/>
              </a:pPr>
              <a:t>56</a:t>
            </a:fld>
            <a:endParaRPr lang="zh-CN" altLang="en-US"/>
          </a:p>
        </p:txBody>
      </p:sp>
    </p:spTree>
    <p:extLst>
      <p:ext uri="{BB962C8B-B14F-4D97-AF65-F5344CB8AC3E}">
        <p14:creationId xmlns:p14="http://schemas.microsoft.com/office/powerpoint/2010/main" val="15721779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lvl1pPr>
              <a:defRPr/>
            </a:lvl1pPr>
          </a:lstStyle>
          <a:p>
            <a:pPr>
              <a:defRPr/>
            </a:pPr>
            <a:fld id="{47238CC2-A0DA-0A42-9C3B-B99D8DFE8A35}" type="datetimeFigureOut">
              <a:rPr lang="zh-CN" altLang="en-US" smtClean="0"/>
              <a:pPr>
                <a:defRPr/>
              </a:pPr>
              <a:t>2019/12/10</a:t>
            </a:fld>
            <a:endParaRPr lang="zh-CN" altLang="en-US"/>
          </a:p>
        </p:txBody>
      </p:sp>
      <p:sp>
        <p:nvSpPr>
          <p:cNvPr id="5" name="Footer Placeholder 4"/>
          <p:cNvSpPr>
            <a:spLocks noGrp="1"/>
          </p:cNvSpPr>
          <p:nvPr>
            <p:ph type="ftr" sz="quarter" idx="11"/>
          </p:nvPr>
        </p:nvSpPr>
        <p:spPr/>
        <p:txBody>
          <a:bodyPr/>
          <a:lstStyle>
            <a:lvl1pPr>
              <a:defRPr/>
            </a:lvl1pPr>
          </a:lstStyle>
          <a:p>
            <a:pPr>
              <a:defRPr/>
            </a:pPr>
            <a:endParaRPr lang="zh-CN" altLang="en-US"/>
          </a:p>
        </p:txBody>
      </p:sp>
      <p:sp>
        <p:nvSpPr>
          <p:cNvPr id="6" name="Slide Number Placeholder 5"/>
          <p:cNvSpPr>
            <a:spLocks noGrp="1"/>
          </p:cNvSpPr>
          <p:nvPr>
            <p:ph type="sldNum" sz="quarter" idx="12"/>
          </p:nvPr>
        </p:nvSpPr>
        <p:spPr/>
        <p:txBody>
          <a:bodyPr/>
          <a:lstStyle>
            <a:lvl1pPr>
              <a:defRPr/>
            </a:lvl1pPr>
          </a:lstStyle>
          <a:p>
            <a:pPr>
              <a:defRPr/>
            </a:pPr>
            <a:fld id="{AA21F175-A356-8641-8B8C-2BC1BAE79F14}" type="slidenum">
              <a:rPr lang="zh-CN" altLang="en-US" smtClean="0"/>
              <a:pPr>
                <a:defRPr/>
              </a:pPr>
              <a:t>‹#›</a:t>
            </a:fld>
            <a:endParaRPr lang="zh-CN" altLang="en-US"/>
          </a:p>
        </p:txBody>
      </p:sp>
    </p:spTree>
  </p:cSld>
  <p:clrMapOvr>
    <a:masterClrMapping/>
  </p:clrMapOvr>
  <p:transition spd="med">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lvl1pPr>
              <a:defRPr/>
            </a:lvl1pPr>
          </a:lstStyle>
          <a:p>
            <a:pPr>
              <a:defRPr/>
            </a:pPr>
            <a:fld id="{34D12BB8-9261-4D4B-98FD-C0F0AA2E9A14}" type="datetimeFigureOut">
              <a:rPr lang="zh-CN" altLang="en-US" smtClean="0"/>
              <a:pPr>
                <a:defRPr/>
              </a:pPr>
              <a:t>2019/12/10</a:t>
            </a:fld>
            <a:endParaRPr lang="zh-CN" altLang="en-US"/>
          </a:p>
        </p:txBody>
      </p:sp>
      <p:sp>
        <p:nvSpPr>
          <p:cNvPr id="5" name="Footer Placeholder 4"/>
          <p:cNvSpPr>
            <a:spLocks noGrp="1"/>
          </p:cNvSpPr>
          <p:nvPr>
            <p:ph type="ftr" sz="quarter" idx="11"/>
          </p:nvPr>
        </p:nvSpPr>
        <p:spPr/>
        <p:txBody>
          <a:bodyPr/>
          <a:lstStyle>
            <a:lvl1pPr>
              <a:defRPr/>
            </a:lvl1pPr>
          </a:lstStyle>
          <a:p>
            <a:pPr>
              <a:defRPr/>
            </a:pPr>
            <a:endParaRPr lang="zh-CN" altLang="en-US"/>
          </a:p>
        </p:txBody>
      </p:sp>
      <p:sp>
        <p:nvSpPr>
          <p:cNvPr id="6" name="Slide Number Placeholder 5"/>
          <p:cNvSpPr>
            <a:spLocks noGrp="1"/>
          </p:cNvSpPr>
          <p:nvPr>
            <p:ph type="sldNum" sz="quarter" idx="12"/>
          </p:nvPr>
        </p:nvSpPr>
        <p:spPr/>
        <p:txBody>
          <a:bodyPr/>
          <a:lstStyle>
            <a:lvl1pPr>
              <a:defRPr/>
            </a:lvl1pPr>
          </a:lstStyle>
          <a:p>
            <a:pPr>
              <a:defRPr/>
            </a:pPr>
            <a:fld id="{76A8BDDE-DE15-9A4E-B6F5-7D907F811531}" type="slidenum">
              <a:rPr lang="zh-CN" altLang="en-US" smtClean="0"/>
              <a:pPr>
                <a:defRPr/>
              </a:pPr>
              <a:t>‹#›</a:t>
            </a:fld>
            <a:endParaRPr lang="zh-CN" altLang="en-US"/>
          </a:p>
        </p:txBody>
      </p:sp>
    </p:spTree>
  </p:cSld>
  <p:clrMapOvr>
    <a:masterClrMapping/>
  </p:clrMapOvr>
  <p:transition spd="med">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a:defRPr/>
            </a:lvl1pPr>
          </a:lstStyle>
          <a:p>
            <a:pPr>
              <a:defRPr/>
            </a:pPr>
            <a:fld id="{57C6D4EE-D3EF-4F4B-84A5-4EDA7B66ACC6}" type="datetimeFigureOut">
              <a:rPr lang="zh-CN" altLang="en-US" smtClean="0"/>
              <a:pPr>
                <a:defRPr/>
              </a:pPr>
              <a:t>2019/12/10</a:t>
            </a:fld>
            <a:endParaRPr lang="zh-CN" altLang="en-US"/>
          </a:p>
        </p:txBody>
      </p:sp>
      <p:sp>
        <p:nvSpPr>
          <p:cNvPr id="5" name="Footer Placeholder 4"/>
          <p:cNvSpPr>
            <a:spLocks noGrp="1"/>
          </p:cNvSpPr>
          <p:nvPr>
            <p:ph type="ftr" sz="quarter" idx="11"/>
          </p:nvPr>
        </p:nvSpPr>
        <p:spPr/>
        <p:txBody>
          <a:bodyPr/>
          <a:lstStyle>
            <a:lvl1pPr>
              <a:defRPr/>
            </a:lvl1pPr>
          </a:lstStyle>
          <a:p>
            <a:pPr>
              <a:defRPr/>
            </a:pPr>
            <a:endParaRPr lang="zh-CN" altLang="en-US"/>
          </a:p>
        </p:txBody>
      </p:sp>
      <p:sp>
        <p:nvSpPr>
          <p:cNvPr id="6" name="Slide Number Placeholder 5"/>
          <p:cNvSpPr>
            <a:spLocks noGrp="1"/>
          </p:cNvSpPr>
          <p:nvPr>
            <p:ph type="sldNum" sz="quarter" idx="12"/>
          </p:nvPr>
        </p:nvSpPr>
        <p:spPr/>
        <p:txBody>
          <a:bodyPr/>
          <a:lstStyle>
            <a:lvl1pPr>
              <a:defRPr/>
            </a:lvl1pPr>
          </a:lstStyle>
          <a:p>
            <a:pPr>
              <a:defRPr/>
            </a:pPr>
            <a:fld id="{416DD28A-AA70-C249-93DE-44022C331C62}" type="slidenum">
              <a:rPr lang="zh-CN" altLang="en-US" smtClean="0"/>
              <a:pPr>
                <a:defRPr/>
              </a:pPr>
              <a:t>‹#›</a:t>
            </a:fld>
            <a:endParaRPr lang="zh-CN" altLang="en-US"/>
          </a:p>
        </p:txBody>
      </p:sp>
    </p:spTree>
  </p:cSld>
  <p:clrMapOvr>
    <a:masterClrMapping/>
  </p:clrMapOvr>
  <p:transition spd="med">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项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3"/>
          <p:cNvSpPr>
            <a:spLocks noGrp="1"/>
          </p:cNvSpPr>
          <p:nvPr>
            <p:ph type="dt" sz="half" idx="10"/>
          </p:nvPr>
        </p:nvSpPr>
        <p:spPr/>
        <p:txBody>
          <a:bodyPr/>
          <a:lstStyle>
            <a:lvl1pPr>
              <a:defRPr/>
            </a:lvl1pPr>
          </a:lstStyle>
          <a:p>
            <a:pPr>
              <a:defRPr/>
            </a:pPr>
            <a:fld id="{CD34650D-803F-3649-8BE6-A1B7A3B11F99}" type="datetimeFigureOut">
              <a:rPr lang="zh-CN" altLang="en-US" smtClean="0"/>
              <a:pPr>
                <a:defRPr/>
              </a:pPr>
              <a:t>2019/12/10</a:t>
            </a:fld>
            <a:endParaRPr lang="zh-CN" altLang="en-US"/>
          </a:p>
        </p:txBody>
      </p:sp>
      <p:sp>
        <p:nvSpPr>
          <p:cNvPr id="6" name="Footer Placeholder 4"/>
          <p:cNvSpPr>
            <a:spLocks noGrp="1"/>
          </p:cNvSpPr>
          <p:nvPr>
            <p:ph type="ftr" sz="quarter" idx="11"/>
          </p:nvPr>
        </p:nvSpPr>
        <p:spPr/>
        <p:txBody>
          <a:bodyPr/>
          <a:lstStyle>
            <a:lvl1pPr>
              <a:defRPr/>
            </a:lvl1pPr>
          </a:lstStyle>
          <a:p>
            <a:pPr>
              <a:defRPr/>
            </a:pPr>
            <a:endParaRPr lang="zh-CN" altLang="en-US"/>
          </a:p>
        </p:txBody>
      </p:sp>
      <p:sp>
        <p:nvSpPr>
          <p:cNvPr id="7" name="Slide Number Placeholder 5"/>
          <p:cNvSpPr>
            <a:spLocks noGrp="1"/>
          </p:cNvSpPr>
          <p:nvPr>
            <p:ph type="sldNum" sz="quarter" idx="12"/>
          </p:nvPr>
        </p:nvSpPr>
        <p:spPr/>
        <p:txBody>
          <a:bodyPr/>
          <a:lstStyle>
            <a:lvl1pPr>
              <a:defRPr/>
            </a:lvl1pPr>
          </a:lstStyle>
          <a:p>
            <a:pPr>
              <a:defRPr/>
            </a:pPr>
            <a:fld id="{4D38A0D8-B9E1-5F47-ADDF-1F1E8F331A74}" type="slidenum">
              <a:rPr lang="zh-CN" altLang="en-US" smtClean="0"/>
              <a:pPr>
                <a:defRPr/>
              </a:pPr>
              <a:t>‹#›</a:t>
            </a:fld>
            <a:endParaRPr lang="zh-CN" altLang="en-US"/>
          </a:p>
        </p:txBody>
      </p:sp>
    </p:spTree>
  </p:cSld>
  <p:clrMapOvr>
    <a:masterClrMapping/>
  </p:clrMapOvr>
  <p:transition spd="med">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3"/>
          <p:cNvSpPr>
            <a:spLocks noGrp="1"/>
          </p:cNvSpPr>
          <p:nvPr>
            <p:ph type="dt" sz="half" idx="10"/>
          </p:nvPr>
        </p:nvSpPr>
        <p:spPr/>
        <p:txBody>
          <a:bodyPr/>
          <a:lstStyle>
            <a:lvl1pPr>
              <a:defRPr/>
            </a:lvl1pPr>
          </a:lstStyle>
          <a:p>
            <a:pPr>
              <a:defRPr/>
            </a:pPr>
            <a:fld id="{EBC8D43A-8F0F-5D46-A343-06333ADB0560}" type="datetimeFigureOut">
              <a:rPr lang="zh-CN" altLang="en-US" smtClean="0"/>
              <a:pPr>
                <a:defRPr/>
              </a:pPr>
              <a:t>2019/12/10</a:t>
            </a:fld>
            <a:endParaRPr lang="zh-CN" altLang="en-US"/>
          </a:p>
        </p:txBody>
      </p:sp>
      <p:sp>
        <p:nvSpPr>
          <p:cNvPr id="8" name="Footer Placeholder 4"/>
          <p:cNvSpPr>
            <a:spLocks noGrp="1"/>
          </p:cNvSpPr>
          <p:nvPr>
            <p:ph type="ftr" sz="quarter" idx="11"/>
          </p:nvPr>
        </p:nvSpPr>
        <p:spPr/>
        <p:txBody>
          <a:bodyPr/>
          <a:lstStyle>
            <a:lvl1pPr>
              <a:defRPr/>
            </a:lvl1pPr>
          </a:lstStyle>
          <a:p>
            <a:pPr>
              <a:defRPr/>
            </a:pPr>
            <a:endParaRPr lang="zh-CN" altLang="en-US"/>
          </a:p>
        </p:txBody>
      </p:sp>
      <p:sp>
        <p:nvSpPr>
          <p:cNvPr id="9" name="Slide Number Placeholder 5"/>
          <p:cNvSpPr>
            <a:spLocks noGrp="1"/>
          </p:cNvSpPr>
          <p:nvPr>
            <p:ph type="sldNum" sz="quarter" idx="12"/>
          </p:nvPr>
        </p:nvSpPr>
        <p:spPr/>
        <p:txBody>
          <a:bodyPr/>
          <a:lstStyle>
            <a:lvl1pPr>
              <a:defRPr/>
            </a:lvl1pPr>
          </a:lstStyle>
          <a:p>
            <a:pPr>
              <a:defRPr/>
            </a:pPr>
            <a:fld id="{4FC70463-E988-D144-BBEE-FC4623AD6C23}" type="slidenum">
              <a:rPr lang="zh-CN" altLang="en-US" smtClean="0"/>
              <a:pPr>
                <a:defRPr/>
              </a:pPr>
              <a:t>‹#›</a:t>
            </a:fld>
            <a:endParaRPr lang="zh-CN" altLang="en-US"/>
          </a:p>
        </p:txBody>
      </p:sp>
    </p:spTree>
  </p:cSld>
  <p:clrMapOvr>
    <a:masterClrMapping/>
  </p:clrMapOvr>
  <p:transition spd="med">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3"/>
          <p:cNvSpPr>
            <a:spLocks noGrp="1"/>
          </p:cNvSpPr>
          <p:nvPr>
            <p:ph type="dt" sz="half" idx="10"/>
          </p:nvPr>
        </p:nvSpPr>
        <p:spPr/>
        <p:txBody>
          <a:bodyPr/>
          <a:lstStyle>
            <a:lvl1pPr>
              <a:defRPr/>
            </a:lvl1pPr>
          </a:lstStyle>
          <a:p>
            <a:pPr>
              <a:defRPr/>
            </a:pPr>
            <a:fld id="{4920C01F-CEF2-EA4C-85CA-CBF3E7F4DD65}" type="datetimeFigureOut">
              <a:rPr lang="zh-CN" altLang="en-US" smtClean="0"/>
              <a:pPr>
                <a:defRPr/>
              </a:pPr>
              <a:t>2019/12/10</a:t>
            </a:fld>
            <a:endParaRPr lang="zh-CN" altLang="en-US"/>
          </a:p>
        </p:txBody>
      </p:sp>
      <p:sp>
        <p:nvSpPr>
          <p:cNvPr id="4" name="Footer Placeholder 4"/>
          <p:cNvSpPr>
            <a:spLocks noGrp="1"/>
          </p:cNvSpPr>
          <p:nvPr>
            <p:ph type="ftr" sz="quarter" idx="11"/>
          </p:nvPr>
        </p:nvSpPr>
        <p:spPr/>
        <p:txBody>
          <a:bodyPr/>
          <a:lstStyle>
            <a:lvl1pPr>
              <a:defRPr/>
            </a:lvl1pPr>
          </a:lstStyle>
          <a:p>
            <a:pPr>
              <a:defRPr/>
            </a:pPr>
            <a:endParaRPr lang="zh-CN" altLang="en-US"/>
          </a:p>
        </p:txBody>
      </p:sp>
      <p:sp>
        <p:nvSpPr>
          <p:cNvPr id="5" name="Slide Number Placeholder 5"/>
          <p:cNvSpPr>
            <a:spLocks noGrp="1"/>
          </p:cNvSpPr>
          <p:nvPr>
            <p:ph type="sldNum" sz="quarter" idx="12"/>
          </p:nvPr>
        </p:nvSpPr>
        <p:spPr/>
        <p:txBody>
          <a:bodyPr/>
          <a:lstStyle>
            <a:lvl1pPr>
              <a:defRPr/>
            </a:lvl1pPr>
          </a:lstStyle>
          <a:p>
            <a:pPr>
              <a:defRPr/>
            </a:pPr>
            <a:fld id="{5795A4DD-1280-BB47-A602-2C4DAB99FF88}" type="slidenum">
              <a:rPr lang="zh-CN" altLang="en-US" smtClean="0"/>
              <a:pPr>
                <a:defRPr/>
              </a:pPr>
              <a:t>‹#›</a:t>
            </a:fld>
            <a:endParaRPr lang="zh-CN" altLang="en-US"/>
          </a:p>
        </p:txBody>
      </p:sp>
    </p:spTree>
  </p:cSld>
  <p:clrMapOvr>
    <a:masterClrMapping/>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17B2A7B1-2167-7F47-9127-07644A71B60F}" type="datetimeFigureOut">
              <a:rPr lang="zh-CN" altLang="en-US" smtClean="0"/>
              <a:pPr>
                <a:defRPr/>
              </a:pPr>
              <a:t>2019/12/10</a:t>
            </a:fld>
            <a:endParaRPr lang="zh-CN" altLang="en-US"/>
          </a:p>
        </p:txBody>
      </p:sp>
      <p:sp>
        <p:nvSpPr>
          <p:cNvPr id="3" name="Footer Placeholder 4"/>
          <p:cNvSpPr>
            <a:spLocks noGrp="1"/>
          </p:cNvSpPr>
          <p:nvPr>
            <p:ph type="ftr" sz="quarter" idx="11"/>
          </p:nvPr>
        </p:nvSpPr>
        <p:spPr/>
        <p:txBody>
          <a:bodyPr/>
          <a:lstStyle>
            <a:lvl1pPr>
              <a:defRPr/>
            </a:lvl1pPr>
          </a:lstStyle>
          <a:p>
            <a:pPr>
              <a:defRPr/>
            </a:pPr>
            <a:endParaRPr lang="zh-CN" altLang="en-US"/>
          </a:p>
        </p:txBody>
      </p:sp>
      <p:sp>
        <p:nvSpPr>
          <p:cNvPr id="4" name="Slide Number Placeholder 5"/>
          <p:cNvSpPr>
            <a:spLocks noGrp="1"/>
          </p:cNvSpPr>
          <p:nvPr>
            <p:ph type="sldNum" sz="quarter" idx="12"/>
          </p:nvPr>
        </p:nvSpPr>
        <p:spPr/>
        <p:txBody>
          <a:bodyPr/>
          <a:lstStyle>
            <a:lvl1pPr>
              <a:defRPr/>
            </a:lvl1pPr>
          </a:lstStyle>
          <a:p>
            <a:pPr>
              <a:defRPr/>
            </a:pPr>
            <a:fld id="{7AE65D7B-B108-694B-A9F0-6F3476ECBDBF}" type="slidenum">
              <a:rPr lang="zh-CN" altLang="en-US" smtClean="0"/>
              <a:pPr>
                <a:defRPr/>
              </a:pPr>
              <a:t>‹#›</a:t>
            </a:fld>
            <a:endParaRPr lang="zh-CN" altLang="en-US"/>
          </a:p>
        </p:txBody>
      </p:sp>
    </p:spTree>
  </p:cSld>
  <p:clrMapOvr>
    <a:masterClrMapping/>
  </p:clrMapOvr>
  <p:transition spd="med">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3"/>
          <p:cNvSpPr>
            <a:spLocks noGrp="1"/>
          </p:cNvSpPr>
          <p:nvPr>
            <p:ph type="dt" sz="half" idx="10"/>
          </p:nvPr>
        </p:nvSpPr>
        <p:spPr/>
        <p:txBody>
          <a:bodyPr/>
          <a:lstStyle>
            <a:lvl1pPr>
              <a:defRPr/>
            </a:lvl1pPr>
          </a:lstStyle>
          <a:p>
            <a:pPr>
              <a:defRPr/>
            </a:pPr>
            <a:fld id="{246C0D54-D0A2-8647-BDAD-39E60643A4AA}" type="datetimeFigureOut">
              <a:rPr lang="zh-CN" altLang="en-US" smtClean="0"/>
              <a:pPr>
                <a:defRPr/>
              </a:pPr>
              <a:t>2019/12/10</a:t>
            </a:fld>
            <a:endParaRPr lang="zh-CN" altLang="en-US"/>
          </a:p>
        </p:txBody>
      </p:sp>
      <p:sp>
        <p:nvSpPr>
          <p:cNvPr id="6" name="Footer Placeholder 4"/>
          <p:cNvSpPr>
            <a:spLocks noGrp="1"/>
          </p:cNvSpPr>
          <p:nvPr>
            <p:ph type="ftr" sz="quarter" idx="11"/>
          </p:nvPr>
        </p:nvSpPr>
        <p:spPr/>
        <p:txBody>
          <a:bodyPr/>
          <a:lstStyle>
            <a:lvl1pPr>
              <a:defRPr/>
            </a:lvl1pPr>
          </a:lstStyle>
          <a:p>
            <a:pPr>
              <a:defRPr/>
            </a:pPr>
            <a:endParaRPr lang="zh-CN" altLang="en-US"/>
          </a:p>
        </p:txBody>
      </p:sp>
      <p:sp>
        <p:nvSpPr>
          <p:cNvPr id="7" name="Slide Number Placeholder 5"/>
          <p:cNvSpPr>
            <a:spLocks noGrp="1"/>
          </p:cNvSpPr>
          <p:nvPr>
            <p:ph type="sldNum" sz="quarter" idx="12"/>
          </p:nvPr>
        </p:nvSpPr>
        <p:spPr/>
        <p:txBody>
          <a:bodyPr/>
          <a:lstStyle>
            <a:lvl1pPr>
              <a:defRPr/>
            </a:lvl1pPr>
          </a:lstStyle>
          <a:p>
            <a:pPr>
              <a:defRPr/>
            </a:pPr>
            <a:fld id="{5800DE58-F619-754F-BCBC-313BF1478D2F}" type="slidenum">
              <a:rPr lang="zh-CN" altLang="en-US" smtClean="0"/>
              <a:pPr>
                <a:defRPr/>
              </a:pPr>
              <a:t>‹#›</a:t>
            </a:fld>
            <a:endParaRPr lang="zh-CN" altLang="en-US"/>
          </a:p>
        </p:txBody>
      </p:sp>
    </p:spTree>
  </p:cSld>
  <p:clrMapOvr>
    <a:masterClrMapping/>
  </p:clrMapOvr>
  <p:transition spd="med">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将图片拖动到占位符，或单击添加图标</a:t>
            </a:r>
            <a:endParaRPr lang="en-US" noProof="0"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3"/>
          <p:cNvSpPr>
            <a:spLocks noGrp="1"/>
          </p:cNvSpPr>
          <p:nvPr>
            <p:ph type="dt" sz="half" idx="10"/>
          </p:nvPr>
        </p:nvSpPr>
        <p:spPr/>
        <p:txBody>
          <a:bodyPr/>
          <a:lstStyle>
            <a:lvl1pPr>
              <a:defRPr/>
            </a:lvl1pPr>
          </a:lstStyle>
          <a:p>
            <a:pPr>
              <a:defRPr/>
            </a:pPr>
            <a:fld id="{F123163E-B686-3245-B20A-8F7674AE5CAC}" type="datetimeFigureOut">
              <a:rPr lang="zh-CN" altLang="en-US" smtClean="0"/>
              <a:pPr>
                <a:defRPr/>
              </a:pPr>
              <a:t>2019/12/10</a:t>
            </a:fld>
            <a:endParaRPr lang="zh-CN" altLang="en-US"/>
          </a:p>
        </p:txBody>
      </p:sp>
      <p:sp>
        <p:nvSpPr>
          <p:cNvPr id="6" name="Footer Placeholder 4"/>
          <p:cNvSpPr>
            <a:spLocks noGrp="1"/>
          </p:cNvSpPr>
          <p:nvPr>
            <p:ph type="ftr" sz="quarter" idx="11"/>
          </p:nvPr>
        </p:nvSpPr>
        <p:spPr/>
        <p:txBody>
          <a:bodyPr/>
          <a:lstStyle>
            <a:lvl1pPr>
              <a:defRPr/>
            </a:lvl1pPr>
          </a:lstStyle>
          <a:p>
            <a:pPr>
              <a:defRPr/>
            </a:pPr>
            <a:endParaRPr lang="zh-CN" altLang="en-US"/>
          </a:p>
        </p:txBody>
      </p:sp>
      <p:sp>
        <p:nvSpPr>
          <p:cNvPr id="7" name="Slide Number Placeholder 5"/>
          <p:cNvSpPr>
            <a:spLocks noGrp="1"/>
          </p:cNvSpPr>
          <p:nvPr>
            <p:ph type="sldNum" sz="quarter" idx="12"/>
          </p:nvPr>
        </p:nvSpPr>
        <p:spPr/>
        <p:txBody>
          <a:bodyPr/>
          <a:lstStyle>
            <a:lvl1pPr>
              <a:defRPr/>
            </a:lvl1pPr>
          </a:lstStyle>
          <a:p>
            <a:pPr>
              <a:defRPr/>
            </a:pPr>
            <a:fld id="{18D19B7D-6BEB-0641-9251-9FA303027C7A}" type="slidenum">
              <a:rPr lang="zh-CN" altLang="en-US" smtClean="0"/>
              <a:pPr>
                <a:defRPr/>
              </a:pPr>
              <a:t>‹#›</a:t>
            </a:fld>
            <a:endParaRPr lang="zh-CN" altLang="en-US"/>
          </a:p>
        </p:txBody>
      </p:sp>
    </p:spTree>
  </p:cSld>
  <p:clrMapOvr>
    <a:masterClrMapping/>
  </p:clrMapOvr>
  <p:transition spd="med">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lvl1pPr>
              <a:defRPr/>
            </a:lvl1pPr>
          </a:lstStyle>
          <a:p>
            <a:pPr>
              <a:defRPr/>
            </a:pPr>
            <a:fld id="{7D03A3D3-B973-7244-9EC6-9D0618F24062}" type="datetimeFigureOut">
              <a:rPr lang="zh-CN" altLang="en-US" smtClean="0"/>
              <a:pPr>
                <a:defRPr/>
              </a:pPr>
              <a:t>2019/12/10</a:t>
            </a:fld>
            <a:endParaRPr lang="zh-CN" altLang="en-US"/>
          </a:p>
        </p:txBody>
      </p:sp>
      <p:sp>
        <p:nvSpPr>
          <p:cNvPr id="5" name="Footer Placeholder 4"/>
          <p:cNvSpPr>
            <a:spLocks noGrp="1"/>
          </p:cNvSpPr>
          <p:nvPr>
            <p:ph type="ftr" sz="quarter" idx="11"/>
          </p:nvPr>
        </p:nvSpPr>
        <p:spPr/>
        <p:txBody>
          <a:bodyPr/>
          <a:lstStyle>
            <a:lvl1pPr>
              <a:defRPr/>
            </a:lvl1pPr>
          </a:lstStyle>
          <a:p>
            <a:pPr>
              <a:defRPr/>
            </a:pPr>
            <a:endParaRPr lang="zh-CN" altLang="en-US"/>
          </a:p>
        </p:txBody>
      </p:sp>
      <p:sp>
        <p:nvSpPr>
          <p:cNvPr id="6" name="Slide Number Placeholder 5"/>
          <p:cNvSpPr>
            <a:spLocks noGrp="1"/>
          </p:cNvSpPr>
          <p:nvPr>
            <p:ph type="sldNum" sz="quarter" idx="12"/>
          </p:nvPr>
        </p:nvSpPr>
        <p:spPr/>
        <p:txBody>
          <a:bodyPr/>
          <a:lstStyle>
            <a:lvl1pPr>
              <a:defRPr/>
            </a:lvl1pPr>
          </a:lstStyle>
          <a:p>
            <a:pPr>
              <a:defRPr/>
            </a:pPr>
            <a:fld id="{E866548C-ABE1-4B4C-895C-8DD5E5C1168E}" type="slidenum">
              <a:rPr lang="zh-CN" altLang="en-US" smtClean="0"/>
              <a:pPr>
                <a:defRPr/>
              </a:pPr>
              <a:t>‹#›</a:t>
            </a:fld>
            <a:endParaRPr lang="zh-CN" altLang="en-US"/>
          </a:p>
        </p:txBody>
      </p:sp>
    </p:spTree>
  </p:cSld>
  <p:clrMapOvr>
    <a:masterClrMapping/>
  </p:clrMapOvr>
  <p:transition spd="med">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和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lvl1pPr>
              <a:defRPr/>
            </a:lvl1pPr>
          </a:lstStyle>
          <a:p>
            <a:pPr>
              <a:defRPr/>
            </a:pPr>
            <a:fld id="{9F680492-F7A2-E24D-8177-01BCF1312587}" type="datetimeFigureOut">
              <a:rPr lang="zh-CN" altLang="en-US" smtClean="0"/>
              <a:pPr>
                <a:defRPr/>
              </a:pPr>
              <a:t>2019/12/10</a:t>
            </a:fld>
            <a:endParaRPr lang="zh-CN" altLang="en-US"/>
          </a:p>
        </p:txBody>
      </p:sp>
      <p:sp>
        <p:nvSpPr>
          <p:cNvPr id="5" name="Footer Placeholder 4"/>
          <p:cNvSpPr>
            <a:spLocks noGrp="1"/>
          </p:cNvSpPr>
          <p:nvPr>
            <p:ph type="ftr" sz="quarter" idx="11"/>
          </p:nvPr>
        </p:nvSpPr>
        <p:spPr/>
        <p:txBody>
          <a:bodyPr/>
          <a:lstStyle>
            <a:lvl1pPr>
              <a:defRPr/>
            </a:lvl1pPr>
          </a:lstStyle>
          <a:p>
            <a:pPr>
              <a:defRPr/>
            </a:pPr>
            <a:endParaRPr lang="zh-CN" altLang="en-US"/>
          </a:p>
        </p:txBody>
      </p:sp>
      <p:sp>
        <p:nvSpPr>
          <p:cNvPr id="6" name="Slide Number Placeholder 5"/>
          <p:cNvSpPr>
            <a:spLocks noGrp="1"/>
          </p:cNvSpPr>
          <p:nvPr>
            <p:ph type="sldNum" sz="quarter" idx="12"/>
          </p:nvPr>
        </p:nvSpPr>
        <p:spPr/>
        <p:txBody>
          <a:bodyPr/>
          <a:lstStyle>
            <a:lvl1pPr>
              <a:defRPr/>
            </a:lvl1pPr>
          </a:lstStyle>
          <a:p>
            <a:pPr>
              <a:defRPr/>
            </a:pPr>
            <a:fld id="{989F4E41-E0E2-7A41-9508-905906144EC2}" type="slidenum">
              <a:rPr lang="zh-CN" altLang="en-US" smtClean="0"/>
              <a:pPr>
                <a:defRPr/>
              </a:pPr>
              <a:t>‹#›</a:t>
            </a:fld>
            <a:endParaRPr lang="zh-CN" altLang="en-US"/>
          </a:p>
        </p:txBody>
      </p:sp>
    </p:spTree>
  </p:cSld>
  <p:clrMapOvr>
    <a:masterClrMapping/>
  </p:clrMapOvr>
  <p:transition spd="med">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lum/>
          </a:blip>
          <a:srcRect/>
          <a:stretch>
            <a:fillRect/>
          </a:stretch>
        </a:blip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28650" y="365125"/>
            <a:ext cx="78867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1027" name="Text Placeholder 2"/>
          <p:cNvSpPr>
            <a:spLocks noGrp="1"/>
          </p:cNvSpPr>
          <p:nvPr>
            <p:ph type="body" idx="1"/>
          </p:nvPr>
        </p:nvSpPr>
        <p:spPr bwMode="auto">
          <a:xfrm>
            <a:off x="628650" y="1825625"/>
            <a:ext cx="78867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ltLang="zh-CN"/>
          </a:p>
        </p:txBody>
      </p:sp>
      <p:sp>
        <p:nvSpPr>
          <p:cNvPr id="4"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eaLnBrk="1" fontAlgn="auto" hangingPunct="1">
              <a:spcBef>
                <a:spcPts val="0"/>
              </a:spcBef>
              <a:spcAft>
                <a:spcPts val="0"/>
              </a:spcAft>
              <a:defRPr kumimoji="1" sz="1200">
                <a:solidFill>
                  <a:schemeClr val="tx1">
                    <a:tint val="75000"/>
                  </a:schemeClr>
                </a:solidFill>
                <a:latin typeface="+mn-lt"/>
                <a:ea typeface="+mn-ea"/>
              </a:defRPr>
            </a:lvl1pPr>
          </a:lstStyle>
          <a:p>
            <a:pPr>
              <a:defRPr/>
            </a:pPr>
            <a:fld id="{94F0E8F8-0A90-2744-B08D-155929A4155E}" type="datetimeFigureOut">
              <a:rPr lang="zh-CN" altLang="en-US" smtClean="0"/>
              <a:pPr>
                <a:defRPr/>
              </a:pPr>
              <a:t>2019/12/10</a:t>
            </a:fld>
            <a:endParaRPr lang="zh-CN" altLang="en-US"/>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eaLnBrk="1" fontAlgn="auto" hangingPunct="1">
              <a:spcBef>
                <a:spcPts val="0"/>
              </a:spcBef>
              <a:spcAft>
                <a:spcPts val="0"/>
              </a:spcAft>
              <a:defRPr kumimoji="1" sz="1200">
                <a:solidFill>
                  <a:schemeClr val="tx1">
                    <a:tint val="75000"/>
                  </a:schemeClr>
                </a:solidFill>
                <a:latin typeface="+mn-lt"/>
                <a:ea typeface="+mn-ea"/>
              </a:defRPr>
            </a:lvl1pPr>
          </a:lstStyle>
          <a:p>
            <a:pPr>
              <a:defRPr/>
            </a:pPr>
            <a:endParaRPr lang="zh-CN" altLang="en-US"/>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eaLnBrk="1" fontAlgn="auto" hangingPunct="1">
              <a:spcBef>
                <a:spcPts val="0"/>
              </a:spcBef>
              <a:spcAft>
                <a:spcPts val="0"/>
              </a:spcAft>
              <a:defRPr kumimoji="1" sz="1200">
                <a:solidFill>
                  <a:schemeClr val="tx1">
                    <a:tint val="75000"/>
                  </a:schemeClr>
                </a:solidFill>
                <a:latin typeface="+mn-lt"/>
                <a:ea typeface="+mn-ea"/>
              </a:defRPr>
            </a:lvl1pPr>
          </a:lstStyle>
          <a:p>
            <a:pPr>
              <a:defRPr/>
            </a:pPr>
            <a:fld id="{8FB58A7E-3A13-824A-A0CA-841E65082551}" type="slidenum">
              <a:rPr lang="zh-CN" altLang="en-US" smtClean="0"/>
              <a:pPr>
                <a:defRPr/>
              </a:pPr>
              <a:t>‹#›</a:t>
            </a:fld>
            <a:endParaRPr lang="zh-CN" altLang="en-US"/>
          </a:p>
        </p:txBody>
      </p:sp>
    </p:spTree>
    <p:extLst>
      <p:ext uri="{BB962C8B-B14F-4D97-AF65-F5344CB8AC3E}">
        <p14:creationId xmlns:p14="http://schemas.microsoft.com/office/powerpoint/2010/main" val="108010613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ransition spd="med">
    <p:fade/>
  </p:transition>
  <p:txStyles>
    <p:titleStyle>
      <a:lvl1pPr algn="l" rtl="0" eaLnBrk="1" fontAlgn="base" hangingPunct="1">
        <a:lnSpc>
          <a:spcPct val="90000"/>
        </a:lnSpc>
        <a:spcBef>
          <a:spcPct val="0"/>
        </a:spcBef>
        <a:spcAft>
          <a:spcPct val="0"/>
        </a:spcAft>
        <a:defRPr sz="4400" kern="1200">
          <a:solidFill>
            <a:schemeClr val="tx1"/>
          </a:solidFill>
          <a:latin typeface="+mj-lt"/>
          <a:ea typeface="+mj-ea"/>
          <a:cs typeface="+mj-cs"/>
        </a:defRPr>
      </a:lvl1pPr>
      <a:lvl2pPr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2pPr>
      <a:lvl3pPr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3pPr>
      <a:lvl4pPr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4pPr>
      <a:lvl5pPr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5pPr>
      <a:lvl6pPr marL="457200"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6pPr>
      <a:lvl7pPr marL="914400"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7pPr>
      <a:lvl8pPr marL="1371600"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8pPr>
      <a:lvl9pPr marL="1828800"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9pPr>
    </p:titleStyle>
    <p:bodyStyle>
      <a:lvl1pPr marL="228600" indent="-228600" algn="l" rtl="0" eaLnBrk="1" fontAlgn="base" hangingPunct="1">
        <a:lnSpc>
          <a:spcPct val="90000"/>
        </a:lnSpc>
        <a:spcBef>
          <a:spcPts val="1000"/>
        </a:spcBef>
        <a:spcAft>
          <a:spcPct val="0"/>
        </a:spcAft>
        <a:buFont typeface="Arial" charset="0"/>
        <a:buChar char="•"/>
        <a:defRPr sz="2800" kern="1200">
          <a:solidFill>
            <a:schemeClr val="tx1"/>
          </a:solidFill>
          <a:latin typeface="+mn-lt"/>
          <a:ea typeface="+mn-ea"/>
          <a:cs typeface="+mn-cs"/>
        </a:defRPr>
      </a:lvl1pPr>
      <a:lvl2pPr marL="685800" indent="-228600" algn="l" rtl="0" eaLnBrk="1" fontAlgn="base" hangingPunct="1">
        <a:lnSpc>
          <a:spcPct val="90000"/>
        </a:lnSpc>
        <a:spcBef>
          <a:spcPts val="500"/>
        </a:spcBef>
        <a:spcAft>
          <a:spcPct val="0"/>
        </a:spcAft>
        <a:buFont typeface="Arial" charset="0"/>
        <a:buChar char="•"/>
        <a:defRPr sz="2400" kern="120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Font typeface="Arial" charset="0"/>
        <a:buChar char="•"/>
        <a:defRPr sz="20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Font typeface="Arial" charset="0"/>
        <a:buChar char="•"/>
        <a:defRPr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Font typeface="Arial"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7.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80.png"/></Relationships>
</file>

<file path=ppt/slides/_rels/slide3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6.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38.xml.rels><?xml version="1.0" encoding="UTF-8" standalone="yes"?>
<Relationships xmlns="http://schemas.openxmlformats.org/package/2006/relationships"><Relationship Id="rId3" Type="http://schemas.openxmlformats.org/officeDocument/2006/relationships/image" Target="../media/image25.gif"/><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8.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4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1.xml"/><Relationship Id="rId1" Type="http://schemas.openxmlformats.org/officeDocument/2006/relationships/slideLayout" Target="../slideLayouts/slideLayout1.xml"/><Relationship Id="rId4" Type="http://schemas.openxmlformats.org/officeDocument/2006/relationships/slide" Target="slide49.xml"/></Relationships>
</file>

<file path=ppt/slides/_rels/slide4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7.xml"/><Relationship Id="rId1" Type="http://schemas.openxmlformats.org/officeDocument/2006/relationships/slideLayout" Target="../slideLayouts/slideLayout1.xml"/><Relationship Id="rId4" Type="http://schemas.openxmlformats.org/officeDocument/2006/relationships/image" Target="../media/image37.png"/></Relationships>
</file>

<file path=ppt/slides/_rels/slide49.xml.rels><?xml version="1.0" encoding="UTF-8" standalone="yes"?>
<Relationships xmlns="http://schemas.openxmlformats.org/package/2006/relationships"><Relationship Id="rId3" Type="http://schemas.openxmlformats.org/officeDocument/2006/relationships/slide" Target="slide23.xml"/><Relationship Id="rId2" Type="http://schemas.openxmlformats.org/officeDocument/2006/relationships/notesSlide" Target="../notesSlides/notesSlide48.xml"/><Relationship Id="rId1" Type="http://schemas.openxmlformats.org/officeDocument/2006/relationships/slideLayout" Target="../slideLayouts/slideLayout1.xml"/><Relationship Id="rId4" Type="http://schemas.openxmlformats.org/officeDocument/2006/relationships/slide" Target="slide42.xml"/></Relationships>
</file>

<file path=ppt/slides/_rels/slide5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53.xml"/><Relationship Id="rId1" Type="http://schemas.openxmlformats.org/officeDocument/2006/relationships/slideLayout" Target="../slideLayouts/slideLayout1.xml"/><Relationship Id="rId5" Type="http://schemas.openxmlformats.org/officeDocument/2006/relationships/image" Target="../media/image43.png"/><Relationship Id="rId4" Type="http://schemas.openxmlformats.org/officeDocument/2006/relationships/image" Target="../media/image42.png"/></Relationships>
</file>

<file path=ppt/slides/_rels/slide5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54.xml"/><Relationship Id="rId1" Type="http://schemas.openxmlformats.org/officeDocument/2006/relationships/slideLayout" Target="../slideLayouts/slideLayout1.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5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55.xml"/><Relationship Id="rId1" Type="http://schemas.openxmlformats.org/officeDocument/2006/relationships/slideLayout" Target="../slideLayouts/slideLayout1.xml"/><Relationship Id="rId4" Type="http://schemas.openxmlformats.org/officeDocument/2006/relationships/image" Target="../media/image49.png"/></Relationships>
</file>

<file path=ppt/slides/_rels/slide57.xml.rels><?xml version="1.0" encoding="UTF-8" standalone="yes"?>
<Relationships xmlns="http://schemas.openxmlformats.org/package/2006/relationships"><Relationship Id="rId3" Type="http://schemas.openxmlformats.org/officeDocument/2006/relationships/hyperlink" Target="https://hadoop.apache.org/docs/stable/hadoop-project-dist/hadoop-hdfs/HdfsDesign.html" TargetMode="External"/><Relationship Id="rId2" Type="http://schemas.openxmlformats.org/officeDocument/2006/relationships/hyperlink" Target="https://bg.qianzhan.com/report/detail/1911111127214509.html" TargetMode="Externa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3">
            <a:lum/>
          </a:blip>
          <a:srcRect/>
          <a:stretch>
            <a:fillRect/>
          </a:stretch>
        </a:blipFill>
        <a:effectLst/>
      </p:bgPr>
    </p:bg>
    <p:spTree>
      <p:nvGrpSpPr>
        <p:cNvPr id="1" name=""/>
        <p:cNvGrpSpPr/>
        <p:nvPr/>
      </p:nvGrpSpPr>
      <p:grpSpPr>
        <a:xfrm>
          <a:off x="0" y="0"/>
          <a:ext cx="0" cy="0"/>
          <a:chOff x="0" y="0"/>
          <a:chExt cx="0" cy="0"/>
        </a:xfrm>
      </p:grpSpPr>
      <p:sp>
        <p:nvSpPr>
          <p:cNvPr id="15362" name="文本框 1"/>
          <p:cNvSpPr txBox="1">
            <a:spLocks noChangeArrowheads="1"/>
          </p:cNvSpPr>
          <p:nvPr/>
        </p:nvSpPr>
        <p:spPr bwMode="auto">
          <a:xfrm>
            <a:off x="-7464425" y="4954588"/>
            <a:ext cx="1857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charset="0"/>
              <a:buChar char="•"/>
              <a:defRPr sz="2800">
                <a:solidFill>
                  <a:schemeClr val="tx1"/>
                </a:solidFill>
                <a:latin typeface="Calibri" charset="0"/>
                <a:ea typeface="宋体" charset="0"/>
              </a:defRPr>
            </a:lvl1pPr>
            <a:lvl2pPr marL="742950" indent="-285750">
              <a:lnSpc>
                <a:spcPct val="90000"/>
              </a:lnSpc>
              <a:spcBef>
                <a:spcPts val="500"/>
              </a:spcBef>
              <a:buFont typeface="Arial" charset="0"/>
              <a:buChar char="•"/>
              <a:defRPr sz="2400">
                <a:solidFill>
                  <a:schemeClr val="tx1"/>
                </a:solidFill>
                <a:latin typeface="Calibri" charset="0"/>
                <a:ea typeface="宋体" charset="0"/>
              </a:defRPr>
            </a:lvl2pPr>
            <a:lvl3pPr marL="1143000" indent="-228600">
              <a:lnSpc>
                <a:spcPct val="90000"/>
              </a:lnSpc>
              <a:spcBef>
                <a:spcPts val="500"/>
              </a:spcBef>
              <a:buFont typeface="Arial" charset="0"/>
              <a:buChar char="•"/>
              <a:defRPr sz="2000">
                <a:solidFill>
                  <a:schemeClr val="tx1"/>
                </a:solidFill>
                <a:latin typeface="Calibri" charset="0"/>
                <a:ea typeface="宋体" charset="0"/>
              </a:defRPr>
            </a:lvl3pPr>
            <a:lvl4pPr marL="1600200" indent="-228600">
              <a:lnSpc>
                <a:spcPct val="90000"/>
              </a:lnSpc>
              <a:spcBef>
                <a:spcPts val="500"/>
              </a:spcBef>
              <a:buFont typeface="Arial" charset="0"/>
              <a:buChar char="•"/>
              <a:defRPr>
                <a:solidFill>
                  <a:schemeClr val="tx1"/>
                </a:solidFill>
                <a:latin typeface="Calibri" charset="0"/>
                <a:ea typeface="宋体" charset="0"/>
              </a:defRPr>
            </a:lvl4pPr>
            <a:lvl5pPr marL="2057400" indent="-228600">
              <a:lnSpc>
                <a:spcPct val="90000"/>
              </a:lnSpc>
              <a:spcBef>
                <a:spcPts val="500"/>
              </a:spcBef>
              <a:buFont typeface="Arial" charset="0"/>
              <a:buChar char="•"/>
              <a:defRPr>
                <a:solidFill>
                  <a:schemeClr val="tx1"/>
                </a:solidFill>
                <a:latin typeface="Calibri" charset="0"/>
                <a:ea typeface="宋体" charset="0"/>
              </a:defRPr>
            </a:lvl5pPr>
            <a:lvl6pPr marL="25146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6pPr>
            <a:lvl7pPr marL="29718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7pPr>
            <a:lvl8pPr marL="34290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8pPr>
            <a:lvl9pPr marL="38862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9pPr>
          </a:lstStyle>
          <a:p>
            <a:pPr>
              <a:lnSpc>
                <a:spcPct val="100000"/>
              </a:lnSpc>
              <a:spcBef>
                <a:spcPct val="0"/>
              </a:spcBef>
              <a:buFontTx/>
              <a:buNone/>
            </a:pPr>
            <a:endParaRPr kumimoji="1" lang="zh-CN" altLang="en-US" sz="1800"/>
          </a:p>
        </p:txBody>
      </p:sp>
      <p:sp>
        <p:nvSpPr>
          <p:cNvPr id="2" name="文本框 1"/>
          <p:cNvSpPr txBox="1"/>
          <p:nvPr/>
        </p:nvSpPr>
        <p:spPr>
          <a:xfrm>
            <a:off x="6801492" y="4366517"/>
            <a:ext cx="184731" cy="369332"/>
          </a:xfrm>
          <a:prstGeom prst="rect">
            <a:avLst/>
          </a:prstGeom>
          <a:noFill/>
        </p:spPr>
        <p:txBody>
          <a:bodyPr wrap="none" rtlCol="0">
            <a:spAutoFit/>
          </a:bodyPr>
          <a:lstStyle/>
          <a:p>
            <a:endParaRPr kumimoji="1" lang="zh-CN" altLang="en-US"/>
          </a:p>
        </p:txBody>
      </p:sp>
      <p:sp>
        <p:nvSpPr>
          <p:cNvPr id="3" name="文本框 2"/>
          <p:cNvSpPr txBox="1"/>
          <p:nvPr/>
        </p:nvSpPr>
        <p:spPr>
          <a:xfrm>
            <a:off x="2761453" y="1554975"/>
            <a:ext cx="3647152" cy="882293"/>
          </a:xfrm>
          <a:prstGeom prst="rect">
            <a:avLst/>
          </a:prstGeom>
          <a:noFill/>
        </p:spPr>
        <p:txBody>
          <a:bodyPr wrap="none" rtlCol="0">
            <a:spAutoFit/>
          </a:bodyPr>
          <a:lstStyle/>
          <a:p>
            <a:pPr algn="ctr">
              <a:lnSpc>
                <a:spcPts val="6520"/>
              </a:lnSpc>
              <a:spcBef>
                <a:spcPts val="0"/>
              </a:spcBef>
            </a:pPr>
            <a:r>
              <a:rPr kumimoji="1" lang="zh-CN" altLang="en-US" sz="5400" dirty="0">
                <a:latin typeface="Microsoft YaHei" charset="-122"/>
                <a:ea typeface="Microsoft YaHei" charset="-122"/>
                <a:cs typeface="Microsoft YaHei" charset="-122"/>
              </a:rPr>
              <a:t>大数据存储</a:t>
            </a:r>
            <a:endParaRPr kumimoji="1" lang="en-US" altLang="zh-CN" sz="5400" dirty="0">
              <a:latin typeface="Microsoft YaHei" charset="-122"/>
              <a:ea typeface="Microsoft YaHei" charset="-122"/>
              <a:cs typeface="Microsoft YaHei" charset="-122"/>
            </a:endParaRPr>
          </a:p>
        </p:txBody>
      </p:sp>
      <p:sp>
        <p:nvSpPr>
          <p:cNvPr id="4" name="文本框 3"/>
          <p:cNvSpPr txBox="1"/>
          <p:nvPr/>
        </p:nvSpPr>
        <p:spPr>
          <a:xfrm>
            <a:off x="3219740" y="5219700"/>
            <a:ext cx="2690353" cy="879856"/>
          </a:xfrm>
          <a:prstGeom prst="rect">
            <a:avLst/>
          </a:prstGeom>
          <a:noFill/>
        </p:spPr>
        <p:txBody>
          <a:bodyPr wrap="none" rtlCol="0">
            <a:spAutoFit/>
          </a:bodyPr>
          <a:lstStyle/>
          <a:p>
            <a:pPr algn="ctr">
              <a:lnSpc>
                <a:spcPct val="150000"/>
              </a:lnSpc>
            </a:pPr>
            <a:r>
              <a:rPr kumimoji="1" lang="zh-CN" altLang="en-US" sz="2000" dirty="0">
                <a:latin typeface="Microsoft YaHei" charset="-122"/>
                <a:ea typeface="Microsoft YaHei" charset="-122"/>
                <a:cs typeface="Microsoft YaHei" charset="-122"/>
              </a:rPr>
              <a:t>胡泽瑞</a:t>
            </a:r>
            <a:r>
              <a:rPr kumimoji="1" lang="en-US" altLang="zh-CN" sz="2000" dirty="0">
                <a:latin typeface="Microsoft YaHei" charset="-122"/>
                <a:ea typeface="Microsoft YaHei" charset="-122"/>
                <a:cs typeface="Microsoft YaHei" charset="-122"/>
              </a:rPr>
              <a:t>   2019.</a:t>
            </a:r>
            <a:r>
              <a:rPr kumimoji="1" lang="zh-CN" altLang="en-US" sz="2000" dirty="0">
                <a:latin typeface="Microsoft YaHei" charset="-122"/>
                <a:ea typeface="Microsoft YaHei" charset="-122"/>
                <a:cs typeface="Microsoft YaHei" charset="-122"/>
              </a:rPr>
              <a:t> </a:t>
            </a:r>
            <a:endParaRPr kumimoji="1" lang="en-US" altLang="zh-CN" sz="2000" dirty="0">
              <a:latin typeface="Microsoft YaHei" charset="-122"/>
              <a:ea typeface="Microsoft YaHei" charset="-122"/>
              <a:cs typeface="Microsoft YaHei" charset="-122"/>
            </a:endParaRPr>
          </a:p>
          <a:p>
            <a:pPr algn="ctr">
              <a:lnSpc>
                <a:spcPct val="150000"/>
              </a:lnSpc>
            </a:pPr>
            <a:r>
              <a:rPr kumimoji="1" lang="en-US" altLang="zh-CN" sz="1600" dirty="0">
                <a:latin typeface="Microsoft YaHei" charset="-122"/>
                <a:ea typeface="Microsoft YaHei" charset="-122"/>
                <a:cs typeface="Microsoft YaHei" charset="-122"/>
              </a:rPr>
              <a:t>huzr@nbjl.nankai.edu.cn</a:t>
            </a:r>
            <a:endParaRPr kumimoji="1" lang="zh-CN" altLang="en-US" sz="1600" dirty="0">
              <a:latin typeface="Microsoft YaHei" charset="-122"/>
              <a:ea typeface="Microsoft YaHei" charset="-122"/>
              <a:cs typeface="Microsoft YaHei" charset="-122"/>
            </a:endParaRPr>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0">
          <a:blip r:embed="rId3">
            <a:lum/>
          </a:blip>
          <a:srcRect/>
          <a:stretch>
            <a:fillRect/>
          </a:stretch>
        </a:blipFill>
        <a:effectLst/>
      </p:bgPr>
    </p:bg>
    <p:spTree>
      <p:nvGrpSpPr>
        <p:cNvPr id="1" name=""/>
        <p:cNvGrpSpPr/>
        <p:nvPr/>
      </p:nvGrpSpPr>
      <p:grpSpPr>
        <a:xfrm>
          <a:off x="0" y="0"/>
          <a:ext cx="0" cy="0"/>
          <a:chOff x="0" y="0"/>
          <a:chExt cx="0" cy="0"/>
        </a:xfrm>
      </p:grpSpPr>
      <p:sp>
        <p:nvSpPr>
          <p:cNvPr id="15362" name="文本框 1"/>
          <p:cNvSpPr txBox="1">
            <a:spLocks noChangeArrowheads="1"/>
          </p:cNvSpPr>
          <p:nvPr/>
        </p:nvSpPr>
        <p:spPr bwMode="auto">
          <a:xfrm>
            <a:off x="-7464425" y="4954588"/>
            <a:ext cx="1857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charset="0"/>
              <a:buChar char="•"/>
              <a:defRPr sz="2800">
                <a:solidFill>
                  <a:schemeClr val="tx1"/>
                </a:solidFill>
                <a:latin typeface="Calibri" charset="0"/>
                <a:ea typeface="宋体" charset="0"/>
              </a:defRPr>
            </a:lvl1pPr>
            <a:lvl2pPr marL="742950" indent="-285750">
              <a:lnSpc>
                <a:spcPct val="90000"/>
              </a:lnSpc>
              <a:spcBef>
                <a:spcPts val="500"/>
              </a:spcBef>
              <a:buFont typeface="Arial" charset="0"/>
              <a:buChar char="•"/>
              <a:defRPr sz="2400">
                <a:solidFill>
                  <a:schemeClr val="tx1"/>
                </a:solidFill>
                <a:latin typeface="Calibri" charset="0"/>
                <a:ea typeface="宋体" charset="0"/>
              </a:defRPr>
            </a:lvl2pPr>
            <a:lvl3pPr marL="1143000" indent="-228600">
              <a:lnSpc>
                <a:spcPct val="90000"/>
              </a:lnSpc>
              <a:spcBef>
                <a:spcPts val="500"/>
              </a:spcBef>
              <a:buFont typeface="Arial" charset="0"/>
              <a:buChar char="•"/>
              <a:defRPr sz="2000">
                <a:solidFill>
                  <a:schemeClr val="tx1"/>
                </a:solidFill>
                <a:latin typeface="Calibri" charset="0"/>
                <a:ea typeface="宋体" charset="0"/>
              </a:defRPr>
            </a:lvl3pPr>
            <a:lvl4pPr marL="1600200" indent="-228600">
              <a:lnSpc>
                <a:spcPct val="90000"/>
              </a:lnSpc>
              <a:spcBef>
                <a:spcPts val="500"/>
              </a:spcBef>
              <a:buFont typeface="Arial" charset="0"/>
              <a:buChar char="•"/>
              <a:defRPr>
                <a:solidFill>
                  <a:schemeClr val="tx1"/>
                </a:solidFill>
                <a:latin typeface="Calibri" charset="0"/>
                <a:ea typeface="宋体" charset="0"/>
              </a:defRPr>
            </a:lvl4pPr>
            <a:lvl5pPr marL="2057400" indent="-228600">
              <a:lnSpc>
                <a:spcPct val="90000"/>
              </a:lnSpc>
              <a:spcBef>
                <a:spcPts val="500"/>
              </a:spcBef>
              <a:buFont typeface="Arial" charset="0"/>
              <a:buChar char="•"/>
              <a:defRPr>
                <a:solidFill>
                  <a:schemeClr val="tx1"/>
                </a:solidFill>
                <a:latin typeface="Calibri" charset="0"/>
                <a:ea typeface="宋体" charset="0"/>
              </a:defRPr>
            </a:lvl5pPr>
            <a:lvl6pPr marL="25146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6pPr>
            <a:lvl7pPr marL="29718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7pPr>
            <a:lvl8pPr marL="34290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8pPr>
            <a:lvl9pPr marL="38862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9pPr>
          </a:lstStyle>
          <a:p>
            <a:pPr>
              <a:lnSpc>
                <a:spcPct val="100000"/>
              </a:lnSpc>
              <a:spcBef>
                <a:spcPct val="0"/>
              </a:spcBef>
              <a:buFontTx/>
              <a:buNone/>
            </a:pPr>
            <a:endParaRPr kumimoji="1" lang="zh-CN" altLang="en-US" sz="1800"/>
          </a:p>
        </p:txBody>
      </p:sp>
      <p:sp>
        <p:nvSpPr>
          <p:cNvPr id="2" name="文本框 1"/>
          <p:cNvSpPr txBox="1"/>
          <p:nvPr/>
        </p:nvSpPr>
        <p:spPr>
          <a:xfrm>
            <a:off x="6801492" y="4366517"/>
            <a:ext cx="184731" cy="369332"/>
          </a:xfrm>
          <a:prstGeom prst="rect">
            <a:avLst/>
          </a:prstGeom>
          <a:noFill/>
        </p:spPr>
        <p:txBody>
          <a:bodyPr wrap="none" rtlCol="0">
            <a:spAutoFit/>
          </a:bodyPr>
          <a:lstStyle/>
          <a:p>
            <a:endParaRPr kumimoji="1" lang="zh-CN" altLang="en-US"/>
          </a:p>
        </p:txBody>
      </p:sp>
      <p:sp>
        <p:nvSpPr>
          <p:cNvPr id="8" name="文本框 7"/>
          <p:cNvSpPr txBox="1"/>
          <p:nvPr/>
        </p:nvSpPr>
        <p:spPr>
          <a:xfrm>
            <a:off x="1376717" y="1173975"/>
            <a:ext cx="1107997" cy="646331"/>
          </a:xfrm>
          <a:prstGeom prst="rect">
            <a:avLst/>
          </a:prstGeom>
          <a:noFill/>
        </p:spPr>
        <p:txBody>
          <a:bodyPr wrap="none" rtlCol="0">
            <a:spAutoFit/>
          </a:bodyPr>
          <a:lstStyle/>
          <a:p>
            <a:pPr algn="ctr"/>
            <a:r>
              <a:rPr kumimoji="1" lang="zh-CN" altLang="en-US" sz="3600" dirty="0">
                <a:solidFill>
                  <a:schemeClr val="bg1">
                    <a:lumMod val="95000"/>
                  </a:schemeClr>
                </a:solidFill>
                <a:latin typeface="Microsoft YaHei" charset="-122"/>
                <a:ea typeface="Microsoft YaHei" charset="-122"/>
                <a:cs typeface="Microsoft YaHei" charset="-122"/>
              </a:rPr>
              <a:t>目录</a:t>
            </a:r>
            <a:endParaRPr kumimoji="1" lang="en-US" altLang="zh-CN" sz="3600" dirty="0">
              <a:solidFill>
                <a:schemeClr val="bg1">
                  <a:lumMod val="95000"/>
                </a:schemeClr>
              </a:solidFill>
              <a:latin typeface="Microsoft YaHei" charset="-122"/>
              <a:ea typeface="Microsoft YaHei" charset="-122"/>
              <a:cs typeface="Microsoft YaHei" charset="-122"/>
            </a:endParaRPr>
          </a:p>
        </p:txBody>
      </p:sp>
      <p:sp>
        <p:nvSpPr>
          <p:cNvPr id="3" name="文本框 2"/>
          <p:cNvSpPr txBox="1"/>
          <p:nvPr/>
        </p:nvSpPr>
        <p:spPr>
          <a:xfrm>
            <a:off x="2770166" y="2411366"/>
            <a:ext cx="6373834" cy="1955215"/>
          </a:xfrm>
          <a:prstGeom prst="rect">
            <a:avLst/>
          </a:prstGeom>
          <a:noFill/>
        </p:spPr>
        <p:txBody>
          <a:bodyPr wrap="square" rtlCol="0">
            <a:spAutoFit/>
          </a:bodyPr>
          <a:lstStyle/>
          <a:p>
            <a:pPr marL="285750" indent="-285750">
              <a:lnSpc>
                <a:spcPct val="150000"/>
              </a:lnSpc>
              <a:buClr>
                <a:schemeClr val="bg1">
                  <a:lumMod val="95000"/>
                </a:schemeClr>
              </a:buClr>
              <a:buSzPct val="75000"/>
              <a:buFont typeface="Wingdings" charset="2"/>
              <a:buChar char="l"/>
            </a:pPr>
            <a:r>
              <a:rPr kumimoji="1" lang="zh-CN" altLang="en-US" sz="2800" dirty="0">
                <a:latin typeface="Microsoft YaHei" charset="-122"/>
                <a:ea typeface="Microsoft YaHei" charset="-122"/>
                <a:cs typeface="Microsoft YaHei" charset="-122"/>
              </a:rPr>
              <a:t>     大数据生态系统基础知识</a:t>
            </a:r>
            <a:endParaRPr kumimoji="1" lang="en-US" altLang="zh-CN" dirty="0">
              <a:latin typeface="Microsoft YaHei" charset="-122"/>
              <a:ea typeface="Microsoft YaHei" charset="-122"/>
              <a:cs typeface="Microsoft YaHei" charset="-122"/>
            </a:endParaRPr>
          </a:p>
          <a:p>
            <a:pPr marL="285750" indent="-285750">
              <a:lnSpc>
                <a:spcPct val="150000"/>
              </a:lnSpc>
              <a:buClr>
                <a:schemeClr val="bg1">
                  <a:lumMod val="95000"/>
                </a:schemeClr>
              </a:buClr>
              <a:buSzPct val="75000"/>
              <a:buFont typeface="Wingdings" charset="2"/>
              <a:buChar char="l"/>
            </a:pPr>
            <a:r>
              <a:rPr kumimoji="1" lang="zh-CN" altLang="en-US" sz="2800" dirty="0">
                <a:latin typeface="Microsoft YaHei" charset="-122"/>
                <a:ea typeface="Microsoft YaHei" charset="-122"/>
                <a:cs typeface="Microsoft YaHei" charset="-122"/>
              </a:rPr>
              <a:t>     文件格式及其优化</a:t>
            </a:r>
            <a:endParaRPr kumimoji="1" lang="en-US" altLang="zh-CN" sz="2800" dirty="0">
              <a:latin typeface="Microsoft YaHei" charset="-122"/>
              <a:ea typeface="Microsoft YaHei" charset="-122"/>
              <a:cs typeface="Microsoft YaHei" charset="-122"/>
            </a:endParaRPr>
          </a:p>
          <a:p>
            <a:pPr marL="285750" indent="-285750">
              <a:lnSpc>
                <a:spcPct val="150000"/>
              </a:lnSpc>
              <a:buClr>
                <a:schemeClr val="bg1">
                  <a:lumMod val="95000"/>
                </a:schemeClr>
              </a:buClr>
              <a:buSzPct val="75000"/>
              <a:buFont typeface="Wingdings" charset="2"/>
              <a:buChar char="l"/>
            </a:pPr>
            <a:r>
              <a:rPr kumimoji="1" lang="en-US" altLang="zh-CN" sz="2800" dirty="0">
                <a:latin typeface="Microsoft YaHei" charset="-122"/>
                <a:ea typeface="Microsoft YaHei" charset="-122"/>
                <a:cs typeface="Microsoft YaHei" charset="-122"/>
              </a:rPr>
              <a:t>     HDFS</a:t>
            </a:r>
            <a:r>
              <a:rPr kumimoji="1" lang="zh-CN" altLang="en-US" sz="2800" dirty="0">
                <a:latin typeface="Microsoft YaHei" charset="-122"/>
                <a:ea typeface="Microsoft YaHei" charset="-122"/>
                <a:cs typeface="Microsoft YaHei" charset="-122"/>
              </a:rPr>
              <a:t>的优化</a:t>
            </a:r>
            <a:endParaRPr kumimoji="1" lang="en-US" altLang="zh-CN" sz="2800" dirty="0">
              <a:latin typeface="Microsoft YaHei" charset="-122"/>
              <a:ea typeface="Microsoft YaHei" charset="-122"/>
              <a:cs typeface="Microsoft YaHei" charset="-122"/>
            </a:endParaRPr>
          </a:p>
        </p:txBody>
      </p:sp>
    </p:spTree>
    <p:extLst>
      <p:ext uri="{BB962C8B-B14F-4D97-AF65-F5344CB8AC3E}">
        <p14:creationId xmlns:p14="http://schemas.microsoft.com/office/powerpoint/2010/main" val="3262441792"/>
      </p:ext>
    </p:extLst>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0">
          <a:blip r:embed="rId3">
            <a:lum/>
          </a:blip>
          <a:srcRect/>
          <a:stretch>
            <a:fillRect/>
          </a:stretch>
        </a:blipFill>
        <a:effectLst/>
      </p:bgPr>
    </p:bg>
    <p:spTree>
      <p:nvGrpSpPr>
        <p:cNvPr id="1" name=""/>
        <p:cNvGrpSpPr/>
        <p:nvPr/>
      </p:nvGrpSpPr>
      <p:grpSpPr>
        <a:xfrm>
          <a:off x="0" y="0"/>
          <a:ext cx="0" cy="0"/>
          <a:chOff x="0" y="0"/>
          <a:chExt cx="0" cy="0"/>
        </a:xfrm>
      </p:grpSpPr>
      <p:sp>
        <p:nvSpPr>
          <p:cNvPr id="15362" name="文本框 1"/>
          <p:cNvSpPr txBox="1">
            <a:spLocks noChangeArrowheads="1"/>
          </p:cNvSpPr>
          <p:nvPr/>
        </p:nvSpPr>
        <p:spPr bwMode="auto">
          <a:xfrm>
            <a:off x="-7464425" y="4954588"/>
            <a:ext cx="1857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charset="0"/>
              <a:buChar char="•"/>
              <a:defRPr sz="2800">
                <a:solidFill>
                  <a:schemeClr val="tx1"/>
                </a:solidFill>
                <a:latin typeface="Calibri" charset="0"/>
                <a:ea typeface="宋体" charset="0"/>
              </a:defRPr>
            </a:lvl1pPr>
            <a:lvl2pPr marL="742950" indent="-285750">
              <a:lnSpc>
                <a:spcPct val="90000"/>
              </a:lnSpc>
              <a:spcBef>
                <a:spcPts val="500"/>
              </a:spcBef>
              <a:buFont typeface="Arial" charset="0"/>
              <a:buChar char="•"/>
              <a:defRPr sz="2400">
                <a:solidFill>
                  <a:schemeClr val="tx1"/>
                </a:solidFill>
                <a:latin typeface="Calibri" charset="0"/>
                <a:ea typeface="宋体" charset="0"/>
              </a:defRPr>
            </a:lvl2pPr>
            <a:lvl3pPr marL="1143000" indent="-228600">
              <a:lnSpc>
                <a:spcPct val="90000"/>
              </a:lnSpc>
              <a:spcBef>
                <a:spcPts val="500"/>
              </a:spcBef>
              <a:buFont typeface="Arial" charset="0"/>
              <a:buChar char="•"/>
              <a:defRPr sz="2000">
                <a:solidFill>
                  <a:schemeClr val="tx1"/>
                </a:solidFill>
                <a:latin typeface="Calibri" charset="0"/>
                <a:ea typeface="宋体" charset="0"/>
              </a:defRPr>
            </a:lvl3pPr>
            <a:lvl4pPr marL="1600200" indent="-228600">
              <a:lnSpc>
                <a:spcPct val="90000"/>
              </a:lnSpc>
              <a:spcBef>
                <a:spcPts val="500"/>
              </a:spcBef>
              <a:buFont typeface="Arial" charset="0"/>
              <a:buChar char="•"/>
              <a:defRPr>
                <a:solidFill>
                  <a:schemeClr val="tx1"/>
                </a:solidFill>
                <a:latin typeface="Calibri" charset="0"/>
                <a:ea typeface="宋体" charset="0"/>
              </a:defRPr>
            </a:lvl4pPr>
            <a:lvl5pPr marL="2057400" indent="-228600">
              <a:lnSpc>
                <a:spcPct val="90000"/>
              </a:lnSpc>
              <a:spcBef>
                <a:spcPts val="500"/>
              </a:spcBef>
              <a:buFont typeface="Arial" charset="0"/>
              <a:buChar char="•"/>
              <a:defRPr>
                <a:solidFill>
                  <a:schemeClr val="tx1"/>
                </a:solidFill>
                <a:latin typeface="Calibri" charset="0"/>
                <a:ea typeface="宋体" charset="0"/>
              </a:defRPr>
            </a:lvl5pPr>
            <a:lvl6pPr marL="25146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6pPr>
            <a:lvl7pPr marL="29718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7pPr>
            <a:lvl8pPr marL="34290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8pPr>
            <a:lvl9pPr marL="38862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9pPr>
          </a:lstStyle>
          <a:p>
            <a:pPr>
              <a:lnSpc>
                <a:spcPct val="100000"/>
              </a:lnSpc>
              <a:spcBef>
                <a:spcPct val="0"/>
              </a:spcBef>
              <a:buFontTx/>
              <a:buNone/>
            </a:pPr>
            <a:endParaRPr kumimoji="1" lang="zh-CN" altLang="en-US" sz="1800"/>
          </a:p>
        </p:txBody>
      </p:sp>
      <p:sp>
        <p:nvSpPr>
          <p:cNvPr id="2" name="文本框 1"/>
          <p:cNvSpPr txBox="1"/>
          <p:nvPr/>
        </p:nvSpPr>
        <p:spPr>
          <a:xfrm>
            <a:off x="6801492" y="4366517"/>
            <a:ext cx="184731" cy="369332"/>
          </a:xfrm>
          <a:prstGeom prst="rect">
            <a:avLst/>
          </a:prstGeom>
          <a:noFill/>
        </p:spPr>
        <p:txBody>
          <a:bodyPr wrap="none" rtlCol="0">
            <a:spAutoFit/>
          </a:bodyPr>
          <a:lstStyle/>
          <a:p>
            <a:endParaRPr kumimoji="1" lang="zh-CN" altLang="en-US"/>
          </a:p>
        </p:txBody>
      </p:sp>
      <p:sp>
        <p:nvSpPr>
          <p:cNvPr id="3" name="文本框 2"/>
          <p:cNvSpPr txBox="1"/>
          <p:nvPr/>
        </p:nvSpPr>
        <p:spPr>
          <a:xfrm>
            <a:off x="2770166" y="2411366"/>
            <a:ext cx="6373834" cy="1936236"/>
          </a:xfrm>
          <a:prstGeom prst="rect">
            <a:avLst/>
          </a:prstGeom>
          <a:noFill/>
        </p:spPr>
        <p:txBody>
          <a:bodyPr wrap="square" rtlCol="0">
            <a:spAutoFit/>
          </a:bodyPr>
          <a:lstStyle/>
          <a:p>
            <a:pPr marL="285750" indent="-285750">
              <a:lnSpc>
                <a:spcPct val="150000"/>
              </a:lnSpc>
              <a:buClr>
                <a:schemeClr val="bg1">
                  <a:lumMod val="95000"/>
                </a:schemeClr>
              </a:buClr>
              <a:buSzPct val="75000"/>
              <a:buFont typeface="Wingdings" charset="2"/>
              <a:buChar char="l"/>
            </a:pPr>
            <a:r>
              <a:rPr kumimoji="1" lang="zh-CN" altLang="en-US" sz="2800" dirty="0">
                <a:latin typeface="Microsoft YaHei" charset="-122"/>
                <a:ea typeface="Microsoft YaHei" charset="-122"/>
                <a:cs typeface="Microsoft YaHei" charset="-122"/>
              </a:rPr>
              <a:t>     大数据生态系统基础知识</a:t>
            </a:r>
            <a:endParaRPr kumimoji="1" lang="en-US" altLang="zh-CN" sz="2800" dirty="0">
              <a:latin typeface="Microsoft YaHei" charset="-122"/>
              <a:ea typeface="Microsoft YaHei" charset="-122"/>
              <a:cs typeface="Microsoft YaHei" charset="-122"/>
            </a:endParaRPr>
          </a:p>
          <a:p>
            <a:pPr marL="1371600" lvl="2" indent="-457200">
              <a:lnSpc>
                <a:spcPct val="150000"/>
              </a:lnSpc>
              <a:buClr>
                <a:schemeClr val="tx1"/>
              </a:buClr>
              <a:buSzPct val="75000"/>
              <a:buFont typeface="Arial" panose="020B0604020202020204" pitchFamily="34" charset="0"/>
              <a:buChar char="•"/>
            </a:pPr>
            <a:r>
              <a:rPr kumimoji="1" lang="en-US" altLang="zh-CN" dirty="0">
                <a:latin typeface="Microsoft YaHei" charset="-122"/>
                <a:ea typeface="Microsoft YaHei" charset="-122"/>
                <a:cs typeface="Microsoft YaHei" charset="-122"/>
              </a:rPr>
              <a:t>Hadoop</a:t>
            </a:r>
            <a:r>
              <a:rPr kumimoji="1" lang="zh-CN" altLang="en-US" dirty="0">
                <a:latin typeface="Microsoft YaHei" charset="-122"/>
                <a:ea typeface="Microsoft YaHei" charset="-122"/>
                <a:cs typeface="Microsoft YaHei" charset="-122"/>
              </a:rPr>
              <a:t>生态系统</a:t>
            </a:r>
            <a:endParaRPr kumimoji="1" lang="en-US" altLang="zh-CN" dirty="0">
              <a:latin typeface="Microsoft YaHei" charset="-122"/>
              <a:ea typeface="Microsoft YaHei" charset="-122"/>
              <a:cs typeface="Microsoft YaHei" charset="-122"/>
            </a:endParaRPr>
          </a:p>
          <a:p>
            <a:pPr marL="1371600" lvl="2" indent="-457200">
              <a:lnSpc>
                <a:spcPct val="150000"/>
              </a:lnSpc>
              <a:buClr>
                <a:schemeClr val="tx1"/>
              </a:buClr>
              <a:buSzPct val="75000"/>
              <a:buFont typeface="Arial" panose="020B0604020202020204" pitchFamily="34" charset="0"/>
              <a:buChar char="•"/>
            </a:pPr>
            <a:r>
              <a:rPr kumimoji="1" lang="en-US" altLang="zh-CN" dirty="0">
                <a:latin typeface="Microsoft YaHei" charset="-122"/>
                <a:ea typeface="Microsoft YaHei" charset="-122"/>
                <a:cs typeface="Microsoft YaHei" charset="-122"/>
              </a:rPr>
              <a:t>HDFS</a:t>
            </a:r>
            <a:r>
              <a:rPr kumimoji="1" lang="zh-CN" altLang="en-US" dirty="0">
                <a:latin typeface="Microsoft YaHei" charset="-122"/>
                <a:ea typeface="Microsoft YaHei" charset="-122"/>
                <a:cs typeface="Microsoft YaHei" charset="-122"/>
              </a:rPr>
              <a:t>结构</a:t>
            </a:r>
            <a:endParaRPr kumimoji="1" lang="en-US" altLang="zh-CN" dirty="0">
              <a:latin typeface="Microsoft YaHei" charset="-122"/>
              <a:ea typeface="Microsoft YaHei" charset="-122"/>
              <a:cs typeface="Microsoft YaHei" charset="-122"/>
            </a:endParaRPr>
          </a:p>
          <a:p>
            <a:pPr marL="1371600" lvl="2" indent="-457200">
              <a:lnSpc>
                <a:spcPct val="150000"/>
              </a:lnSpc>
              <a:buClr>
                <a:schemeClr val="tx1"/>
              </a:buClr>
              <a:buSzPct val="75000"/>
              <a:buFont typeface="Arial" panose="020B0604020202020204" pitchFamily="34" charset="0"/>
              <a:buChar char="•"/>
            </a:pPr>
            <a:r>
              <a:rPr kumimoji="1" lang="en-US" altLang="zh-CN" dirty="0">
                <a:latin typeface="Microsoft YaHei" charset="-122"/>
                <a:ea typeface="Microsoft YaHei" charset="-122"/>
                <a:cs typeface="Microsoft YaHei" charset="-122"/>
              </a:rPr>
              <a:t>MapReduce</a:t>
            </a:r>
            <a:r>
              <a:rPr kumimoji="1" lang="zh-CN" altLang="en-US" dirty="0">
                <a:latin typeface="Microsoft YaHei" charset="-122"/>
                <a:ea typeface="Microsoft YaHei" charset="-122"/>
                <a:cs typeface="Microsoft YaHei" charset="-122"/>
              </a:rPr>
              <a:t>工作机制</a:t>
            </a:r>
            <a:endParaRPr kumimoji="1" lang="en-US" altLang="zh-CN" dirty="0">
              <a:latin typeface="Microsoft YaHei" charset="-122"/>
              <a:ea typeface="Microsoft YaHei" charset="-122"/>
              <a:cs typeface="Microsoft YaHei" charset="-122"/>
            </a:endParaRPr>
          </a:p>
        </p:txBody>
      </p:sp>
    </p:spTree>
    <p:extLst>
      <p:ext uri="{BB962C8B-B14F-4D97-AF65-F5344CB8AC3E}">
        <p14:creationId xmlns:p14="http://schemas.microsoft.com/office/powerpoint/2010/main" val="2401547455"/>
      </p:ext>
    </p:extLst>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文本框 1"/>
          <p:cNvSpPr txBox="1">
            <a:spLocks noChangeArrowheads="1"/>
          </p:cNvSpPr>
          <p:nvPr/>
        </p:nvSpPr>
        <p:spPr bwMode="auto">
          <a:xfrm>
            <a:off x="-7464425" y="4954588"/>
            <a:ext cx="1857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charset="0"/>
              <a:buChar char="•"/>
              <a:defRPr sz="2800">
                <a:solidFill>
                  <a:schemeClr val="tx1"/>
                </a:solidFill>
                <a:latin typeface="Calibri" charset="0"/>
                <a:ea typeface="宋体" charset="0"/>
              </a:defRPr>
            </a:lvl1pPr>
            <a:lvl2pPr marL="742950" indent="-285750">
              <a:lnSpc>
                <a:spcPct val="90000"/>
              </a:lnSpc>
              <a:spcBef>
                <a:spcPts val="500"/>
              </a:spcBef>
              <a:buFont typeface="Arial" charset="0"/>
              <a:buChar char="•"/>
              <a:defRPr sz="2400">
                <a:solidFill>
                  <a:schemeClr val="tx1"/>
                </a:solidFill>
                <a:latin typeface="Calibri" charset="0"/>
                <a:ea typeface="宋体" charset="0"/>
              </a:defRPr>
            </a:lvl2pPr>
            <a:lvl3pPr marL="1143000" indent="-228600">
              <a:lnSpc>
                <a:spcPct val="90000"/>
              </a:lnSpc>
              <a:spcBef>
                <a:spcPts val="500"/>
              </a:spcBef>
              <a:buFont typeface="Arial" charset="0"/>
              <a:buChar char="•"/>
              <a:defRPr sz="2000">
                <a:solidFill>
                  <a:schemeClr val="tx1"/>
                </a:solidFill>
                <a:latin typeface="Calibri" charset="0"/>
                <a:ea typeface="宋体" charset="0"/>
              </a:defRPr>
            </a:lvl3pPr>
            <a:lvl4pPr marL="1600200" indent="-228600">
              <a:lnSpc>
                <a:spcPct val="90000"/>
              </a:lnSpc>
              <a:spcBef>
                <a:spcPts val="500"/>
              </a:spcBef>
              <a:buFont typeface="Arial" charset="0"/>
              <a:buChar char="•"/>
              <a:defRPr>
                <a:solidFill>
                  <a:schemeClr val="tx1"/>
                </a:solidFill>
                <a:latin typeface="Calibri" charset="0"/>
                <a:ea typeface="宋体" charset="0"/>
              </a:defRPr>
            </a:lvl4pPr>
            <a:lvl5pPr marL="2057400" indent="-228600">
              <a:lnSpc>
                <a:spcPct val="90000"/>
              </a:lnSpc>
              <a:spcBef>
                <a:spcPts val="500"/>
              </a:spcBef>
              <a:buFont typeface="Arial" charset="0"/>
              <a:buChar char="•"/>
              <a:defRPr>
                <a:solidFill>
                  <a:schemeClr val="tx1"/>
                </a:solidFill>
                <a:latin typeface="Calibri" charset="0"/>
                <a:ea typeface="宋体" charset="0"/>
              </a:defRPr>
            </a:lvl5pPr>
            <a:lvl6pPr marL="25146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6pPr>
            <a:lvl7pPr marL="29718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7pPr>
            <a:lvl8pPr marL="34290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8pPr>
            <a:lvl9pPr marL="38862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9pPr>
          </a:lstStyle>
          <a:p>
            <a:pPr>
              <a:lnSpc>
                <a:spcPct val="100000"/>
              </a:lnSpc>
              <a:spcBef>
                <a:spcPct val="0"/>
              </a:spcBef>
              <a:buFontTx/>
              <a:buNone/>
            </a:pPr>
            <a:endParaRPr kumimoji="1" lang="zh-CN" altLang="en-US" sz="1800">
              <a:latin typeface="+mn-lt"/>
            </a:endParaRPr>
          </a:p>
        </p:txBody>
      </p:sp>
      <p:sp>
        <p:nvSpPr>
          <p:cNvPr id="10" name="文本框 9">
            <a:extLst>
              <a:ext uri="{FF2B5EF4-FFF2-40B4-BE49-F238E27FC236}">
                <a16:creationId xmlns:a16="http://schemas.microsoft.com/office/drawing/2014/main" id="{5D53F571-3FE3-414E-8DE9-03044D097F3C}"/>
              </a:ext>
            </a:extLst>
          </p:cNvPr>
          <p:cNvSpPr txBox="1"/>
          <p:nvPr/>
        </p:nvSpPr>
        <p:spPr>
          <a:xfrm>
            <a:off x="654258" y="589775"/>
            <a:ext cx="5289342" cy="523220"/>
          </a:xfrm>
          <a:prstGeom prst="rect">
            <a:avLst/>
          </a:prstGeom>
          <a:noFill/>
        </p:spPr>
        <p:txBody>
          <a:bodyPr wrap="square" rtlCol="0">
            <a:spAutoFit/>
          </a:bodyPr>
          <a:lstStyle/>
          <a:p>
            <a:r>
              <a:rPr kumimoji="1" lang="zh-CN" altLang="en-US" sz="2800" dirty="0">
                <a:latin typeface="Microsoft YaHei" charset="-122"/>
                <a:ea typeface="Microsoft YaHei" charset="-122"/>
                <a:cs typeface="Microsoft YaHei" charset="-122"/>
              </a:rPr>
              <a:t>大数据时代</a:t>
            </a:r>
            <a:endParaRPr kumimoji="1" lang="en-US" altLang="zh-CN" sz="2800" dirty="0">
              <a:latin typeface="Microsoft YaHei" charset="-122"/>
              <a:ea typeface="Microsoft YaHei" charset="-122"/>
              <a:cs typeface="Microsoft YaHei" charset="-122"/>
            </a:endParaRPr>
          </a:p>
        </p:txBody>
      </p:sp>
      <p:sp>
        <p:nvSpPr>
          <p:cNvPr id="2" name="文本框 1">
            <a:extLst>
              <a:ext uri="{FF2B5EF4-FFF2-40B4-BE49-F238E27FC236}">
                <a16:creationId xmlns:a16="http://schemas.microsoft.com/office/drawing/2014/main" id="{9CE222E6-9694-44A2-8D61-17C8114EE65C}"/>
              </a:ext>
            </a:extLst>
          </p:cNvPr>
          <p:cNvSpPr txBox="1"/>
          <p:nvPr/>
        </p:nvSpPr>
        <p:spPr>
          <a:xfrm>
            <a:off x="534256" y="1510301"/>
            <a:ext cx="8291245" cy="464871"/>
          </a:xfrm>
          <a:prstGeom prst="rect">
            <a:avLst/>
          </a:prstGeom>
          <a:noFill/>
        </p:spPr>
        <p:txBody>
          <a:bodyPr wrap="square" rtlCol="0">
            <a:spAutoFit/>
          </a:bodyPr>
          <a:lstStyle/>
          <a:p>
            <a:pPr>
              <a:lnSpc>
                <a:spcPct val="150000"/>
              </a:lnSpc>
            </a:pPr>
            <a:r>
              <a:rPr lang="en-US" altLang="zh-CN" dirty="0"/>
              <a:t>GB</a:t>
            </a:r>
            <a:r>
              <a:rPr lang="zh-CN" altLang="en-US" dirty="0"/>
              <a:t>、</a:t>
            </a:r>
            <a:r>
              <a:rPr lang="en-US" altLang="zh-CN" dirty="0"/>
              <a:t>TB</a:t>
            </a:r>
            <a:r>
              <a:rPr lang="zh-CN" altLang="en-US" dirty="0"/>
              <a:t>、</a:t>
            </a:r>
            <a:r>
              <a:rPr lang="en-US" altLang="zh-CN" dirty="0"/>
              <a:t>PB</a:t>
            </a:r>
            <a:r>
              <a:rPr lang="zh-CN" altLang="en-US" dirty="0"/>
              <a:t>、</a:t>
            </a:r>
            <a:r>
              <a:rPr lang="en-US" altLang="zh-CN" dirty="0"/>
              <a:t>EB</a:t>
            </a:r>
            <a:r>
              <a:rPr lang="zh-CN" altLang="en-US" dirty="0"/>
              <a:t>、</a:t>
            </a:r>
            <a:r>
              <a:rPr lang="en-US" altLang="zh-CN" dirty="0"/>
              <a:t>ZB</a:t>
            </a:r>
            <a:r>
              <a:rPr lang="zh-CN" altLang="en-US" dirty="0"/>
              <a:t>、</a:t>
            </a:r>
            <a:r>
              <a:rPr lang="en-US" altLang="zh-CN" dirty="0"/>
              <a:t>YB</a:t>
            </a:r>
            <a:endParaRPr lang="zh-CN" altLang="en-US" dirty="0"/>
          </a:p>
        </p:txBody>
      </p:sp>
      <p:pic>
        <p:nvPicPr>
          <p:cNvPr id="4" name="图片 3">
            <a:extLst>
              <a:ext uri="{FF2B5EF4-FFF2-40B4-BE49-F238E27FC236}">
                <a16:creationId xmlns:a16="http://schemas.microsoft.com/office/drawing/2014/main" id="{E5BEFB11-141F-431E-A6A1-3A629C5502D6}"/>
              </a:ext>
            </a:extLst>
          </p:cNvPr>
          <p:cNvPicPr>
            <a:picLocks noChangeAspect="1"/>
          </p:cNvPicPr>
          <p:nvPr/>
        </p:nvPicPr>
        <p:blipFill>
          <a:blip r:embed="rId3"/>
          <a:stretch>
            <a:fillRect/>
          </a:stretch>
        </p:blipFill>
        <p:spPr>
          <a:xfrm>
            <a:off x="2161335" y="2372478"/>
            <a:ext cx="4821329" cy="3436850"/>
          </a:xfrm>
          <a:prstGeom prst="rect">
            <a:avLst/>
          </a:prstGeom>
        </p:spPr>
      </p:pic>
    </p:spTree>
    <p:extLst>
      <p:ext uri="{BB962C8B-B14F-4D97-AF65-F5344CB8AC3E}">
        <p14:creationId xmlns:p14="http://schemas.microsoft.com/office/powerpoint/2010/main" val="440416835"/>
      </p:ext>
    </p:extLst>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文本框 1"/>
          <p:cNvSpPr txBox="1">
            <a:spLocks noChangeArrowheads="1"/>
          </p:cNvSpPr>
          <p:nvPr/>
        </p:nvSpPr>
        <p:spPr bwMode="auto">
          <a:xfrm>
            <a:off x="-7464425" y="4954588"/>
            <a:ext cx="1857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charset="0"/>
              <a:buChar char="•"/>
              <a:defRPr sz="2800">
                <a:solidFill>
                  <a:schemeClr val="tx1"/>
                </a:solidFill>
                <a:latin typeface="Calibri" charset="0"/>
                <a:ea typeface="宋体" charset="0"/>
              </a:defRPr>
            </a:lvl1pPr>
            <a:lvl2pPr marL="742950" indent="-285750">
              <a:lnSpc>
                <a:spcPct val="90000"/>
              </a:lnSpc>
              <a:spcBef>
                <a:spcPts val="500"/>
              </a:spcBef>
              <a:buFont typeface="Arial" charset="0"/>
              <a:buChar char="•"/>
              <a:defRPr sz="2400">
                <a:solidFill>
                  <a:schemeClr val="tx1"/>
                </a:solidFill>
                <a:latin typeface="Calibri" charset="0"/>
                <a:ea typeface="宋体" charset="0"/>
              </a:defRPr>
            </a:lvl2pPr>
            <a:lvl3pPr marL="1143000" indent="-228600">
              <a:lnSpc>
                <a:spcPct val="90000"/>
              </a:lnSpc>
              <a:spcBef>
                <a:spcPts val="500"/>
              </a:spcBef>
              <a:buFont typeface="Arial" charset="0"/>
              <a:buChar char="•"/>
              <a:defRPr sz="2000">
                <a:solidFill>
                  <a:schemeClr val="tx1"/>
                </a:solidFill>
                <a:latin typeface="Calibri" charset="0"/>
                <a:ea typeface="宋体" charset="0"/>
              </a:defRPr>
            </a:lvl3pPr>
            <a:lvl4pPr marL="1600200" indent="-228600">
              <a:lnSpc>
                <a:spcPct val="90000"/>
              </a:lnSpc>
              <a:spcBef>
                <a:spcPts val="500"/>
              </a:spcBef>
              <a:buFont typeface="Arial" charset="0"/>
              <a:buChar char="•"/>
              <a:defRPr>
                <a:solidFill>
                  <a:schemeClr val="tx1"/>
                </a:solidFill>
                <a:latin typeface="Calibri" charset="0"/>
                <a:ea typeface="宋体" charset="0"/>
              </a:defRPr>
            </a:lvl4pPr>
            <a:lvl5pPr marL="2057400" indent="-228600">
              <a:lnSpc>
                <a:spcPct val="90000"/>
              </a:lnSpc>
              <a:spcBef>
                <a:spcPts val="500"/>
              </a:spcBef>
              <a:buFont typeface="Arial" charset="0"/>
              <a:buChar char="•"/>
              <a:defRPr>
                <a:solidFill>
                  <a:schemeClr val="tx1"/>
                </a:solidFill>
                <a:latin typeface="Calibri" charset="0"/>
                <a:ea typeface="宋体" charset="0"/>
              </a:defRPr>
            </a:lvl5pPr>
            <a:lvl6pPr marL="25146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6pPr>
            <a:lvl7pPr marL="29718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7pPr>
            <a:lvl8pPr marL="34290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8pPr>
            <a:lvl9pPr marL="38862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9pPr>
          </a:lstStyle>
          <a:p>
            <a:pPr>
              <a:lnSpc>
                <a:spcPct val="100000"/>
              </a:lnSpc>
              <a:spcBef>
                <a:spcPct val="0"/>
              </a:spcBef>
              <a:buFontTx/>
              <a:buNone/>
            </a:pPr>
            <a:endParaRPr kumimoji="1" lang="zh-CN" altLang="en-US" sz="1800">
              <a:latin typeface="+mn-lt"/>
            </a:endParaRPr>
          </a:p>
        </p:txBody>
      </p:sp>
      <p:sp>
        <p:nvSpPr>
          <p:cNvPr id="10" name="文本框 9">
            <a:extLst>
              <a:ext uri="{FF2B5EF4-FFF2-40B4-BE49-F238E27FC236}">
                <a16:creationId xmlns:a16="http://schemas.microsoft.com/office/drawing/2014/main" id="{5D53F571-3FE3-414E-8DE9-03044D097F3C}"/>
              </a:ext>
            </a:extLst>
          </p:cNvPr>
          <p:cNvSpPr txBox="1"/>
          <p:nvPr/>
        </p:nvSpPr>
        <p:spPr>
          <a:xfrm>
            <a:off x="654258" y="589775"/>
            <a:ext cx="5289342" cy="523220"/>
          </a:xfrm>
          <a:prstGeom prst="rect">
            <a:avLst/>
          </a:prstGeom>
          <a:noFill/>
        </p:spPr>
        <p:txBody>
          <a:bodyPr wrap="square" rtlCol="0">
            <a:spAutoFit/>
          </a:bodyPr>
          <a:lstStyle/>
          <a:p>
            <a:r>
              <a:rPr kumimoji="1" lang="en-US" altLang="zh-CN" sz="2800" dirty="0">
                <a:latin typeface="Microsoft YaHei" charset="-122"/>
                <a:ea typeface="Microsoft YaHei" charset="-122"/>
                <a:cs typeface="Microsoft YaHei" charset="-122"/>
              </a:rPr>
              <a:t>Hadoop</a:t>
            </a:r>
            <a:r>
              <a:rPr kumimoji="1" lang="zh-CN" altLang="en-US" sz="2800" dirty="0">
                <a:latin typeface="Microsoft YaHei" charset="-122"/>
                <a:ea typeface="Microsoft YaHei" charset="-122"/>
                <a:cs typeface="Microsoft YaHei" charset="-122"/>
              </a:rPr>
              <a:t>生态系统</a:t>
            </a:r>
            <a:endParaRPr kumimoji="1" lang="en-US" altLang="zh-CN" sz="2800" dirty="0">
              <a:latin typeface="Microsoft YaHei" charset="-122"/>
              <a:ea typeface="Microsoft YaHei" charset="-122"/>
              <a:cs typeface="Microsoft YaHei" charset="-122"/>
            </a:endParaRPr>
          </a:p>
        </p:txBody>
      </p:sp>
      <p:sp>
        <p:nvSpPr>
          <p:cNvPr id="2" name="文本框 1">
            <a:extLst>
              <a:ext uri="{FF2B5EF4-FFF2-40B4-BE49-F238E27FC236}">
                <a16:creationId xmlns:a16="http://schemas.microsoft.com/office/drawing/2014/main" id="{9CE222E6-9694-44A2-8D61-17C8114EE65C}"/>
              </a:ext>
            </a:extLst>
          </p:cNvPr>
          <p:cNvSpPr txBox="1"/>
          <p:nvPr/>
        </p:nvSpPr>
        <p:spPr>
          <a:xfrm>
            <a:off x="534256" y="1510301"/>
            <a:ext cx="8291245" cy="464871"/>
          </a:xfrm>
          <a:prstGeom prst="rect">
            <a:avLst/>
          </a:prstGeom>
          <a:noFill/>
        </p:spPr>
        <p:txBody>
          <a:bodyPr wrap="square" rtlCol="0">
            <a:spAutoFit/>
          </a:bodyPr>
          <a:lstStyle/>
          <a:p>
            <a:pPr>
              <a:lnSpc>
                <a:spcPct val="150000"/>
              </a:lnSpc>
            </a:pPr>
            <a:r>
              <a:rPr lang="en-US" altLang="zh-CN" dirty="0"/>
              <a:t>PB</a:t>
            </a:r>
            <a:r>
              <a:rPr lang="zh-CN" altLang="en-US" dirty="0"/>
              <a:t>级数据的存储与计算   →       </a:t>
            </a:r>
            <a:r>
              <a:rPr lang="en-US" altLang="zh-CN" dirty="0"/>
              <a:t>Hadoop</a:t>
            </a:r>
            <a:r>
              <a:rPr lang="zh-CN" altLang="en-US" dirty="0"/>
              <a:t>生态系统    </a:t>
            </a:r>
          </a:p>
        </p:txBody>
      </p:sp>
      <p:pic>
        <p:nvPicPr>
          <p:cNvPr id="5" name="图片 4">
            <a:extLst>
              <a:ext uri="{FF2B5EF4-FFF2-40B4-BE49-F238E27FC236}">
                <a16:creationId xmlns:a16="http://schemas.microsoft.com/office/drawing/2014/main" id="{E55C4B4D-1E87-47DA-AC23-5CB87D573AE2}"/>
              </a:ext>
            </a:extLst>
          </p:cNvPr>
          <p:cNvPicPr/>
          <p:nvPr/>
        </p:nvPicPr>
        <p:blipFill>
          <a:blip r:embed="rId3">
            <a:extLst>
              <a:ext uri="{28A0092B-C50C-407E-A947-70E740481C1C}">
                <a14:useLocalDpi xmlns:a14="http://schemas.microsoft.com/office/drawing/2010/main" val="0"/>
              </a:ext>
            </a:extLst>
          </a:blip>
          <a:stretch>
            <a:fillRect/>
          </a:stretch>
        </p:blipFill>
        <p:spPr>
          <a:xfrm>
            <a:off x="1934845" y="2372478"/>
            <a:ext cx="5274310" cy="3013075"/>
          </a:xfrm>
          <a:prstGeom prst="rect">
            <a:avLst/>
          </a:prstGeom>
        </p:spPr>
      </p:pic>
    </p:spTree>
    <p:extLst>
      <p:ext uri="{BB962C8B-B14F-4D97-AF65-F5344CB8AC3E}">
        <p14:creationId xmlns:p14="http://schemas.microsoft.com/office/powerpoint/2010/main" val="598465273"/>
      </p:ext>
    </p:extLst>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文本框 1"/>
          <p:cNvSpPr txBox="1">
            <a:spLocks noChangeArrowheads="1"/>
          </p:cNvSpPr>
          <p:nvPr/>
        </p:nvSpPr>
        <p:spPr bwMode="auto">
          <a:xfrm>
            <a:off x="-7464425" y="4954588"/>
            <a:ext cx="1857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charset="0"/>
              <a:buChar char="•"/>
              <a:defRPr sz="2800">
                <a:solidFill>
                  <a:schemeClr val="tx1"/>
                </a:solidFill>
                <a:latin typeface="Calibri" charset="0"/>
                <a:ea typeface="宋体" charset="0"/>
              </a:defRPr>
            </a:lvl1pPr>
            <a:lvl2pPr marL="742950" indent="-285750">
              <a:lnSpc>
                <a:spcPct val="90000"/>
              </a:lnSpc>
              <a:spcBef>
                <a:spcPts val="500"/>
              </a:spcBef>
              <a:buFont typeface="Arial" charset="0"/>
              <a:buChar char="•"/>
              <a:defRPr sz="2400">
                <a:solidFill>
                  <a:schemeClr val="tx1"/>
                </a:solidFill>
                <a:latin typeface="Calibri" charset="0"/>
                <a:ea typeface="宋体" charset="0"/>
              </a:defRPr>
            </a:lvl2pPr>
            <a:lvl3pPr marL="1143000" indent="-228600">
              <a:lnSpc>
                <a:spcPct val="90000"/>
              </a:lnSpc>
              <a:spcBef>
                <a:spcPts val="500"/>
              </a:spcBef>
              <a:buFont typeface="Arial" charset="0"/>
              <a:buChar char="•"/>
              <a:defRPr sz="2000">
                <a:solidFill>
                  <a:schemeClr val="tx1"/>
                </a:solidFill>
                <a:latin typeface="Calibri" charset="0"/>
                <a:ea typeface="宋体" charset="0"/>
              </a:defRPr>
            </a:lvl3pPr>
            <a:lvl4pPr marL="1600200" indent="-228600">
              <a:lnSpc>
                <a:spcPct val="90000"/>
              </a:lnSpc>
              <a:spcBef>
                <a:spcPts val="500"/>
              </a:spcBef>
              <a:buFont typeface="Arial" charset="0"/>
              <a:buChar char="•"/>
              <a:defRPr>
                <a:solidFill>
                  <a:schemeClr val="tx1"/>
                </a:solidFill>
                <a:latin typeface="Calibri" charset="0"/>
                <a:ea typeface="宋体" charset="0"/>
              </a:defRPr>
            </a:lvl4pPr>
            <a:lvl5pPr marL="2057400" indent="-228600">
              <a:lnSpc>
                <a:spcPct val="90000"/>
              </a:lnSpc>
              <a:spcBef>
                <a:spcPts val="500"/>
              </a:spcBef>
              <a:buFont typeface="Arial" charset="0"/>
              <a:buChar char="•"/>
              <a:defRPr>
                <a:solidFill>
                  <a:schemeClr val="tx1"/>
                </a:solidFill>
                <a:latin typeface="Calibri" charset="0"/>
                <a:ea typeface="宋体" charset="0"/>
              </a:defRPr>
            </a:lvl5pPr>
            <a:lvl6pPr marL="25146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6pPr>
            <a:lvl7pPr marL="29718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7pPr>
            <a:lvl8pPr marL="34290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8pPr>
            <a:lvl9pPr marL="38862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9pPr>
          </a:lstStyle>
          <a:p>
            <a:pPr>
              <a:lnSpc>
                <a:spcPct val="100000"/>
              </a:lnSpc>
              <a:spcBef>
                <a:spcPct val="0"/>
              </a:spcBef>
              <a:buFontTx/>
              <a:buNone/>
            </a:pPr>
            <a:endParaRPr kumimoji="1" lang="zh-CN" altLang="en-US" sz="1800">
              <a:latin typeface="+mn-lt"/>
            </a:endParaRPr>
          </a:p>
        </p:txBody>
      </p:sp>
      <p:sp>
        <p:nvSpPr>
          <p:cNvPr id="10" name="文本框 9">
            <a:extLst>
              <a:ext uri="{FF2B5EF4-FFF2-40B4-BE49-F238E27FC236}">
                <a16:creationId xmlns:a16="http://schemas.microsoft.com/office/drawing/2014/main" id="{5D53F571-3FE3-414E-8DE9-03044D097F3C}"/>
              </a:ext>
            </a:extLst>
          </p:cNvPr>
          <p:cNvSpPr txBox="1"/>
          <p:nvPr/>
        </p:nvSpPr>
        <p:spPr>
          <a:xfrm>
            <a:off x="654258" y="589775"/>
            <a:ext cx="5289342" cy="523220"/>
          </a:xfrm>
          <a:prstGeom prst="rect">
            <a:avLst/>
          </a:prstGeom>
          <a:noFill/>
        </p:spPr>
        <p:txBody>
          <a:bodyPr wrap="square" rtlCol="0">
            <a:spAutoFit/>
          </a:bodyPr>
          <a:lstStyle/>
          <a:p>
            <a:r>
              <a:rPr kumimoji="1" lang="zh-CN" altLang="en-US" sz="2800" dirty="0">
                <a:latin typeface="Microsoft YaHei" charset="-122"/>
                <a:ea typeface="Microsoft YaHei" charset="-122"/>
                <a:cs typeface="Microsoft YaHei" charset="-122"/>
              </a:rPr>
              <a:t>狭义上的</a:t>
            </a:r>
            <a:r>
              <a:rPr kumimoji="1" lang="en-US" altLang="zh-CN" sz="2800" dirty="0">
                <a:latin typeface="Microsoft YaHei" charset="-122"/>
                <a:ea typeface="Microsoft YaHei" charset="-122"/>
                <a:cs typeface="Microsoft YaHei" charset="-122"/>
              </a:rPr>
              <a:t>Hadoop</a:t>
            </a:r>
          </a:p>
        </p:txBody>
      </p:sp>
      <p:sp>
        <p:nvSpPr>
          <p:cNvPr id="2" name="文本框 1">
            <a:extLst>
              <a:ext uri="{FF2B5EF4-FFF2-40B4-BE49-F238E27FC236}">
                <a16:creationId xmlns:a16="http://schemas.microsoft.com/office/drawing/2014/main" id="{9CE222E6-9694-44A2-8D61-17C8114EE65C}"/>
              </a:ext>
            </a:extLst>
          </p:cNvPr>
          <p:cNvSpPr txBox="1"/>
          <p:nvPr/>
        </p:nvSpPr>
        <p:spPr>
          <a:xfrm>
            <a:off x="534256" y="1510301"/>
            <a:ext cx="8291245" cy="464871"/>
          </a:xfrm>
          <a:prstGeom prst="rect">
            <a:avLst/>
          </a:prstGeom>
          <a:noFill/>
        </p:spPr>
        <p:txBody>
          <a:bodyPr wrap="square" rtlCol="0">
            <a:spAutoFit/>
          </a:bodyPr>
          <a:lstStyle/>
          <a:p>
            <a:pPr>
              <a:lnSpc>
                <a:spcPct val="150000"/>
              </a:lnSpc>
            </a:pPr>
            <a:r>
              <a:rPr lang="zh-CN" altLang="en-US" dirty="0"/>
              <a:t>狭义上的</a:t>
            </a:r>
            <a:r>
              <a:rPr lang="en-US" altLang="zh-CN" dirty="0"/>
              <a:t>Hadoop</a:t>
            </a:r>
            <a:r>
              <a:rPr lang="zh-CN" altLang="en-US" dirty="0"/>
              <a:t>包含</a:t>
            </a:r>
            <a:r>
              <a:rPr lang="en-US" altLang="zh-CN" dirty="0"/>
              <a:t>HDFS</a:t>
            </a:r>
            <a:r>
              <a:rPr lang="zh-CN" altLang="en-US" dirty="0"/>
              <a:t>以及</a:t>
            </a:r>
            <a:r>
              <a:rPr lang="en-US" altLang="zh-CN" dirty="0"/>
              <a:t>MapReduce</a:t>
            </a:r>
            <a:r>
              <a:rPr lang="zh-CN" altLang="en-US" dirty="0"/>
              <a:t>框架</a:t>
            </a:r>
          </a:p>
        </p:txBody>
      </p:sp>
      <p:pic>
        <p:nvPicPr>
          <p:cNvPr id="4" name="图片 3">
            <a:extLst>
              <a:ext uri="{FF2B5EF4-FFF2-40B4-BE49-F238E27FC236}">
                <a16:creationId xmlns:a16="http://schemas.microsoft.com/office/drawing/2014/main" id="{414FAB47-F68F-42C4-B97F-B4BA4565015B}"/>
              </a:ext>
            </a:extLst>
          </p:cNvPr>
          <p:cNvPicPr>
            <a:picLocks noChangeAspect="1"/>
          </p:cNvPicPr>
          <p:nvPr/>
        </p:nvPicPr>
        <p:blipFill>
          <a:blip r:embed="rId3"/>
          <a:stretch>
            <a:fillRect/>
          </a:stretch>
        </p:blipFill>
        <p:spPr>
          <a:xfrm>
            <a:off x="829148" y="3284076"/>
            <a:ext cx="2743583" cy="800212"/>
          </a:xfrm>
          <a:prstGeom prst="rect">
            <a:avLst/>
          </a:prstGeom>
        </p:spPr>
      </p:pic>
      <p:sp>
        <p:nvSpPr>
          <p:cNvPr id="5" name="左大括号 4">
            <a:extLst>
              <a:ext uri="{FF2B5EF4-FFF2-40B4-BE49-F238E27FC236}">
                <a16:creationId xmlns:a16="http://schemas.microsoft.com/office/drawing/2014/main" id="{2C4AA689-A8E0-42F5-A206-10BEB435EC0C}"/>
              </a:ext>
            </a:extLst>
          </p:cNvPr>
          <p:cNvSpPr/>
          <p:nvPr/>
        </p:nvSpPr>
        <p:spPr>
          <a:xfrm>
            <a:off x="4029740" y="2546498"/>
            <a:ext cx="425302" cy="227536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0882A304-7964-4456-9888-0F21C416DEA8}"/>
              </a:ext>
            </a:extLst>
          </p:cNvPr>
          <p:cNvSpPr txBox="1"/>
          <p:nvPr/>
        </p:nvSpPr>
        <p:spPr>
          <a:xfrm>
            <a:off x="4679878" y="2372478"/>
            <a:ext cx="2018634" cy="369332"/>
          </a:xfrm>
          <a:prstGeom prst="rect">
            <a:avLst/>
          </a:prstGeom>
          <a:noFill/>
        </p:spPr>
        <p:txBody>
          <a:bodyPr wrap="square" rtlCol="0">
            <a:spAutoFit/>
          </a:bodyPr>
          <a:lstStyle/>
          <a:p>
            <a:r>
              <a:rPr lang="en-US" altLang="zh-CN" dirty="0"/>
              <a:t>HDFS</a:t>
            </a:r>
            <a:endParaRPr lang="zh-CN" altLang="en-US" dirty="0"/>
          </a:p>
        </p:txBody>
      </p:sp>
      <p:sp>
        <p:nvSpPr>
          <p:cNvPr id="9" name="文本框 8">
            <a:extLst>
              <a:ext uri="{FF2B5EF4-FFF2-40B4-BE49-F238E27FC236}">
                <a16:creationId xmlns:a16="http://schemas.microsoft.com/office/drawing/2014/main" id="{285DBA53-991C-4938-B7EE-EA3B65F596F2}"/>
              </a:ext>
            </a:extLst>
          </p:cNvPr>
          <p:cNvSpPr txBox="1"/>
          <p:nvPr/>
        </p:nvSpPr>
        <p:spPr>
          <a:xfrm>
            <a:off x="4679878" y="4585256"/>
            <a:ext cx="2018634" cy="369332"/>
          </a:xfrm>
          <a:prstGeom prst="rect">
            <a:avLst/>
          </a:prstGeom>
          <a:noFill/>
        </p:spPr>
        <p:txBody>
          <a:bodyPr wrap="square" rtlCol="0">
            <a:spAutoFit/>
          </a:bodyPr>
          <a:lstStyle/>
          <a:p>
            <a:r>
              <a:rPr lang="en-US" altLang="zh-CN" dirty="0"/>
              <a:t>MapReduce</a:t>
            </a:r>
            <a:endParaRPr lang="zh-CN" altLang="en-US" dirty="0"/>
          </a:p>
        </p:txBody>
      </p:sp>
    </p:spTree>
    <p:extLst>
      <p:ext uri="{BB962C8B-B14F-4D97-AF65-F5344CB8AC3E}">
        <p14:creationId xmlns:p14="http://schemas.microsoft.com/office/powerpoint/2010/main" val="8475787"/>
      </p:ext>
    </p:extLst>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文本框 1"/>
          <p:cNvSpPr txBox="1">
            <a:spLocks noChangeArrowheads="1"/>
          </p:cNvSpPr>
          <p:nvPr/>
        </p:nvSpPr>
        <p:spPr bwMode="auto">
          <a:xfrm>
            <a:off x="-7464425" y="4954588"/>
            <a:ext cx="1857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charset="0"/>
              <a:buChar char="•"/>
              <a:defRPr sz="2800">
                <a:solidFill>
                  <a:schemeClr val="tx1"/>
                </a:solidFill>
                <a:latin typeface="Calibri" charset="0"/>
                <a:ea typeface="宋体" charset="0"/>
              </a:defRPr>
            </a:lvl1pPr>
            <a:lvl2pPr marL="742950" indent="-285750">
              <a:lnSpc>
                <a:spcPct val="90000"/>
              </a:lnSpc>
              <a:spcBef>
                <a:spcPts val="500"/>
              </a:spcBef>
              <a:buFont typeface="Arial" charset="0"/>
              <a:buChar char="•"/>
              <a:defRPr sz="2400">
                <a:solidFill>
                  <a:schemeClr val="tx1"/>
                </a:solidFill>
                <a:latin typeface="Calibri" charset="0"/>
                <a:ea typeface="宋体" charset="0"/>
              </a:defRPr>
            </a:lvl2pPr>
            <a:lvl3pPr marL="1143000" indent="-228600">
              <a:lnSpc>
                <a:spcPct val="90000"/>
              </a:lnSpc>
              <a:spcBef>
                <a:spcPts val="500"/>
              </a:spcBef>
              <a:buFont typeface="Arial" charset="0"/>
              <a:buChar char="•"/>
              <a:defRPr sz="2000">
                <a:solidFill>
                  <a:schemeClr val="tx1"/>
                </a:solidFill>
                <a:latin typeface="Calibri" charset="0"/>
                <a:ea typeface="宋体" charset="0"/>
              </a:defRPr>
            </a:lvl3pPr>
            <a:lvl4pPr marL="1600200" indent="-228600">
              <a:lnSpc>
                <a:spcPct val="90000"/>
              </a:lnSpc>
              <a:spcBef>
                <a:spcPts val="500"/>
              </a:spcBef>
              <a:buFont typeface="Arial" charset="0"/>
              <a:buChar char="•"/>
              <a:defRPr>
                <a:solidFill>
                  <a:schemeClr val="tx1"/>
                </a:solidFill>
                <a:latin typeface="Calibri" charset="0"/>
                <a:ea typeface="宋体" charset="0"/>
              </a:defRPr>
            </a:lvl4pPr>
            <a:lvl5pPr marL="2057400" indent="-228600">
              <a:lnSpc>
                <a:spcPct val="90000"/>
              </a:lnSpc>
              <a:spcBef>
                <a:spcPts val="500"/>
              </a:spcBef>
              <a:buFont typeface="Arial" charset="0"/>
              <a:buChar char="•"/>
              <a:defRPr>
                <a:solidFill>
                  <a:schemeClr val="tx1"/>
                </a:solidFill>
                <a:latin typeface="Calibri" charset="0"/>
                <a:ea typeface="宋体" charset="0"/>
              </a:defRPr>
            </a:lvl5pPr>
            <a:lvl6pPr marL="25146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6pPr>
            <a:lvl7pPr marL="29718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7pPr>
            <a:lvl8pPr marL="34290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8pPr>
            <a:lvl9pPr marL="38862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9pPr>
          </a:lstStyle>
          <a:p>
            <a:pPr>
              <a:lnSpc>
                <a:spcPct val="100000"/>
              </a:lnSpc>
              <a:spcBef>
                <a:spcPct val="0"/>
              </a:spcBef>
              <a:buFontTx/>
              <a:buNone/>
            </a:pPr>
            <a:endParaRPr kumimoji="1" lang="zh-CN" altLang="en-US" sz="1800">
              <a:latin typeface="+mn-lt"/>
            </a:endParaRPr>
          </a:p>
        </p:txBody>
      </p:sp>
      <p:sp>
        <p:nvSpPr>
          <p:cNvPr id="10" name="文本框 9">
            <a:extLst>
              <a:ext uri="{FF2B5EF4-FFF2-40B4-BE49-F238E27FC236}">
                <a16:creationId xmlns:a16="http://schemas.microsoft.com/office/drawing/2014/main" id="{5D53F571-3FE3-414E-8DE9-03044D097F3C}"/>
              </a:ext>
            </a:extLst>
          </p:cNvPr>
          <p:cNvSpPr txBox="1"/>
          <p:nvPr/>
        </p:nvSpPr>
        <p:spPr>
          <a:xfrm>
            <a:off x="654258" y="589775"/>
            <a:ext cx="5289342" cy="523220"/>
          </a:xfrm>
          <a:prstGeom prst="rect">
            <a:avLst/>
          </a:prstGeom>
          <a:noFill/>
        </p:spPr>
        <p:txBody>
          <a:bodyPr wrap="square" rtlCol="0">
            <a:spAutoFit/>
          </a:bodyPr>
          <a:lstStyle/>
          <a:p>
            <a:r>
              <a:rPr kumimoji="1" lang="zh-CN" altLang="en-US" sz="2800" dirty="0">
                <a:latin typeface="Microsoft YaHei" charset="-122"/>
                <a:ea typeface="Microsoft YaHei" charset="-122"/>
                <a:cs typeface="Microsoft YaHei" charset="-122"/>
              </a:rPr>
              <a:t>分布式文件系统</a:t>
            </a:r>
            <a:r>
              <a:rPr kumimoji="1" lang="en-US" altLang="zh-CN" sz="2800" dirty="0">
                <a:latin typeface="Microsoft YaHei" charset="-122"/>
                <a:ea typeface="Microsoft YaHei" charset="-122"/>
                <a:cs typeface="Microsoft YaHei" charset="-122"/>
              </a:rPr>
              <a:t>HDFS</a:t>
            </a:r>
          </a:p>
        </p:txBody>
      </p:sp>
      <p:sp>
        <p:nvSpPr>
          <p:cNvPr id="2" name="文本框 1">
            <a:extLst>
              <a:ext uri="{FF2B5EF4-FFF2-40B4-BE49-F238E27FC236}">
                <a16:creationId xmlns:a16="http://schemas.microsoft.com/office/drawing/2014/main" id="{9CE222E6-9694-44A2-8D61-17C8114EE65C}"/>
              </a:ext>
            </a:extLst>
          </p:cNvPr>
          <p:cNvSpPr txBox="1"/>
          <p:nvPr/>
        </p:nvSpPr>
        <p:spPr>
          <a:xfrm>
            <a:off x="534256" y="1345917"/>
            <a:ext cx="8291245" cy="2542363"/>
          </a:xfrm>
          <a:prstGeom prst="rect">
            <a:avLst/>
          </a:prstGeom>
          <a:noFill/>
        </p:spPr>
        <p:txBody>
          <a:bodyPr wrap="square" rtlCol="0">
            <a:spAutoFit/>
          </a:bodyPr>
          <a:lstStyle/>
          <a:p>
            <a:pPr>
              <a:lnSpc>
                <a:spcPct val="150000"/>
              </a:lnSpc>
            </a:pPr>
            <a:r>
              <a:rPr lang="zh-CN" altLang="en-US" dirty="0"/>
              <a:t>几个关键点：</a:t>
            </a:r>
            <a:endParaRPr lang="en-US" altLang="zh-CN" dirty="0"/>
          </a:p>
          <a:p>
            <a:pPr marL="285750" indent="-285750">
              <a:lnSpc>
                <a:spcPct val="150000"/>
              </a:lnSpc>
              <a:buFont typeface="Wingdings" panose="05000000000000000000" pitchFamily="2" charset="2"/>
              <a:buChar char="Ø"/>
            </a:pPr>
            <a:r>
              <a:rPr lang="zh-CN" altLang="en-US" dirty="0"/>
              <a:t>建立在单机文件系统基础上（组织者，上下级）</a:t>
            </a:r>
            <a:endParaRPr lang="en-US" altLang="zh-CN" dirty="0"/>
          </a:p>
          <a:p>
            <a:pPr marL="285750" indent="-285750">
              <a:lnSpc>
                <a:spcPct val="150000"/>
              </a:lnSpc>
              <a:buFont typeface="Wingdings" panose="05000000000000000000" pitchFamily="2" charset="2"/>
              <a:buChar char="Ø"/>
            </a:pPr>
            <a:r>
              <a:rPr lang="en-US" altLang="zh-CN" dirty="0"/>
              <a:t>Master – Slave</a:t>
            </a:r>
            <a:r>
              <a:rPr lang="zh-CN" altLang="en-US" dirty="0"/>
              <a:t>架构</a:t>
            </a:r>
            <a:endParaRPr lang="en-US" altLang="zh-CN" dirty="0"/>
          </a:p>
          <a:p>
            <a:pPr marL="285750" indent="-285750">
              <a:lnSpc>
                <a:spcPct val="150000"/>
              </a:lnSpc>
              <a:buFont typeface="Wingdings" panose="05000000000000000000" pitchFamily="2" charset="2"/>
              <a:buChar char="Ø"/>
            </a:pPr>
            <a:r>
              <a:rPr lang="zh-CN" altLang="en-US" dirty="0"/>
              <a:t>以</a:t>
            </a:r>
            <a:r>
              <a:rPr lang="en-US" altLang="zh-CN" dirty="0"/>
              <a:t>block</a:t>
            </a:r>
            <a:r>
              <a:rPr lang="zh-CN" altLang="en-US" dirty="0"/>
              <a:t>的方式进行组织（默认</a:t>
            </a:r>
            <a:r>
              <a:rPr lang="en-US" altLang="zh-CN" dirty="0"/>
              <a:t>128M</a:t>
            </a:r>
            <a:r>
              <a:rPr lang="zh-CN" altLang="en-US" dirty="0"/>
              <a:t>）</a:t>
            </a:r>
            <a:endParaRPr lang="en-US" altLang="zh-CN" dirty="0"/>
          </a:p>
          <a:p>
            <a:pPr marL="285750" indent="-285750">
              <a:lnSpc>
                <a:spcPct val="150000"/>
              </a:lnSpc>
              <a:buFont typeface="Wingdings" panose="05000000000000000000" pitchFamily="2" charset="2"/>
              <a:buChar char="Ø"/>
            </a:pPr>
            <a:r>
              <a:rPr lang="zh-CN" altLang="en-US" dirty="0"/>
              <a:t>高容错性（多副本策略）</a:t>
            </a:r>
            <a:endParaRPr lang="en-US" altLang="zh-CN" dirty="0"/>
          </a:p>
          <a:p>
            <a:pPr marL="285750" indent="-285750">
              <a:lnSpc>
                <a:spcPct val="150000"/>
              </a:lnSpc>
              <a:buFont typeface="Wingdings" panose="05000000000000000000" pitchFamily="2" charset="2"/>
              <a:buChar char="Ø"/>
            </a:pPr>
            <a:endParaRPr lang="en-US" altLang="zh-CN" dirty="0"/>
          </a:p>
        </p:txBody>
      </p:sp>
      <p:pic>
        <p:nvPicPr>
          <p:cNvPr id="5" name="Picture 2">
            <a:extLst>
              <a:ext uri="{FF2B5EF4-FFF2-40B4-BE49-F238E27FC236}">
                <a16:creationId xmlns:a16="http://schemas.microsoft.com/office/drawing/2014/main" id="{D57A436D-C80F-4445-BF44-EDAF7FF07924}"/>
              </a:ext>
            </a:extLst>
          </p:cNvPr>
          <p:cNvPicPr>
            <a:picLocks noChangeAspect="1" noChangeArrowheads="1"/>
          </p:cNvPicPr>
          <p:nvPr/>
        </p:nvPicPr>
        <p:blipFill>
          <a:blip r:embed="rId3" cstate="print"/>
          <a:srcRect/>
          <a:stretch>
            <a:fillRect/>
          </a:stretch>
        </p:blipFill>
        <p:spPr bwMode="auto">
          <a:xfrm>
            <a:off x="2209800" y="5265498"/>
            <a:ext cx="819150" cy="1162050"/>
          </a:xfrm>
          <a:prstGeom prst="rect">
            <a:avLst/>
          </a:prstGeom>
          <a:noFill/>
          <a:ln w="9525">
            <a:noFill/>
            <a:miter lim="800000"/>
            <a:headEnd/>
            <a:tailEnd/>
          </a:ln>
        </p:spPr>
      </p:pic>
      <p:pic>
        <p:nvPicPr>
          <p:cNvPr id="6" name="Picture 2">
            <a:extLst>
              <a:ext uri="{FF2B5EF4-FFF2-40B4-BE49-F238E27FC236}">
                <a16:creationId xmlns:a16="http://schemas.microsoft.com/office/drawing/2014/main" id="{6AFCDD8D-DAC9-4965-B02F-EFB79855755C}"/>
              </a:ext>
            </a:extLst>
          </p:cNvPr>
          <p:cNvPicPr>
            <a:picLocks noChangeAspect="1" noChangeArrowheads="1"/>
          </p:cNvPicPr>
          <p:nvPr/>
        </p:nvPicPr>
        <p:blipFill>
          <a:blip r:embed="rId3" cstate="print"/>
          <a:srcRect/>
          <a:stretch>
            <a:fillRect/>
          </a:stretch>
        </p:blipFill>
        <p:spPr bwMode="auto">
          <a:xfrm>
            <a:off x="4876800" y="5265498"/>
            <a:ext cx="819150" cy="1162050"/>
          </a:xfrm>
          <a:prstGeom prst="rect">
            <a:avLst/>
          </a:prstGeom>
          <a:noFill/>
          <a:ln w="9525">
            <a:noFill/>
            <a:miter lim="800000"/>
            <a:headEnd/>
            <a:tailEnd/>
          </a:ln>
        </p:spPr>
      </p:pic>
      <p:pic>
        <p:nvPicPr>
          <p:cNvPr id="7" name="Picture 2">
            <a:extLst>
              <a:ext uri="{FF2B5EF4-FFF2-40B4-BE49-F238E27FC236}">
                <a16:creationId xmlns:a16="http://schemas.microsoft.com/office/drawing/2014/main" id="{00E9DFE1-6AFA-4F5D-AB24-54CAA0FEDDC9}"/>
              </a:ext>
            </a:extLst>
          </p:cNvPr>
          <p:cNvPicPr>
            <a:picLocks noChangeAspect="1" noChangeArrowheads="1"/>
          </p:cNvPicPr>
          <p:nvPr/>
        </p:nvPicPr>
        <p:blipFill>
          <a:blip r:embed="rId3" cstate="print"/>
          <a:srcRect/>
          <a:stretch>
            <a:fillRect/>
          </a:stretch>
        </p:blipFill>
        <p:spPr bwMode="auto">
          <a:xfrm>
            <a:off x="7654290" y="5191365"/>
            <a:ext cx="819150" cy="1162050"/>
          </a:xfrm>
          <a:prstGeom prst="rect">
            <a:avLst/>
          </a:prstGeom>
          <a:noFill/>
          <a:ln w="9525">
            <a:noFill/>
            <a:miter lim="800000"/>
            <a:headEnd/>
            <a:tailEnd/>
          </a:ln>
        </p:spPr>
      </p:pic>
      <p:pic>
        <p:nvPicPr>
          <p:cNvPr id="8" name="Picture 3">
            <a:extLst>
              <a:ext uri="{FF2B5EF4-FFF2-40B4-BE49-F238E27FC236}">
                <a16:creationId xmlns:a16="http://schemas.microsoft.com/office/drawing/2014/main" id="{14A77631-A7C6-48F6-B3C7-7BB393D8E267}"/>
              </a:ext>
            </a:extLst>
          </p:cNvPr>
          <p:cNvPicPr>
            <a:picLocks noChangeAspect="1" noChangeArrowheads="1"/>
          </p:cNvPicPr>
          <p:nvPr/>
        </p:nvPicPr>
        <p:blipFill>
          <a:blip r:embed="rId4" cstate="print"/>
          <a:srcRect/>
          <a:stretch>
            <a:fillRect/>
          </a:stretch>
        </p:blipFill>
        <p:spPr bwMode="auto">
          <a:xfrm>
            <a:off x="4953000" y="3360498"/>
            <a:ext cx="885825" cy="1304925"/>
          </a:xfrm>
          <a:prstGeom prst="rect">
            <a:avLst/>
          </a:prstGeom>
          <a:noFill/>
          <a:ln w="9525">
            <a:noFill/>
            <a:miter lim="800000"/>
            <a:headEnd/>
            <a:tailEnd/>
          </a:ln>
        </p:spPr>
      </p:pic>
      <p:sp>
        <p:nvSpPr>
          <p:cNvPr id="9" name="TextBox 23">
            <a:extLst>
              <a:ext uri="{FF2B5EF4-FFF2-40B4-BE49-F238E27FC236}">
                <a16:creationId xmlns:a16="http://schemas.microsoft.com/office/drawing/2014/main" id="{49B05C9F-4ADB-4BA6-92AD-58B53430C2AB}"/>
              </a:ext>
            </a:extLst>
          </p:cNvPr>
          <p:cNvSpPr txBox="1"/>
          <p:nvPr/>
        </p:nvSpPr>
        <p:spPr>
          <a:xfrm>
            <a:off x="5867400" y="3436698"/>
            <a:ext cx="1600200" cy="954107"/>
          </a:xfrm>
          <a:prstGeom prst="rect">
            <a:avLst/>
          </a:prstGeom>
          <a:noFill/>
        </p:spPr>
        <p:txBody>
          <a:bodyPr wrap="square" rtlCol="0">
            <a:spAutoFit/>
          </a:bodyPr>
          <a:lstStyle/>
          <a:p>
            <a:r>
              <a:rPr lang="en-US" sz="2400" dirty="0" err="1"/>
              <a:t>NameNode</a:t>
            </a:r>
            <a:endParaRPr lang="en-US" sz="2400" dirty="0"/>
          </a:p>
          <a:p>
            <a:r>
              <a:rPr lang="en-US" sz="1600" dirty="0"/>
              <a:t>(A part of the Master node)</a:t>
            </a:r>
          </a:p>
        </p:txBody>
      </p:sp>
      <p:sp>
        <p:nvSpPr>
          <p:cNvPr id="11" name="TextBox 24">
            <a:extLst>
              <a:ext uri="{FF2B5EF4-FFF2-40B4-BE49-F238E27FC236}">
                <a16:creationId xmlns:a16="http://schemas.microsoft.com/office/drawing/2014/main" id="{0DFF4FAE-6628-4BCF-B1D5-38A930F6DC42}"/>
              </a:ext>
            </a:extLst>
          </p:cNvPr>
          <p:cNvSpPr txBox="1"/>
          <p:nvPr/>
        </p:nvSpPr>
        <p:spPr>
          <a:xfrm>
            <a:off x="381000" y="5494098"/>
            <a:ext cx="1828800" cy="461665"/>
          </a:xfrm>
          <a:prstGeom prst="rect">
            <a:avLst/>
          </a:prstGeom>
          <a:noFill/>
        </p:spPr>
        <p:txBody>
          <a:bodyPr wrap="square" rtlCol="0">
            <a:spAutoFit/>
          </a:bodyPr>
          <a:lstStyle/>
          <a:p>
            <a:r>
              <a:rPr lang="en-US" sz="2400" dirty="0" err="1"/>
              <a:t>DataNode</a:t>
            </a:r>
            <a:r>
              <a:rPr lang="en-US" sz="2400" dirty="0"/>
              <a:t> 1</a:t>
            </a:r>
          </a:p>
        </p:txBody>
      </p:sp>
      <p:sp>
        <p:nvSpPr>
          <p:cNvPr id="12" name="TextBox 25">
            <a:extLst>
              <a:ext uri="{FF2B5EF4-FFF2-40B4-BE49-F238E27FC236}">
                <a16:creationId xmlns:a16="http://schemas.microsoft.com/office/drawing/2014/main" id="{9E0CD276-EAAF-47D4-9693-720303F6602D}"/>
              </a:ext>
            </a:extLst>
          </p:cNvPr>
          <p:cNvSpPr txBox="1"/>
          <p:nvPr/>
        </p:nvSpPr>
        <p:spPr>
          <a:xfrm>
            <a:off x="3276600" y="5494098"/>
            <a:ext cx="1828800" cy="461665"/>
          </a:xfrm>
          <a:prstGeom prst="rect">
            <a:avLst/>
          </a:prstGeom>
          <a:noFill/>
        </p:spPr>
        <p:txBody>
          <a:bodyPr wrap="square" rtlCol="0">
            <a:spAutoFit/>
          </a:bodyPr>
          <a:lstStyle/>
          <a:p>
            <a:r>
              <a:rPr lang="en-US" sz="2400" dirty="0" err="1"/>
              <a:t>DataNode</a:t>
            </a:r>
            <a:r>
              <a:rPr lang="en-US" sz="2400" dirty="0"/>
              <a:t> 2</a:t>
            </a:r>
          </a:p>
        </p:txBody>
      </p:sp>
      <p:sp>
        <p:nvSpPr>
          <p:cNvPr id="13" name="TextBox 26">
            <a:extLst>
              <a:ext uri="{FF2B5EF4-FFF2-40B4-BE49-F238E27FC236}">
                <a16:creationId xmlns:a16="http://schemas.microsoft.com/office/drawing/2014/main" id="{5E7F5DA0-D0BF-4A61-B2E3-22A7CE5018D9}"/>
              </a:ext>
            </a:extLst>
          </p:cNvPr>
          <p:cNvSpPr txBox="1"/>
          <p:nvPr/>
        </p:nvSpPr>
        <p:spPr>
          <a:xfrm>
            <a:off x="6096000" y="5489633"/>
            <a:ext cx="1828800" cy="461665"/>
          </a:xfrm>
          <a:prstGeom prst="rect">
            <a:avLst/>
          </a:prstGeom>
          <a:noFill/>
        </p:spPr>
        <p:txBody>
          <a:bodyPr wrap="square" rtlCol="0">
            <a:spAutoFit/>
          </a:bodyPr>
          <a:lstStyle/>
          <a:p>
            <a:r>
              <a:rPr lang="en-US" sz="2400" dirty="0" err="1"/>
              <a:t>DataNode</a:t>
            </a:r>
            <a:r>
              <a:rPr lang="en-US" sz="2400" dirty="0"/>
              <a:t> 3</a:t>
            </a:r>
          </a:p>
        </p:txBody>
      </p:sp>
      <p:cxnSp>
        <p:nvCxnSpPr>
          <p:cNvPr id="14" name="Straight Connector 28">
            <a:extLst>
              <a:ext uri="{FF2B5EF4-FFF2-40B4-BE49-F238E27FC236}">
                <a16:creationId xmlns:a16="http://schemas.microsoft.com/office/drawing/2014/main" id="{AD6DAE99-248C-4684-B079-8A01F513B44E}"/>
              </a:ext>
            </a:extLst>
          </p:cNvPr>
          <p:cNvCxnSpPr/>
          <p:nvPr/>
        </p:nvCxnSpPr>
        <p:spPr>
          <a:xfrm rot="5400000" flipH="1" flipV="1">
            <a:off x="3707608" y="3577192"/>
            <a:ext cx="600075" cy="2776538"/>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5" name="Straight Connector 30">
            <a:extLst>
              <a:ext uri="{FF2B5EF4-FFF2-40B4-BE49-F238E27FC236}">
                <a16:creationId xmlns:a16="http://schemas.microsoft.com/office/drawing/2014/main" id="{AF4DD6D3-C49C-4A6F-A807-EE0442BCDF9D}"/>
              </a:ext>
            </a:extLst>
          </p:cNvPr>
          <p:cNvCxnSpPr>
            <a:stCxn id="6" idx="0"/>
            <a:endCxn id="8" idx="2"/>
          </p:cNvCxnSpPr>
          <p:nvPr/>
        </p:nvCxnSpPr>
        <p:spPr>
          <a:xfrm rot="5400000" flipH="1" flipV="1">
            <a:off x="5041107" y="4910692"/>
            <a:ext cx="600075" cy="109538"/>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6" name="Straight Connector 32">
            <a:extLst>
              <a:ext uri="{FF2B5EF4-FFF2-40B4-BE49-F238E27FC236}">
                <a16:creationId xmlns:a16="http://schemas.microsoft.com/office/drawing/2014/main" id="{D8EA2769-1FAB-43F8-A2A9-70A9F29409B7}"/>
              </a:ext>
            </a:extLst>
          </p:cNvPr>
          <p:cNvCxnSpPr>
            <a:stCxn id="7" idx="0"/>
            <a:endCxn id="8" idx="2"/>
          </p:cNvCxnSpPr>
          <p:nvPr/>
        </p:nvCxnSpPr>
        <p:spPr>
          <a:xfrm rot="16200000" flipV="1">
            <a:off x="6466918" y="3594418"/>
            <a:ext cx="525942" cy="2667952"/>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7" name="TextBox 47">
            <a:extLst>
              <a:ext uri="{FF2B5EF4-FFF2-40B4-BE49-F238E27FC236}">
                <a16:creationId xmlns:a16="http://schemas.microsoft.com/office/drawing/2014/main" id="{82B4A0F0-BBEE-4D4A-AF21-C29677ED35EA}"/>
              </a:ext>
            </a:extLst>
          </p:cNvPr>
          <p:cNvSpPr txBox="1"/>
          <p:nvPr/>
        </p:nvSpPr>
        <p:spPr>
          <a:xfrm>
            <a:off x="533400" y="3512898"/>
            <a:ext cx="1600200" cy="381000"/>
          </a:xfrm>
          <a:prstGeom prst="rect">
            <a:avLst/>
          </a:prstGeom>
          <a:noFill/>
          <a:ln w="38100">
            <a:solidFill>
              <a:schemeClr val="tx1"/>
            </a:solidFill>
          </a:ln>
        </p:spPr>
        <p:txBody>
          <a:bodyPr wrap="square" rtlCol="0">
            <a:spAutoFit/>
          </a:bodyPr>
          <a:lstStyle/>
          <a:p>
            <a:r>
              <a:rPr lang="en-US" b="1" dirty="0"/>
              <a:t>HDFS Blocks</a:t>
            </a:r>
          </a:p>
        </p:txBody>
      </p:sp>
      <p:sp>
        <p:nvSpPr>
          <p:cNvPr id="18" name="TextBox 45">
            <a:extLst>
              <a:ext uri="{FF2B5EF4-FFF2-40B4-BE49-F238E27FC236}">
                <a16:creationId xmlns:a16="http://schemas.microsoft.com/office/drawing/2014/main" id="{E19B0889-C0BE-4B39-A015-3F035811CB87}"/>
              </a:ext>
            </a:extLst>
          </p:cNvPr>
          <p:cNvSpPr txBox="1"/>
          <p:nvPr/>
        </p:nvSpPr>
        <p:spPr>
          <a:xfrm>
            <a:off x="533400" y="4655898"/>
            <a:ext cx="1600200" cy="381000"/>
          </a:xfrm>
          <a:prstGeom prst="rect">
            <a:avLst/>
          </a:prstGeom>
          <a:solidFill>
            <a:schemeClr val="bg1"/>
          </a:solidFill>
          <a:ln w="38100">
            <a:solidFill>
              <a:schemeClr val="tx1"/>
            </a:solidFill>
          </a:ln>
        </p:spPr>
        <p:txBody>
          <a:bodyPr wrap="square" rtlCol="0">
            <a:spAutoFit/>
          </a:bodyPr>
          <a:lstStyle/>
          <a:p>
            <a:r>
              <a:rPr lang="en-US" b="1" dirty="0"/>
              <a:t>Store Block 3</a:t>
            </a:r>
          </a:p>
        </p:txBody>
      </p:sp>
      <p:sp>
        <p:nvSpPr>
          <p:cNvPr id="19" name="TextBox 44">
            <a:extLst>
              <a:ext uri="{FF2B5EF4-FFF2-40B4-BE49-F238E27FC236}">
                <a16:creationId xmlns:a16="http://schemas.microsoft.com/office/drawing/2014/main" id="{4A55BACE-F541-46AE-AD4E-F04A46CA9DE8}"/>
              </a:ext>
            </a:extLst>
          </p:cNvPr>
          <p:cNvSpPr txBox="1"/>
          <p:nvPr/>
        </p:nvSpPr>
        <p:spPr>
          <a:xfrm>
            <a:off x="533400" y="4274898"/>
            <a:ext cx="1600200" cy="381000"/>
          </a:xfrm>
          <a:prstGeom prst="rect">
            <a:avLst/>
          </a:prstGeom>
          <a:solidFill>
            <a:schemeClr val="bg1"/>
          </a:solidFill>
          <a:ln w="38100">
            <a:solidFill>
              <a:schemeClr val="tx1"/>
            </a:solidFill>
          </a:ln>
        </p:spPr>
        <p:txBody>
          <a:bodyPr wrap="square" rtlCol="0">
            <a:spAutoFit/>
          </a:bodyPr>
          <a:lstStyle/>
          <a:p>
            <a:r>
              <a:rPr lang="en-US" b="1" dirty="0"/>
              <a:t>Store Block 2</a:t>
            </a:r>
          </a:p>
        </p:txBody>
      </p:sp>
      <p:sp>
        <p:nvSpPr>
          <p:cNvPr id="20" name="TextBox 43">
            <a:extLst>
              <a:ext uri="{FF2B5EF4-FFF2-40B4-BE49-F238E27FC236}">
                <a16:creationId xmlns:a16="http://schemas.microsoft.com/office/drawing/2014/main" id="{8382ED04-EAE3-428A-8DF0-8F444397F324}"/>
              </a:ext>
            </a:extLst>
          </p:cNvPr>
          <p:cNvSpPr txBox="1"/>
          <p:nvPr/>
        </p:nvSpPr>
        <p:spPr>
          <a:xfrm>
            <a:off x="533400" y="3893898"/>
            <a:ext cx="1600200" cy="381000"/>
          </a:xfrm>
          <a:prstGeom prst="rect">
            <a:avLst/>
          </a:prstGeom>
          <a:solidFill>
            <a:schemeClr val="bg1"/>
          </a:solidFill>
          <a:ln w="38100">
            <a:solidFill>
              <a:schemeClr val="tx1"/>
            </a:solidFill>
          </a:ln>
        </p:spPr>
        <p:txBody>
          <a:bodyPr wrap="square" rtlCol="0">
            <a:spAutoFit/>
          </a:bodyPr>
          <a:lstStyle/>
          <a:p>
            <a:r>
              <a:rPr lang="en-US" b="1" dirty="0"/>
              <a:t>Store Block 1</a:t>
            </a:r>
          </a:p>
        </p:txBody>
      </p:sp>
    </p:spTree>
    <p:extLst>
      <p:ext uri="{BB962C8B-B14F-4D97-AF65-F5344CB8AC3E}">
        <p14:creationId xmlns:p14="http://schemas.microsoft.com/office/powerpoint/2010/main" val="2946818795"/>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childTnLst>
                          </p:cTn>
                        </p:par>
                        <p:par>
                          <p:cTn id="35" fill="hold">
                            <p:stCondLst>
                              <p:cond delay="0"/>
                            </p:stCondLst>
                            <p:childTnLst>
                              <p:par>
                                <p:cTn id="36" presetID="49" presetClass="path" presetSubtype="0" accel="50000" decel="50000" fill="hold" nodeType="afterEffect">
                                  <p:stCondLst>
                                    <p:cond delay="0"/>
                                  </p:stCondLst>
                                  <p:childTnLst>
                                    <p:animMotion origin="layout" path="M 0.0875 0.00555 L 0.1625 0.13889 " pathEditMode="relative" rAng="0" ptsTypes="AA">
                                      <p:cBhvr>
                                        <p:cTn id="37" dur="2000" fill="hold"/>
                                        <p:tgtEl>
                                          <p:spTgt spid="20"/>
                                        </p:tgtEl>
                                        <p:attrNameLst>
                                          <p:attrName>ppt_x</p:attrName>
                                          <p:attrName>ppt_y</p:attrName>
                                        </p:attrNameLst>
                                      </p:cBhvr>
                                      <p:rCtr x="3800" y="6700"/>
                                    </p:animMotion>
                                  </p:childTnLst>
                                </p:cTn>
                              </p:par>
                              <p:par>
                                <p:cTn id="38" presetID="49" presetClass="path" presetSubtype="0" accel="50000" decel="50000" fill="hold" nodeType="withEffect">
                                  <p:stCondLst>
                                    <p:cond delay="0"/>
                                  </p:stCondLst>
                                  <p:childTnLst>
                                    <p:animMotion origin="layout" path="M 0.0875 0.00556 L 0.4375 0.08334 " pathEditMode="relative" rAng="0" ptsTypes="AA">
                                      <p:cBhvr>
                                        <p:cTn id="39" dur="2000" fill="hold"/>
                                        <p:tgtEl>
                                          <p:spTgt spid="19"/>
                                        </p:tgtEl>
                                        <p:attrNameLst>
                                          <p:attrName>ppt_x</p:attrName>
                                          <p:attrName>ppt_y</p:attrName>
                                        </p:attrNameLst>
                                      </p:cBhvr>
                                      <p:rCtr x="17500" y="3900"/>
                                    </p:animMotion>
                                  </p:childTnLst>
                                </p:cTn>
                              </p:par>
                              <p:par>
                                <p:cTn id="40" presetID="49" presetClass="path" presetSubtype="0" accel="50000" decel="50000" fill="hold" nodeType="withEffect">
                                  <p:stCondLst>
                                    <p:cond delay="0"/>
                                  </p:stCondLst>
                                  <p:childTnLst>
                                    <p:animMotion origin="layout" path="M 0.0875 0.00556 L 0.74584 0.02778 " pathEditMode="relative" rAng="0" ptsTypes="AA">
                                      <p:cBhvr>
                                        <p:cTn id="41" dur="2000" fill="hold"/>
                                        <p:tgtEl>
                                          <p:spTgt spid="18"/>
                                        </p:tgtEl>
                                        <p:attrNameLst>
                                          <p:attrName>ppt_x</p:attrName>
                                          <p:attrName>ppt_y</p:attrName>
                                        </p:attrNameLst>
                                      </p:cBhvr>
                                      <p:rCtr x="32900" y="11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2" grpId="0"/>
      <p:bldP spid="13" grpId="0"/>
      <p:bldP spid="17" grpId="0" animBg="1"/>
      <p:bldP spid="18" grpId="0" animBg="1"/>
      <p:bldP spid="19" grpId="0" animBg="1"/>
      <p:bldP spid="2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文本框 1"/>
          <p:cNvSpPr txBox="1">
            <a:spLocks noChangeArrowheads="1"/>
          </p:cNvSpPr>
          <p:nvPr/>
        </p:nvSpPr>
        <p:spPr bwMode="auto">
          <a:xfrm>
            <a:off x="-7464425" y="4954588"/>
            <a:ext cx="1857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charset="0"/>
              <a:buChar char="•"/>
              <a:defRPr sz="2800">
                <a:solidFill>
                  <a:schemeClr val="tx1"/>
                </a:solidFill>
                <a:latin typeface="Calibri" charset="0"/>
                <a:ea typeface="宋体" charset="0"/>
              </a:defRPr>
            </a:lvl1pPr>
            <a:lvl2pPr marL="742950" indent="-285750">
              <a:lnSpc>
                <a:spcPct val="90000"/>
              </a:lnSpc>
              <a:spcBef>
                <a:spcPts val="500"/>
              </a:spcBef>
              <a:buFont typeface="Arial" charset="0"/>
              <a:buChar char="•"/>
              <a:defRPr sz="2400">
                <a:solidFill>
                  <a:schemeClr val="tx1"/>
                </a:solidFill>
                <a:latin typeface="Calibri" charset="0"/>
                <a:ea typeface="宋体" charset="0"/>
              </a:defRPr>
            </a:lvl2pPr>
            <a:lvl3pPr marL="1143000" indent="-228600">
              <a:lnSpc>
                <a:spcPct val="90000"/>
              </a:lnSpc>
              <a:spcBef>
                <a:spcPts val="500"/>
              </a:spcBef>
              <a:buFont typeface="Arial" charset="0"/>
              <a:buChar char="•"/>
              <a:defRPr sz="2000">
                <a:solidFill>
                  <a:schemeClr val="tx1"/>
                </a:solidFill>
                <a:latin typeface="Calibri" charset="0"/>
                <a:ea typeface="宋体" charset="0"/>
              </a:defRPr>
            </a:lvl3pPr>
            <a:lvl4pPr marL="1600200" indent="-228600">
              <a:lnSpc>
                <a:spcPct val="90000"/>
              </a:lnSpc>
              <a:spcBef>
                <a:spcPts val="500"/>
              </a:spcBef>
              <a:buFont typeface="Arial" charset="0"/>
              <a:buChar char="•"/>
              <a:defRPr>
                <a:solidFill>
                  <a:schemeClr val="tx1"/>
                </a:solidFill>
                <a:latin typeface="Calibri" charset="0"/>
                <a:ea typeface="宋体" charset="0"/>
              </a:defRPr>
            </a:lvl4pPr>
            <a:lvl5pPr marL="2057400" indent="-228600">
              <a:lnSpc>
                <a:spcPct val="90000"/>
              </a:lnSpc>
              <a:spcBef>
                <a:spcPts val="500"/>
              </a:spcBef>
              <a:buFont typeface="Arial" charset="0"/>
              <a:buChar char="•"/>
              <a:defRPr>
                <a:solidFill>
                  <a:schemeClr val="tx1"/>
                </a:solidFill>
                <a:latin typeface="Calibri" charset="0"/>
                <a:ea typeface="宋体" charset="0"/>
              </a:defRPr>
            </a:lvl5pPr>
            <a:lvl6pPr marL="25146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6pPr>
            <a:lvl7pPr marL="29718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7pPr>
            <a:lvl8pPr marL="34290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8pPr>
            <a:lvl9pPr marL="38862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9pPr>
          </a:lstStyle>
          <a:p>
            <a:pPr>
              <a:lnSpc>
                <a:spcPct val="100000"/>
              </a:lnSpc>
              <a:spcBef>
                <a:spcPct val="0"/>
              </a:spcBef>
              <a:buFontTx/>
              <a:buNone/>
            </a:pPr>
            <a:endParaRPr kumimoji="1" lang="zh-CN" altLang="en-US" sz="1800">
              <a:latin typeface="+mn-lt"/>
            </a:endParaRPr>
          </a:p>
        </p:txBody>
      </p:sp>
      <p:sp>
        <p:nvSpPr>
          <p:cNvPr id="10" name="文本框 9">
            <a:extLst>
              <a:ext uri="{FF2B5EF4-FFF2-40B4-BE49-F238E27FC236}">
                <a16:creationId xmlns:a16="http://schemas.microsoft.com/office/drawing/2014/main" id="{5D53F571-3FE3-414E-8DE9-03044D097F3C}"/>
              </a:ext>
            </a:extLst>
          </p:cNvPr>
          <p:cNvSpPr txBox="1"/>
          <p:nvPr/>
        </p:nvSpPr>
        <p:spPr>
          <a:xfrm>
            <a:off x="654258" y="589775"/>
            <a:ext cx="5289342" cy="523220"/>
          </a:xfrm>
          <a:prstGeom prst="rect">
            <a:avLst/>
          </a:prstGeom>
          <a:noFill/>
        </p:spPr>
        <p:txBody>
          <a:bodyPr wrap="square" rtlCol="0">
            <a:spAutoFit/>
          </a:bodyPr>
          <a:lstStyle/>
          <a:p>
            <a:r>
              <a:rPr kumimoji="1" lang="en-US" altLang="zh-CN" sz="2800" dirty="0" err="1">
                <a:latin typeface="Microsoft YaHei" charset="-122"/>
                <a:ea typeface="Microsoft YaHei" charset="-122"/>
                <a:cs typeface="Microsoft YaHei" charset="-122"/>
              </a:rPr>
              <a:t>NameNode</a:t>
            </a:r>
            <a:r>
              <a:rPr kumimoji="1" lang="zh-CN" altLang="en-US" sz="2800" dirty="0">
                <a:latin typeface="Microsoft YaHei" charset="-122"/>
                <a:ea typeface="Microsoft YaHei" charset="-122"/>
                <a:cs typeface="Microsoft YaHei" charset="-122"/>
              </a:rPr>
              <a:t>与</a:t>
            </a:r>
            <a:r>
              <a:rPr kumimoji="1" lang="en-US" altLang="zh-CN" sz="2800" dirty="0" err="1">
                <a:latin typeface="Microsoft YaHei" charset="-122"/>
                <a:ea typeface="Microsoft YaHei" charset="-122"/>
                <a:cs typeface="Microsoft YaHei" charset="-122"/>
              </a:rPr>
              <a:t>DataNode</a:t>
            </a:r>
            <a:endParaRPr kumimoji="1" lang="en-US" altLang="zh-CN" sz="2800" dirty="0">
              <a:latin typeface="Microsoft YaHei" charset="-122"/>
              <a:ea typeface="Microsoft YaHei" charset="-122"/>
              <a:cs typeface="Microsoft YaHei" charset="-122"/>
            </a:endParaRPr>
          </a:p>
        </p:txBody>
      </p:sp>
      <p:pic>
        <p:nvPicPr>
          <p:cNvPr id="4" name="图片 3">
            <a:extLst>
              <a:ext uri="{FF2B5EF4-FFF2-40B4-BE49-F238E27FC236}">
                <a16:creationId xmlns:a16="http://schemas.microsoft.com/office/drawing/2014/main" id="{AF8C613E-1BDC-4E72-BF10-61E503F3827C}"/>
              </a:ext>
            </a:extLst>
          </p:cNvPr>
          <p:cNvPicPr>
            <a:picLocks noChangeAspect="1"/>
          </p:cNvPicPr>
          <p:nvPr/>
        </p:nvPicPr>
        <p:blipFill>
          <a:blip r:embed="rId3"/>
          <a:stretch>
            <a:fillRect/>
          </a:stretch>
        </p:blipFill>
        <p:spPr>
          <a:xfrm>
            <a:off x="204205" y="2213886"/>
            <a:ext cx="5272388" cy="3110589"/>
          </a:xfrm>
          <a:prstGeom prst="rect">
            <a:avLst/>
          </a:prstGeom>
        </p:spPr>
      </p:pic>
      <p:sp>
        <p:nvSpPr>
          <p:cNvPr id="5" name="文本框 4">
            <a:extLst>
              <a:ext uri="{FF2B5EF4-FFF2-40B4-BE49-F238E27FC236}">
                <a16:creationId xmlns:a16="http://schemas.microsoft.com/office/drawing/2014/main" id="{D3838770-B8E8-427D-B851-DD12F769ED08}"/>
              </a:ext>
            </a:extLst>
          </p:cNvPr>
          <p:cNvSpPr txBox="1"/>
          <p:nvPr/>
        </p:nvSpPr>
        <p:spPr>
          <a:xfrm>
            <a:off x="5667153" y="1626781"/>
            <a:ext cx="3157870" cy="1477328"/>
          </a:xfrm>
          <a:prstGeom prst="rect">
            <a:avLst/>
          </a:prstGeom>
          <a:noFill/>
        </p:spPr>
        <p:txBody>
          <a:bodyPr wrap="square" rtlCol="0">
            <a:spAutoFit/>
          </a:bodyPr>
          <a:lstStyle/>
          <a:p>
            <a:r>
              <a:rPr lang="en-US" altLang="zh-CN" dirty="0" err="1"/>
              <a:t>NameNode</a:t>
            </a:r>
            <a:r>
              <a:rPr lang="zh-CN" altLang="en-US" dirty="0"/>
              <a:t>：</a:t>
            </a:r>
            <a:endParaRPr lang="en-US" altLang="zh-CN" dirty="0"/>
          </a:p>
          <a:p>
            <a:pPr marL="285750" indent="-285750">
              <a:buFont typeface="Wingdings" panose="05000000000000000000" pitchFamily="2" charset="2"/>
              <a:buChar char="Ø"/>
            </a:pPr>
            <a:r>
              <a:rPr lang="zh-CN" altLang="en-US" dirty="0"/>
              <a:t>存储元数据</a:t>
            </a:r>
            <a:endParaRPr lang="en-US" altLang="zh-CN" dirty="0"/>
          </a:p>
          <a:p>
            <a:pPr marL="285750" indent="-285750">
              <a:buFont typeface="Wingdings" panose="05000000000000000000" pitchFamily="2" charset="2"/>
              <a:buChar char="Ø"/>
            </a:pPr>
            <a:r>
              <a:rPr lang="zh-CN" altLang="en-US" dirty="0"/>
              <a:t>元数据在内存以及磁盘中</a:t>
            </a:r>
            <a:endParaRPr lang="en-US" altLang="zh-CN" dirty="0"/>
          </a:p>
          <a:p>
            <a:pPr marL="285750" indent="-285750">
              <a:buFont typeface="Wingdings" panose="05000000000000000000" pitchFamily="2" charset="2"/>
              <a:buChar char="Ø"/>
            </a:pPr>
            <a:r>
              <a:rPr lang="zh-CN" altLang="en-US" dirty="0"/>
              <a:t>元数据是文件，</a:t>
            </a:r>
            <a:r>
              <a:rPr lang="en-US" altLang="zh-CN" dirty="0"/>
              <a:t>block</a:t>
            </a:r>
            <a:r>
              <a:rPr lang="zh-CN" altLang="en-US" dirty="0"/>
              <a:t>，</a:t>
            </a:r>
            <a:r>
              <a:rPr lang="en-US" altLang="zh-CN" dirty="0" err="1"/>
              <a:t>DataNode</a:t>
            </a:r>
            <a:r>
              <a:rPr lang="zh-CN" altLang="en-US" dirty="0"/>
              <a:t>之间的映射关系</a:t>
            </a:r>
          </a:p>
        </p:txBody>
      </p:sp>
      <p:sp>
        <p:nvSpPr>
          <p:cNvPr id="8" name="文本框 7">
            <a:extLst>
              <a:ext uri="{FF2B5EF4-FFF2-40B4-BE49-F238E27FC236}">
                <a16:creationId xmlns:a16="http://schemas.microsoft.com/office/drawing/2014/main" id="{0197A38D-A76C-4B80-8C69-951EF53188C9}"/>
              </a:ext>
            </a:extLst>
          </p:cNvPr>
          <p:cNvSpPr txBox="1"/>
          <p:nvPr/>
        </p:nvSpPr>
        <p:spPr>
          <a:xfrm>
            <a:off x="5667153" y="3753891"/>
            <a:ext cx="3157870" cy="923330"/>
          </a:xfrm>
          <a:prstGeom prst="rect">
            <a:avLst/>
          </a:prstGeom>
          <a:noFill/>
        </p:spPr>
        <p:txBody>
          <a:bodyPr wrap="square" rtlCol="0">
            <a:spAutoFit/>
          </a:bodyPr>
          <a:lstStyle/>
          <a:p>
            <a:r>
              <a:rPr lang="en-US" altLang="zh-CN" dirty="0" err="1"/>
              <a:t>DataNode</a:t>
            </a:r>
            <a:r>
              <a:rPr lang="zh-CN" altLang="en-US" dirty="0"/>
              <a:t>：</a:t>
            </a:r>
            <a:endParaRPr lang="en-US" altLang="zh-CN" dirty="0"/>
          </a:p>
          <a:p>
            <a:pPr marL="285750" indent="-285750">
              <a:buFont typeface="Wingdings" panose="05000000000000000000" pitchFamily="2" charset="2"/>
              <a:buChar char="Ø"/>
            </a:pPr>
            <a:r>
              <a:rPr lang="zh-CN" altLang="en-US" dirty="0"/>
              <a:t>存储文件内容</a:t>
            </a:r>
            <a:endParaRPr lang="en-US" altLang="zh-CN" dirty="0"/>
          </a:p>
          <a:p>
            <a:pPr marL="285750" indent="-285750">
              <a:buFont typeface="Wingdings" panose="05000000000000000000" pitchFamily="2" charset="2"/>
              <a:buChar char="Ø"/>
            </a:pPr>
            <a:r>
              <a:rPr lang="zh-CN" altLang="en-US" dirty="0"/>
              <a:t>数据在磁盘中</a:t>
            </a:r>
          </a:p>
        </p:txBody>
      </p:sp>
    </p:spTree>
    <p:extLst>
      <p:ext uri="{BB962C8B-B14F-4D97-AF65-F5344CB8AC3E}">
        <p14:creationId xmlns:p14="http://schemas.microsoft.com/office/powerpoint/2010/main" val="1851314107"/>
      </p:ext>
    </p:extLst>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文本框 1"/>
          <p:cNvSpPr txBox="1">
            <a:spLocks noChangeArrowheads="1"/>
          </p:cNvSpPr>
          <p:nvPr/>
        </p:nvSpPr>
        <p:spPr bwMode="auto">
          <a:xfrm>
            <a:off x="-7464425" y="4954588"/>
            <a:ext cx="1857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charset="0"/>
              <a:buChar char="•"/>
              <a:defRPr sz="2800">
                <a:solidFill>
                  <a:schemeClr val="tx1"/>
                </a:solidFill>
                <a:latin typeface="Calibri" charset="0"/>
                <a:ea typeface="宋体" charset="0"/>
              </a:defRPr>
            </a:lvl1pPr>
            <a:lvl2pPr marL="742950" indent="-285750">
              <a:lnSpc>
                <a:spcPct val="90000"/>
              </a:lnSpc>
              <a:spcBef>
                <a:spcPts val="500"/>
              </a:spcBef>
              <a:buFont typeface="Arial" charset="0"/>
              <a:buChar char="•"/>
              <a:defRPr sz="2400">
                <a:solidFill>
                  <a:schemeClr val="tx1"/>
                </a:solidFill>
                <a:latin typeface="Calibri" charset="0"/>
                <a:ea typeface="宋体" charset="0"/>
              </a:defRPr>
            </a:lvl2pPr>
            <a:lvl3pPr marL="1143000" indent="-228600">
              <a:lnSpc>
                <a:spcPct val="90000"/>
              </a:lnSpc>
              <a:spcBef>
                <a:spcPts val="500"/>
              </a:spcBef>
              <a:buFont typeface="Arial" charset="0"/>
              <a:buChar char="•"/>
              <a:defRPr sz="2000">
                <a:solidFill>
                  <a:schemeClr val="tx1"/>
                </a:solidFill>
                <a:latin typeface="Calibri" charset="0"/>
                <a:ea typeface="宋体" charset="0"/>
              </a:defRPr>
            </a:lvl3pPr>
            <a:lvl4pPr marL="1600200" indent="-228600">
              <a:lnSpc>
                <a:spcPct val="90000"/>
              </a:lnSpc>
              <a:spcBef>
                <a:spcPts val="500"/>
              </a:spcBef>
              <a:buFont typeface="Arial" charset="0"/>
              <a:buChar char="•"/>
              <a:defRPr>
                <a:solidFill>
                  <a:schemeClr val="tx1"/>
                </a:solidFill>
                <a:latin typeface="Calibri" charset="0"/>
                <a:ea typeface="宋体" charset="0"/>
              </a:defRPr>
            </a:lvl4pPr>
            <a:lvl5pPr marL="2057400" indent="-228600">
              <a:lnSpc>
                <a:spcPct val="90000"/>
              </a:lnSpc>
              <a:spcBef>
                <a:spcPts val="500"/>
              </a:spcBef>
              <a:buFont typeface="Arial" charset="0"/>
              <a:buChar char="•"/>
              <a:defRPr>
                <a:solidFill>
                  <a:schemeClr val="tx1"/>
                </a:solidFill>
                <a:latin typeface="Calibri" charset="0"/>
                <a:ea typeface="宋体" charset="0"/>
              </a:defRPr>
            </a:lvl5pPr>
            <a:lvl6pPr marL="25146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6pPr>
            <a:lvl7pPr marL="29718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7pPr>
            <a:lvl8pPr marL="34290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8pPr>
            <a:lvl9pPr marL="38862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9pPr>
          </a:lstStyle>
          <a:p>
            <a:pPr>
              <a:lnSpc>
                <a:spcPct val="100000"/>
              </a:lnSpc>
              <a:spcBef>
                <a:spcPct val="0"/>
              </a:spcBef>
              <a:buFontTx/>
              <a:buNone/>
            </a:pPr>
            <a:endParaRPr kumimoji="1" lang="zh-CN" altLang="en-US" sz="1800">
              <a:latin typeface="+mn-lt"/>
            </a:endParaRPr>
          </a:p>
        </p:txBody>
      </p:sp>
      <p:sp>
        <p:nvSpPr>
          <p:cNvPr id="10" name="文本框 9">
            <a:extLst>
              <a:ext uri="{FF2B5EF4-FFF2-40B4-BE49-F238E27FC236}">
                <a16:creationId xmlns:a16="http://schemas.microsoft.com/office/drawing/2014/main" id="{5D53F571-3FE3-414E-8DE9-03044D097F3C}"/>
              </a:ext>
            </a:extLst>
          </p:cNvPr>
          <p:cNvSpPr txBox="1"/>
          <p:nvPr/>
        </p:nvSpPr>
        <p:spPr>
          <a:xfrm>
            <a:off x="654258" y="589775"/>
            <a:ext cx="5289342" cy="523220"/>
          </a:xfrm>
          <a:prstGeom prst="rect">
            <a:avLst/>
          </a:prstGeom>
          <a:noFill/>
        </p:spPr>
        <p:txBody>
          <a:bodyPr wrap="square" rtlCol="0">
            <a:spAutoFit/>
          </a:bodyPr>
          <a:lstStyle/>
          <a:p>
            <a:r>
              <a:rPr kumimoji="1" lang="en-US" altLang="zh-CN" sz="2800" dirty="0" err="1">
                <a:latin typeface="Microsoft YaHei" charset="-122"/>
                <a:ea typeface="Microsoft YaHei" charset="-122"/>
                <a:cs typeface="Microsoft YaHei" charset="-122"/>
              </a:rPr>
              <a:t>NameNode</a:t>
            </a:r>
            <a:r>
              <a:rPr kumimoji="1" lang="zh-CN" altLang="en-US" sz="2800" dirty="0">
                <a:latin typeface="Microsoft YaHei" charset="-122"/>
                <a:ea typeface="Microsoft YaHei" charset="-122"/>
                <a:cs typeface="Microsoft YaHei" charset="-122"/>
              </a:rPr>
              <a:t>元数据</a:t>
            </a:r>
            <a:endParaRPr kumimoji="1" lang="en-US" altLang="zh-CN" sz="2800" dirty="0">
              <a:latin typeface="Microsoft YaHei" charset="-122"/>
              <a:ea typeface="Microsoft YaHei" charset="-122"/>
              <a:cs typeface="Microsoft YaHei" charset="-122"/>
            </a:endParaRPr>
          </a:p>
        </p:txBody>
      </p:sp>
      <p:sp>
        <p:nvSpPr>
          <p:cNvPr id="2" name="文本框 1">
            <a:extLst>
              <a:ext uri="{FF2B5EF4-FFF2-40B4-BE49-F238E27FC236}">
                <a16:creationId xmlns:a16="http://schemas.microsoft.com/office/drawing/2014/main" id="{9CE222E6-9694-44A2-8D61-17C8114EE65C}"/>
              </a:ext>
            </a:extLst>
          </p:cNvPr>
          <p:cNvSpPr txBox="1"/>
          <p:nvPr/>
        </p:nvSpPr>
        <p:spPr>
          <a:xfrm>
            <a:off x="534256" y="1510301"/>
            <a:ext cx="8291245" cy="1295868"/>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zh-CN" altLang="en-US" dirty="0"/>
              <a:t>文件、目录自身的属性信息，例如文件名、目录名、目录是否存在等</a:t>
            </a:r>
            <a:endParaRPr lang="en-US" altLang="zh-CN" dirty="0"/>
          </a:p>
          <a:p>
            <a:pPr marL="285750" indent="-285750">
              <a:lnSpc>
                <a:spcPct val="150000"/>
              </a:lnSpc>
              <a:buFont typeface="Wingdings" panose="05000000000000000000" pitchFamily="2" charset="2"/>
              <a:buChar char="Ø"/>
            </a:pPr>
            <a:r>
              <a:rPr lang="zh-CN" altLang="en-US" dirty="0"/>
              <a:t>文件的存储相关相关信息，例如分块情况、存储块信息、副本个数等</a:t>
            </a:r>
            <a:endParaRPr lang="en-US" altLang="zh-CN" dirty="0"/>
          </a:p>
          <a:p>
            <a:pPr marL="285750" indent="-285750">
              <a:lnSpc>
                <a:spcPct val="150000"/>
              </a:lnSpc>
              <a:buFont typeface="Wingdings" panose="05000000000000000000" pitchFamily="2" charset="2"/>
              <a:buChar char="Ø"/>
            </a:pPr>
            <a:r>
              <a:rPr lang="zh-CN" altLang="en-US" dirty="0"/>
              <a:t>记录</a:t>
            </a:r>
            <a:r>
              <a:rPr lang="en-US" altLang="zh-CN" dirty="0"/>
              <a:t>HDFS</a:t>
            </a:r>
            <a:r>
              <a:rPr lang="zh-CN" altLang="en-US" dirty="0"/>
              <a:t>的</a:t>
            </a:r>
            <a:r>
              <a:rPr lang="en-US" altLang="zh-CN" dirty="0" err="1"/>
              <a:t>DataNode</a:t>
            </a:r>
            <a:r>
              <a:rPr lang="zh-CN" altLang="en-US" dirty="0"/>
              <a:t>信息</a:t>
            </a:r>
            <a:r>
              <a:rPr lang="en-US" altLang="zh-CN" dirty="0"/>
              <a:t>,</a:t>
            </a:r>
            <a:r>
              <a:rPr lang="zh-CN" altLang="en-US" dirty="0"/>
              <a:t>用于</a:t>
            </a:r>
            <a:r>
              <a:rPr lang="en-US" altLang="zh-CN" dirty="0" err="1"/>
              <a:t>DataNode</a:t>
            </a:r>
            <a:r>
              <a:rPr lang="zh-CN" altLang="en-US" dirty="0"/>
              <a:t>的管理</a:t>
            </a:r>
          </a:p>
        </p:txBody>
      </p:sp>
      <p:pic>
        <p:nvPicPr>
          <p:cNvPr id="1026" name="Picture 2">
            <a:extLst>
              <a:ext uri="{FF2B5EF4-FFF2-40B4-BE49-F238E27FC236}">
                <a16:creationId xmlns:a16="http://schemas.microsoft.com/office/drawing/2014/main" id="{594899F2-1F41-4EE0-901B-CBCA61ADDB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24434" y="2815675"/>
            <a:ext cx="5629718" cy="3452550"/>
          </a:xfrm>
          <a:prstGeom prst="rect">
            <a:avLst/>
          </a:prstGeom>
          <a:noFill/>
          <a:extLst>
            <a:ext uri="{909E8E84-426E-40DD-AFC4-6F175D3DCCD1}">
              <a14:hiddenFill xmlns:a14="http://schemas.microsoft.com/office/drawing/2010/main">
                <a:solidFill>
                  <a:srgbClr val="FFFFFF"/>
                </a:solidFill>
              </a14:hiddenFill>
            </a:ext>
          </a:extLst>
        </p:spPr>
      </p:pic>
      <p:sp>
        <p:nvSpPr>
          <p:cNvPr id="3" name="文本框 2">
            <a:extLst>
              <a:ext uri="{FF2B5EF4-FFF2-40B4-BE49-F238E27FC236}">
                <a16:creationId xmlns:a16="http://schemas.microsoft.com/office/drawing/2014/main" id="{86AE1E73-4CD3-4B4D-83FD-DF17C6726ACC}"/>
              </a:ext>
            </a:extLst>
          </p:cNvPr>
          <p:cNvSpPr txBox="1"/>
          <p:nvPr/>
        </p:nvSpPr>
        <p:spPr>
          <a:xfrm>
            <a:off x="277831" y="3206550"/>
            <a:ext cx="2817628" cy="2031325"/>
          </a:xfrm>
          <a:prstGeom prst="rect">
            <a:avLst/>
          </a:prstGeom>
          <a:noFill/>
        </p:spPr>
        <p:txBody>
          <a:bodyPr wrap="square" rtlCol="0">
            <a:spAutoFit/>
          </a:bodyPr>
          <a:lstStyle/>
          <a:p>
            <a:r>
              <a:rPr lang="en-US" altLang="zh-CN" dirty="0"/>
              <a:t> </a:t>
            </a:r>
            <a:r>
              <a:rPr lang="en-US" altLang="zh-CN" dirty="0" err="1"/>
              <a:t>hadoop</a:t>
            </a:r>
            <a:r>
              <a:rPr lang="en-US" altLang="zh-CN" dirty="0"/>
              <a:t> fs -ls  /</a:t>
            </a:r>
          </a:p>
          <a:p>
            <a:endParaRPr lang="en-US" altLang="zh-CN" dirty="0"/>
          </a:p>
          <a:p>
            <a:r>
              <a:rPr lang="en-US" altLang="zh-CN" dirty="0"/>
              <a:t> </a:t>
            </a:r>
            <a:r>
              <a:rPr lang="en-US" altLang="zh-CN" dirty="0" err="1"/>
              <a:t>hadoop</a:t>
            </a:r>
            <a:r>
              <a:rPr lang="en-US" altLang="zh-CN" dirty="0"/>
              <a:t> fs -put test.txt  /aa/bb/cc/</a:t>
            </a:r>
          </a:p>
          <a:p>
            <a:endParaRPr lang="en-US" altLang="zh-CN" dirty="0"/>
          </a:p>
          <a:p>
            <a:r>
              <a:rPr lang="zh-CN" altLang="en-US" dirty="0"/>
              <a:t>类似的还有</a:t>
            </a:r>
            <a:r>
              <a:rPr lang="en-US" altLang="zh-CN" dirty="0"/>
              <a:t>get</a:t>
            </a:r>
            <a:r>
              <a:rPr lang="zh-CN" altLang="en-US" dirty="0"/>
              <a:t>、</a:t>
            </a:r>
            <a:r>
              <a:rPr lang="en-US" altLang="zh-CN" dirty="0" err="1"/>
              <a:t>mkdir</a:t>
            </a:r>
            <a:r>
              <a:rPr lang="zh-CN" altLang="en-US" dirty="0"/>
              <a:t>、</a:t>
            </a:r>
            <a:r>
              <a:rPr lang="en-US" altLang="zh-CN" dirty="0"/>
              <a:t>rm</a:t>
            </a:r>
            <a:r>
              <a:rPr lang="zh-CN" altLang="en-US" dirty="0"/>
              <a:t>、</a:t>
            </a:r>
            <a:r>
              <a:rPr lang="en-US" altLang="zh-CN" dirty="0" err="1"/>
              <a:t>copyFromLocal</a:t>
            </a:r>
            <a:r>
              <a:rPr lang="en-US" altLang="zh-CN" dirty="0"/>
              <a:t>  </a:t>
            </a:r>
            <a:endParaRPr lang="zh-CN" altLang="en-US" dirty="0"/>
          </a:p>
        </p:txBody>
      </p:sp>
    </p:spTree>
    <p:extLst>
      <p:ext uri="{BB962C8B-B14F-4D97-AF65-F5344CB8AC3E}">
        <p14:creationId xmlns:p14="http://schemas.microsoft.com/office/powerpoint/2010/main" val="3674565127"/>
      </p:ext>
    </p:extLst>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文本框 1"/>
          <p:cNvSpPr txBox="1">
            <a:spLocks noChangeArrowheads="1"/>
          </p:cNvSpPr>
          <p:nvPr/>
        </p:nvSpPr>
        <p:spPr bwMode="auto">
          <a:xfrm>
            <a:off x="-7464425" y="4954588"/>
            <a:ext cx="1857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charset="0"/>
              <a:buChar char="•"/>
              <a:defRPr sz="2800">
                <a:solidFill>
                  <a:schemeClr val="tx1"/>
                </a:solidFill>
                <a:latin typeface="Calibri" charset="0"/>
                <a:ea typeface="宋体" charset="0"/>
              </a:defRPr>
            </a:lvl1pPr>
            <a:lvl2pPr marL="742950" indent="-285750">
              <a:lnSpc>
                <a:spcPct val="90000"/>
              </a:lnSpc>
              <a:spcBef>
                <a:spcPts val="500"/>
              </a:spcBef>
              <a:buFont typeface="Arial" charset="0"/>
              <a:buChar char="•"/>
              <a:defRPr sz="2400">
                <a:solidFill>
                  <a:schemeClr val="tx1"/>
                </a:solidFill>
                <a:latin typeface="Calibri" charset="0"/>
                <a:ea typeface="宋体" charset="0"/>
              </a:defRPr>
            </a:lvl2pPr>
            <a:lvl3pPr marL="1143000" indent="-228600">
              <a:lnSpc>
                <a:spcPct val="90000"/>
              </a:lnSpc>
              <a:spcBef>
                <a:spcPts val="500"/>
              </a:spcBef>
              <a:buFont typeface="Arial" charset="0"/>
              <a:buChar char="•"/>
              <a:defRPr sz="2000">
                <a:solidFill>
                  <a:schemeClr val="tx1"/>
                </a:solidFill>
                <a:latin typeface="Calibri" charset="0"/>
                <a:ea typeface="宋体" charset="0"/>
              </a:defRPr>
            </a:lvl3pPr>
            <a:lvl4pPr marL="1600200" indent="-228600">
              <a:lnSpc>
                <a:spcPct val="90000"/>
              </a:lnSpc>
              <a:spcBef>
                <a:spcPts val="500"/>
              </a:spcBef>
              <a:buFont typeface="Arial" charset="0"/>
              <a:buChar char="•"/>
              <a:defRPr>
                <a:solidFill>
                  <a:schemeClr val="tx1"/>
                </a:solidFill>
                <a:latin typeface="Calibri" charset="0"/>
                <a:ea typeface="宋体" charset="0"/>
              </a:defRPr>
            </a:lvl4pPr>
            <a:lvl5pPr marL="2057400" indent="-228600">
              <a:lnSpc>
                <a:spcPct val="90000"/>
              </a:lnSpc>
              <a:spcBef>
                <a:spcPts val="500"/>
              </a:spcBef>
              <a:buFont typeface="Arial" charset="0"/>
              <a:buChar char="•"/>
              <a:defRPr>
                <a:solidFill>
                  <a:schemeClr val="tx1"/>
                </a:solidFill>
                <a:latin typeface="Calibri" charset="0"/>
                <a:ea typeface="宋体" charset="0"/>
              </a:defRPr>
            </a:lvl5pPr>
            <a:lvl6pPr marL="25146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6pPr>
            <a:lvl7pPr marL="29718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7pPr>
            <a:lvl8pPr marL="34290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8pPr>
            <a:lvl9pPr marL="38862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9pPr>
          </a:lstStyle>
          <a:p>
            <a:pPr>
              <a:lnSpc>
                <a:spcPct val="100000"/>
              </a:lnSpc>
              <a:spcBef>
                <a:spcPct val="0"/>
              </a:spcBef>
              <a:buFontTx/>
              <a:buNone/>
            </a:pPr>
            <a:endParaRPr kumimoji="1" lang="zh-CN" altLang="en-US" sz="1800">
              <a:latin typeface="+mn-lt"/>
            </a:endParaRPr>
          </a:p>
        </p:txBody>
      </p:sp>
      <p:sp>
        <p:nvSpPr>
          <p:cNvPr id="10" name="文本框 9">
            <a:extLst>
              <a:ext uri="{FF2B5EF4-FFF2-40B4-BE49-F238E27FC236}">
                <a16:creationId xmlns:a16="http://schemas.microsoft.com/office/drawing/2014/main" id="{5D53F571-3FE3-414E-8DE9-03044D097F3C}"/>
              </a:ext>
            </a:extLst>
          </p:cNvPr>
          <p:cNvSpPr txBox="1"/>
          <p:nvPr/>
        </p:nvSpPr>
        <p:spPr>
          <a:xfrm>
            <a:off x="654258" y="589775"/>
            <a:ext cx="5289342" cy="523220"/>
          </a:xfrm>
          <a:prstGeom prst="rect">
            <a:avLst/>
          </a:prstGeom>
          <a:noFill/>
        </p:spPr>
        <p:txBody>
          <a:bodyPr wrap="square" rtlCol="0">
            <a:spAutoFit/>
          </a:bodyPr>
          <a:lstStyle/>
          <a:p>
            <a:r>
              <a:rPr kumimoji="1" lang="zh-CN" altLang="en-US" sz="2800" dirty="0">
                <a:latin typeface="Microsoft YaHei" charset="-122"/>
                <a:ea typeface="Microsoft YaHei" charset="-122"/>
                <a:cs typeface="Microsoft YaHei" charset="-122"/>
              </a:rPr>
              <a:t>元数据存储机制</a:t>
            </a:r>
            <a:endParaRPr kumimoji="1" lang="en-US" altLang="zh-CN" sz="2800" dirty="0">
              <a:latin typeface="Microsoft YaHei" charset="-122"/>
              <a:ea typeface="Microsoft YaHei" charset="-122"/>
              <a:cs typeface="Microsoft YaHei" charset="-122"/>
            </a:endParaRPr>
          </a:p>
        </p:txBody>
      </p:sp>
      <p:sp>
        <p:nvSpPr>
          <p:cNvPr id="2" name="文本框 1">
            <a:extLst>
              <a:ext uri="{FF2B5EF4-FFF2-40B4-BE49-F238E27FC236}">
                <a16:creationId xmlns:a16="http://schemas.microsoft.com/office/drawing/2014/main" id="{9CE222E6-9694-44A2-8D61-17C8114EE65C}"/>
              </a:ext>
            </a:extLst>
          </p:cNvPr>
          <p:cNvSpPr txBox="1"/>
          <p:nvPr/>
        </p:nvSpPr>
        <p:spPr>
          <a:xfrm>
            <a:off x="106326" y="2649925"/>
            <a:ext cx="3487388" cy="3368871"/>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zh-CN" altLang="en-US" dirty="0"/>
              <a:t>将</a:t>
            </a:r>
            <a:r>
              <a:rPr lang="en-US" altLang="zh-CN" dirty="0" err="1"/>
              <a:t>hdfs</a:t>
            </a:r>
            <a:r>
              <a:rPr lang="zh-CN" altLang="en-US" dirty="0"/>
              <a:t>更新记录写到</a:t>
            </a:r>
            <a:r>
              <a:rPr lang="en-US" altLang="zh-CN" dirty="0" err="1"/>
              <a:t>edits.new</a:t>
            </a:r>
            <a:endParaRPr lang="en-US" altLang="zh-CN" dirty="0"/>
          </a:p>
          <a:p>
            <a:pPr marL="285750" indent="-285750">
              <a:lnSpc>
                <a:spcPct val="150000"/>
              </a:lnSpc>
              <a:buFont typeface="Wingdings" panose="05000000000000000000" pitchFamily="2" charset="2"/>
              <a:buChar char="Ø"/>
            </a:pPr>
            <a:r>
              <a:rPr lang="zh-CN" altLang="en-US" dirty="0"/>
              <a:t>将</a:t>
            </a:r>
            <a:r>
              <a:rPr lang="en-US" altLang="zh-CN" dirty="0" err="1"/>
              <a:t>fsimage</a:t>
            </a:r>
            <a:r>
              <a:rPr lang="zh-CN" altLang="en-US" dirty="0"/>
              <a:t>和</a:t>
            </a:r>
            <a:r>
              <a:rPr lang="en-US" altLang="zh-CN" dirty="0"/>
              <a:t>edits</a:t>
            </a:r>
            <a:r>
              <a:rPr lang="zh-CN" altLang="en-US" dirty="0"/>
              <a:t>通过</a:t>
            </a:r>
            <a:r>
              <a:rPr lang="en-US" altLang="zh-CN" dirty="0"/>
              <a:t>http</a:t>
            </a:r>
            <a:r>
              <a:rPr lang="zh-CN" altLang="en-US" dirty="0"/>
              <a:t>协议发送到</a:t>
            </a:r>
            <a:r>
              <a:rPr lang="en-US" altLang="zh-CN" dirty="0"/>
              <a:t>Secondary </a:t>
            </a:r>
            <a:r>
              <a:rPr lang="en-US" altLang="zh-CN" dirty="0" err="1"/>
              <a:t>NameNode</a:t>
            </a:r>
            <a:endParaRPr lang="en-US" altLang="zh-CN" dirty="0"/>
          </a:p>
          <a:p>
            <a:pPr marL="285750" indent="-285750">
              <a:lnSpc>
                <a:spcPct val="150000"/>
              </a:lnSpc>
              <a:buFont typeface="Wingdings" panose="05000000000000000000" pitchFamily="2" charset="2"/>
              <a:buChar char="Ø"/>
            </a:pPr>
            <a:r>
              <a:rPr lang="zh-CN" altLang="en-US" dirty="0"/>
              <a:t>合并</a:t>
            </a:r>
            <a:r>
              <a:rPr lang="en-US" altLang="zh-CN" dirty="0" err="1"/>
              <a:t>fsimage</a:t>
            </a:r>
            <a:r>
              <a:rPr lang="zh-CN" altLang="en-US" dirty="0"/>
              <a:t>和</a:t>
            </a:r>
            <a:r>
              <a:rPr lang="en-US" altLang="zh-CN" dirty="0"/>
              <a:t>edits</a:t>
            </a:r>
          </a:p>
          <a:p>
            <a:pPr marL="285750" indent="-285750">
              <a:lnSpc>
                <a:spcPct val="150000"/>
              </a:lnSpc>
              <a:buFont typeface="Wingdings" panose="05000000000000000000" pitchFamily="2" charset="2"/>
              <a:buChar char="Ø"/>
            </a:pPr>
            <a:r>
              <a:rPr lang="zh-CN" altLang="en-US" dirty="0"/>
              <a:t>将</a:t>
            </a:r>
            <a:r>
              <a:rPr lang="en-US" altLang="zh-CN" dirty="0" err="1"/>
              <a:t>fsimage.ckpt</a:t>
            </a:r>
            <a:r>
              <a:rPr lang="zh-CN" altLang="en-US" dirty="0"/>
              <a:t>通过</a:t>
            </a:r>
            <a:r>
              <a:rPr lang="en-US" altLang="zh-CN" dirty="0"/>
              <a:t>http</a:t>
            </a:r>
            <a:r>
              <a:rPr lang="zh-CN" altLang="en-US" dirty="0"/>
              <a:t>协议发送到</a:t>
            </a:r>
            <a:r>
              <a:rPr lang="en-US" altLang="zh-CN" dirty="0" err="1"/>
              <a:t>NameNode</a:t>
            </a:r>
            <a:endParaRPr lang="en-US" altLang="zh-CN" dirty="0"/>
          </a:p>
          <a:p>
            <a:pPr marL="285750" indent="-285750">
              <a:lnSpc>
                <a:spcPct val="150000"/>
              </a:lnSpc>
              <a:buFont typeface="Wingdings" panose="05000000000000000000" pitchFamily="2" charset="2"/>
              <a:buChar char="Ø"/>
            </a:pPr>
            <a:r>
              <a:rPr lang="zh-CN" altLang="en-US" dirty="0"/>
              <a:t>重命名</a:t>
            </a:r>
            <a:r>
              <a:rPr lang="en-US" altLang="zh-CN" dirty="0" err="1"/>
              <a:t>fsimage.ckpt</a:t>
            </a:r>
            <a:r>
              <a:rPr lang="zh-CN" altLang="en-US" dirty="0"/>
              <a:t>为</a:t>
            </a:r>
            <a:r>
              <a:rPr lang="en-US" altLang="zh-CN" dirty="0" err="1"/>
              <a:t>fsimage</a:t>
            </a:r>
            <a:r>
              <a:rPr lang="zh-CN" altLang="en-US" dirty="0"/>
              <a:t>，</a:t>
            </a:r>
            <a:r>
              <a:rPr lang="en-US" altLang="zh-CN" dirty="0" err="1"/>
              <a:t>edits.new</a:t>
            </a:r>
            <a:r>
              <a:rPr lang="zh-CN" altLang="en-US" dirty="0"/>
              <a:t>为</a:t>
            </a:r>
            <a:r>
              <a:rPr lang="en-US" altLang="zh-CN" dirty="0"/>
              <a:t>edits</a:t>
            </a:r>
            <a:endParaRPr lang="zh-CN" altLang="en-US" dirty="0"/>
          </a:p>
        </p:txBody>
      </p:sp>
      <p:pic>
        <p:nvPicPr>
          <p:cNvPr id="4" name="图片 3">
            <a:extLst>
              <a:ext uri="{FF2B5EF4-FFF2-40B4-BE49-F238E27FC236}">
                <a16:creationId xmlns:a16="http://schemas.microsoft.com/office/drawing/2014/main" id="{437448E8-3543-4625-BC98-C7487F71F656}"/>
              </a:ext>
            </a:extLst>
          </p:cNvPr>
          <p:cNvPicPr>
            <a:picLocks noChangeAspect="1"/>
          </p:cNvPicPr>
          <p:nvPr/>
        </p:nvPicPr>
        <p:blipFill>
          <a:blip r:embed="rId3"/>
          <a:stretch>
            <a:fillRect/>
          </a:stretch>
        </p:blipFill>
        <p:spPr>
          <a:xfrm>
            <a:off x="3774467" y="1765005"/>
            <a:ext cx="4835277" cy="3889070"/>
          </a:xfrm>
          <a:prstGeom prst="rect">
            <a:avLst/>
          </a:prstGeom>
        </p:spPr>
      </p:pic>
      <p:sp>
        <p:nvSpPr>
          <p:cNvPr id="5" name="文本框 4">
            <a:extLst>
              <a:ext uri="{FF2B5EF4-FFF2-40B4-BE49-F238E27FC236}">
                <a16:creationId xmlns:a16="http://schemas.microsoft.com/office/drawing/2014/main" id="{852C0CC6-B7B9-4D11-AF3F-904DC09A19EC}"/>
              </a:ext>
            </a:extLst>
          </p:cNvPr>
          <p:cNvSpPr txBox="1"/>
          <p:nvPr/>
        </p:nvSpPr>
        <p:spPr>
          <a:xfrm>
            <a:off x="372140" y="1562986"/>
            <a:ext cx="3083441" cy="646331"/>
          </a:xfrm>
          <a:prstGeom prst="rect">
            <a:avLst/>
          </a:prstGeom>
          <a:noFill/>
        </p:spPr>
        <p:txBody>
          <a:bodyPr wrap="square" rtlCol="0">
            <a:spAutoFit/>
          </a:bodyPr>
          <a:lstStyle/>
          <a:p>
            <a:r>
              <a:rPr lang="en-US" altLang="zh-CN" dirty="0"/>
              <a:t>Secondary </a:t>
            </a:r>
            <a:r>
              <a:rPr lang="en-US" altLang="zh-CN" dirty="0" err="1"/>
              <a:t>NameNode</a:t>
            </a:r>
            <a:r>
              <a:rPr lang="zh-CN" altLang="en-US" dirty="0"/>
              <a:t>、</a:t>
            </a:r>
            <a:r>
              <a:rPr lang="en-US" altLang="zh-CN" dirty="0"/>
              <a:t>edits</a:t>
            </a:r>
            <a:r>
              <a:rPr lang="zh-CN" altLang="en-US" dirty="0"/>
              <a:t>、</a:t>
            </a:r>
            <a:r>
              <a:rPr lang="en-US" altLang="zh-CN" dirty="0" err="1"/>
              <a:t>fsimage</a:t>
            </a:r>
            <a:endParaRPr lang="zh-CN" altLang="en-US" dirty="0"/>
          </a:p>
        </p:txBody>
      </p:sp>
    </p:spTree>
    <p:extLst>
      <p:ext uri="{BB962C8B-B14F-4D97-AF65-F5344CB8AC3E}">
        <p14:creationId xmlns:p14="http://schemas.microsoft.com/office/powerpoint/2010/main" val="2273655327"/>
      </p:ext>
    </p:extLst>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文本框 1"/>
          <p:cNvSpPr txBox="1">
            <a:spLocks noChangeArrowheads="1"/>
          </p:cNvSpPr>
          <p:nvPr/>
        </p:nvSpPr>
        <p:spPr bwMode="auto">
          <a:xfrm>
            <a:off x="-7464425" y="4954588"/>
            <a:ext cx="1857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charset="0"/>
              <a:buChar char="•"/>
              <a:defRPr sz="2800">
                <a:solidFill>
                  <a:schemeClr val="tx1"/>
                </a:solidFill>
                <a:latin typeface="Calibri" charset="0"/>
                <a:ea typeface="宋体" charset="0"/>
              </a:defRPr>
            </a:lvl1pPr>
            <a:lvl2pPr marL="742950" indent="-285750">
              <a:lnSpc>
                <a:spcPct val="90000"/>
              </a:lnSpc>
              <a:spcBef>
                <a:spcPts val="500"/>
              </a:spcBef>
              <a:buFont typeface="Arial" charset="0"/>
              <a:buChar char="•"/>
              <a:defRPr sz="2400">
                <a:solidFill>
                  <a:schemeClr val="tx1"/>
                </a:solidFill>
                <a:latin typeface="Calibri" charset="0"/>
                <a:ea typeface="宋体" charset="0"/>
              </a:defRPr>
            </a:lvl2pPr>
            <a:lvl3pPr marL="1143000" indent="-228600">
              <a:lnSpc>
                <a:spcPct val="90000"/>
              </a:lnSpc>
              <a:spcBef>
                <a:spcPts val="500"/>
              </a:spcBef>
              <a:buFont typeface="Arial" charset="0"/>
              <a:buChar char="•"/>
              <a:defRPr sz="2000">
                <a:solidFill>
                  <a:schemeClr val="tx1"/>
                </a:solidFill>
                <a:latin typeface="Calibri" charset="0"/>
                <a:ea typeface="宋体" charset="0"/>
              </a:defRPr>
            </a:lvl3pPr>
            <a:lvl4pPr marL="1600200" indent="-228600">
              <a:lnSpc>
                <a:spcPct val="90000"/>
              </a:lnSpc>
              <a:spcBef>
                <a:spcPts val="500"/>
              </a:spcBef>
              <a:buFont typeface="Arial" charset="0"/>
              <a:buChar char="•"/>
              <a:defRPr>
                <a:solidFill>
                  <a:schemeClr val="tx1"/>
                </a:solidFill>
                <a:latin typeface="Calibri" charset="0"/>
                <a:ea typeface="宋体" charset="0"/>
              </a:defRPr>
            </a:lvl4pPr>
            <a:lvl5pPr marL="2057400" indent="-228600">
              <a:lnSpc>
                <a:spcPct val="90000"/>
              </a:lnSpc>
              <a:spcBef>
                <a:spcPts val="500"/>
              </a:spcBef>
              <a:buFont typeface="Arial" charset="0"/>
              <a:buChar char="•"/>
              <a:defRPr>
                <a:solidFill>
                  <a:schemeClr val="tx1"/>
                </a:solidFill>
                <a:latin typeface="Calibri" charset="0"/>
                <a:ea typeface="宋体" charset="0"/>
              </a:defRPr>
            </a:lvl5pPr>
            <a:lvl6pPr marL="25146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6pPr>
            <a:lvl7pPr marL="29718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7pPr>
            <a:lvl8pPr marL="34290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8pPr>
            <a:lvl9pPr marL="38862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9pPr>
          </a:lstStyle>
          <a:p>
            <a:pPr>
              <a:lnSpc>
                <a:spcPct val="100000"/>
              </a:lnSpc>
              <a:spcBef>
                <a:spcPct val="0"/>
              </a:spcBef>
              <a:buFontTx/>
              <a:buNone/>
            </a:pPr>
            <a:endParaRPr kumimoji="1" lang="zh-CN" altLang="en-US" sz="1800">
              <a:latin typeface="+mn-lt"/>
            </a:endParaRPr>
          </a:p>
        </p:txBody>
      </p:sp>
      <p:sp>
        <p:nvSpPr>
          <p:cNvPr id="10" name="文本框 9">
            <a:extLst>
              <a:ext uri="{FF2B5EF4-FFF2-40B4-BE49-F238E27FC236}">
                <a16:creationId xmlns:a16="http://schemas.microsoft.com/office/drawing/2014/main" id="{5D53F571-3FE3-414E-8DE9-03044D097F3C}"/>
              </a:ext>
            </a:extLst>
          </p:cNvPr>
          <p:cNvSpPr txBox="1"/>
          <p:nvPr/>
        </p:nvSpPr>
        <p:spPr>
          <a:xfrm>
            <a:off x="654258" y="589775"/>
            <a:ext cx="5289342" cy="523220"/>
          </a:xfrm>
          <a:prstGeom prst="rect">
            <a:avLst/>
          </a:prstGeom>
          <a:noFill/>
        </p:spPr>
        <p:txBody>
          <a:bodyPr wrap="square" rtlCol="0">
            <a:spAutoFit/>
          </a:bodyPr>
          <a:lstStyle/>
          <a:p>
            <a:r>
              <a:rPr kumimoji="1" lang="zh-CN" altLang="en-US" sz="2800" dirty="0">
                <a:latin typeface="Microsoft YaHei" charset="-122"/>
                <a:ea typeface="Microsoft YaHei" charset="-122"/>
                <a:cs typeface="Microsoft YaHei" charset="-122"/>
              </a:rPr>
              <a:t>计算框架</a:t>
            </a:r>
            <a:r>
              <a:rPr kumimoji="1" lang="en-US" altLang="zh-CN" sz="2800" dirty="0">
                <a:latin typeface="Microsoft YaHei" charset="-122"/>
                <a:ea typeface="Microsoft YaHei" charset="-122"/>
                <a:cs typeface="Microsoft YaHei" charset="-122"/>
              </a:rPr>
              <a:t>——MapReduce</a:t>
            </a:r>
          </a:p>
        </p:txBody>
      </p:sp>
      <p:pic>
        <p:nvPicPr>
          <p:cNvPr id="4" name="图片 3">
            <a:extLst>
              <a:ext uri="{FF2B5EF4-FFF2-40B4-BE49-F238E27FC236}">
                <a16:creationId xmlns:a16="http://schemas.microsoft.com/office/drawing/2014/main" id="{DA20B75A-07B2-4985-8B2F-35648D35C0CA}"/>
              </a:ext>
            </a:extLst>
          </p:cNvPr>
          <p:cNvPicPr>
            <a:picLocks noChangeAspect="1"/>
          </p:cNvPicPr>
          <p:nvPr/>
        </p:nvPicPr>
        <p:blipFill>
          <a:blip r:embed="rId3"/>
          <a:stretch>
            <a:fillRect/>
          </a:stretch>
        </p:blipFill>
        <p:spPr>
          <a:xfrm>
            <a:off x="654258" y="1424762"/>
            <a:ext cx="1097735" cy="577755"/>
          </a:xfrm>
          <a:prstGeom prst="rect">
            <a:avLst/>
          </a:prstGeom>
        </p:spPr>
      </p:pic>
      <p:pic>
        <p:nvPicPr>
          <p:cNvPr id="6" name="图片 5">
            <a:extLst>
              <a:ext uri="{FF2B5EF4-FFF2-40B4-BE49-F238E27FC236}">
                <a16:creationId xmlns:a16="http://schemas.microsoft.com/office/drawing/2014/main" id="{E369268F-CCDF-4D70-8C2E-61B2AC807CCB}"/>
              </a:ext>
            </a:extLst>
          </p:cNvPr>
          <p:cNvPicPr>
            <a:picLocks noChangeAspect="1"/>
          </p:cNvPicPr>
          <p:nvPr/>
        </p:nvPicPr>
        <p:blipFill>
          <a:blip r:embed="rId4"/>
          <a:stretch>
            <a:fillRect/>
          </a:stretch>
        </p:blipFill>
        <p:spPr>
          <a:xfrm>
            <a:off x="225680" y="2220728"/>
            <a:ext cx="590632" cy="523948"/>
          </a:xfrm>
          <a:prstGeom prst="rect">
            <a:avLst/>
          </a:prstGeom>
        </p:spPr>
      </p:pic>
      <p:sp>
        <p:nvSpPr>
          <p:cNvPr id="7" name="文本框 6">
            <a:extLst>
              <a:ext uri="{FF2B5EF4-FFF2-40B4-BE49-F238E27FC236}">
                <a16:creationId xmlns:a16="http://schemas.microsoft.com/office/drawing/2014/main" id="{24316D65-8E7E-4930-A20A-B8A862974695}"/>
              </a:ext>
            </a:extLst>
          </p:cNvPr>
          <p:cNvSpPr txBox="1"/>
          <p:nvPr/>
        </p:nvSpPr>
        <p:spPr>
          <a:xfrm>
            <a:off x="816312" y="2220728"/>
            <a:ext cx="7806693" cy="646331"/>
          </a:xfrm>
          <a:prstGeom prst="rect">
            <a:avLst/>
          </a:prstGeom>
          <a:noFill/>
        </p:spPr>
        <p:txBody>
          <a:bodyPr wrap="square" rtlCol="0">
            <a:spAutoFit/>
          </a:bodyPr>
          <a:lstStyle/>
          <a:p>
            <a:r>
              <a:rPr lang="zh-CN" altLang="en-US" dirty="0"/>
              <a:t>如果想统计过去</a:t>
            </a:r>
            <a:r>
              <a:rPr lang="en-US" altLang="zh-CN" dirty="0"/>
              <a:t>50</a:t>
            </a:r>
            <a:r>
              <a:rPr lang="zh-CN" altLang="en-US" dirty="0"/>
              <a:t>年毕业生毕业论文出现最多的几个单词，看看大家都在研究什么</a:t>
            </a:r>
            <a:r>
              <a:rPr lang="en-US" altLang="zh-CN" dirty="0"/>
              <a:t>,</a:t>
            </a:r>
            <a:r>
              <a:rPr lang="zh-CN" altLang="en-US" dirty="0"/>
              <a:t>拿收集好论文后</a:t>
            </a:r>
            <a:r>
              <a:rPr lang="en-US" altLang="zh-CN" dirty="0"/>
              <a:t>,</a:t>
            </a:r>
            <a:r>
              <a:rPr lang="zh-CN" altLang="en-US" dirty="0"/>
              <a:t>该怎么办呢？</a:t>
            </a:r>
          </a:p>
        </p:txBody>
      </p:sp>
      <p:sp>
        <p:nvSpPr>
          <p:cNvPr id="8" name="文本框 7">
            <a:extLst>
              <a:ext uri="{FF2B5EF4-FFF2-40B4-BE49-F238E27FC236}">
                <a16:creationId xmlns:a16="http://schemas.microsoft.com/office/drawing/2014/main" id="{6BCC5D39-A472-4028-BB3A-020B96CEB1CB}"/>
              </a:ext>
            </a:extLst>
          </p:cNvPr>
          <p:cNvSpPr txBox="1"/>
          <p:nvPr/>
        </p:nvSpPr>
        <p:spPr>
          <a:xfrm>
            <a:off x="318977" y="3211033"/>
            <a:ext cx="8463516" cy="2585323"/>
          </a:xfrm>
          <a:prstGeom prst="rect">
            <a:avLst/>
          </a:prstGeom>
          <a:noFill/>
        </p:spPr>
        <p:txBody>
          <a:bodyPr wrap="square" rtlCol="0">
            <a:spAutoFit/>
          </a:bodyPr>
          <a:lstStyle/>
          <a:p>
            <a:pPr marL="285750" indent="-285750">
              <a:buFont typeface="Wingdings" panose="05000000000000000000" pitchFamily="2" charset="2"/>
              <a:buChar char="Ø"/>
            </a:pPr>
            <a:r>
              <a:rPr lang="zh-CN" altLang="en-US" dirty="0"/>
              <a:t>方案一：写一个小程序，把所有论文按顺序遍历一遍，统计每一个遇到的单词的出现次数</a:t>
            </a:r>
            <a:endParaRPr lang="en-US" altLang="zh-CN" dirty="0"/>
          </a:p>
          <a:p>
            <a:pPr marL="285750" indent="-285750">
              <a:buFont typeface="Wingdings" panose="05000000000000000000" pitchFamily="2" charset="2"/>
              <a:buChar char="Ø"/>
            </a:pPr>
            <a:endParaRPr lang="en-US" altLang="zh-CN" dirty="0"/>
          </a:p>
          <a:p>
            <a:pPr marL="285750" indent="-285750">
              <a:buFont typeface="Wingdings" panose="05000000000000000000" pitchFamily="2" charset="2"/>
              <a:buChar char="Ø"/>
            </a:pPr>
            <a:r>
              <a:rPr lang="zh-CN" altLang="en-US" dirty="0"/>
              <a:t>方案二：写一个多线程程序，并发遍历论文，需要同步共享数据；</a:t>
            </a:r>
            <a:endParaRPr lang="en-US" altLang="zh-CN" dirty="0"/>
          </a:p>
          <a:p>
            <a:pPr marL="285750" indent="-285750">
              <a:buFont typeface="Wingdings" panose="05000000000000000000" pitchFamily="2" charset="2"/>
              <a:buChar char="Ø"/>
            </a:pPr>
            <a:endParaRPr lang="en-US" altLang="zh-CN" dirty="0"/>
          </a:p>
          <a:p>
            <a:pPr marL="285750" indent="-285750">
              <a:buFont typeface="Wingdings" panose="05000000000000000000" pitchFamily="2" charset="2"/>
              <a:buChar char="Ø"/>
            </a:pPr>
            <a:r>
              <a:rPr lang="zh-CN" altLang="en-US" dirty="0"/>
              <a:t>方案三：把作业交给多个计算机去完成</a:t>
            </a:r>
            <a:r>
              <a:rPr lang="en-US" altLang="zh-CN" dirty="0"/>
              <a:t>——</a:t>
            </a:r>
            <a:r>
              <a:rPr lang="zh-CN" altLang="en-US" dirty="0"/>
              <a:t>可以将方案一的程序部署到</a:t>
            </a:r>
            <a:r>
              <a:rPr lang="en-US" altLang="zh-CN" dirty="0"/>
              <a:t>N</a:t>
            </a:r>
            <a:r>
              <a:rPr lang="zh-CN" altLang="en-US" dirty="0"/>
              <a:t>台机器上，然后把论文集分成</a:t>
            </a:r>
            <a:r>
              <a:rPr lang="en-US" altLang="zh-CN" dirty="0"/>
              <a:t>N</a:t>
            </a:r>
            <a:r>
              <a:rPr lang="zh-CN" altLang="en-US" dirty="0"/>
              <a:t>份</a:t>
            </a:r>
            <a:r>
              <a:rPr lang="en-US" altLang="zh-CN" dirty="0"/>
              <a:t>,</a:t>
            </a:r>
            <a:r>
              <a:rPr lang="zh-CN" altLang="en-US" dirty="0"/>
              <a:t>一台机器跑一个作业。这个方法跑得足够快，但是部署起来麻烦，我们要人工把程序</a:t>
            </a:r>
            <a:r>
              <a:rPr lang="en-US" altLang="zh-CN" dirty="0"/>
              <a:t>copy</a:t>
            </a:r>
            <a:r>
              <a:rPr lang="zh-CN" altLang="en-US" dirty="0"/>
              <a:t>到别的机器，要人工把论文集分开，最终还要把</a:t>
            </a:r>
            <a:r>
              <a:rPr lang="en-US" altLang="zh-CN" dirty="0"/>
              <a:t>N</a:t>
            </a:r>
            <a:r>
              <a:rPr lang="zh-CN" altLang="en-US" dirty="0"/>
              <a:t>个运行结果进行整合。</a:t>
            </a:r>
          </a:p>
        </p:txBody>
      </p:sp>
    </p:spTree>
    <p:extLst>
      <p:ext uri="{BB962C8B-B14F-4D97-AF65-F5344CB8AC3E}">
        <p14:creationId xmlns:p14="http://schemas.microsoft.com/office/powerpoint/2010/main" val="268084843"/>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ppt_x"/>
                                          </p:val>
                                        </p:tav>
                                        <p:tav tm="100000">
                                          <p:val>
                                            <p:strVal val="#ppt_x"/>
                                          </p:val>
                                        </p:tav>
                                      </p:tavLst>
                                    </p:anim>
                                    <p:anim calcmode="lin" valueType="num">
                                      <p:cBhvr additive="base">
                                        <p:cTn id="1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8">
                                            <p:txEl>
                                              <p:pRg st="0" end="0"/>
                                            </p:txEl>
                                          </p:spTgt>
                                        </p:tgtEl>
                                        <p:attrNameLst>
                                          <p:attrName>style.visibility</p:attrName>
                                        </p:attrNameLst>
                                      </p:cBhvr>
                                      <p:to>
                                        <p:strVal val="visible"/>
                                      </p:to>
                                    </p:set>
                                    <p:anim calcmode="lin" valueType="num">
                                      <p:cBhvr additive="base">
                                        <p:cTn id="21"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8686800" cy="1143000"/>
          </a:xfrm>
        </p:spPr>
        <p:txBody>
          <a:bodyPr>
            <a:normAutofit/>
          </a:bodyPr>
          <a:lstStyle/>
          <a:p>
            <a:r>
              <a:rPr lang="en-US" sz="3200" dirty="0"/>
              <a:t>MapReduce Operations on Hadoop</a:t>
            </a:r>
          </a:p>
        </p:txBody>
      </p:sp>
      <p:sp>
        <p:nvSpPr>
          <p:cNvPr id="3" name="Content Placeholder 2"/>
          <p:cNvSpPr>
            <a:spLocks noGrp="1"/>
          </p:cNvSpPr>
          <p:nvPr>
            <p:ph idx="1"/>
          </p:nvPr>
        </p:nvSpPr>
        <p:spPr>
          <a:xfrm>
            <a:off x="31376" y="1069032"/>
            <a:ext cx="9144000" cy="4724400"/>
          </a:xfrm>
        </p:spPr>
        <p:txBody>
          <a:bodyPr/>
          <a:lstStyle/>
          <a:p>
            <a:r>
              <a:rPr lang="en-US" sz="2400" dirty="0"/>
              <a:t>Get average salary of each of 2 organizations in a huge file.</a:t>
            </a:r>
            <a:r>
              <a:rPr lang="en-US" dirty="0"/>
              <a:t> </a:t>
            </a:r>
          </a:p>
        </p:txBody>
      </p:sp>
      <p:grpSp>
        <p:nvGrpSpPr>
          <p:cNvPr id="4" name="Group 85"/>
          <p:cNvGrpSpPr/>
          <p:nvPr/>
        </p:nvGrpSpPr>
        <p:grpSpPr>
          <a:xfrm>
            <a:off x="762000" y="1600200"/>
            <a:ext cx="7848600" cy="461665"/>
            <a:chOff x="990600" y="4648200"/>
            <a:chExt cx="7848600" cy="461665"/>
          </a:xfrm>
        </p:grpSpPr>
        <p:sp>
          <p:nvSpPr>
            <p:cNvPr id="87" name="TextBox 86"/>
            <p:cNvSpPr txBox="1"/>
            <p:nvPr/>
          </p:nvSpPr>
          <p:spPr>
            <a:xfrm>
              <a:off x="990600" y="4648200"/>
              <a:ext cx="3505200" cy="461665"/>
            </a:xfrm>
            <a:prstGeom prst="rect">
              <a:avLst/>
            </a:prstGeom>
            <a:noFill/>
          </p:spPr>
          <p:txBody>
            <a:bodyPr wrap="square" rtlCol="0">
              <a:spAutoFit/>
            </a:bodyPr>
            <a:lstStyle/>
            <a:p>
              <a:r>
                <a:rPr lang="en-US" sz="2400" b="1" dirty="0"/>
                <a:t>{</a:t>
              </a:r>
              <a:r>
                <a:rPr lang="en-US" sz="2400" b="1" dirty="0">
                  <a:solidFill>
                    <a:srgbClr val="FF0000"/>
                  </a:solidFill>
                </a:rPr>
                <a:t>name</a:t>
              </a:r>
              <a:r>
                <a:rPr lang="en-US" sz="2400" b="1" dirty="0"/>
                <a:t>:  (org., salary)} </a:t>
              </a:r>
            </a:p>
          </p:txBody>
        </p:sp>
        <p:sp>
          <p:nvSpPr>
            <p:cNvPr id="88" name="Right Arrow 87"/>
            <p:cNvSpPr/>
            <p:nvPr/>
          </p:nvSpPr>
          <p:spPr>
            <a:xfrm>
              <a:off x="4343400" y="4724400"/>
              <a:ext cx="762000" cy="304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TextBox 88"/>
            <p:cNvSpPr txBox="1"/>
            <p:nvPr/>
          </p:nvSpPr>
          <p:spPr>
            <a:xfrm>
              <a:off x="5334000" y="4648200"/>
              <a:ext cx="3505200" cy="461665"/>
            </a:xfrm>
            <a:prstGeom prst="rect">
              <a:avLst/>
            </a:prstGeom>
            <a:noFill/>
          </p:spPr>
          <p:txBody>
            <a:bodyPr wrap="square" rtlCol="0">
              <a:spAutoFit/>
            </a:bodyPr>
            <a:lstStyle/>
            <a:p>
              <a:r>
                <a:rPr lang="en-US" sz="2400" b="1" dirty="0"/>
                <a:t>{</a:t>
              </a:r>
              <a:r>
                <a:rPr lang="en-US" sz="2400" b="1" dirty="0">
                  <a:solidFill>
                    <a:srgbClr val="FF0000"/>
                  </a:solidFill>
                </a:rPr>
                <a:t>org.</a:t>
              </a:r>
              <a:r>
                <a:rPr lang="en-US" sz="2400" b="1" dirty="0"/>
                <a:t>:  avg. salary} </a:t>
              </a:r>
            </a:p>
          </p:txBody>
        </p:sp>
      </p:grpSp>
      <p:cxnSp>
        <p:nvCxnSpPr>
          <p:cNvPr id="94" name="Straight Connector 93"/>
          <p:cNvCxnSpPr/>
          <p:nvPr/>
        </p:nvCxnSpPr>
        <p:spPr>
          <a:xfrm>
            <a:off x="914400" y="2057400"/>
            <a:ext cx="762000" cy="0"/>
          </a:xfrm>
          <a:prstGeom prst="line">
            <a:avLst/>
          </a:prstGeom>
          <a:ln w="635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96" name="Straight Arrow Connector 95"/>
          <p:cNvCxnSpPr/>
          <p:nvPr/>
        </p:nvCxnSpPr>
        <p:spPr>
          <a:xfrm rot="5400000">
            <a:off x="761206" y="2590800"/>
            <a:ext cx="1066800" cy="1588"/>
          </a:xfrm>
          <a:prstGeom prst="straightConnector1">
            <a:avLst/>
          </a:prstGeom>
          <a:ln w="63500">
            <a:solidFill>
              <a:schemeClr val="accent2"/>
            </a:solidFill>
            <a:tailEnd type="arrow"/>
          </a:ln>
        </p:spPr>
        <p:style>
          <a:lnRef idx="1">
            <a:schemeClr val="accent1"/>
          </a:lnRef>
          <a:fillRef idx="0">
            <a:schemeClr val="accent1"/>
          </a:fillRef>
          <a:effectRef idx="0">
            <a:schemeClr val="accent1"/>
          </a:effectRef>
          <a:fontRef idx="minor">
            <a:schemeClr val="tx1"/>
          </a:fontRef>
        </p:style>
      </p:cxnSp>
      <p:sp>
        <p:nvSpPr>
          <p:cNvPr id="98" name="TextBox 97"/>
          <p:cNvSpPr txBox="1"/>
          <p:nvPr/>
        </p:nvSpPr>
        <p:spPr>
          <a:xfrm>
            <a:off x="913024" y="3200400"/>
            <a:ext cx="687176" cy="461665"/>
          </a:xfrm>
          <a:prstGeom prst="rect">
            <a:avLst/>
          </a:prstGeom>
          <a:noFill/>
        </p:spPr>
        <p:txBody>
          <a:bodyPr wrap="none" rtlCol="0">
            <a:spAutoFit/>
          </a:bodyPr>
          <a:lstStyle/>
          <a:p>
            <a:r>
              <a:rPr lang="en-US" sz="2400" b="1" dirty="0">
                <a:latin typeface="Garamond" pitchFamily="18" charset="0"/>
              </a:rPr>
              <a:t>Key</a:t>
            </a:r>
          </a:p>
        </p:txBody>
      </p:sp>
      <p:cxnSp>
        <p:nvCxnSpPr>
          <p:cNvPr id="99" name="Straight Connector 98"/>
          <p:cNvCxnSpPr/>
          <p:nvPr/>
        </p:nvCxnSpPr>
        <p:spPr>
          <a:xfrm>
            <a:off x="1982576" y="2057400"/>
            <a:ext cx="1675024" cy="0"/>
          </a:xfrm>
          <a:prstGeom prst="line">
            <a:avLst/>
          </a:prstGeom>
          <a:ln w="635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00" name="Straight Arrow Connector 99"/>
          <p:cNvCxnSpPr/>
          <p:nvPr/>
        </p:nvCxnSpPr>
        <p:spPr>
          <a:xfrm rot="5400000">
            <a:off x="2297593" y="2590800"/>
            <a:ext cx="1066800" cy="1588"/>
          </a:xfrm>
          <a:prstGeom prst="straightConnector1">
            <a:avLst/>
          </a:prstGeom>
          <a:ln w="63500">
            <a:solidFill>
              <a:schemeClr val="accent2"/>
            </a:solidFill>
            <a:tailEnd type="arrow"/>
          </a:ln>
        </p:spPr>
        <p:style>
          <a:lnRef idx="1">
            <a:schemeClr val="accent1"/>
          </a:lnRef>
          <a:fillRef idx="0">
            <a:schemeClr val="accent1"/>
          </a:fillRef>
          <a:effectRef idx="0">
            <a:schemeClr val="accent1"/>
          </a:effectRef>
          <a:fontRef idx="minor">
            <a:schemeClr val="tx1"/>
          </a:fontRef>
        </p:style>
      </p:cxnSp>
      <p:sp>
        <p:nvSpPr>
          <p:cNvPr id="101" name="TextBox 100"/>
          <p:cNvSpPr txBox="1"/>
          <p:nvPr/>
        </p:nvSpPr>
        <p:spPr>
          <a:xfrm>
            <a:off x="2449411" y="3200400"/>
            <a:ext cx="903389" cy="461665"/>
          </a:xfrm>
          <a:prstGeom prst="rect">
            <a:avLst/>
          </a:prstGeom>
          <a:noFill/>
        </p:spPr>
        <p:txBody>
          <a:bodyPr wrap="none" rtlCol="0">
            <a:spAutoFit/>
          </a:bodyPr>
          <a:lstStyle/>
          <a:p>
            <a:r>
              <a:rPr lang="en-US" sz="2400" b="1" dirty="0">
                <a:latin typeface="Garamond" pitchFamily="18" charset="0"/>
              </a:rPr>
              <a:t>Value</a:t>
            </a:r>
          </a:p>
        </p:txBody>
      </p:sp>
      <p:cxnSp>
        <p:nvCxnSpPr>
          <p:cNvPr id="103" name="Straight Connector 102"/>
          <p:cNvCxnSpPr/>
          <p:nvPr/>
        </p:nvCxnSpPr>
        <p:spPr>
          <a:xfrm>
            <a:off x="5181600" y="2057400"/>
            <a:ext cx="762000" cy="0"/>
          </a:xfrm>
          <a:prstGeom prst="line">
            <a:avLst/>
          </a:prstGeom>
          <a:ln w="635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04" name="Straight Arrow Connector 103"/>
          <p:cNvCxnSpPr/>
          <p:nvPr/>
        </p:nvCxnSpPr>
        <p:spPr>
          <a:xfrm rot="5400000">
            <a:off x="5028406" y="2590800"/>
            <a:ext cx="1066800" cy="1588"/>
          </a:xfrm>
          <a:prstGeom prst="straightConnector1">
            <a:avLst/>
          </a:prstGeom>
          <a:ln w="63500">
            <a:solidFill>
              <a:schemeClr val="accent2"/>
            </a:solidFill>
            <a:tailEnd type="arrow"/>
          </a:ln>
        </p:spPr>
        <p:style>
          <a:lnRef idx="1">
            <a:schemeClr val="accent1"/>
          </a:lnRef>
          <a:fillRef idx="0">
            <a:schemeClr val="accent1"/>
          </a:fillRef>
          <a:effectRef idx="0">
            <a:schemeClr val="accent1"/>
          </a:effectRef>
          <a:fontRef idx="minor">
            <a:schemeClr val="tx1"/>
          </a:fontRef>
        </p:style>
      </p:cxnSp>
      <p:sp>
        <p:nvSpPr>
          <p:cNvPr id="105" name="TextBox 104"/>
          <p:cNvSpPr txBox="1"/>
          <p:nvPr/>
        </p:nvSpPr>
        <p:spPr>
          <a:xfrm>
            <a:off x="5180224" y="3200400"/>
            <a:ext cx="687176" cy="461665"/>
          </a:xfrm>
          <a:prstGeom prst="rect">
            <a:avLst/>
          </a:prstGeom>
          <a:noFill/>
        </p:spPr>
        <p:txBody>
          <a:bodyPr wrap="none" rtlCol="0">
            <a:spAutoFit/>
          </a:bodyPr>
          <a:lstStyle/>
          <a:p>
            <a:r>
              <a:rPr lang="en-US" sz="2400" b="1" dirty="0">
                <a:latin typeface="Garamond" pitchFamily="18" charset="0"/>
              </a:rPr>
              <a:t>Key</a:t>
            </a:r>
          </a:p>
        </p:txBody>
      </p:sp>
      <p:cxnSp>
        <p:nvCxnSpPr>
          <p:cNvPr id="106" name="Straight Connector 105"/>
          <p:cNvCxnSpPr/>
          <p:nvPr/>
        </p:nvCxnSpPr>
        <p:spPr>
          <a:xfrm>
            <a:off x="6173576" y="2057400"/>
            <a:ext cx="1294024" cy="0"/>
          </a:xfrm>
          <a:prstGeom prst="line">
            <a:avLst/>
          </a:prstGeom>
          <a:ln w="635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07" name="Straight Arrow Connector 106"/>
          <p:cNvCxnSpPr/>
          <p:nvPr/>
        </p:nvCxnSpPr>
        <p:spPr>
          <a:xfrm rot="5400000">
            <a:off x="6336193" y="2590800"/>
            <a:ext cx="1066800" cy="1588"/>
          </a:xfrm>
          <a:prstGeom prst="straightConnector1">
            <a:avLst/>
          </a:prstGeom>
          <a:ln w="63500">
            <a:solidFill>
              <a:schemeClr val="accent2"/>
            </a:solidFill>
            <a:tailEnd type="arrow"/>
          </a:ln>
        </p:spPr>
        <p:style>
          <a:lnRef idx="1">
            <a:schemeClr val="accent1"/>
          </a:lnRef>
          <a:fillRef idx="0">
            <a:schemeClr val="accent1"/>
          </a:fillRef>
          <a:effectRef idx="0">
            <a:schemeClr val="accent1"/>
          </a:effectRef>
          <a:fontRef idx="minor">
            <a:schemeClr val="tx1"/>
          </a:fontRef>
        </p:style>
      </p:cxnSp>
      <p:sp>
        <p:nvSpPr>
          <p:cNvPr id="108" name="TextBox 107"/>
          <p:cNvSpPr txBox="1"/>
          <p:nvPr/>
        </p:nvSpPr>
        <p:spPr>
          <a:xfrm>
            <a:off x="6488011" y="3200400"/>
            <a:ext cx="903389" cy="461665"/>
          </a:xfrm>
          <a:prstGeom prst="rect">
            <a:avLst/>
          </a:prstGeom>
          <a:noFill/>
        </p:spPr>
        <p:txBody>
          <a:bodyPr wrap="none" rtlCol="0">
            <a:spAutoFit/>
          </a:bodyPr>
          <a:lstStyle/>
          <a:p>
            <a:r>
              <a:rPr lang="en-US" sz="2400" b="1" dirty="0">
                <a:latin typeface="Garamond" pitchFamily="18" charset="0"/>
              </a:rPr>
              <a:t>Value</a:t>
            </a:r>
          </a:p>
        </p:txBody>
      </p:sp>
      <p:sp>
        <p:nvSpPr>
          <p:cNvPr id="21" name="TextBox 20"/>
          <p:cNvSpPr txBox="1"/>
          <p:nvPr/>
        </p:nvSpPr>
        <p:spPr>
          <a:xfrm>
            <a:off x="533400" y="3581400"/>
            <a:ext cx="3429000" cy="1569660"/>
          </a:xfrm>
          <a:prstGeom prst="rect">
            <a:avLst/>
          </a:prstGeom>
          <a:noFill/>
        </p:spPr>
        <p:txBody>
          <a:bodyPr wrap="square" rtlCol="0">
            <a:spAutoFit/>
          </a:bodyPr>
          <a:lstStyle/>
          <a:p>
            <a:r>
              <a:rPr lang="en-US" sz="2400" b="1" dirty="0">
                <a:latin typeface="Garamond" pitchFamily="18" charset="0"/>
              </a:rPr>
              <a:t>Original key/value pairs: all the person names associated with each org name and their salaries</a:t>
            </a:r>
          </a:p>
        </p:txBody>
      </p:sp>
      <p:sp>
        <p:nvSpPr>
          <p:cNvPr id="22" name="TextBox 21"/>
          <p:cNvSpPr txBox="1"/>
          <p:nvPr/>
        </p:nvSpPr>
        <p:spPr>
          <a:xfrm>
            <a:off x="4724400" y="3581400"/>
            <a:ext cx="4191000" cy="1569660"/>
          </a:xfrm>
          <a:prstGeom prst="rect">
            <a:avLst/>
          </a:prstGeom>
          <a:noFill/>
        </p:spPr>
        <p:txBody>
          <a:bodyPr wrap="square" rtlCol="0">
            <a:spAutoFit/>
          </a:bodyPr>
          <a:lstStyle/>
          <a:p>
            <a:r>
              <a:rPr lang="en-US" sz="2400" b="1" dirty="0">
                <a:latin typeface="Garamond" pitchFamily="18" charset="0"/>
              </a:rPr>
              <a:t>Result key/value pairs: two entries showing the org name and corresponding average salary </a:t>
            </a:r>
          </a:p>
        </p:txBody>
      </p:sp>
      <p:graphicFrame>
        <p:nvGraphicFramePr>
          <p:cNvPr id="23" name="Table 22"/>
          <p:cNvGraphicFramePr>
            <a:graphicFrameLocks noGrp="1"/>
          </p:cNvGraphicFramePr>
          <p:nvPr>
            <p:extLst>
              <p:ext uri="{D42A27DB-BD31-4B8C-83A1-F6EECF244321}">
                <p14:modId xmlns:p14="http://schemas.microsoft.com/office/powerpoint/2010/main" val="2843434302"/>
              </p:ext>
            </p:extLst>
          </p:nvPr>
        </p:nvGraphicFramePr>
        <p:xfrm>
          <a:off x="533400" y="5105400"/>
          <a:ext cx="3505200" cy="1584960"/>
        </p:xfrm>
        <a:graphic>
          <a:graphicData uri="http://schemas.openxmlformats.org/drawingml/2006/table">
            <a:tbl>
              <a:tblPr firstRow="1" bandRow="1">
                <a:tableStyleId>{69012ECD-51FC-41F1-AA8D-1B2483CD663E}</a:tableStyleId>
              </a:tblPr>
              <a:tblGrid>
                <a:gridCol w="1752600">
                  <a:extLst>
                    <a:ext uri="{9D8B030D-6E8A-4147-A177-3AD203B41FA5}">
                      <a16:colId xmlns:a16="http://schemas.microsoft.com/office/drawing/2014/main" val="20000"/>
                    </a:ext>
                  </a:extLst>
                </a:gridCol>
                <a:gridCol w="1752600">
                  <a:extLst>
                    <a:ext uri="{9D8B030D-6E8A-4147-A177-3AD203B41FA5}">
                      <a16:colId xmlns:a16="http://schemas.microsoft.com/office/drawing/2014/main" val="20001"/>
                    </a:ext>
                  </a:extLst>
                </a:gridCol>
              </a:tblGrid>
              <a:tr h="370840">
                <a:tc>
                  <a:txBody>
                    <a:bodyPr/>
                    <a:lstStyle/>
                    <a:p>
                      <a:r>
                        <a:rPr lang="en-US" sz="2000" dirty="0">
                          <a:latin typeface="Times New Roman" pitchFamily="18" charset="0"/>
                          <a:cs typeface="Times New Roman" pitchFamily="18" charset="0"/>
                        </a:rPr>
                        <a:t>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latin typeface="Times New Roman" pitchFamily="18" charset="0"/>
                          <a:cs typeface="Times New Roman" pitchFamily="18" charset="0"/>
                        </a:rPr>
                        <a:t>(dept. ,salary)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r>
                        <a:rPr lang="en-US" sz="2000" dirty="0">
                          <a:latin typeface="Times New Roman" pitchFamily="18" charset="0"/>
                          <a:cs typeface="Times New Roman" pitchFamily="18" charset="0"/>
                        </a:rPr>
                        <a:t>Alice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latin typeface="Times New Roman" pitchFamily="18" charset="0"/>
                          <a:cs typeface="Times New Roman" pitchFamily="18" charset="0"/>
                        </a:rPr>
                        <a:t>(Org-1, 3000)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r>
                        <a:rPr lang="en-US" sz="2000" dirty="0">
                          <a:latin typeface="Times New Roman" pitchFamily="18" charset="0"/>
                          <a:cs typeface="Times New Roman" pitchFamily="18" charset="0"/>
                        </a:rPr>
                        <a:t>Bob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latin typeface="Times New Roman" pitchFamily="18" charset="0"/>
                          <a:cs typeface="Times New Roman" pitchFamily="18" charset="0"/>
                        </a:rPr>
                        <a:t>(Org-2,</a:t>
                      </a:r>
                      <a:r>
                        <a:rPr lang="en-US" sz="2000" baseline="0" dirty="0">
                          <a:latin typeface="Times New Roman" pitchFamily="18" charset="0"/>
                          <a:cs typeface="Times New Roman" pitchFamily="18" charset="0"/>
                        </a:rPr>
                        <a:t> 3500</a:t>
                      </a:r>
                      <a:r>
                        <a:rPr lang="en-US" sz="2000" dirty="0">
                          <a:latin typeface="Times New Roman" pitchFamily="18" charset="0"/>
                          <a:cs typeface="Times New Roman" pitchFamily="18"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endParaRPr lang="en-US" sz="2000" b="1"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0" b="1"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graphicFrame>
        <p:nvGraphicFramePr>
          <p:cNvPr id="24" name="Table 23"/>
          <p:cNvGraphicFramePr>
            <a:graphicFrameLocks noGrp="1"/>
          </p:cNvGraphicFramePr>
          <p:nvPr/>
        </p:nvGraphicFramePr>
        <p:xfrm>
          <a:off x="4800600" y="5120640"/>
          <a:ext cx="3505200" cy="1188720"/>
        </p:xfrm>
        <a:graphic>
          <a:graphicData uri="http://schemas.openxmlformats.org/drawingml/2006/table">
            <a:tbl>
              <a:tblPr firstRow="1" bandRow="1">
                <a:tableStyleId>{69012ECD-51FC-41F1-AA8D-1B2483CD663E}</a:tableStyleId>
              </a:tblPr>
              <a:tblGrid>
                <a:gridCol w="1752600">
                  <a:extLst>
                    <a:ext uri="{9D8B030D-6E8A-4147-A177-3AD203B41FA5}">
                      <a16:colId xmlns:a16="http://schemas.microsoft.com/office/drawing/2014/main" val="20000"/>
                    </a:ext>
                  </a:extLst>
                </a:gridCol>
                <a:gridCol w="1752600">
                  <a:extLst>
                    <a:ext uri="{9D8B030D-6E8A-4147-A177-3AD203B41FA5}">
                      <a16:colId xmlns:a16="http://schemas.microsoft.com/office/drawing/2014/main" val="20001"/>
                    </a:ext>
                  </a:extLst>
                </a:gridCol>
              </a:tblGrid>
              <a:tr h="370840">
                <a:tc>
                  <a:txBody>
                    <a:bodyPr/>
                    <a:lstStyle/>
                    <a:p>
                      <a:r>
                        <a:rPr lang="en-US" sz="2000" dirty="0">
                          <a:latin typeface="Times New Roman" pitchFamily="18" charset="0"/>
                          <a:cs typeface="Times New Roman" pitchFamily="18" charset="0"/>
                        </a:rPr>
                        <a:t>dept.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latin typeface="Times New Roman" pitchFamily="18" charset="0"/>
                          <a:cs typeface="Times New Roman" pitchFamily="18" charset="0"/>
                        </a:rPr>
                        <a:t>avg. salary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r>
                        <a:rPr lang="en-US" sz="2000" dirty="0">
                          <a:latin typeface="Times New Roman" pitchFamily="18" charset="0"/>
                          <a:cs typeface="Times New Roman" pitchFamily="18" charset="0"/>
                        </a:rPr>
                        <a:t>Org-1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b="1" dirty="0">
                          <a:latin typeface="Times New Roman" pitchFamily="18" charset="0"/>
                          <a:cs typeface="Times New Roman" pitchFamily="18"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r>
                        <a:rPr lang="en-US" sz="2000" dirty="0">
                          <a:latin typeface="Times New Roman" pitchFamily="18" charset="0"/>
                          <a:cs typeface="Times New Roman" pitchFamily="18" charset="0"/>
                        </a:rPr>
                        <a:t>Org-2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b="1" dirty="0">
                          <a:latin typeface="Times New Roman" pitchFamily="18" charset="0"/>
                          <a:cs typeface="Times New Roman" pitchFamily="18"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5" name="文本框 4">
            <a:extLst>
              <a:ext uri="{FF2B5EF4-FFF2-40B4-BE49-F238E27FC236}">
                <a16:creationId xmlns:a16="http://schemas.microsoft.com/office/drawing/2014/main" id="{DF195BD3-CBD5-4BAB-99AF-747AE0A63CB0}"/>
              </a:ext>
            </a:extLst>
          </p:cNvPr>
          <p:cNvSpPr txBox="1"/>
          <p:nvPr/>
        </p:nvSpPr>
        <p:spPr>
          <a:xfrm>
            <a:off x="754912" y="6140330"/>
            <a:ext cx="919716" cy="369332"/>
          </a:xfrm>
          <a:prstGeom prst="rect">
            <a:avLst/>
          </a:prstGeom>
          <a:noFill/>
        </p:spPr>
        <p:txBody>
          <a:bodyPr wrap="square" rtlCol="0">
            <a:spAutoFit/>
          </a:bodyPr>
          <a:lstStyle/>
          <a:p>
            <a:r>
              <a:rPr lang="en-US" altLang="zh-CN" dirty="0"/>
              <a:t> …</a:t>
            </a:r>
            <a:endParaRPr lang="zh-CN" altLang="en-US" dirty="0"/>
          </a:p>
        </p:txBody>
      </p:sp>
      <p:sp>
        <p:nvSpPr>
          <p:cNvPr id="26" name="文本框 25">
            <a:extLst>
              <a:ext uri="{FF2B5EF4-FFF2-40B4-BE49-F238E27FC236}">
                <a16:creationId xmlns:a16="http://schemas.microsoft.com/office/drawing/2014/main" id="{37461E3A-9F84-494F-81BC-A85E25D10789}"/>
              </a:ext>
            </a:extLst>
          </p:cNvPr>
          <p:cNvSpPr txBox="1"/>
          <p:nvPr/>
        </p:nvSpPr>
        <p:spPr>
          <a:xfrm>
            <a:off x="2912624" y="6232009"/>
            <a:ext cx="919716" cy="369332"/>
          </a:xfrm>
          <a:prstGeom prst="rect">
            <a:avLst/>
          </a:prstGeom>
          <a:noFill/>
        </p:spPr>
        <p:txBody>
          <a:bodyPr wrap="square" rtlCol="0">
            <a:spAutoFit/>
          </a:bodyPr>
          <a:lstStyle/>
          <a:p>
            <a:r>
              <a:rPr lang="en-US" altLang="zh-CN" dirty="0"/>
              <a:t> ……</a:t>
            </a:r>
            <a:endParaRPr lang="zh-CN" altLang="en-US" dirty="0"/>
          </a:p>
        </p:txBody>
      </p:sp>
    </p:spTree>
    <p:extLst>
      <p:ext uri="{BB962C8B-B14F-4D97-AF65-F5344CB8AC3E}">
        <p14:creationId xmlns:p14="http://schemas.microsoft.com/office/powerpoint/2010/main" val="305181366"/>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8" presetClass="entr" presetSubtype="6" fill="hold" nodeType="clickEffect">
                                  <p:stCondLst>
                                    <p:cond delay="0"/>
                                  </p:stCondLst>
                                  <p:childTnLst>
                                    <p:set>
                                      <p:cBhvr>
                                        <p:cTn id="14" dur="1" fill="hold">
                                          <p:stCondLst>
                                            <p:cond delay="0"/>
                                          </p:stCondLst>
                                        </p:cTn>
                                        <p:tgtEl>
                                          <p:spTgt spid="94"/>
                                        </p:tgtEl>
                                        <p:attrNameLst>
                                          <p:attrName>style.visibility</p:attrName>
                                        </p:attrNameLst>
                                      </p:cBhvr>
                                      <p:to>
                                        <p:strVal val="visible"/>
                                      </p:to>
                                    </p:set>
                                    <p:animEffect transition="in" filter="strips(downRight)">
                                      <p:cBhvr>
                                        <p:cTn id="15" dur="500"/>
                                        <p:tgtEl>
                                          <p:spTgt spid="94"/>
                                        </p:tgtEl>
                                      </p:cBhvr>
                                    </p:animEffect>
                                  </p:childTnLst>
                                </p:cTn>
                              </p:par>
                            </p:childTnLst>
                          </p:cTn>
                        </p:par>
                        <p:par>
                          <p:cTn id="16" fill="hold">
                            <p:stCondLst>
                              <p:cond delay="500"/>
                            </p:stCondLst>
                            <p:childTnLst>
                              <p:par>
                                <p:cTn id="17" presetID="18" presetClass="entr" presetSubtype="12" fill="hold" nodeType="afterEffect">
                                  <p:stCondLst>
                                    <p:cond delay="0"/>
                                  </p:stCondLst>
                                  <p:childTnLst>
                                    <p:set>
                                      <p:cBhvr>
                                        <p:cTn id="18" dur="1" fill="hold">
                                          <p:stCondLst>
                                            <p:cond delay="0"/>
                                          </p:stCondLst>
                                        </p:cTn>
                                        <p:tgtEl>
                                          <p:spTgt spid="96"/>
                                        </p:tgtEl>
                                        <p:attrNameLst>
                                          <p:attrName>style.visibility</p:attrName>
                                        </p:attrNameLst>
                                      </p:cBhvr>
                                      <p:to>
                                        <p:strVal val="visible"/>
                                      </p:to>
                                    </p:set>
                                    <p:animEffect transition="in" filter="strips(downLeft)">
                                      <p:cBhvr>
                                        <p:cTn id="19" dur="500"/>
                                        <p:tgtEl>
                                          <p:spTgt spid="96"/>
                                        </p:tgtEl>
                                      </p:cBhvr>
                                    </p:animEffect>
                                  </p:childTnLst>
                                </p:cTn>
                              </p:par>
                            </p:childTnLst>
                          </p:cTn>
                        </p:par>
                        <p:par>
                          <p:cTn id="20" fill="hold">
                            <p:stCondLst>
                              <p:cond delay="1000"/>
                            </p:stCondLst>
                            <p:childTnLst>
                              <p:par>
                                <p:cTn id="21" presetID="1" presetClass="entr" presetSubtype="0" fill="hold" grpId="0" nodeType="afterEffect">
                                  <p:stCondLst>
                                    <p:cond delay="0"/>
                                  </p:stCondLst>
                                  <p:childTnLst>
                                    <p:set>
                                      <p:cBhvr>
                                        <p:cTn id="22" dur="1" fill="hold">
                                          <p:stCondLst>
                                            <p:cond delay="0"/>
                                          </p:stCondLst>
                                        </p:cTn>
                                        <p:tgtEl>
                                          <p:spTgt spid="9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8" presetClass="entr" presetSubtype="6" fill="hold" nodeType="clickEffect">
                                  <p:stCondLst>
                                    <p:cond delay="0"/>
                                  </p:stCondLst>
                                  <p:childTnLst>
                                    <p:set>
                                      <p:cBhvr>
                                        <p:cTn id="26" dur="1" fill="hold">
                                          <p:stCondLst>
                                            <p:cond delay="0"/>
                                          </p:stCondLst>
                                        </p:cTn>
                                        <p:tgtEl>
                                          <p:spTgt spid="99"/>
                                        </p:tgtEl>
                                        <p:attrNameLst>
                                          <p:attrName>style.visibility</p:attrName>
                                        </p:attrNameLst>
                                      </p:cBhvr>
                                      <p:to>
                                        <p:strVal val="visible"/>
                                      </p:to>
                                    </p:set>
                                    <p:animEffect transition="in" filter="strips(downRight)">
                                      <p:cBhvr>
                                        <p:cTn id="27" dur="500"/>
                                        <p:tgtEl>
                                          <p:spTgt spid="99"/>
                                        </p:tgtEl>
                                      </p:cBhvr>
                                    </p:animEffect>
                                  </p:childTnLst>
                                </p:cTn>
                              </p:par>
                            </p:childTnLst>
                          </p:cTn>
                        </p:par>
                        <p:par>
                          <p:cTn id="28" fill="hold">
                            <p:stCondLst>
                              <p:cond delay="500"/>
                            </p:stCondLst>
                            <p:childTnLst>
                              <p:par>
                                <p:cTn id="29" presetID="18" presetClass="entr" presetSubtype="12" fill="hold" nodeType="afterEffect">
                                  <p:stCondLst>
                                    <p:cond delay="0"/>
                                  </p:stCondLst>
                                  <p:childTnLst>
                                    <p:set>
                                      <p:cBhvr>
                                        <p:cTn id="30" dur="1" fill="hold">
                                          <p:stCondLst>
                                            <p:cond delay="0"/>
                                          </p:stCondLst>
                                        </p:cTn>
                                        <p:tgtEl>
                                          <p:spTgt spid="100"/>
                                        </p:tgtEl>
                                        <p:attrNameLst>
                                          <p:attrName>style.visibility</p:attrName>
                                        </p:attrNameLst>
                                      </p:cBhvr>
                                      <p:to>
                                        <p:strVal val="visible"/>
                                      </p:to>
                                    </p:set>
                                    <p:animEffect transition="in" filter="strips(downLeft)">
                                      <p:cBhvr>
                                        <p:cTn id="31" dur="500"/>
                                        <p:tgtEl>
                                          <p:spTgt spid="100"/>
                                        </p:tgtEl>
                                      </p:cBhvr>
                                    </p:animEffect>
                                  </p:childTnLst>
                                </p:cTn>
                              </p:par>
                            </p:childTnLst>
                          </p:cTn>
                        </p:par>
                        <p:par>
                          <p:cTn id="32" fill="hold">
                            <p:stCondLst>
                              <p:cond delay="1000"/>
                            </p:stCondLst>
                            <p:childTnLst>
                              <p:par>
                                <p:cTn id="33" presetID="1" presetClass="entr" presetSubtype="0" fill="hold" grpId="0" nodeType="afterEffect">
                                  <p:stCondLst>
                                    <p:cond delay="0"/>
                                  </p:stCondLst>
                                  <p:childTnLst>
                                    <p:set>
                                      <p:cBhvr>
                                        <p:cTn id="34" dur="1" fill="hold">
                                          <p:stCondLst>
                                            <p:cond delay="0"/>
                                          </p:stCondLst>
                                        </p:cTn>
                                        <p:tgtEl>
                                          <p:spTgt spid="10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8" presetClass="entr" presetSubtype="6" fill="hold" nodeType="clickEffect">
                                  <p:stCondLst>
                                    <p:cond delay="0"/>
                                  </p:stCondLst>
                                  <p:childTnLst>
                                    <p:set>
                                      <p:cBhvr>
                                        <p:cTn id="46" dur="1" fill="hold">
                                          <p:stCondLst>
                                            <p:cond delay="0"/>
                                          </p:stCondLst>
                                        </p:cTn>
                                        <p:tgtEl>
                                          <p:spTgt spid="103"/>
                                        </p:tgtEl>
                                        <p:attrNameLst>
                                          <p:attrName>style.visibility</p:attrName>
                                        </p:attrNameLst>
                                      </p:cBhvr>
                                      <p:to>
                                        <p:strVal val="visible"/>
                                      </p:to>
                                    </p:set>
                                    <p:animEffect transition="in" filter="strips(downRight)">
                                      <p:cBhvr>
                                        <p:cTn id="47" dur="500"/>
                                        <p:tgtEl>
                                          <p:spTgt spid="103"/>
                                        </p:tgtEl>
                                      </p:cBhvr>
                                    </p:animEffect>
                                  </p:childTnLst>
                                </p:cTn>
                              </p:par>
                            </p:childTnLst>
                          </p:cTn>
                        </p:par>
                        <p:par>
                          <p:cTn id="48" fill="hold">
                            <p:stCondLst>
                              <p:cond delay="500"/>
                            </p:stCondLst>
                            <p:childTnLst>
                              <p:par>
                                <p:cTn id="49" presetID="18" presetClass="entr" presetSubtype="12" fill="hold" nodeType="afterEffect">
                                  <p:stCondLst>
                                    <p:cond delay="0"/>
                                  </p:stCondLst>
                                  <p:childTnLst>
                                    <p:set>
                                      <p:cBhvr>
                                        <p:cTn id="50" dur="1" fill="hold">
                                          <p:stCondLst>
                                            <p:cond delay="0"/>
                                          </p:stCondLst>
                                        </p:cTn>
                                        <p:tgtEl>
                                          <p:spTgt spid="104"/>
                                        </p:tgtEl>
                                        <p:attrNameLst>
                                          <p:attrName>style.visibility</p:attrName>
                                        </p:attrNameLst>
                                      </p:cBhvr>
                                      <p:to>
                                        <p:strVal val="visible"/>
                                      </p:to>
                                    </p:set>
                                    <p:animEffect transition="in" filter="strips(downLeft)">
                                      <p:cBhvr>
                                        <p:cTn id="51" dur="500"/>
                                        <p:tgtEl>
                                          <p:spTgt spid="104"/>
                                        </p:tgtEl>
                                      </p:cBhvr>
                                    </p:animEffect>
                                  </p:childTnLst>
                                </p:cTn>
                              </p:par>
                            </p:childTnLst>
                          </p:cTn>
                        </p:par>
                        <p:par>
                          <p:cTn id="52" fill="hold">
                            <p:stCondLst>
                              <p:cond delay="1000"/>
                            </p:stCondLst>
                            <p:childTnLst>
                              <p:par>
                                <p:cTn id="53" presetID="1" presetClass="entr" presetSubtype="0" fill="hold" grpId="0" nodeType="afterEffect">
                                  <p:stCondLst>
                                    <p:cond delay="0"/>
                                  </p:stCondLst>
                                  <p:childTnLst>
                                    <p:set>
                                      <p:cBhvr>
                                        <p:cTn id="54" dur="1" fill="hold">
                                          <p:stCondLst>
                                            <p:cond delay="0"/>
                                          </p:stCondLst>
                                        </p:cTn>
                                        <p:tgtEl>
                                          <p:spTgt spid="105"/>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8" presetClass="entr" presetSubtype="6" fill="hold" nodeType="clickEffect">
                                  <p:stCondLst>
                                    <p:cond delay="0"/>
                                  </p:stCondLst>
                                  <p:childTnLst>
                                    <p:set>
                                      <p:cBhvr>
                                        <p:cTn id="58" dur="1" fill="hold">
                                          <p:stCondLst>
                                            <p:cond delay="0"/>
                                          </p:stCondLst>
                                        </p:cTn>
                                        <p:tgtEl>
                                          <p:spTgt spid="106"/>
                                        </p:tgtEl>
                                        <p:attrNameLst>
                                          <p:attrName>style.visibility</p:attrName>
                                        </p:attrNameLst>
                                      </p:cBhvr>
                                      <p:to>
                                        <p:strVal val="visible"/>
                                      </p:to>
                                    </p:set>
                                    <p:animEffect transition="in" filter="strips(downRight)">
                                      <p:cBhvr>
                                        <p:cTn id="59" dur="500"/>
                                        <p:tgtEl>
                                          <p:spTgt spid="106"/>
                                        </p:tgtEl>
                                      </p:cBhvr>
                                    </p:animEffect>
                                  </p:childTnLst>
                                </p:cTn>
                              </p:par>
                            </p:childTnLst>
                          </p:cTn>
                        </p:par>
                        <p:par>
                          <p:cTn id="60" fill="hold">
                            <p:stCondLst>
                              <p:cond delay="500"/>
                            </p:stCondLst>
                            <p:childTnLst>
                              <p:par>
                                <p:cTn id="61" presetID="18" presetClass="entr" presetSubtype="12" fill="hold" nodeType="afterEffect">
                                  <p:stCondLst>
                                    <p:cond delay="0"/>
                                  </p:stCondLst>
                                  <p:childTnLst>
                                    <p:set>
                                      <p:cBhvr>
                                        <p:cTn id="62" dur="1" fill="hold">
                                          <p:stCondLst>
                                            <p:cond delay="0"/>
                                          </p:stCondLst>
                                        </p:cTn>
                                        <p:tgtEl>
                                          <p:spTgt spid="107"/>
                                        </p:tgtEl>
                                        <p:attrNameLst>
                                          <p:attrName>style.visibility</p:attrName>
                                        </p:attrNameLst>
                                      </p:cBhvr>
                                      <p:to>
                                        <p:strVal val="visible"/>
                                      </p:to>
                                    </p:set>
                                    <p:animEffect transition="in" filter="strips(downLeft)">
                                      <p:cBhvr>
                                        <p:cTn id="63" dur="500"/>
                                        <p:tgtEl>
                                          <p:spTgt spid="107"/>
                                        </p:tgtEl>
                                      </p:cBhvr>
                                    </p:animEffect>
                                  </p:childTnLst>
                                </p:cTn>
                              </p:par>
                            </p:childTnLst>
                          </p:cTn>
                        </p:par>
                        <p:par>
                          <p:cTn id="64" fill="hold">
                            <p:stCondLst>
                              <p:cond delay="1000"/>
                            </p:stCondLst>
                            <p:childTnLst>
                              <p:par>
                                <p:cTn id="65" presetID="1" presetClass="entr" presetSubtype="0" fill="hold" grpId="0" nodeType="afterEffect">
                                  <p:stCondLst>
                                    <p:cond delay="0"/>
                                  </p:stCondLst>
                                  <p:childTnLst>
                                    <p:set>
                                      <p:cBhvr>
                                        <p:cTn id="66" dur="1" fill="hold">
                                          <p:stCondLst>
                                            <p:cond delay="0"/>
                                          </p:stCondLst>
                                        </p:cTn>
                                        <p:tgtEl>
                                          <p:spTgt spid="108"/>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22"/>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 grpId="0"/>
      <p:bldP spid="101" grpId="0"/>
      <p:bldP spid="105" grpId="0"/>
      <p:bldP spid="108" grpId="0"/>
      <p:bldP spid="21" grpId="0"/>
      <p:bldP spid="2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85"/>
          <p:cNvGrpSpPr/>
          <p:nvPr/>
        </p:nvGrpSpPr>
        <p:grpSpPr>
          <a:xfrm>
            <a:off x="76200" y="2832239"/>
            <a:ext cx="8839200" cy="609600"/>
            <a:chOff x="76200" y="2133600"/>
            <a:chExt cx="8839200" cy="609600"/>
          </a:xfrm>
        </p:grpSpPr>
        <p:sp>
          <p:nvSpPr>
            <p:cNvPr id="5" name="Rectangle 4"/>
            <p:cNvSpPr/>
            <p:nvPr/>
          </p:nvSpPr>
          <p:spPr>
            <a:xfrm>
              <a:off x="1066800" y="2133600"/>
              <a:ext cx="7848600" cy="609600"/>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1219200" y="2286000"/>
              <a:ext cx="381000" cy="338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1752600" y="2286000"/>
              <a:ext cx="381000" cy="338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2362200" y="2286000"/>
              <a:ext cx="381000" cy="338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2971800" y="2286000"/>
              <a:ext cx="381000" cy="338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3886200" y="2286000"/>
              <a:ext cx="381000" cy="338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4419600" y="2286000"/>
              <a:ext cx="381000" cy="338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5029200" y="2286000"/>
              <a:ext cx="381000" cy="338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5638800" y="2286000"/>
              <a:ext cx="381000" cy="338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6553200" y="2286000"/>
              <a:ext cx="381000" cy="338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7086600" y="2286000"/>
              <a:ext cx="381000" cy="338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7696200" y="2286000"/>
              <a:ext cx="381000" cy="338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a:off x="8305800" y="2286000"/>
              <a:ext cx="381000" cy="338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TextBox 77"/>
            <p:cNvSpPr txBox="1"/>
            <p:nvPr/>
          </p:nvSpPr>
          <p:spPr>
            <a:xfrm>
              <a:off x="76200" y="2209800"/>
              <a:ext cx="855491" cy="461665"/>
            </a:xfrm>
            <a:prstGeom prst="rect">
              <a:avLst/>
            </a:prstGeom>
            <a:noFill/>
          </p:spPr>
          <p:txBody>
            <a:bodyPr wrap="none" rtlCol="0">
              <a:spAutoFit/>
            </a:bodyPr>
            <a:lstStyle/>
            <a:p>
              <a:r>
                <a:rPr lang="en-US" sz="2400" b="1" dirty="0"/>
                <a:t>HDFS</a:t>
              </a:r>
            </a:p>
          </p:txBody>
        </p:sp>
      </p:grpSp>
      <p:sp>
        <p:nvSpPr>
          <p:cNvPr id="2" name="Title 1"/>
          <p:cNvSpPr>
            <a:spLocks noGrp="1"/>
          </p:cNvSpPr>
          <p:nvPr>
            <p:ph type="title"/>
          </p:nvPr>
        </p:nvSpPr>
        <p:spPr>
          <a:xfrm>
            <a:off x="228600" y="362162"/>
            <a:ext cx="8686800" cy="685800"/>
          </a:xfrm>
        </p:spPr>
        <p:txBody>
          <a:bodyPr>
            <a:normAutofit/>
          </a:bodyPr>
          <a:lstStyle/>
          <a:p>
            <a:r>
              <a:rPr lang="en-US" sz="3200" dirty="0" err="1"/>
              <a:t>MapReduce</a:t>
            </a:r>
            <a:r>
              <a:rPr lang="en-US" sz="3200" dirty="0"/>
              <a:t> Operations on Hadoop</a:t>
            </a:r>
          </a:p>
        </p:txBody>
      </p:sp>
      <p:sp>
        <p:nvSpPr>
          <p:cNvPr id="3" name="Content Placeholder 2"/>
          <p:cNvSpPr>
            <a:spLocks noGrp="1"/>
          </p:cNvSpPr>
          <p:nvPr>
            <p:ph idx="1"/>
          </p:nvPr>
        </p:nvSpPr>
        <p:spPr>
          <a:xfrm>
            <a:off x="76200" y="1387006"/>
            <a:ext cx="9067799" cy="4724400"/>
          </a:xfrm>
        </p:spPr>
        <p:txBody>
          <a:bodyPr>
            <a:normAutofit/>
          </a:bodyPr>
          <a:lstStyle/>
          <a:p>
            <a:r>
              <a:rPr lang="en-US" sz="2800" dirty="0"/>
              <a:t>Calculate the average salary of every organization</a:t>
            </a:r>
          </a:p>
        </p:txBody>
      </p:sp>
      <p:grpSp>
        <p:nvGrpSpPr>
          <p:cNvPr id="18" name="Group 85"/>
          <p:cNvGrpSpPr/>
          <p:nvPr/>
        </p:nvGrpSpPr>
        <p:grpSpPr>
          <a:xfrm>
            <a:off x="760538" y="2375039"/>
            <a:ext cx="7848600" cy="461665"/>
            <a:chOff x="990600" y="4648200"/>
            <a:chExt cx="7848600" cy="461665"/>
          </a:xfrm>
        </p:grpSpPr>
        <p:sp>
          <p:nvSpPr>
            <p:cNvPr id="87" name="TextBox 86"/>
            <p:cNvSpPr txBox="1"/>
            <p:nvPr/>
          </p:nvSpPr>
          <p:spPr>
            <a:xfrm>
              <a:off x="990600" y="4648200"/>
              <a:ext cx="3505200" cy="461665"/>
            </a:xfrm>
            <a:prstGeom prst="rect">
              <a:avLst/>
            </a:prstGeom>
            <a:noFill/>
          </p:spPr>
          <p:txBody>
            <a:bodyPr wrap="square" rtlCol="0">
              <a:spAutoFit/>
            </a:bodyPr>
            <a:lstStyle/>
            <a:p>
              <a:r>
                <a:rPr lang="en-US" sz="2400" b="1" dirty="0"/>
                <a:t>{</a:t>
              </a:r>
              <a:r>
                <a:rPr lang="en-US" sz="2400" b="1" dirty="0">
                  <a:solidFill>
                    <a:srgbClr val="FF0000"/>
                  </a:solidFill>
                </a:rPr>
                <a:t>name</a:t>
              </a:r>
              <a:r>
                <a:rPr lang="en-US" sz="2400" b="1" dirty="0"/>
                <a:t>:  (org., salary)} </a:t>
              </a:r>
            </a:p>
          </p:txBody>
        </p:sp>
        <p:sp>
          <p:nvSpPr>
            <p:cNvPr id="88" name="Right Arrow 87"/>
            <p:cNvSpPr/>
            <p:nvPr/>
          </p:nvSpPr>
          <p:spPr>
            <a:xfrm>
              <a:off x="4343400" y="4724400"/>
              <a:ext cx="762000" cy="304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TextBox 88"/>
            <p:cNvSpPr txBox="1"/>
            <p:nvPr/>
          </p:nvSpPr>
          <p:spPr>
            <a:xfrm>
              <a:off x="5334000" y="4648200"/>
              <a:ext cx="3505200" cy="461665"/>
            </a:xfrm>
            <a:prstGeom prst="rect">
              <a:avLst/>
            </a:prstGeom>
            <a:noFill/>
          </p:spPr>
          <p:txBody>
            <a:bodyPr wrap="square" rtlCol="0">
              <a:spAutoFit/>
            </a:bodyPr>
            <a:lstStyle/>
            <a:p>
              <a:r>
                <a:rPr lang="en-US" sz="2400" b="1" dirty="0"/>
                <a:t>{</a:t>
              </a:r>
              <a:r>
                <a:rPr lang="en-US" sz="2400" b="1" dirty="0">
                  <a:solidFill>
                    <a:srgbClr val="FF0000"/>
                  </a:solidFill>
                </a:rPr>
                <a:t>org.</a:t>
              </a:r>
              <a:r>
                <a:rPr lang="en-US" sz="2400" b="1" dirty="0"/>
                <a:t>:  avg. salary} </a:t>
              </a:r>
            </a:p>
          </p:txBody>
        </p:sp>
      </p:grpSp>
      <p:sp>
        <p:nvSpPr>
          <p:cNvPr id="91" name="Slide Number Placeholder 3"/>
          <p:cNvSpPr>
            <a:spLocks noGrp="1"/>
          </p:cNvSpPr>
          <p:nvPr>
            <p:ph type="sldNum" sz="quarter" idx="12"/>
          </p:nvPr>
        </p:nvSpPr>
        <p:spPr>
          <a:xfrm>
            <a:off x="6553200" y="6416675"/>
            <a:ext cx="2133600" cy="365125"/>
          </a:xfrm>
        </p:spPr>
        <p:txBody>
          <a:bodyPr/>
          <a:lstStyle/>
          <a:p>
            <a:fld id="{B6F15528-21DE-4FAA-801E-634DDDAF4B2B}" type="slidenum">
              <a:rPr lang="en-US" smtClean="0"/>
              <a:pPr/>
              <a:t>13</a:t>
            </a:fld>
            <a:endParaRPr lang="en-US" dirty="0"/>
          </a:p>
        </p:txBody>
      </p:sp>
      <p:sp>
        <p:nvSpPr>
          <p:cNvPr id="90" name="Oval 89"/>
          <p:cNvSpPr/>
          <p:nvPr/>
        </p:nvSpPr>
        <p:spPr>
          <a:xfrm>
            <a:off x="1066800" y="2756039"/>
            <a:ext cx="685800" cy="685800"/>
          </a:xfrm>
          <a:prstGeom prst="ellipse">
            <a:avLst/>
          </a:prstGeom>
          <a:noFill/>
          <a:ln w="4445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3" name="Straight Arrow Connector 92"/>
          <p:cNvCxnSpPr>
            <a:stCxn id="90" idx="4"/>
          </p:cNvCxnSpPr>
          <p:nvPr/>
        </p:nvCxnSpPr>
        <p:spPr>
          <a:xfrm rot="5400000">
            <a:off x="704850" y="3651389"/>
            <a:ext cx="914400" cy="495300"/>
          </a:xfrm>
          <a:prstGeom prst="straightConnector1">
            <a:avLst/>
          </a:prstGeom>
          <a:ln w="63500">
            <a:solidFill>
              <a:schemeClr val="accent6">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96" name="TextBox 95"/>
          <p:cNvSpPr txBox="1"/>
          <p:nvPr/>
        </p:nvSpPr>
        <p:spPr>
          <a:xfrm>
            <a:off x="0" y="4432439"/>
            <a:ext cx="2111475" cy="461665"/>
          </a:xfrm>
          <a:prstGeom prst="rect">
            <a:avLst/>
          </a:prstGeom>
          <a:noFill/>
        </p:spPr>
        <p:txBody>
          <a:bodyPr wrap="none" rtlCol="0">
            <a:spAutoFit/>
          </a:bodyPr>
          <a:lstStyle/>
          <a:p>
            <a:r>
              <a:rPr lang="en-US" sz="2400" b="1" dirty="0">
                <a:latin typeface="Garamond" pitchFamily="18" charset="0"/>
              </a:rPr>
              <a:t>A HDFS block</a:t>
            </a:r>
          </a:p>
        </p:txBody>
      </p:sp>
      <p:cxnSp>
        <p:nvCxnSpPr>
          <p:cNvPr id="92" name="Straight Arrow Connector 91"/>
          <p:cNvCxnSpPr/>
          <p:nvPr/>
        </p:nvCxnSpPr>
        <p:spPr>
          <a:xfrm>
            <a:off x="3657600" y="3365639"/>
            <a:ext cx="1752600" cy="1219200"/>
          </a:xfrm>
          <a:prstGeom prst="straightConnector1">
            <a:avLst/>
          </a:prstGeom>
          <a:ln w="63500">
            <a:solidFill>
              <a:schemeClr val="accent6">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97" name="TextBox 96"/>
          <p:cNvSpPr txBox="1"/>
          <p:nvPr/>
        </p:nvSpPr>
        <p:spPr>
          <a:xfrm>
            <a:off x="3048000" y="4580374"/>
            <a:ext cx="5561138" cy="461665"/>
          </a:xfrm>
          <a:prstGeom prst="rect">
            <a:avLst/>
          </a:prstGeom>
          <a:noFill/>
        </p:spPr>
        <p:txBody>
          <a:bodyPr wrap="none" rtlCol="0">
            <a:spAutoFit/>
          </a:bodyPr>
          <a:lstStyle/>
          <a:p>
            <a:r>
              <a:rPr lang="en-US" sz="2400" b="1" dirty="0" err="1">
                <a:latin typeface="Garamond" pitchFamily="18" charset="0"/>
              </a:rPr>
              <a:t>Hadoop</a:t>
            </a:r>
            <a:r>
              <a:rPr lang="en-US" sz="2400" b="1" dirty="0">
                <a:latin typeface="Garamond" pitchFamily="18" charset="0"/>
              </a:rPr>
              <a:t> Distributed File System (HDFS)</a:t>
            </a:r>
          </a:p>
        </p:txBody>
      </p:sp>
    </p:spTree>
    <p:extLst>
      <p:ext uri="{BB962C8B-B14F-4D97-AF65-F5344CB8AC3E}">
        <p14:creationId xmlns:p14="http://schemas.microsoft.com/office/powerpoint/2010/main" val="814578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3" fill="hold" nodeType="clickEffect">
                                  <p:stCondLst>
                                    <p:cond delay="0"/>
                                  </p:stCondLst>
                                  <p:childTnLst>
                                    <p:set>
                                      <p:cBhvr>
                                        <p:cTn id="6" dur="1" fill="hold">
                                          <p:stCondLst>
                                            <p:cond delay="0"/>
                                          </p:stCondLst>
                                        </p:cTn>
                                        <p:tgtEl>
                                          <p:spTgt spid="92"/>
                                        </p:tgtEl>
                                        <p:attrNameLst>
                                          <p:attrName>style.visibility</p:attrName>
                                        </p:attrNameLst>
                                      </p:cBhvr>
                                      <p:to>
                                        <p:strVal val="visible"/>
                                      </p:to>
                                    </p:set>
                                    <p:animEffect transition="in" filter="strips(upRight)">
                                      <p:cBhvr>
                                        <p:cTn id="7" dur="500"/>
                                        <p:tgtEl>
                                          <p:spTgt spid="92"/>
                                        </p:tgtEl>
                                      </p:cBhvr>
                                    </p:animEffect>
                                  </p:childTnLst>
                                </p:cTn>
                              </p:par>
                            </p:childTnLst>
                          </p:cTn>
                        </p:par>
                        <p:par>
                          <p:cTn id="8" fill="hold">
                            <p:stCondLst>
                              <p:cond delay="500"/>
                            </p:stCondLst>
                            <p:childTnLst>
                              <p:par>
                                <p:cTn id="9" presetID="1" presetClass="entr" presetSubtype="0" fill="hold" grpId="0" nodeType="afterEffect">
                                  <p:stCondLst>
                                    <p:cond delay="0"/>
                                  </p:stCondLst>
                                  <p:childTnLst>
                                    <p:set>
                                      <p:cBhvr>
                                        <p:cTn id="10" dur="1" fill="hold">
                                          <p:stCondLst>
                                            <p:cond delay="0"/>
                                          </p:stCondLst>
                                        </p:cTn>
                                        <p:tgtEl>
                                          <p:spTgt spid="9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0"/>
                                        </p:tgtEl>
                                        <p:attrNameLst>
                                          <p:attrName>style.visibility</p:attrName>
                                        </p:attrNameLst>
                                      </p:cBhvr>
                                      <p:to>
                                        <p:strVal val="visible"/>
                                      </p:to>
                                    </p:set>
                                  </p:childTnLst>
                                </p:cTn>
                              </p:par>
                            </p:childTnLst>
                          </p:cTn>
                        </p:par>
                        <p:par>
                          <p:cTn id="15" fill="hold">
                            <p:stCondLst>
                              <p:cond delay="0"/>
                            </p:stCondLst>
                            <p:childTnLst>
                              <p:par>
                                <p:cTn id="16" presetID="18" presetClass="entr" presetSubtype="12" fill="hold" nodeType="afterEffect">
                                  <p:stCondLst>
                                    <p:cond delay="0"/>
                                  </p:stCondLst>
                                  <p:childTnLst>
                                    <p:set>
                                      <p:cBhvr>
                                        <p:cTn id="17" dur="1" fill="hold">
                                          <p:stCondLst>
                                            <p:cond delay="0"/>
                                          </p:stCondLst>
                                        </p:cTn>
                                        <p:tgtEl>
                                          <p:spTgt spid="93"/>
                                        </p:tgtEl>
                                        <p:attrNameLst>
                                          <p:attrName>style.visibility</p:attrName>
                                        </p:attrNameLst>
                                      </p:cBhvr>
                                      <p:to>
                                        <p:strVal val="visible"/>
                                      </p:to>
                                    </p:set>
                                    <p:animEffect transition="in" filter="strips(downLeft)">
                                      <p:cBhvr>
                                        <p:cTn id="18" dur="500"/>
                                        <p:tgtEl>
                                          <p:spTgt spid="93"/>
                                        </p:tgtEl>
                                      </p:cBhvr>
                                    </p:animEffect>
                                  </p:childTnLst>
                                </p:cTn>
                              </p:par>
                            </p:childTnLst>
                          </p:cTn>
                        </p:par>
                        <p:par>
                          <p:cTn id="19" fill="hold">
                            <p:stCondLst>
                              <p:cond delay="500"/>
                            </p:stCondLst>
                            <p:childTnLst>
                              <p:par>
                                <p:cTn id="20" presetID="1" presetClass="entr" presetSubtype="0" fill="hold" grpId="0" nodeType="afterEffect">
                                  <p:stCondLst>
                                    <p:cond delay="0"/>
                                  </p:stCondLst>
                                  <p:childTnLst>
                                    <p:set>
                                      <p:cBhvr>
                                        <p:cTn id="21" dur="1" fill="hold">
                                          <p:stCondLst>
                                            <p:cond delay="0"/>
                                          </p:stCondLst>
                                        </p:cTn>
                                        <p:tgtEl>
                                          <p:spTgt spid="9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 grpId="0" animBg="1"/>
      <p:bldP spid="96" grpId="0"/>
      <p:bldP spid="9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85"/>
          <p:cNvGrpSpPr/>
          <p:nvPr/>
        </p:nvGrpSpPr>
        <p:grpSpPr>
          <a:xfrm>
            <a:off x="76200" y="2133600"/>
            <a:ext cx="8839200" cy="609600"/>
            <a:chOff x="76200" y="2133600"/>
            <a:chExt cx="8839200" cy="609600"/>
          </a:xfrm>
        </p:grpSpPr>
        <p:sp>
          <p:nvSpPr>
            <p:cNvPr id="5" name="Rectangle 4"/>
            <p:cNvSpPr/>
            <p:nvPr/>
          </p:nvSpPr>
          <p:spPr>
            <a:xfrm>
              <a:off x="1066800" y="2133600"/>
              <a:ext cx="7848600" cy="609600"/>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1219200" y="2286000"/>
              <a:ext cx="381000" cy="338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1752600" y="2286000"/>
              <a:ext cx="381000" cy="338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2362200" y="2286000"/>
              <a:ext cx="381000" cy="338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2971800" y="2286000"/>
              <a:ext cx="381000" cy="338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3886200" y="2286000"/>
              <a:ext cx="381000" cy="338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4419600" y="2286000"/>
              <a:ext cx="381000" cy="338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5029200" y="2286000"/>
              <a:ext cx="381000" cy="338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5638800" y="2286000"/>
              <a:ext cx="381000" cy="338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6553200" y="2286000"/>
              <a:ext cx="381000" cy="338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7086600" y="2286000"/>
              <a:ext cx="381000" cy="338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7696200" y="2286000"/>
              <a:ext cx="381000" cy="338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a:off x="8305800" y="2286000"/>
              <a:ext cx="381000" cy="338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TextBox 77"/>
            <p:cNvSpPr txBox="1"/>
            <p:nvPr/>
          </p:nvSpPr>
          <p:spPr>
            <a:xfrm>
              <a:off x="76200" y="2209800"/>
              <a:ext cx="855491" cy="461665"/>
            </a:xfrm>
            <a:prstGeom prst="rect">
              <a:avLst/>
            </a:prstGeom>
            <a:noFill/>
          </p:spPr>
          <p:txBody>
            <a:bodyPr wrap="none" rtlCol="0">
              <a:spAutoFit/>
            </a:bodyPr>
            <a:lstStyle/>
            <a:p>
              <a:r>
                <a:rPr lang="en-US" sz="2400" b="1" dirty="0"/>
                <a:t>HDFS</a:t>
              </a:r>
            </a:p>
          </p:txBody>
        </p:sp>
      </p:grpSp>
      <p:sp>
        <p:nvSpPr>
          <p:cNvPr id="2" name="Title 1"/>
          <p:cNvSpPr>
            <a:spLocks noGrp="1"/>
          </p:cNvSpPr>
          <p:nvPr>
            <p:ph type="title"/>
          </p:nvPr>
        </p:nvSpPr>
        <p:spPr>
          <a:xfrm>
            <a:off x="228600" y="274638"/>
            <a:ext cx="8686800" cy="693550"/>
          </a:xfrm>
        </p:spPr>
        <p:txBody>
          <a:bodyPr>
            <a:normAutofit/>
          </a:bodyPr>
          <a:lstStyle/>
          <a:p>
            <a:r>
              <a:rPr lang="en-US" sz="3200" dirty="0" err="1"/>
              <a:t>MapReduce</a:t>
            </a:r>
            <a:r>
              <a:rPr lang="en-US" sz="3200" dirty="0"/>
              <a:t> Operations on Hadoop</a:t>
            </a:r>
          </a:p>
        </p:txBody>
      </p:sp>
      <p:sp>
        <p:nvSpPr>
          <p:cNvPr id="3" name="Content Placeholder 2"/>
          <p:cNvSpPr>
            <a:spLocks noGrp="1"/>
          </p:cNvSpPr>
          <p:nvPr>
            <p:ph idx="1"/>
          </p:nvPr>
        </p:nvSpPr>
        <p:spPr>
          <a:xfrm>
            <a:off x="76200" y="1204491"/>
            <a:ext cx="9067800" cy="4975412"/>
          </a:xfrm>
        </p:spPr>
        <p:txBody>
          <a:bodyPr>
            <a:normAutofit/>
          </a:bodyPr>
          <a:lstStyle/>
          <a:p>
            <a:r>
              <a:rPr lang="en-US" sz="2800" dirty="0"/>
              <a:t>Calculate the average salary of every department</a:t>
            </a:r>
          </a:p>
        </p:txBody>
      </p:sp>
      <p:grpSp>
        <p:nvGrpSpPr>
          <p:cNvPr id="18" name="Group 17"/>
          <p:cNvGrpSpPr/>
          <p:nvPr/>
        </p:nvGrpSpPr>
        <p:grpSpPr>
          <a:xfrm>
            <a:off x="1219200" y="3035300"/>
            <a:ext cx="7429500" cy="317500"/>
            <a:chOff x="1219200" y="2459567"/>
            <a:chExt cx="7429500" cy="317500"/>
          </a:xfrm>
        </p:grpSpPr>
        <p:sp>
          <p:nvSpPr>
            <p:cNvPr id="19" name="Rectangle 18"/>
            <p:cNvSpPr/>
            <p:nvPr/>
          </p:nvSpPr>
          <p:spPr>
            <a:xfrm>
              <a:off x="1219200" y="2459567"/>
              <a:ext cx="2095500" cy="317500"/>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Map</a:t>
              </a:r>
            </a:p>
          </p:txBody>
        </p:sp>
        <p:sp>
          <p:nvSpPr>
            <p:cNvPr id="20" name="Rectangle 19"/>
            <p:cNvSpPr/>
            <p:nvPr/>
          </p:nvSpPr>
          <p:spPr>
            <a:xfrm>
              <a:off x="3886200" y="2459567"/>
              <a:ext cx="2095500" cy="317500"/>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Map</a:t>
              </a:r>
            </a:p>
          </p:txBody>
        </p:sp>
        <p:sp>
          <p:nvSpPr>
            <p:cNvPr id="21" name="Rectangle 20"/>
            <p:cNvSpPr/>
            <p:nvPr/>
          </p:nvSpPr>
          <p:spPr>
            <a:xfrm>
              <a:off x="6553200" y="2459567"/>
              <a:ext cx="2095500" cy="317500"/>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Map</a:t>
              </a:r>
            </a:p>
          </p:txBody>
        </p:sp>
      </p:grpSp>
      <p:grpSp>
        <p:nvGrpSpPr>
          <p:cNvPr id="22" name="Group 21"/>
          <p:cNvGrpSpPr/>
          <p:nvPr/>
        </p:nvGrpSpPr>
        <p:grpSpPr>
          <a:xfrm>
            <a:off x="1676400" y="3657600"/>
            <a:ext cx="6477000" cy="338667"/>
            <a:chOff x="1676400" y="3276600"/>
            <a:chExt cx="6477000" cy="338667"/>
          </a:xfrm>
        </p:grpSpPr>
        <p:sp>
          <p:nvSpPr>
            <p:cNvPr id="23" name="Rectangle 22"/>
            <p:cNvSpPr/>
            <p:nvPr/>
          </p:nvSpPr>
          <p:spPr>
            <a:xfrm>
              <a:off x="1676400" y="3276600"/>
              <a:ext cx="381000" cy="338667"/>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p:cNvSpPr/>
            <p:nvPr/>
          </p:nvSpPr>
          <p:spPr>
            <a:xfrm>
              <a:off x="2362200" y="3276600"/>
              <a:ext cx="381000" cy="338667"/>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p:cNvSpPr/>
            <p:nvPr/>
          </p:nvSpPr>
          <p:spPr>
            <a:xfrm>
              <a:off x="4419600" y="3276600"/>
              <a:ext cx="381000" cy="338667"/>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p:cNvSpPr/>
            <p:nvPr/>
          </p:nvSpPr>
          <p:spPr>
            <a:xfrm>
              <a:off x="5105400" y="3276600"/>
              <a:ext cx="381000" cy="338667"/>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p:cNvSpPr/>
            <p:nvPr/>
          </p:nvSpPr>
          <p:spPr>
            <a:xfrm>
              <a:off x="7086600" y="3276600"/>
              <a:ext cx="381000" cy="338667"/>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p:cNvSpPr/>
            <p:nvPr/>
          </p:nvSpPr>
          <p:spPr>
            <a:xfrm>
              <a:off x="7772400" y="3276600"/>
              <a:ext cx="381000" cy="338667"/>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9" name="Group 28"/>
          <p:cNvGrpSpPr/>
          <p:nvPr/>
        </p:nvGrpSpPr>
        <p:grpSpPr>
          <a:xfrm>
            <a:off x="1295400" y="2717800"/>
            <a:ext cx="7340600" cy="330200"/>
            <a:chOff x="1295400" y="2065867"/>
            <a:chExt cx="7340600" cy="330200"/>
          </a:xfrm>
        </p:grpSpPr>
        <p:sp>
          <p:nvSpPr>
            <p:cNvPr id="30" name="Down Arrow 29"/>
            <p:cNvSpPr/>
            <p:nvPr/>
          </p:nvSpPr>
          <p:spPr>
            <a:xfrm>
              <a:off x="1295400" y="20658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Down Arrow 30"/>
            <p:cNvSpPr/>
            <p:nvPr/>
          </p:nvSpPr>
          <p:spPr>
            <a:xfrm>
              <a:off x="1828800" y="20658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Down Arrow 31"/>
            <p:cNvSpPr/>
            <p:nvPr/>
          </p:nvSpPr>
          <p:spPr>
            <a:xfrm>
              <a:off x="2413000" y="20785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Down Arrow 32"/>
            <p:cNvSpPr/>
            <p:nvPr/>
          </p:nvSpPr>
          <p:spPr>
            <a:xfrm>
              <a:off x="3048000" y="20785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Down Arrow 33"/>
            <p:cNvSpPr/>
            <p:nvPr/>
          </p:nvSpPr>
          <p:spPr>
            <a:xfrm>
              <a:off x="3962400" y="20658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Down Arrow 34"/>
            <p:cNvSpPr/>
            <p:nvPr/>
          </p:nvSpPr>
          <p:spPr>
            <a:xfrm>
              <a:off x="4495800" y="20658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Down Arrow 35"/>
            <p:cNvSpPr/>
            <p:nvPr/>
          </p:nvSpPr>
          <p:spPr>
            <a:xfrm>
              <a:off x="5080000" y="20785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Down Arrow 36"/>
            <p:cNvSpPr/>
            <p:nvPr/>
          </p:nvSpPr>
          <p:spPr>
            <a:xfrm>
              <a:off x="5715000" y="20785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Down Arrow 37"/>
            <p:cNvSpPr/>
            <p:nvPr/>
          </p:nvSpPr>
          <p:spPr>
            <a:xfrm>
              <a:off x="6629400" y="20658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Down Arrow 38"/>
            <p:cNvSpPr/>
            <p:nvPr/>
          </p:nvSpPr>
          <p:spPr>
            <a:xfrm>
              <a:off x="7162800" y="20658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Down Arrow 39"/>
            <p:cNvSpPr/>
            <p:nvPr/>
          </p:nvSpPr>
          <p:spPr>
            <a:xfrm>
              <a:off x="7747000" y="20785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Down Arrow 40"/>
            <p:cNvSpPr/>
            <p:nvPr/>
          </p:nvSpPr>
          <p:spPr>
            <a:xfrm>
              <a:off x="8382000" y="20785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2" name="Group 41"/>
          <p:cNvGrpSpPr/>
          <p:nvPr/>
        </p:nvGrpSpPr>
        <p:grpSpPr>
          <a:xfrm>
            <a:off x="1752600" y="3340100"/>
            <a:ext cx="6350000" cy="317500"/>
            <a:chOff x="1752600" y="2853267"/>
            <a:chExt cx="6350000" cy="317500"/>
          </a:xfrm>
        </p:grpSpPr>
        <p:sp>
          <p:nvSpPr>
            <p:cNvPr id="43" name="Down Arrow 42"/>
            <p:cNvSpPr/>
            <p:nvPr/>
          </p:nvSpPr>
          <p:spPr>
            <a:xfrm>
              <a:off x="1752600" y="28532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Down Arrow 43"/>
            <p:cNvSpPr/>
            <p:nvPr/>
          </p:nvSpPr>
          <p:spPr>
            <a:xfrm>
              <a:off x="2438400" y="28532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Down Arrow 44"/>
            <p:cNvSpPr/>
            <p:nvPr/>
          </p:nvSpPr>
          <p:spPr>
            <a:xfrm>
              <a:off x="4495800" y="28532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Down Arrow 45"/>
            <p:cNvSpPr/>
            <p:nvPr/>
          </p:nvSpPr>
          <p:spPr>
            <a:xfrm>
              <a:off x="5181600" y="28532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Down Arrow 46"/>
            <p:cNvSpPr/>
            <p:nvPr/>
          </p:nvSpPr>
          <p:spPr>
            <a:xfrm>
              <a:off x="7162800" y="28532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Down Arrow 47"/>
            <p:cNvSpPr/>
            <p:nvPr/>
          </p:nvSpPr>
          <p:spPr>
            <a:xfrm>
              <a:off x="7848600" y="28532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9" name="Group 85"/>
          <p:cNvGrpSpPr/>
          <p:nvPr/>
        </p:nvGrpSpPr>
        <p:grpSpPr>
          <a:xfrm>
            <a:off x="762000" y="1600200"/>
            <a:ext cx="7848600" cy="461665"/>
            <a:chOff x="990600" y="4648200"/>
            <a:chExt cx="7848600" cy="461665"/>
          </a:xfrm>
        </p:grpSpPr>
        <p:sp>
          <p:nvSpPr>
            <p:cNvPr id="87" name="TextBox 86"/>
            <p:cNvSpPr txBox="1"/>
            <p:nvPr/>
          </p:nvSpPr>
          <p:spPr>
            <a:xfrm>
              <a:off x="990600" y="4648200"/>
              <a:ext cx="3505200" cy="461665"/>
            </a:xfrm>
            <a:prstGeom prst="rect">
              <a:avLst/>
            </a:prstGeom>
            <a:noFill/>
          </p:spPr>
          <p:txBody>
            <a:bodyPr wrap="square" rtlCol="0">
              <a:spAutoFit/>
            </a:bodyPr>
            <a:lstStyle/>
            <a:p>
              <a:r>
                <a:rPr lang="en-US" sz="2400" b="1" dirty="0"/>
                <a:t>{</a:t>
              </a:r>
              <a:r>
                <a:rPr lang="en-US" sz="2400" b="1" dirty="0">
                  <a:solidFill>
                    <a:srgbClr val="FF0000"/>
                  </a:solidFill>
                </a:rPr>
                <a:t>name</a:t>
              </a:r>
              <a:r>
                <a:rPr lang="en-US" sz="2400" b="1" dirty="0"/>
                <a:t>:  (org., salary)} </a:t>
              </a:r>
            </a:p>
          </p:txBody>
        </p:sp>
        <p:sp>
          <p:nvSpPr>
            <p:cNvPr id="88" name="Right Arrow 87"/>
            <p:cNvSpPr/>
            <p:nvPr/>
          </p:nvSpPr>
          <p:spPr>
            <a:xfrm>
              <a:off x="4343400" y="4724400"/>
              <a:ext cx="762000" cy="304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TextBox 88"/>
            <p:cNvSpPr txBox="1"/>
            <p:nvPr/>
          </p:nvSpPr>
          <p:spPr>
            <a:xfrm>
              <a:off x="5334000" y="4648200"/>
              <a:ext cx="3505200" cy="461665"/>
            </a:xfrm>
            <a:prstGeom prst="rect">
              <a:avLst/>
            </a:prstGeom>
            <a:noFill/>
          </p:spPr>
          <p:txBody>
            <a:bodyPr wrap="square" rtlCol="0">
              <a:spAutoFit/>
            </a:bodyPr>
            <a:lstStyle/>
            <a:p>
              <a:r>
                <a:rPr lang="en-US" sz="2400" b="1" dirty="0"/>
                <a:t>{</a:t>
              </a:r>
              <a:r>
                <a:rPr lang="en-US" sz="2400" b="1" dirty="0">
                  <a:solidFill>
                    <a:srgbClr val="FF0000"/>
                  </a:solidFill>
                </a:rPr>
                <a:t>org.</a:t>
              </a:r>
              <a:r>
                <a:rPr lang="en-US" sz="2400" b="1" dirty="0"/>
                <a:t>:  avg. salary} </a:t>
              </a:r>
            </a:p>
          </p:txBody>
        </p:sp>
      </p:grpSp>
      <p:sp>
        <p:nvSpPr>
          <p:cNvPr id="91" name="Slide Number Placeholder 3"/>
          <p:cNvSpPr>
            <a:spLocks noGrp="1"/>
          </p:cNvSpPr>
          <p:nvPr>
            <p:ph type="sldNum" sz="quarter" idx="12"/>
          </p:nvPr>
        </p:nvSpPr>
        <p:spPr>
          <a:xfrm>
            <a:off x="6553200" y="6416675"/>
            <a:ext cx="2133600" cy="365125"/>
          </a:xfrm>
        </p:spPr>
        <p:txBody>
          <a:bodyPr/>
          <a:lstStyle/>
          <a:p>
            <a:fld id="{B6F15528-21DE-4FAA-801E-634DDDAF4B2B}" type="slidenum">
              <a:rPr lang="en-US" smtClean="0"/>
              <a:pPr/>
              <a:t>14</a:t>
            </a:fld>
            <a:endParaRPr lang="en-US" dirty="0"/>
          </a:p>
        </p:txBody>
      </p:sp>
      <p:grpSp>
        <p:nvGrpSpPr>
          <p:cNvPr id="50" name="Group 109"/>
          <p:cNvGrpSpPr/>
          <p:nvPr/>
        </p:nvGrpSpPr>
        <p:grpSpPr>
          <a:xfrm>
            <a:off x="990600" y="2057400"/>
            <a:ext cx="7848600" cy="3779460"/>
            <a:chOff x="990600" y="2057400"/>
            <a:chExt cx="7848600" cy="3779460"/>
          </a:xfrm>
        </p:grpSpPr>
        <p:sp>
          <p:nvSpPr>
            <p:cNvPr id="95" name="Oval 94"/>
            <p:cNvSpPr/>
            <p:nvPr/>
          </p:nvSpPr>
          <p:spPr>
            <a:xfrm>
              <a:off x="990600" y="2057400"/>
              <a:ext cx="2514600" cy="6858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Oval 95"/>
            <p:cNvSpPr/>
            <p:nvPr/>
          </p:nvSpPr>
          <p:spPr>
            <a:xfrm>
              <a:off x="3657600" y="2057400"/>
              <a:ext cx="2514600" cy="6858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Oval 96"/>
            <p:cNvSpPr/>
            <p:nvPr/>
          </p:nvSpPr>
          <p:spPr>
            <a:xfrm>
              <a:off x="6324600" y="2057400"/>
              <a:ext cx="2514600" cy="6858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TextBox 97"/>
            <p:cNvSpPr txBox="1"/>
            <p:nvPr/>
          </p:nvSpPr>
          <p:spPr>
            <a:xfrm>
              <a:off x="1600200" y="4267200"/>
              <a:ext cx="6705600" cy="1569660"/>
            </a:xfrm>
            <a:prstGeom prst="rect">
              <a:avLst/>
            </a:prstGeom>
            <a:noFill/>
          </p:spPr>
          <p:txBody>
            <a:bodyPr wrap="square" rtlCol="0">
              <a:spAutoFit/>
            </a:bodyPr>
            <a:lstStyle/>
            <a:p>
              <a:pPr fontAlgn="t"/>
              <a:r>
                <a:rPr lang="en-US" sz="2400" b="1" dirty="0">
                  <a:latin typeface="Garamond" pitchFamily="18" charset="0"/>
                </a:rPr>
                <a:t>Each map task takes 4 HDFS blocks as its input and extract {org.: salary} as new key/value pairs, e.g. </a:t>
              </a:r>
              <a:r>
                <a:rPr lang="en-US" sz="2400" b="1" dirty="0">
                  <a:solidFill>
                    <a:srgbClr val="FF0000"/>
                  </a:solidFill>
                  <a:latin typeface="Garamond" pitchFamily="18" charset="0"/>
                </a:rPr>
                <a:t>{Alice: (org-1, 3000)} </a:t>
              </a:r>
              <a:r>
                <a:rPr lang="en-US" sz="2400" b="1" dirty="0">
                  <a:latin typeface="Garamond" pitchFamily="18" charset="0"/>
                </a:rPr>
                <a:t>to </a:t>
              </a:r>
              <a:r>
                <a:rPr lang="en-US" sz="2400" b="1" dirty="0">
                  <a:solidFill>
                    <a:srgbClr val="FF0000"/>
                  </a:solidFill>
                  <a:latin typeface="Garamond" pitchFamily="18" charset="0"/>
                </a:rPr>
                <a:t>{org-1: 3000}</a:t>
              </a:r>
            </a:p>
            <a:p>
              <a:endParaRPr lang="en-US" sz="2400" b="1" dirty="0">
                <a:latin typeface="Garamond" pitchFamily="18" charset="0"/>
              </a:endParaRPr>
            </a:p>
          </p:txBody>
        </p:sp>
        <p:cxnSp>
          <p:nvCxnSpPr>
            <p:cNvPr id="100" name="Straight Arrow Connector 99"/>
            <p:cNvCxnSpPr>
              <a:stCxn id="95" idx="4"/>
              <a:endCxn id="98" idx="0"/>
            </p:cNvCxnSpPr>
            <p:nvPr/>
          </p:nvCxnSpPr>
          <p:spPr>
            <a:xfrm rot="16200000" flipH="1">
              <a:off x="2838450" y="2152650"/>
              <a:ext cx="1524000" cy="2705100"/>
            </a:xfrm>
            <a:prstGeom prst="straightConnector1">
              <a:avLst/>
            </a:prstGeom>
            <a:ln w="50800">
              <a:tailEnd type="arrow"/>
            </a:ln>
          </p:spPr>
          <p:style>
            <a:lnRef idx="1">
              <a:schemeClr val="accent1"/>
            </a:lnRef>
            <a:fillRef idx="0">
              <a:schemeClr val="accent1"/>
            </a:fillRef>
            <a:effectRef idx="0">
              <a:schemeClr val="accent1"/>
            </a:effectRef>
            <a:fontRef idx="minor">
              <a:schemeClr val="tx1"/>
            </a:fontRef>
          </p:style>
        </p:cxnSp>
        <p:cxnSp>
          <p:nvCxnSpPr>
            <p:cNvPr id="102" name="Straight Arrow Connector 101"/>
            <p:cNvCxnSpPr>
              <a:stCxn id="96" idx="4"/>
              <a:endCxn id="98" idx="0"/>
            </p:cNvCxnSpPr>
            <p:nvPr/>
          </p:nvCxnSpPr>
          <p:spPr>
            <a:xfrm rot="16200000" flipH="1">
              <a:off x="4171950" y="3486150"/>
              <a:ext cx="1524000" cy="38100"/>
            </a:xfrm>
            <a:prstGeom prst="straightConnector1">
              <a:avLst/>
            </a:prstGeom>
            <a:ln w="50800">
              <a:tailEnd type="arrow"/>
            </a:ln>
          </p:spPr>
          <p:style>
            <a:lnRef idx="1">
              <a:schemeClr val="accent1"/>
            </a:lnRef>
            <a:fillRef idx="0">
              <a:schemeClr val="accent1"/>
            </a:fillRef>
            <a:effectRef idx="0">
              <a:schemeClr val="accent1"/>
            </a:effectRef>
            <a:fontRef idx="minor">
              <a:schemeClr val="tx1"/>
            </a:fontRef>
          </p:style>
        </p:cxnSp>
        <p:cxnSp>
          <p:nvCxnSpPr>
            <p:cNvPr id="104" name="Straight Arrow Connector 103"/>
            <p:cNvCxnSpPr>
              <a:stCxn id="97" idx="4"/>
              <a:endCxn id="98" idx="0"/>
            </p:cNvCxnSpPr>
            <p:nvPr/>
          </p:nvCxnSpPr>
          <p:spPr>
            <a:xfrm rot="5400000">
              <a:off x="5505450" y="2190750"/>
              <a:ext cx="1524000" cy="2628900"/>
            </a:xfrm>
            <a:prstGeom prst="straightConnector1">
              <a:avLst/>
            </a:prstGeom>
            <a:ln w="50800">
              <a:tailEnd type="arrow"/>
            </a:ln>
          </p:spPr>
          <p:style>
            <a:lnRef idx="1">
              <a:schemeClr val="accent1"/>
            </a:lnRef>
            <a:fillRef idx="0">
              <a:schemeClr val="accent1"/>
            </a:fillRef>
            <a:effectRef idx="0">
              <a:schemeClr val="accent1"/>
            </a:effectRef>
            <a:fontRef idx="minor">
              <a:schemeClr val="tx1"/>
            </a:fontRef>
          </p:style>
        </p:cxnSp>
      </p:grpSp>
      <p:sp>
        <p:nvSpPr>
          <p:cNvPr id="123" name="TextBox 122"/>
          <p:cNvSpPr txBox="1"/>
          <p:nvPr/>
        </p:nvSpPr>
        <p:spPr>
          <a:xfrm>
            <a:off x="1905000" y="5791200"/>
            <a:ext cx="184731" cy="369332"/>
          </a:xfrm>
          <a:prstGeom prst="rect">
            <a:avLst/>
          </a:prstGeom>
          <a:noFill/>
        </p:spPr>
        <p:txBody>
          <a:bodyPr wrap="none" rtlCol="0">
            <a:spAutoFit/>
          </a:bodyPr>
          <a:lstStyle/>
          <a:p>
            <a:endParaRPr lang="en-US" dirty="0"/>
          </a:p>
        </p:txBody>
      </p:sp>
      <p:grpSp>
        <p:nvGrpSpPr>
          <p:cNvPr id="51" name="Group 132"/>
          <p:cNvGrpSpPr/>
          <p:nvPr/>
        </p:nvGrpSpPr>
        <p:grpSpPr>
          <a:xfrm>
            <a:off x="1143000" y="2057400"/>
            <a:ext cx="7772400" cy="3662065"/>
            <a:chOff x="1066800" y="2057400"/>
            <a:chExt cx="7772400" cy="3662065"/>
          </a:xfrm>
        </p:grpSpPr>
        <p:grpSp>
          <p:nvGrpSpPr>
            <p:cNvPr id="52" name="Group 92"/>
            <p:cNvGrpSpPr/>
            <p:nvPr/>
          </p:nvGrpSpPr>
          <p:grpSpPr>
            <a:xfrm>
              <a:off x="1066800" y="2057400"/>
              <a:ext cx="7772400" cy="2209800"/>
              <a:chOff x="1066800" y="2057400"/>
              <a:chExt cx="7772400" cy="2209800"/>
            </a:xfrm>
          </p:grpSpPr>
          <p:sp>
            <p:nvSpPr>
              <p:cNvPr id="86" name="Rectangle 85"/>
              <p:cNvSpPr/>
              <p:nvPr/>
            </p:nvSpPr>
            <p:spPr>
              <a:xfrm>
                <a:off x="1066800" y="2057400"/>
                <a:ext cx="2438400" cy="2209800"/>
              </a:xfrm>
              <a:prstGeom prst="rect">
                <a:avLst/>
              </a:prstGeom>
              <a:noFill/>
              <a:ln w="76200" cap="flat">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Rectangle 89"/>
              <p:cNvSpPr/>
              <p:nvPr/>
            </p:nvSpPr>
            <p:spPr>
              <a:xfrm>
                <a:off x="3733800" y="2057400"/>
                <a:ext cx="2438400" cy="2209800"/>
              </a:xfrm>
              <a:prstGeom prst="rect">
                <a:avLst/>
              </a:prstGeom>
              <a:noFill/>
              <a:ln w="76200" cap="flat">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Rectangle 91"/>
              <p:cNvSpPr/>
              <p:nvPr/>
            </p:nvSpPr>
            <p:spPr>
              <a:xfrm>
                <a:off x="6400800" y="2057400"/>
                <a:ext cx="2438400" cy="2209800"/>
              </a:xfrm>
              <a:prstGeom prst="rect">
                <a:avLst/>
              </a:prstGeom>
              <a:noFill/>
              <a:ln w="76200" cap="flat">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4" name="TextBox 123"/>
            <p:cNvSpPr txBox="1"/>
            <p:nvPr/>
          </p:nvSpPr>
          <p:spPr>
            <a:xfrm>
              <a:off x="1752600" y="5257800"/>
              <a:ext cx="6019597" cy="461665"/>
            </a:xfrm>
            <a:prstGeom prst="rect">
              <a:avLst/>
            </a:prstGeom>
            <a:noFill/>
          </p:spPr>
          <p:txBody>
            <a:bodyPr wrap="none" rtlCol="0">
              <a:spAutoFit/>
            </a:bodyPr>
            <a:lstStyle/>
            <a:p>
              <a:r>
                <a:rPr lang="en-US" sz="2400" b="1" dirty="0">
                  <a:latin typeface="Garamond" pitchFamily="18" charset="0"/>
                </a:rPr>
                <a:t>3 Map tasks concurrently process input data </a:t>
              </a:r>
            </a:p>
          </p:txBody>
        </p:sp>
        <p:cxnSp>
          <p:nvCxnSpPr>
            <p:cNvPr id="128" name="Straight Arrow Connector 127"/>
            <p:cNvCxnSpPr>
              <a:stCxn id="86" idx="2"/>
              <a:endCxn id="124" idx="0"/>
            </p:cNvCxnSpPr>
            <p:nvPr/>
          </p:nvCxnSpPr>
          <p:spPr>
            <a:xfrm rot="16200000" flipH="1">
              <a:off x="3028899" y="3524300"/>
              <a:ext cx="990600" cy="2476399"/>
            </a:xfrm>
            <a:prstGeom prst="straightConnector1">
              <a:avLst/>
            </a:prstGeom>
            <a:ln w="50800">
              <a:tailEnd type="arrow"/>
            </a:ln>
          </p:spPr>
          <p:style>
            <a:lnRef idx="1">
              <a:schemeClr val="accent1"/>
            </a:lnRef>
            <a:fillRef idx="0">
              <a:schemeClr val="accent1"/>
            </a:fillRef>
            <a:effectRef idx="0">
              <a:schemeClr val="accent1"/>
            </a:effectRef>
            <a:fontRef idx="minor">
              <a:schemeClr val="tx1"/>
            </a:fontRef>
          </p:style>
        </p:cxnSp>
        <p:cxnSp>
          <p:nvCxnSpPr>
            <p:cNvPr id="130" name="Straight Arrow Connector 129"/>
            <p:cNvCxnSpPr>
              <a:stCxn id="90" idx="2"/>
              <a:endCxn id="124" idx="0"/>
            </p:cNvCxnSpPr>
            <p:nvPr/>
          </p:nvCxnSpPr>
          <p:spPr>
            <a:xfrm rot="5400000">
              <a:off x="4362400" y="4667200"/>
              <a:ext cx="990600" cy="190601"/>
            </a:xfrm>
            <a:prstGeom prst="straightConnector1">
              <a:avLst/>
            </a:prstGeom>
            <a:ln w="50800">
              <a:tailEnd type="arrow"/>
            </a:ln>
          </p:spPr>
          <p:style>
            <a:lnRef idx="1">
              <a:schemeClr val="accent1"/>
            </a:lnRef>
            <a:fillRef idx="0">
              <a:schemeClr val="accent1"/>
            </a:fillRef>
            <a:effectRef idx="0">
              <a:schemeClr val="accent1"/>
            </a:effectRef>
            <a:fontRef idx="minor">
              <a:schemeClr val="tx1"/>
            </a:fontRef>
          </p:style>
        </p:cxnSp>
        <p:cxnSp>
          <p:nvCxnSpPr>
            <p:cNvPr id="132" name="Straight Arrow Connector 131"/>
            <p:cNvCxnSpPr>
              <a:stCxn id="92" idx="2"/>
              <a:endCxn id="124" idx="0"/>
            </p:cNvCxnSpPr>
            <p:nvPr/>
          </p:nvCxnSpPr>
          <p:spPr>
            <a:xfrm rot="5400000">
              <a:off x="5695900" y="3333700"/>
              <a:ext cx="990600" cy="2857601"/>
            </a:xfrm>
            <a:prstGeom prst="straightConnector1">
              <a:avLst/>
            </a:prstGeom>
            <a:ln w="50800">
              <a:tailEnd type="arrow"/>
            </a:ln>
          </p:spPr>
          <p:style>
            <a:lnRef idx="1">
              <a:schemeClr val="accent1"/>
            </a:lnRef>
            <a:fillRef idx="0">
              <a:schemeClr val="accent1"/>
            </a:fillRef>
            <a:effectRef idx="0">
              <a:schemeClr val="accent1"/>
            </a:effectRef>
            <a:fontRef idx="minor">
              <a:schemeClr val="tx1"/>
            </a:fontRef>
          </p:style>
        </p:cxnSp>
      </p:grpSp>
      <p:grpSp>
        <p:nvGrpSpPr>
          <p:cNvPr id="53" name="Group 139"/>
          <p:cNvGrpSpPr/>
          <p:nvPr/>
        </p:nvGrpSpPr>
        <p:grpSpPr>
          <a:xfrm>
            <a:off x="2286000" y="5715000"/>
            <a:ext cx="3502661" cy="1066800"/>
            <a:chOff x="1600200" y="5562600"/>
            <a:chExt cx="3502661" cy="1066800"/>
          </a:xfrm>
        </p:grpSpPr>
        <p:sp>
          <p:nvSpPr>
            <p:cNvPr id="136" name="Rectangle 135"/>
            <p:cNvSpPr/>
            <p:nvPr/>
          </p:nvSpPr>
          <p:spPr>
            <a:xfrm>
              <a:off x="1600200" y="5638800"/>
              <a:ext cx="381000" cy="338667"/>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 name="Rectangle 136"/>
            <p:cNvSpPr/>
            <p:nvPr/>
          </p:nvSpPr>
          <p:spPr>
            <a:xfrm>
              <a:off x="1600200" y="6248400"/>
              <a:ext cx="381000" cy="338667"/>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TextBox 137"/>
            <p:cNvSpPr txBox="1"/>
            <p:nvPr/>
          </p:nvSpPr>
          <p:spPr>
            <a:xfrm>
              <a:off x="2286000" y="5562600"/>
              <a:ext cx="2816861" cy="461665"/>
            </a:xfrm>
            <a:prstGeom prst="rect">
              <a:avLst/>
            </a:prstGeom>
            <a:noFill/>
          </p:spPr>
          <p:txBody>
            <a:bodyPr wrap="none" rtlCol="0">
              <a:spAutoFit/>
            </a:bodyPr>
            <a:lstStyle/>
            <a:p>
              <a:r>
                <a:rPr lang="en-US" sz="2400" b="1" dirty="0">
                  <a:latin typeface="Garamond" pitchFamily="18" charset="0"/>
                </a:rPr>
                <a:t>Records of “org-1” </a:t>
              </a:r>
            </a:p>
          </p:txBody>
        </p:sp>
        <p:sp>
          <p:nvSpPr>
            <p:cNvPr id="139" name="TextBox 138"/>
            <p:cNvSpPr txBox="1"/>
            <p:nvPr/>
          </p:nvSpPr>
          <p:spPr>
            <a:xfrm>
              <a:off x="2286000" y="6167735"/>
              <a:ext cx="2762359" cy="461665"/>
            </a:xfrm>
            <a:prstGeom prst="rect">
              <a:avLst/>
            </a:prstGeom>
            <a:noFill/>
          </p:spPr>
          <p:txBody>
            <a:bodyPr wrap="none" rtlCol="0">
              <a:spAutoFit/>
            </a:bodyPr>
            <a:lstStyle/>
            <a:p>
              <a:r>
                <a:rPr lang="en-US" sz="2400" b="1" dirty="0">
                  <a:latin typeface="Garamond" pitchFamily="18" charset="0"/>
                </a:rPr>
                <a:t>Records of “org-2”</a:t>
              </a:r>
            </a:p>
          </p:txBody>
        </p:sp>
      </p:grpSp>
    </p:spTree>
    <p:extLst>
      <p:ext uri="{BB962C8B-B14F-4D97-AF65-F5344CB8AC3E}">
        <p14:creationId xmlns:p14="http://schemas.microsoft.com/office/powerpoint/2010/main" val="3991768975"/>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nodeType="clickEffect">
                                  <p:stCondLst>
                                    <p:cond delay="0"/>
                                  </p:stCondLst>
                                  <p:childTnLst>
                                    <p:set>
                                      <p:cBhvr>
                                        <p:cTn id="16" dur="1" fill="hold">
                                          <p:stCondLst>
                                            <p:cond delay="0"/>
                                          </p:stCondLst>
                                        </p:cTn>
                                        <p:tgtEl>
                                          <p:spTgt spid="50"/>
                                        </p:tgtEl>
                                        <p:attrNameLst>
                                          <p:attrName>style.visibility</p:attrName>
                                        </p:attrNameLst>
                                      </p:cBhvr>
                                      <p:to>
                                        <p:strVal val="hidden"/>
                                      </p:to>
                                    </p:set>
                                  </p:childTnLst>
                                </p:cTn>
                              </p:par>
                              <p:par>
                                <p:cTn id="17" presetID="1" presetClass="entr" presetSubtype="0" fill="hold" nodeType="withEffect">
                                  <p:stCondLst>
                                    <p:cond delay="0"/>
                                  </p:stCondLst>
                                  <p:childTnLst>
                                    <p:set>
                                      <p:cBhvr>
                                        <p:cTn id="18" dur="1" fill="hold">
                                          <p:stCondLst>
                                            <p:cond delay="0"/>
                                          </p:stCondLst>
                                        </p:cTn>
                                        <p:tgtEl>
                                          <p:spTgt spid="5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85"/>
          <p:cNvGrpSpPr/>
          <p:nvPr/>
        </p:nvGrpSpPr>
        <p:grpSpPr>
          <a:xfrm>
            <a:off x="76200" y="2133600"/>
            <a:ext cx="8839200" cy="609600"/>
            <a:chOff x="76200" y="2133600"/>
            <a:chExt cx="8839200" cy="609600"/>
          </a:xfrm>
        </p:grpSpPr>
        <p:sp>
          <p:nvSpPr>
            <p:cNvPr id="5" name="Rectangle 4"/>
            <p:cNvSpPr/>
            <p:nvPr/>
          </p:nvSpPr>
          <p:spPr>
            <a:xfrm>
              <a:off x="1066800" y="2133600"/>
              <a:ext cx="7848600" cy="609600"/>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1219200" y="2286000"/>
              <a:ext cx="381000" cy="338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1752600" y="2286000"/>
              <a:ext cx="381000" cy="338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2362200" y="2286000"/>
              <a:ext cx="381000" cy="338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2971800" y="2286000"/>
              <a:ext cx="381000" cy="338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3886200" y="2286000"/>
              <a:ext cx="381000" cy="338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4419600" y="2286000"/>
              <a:ext cx="381000" cy="338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5029200" y="2286000"/>
              <a:ext cx="381000" cy="338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5638800" y="2286000"/>
              <a:ext cx="381000" cy="338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6553200" y="2286000"/>
              <a:ext cx="381000" cy="338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7086600" y="2286000"/>
              <a:ext cx="381000" cy="338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7696200" y="2286000"/>
              <a:ext cx="381000" cy="338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a:off x="8305800" y="2286000"/>
              <a:ext cx="381000" cy="338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TextBox 77"/>
            <p:cNvSpPr txBox="1"/>
            <p:nvPr/>
          </p:nvSpPr>
          <p:spPr>
            <a:xfrm>
              <a:off x="76200" y="2209800"/>
              <a:ext cx="855491" cy="461665"/>
            </a:xfrm>
            <a:prstGeom prst="rect">
              <a:avLst/>
            </a:prstGeom>
            <a:noFill/>
          </p:spPr>
          <p:txBody>
            <a:bodyPr wrap="none" rtlCol="0">
              <a:spAutoFit/>
            </a:bodyPr>
            <a:lstStyle/>
            <a:p>
              <a:r>
                <a:rPr lang="en-US" sz="2400" b="1" dirty="0"/>
                <a:t>HDFS</a:t>
              </a:r>
            </a:p>
          </p:txBody>
        </p:sp>
      </p:grpSp>
      <p:sp>
        <p:nvSpPr>
          <p:cNvPr id="2" name="Title 1"/>
          <p:cNvSpPr>
            <a:spLocks noGrp="1"/>
          </p:cNvSpPr>
          <p:nvPr>
            <p:ph type="title"/>
          </p:nvPr>
        </p:nvSpPr>
        <p:spPr>
          <a:xfrm>
            <a:off x="228600" y="274638"/>
            <a:ext cx="8686800" cy="675621"/>
          </a:xfrm>
        </p:spPr>
        <p:txBody>
          <a:bodyPr>
            <a:normAutofit/>
          </a:bodyPr>
          <a:lstStyle/>
          <a:p>
            <a:r>
              <a:rPr lang="en-US" sz="3200" dirty="0" err="1"/>
              <a:t>MapReduce</a:t>
            </a:r>
            <a:r>
              <a:rPr lang="en-US" sz="3200" dirty="0"/>
              <a:t> Operations on Hadoop</a:t>
            </a:r>
          </a:p>
        </p:txBody>
      </p:sp>
      <p:sp>
        <p:nvSpPr>
          <p:cNvPr id="3" name="Content Placeholder 2"/>
          <p:cNvSpPr>
            <a:spLocks noGrp="1"/>
          </p:cNvSpPr>
          <p:nvPr>
            <p:ph idx="1"/>
          </p:nvPr>
        </p:nvSpPr>
        <p:spPr>
          <a:xfrm>
            <a:off x="0" y="1124917"/>
            <a:ext cx="9144000" cy="4993341"/>
          </a:xfrm>
        </p:spPr>
        <p:txBody>
          <a:bodyPr>
            <a:normAutofit/>
          </a:bodyPr>
          <a:lstStyle/>
          <a:p>
            <a:r>
              <a:rPr lang="en-US" sz="2800" dirty="0"/>
              <a:t>Calculate the average salary of every department</a:t>
            </a:r>
          </a:p>
        </p:txBody>
      </p:sp>
      <p:grpSp>
        <p:nvGrpSpPr>
          <p:cNvPr id="18" name="Group 17"/>
          <p:cNvGrpSpPr/>
          <p:nvPr/>
        </p:nvGrpSpPr>
        <p:grpSpPr>
          <a:xfrm>
            <a:off x="1219200" y="3035300"/>
            <a:ext cx="7429500" cy="317500"/>
            <a:chOff x="1219200" y="2459567"/>
            <a:chExt cx="7429500" cy="317500"/>
          </a:xfrm>
        </p:grpSpPr>
        <p:sp>
          <p:nvSpPr>
            <p:cNvPr id="19" name="Rectangle 18"/>
            <p:cNvSpPr/>
            <p:nvPr/>
          </p:nvSpPr>
          <p:spPr>
            <a:xfrm>
              <a:off x="1219200" y="2459567"/>
              <a:ext cx="2095500" cy="317500"/>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Map</a:t>
              </a:r>
            </a:p>
          </p:txBody>
        </p:sp>
        <p:sp>
          <p:nvSpPr>
            <p:cNvPr id="20" name="Rectangle 19"/>
            <p:cNvSpPr/>
            <p:nvPr/>
          </p:nvSpPr>
          <p:spPr>
            <a:xfrm>
              <a:off x="3886200" y="2459567"/>
              <a:ext cx="2095500" cy="317500"/>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Map</a:t>
              </a:r>
            </a:p>
          </p:txBody>
        </p:sp>
        <p:sp>
          <p:nvSpPr>
            <p:cNvPr id="21" name="Rectangle 20"/>
            <p:cNvSpPr/>
            <p:nvPr/>
          </p:nvSpPr>
          <p:spPr>
            <a:xfrm>
              <a:off x="6553200" y="2459567"/>
              <a:ext cx="2095500" cy="317500"/>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Map</a:t>
              </a:r>
            </a:p>
          </p:txBody>
        </p:sp>
      </p:grpSp>
      <p:grpSp>
        <p:nvGrpSpPr>
          <p:cNvPr id="22" name="Group 21"/>
          <p:cNvGrpSpPr/>
          <p:nvPr/>
        </p:nvGrpSpPr>
        <p:grpSpPr>
          <a:xfrm>
            <a:off x="1676400" y="3657600"/>
            <a:ext cx="6477000" cy="338667"/>
            <a:chOff x="1676400" y="3276600"/>
            <a:chExt cx="6477000" cy="338667"/>
          </a:xfrm>
        </p:grpSpPr>
        <p:sp>
          <p:nvSpPr>
            <p:cNvPr id="23" name="Rectangle 22"/>
            <p:cNvSpPr/>
            <p:nvPr/>
          </p:nvSpPr>
          <p:spPr>
            <a:xfrm>
              <a:off x="1676400" y="3276600"/>
              <a:ext cx="381000" cy="338667"/>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p:cNvSpPr/>
            <p:nvPr/>
          </p:nvSpPr>
          <p:spPr>
            <a:xfrm>
              <a:off x="2362200" y="3276600"/>
              <a:ext cx="381000" cy="338667"/>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p:cNvSpPr/>
            <p:nvPr/>
          </p:nvSpPr>
          <p:spPr>
            <a:xfrm>
              <a:off x="4419600" y="3276600"/>
              <a:ext cx="381000" cy="338667"/>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p:cNvSpPr/>
            <p:nvPr/>
          </p:nvSpPr>
          <p:spPr>
            <a:xfrm>
              <a:off x="5105400" y="3276600"/>
              <a:ext cx="381000" cy="338667"/>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p:cNvSpPr/>
            <p:nvPr/>
          </p:nvSpPr>
          <p:spPr>
            <a:xfrm>
              <a:off x="7086600" y="3276600"/>
              <a:ext cx="381000" cy="338667"/>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p:cNvSpPr/>
            <p:nvPr/>
          </p:nvSpPr>
          <p:spPr>
            <a:xfrm>
              <a:off x="7772400" y="3276600"/>
              <a:ext cx="381000" cy="338667"/>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9" name="Group 28"/>
          <p:cNvGrpSpPr/>
          <p:nvPr/>
        </p:nvGrpSpPr>
        <p:grpSpPr>
          <a:xfrm>
            <a:off x="1295400" y="2717800"/>
            <a:ext cx="7340600" cy="330200"/>
            <a:chOff x="1295400" y="2065867"/>
            <a:chExt cx="7340600" cy="330200"/>
          </a:xfrm>
        </p:grpSpPr>
        <p:sp>
          <p:nvSpPr>
            <p:cNvPr id="30" name="Down Arrow 29"/>
            <p:cNvSpPr/>
            <p:nvPr/>
          </p:nvSpPr>
          <p:spPr>
            <a:xfrm>
              <a:off x="1295400" y="20658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Down Arrow 30"/>
            <p:cNvSpPr/>
            <p:nvPr/>
          </p:nvSpPr>
          <p:spPr>
            <a:xfrm>
              <a:off x="1828800" y="20658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Down Arrow 31"/>
            <p:cNvSpPr/>
            <p:nvPr/>
          </p:nvSpPr>
          <p:spPr>
            <a:xfrm>
              <a:off x="2413000" y="20785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Down Arrow 32"/>
            <p:cNvSpPr/>
            <p:nvPr/>
          </p:nvSpPr>
          <p:spPr>
            <a:xfrm>
              <a:off x="3048000" y="20785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Down Arrow 33"/>
            <p:cNvSpPr/>
            <p:nvPr/>
          </p:nvSpPr>
          <p:spPr>
            <a:xfrm>
              <a:off x="3962400" y="20658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Down Arrow 34"/>
            <p:cNvSpPr/>
            <p:nvPr/>
          </p:nvSpPr>
          <p:spPr>
            <a:xfrm>
              <a:off x="4495800" y="20658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Down Arrow 35"/>
            <p:cNvSpPr/>
            <p:nvPr/>
          </p:nvSpPr>
          <p:spPr>
            <a:xfrm>
              <a:off x="5080000" y="20785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Down Arrow 36"/>
            <p:cNvSpPr/>
            <p:nvPr/>
          </p:nvSpPr>
          <p:spPr>
            <a:xfrm>
              <a:off x="5715000" y="20785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Down Arrow 37"/>
            <p:cNvSpPr/>
            <p:nvPr/>
          </p:nvSpPr>
          <p:spPr>
            <a:xfrm>
              <a:off x="6629400" y="20658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Down Arrow 38"/>
            <p:cNvSpPr/>
            <p:nvPr/>
          </p:nvSpPr>
          <p:spPr>
            <a:xfrm>
              <a:off x="7162800" y="20658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Down Arrow 39"/>
            <p:cNvSpPr/>
            <p:nvPr/>
          </p:nvSpPr>
          <p:spPr>
            <a:xfrm>
              <a:off x="7747000" y="20785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Down Arrow 40"/>
            <p:cNvSpPr/>
            <p:nvPr/>
          </p:nvSpPr>
          <p:spPr>
            <a:xfrm>
              <a:off x="8382000" y="20785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2" name="Group 41"/>
          <p:cNvGrpSpPr/>
          <p:nvPr/>
        </p:nvGrpSpPr>
        <p:grpSpPr>
          <a:xfrm>
            <a:off x="1752600" y="3340100"/>
            <a:ext cx="6350000" cy="317500"/>
            <a:chOff x="1752600" y="2853267"/>
            <a:chExt cx="6350000" cy="317500"/>
          </a:xfrm>
        </p:grpSpPr>
        <p:sp>
          <p:nvSpPr>
            <p:cNvPr id="43" name="Down Arrow 42"/>
            <p:cNvSpPr/>
            <p:nvPr/>
          </p:nvSpPr>
          <p:spPr>
            <a:xfrm>
              <a:off x="1752600" y="28532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Down Arrow 43"/>
            <p:cNvSpPr/>
            <p:nvPr/>
          </p:nvSpPr>
          <p:spPr>
            <a:xfrm>
              <a:off x="2438400" y="28532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Down Arrow 44"/>
            <p:cNvSpPr/>
            <p:nvPr/>
          </p:nvSpPr>
          <p:spPr>
            <a:xfrm>
              <a:off x="4495800" y="28532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Down Arrow 45"/>
            <p:cNvSpPr/>
            <p:nvPr/>
          </p:nvSpPr>
          <p:spPr>
            <a:xfrm>
              <a:off x="5181600" y="28532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Down Arrow 46"/>
            <p:cNvSpPr/>
            <p:nvPr/>
          </p:nvSpPr>
          <p:spPr>
            <a:xfrm>
              <a:off x="7162800" y="28532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Down Arrow 47"/>
            <p:cNvSpPr/>
            <p:nvPr/>
          </p:nvSpPr>
          <p:spPr>
            <a:xfrm>
              <a:off x="7848600" y="28532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9" name="Group 48"/>
          <p:cNvGrpSpPr/>
          <p:nvPr/>
        </p:nvGrpSpPr>
        <p:grpSpPr>
          <a:xfrm>
            <a:off x="2590800" y="4648200"/>
            <a:ext cx="4419600" cy="338667"/>
            <a:chOff x="2667000" y="4572000"/>
            <a:chExt cx="4419600" cy="338667"/>
          </a:xfrm>
        </p:grpSpPr>
        <p:sp>
          <p:nvSpPr>
            <p:cNvPr id="50" name="Rectangle 49"/>
            <p:cNvSpPr/>
            <p:nvPr/>
          </p:nvSpPr>
          <p:spPr>
            <a:xfrm>
              <a:off x="2667000" y="4572000"/>
              <a:ext cx="381000" cy="338667"/>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p:cNvSpPr/>
            <p:nvPr/>
          </p:nvSpPr>
          <p:spPr>
            <a:xfrm>
              <a:off x="3352800" y="4572000"/>
              <a:ext cx="381000" cy="338667"/>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p:cNvSpPr/>
            <p:nvPr/>
          </p:nvSpPr>
          <p:spPr>
            <a:xfrm>
              <a:off x="4038600" y="4572000"/>
              <a:ext cx="381000" cy="338667"/>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p:cNvSpPr/>
            <p:nvPr/>
          </p:nvSpPr>
          <p:spPr>
            <a:xfrm>
              <a:off x="5334000" y="4572000"/>
              <a:ext cx="381000" cy="338667"/>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p:cNvSpPr/>
            <p:nvPr/>
          </p:nvSpPr>
          <p:spPr>
            <a:xfrm>
              <a:off x="6019800" y="4572000"/>
              <a:ext cx="381000" cy="338667"/>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p:cNvSpPr/>
            <p:nvPr/>
          </p:nvSpPr>
          <p:spPr>
            <a:xfrm>
              <a:off x="6705600" y="4572000"/>
              <a:ext cx="381000" cy="338667"/>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6" name="Group 70"/>
          <p:cNvGrpSpPr/>
          <p:nvPr/>
        </p:nvGrpSpPr>
        <p:grpSpPr>
          <a:xfrm>
            <a:off x="1866901" y="3996266"/>
            <a:ext cx="6096000" cy="651934"/>
            <a:chOff x="1866901" y="3386624"/>
            <a:chExt cx="6096000" cy="651952"/>
          </a:xfrm>
        </p:grpSpPr>
        <p:cxnSp>
          <p:nvCxnSpPr>
            <p:cNvPr id="72" name="Straight Arrow Connector 71"/>
            <p:cNvCxnSpPr>
              <a:stCxn id="23" idx="2"/>
              <a:endCxn id="50" idx="0"/>
            </p:cNvCxnSpPr>
            <p:nvPr/>
          </p:nvCxnSpPr>
          <p:spPr>
            <a:xfrm rot="16200000" flipH="1">
              <a:off x="1998125" y="3255401"/>
              <a:ext cx="651951" cy="914400"/>
            </a:xfrm>
            <a:prstGeom prst="straightConnector1">
              <a:avLst/>
            </a:prstGeom>
            <a:ln w="63500">
              <a:solidFill>
                <a:schemeClr val="tx2">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73" name="Straight Arrow Connector 72"/>
            <p:cNvCxnSpPr>
              <a:stCxn id="24" idx="2"/>
              <a:endCxn id="53" idx="0"/>
            </p:cNvCxnSpPr>
            <p:nvPr/>
          </p:nvCxnSpPr>
          <p:spPr>
            <a:xfrm rot="16200000" flipH="1">
              <a:off x="3674525" y="2264800"/>
              <a:ext cx="651951" cy="2895600"/>
            </a:xfrm>
            <a:prstGeom prst="straightConnector1">
              <a:avLst/>
            </a:prstGeom>
            <a:ln w="63500">
              <a:solidFill>
                <a:schemeClr val="tx2">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74" name="Straight Arrow Connector 73"/>
            <p:cNvCxnSpPr>
              <a:stCxn id="25" idx="2"/>
              <a:endCxn id="51" idx="0"/>
            </p:cNvCxnSpPr>
            <p:nvPr/>
          </p:nvCxnSpPr>
          <p:spPr>
            <a:xfrm rot="5400000">
              <a:off x="3712625" y="3141100"/>
              <a:ext cx="651951" cy="1143000"/>
            </a:xfrm>
            <a:prstGeom prst="straightConnector1">
              <a:avLst/>
            </a:prstGeom>
            <a:ln w="63500">
              <a:solidFill>
                <a:schemeClr val="tx2">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75" name="Straight Arrow Connector 74"/>
            <p:cNvCxnSpPr>
              <a:stCxn id="26" idx="2"/>
              <a:endCxn id="54" idx="0"/>
            </p:cNvCxnSpPr>
            <p:nvPr/>
          </p:nvCxnSpPr>
          <p:spPr>
            <a:xfrm rot="16200000" flipH="1">
              <a:off x="5389025" y="3293500"/>
              <a:ext cx="651951" cy="838200"/>
            </a:xfrm>
            <a:prstGeom prst="straightConnector1">
              <a:avLst/>
            </a:prstGeom>
            <a:ln w="63500">
              <a:solidFill>
                <a:schemeClr val="tx2">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76" name="Straight Arrow Connector 75"/>
            <p:cNvCxnSpPr>
              <a:stCxn id="27" idx="2"/>
              <a:endCxn id="52" idx="0"/>
            </p:cNvCxnSpPr>
            <p:nvPr/>
          </p:nvCxnSpPr>
          <p:spPr>
            <a:xfrm rot="5400000">
              <a:off x="5389025" y="2150500"/>
              <a:ext cx="651951" cy="3124200"/>
            </a:xfrm>
            <a:prstGeom prst="straightConnector1">
              <a:avLst/>
            </a:prstGeom>
            <a:ln w="63500">
              <a:solidFill>
                <a:schemeClr val="tx2">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77" name="Straight Arrow Connector 76"/>
            <p:cNvCxnSpPr>
              <a:stCxn id="28" idx="2"/>
              <a:endCxn id="55" idx="0"/>
            </p:cNvCxnSpPr>
            <p:nvPr/>
          </p:nvCxnSpPr>
          <p:spPr>
            <a:xfrm rot="5400000">
              <a:off x="7065425" y="3141100"/>
              <a:ext cx="651951" cy="1143000"/>
            </a:xfrm>
            <a:prstGeom prst="straightConnector1">
              <a:avLst/>
            </a:prstGeom>
            <a:ln w="63500">
              <a:solidFill>
                <a:schemeClr val="tx2">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57" name="Group 85"/>
          <p:cNvGrpSpPr/>
          <p:nvPr/>
        </p:nvGrpSpPr>
        <p:grpSpPr>
          <a:xfrm>
            <a:off x="762000" y="1600200"/>
            <a:ext cx="7848600" cy="461665"/>
            <a:chOff x="990600" y="4648200"/>
            <a:chExt cx="7848600" cy="461665"/>
          </a:xfrm>
        </p:grpSpPr>
        <p:sp>
          <p:nvSpPr>
            <p:cNvPr id="87" name="TextBox 86"/>
            <p:cNvSpPr txBox="1"/>
            <p:nvPr/>
          </p:nvSpPr>
          <p:spPr>
            <a:xfrm>
              <a:off x="990600" y="4648200"/>
              <a:ext cx="3505200" cy="461665"/>
            </a:xfrm>
            <a:prstGeom prst="rect">
              <a:avLst/>
            </a:prstGeom>
            <a:noFill/>
          </p:spPr>
          <p:txBody>
            <a:bodyPr wrap="square" rtlCol="0">
              <a:spAutoFit/>
            </a:bodyPr>
            <a:lstStyle/>
            <a:p>
              <a:r>
                <a:rPr lang="en-US" sz="2400" b="1" dirty="0"/>
                <a:t>{</a:t>
              </a:r>
              <a:r>
                <a:rPr lang="en-US" sz="2400" b="1" dirty="0">
                  <a:solidFill>
                    <a:srgbClr val="FF0000"/>
                  </a:solidFill>
                </a:rPr>
                <a:t>name</a:t>
              </a:r>
              <a:r>
                <a:rPr lang="en-US" sz="2400" b="1" dirty="0"/>
                <a:t>:  (org., salary)} </a:t>
              </a:r>
            </a:p>
          </p:txBody>
        </p:sp>
        <p:sp>
          <p:nvSpPr>
            <p:cNvPr id="88" name="Right Arrow 87"/>
            <p:cNvSpPr/>
            <p:nvPr/>
          </p:nvSpPr>
          <p:spPr>
            <a:xfrm>
              <a:off x="4343400" y="4724400"/>
              <a:ext cx="762000" cy="304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TextBox 88"/>
            <p:cNvSpPr txBox="1"/>
            <p:nvPr/>
          </p:nvSpPr>
          <p:spPr>
            <a:xfrm>
              <a:off x="5334000" y="4648200"/>
              <a:ext cx="3505200" cy="461665"/>
            </a:xfrm>
            <a:prstGeom prst="rect">
              <a:avLst/>
            </a:prstGeom>
            <a:noFill/>
          </p:spPr>
          <p:txBody>
            <a:bodyPr wrap="square" rtlCol="0">
              <a:spAutoFit/>
            </a:bodyPr>
            <a:lstStyle/>
            <a:p>
              <a:r>
                <a:rPr lang="en-US" sz="2400" b="1" dirty="0"/>
                <a:t>{</a:t>
              </a:r>
              <a:r>
                <a:rPr lang="en-US" sz="2400" b="1" dirty="0">
                  <a:solidFill>
                    <a:srgbClr val="FF0000"/>
                  </a:solidFill>
                </a:rPr>
                <a:t>org.</a:t>
              </a:r>
              <a:r>
                <a:rPr lang="en-US" sz="2400" b="1" dirty="0"/>
                <a:t>:  avg. salary} </a:t>
              </a:r>
            </a:p>
          </p:txBody>
        </p:sp>
      </p:grpSp>
      <p:sp>
        <p:nvSpPr>
          <p:cNvPr id="91" name="Slide Number Placeholder 3"/>
          <p:cNvSpPr>
            <a:spLocks noGrp="1"/>
          </p:cNvSpPr>
          <p:nvPr>
            <p:ph type="sldNum" sz="quarter" idx="12"/>
          </p:nvPr>
        </p:nvSpPr>
        <p:spPr>
          <a:xfrm>
            <a:off x="6553200" y="6416675"/>
            <a:ext cx="2133600" cy="365125"/>
          </a:xfrm>
        </p:spPr>
        <p:txBody>
          <a:bodyPr/>
          <a:lstStyle/>
          <a:p>
            <a:fld id="{B6F15528-21DE-4FAA-801E-634DDDAF4B2B}" type="slidenum">
              <a:rPr lang="en-US" smtClean="0"/>
              <a:pPr/>
              <a:t>15</a:t>
            </a:fld>
            <a:endParaRPr lang="en-US" dirty="0"/>
          </a:p>
        </p:txBody>
      </p:sp>
      <p:sp>
        <p:nvSpPr>
          <p:cNvPr id="86" name="TextBox 85"/>
          <p:cNvSpPr txBox="1"/>
          <p:nvPr/>
        </p:nvSpPr>
        <p:spPr>
          <a:xfrm>
            <a:off x="1524000" y="5105400"/>
            <a:ext cx="6445034" cy="461665"/>
          </a:xfrm>
          <a:prstGeom prst="rect">
            <a:avLst/>
          </a:prstGeom>
          <a:noFill/>
        </p:spPr>
        <p:txBody>
          <a:bodyPr wrap="none" rtlCol="0">
            <a:spAutoFit/>
          </a:bodyPr>
          <a:lstStyle/>
          <a:p>
            <a:r>
              <a:rPr lang="en-US" sz="2400" b="1" dirty="0">
                <a:latin typeface="Garamond" pitchFamily="18" charset="0"/>
              </a:rPr>
              <a:t>Shuffle the data using org. as Partition Key (PK)</a:t>
            </a:r>
          </a:p>
        </p:txBody>
      </p:sp>
      <p:grpSp>
        <p:nvGrpSpPr>
          <p:cNvPr id="58" name="Group 139"/>
          <p:cNvGrpSpPr/>
          <p:nvPr/>
        </p:nvGrpSpPr>
        <p:grpSpPr>
          <a:xfrm>
            <a:off x="2286000" y="5715000"/>
            <a:ext cx="3525103" cy="1066800"/>
            <a:chOff x="1600200" y="5562600"/>
            <a:chExt cx="3525103" cy="1066800"/>
          </a:xfrm>
        </p:grpSpPr>
        <p:sp>
          <p:nvSpPr>
            <p:cNvPr id="83" name="Rectangle 82"/>
            <p:cNvSpPr/>
            <p:nvPr/>
          </p:nvSpPr>
          <p:spPr>
            <a:xfrm>
              <a:off x="1600200" y="5638800"/>
              <a:ext cx="381000" cy="338667"/>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Rectangle 83"/>
            <p:cNvSpPr/>
            <p:nvPr/>
          </p:nvSpPr>
          <p:spPr>
            <a:xfrm>
              <a:off x="1600200" y="6248400"/>
              <a:ext cx="381000" cy="338667"/>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TextBox 84"/>
            <p:cNvSpPr txBox="1"/>
            <p:nvPr/>
          </p:nvSpPr>
          <p:spPr>
            <a:xfrm>
              <a:off x="2286000" y="5562600"/>
              <a:ext cx="2816861" cy="461665"/>
            </a:xfrm>
            <a:prstGeom prst="rect">
              <a:avLst/>
            </a:prstGeom>
            <a:noFill/>
          </p:spPr>
          <p:txBody>
            <a:bodyPr wrap="none" rtlCol="0">
              <a:spAutoFit/>
            </a:bodyPr>
            <a:lstStyle/>
            <a:p>
              <a:r>
                <a:rPr lang="en-US" sz="2400" b="1" dirty="0">
                  <a:latin typeface="Garamond" pitchFamily="18" charset="0"/>
                </a:rPr>
                <a:t>Records of “org-1”  </a:t>
              </a:r>
            </a:p>
          </p:txBody>
        </p:sp>
        <p:sp>
          <p:nvSpPr>
            <p:cNvPr id="90" name="TextBox 89"/>
            <p:cNvSpPr txBox="1"/>
            <p:nvPr/>
          </p:nvSpPr>
          <p:spPr>
            <a:xfrm>
              <a:off x="2286000" y="6167735"/>
              <a:ext cx="2839303" cy="461665"/>
            </a:xfrm>
            <a:prstGeom prst="rect">
              <a:avLst/>
            </a:prstGeom>
            <a:noFill/>
          </p:spPr>
          <p:txBody>
            <a:bodyPr wrap="none" rtlCol="0">
              <a:spAutoFit/>
            </a:bodyPr>
            <a:lstStyle/>
            <a:p>
              <a:r>
                <a:rPr lang="en-US" sz="2400" b="1" dirty="0">
                  <a:latin typeface="Garamond" pitchFamily="18" charset="0"/>
                </a:rPr>
                <a:t>Records of “org-2”  </a:t>
              </a:r>
            </a:p>
          </p:txBody>
        </p:sp>
      </p:grpSp>
    </p:spTree>
    <p:extLst>
      <p:ext uri="{BB962C8B-B14F-4D97-AF65-F5344CB8AC3E}">
        <p14:creationId xmlns:p14="http://schemas.microsoft.com/office/powerpoint/2010/main" val="3015699602"/>
      </p:ext>
    </p:extLst>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85"/>
          <p:cNvGrpSpPr/>
          <p:nvPr/>
        </p:nvGrpSpPr>
        <p:grpSpPr>
          <a:xfrm>
            <a:off x="76200" y="2133600"/>
            <a:ext cx="8839200" cy="609600"/>
            <a:chOff x="76200" y="2133600"/>
            <a:chExt cx="8839200" cy="609600"/>
          </a:xfrm>
        </p:grpSpPr>
        <p:sp>
          <p:nvSpPr>
            <p:cNvPr id="5" name="Rectangle 4"/>
            <p:cNvSpPr/>
            <p:nvPr/>
          </p:nvSpPr>
          <p:spPr>
            <a:xfrm>
              <a:off x="1066800" y="2133600"/>
              <a:ext cx="7848600" cy="609600"/>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1219200" y="2286000"/>
              <a:ext cx="381000" cy="338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1752600" y="2286000"/>
              <a:ext cx="381000" cy="338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2362200" y="2286000"/>
              <a:ext cx="381000" cy="338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2971800" y="2286000"/>
              <a:ext cx="381000" cy="338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3886200" y="2286000"/>
              <a:ext cx="381000" cy="338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4419600" y="2286000"/>
              <a:ext cx="381000" cy="338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5029200" y="2286000"/>
              <a:ext cx="381000" cy="338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5638800" y="2286000"/>
              <a:ext cx="381000" cy="338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6553200" y="2286000"/>
              <a:ext cx="381000" cy="338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7086600" y="2286000"/>
              <a:ext cx="381000" cy="338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7696200" y="2286000"/>
              <a:ext cx="381000" cy="338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a:off x="8305800" y="2286000"/>
              <a:ext cx="381000" cy="338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TextBox 77"/>
            <p:cNvSpPr txBox="1"/>
            <p:nvPr/>
          </p:nvSpPr>
          <p:spPr>
            <a:xfrm>
              <a:off x="76200" y="2209800"/>
              <a:ext cx="855491" cy="461665"/>
            </a:xfrm>
            <a:prstGeom prst="rect">
              <a:avLst/>
            </a:prstGeom>
            <a:noFill/>
          </p:spPr>
          <p:txBody>
            <a:bodyPr wrap="none" rtlCol="0">
              <a:spAutoFit/>
            </a:bodyPr>
            <a:lstStyle/>
            <a:p>
              <a:r>
                <a:rPr lang="en-US" sz="2400" b="1" dirty="0"/>
                <a:t>HDFS</a:t>
              </a:r>
            </a:p>
          </p:txBody>
        </p:sp>
      </p:grpSp>
      <p:sp>
        <p:nvSpPr>
          <p:cNvPr id="2" name="Title 1"/>
          <p:cNvSpPr>
            <a:spLocks noGrp="1"/>
          </p:cNvSpPr>
          <p:nvPr>
            <p:ph type="title"/>
          </p:nvPr>
        </p:nvSpPr>
        <p:spPr>
          <a:xfrm>
            <a:off x="266700" y="99826"/>
            <a:ext cx="8686800" cy="868362"/>
          </a:xfrm>
        </p:spPr>
        <p:txBody>
          <a:bodyPr>
            <a:normAutofit/>
          </a:bodyPr>
          <a:lstStyle/>
          <a:p>
            <a:r>
              <a:rPr lang="en-US" sz="3200" dirty="0" err="1"/>
              <a:t>MapReduce</a:t>
            </a:r>
            <a:r>
              <a:rPr lang="en-US" sz="3200" dirty="0"/>
              <a:t> Operations on Hadoop</a:t>
            </a:r>
          </a:p>
        </p:txBody>
      </p:sp>
      <p:sp>
        <p:nvSpPr>
          <p:cNvPr id="3" name="Content Placeholder 2"/>
          <p:cNvSpPr>
            <a:spLocks noGrp="1"/>
          </p:cNvSpPr>
          <p:nvPr>
            <p:ph idx="1"/>
          </p:nvPr>
        </p:nvSpPr>
        <p:spPr>
          <a:xfrm>
            <a:off x="76200" y="1132973"/>
            <a:ext cx="9067800" cy="5118847"/>
          </a:xfrm>
        </p:spPr>
        <p:txBody>
          <a:bodyPr>
            <a:normAutofit/>
          </a:bodyPr>
          <a:lstStyle/>
          <a:p>
            <a:r>
              <a:rPr lang="en-US" sz="2800" dirty="0"/>
              <a:t>Calculate the average salary of every department</a:t>
            </a:r>
          </a:p>
        </p:txBody>
      </p:sp>
      <p:grpSp>
        <p:nvGrpSpPr>
          <p:cNvPr id="18" name="Group 17"/>
          <p:cNvGrpSpPr/>
          <p:nvPr/>
        </p:nvGrpSpPr>
        <p:grpSpPr>
          <a:xfrm>
            <a:off x="1219200" y="3035300"/>
            <a:ext cx="7429500" cy="317500"/>
            <a:chOff x="1219200" y="2459567"/>
            <a:chExt cx="7429500" cy="317500"/>
          </a:xfrm>
        </p:grpSpPr>
        <p:sp>
          <p:nvSpPr>
            <p:cNvPr id="19" name="Rectangle 18"/>
            <p:cNvSpPr/>
            <p:nvPr/>
          </p:nvSpPr>
          <p:spPr>
            <a:xfrm>
              <a:off x="1219200" y="2459567"/>
              <a:ext cx="2095500" cy="317500"/>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Map</a:t>
              </a:r>
            </a:p>
          </p:txBody>
        </p:sp>
        <p:sp>
          <p:nvSpPr>
            <p:cNvPr id="20" name="Rectangle 19"/>
            <p:cNvSpPr/>
            <p:nvPr/>
          </p:nvSpPr>
          <p:spPr>
            <a:xfrm>
              <a:off x="3886200" y="2459567"/>
              <a:ext cx="2095500" cy="317500"/>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Map</a:t>
              </a:r>
            </a:p>
          </p:txBody>
        </p:sp>
        <p:sp>
          <p:nvSpPr>
            <p:cNvPr id="21" name="Rectangle 20"/>
            <p:cNvSpPr/>
            <p:nvPr/>
          </p:nvSpPr>
          <p:spPr>
            <a:xfrm>
              <a:off x="6553200" y="2459567"/>
              <a:ext cx="2095500" cy="317500"/>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Map</a:t>
              </a:r>
            </a:p>
          </p:txBody>
        </p:sp>
      </p:grpSp>
      <p:grpSp>
        <p:nvGrpSpPr>
          <p:cNvPr id="22" name="Group 21"/>
          <p:cNvGrpSpPr/>
          <p:nvPr/>
        </p:nvGrpSpPr>
        <p:grpSpPr>
          <a:xfrm>
            <a:off x="1676400" y="3657600"/>
            <a:ext cx="6477000" cy="338667"/>
            <a:chOff x="1676400" y="3276600"/>
            <a:chExt cx="6477000" cy="338667"/>
          </a:xfrm>
        </p:grpSpPr>
        <p:sp>
          <p:nvSpPr>
            <p:cNvPr id="23" name="Rectangle 22"/>
            <p:cNvSpPr/>
            <p:nvPr/>
          </p:nvSpPr>
          <p:spPr>
            <a:xfrm>
              <a:off x="1676400" y="3276600"/>
              <a:ext cx="381000" cy="338667"/>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p:cNvSpPr/>
            <p:nvPr/>
          </p:nvSpPr>
          <p:spPr>
            <a:xfrm>
              <a:off x="2362200" y="3276600"/>
              <a:ext cx="381000" cy="338667"/>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p:cNvSpPr/>
            <p:nvPr/>
          </p:nvSpPr>
          <p:spPr>
            <a:xfrm>
              <a:off x="4419600" y="3276600"/>
              <a:ext cx="381000" cy="338667"/>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p:cNvSpPr/>
            <p:nvPr/>
          </p:nvSpPr>
          <p:spPr>
            <a:xfrm>
              <a:off x="5105400" y="3276600"/>
              <a:ext cx="381000" cy="338667"/>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p:cNvSpPr/>
            <p:nvPr/>
          </p:nvSpPr>
          <p:spPr>
            <a:xfrm>
              <a:off x="7086600" y="3276600"/>
              <a:ext cx="381000" cy="338667"/>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p:cNvSpPr/>
            <p:nvPr/>
          </p:nvSpPr>
          <p:spPr>
            <a:xfrm>
              <a:off x="7772400" y="3276600"/>
              <a:ext cx="381000" cy="338667"/>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9" name="Group 28"/>
          <p:cNvGrpSpPr/>
          <p:nvPr/>
        </p:nvGrpSpPr>
        <p:grpSpPr>
          <a:xfrm>
            <a:off x="1295400" y="2717800"/>
            <a:ext cx="7340600" cy="330200"/>
            <a:chOff x="1295400" y="2065867"/>
            <a:chExt cx="7340600" cy="330200"/>
          </a:xfrm>
        </p:grpSpPr>
        <p:sp>
          <p:nvSpPr>
            <p:cNvPr id="30" name="Down Arrow 29"/>
            <p:cNvSpPr/>
            <p:nvPr/>
          </p:nvSpPr>
          <p:spPr>
            <a:xfrm>
              <a:off x="1295400" y="20658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Down Arrow 30"/>
            <p:cNvSpPr/>
            <p:nvPr/>
          </p:nvSpPr>
          <p:spPr>
            <a:xfrm>
              <a:off x="1828800" y="20658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Down Arrow 31"/>
            <p:cNvSpPr/>
            <p:nvPr/>
          </p:nvSpPr>
          <p:spPr>
            <a:xfrm>
              <a:off x="2413000" y="20785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Down Arrow 32"/>
            <p:cNvSpPr/>
            <p:nvPr/>
          </p:nvSpPr>
          <p:spPr>
            <a:xfrm>
              <a:off x="3048000" y="20785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Down Arrow 33"/>
            <p:cNvSpPr/>
            <p:nvPr/>
          </p:nvSpPr>
          <p:spPr>
            <a:xfrm>
              <a:off x="3962400" y="20658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Down Arrow 34"/>
            <p:cNvSpPr/>
            <p:nvPr/>
          </p:nvSpPr>
          <p:spPr>
            <a:xfrm>
              <a:off x="4495800" y="20658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Down Arrow 35"/>
            <p:cNvSpPr/>
            <p:nvPr/>
          </p:nvSpPr>
          <p:spPr>
            <a:xfrm>
              <a:off x="5080000" y="20785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Down Arrow 36"/>
            <p:cNvSpPr/>
            <p:nvPr/>
          </p:nvSpPr>
          <p:spPr>
            <a:xfrm>
              <a:off x="5715000" y="20785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Down Arrow 37"/>
            <p:cNvSpPr/>
            <p:nvPr/>
          </p:nvSpPr>
          <p:spPr>
            <a:xfrm>
              <a:off x="6629400" y="20658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Down Arrow 38"/>
            <p:cNvSpPr/>
            <p:nvPr/>
          </p:nvSpPr>
          <p:spPr>
            <a:xfrm>
              <a:off x="7162800" y="20658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Down Arrow 39"/>
            <p:cNvSpPr/>
            <p:nvPr/>
          </p:nvSpPr>
          <p:spPr>
            <a:xfrm>
              <a:off x="7747000" y="20785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Down Arrow 40"/>
            <p:cNvSpPr/>
            <p:nvPr/>
          </p:nvSpPr>
          <p:spPr>
            <a:xfrm>
              <a:off x="8382000" y="20785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2" name="Group 41"/>
          <p:cNvGrpSpPr/>
          <p:nvPr/>
        </p:nvGrpSpPr>
        <p:grpSpPr>
          <a:xfrm>
            <a:off x="1752600" y="3340100"/>
            <a:ext cx="6350000" cy="317500"/>
            <a:chOff x="1752600" y="2853267"/>
            <a:chExt cx="6350000" cy="317500"/>
          </a:xfrm>
        </p:grpSpPr>
        <p:sp>
          <p:nvSpPr>
            <p:cNvPr id="43" name="Down Arrow 42"/>
            <p:cNvSpPr/>
            <p:nvPr/>
          </p:nvSpPr>
          <p:spPr>
            <a:xfrm>
              <a:off x="1752600" y="28532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Down Arrow 43"/>
            <p:cNvSpPr/>
            <p:nvPr/>
          </p:nvSpPr>
          <p:spPr>
            <a:xfrm>
              <a:off x="2438400" y="28532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Down Arrow 44"/>
            <p:cNvSpPr/>
            <p:nvPr/>
          </p:nvSpPr>
          <p:spPr>
            <a:xfrm>
              <a:off x="4495800" y="28532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Down Arrow 45"/>
            <p:cNvSpPr/>
            <p:nvPr/>
          </p:nvSpPr>
          <p:spPr>
            <a:xfrm>
              <a:off x="5181600" y="28532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Down Arrow 46"/>
            <p:cNvSpPr/>
            <p:nvPr/>
          </p:nvSpPr>
          <p:spPr>
            <a:xfrm>
              <a:off x="7162800" y="28532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Down Arrow 47"/>
            <p:cNvSpPr/>
            <p:nvPr/>
          </p:nvSpPr>
          <p:spPr>
            <a:xfrm>
              <a:off x="7848600" y="28532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9" name="Group 48"/>
          <p:cNvGrpSpPr/>
          <p:nvPr/>
        </p:nvGrpSpPr>
        <p:grpSpPr>
          <a:xfrm>
            <a:off x="2590800" y="4648200"/>
            <a:ext cx="4419600" cy="338667"/>
            <a:chOff x="2667000" y="4572000"/>
            <a:chExt cx="4419600" cy="338667"/>
          </a:xfrm>
        </p:grpSpPr>
        <p:sp>
          <p:nvSpPr>
            <p:cNvPr id="50" name="Rectangle 49"/>
            <p:cNvSpPr/>
            <p:nvPr/>
          </p:nvSpPr>
          <p:spPr>
            <a:xfrm>
              <a:off x="2667000" y="4572000"/>
              <a:ext cx="381000" cy="338667"/>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p:cNvSpPr/>
            <p:nvPr/>
          </p:nvSpPr>
          <p:spPr>
            <a:xfrm>
              <a:off x="3352800" y="4572000"/>
              <a:ext cx="381000" cy="338667"/>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p:cNvSpPr/>
            <p:nvPr/>
          </p:nvSpPr>
          <p:spPr>
            <a:xfrm>
              <a:off x="4038600" y="4572000"/>
              <a:ext cx="381000" cy="338667"/>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p:cNvSpPr/>
            <p:nvPr/>
          </p:nvSpPr>
          <p:spPr>
            <a:xfrm>
              <a:off x="5334000" y="4572000"/>
              <a:ext cx="381000" cy="338667"/>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p:cNvSpPr/>
            <p:nvPr/>
          </p:nvSpPr>
          <p:spPr>
            <a:xfrm>
              <a:off x="6019800" y="4572000"/>
              <a:ext cx="381000" cy="338667"/>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p:cNvSpPr/>
            <p:nvPr/>
          </p:nvSpPr>
          <p:spPr>
            <a:xfrm>
              <a:off x="6705600" y="4572000"/>
              <a:ext cx="381000" cy="338667"/>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6" name="Group 55"/>
          <p:cNvGrpSpPr/>
          <p:nvPr/>
        </p:nvGrpSpPr>
        <p:grpSpPr>
          <a:xfrm>
            <a:off x="2438400" y="5278967"/>
            <a:ext cx="4762500" cy="317500"/>
            <a:chOff x="2514600" y="5355167"/>
            <a:chExt cx="4762500" cy="317500"/>
          </a:xfrm>
        </p:grpSpPr>
        <p:sp>
          <p:nvSpPr>
            <p:cNvPr id="57" name="Rectangle 56"/>
            <p:cNvSpPr/>
            <p:nvPr/>
          </p:nvSpPr>
          <p:spPr>
            <a:xfrm>
              <a:off x="2514600" y="5355167"/>
              <a:ext cx="2095500" cy="317500"/>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Reduce (Avg.)</a:t>
              </a:r>
            </a:p>
          </p:txBody>
        </p:sp>
        <p:sp>
          <p:nvSpPr>
            <p:cNvPr id="58" name="Rectangle 57"/>
            <p:cNvSpPr/>
            <p:nvPr/>
          </p:nvSpPr>
          <p:spPr>
            <a:xfrm>
              <a:off x="5181600" y="5355167"/>
              <a:ext cx="2095500" cy="317500"/>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Reduce (Avg.)</a:t>
              </a:r>
            </a:p>
          </p:txBody>
        </p:sp>
      </p:grpSp>
      <p:grpSp>
        <p:nvGrpSpPr>
          <p:cNvPr id="59" name="Group 58"/>
          <p:cNvGrpSpPr/>
          <p:nvPr/>
        </p:nvGrpSpPr>
        <p:grpSpPr>
          <a:xfrm>
            <a:off x="2667000" y="5003800"/>
            <a:ext cx="4267200" cy="330200"/>
            <a:chOff x="2743200" y="4961467"/>
            <a:chExt cx="4267200" cy="330200"/>
          </a:xfrm>
        </p:grpSpPr>
        <p:sp>
          <p:nvSpPr>
            <p:cNvPr id="60" name="Down Arrow 59"/>
            <p:cNvSpPr/>
            <p:nvPr/>
          </p:nvSpPr>
          <p:spPr>
            <a:xfrm>
              <a:off x="2743200" y="49614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Down Arrow 60"/>
            <p:cNvSpPr/>
            <p:nvPr/>
          </p:nvSpPr>
          <p:spPr>
            <a:xfrm>
              <a:off x="3429000" y="49614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Down Arrow 61"/>
            <p:cNvSpPr/>
            <p:nvPr/>
          </p:nvSpPr>
          <p:spPr>
            <a:xfrm>
              <a:off x="4089400" y="49741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Down Arrow 62"/>
            <p:cNvSpPr/>
            <p:nvPr/>
          </p:nvSpPr>
          <p:spPr>
            <a:xfrm>
              <a:off x="5410200" y="49614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Down Arrow 63"/>
            <p:cNvSpPr/>
            <p:nvPr/>
          </p:nvSpPr>
          <p:spPr>
            <a:xfrm>
              <a:off x="6096000" y="49614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Down Arrow 64"/>
            <p:cNvSpPr/>
            <p:nvPr/>
          </p:nvSpPr>
          <p:spPr>
            <a:xfrm>
              <a:off x="6756400" y="49741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6" name="Group 70"/>
          <p:cNvGrpSpPr/>
          <p:nvPr/>
        </p:nvGrpSpPr>
        <p:grpSpPr>
          <a:xfrm>
            <a:off x="1866901" y="3996266"/>
            <a:ext cx="6096000" cy="651934"/>
            <a:chOff x="1866901" y="3386624"/>
            <a:chExt cx="6096000" cy="651952"/>
          </a:xfrm>
        </p:grpSpPr>
        <p:cxnSp>
          <p:nvCxnSpPr>
            <p:cNvPr id="72" name="Straight Arrow Connector 71"/>
            <p:cNvCxnSpPr>
              <a:stCxn id="23" idx="2"/>
              <a:endCxn id="50" idx="0"/>
            </p:cNvCxnSpPr>
            <p:nvPr/>
          </p:nvCxnSpPr>
          <p:spPr>
            <a:xfrm rot="16200000" flipH="1">
              <a:off x="1998125" y="3255401"/>
              <a:ext cx="651951" cy="914400"/>
            </a:xfrm>
            <a:prstGeom prst="straightConnector1">
              <a:avLst/>
            </a:prstGeom>
            <a:ln w="63500">
              <a:solidFill>
                <a:schemeClr val="tx2">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73" name="Straight Arrow Connector 72"/>
            <p:cNvCxnSpPr>
              <a:stCxn id="24" idx="2"/>
              <a:endCxn id="53" idx="0"/>
            </p:cNvCxnSpPr>
            <p:nvPr/>
          </p:nvCxnSpPr>
          <p:spPr>
            <a:xfrm rot="16200000" flipH="1">
              <a:off x="3674525" y="2264800"/>
              <a:ext cx="651951" cy="2895600"/>
            </a:xfrm>
            <a:prstGeom prst="straightConnector1">
              <a:avLst/>
            </a:prstGeom>
            <a:ln w="63500">
              <a:solidFill>
                <a:schemeClr val="tx2">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74" name="Straight Arrow Connector 73"/>
            <p:cNvCxnSpPr>
              <a:stCxn id="25" idx="2"/>
              <a:endCxn id="51" idx="0"/>
            </p:cNvCxnSpPr>
            <p:nvPr/>
          </p:nvCxnSpPr>
          <p:spPr>
            <a:xfrm rot="5400000">
              <a:off x="3712625" y="3141100"/>
              <a:ext cx="651951" cy="1143000"/>
            </a:xfrm>
            <a:prstGeom prst="straightConnector1">
              <a:avLst/>
            </a:prstGeom>
            <a:ln w="63500">
              <a:solidFill>
                <a:schemeClr val="tx2">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75" name="Straight Arrow Connector 74"/>
            <p:cNvCxnSpPr>
              <a:stCxn id="26" idx="2"/>
              <a:endCxn id="54" idx="0"/>
            </p:cNvCxnSpPr>
            <p:nvPr/>
          </p:nvCxnSpPr>
          <p:spPr>
            <a:xfrm rot="16200000" flipH="1">
              <a:off x="5389025" y="3293500"/>
              <a:ext cx="651951" cy="838200"/>
            </a:xfrm>
            <a:prstGeom prst="straightConnector1">
              <a:avLst/>
            </a:prstGeom>
            <a:ln w="63500">
              <a:solidFill>
                <a:schemeClr val="tx2">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76" name="Straight Arrow Connector 75"/>
            <p:cNvCxnSpPr>
              <a:stCxn id="27" idx="2"/>
              <a:endCxn id="52" idx="0"/>
            </p:cNvCxnSpPr>
            <p:nvPr/>
          </p:nvCxnSpPr>
          <p:spPr>
            <a:xfrm rot="5400000">
              <a:off x="5389025" y="2150500"/>
              <a:ext cx="651951" cy="3124200"/>
            </a:xfrm>
            <a:prstGeom prst="straightConnector1">
              <a:avLst/>
            </a:prstGeom>
            <a:ln w="63500">
              <a:solidFill>
                <a:schemeClr val="tx2">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77" name="Straight Arrow Connector 76"/>
            <p:cNvCxnSpPr>
              <a:stCxn id="28" idx="2"/>
              <a:endCxn id="55" idx="0"/>
            </p:cNvCxnSpPr>
            <p:nvPr/>
          </p:nvCxnSpPr>
          <p:spPr>
            <a:xfrm rot="5400000">
              <a:off x="7065425" y="3141100"/>
              <a:ext cx="651951" cy="1143000"/>
            </a:xfrm>
            <a:prstGeom prst="straightConnector1">
              <a:avLst/>
            </a:prstGeom>
            <a:ln w="63500">
              <a:solidFill>
                <a:schemeClr val="tx2">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67" name="Group 78"/>
          <p:cNvGrpSpPr/>
          <p:nvPr/>
        </p:nvGrpSpPr>
        <p:grpSpPr>
          <a:xfrm>
            <a:off x="76200" y="5943600"/>
            <a:ext cx="8763000" cy="609600"/>
            <a:chOff x="152400" y="6096000"/>
            <a:chExt cx="8763000" cy="609600"/>
          </a:xfrm>
        </p:grpSpPr>
        <p:sp>
          <p:nvSpPr>
            <p:cNvPr id="80" name="Rectangle 79"/>
            <p:cNvSpPr/>
            <p:nvPr/>
          </p:nvSpPr>
          <p:spPr>
            <a:xfrm>
              <a:off x="1066800" y="6096000"/>
              <a:ext cx="7848600" cy="609600"/>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p:cNvSpPr/>
            <p:nvPr/>
          </p:nvSpPr>
          <p:spPr>
            <a:xfrm>
              <a:off x="3352800" y="6214533"/>
              <a:ext cx="381000" cy="338667"/>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Rectangle 83"/>
            <p:cNvSpPr/>
            <p:nvPr/>
          </p:nvSpPr>
          <p:spPr>
            <a:xfrm>
              <a:off x="6019800" y="6206067"/>
              <a:ext cx="381000" cy="338667"/>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TextBox 84"/>
            <p:cNvSpPr txBox="1"/>
            <p:nvPr/>
          </p:nvSpPr>
          <p:spPr>
            <a:xfrm>
              <a:off x="152400" y="6172200"/>
              <a:ext cx="855491" cy="461665"/>
            </a:xfrm>
            <a:prstGeom prst="rect">
              <a:avLst/>
            </a:prstGeom>
            <a:noFill/>
          </p:spPr>
          <p:txBody>
            <a:bodyPr wrap="none" rtlCol="0">
              <a:spAutoFit/>
            </a:bodyPr>
            <a:lstStyle/>
            <a:p>
              <a:r>
                <a:rPr lang="en-US" sz="2400" b="1" dirty="0"/>
                <a:t>HDFS</a:t>
              </a:r>
            </a:p>
          </p:txBody>
        </p:sp>
      </p:grpSp>
      <p:sp>
        <p:nvSpPr>
          <p:cNvPr id="68" name="Down Arrow 67"/>
          <p:cNvSpPr/>
          <p:nvPr/>
        </p:nvSpPr>
        <p:spPr>
          <a:xfrm>
            <a:off x="6019800" y="56726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Down Arrow 68"/>
          <p:cNvSpPr/>
          <p:nvPr/>
        </p:nvSpPr>
        <p:spPr>
          <a:xfrm>
            <a:off x="3352800" y="56726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0" name="Group 85"/>
          <p:cNvGrpSpPr/>
          <p:nvPr/>
        </p:nvGrpSpPr>
        <p:grpSpPr>
          <a:xfrm>
            <a:off x="762000" y="1600200"/>
            <a:ext cx="7848600" cy="461665"/>
            <a:chOff x="990600" y="4648200"/>
            <a:chExt cx="7848600" cy="461665"/>
          </a:xfrm>
        </p:grpSpPr>
        <p:sp>
          <p:nvSpPr>
            <p:cNvPr id="87" name="TextBox 86"/>
            <p:cNvSpPr txBox="1"/>
            <p:nvPr/>
          </p:nvSpPr>
          <p:spPr>
            <a:xfrm>
              <a:off x="990600" y="4648200"/>
              <a:ext cx="3505200" cy="461665"/>
            </a:xfrm>
            <a:prstGeom prst="rect">
              <a:avLst/>
            </a:prstGeom>
            <a:noFill/>
          </p:spPr>
          <p:txBody>
            <a:bodyPr wrap="square" rtlCol="0">
              <a:spAutoFit/>
            </a:bodyPr>
            <a:lstStyle/>
            <a:p>
              <a:r>
                <a:rPr lang="en-US" sz="2400" b="1" dirty="0"/>
                <a:t>{</a:t>
              </a:r>
              <a:r>
                <a:rPr lang="en-US" sz="2400" b="1" dirty="0">
                  <a:solidFill>
                    <a:srgbClr val="FF0000"/>
                  </a:solidFill>
                </a:rPr>
                <a:t>name</a:t>
              </a:r>
              <a:r>
                <a:rPr lang="en-US" sz="2400" b="1" dirty="0"/>
                <a:t>:  (org., salary)} </a:t>
              </a:r>
            </a:p>
          </p:txBody>
        </p:sp>
        <p:sp>
          <p:nvSpPr>
            <p:cNvPr id="88" name="Right Arrow 87"/>
            <p:cNvSpPr/>
            <p:nvPr/>
          </p:nvSpPr>
          <p:spPr>
            <a:xfrm>
              <a:off x="4343400" y="4724400"/>
              <a:ext cx="762000" cy="304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TextBox 88"/>
            <p:cNvSpPr txBox="1"/>
            <p:nvPr/>
          </p:nvSpPr>
          <p:spPr>
            <a:xfrm>
              <a:off x="5334000" y="4648200"/>
              <a:ext cx="3505200" cy="461665"/>
            </a:xfrm>
            <a:prstGeom prst="rect">
              <a:avLst/>
            </a:prstGeom>
            <a:noFill/>
          </p:spPr>
          <p:txBody>
            <a:bodyPr wrap="square" rtlCol="0">
              <a:spAutoFit/>
            </a:bodyPr>
            <a:lstStyle/>
            <a:p>
              <a:r>
                <a:rPr lang="en-US" sz="2400" b="1" dirty="0"/>
                <a:t>{</a:t>
              </a:r>
              <a:r>
                <a:rPr lang="en-US" sz="2400" b="1" dirty="0">
                  <a:solidFill>
                    <a:srgbClr val="FF0000"/>
                  </a:solidFill>
                </a:rPr>
                <a:t>org.</a:t>
              </a:r>
              <a:r>
                <a:rPr lang="en-US" sz="2400" b="1" dirty="0"/>
                <a:t>:  avg. salary} </a:t>
              </a:r>
            </a:p>
          </p:txBody>
        </p:sp>
      </p:grpSp>
      <p:sp>
        <p:nvSpPr>
          <p:cNvPr id="91" name="Slide Number Placeholder 3"/>
          <p:cNvSpPr>
            <a:spLocks noGrp="1"/>
          </p:cNvSpPr>
          <p:nvPr>
            <p:ph type="sldNum" sz="quarter" idx="12"/>
          </p:nvPr>
        </p:nvSpPr>
        <p:spPr>
          <a:xfrm>
            <a:off x="6553200" y="6416675"/>
            <a:ext cx="2133600" cy="365125"/>
          </a:xfrm>
        </p:spPr>
        <p:txBody>
          <a:bodyPr/>
          <a:lstStyle/>
          <a:p>
            <a:fld id="{B6F15528-21DE-4FAA-801E-634DDDAF4B2B}" type="slidenum">
              <a:rPr lang="en-US" smtClean="0"/>
              <a:pPr/>
              <a:t>16</a:t>
            </a:fld>
            <a:endParaRPr lang="en-US" dirty="0"/>
          </a:p>
        </p:txBody>
      </p:sp>
      <p:sp>
        <p:nvSpPr>
          <p:cNvPr id="86" name="Rectangle 85"/>
          <p:cNvSpPr/>
          <p:nvPr/>
        </p:nvSpPr>
        <p:spPr>
          <a:xfrm>
            <a:off x="2209800" y="4419600"/>
            <a:ext cx="2438400" cy="2209800"/>
          </a:xfrm>
          <a:prstGeom prst="rect">
            <a:avLst/>
          </a:prstGeom>
          <a:noFill/>
          <a:ln w="76200" cap="flat">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Rectangle 89"/>
          <p:cNvSpPr/>
          <p:nvPr/>
        </p:nvSpPr>
        <p:spPr>
          <a:xfrm>
            <a:off x="4953000" y="4419600"/>
            <a:ext cx="2438400" cy="2209800"/>
          </a:xfrm>
          <a:prstGeom prst="rect">
            <a:avLst/>
          </a:prstGeom>
          <a:noFill/>
          <a:ln w="76200" cap="flat">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TextBox 91"/>
          <p:cNvSpPr txBox="1"/>
          <p:nvPr/>
        </p:nvSpPr>
        <p:spPr>
          <a:xfrm>
            <a:off x="76200" y="4420850"/>
            <a:ext cx="1905000" cy="1107996"/>
          </a:xfrm>
          <a:prstGeom prst="rect">
            <a:avLst/>
          </a:prstGeom>
          <a:noFill/>
        </p:spPr>
        <p:txBody>
          <a:bodyPr wrap="square" rtlCol="0">
            <a:spAutoFit/>
          </a:bodyPr>
          <a:lstStyle/>
          <a:p>
            <a:r>
              <a:rPr lang="en-US" sz="2200" b="1" dirty="0">
                <a:latin typeface="Garamond" pitchFamily="18" charset="0"/>
              </a:rPr>
              <a:t>Calculate the average salary for “org-1” </a:t>
            </a:r>
          </a:p>
        </p:txBody>
      </p:sp>
      <p:sp>
        <p:nvSpPr>
          <p:cNvPr id="93" name="TextBox 92"/>
          <p:cNvSpPr txBox="1"/>
          <p:nvPr/>
        </p:nvSpPr>
        <p:spPr>
          <a:xfrm>
            <a:off x="7391400" y="4419600"/>
            <a:ext cx="1905000" cy="1107996"/>
          </a:xfrm>
          <a:prstGeom prst="rect">
            <a:avLst/>
          </a:prstGeom>
          <a:noFill/>
        </p:spPr>
        <p:txBody>
          <a:bodyPr wrap="square" rtlCol="0">
            <a:spAutoFit/>
          </a:bodyPr>
          <a:lstStyle/>
          <a:p>
            <a:r>
              <a:rPr lang="en-US" sz="2200" b="1" dirty="0">
                <a:latin typeface="Garamond" pitchFamily="18" charset="0"/>
              </a:rPr>
              <a:t>Calculate the average salary for “org-2” </a:t>
            </a:r>
          </a:p>
        </p:txBody>
      </p:sp>
    </p:spTree>
    <p:extLst>
      <p:ext uri="{BB962C8B-B14F-4D97-AF65-F5344CB8AC3E}">
        <p14:creationId xmlns:p14="http://schemas.microsoft.com/office/powerpoint/2010/main" val="770093262"/>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6"/>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92"/>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90"/>
                                        </p:tgtEl>
                                        <p:attrNameLst>
                                          <p:attrName>style.visibility</p:attrName>
                                        </p:attrNameLst>
                                      </p:cBhvr>
                                      <p:to>
                                        <p:strVal val="visible"/>
                                      </p:to>
                                    </p:set>
                                  </p:childTnLst>
                                </p:cTn>
                              </p:par>
                            </p:childTnLst>
                          </p:cTn>
                        </p:par>
                        <p:par>
                          <p:cTn id="14" fill="hold">
                            <p:stCondLst>
                              <p:cond delay="0"/>
                            </p:stCondLst>
                            <p:childTnLst>
                              <p:par>
                                <p:cTn id="15" presetID="1" presetClass="entr" presetSubtype="0" fill="hold" grpId="0" nodeType="afterEffect">
                                  <p:stCondLst>
                                    <p:cond delay="0"/>
                                  </p:stCondLst>
                                  <p:childTnLst>
                                    <p:set>
                                      <p:cBhvr>
                                        <p:cTn id="16" dur="1" fill="hold">
                                          <p:stCondLst>
                                            <p:cond delay="0"/>
                                          </p:stCondLst>
                                        </p:cTn>
                                        <p:tgtEl>
                                          <p:spTgt spid="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 grpId="0" animBg="1"/>
      <p:bldP spid="90" grpId="0" animBg="1"/>
      <p:bldP spid="92" grpId="0"/>
      <p:bldP spid="9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7957" y="152329"/>
            <a:ext cx="7886700" cy="1325563"/>
          </a:xfrm>
        </p:spPr>
        <p:txBody>
          <a:bodyPr>
            <a:normAutofit/>
          </a:bodyPr>
          <a:lstStyle/>
          <a:p>
            <a:pPr lvl="0"/>
            <a:r>
              <a:rPr lang="en-US" sz="3600" dirty="0"/>
              <a:t>Key/Value Pairs in </a:t>
            </a:r>
            <a:r>
              <a:rPr lang="en-US" sz="3600" dirty="0" err="1"/>
              <a:t>MapReduce</a:t>
            </a:r>
            <a:r>
              <a:rPr lang="en-US" sz="3600" dirty="0"/>
              <a:t> </a:t>
            </a:r>
          </a:p>
        </p:txBody>
      </p:sp>
      <p:sp>
        <p:nvSpPr>
          <p:cNvPr id="3" name="Content Placeholder 2"/>
          <p:cNvSpPr>
            <a:spLocks noGrp="1"/>
          </p:cNvSpPr>
          <p:nvPr>
            <p:ph idx="1"/>
          </p:nvPr>
        </p:nvSpPr>
        <p:spPr>
          <a:xfrm>
            <a:off x="0" y="1371600"/>
            <a:ext cx="9144000" cy="5154706"/>
          </a:xfrm>
        </p:spPr>
        <p:txBody>
          <a:bodyPr>
            <a:normAutofit/>
          </a:bodyPr>
          <a:lstStyle/>
          <a:p>
            <a:r>
              <a:rPr lang="en-US" dirty="0"/>
              <a:t>A simple but effective programming model designed to process huge volumes of data concurrently on a cluster</a:t>
            </a:r>
          </a:p>
          <a:p>
            <a:r>
              <a:rPr lang="en-US" dirty="0"/>
              <a:t>Map: (k1, v1) </a:t>
            </a:r>
            <a:r>
              <a:rPr lang="en-US" dirty="0">
                <a:sym typeface="Wingdings" pitchFamily="2" charset="2"/>
              </a:rPr>
              <a:t> (k2, v2</a:t>
            </a:r>
            <a:r>
              <a:rPr lang="en-US" b="0" dirty="0">
                <a:sym typeface="Wingdings" pitchFamily="2" charset="2"/>
              </a:rPr>
              <a:t>), </a:t>
            </a:r>
          </a:p>
          <a:p>
            <a:pPr lvl="1"/>
            <a:r>
              <a:rPr lang="en-US" b="0" dirty="0">
                <a:sym typeface="Wingdings" pitchFamily="2" charset="2"/>
              </a:rPr>
              <a:t>e.g.</a:t>
            </a:r>
            <a:r>
              <a:rPr lang="en-US" b="0" dirty="0">
                <a:solidFill>
                  <a:srgbClr val="FF0000"/>
                </a:solidFill>
                <a:sym typeface="Wingdings" pitchFamily="2" charset="2"/>
              </a:rPr>
              <a:t> (name, org &amp; salary)  (org, salary)</a:t>
            </a:r>
          </a:p>
          <a:p>
            <a:r>
              <a:rPr lang="en-US" dirty="0">
                <a:sym typeface="Wingdings" pitchFamily="2" charset="2"/>
              </a:rPr>
              <a:t>Reduce: (k2, v2)  (k3, v3), </a:t>
            </a:r>
          </a:p>
          <a:p>
            <a:pPr lvl="1"/>
            <a:r>
              <a:rPr lang="en-US" b="0" dirty="0">
                <a:sym typeface="Wingdings" pitchFamily="2" charset="2"/>
              </a:rPr>
              <a:t>e.g.</a:t>
            </a:r>
            <a:r>
              <a:rPr lang="en-US" b="0" dirty="0">
                <a:solidFill>
                  <a:srgbClr val="FF0000"/>
                </a:solidFill>
                <a:sym typeface="Wingdings" pitchFamily="2" charset="2"/>
              </a:rPr>
              <a:t> (org, salary)  (org, avg. salary)</a:t>
            </a:r>
          </a:p>
          <a:p>
            <a:r>
              <a:rPr lang="en-US" dirty="0">
                <a:sym typeface="Wingdings" pitchFamily="2" charset="2"/>
              </a:rPr>
              <a:t>Shuffle: Partition Key (It could be the same as k2, or not)</a:t>
            </a:r>
          </a:p>
          <a:p>
            <a:pPr lvl="1"/>
            <a:r>
              <a:rPr lang="en-US" dirty="0">
                <a:sym typeface="Wingdings" pitchFamily="2" charset="2"/>
              </a:rPr>
              <a:t>Partition Key: to determine how a key/value pair in the map output be transferred to a reduce task</a:t>
            </a:r>
          </a:p>
          <a:p>
            <a:pPr lvl="1"/>
            <a:r>
              <a:rPr lang="en-US" dirty="0">
                <a:sym typeface="Wingdings" pitchFamily="2" charset="2"/>
              </a:rPr>
              <a:t>e.g. </a:t>
            </a:r>
            <a:r>
              <a:rPr lang="en-US" dirty="0">
                <a:solidFill>
                  <a:srgbClr val="FF0000"/>
                </a:solidFill>
                <a:sym typeface="Wingdings" pitchFamily="2" charset="2"/>
              </a:rPr>
              <a:t>org. name is used to partition the map output file accordingly </a:t>
            </a:r>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17</a:t>
            </a:fld>
            <a:endParaRPr lang="en-US" dirty="0"/>
          </a:p>
        </p:txBody>
      </p:sp>
    </p:spTree>
    <p:extLst>
      <p:ext uri="{BB962C8B-B14F-4D97-AF65-F5344CB8AC3E}">
        <p14:creationId xmlns:p14="http://schemas.microsoft.com/office/powerpoint/2010/main" val="3534642209"/>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1" name="Picture 4"/>
          <p:cNvPicPr>
            <a:picLocks noChangeAspect="1" noChangeArrowheads="1"/>
          </p:cNvPicPr>
          <p:nvPr/>
        </p:nvPicPr>
        <p:blipFill>
          <a:blip r:embed="rId3" cstate="print"/>
          <a:srcRect/>
          <a:stretch>
            <a:fillRect/>
          </a:stretch>
        </p:blipFill>
        <p:spPr bwMode="auto">
          <a:xfrm>
            <a:off x="5486400" y="3257550"/>
            <a:ext cx="550576" cy="781050"/>
          </a:xfrm>
          <a:prstGeom prst="rect">
            <a:avLst/>
          </a:prstGeom>
          <a:noFill/>
          <a:ln w="9525">
            <a:noFill/>
            <a:miter lim="800000"/>
            <a:headEnd/>
            <a:tailEnd/>
          </a:ln>
        </p:spPr>
      </p:pic>
      <p:pic>
        <p:nvPicPr>
          <p:cNvPr id="1028" name="Picture 4"/>
          <p:cNvPicPr>
            <a:picLocks noChangeAspect="1" noChangeArrowheads="1"/>
          </p:cNvPicPr>
          <p:nvPr/>
        </p:nvPicPr>
        <p:blipFill>
          <a:blip r:embed="rId3" cstate="print"/>
          <a:srcRect/>
          <a:stretch>
            <a:fillRect/>
          </a:stretch>
        </p:blipFill>
        <p:spPr bwMode="auto">
          <a:xfrm>
            <a:off x="3657600" y="2343150"/>
            <a:ext cx="550576" cy="781050"/>
          </a:xfrm>
          <a:prstGeom prst="rect">
            <a:avLst/>
          </a:prstGeom>
          <a:noFill/>
          <a:ln w="9525">
            <a:noFill/>
            <a:miter lim="800000"/>
            <a:headEnd/>
            <a:tailEnd/>
          </a:ln>
        </p:spPr>
      </p:pic>
      <p:pic>
        <p:nvPicPr>
          <p:cNvPr id="42" name="Picture 4"/>
          <p:cNvPicPr>
            <a:picLocks noChangeAspect="1" noChangeArrowheads="1"/>
          </p:cNvPicPr>
          <p:nvPr/>
        </p:nvPicPr>
        <p:blipFill>
          <a:blip r:embed="rId3" cstate="print"/>
          <a:srcRect/>
          <a:stretch>
            <a:fillRect/>
          </a:stretch>
        </p:blipFill>
        <p:spPr bwMode="auto">
          <a:xfrm>
            <a:off x="5469224" y="4343400"/>
            <a:ext cx="550576" cy="781050"/>
          </a:xfrm>
          <a:prstGeom prst="rect">
            <a:avLst/>
          </a:prstGeom>
          <a:noFill/>
          <a:ln w="9525">
            <a:noFill/>
            <a:miter lim="800000"/>
            <a:headEnd/>
            <a:tailEnd/>
          </a:ln>
        </p:spPr>
      </p:pic>
      <p:sp>
        <p:nvSpPr>
          <p:cNvPr id="68" name="Oval 67"/>
          <p:cNvSpPr/>
          <p:nvPr/>
        </p:nvSpPr>
        <p:spPr>
          <a:xfrm>
            <a:off x="3962400" y="2895600"/>
            <a:ext cx="304800" cy="304800"/>
          </a:xfrm>
          <a:prstGeom prst="ellipse">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p:cNvSpPr/>
          <p:nvPr/>
        </p:nvSpPr>
        <p:spPr>
          <a:xfrm>
            <a:off x="3962400" y="2895600"/>
            <a:ext cx="304800" cy="304800"/>
          </a:xfrm>
          <a:prstGeom prst="ellipse">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lide Number Placeholder 1"/>
          <p:cNvSpPr>
            <a:spLocks noGrp="1"/>
          </p:cNvSpPr>
          <p:nvPr>
            <p:ph type="sldNum" sz="quarter" idx="12"/>
          </p:nvPr>
        </p:nvSpPr>
        <p:spPr/>
        <p:txBody>
          <a:bodyPr/>
          <a:lstStyle/>
          <a:p>
            <a:fld id="{B6F15528-21DE-4FAA-801E-634DDDAF4B2B}" type="slidenum">
              <a:rPr lang="en-US" smtClean="0"/>
              <a:pPr/>
              <a:t>18</a:t>
            </a:fld>
            <a:endParaRPr lang="en-US" dirty="0"/>
          </a:p>
        </p:txBody>
      </p:sp>
      <p:cxnSp>
        <p:nvCxnSpPr>
          <p:cNvPr id="3" name="Straight Connector 2"/>
          <p:cNvCxnSpPr/>
          <p:nvPr/>
        </p:nvCxnSpPr>
        <p:spPr>
          <a:xfrm>
            <a:off x="457200" y="762000"/>
            <a:ext cx="8229600" cy="0"/>
          </a:xfrm>
          <a:prstGeom prst="line">
            <a:avLst/>
          </a:prstGeom>
          <a:ln w="63500">
            <a:solidFill>
              <a:srgbClr val="C00000"/>
            </a:solidFill>
          </a:ln>
        </p:spPr>
        <p:style>
          <a:lnRef idx="1">
            <a:schemeClr val="accent1"/>
          </a:lnRef>
          <a:fillRef idx="0">
            <a:schemeClr val="accent1"/>
          </a:fillRef>
          <a:effectRef idx="0">
            <a:schemeClr val="accent1"/>
          </a:effectRef>
          <a:fontRef idx="minor">
            <a:schemeClr val="tx1"/>
          </a:fontRef>
        </p:style>
      </p:cxnSp>
      <p:sp>
        <p:nvSpPr>
          <p:cNvPr id="4" name="Title 1"/>
          <p:cNvSpPr txBox="1">
            <a:spLocks/>
          </p:cNvSpPr>
          <p:nvPr/>
        </p:nvSpPr>
        <p:spPr>
          <a:xfrm>
            <a:off x="457200" y="76200"/>
            <a:ext cx="8229600" cy="1143000"/>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800" b="1" i="0" u="none" strike="noStrike" kern="1200" cap="none" spc="0" normalizeH="0" baseline="0" noProof="0" dirty="0">
                <a:ln>
                  <a:noFill/>
                </a:ln>
                <a:solidFill>
                  <a:schemeClr val="tx1"/>
                </a:solidFill>
                <a:effectLst>
                  <a:outerShdw blurRad="38100" dist="38100" dir="2700000" algn="tl">
                    <a:srgbClr val="000000">
                      <a:alpha val="43137"/>
                    </a:srgbClr>
                  </a:outerShdw>
                </a:effectLst>
                <a:uLnTx/>
                <a:uFillTx/>
                <a:latin typeface="Garamond" pitchFamily="18" charset="0"/>
                <a:ea typeface="+mj-ea"/>
                <a:cs typeface="+mj-cs"/>
              </a:rPr>
              <a:t>MR(</a:t>
            </a:r>
            <a:r>
              <a:rPr kumimoji="0" lang="en-US" sz="3800" b="1" i="0" u="none" strike="noStrike" kern="1200" cap="none" spc="0" normalizeH="0" baseline="0" noProof="0" dirty="0" err="1">
                <a:ln>
                  <a:noFill/>
                </a:ln>
                <a:solidFill>
                  <a:schemeClr val="tx1"/>
                </a:solidFill>
                <a:effectLst>
                  <a:outerShdw blurRad="38100" dist="38100" dir="2700000" algn="tl">
                    <a:srgbClr val="000000">
                      <a:alpha val="43137"/>
                    </a:srgbClr>
                  </a:outerShdw>
                </a:effectLst>
                <a:uLnTx/>
                <a:uFillTx/>
                <a:latin typeface="Garamond" pitchFamily="18" charset="0"/>
                <a:ea typeface="+mj-ea"/>
                <a:cs typeface="+mj-cs"/>
              </a:rPr>
              <a:t>Hadoop</a:t>
            </a:r>
            <a:r>
              <a:rPr kumimoji="0" lang="en-US" sz="3800" b="1" i="0" u="none" strike="noStrike" kern="1200" cap="none" spc="0" normalizeH="0" baseline="0" noProof="0" dirty="0">
                <a:ln>
                  <a:noFill/>
                </a:ln>
                <a:solidFill>
                  <a:schemeClr val="tx1"/>
                </a:solidFill>
                <a:effectLst>
                  <a:outerShdw blurRad="38100" dist="38100" dir="2700000" algn="tl">
                    <a:srgbClr val="000000">
                      <a:alpha val="43137"/>
                    </a:srgbClr>
                  </a:outerShdw>
                </a:effectLst>
                <a:uLnTx/>
                <a:uFillTx/>
                <a:latin typeface="Garamond" pitchFamily="18" charset="0"/>
                <a:ea typeface="+mj-ea"/>
                <a:cs typeface="+mj-cs"/>
              </a:rPr>
              <a:t>) Job</a:t>
            </a:r>
            <a:r>
              <a:rPr kumimoji="0" lang="en-US" sz="3800" b="1" i="0" u="none" strike="noStrike" kern="1200" cap="none" spc="0" normalizeH="0" noProof="0" dirty="0">
                <a:ln>
                  <a:noFill/>
                </a:ln>
                <a:solidFill>
                  <a:schemeClr val="tx1"/>
                </a:solidFill>
                <a:effectLst>
                  <a:outerShdw blurRad="38100" dist="38100" dir="2700000" algn="tl">
                    <a:srgbClr val="000000">
                      <a:alpha val="43137"/>
                    </a:srgbClr>
                  </a:outerShdw>
                </a:effectLst>
                <a:uLnTx/>
                <a:uFillTx/>
                <a:latin typeface="Garamond" pitchFamily="18" charset="0"/>
                <a:ea typeface="+mj-ea"/>
                <a:cs typeface="+mj-cs"/>
              </a:rPr>
              <a:t> Execution</a:t>
            </a:r>
            <a:r>
              <a:rPr kumimoji="0" lang="en-US" sz="3800" b="1" i="0" u="none" strike="noStrike" kern="1200" cap="none" spc="0" normalizeH="0" baseline="0" noProof="0" dirty="0">
                <a:ln>
                  <a:noFill/>
                </a:ln>
                <a:solidFill>
                  <a:schemeClr val="tx1"/>
                </a:solidFill>
                <a:effectLst>
                  <a:outerShdw blurRad="38100" dist="38100" dir="2700000" algn="tl">
                    <a:srgbClr val="000000">
                      <a:alpha val="43137"/>
                    </a:srgbClr>
                  </a:outerShdw>
                </a:effectLst>
                <a:uLnTx/>
                <a:uFillTx/>
                <a:latin typeface="Garamond" pitchFamily="18" charset="0"/>
                <a:ea typeface="+mj-ea"/>
                <a:cs typeface="+mj-cs"/>
              </a:rPr>
              <a:t> </a:t>
            </a:r>
            <a:r>
              <a:rPr lang="en-US" sz="3800" b="1" dirty="0">
                <a:effectLst>
                  <a:outerShdw blurRad="38100" dist="38100" dir="2700000" algn="tl">
                    <a:srgbClr val="000000">
                      <a:alpha val="43137"/>
                    </a:srgbClr>
                  </a:outerShdw>
                </a:effectLst>
                <a:latin typeface="Garamond" pitchFamily="18" charset="0"/>
                <a:ea typeface="+mj-ea"/>
                <a:cs typeface="+mj-cs"/>
              </a:rPr>
              <a:t>Patterns</a:t>
            </a:r>
            <a:endParaRPr kumimoji="0" lang="en-US" sz="3800" b="1" i="0" u="none" strike="noStrike" kern="1200" cap="none" spc="0" normalizeH="0" baseline="0" noProof="0" dirty="0">
              <a:ln>
                <a:noFill/>
              </a:ln>
              <a:solidFill>
                <a:schemeClr val="tx1"/>
              </a:solidFill>
              <a:effectLst>
                <a:outerShdw blurRad="38100" dist="38100" dir="2700000" algn="tl">
                  <a:srgbClr val="000000">
                    <a:alpha val="43137"/>
                  </a:srgbClr>
                </a:outerShdw>
              </a:effectLst>
              <a:uLnTx/>
              <a:uFillTx/>
              <a:latin typeface="Garamond" pitchFamily="18" charset="0"/>
              <a:ea typeface="+mj-ea"/>
              <a:cs typeface="+mj-cs"/>
            </a:endParaRPr>
          </a:p>
        </p:txBody>
      </p:sp>
      <p:sp>
        <p:nvSpPr>
          <p:cNvPr id="7" name="TextBox 6"/>
          <p:cNvSpPr txBox="1"/>
          <p:nvPr/>
        </p:nvSpPr>
        <p:spPr>
          <a:xfrm>
            <a:off x="3200400" y="762000"/>
            <a:ext cx="1985223" cy="369332"/>
          </a:xfrm>
          <a:prstGeom prst="rect">
            <a:avLst/>
          </a:prstGeom>
          <a:noFill/>
        </p:spPr>
        <p:txBody>
          <a:bodyPr wrap="none" rtlCol="0">
            <a:spAutoFit/>
          </a:bodyPr>
          <a:lstStyle/>
          <a:p>
            <a:r>
              <a:rPr lang="en-US" b="1" dirty="0">
                <a:latin typeface="Garamond" pitchFamily="18" charset="0"/>
              </a:rPr>
              <a:t>MR program (job)</a:t>
            </a:r>
          </a:p>
        </p:txBody>
      </p:sp>
      <p:sp>
        <p:nvSpPr>
          <p:cNvPr id="10" name="TextBox 9"/>
          <p:cNvSpPr txBox="1"/>
          <p:nvPr/>
        </p:nvSpPr>
        <p:spPr>
          <a:xfrm>
            <a:off x="4191000" y="2495550"/>
            <a:ext cx="1407758" cy="369332"/>
          </a:xfrm>
          <a:prstGeom prst="rect">
            <a:avLst/>
          </a:prstGeom>
          <a:noFill/>
        </p:spPr>
        <p:txBody>
          <a:bodyPr wrap="none" rtlCol="0">
            <a:spAutoFit/>
          </a:bodyPr>
          <a:lstStyle/>
          <a:p>
            <a:r>
              <a:rPr lang="en-US" b="1" dirty="0">
                <a:latin typeface="Garamond" pitchFamily="18" charset="0"/>
              </a:rPr>
              <a:t>Master node</a:t>
            </a:r>
          </a:p>
        </p:txBody>
      </p:sp>
      <p:cxnSp>
        <p:nvCxnSpPr>
          <p:cNvPr id="14" name="Straight Arrow Connector 13"/>
          <p:cNvCxnSpPr/>
          <p:nvPr/>
        </p:nvCxnSpPr>
        <p:spPr>
          <a:xfrm rot="5400000">
            <a:off x="3620691" y="2019697"/>
            <a:ext cx="532606" cy="1588"/>
          </a:xfrm>
          <a:prstGeom prst="straightConnector1">
            <a:avLst/>
          </a:prstGeom>
          <a:ln w="50800">
            <a:solidFill>
              <a:schemeClr val="tx1"/>
            </a:solidFill>
            <a:prstDash val="sysDot"/>
            <a:tailEnd type="arrow"/>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4038600" y="1752600"/>
            <a:ext cx="1897699" cy="369332"/>
          </a:xfrm>
          <a:prstGeom prst="rect">
            <a:avLst/>
          </a:prstGeom>
          <a:noFill/>
          <a:ln w="38100">
            <a:solidFill>
              <a:schemeClr val="accent1">
                <a:shade val="50000"/>
              </a:schemeClr>
            </a:solidFill>
          </a:ln>
        </p:spPr>
        <p:txBody>
          <a:bodyPr wrap="none" rtlCol="0">
            <a:spAutoFit/>
          </a:bodyPr>
          <a:lstStyle/>
          <a:p>
            <a:r>
              <a:rPr lang="en-US" b="1" dirty="0">
                <a:latin typeface="Garamond" pitchFamily="18" charset="0"/>
              </a:rPr>
              <a:t>1: Job submission</a:t>
            </a:r>
          </a:p>
        </p:txBody>
      </p:sp>
      <p:sp>
        <p:nvSpPr>
          <p:cNvPr id="18" name="TextBox 17"/>
          <p:cNvSpPr txBox="1"/>
          <p:nvPr/>
        </p:nvSpPr>
        <p:spPr>
          <a:xfrm>
            <a:off x="1600200" y="2971800"/>
            <a:ext cx="1529329" cy="369332"/>
          </a:xfrm>
          <a:prstGeom prst="rect">
            <a:avLst/>
          </a:prstGeom>
          <a:noFill/>
        </p:spPr>
        <p:txBody>
          <a:bodyPr wrap="none" rtlCol="0">
            <a:spAutoFit/>
          </a:bodyPr>
          <a:lstStyle/>
          <a:p>
            <a:r>
              <a:rPr lang="en-US" b="1" dirty="0">
                <a:latin typeface="Garamond" pitchFamily="18" charset="0"/>
              </a:rPr>
              <a:t>Worker nodes</a:t>
            </a:r>
          </a:p>
        </p:txBody>
      </p:sp>
      <p:pic>
        <p:nvPicPr>
          <p:cNvPr id="21" name="Picture 4"/>
          <p:cNvPicPr>
            <a:picLocks noChangeAspect="1" noChangeArrowheads="1"/>
          </p:cNvPicPr>
          <p:nvPr/>
        </p:nvPicPr>
        <p:blipFill>
          <a:blip r:embed="rId3" cstate="print"/>
          <a:srcRect/>
          <a:stretch>
            <a:fillRect/>
          </a:stretch>
        </p:blipFill>
        <p:spPr bwMode="auto">
          <a:xfrm>
            <a:off x="1905000" y="5467350"/>
            <a:ext cx="550576" cy="781050"/>
          </a:xfrm>
          <a:prstGeom prst="rect">
            <a:avLst/>
          </a:prstGeom>
          <a:noFill/>
          <a:ln w="9525">
            <a:noFill/>
            <a:miter lim="800000"/>
            <a:headEnd/>
            <a:tailEnd/>
          </a:ln>
        </p:spPr>
      </p:pic>
      <p:pic>
        <p:nvPicPr>
          <p:cNvPr id="19" name="Picture 4"/>
          <p:cNvPicPr>
            <a:picLocks noChangeAspect="1" noChangeArrowheads="1"/>
          </p:cNvPicPr>
          <p:nvPr/>
        </p:nvPicPr>
        <p:blipFill>
          <a:blip r:embed="rId3" cstate="print"/>
          <a:srcRect/>
          <a:stretch>
            <a:fillRect/>
          </a:stretch>
        </p:blipFill>
        <p:spPr bwMode="auto">
          <a:xfrm>
            <a:off x="1905000" y="4476750"/>
            <a:ext cx="550576" cy="781050"/>
          </a:xfrm>
          <a:prstGeom prst="rect">
            <a:avLst/>
          </a:prstGeom>
          <a:noFill/>
          <a:ln w="9525">
            <a:noFill/>
            <a:miter lim="800000"/>
            <a:headEnd/>
            <a:tailEnd/>
          </a:ln>
        </p:spPr>
      </p:pic>
      <p:pic>
        <p:nvPicPr>
          <p:cNvPr id="25" name="Picture 4"/>
          <p:cNvPicPr>
            <a:picLocks noChangeAspect="1" noChangeArrowheads="1"/>
          </p:cNvPicPr>
          <p:nvPr/>
        </p:nvPicPr>
        <p:blipFill>
          <a:blip r:embed="rId3" cstate="print"/>
          <a:srcRect/>
          <a:stretch>
            <a:fillRect/>
          </a:stretch>
        </p:blipFill>
        <p:spPr bwMode="auto">
          <a:xfrm>
            <a:off x="1905000" y="3429000"/>
            <a:ext cx="550576" cy="781050"/>
          </a:xfrm>
          <a:prstGeom prst="rect">
            <a:avLst/>
          </a:prstGeom>
          <a:noFill/>
          <a:ln w="9525">
            <a:noFill/>
            <a:miter lim="800000"/>
            <a:headEnd/>
            <a:tailEnd/>
          </a:ln>
        </p:spPr>
      </p:pic>
      <p:pic>
        <p:nvPicPr>
          <p:cNvPr id="43" name="Picture 4"/>
          <p:cNvPicPr>
            <a:picLocks noChangeAspect="1" noChangeArrowheads="1"/>
          </p:cNvPicPr>
          <p:nvPr/>
        </p:nvPicPr>
        <p:blipFill>
          <a:blip r:embed="rId3" cstate="print"/>
          <a:srcRect/>
          <a:stretch>
            <a:fillRect/>
          </a:stretch>
        </p:blipFill>
        <p:spPr bwMode="auto">
          <a:xfrm>
            <a:off x="5486400" y="5391150"/>
            <a:ext cx="550576" cy="781050"/>
          </a:xfrm>
          <a:prstGeom prst="rect">
            <a:avLst/>
          </a:prstGeom>
          <a:noFill/>
          <a:ln w="9525">
            <a:noFill/>
            <a:miter lim="800000"/>
            <a:headEnd/>
            <a:tailEnd/>
          </a:ln>
        </p:spPr>
      </p:pic>
      <p:sp>
        <p:nvSpPr>
          <p:cNvPr id="44" name="TextBox 43"/>
          <p:cNvSpPr txBox="1"/>
          <p:nvPr/>
        </p:nvSpPr>
        <p:spPr>
          <a:xfrm>
            <a:off x="5177516" y="2895600"/>
            <a:ext cx="1529329" cy="369332"/>
          </a:xfrm>
          <a:prstGeom prst="rect">
            <a:avLst/>
          </a:prstGeom>
          <a:noFill/>
        </p:spPr>
        <p:txBody>
          <a:bodyPr wrap="none" rtlCol="0">
            <a:spAutoFit/>
          </a:bodyPr>
          <a:lstStyle/>
          <a:p>
            <a:r>
              <a:rPr lang="en-US" b="1" dirty="0">
                <a:latin typeface="Garamond" pitchFamily="18" charset="0"/>
              </a:rPr>
              <a:t>Worker nodes</a:t>
            </a:r>
          </a:p>
        </p:txBody>
      </p:sp>
      <p:sp>
        <p:nvSpPr>
          <p:cNvPr id="48" name="Freeform 47"/>
          <p:cNvSpPr/>
          <p:nvPr/>
        </p:nvSpPr>
        <p:spPr>
          <a:xfrm>
            <a:off x="2528047" y="3106271"/>
            <a:ext cx="1196788" cy="685800"/>
          </a:xfrm>
          <a:custGeom>
            <a:avLst/>
            <a:gdLst>
              <a:gd name="connsiteX0" fmla="*/ 1196788 w 1196788"/>
              <a:gd name="connsiteY0" fmla="*/ 0 h 685800"/>
              <a:gd name="connsiteX1" fmla="*/ 753035 w 1196788"/>
              <a:gd name="connsiteY1" fmla="*/ 389964 h 685800"/>
              <a:gd name="connsiteX2" fmla="*/ 0 w 1196788"/>
              <a:gd name="connsiteY2" fmla="*/ 685800 h 685800"/>
            </a:gdLst>
            <a:ahLst/>
            <a:cxnLst>
              <a:cxn ang="0">
                <a:pos x="connsiteX0" y="connsiteY0"/>
              </a:cxn>
              <a:cxn ang="0">
                <a:pos x="connsiteX1" y="connsiteY1"/>
              </a:cxn>
              <a:cxn ang="0">
                <a:pos x="connsiteX2" y="connsiteY2"/>
              </a:cxn>
            </a:cxnLst>
            <a:rect l="l" t="t" r="r" b="b"/>
            <a:pathLst>
              <a:path w="1196788" h="685800">
                <a:moveTo>
                  <a:pt x="1196788" y="0"/>
                </a:moveTo>
                <a:cubicBezTo>
                  <a:pt x="1074644" y="137832"/>
                  <a:pt x="952500" y="275664"/>
                  <a:pt x="753035" y="389964"/>
                </a:cubicBezTo>
                <a:cubicBezTo>
                  <a:pt x="553570" y="504264"/>
                  <a:pt x="29135" y="656665"/>
                  <a:pt x="0" y="685800"/>
                </a:cubicBezTo>
              </a:path>
            </a:pathLst>
          </a:custGeom>
          <a:ln w="50800">
            <a:solidFill>
              <a:schemeClr val="tx1"/>
            </a:solidFill>
            <a:prstDash val="sysDot"/>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2590800" y="3200400"/>
            <a:ext cx="1295400" cy="1752600"/>
          </a:xfrm>
          <a:custGeom>
            <a:avLst/>
            <a:gdLst>
              <a:gd name="connsiteX0" fmla="*/ 1196788 w 1196788"/>
              <a:gd name="connsiteY0" fmla="*/ 0 h 685800"/>
              <a:gd name="connsiteX1" fmla="*/ 753035 w 1196788"/>
              <a:gd name="connsiteY1" fmla="*/ 389964 h 685800"/>
              <a:gd name="connsiteX2" fmla="*/ 0 w 1196788"/>
              <a:gd name="connsiteY2" fmla="*/ 685800 h 685800"/>
              <a:gd name="connsiteX0" fmla="*/ 1295400 w 1295400"/>
              <a:gd name="connsiteY0" fmla="*/ 0 h 1752600"/>
              <a:gd name="connsiteX1" fmla="*/ 753035 w 1295400"/>
              <a:gd name="connsiteY1" fmla="*/ 1456764 h 1752600"/>
              <a:gd name="connsiteX2" fmla="*/ 0 w 1295400"/>
              <a:gd name="connsiteY2" fmla="*/ 1752600 h 1752600"/>
              <a:gd name="connsiteX0" fmla="*/ 1295400 w 1295400"/>
              <a:gd name="connsiteY0" fmla="*/ 0 h 1752600"/>
              <a:gd name="connsiteX1" fmla="*/ 990600 w 1295400"/>
              <a:gd name="connsiteY1" fmla="*/ 1219200 h 1752600"/>
              <a:gd name="connsiteX2" fmla="*/ 0 w 1295400"/>
              <a:gd name="connsiteY2" fmla="*/ 1752600 h 1752600"/>
              <a:gd name="connsiteX0" fmla="*/ 1295400 w 1295400"/>
              <a:gd name="connsiteY0" fmla="*/ 0 h 1752600"/>
              <a:gd name="connsiteX1" fmla="*/ 838200 w 1295400"/>
              <a:gd name="connsiteY1" fmla="*/ 1219200 h 1752600"/>
              <a:gd name="connsiteX2" fmla="*/ 0 w 1295400"/>
              <a:gd name="connsiteY2" fmla="*/ 1752600 h 1752600"/>
            </a:gdLst>
            <a:ahLst/>
            <a:cxnLst>
              <a:cxn ang="0">
                <a:pos x="connsiteX0" y="connsiteY0"/>
              </a:cxn>
              <a:cxn ang="0">
                <a:pos x="connsiteX1" y="connsiteY1"/>
              </a:cxn>
              <a:cxn ang="0">
                <a:pos x="connsiteX2" y="connsiteY2"/>
              </a:cxn>
            </a:cxnLst>
            <a:rect l="l" t="t" r="r" b="b"/>
            <a:pathLst>
              <a:path w="1295400" h="1752600">
                <a:moveTo>
                  <a:pt x="1295400" y="0"/>
                </a:moveTo>
                <a:cubicBezTo>
                  <a:pt x="1173256" y="137832"/>
                  <a:pt x="1054100" y="927100"/>
                  <a:pt x="838200" y="1219200"/>
                </a:cubicBezTo>
                <a:cubicBezTo>
                  <a:pt x="622300" y="1511300"/>
                  <a:pt x="29135" y="1723465"/>
                  <a:pt x="0" y="1752600"/>
                </a:cubicBezTo>
              </a:path>
            </a:pathLst>
          </a:custGeom>
          <a:ln w="50800">
            <a:solidFill>
              <a:schemeClr val="tx1"/>
            </a:solidFill>
            <a:prstDash val="sysDot"/>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Freeform 49"/>
          <p:cNvSpPr/>
          <p:nvPr/>
        </p:nvSpPr>
        <p:spPr>
          <a:xfrm flipH="1">
            <a:off x="4038600" y="3200400"/>
            <a:ext cx="1219200" cy="1600200"/>
          </a:xfrm>
          <a:custGeom>
            <a:avLst/>
            <a:gdLst>
              <a:gd name="connsiteX0" fmla="*/ 1196788 w 1196788"/>
              <a:gd name="connsiteY0" fmla="*/ 0 h 685800"/>
              <a:gd name="connsiteX1" fmla="*/ 753035 w 1196788"/>
              <a:gd name="connsiteY1" fmla="*/ 389964 h 685800"/>
              <a:gd name="connsiteX2" fmla="*/ 0 w 1196788"/>
              <a:gd name="connsiteY2" fmla="*/ 685800 h 685800"/>
              <a:gd name="connsiteX0" fmla="*/ 1295400 w 1295400"/>
              <a:gd name="connsiteY0" fmla="*/ 0 h 1752600"/>
              <a:gd name="connsiteX1" fmla="*/ 753035 w 1295400"/>
              <a:gd name="connsiteY1" fmla="*/ 1456764 h 1752600"/>
              <a:gd name="connsiteX2" fmla="*/ 0 w 1295400"/>
              <a:gd name="connsiteY2" fmla="*/ 1752600 h 1752600"/>
              <a:gd name="connsiteX0" fmla="*/ 1295400 w 1295400"/>
              <a:gd name="connsiteY0" fmla="*/ 0 h 1752600"/>
              <a:gd name="connsiteX1" fmla="*/ 990600 w 1295400"/>
              <a:gd name="connsiteY1" fmla="*/ 1219200 h 1752600"/>
              <a:gd name="connsiteX2" fmla="*/ 0 w 1295400"/>
              <a:gd name="connsiteY2" fmla="*/ 1752600 h 1752600"/>
              <a:gd name="connsiteX0" fmla="*/ 1295400 w 1295400"/>
              <a:gd name="connsiteY0" fmla="*/ 0 h 1752600"/>
              <a:gd name="connsiteX1" fmla="*/ 838200 w 1295400"/>
              <a:gd name="connsiteY1" fmla="*/ 1219200 h 1752600"/>
              <a:gd name="connsiteX2" fmla="*/ 0 w 1295400"/>
              <a:gd name="connsiteY2" fmla="*/ 1752600 h 1752600"/>
              <a:gd name="connsiteX0" fmla="*/ 1381760 w 1381760"/>
              <a:gd name="connsiteY0" fmla="*/ 0 h 1600200"/>
              <a:gd name="connsiteX1" fmla="*/ 924560 w 1381760"/>
              <a:gd name="connsiteY1" fmla="*/ 1219200 h 1600200"/>
              <a:gd name="connsiteX2" fmla="*/ 0 w 1381760"/>
              <a:gd name="connsiteY2" fmla="*/ 1600200 h 1600200"/>
            </a:gdLst>
            <a:ahLst/>
            <a:cxnLst>
              <a:cxn ang="0">
                <a:pos x="connsiteX0" y="connsiteY0"/>
              </a:cxn>
              <a:cxn ang="0">
                <a:pos x="connsiteX1" y="connsiteY1"/>
              </a:cxn>
              <a:cxn ang="0">
                <a:pos x="connsiteX2" y="connsiteY2"/>
              </a:cxn>
            </a:cxnLst>
            <a:rect l="l" t="t" r="r" b="b"/>
            <a:pathLst>
              <a:path w="1381760" h="1600200">
                <a:moveTo>
                  <a:pt x="1381760" y="0"/>
                </a:moveTo>
                <a:cubicBezTo>
                  <a:pt x="1259616" y="137832"/>
                  <a:pt x="1154853" y="952500"/>
                  <a:pt x="924560" y="1219200"/>
                </a:cubicBezTo>
                <a:cubicBezTo>
                  <a:pt x="694267" y="1485900"/>
                  <a:pt x="29135" y="1571065"/>
                  <a:pt x="0" y="1600200"/>
                </a:cubicBezTo>
              </a:path>
            </a:pathLst>
          </a:custGeom>
          <a:ln w="50800">
            <a:solidFill>
              <a:schemeClr val="tx1"/>
            </a:solidFill>
            <a:prstDash val="sysDot"/>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Freeform 50"/>
          <p:cNvSpPr/>
          <p:nvPr/>
        </p:nvSpPr>
        <p:spPr>
          <a:xfrm flipH="1">
            <a:off x="4191000" y="3124200"/>
            <a:ext cx="1143001" cy="533400"/>
          </a:xfrm>
          <a:custGeom>
            <a:avLst/>
            <a:gdLst>
              <a:gd name="connsiteX0" fmla="*/ 1196788 w 1196788"/>
              <a:gd name="connsiteY0" fmla="*/ 0 h 685800"/>
              <a:gd name="connsiteX1" fmla="*/ 753035 w 1196788"/>
              <a:gd name="connsiteY1" fmla="*/ 389964 h 685800"/>
              <a:gd name="connsiteX2" fmla="*/ 0 w 1196788"/>
              <a:gd name="connsiteY2" fmla="*/ 685800 h 685800"/>
              <a:gd name="connsiteX0" fmla="*/ 1048732 w 1048732"/>
              <a:gd name="connsiteY0" fmla="*/ 0 h 533400"/>
              <a:gd name="connsiteX1" fmla="*/ 604979 w 1048732"/>
              <a:gd name="connsiteY1" fmla="*/ 389964 h 533400"/>
              <a:gd name="connsiteX2" fmla="*/ 0 w 1048732"/>
              <a:gd name="connsiteY2" fmla="*/ 533400 h 533400"/>
            </a:gdLst>
            <a:ahLst/>
            <a:cxnLst>
              <a:cxn ang="0">
                <a:pos x="connsiteX0" y="connsiteY0"/>
              </a:cxn>
              <a:cxn ang="0">
                <a:pos x="connsiteX1" y="connsiteY1"/>
              </a:cxn>
              <a:cxn ang="0">
                <a:pos x="connsiteX2" y="connsiteY2"/>
              </a:cxn>
            </a:cxnLst>
            <a:rect l="l" t="t" r="r" b="b"/>
            <a:pathLst>
              <a:path w="1048732" h="533400">
                <a:moveTo>
                  <a:pt x="1048732" y="0"/>
                </a:moveTo>
                <a:cubicBezTo>
                  <a:pt x="926588" y="137832"/>
                  <a:pt x="779768" y="301064"/>
                  <a:pt x="604979" y="389964"/>
                </a:cubicBezTo>
                <a:cubicBezTo>
                  <a:pt x="430190" y="478864"/>
                  <a:pt x="29135" y="504265"/>
                  <a:pt x="0" y="533400"/>
                </a:cubicBezTo>
              </a:path>
            </a:pathLst>
          </a:custGeom>
          <a:ln w="50800">
            <a:solidFill>
              <a:schemeClr val="tx1"/>
            </a:solidFill>
            <a:prstDash val="sysDot"/>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2" name="TextBox 51"/>
          <p:cNvSpPr txBox="1"/>
          <p:nvPr/>
        </p:nvSpPr>
        <p:spPr>
          <a:xfrm>
            <a:off x="3124200" y="4648200"/>
            <a:ext cx="1828800" cy="369332"/>
          </a:xfrm>
          <a:prstGeom prst="rect">
            <a:avLst/>
          </a:prstGeom>
          <a:noFill/>
          <a:ln w="38100">
            <a:solidFill>
              <a:schemeClr val="accent1">
                <a:shade val="50000"/>
              </a:schemeClr>
            </a:solidFill>
          </a:ln>
        </p:spPr>
        <p:txBody>
          <a:bodyPr wrap="square" rtlCol="0">
            <a:spAutoFit/>
          </a:bodyPr>
          <a:lstStyle/>
          <a:p>
            <a:r>
              <a:rPr lang="en-US" b="1" dirty="0">
                <a:latin typeface="Garamond" pitchFamily="18" charset="0"/>
              </a:rPr>
              <a:t>2: Assign Tasks</a:t>
            </a:r>
          </a:p>
        </p:txBody>
      </p:sp>
      <p:sp>
        <p:nvSpPr>
          <p:cNvPr id="62" name="Oval 61"/>
          <p:cNvSpPr/>
          <p:nvPr/>
        </p:nvSpPr>
        <p:spPr>
          <a:xfrm>
            <a:off x="228600" y="914400"/>
            <a:ext cx="304800" cy="30480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TextBox 62"/>
          <p:cNvSpPr txBox="1"/>
          <p:nvPr/>
        </p:nvSpPr>
        <p:spPr>
          <a:xfrm>
            <a:off x="609600" y="914400"/>
            <a:ext cx="1828800" cy="369332"/>
          </a:xfrm>
          <a:prstGeom prst="rect">
            <a:avLst/>
          </a:prstGeom>
          <a:noFill/>
        </p:spPr>
        <p:txBody>
          <a:bodyPr wrap="square" rtlCol="0">
            <a:spAutoFit/>
          </a:bodyPr>
          <a:lstStyle/>
          <a:p>
            <a:r>
              <a:rPr lang="en-US" b="1" dirty="0">
                <a:latin typeface="Garamond" pitchFamily="18" charset="0"/>
              </a:rPr>
              <a:t>Map Tasks</a:t>
            </a:r>
          </a:p>
        </p:txBody>
      </p:sp>
      <p:sp>
        <p:nvSpPr>
          <p:cNvPr id="64" name="Oval 63"/>
          <p:cNvSpPr/>
          <p:nvPr/>
        </p:nvSpPr>
        <p:spPr>
          <a:xfrm>
            <a:off x="228600" y="1307068"/>
            <a:ext cx="304800" cy="304800"/>
          </a:xfrm>
          <a:prstGeom prst="ellipse">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TextBox 64"/>
          <p:cNvSpPr txBox="1"/>
          <p:nvPr/>
        </p:nvSpPr>
        <p:spPr>
          <a:xfrm>
            <a:off x="609600" y="1307068"/>
            <a:ext cx="1828800" cy="369332"/>
          </a:xfrm>
          <a:prstGeom prst="rect">
            <a:avLst/>
          </a:prstGeom>
          <a:noFill/>
        </p:spPr>
        <p:txBody>
          <a:bodyPr wrap="square" rtlCol="0">
            <a:spAutoFit/>
          </a:bodyPr>
          <a:lstStyle/>
          <a:p>
            <a:r>
              <a:rPr lang="en-US" b="1" dirty="0">
                <a:latin typeface="Garamond" pitchFamily="18" charset="0"/>
              </a:rPr>
              <a:t>Reduce Tasks</a:t>
            </a:r>
          </a:p>
        </p:txBody>
      </p:sp>
      <p:sp>
        <p:nvSpPr>
          <p:cNvPr id="66" name="Oval 65"/>
          <p:cNvSpPr/>
          <p:nvPr/>
        </p:nvSpPr>
        <p:spPr>
          <a:xfrm>
            <a:off x="3581400" y="2895600"/>
            <a:ext cx="304800" cy="30480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Oval 66"/>
          <p:cNvSpPr/>
          <p:nvPr/>
        </p:nvSpPr>
        <p:spPr>
          <a:xfrm>
            <a:off x="3581400" y="2895600"/>
            <a:ext cx="304800" cy="30480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TextBox 73"/>
          <p:cNvSpPr txBox="1"/>
          <p:nvPr/>
        </p:nvSpPr>
        <p:spPr>
          <a:xfrm flipH="1">
            <a:off x="0" y="1752600"/>
            <a:ext cx="2743200" cy="1200329"/>
          </a:xfrm>
          <a:prstGeom prst="rect">
            <a:avLst/>
          </a:prstGeom>
          <a:noFill/>
        </p:spPr>
        <p:txBody>
          <a:bodyPr wrap="square" rtlCol="0">
            <a:spAutoFit/>
          </a:bodyPr>
          <a:lstStyle/>
          <a:p>
            <a:r>
              <a:rPr lang="en-US" b="1" dirty="0">
                <a:latin typeface="Garamond" pitchFamily="18" charset="0"/>
              </a:rPr>
              <a:t>Data is stored in a Distributed File System (e.g. </a:t>
            </a:r>
            <a:r>
              <a:rPr lang="en-US" b="1" dirty="0" err="1">
                <a:latin typeface="Garamond" pitchFamily="18" charset="0"/>
              </a:rPr>
              <a:t>Hadoop</a:t>
            </a:r>
            <a:r>
              <a:rPr lang="en-US" b="1" dirty="0">
                <a:latin typeface="Garamond" pitchFamily="18" charset="0"/>
              </a:rPr>
              <a:t> Distributed File System)</a:t>
            </a:r>
          </a:p>
        </p:txBody>
      </p:sp>
      <p:grpSp>
        <p:nvGrpSpPr>
          <p:cNvPr id="5" name="Group 79"/>
          <p:cNvGrpSpPr/>
          <p:nvPr/>
        </p:nvGrpSpPr>
        <p:grpSpPr>
          <a:xfrm>
            <a:off x="304800" y="2895600"/>
            <a:ext cx="990600" cy="3733800"/>
            <a:chOff x="304800" y="2895600"/>
            <a:chExt cx="990600" cy="3733800"/>
          </a:xfrm>
        </p:grpSpPr>
        <p:sp>
          <p:nvSpPr>
            <p:cNvPr id="32" name="Flowchart: Document 31"/>
            <p:cNvSpPr/>
            <p:nvPr/>
          </p:nvSpPr>
          <p:spPr>
            <a:xfrm>
              <a:off x="304800" y="2895600"/>
              <a:ext cx="990600" cy="3733800"/>
            </a:xfrm>
            <a:prstGeom prst="flowChartDocumen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Flowchart: Magnetic Disk 75"/>
            <p:cNvSpPr/>
            <p:nvPr/>
          </p:nvSpPr>
          <p:spPr>
            <a:xfrm>
              <a:off x="533400" y="3124200"/>
              <a:ext cx="533400" cy="533400"/>
            </a:xfrm>
            <a:prstGeom prst="flowChartMagneticDisk">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Flowchart: Magnetic Disk 76"/>
            <p:cNvSpPr/>
            <p:nvPr/>
          </p:nvSpPr>
          <p:spPr>
            <a:xfrm>
              <a:off x="533400" y="3733800"/>
              <a:ext cx="533400" cy="533400"/>
            </a:xfrm>
            <a:prstGeom prst="flowChartMagneticDisk">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Flowchart: Magnetic Disk 77"/>
            <p:cNvSpPr/>
            <p:nvPr/>
          </p:nvSpPr>
          <p:spPr>
            <a:xfrm>
              <a:off x="533400" y="4419600"/>
              <a:ext cx="533400" cy="533400"/>
            </a:xfrm>
            <a:prstGeom prst="flowChartMagneticDisk">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Flowchart: Magnetic Disk 78"/>
            <p:cNvSpPr/>
            <p:nvPr/>
          </p:nvSpPr>
          <p:spPr>
            <a:xfrm>
              <a:off x="533400" y="5029200"/>
              <a:ext cx="533400" cy="533400"/>
            </a:xfrm>
            <a:prstGeom prst="flowChartMagneticDisk">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9" name="TextBox 38"/>
          <p:cNvSpPr txBox="1"/>
          <p:nvPr/>
        </p:nvSpPr>
        <p:spPr>
          <a:xfrm>
            <a:off x="6019800" y="1447800"/>
            <a:ext cx="2514600" cy="923330"/>
          </a:xfrm>
          <a:prstGeom prst="rect">
            <a:avLst/>
          </a:prstGeom>
          <a:noFill/>
        </p:spPr>
        <p:txBody>
          <a:bodyPr wrap="square" rtlCol="0">
            <a:spAutoFit/>
          </a:bodyPr>
          <a:lstStyle/>
          <a:p>
            <a:r>
              <a:rPr lang="en-US" b="1" dirty="0">
                <a:latin typeface="Garamond" pitchFamily="18" charset="0"/>
              </a:rPr>
              <a:t>Control level work, e.g. job scheduling and task assignment</a:t>
            </a:r>
          </a:p>
        </p:txBody>
      </p:sp>
      <p:cxnSp>
        <p:nvCxnSpPr>
          <p:cNvPr id="40" name="Straight Arrow Connector 39"/>
          <p:cNvCxnSpPr/>
          <p:nvPr/>
        </p:nvCxnSpPr>
        <p:spPr>
          <a:xfrm rot="10800000" flipV="1">
            <a:off x="4343400" y="2133599"/>
            <a:ext cx="1676400" cy="380999"/>
          </a:xfrm>
          <a:prstGeom prst="straightConnector1">
            <a:avLst/>
          </a:prstGeom>
          <a:ln w="50800">
            <a:solidFill>
              <a:schemeClr val="accent2"/>
            </a:solidFill>
            <a:tailEnd type="arrow"/>
          </a:ln>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2819400" y="5943600"/>
            <a:ext cx="2514600" cy="923330"/>
          </a:xfrm>
          <a:prstGeom prst="rect">
            <a:avLst/>
          </a:prstGeom>
          <a:noFill/>
        </p:spPr>
        <p:txBody>
          <a:bodyPr wrap="square" rtlCol="0">
            <a:spAutoFit/>
          </a:bodyPr>
          <a:lstStyle/>
          <a:p>
            <a:r>
              <a:rPr lang="en-US" b="1" dirty="0">
                <a:latin typeface="Garamond" pitchFamily="18" charset="0"/>
              </a:rPr>
              <a:t>Do data processing work specified by Map or Reduce Function</a:t>
            </a:r>
          </a:p>
        </p:txBody>
      </p:sp>
      <p:cxnSp>
        <p:nvCxnSpPr>
          <p:cNvPr id="54" name="Straight Arrow Connector 53"/>
          <p:cNvCxnSpPr/>
          <p:nvPr/>
        </p:nvCxnSpPr>
        <p:spPr>
          <a:xfrm rot="10800000">
            <a:off x="2895601" y="5410200"/>
            <a:ext cx="990601" cy="533400"/>
          </a:xfrm>
          <a:prstGeom prst="straightConnector1">
            <a:avLst/>
          </a:prstGeom>
          <a:ln w="50800">
            <a:solidFill>
              <a:schemeClr val="accent2"/>
            </a:solidFill>
            <a:tailEnd type="arrow"/>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p:nvPr/>
        </p:nvCxnSpPr>
        <p:spPr>
          <a:xfrm flipV="1">
            <a:off x="3886200" y="5334001"/>
            <a:ext cx="1066800" cy="609599"/>
          </a:xfrm>
          <a:prstGeom prst="straightConnector1">
            <a:avLst/>
          </a:prstGeom>
          <a:ln w="50800">
            <a:solidFill>
              <a:schemeClr val="accent2"/>
            </a:solidFill>
            <a:tailEnd type="arrow"/>
          </a:ln>
        </p:spPr>
        <p:style>
          <a:lnRef idx="1">
            <a:schemeClr val="accent1"/>
          </a:lnRef>
          <a:fillRef idx="0">
            <a:schemeClr val="accent1"/>
          </a:fillRef>
          <a:effectRef idx="0">
            <a:schemeClr val="accent1"/>
          </a:effectRef>
          <a:fontRef idx="minor">
            <a:schemeClr val="tx1"/>
          </a:fontRef>
        </p:style>
      </p:cxnSp>
      <p:sp>
        <p:nvSpPr>
          <p:cNvPr id="60" name="Oval 59"/>
          <p:cNvSpPr/>
          <p:nvPr/>
        </p:nvSpPr>
        <p:spPr>
          <a:xfrm>
            <a:off x="5181600" y="3200400"/>
            <a:ext cx="1143000" cy="3124200"/>
          </a:xfrm>
          <a:prstGeom prst="ellipse">
            <a:avLst/>
          </a:prstGeom>
          <a:noFill/>
          <a:ln w="508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p:cNvSpPr/>
          <p:nvPr/>
        </p:nvSpPr>
        <p:spPr>
          <a:xfrm>
            <a:off x="1600200" y="3276600"/>
            <a:ext cx="1143000" cy="3124200"/>
          </a:xfrm>
          <a:prstGeom prst="ellipse">
            <a:avLst/>
          </a:prstGeom>
          <a:noFill/>
          <a:ln w="508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Box 45"/>
          <p:cNvSpPr txBox="1"/>
          <p:nvPr/>
        </p:nvSpPr>
        <p:spPr>
          <a:xfrm>
            <a:off x="6019800" y="780871"/>
            <a:ext cx="2514600" cy="1200329"/>
          </a:xfrm>
          <a:prstGeom prst="rect">
            <a:avLst/>
          </a:prstGeom>
          <a:noFill/>
          <a:ln w="9525">
            <a:noFill/>
          </a:ln>
        </p:spPr>
        <p:txBody>
          <a:bodyPr wrap="square" rtlCol="0">
            <a:spAutoFit/>
          </a:bodyPr>
          <a:lstStyle/>
          <a:p>
            <a:r>
              <a:rPr lang="en-US" sz="2400" b="1" dirty="0">
                <a:solidFill>
                  <a:schemeClr val="accent2"/>
                </a:solidFill>
                <a:latin typeface="Garamond" pitchFamily="18" charset="0"/>
              </a:rPr>
              <a:t>The execution of a MR job involves 6 steps</a:t>
            </a:r>
          </a:p>
        </p:txBody>
      </p:sp>
      <p:pic>
        <p:nvPicPr>
          <p:cNvPr id="1027" name="Picture 3" descr="e:\Users\yhuai\Desktop\Picture1.png"/>
          <p:cNvPicPr>
            <a:picLocks noChangeAspect="1" noChangeArrowheads="1"/>
          </p:cNvPicPr>
          <p:nvPr/>
        </p:nvPicPr>
        <p:blipFill>
          <a:blip r:embed="rId4" cstate="print"/>
          <a:srcRect/>
          <a:stretch>
            <a:fillRect/>
          </a:stretch>
        </p:blipFill>
        <p:spPr bwMode="auto">
          <a:xfrm>
            <a:off x="3581400" y="1066800"/>
            <a:ext cx="854075" cy="609600"/>
          </a:xfrm>
          <a:prstGeom prst="rect">
            <a:avLst/>
          </a:prstGeom>
          <a:noFill/>
        </p:spPr>
      </p:pic>
    </p:spTree>
    <p:extLst>
      <p:ext uri="{BB962C8B-B14F-4D97-AF65-F5344CB8AC3E}">
        <p14:creationId xmlns:p14="http://schemas.microsoft.com/office/powerpoint/2010/main" val="4239727867"/>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2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9"/>
                                        </p:tgtEl>
                                        <p:attrNameLst>
                                          <p:attrName>style.visibility</p:attrName>
                                        </p:attrNameLst>
                                      </p:cBhvr>
                                      <p:to>
                                        <p:strVal val="visible"/>
                                      </p:to>
                                    </p:set>
                                  </p:childTnLst>
                                </p:cTn>
                              </p:par>
                            </p:childTnLst>
                          </p:cTn>
                        </p:par>
                        <p:par>
                          <p:cTn id="13" fill="hold">
                            <p:stCondLst>
                              <p:cond delay="0"/>
                            </p:stCondLst>
                            <p:childTnLst>
                              <p:par>
                                <p:cTn id="14" presetID="18" presetClass="entr" presetSubtype="12" fill="hold" nodeType="afterEffect">
                                  <p:stCondLst>
                                    <p:cond delay="0"/>
                                  </p:stCondLst>
                                  <p:childTnLst>
                                    <p:set>
                                      <p:cBhvr>
                                        <p:cTn id="15" dur="1" fill="hold">
                                          <p:stCondLst>
                                            <p:cond delay="0"/>
                                          </p:stCondLst>
                                        </p:cTn>
                                        <p:tgtEl>
                                          <p:spTgt spid="40"/>
                                        </p:tgtEl>
                                        <p:attrNameLst>
                                          <p:attrName>style.visibility</p:attrName>
                                        </p:attrNameLst>
                                      </p:cBhvr>
                                      <p:to>
                                        <p:strVal val="visible"/>
                                      </p:to>
                                    </p:set>
                                    <p:animEffect transition="in" filter="strips(downLeft)">
                                      <p:cBhvr>
                                        <p:cTn id="16" dur="500"/>
                                        <p:tgtEl>
                                          <p:spTgt spid="40"/>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61"/>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53"/>
                                        </p:tgtEl>
                                        <p:attrNameLst>
                                          <p:attrName>style.visibility</p:attrName>
                                        </p:attrNameLst>
                                      </p:cBhvr>
                                      <p:to>
                                        <p:strVal val="visible"/>
                                      </p:to>
                                    </p:set>
                                  </p:childTnLst>
                                </p:cTn>
                              </p:par>
                            </p:childTnLst>
                          </p:cTn>
                        </p:par>
                        <p:par>
                          <p:cTn id="45" fill="hold">
                            <p:stCondLst>
                              <p:cond delay="0"/>
                            </p:stCondLst>
                            <p:childTnLst>
                              <p:par>
                                <p:cTn id="46" presetID="22" presetClass="entr" presetSubtype="4" fill="hold" nodeType="afterEffect">
                                  <p:stCondLst>
                                    <p:cond delay="0"/>
                                  </p:stCondLst>
                                  <p:childTnLst>
                                    <p:set>
                                      <p:cBhvr>
                                        <p:cTn id="47" dur="1" fill="hold">
                                          <p:stCondLst>
                                            <p:cond delay="0"/>
                                          </p:stCondLst>
                                        </p:cTn>
                                        <p:tgtEl>
                                          <p:spTgt spid="57"/>
                                        </p:tgtEl>
                                        <p:attrNameLst>
                                          <p:attrName>style.visibility</p:attrName>
                                        </p:attrNameLst>
                                      </p:cBhvr>
                                      <p:to>
                                        <p:strVal val="visible"/>
                                      </p:to>
                                    </p:set>
                                    <p:animEffect transition="in" filter="wipe(down)">
                                      <p:cBhvr>
                                        <p:cTn id="48" dur="500"/>
                                        <p:tgtEl>
                                          <p:spTgt spid="57"/>
                                        </p:tgtEl>
                                      </p:cBhvr>
                                    </p:animEffect>
                                  </p:childTnLst>
                                </p:cTn>
                              </p:par>
                              <p:par>
                                <p:cTn id="49" presetID="22" presetClass="entr" presetSubtype="4" fill="hold" nodeType="withEffect">
                                  <p:stCondLst>
                                    <p:cond delay="0"/>
                                  </p:stCondLst>
                                  <p:childTnLst>
                                    <p:set>
                                      <p:cBhvr>
                                        <p:cTn id="50" dur="1" fill="hold">
                                          <p:stCondLst>
                                            <p:cond delay="0"/>
                                          </p:stCondLst>
                                        </p:cTn>
                                        <p:tgtEl>
                                          <p:spTgt spid="54"/>
                                        </p:tgtEl>
                                        <p:attrNameLst>
                                          <p:attrName>style.visibility</p:attrName>
                                        </p:attrNameLst>
                                      </p:cBhvr>
                                      <p:to>
                                        <p:strVal val="visible"/>
                                      </p:to>
                                    </p:set>
                                    <p:animEffect transition="in" filter="wipe(down)">
                                      <p:cBhvr>
                                        <p:cTn id="51" dur="500"/>
                                        <p:tgtEl>
                                          <p:spTgt spid="54"/>
                                        </p:tgtEl>
                                      </p:cBhvr>
                                    </p:animEffec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74"/>
                                        </p:tgtEl>
                                        <p:attrNameLst>
                                          <p:attrName>style.visibility</p:attrName>
                                        </p:attrNameLst>
                                      </p:cBhvr>
                                      <p:to>
                                        <p:strVal val="visible"/>
                                      </p:to>
                                    </p:set>
                                  </p:childTnLst>
                                </p:cTn>
                              </p:par>
                              <p:par>
                                <p:cTn id="56" presetID="1" presetClass="entr" presetSubtype="0" fill="hold" nodeType="withEffect">
                                  <p:stCondLst>
                                    <p:cond delay="0"/>
                                  </p:stCondLst>
                                  <p:childTnLst>
                                    <p:set>
                                      <p:cBhvr>
                                        <p:cTn id="57" dur="1" fill="hold">
                                          <p:stCondLst>
                                            <p:cond delay="0"/>
                                          </p:stCondLst>
                                        </p:cTn>
                                        <p:tgtEl>
                                          <p:spTgt spid="5"/>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xit" presetSubtype="0" fill="hold" grpId="1" nodeType="clickEffect">
                                  <p:stCondLst>
                                    <p:cond delay="0"/>
                                  </p:stCondLst>
                                  <p:childTnLst>
                                    <p:set>
                                      <p:cBhvr>
                                        <p:cTn id="61" dur="1" fill="hold">
                                          <p:stCondLst>
                                            <p:cond delay="0"/>
                                          </p:stCondLst>
                                        </p:cTn>
                                        <p:tgtEl>
                                          <p:spTgt spid="60"/>
                                        </p:tgtEl>
                                        <p:attrNameLst>
                                          <p:attrName>style.visibility</p:attrName>
                                        </p:attrNameLst>
                                      </p:cBhvr>
                                      <p:to>
                                        <p:strVal val="hidden"/>
                                      </p:to>
                                    </p:set>
                                  </p:childTnLst>
                                </p:cTn>
                              </p:par>
                              <p:par>
                                <p:cTn id="62" presetID="1" presetClass="exit" presetSubtype="0" fill="hold" grpId="1" nodeType="withEffect">
                                  <p:stCondLst>
                                    <p:cond delay="0"/>
                                  </p:stCondLst>
                                  <p:childTnLst>
                                    <p:set>
                                      <p:cBhvr>
                                        <p:cTn id="63" dur="1" fill="hold">
                                          <p:stCondLst>
                                            <p:cond delay="0"/>
                                          </p:stCondLst>
                                        </p:cTn>
                                        <p:tgtEl>
                                          <p:spTgt spid="61"/>
                                        </p:tgtEl>
                                        <p:attrNameLst>
                                          <p:attrName>style.visibility</p:attrName>
                                        </p:attrNameLst>
                                      </p:cBhvr>
                                      <p:to>
                                        <p:strVal val="hidden"/>
                                      </p:to>
                                    </p:set>
                                  </p:childTnLst>
                                </p:cTn>
                              </p:par>
                              <p:par>
                                <p:cTn id="64" presetID="1" presetClass="exit" presetSubtype="0" fill="hold" grpId="1" nodeType="withEffect">
                                  <p:stCondLst>
                                    <p:cond delay="0"/>
                                  </p:stCondLst>
                                  <p:childTnLst>
                                    <p:set>
                                      <p:cBhvr>
                                        <p:cTn id="65" dur="1" fill="hold">
                                          <p:stCondLst>
                                            <p:cond delay="0"/>
                                          </p:stCondLst>
                                        </p:cTn>
                                        <p:tgtEl>
                                          <p:spTgt spid="39"/>
                                        </p:tgtEl>
                                        <p:attrNameLst>
                                          <p:attrName>style.visibility</p:attrName>
                                        </p:attrNameLst>
                                      </p:cBhvr>
                                      <p:to>
                                        <p:strVal val="hidden"/>
                                      </p:to>
                                    </p:set>
                                  </p:childTnLst>
                                </p:cTn>
                              </p:par>
                              <p:par>
                                <p:cTn id="66" presetID="1" presetClass="exit" presetSubtype="0" fill="hold" nodeType="withEffect">
                                  <p:stCondLst>
                                    <p:cond delay="0"/>
                                  </p:stCondLst>
                                  <p:childTnLst>
                                    <p:set>
                                      <p:cBhvr>
                                        <p:cTn id="67" dur="1" fill="hold">
                                          <p:stCondLst>
                                            <p:cond delay="0"/>
                                          </p:stCondLst>
                                        </p:cTn>
                                        <p:tgtEl>
                                          <p:spTgt spid="40"/>
                                        </p:tgtEl>
                                        <p:attrNameLst>
                                          <p:attrName>style.visibility</p:attrName>
                                        </p:attrNameLst>
                                      </p:cBhvr>
                                      <p:to>
                                        <p:strVal val="hidden"/>
                                      </p:to>
                                    </p:set>
                                  </p:childTnLst>
                                </p:cTn>
                              </p:par>
                              <p:par>
                                <p:cTn id="68" presetID="1" presetClass="exit" presetSubtype="0" fill="hold" nodeType="withEffect">
                                  <p:stCondLst>
                                    <p:cond delay="0"/>
                                  </p:stCondLst>
                                  <p:childTnLst>
                                    <p:set>
                                      <p:cBhvr>
                                        <p:cTn id="69" dur="1" fill="hold">
                                          <p:stCondLst>
                                            <p:cond delay="0"/>
                                          </p:stCondLst>
                                        </p:cTn>
                                        <p:tgtEl>
                                          <p:spTgt spid="57"/>
                                        </p:tgtEl>
                                        <p:attrNameLst>
                                          <p:attrName>style.visibility</p:attrName>
                                        </p:attrNameLst>
                                      </p:cBhvr>
                                      <p:to>
                                        <p:strVal val="hidden"/>
                                      </p:to>
                                    </p:set>
                                  </p:childTnLst>
                                </p:cTn>
                              </p:par>
                              <p:par>
                                <p:cTn id="70" presetID="1" presetClass="exit" presetSubtype="0" fill="hold" nodeType="withEffect">
                                  <p:stCondLst>
                                    <p:cond delay="0"/>
                                  </p:stCondLst>
                                  <p:childTnLst>
                                    <p:set>
                                      <p:cBhvr>
                                        <p:cTn id="71" dur="1" fill="hold">
                                          <p:stCondLst>
                                            <p:cond delay="0"/>
                                          </p:stCondLst>
                                        </p:cTn>
                                        <p:tgtEl>
                                          <p:spTgt spid="54"/>
                                        </p:tgtEl>
                                        <p:attrNameLst>
                                          <p:attrName>style.visibility</p:attrName>
                                        </p:attrNameLst>
                                      </p:cBhvr>
                                      <p:to>
                                        <p:strVal val="hidden"/>
                                      </p:to>
                                    </p:set>
                                  </p:childTnLst>
                                </p:cTn>
                              </p:par>
                              <p:par>
                                <p:cTn id="72" presetID="1" presetClass="exit" presetSubtype="0" fill="hold" grpId="1" nodeType="withEffect">
                                  <p:stCondLst>
                                    <p:cond delay="0"/>
                                  </p:stCondLst>
                                  <p:childTnLst>
                                    <p:set>
                                      <p:cBhvr>
                                        <p:cTn id="73" dur="1" fill="hold">
                                          <p:stCondLst>
                                            <p:cond delay="0"/>
                                          </p:stCondLst>
                                        </p:cTn>
                                        <p:tgtEl>
                                          <p:spTgt spid="53"/>
                                        </p:tgtEl>
                                        <p:attrNameLst>
                                          <p:attrName>style.visibility</p:attrName>
                                        </p:attrNameLst>
                                      </p:cBhvr>
                                      <p:to>
                                        <p:strVal val="hidden"/>
                                      </p:to>
                                    </p:set>
                                  </p:childTnLst>
                                </p:cTn>
                              </p:par>
                            </p:childTnLst>
                          </p:cTn>
                        </p:par>
                      </p:childTnLst>
                    </p:cTn>
                  </p:par>
                  <p:par>
                    <p:cTn id="74" fill="hold">
                      <p:stCondLst>
                        <p:cond delay="indefinite"/>
                      </p:stCondLst>
                      <p:childTnLst>
                        <p:par>
                          <p:cTn id="75" fill="hold">
                            <p:stCondLst>
                              <p:cond delay="0"/>
                            </p:stCondLst>
                            <p:childTnLst>
                              <p:par>
                                <p:cTn id="76" presetID="1" presetClass="entr" presetSubtype="0" fill="hold" grpId="0" nodeType="clickEffect">
                                  <p:stCondLst>
                                    <p:cond delay="0"/>
                                  </p:stCondLst>
                                  <p:childTnLst>
                                    <p:set>
                                      <p:cBhvr>
                                        <p:cTn id="77" dur="1" fill="hold">
                                          <p:stCondLst>
                                            <p:cond delay="0"/>
                                          </p:stCondLst>
                                        </p:cTn>
                                        <p:tgtEl>
                                          <p:spTgt spid="7"/>
                                        </p:tgtEl>
                                        <p:attrNameLst>
                                          <p:attrName>style.visibility</p:attrName>
                                        </p:attrNameLst>
                                      </p:cBhvr>
                                      <p:to>
                                        <p:strVal val="visible"/>
                                      </p:to>
                                    </p:set>
                                  </p:childTnLst>
                                </p:cTn>
                              </p:par>
                              <p:par>
                                <p:cTn id="78" presetID="1" presetClass="entr" presetSubtype="0" fill="hold" nodeType="withEffect">
                                  <p:stCondLst>
                                    <p:cond delay="0"/>
                                  </p:stCondLst>
                                  <p:childTnLst>
                                    <p:set>
                                      <p:cBhvr>
                                        <p:cTn id="79" dur="1" fill="hold">
                                          <p:stCondLst>
                                            <p:cond delay="0"/>
                                          </p:stCondLst>
                                        </p:cTn>
                                        <p:tgtEl>
                                          <p:spTgt spid="1027"/>
                                        </p:tgtEl>
                                        <p:attrNameLst>
                                          <p:attrName>style.visibility</p:attrName>
                                        </p:attrNameLst>
                                      </p:cBhvr>
                                      <p:to>
                                        <p:strVal val="visible"/>
                                      </p:to>
                                    </p:set>
                                  </p:childTnLst>
                                </p:cTn>
                              </p:par>
                              <p:par>
                                <p:cTn id="80" presetID="1" presetClass="entr" presetSubtype="0" fill="hold" grpId="0" nodeType="withEffect">
                                  <p:stCondLst>
                                    <p:cond delay="0"/>
                                  </p:stCondLst>
                                  <p:childTnLst>
                                    <p:set>
                                      <p:cBhvr>
                                        <p:cTn id="81" dur="1" fill="hold">
                                          <p:stCondLst>
                                            <p:cond delay="0"/>
                                          </p:stCondLst>
                                        </p:cTn>
                                        <p:tgtEl>
                                          <p:spTgt spid="46"/>
                                        </p:tgtEl>
                                        <p:attrNameLst>
                                          <p:attrName>style.visibility</p:attrName>
                                        </p:attrNameLst>
                                      </p:cBhvr>
                                      <p:to>
                                        <p:strVal val="visible"/>
                                      </p:to>
                                    </p:set>
                                  </p:childTnLst>
                                </p:cTn>
                              </p:par>
                            </p:childTnLst>
                          </p:cTn>
                        </p:par>
                      </p:childTnLst>
                    </p:cTn>
                  </p:par>
                  <p:par>
                    <p:cTn id="82" fill="hold">
                      <p:stCondLst>
                        <p:cond delay="indefinite"/>
                      </p:stCondLst>
                      <p:childTnLst>
                        <p:par>
                          <p:cTn id="83" fill="hold">
                            <p:stCondLst>
                              <p:cond delay="0"/>
                            </p:stCondLst>
                            <p:childTnLst>
                              <p:par>
                                <p:cTn id="84" presetID="22" presetClass="entr" presetSubtype="1" fill="hold" nodeType="clickEffect">
                                  <p:stCondLst>
                                    <p:cond delay="0"/>
                                  </p:stCondLst>
                                  <p:childTnLst>
                                    <p:set>
                                      <p:cBhvr>
                                        <p:cTn id="85" dur="1" fill="hold">
                                          <p:stCondLst>
                                            <p:cond delay="0"/>
                                          </p:stCondLst>
                                        </p:cTn>
                                        <p:tgtEl>
                                          <p:spTgt spid="14"/>
                                        </p:tgtEl>
                                        <p:attrNameLst>
                                          <p:attrName>style.visibility</p:attrName>
                                        </p:attrNameLst>
                                      </p:cBhvr>
                                      <p:to>
                                        <p:strVal val="visible"/>
                                      </p:to>
                                    </p:set>
                                    <p:animEffect transition="in" filter="wipe(up)">
                                      <p:cBhvr>
                                        <p:cTn id="86" dur="500"/>
                                        <p:tgtEl>
                                          <p:spTgt spid="14"/>
                                        </p:tgtEl>
                                      </p:cBhvr>
                                    </p:animEffect>
                                  </p:childTnLst>
                                </p:cTn>
                              </p:par>
                              <p:par>
                                <p:cTn id="87" presetID="1" presetClass="entr" presetSubtype="0" fill="hold" grpId="0" nodeType="withEffect">
                                  <p:stCondLst>
                                    <p:cond delay="0"/>
                                  </p:stCondLst>
                                  <p:childTnLst>
                                    <p:set>
                                      <p:cBhvr>
                                        <p:cTn id="88" dur="1" fill="hold">
                                          <p:stCondLst>
                                            <p:cond delay="0"/>
                                          </p:stCondLst>
                                        </p:cTn>
                                        <p:tgtEl>
                                          <p:spTgt spid="16"/>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52"/>
                                        </p:tgtEl>
                                        <p:attrNameLst>
                                          <p:attrName>style.visibility</p:attrName>
                                        </p:attrNameLst>
                                      </p:cBhvr>
                                      <p:to>
                                        <p:strVal val="visible"/>
                                      </p:to>
                                    </p:set>
                                  </p:childTnLst>
                                </p:cTn>
                              </p:par>
                            </p:childTnLst>
                          </p:cTn>
                        </p:par>
                        <p:par>
                          <p:cTn id="93" fill="hold">
                            <p:stCondLst>
                              <p:cond delay="0"/>
                            </p:stCondLst>
                            <p:childTnLst>
                              <p:par>
                                <p:cTn id="94" presetID="1" presetClass="entr" presetSubtype="0" fill="hold" nodeType="afterEffect">
                                  <p:stCondLst>
                                    <p:cond delay="0"/>
                                  </p:stCondLst>
                                  <p:childTnLst>
                                    <p:set>
                                      <p:cBhvr>
                                        <p:cTn id="95" dur="1" fill="hold">
                                          <p:stCondLst>
                                            <p:cond delay="0"/>
                                          </p:stCondLst>
                                        </p:cTn>
                                        <p:tgtEl>
                                          <p:spTgt spid="63"/>
                                        </p:tgtEl>
                                        <p:attrNameLst>
                                          <p:attrName>style.visibility</p:attrName>
                                        </p:attrNameLst>
                                      </p:cBhvr>
                                      <p:to>
                                        <p:strVal val="visible"/>
                                      </p:to>
                                    </p:set>
                                  </p:childTnLst>
                                </p:cTn>
                              </p:par>
                              <p:par>
                                <p:cTn id="96" presetID="1" presetClass="entr" presetSubtype="0" fill="hold" grpId="0" nodeType="withEffect">
                                  <p:stCondLst>
                                    <p:cond delay="0"/>
                                  </p:stCondLst>
                                  <p:childTnLst>
                                    <p:set>
                                      <p:cBhvr>
                                        <p:cTn id="97" dur="1" fill="hold">
                                          <p:stCondLst>
                                            <p:cond delay="0"/>
                                          </p:stCondLst>
                                        </p:cTn>
                                        <p:tgtEl>
                                          <p:spTgt spid="62"/>
                                        </p:tgtEl>
                                        <p:attrNameLst>
                                          <p:attrName>style.visibility</p:attrName>
                                        </p:attrNameLst>
                                      </p:cBhvr>
                                      <p:to>
                                        <p:strVal val="visible"/>
                                      </p:to>
                                    </p:set>
                                  </p:childTnLst>
                                </p:cTn>
                              </p:par>
                              <p:par>
                                <p:cTn id="98" presetID="1" presetClass="entr" presetSubtype="0" fill="hold" grpId="0" nodeType="withEffect">
                                  <p:stCondLst>
                                    <p:cond delay="0"/>
                                  </p:stCondLst>
                                  <p:childTnLst>
                                    <p:set>
                                      <p:cBhvr>
                                        <p:cTn id="99" dur="1" fill="hold">
                                          <p:stCondLst>
                                            <p:cond delay="0"/>
                                          </p:stCondLst>
                                        </p:cTn>
                                        <p:tgtEl>
                                          <p:spTgt spid="64"/>
                                        </p:tgtEl>
                                        <p:attrNameLst>
                                          <p:attrName>style.visibility</p:attrName>
                                        </p:attrNameLst>
                                      </p:cBhvr>
                                      <p:to>
                                        <p:strVal val="visible"/>
                                      </p:to>
                                    </p:set>
                                  </p:childTnLst>
                                </p:cTn>
                              </p:par>
                              <p:par>
                                <p:cTn id="100" presetID="1" presetClass="entr" presetSubtype="0" fill="hold" grpId="0" nodeType="withEffect">
                                  <p:stCondLst>
                                    <p:cond delay="0"/>
                                  </p:stCondLst>
                                  <p:childTnLst>
                                    <p:set>
                                      <p:cBhvr>
                                        <p:cTn id="101" dur="1" fill="hold">
                                          <p:stCondLst>
                                            <p:cond delay="0"/>
                                          </p:stCondLst>
                                        </p:cTn>
                                        <p:tgtEl>
                                          <p:spTgt spid="65"/>
                                        </p:tgtEl>
                                        <p:attrNameLst>
                                          <p:attrName>style.visibility</p:attrName>
                                        </p:attrNameLst>
                                      </p:cBhvr>
                                      <p:to>
                                        <p:strVal val="visible"/>
                                      </p:to>
                                    </p:set>
                                  </p:childTnLst>
                                </p:cTn>
                              </p:par>
                            </p:childTnLst>
                          </p:cTn>
                        </p:par>
                      </p:childTnLst>
                    </p:cTn>
                  </p:par>
                  <p:par>
                    <p:cTn id="102" fill="hold">
                      <p:stCondLst>
                        <p:cond delay="indefinite"/>
                      </p:stCondLst>
                      <p:childTnLst>
                        <p:par>
                          <p:cTn id="103" fill="hold">
                            <p:stCondLst>
                              <p:cond delay="0"/>
                            </p:stCondLst>
                            <p:childTnLst>
                              <p:par>
                                <p:cTn id="104" presetID="22" presetClass="entr" presetSubtype="1" fill="hold" grpId="0" nodeType="clickEffect">
                                  <p:stCondLst>
                                    <p:cond delay="0"/>
                                  </p:stCondLst>
                                  <p:childTnLst>
                                    <p:set>
                                      <p:cBhvr>
                                        <p:cTn id="105" dur="1" fill="hold">
                                          <p:stCondLst>
                                            <p:cond delay="0"/>
                                          </p:stCondLst>
                                        </p:cTn>
                                        <p:tgtEl>
                                          <p:spTgt spid="48"/>
                                        </p:tgtEl>
                                        <p:attrNameLst>
                                          <p:attrName>style.visibility</p:attrName>
                                        </p:attrNameLst>
                                      </p:cBhvr>
                                      <p:to>
                                        <p:strVal val="visible"/>
                                      </p:to>
                                    </p:set>
                                    <p:animEffect transition="in" filter="wipe(up)">
                                      <p:cBhvr>
                                        <p:cTn id="106" dur="500"/>
                                        <p:tgtEl>
                                          <p:spTgt spid="48"/>
                                        </p:tgtEl>
                                      </p:cBhvr>
                                    </p:animEffect>
                                  </p:childTnLst>
                                </p:cTn>
                              </p:par>
                              <p:par>
                                <p:cTn id="107" presetID="22" presetClass="entr" presetSubtype="1" fill="hold" grpId="0" nodeType="withEffect">
                                  <p:stCondLst>
                                    <p:cond delay="0"/>
                                  </p:stCondLst>
                                  <p:childTnLst>
                                    <p:set>
                                      <p:cBhvr>
                                        <p:cTn id="108" dur="1" fill="hold">
                                          <p:stCondLst>
                                            <p:cond delay="0"/>
                                          </p:stCondLst>
                                        </p:cTn>
                                        <p:tgtEl>
                                          <p:spTgt spid="49"/>
                                        </p:tgtEl>
                                        <p:attrNameLst>
                                          <p:attrName>style.visibility</p:attrName>
                                        </p:attrNameLst>
                                      </p:cBhvr>
                                      <p:to>
                                        <p:strVal val="visible"/>
                                      </p:to>
                                    </p:set>
                                    <p:animEffect transition="in" filter="wipe(up)">
                                      <p:cBhvr>
                                        <p:cTn id="109" dur="500"/>
                                        <p:tgtEl>
                                          <p:spTgt spid="49"/>
                                        </p:tgtEl>
                                      </p:cBhvr>
                                    </p:animEffect>
                                  </p:childTnLst>
                                </p:cTn>
                              </p:par>
                              <p:par>
                                <p:cTn id="110" presetID="22" presetClass="entr" presetSubtype="1" fill="hold" grpId="0" nodeType="withEffect">
                                  <p:stCondLst>
                                    <p:cond delay="0"/>
                                  </p:stCondLst>
                                  <p:childTnLst>
                                    <p:set>
                                      <p:cBhvr>
                                        <p:cTn id="111" dur="1" fill="hold">
                                          <p:stCondLst>
                                            <p:cond delay="0"/>
                                          </p:stCondLst>
                                        </p:cTn>
                                        <p:tgtEl>
                                          <p:spTgt spid="50"/>
                                        </p:tgtEl>
                                        <p:attrNameLst>
                                          <p:attrName>style.visibility</p:attrName>
                                        </p:attrNameLst>
                                      </p:cBhvr>
                                      <p:to>
                                        <p:strVal val="visible"/>
                                      </p:to>
                                    </p:set>
                                    <p:animEffect transition="in" filter="wipe(up)">
                                      <p:cBhvr>
                                        <p:cTn id="112" dur="500"/>
                                        <p:tgtEl>
                                          <p:spTgt spid="50"/>
                                        </p:tgtEl>
                                      </p:cBhvr>
                                    </p:animEffect>
                                  </p:childTnLst>
                                </p:cTn>
                              </p:par>
                              <p:par>
                                <p:cTn id="113" presetID="22" presetClass="entr" presetSubtype="1" fill="hold" grpId="0" nodeType="withEffect">
                                  <p:stCondLst>
                                    <p:cond delay="0"/>
                                  </p:stCondLst>
                                  <p:childTnLst>
                                    <p:set>
                                      <p:cBhvr>
                                        <p:cTn id="114" dur="1" fill="hold">
                                          <p:stCondLst>
                                            <p:cond delay="0"/>
                                          </p:stCondLst>
                                        </p:cTn>
                                        <p:tgtEl>
                                          <p:spTgt spid="51"/>
                                        </p:tgtEl>
                                        <p:attrNameLst>
                                          <p:attrName>style.visibility</p:attrName>
                                        </p:attrNameLst>
                                      </p:cBhvr>
                                      <p:to>
                                        <p:strVal val="visible"/>
                                      </p:to>
                                    </p:set>
                                    <p:animEffect transition="in" filter="wipe(up)">
                                      <p:cBhvr>
                                        <p:cTn id="115" dur="500"/>
                                        <p:tgtEl>
                                          <p:spTgt spid="51"/>
                                        </p:tgtEl>
                                      </p:cBhvr>
                                    </p:animEffect>
                                  </p:childTnLst>
                                </p:cTn>
                              </p:par>
                              <p:par>
                                <p:cTn id="116" presetID="1" presetClass="entr" presetSubtype="0" fill="hold" grpId="0" nodeType="withEffect">
                                  <p:stCondLst>
                                    <p:cond delay="0"/>
                                  </p:stCondLst>
                                  <p:childTnLst>
                                    <p:set>
                                      <p:cBhvr>
                                        <p:cTn id="117" dur="1" fill="hold">
                                          <p:stCondLst>
                                            <p:cond delay="0"/>
                                          </p:stCondLst>
                                        </p:cTn>
                                        <p:tgtEl>
                                          <p:spTgt spid="68"/>
                                        </p:tgtEl>
                                        <p:attrNameLst>
                                          <p:attrName>style.visibility</p:attrName>
                                        </p:attrNameLst>
                                      </p:cBhvr>
                                      <p:to>
                                        <p:strVal val="visible"/>
                                      </p:to>
                                    </p:set>
                                  </p:childTnLst>
                                </p:cTn>
                              </p:par>
                              <p:par>
                                <p:cTn id="118" presetID="1" presetClass="entr" presetSubtype="0" fill="hold" nodeType="withEffect">
                                  <p:stCondLst>
                                    <p:cond delay="0"/>
                                  </p:stCondLst>
                                  <p:childTnLst>
                                    <p:set>
                                      <p:cBhvr>
                                        <p:cTn id="119" dur="1" fill="hold">
                                          <p:stCondLst>
                                            <p:cond delay="0"/>
                                          </p:stCondLst>
                                        </p:cTn>
                                        <p:tgtEl>
                                          <p:spTgt spid="69"/>
                                        </p:tgtEl>
                                        <p:attrNameLst>
                                          <p:attrName>style.visibility</p:attrName>
                                        </p:attrNameLst>
                                      </p:cBhvr>
                                      <p:to>
                                        <p:strVal val="visible"/>
                                      </p:to>
                                    </p:set>
                                  </p:childTnLst>
                                </p:cTn>
                              </p:par>
                              <p:par>
                                <p:cTn id="120" presetID="1" presetClass="entr" presetSubtype="0" fill="hold" nodeType="withEffect">
                                  <p:stCondLst>
                                    <p:cond delay="0"/>
                                  </p:stCondLst>
                                  <p:childTnLst>
                                    <p:set>
                                      <p:cBhvr>
                                        <p:cTn id="121" dur="1" fill="hold">
                                          <p:stCondLst>
                                            <p:cond delay="0"/>
                                          </p:stCondLst>
                                        </p:cTn>
                                        <p:tgtEl>
                                          <p:spTgt spid="67"/>
                                        </p:tgtEl>
                                        <p:attrNameLst>
                                          <p:attrName>style.visibility</p:attrName>
                                        </p:attrNameLst>
                                      </p:cBhvr>
                                      <p:to>
                                        <p:strVal val="visible"/>
                                      </p:to>
                                    </p:set>
                                  </p:childTnLst>
                                </p:cTn>
                              </p:par>
                              <p:par>
                                <p:cTn id="122" presetID="1" presetClass="entr" presetSubtype="0" fill="hold" nodeType="withEffect">
                                  <p:stCondLst>
                                    <p:cond delay="0"/>
                                  </p:stCondLst>
                                  <p:childTnLst>
                                    <p:set>
                                      <p:cBhvr>
                                        <p:cTn id="123" dur="1" fill="hold">
                                          <p:stCondLst>
                                            <p:cond delay="0"/>
                                          </p:stCondLst>
                                        </p:cTn>
                                        <p:tgtEl>
                                          <p:spTgt spid="66"/>
                                        </p:tgtEl>
                                        <p:attrNameLst>
                                          <p:attrName>style.visibility</p:attrName>
                                        </p:attrNameLst>
                                      </p:cBhvr>
                                      <p:to>
                                        <p:strVal val="visible"/>
                                      </p:to>
                                    </p:set>
                                  </p:childTnLst>
                                </p:cTn>
                              </p:par>
                              <p:par>
                                <p:cTn id="124" presetID="0" presetClass="path" presetSubtype="0" accel="50000" decel="50000" fill="hold" grpId="1" nodeType="withEffect">
                                  <p:stCondLst>
                                    <p:cond delay="0"/>
                                  </p:stCondLst>
                                  <p:childTnLst>
                                    <p:animMotion origin="layout" path="M 0 0 C 0.02378 0.03773 0.04757 0.07569 0.0809 0.09421 C 0.11424 0.11273 0.18142 0.10833 0.2 0.1118 " pathEditMode="relative" ptsTypes="aaA">
                                      <p:cBhvr>
                                        <p:cTn id="125" dur="500" fill="hold"/>
                                        <p:tgtEl>
                                          <p:spTgt spid="68"/>
                                        </p:tgtEl>
                                        <p:attrNameLst>
                                          <p:attrName>ppt_x</p:attrName>
                                          <p:attrName>ppt_y</p:attrName>
                                        </p:attrNameLst>
                                      </p:cBhvr>
                                    </p:animMotion>
                                  </p:childTnLst>
                                </p:cTn>
                              </p:par>
                              <p:par>
                                <p:cTn id="126" presetID="0" presetClass="path" presetSubtype="0" accel="50000" decel="50000" fill="hold" grpId="0" nodeType="withEffect">
                                  <p:stCondLst>
                                    <p:cond delay="0"/>
                                  </p:stCondLst>
                                  <p:childTnLst>
                                    <p:animMotion origin="layout" path="M 0 0 C -0.00122 0.08657 -0.00243 0.17315 0.0309 0.21759 C 0.06424 0.26204 0.17205 0.25856 0.2 0.26667 " pathEditMode="relative" ptsTypes="aaA">
                                      <p:cBhvr>
                                        <p:cTn id="127" dur="500" fill="hold"/>
                                        <p:tgtEl>
                                          <p:spTgt spid="69"/>
                                        </p:tgtEl>
                                        <p:attrNameLst>
                                          <p:attrName>ppt_x</p:attrName>
                                          <p:attrName>ppt_y</p:attrName>
                                        </p:attrNameLst>
                                      </p:cBhvr>
                                    </p:animMotion>
                                  </p:childTnLst>
                                </p:cTn>
                              </p:par>
                              <p:par>
                                <p:cTn id="128" presetID="0" presetClass="path" presetSubtype="0" accel="50000" decel="50000" fill="hold" grpId="0" nodeType="withEffect">
                                  <p:stCondLst>
                                    <p:cond delay="0"/>
                                  </p:stCondLst>
                                  <p:childTnLst>
                                    <p:animMotion origin="layout" path="M -3.33333E-6 -4.44444E-6 C -0.02847 0.04838 -0.05677 0.09676 -0.08177 0.12061 C -0.10677 0.14445 -0.12847 0.14329 -0.15 0.1426 " pathEditMode="relative" rAng="0" ptsTypes="aaA">
                                      <p:cBhvr>
                                        <p:cTn id="129" dur="500" fill="hold"/>
                                        <p:tgtEl>
                                          <p:spTgt spid="67"/>
                                        </p:tgtEl>
                                        <p:attrNameLst>
                                          <p:attrName>ppt_x</p:attrName>
                                          <p:attrName>ppt_y</p:attrName>
                                        </p:attrNameLst>
                                      </p:cBhvr>
                                      <p:rCtr x="-7500" y="7200"/>
                                    </p:animMotion>
                                  </p:childTnLst>
                                </p:cTn>
                              </p:par>
                              <p:par>
                                <p:cTn id="130" presetID="0" presetClass="path" presetSubtype="0" accel="50000" decel="50000" fill="hold" grpId="0" nodeType="withEffect">
                                  <p:stCondLst>
                                    <p:cond delay="0"/>
                                  </p:stCondLst>
                                  <p:childTnLst>
                                    <p:animMotion origin="layout" path="M -3.33333E-6 -4.44444E-6 C -0.0085 0.08797 -0.01701 0.17639 -0.04201 0.22477 C -0.06701 0.27292 -0.12812 0.27524 -0.15 0.28889 " pathEditMode="relative" rAng="0" ptsTypes="aaA">
                                      <p:cBhvr>
                                        <p:cTn id="131" dur="500" fill="hold"/>
                                        <p:tgtEl>
                                          <p:spTgt spid="66"/>
                                        </p:tgtEl>
                                        <p:attrNameLst>
                                          <p:attrName>ppt_x</p:attrName>
                                          <p:attrName>ppt_y</p:attrName>
                                        </p:attrNameLst>
                                      </p:cBhvr>
                                      <p:rCtr x="-7500" y="14400"/>
                                    </p:animMotion>
                                  </p:childTnLst>
                                </p:cTn>
                              </p:par>
                            </p:childTnLst>
                          </p:cTn>
                        </p:par>
                        <p:par>
                          <p:cTn id="132" fill="hold">
                            <p:stCondLst>
                              <p:cond delay="500"/>
                            </p:stCondLst>
                            <p:childTnLst>
                              <p:par>
                                <p:cTn id="133" presetID="1" presetClass="exit" presetSubtype="0" fill="hold" nodeType="afterEffect">
                                  <p:stCondLst>
                                    <p:cond delay="0"/>
                                  </p:stCondLst>
                                  <p:childTnLst>
                                    <p:set>
                                      <p:cBhvr>
                                        <p:cTn id="134" dur="1" fill="hold">
                                          <p:stCondLst>
                                            <p:cond delay="0"/>
                                          </p:stCondLst>
                                        </p:cTn>
                                        <p:tgtEl>
                                          <p:spTgt spid="21"/>
                                        </p:tgtEl>
                                        <p:attrNameLst>
                                          <p:attrName>style.visibility</p:attrName>
                                        </p:attrNameLst>
                                      </p:cBhvr>
                                      <p:to>
                                        <p:strVal val="hidden"/>
                                      </p:to>
                                    </p:set>
                                  </p:childTnLst>
                                </p:cTn>
                              </p:par>
                              <p:par>
                                <p:cTn id="135" presetID="1" presetClass="exit" presetSubtype="0" fill="hold" nodeType="withEffect">
                                  <p:stCondLst>
                                    <p:cond delay="0"/>
                                  </p:stCondLst>
                                  <p:childTnLst>
                                    <p:set>
                                      <p:cBhvr>
                                        <p:cTn id="136" dur="1" fill="hold">
                                          <p:stCondLst>
                                            <p:cond delay="0"/>
                                          </p:stCondLst>
                                        </p:cTn>
                                        <p:tgtEl>
                                          <p:spTgt spid="4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 grpId="0" animBg="1"/>
      <p:bldP spid="68" grpId="1" animBg="1"/>
      <p:bldP spid="69" grpId="0" animBg="1"/>
      <p:bldP spid="7" grpId="0"/>
      <p:bldP spid="10" grpId="0"/>
      <p:bldP spid="16" grpId="0" animBg="1"/>
      <p:bldP spid="18" grpId="0"/>
      <p:bldP spid="44" grpId="0"/>
      <p:bldP spid="48" grpId="0" animBg="1"/>
      <p:bldP spid="49" grpId="0" animBg="1"/>
      <p:bldP spid="50" grpId="0" animBg="1"/>
      <p:bldP spid="51" grpId="0" animBg="1"/>
      <p:bldP spid="52" grpId="0" animBg="1"/>
      <p:bldP spid="62" grpId="0" animBg="1"/>
      <p:bldP spid="64" grpId="0" animBg="1"/>
      <p:bldP spid="65" grpId="0"/>
      <p:bldP spid="66" grpId="0" animBg="1"/>
      <p:bldP spid="67" grpId="0" animBg="1"/>
      <p:bldP spid="74" grpId="0"/>
      <p:bldP spid="39" grpId="0"/>
      <p:bldP spid="39" grpId="1"/>
      <p:bldP spid="53" grpId="0"/>
      <p:bldP spid="53" grpId="1"/>
      <p:bldP spid="60" grpId="0" animBg="1"/>
      <p:bldP spid="60" grpId="1" animBg="1"/>
      <p:bldP spid="61" grpId="0" animBg="1"/>
      <p:bldP spid="61" grpId="1" animBg="1"/>
      <p:bldP spid="46" grpId="0"/>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6" name="Straight Arrow Connector 105"/>
          <p:cNvCxnSpPr/>
          <p:nvPr/>
        </p:nvCxnSpPr>
        <p:spPr>
          <a:xfrm>
            <a:off x="3505200" y="4114800"/>
            <a:ext cx="1143000" cy="457200"/>
          </a:xfrm>
          <a:prstGeom prst="straightConnector1">
            <a:avLst/>
          </a:prstGeom>
          <a:ln w="50800">
            <a:solidFill>
              <a:schemeClr val="tx1"/>
            </a:solidFill>
            <a:tailEnd type="stealth"/>
          </a:ln>
        </p:spPr>
        <p:style>
          <a:lnRef idx="1">
            <a:schemeClr val="accent1"/>
          </a:lnRef>
          <a:fillRef idx="0">
            <a:schemeClr val="accent1"/>
          </a:fillRef>
          <a:effectRef idx="0">
            <a:schemeClr val="accent1"/>
          </a:effectRef>
          <a:fontRef idx="minor">
            <a:schemeClr val="tx1"/>
          </a:fontRef>
        </p:style>
      </p:cxnSp>
      <p:cxnSp>
        <p:nvCxnSpPr>
          <p:cNvPr id="107" name="Straight Arrow Connector 106"/>
          <p:cNvCxnSpPr/>
          <p:nvPr/>
        </p:nvCxnSpPr>
        <p:spPr>
          <a:xfrm flipV="1">
            <a:off x="3581400" y="4114800"/>
            <a:ext cx="1066800" cy="533400"/>
          </a:xfrm>
          <a:prstGeom prst="straightConnector1">
            <a:avLst/>
          </a:prstGeom>
          <a:ln w="50800">
            <a:solidFill>
              <a:schemeClr val="tx1"/>
            </a:solidFill>
            <a:tailEnd type="stealth"/>
          </a:ln>
        </p:spPr>
        <p:style>
          <a:lnRef idx="1">
            <a:schemeClr val="accent1"/>
          </a:lnRef>
          <a:fillRef idx="0">
            <a:schemeClr val="accent1"/>
          </a:fillRef>
          <a:effectRef idx="0">
            <a:schemeClr val="accent1"/>
          </a:effectRef>
          <a:fontRef idx="minor">
            <a:schemeClr val="tx1"/>
          </a:fontRef>
        </p:style>
      </p:cxnSp>
      <p:cxnSp>
        <p:nvCxnSpPr>
          <p:cNvPr id="108" name="Straight Arrow Connector 107"/>
          <p:cNvCxnSpPr/>
          <p:nvPr/>
        </p:nvCxnSpPr>
        <p:spPr>
          <a:xfrm>
            <a:off x="3505200" y="3429000"/>
            <a:ext cx="1143000" cy="1588"/>
          </a:xfrm>
          <a:prstGeom prst="straightConnector1">
            <a:avLst/>
          </a:prstGeom>
          <a:ln w="50800">
            <a:solidFill>
              <a:schemeClr val="tx1"/>
            </a:solidFill>
            <a:tailEnd type="stealth"/>
          </a:ln>
        </p:spPr>
        <p:style>
          <a:lnRef idx="1">
            <a:schemeClr val="accent1"/>
          </a:lnRef>
          <a:fillRef idx="0">
            <a:schemeClr val="accent1"/>
          </a:fillRef>
          <a:effectRef idx="0">
            <a:schemeClr val="accent1"/>
          </a:effectRef>
          <a:fontRef idx="minor">
            <a:schemeClr val="tx1"/>
          </a:fontRef>
        </p:style>
      </p:cxnSp>
      <p:cxnSp>
        <p:nvCxnSpPr>
          <p:cNvPr id="109" name="Straight Arrow Connector 108"/>
          <p:cNvCxnSpPr/>
          <p:nvPr/>
        </p:nvCxnSpPr>
        <p:spPr>
          <a:xfrm>
            <a:off x="3581400" y="5484812"/>
            <a:ext cx="1066800" cy="1588"/>
          </a:xfrm>
          <a:prstGeom prst="straightConnector1">
            <a:avLst/>
          </a:prstGeom>
          <a:ln w="50800">
            <a:solidFill>
              <a:schemeClr val="tx1"/>
            </a:solidFill>
            <a:tailEnd type="stealth"/>
          </a:ln>
        </p:spPr>
        <p:style>
          <a:lnRef idx="1">
            <a:schemeClr val="accent1"/>
          </a:lnRef>
          <a:fillRef idx="0">
            <a:schemeClr val="accent1"/>
          </a:fillRef>
          <a:effectRef idx="0">
            <a:schemeClr val="accent1"/>
          </a:effectRef>
          <a:fontRef idx="minor">
            <a:schemeClr val="tx1"/>
          </a:fontRef>
        </p:style>
      </p:cxnSp>
      <p:sp>
        <p:nvSpPr>
          <p:cNvPr id="102" name="Flowchart: Magnetic Disk 101"/>
          <p:cNvSpPr/>
          <p:nvPr/>
        </p:nvSpPr>
        <p:spPr>
          <a:xfrm>
            <a:off x="2895600" y="3124200"/>
            <a:ext cx="533400" cy="533400"/>
          </a:xfrm>
          <a:prstGeom prst="flowChartMagneticDisk">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Flowchart: Magnetic Disk 102"/>
          <p:cNvSpPr/>
          <p:nvPr/>
        </p:nvSpPr>
        <p:spPr>
          <a:xfrm>
            <a:off x="2895600" y="3810000"/>
            <a:ext cx="533400" cy="533400"/>
          </a:xfrm>
          <a:prstGeom prst="flowChartMagneticDisk">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Flowchart: Magnetic Disk 103"/>
          <p:cNvSpPr/>
          <p:nvPr/>
        </p:nvSpPr>
        <p:spPr>
          <a:xfrm>
            <a:off x="2895600" y="4495800"/>
            <a:ext cx="533400" cy="533400"/>
          </a:xfrm>
          <a:prstGeom prst="flowChartMagneticDisk">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Flowchart: Magnetic Disk 104"/>
          <p:cNvSpPr/>
          <p:nvPr/>
        </p:nvSpPr>
        <p:spPr>
          <a:xfrm>
            <a:off x="2895600" y="5181600"/>
            <a:ext cx="533400" cy="533400"/>
          </a:xfrm>
          <a:prstGeom prst="flowChartMagneticDisk">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8" name="Picture 4"/>
          <p:cNvPicPr>
            <a:picLocks noChangeAspect="1" noChangeArrowheads="1"/>
          </p:cNvPicPr>
          <p:nvPr/>
        </p:nvPicPr>
        <p:blipFill>
          <a:blip r:embed="rId3" cstate="print"/>
          <a:srcRect/>
          <a:stretch>
            <a:fillRect/>
          </a:stretch>
        </p:blipFill>
        <p:spPr bwMode="auto">
          <a:xfrm>
            <a:off x="3657600" y="2343150"/>
            <a:ext cx="550576" cy="781050"/>
          </a:xfrm>
          <a:prstGeom prst="rect">
            <a:avLst/>
          </a:prstGeom>
          <a:noFill/>
          <a:ln w="9525">
            <a:noFill/>
            <a:miter lim="800000"/>
            <a:headEnd/>
            <a:tailEnd/>
          </a:ln>
        </p:spPr>
      </p:pic>
      <p:pic>
        <p:nvPicPr>
          <p:cNvPr id="42" name="Picture 4"/>
          <p:cNvPicPr>
            <a:picLocks noChangeAspect="1" noChangeArrowheads="1"/>
          </p:cNvPicPr>
          <p:nvPr/>
        </p:nvPicPr>
        <p:blipFill>
          <a:blip r:embed="rId3" cstate="print"/>
          <a:srcRect/>
          <a:stretch>
            <a:fillRect/>
          </a:stretch>
        </p:blipFill>
        <p:spPr bwMode="auto">
          <a:xfrm>
            <a:off x="5469224" y="4343400"/>
            <a:ext cx="550576" cy="781050"/>
          </a:xfrm>
          <a:prstGeom prst="rect">
            <a:avLst/>
          </a:prstGeom>
          <a:noFill/>
          <a:ln w="9525">
            <a:noFill/>
            <a:miter lim="800000"/>
            <a:headEnd/>
            <a:tailEnd/>
          </a:ln>
        </p:spPr>
      </p:pic>
      <p:sp>
        <p:nvSpPr>
          <p:cNvPr id="2" name="Slide Number Placeholder 1"/>
          <p:cNvSpPr>
            <a:spLocks noGrp="1"/>
          </p:cNvSpPr>
          <p:nvPr>
            <p:ph type="sldNum" sz="quarter" idx="12"/>
          </p:nvPr>
        </p:nvSpPr>
        <p:spPr/>
        <p:txBody>
          <a:bodyPr/>
          <a:lstStyle/>
          <a:p>
            <a:fld id="{B6F15528-21DE-4FAA-801E-634DDDAF4B2B}" type="slidenum">
              <a:rPr lang="en-US" smtClean="0"/>
              <a:pPr/>
              <a:t>19</a:t>
            </a:fld>
            <a:endParaRPr lang="en-US" dirty="0"/>
          </a:p>
        </p:txBody>
      </p:sp>
      <p:cxnSp>
        <p:nvCxnSpPr>
          <p:cNvPr id="3" name="Straight Connector 2"/>
          <p:cNvCxnSpPr/>
          <p:nvPr/>
        </p:nvCxnSpPr>
        <p:spPr>
          <a:xfrm>
            <a:off x="457200" y="762000"/>
            <a:ext cx="8229600" cy="0"/>
          </a:xfrm>
          <a:prstGeom prst="line">
            <a:avLst/>
          </a:prstGeom>
          <a:ln w="63500">
            <a:solidFill>
              <a:srgbClr val="C00000"/>
            </a:solidFill>
          </a:ln>
        </p:spPr>
        <p:style>
          <a:lnRef idx="1">
            <a:schemeClr val="accent1"/>
          </a:lnRef>
          <a:fillRef idx="0">
            <a:schemeClr val="accent1"/>
          </a:fillRef>
          <a:effectRef idx="0">
            <a:schemeClr val="accent1"/>
          </a:effectRef>
          <a:fontRef idx="minor">
            <a:schemeClr val="tx1"/>
          </a:fontRef>
        </p:style>
      </p:cxnSp>
      <p:sp>
        <p:nvSpPr>
          <p:cNvPr id="4" name="Title 1"/>
          <p:cNvSpPr txBox="1">
            <a:spLocks/>
          </p:cNvSpPr>
          <p:nvPr/>
        </p:nvSpPr>
        <p:spPr>
          <a:xfrm>
            <a:off x="457200" y="76200"/>
            <a:ext cx="8229600" cy="1143000"/>
          </a:xfrm>
          <a:prstGeom prst="rect">
            <a:avLst/>
          </a:prstGeom>
        </p:spPr>
        <p:txBody>
          <a:bodyPr/>
          <a:lstStyle/>
          <a:p>
            <a:pPr lvl="0" algn="ctr">
              <a:spcBef>
                <a:spcPct val="0"/>
              </a:spcBef>
              <a:defRPr/>
            </a:pPr>
            <a:r>
              <a:rPr lang="en-US" sz="3800" b="1" dirty="0">
                <a:effectLst>
                  <a:outerShdw blurRad="38100" dist="38100" dir="2700000" algn="tl">
                    <a:srgbClr val="000000">
                      <a:alpha val="43137"/>
                    </a:srgbClr>
                  </a:outerShdw>
                </a:effectLst>
                <a:latin typeface="Garamond" pitchFamily="18" charset="0"/>
              </a:rPr>
              <a:t>MR(</a:t>
            </a:r>
            <a:r>
              <a:rPr lang="en-US" sz="3800" b="1" dirty="0" err="1">
                <a:effectLst>
                  <a:outerShdw blurRad="38100" dist="38100" dir="2700000" algn="tl">
                    <a:srgbClr val="000000">
                      <a:alpha val="43137"/>
                    </a:srgbClr>
                  </a:outerShdw>
                </a:effectLst>
                <a:latin typeface="Garamond" pitchFamily="18" charset="0"/>
              </a:rPr>
              <a:t>Hadoop</a:t>
            </a:r>
            <a:r>
              <a:rPr lang="en-US" sz="3800" b="1" dirty="0">
                <a:effectLst>
                  <a:outerShdw blurRad="38100" dist="38100" dir="2700000" algn="tl">
                    <a:srgbClr val="000000">
                      <a:alpha val="43137"/>
                    </a:srgbClr>
                  </a:outerShdw>
                </a:effectLst>
                <a:latin typeface="Garamond" pitchFamily="18" charset="0"/>
              </a:rPr>
              <a:t>) Job Execution Patterns</a:t>
            </a:r>
          </a:p>
        </p:txBody>
      </p:sp>
      <p:sp>
        <p:nvSpPr>
          <p:cNvPr id="7" name="TextBox 6"/>
          <p:cNvSpPr txBox="1"/>
          <p:nvPr/>
        </p:nvSpPr>
        <p:spPr>
          <a:xfrm>
            <a:off x="3200400" y="762000"/>
            <a:ext cx="1456232" cy="369332"/>
          </a:xfrm>
          <a:prstGeom prst="rect">
            <a:avLst/>
          </a:prstGeom>
          <a:noFill/>
        </p:spPr>
        <p:txBody>
          <a:bodyPr wrap="none" rtlCol="0">
            <a:spAutoFit/>
          </a:bodyPr>
          <a:lstStyle/>
          <a:p>
            <a:r>
              <a:rPr lang="en-US" b="1" dirty="0">
                <a:latin typeface="Garamond" pitchFamily="18" charset="0"/>
              </a:rPr>
              <a:t>MR program</a:t>
            </a:r>
          </a:p>
        </p:txBody>
      </p:sp>
      <p:sp>
        <p:nvSpPr>
          <p:cNvPr id="10" name="TextBox 9"/>
          <p:cNvSpPr txBox="1"/>
          <p:nvPr/>
        </p:nvSpPr>
        <p:spPr>
          <a:xfrm>
            <a:off x="4191000" y="2495550"/>
            <a:ext cx="1407758" cy="369332"/>
          </a:xfrm>
          <a:prstGeom prst="rect">
            <a:avLst/>
          </a:prstGeom>
          <a:noFill/>
        </p:spPr>
        <p:txBody>
          <a:bodyPr wrap="none" rtlCol="0">
            <a:spAutoFit/>
          </a:bodyPr>
          <a:lstStyle/>
          <a:p>
            <a:r>
              <a:rPr lang="en-US" b="1" dirty="0">
                <a:latin typeface="Garamond" pitchFamily="18" charset="0"/>
              </a:rPr>
              <a:t>Master node</a:t>
            </a:r>
          </a:p>
        </p:txBody>
      </p:sp>
      <p:cxnSp>
        <p:nvCxnSpPr>
          <p:cNvPr id="14" name="Straight Arrow Connector 13"/>
          <p:cNvCxnSpPr/>
          <p:nvPr/>
        </p:nvCxnSpPr>
        <p:spPr>
          <a:xfrm rot="5400000">
            <a:off x="3620691" y="2019697"/>
            <a:ext cx="532606" cy="1588"/>
          </a:xfrm>
          <a:prstGeom prst="straightConnector1">
            <a:avLst/>
          </a:prstGeom>
          <a:ln w="50800">
            <a:solidFill>
              <a:schemeClr val="tx1"/>
            </a:solidFill>
            <a:prstDash val="sysDot"/>
            <a:tailEnd type="arrow"/>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4038600" y="1752600"/>
            <a:ext cx="1897699" cy="369332"/>
          </a:xfrm>
          <a:prstGeom prst="rect">
            <a:avLst/>
          </a:prstGeom>
          <a:noFill/>
          <a:ln w="38100">
            <a:solidFill>
              <a:schemeClr val="accent1">
                <a:shade val="50000"/>
              </a:schemeClr>
            </a:solidFill>
          </a:ln>
        </p:spPr>
        <p:txBody>
          <a:bodyPr wrap="none" rtlCol="0">
            <a:spAutoFit/>
          </a:bodyPr>
          <a:lstStyle/>
          <a:p>
            <a:r>
              <a:rPr lang="en-US" b="1" dirty="0">
                <a:latin typeface="Garamond" pitchFamily="18" charset="0"/>
              </a:rPr>
              <a:t>1: Job submission</a:t>
            </a:r>
          </a:p>
        </p:txBody>
      </p:sp>
      <p:sp>
        <p:nvSpPr>
          <p:cNvPr id="18" name="TextBox 17"/>
          <p:cNvSpPr txBox="1"/>
          <p:nvPr/>
        </p:nvSpPr>
        <p:spPr>
          <a:xfrm>
            <a:off x="1600200" y="2971800"/>
            <a:ext cx="1529329" cy="369332"/>
          </a:xfrm>
          <a:prstGeom prst="rect">
            <a:avLst/>
          </a:prstGeom>
          <a:noFill/>
        </p:spPr>
        <p:txBody>
          <a:bodyPr wrap="none" rtlCol="0">
            <a:spAutoFit/>
          </a:bodyPr>
          <a:lstStyle/>
          <a:p>
            <a:r>
              <a:rPr lang="en-US" b="1" dirty="0">
                <a:latin typeface="Garamond" pitchFamily="18" charset="0"/>
              </a:rPr>
              <a:t>Worker nodes</a:t>
            </a:r>
          </a:p>
        </p:txBody>
      </p:sp>
      <p:pic>
        <p:nvPicPr>
          <p:cNvPr id="19" name="Picture 4"/>
          <p:cNvPicPr>
            <a:picLocks noChangeAspect="1" noChangeArrowheads="1"/>
          </p:cNvPicPr>
          <p:nvPr/>
        </p:nvPicPr>
        <p:blipFill>
          <a:blip r:embed="rId3" cstate="print"/>
          <a:srcRect/>
          <a:stretch>
            <a:fillRect/>
          </a:stretch>
        </p:blipFill>
        <p:spPr bwMode="auto">
          <a:xfrm>
            <a:off x="1905000" y="4476750"/>
            <a:ext cx="550576" cy="781050"/>
          </a:xfrm>
          <a:prstGeom prst="rect">
            <a:avLst/>
          </a:prstGeom>
          <a:noFill/>
          <a:ln w="9525">
            <a:noFill/>
            <a:miter lim="800000"/>
            <a:headEnd/>
            <a:tailEnd/>
          </a:ln>
        </p:spPr>
      </p:pic>
      <p:pic>
        <p:nvPicPr>
          <p:cNvPr id="25" name="Picture 4"/>
          <p:cNvPicPr>
            <a:picLocks noChangeAspect="1" noChangeArrowheads="1"/>
          </p:cNvPicPr>
          <p:nvPr/>
        </p:nvPicPr>
        <p:blipFill>
          <a:blip r:embed="rId3" cstate="print"/>
          <a:srcRect/>
          <a:stretch>
            <a:fillRect/>
          </a:stretch>
        </p:blipFill>
        <p:spPr bwMode="auto">
          <a:xfrm>
            <a:off x="1905000" y="3429000"/>
            <a:ext cx="550576" cy="781050"/>
          </a:xfrm>
          <a:prstGeom prst="rect">
            <a:avLst/>
          </a:prstGeom>
          <a:noFill/>
          <a:ln w="9525">
            <a:noFill/>
            <a:miter lim="800000"/>
            <a:headEnd/>
            <a:tailEnd/>
          </a:ln>
        </p:spPr>
      </p:pic>
      <p:pic>
        <p:nvPicPr>
          <p:cNvPr id="41" name="Picture 4"/>
          <p:cNvPicPr>
            <a:picLocks noChangeAspect="1" noChangeArrowheads="1"/>
          </p:cNvPicPr>
          <p:nvPr/>
        </p:nvPicPr>
        <p:blipFill>
          <a:blip r:embed="rId3" cstate="print"/>
          <a:srcRect/>
          <a:stretch>
            <a:fillRect/>
          </a:stretch>
        </p:blipFill>
        <p:spPr bwMode="auto">
          <a:xfrm>
            <a:off x="5486400" y="3257550"/>
            <a:ext cx="550576" cy="781050"/>
          </a:xfrm>
          <a:prstGeom prst="rect">
            <a:avLst/>
          </a:prstGeom>
          <a:noFill/>
          <a:ln w="9525">
            <a:noFill/>
            <a:miter lim="800000"/>
            <a:headEnd/>
            <a:tailEnd/>
          </a:ln>
        </p:spPr>
      </p:pic>
      <p:sp>
        <p:nvSpPr>
          <p:cNvPr id="44" name="TextBox 43"/>
          <p:cNvSpPr txBox="1"/>
          <p:nvPr/>
        </p:nvSpPr>
        <p:spPr>
          <a:xfrm>
            <a:off x="5177516" y="2895600"/>
            <a:ext cx="1529329" cy="369332"/>
          </a:xfrm>
          <a:prstGeom prst="rect">
            <a:avLst/>
          </a:prstGeom>
          <a:noFill/>
        </p:spPr>
        <p:txBody>
          <a:bodyPr wrap="none" rtlCol="0">
            <a:spAutoFit/>
          </a:bodyPr>
          <a:lstStyle/>
          <a:p>
            <a:r>
              <a:rPr lang="en-US" b="1" dirty="0">
                <a:latin typeface="Garamond" pitchFamily="18" charset="0"/>
              </a:rPr>
              <a:t>Worker nodes</a:t>
            </a:r>
          </a:p>
        </p:txBody>
      </p:sp>
      <p:sp>
        <p:nvSpPr>
          <p:cNvPr id="55" name="TextBox 54"/>
          <p:cNvSpPr txBox="1"/>
          <p:nvPr/>
        </p:nvSpPr>
        <p:spPr>
          <a:xfrm>
            <a:off x="1295400" y="5867400"/>
            <a:ext cx="1981200" cy="646331"/>
          </a:xfrm>
          <a:prstGeom prst="rect">
            <a:avLst/>
          </a:prstGeom>
          <a:noFill/>
          <a:ln w="38100">
            <a:solidFill>
              <a:schemeClr val="accent1">
                <a:shade val="50000"/>
              </a:schemeClr>
            </a:solidFill>
          </a:ln>
        </p:spPr>
        <p:txBody>
          <a:bodyPr wrap="square" rtlCol="0">
            <a:spAutoFit/>
          </a:bodyPr>
          <a:lstStyle/>
          <a:p>
            <a:r>
              <a:rPr lang="en-US" b="1" dirty="0">
                <a:latin typeface="Garamond" pitchFamily="18" charset="0"/>
              </a:rPr>
              <a:t>3: Map phase</a:t>
            </a:r>
          </a:p>
          <a:p>
            <a:r>
              <a:rPr lang="en-US" b="1" dirty="0">
                <a:solidFill>
                  <a:srgbClr val="FF0000"/>
                </a:solidFill>
                <a:latin typeface="Garamond" pitchFamily="18" charset="0"/>
              </a:rPr>
              <a:t>Concurrent tasks</a:t>
            </a:r>
          </a:p>
        </p:txBody>
      </p:sp>
      <p:sp>
        <p:nvSpPr>
          <p:cNvPr id="62" name="Oval 61"/>
          <p:cNvSpPr/>
          <p:nvPr/>
        </p:nvSpPr>
        <p:spPr>
          <a:xfrm>
            <a:off x="228600" y="914400"/>
            <a:ext cx="304800" cy="30480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TextBox 62"/>
          <p:cNvSpPr txBox="1"/>
          <p:nvPr/>
        </p:nvSpPr>
        <p:spPr>
          <a:xfrm>
            <a:off x="609600" y="914400"/>
            <a:ext cx="1828800" cy="369332"/>
          </a:xfrm>
          <a:prstGeom prst="rect">
            <a:avLst/>
          </a:prstGeom>
          <a:noFill/>
        </p:spPr>
        <p:txBody>
          <a:bodyPr wrap="square" rtlCol="0">
            <a:spAutoFit/>
          </a:bodyPr>
          <a:lstStyle/>
          <a:p>
            <a:r>
              <a:rPr lang="en-US" b="1" dirty="0">
                <a:latin typeface="Garamond" pitchFamily="18" charset="0"/>
              </a:rPr>
              <a:t>Map Tasks</a:t>
            </a:r>
          </a:p>
        </p:txBody>
      </p:sp>
      <p:sp>
        <p:nvSpPr>
          <p:cNvPr id="64" name="Oval 63"/>
          <p:cNvSpPr/>
          <p:nvPr/>
        </p:nvSpPr>
        <p:spPr>
          <a:xfrm>
            <a:off x="228600" y="1307068"/>
            <a:ext cx="304800" cy="304800"/>
          </a:xfrm>
          <a:prstGeom prst="ellipse">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TextBox 64"/>
          <p:cNvSpPr txBox="1"/>
          <p:nvPr/>
        </p:nvSpPr>
        <p:spPr>
          <a:xfrm>
            <a:off x="609600" y="1307068"/>
            <a:ext cx="1828800" cy="369332"/>
          </a:xfrm>
          <a:prstGeom prst="rect">
            <a:avLst/>
          </a:prstGeom>
          <a:noFill/>
        </p:spPr>
        <p:txBody>
          <a:bodyPr wrap="square" rtlCol="0">
            <a:spAutoFit/>
          </a:bodyPr>
          <a:lstStyle/>
          <a:p>
            <a:r>
              <a:rPr lang="en-US" b="1" dirty="0">
                <a:latin typeface="Garamond" pitchFamily="18" charset="0"/>
              </a:rPr>
              <a:t>Reduce Tasks</a:t>
            </a:r>
          </a:p>
        </p:txBody>
      </p:sp>
      <p:sp>
        <p:nvSpPr>
          <p:cNvPr id="70" name="Oval 69"/>
          <p:cNvSpPr/>
          <p:nvPr/>
        </p:nvSpPr>
        <p:spPr>
          <a:xfrm>
            <a:off x="2209800" y="3886200"/>
            <a:ext cx="304800" cy="30480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Oval 70"/>
          <p:cNvSpPr/>
          <p:nvPr/>
        </p:nvSpPr>
        <p:spPr>
          <a:xfrm>
            <a:off x="2209800" y="4876800"/>
            <a:ext cx="304800" cy="30480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p:cNvSpPr/>
          <p:nvPr/>
        </p:nvSpPr>
        <p:spPr>
          <a:xfrm>
            <a:off x="5791200" y="3657600"/>
            <a:ext cx="304800" cy="304800"/>
          </a:xfrm>
          <a:prstGeom prst="ellipse">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Oval 72"/>
          <p:cNvSpPr/>
          <p:nvPr/>
        </p:nvSpPr>
        <p:spPr>
          <a:xfrm>
            <a:off x="5791200" y="4724400"/>
            <a:ext cx="304800" cy="304800"/>
          </a:xfrm>
          <a:prstGeom prst="ellipse">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56"/>
          <p:cNvGrpSpPr/>
          <p:nvPr/>
        </p:nvGrpSpPr>
        <p:grpSpPr>
          <a:xfrm>
            <a:off x="304800" y="2895600"/>
            <a:ext cx="990600" cy="3733800"/>
            <a:chOff x="304800" y="2895600"/>
            <a:chExt cx="990600" cy="3733800"/>
          </a:xfrm>
        </p:grpSpPr>
        <p:sp>
          <p:nvSpPr>
            <p:cNvPr id="58" name="Flowchart: Document 57"/>
            <p:cNvSpPr/>
            <p:nvPr/>
          </p:nvSpPr>
          <p:spPr>
            <a:xfrm>
              <a:off x="304800" y="2895600"/>
              <a:ext cx="990600" cy="3733800"/>
            </a:xfrm>
            <a:prstGeom prst="flowChartDocumen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Flowchart: Magnetic Disk 58"/>
            <p:cNvSpPr/>
            <p:nvPr/>
          </p:nvSpPr>
          <p:spPr>
            <a:xfrm>
              <a:off x="533400" y="3124200"/>
              <a:ext cx="533400" cy="533400"/>
            </a:xfrm>
            <a:prstGeom prst="flowChartMagneticDisk">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Flowchart: Magnetic Disk 59"/>
            <p:cNvSpPr/>
            <p:nvPr/>
          </p:nvSpPr>
          <p:spPr>
            <a:xfrm>
              <a:off x="533400" y="3733800"/>
              <a:ext cx="533400" cy="533400"/>
            </a:xfrm>
            <a:prstGeom prst="flowChartMagneticDisk">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Flowchart: Magnetic Disk 60"/>
            <p:cNvSpPr/>
            <p:nvPr/>
          </p:nvSpPr>
          <p:spPr>
            <a:xfrm>
              <a:off x="533400" y="4419600"/>
              <a:ext cx="533400" cy="533400"/>
            </a:xfrm>
            <a:prstGeom prst="flowChartMagneticDisk">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Flowchart: Magnetic Disk 73"/>
            <p:cNvSpPr/>
            <p:nvPr/>
          </p:nvSpPr>
          <p:spPr>
            <a:xfrm>
              <a:off x="533400" y="5029200"/>
              <a:ext cx="533400" cy="533400"/>
            </a:xfrm>
            <a:prstGeom prst="flowChartMagneticDisk">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5" name="Flowchart: Magnetic Disk 74"/>
          <p:cNvSpPr/>
          <p:nvPr/>
        </p:nvSpPr>
        <p:spPr>
          <a:xfrm>
            <a:off x="2895600" y="3124200"/>
            <a:ext cx="533400" cy="533400"/>
          </a:xfrm>
          <a:prstGeom prst="flowChartMagneticDisk">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Flowchart: Magnetic Disk 75"/>
          <p:cNvSpPr/>
          <p:nvPr/>
        </p:nvSpPr>
        <p:spPr>
          <a:xfrm>
            <a:off x="2895600" y="3810000"/>
            <a:ext cx="533400" cy="533400"/>
          </a:xfrm>
          <a:prstGeom prst="flowChartMagneticDisk">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Flowchart: Magnetic Disk 76"/>
          <p:cNvSpPr/>
          <p:nvPr/>
        </p:nvSpPr>
        <p:spPr>
          <a:xfrm>
            <a:off x="2895600" y="4495800"/>
            <a:ext cx="533400" cy="533400"/>
          </a:xfrm>
          <a:prstGeom prst="flowChartMagneticDisk">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Flowchart: Magnetic Disk 77"/>
          <p:cNvSpPr/>
          <p:nvPr/>
        </p:nvSpPr>
        <p:spPr>
          <a:xfrm>
            <a:off x="2895600" y="5181600"/>
            <a:ext cx="533400" cy="533400"/>
          </a:xfrm>
          <a:prstGeom prst="flowChartMagneticDisk">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Freeform 82"/>
          <p:cNvSpPr/>
          <p:nvPr/>
        </p:nvSpPr>
        <p:spPr>
          <a:xfrm>
            <a:off x="1066799" y="3352800"/>
            <a:ext cx="1743635" cy="433294"/>
          </a:xfrm>
          <a:custGeom>
            <a:avLst/>
            <a:gdLst>
              <a:gd name="connsiteX0" fmla="*/ 0 w 1653988"/>
              <a:gd name="connsiteY0" fmla="*/ 0 h 562535"/>
              <a:gd name="connsiteX1" fmla="*/ 1008529 w 1653988"/>
              <a:gd name="connsiteY1" fmla="*/ 537882 h 562535"/>
              <a:gd name="connsiteX2" fmla="*/ 1653988 w 1653988"/>
              <a:gd name="connsiteY2" fmla="*/ 147917 h 562535"/>
              <a:gd name="connsiteX0" fmla="*/ 0 w 1653988"/>
              <a:gd name="connsiteY0" fmla="*/ 0 h 522194"/>
              <a:gd name="connsiteX1" fmla="*/ 900953 w 1653988"/>
              <a:gd name="connsiteY1" fmla="*/ 497541 h 522194"/>
              <a:gd name="connsiteX2" fmla="*/ 1653988 w 1653988"/>
              <a:gd name="connsiteY2" fmla="*/ 147917 h 522194"/>
              <a:gd name="connsiteX0" fmla="*/ 0 w 1743635"/>
              <a:gd name="connsiteY0" fmla="*/ 0 h 433294"/>
              <a:gd name="connsiteX1" fmla="*/ 990600 w 1743635"/>
              <a:gd name="connsiteY1" fmla="*/ 421341 h 433294"/>
              <a:gd name="connsiteX2" fmla="*/ 1743635 w 1743635"/>
              <a:gd name="connsiteY2" fmla="*/ 71717 h 433294"/>
            </a:gdLst>
            <a:ahLst/>
            <a:cxnLst>
              <a:cxn ang="0">
                <a:pos x="connsiteX0" y="connsiteY0"/>
              </a:cxn>
              <a:cxn ang="0">
                <a:pos x="connsiteX1" y="connsiteY1"/>
              </a:cxn>
              <a:cxn ang="0">
                <a:pos x="connsiteX2" y="connsiteY2"/>
              </a:cxn>
            </a:cxnLst>
            <a:rect l="l" t="t" r="r" b="b"/>
            <a:pathLst>
              <a:path w="1743635" h="433294">
                <a:moveTo>
                  <a:pt x="0" y="0"/>
                </a:moveTo>
                <a:cubicBezTo>
                  <a:pt x="366432" y="256614"/>
                  <a:pt x="699994" y="409388"/>
                  <a:pt x="990600" y="421341"/>
                </a:cubicBezTo>
                <a:cubicBezTo>
                  <a:pt x="1281206" y="433294"/>
                  <a:pt x="1698811" y="40341"/>
                  <a:pt x="1743635" y="71717"/>
                </a:cubicBezTo>
              </a:path>
            </a:pathLst>
          </a:custGeom>
          <a:ln w="50800">
            <a:solidFill>
              <a:schemeClr val="tx1"/>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4" name="Freeform 83"/>
          <p:cNvSpPr/>
          <p:nvPr/>
        </p:nvSpPr>
        <p:spPr>
          <a:xfrm>
            <a:off x="1143000" y="3870263"/>
            <a:ext cx="1667435" cy="187760"/>
          </a:xfrm>
          <a:custGeom>
            <a:avLst/>
            <a:gdLst>
              <a:gd name="connsiteX0" fmla="*/ 0 w 1653988"/>
              <a:gd name="connsiteY0" fmla="*/ 0 h 562535"/>
              <a:gd name="connsiteX1" fmla="*/ 1008529 w 1653988"/>
              <a:gd name="connsiteY1" fmla="*/ 537882 h 562535"/>
              <a:gd name="connsiteX2" fmla="*/ 1653988 w 1653988"/>
              <a:gd name="connsiteY2" fmla="*/ 147917 h 562535"/>
              <a:gd name="connsiteX0" fmla="*/ 0 w 1653988"/>
              <a:gd name="connsiteY0" fmla="*/ 0 h 522194"/>
              <a:gd name="connsiteX1" fmla="*/ 900953 w 1653988"/>
              <a:gd name="connsiteY1" fmla="*/ 497541 h 522194"/>
              <a:gd name="connsiteX2" fmla="*/ 1653988 w 1653988"/>
              <a:gd name="connsiteY2" fmla="*/ 147917 h 522194"/>
              <a:gd name="connsiteX0" fmla="*/ 0 w 1743635"/>
              <a:gd name="connsiteY0" fmla="*/ 0 h 433294"/>
              <a:gd name="connsiteX1" fmla="*/ 990600 w 1743635"/>
              <a:gd name="connsiteY1" fmla="*/ 421341 h 433294"/>
              <a:gd name="connsiteX2" fmla="*/ 1743635 w 1743635"/>
              <a:gd name="connsiteY2" fmla="*/ 71717 h 433294"/>
              <a:gd name="connsiteX0" fmla="*/ 0 w 1743635"/>
              <a:gd name="connsiteY0" fmla="*/ 112059 h 368673"/>
              <a:gd name="connsiteX1" fmla="*/ 990600 w 1743635"/>
              <a:gd name="connsiteY1" fmla="*/ 11953 h 368673"/>
              <a:gd name="connsiteX2" fmla="*/ 1743635 w 1743635"/>
              <a:gd name="connsiteY2" fmla="*/ 183776 h 368673"/>
              <a:gd name="connsiteX0" fmla="*/ 0 w 1743635"/>
              <a:gd name="connsiteY0" fmla="*/ 415864 h 672478"/>
              <a:gd name="connsiteX1" fmla="*/ 990600 w 1743635"/>
              <a:gd name="connsiteY1" fmla="*/ 34863 h 672478"/>
              <a:gd name="connsiteX2" fmla="*/ 1743635 w 1743635"/>
              <a:gd name="connsiteY2" fmla="*/ 206686 h 672478"/>
              <a:gd name="connsiteX0" fmla="*/ 0 w 1743635"/>
              <a:gd name="connsiteY0" fmla="*/ 415864 h 415864"/>
              <a:gd name="connsiteX1" fmla="*/ 990600 w 1743635"/>
              <a:gd name="connsiteY1" fmla="*/ 34863 h 415864"/>
              <a:gd name="connsiteX2" fmla="*/ 1743635 w 1743635"/>
              <a:gd name="connsiteY2" fmla="*/ 206686 h 415864"/>
              <a:gd name="connsiteX0" fmla="*/ 0 w 1743635"/>
              <a:gd name="connsiteY0" fmla="*/ 396938 h 396938"/>
              <a:gd name="connsiteX1" fmla="*/ 228600 w 1743635"/>
              <a:gd name="connsiteY1" fmla="*/ 92137 h 396938"/>
              <a:gd name="connsiteX2" fmla="*/ 990600 w 1743635"/>
              <a:gd name="connsiteY2" fmla="*/ 15937 h 396938"/>
              <a:gd name="connsiteX3" fmla="*/ 1743635 w 1743635"/>
              <a:gd name="connsiteY3" fmla="*/ 187760 h 396938"/>
              <a:gd name="connsiteX0" fmla="*/ 0 w 1667435"/>
              <a:gd name="connsiteY0" fmla="*/ 168337 h 187760"/>
              <a:gd name="connsiteX1" fmla="*/ 152400 w 1667435"/>
              <a:gd name="connsiteY1" fmla="*/ 92137 h 187760"/>
              <a:gd name="connsiteX2" fmla="*/ 914400 w 1667435"/>
              <a:gd name="connsiteY2" fmla="*/ 15937 h 187760"/>
              <a:gd name="connsiteX3" fmla="*/ 1667435 w 1667435"/>
              <a:gd name="connsiteY3" fmla="*/ 187760 h 187760"/>
            </a:gdLst>
            <a:ahLst/>
            <a:cxnLst>
              <a:cxn ang="0">
                <a:pos x="connsiteX0" y="connsiteY0"/>
              </a:cxn>
              <a:cxn ang="0">
                <a:pos x="connsiteX1" y="connsiteY1"/>
              </a:cxn>
              <a:cxn ang="0">
                <a:pos x="connsiteX2" y="connsiteY2"/>
              </a:cxn>
              <a:cxn ang="0">
                <a:pos x="connsiteX3" y="connsiteY3"/>
              </a:cxn>
            </a:cxnLst>
            <a:rect l="l" t="t" r="r" b="b"/>
            <a:pathLst>
              <a:path w="1667435" h="187760">
                <a:moveTo>
                  <a:pt x="0" y="168337"/>
                </a:moveTo>
                <a:cubicBezTo>
                  <a:pt x="5977" y="165349"/>
                  <a:pt x="0" y="117537"/>
                  <a:pt x="152400" y="92137"/>
                </a:cubicBezTo>
                <a:cubicBezTo>
                  <a:pt x="304800" y="66737"/>
                  <a:pt x="661894" y="0"/>
                  <a:pt x="914400" y="15937"/>
                </a:cubicBezTo>
                <a:cubicBezTo>
                  <a:pt x="1166906" y="31874"/>
                  <a:pt x="1622611" y="156384"/>
                  <a:pt x="1667435" y="187760"/>
                </a:cubicBezTo>
              </a:path>
            </a:pathLst>
          </a:custGeom>
          <a:ln w="50800">
            <a:solidFill>
              <a:schemeClr val="tx1"/>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5" name="Freeform 84"/>
          <p:cNvSpPr/>
          <p:nvPr/>
        </p:nvSpPr>
        <p:spPr>
          <a:xfrm>
            <a:off x="1066800" y="4648200"/>
            <a:ext cx="1743635" cy="433294"/>
          </a:xfrm>
          <a:custGeom>
            <a:avLst/>
            <a:gdLst>
              <a:gd name="connsiteX0" fmla="*/ 0 w 1653988"/>
              <a:gd name="connsiteY0" fmla="*/ 0 h 562535"/>
              <a:gd name="connsiteX1" fmla="*/ 1008529 w 1653988"/>
              <a:gd name="connsiteY1" fmla="*/ 537882 h 562535"/>
              <a:gd name="connsiteX2" fmla="*/ 1653988 w 1653988"/>
              <a:gd name="connsiteY2" fmla="*/ 147917 h 562535"/>
              <a:gd name="connsiteX0" fmla="*/ 0 w 1653988"/>
              <a:gd name="connsiteY0" fmla="*/ 0 h 522194"/>
              <a:gd name="connsiteX1" fmla="*/ 900953 w 1653988"/>
              <a:gd name="connsiteY1" fmla="*/ 497541 h 522194"/>
              <a:gd name="connsiteX2" fmla="*/ 1653988 w 1653988"/>
              <a:gd name="connsiteY2" fmla="*/ 147917 h 522194"/>
              <a:gd name="connsiteX0" fmla="*/ 0 w 1743635"/>
              <a:gd name="connsiteY0" fmla="*/ 0 h 433294"/>
              <a:gd name="connsiteX1" fmla="*/ 990600 w 1743635"/>
              <a:gd name="connsiteY1" fmla="*/ 421341 h 433294"/>
              <a:gd name="connsiteX2" fmla="*/ 1743635 w 1743635"/>
              <a:gd name="connsiteY2" fmla="*/ 71717 h 433294"/>
            </a:gdLst>
            <a:ahLst/>
            <a:cxnLst>
              <a:cxn ang="0">
                <a:pos x="connsiteX0" y="connsiteY0"/>
              </a:cxn>
              <a:cxn ang="0">
                <a:pos x="connsiteX1" y="connsiteY1"/>
              </a:cxn>
              <a:cxn ang="0">
                <a:pos x="connsiteX2" y="connsiteY2"/>
              </a:cxn>
            </a:cxnLst>
            <a:rect l="l" t="t" r="r" b="b"/>
            <a:pathLst>
              <a:path w="1743635" h="433294">
                <a:moveTo>
                  <a:pt x="0" y="0"/>
                </a:moveTo>
                <a:cubicBezTo>
                  <a:pt x="366432" y="256614"/>
                  <a:pt x="699994" y="409388"/>
                  <a:pt x="990600" y="421341"/>
                </a:cubicBezTo>
                <a:cubicBezTo>
                  <a:pt x="1281206" y="433294"/>
                  <a:pt x="1698811" y="40341"/>
                  <a:pt x="1743635" y="71717"/>
                </a:cubicBezTo>
              </a:path>
            </a:pathLst>
          </a:custGeom>
          <a:ln w="50800">
            <a:solidFill>
              <a:schemeClr val="tx1"/>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6" name="Freeform 85"/>
          <p:cNvSpPr/>
          <p:nvPr/>
        </p:nvSpPr>
        <p:spPr>
          <a:xfrm>
            <a:off x="1143001" y="5165663"/>
            <a:ext cx="1667435" cy="187760"/>
          </a:xfrm>
          <a:custGeom>
            <a:avLst/>
            <a:gdLst>
              <a:gd name="connsiteX0" fmla="*/ 0 w 1653988"/>
              <a:gd name="connsiteY0" fmla="*/ 0 h 562535"/>
              <a:gd name="connsiteX1" fmla="*/ 1008529 w 1653988"/>
              <a:gd name="connsiteY1" fmla="*/ 537882 h 562535"/>
              <a:gd name="connsiteX2" fmla="*/ 1653988 w 1653988"/>
              <a:gd name="connsiteY2" fmla="*/ 147917 h 562535"/>
              <a:gd name="connsiteX0" fmla="*/ 0 w 1653988"/>
              <a:gd name="connsiteY0" fmla="*/ 0 h 522194"/>
              <a:gd name="connsiteX1" fmla="*/ 900953 w 1653988"/>
              <a:gd name="connsiteY1" fmla="*/ 497541 h 522194"/>
              <a:gd name="connsiteX2" fmla="*/ 1653988 w 1653988"/>
              <a:gd name="connsiteY2" fmla="*/ 147917 h 522194"/>
              <a:gd name="connsiteX0" fmla="*/ 0 w 1743635"/>
              <a:gd name="connsiteY0" fmla="*/ 0 h 433294"/>
              <a:gd name="connsiteX1" fmla="*/ 990600 w 1743635"/>
              <a:gd name="connsiteY1" fmla="*/ 421341 h 433294"/>
              <a:gd name="connsiteX2" fmla="*/ 1743635 w 1743635"/>
              <a:gd name="connsiteY2" fmla="*/ 71717 h 433294"/>
              <a:gd name="connsiteX0" fmla="*/ 0 w 1743635"/>
              <a:gd name="connsiteY0" fmla="*/ 112059 h 368673"/>
              <a:gd name="connsiteX1" fmla="*/ 990600 w 1743635"/>
              <a:gd name="connsiteY1" fmla="*/ 11953 h 368673"/>
              <a:gd name="connsiteX2" fmla="*/ 1743635 w 1743635"/>
              <a:gd name="connsiteY2" fmla="*/ 183776 h 368673"/>
              <a:gd name="connsiteX0" fmla="*/ 0 w 1743635"/>
              <a:gd name="connsiteY0" fmla="*/ 415864 h 672478"/>
              <a:gd name="connsiteX1" fmla="*/ 990600 w 1743635"/>
              <a:gd name="connsiteY1" fmla="*/ 34863 h 672478"/>
              <a:gd name="connsiteX2" fmla="*/ 1743635 w 1743635"/>
              <a:gd name="connsiteY2" fmla="*/ 206686 h 672478"/>
              <a:gd name="connsiteX0" fmla="*/ 0 w 1743635"/>
              <a:gd name="connsiteY0" fmla="*/ 415864 h 415864"/>
              <a:gd name="connsiteX1" fmla="*/ 990600 w 1743635"/>
              <a:gd name="connsiteY1" fmla="*/ 34863 h 415864"/>
              <a:gd name="connsiteX2" fmla="*/ 1743635 w 1743635"/>
              <a:gd name="connsiteY2" fmla="*/ 206686 h 415864"/>
              <a:gd name="connsiteX0" fmla="*/ 0 w 1743635"/>
              <a:gd name="connsiteY0" fmla="*/ 396938 h 396938"/>
              <a:gd name="connsiteX1" fmla="*/ 228600 w 1743635"/>
              <a:gd name="connsiteY1" fmla="*/ 92137 h 396938"/>
              <a:gd name="connsiteX2" fmla="*/ 990600 w 1743635"/>
              <a:gd name="connsiteY2" fmla="*/ 15937 h 396938"/>
              <a:gd name="connsiteX3" fmla="*/ 1743635 w 1743635"/>
              <a:gd name="connsiteY3" fmla="*/ 187760 h 396938"/>
              <a:gd name="connsiteX0" fmla="*/ 0 w 1667435"/>
              <a:gd name="connsiteY0" fmla="*/ 168337 h 187760"/>
              <a:gd name="connsiteX1" fmla="*/ 152400 w 1667435"/>
              <a:gd name="connsiteY1" fmla="*/ 92137 h 187760"/>
              <a:gd name="connsiteX2" fmla="*/ 914400 w 1667435"/>
              <a:gd name="connsiteY2" fmla="*/ 15937 h 187760"/>
              <a:gd name="connsiteX3" fmla="*/ 1667435 w 1667435"/>
              <a:gd name="connsiteY3" fmla="*/ 187760 h 187760"/>
            </a:gdLst>
            <a:ahLst/>
            <a:cxnLst>
              <a:cxn ang="0">
                <a:pos x="connsiteX0" y="connsiteY0"/>
              </a:cxn>
              <a:cxn ang="0">
                <a:pos x="connsiteX1" y="connsiteY1"/>
              </a:cxn>
              <a:cxn ang="0">
                <a:pos x="connsiteX2" y="connsiteY2"/>
              </a:cxn>
              <a:cxn ang="0">
                <a:pos x="connsiteX3" y="connsiteY3"/>
              </a:cxn>
            </a:cxnLst>
            <a:rect l="l" t="t" r="r" b="b"/>
            <a:pathLst>
              <a:path w="1667435" h="187760">
                <a:moveTo>
                  <a:pt x="0" y="168337"/>
                </a:moveTo>
                <a:cubicBezTo>
                  <a:pt x="5977" y="165349"/>
                  <a:pt x="0" y="117537"/>
                  <a:pt x="152400" y="92137"/>
                </a:cubicBezTo>
                <a:cubicBezTo>
                  <a:pt x="304800" y="66737"/>
                  <a:pt x="661894" y="0"/>
                  <a:pt x="914400" y="15937"/>
                </a:cubicBezTo>
                <a:cubicBezTo>
                  <a:pt x="1166906" y="31874"/>
                  <a:pt x="1622611" y="156384"/>
                  <a:pt x="1667435" y="187760"/>
                </a:cubicBezTo>
              </a:path>
            </a:pathLst>
          </a:custGeom>
          <a:ln w="50800">
            <a:solidFill>
              <a:schemeClr val="tx1"/>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7" name="TextBox 86"/>
          <p:cNvSpPr txBox="1"/>
          <p:nvPr/>
        </p:nvSpPr>
        <p:spPr>
          <a:xfrm>
            <a:off x="3352800" y="5955268"/>
            <a:ext cx="1752600" cy="369332"/>
          </a:xfrm>
          <a:prstGeom prst="rect">
            <a:avLst/>
          </a:prstGeom>
          <a:noFill/>
          <a:ln w="38100">
            <a:solidFill>
              <a:schemeClr val="accent1">
                <a:shade val="50000"/>
              </a:schemeClr>
            </a:solidFill>
          </a:ln>
        </p:spPr>
        <p:txBody>
          <a:bodyPr wrap="square" rtlCol="0">
            <a:spAutoFit/>
          </a:bodyPr>
          <a:lstStyle/>
          <a:p>
            <a:r>
              <a:rPr lang="en-US" b="1" dirty="0">
                <a:latin typeface="Garamond" pitchFamily="18" charset="0"/>
              </a:rPr>
              <a:t>4: Shuffle phase</a:t>
            </a:r>
          </a:p>
        </p:txBody>
      </p:sp>
      <p:sp>
        <p:nvSpPr>
          <p:cNvPr id="110" name="TextBox 109"/>
          <p:cNvSpPr txBox="1"/>
          <p:nvPr/>
        </p:nvSpPr>
        <p:spPr>
          <a:xfrm>
            <a:off x="1295400" y="2221468"/>
            <a:ext cx="2057400" cy="369332"/>
          </a:xfrm>
          <a:prstGeom prst="rect">
            <a:avLst/>
          </a:prstGeom>
          <a:noFill/>
        </p:spPr>
        <p:txBody>
          <a:bodyPr wrap="square" rtlCol="0">
            <a:spAutoFit/>
          </a:bodyPr>
          <a:lstStyle/>
          <a:p>
            <a:r>
              <a:rPr lang="en-US" b="1" dirty="0">
                <a:latin typeface="Garamond" pitchFamily="18" charset="0"/>
              </a:rPr>
              <a:t>Map output</a:t>
            </a:r>
          </a:p>
        </p:txBody>
      </p:sp>
      <p:cxnSp>
        <p:nvCxnSpPr>
          <p:cNvPr id="111" name="Straight Arrow Connector 110"/>
          <p:cNvCxnSpPr/>
          <p:nvPr/>
        </p:nvCxnSpPr>
        <p:spPr>
          <a:xfrm>
            <a:off x="2667000" y="2590800"/>
            <a:ext cx="457200" cy="381000"/>
          </a:xfrm>
          <a:prstGeom prst="straightConnector1">
            <a:avLst/>
          </a:prstGeom>
          <a:ln w="50800">
            <a:solidFill>
              <a:schemeClr val="accent2"/>
            </a:solidFill>
            <a:tailEnd type="arrow"/>
          </a:ln>
        </p:spPr>
        <p:style>
          <a:lnRef idx="1">
            <a:schemeClr val="accent1"/>
          </a:lnRef>
          <a:fillRef idx="0">
            <a:schemeClr val="accent1"/>
          </a:fillRef>
          <a:effectRef idx="0">
            <a:schemeClr val="accent1"/>
          </a:effectRef>
          <a:fontRef idx="minor">
            <a:schemeClr val="tx1"/>
          </a:fontRef>
        </p:style>
      </p:cxnSp>
      <p:sp>
        <p:nvSpPr>
          <p:cNvPr id="115" name="TextBox 114"/>
          <p:cNvSpPr txBox="1"/>
          <p:nvPr/>
        </p:nvSpPr>
        <p:spPr>
          <a:xfrm>
            <a:off x="5257800" y="5486400"/>
            <a:ext cx="3429000" cy="1200329"/>
          </a:xfrm>
          <a:prstGeom prst="rect">
            <a:avLst/>
          </a:prstGeom>
          <a:noFill/>
        </p:spPr>
        <p:txBody>
          <a:bodyPr wrap="square" rtlCol="0">
            <a:spAutoFit/>
          </a:bodyPr>
          <a:lstStyle/>
          <a:p>
            <a:r>
              <a:rPr lang="en-US" b="1" dirty="0">
                <a:latin typeface="Garamond" pitchFamily="18" charset="0"/>
              </a:rPr>
              <a:t>Map output will be shuffled to different reduce tasks based on </a:t>
            </a:r>
            <a:r>
              <a:rPr lang="en-US" b="1" dirty="0">
                <a:solidFill>
                  <a:srgbClr val="FF0000"/>
                </a:solidFill>
                <a:latin typeface="Garamond" pitchFamily="18" charset="0"/>
              </a:rPr>
              <a:t>Partition Keys (PKs) (usually Map output keys)</a:t>
            </a:r>
          </a:p>
        </p:txBody>
      </p:sp>
      <p:sp>
        <p:nvSpPr>
          <p:cNvPr id="52" name="TextBox 51"/>
          <p:cNvSpPr txBox="1"/>
          <p:nvPr/>
        </p:nvSpPr>
        <p:spPr>
          <a:xfrm>
            <a:off x="6019800" y="780871"/>
            <a:ext cx="2514600" cy="1200329"/>
          </a:xfrm>
          <a:prstGeom prst="rect">
            <a:avLst/>
          </a:prstGeom>
          <a:noFill/>
          <a:ln w="9525">
            <a:noFill/>
          </a:ln>
        </p:spPr>
        <p:txBody>
          <a:bodyPr wrap="square" rtlCol="0">
            <a:spAutoFit/>
          </a:bodyPr>
          <a:lstStyle/>
          <a:p>
            <a:r>
              <a:rPr lang="en-US" sz="2400" b="1" dirty="0">
                <a:solidFill>
                  <a:schemeClr val="accent2"/>
                </a:solidFill>
                <a:latin typeface="Garamond" pitchFamily="18" charset="0"/>
              </a:rPr>
              <a:t>The execution of a MR job involves 6 steps</a:t>
            </a:r>
          </a:p>
        </p:txBody>
      </p:sp>
      <p:pic>
        <p:nvPicPr>
          <p:cNvPr id="56" name="Picture 3" descr="e:\Users\yhuai\Desktop\Picture1.png"/>
          <p:cNvPicPr>
            <a:picLocks noChangeAspect="1" noChangeArrowheads="1"/>
          </p:cNvPicPr>
          <p:nvPr/>
        </p:nvPicPr>
        <p:blipFill>
          <a:blip r:embed="rId4" cstate="print"/>
          <a:srcRect/>
          <a:stretch>
            <a:fillRect/>
          </a:stretch>
        </p:blipFill>
        <p:spPr bwMode="auto">
          <a:xfrm>
            <a:off x="3581400" y="1066800"/>
            <a:ext cx="854075" cy="609600"/>
          </a:xfrm>
          <a:prstGeom prst="rect">
            <a:avLst/>
          </a:prstGeom>
          <a:noFill/>
        </p:spPr>
      </p:pic>
    </p:spTree>
    <p:extLst>
      <p:ext uri="{BB962C8B-B14F-4D97-AF65-F5344CB8AC3E}">
        <p14:creationId xmlns:p14="http://schemas.microsoft.com/office/powerpoint/2010/main" val="2060863608"/>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83"/>
                                        </p:tgtEl>
                                        <p:attrNameLst>
                                          <p:attrName>style.visibility</p:attrName>
                                        </p:attrNameLst>
                                      </p:cBhvr>
                                      <p:to>
                                        <p:strVal val="visible"/>
                                      </p:to>
                                    </p:set>
                                    <p:animEffect transition="in" filter="wipe(left)">
                                      <p:cBhvr>
                                        <p:cTn id="11" dur="500"/>
                                        <p:tgtEl>
                                          <p:spTgt spid="83"/>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84"/>
                                        </p:tgtEl>
                                        <p:attrNameLst>
                                          <p:attrName>style.visibility</p:attrName>
                                        </p:attrNameLst>
                                      </p:cBhvr>
                                      <p:to>
                                        <p:strVal val="visible"/>
                                      </p:to>
                                    </p:set>
                                    <p:animEffect transition="in" filter="wipe(left)">
                                      <p:cBhvr>
                                        <p:cTn id="14" dur="500"/>
                                        <p:tgtEl>
                                          <p:spTgt spid="84"/>
                                        </p:tgtEl>
                                      </p:cBhvr>
                                    </p:animEffect>
                                  </p:childTnLst>
                                </p:cTn>
                              </p:par>
                              <p:par>
                                <p:cTn id="15" presetID="22" presetClass="entr" presetSubtype="8" fill="hold" grpId="0" nodeType="withEffect">
                                  <p:stCondLst>
                                    <p:cond delay="0"/>
                                  </p:stCondLst>
                                  <p:childTnLst>
                                    <p:set>
                                      <p:cBhvr>
                                        <p:cTn id="16" dur="1" fill="hold">
                                          <p:stCondLst>
                                            <p:cond delay="0"/>
                                          </p:stCondLst>
                                        </p:cTn>
                                        <p:tgtEl>
                                          <p:spTgt spid="85"/>
                                        </p:tgtEl>
                                        <p:attrNameLst>
                                          <p:attrName>style.visibility</p:attrName>
                                        </p:attrNameLst>
                                      </p:cBhvr>
                                      <p:to>
                                        <p:strVal val="visible"/>
                                      </p:to>
                                    </p:set>
                                    <p:animEffect transition="in" filter="wipe(left)">
                                      <p:cBhvr>
                                        <p:cTn id="17" dur="500"/>
                                        <p:tgtEl>
                                          <p:spTgt spid="85"/>
                                        </p:tgtEl>
                                      </p:cBhvr>
                                    </p:animEffect>
                                  </p:childTnLst>
                                </p:cTn>
                              </p:par>
                              <p:par>
                                <p:cTn id="18" presetID="22" presetClass="entr" presetSubtype="8" fill="hold" grpId="0" nodeType="withEffect">
                                  <p:stCondLst>
                                    <p:cond delay="0"/>
                                  </p:stCondLst>
                                  <p:childTnLst>
                                    <p:set>
                                      <p:cBhvr>
                                        <p:cTn id="19" dur="1" fill="hold">
                                          <p:stCondLst>
                                            <p:cond delay="0"/>
                                          </p:stCondLst>
                                        </p:cTn>
                                        <p:tgtEl>
                                          <p:spTgt spid="86"/>
                                        </p:tgtEl>
                                        <p:attrNameLst>
                                          <p:attrName>style.visibility</p:attrName>
                                        </p:attrNameLst>
                                      </p:cBhvr>
                                      <p:to>
                                        <p:strVal val="visible"/>
                                      </p:to>
                                    </p:set>
                                    <p:animEffect transition="in" filter="wipe(left)">
                                      <p:cBhvr>
                                        <p:cTn id="20" dur="500"/>
                                        <p:tgtEl>
                                          <p:spTgt spid="86"/>
                                        </p:tgtEl>
                                      </p:cBhvr>
                                    </p:animEffect>
                                  </p:childTnLst>
                                </p:cTn>
                              </p:par>
                            </p:childTnLst>
                          </p:cTn>
                        </p:par>
                        <p:par>
                          <p:cTn id="21" fill="hold">
                            <p:stCondLst>
                              <p:cond delay="500"/>
                            </p:stCondLst>
                            <p:childTnLst>
                              <p:par>
                                <p:cTn id="22" presetID="1" presetClass="entr" presetSubtype="0" fill="hold" grpId="0" nodeType="afterEffect">
                                  <p:stCondLst>
                                    <p:cond delay="0"/>
                                  </p:stCondLst>
                                  <p:childTnLst>
                                    <p:set>
                                      <p:cBhvr>
                                        <p:cTn id="23" dur="1" fill="hold">
                                          <p:stCondLst>
                                            <p:cond delay="0"/>
                                          </p:stCondLst>
                                        </p:cTn>
                                        <p:tgtEl>
                                          <p:spTgt spid="75"/>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76"/>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77"/>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78"/>
                                        </p:tgtEl>
                                        <p:attrNameLst>
                                          <p:attrName>style.visibility</p:attrName>
                                        </p:attrNameLst>
                                      </p:cBhvr>
                                      <p:to>
                                        <p:strVal val="visible"/>
                                      </p:to>
                                    </p:set>
                                  </p:childTnLst>
                                </p:cTn>
                              </p:par>
                            </p:childTnLst>
                          </p:cTn>
                        </p:par>
                        <p:par>
                          <p:cTn id="30" fill="hold">
                            <p:stCondLst>
                              <p:cond delay="500"/>
                            </p:stCondLst>
                            <p:childTnLst>
                              <p:par>
                                <p:cTn id="31" presetID="1" presetClass="entr" presetSubtype="0" fill="hold" grpId="0" nodeType="afterEffect">
                                  <p:stCondLst>
                                    <p:cond delay="0"/>
                                  </p:stCondLst>
                                  <p:childTnLst>
                                    <p:set>
                                      <p:cBhvr>
                                        <p:cTn id="32" dur="1" fill="hold">
                                          <p:stCondLst>
                                            <p:cond delay="0"/>
                                          </p:stCondLst>
                                        </p:cTn>
                                        <p:tgtEl>
                                          <p:spTgt spid="10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0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0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0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10"/>
                                        </p:tgtEl>
                                        <p:attrNameLst>
                                          <p:attrName>style.visibility</p:attrName>
                                        </p:attrNameLst>
                                      </p:cBhvr>
                                      <p:to>
                                        <p:strVal val="visible"/>
                                      </p:to>
                                    </p:set>
                                  </p:childTnLst>
                                </p:cTn>
                              </p:par>
                              <p:par>
                                <p:cTn id="43" presetID="18" presetClass="entr" presetSubtype="3" fill="hold" nodeType="withEffect">
                                  <p:stCondLst>
                                    <p:cond delay="0"/>
                                  </p:stCondLst>
                                  <p:childTnLst>
                                    <p:set>
                                      <p:cBhvr>
                                        <p:cTn id="44" dur="1" fill="hold">
                                          <p:stCondLst>
                                            <p:cond delay="0"/>
                                          </p:stCondLst>
                                        </p:cTn>
                                        <p:tgtEl>
                                          <p:spTgt spid="111"/>
                                        </p:tgtEl>
                                        <p:attrNameLst>
                                          <p:attrName>style.visibility</p:attrName>
                                        </p:attrNameLst>
                                      </p:cBhvr>
                                      <p:to>
                                        <p:strVal val="visible"/>
                                      </p:to>
                                    </p:set>
                                    <p:animEffect transition="in" filter="strips(upRight)">
                                      <p:cBhvr>
                                        <p:cTn id="45" dur="500"/>
                                        <p:tgtEl>
                                          <p:spTgt spid="111"/>
                                        </p:tgtEl>
                                      </p:cBhvr>
                                    </p:animEffec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87"/>
                                        </p:tgtEl>
                                        <p:attrNameLst>
                                          <p:attrName>style.visibility</p:attrName>
                                        </p:attrNameLst>
                                      </p:cBhvr>
                                      <p:to>
                                        <p:strVal val="visible"/>
                                      </p:to>
                                    </p:set>
                                  </p:childTnLst>
                                </p:cTn>
                              </p:par>
                            </p:childTnLst>
                          </p:cTn>
                        </p:par>
                        <p:par>
                          <p:cTn id="50" fill="hold">
                            <p:stCondLst>
                              <p:cond delay="0"/>
                            </p:stCondLst>
                            <p:childTnLst>
                              <p:par>
                                <p:cTn id="51" presetID="1" presetClass="entr" presetSubtype="0" fill="hold" nodeType="afterEffect">
                                  <p:stCondLst>
                                    <p:cond delay="0"/>
                                  </p:stCondLst>
                                  <p:childTnLst>
                                    <p:set>
                                      <p:cBhvr>
                                        <p:cTn id="52" dur="1" fill="hold">
                                          <p:stCondLst>
                                            <p:cond delay="0"/>
                                          </p:stCondLst>
                                        </p:cTn>
                                        <p:tgtEl>
                                          <p:spTgt spid="106"/>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107"/>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108"/>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109"/>
                                        </p:tgtEl>
                                        <p:attrNameLst>
                                          <p:attrName>style.visibility</p:attrName>
                                        </p:attrNameLst>
                                      </p:cBhvr>
                                      <p:to>
                                        <p:strVal val="visible"/>
                                      </p:to>
                                    </p:set>
                                  </p:childTnLst>
                                </p:cTn>
                              </p:par>
                            </p:childTnLst>
                          </p:cTn>
                        </p:par>
                        <p:par>
                          <p:cTn id="59" fill="hold">
                            <p:stCondLst>
                              <p:cond delay="0"/>
                            </p:stCondLst>
                            <p:childTnLst>
                              <p:par>
                                <p:cTn id="60" presetID="0" presetClass="path" presetSubtype="0" accel="50000" decel="50000" fill="hold" grpId="1" nodeType="afterEffect">
                                  <p:stCondLst>
                                    <p:cond delay="0"/>
                                  </p:stCondLst>
                                  <p:childTnLst>
                                    <p:animMotion origin="layout" path="M 0 0 L 0.19167 0 " pathEditMode="relative" ptsTypes="AA">
                                      <p:cBhvr>
                                        <p:cTn id="61" dur="500" fill="hold"/>
                                        <p:tgtEl>
                                          <p:spTgt spid="75"/>
                                        </p:tgtEl>
                                        <p:attrNameLst>
                                          <p:attrName>ppt_x</p:attrName>
                                          <p:attrName>ppt_y</p:attrName>
                                        </p:attrNameLst>
                                      </p:cBhvr>
                                    </p:animMotion>
                                  </p:childTnLst>
                                </p:cTn>
                              </p:par>
                              <p:par>
                                <p:cTn id="62" presetID="0" presetClass="path" presetSubtype="0" accel="50000" decel="50000" fill="hold" grpId="1" nodeType="withEffect">
                                  <p:stCondLst>
                                    <p:cond delay="0"/>
                                  </p:stCondLst>
                                  <p:childTnLst>
                                    <p:animMotion origin="layout" path="M 0 0 L 0.19167 0.08889 " pathEditMode="relative" ptsTypes="AA">
                                      <p:cBhvr>
                                        <p:cTn id="63" dur="500" fill="hold"/>
                                        <p:tgtEl>
                                          <p:spTgt spid="76"/>
                                        </p:tgtEl>
                                        <p:attrNameLst>
                                          <p:attrName>ppt_x</p:attrName>
                                          <p:attrName>ppt_y</p:attrName>
                                        </p:attrNameLst>
                                      </p:cBhvr>
                                    </p:animMotion>
                                  </p:childTnLst>
                                </p:cTn>
                              </p:par>
                              <p:par>
                                <p:cTn id="64" presetID="0" presetClass="path" presetSubtype="0" accel="50000" decel="50000" fill="hold" grpId="1" nodeType="withEffect">
                                  <p:stCondLst>
                                    <p:cond delay="0"/>
                                  </p:stCondLst>
                                  <p:childTnLst>
                                    <p:animMotion origin="layout" path="M 0 0 L 0.19167 -0.11111 " pathEditMode="relative" ptsTypes="AA">
                                      <p:cBhvr>
                                        <p:cTn id="65" dur="500" fill="hold"/>
                                        <p:tgtEl>
                                          <p:spTgt spid="77"/>
                                        </p:tgtEl>
                                        <p:attrNameLst>
                                          <p:attrName>ppt_x</p:attrName>
                                          <p:attrName>ppt_y</p:attrName>
                                        </p:attrNameLst>
                                      </p:cBhvr>
                                    </p:animMotion>
                                  </p:childTnLst>
                                </p:cTn>
                              </p:par>
                              <p:par>
                                <p:cTn id="66" presetID="0" presetClass="path" presetSubtype="0" accel="50000" decel="50000" fill="hold" grpId="1" nodeType="withEffect">
                                  <p:stCondLst>
                                    <p:cond delay="0"/>
                                  </p:stCondLst>
                                  <p:childTnLst>
                                    <p:animMotion origin="layout" path="M 0 0 L 0.19167 0 " pathEditMode="relative" ptsTypes="AA">
                                      <p:cBhvr>
                                        <p:cTn id="67" dur="500" fill="hold"/>
                                        <p:tgtEl>
                                          <p:spTgt spid="78"/>
                                        </p:tgtEl>
                                        <p:attrNameLst>
                                          <p:attrName>ppt_x</p:attrName>
                                          <p:attrName>ppt_y</p:attrName>
                                        </p:attrNameLst>
                                      </p:cBhvr>
                                    </p:animMotion>
                                  </p:childTnLst>
                                </p:cTn>
                              </p:par>
                            </p:childTnLst>
                          </p:cTn>
                        </p:par>
                        <p:par>
                          <p:cTn id="68" fill="hold">
                            <p:stCondLst>
                              <p:cond delay="500"/>
                            </p:stCondLst>
                            <p:childTnLst>
                              <p:par>
                                <p:cTn id="69" presetID="1" presetClass="entr" presetSubtype="0" fill="hold" grpId="0" nodeType="afterEffect">
                                  <p:stCondLst>
                                    <p:cond delay="0"/>
                                  </p:stCondLst>
                                  <p:childTnLst>
                                    <p:set>
                                      <p:cBhvr>
                                        <p:cTn id="70" dur="1" fill="hold">
                                          <p:stCondLst>
                                            <p:cond delay="0"/>
                                          </p:stCondLst>
                                        </p:cTn>
                                        <p:tgtEl>
                                          <p:spTgt spid="1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 grpId="0" animBg="1"/>
      <p:bldP spid="103" grpId="0" animBg="1"/>
      <p:bldP spid="104" grpId="0" animBg="1"/>
      <p:bldP spid="105" grpId="0" animBg="1"/>
      <p:bldP spid="55" grpId="0" animBg="1"/>
      <p:bldP spid="75" grpId="0" animBg="1"/>
      <p:bldP spid="75" grpId="1" animBg="1"/>
      <p:bldP spid="76" grpId="0" animBg="1"/>
      <p:bldP spid="76" grpId="1" animBg="1"/>
      <p:bldP spid="77" grpId="0" animBg="1"/>
      <p:bldP spid="77" grpId="1" animBg="1"/>
      <p:bldP spid="78" grpId="0" animBg="1"/>
      <p:bldP spid="78" grpId="1" animBg="1"/>
      <p:bldP spid="83" grpId="0" animBg="1"/>
      <p:bldP spid="84" grpId="0" animBg="1"/>
      <p:bldP spid="85" grpId="0" animBg="1"/>
      <p:bldP spid="86" grpId="0" animBg="1"/>
      <p:bldP spid="87" grpId="0" animBg="1"/>
      <p:bldP spid="110" grpId="0"/>
      <p:bldP spid="115"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3" cstate="print"/>
          <a:srcRect/>
          <a:stretch>
            <a:fillRect/>
          </a:stretch>
        </p:blipFill>
        <p:spPr bwMode="auto">
          <a:xfrm>
            <a:off x="3657600" y="2343150"/>
            <a:ext cx="550576" cy="781050"/>
          </a:xfrm>
          <a:prstGeom prst="rect">
            <a:avLst/>
          </a:prstGeom>
          <a:noFill/>
          <a:ln w="9525">
            <a:noFill/>
            <a:miter lim="800000"/>
            <a:headEnd/>
            <a:tailEnd/>
          </a:ln>
        </p:spPr>
      </p:pic>
      <p:pic>
        <p:nvPicPr>
          <p:cNvPr id="42" name="Picture 4"/>
          <p:cNvPicPr>
            <a:picLocks noChangeAspect="1" noChangeArrowheads="1"/>
          </p:cNvPicPr>
          <p:nvPr/>
        </p:nvPicPr>
        <p:blipFill>
          <a:blip r:embed="rId3" cstate="print"/>
          <a:srcRect/>
          <a:stretch>
            <a:fillRect/>
          </a:stretch>
        </p:blipFill>
        <p:spPr bwMode="auto">
          <a:xfrm>
            <a:off x="5469224" y="4343400"/>
            <a:ext cx="550576" cy="781050"/>
          </a:xfrm>
          <a:prstGeom prst="rect">
            <a:avLst/>
          </a:prstGeom>
          <a:noFill/>
          <a:ln w="9525">
            <a:noFill/>
            <a:miter lim="800000"/>
            <a:headEnd/>
            <a:tailEnd/>
          </a:ln>
        </p:spPr>
      </p:pic>
      <p:sp>
        <p:nvSpPr>
          <p:cNvPr id="2" name="Slide Number Placeholder 1"/>
          <p:cNvSpPr>
            <a:spLocks noGrp="1"/>
          </p:cNvSpPr>
          <p:nvPr>
            <p:ph type="sldNum" sz="quarter" idx="12"/>
          </p:nvPr>
        </p:nvSpPr>
        <p:spPr/>
        <p:txBody>
          <a:bodyPr/>
          <a:lstStyle/>
          <a:p>
            <a:fld id="{B6F15528-21DE-4FAA-801E-634DDDAF4B2B}" type="slidenum">
              <a:rPr lang="en-US" smtClean="0"/>
              <a:pPr/>
              <a:t>20</a:t>
            </a:fld>
            <a:endParaRPr lang="en-US" dirty="0"/>
          </a:p>
        </p:txBody>
      </p:sp>
      <p:cxnSp>
        <p:nvCxnSpPr>
          <p:cNvPr id="3" name="Straight Connector 2"/>
          <p:cNvCxnSpPr/>
          <p:nvPr/>
        </p:nvCxnSpPr>
        <p:spPr>
          <a:xfrm>
            <a:off x="457200" y="762000"/>
            <a:ext cx="8229600" cy="0"/>
          </a:xfrm>
          <a:prstGeom prst="line">
            <a:avLst/>
          </a:prstGeom>
          <a:ln w="63500">
            <a:solidFill>
              <a:srgbClr val="C00000"/>
            </a:solidFill>
          </a:ln>
        </p:spPr>
        <p:style>
          <a:lnRef idx="1">
            <a:schemeClr val="accent1"/>
          </a:lnRef>
          <a:fillRef idx="0">
            <a:schemeClr val="accent1"/>
          </a:fillRef>
          <a:effectRef idx="0">
            <a:schemeClr val="accent1"/>
          </a:effectRef>
          <a:fontRef idx="minor">
            <a:schemeClr val="tx1"/>
          </a:fontRef>
        </p:style>
      </p:cxnSp>
      <p:sp>
        <p:nvSpPr>
          <p:cNvPr id="4" name="Title 1"/>
          <p:cNvSpPr txBox="1">
            <a:spLocks/>
          </p:cNvSpPr>
          <p:nvPr/>
        </p:nvSpPr>
        <p:spPr>
          <a:xfrm>
            <a:off x="457200" y="76200"/>
            <a:ext cx="8229600" cy="1143000"/>
          </a:xfrm>
          <a:prstGeom prst="rect">
            <a:avLst/>
          </a:prstGeom>
        </p:spPr>
        <p:txBody>
          <a:bodyPr/>
          <a:lstStyle/>
          <a:p>
            <a:pPr lvl="0" algn="ctr">
              <a:spcBef>
                <a:spcPct val="0"/>
              </a:spcBef>
              <a:defRPr/>
            </a:pPr>
            <a:r>
              <a:rPr lang="en-US" sz="3800" b="1" dirty="0">
                <a:effectLst>
                  <a:outerShdw blurRad="38100" dist="38100" dir="2700000" algn="tl">
                    <a:srgbClr val="000000">
                      <a:alpha val="43137"/>
                    </a:srgbClr>
                  </a:outerShdw>
                </a:effectLst>
                <a:latin typeface="Garamond" pitchFamily="18" charset="0"/>
              </a:rPr>
              <a:t>MR(</a:t>
            </a:r>
            <a:r>
              <a:rPr lang="en-US" sz="3800" b="1" dirty="0" err="1">
                <a:effectLst>
                  <a:outerShdw blurRad="38100" dist="38100" dir="2700000" algn="tl">
                    <a:srgbClr val="000000">
                      <a:alpha val="43137"/>
                    </a:srgbClr>
                  </a:outerShdw>
                </a:effectLst>
                <a:latin typeface="Garamond" pitchFamily="18" charset="0"/>
              </a:rPr>
              <a:t>Hadoop</a:t>
            </a:r>
            <a:r>
              <a:rPr lang="en-US" sz="3800" b="1" dirty="0">
                <a:effectLst>
                  <a:outerShdw blurRad="38100" dist="38100" dir="2700000" algn="tl">
                    <a:srgbClr val="000000">
                      <a:alpha val="43137"/>
                    </a:srgbClr>
                  </a:outerShdw>
                </a:effectLst>
                <a:latin typeface="Garamond" pitchFamily="18" charset="0"/>
              </a:rPr>
              <a:t>) Job Execution Patterns</a:t>
            </a:r>
          </a:p>
        </p:txBody>
      </p:sp>
      <p:sp>
        <p:nvSpPr>
          <p:cNvPr id="7" name="TextBox 6"/>
          <p:cNvSpPr txBox="1"/>
          <p:nvPr/>
        </p:nvSpPr>
        <p:spPr>
          <a:xfrm>
            <a:off x="3200400" y="762000"/>
            <a:ext cx="1456232" cy="369332"/>
          </a:xfrm>
          <a:prstGeom prst="rect">
            <a:avLst/>
          </a:prstGeom>
          <a:noFill/>
        </p:spPr>
        <p:txBody>
          <a:bodyPr wrap="none" rtlCol="0">
            <a:spAutoFit/>
          </a:bodyPr>
          <a:lstStyle/>
          <a:p>
            <a:r>
              <a:rPr lang="en-US" b="1" dirty="0">
                <a:latin typeface="Garamond" pitchFamily="18" charset="0"/>
              </a:rPr>
              <a:t>MR program</a:t>
            </a:r>
          </a:p>
        </p:txBody>
      </p:sp>
      <p:sp>
        <p:nvSpPr>
          <p:cNvPr id="10" name="TextBox 9"/>
          <p:cNvSpPr txBox="1"/>
          <p:nvPr/>
        </p:nvSpPr>
        <p:spPr>
          <a:xfrm>
            <a:off x="4191000" y="2495550"/>
            <a:ext cx="1407758" cy="369332"/>
          </a:xfrm>
          <a:prstGeom prst="rect">
            <a:avLst/>
          </a:prstGeom>
          <a:noFill/>
        </p:spPr>
        <p:txBody>
          <a:bodyPr wrap="none" rtlCol="0">
            <a:spAutoFit/>
          </a:bodyPr>
          <a:lstStyle/>
          <a:p>
            <a:r>
              <a:rPr lang="en-US" b="1" dirty="0">
                <a:latin typeface="Garamond" pitchFamily="18" charset="0"/>
              </a:rPr>
              <a:t>Master node</a:t>
            </a:r>
          </a:p>
        </p:txBody>
      </p:sp>
      <p:cxnSp>
        <p:nvCxnSpPr>
          <p:cNvPr id="14" name="Straight Arrow Connector 13"/>
          <p:cNvCxnSpPr/>
          <p:nvPr/>
        </p:nvCxnSpPr>
        <p:spPr>
          <a:xfrm rot="5400000">
            <a:off x="3620691" y="2019697"/>
            <a:ext cx="532606" cy="1588"/>
          </a:xfrm>
          <a:prstGeom prst="straightConnector1">
            <a:avLst/>
          </a:prstGeom>
          <a:ln w="50800">
            <a:solidFill>
              <a:schemeClr val="tx1"/>
            </a:solidFill>
            <a:prstDash val="sysDot"/>
            <a:tailEnd type="arrow"/>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4038600" y="1752600"/>
            <a:ext cx="1897699" cy="369332"/>
          </a:xfrm>
          <a:prstGeom prst="rect">
            <a:avLst/>
          </a:prstGeom>
          <a:noFill/>
          <a:ln w="38100">
            <a:solidFill>
              <a:schemeClr val="accent1">
                <a:shade val="50000"/>
              </a:schemeClr>
            </a:solidFill>
          </a:ln>
        </p:spPr>
        <p:txBody>
          <a:bodyPr wrap="none" rtlCol="0">
            <a:spAutoFit/>
          </a:bodyPr>
          <a:lstStyle/>
          <a:p>
            <a:r>
              <a:rPr lang="en-US" b="1" dirty="0">
                <a:latin typeface="Garamond" pitchFamily="18" charset="0"/>
              </a:rPr>
              <a:t>1: Job submission</a:t>
            </a:r>
          </a:p>
        </p:txBody>
      </p:sp>
      <p:sp>
        <p:nvSpPr>
          <p:cNvPr id="18" name="TextBox 17"/>
          <p:cNvSpPr txBox="1"/>
          <p:nvPr/>
        </p:nvSpPr>
        <p:spPr>
          <a:xfrm>
            <a:off x="1600200" y="2971800"/>
            <a:ext cx="1529329" cy="369332"/>
          </a:xfrm>
          <a:prstGeom prst="rect">
            <a:avLst/>
          </a:prstGeom>
          <a:noFill/>
        </p:spPr>
        <p:txBody>
          <a:bodyPr wrap="none" rtlCol="0">
            <a:spAutoFit/>
          </a:bodyPr>
          <a:lstStyle/>
          <a:p>
            <a:r>
              <a:rPr lang="en-US" b="1" dirty="0">
                <a:latin typeface="Garamond" pitchFamily="18" charset="0"/>
              </a:rPr>
              <a:t>Worker nodes</a:t>
            </a:r>
          </a:p>
        </p:txBody>
      </p:sp>
      <p:pic>
        <p:nvPicPr>
          <p:cNvPr id="19" name="Picture 4"/>
          <p:cNvPicPr>
            <a:picLocks noChangeAspect="1" noChangeArrowheads="1"/>
          </p:cNvPicPr>
          <p:nvPr/>
        </p:nvPicPr>
        <p:blipFill>
          <a:blip r:embed="rId3" cstate="print"/>
          <a:srcRect/>
          <a:stretch>
            <a:fillRect/>
          </a:stretch>
        </p:blipFill>
        <p:spPr bwMode="auto">
          <a:xfrm>
            <a:off x="1905000" y="4476750"/>
            <a:ext cx="550576" cy="781050"/>
          </a:xfrm>
          <a:prstGeom prst="rect">
            <a:avLst/>
          </a:prstGeom>
          <a:noFill/>
          <a:ln w="9525">
            <a:noFill/>
            <a:miter lim="800000"/>
            <a:headEnd/>
            <a:tailEnd/>
          </a:ln>
        </p:spPr>
      </p:pic>
      <p:pic>
        <p:nvPicPr>
          <p:cNvPr id="25" name="Picture 4"/>
          <p:cNvPicPr>
            <a:picLocks noChangeAspect="1" noChangeArrowheads="1"/>
          </p:cNvPicPr>
          <p:nvPr/>
        </p:nvPicPr>
        <p:blipFill>
          <a:blip r:embed="rId3" cstate="print"/>
          <a:srcRect/>
          <a:stretch>
            <a:fillRect/>
          </a:stretch>
        </p:blipFill>
        <p:spPr bwMode="auto">
          <a:xfrm>
            <a:off x="1905000" y="3429000"/>
            <a:ext cx="550576" cy="781050"/>
          </a:xfrm>
          <a:prstGeom prst="rect">
            <a:avLst/>
          </a:prstGeom>
          <a:noFill/>
          <a:ln w="9525">
            <a:noFill/>
            <a:miter lim="800000"/>
            <a:headEnd/>
            <a:tailEnd/>
          </a:ln>
        </p:spPr>
      </p:pic>
      <p:pic>
        <p:nvPicPr>
          <p:cNvPr id="41" name="Picture 4"/>
          <p:cNvPicPr>
            <a:picLocks noChangeAspect="1" noChangeArrowheads="1"/>
          </p:cNvPicPr>
          <p:nvPr/>
        </p:nvPicPr>
        <p:blipFill>
          <a:blip r:embed="rId3" cstate="print"/>
          <a:srcRect/>
          <a:stretch>
            <a:fillRect/>
          </a:stretch>
        </p:blipFill>
        <p:spPr bwMode="auto">
          <a:xfrm>
            <a:off x="5486400" y="3257550"/>
            <a:ext cx="550576" cy="781050"/>
          </a:xfrm>
          <a:prstGeom prst="rect">
            <a:avLst/>
          </a:prstGeom>
          <a:noFill/>
          <a:ln w="9525">
            <a:noFill/>
            <a:miter lim="800000"/>
            <a:headEnd/>
            <a:tailEnd/>
          </a:ln>
        </p:spPr>
      </p:pic>
      <p:sp>
        <p:nvSpPr>
          <p:cNvPr id="44" name="TextBox 43"/>
          <p:cNvSpPr txBox="1"/>
          <p:nvPr/>
        </p:nvSpPr>
        <p:spPr>
          <a:xfrm>
            <a:off x="5177516" y="2895600"/>
            <a:ext cx="1529329" cy="369332"/>
          </a:xfrm>
          <a:prstGeom prst="rect">
            <a:avLst/>
          </a:prstGeom>
          <a:noFill/>
        </p:spPr>
        <p:txBody>
          <a:bodyPr wrap="none" rtlCol="0">
            <a:spAutoFit/>
          </a:bodyPr>
          <a:lstStyle/>
          <a:p>
            <a:r>
              <a:rPr lang="en-US" b="1" dirty="0">
                <a:latin typeface="Garamond" pitchFamily="18" charset="0"/>
              </a:rPr>
              <a:t>Worker nodes</a:t>
            </a:r>
          </a:p>
        </p:txBody>
      </p:sp>
      <p:sp>
        <p:nvSpPr>
          <p:cNvPr id="62" name="Oval 61"/>
          <p:cNvSpPr/>
          <p:nvPr/>
        </p:nvSpPr>
        <p:spPr>
          <a:xfrm>
            <a:off x="228600" y="914400"/>
            <a:ext cx="304800" cy="30480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TextBox 62"/>
          <p:cNvSpPr txBox="1"/>
          <p:nvPr/>
        </p:nvSpPr>
        <p:spPr>
          <a:xfrm>
            <a:off x="609600" y="914400"/>
            <a:ext cx="1828800" cy="369332"/>
          </a:xfrm>
          <a:prstGeom prst="rect">
            <a:avLst/>
          </a:prstGeom>
          <a:noFill/>
        </p:spPr>
        <p:txBody>
          <a:bodyPr wrap="square" rtlCol="0">
            <a:spAutoFit/>
          </a:bodyPr>
          <a:lstStyle/>
          <a:p>
            <a:r>
              <a:rPr lang="en-US" b="1" dirty="0">
                <a:latin typeface="Garamond" pitchFamily="18" charset="0"/>
              </a:rPr>
              <a:t>Map Tasks</a:t>
            </a:r>
          </a:p>
        </p:txBody>
      </p:sp>
      <p:sp>
        <p:nvSpPr>
          <p:cNvPr id="64" name="Oval 63"/>
          <p:cNvSpPr/>
          <p:nvPr/>
        </p:nvSpPr>
        <p:spPr>
          <a:xfrm>
            <a:off x="228600" y="1307068"/>
            <a:ext cx="304800" cy="304800"/>
          </a:xfrm>
          <a:prstGeom prst="ellipse">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TextBox 64"/>
          <p:cNvSpPr txBox="1"/>
          <p:nvPr/>
        </p:nvSpPr>
        <p:spPr>
          <a:xfrm>
            <a:off x="609600" y="1307068"/>
            <a:ext cx="1828800" cy="369332"/>
          </a:xfrm>
          <a:prstGeom prst="rect">
            <a:avLst/>
          </a:prstGeom>
          <a:noFill/>
        </p:spPr>
        <p:txBody>
          <a:bodyPr wrap="square" rtlCol="0">
            <a:spAutoFit/>
          </a:bodyPr>
          <a:lstStyle/>
          <a:p>
            <a:r>
              <a:rPr lang="en-US" b="1" dirty="0">
                <a:latin typeface="Garamond" pitchFamily="18" charset="0"/>
              </a:rPr>
              <a:t>Reduce Tasks</a:t>
            </a:r>
          </a:p>
        </p:txBody>
      </p:sp>
      <p:sp>
        <p:nvSpPr>
          <p:cNvPr id="70" name="Oval 69"/>
          <p:cNvSpPr/>
          <p:nvPr/>
        </p:nvSpPr>
        <p:spPr>
          <a:xfrm>
            <a:off x="2209800" y="3886200"/>
            <a:ext cx="304800" cy="30480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Oval 70"/>
          <p:cNvSpPr/>
          <p:nvPr/>
        </p:nvSpPr>
        <p:spPr>
          <a:xfrm>
            <a:off x="2209800" y="4876800"/>
            <a:ext cx="304800" cy="30480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p:cNvSpPr/>
          <p:nvPr/>
        </p:nvSpPr>
        <p:spPr>
          <a:xfrm>
            <a:off x="5791200" y="3657600"/>
            <a:ext cx="304800" cy="304800"/>
          </a:xfrm>
          <a:prstGeom prst="ellipse">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Oval 72"/>
          <p:cNvSpPr/>
          <p:nvPr/>
        </p:nvSpPr>
        <p:spPr>
          <a:xfrm>
            <a:off x="5791200" y="4724400"/>
            <a:ext cx="304800" cy="304800"/>
          </a:xfrm>
          <a:prstGeom prst="ellipse">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56"/>
          <p:cNvGrpSpPr/>
          <p:nvPr/>
        </p:nvGrpSpPr>
        <p:grpSpPr>
          <a:xfrm>
            <a:off x="304800" y="2895600"/>
            <a:ext cx="990600" cy="3733800"/>
            <a:chOff x="304800" y="2895600"/>
            <a:chExt cx="990600" cy="3733800"/>
          </a:xfrm>
        </p:grpSpPr>
        <p:sp>
          <p:nvSpPr>
            <p:cNvPr id="58" name="Flowchart: Document 57"/>
            <p:cNvSpPr/>
            <p:nvPr/>
          </p:nvSpPr>
          <p:spPr>
            <a:xfrm>
              <a:off x="304800" y="2895600"/>
              <a:ext cx="990600" cy="3733800"/>
            </a:xfrm>
            <a:prstGeom prst="flowChartDocumen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Flowchart: Magnetic Disk 58"/>
            <p:cNvSpPr/>
            <p:nvPr/>
          </p:nvSpPr>
          <p:spPr>
            <a:xfrm>
              <a:off x="533400" y="3124200"/>
              <a:ext cx="533400" cy="533400"/>
            </a:xfrm>
            <a:prstGeom prst="flowChartMagneticDisk">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Flowchart: Magnetic Disk 59"/>
            <p:cNvSpPr/>
            <p:nvPr/>
          </p:nvSpPr>
          <p:spPr>
            <a:xfrm>
              <a:off x="533400" y="3733800"/>
              <a:ext cx="533400" cy="533400"/>
            </a:xfrm>
            <a:prstGeom prst="flowChartMagneticDisk">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Flowchart: Magnetic Disk 60"/>
            <p:cNvSpPr/>
            <p:nvPr/>
          </p:nvSpPr>
          <p:spPr>
            <a:xfrm>
              <a:off x="533400" y="4419600"/>
              <a:ext cx="533400" cy="533400"/>
            </a:xfrm>
            <a:prstGeom prst="flowChartMagneticDisk">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Flowchart: Magnetic Disk 73"/>
            <p:cNvSpPr/>
            <p:nvPr/>
          </p:nvSpPr>
          <p:spPr>
            <a:xfrm>
              <a:off x="533400" y="5029200"/>
              <a:ext cx="533400" cy="533400"/>
            </a:xfrm>
            <a:prstGeom prst="flowChartMagneticDisk">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5" name="Flowchart: Magnetic Disk 74"/>
          <p:cNvSpPr/>
          <p:nvPr/>
        </p:nvSpPr>
        <p:spPr>
          <a:xfrm>
            <a:off x="2895600" y="3124200"/>
            <a:ext cx="533400" cy="533400"/>
          </a:xfrm>
          <a:prstGeom prst="flowChartMagneticDisk">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Flowchart: Magnetic Disk 75"/>
          <p:cNvSpPr/>
          <p:nvPr/>
        </p:nvSpPr>
        <p:spPr>
          <a:xfrm>
            <a:off x="2895600" y="3810000"/>
            <a:ext cx="533400" cy="533400"/>
          </a:xfrm>
          <a:prstGeom prst="flowChartMagneticDisk">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Flowchart: Magnetic Disk 76"/>
          <p:cNvSpPr/>
          <p:nvPr/>
        </p:nvSpPr>
        <p:spPr>
          <a:xfrm>
            <a:off x="2895600" y="4495800"/>
            <a:ext cx="533400" cy="533400"/>
          </a:xfrm>
          <a:prstGeom prst="flowChartMagneticDisk">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Flowchart: Magnetic Disk 77"/>
          <p:cNvSpPr/>
          <p:nvPr/>
        </p:nvSpPr>
        <p:spPr>
          <a:xfrm>
            <a:off x="2895600" y="5181600"/>
            <a:ext cx="533400" cy="533400"/>
          </a:xfrm>
          <a:prstGeom prst="flowChartMagneticDisk">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Flowchart: Magnetic Disk 78"/>
          <p:cNvSpPr/>
          <p:nvPr/>
        </p:nvSpPr>
        <p:spPr>
          <a:xfrm>
            <a:off x="4648200" y="3124200"/>
            <a:ext cx="533400" cy="533400"/>
          </a:xfrm>
          <a:prstGeom prst="flowChartMagneticDisk">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Flowchart: Magnetic Disk 79"/>
          <p:cNvSpPr/>
          <p:nvPr/>
        </p:nvSpPr>
        <p:spPr>
          <a:xfrm>
            <a:off x="4648200" y="3733800"/>
            <a:ext cx="533400" cy="533400"/>
          </a:xfrm>
          <a:prstGeom prst="flowChartMagneticDisk">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Flowchart: Magnetic Disk 80"/>
          <p:cNvSpPr/>
          <p:nvPr/>
        </p:nvSpPr>
        <p:spPr>
          <a:xfrm>
            <a:off x="4648200" y="4419600"/>
            <a:ext cx="533400" cy="533400"/>
          </a:xfrm>
          <a:prstGeom prst="flowChartMagneticDisk">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Flowchart: Magnetic Disk 81"/>
          <p:cNvSpPr/>
          <p:nvPr/>
        </p:nvSpPr>
        <p:spPr>
          <a:xfrm>
            <a:off x="4648200" y="5181600"/>
            <a:ext cx="533400" cy="533400"/>
          </a:xfrm>
          <a:prstGeom prst="flowChartMagneticDisk">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Freeform 82"/>
          <p:cNvSpPr/>
          <p:nvPr/>
        </p:nvSpPr>
        <p:spPr>
          <a:xfrm>
            <a:off x="1066799" y="3352800"/>
            <a:ext cx="1743635" cy="433294"/>
          </a:xfrm>
          <a:custGeom>
            <a:avLst/>
            <a:gdLst>
              <a:gd name="connsiteX0" fmla="*/ 0 w 1653988"/>
              <a:gd name="connsiteY0" fmla="*/ 0 h 562535"/>
              <a:gd name="connsiteX1" fmla="*/ 1008529 w 1653988"/>
              <a:gd name="connsiteY1" fmla="*/ 537882 h 562535"/>
              <a:gd name="connsiteX2" fmla="*/ 1653988 w 1653988"/>
              <a:gd name="connsiteY2" fmla="*/ 147917 h 562535"/>
              <a:gd name="connsiteX0" fmla="*/ 0 w 1653988"/>
              <a:gd name="connsiteY0" fmla="*/ 0 h 522194"/>
              <a:gd name="connsiteX1" fmla="*/ 900953 w 1653988"/>
              <a:gd name="connsiteY1" fmla="*/ 497541 h 522194"/>
              <a:gd name="connsiteX2" fmla="*/ 1653988 w 1653988"/>
              <a:gd name="connsiteY2" fmla="*/ 147917 h 522194"/>
              <a:gd name="connsiteX0" fmla="*/ 0 w 1743635"/>
              <a:gd name="connsiteY0" fmla="*/ 0 h 433294"/>
              <a:gd name="connsiteX1" fmla="*/ 990600 w 1743635"/>
              <a:gd name="connsiteY1" fmla="*/ 421341 h 433294"/>
              <a:gd name="connsiteX2" fmla="*/ 1743635 w 1743635"/>
              <a:gd name="connsiteY2" fmla="*/ 71717 h 433294"/>
            </a:gdLst>
            <a:ahLst/>
            <a:cxnLst>
              <a:cxn ang="0">
                <a:pos x="connsiteX0" y="connsiteY0"/>
              </a:cxn>
              <a:cxn ang="0">
                <a:pos x="connsiteX1" y="connsiteY1"/>
              </a:cxn>
              <a:cxn ang="0">
                <a:pos x="connsiteX2" y="connsiteY2"/>
              </a:cxn>
            </a:cxnLst>
            <a:rect l="l" t="t" r="r" b="b"/>
            <a:pathLst>
              <a:path w="1743635" h="433294">
                <a:moveTo>
                  <a:pt x="0" y="0"/>
                </a:moveTo>
                <a:cubicBezTo>
                  <a:pt x="366432" y="256614"/>
                  <a:pt x="699994" y="409388"/>
                  <a:pt x="990600" y="421341"/>
                </a:cubicBezTo>
                <a:cubicBezTo>
                  <a:pt x="1281206" y="433294"/>
                  <a:pt x="1698811" y="40341"/>
                  <a:pt x="1743635" y="71717"/>
                </a:cubicBezTo>
              </a:path>
            </a:pathLst>
          </a:custGeom>
          <a:ln w="50800">
            <a:solidFill>
              <a:schemeClr val="tx1"/>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4" name="Freeform 83"/>
          <p:cNvSpPr/>
          <p:nvPr/>
        </p:nvSpPr>
        <p:spPr>
          <a:xfrm>
            <a:off x="1143000" y="3870263"/>
            <a:ext cx="1667435" cy="187760"/>
          </a:xfrm>
          <a:custGeom>
            <a:avLst/>
            <a:gdLst>
              <a:gd name="connsiteX0" fmla="*/ 0 w 1653988"/>
              <a:gd name="connsiteY0" fmla="*/ 0 h 562535"/>
              <a:gd name="connsiteX1" fmla="*/ 1008529 w 1653988"/>
              <a:gd name="connsiteY1" fmla="*/ 537882 h 562535"/>
              <a:gd name="connsiteX2" fmla="*/ 1653988 w 1653988"/>
              <a:gd name="connsiteY2" fmla="*/ 147917 h 562535"/>
              <a:gd name="connsiteX0" fmla="*/ 0 w 1653988"/>
              <a:gd name="connsiteY0" fmla="*/ 0 h 522194"/>
              <a:gd name="connsiteX1" fmla="*/ 900953 w 1653988"/>
              <a:gd name="connsiteY1" fmla="*/ 497541 h 522194"/>
              <a:gd name="connsiteX2" fmla="*/ 1653988 w 1653988"/>
              <a:gd name="connsiteY2" fmla="*/ 147917 h 522194"/>
              <a:gd name="connsiteX0" fmla="*/ 0 w 1743635"/>
              <a:gd name="connsiteY0" fmla="*/ 0 h 433294"/>
              <a:gd name="connsiteX1" fmla="*/ 990600 w 1743635"/>
              <a:gd name="connsiteY1" fmla="*/ 421341 h 433294"/>
              <a:gd name="connsiteX2" fmla="*/ 1743635 w 1743635"/>
              <a:gd name="connsiteY2" fmla="*/ 71717 h 433294"/>
              <a:gd name="connsiteX0" fmla="*/ 0 w 1743635"/>
              <a:gd name="connsiteY0" fmla="*/ 112059 h 368673"/>
              <a:gd name="connsiteX1" fmla="*/ 990600 w 1743635"/>
              <a:gd name="connsiteY1" fmla="*/ 11953 h 368673"/>
              <a:gd name="connsiteX2" fmla="*/ 1743635 w 1743635"/>
              <a:gd name="connsiteY2" fmla="*/ 183776 h 368673"/>
              <a:gd name="connsiteX0" fmla="*/ 0 w 1743635"/>
              <a:gd name="connsiteY0" fmla="*/ 415864 h 672478"/>
              <a:gd name="connsiteX1" fmla="*/ 990600 w 1743635"/>
              <a:gd name="connsiteY1" fmla="*/ 34863 h 672478"/>
              <a:gd name="connsiteX2" fmla="*/ 1743635 w 1743635"/>
              <a:gd name="connsiteY2" fmla="*/ 206686 h 672478"/>
              <a:gd name="connsiteX0" fmla="*/ 0 w 1743635"/>
              <a:gd name="connsiteY0" fmla="*/ 415864 h 415864"/>
              <a:gd name="connsiteX1" fmla="*/ 990600 w 1743635"/>
              <a:gd name="connsiteY1" fmla="*/ 34863 h 415864"/>
              <a:gd name="connsiteX2" fmla="*/ 1743635 w 1743635"/>
              <a:gd name="connsiteY2" fmla="*/ 206686 h 415864"/>
              <a:gd name="connsiteX0" fmla="*/ 0 w 1743635"/>
              <a:gd name="connsiteY0" fmla="*/ 396938 h 396938"/>
              <a:gd name="connsiteX1" fmla="*/ 228600 w 1743635"/>
              <a:gd name="connsiteY1" fmla="*/ 92137 h 396938"/>
              <a:gd name="connsiteX2" fmla="*/ 990600 w 1743635"/>
              <a:gd name="connsiteY2" fmla="*/ 15937 h 396938"/>
              <a:gd name="connsiteX3" fmla="*/ 1743635 w 1743635"/>
              <a:gd name="connsiteY3" fmla="*/ 187760 h 396938"/>
              <a:gd name="connsiteX0" fmla="*/ 0 w 1667435"/>
              <a:gd name="connsiteY0" fmla="*/ 168337 h 187760"/>
              <a:gd name="connsiteX1" fmla="*/ 152400 w 1667435"/>
              <a:gd name="connsiteY1" fmla="*/ 92137 h 187760"/>
              <a:gd name="connsiteX2" fmla="*/ 914400 w 1667435"/>
              <a:gd name="connsiteY2" fmla="*/ 15937 h 187760"/>
              <a:gd name="connsiteX3" fmla="*/ 1667435 w 1667435"/>
              <a:gd name="connsiteY3" fmla="*/ 187760 h 187760"/>
            </a:gdLst>
            <a:ahLst/>
            <a:cxnLst>
              <a:cxn ang="0">
                <a:pos x="connsiteX0" y="connsiteY0"/>
              </a:cxn>
              <a:cxn ang="0">
                <a:pos x="connsiteX1" y="connsiteY1"/>
              </a:cxn>
              <a:cxn ang="0">
                <a:pos x="connsiteX2" y="connsiteY2"/>
              </a:cxn>
              <a:cxn ang="0">
                <a:pos x="connsiteX3" y="connsiteY3"/>
              </a:cxn>
            </a:cxnLst>
            <a:rect l="l" t="t" r="r" b="b"/>
            <a:pathLst>
              <a:path w="1667435" h="187760">
                <a:moveTo>
                  <a:pt x="0" y="168337"/>
                </a:moveTo>
                <a:cubicBezTo>
                  <a:pt x="5977" y="165349"/>
                  <a:pt x="0" y="117537"/>
                  <a:pt x="152400" y="92137"/>
                </a:cubicBezTo>
                <a:cubicBezTo>
                  <a:pt x="304800" y="66737"/>
                  <a:pt x="661894" y="0"/>
                  <a:pt x="914400" y="15937"/>
                </a:cubicBezTo>
                <a:cubicBezTo>
                  <a:pt x="1166906" y="31874"/>
                  <a:pt x="1622611" y="156384"/>
                  <a:pt x="1667435" y="187760"/>
                </a:cubicBezTo>
              </a:path>
            </a:pathLst>
          </a:custGeom>
          <a:ln w="50800">
            <a:solidFill>
              <a:schemeClr val="tx1"/>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5" name="Freeform 84"/>
          <p:cNvSpPr/>
          <p:nvPr/>
        </p:nvSpPr>
        <p:spPr>
          <a:xfrm>
            <a:off x="1066800" y="4648200"/>
            <a:ext cx="1743635" cy="433294"/>
          </a:xfrm>
          <a:custGeom>
            <a:avLst/>
            <a:gdLst>
              <a:gd name="connsiteX0" fmla="*/ 0 w 1653988"/>
              <a:gd name="connsiteY0" fmla="*/ 0 h 562535"/>
              <a:gd name="connsiteX1" fmla="*/ 1008529 w 1653988"/>
              <a:gd name="connsiteY1" fmla="*/ 537882 h 562535"/>
              <a:gd name="connsiteX2" fmla="*/ 1653988 w 1653988"/>
              <a:gd name="connsiteY2" fmla="*/ 147917 h 562535"/>
              <a:gd name="connsiteX0" fmla="*/ 0 w 1653988"/>
              <a:gd name="connsiteY0" fmla="*/ 0 h 522194"/>
              <a:gd name="connsiteX1" fmla="*/ 900953 w 1653988"/>
              <a:gd name="connsiteY1" fmla="*/ 497541 h 522194"/>
              <a:gd name="connsiteX2" fmla="*/ 1653988 w 1653988"/>
              <a:gd name="connsiteY2" fmla="*/ 147917 h 522194"/>
              <a:gd name="connsiteX0" fmla="*/ 0 w 1743635"/>
              <a:gd name="connsiteY0" fmla="*/ 0 h 433294"/>
              <a:gd name="connsiteX1" fmla="*/ 990600 w 1743635"/>
              <a:gd name="connsiteY1" fmla="*/ 421341 h 433294"/>
              <a:gd name="connsiteX2" fmla="*/ 1743635 w 1743635"/>
              <a:gd name="connsiteY2" fmla="*/ 71717 h 433294"/>
            </a:gdLst>
            <a:ahLst/>
            <a:cxnLst>
              <a:cxn ang="0">
                <a:pos x="connsiteX0" y="connsiteY0"/>
              </a:cxn>
              <a:cxn ang="0">
                <a:pos x="connsiteX1" y="connsiteY1"/>
              </a:cxn>
              <a:cxn ang="0">
                <a:pos x="connsiteX2" y="connsiteY2"/>
              </a:cxn>
            </a:cxnLst>
            <a:rect l="l" t="t" r="r" b="b"/>
            <a:pathLst>
              <a:path w="1743635" h="433294">
                <a:moveTo>
                  <a:pt x="0" y="0"/>
                </a:moveTo>
                <a:cubicBezTo>
                  <a:pt x="366432" y="256614"/>
                  <a:pt x="699994" y="409388"/>
                  <a:pt x="990600" y="421341"/>
                </a:cubicBezTo>
                <a:cubicBezTo>
                  <a:pt x="1281206" y="433294"/>
                  <a:pt x="1698811" y="40341"/>
                  <a:pt x="1743635" y="71717"/>
                </a:cubicBezTo>
              </a:path>
            </a:pathLst>
          </a:custGeom>
          <a:ln w="50800">
            <a:solidFill>
              <a:schemeClr val="tx1"/>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6" name="Freeform 85"/>
          <p:cNvSpPr/>
          <p:nvPr/>
        </p:nvSpPr>
        <p:spPr>
          <a:xfrm>
            <a:off x="1143001" y="5165663"/>
            <a:ext cx="1667435" cy="187760"/>
          </a:xfrm>
          <a:custGeom>
            <a:avLst/>
            <a:gdLst>
              <a:gd name="connsiteX0" fmla="*/ 0 w 1653988"/>
              <a:gd name="connsiteY0" fmla="*/ 0 h 562535"/>
              <a:gd name="connsiteX1" fmla="*/ 1008529 w 1653988"/>
              <a:gd name="connsiteY1" fmla="*/ 537882 h 562535"/>
              <a:gd name="connsiteX2" fmla="*/ 1653988 w 1653988"/>
              <a:gd name="connsiteY2" fmla="*/ 147917 h 562535"/>
              <a:gd name="connsiteX0" fmla="*/ 0 w 1653988"/>
              <a:gd name="connsiteY0" fmla="*/ 0 h 522194"/>
              <a:gd name="connsiteX1" fmla="*/ 900953 w 1653988"/>
              <a:gd name="connsiteY1" fmla="*/ 497541 h 522194"/>
              <a:gd name="connsiteX2" fmla="*/ 1653988 w 1653988"/>
              <a:gd name="connsiteY2" fmla="*/ 147917 h 522194"/>
              <a:gd name="connsiteX0" fmla="*/ 0 w 1743635"/>
              <a:gd name="connsiteY0" fmla="*/ 0 h 433294"/>
              <a:gd name="connsiteX1" fmla="*/ 990600 w 1743635"/>
              <a:gd name="connsiteY1" fmla="*/ 421341 h 433294"/>
              <a:gd name="connsiteX2" fmla="*/ 1743635 w 1743635"/>
              <a:gd name="connsiteY2" fmla="*/ 71717 h 433294"/>
              <a:gd name="connsiteX0" fmla="*/ 0 w 1743635"/>
              <a:gd name="connsiteY0" fmla="*/ 112059 h 368673"/>
              <a:gd name="connsiteX1" fmla="*/ 990600 w 1743635"/>
              <a:gd name="connsiteY1" fmla="*/ 11953 h 368673"/>
              <a:gd name="connsiteX2" fmla="*/ 1743635 w 1743635"/>
              <a:gd name="connsiteY2" fmla="*/ 183776 h 368673"/>
              <a:gd name="connsiteX0" fmla="*/ 0 w 1743635"/>
              <a:gd name="connsiteY0" fmla="*/ 415864 h 672478"/>
              <a:gd name="connsiteX1" fmla="*/ 990600 w 1743635"/>
              <a:gd name="connsiteY1" fmla="*/ 34863 h 672478"/>
              <a:gd name="connsiteX2" fmla="*/ 1743635 w 1743635"/>
              <a:gd name="connsiteY2" fmla="*/ 206686 h 672478"/>
              <a:gd name="connsiteX0" fmla="*/ 0 w 1743635"/>
              <a:gd name="connsiteY0" fmla="*/ 415864 h 415864"/>
              <a:gd name="connsiteX1" fmla="*/ 990600 w 1743635"/>
              <a:gd name="connsiteY1" fmla="*/ 34863 h 415864"/>
              <a:gd name="connsiteX2" fmla="*/ 1743635 w 1743635"/>
              <a:gd name="connsiteY2" fmla="*/ 206686 h 415864"/>
              <a:gd name="connsiteX0" fmla="*/ 0 w 1743635"/>
              <a:gd name="connsiteY0" fmla="*/ 396938 h 396938"/>
              <a:gd name="connsiteX1" fmla="*/ 228600 w 1743635"/>
              <a:gd name="connsiteY1" fmla="*/ 92137 h 396938"/>
              <a:gd name="connsiteX2" fmla="*/ 990600 w 1743635"/>
              <a:gd name="connsiteY2" fmla="*/ 15937 h 396938"/>
              <a:gd name="connsiteX3" fmla="*/ 1743635 w 1743635"/>
              <a:gd name="connsiteY3" fmla="*/ 187760 h 396938"/>
              <a:gd name="connsiteX0" fmla="*/ 0 w 1667435"/>
              <a:gd name="connsiteY0" fmla="*/ 168337 h 187760"/>
              <a:gd name="connsiteX1" fmla="*/ 152400 w 1667435"/>
              <a:gd name="connsiteY1" fmla="*/ 92137 h 187760"/>
              <a:gd name="connsiteX2" fmla="*/ 914400 w 1667435"/>
              <a:gd name="connsiteY2" fmla="*/ 15937 h 187760"/>
              <a:gd name="connsiteX3" fmla="*/ 1667435 w 1667435"/>
              <a:gd name="connsiteY3" fmla="*/ 187760 h 187760"/>
            </a:gdLst>
            <a:ahLst/>
            <a:cxnLst>
              <a:cxn ang="0">
                <a:pos x="connsiteX0" y="connsiteY0"/>
              </a:cxn>
              <a:cxn ang="0">
                <a:pos x="connsiteX1" y="connsiteY1"/>
              </a:cxn>
              <a:cxn ang="0">
                <a:pos x="connsiteX2" y="connsiteY2"/>
              </a:cxn>
              <a:cxn ang="0">
                <a:pos x="connsiteX3" y="connsiteY3"/>
              </a:cxn>
            </a:cxnLst>
            <a:rect l="l" t="t" r="r" b="b"/>
            <a:pathLst>
              <a:path w="1667435" h="187760">
                <a:moveTo>
                  <a:pt x="0" y="168337"/>
                </a:moveTo>
                <a:cubicBezTo>
                  <a:pt x="5977" y="165349"/>
                  <a:pt x="0" y="117537"/>
                  <a:pt x="152400" y="92137"/>
                </a:cubicBezTo>
                <a:cubicBezTo>
                  <a:pt x="304800" y="66737"/>
                  <a:pt x="661894" y="0"/>
                  <a:pt x="914400" y="15937"/>
                </a:cubicBezTo>
                <a:cubicBezTo>
                  <a:pt x="1166906" y="31874"/>
                  <a:pt x="1622611" y="156384"/>
                  <a:pt x="1667435" y="187760"/>
                </a:cubicBezTo>
              </a:path>
            </a:pathLst>
          </a:custGeom>
          <a:ln w="50800">
            <a:solidFill>
              <a:schemeClr val="tx1"/>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45" name="Straight Arrow Connector 44"/>
          <p:cNvCxnSpPr/>
          <p:nvPr/>
        </p:nvCxnSpPr>
        <p:spPr>
          <a:xfrm>
            <a:off x="3505200" y="4114800"/>
            <a:ext cx="1143000" cy="457200"/>
          </a:xfrm>
          <a:prstGeom prst="straightConnector1">
            <a:avLst/>
          </a:prstGeom>
          <a:ln w="50800">
            <a:solidFill>
              <a:schemeClr val="tx1"/>
            </a:solidFill>
            <a:tailEnd type="stealth"/>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p:nvPr/>
        </p:nvCxnSpPr>
        <p:spPr>
          <a:xfrm flipV="1">
            <a:off x="3581400" y="4114800"/>
            <a:ext cx="1066800" cy="533400"/>
          </a:xfrm>
          <a:prstGeom prst="straightConnector1">
            <a:avLst/>
          </a:prstGeom>
          <a:ln w="50800">
            <a:solidFill>
              <a:schemeClr val="tx1"/>
            </a:solidFill>
            <a:tailEnd type="stealth"/>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p:nvPr/>
        </p:nvCxnSpPr>
        <p:spPr>
          <a:xfrm>
            <a:off x="3505200" y="3429000"/>
            <a:ext cx="1143000" cy="1588"/>
          </a:xfrm>
          <a:prstGeom prst="straightConnector1">
            <a:avLst/>
          </a:prstGeom>
          <a:ln w="50800">
            <a:solidFill>
              <a:schemeClr val="tx1"/>
            </a:solidFill>
            <a:tailEnd type="stealth"/>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p:nvPr/>
        </p:nvCxnSpPr>
        <p:spPr>
          <a:xfrm>
            <a:off x="3581400" y="5484812"/>
            <a:ext cx="1066800" cy="1588"/>
          </a:xfrm>
          <a:prstGeom prst="straightConnector1">
            <a:avLst/>
          </a:prstGeom>
          <a:ln w="50800">
            <a:solidFill>
              <a:schemeClr val="tx1"/>
            </a:solidFill>
            <a:tailEnd type="stealth"/>
          </a:ln>
        </p:spPr>
        <p:style>
          <a:lnRef idx="1">
            <a:schemeClr val="accent1"/>
          </a:lnRef>
          <a:fillRef idx="0">
            <a:schemeClr val="accent1"/>
          </a:fillRef>
          <a:effectRef idx="0">
            <a:schemeClr val="accent1"/>
          </a:effectRef>
          <a:fontRef idx="minor">
            <a:schemeClr val="tx1"/>
          </a:fontRef>
        </p:style>
      </p:cxnSp>
      <p:sp>
        <p:nvSpPr>
          <p:cNvPr id="49" name="TextBox 48"/>
          <p:cNvSpPr txBox="1"/>
          <p:nvPr/>
        </p:nvSpPr>
        <p:spPr>
          <a:xfrm>
            <a:off x="5181600" y="5943600"/>
            <a:ext cx="2057400" cy="646331"/>
          </a:xfrm>
          <a:prstGeom prst="rect">
            <a:avLst/>
          </a:prstGeom>
          <a:noFill/>
          <a:ln w="38100">
            <a:solidFill>
              <a:schemeClr val="accent1">
                <a:shade val="50000"/>
              </a:schemeClr>
            </a:solidFill>
          </a:ln>
        </p:spPr>
        <p:txBody>
          <a:bodyPr wrap="square" rtlCol="0">
            <a:spAutoFit/>
          </a:bodyPr>
          <a:lstStyle/>
          <a:p>
            <a:r>
              <a:rPr lang="en-US" b="1" dirty="0">
                <a:latin typeface="Garamond" pitchFamily="18" charset="0"/>
              </a:rPr>
              <a:t>5: Reduce phase</a:t>
            </a:r>
          </a:p>
          <a:p>
            <a:r>
              <a:rPr lang="en-US" b="1" dirty="0">
                <a:solidFill>
                  <a:srgbClr val="FF0000"/>
                </a:solidFill>
                <a:latin typeface="Garamond" pitchFamily="18" charset="0"/>
              </a:rPr>
              <a:t>Concurrent tasks</a:t>
            </a:r>
          </a:p>
        </p:txBody>
      </p:sp>
      <p:sp>
        <p:nvSpPr>
          <p:cNvPr id="52" name="Flowchart: Document 51"/>
          <p:cNvSpPr/>
          <p:nvPr/>
        </p:nvSpPr>
        <p:spPr>
          <a:xfrm>
            <a:off x="7391400" y="2895600"/>
            <a:ext cx="990600" cy="3733800"/>
          </a:xfrm>
          <a:prstGeom prst="flowChartDocumen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Flowchart: Magnetic Disk 49"/>
          <p:cNvSpPr/>
          <p:nvPr/>
        </p:nvSpPr>
        <p:spPr>
          <a:xfrm>
            <a:off x="6324600" y="3352800"/>
            <a:ext cx="533400" cy="533400"/>
          </a:xfrm>
          <a:prstGeom prst="flowChartMagneticDisk">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Flowchart: Magnetic Disk 65"/>
          <p:cNvSpPr/>
          <p:nvPr/>
        </p:nvSpPr>
        <p:spPr>
          <a:xfrm>
            <a:off x="6324600" y="4419600"/>
            <a:ext cx="533400" cy="533400"/>
          </a:xfrm>
          <a:prstGeom prst="flowChartMagneticDisk">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Flowchart: Magnetic Disk 66"/>
          <p:cNvSpPr/>
          <p:nvPr/>
        </p:nvSpPr>
        <p:spPr>
          <a:xfrm>
            <a:off x="7620000" y="3352800"/>
            <a:ext cx="533400" cy="533400"/>
          </a:xfrm>
          <a:prstGeom prst="flowChartMagneticDisk">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Flowchart: Magnetic Disk 67"/>
          <p:cNvSpPr/>
          <p:nvPr/>
        </p:nvSpPr>
        <p:spPr>
          <a:xfrm>
            <a:off x="7620000" y="4419600"/>
            <a:ext cx="533400" cy="533400"/>
          </a:xfrm>
          <a:prstGeom prst="flowChartMagneticDisk">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Freeform 90"/>
          <p:cNvSpPr/>
          <p:nvPr/>
        </p:nvSpPr>
        <p:spPr>
          <a:xfrm>
            <a:off x="5242560" y="3383280"/>
            <a:ext cx="1005840" cy="291253"/>
          </a:xfrm>
          <a:custGeom>
            <a:avLst/>
            <a:gdLst>
              <a:gd name="connsiteX0" fmla="*/ 0 w 1005840"/>
              <a:gd name="connsiteY0" fmla="*/ 0 h 291253"/>
              <a:gd name="connsiteX1" fmla="*/ 568960 w 1005840"/>
              <a:gd name="connsiteY1" fmla="*/ 243840 h 291253"/>
              <a:gd name="connsiteX2" fmla="*/ 1005840 w 1005840"/>
              <a:gd name="connsiteY2" fmla="*/ 284480 h 291253"/>
            </a:gdLst>
            <a:ahLst/>
            <a:cxnLst>
              <a:cxn ang="0">
                <a:pos x="connsiteX0" y="connsiteY0"/>
              </a:cxn>
              <a:cxn ang="0">
                <a:pos x="connsiteX1" y="connsiteY1"/>
              </a:cxn>
              <a:cxn ang="0">
                <a:pos x="connsiteX2" y="connsiteY2"/>
              </a:cxn>
            </a:cxnLst>
            <a:rect l="l" t="t" r="r" b="b"/>
            <a:pathLst>
              <a:path w="1005840" h="291253">
                <a:moveTo>
                  <a:pt x="0" y="0"/>
                </a:moveTo>
                <a:cubicBezTo>
                  <a:pt x="200660" y="98213"/>
                  <a:pt x="401320" y="196427"/>
                  <a:pt x="568960" y="243840"/>
                </a:cubicBezTo>
                <a:cubicBezTo>
                  <a:pt x="736600" y="291253"/>
                  <a:pt x="871220" y="287866"/>
                  <a:pt x="1005840" y="284480"/>
                </a:cubicBezTo>
              </a:path>
            </a:pathLst>
          </a:custGeom>
          <a:ln w="50800">
            <a:solidFill>
              <a:schemeClr val="tx1"/>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2" name="Freeform 91"/>
          <p:cNvSpPr/>
          <p:nvPr/>
        </p:nvSpPr>
        <p:spPr>
          <a:xfrm>
            <a:off x="5257800" y="3771899"/>
            <a:ext cx="990600" cy="266701"/>
          </a:xfrm>
          <a:custGeom>
            <a:avLst/>
            <a:gdLst>
              <a:gd name="connsiteX0" fmla="*/ 0 w 1005840"/>
              <a:gd name="connsiteY0" fmla="*/ 0 h 291253"/>
              <a:gd name="connsiteX1" fmla="*/ 568960 w 1005840"/>
              <a:gd name="connsiteY1" fmla="*/ 243840 h 291253"/>
              <a:gd name="connsiteX2" fmla="*/ 1005840 w 1005840"/>
              <a:gd name="connsiteY2" fmla="*/ 284480 h 291253"/>
              <a:gd name="connsiteX0" fmla="*/ 0 w 990600"/>
              <a:gd name="connsiteY0" fmla="*/ 152400 h 421640"/>
              <a:gd name="connsiteX1" fmla="*/ 568960 w 990600"/>
              <a:gd name="connsiteY1" fmla="*/ 396240 h 421640"/>
              <a:gd name="connsiteX2" fmla="*/ 990600 w 990600"/>
              <a:gd name="connsiteY2" fmla="*/ 0 h 421640"/>
              <a:gd name="connsiteX0" fmla="*/ 0 w 990600"/>
              <a:gd name="connsiteY0" fmla="*/ 177800 h 276013"/>
              <a:gd name="connsiteX1" fmla="*/ 533400 w 990600"/>
              <a:gd name="connsiteY1" fmla="*/ 25400 h 276013"/>
              <a:gd name="connsiteX2" fmla="*/ 990600 w 990600"/>
              <a:gd name="connsiteY2" fmla="*/ 25400 h 276013"/>
              <a:gd name="connsiteX0" fmla="*/ 0 w 914400"/>
              <a:gd name="connsiteY0" fmla="*/ 177800 h 276013"/>
              <a:gd name="connsiteX1" fmla="*/ 533400 w 914400"/>
              <a:gd name="connsiteY1" fmla="*/ 25400 h 276013"/>
              <a:gd name="connsiteX2" fmla="*/ 914400 w 914400"/>
              <a:gd name="connsiteY2" fmla="*/ 25401 h 276013"/>
              <a:gd name="connsiteX0" fmla="*/ 0 w 990600"/>
              <a:gd name="connsiteY0" fmla="*/ 177800 h 276013"/>
              <a:gd name="connsiteX1" fmla="*/ 533400 w 990600"/>
              <a:gd name="connsiteY1" fmla="*/ 25400 h 276013"/>
              <a:gd name="connsiteX2" fmla="*/ 990600 w 990600"/>
              <a:gd name="connsiteY2" fmla="*/ 25401 h 276013"/>
              <a:gd name="connsiteX0" fmla="*/ 0 w 990600"/>
              <a:gd name="connsiteY0" fmla="*/ 266701 h 364914"/>
              <a:gd name="connsiteX1" fmla="*/ 533400 w 990600"/>
              <a:gd name="connsiteY1" fmla="*/ 38100 h 364914"/>
              <a:gd name="connsiteX2" fmla="*/ 990600 w 990600"/>
              <a:gd name="connsiteY2" fmla="*/ 38101 h 364914"/>
              <a:gd name="connsiteX0" fmla="*/ 0 w 990600"/>
              <a:gd name="connsiteY0" fmla="*/ 266701 h 266701"/>
              <a:gd name="connsiteX1" fmla="*/ 533400 w 990600"/>
              <a:gd name="connsiteY1" fmla="*/ 38100 h 266701"/>
              <a:gd name="connsiteX2" fmla="*/ 990600 w 990600"/>
              <a:gd name="connsiteY2" fmla="*/ 38101 h 266701"/>
            </a:gdLst>
            <a:ahLst/>
            <a:cxnLst>
              <a:cxn ang="0">
                <a:pos x="connsiteX0" y="connsiteY0"/>
              </a:cxn>
              <a:cxn ang="0">
                <a:pos x="connsiteX1" y="connsiteY1"/>
              </a:cxn>
              <a:cxn ang="0">
                <a:pos x="connsiteX2" y="connsiteY2"/>
              </a:cxn>
            </a:cxnLst>
            <a:rect l="l" t="t" r="r" b="b"/>
            <a:pathLst>
              <a:path w="990600" h="266701">
                <a:moveTo>
                  <a:pt x="0" y="266701"/>
                </a:moveTo>
                <a:cubicBezTo>
                  <a:pt x="170180" y="100754"/>
                  <a:pt x="368300" y="76200"/>
                  <a:pt x="533400" y="38100"/>
                </a:cubicBezTo>
                <a:cubicBezTo>
                  <a:pt x="698500" y="0"/>
                  <a:pt x="855980" y="41487"/>
                  <a:pt x="990600" y="38101"/>
                </a:cubicBezTo>
              </a:path>
            </a:pathLst>
          </a:custGeom>
          <a:ln w="50800">
            <a:solidFill>
              <a:schemeClr val="tx1"/>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3" name="Freeform 92"/>
          <p:cNvSpPr/>
          <p:nvPr/>
        </p:nvSpPr>
        <p:spPr>
          <a:xfrm>
            <a:off x="5257800" y="4648201"/>
            <a:ext cx="1066800" cy="165098"/>
          </a:xfrm>
          <a:custGeom>
            <a:avLst/>
            <a:gdLst>
              <a:gd name="connsiteX0" fmla="*/ 0 w 1005840"/>
              <a:gd name="connsiteY0" fmla="*/ 0 h 291253"/>
              <a:gd name="connsiteX1" fmla="*/ 568960 w 1005840"/>
              <a:gd name="connsiteY1" fmla="*/ 243840 h 291253"/>
              <a:gd name="connsiteX2" fmla="*/ 1005840 w 1005840"/>
              <a:gd name="connsiteY2" fmla="*/ 284480 h 291253"/>
              <a:gd name="connsiteX0" fmla="*/ 0 w 1082040"/>
              <a:gd name="connsiteY0" fmla="*/ 30480 h 279400"/>
              <a:gd name="connsiteX1" fmla="*/ 568960 w 1082040"/>
              <a:gd name="connsiteY1" fmla="*/ 274320 h 279400"/>
              <a:gd name="connsiteX2" fmla="*/ 1082040 w 1082040"/>
              <a:gd name="connsiteY2" fmla="*/ 0 h 279400"/>
              <a:gd name="connsiteX0" fmla="*/ 0 w 1082040"/>
              <a:gd name="connsiteY0" fmla="*/ 30480 h 128693"/>
              <a:gd name="connsiteX1" fmla="*/ 472440 w 1082040"/>
              <a:gd name="connsiteY1" fmla="*/ 76200 h 128693"/>
              <a:gd name="connsiteX2" fmla="*/ 1082040 w 1082040"/>
              <a:gd name="connsiteY2" fmla="*/ 0 h 128693"/>
              <a:gd name="connsiteX0" fmla="*/ 0 w 990600"/>
              <a:gd name="connsiteY0" fmla="*/ 0 h 165099"/>
              <a:gd name="connsiteX1" fmla="*/ 381000 w 990600"/>
              <a:gd name="connsiteY1" fmla="*/ 152399 h 165099"/>
              <a:gd name="connsiteX2" fmla="*/ 990600 w 990600"/>
              <a:gd name="connsiteY2" fmla="*/ 76199 h 165099"/>
              <a:gd name="connsiteX0" fmla="*/ 0 w 1066800"/>
              <a:gd name="connsiteY0" fmla="*/ 0 h 165098"/>
              <a:gd name="connsiteX1" fmla="*/ 457200 w 1066800"/>
              <a:gd name="connsiteY1" fmla="*/ 152398 h 165098"/>
              <a:gd name="connsiteX2" fmla="*/ 1066800 w 1066800"/>
              <a:gd name="connsiteY2" fmla="*/ 76198 h 165098"/>
            </a:gdLst>
            <a:ahLst/>
            <a:cxnLst>
              <a:cxn ang="0">
                <a:pos x="connsiteX0" y="connsiteY0"/>
              </a:cxn>
              <a:cxn ang="0">
                <a:pos x="connsiteX1" y="connsiteY1"/>
              </a:cxn>
              <a:cxn ang="0">
                <a:pos x="connsiteX2" y="connsiteY2"/>
              </a:cxn>
            </a:cxnLst>
            <a:rect l="l" t="t" r="r" b="b"/>
            <a:pathLst>
              <a:path w="1066800" h="165098">
                <a:moveTo>
                  <a:pt x="0" y="0"/>
                </a:moveTo>
                <a:cubicBezTo>
                  <a:pt x="200660" y="98213"/>
                  <a:pt x="279400" y="139698"/>
                  <a:pt x="457200" y="152398"/>
                </a:cubicBezTo>
                <a:cubicBezTo>
                  <a:pt x="635000" y="165098"/>
                  <a:pt x="932180" y="79584"/>
                  <a:pt x="1066800" y="76198"/>
                </a:cubicBezTo>
              </a:path>
            </a:pathLst>
          </a:custGeom>
          <a:ln w="50800">
            <a:solidFill>
              <a:schemeClr val="tx1"/>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4" name="Freeform 93"/>
          <p:cNvSpPr/>
          <p:nvPr/>
        </p:nvSpPr>
        <p:spPr>
          <a:xfrm>
            <a:off x="5257800" y="4851400"/>
            <a:ext cx="1066800" cy="635000"/>
          </a:xfrm>
          <a:custGeom>
            <a:avLst/>
            <a:gdLst>
              <a:gd name="connsiteX0" fmla="*/ 0 w 1005840"/>
              <a:gd name="connsiteY0" fmla="*/ 0 h 291253"/>
              <a:gd name="connsiteX1" fmla="*/ 568960 w 1005840"/>
              <a:gd name="connsiteY1" fmla="*/ 243840 h 291253"/>
              <a:gd name="connsiteX2" fmla="*/ 1005840 w 1005840"/>
              <a:gd name="connsiteY2" fmla="*/ 284480 h 291253"/>
              <a:gd name="connsiteX0" fmla="*/ 0 w 990600"/>
              <a:gd name="connsiteY0" fmla="*/ 152400 h 421640"/>
              <a:gd name="connsiteX1" fmla="*/ 568960 w 990600"/>
              <a:gd name="connsiteY1" fmla="*/ 396240 h 421640"/>
              <a:gd name="connsiteX2" fmla="*/ 990600 w 990600"/>
              <a:gd name="connsiteY2" fmla="*/ 0 h 421640"/>
              <a:gd name="connsiteX0" fmla="*/ 0 w 990600"/>
              <a:gd name="connsiteY0" fmla="*/ 177800 h 276013"/>
              <a:gd name="connsiteX1" fmla="*/ 533400 w 990600"/>
              <a:gd name="connsiteY1" fmla="*/ 25400 h 276013"/>
              <a:gd name="connsiteX2" fmla="*/ 990600 w 990600"/>
              <a:gd name="connsiteY2" fmla="*/ 25400 h 276013"/>
              <a:gd name="connsiteX0" fmla="*/ 0 w 914400"/>
              <a:gd name="connsiteY0" fmla="*/ 177800 h 276013"/>
              <a:gd name="connsiteX1" fmla="*/ 533400 w 914400"/>
              <a:gd name="connsiteY1" fmla="*/ 25400 h 276013"/>
              <a:gd name="connsiteX2" fmla="*/ 914400 w 914400"/>
              <a:gd name="connsiteY2" fmla="*/ 25401 h 276013"/>
              <a:gd name="connsiteX0" fmla="*/ 0 w 990600"/>
              <a:gd name="connsiteY0" fmla="*/ 177800 h 276013"/>
              <a:gd name="connsiteX1" fmla="*/ 533400 w 990600"/>
              <a:gd name="connsiteY1" fmla="*/ 25400 h 276013"/>
              <a:gd name="connsiteX2" fmla="*/ 990600 w 990600"/>
              <a:gd name="connsiteY2" fmla="*/ 25401 h 276013"/>
              <a:gd name="connsiteX0" fmla="*/ 0 w 990600"/>
              <a:gd name="connsiteY0" fmla="*/ 266701 h 364914"/>
              <a:gd name="connsiteX1" fmla="*/ 533400 w 990600"/>
              <a:gd name="connsiteY1" fmla="*/ 38100 h 364914"/>
              <a:gd name="connsiteX2" fmla="*/ 990600 w 990600"/>
              <a:gd name="connsiteY2" fmla="*/ 38101 h 364914"/>
              <a:gd name="connsiteX0" fmla="*/ 0 w 990600"/>
              <a:gd name="connsiteY0" fmla="*/ 266701 h 266701"/>
              <a:gd name="connsiteX1" fmla="*/ 533400 w 990600"/>
              <a:gd name="connsiteY1" fmla="*/ 38100 h 266701"/>
              <a:gd name="connsiteX2" fmla="*/ 990600 w 990600"/>
              <a:gd name="connsiteY2" fmla="*/ 38101 h 266701"/>
              <a:gd name="connsiteX0" fmla="*/ 0 w 1066800"/>
              <a:gd name="connsiteY0" fmla="*/ 533400 h 533400"/>
              <a:gd name="connsiteX1" fmla="*/ 533400 w 1066800"/>
              <a:gd name="connsiteY1" fmla="*/ 304799 h 533400"/>
              <a:gd name="connsiteX2" fmla="*/ 1066800 w 1066800"/>
              <a:gd name="connsiteY2" fmla="*/ 0 h 533400"/>
              <a:gd name="connsiteX0" fmla="*/ 0 w 1066800"/>
              <a:gd name="connsiteY0" fmla="*/ 546100 h 546100"/>
              <a:gd name="connsiteX1" fmla="*/ 381000 w 1066800"/>
              <a:gd name="connsiteY1" fmla="*/ 88900 h 546100"/>
              <a:gd name="connsiteX2" fmla="*/ 1066800 w 1066800"/>
              <a:gd name="connsiteY2" fmla="*/ 12700 h 546100"/>
              <a:gd name="connsiteX0" fmla="*/ 0 w 1066800"/>
              <a:gd name="connsiteY0" fmla="*/ 635000 h 635000"/>
              <a:gd name="connsiteX1" fmla="*/ 381000 w 1066800"/>
              <a:gd name="connsiteY1" fmla="*/ 101600 h 635000"/>
              <a:gd name="connsiteX2" fmla="*/ 1066800 w 1066800"/>
              <a:gd name="connsiteY2" fmla="*/ 25400 h 635000"/>
              <a:gd name="connsiteX0" fmla="*/ 0 w 1066800"/>
              <a:gd name="connsiteY0" fmla="*/ 635000 h 635000"/>
              <a:gd name="connsiteX1" fmla="*/ 381000 w 1066800"/>
              <a:gd name="connsiteY1" fmla="*/ 101600 h 635000"/>
              <a:gd name="connsiteX2" fmla="*/ 1066800 w 1066800"/>
              <a:gd name="connsiteY2" fmla="*/ 25400 h 635000"/>
            </a:gdLst>
            <a:ahLst/>
            <a:cxnLst>
              <a:cxn ang="0">
                <a:pos x="connsiteX0" y="connsiteY0"/>
              </a:cxn>
              <a:cxn ang="0">
                <a:pos x="connsiteX1" y="connsiteY1"/>
              </a:cxn>
              <a:cxn ang="0">
                <a:pos x="connsiteX2" y="connsiteY2"/>
              </a:cxn>
            </a:cxnLst>
            <a:rect l="l" t="t" r="r" b="b"/>
            <a:pathLst>
              <a:path w="1066800" h="635000">
                <a:moveTo>
                  <a:pt x="0" y="635000"/>
                </a:moveTo>
                <a:cubicBezTo>
                  <a:pt x="83820" y="428413"/>
                  <a:pt x="203200" y="203200"/>
                  <a:pt x="381000" y="101600"/>
                </a:cubicBezTo>
                <a:cubicBezTo>
                  <a:pt x="558800" y="0"/>
                  <a:pt x="932180" y="28786"/>
                  <a:pt x="1066800" y="25400"/>
                </a:cubicBezTo>
              </a:path>
            </a:pathLst>
          </a:custGeom>
          <a:ln w="50800">
            <a:solidFill>
              <a:schemeClr val="tx1"/>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95" name="Straight Arrow Connector 94"/>
          <p:cNvCxnSpPr/>
          <p:nvPr/>
        </p:nvCxnSpPr>
        <p:spPr>
          <a:xfrm>
            <a:off x="6934200" y="3657600"/>
            <a:ext cx="609600" cy="1588"/>
          </a:xfrm>
          <a:prstGeom prst="straightConnector1">
            <a:avLst/>
          </a:prstGeom>
          <a:ln w="50800">
            <a:solidFill>
              <a:schemeClr val="tx1"/>
            </a:solidFill>
            <a:tailEnd type="stealth"/>
          </a:ln>
        </p:spPr>
        <p:style>
          <a:lnRef idx="1">
            <a:schemeClr val="accent1"/>
          </a:lnRef>
          <a:fillRef idx="0">
            <a:schemeClr val="accent1"/>
          </a:fillRef>
          <a:effectRef idx="0">
            <a:schemeClr val="accent1"/>
          </a:effectRef>
          <a:fontRef idx="minor">
            <a:schemeClr val="tx1"/>
          </a:fontRef>
        </p:style>
      </p:cxnSp>
      <p:cxnSp>
        <p:nvCxnSpPr>
          <p:cNvPr id="97" name="Straight Arrow Connector 96"/>
          <p:cNvCxnSpPr/>
          <p:nvPr/>
        </p:nvCxnSpPr>
        <p:spPr>
          <a:xfrm>
            <a:off x="6934200" y="4724400"/>
            <a:ext cx="609600" cy="1588"/>
          </a:xfrm>
          <a:prstGeom prst="straightConnector1">
            <a:avLst/>
          </a:prstGeom>
          <a:ln w="50800">
            <a:solidFill>
              <a:schemeClr val="tx1"/>
            </a:solidFill>
            <a:tailEnd type="stealth"/>
          </a:ln>
        </p:spPr>
        <p:style>
          <a:lnRef idx="1">
            <a:schemeClr val="accent1"/>
          </a:lnRef>
          <a:fillRef idx="0">
            <a:schemeClr val="accent1"/>
          </a:fillRef>
          <a:effectRef idx="0">
            <a:schemeClr val="accent1"/>
          </a:effectRef>
          <a:fontRef idx="minor">
            <a:schemeClr val="tx1"/>
          </a:fontRef>
        </p:style>
      </p:cxnSp>
      <p:sp>
        <p:nvSpPr>
          <p:cNvPr id="100" name="Flowchart: Magnetic Disk 99"/>
          <p:cNvSpPr/>
          <p:nvPr/>
        </p:nvSpPr>
        <p:spPr>
          <a:xfrm>
            <a:off x="6324600" y="3352800"/>
            <a:ext cx="533400" cy="533400"/>
          </a:xfrm>
          <a:prstGeom prst="flowChartMagneticDisk">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Flowchart: Magnetic Disk 100"/>
          <p:cNvSpPr/>
          <p:nvPr/>
        </p:nvSpPr>
        <p:spPr>
          <a:xfrm>
            <a:off x="6324600" y="4419600"/>
            <a:ext cx="533400" cy="533400"/>
          </a:xfrm>
          <a:prstGeom prst="flowChartMagneticDisk">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TextBox 101"/>
          <p:cNvSpPr txBox="1"/>
          <p:nvPr/>
        </p:nvSpPr>
        <p:spPr>
          <a:xfrm flipH="1">
            <a:off x="6019800" y="2209800"/>
            <a:ext cx="3124200" cy="646331"/>
          </a:xfrm>
          <a:prstGeom prst="rect">
            <a:avLst/>
          </a:prstGeom>
          <a:noFill/>
          <a:ln w="38100">
            <a:solidFill>
              <a:schemeClr val="accent1">
                <a:shade val="50000"/>
              </a:schemeClr>
            </a:solidFill>
          </a:ln>
        </p:spPr>
        <p:txBody>
          <a:bodyPr wrap="square" rtlCol="0">
            <a:spAutoFit/>
          </a:bodyPr>
          <a:lstStyle/>
          <a:p>
            <a:r>
              <a:rPr lang="en-US" b="1" dirty="0">
                <a:latin typeface="Garamond" pitchFamily="18" charset="0"/>
              </a:rPr>
              <a:t>6: Output will be stored back to Distributed File System</a:t>
            </a:r>
          </a:p>
        </p:txBody>
      </p:sp>
      <p:sp>
        <p:nvSpPr>
          <p:cNvPr id="103" name="TextBox 102"/>
          <p:cNvSpPr txBox="1"/>
          <p:nvPr/>
        </p:nvSpPr>
        <p:spPr>
          <a:xfrm>
            <a:off x="5410200" y="5410200"/>
            <a:ext cx="2057400" cy="369332"/>
          </a:xfrm>
          <a:prstGeom prst="rect">
            <a:avLst/>
          </a:prstGeom>
          <a:noFill/>
        </p:spPr>
        <p:txBody>
          <a:bodyPr wrap="square" rtlCol="0">
            <a:spAutoFit/>
          </a:bodyPr>
          <a:lstStyle/>
          <a:p>
            <a:r>
              <a:rPr lang="en-US" b="1" dirty="0">
                <a:latin typeface="Garamond" pitchFamily="18" charset="0"/>
              </a:rPr>
              <a:t>Reduce output</a:t>
            </a:r>
          </a:p>
        </p:txBody>
      </p:sp>
      <p:cxnSp>
        <p:nvCxnSpPr>
          <p:cNvPr id="105" name="Straight Arrow Connector 104"/>
          <p:cNvCxnSpPr/>
          <p:nvPr/>
        </p:nvCxnSpPr>
        <p:spPr>
          <a:xfrm rot="5400000" flipH="1" flipV="1">
            <a:off x="6096000" y="5181600"/>
            <a:ext cx="381000" cy="228600"/>
          </a:xfrm>
          <a:prstGeom prst="straightConnector1">
            <a:avLst/>
          </a:prstGeom>
          <a:ln w="50800">
            <a:solidFill>
              <a:schemeClr val="accent2"/>
            </a:solidFill>
            <a:tailEnd type="arrow"/>
          </a:ln>
        </p:spPr>
        <p:style>
          <a:lnRef idx="1">
            <a:schemeClr val="accent1"/>
          </a:lnRef>
          <a:fillRef idx="0">
            <a:schemeClr val="accent1"/>
          </a:fillRef>
          <a:effectRef idx="0">
            <a:schemeClr val="accent1"/>
          </a:effectRef>
          <a:fontRef idx="minor">
            <a:schemeClr val="tx1"/>
          </a:fontRef>
        </p:style>
      </p:cxnSp>
      <p:sp>
        <p:nvSpPr>
          <p:cNvPr id="69" name="TextBox 68"/>
          <p:cNvSpPr txBox="1"/>
          <p:nvPr/>
        </p:nvSpPr>
        <p:spPr>
          <a:xfrm>
            <a:off x="1295400" y="5867400"/>
            <a:ext cx="1981200" cy="646331"/>
          </a:xfrm>
          <a:prstGeom prst="rect">
            <a:avLst/>
          </a:prstGeom>
          <a:noFill/>
          <a:ln w="38100">
            <a:solidFill>
              <a:schemeClr val="accent1">
                <a:shade val="50000"/>
              </a:schemeClr>
            </a:solidFill>
          </a:ln>
        </p:spPr>
        <p:txBody>
          <a:bodyPr wrap="square" rtlCol="0">
            <a:spAutoFit/>
          </a:bodyPr>
          <a:lstStyle/>
          <a:p>
            <a:r>
              <a:rPr lang="en-US" b="1" dirty="0">
                <a:latin typeface="Garamond" pitchFamily="18" charset="0"/>
              </a:rPr>
              <a:t>3: Map phase</a:t>
            </a:r>
          </a:p>
          <a:p>
            <a:r>
              <a:rPr lang="en-US" b="1" dirty="0">
                <a:solidFill>
                  <a:srgbClr val="FF0000"/>
                </a:solidFill>
                <a:latin typeface="Garamond" pitchFamily="18" charset="0"/>
              </a:rPr>
              <a:t>Concurrent tasks</a:t>
            </a:r>
          </a:p>
        </p:txBody>
      </p:sp>
      <p:sp>
        <p:nvSpPr>
          <p:cNvPr id="88" name="TextBox 87"/>
          <p:cNvSpPr txBox="1"/>
          <p:nvPr/>
        </p:nvSpPr>
        <p:spPr>
          <a:xfrm>
            <a:off x="3352800" y="5955268"/>
            <a:ext cx="1752600" cy="369332"/>
          </a:xfrm>
          <a:prstGeom prst="rect">
            <a:avLst/>
          </a:prstGeom>
          <a:noFill/>
          <a:ln w="38100">
            <a:solidFill>
              <a:schemeClr val="accent1">
                <a:shade val="50000"/>
              </a:schemeClr>
            </a:solidFill>
          </a:ln>
        </p:spPr>
        <p:txBody>
          <a:bodyPr wrap="square" rtlCol="0">
            <a:spAutoFit/>
          </a:bodyPr>
          <a:lstStyle/>
          <a:p>
            <a:r>
              <a:rPr lang="en-US" b="1" dirty="0">
                <a:latin typeface="Garamond" pitchFamily="18" charset="0"/>
              </a:rPr>
              <a:t>4: Shuffle phase</a:t>
            </a:r>
          </a:p>
        </p:txBody>
      </p:sp>
      <p:sp>
        <p:nvSpPr>
          <p:cNvPr id="89" name="TextBox 88"/>
          <p:cNvSpPr txBox="1"/>
          <p:nvPr/>
        </p:nvSpPr>
        <p:spPr>
          <a:xfrm>
            <a:off x="6019800" y="780871"/>
            <a:ext cx="2514600" cy="1200329"/>
          </a:xfrm>
          <a:prstGeom prst="rect">
            <a:avLst/>
          </a:prstGeom>
          <a:noFill/>
          <a:ln w="9525">
            <a:noFill/>
          </a:ln>
        </p:spPr>
        <p:txBody>
          <a:bodyPr wrap="square" rtlCol="0">
            <a:spAutoFit/>
          </a:bodyPr>
          <a:lstStyle/>
          <a:p>
            <a:r>
              <a:rPr lang="en-US" sz="2400" b="1" dirty="0">
                <a:solidFill>
                  <a:schemeClr val="accent2"/>
                </a:solidFill>
                <a:latin typeface="Garamond" pitchFamily="18" charset="0"/>
              </a:rPr>
              <a:t>The execution of a MR job involves 6 steps</a:t>
            </a:r>
          </a:p>
        </p:txBody>
      </p:sp>
      <p:pic>
        <p:nvPicPr>
          <p:cNvPr id="96" name="Picture 3" descr="e:\Users\yhuai\Desktop\Picture1.png"/>
          <p:cNvPicPr>
            <a:picLocks noChangeAspect="1" noChangeArrowheads="1"/>
          </p:cNvPicPr>
          <p:nvPr/>
        </p:nvPicPr>
        <p:blipFill>
          <a:blip r:embed="rId4" cstate="print"/>
          <a:srcRect/>
          <a:stretch>
            <a:fillRect/>
          </a:stretch>
        </p:blipFill>
        <p:spPr bwMode="auto">
          <a:xfrm>
            <a:off x="3581400" y="1066800"/>
            <a:ext cx="854075" cy="609600"/>
          </a:xfrm>
          <a:prstGeom prst="rect">
            <a:avLst/>
          </a:prstGeom>
          <a:noFill/>
        </p:spPr>
      </p:pic>
    </p:spTree>
    <p:extLst>
      <p:ext uri="{BB962C8B-B14F-4D97-AF65-F5344CB8AC3E}">
        <p14:creationId xmlns:p14="http://schemas.microsoft.com/office/powerpoint/2010/main" val="912184685"/>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9"/>
                                        </p:tgtEl>
                                        <p:attrNameLst>
                                          <p:attrName>style.visibility</p:attrName>
                                        </p:attrNameLst>
                                      </p:cBhvr>
                                      <p:to>
                                        <p:strVal val="visible"/>
                                      </p:to>
                                    </p:se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91"/>
                                        </p:tgtEl>
                                        <p:attrNameLst>
                                          <p:attrName>style.visibility</p:attrName>
                                        </p:attrNameLst>
                                      </p:cBhvr>
                                      <p:to>
                                        <p:strVal val="visible"/>
                                      </p:to>
                                    </p:set>
                                    <p:animEffect transition="in" filter="wipe(left)">
                                      <p:cBhvr>
                                        <p:cTn id="10" dur="500"/>
                                        <p:tgtEl>
                                          <p:spTgt spid="91"/>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92"/>
                                        </p:tgtEl>
                                        <p:attrNameLst>
                                          <p:attrName>style.visibility</p:attrName>
                                        </p:attrNameLst>
                                      </p:cBhvr>
                                      <p:to>
                                        <p:strVal val="visible"/>
                                      </p:to>
                                    </p:set>
                                    <p:animEffect transition="in" filter="wipe(left)">
                                      <p:cBhvr>
                                        <p:cTn id="13" dur="500"/>
                                        <p:tgtEl>
                                          <p:spTgt spid="92"/>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93"/>
                                        </p:tgtEl>
                                        <p:attrNameLst>
                                          <p:attrName>style.visibility</p:attrName>
                                        </p:attrNameLst>
                                      </p:cBhvr>
                                      <p:to>
                                        <p:strVal val="visible"/>
                                      </p:to>
                                    </p:set>
                                    <p:animEffect transition="in" filter="wipe(left)">
                                      <p:cBhvr>
                                        <p:cTn id="16" dur="500"/>
                                        <p:tgtEl>
                                          <p:spTgt spid="93"/>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94"/>
                                        </p:tgtEl>
                                        <p:attrNameLst>
                                          <p:attrName>style.visibility</p:attrName>
                                        </p:attrNameLst>
                                      </p:cBhvr>
                                      <p:to>
                                        <p:strVal val="visible"/>
                                      </p:to>
                                    </p:set>
                                    <p:animEffect transition="in" filter="wipe(left)">
                                      <p:cBhvr>
                                        <p:cTn id="19" dur="500"/>
                                        <p:tgtEl>
                                          <p:spTgt spid="94"/>
                                        </p:tgtEl>
                                      </p:cBhvr>
                                    </p:animEffect>
                                  </p:childTnLst>
                                </p:cTn>
                              </p:par>
                            </p:childTnLst>
                          </p:cTn>
                        </p:par>
                        <p:par>
                          <p:cTn id="20" fill="hold">
                            <p:stCondLst>
                              <p:cond delay="500"/>
                            </p:stCondLst>
                            <p:childTnLst>
                              <p:par>
                                <p:cTn id="21" presetID="1" presetClass="entr" presetSubtype="0" fill="hold" grpId="0" nodeType="afterEffect">
                                  <p:stCondLst>
                                    <p:cond delay="0"/>
                                  </p:stCondLst>
                                  <p:childTnLst>
                                    <p:set>
                                      <p:cBhvr>
                                        <p:cTn id="22" dur="1" fill="hold">
                                          <p:stCondLst>
                                            <p:cond delay="0"/>
                                          </p:stCondLst>
                                        </p:cTn>
                                        <p:tgtEl>
                                          <p:spTgt spid="5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6"/>
                                        </p:tgtEl>
                                        <p:attrNameLst>
                                          <p:attrName>style.visibility</p:attrName>
                                        </p:attrNameLst>
                                      </p:cBhvr>
                                      <p:to>
                                        <p:strVal val="visible"/>
                                      </p:to>
                                    </p:set>
                                  </p:childTnLst>
                                </p:cTn>
                              </p:par>
                            </p:childTnLst>
                          </p:cTn>
                        </p:par>
                        <p:par>
                          <p:cTn id="25" fill="hold">
                            <p:stCondLst>
                              <p:cond delay="500"/>
                            </p:stCondLst>
                            <p:childTnLst>
                              <p:par>
                                <p:cTn id="26" presetID="1" presetClass="entr" presetSubtype="0" fill="hold" grpId="0" nodeType="afterEffect">
                                  <p:stCondLst>
                                    <p:cond delay="0"/>
                                  </p:stCondLst>
                                  <p:childTnLst>
                                    <p:set>
                                      <p:cBhvr>
                                        <p:cTn id="27" dur="1" fill="hold">
                                          <p:stCondLst>
                                            <p:cond delay="0"/>
                                          </p:stCondLst>
                                        </p:cTn>
                                        <p:tgtEl>
                                          <p:spTgt spid="100"/>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101"/>
                                        </p:tgtEl>
                                        <p:attrNameLst>
                                          <p:attrName>style.visibility</p:attrName>
                                        </p:attrNameLst>
                                      </p:cBhvr>
                                      <p:to>
                                        <p:strVal val="visible"/>
                                      </p:to>
                                    </p:set>
                                  </p:childTnLst>
                                </p:cTn>
                              </p:par>
                            </p:childTnLst>
                          </p:cTn>
                        </p:par>
                        <p:par>
                          <p:cTn id="30" fill="hold">
                            <p:stCondLst>
                              <p:cond delay="500"/>
                            </p:stCondLst>
                            <p:childTnLst>
                              <p:par>
                                <p:cTn id="31" presetID="1" presetClass="entr" presetSubtype="0" fill="hold" grpId="0" nodeType="afterEffect">
                                  <p:stCondLst>
                                    <p:cond delay="0"/>
                                  </p:stCondLst>
                                  <p:childTnLst>
                                    <p:set>
                                      <p:cBhvr>
                                        <p:cTn id="32" dur="1" fill="hold">
                                          <p:stCondLst>
                                            <p:cond delay="0"/>
                                          </p:stCondLst>
                                        </p:cTn>
                                        <p:tgtEl>
                                          <p:spTgt spid="103"/>
                                        </p:tgtEl>
                                        <p:attrNameLst>
                                          <p:attrName>style.visibility</p:attrName>
                                        </p:attrNameLst>
                                      </p:cBhvr>
                                      <p:to>
                                        <p:strVal val="visible"/>
                                      </p:to>
                                    </p:set>
                                  </p:childTnLst>
                                </p:cTn>
                              </p:par>
                              <p:par>
                                <p:cTn id="33" presetID="18" presetClass="entr" presetSubtype="3" fill="hold" nodeType="withEffect">
                                  <p:stCondLst>
                                    <p:cond delay="0"/>
                                  </p:stCondLst>
                                  <p:childTnLst>
                                    <p:set>
                                      <p:cBhvr>
                                        <p:cTn id="34" dur="1" fill="hold">
                                          <p:stCondLst>
                                            <p:cond delay="0"/>
                                          </p:stCondLst>
                                        </p:cTn>
                                        <p:tgtEl>
                                          <p:spTgt spid="105"/>
                                        </p:tgtEl>
                                        <p:attrNameLst>
                                          <p:attrName>style.visibility</p:attrName>
                                        </p:attrNameLst>
                                      </p:cBhvr>
                                      <p:to>
                                        <p:strVal val="visible"/>
                                      </p:to>
                                    </p:set>
                                    <p:animEffect transition="in" filter="strips(upRight)">
                                      <p:cBhvr>
                                        <p:cTn id="35" dur="500"/>
                                        <p:tgtEl>
                                          <p:spTgt spid="105"/>
                                        </p:tgtEl>
                                      </p:cBhvr>
                                    </p:animEffec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102"/>
                                        </p:tgtEl>
                                        <p:attrNameLst>
                                          <p:attrName>style.visibility</p:attrName>
                                        </p:attrNameLst>
                                      </p:cBhvr>
                                      <p:to>
                                        <p:strVal val="visible"/>
                                      </p:to>
                                    </p:set>
                                  </p:childTnLst>
                                </p:cTn>
                              </p:par>
                            </p:childTnLst>
                          </p:cTn>
                        </p:par>
                        <p:par>
                          <p:cTn id="40" fill="hold">
                            <p:stCondLst>
                              <p:cond delay="0"/>
                            </p:stCondLst>
                            <p:childTnLst>
                              <p:par>
                                <p:cTn id="41" presetID="1" presetClass="entr" presetSubtype="0" fill="hold" grpId="0" nodeType="afterEffect">
                                  <p:stCondLst>
                                    <p:cond delay="0"/>
                                  </p:stCondLst>
                                  <p:childTnLst>
                                    <p:set>
                                      <p:cBhvr>
                                        <p:cTn id="42" dur="1" fill="hold">
                                          <p:stCondLst>
                                            <p:cond delay="0"/>
                                          </p:stCondLst>
                                        </p:cTn>
                                        <p:tgtEl>
                                          <p:spTgt spid="52"/>
                                        </p:tgtEl>
                                        <p:attrNameLst>
                                          <p:attrName>style.visibility</p:attrName>
                                        </p:attrNameLst>
                                      </p:cBhvr>
                                      <p:to>
                                        <p:strVal val="visible"/>
                                      </p:to>
                                    </p:set>
                                  </p:childTnLst>
                                </p:cTn>
                              </p:par>
                              <p:par>
                                <p:cTn id="43" presetID="22" presetClass="entr" presetSubtype="8" fill="hold" nodeType="withEffect">
                                  <p:stCondLst>
                                    <p:cond delay="0"/>
                                  </p:stCondLst>
                                  <p:childTnLst>
                                    <p:set>
                                      <p:cBhvr>
                                        <p:cTn id="44" dur="1" fill="hold">
                                          <p:stCondLst>
                                            <p:cond delay="0"/>
                                          </p:stCondLst>
                                        </p:cTn>
                                        <p:tgtEl>
                                          <p:spTgt spid="95"/>
                                        </p:tgtEl>
                                        <p:attrNameLst>
                                          <p:attrName>style.visibility</p:attrName>
                                        </p:attrNameLst>
                                      </p:cBhvr>
                                      <p:to>
                                        <p:strVal val="visible"/>
                                      </p:to>
                                    </p:set>
                                    <p:animEffect transition="in" filter="wipe(left)">
                                      <p:cBhvr>
                                        <p:cTn id="45" dur="500"/>
                                        <p:tgtEl>
                                          <p:spTgt spid="95"/>
                                        </p:tgtEl>
                                      </p:cBhvr>
                                    </p:animEffect>
                                  </p:childTnLst>
                                </p:cTn>
                              </p:par>
                              <p:par>
                                <p:cTn id="46" presetID="22" presetClass="entr" presetSubtype="8" fill="hold" nodeType="withEffect">
                                  <p:stCondLst>
                                    <p:cond delay="0"/>
                                  </p:stCondLst>
                                  <p:childTnLst>
                                    <p:set>
                                      <p:cBhvr>
                                        <p:cTn id="47" dur="1" fill="hold">
                                          <p:stCondLst>
                                            <p:cond delay="0"/>
                                          </p:stCondLst>
                                        </p:cTn>
                                        <p:tgtEl>
                                          <p:spTgt spid="97"/>
                                        </p:tgtEl>
                                        <p:attrNameLst>
                                          <p:attrName>style.visibility</p:attrName>
                                        </p:attrNameLst>
                                      </p:cBhvr>
                                      <p:to>
                                        <p:strVal val="visible"/>
                                      </p:to>
                                    </p:set>
                                    <p:animEffect transition="in" filter="wipe(left)">
                                      <p:cBhvr>
                                        <p:cTn id="48" dur="500"/>
                                        <p:tgtEl>
                                          <p:spTgt spid="97"/>
                                        </p:tgtEl>
                                      </p:cBhvr>
                                    </p:animEffect>
                                  </p:childTnLst>
                                </p:cTn>
                              </p:par>
                            </p:childTnLst>
                          </p:cTn>
                        </p:par>
                        <p:par>
                          <p:cTn id="49" fill="hold">
                            <p:stCondLst>
                              <p:cond delay="500"/>
                            </p:stCondLst>
                            <p:childTnLst>
                              <p:par>
                                <p:cTn id="50" presetID="0" presetClass="path" presetSubtype="0" accel="50000" decel="50000" fill="hold" grpId="1" nodeType="afterEffect">
                                  <p:stCondLst>
                                    <p:cond delay="0"/>
                                  </p:stCondLst>
                                  <p:childTnLst>
                                    <p:animMotion origin="layout" path="M 0 0 L 0.14167 0 " pathEditMode="relative" ptsTypes="AA">
                                      <p:cBhvr>
                                        <p:cTn id="51" dur="500" fill="hold"/>
                                        <p:tgtEl>
                                          <p:spTgt spid="100"/>
                                        </p:tgtEl>
                                        <p:attrNameLst>
                                          <p:attrName>ppt_x</p:attrName>
                                          <p:attrName>ppt_y</p:attrName>
                                        </p:attrNameLst>
                                      </p:cBhvr>
                                    </p:animMotion>
                                  </p:childTnLst>
                                </p:cTn>
                              </p:par>
                              <p:par>
                                <p:cTn id="52" presetID="0" presetClass="path" presetSubtype="0" accel="50000" decel="50000" fill="hold" grpId="1" nodeType="withEffect">
                                  <p:stCondLst>
                                    <p:cond delay="0"/>
                                  </p:stCondLst>
                                  <p:childTnLst>
                                    <p:animMotion origin="layout" path="M 0 0 L 0.14167 0 " pathEditMode="relative" ptsTypes="AA">
                                      <p:cBhvr>
                                        <p:cTn id="53" dur="500" fill="hold"/>
                                        <p:tgtEl>
                                          <p:spTgt spid="101"/>
                                        </p:tgtEl>
                                        <p:attrNameLst>
                                          <p:attrName>ppt_x</p:attrName>
                                          <p:attrName>ppt_y</p:attrName>
                                        </p:attrNameLst>
                                      </p:cBhvr>
                                    </p:animMotion>
                                  </p:childTnLst>
                                </p:cTn>
                              </p:par>
                            </p:childTnLst>
                          </p:cTn>
                        </p:par>
                        <p:par>
                          <p:cTn id="54" fill="hold">
                            <p:stCondLst>
                              <p:cond delay="1000"/>
                            </p:stCondLst>
                            <p:childTnLst>
                              <p:par>
                                <p:cTn id="55" presetID="1" presetClass="entr" presetSubtype="0" fill="hold" grpId="0" nodeType="afterEffect">
                                  <p:stCondLst>
                                    <p:cond delay="0"/>
                                  </p:stCondLst>
                                  <p:childTnLst>
                                    <p:set>
                                      <p:cBhvr>
                                        <p:cTn id="56" dur="1" fill="hold">
                                          <p:stCondLst>
                                            <p:cond delay="0"/>
                                          </p:stCondLst>
                                        </p:cTn>
                                        <p:tgtEl>
                                          <p:spTgt spid="68"/>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nimBg="1"/>
      <p:bldP spid="52" grpId="0" animBg="1"/>
      <p:bldP spid="50" grpId="0" animBg="1"/>
      <p:bldP spid="66" grpId="0" animBg="1"/>
      <p:bldP spid="67" grpId="0" animBg="1"/>
      <p:bldP spid="68" grpId="0" animBg="1"/>
      <p:bldP spid="91" grpId="0" animBg="1"/>
      <p:bldP spid="92" grpId="0" animBg="1"/>
      <p:bldP spid="93" grpId="0" animBg="1"/>
      <p:bldP spid="94" grpId="0" animBg="1"/>
      <p:bldP spid="100" grpId="0" animBg="1"/>
      <p:bldP spid="100" grpId="1" animBg="1"/>
      <p:bldP spid="101" grpId="0" animBg="1"/>
      <p:bldP spid="101" grpId="1" animBg="1"/>
      <p:bldP spid="102" grpId="0" animBg="1"/>
      <p:bldP spid="103" grpId="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3" cstate="print"/>
          <a:srcRect/>
          <a:stretch>
            <a:fillRect/>
          </a:stretch>
        </p:blipFill>
        <p:spPr bwMode="auto">
          <a:xfrm>
            <a:off x="3657600" y="2343150"/>
            <a:ext cx="550576" cy="781050"/>
          </a:xfrm>
          <a:prstGeom prst="rect">
            <a:avLst/>
          </a:prstGeom>
          <a:noFill/>
          <a:ln w="9525">
            <a:noFill/>
            <a:miter lim="800000"/>
            <a:headEnd/>
            <a:tailEnd/>
          </a:ln>
        </p:spPr>
      </p:pic>
      <p:pic>
        <p:nvPicPr>
          <p:cNvPr id="42" name="Picture 4"/>
          <p:cNvPicPr>
            <a:picLocks noChangeAspect="1" noChangeArrowheads="1"/>
          </p:cNvPicPr>
          <p:nvPr/>
        </p:nvPicPr>
        <p:blipFill>
          <a:blip r:embed="rId3" cstate="print"/>
          <a:srcRect/>
          <a:stretch>
            <a:fillRect/>
          </a:stretch>
        </p:blipFill>
        <p:spPr bwMode="auto">
          <a:xfrm>
            <a:off x="5469224" y="4343400"/>
            <a:ext cx="550576" cy="781050"/>
          </a:xfrm>
          <a:prstGeom prst="rect">
            <a:avLst/>
          </a:prstGeom>
          <a:noFill/>
          <a:ln w="9525">
            <a:noFill/>
            <a:miter lim="800000"/>
            <a:headEnd/>
            <a:tailEnd/>
          </a:ln>
        </p:spPr>
      </p:pic>
      <p:sp>
        <p:nvSpPr>
          <p:cNvPr id="2" name="Slide Number Placeholder 1"/>
          <p:cNvSpPr>
            <a:spLocks noGrp="1"/>
          </p:cNvSpPr>
          <p:nvPr>
            <p:ph type="sldNum" sz="quarter" idx="12"/>
          </p:nvPr>
        </p:nvSpPr>
        <p:spPr/>
        <p:txBody>
          <a:bodyPr/>
          <a:lstStyle/>
          <a:p>
            <a:fld id="{B6F15528-21DE-4FAA-801E-634DDDAF4B2B}" type="slidenum">
              <a:rPr lang="en-US" smtClean="0"/>
              <a:pPr/>
              <a:t>21</a:t>
            </a:fld>
            <a:endParaRPr lang="en-US" dirty="0"/>
          </a:p>
        </p:txBody>
      </p:sp>
      <p:cxnSp>
        <p:nvCxnSpPr>
          <p:cNvPr id="3" name="Straight Connector 2"/>
          <p:cNvCxnSpPr/>
          <p:nvPr/>
        </p:nvCxnSpPr>
        <p:spPr>
          <a:xfrm>
            <a:off x="457200" y="762000"/>
            <a:ext cx="8229600" cy="0"/>
          </a:xfrm>
          <a:prstGeom prst="line">
            <a:avLst/>
          </a:prstGeom>
          <a:ln w="63500">
            <a:solidFill>
              <a:srgbClr val="C00000"/>
            </a:solidFill>
          </a:ln>
        </p:spPr>
        <p:style>
          <a:lnRef idx="1">
            <a:schemeClr val="accent1"/>
          </a:lnRef>
          <a:fillRef idx="0">
            <a:schemeClr val="accent1"/>
          </a:fillRef>
          <a:effectRef idx="0">
            <a:schemeClr val="accent1"/>
          </a:effectRef>
          <a:fontRef idx="minor">
            <a:schemeClr val="tx1"/>
          </a:fontRef>
        </p:style>
      </p:cxnSp>
      <p:sp>
        <p:nvSpPr>
          <p:cNvPr id="4" name="Title 1"/>
          <p:cNvSpPr txBox="1">
            <a:spLocks/>
          </p:cNvSpPr>
          <p:nvPr/>
        </p:nvSpPr>
        <p:spPr>
          <a:xfrm>
            <a:off x="457200" y="76200"/>
            <a:ext cx="8229600" cy="1143000"/>
          </a:xfrm>
          <a:prstGeom prst="rect">
            <a:avLst/>
          </a:prstGeom>
        </p:spPr>
        <p:txBody>
          <a:bodyPr/>
          <a:lstStyle/>
          <a:p>
            <a:pPr lvl="0" algn="ctr">
              <a:spcBef>
                <a:spcPct val="0"/>
              </a:spcBef>
              <a:defRPr/>
            </a:pPr>
            <a:r>
              <a:rPr lang="en-US" sz="3800" b="1" dirty="0">
                <a:effectLst>
                  <a:outerShdw blurRad="38100" dist="38100" dir="2700000" algn="tl">
                    <a:srgbClr val="000000">
                      <a:alpha val="43137"/>
                    </a:srgbClr>
                  </a:outerShdw>
                </a:effectLst>
                <a:latin typeface="Garamond" pitchFamily="18" charset="0"/>
              </a:rPr>
              <a:t>MR(</a:t>
            </a:r>
            <a:r>
              <a:rPr lang="en-US" sz="3800" b="1" dirty="0" err="1">
                <a:effectLst>
                  <a:outerShdw blurRad="38100" dist="38100" dir="2700000" algn="tl">
                    <a:srgbClr val="000000">
                      <a:alpha val="43137"/>
                    </a:srgbClr>
                  </a:outerShdw>
                </a:effectLst>
                <a:latin typeface="Garamond" pitchFamily="18" charset="0"/>
              </a:rPr>
              <a:t>Hadoop</a:t>
            </a:r>
            <a:r>
              <a:rPr lang="en-US" sz="3800" b="1" dirty="0">
                <a:effectLst>
                  <a:outerShdw blurRad="38100" dist="38100" dir="2700000" algn="tl">
                    <a:srgbClr val="000000">
                      <a:alpha val="43137"/>
                    </a:srgbClr>
                  </a:outerShdw>
                </a:effectLst>
                <a:latin typeface="Garamond" pitchFamily="18" charset="0"/>
              </a:rPr>
              <a:t>) Job Execution Patterns</a:t>
            </a:r>
          </a:p>
        </p:txBody>
      </p:sp>
      <p:sp>
        <p:nvSpPr>
          <p:cNvPr id="7" name="TextBox 6"/>
          <p:cNvSpPr txBox="1"/>
          <p:nvPr/>
        </p:nvSpPr>
        <p:spPr>
          <a:xfrm>
            <a:off x="3200400" y="762000"/>
            <a:ext cx="1456232" cy="369332"/>
          </a:xfrm>
          <a:prstGeom prst="rect">
            <a:avLst/>
          </a:prstGeom>
          <a:noFill/>
        </p:spPr>
        <p:txBody>
          <a:bodyPr wrap="none" rtlCol="0">
            <a:spAutoFit/>
          </a:bodyPr>
          <a:lstStyle/>
          <a:p>
            <a:r>
              <a:rPr lang="en-US" b="1" dirty="0">
                <a:latin typeface="Garamond" pitchFamily="18" charset="0"/>
              </a:rPr>
              <a:t>MR program</a:t>
            </a:r>
          </a:p>
        </p:txBody>
      </p:sp>
      <p:sp>
        <p:nvSpPr>
          <p:cNvPr id="10" name="TextBox 9"/>
          <p:cNvSpPr txBox="1"/>
          <p:nvPr/>
        </p:nvSpPr>
        <p:spPr>
          <a:xfrm>
            <a:off x="4191000" y="2495550"/>
            <a:ext cx="1407758" cy="369332"/>
          </a:xfrm>
          <a:prstGeom prst="rect">
            <a:avLst/>
          </a:prstGeom>
          <a:noFill/>
        </p:spPr>
        <p:txBody>
          <a:bodyPr wrap="none" rtlCol="0">
            <a:spAutoFit/>
          </a:bodyPr>
          <a:lstStyle/>
          <a:p>
            <a:r>
              <a:rPr lang="en-US" b="1" dirty="0">
                <a:latin typeface="Garamond" pitchFamily="18" charset="0"/>
              </a:rPr>
              <a:t>Master node</a:t>
            </a:r>
          </a:p>
        </p:txBody>
      </p:sp>
      <p:cxnSp>
        <p:nvCxnSpPr>
          <p:cNvPr id="14" name="Straight Arrow Connector 13"/>
          <p:cNvCxnSpPr/>
          <p:nvPr/>
        </p:nvCxnSpPr>
        <p:spPr>
          <a:xfrm rot="5400000">
            <a:off x="3620691" y="2019697"/>
            <a:ext cx="532606" cy="1588"/>
          </a:xfrm>
          <a:prstGeom prst="straightConnector1">
            <a:avLst/>
          </a:prstGeom>
          <a:ln w="50800">
            <a:solidFill>
              <a:schemeClr val="tx1"/>
            </a:solidFill>
            <a:prstDash val="sysDot"/>
            <a:tailEnd type="arrow"/>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4038600" y="1752600"/>
            <a:ext cx="1897699" cy="369332"/>
          </a:xfrm>
          <a:prstGeom prst="rect">
            <a:avLst/>
          </a:prstGeom>
          <a:noFill/>
          <a:ln w="38100">
            <a:solidFill>
              <a:schemeClr val="accent1">
                <a:shade val="50000"/>
              </a:schemeClr>
            </a:solidFill>
          </a:ln>
        </p:spPr>
        <p:txBody>
          <a:bodyPr wrap="none" rtlCol="0">
            <a:spAutoFit/>
          </a:bodyPr>
          <a:lstStyle/>
          <a:p>
            <a:r>
              <a:rPr lang="en-US" b="1" dirty="0">
                <a:latin typeface="Garamond" pitchFamily="18" charset="0"/>
              </a:rPr>
              <a:t>1: Job submission</a:t>
            </a:r>
          </a:p>
        </p:txBody>
      </p:sp>
      <p:sp>
        <p:nvSpPr>
          <p:cNvPr id="18" name="TextBox 17"/>
          <p:cNvSpPr txBox="1"/>
          <p:nvPr/>
        </p:nvSpPr>
        <p:spPr>
          <a:xfrm>
            <a:off x="1600200" y="2971800"/>
            <a:ext cx="1529329" cy="369332"/>
          </a:xfrm>
          <a:prstGeom prst="rect">
            <a:avLst/>
          </a:prstGeom>
          <a:noFill/>
        </p:spPr>
        <p:txBody>
          <a:bodyPr wrap="none" rtlCol="0">
            <a:spAutoFit/>
          </a:bodyPr>
          <a:lstStyle/>
          <a:p>
            <a:r>
              <a:rPr lang="en-US" b="1" dirty="0">
                <a:latin typeface="Garamond" pitchFamily="18" charset="0"/>
              </a:rPr>
              <a:t>Worker nodes</a:t>
            </a:r>
          </a:p>
        </p:txBody>
      </p:sp>
      <p:pic>
        <p:nvPicPr>
          <p:cNvPr id="19" name="Picture 4"/>
          <p:cNvPicPr>
            <a:picLocks noChangeAspect="1" noChangeArrowheads="1"/>
          </p:cNvPicPr>
          <p:nvPr/>
        </p:nvPicPr>
        <p:blipFill>
          <a:blip r:embed="rId3" cstate="print"/>
          <a:srcRect/>
          <a:stretch>
            <a:fillRect/>
          </a:stretch>
        </p:blipFill>
        <p:spPr bwMode="auto">
          <a:xfrm>
            <a:off x="1905000" y="4476750"/>
            <a:ext cx="550576" cy="781050"/>
          </a:xfrm>
          <a:prstGeom prst="rect">
            <a:avLst/>
          </a:prstGeom>
          <a:noFill/>
          <a:ln w="9525">
            <a:noFill/>
            <a:miter lim="800000"/>
            <a:headEnd/>
            <a:tailEnd/>
          </a:ln>
        </p:spPr>
      </p:pic>
      <p:pic>
        <p:nvPicPr>
          <p:cNvPr id="25" name="Picture 4"/>
          <p:cNvPicPr>
            <a:picLocks noChangeAspect="1" noChangeArrowheads="1"/>
          </p:cNvPicPr>
          <p:nvPr/>
        </p:nvPicPr>
        <p:blipFill>
          <a:blip r:embed="rId3" cstate="print"/>
          <a:srcRect/>
          <a:stretch>
            <a:fillRect/>
          </a:stretch>
        </p:blipFill>
        <p:spPr bwMode="auto">
          <a:xfrm>
            <a:off x="1905000" y="3429000"/>
            <a:ext cx="550576" cy="781050"/>
          </a:xfrm>
          <a:prstGeom prst="rect">
            <a:avLst/>
          </a:prstGeom>
          <a:noFill/>
          <a:ln w="9525">
            <a:noFill/>
            <a:miter lim="800000"/>
            <a:headEnd/>
            <a:tailEnd/>
          </a:ln>
        </p:spPr>
      </p:pic>
      <p:pic>
        <p:nvPicPr>
          <p:cNvPr id="41" name="Picture 4"/>
          <p:cNvPicPr>
            <a:picLocks noChangeAspect="1" noChangeArrowheads="1"/>
          </p:cNvPicPr>
          <p:nvPr/>
        </p:nvPicPr>
        <p:blipFill>
          <a:blip r:embed="rId3" cstate="print"/>
          <a:srcRect/>
          <a:stretch>
            <a:fillRect/>
          </a:stretch>
        </p:blipFill>
        <p:spPr bwMode="auto">
          <a:xfrm>
            <a:off x="5486400" y="3257550"/>
            <a:ext cx="550576" cy="781050"/>
          </a:xfrm>
          <a:prstGeom prst="rect">
            <a:avLst/>
          </a:prstGeom>
          <a:noFill/>
          <a:ln w="9525">
            <a:noFill/>
            <a:miter lim="800000"/>
            <a:headEnd/>
            <a:tailEnd/>
          </a:ln>
        </p:spPr>
      </p:pic>
      <p:sp>
        <p:nvSpPr>
          <p:cNvPr id="44" name="TextBox 43"/>
          <p:cNvSpPr txBox="1"/>
          <p:nvPr/>
        </p:nvSpPr>
        <p:spPr>
          <a:xfrm>
            <a:off x="5177516" y="2895600"/>
            <a:ext cx="1529329" cy="369332"/>
          </a:xfrm>
          <a:prstGeom prst="rect">
            <a:avLst/>
          </a:prstGeom>
          <a:noFill/>
        </p:spPr>
        <p:txBody>
          <a:bodyPr wrap="none" rtlCol="0">
            <a:spAutoFit/>
          </a:bodyPr>
          <a:lstStyle/>
          <a:p>
            <a:r>
              <a:rPr lang="en-US" b="1" dirty="0">
                <a:latin typeface="Garamond" pitchFamily="18" charset="0"/>
              </a:rPr>
              <a:t>Worker nodes</a:t>
            </a:r>
          </a:p>
        </p:txBody>
      </p:sp>
      <p:sp>
        <p:nvSpPr>
          <p:cNvPr id="62" name="Oval 61"/>
          <p:cNvSpPr/>
          <p:nvPr/>
        </p:nvSpPr>
        <p:spPr>
          <a:xfrm>
            <a:off x="228600" y="914400"/>
            <a:ext cx="304800" cy="30480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TextBox 62"/>
          <p:cNvSpPr txBox="1"/>
          <p:nvPr/>
        </p:nvSpPr>
        <p:spPr>
          <a:xfrm>
            <a:off x="609600" y="914400"/>
            <a:ext cx="1828800" cy="369332"/>
          </a:xfrm>
          <a:prstGeom prst="rect">
            <a:avLst/>
          </a:prstGeom>
          <a:noFill/>
        </p:spPr>
        <p:txBody>
          <a:bodyPr wrap="square" rtlCol="0">
            <a:spAutoFit/>
          </a:bodyPr>
          <a:lstStyle/>
          <a:p>
            <a:r>
              <a:rPr lang="en-US" b="1" dirty="0">
                <a:latin typeface="Garamond" pitchFamily="18" charset="0"/>
              </a:rPr>
              <a:t>Map Tasks</a:t>
            </a:r>
          </a:p>
        </p:txBody>
      </p:sp>
      <p:sp>
        <p:nvSpPr>
          <p:cNvPr id="64" name="Oval 63"/>
          <p:cNvSpPr/>
          <p:nvPr/>
        </p:nvSpPr>
        <p:spPr>
          <a:xfrm>
            <a:off x="228600" y="1307068"/>
            <a:ext cx="304800" cy="304800"/>
          </a:xfrm>
          <a:prstGeom prst="ellipse">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TextBox 64"/>
          <p:cNvSpPr txBox="1"/>
          <p:nvPr/>
        </p:nvSpPr>
        <p:spPr>
          <a:xfrm>
            <a:off x="609600" y="1307068"/>
            <a:ext cx="1828800" cy="369332"/>
          </a:xfrm>
          <a:prstGeom prst="rect">
            <a:avLst/>
          </a:prstGeom>
          <a:noFill/>
        </p:spPr>
        <p:txBody>
          <a:bodyPr wrap="square" rtlCol="0">
            <a:spAutoFit/>
          </a:bodyPr>
          <a:lstStyle/>
          <a:p>
            <a:r>
              <a:rPr lang="en-US" b="1" dirty="0">
                <a:latin typeface="Garamond" pitchFamily="18" charset="0"/>
              </a:rPr>
              <a:t>Reduce Tasks</a:t>
            </a:r>
          </a:p>
        </p:txBody>
      </p:sp>
      <p:sp>
        <p:nvSpPr>
          <p:cNvPr id="70" name="Oval 69"/>
          <p:cNvSpPr/>
          <p:nvPr/>
        </p:nvSpPr>
        <p:spPr>
          <a:xfrm>
            <a:off x="2209800" y="3886200"/>
            <a:ext cx="304800" cy="30480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Oval 70"/>
          <p:cNvSpPr/>
          <p:nvPr/>
        </p:nvSpPr>
        <p:spPr>
          <a:xfrm>
            <a:off x="2209800" y="4876800"/>
            <a:ext cx="304800" cy="30480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p:cNvSpPr/>
          <p:nvPr/>
        </p:nvSpPr>
        <p:spPr>
          <a:xfrm>
            <a:off x="5791200" y="3657600"/>
            <a:ext cx="304800" cy="304800"/>
          </a:xfrm>
          <a:prstGeom prst="ellipse">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Oval 72"/>
          <p:cNvSpPr/>
          <p:nvPr/>
        </p:nvSpPr>
        <p:spPr>
          <a:xfrm>
            <a:off x="5791200" y="4724400"/>
            <a:ext cx="304800" cy="304800"/>
          </a:xfrm>
          <a:prstGeom prst="ellipse">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56"/>
          <p:cNvGrpSpPr/>
          <p:nvPr/>
        </p:nvGrpSpPr>
        <p:grpSpPr>
          <a:xfrm>
            <a:off x="304800" y="2895600"/>
            <a:ext cx="990600" cy="3733800"/>
            <a:chOff x="304800" y="2895600"/>
            <a:chExt cx="990600" cy="3733800"/>
          </a:xfrm>
        </p:grpSpPr>
        <p:sp>
          <p:nvSpPr>
            <p:cNvPr id="58" name="Flowchart: Document 57"/>
            <p:cNvSpPr/>
            <p:nvPr/>
          </p:nvSpPr>
          <p:spPr>
            <a:xfrm>
              <a:off x="304800" y="2895600"/>
              <a:ext cx="990600" cy="3733800"/>
            </a:xfrm>
            <a:prstGeom prst="flowChartDocumen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Flowchart: Magnetic Disk 58"/>
            <p:cNvSpPr/>
            <p:nvPr/>
          </p:nvSpPr>
          <p:spPr>
            <a:xfrm>
              <a:off x="533400" y="3124200"/>
              <a:ext cx="533400" cy="533400"/>
            </a:xfrm>
            <a:prstGeom prst="flowChartMagneticDisk">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Flowchart: Magnetic Disk 59"/>
            <p:cNvSpPr/>
            <p:nvPr/>
          </p:nvSpPr>
          <p:spPr>
            <a:xfrm>
              <a:off x="533400" y="3733800"/>
              <a:ext cx="533400" cy="533400"/>
            </a:xfrm>
            <a:prstGeom prst="flowChartMagneticDisk">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Flowchart: Magnetic Disk 60"/>
            <p:cNvSpPr/>
            <p:nvPr/>
          </p:nvSpPr>
          <p:spPr>
            <a:xfrm>
              <a:off x="533400" y="4419600"/>
              <a:ext cx="533400" cy="533400"/>
            </a:xfrm>
            <a:prstGeom prst="flowChartMagneticDisk">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Flowchart: Magnetic Disk 73"/>
            <p:cNvSpPr/>
            <p:nvPr/>
          </p:nvSpPr>
          <p:spPr>
            <a:xfrm>
              <a:off x="533400" y="5029200"/>
              <a:ext cx="533400" cy="533400"/>
            </a:xfrm>
            <a:prstGeom prst="flowChartMagneticDisk">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5" name="Flowchart: Magnetic Disk 74"/>
          <p:cNvSpPr/>
          <p:nvPr/>
        </p:nvSpPr>
        <p:spPr>
          <a:xfrm>
            <a:off x="2895600" y="3124200"/>
            <a:ext cx="533400" cy="533400"/>
          </a:xfrm>
          <a:prstGeom prst="flowChartMagneticDisk">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Flowchart: Magnetic Disk 75"/>
          <p:cNvSpPr/>
          <p:nvPr/>
        </p:nvSpPr>
        <p:spPr>
          <a:xfrm>
            <a:off x="2895600" y="3810000"/>
            <a:ext cx="533400" cy="533400"/>
          </a:xfrm>
          <a:prstGeom prst="flowChartMagneticDisk">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Flowchart: Magnetic Disk 76"/>
          <p:cNvSpPr/>
          <p:nvPr/>
        </p:nvSpPr>
        <p:spPr>
          <a:xfrm>
            <a:off x="2895600" y="4495800"/>
            <a:ext cx="533400" cy="533400"/>
          </a:xfrm>
          <a:prstGeom prst="flowChartMagneticDisk">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Flowchart: Magnetic Disk 77"/>
          <p:cNvSpPr/>
          <p:nvPr/>
        </p:nvSpPr>
        <p:spPr>
          <a:xfrm>
            <a:off x="2895600" y="5181600"/>
            <a:ext cx="533400" cy="533400"/>
          </a:xfrm>
          <a:prstGeom prst="flowChartMagneticDisk">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Flowchart: Magnetic Disk 78"/>
          <p:cNvSpPr/>
          <p:nvPr/>
        </p:nvSpPr>
        <p:spPr>
          <a:xfrm>
            <a:off x="4648200" y="3124200"/>
            <a:ext cx="533400" cy="533400"/>
          </a:xfrm>
          <a:prstGeom prst="flowChartMagneticDisk">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Flowchart: Magnetic Disk 79"/>
          <p:cNvSpPr/>
          <p:nvPr/>
        </p:nvSpPr>
        <p:spPr>
          <a:xfrm>
            <a:off x="4648200" y="3733800"/>
            <a:ext cx="533400" cy="533400"/>
          </a:xfrm>
          <a:prstGeom prst="flowChartMagneticDisk">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Flowchart: Magnetic Disk 80"/>
          <p:cNvSpPr/>
          <p:nvPr/>
        </p:nvSpPr>
        <p:spPr>
          <a:xfrm>
            <a:off x="4648200" y="4419600"/>
            <a:ext cx="533400" cy="533400"/>
          </a:xfrm>
          <a:prstGeom prst="flowChartMagneticDisk">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Flowchart: Magnetic Disk 81"/>
          <p:cNvSpPr/>
          <p:nvPr/>
        </p:nvSpPr>
        <p:spPr>
          <a:xfrm>
            <a:off x="4648200" y="5181600"/>
            <a:ext cx="533400" cy="533400"/>
          </a:xfrm>
          <a:prstGeom prst="flowChartMagneticDisk">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Freeform 82"/>
          <p:cNvSpPr/>
          <p:nvPr/>
        </p:nvSpPr>
        <p:spPr>
          <a:xfrm>
            <a:off x="1066799" y="3352800"/>
            <a:ext cx="1743635" cy="433294"/>
          </a:xfrm>
          <a:custGeom>
            <a:avLst/>
            <a:gdLst>
              <a:gd name="connsiteX0" fmla="*/ 0 w 1653988"/>
              <a:gd name="connsiteY0" fmla="*/ 0 h 562535"/>
              <a:gd name="connsiteX1" fmla="*/ 1008529 w 1653988"/>
              <a:gd name="connsiteY1" fmla="*/ 537882 h 562535"/>
              <a:gd name="connsiteX2" fmla="*/ 1653988 w 1653988"/>
              <a:gd name="connsiteY2" fmla="*/ 147917 h 562535"/>
              <a:gd name="connsiteX0" fmla="*/ 0 w 1653988"/>
              <a:gd name="connsiteY0" fmla="*/ 0 h 522194"/>
              <a:gd name="connsiteX1" fmla="*/ 900953 w 1653988"/>
              <a:gd name="connsiteY1" fmla="*/ 497541 h 522194"/>
              <a:gd name="connsiteX2" fmla="*/ 1653988 w 1653988"/>
              <a:gd name="connsiteY2" fmla="*/ 147917 h 522194"/>
              <a:gd name="connsiteX0" fmla="*/ 0 w 1743635"/>
              <a:gd name="connsiteY0" fmla="*/ 0 h 433294"/>
              <a:gd name="connsiteX1" fmla="*/ 990600 w 1743635"/>
              <a:gd name="connsiteY1" fmla="*/ 421341 h 433294"/>
              <a:gd name="connsiteX2" fmla="*/ 1743635 w 1743635"/>
              <a:gd name="connsiteY2" fmla="*/ 71717 h 433294"/>
            </a:gdLst>
            <a:ahLst/>
            <a:cxnLst>
              <a:cxn ang="0">
                <a:pos x="connsiteX0" y="connsiteY0"/>
              </a:cxn>
              <a:cxn ang="0">
                <a:pos x="connsiteX1" y="connsiteY1"/>
              </a:cxn>
              <a:cxn ang="0">
                <a:pos x="connsiteX2" y="connsiteY2"/>
              </a:cxn>
            </a:cxnLst>
            <a:rect l="l" t="t" r="r" b="b"/>
            <a:pathLst>
              <a:path w="1743635" h="433294">
                <a:moveTo>
                  <a:pt x="0" y="0"/>
                </a:moveTo>
                <a:cubicBezTo>
                  <a:pt x="366432" y="256614"/>
                  <a:pt x="699994" y="409388"/>
                  <a:pt x="990600" y="421341"/>
                </a:cubicBezTo>
                <a:cubicBezTo>
                  <a:pt x="1281206" y="433294"/>
                  <a:pt x="1698811" y="40341"/>
                  <a:pt x="1743635" y="71717"/>
                </a:cubicBezTo>
              </a:path>
            </a:pathLst>
          </a:custGeom>
          <a:ln w="50800">
            <a:solidFill>
              <a:schemeClr val="tx1"/>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4" name="Freeform 83"/>
          <p:cNvSpPr/>
          <p:nvPr/>
        </p:nvSpPr>
        <p:spPr>
          <a:xfrm>
            <a:off x="1143000" y="3870263"/>
            <a:ext cx="1667435" cy="187760"/>
          </a:xfrm>
          <a:custGeom>
            <a:avLst/>
            <a:gdLst>
              <a:gd name="connsiteX0" fmla="*/ 0 w 1653988"/>
              <a:gd name="connsiteY0" fmla="*/ 0 h 562535"/>
              <a:gd name="connsiteX1" fmla="*/ 1008529 w 1653988"/>
              <a:gd name="connsiteY1" fmla="*/ 537882 h 562535"/>
              <a:gd name="connsiteX2" fmla="*/ 1653988 w 1653988"/>
              <a:gd name="connsiteY2" fmla="*/ 147917 h 562535"/>
              <a:gd name="connsiteX0" fmla="*/ 0 w 1653988"/>
              <a:gd name="connsiteY0" fmla="*/ 0 h 522194"/>
              <a:gd name="connsiteX1" fmla="*/ 900953 w 1653988"/>
              <a:gd name="connsiteY1" fmla="*/ 497541 h 522194"/>
              <a:gd name="connsiteX2" fmla="*/ 1653988 w 1653988"/>
              <a:gd name="connsiteY2" fmla="*/ 147917 h 522194"/>
              <a:gd name="connsiteX0" fmla="*/ 0 w 1743635"/>
              <a:gd name="connsiteY0" fmla="*/ 0 h 433294"/>
              <a:gd name="connsiteX1" fmla="*/ 990600 w 1743635"/>
              <a:gd name="connsiteY1" fmla="*/ 421341 h 433294"/>
              <a:gd name="connsiteX2" fmla="*/ 1743635 w 1743635"/>
              <a:gd name="connsiteY2" fmla="*/ 71717 h 433294"/>
              <a:gd name="connsiteX0" fmla="*/ 0 w 1743635"/>
              <a:gd name="connsiteY0" fmla="*/ 112059 h 368673"/>
              <a:gd name="connsiteX1" fmla="*/ 990600 w 1743635"/>
              <a:gd name="connsiteY1" fmla="*/ 11953 h 368673"/>
              <a:gd name="connsiteX2" fmla="*/ 1743635 w 1743635"/>
              <a:gd name="connsiteY2" fmla="*/ 183776 h 368673"/>
              <a:gd name="connsiteX0" fmla="*/ 0 w 1743635"/>
              <a:gd name="connsiteY0" fmla="*/ 415864 h 672478"/>
              <a:gd name="connsiteX1" fmla="*/ 990600 w 1743635"/>
              <a:gd name="connsiteY1" fmla="*/ 34863 h 672478"/>
              <a:gd name="connsiteX2" fmla="*/ 1743635 w 1743635"/>
              <a:gd name="connsiteY2" fmla="*/ 206686 h 672478"/>
              <a:gd name="connsiteX0" fmla="*/ 0 w 1743635"/>
              <a:gd name="connsiteY0" fmla="*/ 415864 h 415864"/>
              <a:gd name="connsiteX1" fmla="*/ 990600 w 1743635"/>
              <a:gd name="connsiteY1" fmla="*/ 34863 h 415864"/>
              <a:gd name="connsiteX2" fmla="*/ 1743635 w 1743635"/>
              <a:gd name="connsiteY2" fmla="*/ 206686 h 415864"/>
              <a:gd name="connsiteX0" fmla="*/ 0 w 1743635"/>
              <a:gd name="connsiteY0" fmla="*/ 396938 h 396938"/>
              <a:gd name="connsiteX1" fmla="*/ 228600 w 1743635"/>
              <a:gd name="connsiteY1" fmla="*/ 92137 h 396938"/>
              <a:gd name="connsiteX2" fmla="*/ 990600 w 1743635"/>
              <a:gd name="connsiteY2" fmla="*/ 15937 h 396938"/>
              <a:gd name="connsiteX3" fmla="*/ 1743635 w 1743635"/>
              <a:gd name="connsiteY3" fmla="*/ 187760 h 396938"/>
              <a:gd name="connsiteX0" fmla="*/ 0 w 1667435"/>
              <a:gd name="connsiteY0" fmla="*/ 168337 h 187760"/>
              <a:gd name="connsiteX1" fmla="*/ 152400 w 1667435"/>
              <a:gd name="connsiteY1" fmla="*/ 92137 h 187760"/>
              <a:gd name="connsiteX2" fmla="*/ 914400 w 1667435"/>
              <a:gd name="connsiteY2" fmla="*/ 15937 h 187760"/>
              <a:gd name="connsiteX3" fmla="*/ 1667435 w 1667435"/>
              <a:gd name="connsiteY3" fmla="*/ 187760 h 187760"/>
            </a:gdLst>
            <a:ahLst/>
            <a:cxnLst>
              <a:cxn ang="0">
                <a:pos x="connsiteX0" y="connsiteY0"/>
              </a:cxn>
              <a:cxn ang="0">
                <a:pos x="connsiteX1" y="connsiteY1"/>
              </a:cxn>
              <a:cxn ang="0">
                <a:pos x="connsiteX2" y="connsiteY2"/>
              </a:cxn>
              <a:cxn ang="0">
                <a:pos x="connsiteX3" y="connsiteY3"/>
              </a:cxn>
            </a:cxnLst>
            <a:rect l="l" t="t" r="r" b="b"/>
            <a:pathLst>
              <a:path w="1667435" h="187760">
                <a:moveTo>
                  <a:pt x="0" y="168337"/>
                </a:moveTo>
                <a:cubicBezTo>
                  <a:pt x="5977" y="165349"/>
                  <a:pt x="0" y="117537"/>
                  <a:pt x="152400" y="92137"/>
                </a:cubicBezTo>
                <a:cubicBezTo>
                  <a:pt x="304800" y="66737"/>
                  <a:pt x="661894" y="0"/>
                  <a:pt x="914400" y="15937"/>
                </a:cubicBezTo>
                <a:cubicBezTo>
                  <a:pt x="1166906" y="31874"/>
                  <a:pt x="1622611" y="156384"/>
                  <a:pt x="1667435" y="187760"/>
                </a:cubicBezTo>
              </a:path>
            </a:pathLst>
          </a:custGeom>
          <a:ln w="50800">
            <a:solidFill>
              <a:schemeClr val="tx1"/>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5" name="Freeform 84"/>
          <p:cNvSpPr/>
          <p:nvPr/>
        </p:nvSpPr>
        <p:spPr>
          <a:xfrm>
            <a:off x="1066800" y="4648200"/>
            <a:ext cx="1743635" cy="433294"/>
          </a:xfrm>
          <a:custGeom>
            <a:avLst/>
            <a:gdLst>
              <a:gd name="connsiteX0" fmla="*/ 0 w 1653988"/>
              <a:gd name="connsiteY0" fmla="*/ 0 h 562535"/>
              <a:gd name="connsiteX1" fmla="*/ 1008529 w 1653988"/>
              <a:gd name="connsiteY1" fmla="*/ 537882 h 562535"/>
              <a:gd name="connsiteX2" fmla="*/ 1653988 w 1653988"/>
              <a:gd name="connsiteY2" fmla="*/ 147917 h 562535"/>
              <a:gd name="connsiteX0" fmla="*/ 0 w 1653988"/>
              <a:gd name="connsiteY0" fmla="*/ 0 h 522194"/>
              <a:gd name="connsiteX1" fmla="*/ 900953 w 1653988"/>
              <a:gd name="connsiteY1" fmla="*/ 497541 h 522194"/>
              <a:gd name="connsiteX2" fmla="*/ 1653988 w 1653988"/>
              <a:gd name="connsiteY2" fmla="*/ 147917 h 522194"/>
              <a:gd name="connsiteX0" fmla="*/ 0 w 1743635"/>
              <a:gd name="connsiteY0" fmla="*/ 0 h 433294"/>
              <a:gd name="connsiteX1" fmla="*/ 990600 w 1743635"/>
              <a:gd name="connsiteY1" fmla="*/ 421341 h 433294"/>
              <a:gd name="connsiteX2" fmla="*/ 1743635 w 1743635"/>
              <a:gd name="connsiteY2" fmla="*/ 71717 h 433294"/>
            </a:gdLst>
            <a:ahLst/>
            <a:cxnLst>
              <a:cxn ang="0">
                <a:pos x="connsiteX0" y="connsiteY0"/>
              </a:cxn>
              <a:cxn ang="0">
                <a:pos x="connsiteX1" y="connsiteY1"/>
              </a:cxn>
              <a:cxn ang="0">
                <a:pos x="connsiteX2" y="connsiteY2"/>
              </a:cxn>
            </a:cxnLst>
            <a:rect l="l" t="t" r="r" b="b"/>
            <a:pathLst>
              <a:path w="1743635" h="433294">
                <a:moveTo>
                  <a:pt x="0" y="0"/>
                </a:moveTo>
                <a:cubicBezTo>
                  <a:pt x="366432" y="256614"/>
                  <a:pt x="699994" y="409388"/>
                  <a:pt x="990600" y="421341"/>
                </a:cubicBezTo>
                <a:cubicBezTo>
                  <a:pt x="1281206" y="433294"/>
                  <a:pt x="1698811" y="40341"/>
                  <a:pt x="1743635" y="71717"/>
                </a:cubicBezTo>
              </a:path>
            </a:pathLst>
          </a:custGeom>
          <a:ln w="50800">
            <a:solidFill>
              <a:schemeClr val="tx1"/>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6" name="Freeform 85"/>
          <p:cNvSpPr/>
          <p:nvPr/>
        </p:nvSpPr>
        <p:spPr>
          <a:xfrm>
            <a:off x="1143001" y="5165663"/>
            <a:ext cx="1667435" cy="187760"/>
          </a:xfrm>
          <a:custGeom>
            <a:avLst/>
            <a:gdLst>
              <a:gd name="connsiteX0" fmla="*/ 0 w 1653988"/>
              <a:gd name="connsiteY0" fmla="*/ 0 h 562535"/>
              <a:gd name="connsiteX1" fmla="*/ 1008529 w 1653988"/>
              <a:gd name="connsiteY1" fmla="*/ 537882 h 562535"/>
              <a:gd name="connsiteX2" fmla="*/ 1653988 w 1653988"/>
              <a:gd name="connsiteY2" fmla="*/ 147917 h 562535"/>
              <a:gd name="connsiteX0" fmla="*/ 0 w 1653988"/>
              <a:gd name="connsiteY0" fmla="*/ 0 h 522194"/>
              <a:gd name="connsiteX1" fmla="*/ 900953 w 1653988"/>
              <a:gd name="connsiteY1" fmla="*/ 497541 h 522194"/>
              <a:gd name="connsiteX2" fmla="*/ 1653988 w 1653988"/>
              <a:gd name="connsiteY2" fmla="*/ 147917 h 522194"/>
              <a:gd name="connsiteX0" fmla="*/ 0 w 1743635"/>
              <a:gd name="connsiteY0" fmla="*/ 0 h 433294"/>
              <a:gd name="connsiteX1" fmla="*/ 990600 w 1743635"/>
              <a:gd name="connsiteY1" fmla="*/ 421341 h 433294"/>
              <a:gd name="connsiteX2" fmla="*/ 1743635 w 1743635"/>
              <a:gd name="connsiteY2" fmla="*/ 71717 h 433294"/>
              <a:gd name="connsiteX0" fmla="*/ 0 w 1743635"/>
              <a:gd name="connsiteY0" fmla="*/ 112059 h 368673"/>
              <a:gd name="connsiteX1" fmla="*/ 990600 w 1743635"/>
              <a:gd name="connsiteY1" fmla="*/ 11953 h 368673"/>
              <a:gd name="connsiteX2" fmla="*/ 1743635 w 1743635"/>
              <a:gd name="connsiteY2" fmla="*/ 183776 h 368673"/>
              <a:gd name="connsiteX0" fmla="*/ 0 w 1743635"/>
              <a:gd name="connsiteY0" fmla="*/ 415864 h 672478"/>
              <a:gd name="connsiteX1" fmla="*/ 990600 w 1743635"/>
              <a:gd name="connsiteY1" fmla="*/ 34863 h 672478"/>
              <a:gd name="connsiteX2" fmla="*/ 1743635 w 1743635"/>
              <a:gd name="connsiteY2" fmla="*/ 206686 h 672478"/>
              <a:gd name="connsiteX0" fmla="*/ 0 w 1743635"/>
              <a:gd name="connsiteY0" fmla="*/ 415864 h 415864"/>
              <a:gd name="connsiteX1" fmla="*/ 990600 w 1743635"/>
              <a:gd name="connsiteY1" fmla="*/ 34863 h 415864"/>
              <a:gd name="connsiteX2" fmla="*/ 1743635 w 1743635"/>
              <a:gd name="connsiteY2" fmla="*/ 206686 h 415864"/>
              <a:gd name="connsiteX0" fmla="*/ 0 w 1743635"/>
              <a:gd name="connsiteY0" fmla="*/ 396938 h 396938"/>
              <a:gd name="connsiteX1" fmla="*/ 228600 w 1743635"/>
              <a:gd name="connsiteY1" fmla="*/ 92137 h 396938"/>
              <a:gd name="connsiteX2" fmla="*/ 990600 w 1743635"/>
              <a:gd name="connsiteY2" fmla="*/ 15937 h 396938"/>
              <a:gd name="connsiteX3" fmla="*/ 1743635 w 1743635"/>
              <a:gd name="connsiteY3" fmla="*/ 187760 h 396938"/>
              <a:gd name="connsiteX0" fmla="*/ 0 w 1667435"/>
              <a:gd name="connsiteY0" fmla="*/ 168337 h 187760"/>
              <a:gd name="connsiteX1" fmla="*/ 152400 w 1667435"/>
              <a:gd name="connsiteY1" fmla="*/ 92137 h 187760"/>
              <a:gd name="connsiteX2" fmla="*/ 914400 w 1667435"/>
              <a:gd name="connsiteY2" fmla="*/ 15937 h 187760"/>
              <a:gd name="connsiteX3" fmla="*/ 1667435 w 1667435"/>
              <a:gd name="connsiteY3" fmla="*/ 187760 h 187760"/>
            </a:gdLst>
            <a:ahLst/>
            <a:cxnLst>
              <a:cxn ang="0">
                <a:pos x="connsiteX0" y="connsiteY0"/>
              </a:cxn>
              <a:cxn ang="0">
                <a:pos x="connsiteX1" y="connsiteY1"/>
              </a:cxn>
              <a:cxn ang="0">
                <a:pos x="connsiteX2" y="connsiteY2"/>
              </a:cxn>
              <a:cxn ang="0">
                <a:pos x="connsiteX3" y="connsiteY3"/>
              </a:cxn>
            </a:cxnLst>
            <a:rect l="l" t="t" r="r" b="b"/>
            <a:pathLst>
              <a:path w="1667435" h="187760">
                <a:moveTo>
                  <a:pt x="0" y="168337"/>
                </a:moveTo>
                <a:cubicBezTo>
                  <a:pt x="5977" y="165349"/>
                  <a:pt x="0" y="117537"/>
                  <a:pt x="152400" y="92137"/>
                </a:cubicBezTo>
                <a:cubicBezTo>
                  <a:pt x="304800" y="66737"/>
                  <a:pt x="661894" y="0"/>
                  <a:pt x="914400" y="15937"/>
                </a:cubicBezTo>
                <a:cubicBezTo>
                  <a:pt x="1166906" y="31874"/>
                  <a:pt x="1622611" y="156384"/>
                  <a:pt x="1667435" y="187760"/>
                </a:cubicBezTo>
              </a:path>
            </a:pathLst>
          </a:custGeom>
          <a:ln w="50800">
            <a:solidFill>
              <a:schemeClr val="tx1"/>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45" name="Straight Arrow Connector 44"/>
          <p:cNvCxnSpPr/>
          <p:nvPr/>
        </p:nvCxnSpPr>
        <p:spPr>
          <a:xfrm>
            <a:off x="3505200" y="4114800"/>
            <a:ext cx="1143000" cy="457200"/>
          </a:xfrm>
          <a:prstGeom prst="straightConnector1">
            <a:avLst/>
          </a:prstGeom>
          <a:ln w="50800">
            <a:solidFill>
              <a:schemeClr val="tx1"/>
            </a:solidFill>
            <a:tailEnd type="stealth"/>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p:nvPr/>
        </p:nvCxnSpPr>
        <p:spPr>
          <a:xfrm flipV="1">
            <a:off x="3581400" y="4114800"/>
            <a:ext cx="1066800" cy="533400"/>
          </a:xfrm>
          <a:prstGeom prst="straightConnector1">
            <a:avLst/>
          </a:prstGeom>
          <a:ln w="50800">
            <a:solidFill>
              <a:schemeClr val="tx1"/>
            </a:solidFill>
            <a:tailEnd type="stealth"/>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p:nvPr/>
        </p:nvCxnSpPr>
        <p:spPr>
          <a:xfrm>
            <a:off x="3505200" y="3429000"/>
            <a:ext cx="1143000" cy="1588"/>
          </a:xfrm>
          <a:prstGeom prst="straightConnector1">
            <a:avLst/>
          </a:prstGeom>
          <a:ln w="50800">
            <a:solidFill>
              <a:schemeClr val="tx1"/>
            </a:solidFill>
            <a:tailEnd type="stealth"/>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p:nvPr/>
        </p:nvCxnSpPr>
        <p:spPr>
          <a:xfrm>
            <a:off x="3581400" y="5484812"/>
            <a:ext cx="1066800" cy="1588"/>
          </a:xfrm>
          <a:prstGeom prst="straightConnector1">
            <a:avLst/>
          </a:prstGeom>
          <a:ln w="50800">
            <a:solidFill>
              <a:schemeClr val="tx1"/>
            </a:solidFill>
            <a:tailEnd type="stealth"/>
          </a:ln>
        </p:spPr>
        <p:style>
          <a:lnRef idx="1">
            <a:schemeClr val="accent1"/>
          </a:lnRef>
          <a:fillRef idx="0">
            <a:schemeClr val="accent1"/>
          </a:fillRef>
          <a:effectRef idx="0">
            <a:schemeClr val="accent1"/>
          </a:effectRef>
          <a:fontRef idx="minor">
            <a:schemeClr val="tx1"/>
          </a:fontRef>
        </p:style>
      </p:cxnSp>
      <p:sp>
        <p:nvSpPr>
          <p:cNvPr id="49" name="TextBox 48"/>
          <p:cNvSpPr txBox="1"/>
          <p:nvPr/>
        </p:nvSpPr>
        <p:spPr>
          <a:xfrm>
            <a:off x="5181600" y="5943600"/>
            <a:ext cx="2057400" cy="646331"/>
          </a:xfrm>
          <a:prstGeom prst="rect">
            <a:avLst/>
          </a:prstGeom>
          <a:noFill/>
          <a:ln w="38100">
            <a:solidFill>
              <a:schemeClr val="accent1">
                <a:shade val="50000"/>
              </a:schemeClr>
            </a:solidFill>
          </a:ln>
        </p:spPr>
        <p:txBody>
          <a:bodyPr wrap="square" rtlCol="0">
            <a:spAutoFit/>
          </a:bodyPr>
          <a:lstStyle/>
          <a:p>
            <a:r>
              <a:rPr lang="en-US" b="1" dirty="0">
                <a:latin typeface="Garamond" pitchFamily="18" charset="0"/>
              </a:rPr>
              <a:t>5: Reduce phase</a:t>
            </a:r>
          </a:p>
          <a:p>
            <a:r>
              <a:rPr lang="en-US" b="1" dirty="0">
                <a:solidFill>
                  <a:srgbClr val="FF0000"/>
                </a:solidFill>
                <a:latin typeface="Garamond" pitchFamily="18" charset="0"/>
              </a:rPr>
              <a:t>Concurrent tasks</a:t>
            </a:r>
          </a:p>
        </p:txBody>
      </p:sp>
      <p:sp>
        <p:nvSpPr>
          <p:cNvPr id="52" name="Flowchart: Document 51"/>
          <p:cNvSpPr/>
          <p:nvPr/>
        </p:nvSpPr>
        <p:spPr>
          <a:xfrm>
            <a:off x="7391400" y="2895600"/>
            <a:ext cx="990600" cy="3733800"/>
          </a:xfrm>
          <a:prstGeom prst="flowChartDocumen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Flowchart: Magnetic Disk 49"/>
          <p:cNvSpPr/>
          <p:nvPr/>
        </p:nvSpPr>
        <p:spPr>
          <a:xfrm>
            <a:off x="6324600" y="3352800"/>
            <a:ext cx="533400" cy="533400"/>
          </a:xfrm>
          <a:prstGeom prst="flowChartMagneticDisk">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Flowchart: Magnetic Disk 65"/>
          <p:cNvSpPr/>
          <p:nvPr/>
        </p:nvSpPr>
        <p:spPr>
          <a:xfrm>
            <a:off x="6324600" y="4419600"/>
            <a:ext cx="533400" cy="533400"/>
          </a:xfrm>
          <a:prstGeom prst="flowChartMagneticDisk">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Flowchart: Magnetic Disk 66"/>
          <p:cNvSpPr/>
          <p:nvPr/>
        </p:nvSpPr>
        <p:spPr>
          <a:xfrm>
            <a:off x="7620000" y="3352800"/>
            <a:ext cx="533400" cy="533400"/>
          </a:xfrm>
          <a:prstGeom prst="flowChartMagneticDisk">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Flowchart: Magnetic Disk 67"/>
          <p:cNvSpPr/>
          <p:nvPr/>
        </p:nvSpPr>
        <p:spPr>
          <a:xfrm>
            <a:off x="7620000" y="4419600"/>
            <a:ext cx="533400" cy="533400"/>
          </a:xfrm>
          <a:prstGeom prst="flowChartMagneticDisk">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Freeform 90"/>
          <p:cNvSpPr/>
          <p:nvPr/>
        </p:nvSpPr>
        <p:spPr>
          <a:xfrm>
            <a:off x="5242560" y="3383280"/>
            <a:ext cx="1005840" cy="291253"/>
          </a:xfrm>
          <a:custGeom>
            <a:avLst/>
            <a:gdLst>
              <a:gd name="connsiteX0" fmla="*/ 0 w 1005840"/>
              <a:gd name="connsiteY0" fmla="*/ 0 h 291253"/>
              <a:gd name="connsiteX1" fmla="*/ 568960 w 1005840"/>
              <a:gd name="connsiteY1" fmla="*/ 243840 h 291253"/>
              <a:gd name="connsiteX2" fmla="*/ 1005840 w 1005840"/>
              <a:gd name="connsiteY2" fmla="*/ 284480 h 291253"/>
            </a:gdLst>
            <a:ahLst/>
            <a:cxnLst>
              <a:cxn ang="0">
                <a:pos x="connsiteX0" y="connsiteY0"/>
              </a:cxn>
              <a:cxn ang="0">
                <a:pos x="connsiteX1" y="connsiteY1"/>
              </a:cxn>
              <a:cxn ang="0">
                <a:pos x="connsiteX2" y="connsiteY2"/>
              </a:cxn>
            </a:cxnLst>
            <a:rect l="l" t="t" r="r" b="b"/>
            <a:pathLst>
              <a:path w="1005840" h="291253">
                <a:moveTo>
                  <a:pt x="0" y="0"/>
                </a:moveTo>
                <a:cubicBezTo>
                  <a:pt x="200660" y="98213"/>
                  <a:pt x="401320" y="196427"/>
                  <a:pt x="568960" y="243840"/>
                </a:cubicBezTo>
                <a:cubicBezTo>
                  <a:pt x="736600" y="291253"/>
                  <a:pt x="871220" y="287866"/>
                  <a:pt x="1005840" y="284480"/>
                </a:cubicBezTo>
              </a:path>
            </a:pathLst>
          </a:custGeom>
          <a:ln w="50800">
            <a:solidFill>
              <a:schemeClr val="tx1"/>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2" name="Freeform 91"/>
          <p:cNvSpPr/>
          <p:nvPr/>
        </p:nvSpPr>
        <p:spPr>
          <a:xfrm>
            <a:off x="5257800" y="3771899"/>
            <a:ext cx="990600" cy="266701"/>
          </a:xfrm>
          <a:custGeom>
            <a:avLst/>
            <a:gdLst>
              <a:gd name="connsiteX0" fmla="*/ 0 w 1005840"/>
              <a:gd name="connsiteY0" fmla="*/ 0 h 291253"/>
              <a:gd name="connsiteX1" fmla="*/ 568960 w 1005840"/>
              <a:gd name="connsiteY1" fmla="*/ 243840 h 291253"/>
              <a:gd name="connsiteX2" fmla="*/ 1005840 w 1005840"/>
              <a:gd name="connsiteY2" fmla="*/ 284480 h 291253"/>
              <a:gd name="connsiteX0" fmla="*/ 0 w 990600"/>
              <a:gd name="connsiteY0" fmla="*/ 152400 h 421640"/>
              <a:gd name="connsiteX1" fmla="*/ 568960 w 990600"/>
              <a:gd name="connsiteY1" fmla="*/ 396240 h 421640"/>
              <a:gd name="connsiteX2" fmla="*/ 990600 w 990600"/>
              <a:gd name="connsiteY2" fmla="*/ 0 h 421640"/>
              <a:gd name="connsiteX0" fmla="*/ 0 w 990600"/>
              <a:gd name="connsiteY0" fmla="*/ 177800 h 276013"/>
              <a:gd name="connsiteX1" fmla="*/ 533400 w 990600"/>
              <a:gd name="connsiteY1" fmla="*/ 25400 h 276013"/>
              <a:gd name="connsiteX2" fmla="*/ 990600 w 990600"/>
              <a:gd name="connsiteY2" fmla="*/ 25400 h 276013"/>
              <a:gd name="connsiteX0" fmla="*/ 0 w 914400"/>
              <a:gd name="connsiteY0" fmla="*/ 177800 h 276013"/>
              <a:gd name="connsiteX1" fmla="*/ 533400 w 914400"/>
              <a:gd name="connsiteY1" fmla="*/ 25400 h 276013"/>
              <a:gd name="connsiteX2" fmla="*/ 914400 w 914400"/>
              <a:gd name="connsiteY2" fmla="*/ 25401 h 276013"/>
              <a:gd name="connsiteX0" fmla="*/ 0 w 990600"/>
              <a:gd name="connsiteY0" fmla="*/ 177800 h 276013"/>
              <a:gd name="connsiteX1" fmla="*/ 533400 w 990600"/>
              <a:gd name="connsiteY1" fmla="*/ 25400 h 276013"/>
              <a:gd name="connsiteX2" fmla="*/ 990600 w 990600"/>
              <a:gd name="connsiteY2" fmla="*/ 25401 h 276013"/>
              <a:gd name="connsiteX0" fmla="*/ 0 w 990600"/>
              <a:gd name="connsiteY0" fmla="*/ 266701 h 364914"/>
              <a:gd name="connsiteX1" fmla="*/ 533400 w 990600"/>
              <a:gd name="connsiteY1" fmla="*/ 38100 h 364914"/>
              <a:gd name="connsiteX2" fmla="*/ 990600 w 990600"/>
              <a:gd name="connsiteY2" fmla="*/ 38101 h 364914"/>
              <a:gd name="connsiteX0" fmla="*/ 0 w 990600"/>
              <a:gd name="connsiteY0" fmla="*/ 266701 h 266701"/>
              <a:gd name="connsiteX1" fmla="*/ 533400 w 990600"/>
              <a:gd name="connsiteY1" fmla="*/ 38100 h 266701"/>
              <a:gd name="connsiteX2" fmla="*/ 990600 w 990600"/>
              <a:gd name="connsiteY2" fmla="*/ 38101 h 266701"/>
            </a:gdLst>
            <a:ahLst/>
            <a:cxnLst>
              <a:cxn ang="0">
                <a:pos x="connsiteX0" y="connsiteY0"/>
              </a:cxn>
              <a:cxn ang="0">
                <a:pos x="connsiteX1" y="connsiteY1"/>
              </a:cxn>
              <a:cxn ang="0">
                <a:pos x="connsiteX2" y="connsiteY2"/>
              </a:cxn>
            </a:cxnLst>
            <a:rect l="l" t="t" r="r" b="b"/>
            <a:pathLst>
              <a:path w="990600" h="266701">
                <a:moveTo>
                  <a:pt x="0" y="266701"/>
                </a:moveTo>
                <a:cubicBezTo>
                  <a:pt x="170180" y="100754"/>
                  <a:pt x="368300" y="76200"/>
                  <a:pt x="533400" y="38100"/>
                </a:cubicBezTo>
                <a:cubicBezTo>
                  <a:pt x="698500" y="0"/>
                  <a:pt x="855980" y="41487"/>
                  <a:pt x="990600" y="38101"/>
                </a:cubicBezTo>
              </a:path>
            </a:pathLst>
          </a:custGeom>
          <a:ln w="50800">
            <a:solidFill>
              <a:schemeClr val="tx1"/>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3" name="Freeform 92"/>
          <p:cNvSpPr/>
          <p:nvPr/>
        </p:nvSpPr>
        <p:spPr>
          <a:xfrm>
            <a:off x="5257800" y="4648201"/>
            <a:ext cx="1066800" cy="165098"/>
          </a:xfrm>
          <a:custGeom>
            <a:avLst/>
            <a:gdLst>
              <a:gd name="connsiteX0" fmla="*/ 0 w 1005840"/>
              <a:gd name="connsiteY0" fmla="*/ 0 h 291253"/>
              <a:gd name="connsiteX1" fmla="*/ 568960 w 1005840"/>
              <a:gd name="connsiteY1" fmla="*/ 243840 h 291253"/>
              <a:gd name="connsiteX2" fmla="*/ 1005840 w 1005840"/>
              <a:gd name="connsiteY2" fmla="*/ 284480 h 291253"/>
              <a:gd name="connsiteX0" fmla="*/ 0 w 1082040"/>
              <a:gd name="connsiteY0" fmla="*/ 30480 h 279400"/>
              <a:gd name="connsiteX1" fmla="*/ 568960 w 1082040"/>
              <a:gd name="connsiteY1" fmla="*/ 274320 h 279400"/>
              <a:gd name="connsiteX2" fmla="*/ 1082040 w 1082040"/>
              <a:gd name="connsiteY2" fmla="*/ 0 h 279400"/>
              <a:gd name="connsiteX0" fmla="*/ 0 w 1082040"/>
              <a:gd name="connsiteY0" fmla="*/ 30480 h 128693"/>
              <a:gd name="connsiteX1" fmla="*/ 472440 w 1082040"/>
              <a:gd name="connsiteY1" fmla="*/ 76200 h 128693"/>
              <a:gd name="connsiteX2" fmla="*/ 1082040 w 1082040"/>
              <a:gd name="connsiteY2" fmla="*/ 0 h 128693"/>
              <a:gd name="connsiteX0" fmla="*/ 0 w 990600"/>
              <a:gd name="connsiteY0" fmla="*/ 0 h 165099"/>
              <a:gd name="connsiteX1" fmla="*/ 381000 w 990600"/>
              <a:gd name="connsiteY1" fmla="*/ 152399 h 165099"/>
              <a:gd name="connsiteX2" fmla="*/ 990600 w 990600"/>
              <a:gd name="connsiteY2" fmla="*/ 76199 h 165099"/>
              <a:gd name="connsiteX0" fmla="*/ 0 w 1066800"/>
              <a:gd name="connsiteY0" fmla="*/ 0 h 165098"/>
              <a:gd name="connsiteX1" fmla="*/ 457200 w 1066800"/>
              <a:gd name="connsiteY1" fmla="*/ 152398 h 165098"/>
              <a:gd name="connsiteX2" fmla="*/ 1066800 w 1066800"/>
              <a:gd name="connsiteY2" fmla="*/ 76198 h 165098"/>
            </a:gdLst>
            <a:ahLst/>
            <a:cxnLst>
              <a:cxn ang="0">
                <a:pos x="connsiteX0" y="connsiteY0"/>
              </a:cxn>
              <a:cxn ang="0">
                <a:pos x="connsiteX1" y="connsiteY1"/>
              </a:cxn>
              <a:cxn ang="0">
                <a:pos x="connsiteX2" y="connsiteY2"/>
              </a:cxn>
            </a:cxnLst>
            <a:rect l="l" t="t" r="r" b="b"/>
            <a:pathLst>
              <a:path w="1066800" h="165098">
                <a:moveTo>
                  <a:pt x="0" y="0"/>
                </a:moveTo>
                <a:cubicBezTo>
                  <a:pt x="200660" y="98213"/>
                  <a:pt x="279400" y="139698"/>
                  <a:pt x="457200" y="152398"/>
                </a:cubicBezTo>
                <a:cubicBezTo>
                  <a:pt x="635000" y="165098"/>
                  <a:pt x="932180" y="79584"/>
                  <a:pt x="1066800" y="76198"/>
                </a:cubicBezTo>
              </a:path>
            </a:pathLst>
          </a:custGeom>
          <a:ln w="50800">
            <a:solidFill>
              <a:schemeClr val="tx1"/>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4" name="Freeform 93"/>
          <p:cNvSpPr/>
          <p:nvPr/>
        </p:nvSpPr>
        <p:spPr>
          <a:xfrm>
            <a:off x="5257800" y="4851400"/>
            <a:ext cx="1066800" cy="635000"/>
          </a:xfrm>
          <a:custGeom>
            <a:avLst/>
            <a:gdLst>
              <a:gd name="connsiteX0" fmla="*/ 0 w 1005840"/>
              <a:gd name="connsiteY0" fmla="*/ 0 h 291253"/>
              <a:gd name="connsiteX1" fmla="*/ 568960 w 1005840"/>
              <a:gd name="connsiteY1" fmla="*/ 243840 h 291253"/>
              <a:gd name="connsiteX2" fmla="*/ 1005840 w 1005840"/>
              <a:gd name="connsiteY2" fmla="*/ 284480 h 291253"/>
              <a:gd name="connsiteX0" fmla="*/ 0 w 990600"/>
              <a:gd name="connsiteY0" fmla="*/ 152400 h 421640"/>
              <a:gd name="connsiteX1" fmla="*/ 568960 w 990600"/>
              <a:gd name="connsiteY1" fmla="*/ 396240 h 421640"/>
              <a:gd name="connsiteX2" fmla="*/ 990600 w 990600"/>
              <a:gd name="connsiteY2" fmla="*/ 0 h 421640"/>
              <a:gd name="connsiteX0" fmla="*/ 0 w 990600"/>
              <a:gd name="connsiteY0" fmla="*/ 177800 h 276013"/>
              <a:gd name="connsiteX1" fmla="*/ 533400 w 990600"/>
              <a:gd name="connsiteY1" fmla="*/ 25400 h 276013"/>
              <a:gd name="connsiteX2" fmla="*/ 990600 w 990600"/>
              <a:gd name="connsiteY2" fmla="*/ 25400 h 276013"/>
              <a:gd name="connsiteX0" fmla="*/ 0 w 914400"/>
              <a:gd name="connsiteY0" fmla="*/ 177800 h 276013"/>
              <a:gd name="connsiteX1" fmla="*/ 533400 w 914400"/>
              <a:gd name="connsiteY1" fmla="*/ 25400 h 276013"/>
              <a:gd name="connsiteX2" fmla="*/ 914400 w 914400"/>
              <a:gd name="connsiteY2" fmla="*/ 25401 h 276013"/>
              <a:gd name="connsiteX0" fmla="*/ 0 w 990600"/>
              <a:gd name="connsiteY0" fmla="*/ 177800 h 276013"/>
              <a:gd name="connsiteX1" fmla="*/ 533400 w 990600"/>
              <a:gd name="connsiteY1" fmla="*/ 25400 h 276013"/>
              <a:gd name="connsiteX2" fmla="*/ 990600 w 990600"/>
              <a:gd name="connsiteY2" fmla="*/ 25401 h 276013"/>
              <a:gd name="connsiteX0" fmla="*/ 0 w 990600"/>
              <a:gd name="connsiteY0" fmla="*/ 266701 h 364914"/>
              <a:gd name="connsiteX1" fmla="*/ 533400 w 990600"/>
              <a:gd name="connsiteY1" fmla="*/ 38100 h 364914"/>
              <a:gd name="connsiteX2" fmla="*/ 990600 w 990600"/>
              <a:gd name="connsiteY2" fmla="*/ 38101 h 364914"/>
              <a:gd name="connsiteX0" fmla="*/ 0 w 990600"/>
              <a:gd name="connsiteY0" fmla="*/ 266701 h 266701"/>
              <a:gd name="connsiteX1" fmla="*/ 533400 w 990600"/>
              <a:gd name="connsiteY1" fmla="*/ 38100 h 266701"/>
              <a:gd name="connsiteX2" fmla="*/ 990600 w 990600"/>
              <a:gd name="connsiteY2" fmla="*/ 38101 h 266701"/>
              <a:gd name="connsiteX0" fmla="*/ 0 w 1066800"/>
              <a:gd name="connsiteY0" fmla="*/ 533400 h 533400"/>
              <a:gd name="connsiteX1" fmla="*/ 533400 w 1066800"/>
              <a:gd name="connsiteY1" fmla="*/ 304799 h 533400"/>
              <a:gd name="connsiteX2" fmla="*/ 1066800 w 1066800"/>
              <a:gd name="connsiteY2" fmla="*/ 0 h 533400"/>
              <a:gd name="connsiteX0" fmla="*/ 0 w 1066800"/>
              <a:gd name="connsiteY0" fmla="*/ 546100 h 546100"/>
              <a:gd name="connsiteX1" fmla="*/ 381000 w 1066800"/>
              <a:gd name="connsiteY1" fmla="*/ 88900 h 546100"/>
              <a:gd name="connsiteX2" fmla="*/ 1066800 w 1066800"/>
              <a:gd name="connsiteY2" fmla="*/ 12700 h 546100"/>
              <a:gd name="connsiteX0" fmla="*/ 0 w 1066800"/>
              <a:gd name="connsiteY0" fmla="*/ 635000 h 635000"/>
              <a:gd name="connsiteX1" fmla="*/ 381000 w 1066800"/>
              <a:gd name="connsiteY1" fmla="*/ 101600 h 635000"/>
              <a:gd name="connsiteX2" fmla="*/ 1066800 w 1066800"/>
              <a:gd name="connsiteY2" fmla="*/ 25400 h 635000"/>
              <a:gd name="connsiteX0" fmla="*/ 0 w 1066800"/>
              <a:gd name="connsiteY0" fmla="*/ 635000 h 635000"/>
              <a:gd name="connsiteX1" fmla="*/ 381000 w 1066800"/>
              <a:gd name="connsiteY1" fmla="*/ 101600 h 635000"/>
              <a:gd name="connsiteX2" fmla="*/ 1066800 w 1066800"/>
              <a:gd name="connsiteY2" fmla="*/ 25400 h 635000"/>
            </a:gdLst>
            <a:ahLst/>
            <a:cxnLst>
              <a:cxn ang="0">
                <a:pos x="connsiteX0" y="connsiteY0"/>
              </a:cxn>
              <a:cxn ang="0">
                <a:pos x="connsiteX1" y="connsiteY1"/>
              </a:cxn>
              <a:cxn ang="0">
                <a:pos x="connsiteX2" y="connsiteY2"/>
              </a:cxn>
            </a:cxnLst>
            <a:rect l="l" t="t" r="r" b="b"/>
            <a:pathLst>
              <a:path w="1066800" h="635000">
                <a:moveTo>
                  <a:pt x="0" y="635000"/>
                </a:moveTo>
                <a:cubicBezTo>
                  <a:pt x="83820" y="428413"/>
                  <a:pt x="203200" y="203200"/>
                  <a:pt x="381000" y="101600"/>
                </a:cubicBezTo>
                <a:cubicBezTo>
                  <a:pt x="558800" y="0"/>
                  <a:pt x="932180" y="28786"/>
                  <a:pt x="1066800" y="25400"/>
                </a:cubicBezTo>
              </a:path>
            </a:pathLst>
          </a:custGeom>
          <a:ln w="50800">
            <a:solidFill>
              <a:schemeClr val="tx1"/>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95" name="Straight Arrow Connector 94"/>
          <p:cNvCxnSpPr/>
          <p:nvPr/>
        </p:nvCxnSpPr>
        <p:spPr>
          <a:xfrm>
            <a:off x="6934200" y="3657600"/>
            <a:ext cx="609600" cy="1588"/>
          </a:xfrm>
          <a:prstGeom prst="straightConnector1">
            <a:avLst/>
          </a:prstGeom>
          <a:ln w="50800">
            <a:solidFill>
              <a:schemeClr val="tx1"/>
            </a:solidFill>
            <a:tailEnd type="stealth"/>
          </a:ln>
        </p:spPr>
        <p:style>
          <a:lnRef idx="1">
            <a:schemeClr val="accent1"/>
          </a:lnRef>
          <a:fillRef idx="0">
            <a:schemeClr val="accent1"/>
          </a:fillRef>
          <a:effectRef idx="0">
            <a:schemeClr val="accent1"/>
          </a:effectRef>
          <a:fontRef idx="minor">
            <a:schemeClr val="tx1"/>
          </a:fontRef>
        </p:style>
      </p:cxnSp>
      <p:cxnSp>
        <p:nvCxnSpPr>
          <p:cNvPr id="97" name="Straight Arrow Connector 96"/>
          <p:cNvCxnSpPr/>
          <p:nvPr/>
        </p:nvCxnSpPr>
        <p:spPr>
          <a:xfrm>
            <a:off x="6934200" y="4724400"/>
            <a:ext cx="609600" cy="1588"/>
          </a:xfrm>
          <a:prstGeom prst="straightConnector1">
            <a:avLst/>
          </a:prstGeom>
          <a:ln w="50800">
            <a:solidFill>
              <a:schemeClr val="tx1"/>
            </a:solidFill>
            <a:tailEnd type="stealth"/>
          </a:ln>
        </p:spPr>
        <p:style>
          <a:lnRef idx="1">
            <a:schemeClr val="accent1"/>
          </a:lnRef>
          <a:fillRef idx="0">
            <a:schemeClr val="accent1"/>
          </a:fillRef>
          <a:effectRef idx="0">
            <a:schemeClr val="accent1"/>
          </a:effectRef>
          <a:fontRef idx="minor">
            <a:schemeClr val="tx1"/>
          </a:fontRef>
        </p:style>
      </p:cxnSp>
      <p:sp>
        <p:nvSpPr>
          <p:cNvPr id="100" name="Flowchart: Magnetic Disk 99"/>
          <p:cNvSpPr/>
          <p:nvPr/>
        </p:nvSpPr>
        <p:spPr>
          <a:xfrm>
            <a:off x="6324600" y="3352800"/>
            <a:ext cx="533400" cy="533400"/>
          </a:xfrm>
          <a:prstGeom prst="flowChartMagneticDisk">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Flowchart: Magnetic Disk 100"/>
          <p:cNvSpPr/>
          <p:nvPr/>
        </p:nvSpPr>
        <p:spPr>
          <a:xfrm>
            <a:off x="6324600" y="4419600"/>
            <a:ext cx="533400" cy="533400"/>
          </a:xfrm>
          <a:prstGeom prst="flowChartMagneticDisk">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TextBox 101"/>
          <p:cNvSpPr txBox="1"/>
          <p:nvPr/>
        </p:nvSpPr>
        <p:spPr>
          <a:xfrm flipH="1">
            <a:off x="6019800" y="2209800"/>
            <a:ext cx="3124200" cy="646331"/>
          </a:xfrm>
          <a:prstGeom prst="rect">
            <a:avLst/>
          </a:prstGeom>
          <a:noFill/>
          <a:ln w="38100">
            <a:solidFill>
              <a:schemeClr val="accent1">
                <a:shade val="50000"/>
              </a:schemeClr>
            </a:solidFill>
          </a:ln>
        </p:spPr>
        <p:txBody>
          <a:bodyPr wrap="square" rtlCol="0">
            <a:spAutoFit/>
          </a:bodyPr>
          <a:lstStyle/>
          <a:p>
            <a:r>
              <a:rPr lang="en-US" b="1" dirty="0">
                <a:latin typeface="Garamond" pitchFamily="18" charset="0"/>
              </a:rPr>
              <a:t>6: Output will be stored back to Distributed File System</a:t>
            </a:r>
          </a:p>
        </p:txBody>
      </p:sp>
      <p:sp>
        <p:nvSpPr>
          <p:cNvPr id="103" name="TextBox 102"/>
          <p:cNvSpPr txBox="1"/>
          <p:nvPr/>
        </p:nvSpPr>
        <p:spPr>
          <a:xfrm>
            <a:off x="5410200" y="5410200"/>
            <a:ext cx="2057400" cy="369332"/>
          </a:xfrm>
          <a:prstGeom prst="rect">
            <a:avLst/>
          </a:prstGeom>
          <a:noFill/>
        </p:spPr>
        <p:txBody>
          <a:bodyPr wrap="square" rtlCol="0">
            <a:spAutoFit/>
          </a:bodyPr>
          <a:lstStyle/>
          <a:p>
            <a:r>
              <a:rPr lang="en-US" b="1" dirty="0">
                <a:latin typeface="Garamond" pitchFamily="18" charset="0"/>
              </a:rPr>
              <a:t>Reduce output</a:t>
            </a:r>
          </a:p>
        </p:txBody>
      </p:sp>
      <p:cxnSp>
        <p:nvCxnSpPr>
          <p:cNvPr id="105" name="Straight Arrow Connector 104"/>
          <p:cNvCxnSpPr/>
          <p:nvPr/>
        </p:nvCxnSpPr>
        <p:spPr>
          <a:xfrm rot="5400000" flipH="1" flipV="1">
            <a:off x="6096000" y="5181600"/>
            <a:ext cx="381000" cy="228600"/>
          </a:xfrm>
          <a:prstGeom prst="straightConnector1">
            <a:avLst/>
          </a:prstGeom>
          <a:ln w="50800">
            <a:solidFill>
              <a:schemeClr val="accent2"/>
            </a:solidFill>
            <a:tailEnd type="arrow"/>
          </a:ln>
        </p:spPr>
        <p:style>
          <a:lnRef idx="1">
            <a:schemeClr val="accent1"/>
          </a:lnRef>
          <a:fillRef idx="0">
            <a:schemeClr val="accent1"/>
          </a:fillRef>
          <a:effectRef idx="0">
            <a:schemeClr val="accent1"/>
          </a:effectRef>
          <a:fontRef idx="minor">
            <a:schemeClr val="tx1"/>
          </a:fontRef>
        </p:style>
      </p:cxnSp>
      <p:sp>
        <p:nvSpPr>
          <p:cNvPr id="69" name="TextBox 68"/>
          <p:cNvSpPr txBox="1"/>
          <p:nvPr/>
        </p:nvSpPr>
        <p:spPr>
          <a:xfrm>
            <a:off x="1295400" y="5867400"/>
            <a:ext cx="1981200" cy="646331"/>
          </a:xfrm>
          <a:prstGeom prst="rect">
            <a:avLst/>
          </a:prstGeom>
          <a:noFill/>
          <a:ln w="38100">
            <a:solidFill>
              <a:schemeClr val="accent1">
                <a:shade val="50000"/>
              </a:schemeClr>
            </a:solidFill>
          </a:ln>
        </p:spPr>
        <p:txBody>
          <a:bodyPr wrap="square" rtlCol="0">
            <a:spAutoFit/>
          </a:bodyPr>
          <a:lstStyle/>
          <a:p>
            <a:r>
              <a:rPr lang="en-US" b="1" dirty="0">
                <a:latin typeface="Garamond" pitchFamily="18" charset="0"/>
              </a:rPr>
              <a:t>3: Map phase</a:t>
            </a:r>
          </a:p>
          <a:p>
            <a:r>
              <a:rPr lang="en-US" b="1" dirty="0">
                <a:solidFill>
                  <a:srgbClr val="FF0000"/>
                </a:solidFill>
                <a:latin typeface="Garamond" pitchFamily="18" charset="0"/>
              </a:rPr>
              <a:t>Concurrent tasks</a:t>
            </a:r>
          </a:p>
        </p:txBody>
      </p:sp>
      <p:sp>
        <p:nvSpPr>
          <p:cNvPr id="88" name="TextBox 87"/>
          <p:cNvSpPr txBox="1"/>
          <p:nvPr/>
        </p:nvSpPr>
        <p:spPr>
          <a:xfrm>
            <a:off x="3352800" y="5955268"/>
            <a:ext cx="1752600" cy="369332"/>
          </a:xfrm>
          <a:prstGeom prst="rect">
            <a:avLst/>
          </a:prstGeom>
          <a:noFill/>
          <a:ln w="38100">
            <a:solidFill>
              <a:schemeClr val="accent1">
                <a:shade val="50000"/>
              </a:schemeClr>
            </a:solidFill>
          </a:ln>
        </p:spPr>
        <p:txBody>
          <a:bodyPr wrap="square" rtlCol="0">
            <a:spAutoFit/>
          </a:bodyPr>
          <a:lstStyle/>
          <a:p>
            <a:r>
              <a:rPr lang="en-US" b="1" dirty="0">
                <a:latin typeface="Garamond" pitchFamily="18" charset="0"/>
              </a:rPr>
              <a:t>4: Shuffle phase</a:t>
            </a:r>
          </a:p>
        </p:txBody>
      </p:sp>
      <p:sp>
        <p:nvSpPr>
          <p:cNvPr id="89" name="TextBox 88"/>
          <p:cNvSpPr txBox="1"/>
          <p:nvPr/>
        </p:nvSpPr>
        <p:spPr>
          <a:xfrm>
            <a:off x="6019800" y="780871"/>
            <a:ext cx="2514600" cy="1200329"/>
          </a:xfrm>
          <a:prstGeom prst="rect">
            <a:avLst/>
          </a:prstGeom>
          <a:noFill/>
          <a:ln w="9525">
            <a:noFill/>
          </a:ln>
        </p:spPr>
        <p:txBody>
          <a:bodyPr wrap="square" rtlCol="0">
            <a:spAutoFit/>
          </a:bodyPr>
          <a:lstStyle/>
          <a:p>
            <a:r>
              <a:rPr lang="en-US" sz="2400" b="1" dirty="0">
                <a:solidFill>
                  <a:schemeClr val="accent2"/>
                </a:solidFill>
                <a:latin typeface="Garamond" pitchFamily="18" charset="0"/>
              </a:rPr>
              <a:t>The execution of a MR job involves 6 steps</a:t>
            </a:r>
          </a:p>
        </p:txBody>
      </p:sp>
      <p:pic>
        <p:nvPicPr>
          <p:cNvPr id="96" name="Picture 3" descr="e:\Users\yhuai\Desktop\Picture1.png"/>
          <p:cNvPicPr>
            <a:picLocks noChangeAspect="1" noChangeArrowheads="1"/>
          </p:cNvPicPr>
          <p:nvPr/>
        </p:nvPicPr>
        <p:blipFill>
          <a:blip r:embed="rId4" cstate="print"/>
          <a:srcRect/>
          <a:stretch>
            <a:fillRect/>
          </a:stretch>
        </p:blipFill>
        <p:spPr bwMode="auto">
          <a:xfrm>
            <a:off x="3581400" y="1066800"/>
            <a:ext cx="854075" cy="609600"/>
          </a:xfrm>
          <a:prstGeom prst="rect">
            <a:avLst/>
          </a:prstGeom>
          <a:noFill/>
        </p:spPr>
      </p:pic>
      <p:sp>
        <p:nvSpPr>
          <p:cNvPr id="87" name="Rectangle 86"/>
          <p:cNvSpPr/>
          <p:nvPr/>
        </p:nvSpPr>
        <p:spPr>
          <a:xfrm>
            <a:off x="0" y="4191000"/>
            <a:ext cx="9144000" cy="2667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solidFill>
                  <a:srgbClr val="FFFF00"/>
                </a:solidFill>
                <a:latin typeface="Garamond" pitchFamily="18" charset="0"/>
              </a:rPr>
              <a:t>A </a:t>
            </a:r>
            <a:r>
              <a:rPr lang="en-US" sz="2800" b="1" dirty="0" err="1">
                <a:solidFill>
                  <a:srgbClr val="FFFF00"/>
                </a:solidFill>
                <a:latin typeface="Garamond" pitchFamily="18" charset="0"/>
              </a:rPr>
              <a:t>MapReduce</a:t>
            </a:r>
            <a:r>
              <a:rPr lang="en-US" sz="2800" b="1" dirty="0">
                <a:solidFill>
                  <a:srgbClr val="FFFF00"/>
                </a:solidFill>
                <a:latin typeface="Garamond" pitchFamily="18" charset="0"/>
              </a:rPr>
              <a:t> (MR) job is resource-consuming:</a:t>
            </a:r>
          </a:p>
          <a:p>
            <a:r>
              <a:rPr lang="en-US" sz="2600" b="1" dirty="0">
                <a:solidFill>
                  <a:srgbClr val="FFFF00"/>
                </a:solidFill>
                <a:latin typeface="Garamond" pitchFamily="18" charset="0"/>
              </a:rPr>
              <a:t>1: Input data scan in the Map phase =&gt; local or remote I/Os</a:t>
            </a:r>
          </a:p>
          <a:p>
            <a:r>
              <a:rPr lang="en-US" sz="2600" b="1" dirty="0">
                <a:solidFill>
                  <a:srgbClr val="FFFF00"/>
                </a:solidFill>
                <a:latin typeface="Garamond" pitchFamily="18" charset="0"/>
              </a:rPr>
              <a:t>2: Store intermediate results of Map output =&gt; local I/Os</a:t>
            </a:r>
          </a:p>
          <a:p>
            <a:r>
              <a:rPr lang="en-US" sz="2600" b="1" dirty="0">
                <a:solidFill>
                  <a:srgbClr val="FFFF00"/>
                </a:solidFill>
                <a:latin typeface="Garamond" pitchFamily="18" charset="0"/>
              </a:rPr>
              <a:t>3: Transfer data across in the Shuffle phase =&gt; network costs</a:t>
            </a:r>
          </a:p>
          <a:p>
            <a:r>
              <a:rPr lang="en-US" sz="2600" b="1" dirty="0">
                <a:solidFill>
                  <a:srgbClr val="FFFF00"/>
                </a:solidFill>
                <a:latin typeface="Garamond" pitchFamily="18" charset="0"/>
              </a:rPr>
              <a:t>4: Store final results of this MR job =&gt; local I/Os + network costs (replicate data)</a:t>
            </a:r>
          </a:p>
        </p:txBody>
      </p:sp>
    </p:spTree>
    <p:extLst>
      <p:ext uri="{BB962C8B-B14F-4D97-AF65-F5344CB8AC3E}">
        <p14:creationId xmlns:p14="http://schemas.microsoft.com/office/powerpoint/2010/main" val="3386020763"/>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0">
          <a:blip r:embed="rId3">
            <a:lum/>
          </a:blip>
          <a:srcRect/>
          <a:stretch>
            <a:fillRect/>
          </a:stretch>
        </a:blipFill>
        <a:effectLst/>
      </p:bgPr>
    </p:bg>
    <p:spTree>
      <p:nvGrpSpPr>
        <p:cNvPr id="1" name=""/>
        <p:cNvGrpSpPr/>
        <p:nvPr/>
      </p:nvGrpSpPr>
      <p:grpSpPr>
        <a:xfrm>
          <a:off x="0" y="0"/>
          <a:ext cx="0" cy="0"/>
          <a:chOff x="0" y="0"/>
          <a:chExt cx="0" cy="0"/>
        </a:xfrm>
      </p:grpSpPr>
      <p:sp>
        <p:nvSpPr>
          <p:cNvPr id="15362" name="文本框 1"/>
          <p:cNvSpPr txBox="1">
            <a:spLocks noChangeArrowheads="1"/>
          </p:cNvSpPr>
          <p:nvPr/>
        </p:nvSpPr>
        <p:spPr bwMode="auto">
          <a:xfrm>
            <a:off x="-7464425" y="4954588"/>
            <a:ext cx="1857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charset="0"/>
              <a:buChar char="•"/>
              <a:defRPr sz="2800">
                <a:solidFill>
                  <a:schemeClr val="tx1"/>
                </a:solidFill>
                <a:latin typeface="Calibri" charset="0"/>
                <a:ea typeface="宋体" charset="0"/>
              </a:defRPr>
            </a:lvl1pPr>
            <a:lvl2pPr marL="742950" indent="-285750">
              <a:lnSpc>
                <a:spcPct val="90000"/>
              </a:lnSpc>
              <a:spcBef>
                <a:spcPts val="500"/>
              </a:spcBef>
              <a:buFont typeface="Arial" charset="0"/>
              <a:buChar char="•"/>
              <a:defRPr sz="2400">
                <a:solidFill>
                  <a:schemeClr val="tx1"/>
                </a:solidFill>
                <a:latin typeface="Calibri" charset="0"/>
                <a:ea typeface="宋体" charset="0"/>
              </a:defRPr>
            </a:lvl2pPr>
            <a:lvl3pPr marL="1143000" indent="-228600">
              <a:lnSpc>
                <a:spcPct val="90000"/>
              </a:lnSpc>
              <a:spcBef>
                <a:spcPts val="500"/>
              </a:spcBef>
              <a:buFont typeface="Arial" charset="0"/>
              <a:buChar char="•"/>
              <a:defRPr sz="2000">
                <a:solidFill>
                  <a:schemeClr val="tx1"/>
                </a:solidFill>
                <a:latin typeface="Calibri" charset="0"/>
                <a:ea typeface="宋体" charset="0"/>
              </a:defRPr>
            </a:lvl3pPr>
            <a:lvl4pPr marL="1600200" indent="-228600">
              <a:lnSpc>
                <a:spcPct val="90000"/>
              </a:lnSpc>
              <a:spcBef>
                <a:spcPts val="500"/>
              </a:spcBef>
              <a:buFont typeface="Arial" charset="0"/>
              <a:buChar char="•"/>
              <a:defRPr>
                <a:solidFill>
                  <a:schemeClr val="tx1"/>
                </a:solidFill>
                <a:latin typeface="Calibri" charset="0"/>
                <a:ea typeface="宋体" charset="0"/>
              </a:defRPr>
            </a:lvl4pPr>
            <a:lvl5pPr marL="2057400" indent="-228600">
              <a:lnSpc>
                <a:spcPct val="90000"/>
              </a:lnSpc>
              <a:spcBef>
                <a:spcPts val="500"/>
              </a:spcBef>
              <a:buFont typeface="Arial" charset="0"/>
              <a:buChar char="•"/>
              <a:defRPr>
                <a:solidFill>
                  <a:schemeClr val="tx1"/>
                </a:solidFill>
                <a:latin typeface="Calibri" charset="0"/>
                <a:ea typeface="宋体" charset="0"/>
              </a:defRPr>
            </a:lvl5pPr>
            <a:lvl6pPr marL="25146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6pPr>
            <a:lvl7pPr marL="29718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7pPr>
            <a:lvl8pPr marL="34290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8pPr>
            <a:lvl9pPr marL="38862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9pPr>
          </a:lstStyle>
          <a:p>
            <a:pPr>
              <a:lnSpc>
                <a:spcPct val="100000"/>
              </a:lnSpc>
              <a:spcBef>
                <a:spcPct val="0"/>
              </a:spcBef>
              <a:buFontTx/>
              <a:buNone/>
            </a:pPr>
            <a:endParaRPr kumimoji="1" lang="zh-CN" altLang="en-US" sz="1800"/>
          </a:p>
        </p:txBody>
      </p:sp>
      <p:sp>
        <p:nvSpPr>
          <p:cNvPr id="2" name="文本框 1"/>
          <p:cNvSpPr txBox="1"/>
          <p:nvPr/>
        </p:nvSpPr>
        <p:spPr>
          <a:xfrm>
            <a:off x="6801492" y="4366517"/>
            <a:ext cx="184731" cy="369332"/>
          </a:xfrm>
          <a:prstGeom prst="rect">
            <a:avLst/>
          </a:prstGeom>
          <a:noFill/>
        </p:spPr>
        <p:txBody>
          <a:bodyPr wrap="none" rtlCol="0">
            <a:spAutoFit/>
          </a:bodyPr>
          <a:lstStyle/>
          <a:p>
            <a:endParaRPr kumimoji="1" lang="zh-CN" altLang="en-US"/>
          </a:p>
        </p:txBody>
      </p:sp>
      <p:sp>
        <p:nvSpPr>
          <p:cNvPr id="3" name="文本框 2"/>
          <p:cNvSpPr txBox="1"/>
          <p:nvPr/>
        </p:nvSpPr>
        <p:spPr>
          <a:xfrm>
            <a:off x="2770166" y="2411366"/>
            <a:ext cx="6373834" cy="1936236"/>
          </a:xfrm>
          <a:prstGeom prst="rect">
            <a:avLst/>
          </a:prstGeom>
          <a:noFill/>
        </p:spPr>
        <p:txBody>
          <a:bodyPr wrap="square" rtlCol="0">
            <a:spAutoFit/>
          </a:bodyPr>
          <a:lstStyle/>
          <a:p>
            <a:pPr marL="285750" indent="-285750">
              <a:lnSpc>
                <a:spcPct val="150000"/>
              </a:lnSpc>
              <a:buClr>
                <a:schemeClr val="bg1">
                  <a:lumMod val="95000"/>
                </a:schemeClr>
              </a:buClr>
              <a:buSzPct val="75000"/>
              <a:buFont typeface="Wingdings" charset="2"/>
              <a:buChar char="l"/>
            </a:pPr>
            <a:r>
              <a:rPr kumimoji="1" lang="zh-CN" altLang="en-US" sz="2800" dirty="0">
                <a:latin typeface="Microsoft YaHei" charset="-122"/>
                <a:ea typeface="Microsoft YaHei" charset="-122"/>
                <a:cs typeface="Microsoft YaHei" charset="-122"/>
              </a:rPr>
              <a:t>     文件格式及其优化</a:t>
            </a:r>
            <a:endParaRPr kumimoji="1" lang="en-US" altLang="zh-CN" sz="2800" dirty="0">
              <a:latin typeface="Microsoft YaHei" charset="-122"/>
              <a:ea typeface="Microsoft YaHei" charset="-122"/>
              <a:cs typeface="Microsoft YaHei" charset="-122"/>
            </a:endParaRPr>
          </a:p>
          <a:p>
            <a:pPr marL="1371600" lvl="2" indent="-457200">
              <a:lnSpc>
                <a:spcPct val="150000"/>
              </a:lnSpc>
              <a:buClr>
                <a:schemeClr val="tx1"/>
              </a:buClr>
              <a:buSzPct val="75000"/>
              <a:buFont typeface="Arial" panose="020B0604020202020204" pitchFamily="34" charset="0"/>
              <a:buChar char="•"/>
            </a:pPr>
            <a:r>
              <a:rPr kumimoji="1" lang="en-US" altLang="zh-CN" dirty="0">
                <a:latin typeface="Microsoft YaHei" charset="-122"/>
                <a:ea typeface="Microsoft YaHei" charset="-122"/>
                <a:cs typeface="Microsoft YaHei" charset="-122"/>
              </a:rPr>
              <a:t>RC File/ORC</a:t>
            </a:r>
          </a:p>
          <a:p>
            <a:pPr marL="1371600" lvl="2" indent="-457200">
              <a:lnSpc>
                <a:spcPct val="150000"/>
              </a:lnSpc>
              <a:buClr>
                <a:schemeClr val="tx1"/>
              </a:buClr>
              <a:buSzPct val="75000"/>
              <a:buFont typeface="Arial" panose="020B0604020202020204" pitchFamily="34" charset="0"/>
              <a:buChar char="•"/>
            </a:pPr>
            <a:r>
              <a:rPr kumimoji="1" lang="zh-CN" altLang="en-US" dirty="0">
                <a:latin typeface="Microsoft YaHei" charset="-122"/>
                <a:ea typeface="Microsoft YaHei" charset="-122"/>
                <a:cs typeface="Microsoft YaHei" charset="-122"/>
              </a:rPr>
              <a:t>压缩背景知识</a:t>
            </a:r>
            <a:endParaRPr kumimoji="1" lang="en-US" altLang="zh-CN" dirty="0">
              <a:latin typeface="Microsoft YaHei" charset="-122"/>
              <a:ea typeface="Microsoft YaHei" charset="-122"/>
              <a:cs typeface="Microsoft YaHei" charset="-122"/>
            </a:endParaRPr>
          </a:p>
          <a:p>
            <a:pPr marL="1371600" lvl="2" indent="-457200">
              <a:lnSpc>
                <a:spcPct val="150000"/>
              </a:lnSpc>
              <a:buClr>
                <a:schemeClr val="tx1"/>
              </a:buClr>
              <a:buSzPct val="75000"/>
              <a:buFont typeface="Arial" panose="020B0604020202020204" pitchFamily="34" charset="0"/>
              <a:buChar char="•"/>
            </a:pPr>
            <a:r>
              <a:rPr kumimoji="1" lang="en-US" altLang="zh-CN" dirty="0">
                <a:latin typeface="Microsoft YaHei" charset="-122"/>
                <a:ea typeface="Microsoft YaHei" charset="-122"/>
                <a:cs typeface="Microsoft YaHei" charset="-122"/>
              </a:rPr>
              <a:t>Parquet</a:t>
            </a:r>
          </a:p>
        </p:txBody>
      </p:sp>
    </p:spTree>
    <p:extLst>
      <p:ext uri="{BB962C8B-B14F-4D97-AF65-F5344CB8AC3E}">
        <p14:creationId xmlns:p14="http://schemas.microsoft.com/office/powerpoint/2010/main" val="1729319583"/>
      </p:ext>
    </p:extLst>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7"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89086" y="3124200"/>
            <a:ext cx="3735526" cy="1057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Slide Number Placeholder 3"/>
          <p:cNvSpPr>
            <a:spLocks noGrp="1"/>
          </p:cNvSpPr>
          <p:nvPr>
            <p:ph type="sldNum" sz="quarter" idx="12"/>
          </p:nvPr>
        </p:nvSpPr>
        <p:spPr>
          <a:xfrm>
            <a:off x="6457950" y="6120048"/>
            <a:ext cx="2057400" cy="365125"/>
          </a:xfrm>
        </p:spPr>
        <p:txBody>
          <a:bodyPr/>
          <a:lstStyle/>
          <a:p>
            <a:endParaRPr lang="en-US" dirty="0"/>
          </a:p>
        </p:txBody>
      </p:sp>
      <p:sp>
        <p:nvSpPr>
          <p:cNvPr id="41" name="TextBox 40"/>
          <p:cNvSpPr txBox="1"/>
          <p:nvPr/>
        </p:nvSpPr>
        <p:spPr>
          <a:xfrm>
            <a:off x="0" y="293281"/>
            <a:ext cx="9144000" cy="523220"/>
          </a:xfrm>
          <a:prstGeom prst="rect">
            <a:avLst/>
          </a:prstGeom>
          <a:noFill/>
        </p:spPr>
        <p:txBody>
          <a:bodyPr wrap="square" rtlCol="0">
            <a:spAutoFit/>
          </a:bodyPr>
          <a:lstStyle/>
          <a:p>
            <a:pPr algn="ctr"/>
            <a:r>
              <a:rPr lang="en-US" sz="2800" dirty="0">
                <a:solidFill>
                  <a:srgbClr val="FF0000"/>
                </a:solidFill>
                <a:latin typeface="Arial Black" pitchFamily="34" charset="0"/>
              </a:rPr>
              <a:t>Data Format: </a:t>
            </a:r>
            <a:r>
              <a:rPr lang="en-US" sz="2800" b="1" dirty="0">
                <a:latin typeface="Arial Black" pitchFamily="34" charset="0"/>
              </a:rPr>
              <a:t>how to place a table to a cluster</a:t>
            </a:r>
          </a:p>
        </p:txBody>
      </p:sp>
      <p:grpSp>
        <p:nvGrpSpPr>
          <p:cNvPr id="64" name="Group 63"/>
          <p:cNvGrpSpPr/>
          <p:nvPr/>
        </p:nvGrpSpPr>
        <p:grpSpPr>
          <a:xfrm>
            <a:off x="1531311" y="4869098"/>
            <a:ext cx="6774489" cy="1660532"/>
            <a:chOff x="1566531" y="5206906"/>
            <a:chExt cx="6774489" cy="1660532"/>
          </a:xfrm>
        </p:grpSpPr>
        <p:pic>
          <p:nvPicPr>
            <p:cNvPr id="38" name="Picture 2"/>
            <p:cNvPicPr>
              <a:picLocks noChangeAspect="1" noChangeArrowheads="1"/>
            </p:cNvPicPr>
            <p:nvPr/>
          </p:nvPicPr>
          <p:blipFill>
            <a:blip r:embed="rId4" cstate="print"/>
            <a:srcRect/>
            <a:stretch>
              <a:fillRect/>
            </a:stretch>
          </p:blipFill>
          <p:spPr bwMode="auto">
            <a:xfrm>
              <a:off x="1794510" y="5281039"/>
              <a:ext cx="727710" cy="1032333"/>
            </a:xfrm>
            <a:prstGeom prst="rect">
              <a:avLst/>
            </a:prstGeom>
            <a:noFill/>
            <a:ln w="9525">
              <a:noFill/>
              <a:miter lim="800000"/>
              <a:headEnd/>
              <a:tailEnd/>
            </a:ln>
          </p:spPr>
        </p:pic>
        <p:pic>
          <p:nvPicPr>
            <p:cNvPr id="39" name="Picture 2"/>
            <p:cNvPicPr>
              <a:picLocks noChangeAspect="1" noChangeArrowheads="1"/>
            </p:cNvPicPr>
            <p:nvPr/>
          </p:nvPicPr>
          <p:blipFill>
            <a:blip r:embed="rId4" cstate="print"/>
            <a:srcRect/>
            <a:stretch>
              <a:fillRect/>
            </a:stretch>
          </p:blipFill>
          <p:spPr bwMode="auto">
            <a:xfrm>
              <a:off x="4461510" y="5281039"/>
              <a:ext cx="727710" cy="1032333"/>
            </a:xfrm>
            <a:prstGeom prst="rect">
              <a:avLst/>
            </a:prstGeom>
            <a:noFill/>
            <a:ln w="9525">
              <a:noFill/>
              <a:miter lim="800000"/>
              <a:headEnd/>
              <a:tailEnd/>
            </a:ln>
          </p:spPr>
        </p:pic>
        <p:pic>
          <p:nvPicPr>
            <p:cNvPr id="40" name="Picture 2"/>
            <p:cNvPicPr>
              <a:picLocks noChangeAspect="1" noChangeArrowheads="1"/>
            </p:cNvPicPr>
            <p:nvPr/>
          </p:nvPicPr>
          <p:blipFill>
            <a:blip r:embed="rId4" cstate="print"/>
            <a:srcRect/>
            <a:stretch>
              <a:fillRect/>
            </a:stretch>
          </p:blipFill>
          <p:spPr bwMode="auto">
            <a:xfrm>
              <a:off x="7239000" y="5206906"/>
              <a:ext cx="727710" cy="1032333"/>
            </a:xfrm>
            <a:prstGeom prst="rect">
              <a:avLst/>
            </a:prstGeom>
            <a:noFill/>
            <a:ln w="9525">
              <a:noFill/>
              <a:miter lim="800000"/>
              <a:headEnd/>
              <a:tailEnd/>
            </a:ln>
          </p:spPr>
        </p:pic>
        <p:sp>
          <p:nvSpPr>
            <p:cNvPr id="48" name="TextBox 47"/>
            <p:cNvSpPr txBox="1"/>
            <p:nvPr/>
          </p:nvSpPr>
          <p:spPr>
            <a:xfrm>
              <a:off x="1566531" y="6388578"/>
              <a:ext cx="1211889" cy="461665"/>
            </a:xfrm>
            <a:prstGeom prst="rect">
              <a:avLst/>
            </a:prstGeom>
            <a:noFill/>
          </p:spPr>
          <p:txBody>
            <a:bodyPr wrap="square" rtlCol="0">
              <a:spAutoFit/>
            </a:bodyPr>
            <a:lstStyle/>
            <a:p>
              <a:r>
                <a:rPr lang="en-US" sz="2400" dirty="0"/>
                <a:t>Server 1</a:t>
              </a:r>
            </a:p>
          </p:txBody>
        </p:sp>
        <p:sp>
          <p:nvSpPr>
            <p:cNvPr id="50" name="TextBox 49"/>
            <p:cNvSpPr txBox="1"/>
            <p:nvPr/>
          </p:nvSpPr>
          <p:spPr>
            <a:xfrm>
              <a:off x="4302421" y="6396334"/>
              <a:ext cx="1219199" cy="461665"/>
            </a:xfrm>
            <a:prstGeom prst="rect">
              <a:avLst/>
            </a:prstGeom>
            <a:noFill/>
          </p:spPr>
          <p:txBody>
            <a:bodyPr wrap="square" rtlCol="0">
              <a:spAutoFit/>
            </a:bodyPr>
            <a:lstStyle/>
            <a:p>
              <a:r>
                <a:rPr lang="en-US" sz="2400" dirty="0"/>
                <a:t>Server 2</a:t>
              </a:r>
            </a:p>
          </p:txBody>
        </p:sp>
        <p:sp>
          <p:nvSpPr>
            <p:cNvPr id="51" name="TextBox 50"/>
            <p:cNvSpPr txBox="1"/>
            <p:nvPr/>
          </p:nvSpPr>
          <p:spPr>
            <a:xfrm>
              <a:off x="7068627" y="6405773"/>
              <a:ext cx="1272393" cy="461665"/>
            </a:xfrm>
            <a:prstGeom prst="rect">
              <a:avLst/>
            </a:prstGeom>
            <a:noFill/>
          </p:spPr>
          <p:txBody>
            <a:bodyPr wrap="square" rtlCol="0">
              <a:spAutoFit/>
            </a:bodyPr>
            <a:lstStyle/>
            <a:p>
              <a:r>
                <a:rPr lang="en-US" sz="2400" dirty="0"/>
                <a:t>Server 3</a:t>
              </a:r>
            </a:p>
          </p:txBody>
        </p:sp>
      </p:grpSp>
      <p:sp>
        <p:nvSpPr>
          <p:cNvPr id="67" name="矩形 66"/>
          <p:cNvSpPr/>
          <p:nvPr/>
        </p:nvSpPr>
        <p:spPr>
          <a:xfrm>
            <a:off x="1066800" y="3733800"/>
            <a:ext cx="7010400" cy="6096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How to store a table over a cluster of servers ?</a:t>
            </a:r>
          </a:p>
        </p:txBody>
      </p:sp>
      <p:sp>
        <p:nvSpPr>
          <p:cNvPr id="68" name="矩形 67"/>
          <p:cNvSpPr/>
          <p:nvPr/>
        </p:nvSpPr>
        <p:spPr>
          <a:xfrm>
            <a:off x="3218086" y="4267200"/>
            <a:ext cx="5163914" cy="6096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answer = table placement method</a:t>
            </a:r>
          </a:p>
        </p:txBody>
      </p:sp>
      <p:pic>
        <p:nvPicPr>
          <p:cNvPr id="7174"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89086" y="1905000"/>
            <a:ext cx="3735525" cy="1209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57" name="直接连接符 56"/>
          <p:cNvCxnSpPr/>
          <p:nvPr/>
        </p:nvCxnSpPr>
        <p:spPr>
          <a:xfrm>
            <a:off x="2487000" y="1905000"/>
            <a:ext cx="4142400" cy="0"/>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a:off x="2487000" y="3124200"/>
            <a:ext cx="4142400" cy="0"/>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pic>
        <p:nvPicPr>
          <p:cNvPr id="7185" name="Picture 1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86050" y="762000"/>
            <a:ext cx="371475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93990642"/>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18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17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17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7"/>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7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42" presetClass="path" presetSubtype="0" accel="50000" decel="50000" fill="hold" nodeType="clickEffect">
                                  <p:stCondLst>
                                    <p:cond delay="0"/>
                                  </p:stCondLst>
                                  <p:childTnLst>
                                    <p:animMotion origin="layout" path="M -3.88889E-6 1.74879E-6 L 0.01841 0.48924 " pathEditMode="relative" rAng="0" ptsTypes="AA">
                                      <p:cBhvr>
                                        <p:cTn id="36" dur="2000" fill="hold"/>
                                        <p:tgtEl>
                                          <p:spTgt spid="7174"/>
                                        </p:tgtEl>
                                        <p:attrNameLst>
                                          <p:attrName>ppt_x</p:attrName>
                                          <p:attrName>ppt_y</p:attrName>
                                        </p:attrNameLst>
                                      </p:cBhvr>
                                      <p:rCtr x="920" y="24451"/>
                                    </p:animMotion>
                                  </p:childTnLst>
                                </p:cTn>
                              </p:par>
                            </p:childTnLst>
                          </p:cTn>
                        </p:par>
                      </p:childTnLst>
                    </p:cTn>
                  </p:par>
                  <p:par>
                    <p:cTn id="37" fill="hold">
                      <p:stCondLst>
                        <p:cond delay="indefinite"/>
                      </p:stCondLst>
                      <p:childTnLst>
                        <p:par>
                          <p:cTn id="38" fill="hold">
                            <p:stCondLst>
                              <p:cond delay="0"/>
                            </p:stCondLst>
                            <p:childTnLst>
                              <p:par>
                                <p:cTn id="39" presetID="42" presetClass="path" presetSubtype="0" accel="50000" decel="50000" fill="hold" nodeType="clickEffect">
                                  <p:stCondLst>
                                    <p:cond delay="0"/>
                                  </p:stCondLst>
                                  <p:childTnLst>
                                    <p:animMotion origin="layout" path="M -3.88889E-6 7.4254E-7 L 0.36841 0.24497 " pathEditMode="relative" rAng="0" ptsTypes="AA">
                                      <p:cBhvr>
                                        <p:cTn id="40" dur="2000" fill="hold"/>
                                        <p:tgtEl>
                                          <p:spTgt spid="7177"/>
                                        </p:tgtEl>
                                        <p:attrNameLst>
                                          <p:attrName>ppt_x</p:attrName>
                                          <p:attrName>ppt_y</p:attrName>
                                        </p:attrNameLst>
                                      </p:cBhvr>
                                      <p:rCtr x="18420" y="12237"/>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67" grpId="0" animBg="1"/>
      <p:bldP spid="68"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3626"/>
            <a:ext cx="9144000" cy="1143000"/>
          </a:xfrm>
        </p:spPr>
        <p:txBody>
          <a:bodyPr>
            <a:normAutofit/>
          </a:bodyPr>
          <a:lstStyle/>
          <a:p>
            <a:r>
              <a:rPr lang="en-US" sz="3200" dirty="0"/>
              <a:t>Existing Data Placement Methods  </a:t>
            </a:r>
          </a:p>
        </p:txBody>
      </p:sp>
      <p:sp>
        <p:nvSpPr>
          <p:cNvPr id="3" name="Content Placeholder 2"/>
          <p:cNvSpPr>
            <a:spLocks noGrp="1"/>
          </p:cNvSpPr>
          <p:nvPr>
            <p:ph idx="1"/>
          </p:nvPr>
        </p:nvSpPr>
        <p:spPr>
          <a:xfrm>
            <a:off x="0" y="1286685"/>
            <a:ext cx="9144000" cy="5211763"/>
          </a:xfrm>
        </p:spPr>
        <p:txBody>
          <a:bodyPr>
            <a:normAutofit/>
          </a:bodyPr>
          <a:lstStyle/>
          <a:p>
            <a:r>
              <a:rPr lang="en-US" sz="2800" dirty="0">
                <a:solidFill>
                  <a:srgbClr val="FF0000"/>
                </a:solidFill>
              </a:rPr>
              <a:t>Row-Store: </a:t>
            </a:r>
            <a:r>
              <a:rPr lang="en-US" sz="2800" dirty="0"/>
              <a:t>partitioning a table by rows to store</a:t>
            </a:r>
          </a:p>
          <a:p>
            <a:pPr lvl="1"/>
            <a:r>
              <a:rPr lang="en-US" sz="2400" dirty="0"/>
              <a:t>Merit 1: fast data loading</a:t>
            </a:r>
          </a:p>
          <a:p>
            <a:pPr lvl="1"/>
            <a:r>
              <a:rPr lang="en-US" sz="2400" dirty="0"/>
              <a:t>Merit 2: all columns in a row are in one HDFS block</a:t>
            </a:r>
          </a:p>
          <a:p>
            <a:pPr lvl="1"/>
            <a:r>
              <a:rPr lang="en-US" sz="2400" dirty="0">
                <a:solidFill>
                  <a:srgbClr val="FF0000"/>
                </a:solidFill>
              </a:rPr>
              <a:t>Limit 1:</a:t>
            </a:r>
            <a:r>
              <a:rPr lang="en-US" sz="2400" dirty="0"/>
              <a:t> not all columns to be used (unnecessary I/O)</a:t>
            </a:r>
          </a:p>
          <a:p>
            <a:pPr lvl="1"/>
            <a:r>
              <a:rPr lang="en-US" sz="2400" dirty="0">
                <a:solidFill>
                  <a:srgbClr val="FF0000"/>
                </a:solidFill>
              </a:rPr>
              <a:t>Limit 2:</a:t>
            </a:r>
            <a:r>
              <a:rPr lang="en-US" sz="2400" dirty="0"/>
              <a:t> row-based data compression may not be efficient </a:t>
            </a:r>
          </a:p>
          <a:p>
            <a:pPr marL="457200" lvl="1" indent="0">
              <a:buNone/>
            </a:pPr>
            <a:endParaRPr lang="en-US" sz="2400" dirty="0"/>
          </a:p>
          <a:p>
            <a:r>
              <a:rPr lang="en-US" sz="2800" dirty="0">
                <a:solidFill>
                  <a:srgbClr val="FF0000"/>
                </a:solidFill>
              </a:rPr>
              <a:t>Column-Store: </a:t>
            </a:r>
            <a:r>
              <a:rPr lang="en-US" sz="2800" dirty="0"/>
              <a:t>partitioning a table by columns to store </a:t>
            </a:r>
          </a:p>
          <a:p>
            <a:pPr lvl="1"/>
            <a:r>
              <a:rPr lang="en-US" sz="2400" dirty="0"/>
              <a:t>Merit 1: only read the useful columns (I/O efficient)</a:t>
            </a:r>
          </a:p>
          <a:p>
            <a:pPr lvl="1"/>
            <a:r>
              <a:rPr lang="en-US" sz="2400" dirty="0"/>
              <a:t>Merit 2: Efficient compression under the same data type</a:t>
            </a:r>
          </a:p>
          <a:p>
            <a:pPr lvl="1"/>
            <a:r>
              <a:rPr lang="en-US" sz="2400" dirty="0">
                <a:solidFill>
                  <a:srgbClr val="FF0000"/>
                </a:solidFill>
              </a:rPr>
              <a:t>Limit 1:</a:t>
            </a:r>
            <a:r>
              <a:rPr lang="en-US" sz="2400" dirty="0"/>
              <a:t> Column grouping need intra-network communication</a:t>
            </a:r>
          </a:p>
          <a:p>
            <a:pPr lvl="1"/>
            <a:r>
              <a:rPr lang="en-US" sz="2400" dirty="0">
                <a:solidFill>
                  <a:srgbClr val="FF0000"/>
                </a:solidFill>
              </a:rPr>
              <a:t>Limit 2:</a:t>
            </a:r>
            <a:r>
              <a:rPr lang="en-US" sz="2400" dirty="0"/>
              <a:t> Column partitioning operations can be an overhead</a:t>
            </a:r>
          </a:p>
        </p:txBody>
      </p:sp>
    </p:spTree>
    <p:extLst>
      <p:ext uri="{BB962C8B-B14F-4D97-AF65-F5344CB8AC3E}">
        <p14:creationId xmlns:p14="http://schemas.microsoft.com/office/powerpoint/2010/main" val="3330721032"/>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p:spPr>
        <p:txBody>
          <a:bodyPr>
            <a:normAutofit/>
          </a:bodyPr>
          <a:lstStyle/>
          <a:p>
            <a:r>
              <a:rPr lang="en-US" sz="3600" dirty="0" err="1"/>
              <a:t>RCFile</a:t>
            </a:r>
            <a:r>
              <a:rPr lang="en-US" sz="3600" dirty="0"/>
              <a:t> (Record Columnar File) in Hive</a:t>
            </a:r>
          </a:p>
        </p:txBody>
      </p:sp>
      <p:sp>
        <p:nvSpPr>
          <p:cNvPr id="3" name="Content Placeholder 2"/>
          <p:cNvSpPr>
            <a:spLocks noGrp="1"/>
          </p:cNvSpPr>
          <p:nvPr>
            <p:ph idx="1"/>
          </p:nvPr>
        </p:nvSpPr>
        <p:spPr>
          <a:xfrm>
            <a:off x="0" y="1143000"/>
            <a:ext cx="9144000" cy="4983163"/>
          </a:xfrm>
        </p:spPr>
        <p:txBody>
          <a:bodyPr>
            <a:normAutofit/>
          </a:bodyPr>
          <a:lstStyle/>
          <a:p>
            <a:r>
              <a:rPr lang="en-US" sz="2800" dirty="0"/>
              <a:t>Minimizing unnecessary I/</a:t>
            </a:r>
            <a:r>
              <a:rPr lang="en-US" sz="2800" dirty="0" err="1"/>
              <a:t>Os</a:t>
            </a:r>
            <a:r>
              <a:rPr lang="en-US" sz="2800" dirty="0"/>
              <a:t> like </a:t>
            </a:r>
            <a:r>
              <a:rPr lang="en-US" sz="2800" dirty="0">
                <a:solidFill>
                  <a:srgbClr val="FF0000"/>
                </a:solidFill>
              </a:rPr>
              <a:t>Column-store</a:t>
            </a:r>
          </a:p>
          <a:p>
            <a:pPr lvl="1"/>
            <a:r>
              <a:rPr lang="en-US" sz="2400" dirty="0"/>
              <a:t>Only read needed columns from disks</a:t>
            </a:r>
          </a:p>
          <a:p>
            <a:r>
              <a:rPr lang="en-US" sz="2800" dirty="0"/>
              <a:t>Minimizing network communication like </a:t>
            </a:r>
            <a:r>
              <a:rPr lang="en-US" sz="2800" dirty="0">
                <a:solidFill>
                  <a:srgbClr val="FF0000"/>
                </a:solidFill>
              </a:rPr>
              <a:t>Row-store</a:t>
            </a:r>
          </a:p>
          <a:p>
            <a:pPr lvl="1"/>
            <a:r>
              <a:rPr lang="en-US" sz="2400" dirty="0"/>
              <a:t>Minimizing column grouping operations </a:t>
            </a:r>
          </a:p>
          <a:p>
            <a:r>
              <a:rPr lang="en-US" sz="2800" dirty="0"/>
              <a:t>Keep the fast data loading speed of </a:t>
            </a:r>
            <a:r>
              <a:rPr lang="en-US" sz="2800" dirty="0">
                <a:solidFill>
                  <a:srgbClr val="FF0000"/>
                </a:solidFill>
              </a:rPr>
              <a:t>Row-store</a:t>
            </a:r>
          </a:p>
          <a:p>
            <a:r>
              <a:rPr lang="en-US" sz="2800" dirty="0"/>
              <a:t>Efficient data compression like </a:t>
            </a:r>
            <a:r>
              <a:rPr lang="en-US" sz="2800" dirty="0">
                <a:solidFill>
                  <a:srgbClr val="FF0000"/>
                </a:solidFill>
              </a:rPr>
              <a:t>Column-store</a:t>
            </a:r>
          </a:p>
          <a:p>
            <a:endParaRPr lang="en-US" dirty="0"/>
          </a:p>
          <a:p>
            <a:r>
              <a:rPr lang="en-US" dirty="0">
                <a:solidFill>
                  <a:srgbClr val="FF0000"/>
                </a:solidFill>
              </a:rPr>
              <a:t>Goal:</a:t>
            </a:r>
            <a:r>
              <a:rPr lang="en-US" dirty="0"/>
              <a:t> to minimize the limits of Row-store and Column-store under HDFS </a:t>
            </a:r>
          </a:p>
          <a:p>
            <a:pPr lvl="1"/>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25</a:t>
            </a:fld>
            <a:endParaRPr lang="en-US"/>
          </a:p>
        </p:txBody>
      </p:sp>
    </p:spTree>
    <p:extLst>
      <p:ext uri="{BB962C8B-B14F-4D97-AF65-F5344CB8AC3E}">
        <p14:creationId xmlns:p14="http://schemas.microsoft.com/office/powerpoint/2010/main" val="792009703"/>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42" y="0"/>
            <a:ext cx="9144000" cy="1143000"/>
          </a:xfrm>
        </p:spPr>
        <p:txBody>
          <a:bodyPr>
            <a:noAutofit/>
          </a:bodyPr>
          <a:lstStyle/>
          <a:p>
            <a:r>
              <a:rPr lang="en-US" sz="3600" dirty="0" err="1"/>
              <a:t>RCFile</a:t>
            </a:r>
            <a:r>
              <a:rPr lang="en-US" sz="3600" dirty="0"/>
              <a:t>: Partition Table into </a:t>
            </a:r>
            <a:r>
              <a:rPr lang="en-US" sz="3600" dirty="0">
                <a:solidFill>
                  <a:srgbClr val="FF0000"/>
                </a:solidFill>
              </a:rPr>
              <a:t>Row Groups</a:t>
            </a:r>
          </a:p>
        </p:txBody>
      </p:sp>
      <p:graphicFrame>
        <p:nvGraphicFramePr>
          <p:cNvPr id="17" name="Content Placeholder 16"/>
          <p:cNvGraphicFramePr>
            <a:graphicFrameLocks noGrp="1"/>
          </p:cNvGraphicFramePr>
          <p:nvPr>
            <p:ph idx="1"/>
          </p:nvPr>
        </p:nvGraphicFramePr>
        <p:xfrm>
          <a:off x="1231726" y="3204865"/>
          <a:ext cx="800100" cy="2286000"/>
        </p:xfrm>
        <a:graphic>
          <a:graphicData uri="http://schemas.openxmlformats.org/drawingml/2006/table">
            <a:tbl>
              <a:tblPr firstRow="1" bandRow="1">
                <a:tableStyleId>{2D5ABB26-0587-4C30-8999-92F81FD0307C}</a:tableStyleId>
              </a:tblPr>
              <a:tblGrid>
                <a:gridCol w="800100">
                  <a:extLst>
                    <a:ext uri="{9D8B030D-6E8A-4147-A177-3AD203B41FA5}">
                      <a16:colId xmlns:a16="http://schemas.microsoft.com/office/drawing/2014/main" val="20000"/>
                    </a:ext>
                  </a:extLst>
                </a:gridCol>
              </a:tblGrid>
              <a:tr h="370840">
                <a:tc>
                  <a:txBody>
                    <a:bodyPr/>
                    <a:lstStyle/>
                    <a:p>
                      <a:r>
                        <a:rPr lang="en-US" sz="2400" dirty="0">
                          <a:solidFill>
                            <a:schemeClr val="tx1"/>
                          </a:solidFill>
                        </a:rPr>
                        <a:t>101</a:t>
                      </a: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r>
                        <a:rPr lang="en-US" sz="2400" dirty="0">
                          <a:solidFill>
                            <a:schemeClr val="tx1"/>
                          </a:solidFill>
                        </a:rPr>
                        <a:t>102</a:t>
                      </a: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r>
                        <a:rPr lang="en-US" sz="2400" dirty="0">
                          <a:solidFill>
                            <a:schemeClr val="tx1"/>
                          </a:solidFill>
                        </a:rPr>
                        <a:t>103</a:t>
                      </a: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r>
                        <a:rPr lang="en-US" sz="2400" dirty="0">
                          <a:solidFill>
                            <a:schemeClr val="tx1"/>
                          </a:solidFill>
                        </a:rPr>
                        <a:t>104</a:t>
                      </a: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r>
                        <a:rPr lang="en-US" sz="2400" dirty="0">
                          <a:solidFill>
                            <a:schemeClr val="tx1"/>
                          </a:solidFill>
                        </a:rPr>
                        <a:t>105</a:t>
                      </a: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4" name="Slide Number Placeholder 3"/>
          <p:cNvSpPr>
            <a:spLocks noGrp="1"/>
          </p:cNvSpPr>
          <p:nvPr>
            <p:ph type="sldNum" sz="quarter" idx="12"/>
          </p:nvPr>
        </p:nvSpPr>
        <p:spPr/>
        <p:txBody>
          <a:bodyPr/>
          <a:lstStyle/>
          <a:p>
            <a:fld id="{B6F15528-21DE-4FAA-801E-634DDDAF4B2B}" type="slidenum">
              <a:rPr lang="en-US" smtClean="0"/>
              <a:pPr/>
              <a:t>26</a:t>
            </a:fld>
            <a:endParaRPr lang="en-US"/>
          </a:p>
        </p:txBody>
      </p:sp>
      <p:sp>
        <p:nvSpPr>
          <p:cNvPr id="19" name="TextBox 18"/>
          <p:cNvSpPr txBox="1"/>
          <p:nvPr/>
        </p:nvSpPr>
        <p:spPr>
          <a:xfrm>
            <a:off x="2118831" y="1671935"/>
            <a:ext cx="861903" cy="461665"/>
          </a:xfrm>
          <a:prstGeom prst="rect">
            <a:avLst/>
          </a:prstGeom>
          <a:noFill/>
        </p:spPr>
        <p:txBody>
          <a:bodyPr wrap="none" rtlCol="0">
            <a:spAutoFit/>
          </a:bodyPr>
          <a:lstStyle/>
          <a:p>
            <a:r>
              <a:rPr lang="en-US" sz="2400" b="1" dirty="0"/>
              <a:t>Table</a:t>
            </a:r>
          </a:p>
        </p:txBody>
      </p:sp>
      <p:graphicFrame>
        <p:nvGraphicFramePr>
          <p:cNvPr id="16" name="Content Placeholder 16"/>
          <p:cNvGraphicFramePr>
            <a:graphicFrameLocks/>
          </p:cNvGraphicFramePr>
          <p:nvPr/>
        </p:nvGraphicFramePr>
        <p:xfrm>
          <a:off x="2831926" y="3204865"/>
          <a:ext cx="800100" cy="2286000"/>
        </p:xfrm>
        <a:graphic>
          <a:graphicData uri="http://schemas.openxmlformats.org/drawingml/2006/table">
            <a:tbl>
              <a:tblPr firstRow="1" bandRow="1">
                <a:tableStyleId>{2D5ABB26-0587-4C30-8999-92F81FD0307C}</a:tableStyleId>
              </a:tblPr>
              <a:tblGrid>
                <a:gridCol w="800100">
                  <a:extLst>
                    <a:ext uri="{9D8B030D-6E8A-4147-A177-3AD203B41FA5}">
                      <a16:colId xmlns:a16="http://schemas.microsoft.com/office/drawing/2014/main" val="20000"/>
                    </a:ext>
                  </a:extLst>
                </a:gridCol>
              </a:tblGrid>
              <a:tr h="370840">
                <a:tc>
                  <a:txBody>
                    <a:bodyPr/>
                    <a:lstStyle/>
                    <a:p>
                      <a:r>
                        <a:rPr lang="en-US" sz="2400" dirty="0">
                          <a:solidFill>
                            <a:schemeClr val="tx1"/>
                          </a:solidFill>
                        </a:rPr>
                        <a:t>301</a:t>
                      </a: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r>
                        <a:rPr lang="en-US" sz="2400" dirty="0">
                          <a:solidFill>
                            <a:schemeClr val="tx1"/>
                          </a:solidFill>
                        </a:rPr>
                        <a:t>302</a:t>
                      </a: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r>
                        <a:rPr lang="en-US" sz="2400" dirty="0">
                          <a:solidFill>
                            <a:schemeClr val="tx1"/>
                          </a:solidFill>
                        </a:rPr>
                        <a:t>303</a:t>
                      </a: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r>
                        <a:rPr lang="en-US" sz="2400" dirty="0">
                          <a:solidFill>
                            <a:schemeClr val="tx1"/>
                          </a:solidFill>
                        </a:rPr>
                        <a:t>304</a:t>
                      </a: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r>
                        <a:rPr lang="en-US" sz="2400" dirty="0">
                          <a:solidFill>
                            <a:schemeClr val="tx1"/>
                          </a:solidFill>
                        </a:rPr>
                        <a:t>305</a:t>
                      </a: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graphicFrame>
        <p:nvGraphicFramePr>
          <p:cNvPr id="22" name="Content Placeholder 16"/>
          <p:cNvGraphicFramePr>
            <a:graphicFrameLocks/>
          </p:cNvGraphicFramePr>
          <p:nvPr/>
        </p:nvGraphicFramePr>
        <p:xfrm>
          <a:off x="2031826" y="3204865"/>
          <a:ext cx="800100" cy="2286000"/>
        </p:xfrm>
        <a:graphic>
          <a:graphicData uri="http://schemas.openxmlformats.org/drawingml/2006/table">
            <a:tbl>
              <a:tblPr firstRow="1" bandRow="1">
                <a:tableStyleId>{2D5ABB26-0587-4C30-8999-92F81FD0307C}</a:tableStyleId>
              </a:tblPr>
              <a:tblGrid>
                <a:gridCol w="800100">
                  <a:extLst>
                    <a:ext uri="{9D8B030D-6E8A-4147-A177-3AD203B41FA5}">
                      <a16:colId xmlns:a16="http://schemas.microsoft.com/office/drawing/2014/main" val="20000"/>
                    </a:ext>
                  </a:extLst>
                </a:gridCol>
              </a:tblGrid>
              <a:tr h="370840">
                <a:tc>
                  <a:txBody>
                    <a:bodyPr/>
                    <a:lstStyle/>
                    <a:p>
                      <a:r>
                        <a:rPr lang="en-US" sz="2400" dirty="0">
                          <a:solidFill>
                            <a:schemeClr val="tx1"/>
                          </a:solidFill>
                        </a:rPr>
                        <a:t>201</a:t>
                      </a: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r>
                        <a:rPr lang="en-US" sz="2400" dirty="0">
                          <a:solidFill>
                            <a:schemeClr val="tx1"/>
                          </a:solidFill>
                        </a:rPr>
                        <a:t>202</a:t>
                      </a: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r>
                        <a:rPr lang="en-US" sz="2400" dirty="0">
                          <a:solidFill>
                            <a:schemeClr val="tx1"/>
                          </a:solidFill>
                        </a:rPr>
                        <a:t>203</a:t>
                      </a: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r>
                        <a:rPr lang="en-US" sz="2400" dirty="0">
                          <a:solidFill>
                            <a:schemeClr val="tx1"/>
                          </a:solidFill>
                        </a:rPr>
                        <a:t>204</a:t>
                      </a: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r>
                        <a:rPr lang="en-US" sz="2400" dirty="0">
                          <a:solidFill>
                            <a:schemeClr val="tx1"/>
                          </a:solidFill>
                        </a:rPr>
                        <a:t>205</a:t>
                      </a: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graphicFrame>
        <p:nvGraphicFramePr>
          <p:cNvPr id="23" name="Content Placeholder 16"/>
          <p:cNvGraphicFramePr>
            <a:graphicFrameLocks/>
          </p:cNvGraphicFramePr>
          <p:nvPr/>
        </p:nvGraphicFramePr>
        <p:xfrm>
          <a:off x="3632026" y="3204865"/>
          <a:ext cx="800100" cy="2286000"/>
        </p:xfrm>
        <a:graphic>
          <a:graphicData uri="http://schemas.openxmlformats.org/drawingml/2006/table">
            <a:tbl>
              <a:tblPr firstRow="1" bandRow="1">
                <a:tableStyleId>{2D5ABB26-0587-4C30-8999-92F81FD0307C}</a:tableStyleId>
              </a:tblPr>
              <a:tblGrid>
                <a:gridCol w="800100">
                  <a:extLst>
                    <a:ext uri="{9D8B030D-6E8A-4147-A177-3AD203B41FA5}">
                      <a16:colId xmlns:a16="http://schemas.microsoft.com/office/drawing/2014/main" val="20000"/>
                    </a:ext>
                  </a:extLst>
                </a:gridCol>
              </a:tblGrid>
              <a:tr h="370840">
                <a:tc>
                  <a:txBody>
                    <a:bodyPr/>
                    <a:lstStyle/>
                    <a:p>
                      <a:r>
                        <a:rPr lang="en-US" sz="2400" dirty="0">
                          <a:solidFill>
                            <a:schemeClr val="tx1"/>
                          </a:solidFill>
                        </a:rPr>
                        <a:t>401</a:t>
                      </a: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r>
                        <a:rPr lang="en-US" sz="2400" dirty="0">
                          <a:solidFill>
                            <a:schemeClr val="tx1"/>
                          </a:solidFill>
                        </a:rPr>
                        <a:t>402</a:t>
                      </a: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r>
                        <a:rPr lang="en-US" sz="2400" dirty="0">
                          <a:solidFill>
                            <a:schemeClr val="tx1"/>
                          </a:solidFill>
                        </a:rPr>
                        <a:t>403</a:t>
                      </a: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r>
                        <a:rPr lang="en-US" sz="2400" dirty="0">
                          <a:solidFill>
                            <a:schemeClr val="tx1"/>
                          </a:solidFill>
                        </a:rPr>
                        <a:t>404</a:t>
                      </a: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r>
                        <a:rPr lang="en-US" sz="2400" dirty="0">
                          <a:solidFill>
                            <a:schemeClr val="tx1"/>
                          </a:solidFill>
                        </a:rPr>
                        <a:t>405</a:t>
                      </a: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24" name="Flowchart: Document 23"/>
          <p:cNvSpPr/>
          <p:nvPr/>
        </p:nvSpPr>
        <p:spPr>
          <a:xfrm>
            <a:off x="6248400" y="2133600"/>
            <a:ext cx="2514600" cy="3886200"/>
          </a:xfrm>
          <a:prstGeom prst="flowChartDocumen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5" name="Table 24"/>
          <p:cNvGraphicFramePr>
            <a:graphicFrameLocks noGrp="1"/>
          </p:cNvGraphicFramePr>
          <p:nvPr/>
        </p:nvGraphicFramePr>
        <p:xfrm>
          <a:off x="6400800" y="2346960"/>
          <a:ext cx="2209800" cy="2743200"/>
        </p:xfrm>
        <a:graphic>
          <a:graphicData uri="http://schemas.openxmlformats.org/drawingml/2006/table">
            <a:tbl>
              <a:tblPr firstRow="1" bandRow="1">
                <a:tableStyleId>{2D5ABB26-0587-4C30-8999-92F81FD0307C}</a:tableStyleId>
              </a:tblPr>
              <a:tblGrid>
                <a:gridCol w="2209800">
                  <a:extLst>
                    <a:ext uri="{9D8B030D-6E8A-4147-A177-3AD203B41FA5}">
                      <a16:colId xmlns:a16="http://schemas.microsoft.com/office/drawing/2014/main" val="20000"/>
                    </a:ext>
                  </a:extLst>
                </a:gridCol>
              </a:tblGrid>
              <a:tr h="370840">
                <a:tc>
                  <a:txBody>
                    <a:bodyPr/>
                    <a:lstStyle/>
                    <a:p>
                      <a:r>
                        <a:rPr lang="en-US" sz="2400" b="1" dirty="0">
                          <a:solidFill>
                            <a:schemeClr val="bg1"/>
                          </a:solidFill>
                        </a:rPr>
                        <a:t>HDFS</a:t>
                      </a:r>
                      <a:r>
                        <a:rPr lang="en-US" sz="2400" b="1" baseline="0" dirty="0">
                          <a:solidFill>
                            <a:schemeClr val="bg1"/>
                          </a:solidFill>
                        </a:rPr>
                        <a:t> Blocks</a:t>
                      </a:r>
                      <a:endParaRPr lang="en-US" sz="2400" b="1" dirty="0">
                        <a:solidFill>
                          <a:schemeClr val="bg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r>
                        <a:rPr lang="en-US" sz="2400" b="1" dirty="0">
                          <a:solidFill>
                            <a:schemeClr val="bg1"/>
                          </a:solidFill>
                        </a:rPr>
                        <a:t>Store</a:t>
                      </a:r>
                      <a:r>
                        <a:rPr lang="en-US" sz="2400" b="1" baseline="0" dirty="0">
                          <a:solidFill>
                            <a:schemeClr val="bg1"/>
                          </a:solidFill>
                        </a:rPr>
                        <a:t> Block 1</a:t>
                      </a:r>
                      <a:endParaRPr lang="en-US" sz="2400" b="1" dirty="0">
                        <a:solidFill>
                          <a:schemeClr val="bg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b="1" dirty="0">
                          <a:solidFill>
                            <a:schemeClr val="bg1"/>
                          </a:solidFill>
                        </a:rPr>
                        <a:t>Store</a:t>
                      </a:r>
                      <a:r>
                        <a:rPr lang="en-US" sz="2400" b="1" baseline="0" dirty="0">
                          <a:solidFill>
                            <a:schemeClr val="bg1"/>
                          </a:solidFill>
                        </a:rPr>
                        <a:t> Block 2</a:t>
                      </a:r>
                      <a:endParaRPr lang="en-US" sz="2400" b="1" dirty="0">
                        <a:solidFill>
                          <a:schemeClr val="bg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b="1" dirty="0">
                          <a:solidFill>
                            <a:schemeClr val="bg1"/>
                          </a:solidFill>
                        </a:rPr>
                        <a:t>Store</a:t>
                      </a:r>
                      <a:r>
                        <a:rPr lang="en-US" sz="2400" b="1" baseline="0" dirty="0">
                          <a:solidFill>
                            <a:schemeClr val="bg1"/>
                          </a:solidFill>
                        </a:rPr>
                        <a:t> Block 3</a:t>
                      </a:r>
                      <a:endParaRPr lang="en-US" sz="2400" b="1" dirty="0">
                        <a:solidFill>
                          <a:schemeClr val="bg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b="1" dirty="0">
                          <a:solidFill>
                            <a:schemeClr val="bg1"/>
                          </a:solidFill>
                        </a:rPr>
                        <a:t>Store</a:t>
                      </a:r>
                      <a:r>
                        <a:rPr lang="en-US" sz="2400" b="1" baseline="0" dirty="0">
                          <a:solidFill>
                            <a:schemeClr val="bg1"/>
                          </a:solidFill>
                        </a:rPr>
                        <a:t> Block 4</a:t>
                      </a:r>
                      <a:endParaRPr lang="en-US" sz="2400" b="1" dirty="0">
                        <a:solidFill>
                          <a:schemeClr val="bg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b="1" dirty="0">
                          <a:solidFill>
                            <a:schemeClr val="bg1"/>
                          </a:solidFill>
                        </a:rPr>
                        <a:t>…</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graphicFrame>
        <p:nvGraphicFramePr>
          <p:cNvPr id="11" name="Content Placeholder 16"/>
          <p:cNvGraphicFramePr>
            <a:graphicFrameLocks/>
          </p:cNvGraphicFramePr>
          <p:nvPr/>
        </p:nvGraphicFramePr>
        <p:xfrm>
          <a:off x="1231726" y="2286000"/>
          <a:ext cx="800100" cy="914400"/>
        </p:xfrm>
        <a:graphic>
          <a:graphicData uri="http://schemas.openxmlformats.org/drawingml/2006/table">
            <a:tbl>
              <a:tblPr firstRow="1" bandRow="1">
                <a:tableStyleId>{2D5ABB26-0587-4C30-8999-92F81FD0307C}</a:tableStyleId>
              </a:tblPr>
              <a:tblGrid>
                <a:gridCol w="800100">
                  <a:extLst>
                    <a:ext uri="{9D8B030D-6E8A-4147-A177-3AD203B41FA5}">
                      <a16:colId xmlns:a16="http://schemas.microsoft.com/office/drawing/2014/main" val="20000"/>
                    </a:ext>
                  </a:extLst>
                </a:gridCol>
              </a:tblGrid>
              <a:tr h="370840">
                <a:tc>
                  <a:txBody>
                    <a:bodyPr/>
                    <a:lstStyle/>
                    <a:p>
                      <a:r>
                        <a:rPr lang="en-US" sz="2400" dirty="0">
                          <a:solidFill>
                            <a:schemeClr val="tx1"/>
                          </a:solidFill>
                        </a:rPr>
                        <a:t>A</a:t>
                      </a: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r>
                        <a:rPr lang="en-US" sz="2400" dirty="0">
                          <a:solidFill>
                            <a:schemeClr val="tx1"/>
                          </a:solidFill>
                        </a:rPr>
                        <a:t>…</a:t>
                      </a: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graphicFrame>
        <p:nvGraphicFramePr>
          <p:cNvPr id="12" name="Content Placeholder 16"/>
          <p:cNvGraphicFramePr>
            <a:graphicFrameLocks/>
          </p:cNvGraphicFramePr>
          <p:nvPr/>
        </p:nvGraphicFramePr>
        <p:xfrm>
          <a:off x="2831926" y="2286000"/>
          <a:ext cx="800100" cy="914400"/>
        </p:xfrm>
        <a:graphic>
          <a:graphicData uri="http://schemas.openxmlformats.org/drawingml/2006/table">
            <a:tbl>
              <a:tblPr firstRow="1" bandRow="1">
                <a:tableStyleId>{2D5ABB26-0587-4C30-8999-92F81FD0307C}</a:tableStyleId>
              </a:tblPr>
              <a:tblGrid>
                <a:gridCol w="800100">
                  <a:extLst>
                    <a:ext uri="{9D8B030D-6E8A-4147-A177-3AD203B41FA5}">
                      <a16:colId xmlns:a16="http://schemas.microsoft.com/office/drawing/2014/main" val="20000"/>
                    </a:ext>
                  </a:extLst>
                </a:gridCol>
              </a:tblGrid>
              <a:tr h="370840">
                <a:tc>
                  <a:txBody>
                    <a:bodyPr/>
                    <a:lstStyle/>
                    <a:p>
                      <a:r>
                        <a:rPr lang="en-US" sz="2400" dirty="0">
                          <a:solidFill>
                            <a:schemeClr val="tx1"/>
                          </a:solidFill>
                        </a:rPr>
                        <a:t>C</a:t>
                      </a: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r>
                        <a:rPr lang="en-US" sz="2400" dirty="0">
                          <a:solidFill>
                            <a:schemeClr val="tx1"/>
                          </a:solidFill>
                        </a:rPr>
                        <a:t>…</a:t>
                      </a: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graphicFrame>
        <p:nvGraphicFramePr>
          <p:cNvPr id="13" name="Content Placeholder 16"/>
          <p:cNvGraphicFramePr>
            <a:graphicFrameLocks/>
          </p:cNvGraphicFramePr>
          <p:nvPr/>
        </p:nvGraphicFramePr>
        <p:xfrm>
          <a:off x="2031826" y="2286000"/>
          <a:ext cx="800100" cy="914400"/>
        </p:xfrm>
        <a:graphic>
          <a:graphicData uri="http://schemas.openxmlformats.org/drawingml/2006/table">
            <a:tbl>
              <a:tblPr firstRow="1" bandRow="1">
                <a:tableStyleId>{2D5ABB26-0587-4C30-8999-92F81FD0307C}</a:tableStyleId>
              </a:tblPr>
              <a:tblGrid>
                <a:gridCol w="800100">
                  <a:extLst>
                    <a:ext uri="{9D8B030D-6E8A-4147-A177-3AD203B41FA5}">
                      <a16:colId xmlns:a16="http://schemas.microsoft.com/office/drawing/2014/main" val="20000"/>
                    </a:ext>
                  </a:extLst>
                </a:gridCol>
              </a:tblGrid>
              <a:tr h="370840">
                <a:tc>
                  <a:txBody>
                    <a:bodyPr/>
                    <a:lstStyle/>
                    <a:p>
                      <a:r>
                        <a:rPr lang="en-US" sz="2400" dirty="0">
                          <a:solidFill>
                            <a:schemeClr val="tx1"/>
                          </a:solidFill>
                        </a:rPr>
                        <a:t>B</a:t>
                      </a: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r>
                        <a:rPr lang="en-US" sz="2400" dirty="0">
                          <a:solidFill>
                            <a:schemeClr val="tx1"/>
                          </a:solidFill>
                        </a:rPr>
                        <a:t>…</a:t>
                      </a: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graphicFrame>
        <p:nvGraphicFramePr>
          <p:cNvPr id="14" name="Content Placeholder 16"/>
          <p:cNvGraphicFramePr>
            <a:graphicFrameLocks/>
          </p:cNvGraphicFramePr>
          <p:nvPr/>
        </p:nvGraphicFramePr>
        <p:xfrm>
          <a:off x="3632026" y="2286000"/>
          <a:ext cx="800100" cy="914400"/>
        </p:xfrm>
        <a:graphic>
          <a:graphicData uri="http://schemas.openxmlformats.org/drawingml/2006/table">
            <a:tbl>
              <a:tblPr firstRow="1" bandRow="1">
                <a:tableStyleId>{2D5ABB26-0587-4C30-8999-92F81FD0307C}</a:tableStyleId>
              </a:tblPr>
              <a:tblGrid>
                <a:gridCol w="800100">
                  <a:extLst>
                    <a:ext uri="{9D8B030D-6E8A-4147-A177-3AD203B41FA5}">
                      <a16:colId xmlns:a16="http://schemas.microsoft.com/office/drawing/2014/main" val="20000"/>
                    </a:ext>
                  </a:extLst>
                </a:gridCol>
              </a:tblGrid>
              <a:tr h="370840">
                <a:tc>
                  <a:txBody>
                    <a:bodyPr/>
                    <a:lstStyle/>
                    <a:p>
                      <a:r>
                        <a:rPr lang="en-US" sz="2400" dirty="0">
                          <a:solidFill>
                            <a:schemeClr val="tx1"/>
                          </a:solidFill>
                        </a:rPr>
                        <a:t>D</a:t>
                      </a: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r>
                        <a:rPr lang="en-US" sz="2400" dirty="0">
                          <a:solidFill>
                            <a:schemeClr val="tx1"/>
                          </a:solidFill>
                        </a:rPr>
                        <a:t>…</a:t>
                      </a: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graphicFrame>
        <p:nvGraphicFramePr>
          <p:cNvPr id="15" name="Content Placeholder 16"/>
          <p:cNvGraphicFramePr>
            <a:graphicFrameLocks/>
          </p:cNvGraphicFramePr>
          <p:nvPr/>
        </p:nvGraphicFramePr>
        <p:xfrm>
          <a:off x="1231726" y="5486400"/>
          <a:ext cx="800100" cy="457200"/>
        </p:xfrm>
        <a:graphic>
          <a:graphicData uri="http://schemas.openxmlformats.org/drawingml/2006/table">
            <a:tbl>
              <a:tblPr firstRow="1" bandRow="1">
                <a:tableStyleId>{2D5ABB26-0587-4C30-8999-92F81FD0307C}</a:tableStyleId>
              </a:tblPr>
              <a:tblGrid>
                <a:gridCol w="800100">
                  <a:extLst>
                    <a:ext uri="{9D8B030D-6E8A-4147-A177-3AD203B41FA5}">
                      <a16:colId xmlns:a16="http://schemas.microsoft.com/office/drawing/2014/main" val="20000"/>
                    </a:ext>
                  </a:extLst>
                </a:gridCol>
              </a:tblGrid>
              <a:tr h="370840">
                <a:tc>
                  <a:txBody>
                    <a:bodyPr/>
                    <a:lstStyle/>
                    <a:p>
                      <a:r>
                        <a:rPr lang="en-US" sz="2400" dirty="0">
                          <a:solidFill>
                            <a:schemeClr val="tx1"/>
                          </a:solidFill>
                        </a:rPr>
                        <a:t>…</a:t>
                      </a: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18" name="Content Placeholder 16"/>
          <p:cNvGraphicFramePr>
            <a:graphicFrameLocks/>
          </p:cNvGraphicFramePr>
          <p:nvPr/>
        </p:nvGraphicFramePr>
        <p:xfrm>
          <a:off x="2831926" y="5486400"/>
          <a:ext cx="800100" cy="457200"/>
        </p:xfrm>
        <a:graphic>
          <a:graphicData uri="http://schemas.openxmlformats.org/drawingml/2006/table">
            <a:tbl>
              <a:tblPr firstRow="1" bandRow="1">
                <a:tableStyleId>{2D5ABB26-0587-4C30-8999-92F81FD0307C}</a:tableStyleId>
              </a:tblPr>
              <a:tblGrid>
                <a:gridCol w="800100">
                  <a:extLst>
                    <a:ext uri="{9D8B030D-6E8A-4147-A177-3AD203B41FA5}">
                      <a16:colId xmlns:a16="http://schemas.microsoft.com/office/drawing/2014/main" val="20000"/>
                    </a:ext>
                  </a:extLst>
                </a:gridCol>
              </a:tblGrid>
              <a:tr h="370840">
                <a:tc>
                  <a:txBody>
                    <a:bodyPr/>
                    <a:lstStyle/>
                    <a:p>
                      <a:r>
                        <a:rPr lang="en-US" sz="2400" dirty="0">
                          <a:solidFill>
                            <a:schemeClr val="tx1"/>
                          </a:solidFill>
                        </a:rPr>
                        <a:t>…</a:t>
                      </a: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20" name="Content Placeholder 16"/>
          <p:cNvGraphicFramePr>
            <a:graphicFrameLocks/>
          </p:cNvGraphicFramePr>
          <p:nvPr/>
        </p:nvGraphicFramePr>
        <p:xfrm>
          <a:off x="2031826" y="5486400"/>
          <a:ext cx="800100" cy="457200"/>
        </p:xfrm>
        <a:graphic>
          <a:graphicData uri="http://schemas.openxmlformats.org/drawingml/2006/table">
            <a:tbl>
              <a:tblPr firstRow="1" bandRow="1">
                <a:tableStyleId>{2D5ABB26-0587-4C30-8999-92F81FD0307C}</a:tableStyleId>
              </a:tblPr>
              <a:tblGrid>
                <a:gridCol w="800100">
                  <a:extLst>
                    <a:ext uri="{9D8B030D-6E8A-4147-A177-3AD203B41FA5}">
                      <a16:colId xmlns:a16="http://schemas.microsoft.com/office/drawing/2014/main" val="20000"/>
                    </a:ext>
                  </a:extLst>
                </a:gridCol>
              </a:tblGrid>
              <a:tr h="370840">
                <a:tc>
                  <a:txBody>
                    <a:bodyPr/>
                    <a:lstStyle/>
                    <a:p>
                      <a:r>
                        <a:rPr lang="en-US" sz="2400" dirty="0">
                          <a:solidFill>
                            <a:schemeClr val="tx1"/>
                          </a:solidFill>
                        </a:rPr>
                        <a:t>…</a:t>
                      </a: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21" name="Content Placeholder 16"/>
          <p:cNvGraphicFramePr>
            <a:graphicFrameLocks/>
          </p:cNvGraphicFramePr>
          <p:nvPr/>
        </p:nvGraphicFramePr>
        <p:xfrm>
          <a:off x="3632026" y="5486400"/>
          <a:ext cx="800100" cy="457200"/>
        </p:xfrm>
        <a:graphic>
          <a:graphicData uri="http://schemas.openxmlformats.org/drawingml/2006/table">
            <a:tbl>
              <a:tblPr firstRow="1" bandRow="1">
                <a:tableStyleId>{2D5ABB26-0587-4C30-8999-92F81FD0307C}</a:tableStyleId>
              </a:tblPr>
              <a:tblGrid>
                <a:gridCol w="800100">
                  <a:extLst>
                    <a:ext uri="{9D8B030D-6E8A-4147-A177-3AD203B41FA5}">
                      <a16:colId xmlns:a16="http://schemas.microsoft.com/office/drawing/2014/main" val="20000"/>
                    </a:ext>
                  </a:extLst>
                </a:gridCol>
              </a:tblGrid>
              <a:tr h="370840">
                <a:tc>
                  <a:txBody>
                    <a:bodyPr/>
                    <a:lstStyle/>
                    <a:p>
                      <a:r>
                        <a:rPr lang="en-US" sz="2400" dirty="0">
                          <a:solidFill>
                            <a:schemeClr val="tx1"/>
                          </a:solidFill>
                        </a:rPr>
                        <a:t>…</a:t>
                      </a: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
        <p:nvSpPr>
          <p:cNvPr id="26" name="Left Brace 25"/>
          <p:cNvSpPr/>
          <p:nvPr/>
        </p:nvSpPr>
        <p:spPr>
          <a:xfrm rot="10800000">
            <a:off x="4508326" y="3200400"/>
            <a:ext cx="368474" cy="2171179"/>
          </a:xfrm>
          <a:prstGeom prst="leftBrace">
            <a:avLst>
              <a:gd name="adj1" fmla="val 8333"/>
              <a:gd name="adj2" fmla="val 49423"/>
            </a:avLst>
          </a:pr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7" name="TextBox 26"/>
          <p:cNvSpPr txBox="1"/>
          <p:nvPr/>
        </p:nvSpPr>
        <p:spPr>
          <a:xfrm>
            <a:off x="1905000" y="2738735"/>
            <a:ext cx="1866088" cy="461665"/>
          </a:xfrm>
          <a:prstGeom prst="rect">
            <a:avLst/>
          </a:prstGeom>
          <a:noFill/>
        </p:spPr>
        <p:txBody>
          <a:bodyPr wrap="none" rtlCol="0">
            <a:spAutoFit/>
          </a:bodyPr>
          <a:lstStyle/>
          <a:p>
            <a:r>
              <a:rPr lang="en-US" sz="2400" b="1" dirty="0"/>
              <a:t>A Row Group</a:t>
            </a:r>
          </a:p>
        </p:txBody>
      </p:sp>
      <p:sp>
        <p:nvSpPr>
          <p:cNvPr id="28" name="Right Arrow 27"/>
          <p:cNvSpPr/>
          <p:nvPr/>
        </p:nvSpPr>
        <p:spPr>
          <a:xfrm rot="19372087">
            <a:off x="4748584" y="3389925"/>
            <a:ext cx="1848991" cy="609600"/>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p:cNvSpPr txBox="1"/>
          <p:nvPr/>
        </p:nvSpPr>
        <p:spPr>
          <a:xfrm>
            <a:off x="4876800" y="1295400"/>
            <a:ext cx="3810000" cy="707886"/>
          </a:xfrm>
          <a:prstGeom prst="rect">
            <a:avLst/>
          </a:prstGeom>
          <a:noFill/>
        </p:spPr>
        <p:txBody>
          <a:bodyPr wrap="square" rtlCol="0">
            <a:spAutoFit/>
          </a:bodyPr>
          <a:lstStyle/>
          <a:p>
            <a:r>
              <a:rPr lang="en-US" sz="2000" b="1" dirty="0">
                <a:latin typeface="Garamond" pitchFamily="18" charset="0"/>
              </a:rPr>
              <a:t>A HDFS block consists of one </a:t>
            </a:r>
          </a:p>
          <a:p>
            <a:r>
              <a:rPr lang="en-US" sz="2000" b="1" dirty="0">
                <a:latin typeface="Garamond" pitchFamily="18" charset="0"/>
              </a:rPr>
              <a:t>or multiple row groups</a:t>
            </a:r>
          </a:p>
        </p:txBody>
      </p:sp>
    </p:spTree>
    <p:extLst>
      <p:ext uri="{BB962C8B-B14F-4D97-AF65-F5344CB8AC3E}">
        <p14:creationId xmlns:p14="http://schemas.microsoft.com/office/powerpoint/2010/main" val="910168436"/>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0 0 L 0 -0.07771 " pathEditMode="relative" ptsTypes="AA">
                                      <p:cBhvr>
                                        <p:cTn id="6" dur="2000" fill="hold"/>
                                        <p:tgtEl>
                                          <p:spTgt spid="14"/>
                                        </p:tgtEl>
                                        <p:attrNameLst>
                                          <p:attrName>ppt_x</p:attrName>
                                          <p:attrName>ppt_y</p:attrName>
                                        </p:attrNameLst>
                                      </p:cBhvr>
                                    </p:animMotion>
                                  </p:childTnLst>
                                </p:cTn>
                              </p:par>
                              <p:par>
                                <p:cTn id="7" presetID="0" presetClass="path" presetSubtype="0" accel="50000" decel="50000" fill="hold" nodeType="withEffect">
                                  <p:stCondLst>
                                    <p:cond delay="0"/>
                                  </p:stCondLst>
                                  <p:childTnLst>
                                    <p:animMotion origin="layout" path="M 0 0 L 0 -0.07771 " pathEditMode="relative" ptsTypes="AA">
                                      <p:cBhvr>
                                        <p:cTn id="8" dur="2000" fill="hold"/>
                                        <p:tgtEl>
                                          <p:spTgt spid="12"/>
                                        </p:tgtEl>
                                        <p:attrNameLst>
                                          <p:attrName>ppt_x</p:attrName>
                                          <p:attrName>ppt_y</p:attrName>
                                        </p:attrNameLst>
                                      </p:cBhvr>
                                    </p:animMotion>
                                  </p:childTnLst>
                                </p:cTn>
                              </p:par>
                              <p:par>
                                <p:cTn id="9" presetID="0" presetClass="path" presetSubtype="0" accel="50000" decel="50000" fill="hold" nodeType="withEffect">
                                  <p:stCondLst>
                                    <p:cond delay="0"/>
                                  </p:stCondLst>
                                  <p:childTnLst>
                                    <p:animMotion origin="layout" path="M 0 0 L 0 -0.07771 " pathEditMode="relative" ptsTypes="AA">
                                      <p:cBhvr>
                                        <p:cTn id="10" dur="2000" fill="hold"/>
                                        <p:tgtEl>
                                          <p:spTgt spid="13"/>
                                        </p:tgtEl>
                                        <p:attrNameLst>
                                          <p:attrName>ppt_x</p:attrName>
                                          <p:attrName>ppt_y</p:attrName>
                                        </p:attrNameLst>
                                      </p:cBhvr>
                                    </p:animMotion>
                                  </p:childTnLst>
                                </p:cTn>
                              </p:par>
                              <p:par>
                                <p:cTn id="11" presetID="0" presetClass="path" presetSubtype="0" accel="50000" decel="50000" fill="hold" nodeType="withEffect">
                                  <p:stCondLst>
                                    <p:cond delay="0"/>
                                  </p:stCondLst>
                                  <p:childTnLst>
                                    <p:animMotion origin="layout" path="M 0 0 L 0 -0.07771 " pathEditMode="relative" ptsTypes="AA">
                                      <p:cBhvr>
                                        <p:cTn id="12" dur="2000" fill="hold"/>
                                        <p:tgtEl>
                                          <p:spTgt spid="11"/>
                                        </p:tgtEl>
                                        <p:attrNameLst>
                                          <p:attrName>ppt_x</p:attrName>
                                          <p:attrName>ppt_y</p:attrName>
                                        </p:attrNameLst>
                                      </p:cBhvr>
                                    </p:animMotion>
                                  </p:childTnLst>
                                </p:cTn>
                              </p:par>
                              <p:par>
                                <p:cTn id="13" presetID="0" presetClass="path" presetSubtype="0" accel="50000" decel="50000" fill="hold" grpId="0" nodeType="withEffect">
                                  <p:stCondLst>
                                    <p:cond delay="0"/>
                                  </p:stCondLst>
                                  <p:childTnLst>
                                    <p:animMotion origin="layout" path="M 0 0 L 0 -0.07771 " pathEditMode="relative" ptsTypes="AA">
                                      <p:cBhvr>
                                        <p:cTn id="14" dur="2000" fill="hold"/>
                                        <p:tgtEl>
                                          <p:spTgt spid="19"/>
                                        </p:tgtEl>
                                        <p:attrNameLst>
                                          <p:attrName>ppt_x</p:attrName>
                                          <p:attrName>ppt_y</p:attrName>
                                        </p:attrNameLst>
                                      </p:cBhvr>
                                    </p:animMotion>
                                  </p:childTnLst>
                                </p:cTn>
                              </p:par>
                              <p:par>
                                <p:cTn id="15" presetID="0" presetClass="path" presetSubtype="0" accel="50000" decel="50000" fill="hold" nodeType="withEffect">
                                  <p:stCondLst>
                                    <p:cond delay="0"/>
                                  </p:stCondLst>
                                  <p:childTnLst>
                                    <p:animMotion origin="layout" path="M 0 0 L 0 0.07771 " pathEditMode="relative" ptsTypes="AA">
                                      <p:cBhvr>
                                        <p:cTn id="16" dur="2000" fill="hold"/>
                                        <p:tgtEl>
                                          <p:spTgt spid="15"/>
                                        </p:tgtEl>
                                        <p:attrNameLst>
                                          <p:attrName>ppt_x</p:attrName>
                                          <p:attrName>ppt_y</p:attrName>
                                        </p:attrNameLst>
                                      </p:cBhvr>
                                    </p:animMotion>
                                  </p:childTnLst>
                                </p:cTn>
                              </p:par>
                              <p:par>
                                <p:cTn id="17" presetID="0" presetClass="path" presetSubtype="0" accel="50000" decel="50000" fill="hold" nodeType="withEffect">
                                  <p:stCondLst>
                                    <p:cond delay="0"/>
                                  </p:stCondLst>
                                  <p:childTnLst>
                                    <p:animMotion origin="layout" path="M 0 0 L 0 0.07771 " pathEditMode="relative" ptsTypes="AA">
                                      <p:cBhvr>
                                        <p:cTn id="18" dur="2000" fill="hold"/>
                                        <p:tgtEl>
                                          <p:spTgt spid="20"/>
                                        </p:tgtEl>
                                        <p:attrNameLst>
                                          <p:attrName>ppt_x</p:attrName>
                                          <p:attrName>ppt_y</p:attrName>
                                        </p:attrNameLst>
                                      </p:cBhvr>
                                    </p:animMotion>
                                  </p:childTnLst>
                                </p:cTn>
                              </p:par>
                              <p:par>
                                <p:cTn id="19" presetID="0" presetClass="path" presetSubtype="0" accel="50000" decel="50000" fill="hold" nodeType="withEffect">
                                  <p:stCondLst>
                                    <p:cond delay="0"/>
                                  </p:stCondLst>
                                  <p:childTnLst>
                                    <p:animMotion origin="layout" path="M 0 0 L 0 0.07771 " pathEditMode="relative" ptsTypes="AA">
                                      <p:cBhvr>
                                        <p:cTn id="20" dur="2000" fill="hold"/>
                                        <p:tgtEl>
                                          <p:spTgt spid="18"/>
                                        </p:tgtEl>
                                        <p:attrNameLst>
                                          <p:attrName>ppt_x</p:attrName>
                                          <p:attrName>ppt_y</p:attrName>
                                        </p:attrNameLst>
                                      </p:cBhvr>
                                    </p:animMotion>
                                  </p:childTnLst>
                                </p:cTn>
                              </p:par>
                              <p:par>
                                <p:cTn id="21" presetID="0" presetClass="path" presetSubtype="0" accel="50000" decel="50000" fill="hold" nodeType="withEffect">
                                  <p:stCondLst>
                                    <p:cond delay="0"/>
                                  </p:stCondLst>
                                  <p:childTnLst>
                                    <p:animMotion origin="layout" path="M 0 0 L 0 0.07771 " pathEditMode="relative" ptsTypes="AA">
                                      <p:cBhvr>
                                        <p:cTn id="22" dur="2000" fill="hold"/>
                                        <p:tgtEl>
                                          <p:spTgt spid="21"/>
                                        </p:tgtEl>
                                        <p:attrNameLst>
                                          <p:attrName>ppt_x</p:attrName>
                                          <p:attrName>ppt_y</p:attrName>
                                        </p:attrNameLst>
                                      </p:cBhvr>
                                    </p:animMotion>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6" grpId="0" animBg="1"/>
      <p:bldP spid="27" grpId="0"/>
      <p:bldP spid="28" grpId="0" animBg="1"/>
      <p:bldP spid="29"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p:spPr>
        <p:txBody>
          <a:bodyPr>
            <a:normAutofit/>
          </a:bodyPr>
          <a:lstStyle/>
          <a:p>
            <a:r>
              <a:rPr lang="en-US" sz="3100" dirty="0" err="1"/>
              <a:t>RCFile</a:t>
            </a:r>
            <a:r>
              <a:rPr lang="en-US" sz="3100" dirty="0"/>
              <a:t>: Distributed </a:t>
            </a:r>
            <a:r>
              <a:rPr lang="en-US" sz="3100" dirty="0">
                <a:solidFill>
                  <a:srgbClr val="FF0000"/>
                </a:solidFill>
              </a:rPr>
              <a:t>Row-Groups</a:t>
            </a:r>
            <a:r>
              <a:rPr lang="en-US" sz="3100" dirty="0"/>
              <a:t> among Nodes</a:t>
            </a:r>
          </a:p>
        </p:txBody>
      </p:sp>
      <p:sp>
        <p:nvSpPr>
          <p:cNvPr id="4" name="Slide Number Placeholder 3"/>
          <p:cNvSpPr>
            <a:spLocks noGrp="1"/>
          </p:cNvSpPr>
          <p:nvPr>
            <p:ph type="sldNum" sz="quarter" idx="12"/>
          </p:nvPr>
        </p:nvSpPr>
        <p:spPr>
          <a:xfrm>
            <a:off x="6553200" y="6188075"/>
            <a:ext cx="2133600" cy="365125"/>
          </a:xfrm>
        </p:spPr>
        <p:txBody>
          <a:bodyPr/>
          <a:lstStyle/>
          <a:p>
            <a:fld id="{B6F15528-21DE-4FAA-801E-634DDDAF4B2B}" type="slidenum">
              <a:rPr lang="en-US" smtClean="0"/>
              <a:pPr/>
              <a:t>27</a:t>
            </a:fld>
            <a:endParaRPr lang="en-US"/>
          </a:p>
        </p:txBody>
      </p:sp>
      <p:pic>
        <p:nvPicPr>
          <p:cNvPr id="24578" name="Picture 2"/>
          <p:cNvPicPr>
            <a:picLocks noChangeAspect="1" noChangeArrowheads="1"/>
          </p:cNvPicPr>
          <p:nvPr/>
        </p:nvPicPr>
        <p:blipFill>
          <a:blip r:embed="rId3" cstate="print"/>
          <a:srcRect/>
          <a:stretch>
            <a:fillRect/>
          </a:stretch>
        </p:blipFill>
        <p:spPr bwMode="auto">
          <a:xfrm>
            <a:off x="2209800" y="4796135"/>
            <a:ext cx="819150" cy="1162050"/>
          </a:xfrm>
          <a:prstGeom prst="rect">
            <a:avLst/>
          </a:prstGeom>
          <a:noFill/>
          <a:ln w="9525">
            <a:noFill/>
            <a:miter lim="800000"/>
            <a:headEnd/>
            <a:tailEnd/>
          </a:ln>
        </p:spPr>
      </p:pic>
      <p:pic>
        <p:nvPicPr>
          <p:cNvPr id="22" name="Picture 2"/>
          <p:cNvPicPr>
            <a:picLocks noChangeAspect="1" noChangeArrowheads="1"/>
          </p:cNvPicPr>
          <p:nvPr/>
        </p:nvPicPr>
        <p:blipFill>
          <a:blip r:embed="rId3" cstate="print"/>
          <a:srcRect/>
          <a:stretch>
            <a:fillRect/>
          </a:stretch>
        </p:blipFill>
        <p:spPr bwMode="auto">
          <a:xfrm>
            <a:off x="4876800" y="4796135"/>
            <a:ext cx="819150" cy="1162050"/>
          </a:xfrm>
          <a:prstGeom prst="rect">
            <a:avLst/>
          </a:prstGeom>
          <a:noFill/>
          <a:ln w="9525">
            <a:noFill/>
            <a:miter lim="800000"/>
            <a:headEnd/>
            <a:tailEnd/>
          </a:ln>
        </p:spPr>
      </p:pic>
      <p:pic>
        <p:nvPicPr>
          <p:cNvPr id="23" name="Picture 2"/>
          <p:cNvPicPr>
            <a:picLocks noChangeAspect="1" noChangeArrowheads="1"/>
          </p:cNvPicPr>
          <p:nvPr/>
        </p:nvPicPr>
        <p:blipFill>
          <a:blip r:embed="rId3" cstate="print"/>
          <a:srcRect/>
          <a:stretch>
            <a:fillRect/>
          </a:stretch>
        </p:blipFill>
        <p:spPr bwMode="auto">
          <a:xfrm>
            <a:off x="7562850" y="4796135"/>
            <a:ext cx="819150" cy="1162050"/>
          </a:xfrm>
          <a:prstGeom prst="rect">
            <a:avLst/>
          </a:prstGeom>
          <a:noFill/>
          <a:ln w="9525">
            <a:noFill/>
            <a:miter lim="800000"/>
            <a:headEnd/>
            <a:tailEnd/>
          </a:ln>
        </p:spPr>
      </p:pic>
      <p:pic>
        <p:nvPicPr>
          <p:cNvPr id="24579" name="Picture 3"/>
          <p:cNvPicPr>
            <a:picLocks noChangeAspect="1" noChangeArrowheads="1"/>
          </p:cNvPicPr>
          <p:nvPr/>
        </p:nvPicPr>
        <p:blipFill>
          <a:blip r:embed="rId4" cstate="print"/>
          <a:srcRect/>
          <a:stretch>
            <a:fillRect/>
          </a:stretch>
        </p:blipFill>
        <p:spPr bwMode="auto">
          <a:xfrm>
            <a:off x="4953000" y="2286000"/>
            <a:ext cx="885825" cy="1304925"/>
          </a:xfrm>
          <a:prstGeom prst="rect">
            <a:avLst/>
          </a:prstGeom>
          <a:noFill/>
          <a:ln w="9525">
            <a:noFill/>
            <a:miter lim="800000"/>
            <a:headEnd/>
            <a:tailEnd/>
          </a:ln>
        </p:spPr>
      </p:pic>
      <p:sp>
        <p:nvSpPr>
          <p:cNvPr id="24" name="TextBox 23"/>
          <p:cNvSpPr txBox="1"/>
          <p:nvPr/>
        </p:nvSpPr>
        <p:spPr>
          <a:xfrm>
            <a:off x="4648200" y="1828800"/>
            <a:ext cx="1600200" cy="461665"/>
          </a:xfrm>
          <a:prstGeom prst="rect">
            <a:avLst/>
          </a:prstGeom>
          <a:noFill/>
        </p:spPr>
        <p:txBody>
          <a:bodyPr wrap="square" rtlCol="0">
            <a:spAutoFit/>
          </a:bodyPr>
          <a:lstStyle/>
          <a:p>
            <a:r>
              <a:rPr lang="en-US" sz="2400" dirty="0" err="1"/>
              <a:t>NameNode</a:t>
            </a:r>
            <a:endParaRPr lang="en-US" sz="2400" dirty="0"/>
          </a:p>
        </p:txBody>
      </p:sp>
      <p:sp>
        <p:nvSpPr>
          <p:cNvPr id="25" name="TextBox 24"/>
          <p:cNvSpPr txBox="1"/>
          <p:nvPr/>
        </p:nvSpPr>
        <p:spPr>
          <a:xfrm>
            <a:off x="1752600" y="5939135"/>
            <a:ext cx="1828800" cy="461665"/>
          </a:xfrm>
          <a:prstGeom prst="rect">
            <a:avLst/>
          </a:prstGeom>
          <a:noFill/>
        </p:spPr>
        <p:txBody>
          <a:bodyPr wrap="square" rtlCol="0">
            <a:spAutoFit/>
          </a:bodyPr>
          <a:lstStyle/>
          <a:p>
            <a:r>
              <a:rPr lang="en-US" sz="2400" dirty="0" err="1"/>
              <a:t>DataNode</a:t>
            </a:r>
            <a:r>
              <a:rPr lang="en-US" sz="2400" dirty="0"/>
              <a:t> 1</a:t>
            </a:r>
          </a:p>
        </p:txBody>
      </p:sp>
      <p:sp>
        <p:nvSpPr>
          <p:cNvPr id="26" name="TextBox 25"/>
          <p:cNvSpPr txBox="1"/>
          <p:nvPr/>
        </p:nvSpPr>
        <p:spPr>
          <a:xfrm>
            <a:off x="4572000" y="5939135"/>
            <a:ext cx="1828800" cy="461665"/>
          </a:xfrm>
          <a:prstGeom prst="rect">
            <a:avLst/>
          </a:prstGeom>
          <a:noFill/>
        </p:spPr>
        <p:txBody>
          <a:bodyPr wrap="square" rtlCol="0">
            <a:spAutoFit/>
          </a:bodyPr>
          <a:lstStyle/>
          <a:p>
            <a:r>
              <a:rPr lang="en-US" sz="2400" dirty="0" err="1"/>
              <a:t>DataNode</a:t>
            </a:r>
            <a:r>
              <a:rPr lang="en-US" sz="2400" dirty="0"/>
              <a:t> 2</a:t>
            </a:r>
          </a:p>
        </p:txBody>
      </p:sp>
      <p:sp>
        <p:nvSpPr>
          <p:cNvPr id="27" name="TextBox 26"/>
          <p:cNvSpPr txBox="1"/>
          <p:nvPr/>
        </p:nvSpPr>
        <p:spPr>
          <a:xfrm>
            <a:off x="7162800" y="5934670"/>
            <a:ext cx="1828800" cy="461665"/>
          </a:xfrm>
          <a:prstGeom prst="rect">
            <a:avLst/>
          </a:prstGeom>
          <a:noFill/>
        </p:spPr>
        <p:txBody>
          <a:bodyPr wrap="square" rtlCol="0">
            <a:spAutoFit/>
          </a:bodyPr>
          <a:lstStyle/>
          <a:p>
            <a:r>
              <a:rPr lang="en-US" sz="2400" dirty="0" err="1"/>
              <a:t>DataNode</a:t>
            </a:r>
            <a:r>
              <a:rPr lang="en-US" sz="2400" dirty="0"/>
              <a:t> 3</a:t>
            </a:r>
          </a:p>
        </p:txBody>
      </p:sp>
      <p:cxnSp>
        <p:nvCxnSpPr>
          <p:cNvPr id="29" name="Straight Connector 28"/>
          <p:cNvCxnSpPr>
            <a:stCxn id="24578" idx="0"/>
            <a:endCxn id="24579" idx="2"/>
          </p:cNvCxnSpPr>
          <p:nvPr/>
        </p:nvCxnSpPr>
        <p:spPr>
          <a:xfrm rot="5400000" flipH="1" flipV="1">
            <a:off x="3405039" y="2805261"/>
            <a:ext cx="1205210" cy="2776538"/>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1" name="Straight Connector 30"/>
          <p:cNvCxnSpPr>
            <a:stCxn id="22" idx="0"/>
            <a:endCxn id="24579" idx="2"/>
          </p:cNvCxnSpPr>
          <p:nvPr/>
        </p:nvCxnSpPr>
        <p:spPr>
          <a:xfrm rot="5400000" flipH="1" flipV="1">
            <a:off x="4738539" y="4138761"/>
            <a:ext cx="1205210" cy="109538"/>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3" name="Straight Connector 32"/>
          <p:cNvCxnSpPr>
            <a:stCxn id="23" idx="0"/>
            <a:endCxn id="24579" idx="2"/>
          </p:cNvCxnSpPr>
          <p:nvPr/>
        </p:nvCxnSpPr>
        <p:spPr>
          <a:xfrm rot="16200000" flipV="1">
            <a:off x="6081564" y="2905274"/>
            <a:ext cx="1205210" cy="2576512"/>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48" name="TextBox 47"/>
          <p:cNvSpPr txBox="1"/>
          <p:nvPr/>
        </p:nvSpPr>
        <p:spPr>
          <a:xfrm>
            <a:off x="533400" y="1752600"/>
            <a:ext cx="1600200" cy="381000"/>
          </a:xfrm>
          <a:prstGeom prst="rect">
            <a:avLst/>
          </a:prstGeom>
          <a:noFill/>
          <a:ln w="38100">
            <a:solidFill>
              <a:schemeClr val="tx1"/>
            </a:solidFill>
          </a:ln>
        </p:spPr>
        <p:txBody>
          <a:bodyPr wrap="square" rtlCol="0">
            <a:spAutoFit/>
          </a:bodyPr>
          <a:lstStyle/>
          <a:p>
            <a:r>
              <a:rPr lang="en-US" b="1" dirty="0"/>
              <a:t>HDFS Blocks</a:t>
            </a:r>
          </a:p>
        </p:txBody>
      </p:sp>
      <p:sp>
        <p:nvSpPr>
          <p:cNvPr id="46" name="TextBox 45"/>
          <p:cNvSpPr txBox="1"/>
          <p:nvPr/>
        </p:nvSpPr>
        <p:spPr>
          <a:xfrm>
            <a:off x="533400" y="2895600"/>
            <a:ext cx="1600200" cy="381000"/>
          </a:xfrm>
          <a:prstGeom prst="rect">
            <a:avLst/>
          </a:prstGeom>
          <a:solidFill>
            <a:schemeClr val="bg1"/>
          </a:solidFill>
          <a:ln w="38100">
            <a:solidFill>
              <a:schemeClr val="tx1"/>
            </a:solidFill>
          </a:ln>
        </p:spPr>
        <p:txBody>
          <a:bodyPr wrap="square" rtlCol="0">
            <a:spAutoFit/>
          </a:bodyPr>
          <a:lstStyle/>
          <a:p>
            <a:r>
              <a:rPr lang="en-US" b="1" dirty="0"/>
              <a:t>Store Block 3</a:t>
            </a:r>
          </a:p>
        </p:txBody>
      </p:sp>
      <p:sp>
        <p:nvSpPr>
          <p:cNvPr id="45" name="TextBox 44"/>
          <p:cNvSpPr txBox="1"/>
          <p:nvPr/>
        </p:nvSpPr>
        <p:spPr>
          <a:xfrm>
            <a:off x="533400" y="2514600"/>
            <a:ext cx="1600200" cy="381000"/>
          </a:xfrm>
          <a:prstGeom prst="rect">
            <a:avLst/>
          </a:prstGeom>
          <a:solidFill>
            <a:schemeClr val="bg1"/>
          </a:solidFill>
          <a:ln w="38100">
            <a:solidFill>
              <a:schemeClr val="tx1"/>
            </a:solidFill>
          </a:ln>
        </p:spPr>
        <p:txBody>
          <a:bodyPr wrap="square" rtlCol="0">
            <a:spAutoFit/>
          </a:bodyPr>
          <a:lstStyle/>
          <a:p>
            <a:r>
              <a:rPr lang="en-US" b="1" dirty="0"/>
              <a:t>Store Block 2</a:t>
            </a:r>
          </a:p>
        </p:txBody>
      </p:sp>
      <p:sp>
        <p:nvSpPr>
          <p:cNvPr id="44" name="TextBox 43"/>
          <p:cNvSpPr txBox="1"/>
          <p:nvPr/>
        </p:nvSpPr>
        <p:spPr>
          <a:xfrm>
            <a:off x="533400" y="2133600"/>
            <a:ext cx="1600200" cy="381000"/>
          </a:xfrm>
          <a:prstGeom prst="rect">
            <a:avLst/>
          </a:prstGeom>
          <a:solidFill>
            <a:schemeClr val="bg1"/>
          </a:solidFill>
          <a:ln w="38100">
            <a:solidFill>
              <a:schemeClr val="tx1"/>
            </a:solidFill>
          </a:ln>
        </p:spPr>
        <p:txBody>
          <a:bodyPr wrap="square" rtlCol="0">
            <a:spAutoFit/>
          </a:bodyPr>
          <a:lstStyle/>
          <a:p>
            <a:r>
              <a:rPr lang="en-US" b="1" dirty="0"/>
              <a:t>Store Block 1</a:t>
            </a:r>
          </a:p>
        </p:txBody>
      </p:sp>
      <p:sp>
        <p:nvSpPr>
          <p:cNvPr id="32" name="TextBox 31"/>
          <p:cNvSpPr txBox="1"/>
          <p:nvPr/>
        </p:nvSpPr>
        <p:spPr>
          <a:xfrm>
            <a:off x="304800" y="5257800"/>
            <a:ext cx="1930978" cy="430887"/>
          </a:xfrm>
          <a:prstGeom prst="rect">
            <a:avLst/>
          </a:prstGeom>
          <a:noFill/>
        </p:spPr>
        <p:txBody>
          <a:bodyPr wrap="none" rtlCol="0">
            <a:spAutoFit/>
          </a:bodyPr>
          <a:lstStyle/>
          <a:p>
            <a:r>
              <a:rPr lang="en-US" sz="2200" b="1" dirty="0"/>
              <a:t>Row Group 1-3</a:t>
            </a:r>
          </a:p>
        </p:txBody>
      </p:sp>
      <p:sp>
        <p:nvSpPr>
          <p:cNvPr id="34" name="TextBox 33"/>
          <p:cNvSpPr txBox="1"/>
          <p:nvPr/>
        </p:nvSpPr>
        <p:spPr>
          <a:xfrm>
            <a:off x="3048000" y="5257800"/>
            <a:ext cx="1930978" cy="430887"/>
          </a:xfrm>
          <a:prstGeom prst="rect">
            <a:avLst/>
          </a:prstGeom>
          <a:noFill/>
        </p:spPr>
        <p:txBody>
          <a:bodyPr wrap="none" rtlCol="0">
            <a:spAutoFit/>
          </a:bodyPr>
          <a:lstStyle/>
          <a:p>
            <a:r>
              <a:rPr lang="en-US" sz="2200" b="1" dirty="0"/>
              <a:t>Row Group 4-6</a:t>
            </a:r>
          </a:p>
        </p:txBody>
      </p:sp>
      <p:sp>
        <p:nvSpPr>
          <p:cNvPr id="35" name="TextBox 34"/>
          <p:cNvSpPr txBox="1"/>
          <p:nvPr/>
        </p:nvSpPr>
        <p:spPr>
          <a:xfrm>
            <a:off x="5715000" y="5257800"/>
            <a:ext cx="1930978" cy="430887"/>
          </a:xfrm>
          <a:prstGeom prst="rect">
            <a:avLst/>
          </a:prstGeom>
          <a:noFill/>
        </p:spPr>
        <p:txBody>
          <a:bodyPr wrap="none" rtlCol="0">
            <a:spAutoFit/>
          </a:bodyPr>
          <a:lstStyle/>
          <a:p>
            <a:r>
              <a:rPr lang="en-US" sz="2200" b="1" dirty="0"/>
              <a:t>Row Group 7-9</a:t>
            </a:r>
          </a:p>
        </p:txBody>
      </p:sp>
      <p:sp>
        <p:nvSpPr>
          <p:cNvPr id="28" name="TextBox 27"/>
          <p:cNvSpPr txBox="1"/>
          <p:nvPr/>
        </p:nvSpPr>
        <p:spPr>
          <a:xfrm>
            <a:off x="3048000" y="1295400"/>
            <a:ext cx="6172200" cy="400110"/>
          </a:xfrm>
          <a:prstGeom prst="rect">
            <a:avLst/>
          </a:prstGeom>
          <a:noFill/>
        </p:spPr>
        <p:txBody>
          <a:bodyPr wrap="square" rtlCol="0">
            <a:spAutoFit/>
          </a:bodyPr>
          <a:lstStyle/>
          <a:p>
            <a:r>
              <a:rPr lang="en-US" sz="2000" b="1" dirty="0">
                <a:solidFill>
                  <a:schemeClr val="tx2"/>
                </a:solidFill>
                <a:latin typeface="Garamond" pitchFamily="18" charset="0"/>
              </a:rPr>
              <a:t>For example, each HDFS block has three row groups</a:t>
            </a:r>
          </a:p>
        </p:txBody>
      </p:sp>
    </p:spTree>
    <p:extLst>
      <p:ext uri="{BB962C8B-B14F-4D97-AF65-F5344CB8AC3E}">
        <p14:creationId xmlns:p14="http://schemas.microsoft.com/office/powerpoint/2010/main" val="123703295"/>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9" presetClass="path" presetSubtype="0" accel="50000" decel="50000" fill="hold" grpId="0" nodeType="clickEffect">
                                  <p:stCondLst>
                                    <p:cond delay="0"/>
                                  </p:stCondLst>
                                  <p:childTnLst>
                                    <p:animMotion origin="layout" path="M 0.0875 0.00555 L 0.15417 0.31637 " pathEditMode="relative" rAng="0" ptsTypes="AA">
                                      <p:cBhvr>
                                        <p:cTn id="10" dur="2000" fill="hold"/>
                                        <p:tgtEl>
                                          <p:spTgt spid="44"/>
                                        </p:tgtEl>
                                        <p:attrNameLst>
                                          <p:attrName>ppt_x</p:attrName>
                                          <p:attrName>ppt_y</p:attrName>
                                        </p:attrNameLst>
                                      </p:cBhvr>
                                      <p:rCtr x="3300" y="15500"/>
                                    </p:animMotion>
                                  </p:childTnLst>
                                </p:cTn>
                              </p:par>
                            </p:childTnLst>
                          </p:cTn>
                        </p:par>
                        <p:par>
                          <p:cTn id="11" fill="hold">
                            <p:stCondLst>
                              <p:cond delay="2000"/>
                            </p:stCondLst>
                            <p:childTnLst>
                              <p:par>
                                <p:cTn id="12" presetID="1" presetClass="entr" presetSubtype="0" fill="hold" grpId="0" nodeType="afterEffect">
                                  <p:stCondLst>
                                    <p:cond delay="0"/>
                                  </p:stCondLst>
                                  <p:childTnLst>
                                    <p:set>
                                      <p:cBhvr>
                                        <p:cTn id="13" dur="1" fill="hold">
                                          <p:stCondLst>
                                            <p:cond delay="0"/>
                                          </p:stCondLst>
                                        </p:cTn>
                                        <p:tgtEl>
                                          <p:spTgt spid="32"/>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49" presetClass="path" presetSubtype="0" accel="50000" decel="50000" fill="hold" grpId="0" nodeType="clickEffect">
                                  <p:stCondLst>
                                    <p:cond delay="0"/>
                                  </p:stCondLst>
                                  <p:childTnLst>
                                    <p:animMotion origin="layout" path="M 0.0875 0.00555 L 0.4375 0.26087 " pathEditMode="relative" rAng="0" ptsTypes="AA">
                                      <p:cBhvr>
                                        <p:cTn id="17" dur="2000" fill="hold"/>
                                        <p:tgtEl>
                                          <p:spTgt spid="45"/>
                                        </p:tgtEl>
                                        <p:attrNameLst>
                                          <p:attrName>ppt_x</p:attrName>
                                          <p:attrName>ppt_y</p:attrName>
                                        </p:attrNameLst>
                                      </p:cBhvr>
                                      <p:rCtr x="17500" y="12800"/>
                                    </p:animMotion>
                                  </p:childTnLst>
                                </p:cTn>
                              </p:par>
                            </p:childTnLst>
                          </p:cTn>
                        </p:par>
                        <p:par>
                          <p:cTn id="18" fill="hold">
                            <p:stCondLst>
                              <p:cond delay="2000"/>
                            </p:stCondLst>
                            <p:childTnLst>
                              <p:par>
                                <p:cTn id="19" presetID="1" presetClass="entr" presetSubtype="0" fill="hold" grpId="0" nodeType="afterEffect">
                                  <p:stCondLst>
                                    <p:cond delay="0"/>
                                  </p:stCondLst>
                                  <p:childTnLst>
                                    <p:set>
                                      <p:cBhvr>
                                        <p:cTn id="20" dur="1" fill="hold">
                                          <p:stCondLst>
                                            <p:cond delay="0"/>
                                          </p:stCondLst>
                                        </p:cTn>
                                        <p:tgtEl>
                                          <p:spTgt spid="3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49" presetClass="path" presetSubtype="0" accel="50000" decel="50000" fill="hold" grpId="0" nodeType="clickEffect">
                                  <p:stCondLst>
                                    <p:cond delay="0"/>
                                  </p:stCondLst>
                                  <p:childTnLst>
                                    <p:animMotion origin="layout" path="M 0.0875 0.00555 L 0.7375 0.20536 " pathEditMode="relative" rAng="0" ptsTypes="AA">
                                      <p:cBhvr>
                                        <p:cTn id="24" dur="2000" fill="hold"/>
                                        <p:tgtEl>
                                          <p:spTgt spid="46"/>
                                        </p:tgtEl>
                                        <p:attrNameLst>
                                          <p:attrName>ppt_x</p:attrName>
                                          <p:attrName>ppt_y</p:attrName>
                                        </p:attrNameLst>
                                      </p:cBhvr>
                                      <p:rCtr x="32500" y="10000"/>
                                    </p:animMotion>
                                  </p:childTnLst>
                                </p:cTn>
                              </p:par>
                            </p:childTnLst>
                          </p:cTn>
                        </p:par>
                        <p:par>
                          <p:cTn id="25" fill="hold">
                            <p:stCondLst>
                              <p:cond delay="2000"/>
                            </p:stCondLst>
                            <p:childTnLst>
                              <p:par>
                                <p:cTn id="26" presetID="1" presetClass="entr" presetSubtype="0" fill="hold" grpId="0" nodeType="afterEffect">
                                  <p:stCondLst>
                                    <p:cond delay="0"/>
                                  </p:stCondLst>
                                  <p:childTnLst>
                                    <p:set>
                                      <p:cBhvr>
                                        <p:cTn id="27"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animBg="1"/>
      <p:bldP spid="45" grpId="0" animBg="1"/>
      <p:bldP spid="44" grpId="0" animBg="1"/>
      <p:bldP spid="32" grpId="0"/>
      <p:bldP spid="34" grpId="0"/>
      <p:bldP spid="35" grpId="0"/>
      <p:bldP spid="28"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Rectangle 37"/>
          <p:cNvSpPr/>
          <p:nvPr/>
        </p:nvSpPr>
        <p:spPr>
          <a:xfrm>
            <a:off x="5181600" y="1600200"/>
            <a:ext cx="3505200" cy="441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42" name="Content Placeholder 41"/>
          <p:cNvGraphicFramePr>
            <a:graphicFrameLocks noGrp="1"/>
          </p:cNvGraphicFramePr>
          <p:nvPr>
            <p:ph idx="1"/>
          </p:nvPr>
        </p:nvGraphicFramePr>
        <p:xfrm>
          <a:off x="5410200" y="1811868"/>
          <a:ext cx="3048000" cy="3979332"/>
        </p:xfrm>
        <a:graphic>
          <a:graphicData uri="http://schemas.openxmlformats.org/drawingml/2006/table">
            <a:tbl>
              <a:tblPr firstRow="1" bandRow="1">
                <a:tableStyleId>{2D5ABB26-0587-4C30-8999-92F81FD0307C}</a:tableStyleId>
              </a:tblPr>
              <a:tblGrid>
                <a:gridCol w="3048000">
                  <a:extLst>
                    <a:ext uri="{9D8B030D-6E8A-4147-A177-3AD203B41FA5}">
                      <a16:colId xmlns:a16="http://schemas.microsoft.com/office/drawing/2014/main" val="20000"/>
                    </a:ext>
                  </a:extLst>
                </a:gridCol>
              </a:tblGrid>
              <a:tr h="152400">
                <a:tc>
                  <a:txBody>
                    <a:bodyPr/>
                    <a:lstStyle/>
                    <a:p>
                      <a:r>
                        <a:rPr lang="en-US" sz="2000" b="1" dirty="0">
                          <a:solidFill>
                            <a:schemeClr val="bg1"/>
                          </a:solidFill>
                        </a:rPr>
                        <a:t>Metadata</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137160">
                <a:tc>
                  <a:txBody>
                    <a:bodyPr/>
                    <a:lstStyle/>
                    <a:p>
                      <a:endParaRPr lang="en-US" sz="2000" b="1" dirty="0">
                        <a:solidFill>
                          <a:schemeClr val="bg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499533">
                <a:tc>
                  <a:txBody>
                    <a:bodyPr/>
                    <a:lstStyle/>
                    <a:p>
                      <a:endParaRPr lang="en-US" sz="2000" b="1" dirty="0">
                        <a:solidFill>
                          <a:schemeClr val="bg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0">
                <a:tc>
                  <a:txBody>
                    <a:bodyPr/>
                    <a:lstStyle/>
                    <a:p>
                      <a:endParaRPr lang="en-US" sz="2000" b="1" dirty="0">
                        <a:solidFill>
                          <a:schemeClr val="bg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499533">
                <a:tc>
                  <a:txBody>
                    <a:bodyPr/>
                    <a:lstStyle/>
                    <a:p>
                      <a:endParaRPr lang="en-US" sz="2000" b="1" dirty="0">
                        <a:solidFill>
                          <a:schemeClr val="bg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0">
                <a:tc>
                  <a:txBody>
                    <a:bodyPr/>
                    <a:lstStyle/>
                    <a:p>
                      <a:endParaRPr lang="en-US" sz="2000" b="1" dirty="0">
                        <a:solidFill>
                          <a:schemeClr val="bg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499533">
                <a:tc>
                  <a:txBody>
                    <a:bodyPr/>
                    <a:lstStyle/>
                    <a:p>
                      <a:endParaRPr lang="en-US" sz="2000" b="1" dirty="0">
                        <a:solidFill>
                          <a:schemeClr val="bg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6"/>
                  </a:ext>
                </a:extLst>
              </a:tr>
              <a:tr h="11684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0" b="1" dirty="0">
                        <a:solidFill>
                          <a:schemeClr val="bg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499533">
                <a:tc>
                  <a:txBody>
                    <a:bodyPr/>
                    <a:lstStyle/>
                    <a:p>
                      <a:endParaRPr lang="en-US" sz="2000" b="1" dirty="0">
                        <a:solidFill>
                          <a:schemeClr val="bg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8"/>
                  </a:ext>
                </a:extLst>
              </a:tr>
            </a:tbl>
          </a:graphicData>
        </a:graphic>
      </p:graphicFrame>
      <p:sp>
        <p:nvSpPr>
          <p:cNvPr id="2" name="Title 1"/>
          <p:cNvSpPr>
            <a:spLocks noGrp="1"/>
          </p:cNvSpPr>
          <p:nvPr>
            <p:ph type="title"/>
          </p:nvPr>
        </p:nvSpPr>
        <p:spPr/>
        <p:txBody>
          <a:bodyPr>
            <a:normAutofit/>
          </a:bodyPr>
          <a:lstStyle/>
          <a:p>
            <a:r>
              <a:rPr lang="en-US" dirty="0"/>
              <a:t>Inside each Row Group</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28</a:t>
            </a:fld>
            <a:endParaRPr lang="en-US"/>
          </a:p>
        </p:txBody>
      </p:sp>
      <p:pic>
        <p:nvPicPr>
          <p:cNvPr id="24578" name="Picture 2"/>
          <p:cNvPicPr>
            <a:picLocks noChangeAspect="1" noChangeArrowheads="1"/>
          </p:cNvPicPr>
          <p:nvPr/>
        </p:nvPicPr>
        <p:blipFill>
          <a:blip r:embed="rId3" cstate="print"/>
          <a:srcRect/>
          <a:stretch>
            <a:fillRect/>
          </a:stretch>
        </p:blipFill>
        <p:spPr bwMode="auto">
          <a:xfrm>
            <a:off x="1143000" y="2133600"/>
            <a:ext cx="609600" cy="864781"/>
          </a:xfrm>
          <a:prstGeom prst="rect">
            <a:avLst/>
          </a:prstGeom>
          <a:noFill/>
          <a:ln w="9525">
            <a:noFill/>
            <a:miter lim="800000"/>
            <a:headEnd/>
            <a:tailEnd/>
          </a:ln>
        </p:spPr>
      </p:pic>
      <p:sp>
        <p:nvSpPr>
          <p:cNvPr id="44" name="TextBox 43"/>
          <p:cNvSpPr txBox="1"/>
          <p:nvPr/>
        </p:nvSpPr>
        <p:spPr>
          <a:xfrm>
            <a:off x="1905000" y="2514600"/>
            <a:ext cx="1600200" cy="381000"/>
          </a:xfrm>
          <a:prstGeom prst="rect">
            <a:avLst/>
          </a:prstGeom>
          <a:solidFill>
            <a:schemeClr val="bg1"/>
          </a:solidFill>
          <a:ln w="38100">
            <a:solidFill>
              <a:schemeClr val="tx1"/>
            </a:solidFill>
          </a:ln>
        </p:spPr>
        <p:txBody>
          <a:bodyPr wrap="square" rtlCol="0">
            <a:spAutoFit/>
          </a:bodyPr>
          <a:lstStyle/>
          <a:p>
            <a:r>
              <a:rPr lang="en-US" b="1" dirty="0"/>
              <a:t>Store Block 1</a:t>
            </a:r>
          </a:p>
        </p:txBody>
      </p:sp>
      <p:sp>
        <p:nvSpPr>
          <p:cNvPr id="20" name="Right Arrow 19"/>
          <p:cNvSpPr/>
          <p:nvPr/>
        </p:nvSpPr>
        <p:spPr>
          <a:xfrm>
            <a:off x="3657600" y="2438400"/>
            <a:ext cx="1219200" cy="609600"/>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2" name="Content Placeholder 16"/>
          <p:cNvGraphicFramePr>
            <a:graphicFrameLocks/>
          </p:cNvGraphicFramePr>
          <p:nvPr/>
        </p:nvGraphicFramePr>
        <p:xfrm>
          <a:off x="914400" y="3124200"/>
          <a:ext cx="800100" cy="2286000"/>
        </p:xfrm>
        <a:graphic>
          <a:graphicData uri="http://schemas.openxmlformats.org/drawingml/2006/table">
            <a:tbl>
              <a:tblPr firstRow="1" bandRow="1">
                <a:tableStyleId>{2D5ABB26-0587-4C30-8999-92F81FD0307C}</a:tableStyleId>
              </a:tblPr>
              <a:tblGrid>
                <a:gridCol w="800100">
                  <a:extLst>
                    <a:ext uri="{9D8B030D-6E8A-4147-A177-3AD203B41FA5}">
                      <a16:colId xmlns:a16="http://schemas.microsoft.com/office/drawing/2014/main" val="20000"/>
                    </a:ext>
                  </a:extLst>
                </a:gridCol>
              </a:tblGrid>
              <a:tr h="370840">
                <a:tc>
                  <a:txBody>
                    <a:bodyPr/>
                    <a:lstStyle/>
                    <a:p>
                      <a:r>
                        <a:rPr lang="en-US" sz="2400" dirty="0">
                          <a:solidFill>
                            <a:schemeClr val="tx1"/>
                          </a:solidFill>
                        </a:rPr>
                        <a:t>101</a:t>
                      </a: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r>
                        <a:rPr lang="en-US" sz="2400" dirty="0">
                          <a:solidFill>
                            <a:schemeClr val="tx1"/>
                          </a:solidFill>
                        </a:rPr>
                        <a:t>102</a:t>
                      </a: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r>
                        <a:rPr lang="en-US" sz="2400" dirty="0">
                          <a:solidFill>
                            <a:schemeClr val="tx1"/>
                          </a:solidFill>
                        </a:rPr>
                        <a:t>103</a:t>
                      </a: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r>
                        <a:rPr lang="en-US" sz="2400" dirty="0">
                          <a:solidFill>
                            <a:schemeClr val="tx1"/>
                          </a:solidFill>
                        </a:rPr>
                        <a:t>104</a:t>
                      </a: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r>
                        <a:rPr lang="en-US" sz="2400" dirty="0">
                          <a:solidFill>
                            <a:schemeClr val="tx1"/>
                          </a:solidFill>
                        </a:rPr>
                        <a:t>105</a:t>
                      </a: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graphicFrame>
        <p:nvGraphicFramePr>
          <p:cNvPr id="13" name="Content Placeholder 16"/>
          <p:cNvGraphicFramePr>
            <a:graphicFrameLocks/>
          </p:cNvGraphicFramePr>
          <p:nvPr/>
        </p:nvGraphicFramePr>
        <p:xfrm>
          <a:off x="2514600" y="3124200"/>
          <a:ext cx="800100" cy="2286000"/>
        </p:xfrm>
        <a:graphic>
          <a:graphicData uri="http://schemas.openxmlformats.org/drawingml/2006/table">
            <a:tbl>
              <a:tblPr firstRow="1" bandRow="1">
                <a:tableStyleId>{2D5ABB26-0587-4C30-8999-92F81FD0307C}</a:tableStyleId>
              </a:tblPr>
              <a:tblGrid>
                <a:gridCol w="800100">
                  <a:extLst>
                    <a:ext uri="{9D8B030D-6E8A-4147-A177-3AD203B41FA5}">
                      <a16:colId xmlns:a16="http://schemas.microsoft.com/office/drawing/2014/main" val="20000"/>
                    </a:ext>
                  </a:extLst>
                </a:gridCol>
              </a:tblGrid>
              <a:tr h="370840">
                <a:tc>
                  <a:txBody>
                    <a:bodyPr/>
                    <a:lstStyle/>
                    <a:p>
                      <a:r>
                        <a:rPr lang="en-US" sz="2400" dirty="0">
                          <a:solidFill>
                            <a:schemeClr val="tx1"/>
                          </a:solidFill>
                        </a:rPr>
                        <a:t>301</a:t>
                      </a: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r>
                        <a:rPr lang="en-US" sz="2400" dirty="0">
                          <a:solidFill>
                            <a:schemeClr val="tx1"/>
                          </a:solidFill>
                        </a:rPr>
                        <a:t>302</a:t>
                      </a: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r>
                        <a:rPr lang="en-US" sz="2400" dirty="0">
                          <a:solidFill>
                            <a:schemeClr val="tx1"/>
                          </a:solidFill>
                        </a:rPr>
                        <a:t>303</a:t>
                      </a: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r>
                        <a:rPr lang="en-US" sz="2400" dirty="0">
                          <a:solidFill>
                            <a:schemeClr val="tx1"/>
                          </a:solidFill>
                        </a:rPr>
                        <a:t>304</a:t>
                      </a: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r>
                        <a:rPr lang="en-US" sz="2400" dirty="0">
                          <a:solidFill>
                            <a:schemeClr val="tx1"/>
                          </a:solidFill>
                        </a:rPr>
                        <a:t>305</a:t>
                      </a: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graphicFrame>
        <p:nvGraphicFramePr>
          <p:cNvPr id="14" name="Content Placeholder 16"/>
          <p:cNvGraphicFramePr>
            <a:graphicFrameLocks/>
          </p:cNvGraphicFramePr>
          <p:nvPr/>
        </p:nvGraphicFramePr>
        <p:xfrm>
          <a:off x="1714500" y="3124200"/>
          <a:ext cx="800100" cy="2286000"/>
        </p:xfrm>
        <a:graphic>
          <a:graphicData uri="http://schemas.openxmlformats.org/drawingml/2006/table">
            <a:tbl>
              <a:tblPr firstRow="1" bandRow="1">
                <a:tableStyleId>{2D5ABB26-0587-4C30-8999-92F81FD0307C}</a:tableStyleId>
              </a:tblPr>
              <a:tblGrid>
                <a:gridCol w="800100">
                  <a:extLst>
                    <a:ext uri="{9D8B030D-6E8A-4147-A177-3AD203B41FA5}">
                      <a16:colId xmlns:a16="http://schemas.microsoft.com/office/drawing/2014/main" val="20000"/>
                    </a:ext>
                  </a:extLst>
                </a:gridCol>
              </a:tblGrid>
              <a:tr h="370840">
                <a:tc>
                  <a:txBody>
                    <a:bodyPr/>
                    <a:lstStyle/>
                    <a:p>
                      <a:r>
                        <a:rPr lang="en-US" sz="2400" dirty="0">
                          <a:solidFill>
                            <a:schemeClr val="tx1"/>
                          </a:solidFill>
                        </a:rPr>
                        <a:t>201</a:t>
                      </a: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r>
                        <a:rPr lang="en-US" sz="2400" dirty="0">
                          <a:solidFill>
                            <a:schemeClr val="tx1"/>
                          </a:solidFill>
                        </a:rPr>
                        <a:t>202</a:t>
                      </a: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r>
                        <a:rPr lang="en-US" sz="2400" dirty="0">
                          <a:solidFill>
                            <a:schemeClr val="tx1"/>
                          </a:solidFill>
                        </a:rPr>
                        <a:t>203</a:t>
                      </a: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r>
                        <a:rPr lang="en-US" sz="2400" dirty="0">
                          <a:solidFill>
                            <a:schemeClr val="tx1"/>
                          </a:solidFill>
                        </a:rPr>
                        <a:t>204</a:t>
                      </a: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r>
                        <a:rPr lang="en-US" sz="2400" dirty="0">
                          <a:solidFill>
                            <a:schemeClr val="tx1"/>
                          </a:solidFill>
                        </a:rPr>
                        <a:t>205</a:t>
                      </a: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graphicFrame>
        <p:nvGraphicFramePr>
          <p:cNvPr id="15" name="Content Placeholder 16"/>
          <p:cNvGraphicFramePr>
            <a:graphicFrameLocks/>
          </p:cNvGraphicFramePr>
          <p:nvPr/>
        </p:nvGraphicFramePr>
        <p:xfrm>
          <a:off x="3314700" y="3124200"/>
          <a:ext cx="800100" cy="2286000"/>
        </p:xfrm>
        <a:graphic>
          <a:graphicData uri="http://schemas.openxmlformats.org/drawingml/2006/table">
            <a:tbl>
              <a:tblPr firstRow="1" bandRow="1">
                <a:tableStyleId>{2D5ABB26-0587-4C30-8999-92F81FD0307C}</a:tableStyleId>
              </a:tblPr>
              <a:tblGrid>
                <a:gridCol w="800100">
                  <a:extLst>
                    <a:ext uri="{9D8B030D-6E8A-4147-A177-3AD203B41FA5}">
                      <a16:colId xmlns:a16="http://schemas.microsoft.com/office/drawing/2014/main" val="20000"/>
                    </a:ext>
                  </a:extLst>
                </a:gridCol>
              </a:tblGrid>
              <a:tr h="370840">
                <a:tc>
                  <a:txBody>
                    <a:bodyPr/>
                    <a:lstStyle/>
                    <a:p>
                      <a:r>
                        <a:rPr lang="en-US" sz="2400" dirty="0">
                          <a:solidFill>
                            <a:schemeClr val="tx1"/>
                          </a:solidFill>
                        </a:rPr>
                        <a:t>401</a:t>
                      </a: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r>
                        <a:rPr lang="en-US" sz="2400" dirty="0">
                          <a:solidFill>
                            <a:schemeClr val="tx1"/>
                          </a:solidFill>
                        </a:rPr>
                        <a:t>402</a:t>
                      </a: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r>
                        <a:rPr lang="en-US" sz="2400" dirty="0">
                          <a:solidFill>
                            <a:schemeClr val="tx1"/>
                          </a:solidFill>
                        </a:rPr>
                        <a:t>403</a:t>
                      </a: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r>
                        <a:rPr lang="en-US" sz="2400" dirty="0">
                          <a:solidFill>
                            <a:schemeClr val="tx1"/>
                          </a:solidFill>
                        </a:rPr>
                        <a:t>404</a:t>
                      </a: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r>
                        <a:rPr lang="en-US" sz="2400" dirty="0">
                          <a:solidFill>
                            <a:schemeClr val="tx1"/>
                          </a:solidFill>
                        </a:rPr>
                        <a:t>405</a:t>
                      </a: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pic>
        <p:nvPicPr>
          <p:cNvPr id="36866" name="Picture 2" descr="C:\Users\yhuai\AppData\Local\Microsoft\Windows\Temporary Internet Files\Content.IE5\DJN2TAX4\MC900431560[1].png"/>
          <p:cNvPicPr>
            <a:picLocks noChangeAspect="1" noChangeArrowheads="1"/>
          </p:cNvPicPr>
          <p:nvPr/>
        </p:nvPicPr>
        <p:blipFill>
          <a:blip r:embed="rId4" cstate="print"/>
          <a:srcRect/>
          <a:stretch>
            <a:fillRect/>
          </a:stretch>
        </p:blipFill>
        <p:spPr bwMode="auto">
          <a:xfrm>
            <a:off x="5715000" y="2743200"/>
            <a:ext cx="2285714" cy="2285714"/>
          </a:xfrm>
          <a:prstGeom prst="rect">
            <a:avLst/>
          </a:prstGeom>
          <a:noFill/>
        </p:spPr>
      </p:pic>
    </p:spTree>
    <p:extLst>
      <p:ext uri="{BB962C8B-B14F-4D97-AF65-F5344CB8AC3E}">
        <p14:creationId xmlns:p14="http://schemas.microsoft.com/office/powerpoint/2010/main" val="2705109029"/>
      </p:ext>
    </p:extLst>
  </p:cSld>
  <p:clrMapOvr>
    <a:masterClrMapping/>
  </p:clrMapOvr>
  <p:transition spd="med">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Rectangle 37"/>
          <p:cNvSpPr/>
          <p:nvPr/>
        </p:nvSpPr>
        <p:spPr>
          <a:xfrm>
            <a:off x="5181600" y="1600200"/>
            <a:ext cx="3505200" cy="441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2" name="Content Placeholder 41"/>
          <p:cNvGraphicFramePr>
            <a:graphicFrameLocks noGrp="1"/>
          </p:cNvGraphicFramePr>
          <p:nvPr>
            <p:ph idx="1"/>
          </p:nvPr>
        </p:nvGraphicFramePr>
        <p:xfrm>
          <a:off x="5410200" y="1811868"/>
          <a:ext cx="3048000" cy="3979332"/>
        </p:xfrm>
        <a:graphic>
          <a:graphicData uri="http://schemas.openxmlformats.org/drawingml/2006/table">
            <a:tbl>
              <a:tblPr firstRow="1" bandRow="1">
                <a:tableStyleId>{2D5ABB26-0587-4C30-8999-92F81FD0307C}</a:tableStyleId>
              </a:tblPr>
              <a:tblGrid>
                <a:gridCol w="3048000">
                  <a:extLst>
                    <a:ext uri="{9D8B030D-6E8A-4147-A177-3AD203B41FA5}">
                      <a16:colId xmlns:a16="http://schemas.microsoft.com/office/drawing/2014/main" val="20000"/>
                    </a:ext>
                  </a:extLst>
                </a:gridCol>
              </a:tblGrid>
              <a:tr h="152400">
                <a:tc>
                  <a:txBody>
                    <a:bodyPr/>
                    <a:lstStyle/>
                    <a:p>
                      <a:r>
                        <a:rPr lang="en-US" sz="2000" b="1" dirty="0">
                          <a:solidFill>
                            <a:schemeClr val="bg1"/>
                          </a:solidFill>
                        </a:rPr>
                        <a:t>Compressed Metadata</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137160">
                <a:tc>
                  <a:txBody>
                    <a:bodyPr/>
                    <a:lstStyle/>
                    <a:p>
                      <a:r>
                        <a:rPr lang="en-US" sz="2000" b="1" dirty="0">
                          <a:solidFill>
                            <a:schemeClr val="bg1"/>
                          </a:solidFill>
                        </a:rPr>
                        <a:t>Compressed Column A</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499533">
                <a:tc>
                  <a:txBody>
                    <a:bodyPr/>
                    <a:lstStyle/>
                    <a:p>
                      <a:endParaRPr lang="en-US" sz="2000" b="1" dirty="0">
                        <a:solidFill>
                          <a:schemeClr val="bg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r>
                        <a:rPr lang="en-US" sz="2000" b="1" dirty="0">
                          <a:solidFill>
                            <a:schemeClr val="bg1"/>
                          </a:solidFill>
                        </a:rPr>
                        <a:t>Compressed Column B</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499533">
                <a:tc>
                  <a:txBody>
                    <a:bodyPr/>
                    <a:lstStyle/>
                    <a:p>
                      <a:endParaRPr lang="en-US" sz="2000" b="1" dirty="0">
                        <a:solidFill>
                          <a:schemeClr val="bg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0">
                <a:tc>
                  <a:txBody>
                    <a:bodyPr/>
                    <a:lstStyle/>
                    <a:p>
                      <a:r>
                        <a:rPr lang="en-US" sz="2000" b="1" dirty="0">
                          <a:solidFill>
                            <a:schemeClr val="bg1"/>
                          </a:solidFill>
                        </a:rPr>
                        <a:t>Compressed Column C</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499533">
                <a:tc>
                  <a:txBody>
                    <a:bodyPr/>
                    <a:lstStyle/>
                    <a:p>
                      <a:endParaRPr lang="en-US" sz="2000" b="1" dirty="0">
                        <a:solidFill>
                          <a:schemeClr val="bg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11684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b="1" dirty="0">
                          <a:solidFill>
                            <a:schemeClr val="bg1"/>
                          </a:solidFill>
                        </a:rPr>
                        <a:t>Compressed Column D</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499533">
                <a:tc>
                  <a:txBody>
                    <a:bodyPr/>
                    <a:lstStyle/>
                    <a:p>
                      <a:endParaRPr lang="en-US" sz="2000" b="1" dirty="0">
                        <a:solidFill>
                          <a:schemeClr val="bg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2" name="Title 1"/>
          <p:cNvSpPr>
            <a:spLocks noGrp="1"/>
          </p:cNvSpPr>
          <p:nvPr>
            <p:ph type="title"/>
          </p:nvPr>
        </p:nvSpPr>
        <p:spPr/>
        <p:txBody>
          <a:bodyPr>
            <a:normAutofit/>
          </a:bodyPr>
          <a:lstStyle/>
          <a:p>
            <a:r>
              <a:rPr lang="en-US" dirty="0" err="1"/>
              <a:t>RCFile</a:t>
            </a:r>
            <a:r>
              <a:rPr lang="en-US" dirty="0"/>
              <a:t>: </a:t>
            </a:r>
            <a:r>
              <a:rPr lang="en-US" dirty="0">
                <a:solidFill>
                  <a:srgbClr val="FF0000"/>
                </a:solidFill>
              </a:rPr>
              <a:t>Inside each</a:t>
            </a:r>
            <a:r>
              <a:rPr lang="en-US" dirty="0"/>
              <a:t> Row Group</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29</a:t>
            </a:fld>
            <a:endParaRPr lang="en-US"/>
          </a:p>
        </p:txBody>
      </p:sp>
      <p:graphicFrame>
        <p:nvGraphicFramePr>
          <p:cNvPr id="12" name="Content Placeholder 16"/>
          <p:cNvGraphicFramePr>
            <a:graphicFrameLocks/>
          </p:cNvGraphicFramePr>
          <p:nvPr/>
        </p:nvGraphicFramePr>
        <p:xfrm>
          <a:off x="457200" y="2057400"/>
          <a:ext cx="800100" cy="2286000"/>
        </p:xfrm>
        <a:graphic>
          <a:graphicData uri="http://schemas.openxmlformats.org/drawingml/2006/table">
            <a:tbl>
              <a:tblPr firstRow="1" bandRow="1">
                <a:tableStyleId>{2D5ABB26-0587-4C30-8999-92F81FD0307C}</a:tableStyleId>
              </a:tblPr>
              <a:tblGrid>
                <a:gridCol w="800100">
                  <a:extLst>
                    <a:ext uri="{9D8B030D-6E8A-4147-A177-3AD203B41FA5}">
                      <a16:colId xmlns:a16="http://schemas.microsoft.com/office/drawing/2014/main" val="20000"/>
                    </a:ext>
                  </a:extLst>
                </a:gridCol>
              </a:tblGrid>
              <a:tr h="370840">
                <a:tc>
                  <a:txBody>
                    <a:bodyPr/>
                    <a:lstStyle/>
                    <a:p>
                      <a:r>
                        <a:rPr lang="en-US" sz="2400" dirty="0">
                          <a:solidFill>
                            <a:schemeClr val="tx1"/>
                          </a:solidFill>
                        </a:rPr>
                        <a:t>101</a:t>
                      </a: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r>
                        <a:rPr lang="en-US" sz="2400" dirty="0">
                          <a:solidFill>
                            <a:schemeClr val="tx1"/>
                          </a:solidFill>
                        </a:rPr>
                        <a:t>102</a:t>
                      </a: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r>
                        <a:rPr lang="en-US" sz="2400" dirty="0">
                          <a:solidFill>
                            <a:schemeClr val="tx1"/>
                          </a:solidFill>
                        </a:rPr>
                        <a:t>103</a:t>
                      </a: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r>
                        <a:rPr lang="en-US" sz="2400" dirty="0">
                          <a:solidFill>
                            <a:schemeClr val="tx1"/>
                          </a:solidFill>
                        </a:rPr>
                        <a:t>104</a:t>
                      </a: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r>
                        <a:rPr lang="en-US" sz="2400" dirty="0">
                          <a:solidFill>
                            <a:schemeClr val="tx1"/>
                          </a:solidFill>
                        </a:rPr>
                        <a:t>105</a:t>
                      </a: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graphicFrame>
        <p:nvGraphicFramePr>
          <p:cNvPr id="13" name="Content Placeholder 16"/>
          <p:cNvGraphicFramePr>
            <a:graphicFrameLocks/>
          </p:cNvGraphicFramePr>
          <p:nvPr/>
        </p:nvGraphicFramePr>
        <p:xfrm>
          <a:off x="2667000" y="3581400"/>
          <a:ext cx="800100" cy="2286000"/>
        </p:xfrm>
        <a:graphic>
          <a:graphicData uri="http://schemas.openxmlformats.org/drawingml/2006/table">
            <a:tbl>
              <a:tblPr firstRow="1" bandRow="1">
                <a:tableStyleId>{2D5ABB26-0587-4C30-8999-92F81FD0307C}</a:tableStyleId>
              </a:tblPr>
              <a:tblGrid>
                <a:gridCol w="800100">
                  <a:extLst>
                    <a:ext uri="{9D8B030D-6E8A-4147-A177-3AD203B41FA5}">
                      <a16:colId xmlns:a16="http://schemas.microsoft.com/office/drawing/2014/main" val="20000"/>
                    </a:ext>
                  </a:extLst>
                </a:gridCol>
              </a:tblGrid>
              <a:tr h="370840">
                <a:tc>
                  <a:txBody>
                    <a:bodyPr/>
                    <a:lstStyle/>
                    <a:p>
                      <a:r>
                        <a:rPr lang="en-US" sz="2400" dirty="0">
                          <a:solidFill>
                            <a:schemeClr val="tx1"/>
                          </a:solidFill>
                        </a:rPr>
                        <a:t>301</a:t>
                      </a: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r>
                        <a:rPr lang="en-US" sz="2400" dirty="0">
                          <a:solidFill>
                            <a:schemeClr val="tx1"/>
                          </a:solidFill>
                        </a:rPr>
                        <a:t>302</a:t>
                      </a: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r>
                        <a:rPr lang="en-US" sz="2400" dirty="0">
                          <a:solidFill>
                            <a:schemeClr val="tx1"/>
                          </a:solidFill>
                        </a:rPr>
                        <a:t>303</a:t>
                      </a: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r>
                        <a:rPr lang="en-US" sz="2400" dirty="0">
                          <a:solidFill>
                            <a:schemeClr val="tx1"/>
                          </a:solidFill>
                        </a:rPr>
                        <a:t>304</a:t>
                      </a: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r>
                        <a:rPr lang="en-US" sz="2400" dirty="0">
                          <a:solidFill>
                            <a:schemeClr val="tx1"/>
                          </a:solidFill>
                        </a:rPr>
                        <a:t>305</a:t>
                      </a: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graphicFrame>
        <p:nvGraphicFramePr>
          <p:cNvPr id="14" name="Content Placeholder 16"/>
          <p:cNvGraphicFramePr>
            <a:graphicFrameLocks/>
          </p:cNvGraphicFramePr>
          <p:nvPr/>
        </p:nvGraphicFramePr>
        <p:xfrm>
          <a:off x="1524000" y="2819400"/>
          <a:ext cx="800100" cy="2286000"/>
        </p:xfrm>
        <a:graphic>
          <a:graphicData uri="http://schemas.openxmlformats.org/drawingml/2006/table">
            <a:tbl>
              <a:tblPr firstRow="1" bandRow="1">
                <a:tableStyleId>{2D5ABB26-0587-4C30-8999-92F81FD0307C}</a:tableStyleId>
              </a:tblPr>
              <a:tblGrid>
                <a:gridCol w="800100">
                  <a:extLst>
                    <a:ext uri="{9D8B030D-6E8A-4147-A177-3AD203B41FA5}">
                      <a16:colId xmlns:a16="http://schemas.microsoft.com/office/drawing/2014/main" val="20000"/>
                    </a:ext>
                  </a:extLst>
                </a:gridCol>
              </a:tblGrid>
              <a:tr h="370840">
                <a:tc>
                  <a:txBody>
                    <a:bodyPr/>
                    <a:lstStyle/>
                    <a:p>
                      <a:r>
                        <a:rPr lang="en-US" sz="2400" dirty="0">
                          <a:solidFill>
                            <a:schemeClr val="tx1"/>
                          </a:solidFill>
                        </a:rPr>
                        <a:t>201</a:t>
                      </a: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r>
                        <a:rPr lang="en-US" sz="2400" dirty="0">
                          <a:solidFill>
                            <a:schemeClr val="tx1"/>
                          </a:solidFill>
                        </a:rPr>
                        <a:t>202</a:t>
                      </a: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r>
                        <a:rPr lang="en-US" sz="2400" dirty="0">
                          <a:solidFill>
                            <a:schemeClr val="tx1"/>
                          </a:solidFill>
                        </a:rPr>
                        <a:t>203</a:t>
                      </a: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r>
                        <a:rPr lang="en-US" sz="2400" dirty="0">
                          <a:solidFill>
                            <a:schemeClr val="tx1"/>
                          </a:solidFill>
                        </a:rPr>
                        <a:t>204</a:t>
                      </a: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r>
                        <a:rPr lang="en-US" sz="2400" dirty="0">
                          <a:solidFill>
                            <a:schemeClr val="tx1"/>
                          </a:solidFill>
                        </a:rPr>
                        <a:t>205</a:t>
                      </a: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graphicFrame>
        <p:nvGraphicFramePr>
          <p:cNvPr id="15" name="Content Placeholder 16"/>
          <p:cNvGraphicFramePr>
            <a:graphicFrameLocks/>
          </p:cNvGraphicFramePr>
          <p:nvPr/>
        </p:nvGraphicFramePr>
        <p:xfrm>
          <a:off x="3810000" y="4191000"/>
          <a:ext cx="800100" cy="2286000"/>
        </p:xfrm>
        <a:graphic>
          <a:graphicData uri="http://schemas.openxmlformats.org/drawingml/2006/table">
            <a:tbl>
              <a:tblPr firstRow="1" bandRow="1">
                <a:tableStyleId>{2D5ABB26-0587-4C30-8999-92F81FD0307C}</a:tableStyleId>
              </a:tblPr>
              <a:tblGrid>
                <a:gridCol w="800100">
                  <a:extLst>
                    <a:ext uri="{9D8B030D-6E8A-4147-A177-3AD203B41FA5}">
                      <a16:colId xmlns:a16="http://schemas.microsoft.com/office/drawing/2014/main" val="20000"/>
                    </a:ext>
                  </a:extLst>
                </a:gridCol>
              </a:tblGrid>
              <a:tr h="370840">
                <a:tc>
                  <a:txBody>
                    <a:bodyPr/>
                    <a:lstStyle/>
                    <a:p>
                      <a:r>
                        <a:rPr lang="en-US" sz="2400" dirty="0">
                          <a:solidFill>
                            <a:schemeClr val="tx1"/>
                          </a:solidFill>
                        </a:rPr>
                        <a:t>401</a:t>
                      </a: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r>
                        <a:rPr lang="en-US" sz="2400" dirty="0">
                          <a:solidFill>
                            <a:schemeClr val="tx1"/>
                          </a:solidFill>
                        </a:rPr>
                        <a:t>402</a:t>
                      </a: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r>
                        <a:rPr lang="en-US" sz="2400" dirty="0">
                          <a:solidFill>
                            <a:schemeClr val="tx1"/>
                          </a:solidFill>
                        </a:rPr>
                        <a:t>403</a:t>
                      </a: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r>
                        <a:rPr lang="en-US" sz="2400" dirty="0">
                          <a:solidFill>
                            <a:schemeClr val="tx1"/>
                          </a:solidFill>
                        </a:rPr>
                        <a:t>404</a:t>
                      </a: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r>
                        <a:rPr lang="en-US" sz="2400" dirty="0">
                          <a:solidFill>
                            <a:schemeClr val="tx1"/>
                          </a:solidFill>
                        </a:rPr>
                        <a:t>405</a:t>
                      </a: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graphicFrame>
        <p:nvGraphicFramePr>
          <p:cNvPr id="17" name="Table 16"/>
          <p:cNvGraphicFramePr>
            <a:graphicFrameLocks noGrp="1"/>
          </p:cNvGraphicFramePr>
          <p:nvPr/>
        </p:nvGraphicFramePr>
        <p:xfrm>
          <a:off x="5486400" y="3596640"/>
          <a:ext cx="2819400" cy="365760"/>
        </p:xfrm>
        <a:graphic>
          <a:graphicData uri="http://schemas.openxmlformats.org/drawingml/2006/table">
            <a:tbl>
              <a:tblPr firstRow="1" bandRow="1">
                <a:tableStyleId>{2D5ABB26-0587-4C30-8999-92F81FD0307C}</a:tableStyleId>
              </a:tblPr>
              <a:tblGrid>
                <a:gridCol w="563880">
                  <a:extLst>
                    <a:ext uri="{9D8B030D-6E8A-4147-A177-3AD203B41FA5}">
                      <a16:colId xmlns:a16="http://schemas.microsoft.com/office/drawing/2014/main" val="20000"/>
                    </a:ext>
                  </a:extLst>
                </a:gridCol>
                <a:gridCol w="563880">
                  <a:extLst>
                    <a:ext uri="{9D8B030D-6E8A-4147-A177-3AD203B41FA5}">
                      <a16:colId xmlns:a16="http://schemas.microsoft.com/office/drawing/2014/main" val="20001"/>
                    </a:ext>
                  </a:extLst>
                </a:gridCol>
                <a:gridCol w="563880">
                  <a:extLst>
                    <a:ext uri="{9D8B030D-6E8A-4147-A177-3AD203B41FA5}">
                      <a16:colId xmlns:a16="http://schemas.microsoft.com/office/drawing/2014/main" val="20002"/>
                    </a:ext>
                  </a:extLst>
                </a:gridCol>
                <a:gridCol w="563880">
                  <a:extLst>
                    <a:ext uri="{9D8B030D-6E8A-4147-A177-3AD203B41FA5}">
                      <a16:colId xmlns:a16="http://schemas.microsoft.com/office/drawing/2014/main" val="20003"/>
                    </a:ext>
                  </a:extLst>
                </a:gridCol>
                <a:gridCol w="563880">
                  <a:extLst>
                    <a:ext uri="{9D8B030D-6E8A-4147-A177-3AD203B41FA5}">
                      <a16:colId xmlns:a16="http://schemas.microsoft.com/office/drawing/2014/main" val="20004"/>
                    </a:ext>
                  </a:extLst>
                </a:gridCol>
              </a:tblGrid>
              <a:tr h="335280">
                <a:tc>
                  <a:txBody>
                    <a:bodyPr/>
                    <a:lstStyle/>
                    <a:p>
                      <a:r>
                        <a:rPr lang="en-US" dirty="0">
                          <a:solidFill>
                            <a:schemeClr val="bg1"/>
                          </a:solidFill>
                        </a:rPr>
                        <a:t>201</a:t>
                      </a: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c>
                  <a:txBody>
                    <a:bodyPr/>
                    <a:lstStyle/>
                    <a:p>
                      <a:r>
                        <a:rPr lang="en-US" dirty="0">
                          <a:solidFill>
                            <a:schemeClr val="bg1"/>
                          </a:solidFill>
                        </a:rPr>
                        <a:t>202</a:t>
                      </a: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c>
                  <a:txBody>
                    <a:bodyPr/>
                    <a:lstStyle/>
                    <a:p>
                      <a:r>
                        <a:rPr lang="en-US" dirty="0">
                          <a:solidFill>
                            <a:schemeClr val="bg1"/>
                          </a:solidFill>
                        </a:rPr>
                        <a:t>203</a:t>
                      </a: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c>
                  <a:txBody>
                    <a:bodyPr/>
                    <a:lstStyle/>
                    <a:p>
                      <a:r>
                        <a:rPr lang="en-US" dirty="0">
                          <a:solidFill>
                            <a:schemeClr val="bg1"/>
                          </a:solidFill>
                        </a:rPr>
                        <a:t>204</a:t>
                      </a: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c>
                  <a:txBody>
                    <a:bodyPr/>
                    <a:lstStyle/>
                    <a:p>
                      <a:r>
                        <a:rPr lang="en-US" dirty="0">
                          <a:solidFill>
                            <a:schemeClr val="bg1"/>
                          </a:solidFill>
                        </a:rPr>
                        <a:t>205</a:t>
                      </a: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18" name="Table 17"/>
          <p:cNvGraphicFramePr>
            <a:graphicFrameLocks noGrp="1"/>
          </p:cNvGraphicFramePr>
          <p:nvPr/>
        </p:nvGraphicFramePr>
        <p:xfrm>
          <a:off x="5486400" y="2667000"/>
          <a:ext cx="2819400" cy="365760"/>
        </p:xfrm>
        <a:graphic>
          <a:graphicData uri="http://schemas.openxmlformats.org/drawingml/2006/table">
            <a:tbl>
              <a:tblPr firstRow="1" bandRow="1">
                <a:tableStyleId>{2D5ABB26-0587-4C30-8999-92F81FD0307C}</a:tableStyleId>
              </a:tblPr>
              <a:tblGrid>
                <a:gridCol w="563880">
                  <a:extLst>
                    <a:ext uri="{9D8B030D-6E8A-4147-A177-3AD203B41FA5}">
                      <a16:colId xmlns:a16="http://schemas.microsoft.com/office/drawing/2014/main" val="20000"/>
                    </a:ext>
                  </a:extLst>
                </a:gridCol>
                <a:gridCol w="563880">
                  <a:extLst>
                    <a:ext uri="{9D8B030D-6E8A-4147-A177-3AD203B41FA5}">
                      <a16:colId xmlns:a16="http://schemas.microsoft.com/office/drawing/2014/main" val="20001"/>
                    </a:ext>
                  </a:extLst>
                </a:gridCol>
                <a:gridCol w="563880">
                  <a:extLst>
                    <a:ext uri="{9D8B030D-6E8A-4147-A177-3AD203B41FA5}">
                      <a16:colId xmlns:a16="http://schemas.microsoft.com/office/drawing/2014/main" val="20002"/>
                    </a:ext>
                  </a:extLst>
                </a:gridCol>
                <a:gridCol w="563880">
                  <a:extLst>
                    <a:ext uri="{9D8B030D-6E8A-4147-A177-3AD203B41FA5}">
                      <a16:colId xmlns:a16="http://schemas.microsoft.com/office/drawing/2014/main" val="20003"/>
                    </a:ext>
                  </a:extLst>
                </a:gridCol>
                <a:gridCol w="563880">
                  <a:extLst>
                    <a:ext uri="{9D8B030D-6E8A-4147-A177-3AD203B41FA5}">
                      <a16:colId xmlns:a16="http://schemas.microsoft.com/office/drawing/2014/main" val="20004"/>
                    </a:ext>
                  </a:extLst>
                </a:gridCol>
              </a:tblGrid>
              <a:tr h="335280">
                <a:tc>
                  <a:txBody>
                    <a:bodyPr/>
                    <a:lstStyle/>
                    <a:p>
                      <a:r>
                        <a:rPr lang="en-US" dirty="0">
                          <a:solidFill>
                            <a:schemeClr val="bg1"/>
                          </a:solidFill>
                        </a:rPr>
                        <a:t>101</a:t>
                      </a: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c>
                  <a:txBody>
                    <a:bodyPr/>
                    <a:lstStyle/>
                    <a:p>
                      <a:r>
                        <a:rPr lang="en-US" dirty="0">
                          <a:solidFill>
                            <a:schemeClr val="bg1"/>
                          </a:solidFill>
                        </a:rPr>
                        <a:t>102</a:t>
                      </a: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c>
                  <a:txBody>
                    <a:bodyPr/>
                    <a:lstStyle/>
                    <a:p>
                      <a:r>
                        <a:rPr lang="en-US" dirty="0">
                          <a:solidFill>
                            <a:schemeClr val="bg1"/>
                          </a:solidFill>
                        </a:rPr>
                        <a:t>103</a:t>
                      </a: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c>
                  <a:txBody>
                    <a:bodyPr/>
                    <a:lstStyle/>
                    <a:p>
                      <a:r>
                        <a:rPr lang="en-US" dirty="0">
                          <a:solidFill>
                            <a:schemeClr val="bg1"/>
                          </a:solidFill>
                        </a:rPr>
                        <a:t>104</a:t>
                      </a: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c>
                  <a:txBody>
                    <a:bodyPr/>
                    <a:lstStyle/>
                    <a:p>
                      <a:r>
                        <a:rPr lang="en-US" dirty="0">
                          <a:solidFill>
                            <a:schemeClr val="bg1"/>
                          </a:solidFill>
                        </a:rPr>
                        <a:t>105</a:t>
                      </a: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19" name="Table 18"/>
          <p:cNvGraphicFramePr>
            <a:graphicFrameLocks noGrp="1"/>
          </p:cNvGraphicFramePr>
          <p:nvPr/>
        </p:nvGraphicFramePr>
        <p:xfrm>
          <a:off x="5486400" y="4495800"/>
          <a:ext cx="2819400" cy="365760"/>
        </p:xfrm>
        <a:graphic>
          <a:graphicData uri="http://schemas.openxmlformats.org/drawingml/2006/table">
            <a:tbl>
              <a:tblPr firstRow="1" bandRow="1">
                <a:tableStyleId>{2D5ABB26-0587-4C30-8999-92F81FD0307C}</a:tableStyleId>
              </a:tblPr>
              <a:tblGrid>
                <a:gridCol w="563880">
                  <a:extLst>
                    <a:ext uri="{9D8B030D-6E8A-4147-A177-3AD203B41FA5}">
                      <a16:colId xmlns:a16="http://schemas.microsoft.com/office/drawing/2014/main" val="20000"/>
                    </a:ext>
                  </a:extLst>
                </a:gridCol>
                <a:gridCol w="563880">
                  <a:extLst>
                    <a:ext uri="{9D8B030D-6E8A-4147-A177-3AD203B41FA5}">
                      <a16:colId xmlns:a16="http://schemas.microsoft.com/office/drawing/2014/main" val="20001"/>
                    </a:ext>
                  </a:extLst>
                </a:gridCol>
                <a:gridCol w="563880">
                  <a:extLst>
                    <a:ext uri="{9D8B030D-6E8A-4147-A177-3AD203B41FA5}">
                      <a16:colId xmlns:a16="http://schemas.microsoft.com/office/drawing/2014/main" val="20002"/>
                    </a:ext>
                  </a:extLst>
                </a:gridCol>
                <a:gridCol w="563880">
                  <a:extLst>
                    <a:ext uri="{9D8B030D-6E8A-4147-A177-3AD203B41FA5}">
                      <a16:colId xmlns:a16="http://schemas.microsoft.com/office/drawing/2014/main" val="20003"/>
                    </a:ext>
                  </a:extLst>
                </a:gridCol>
                <a:gridCol w="563880">
                  <a:extLst>
                    <a:ext uri="{9D8B030D-6E8A-4147-A177-3AD203B41FA5}">
                      <a16:colId xmlns:a16="http://schemas.microsoft.com/office/drawing/2014/main" val="20004"/>
                    </a:ext>
                  </a:extLst>
                </a:gridCol>
              </a:tblGrid>
              <a:tr h="335280">
                <a:tc>
                  <a:txBody>
                    <a:bodyPr/>
                    <a:lstStyle/>
                    <a:p>
                      <a:r>
                        <a:rPr lang="en-US" dirty="0">
                          <a:solidFill>
                            <a:schemeClr val="bg1"/>
                          </a:solidFill>
                        </a:rPr>
                        <a:t>301</a:t>
                      </a: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c>
                  <a:txBody>
                    <a:bodyPr/>
                    <a:lstStyle/>
                    <a:p>
                      <a:r>
                        <a:rPr lang="en-US" dirty="0">
                          <a:solidFill>
                            <a:schemeClr val="bg1"/>
                          </a:solidFill>
                        </a:rPr>
                        <a:t>302</a:t>
                      </a: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c>
                  <a:txBody>
                    <a:bodyPr/>
                    <a:lstStyle/>
                    <a:p>
                      <a:r>
                        <a:rPr lang="en-US" dirty="0">
                          <a:solidFill>
                            <a:schemeClr val="bg1"/>
                          </a:solidFill>
                        </a:rPr>
                        <a:t>303</a:t>
                      </a: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c>
                  <a:txBody>
                    <a:bodyPr/>
                    <a:lstStyle/>
                    <a:p>
                      <a:r>
                        <a:rPr lang="en-US" dirty="0">
                          <a:solidFill>
                            <a:schemeClr val="bg1"/>
                          </a:solidFill>
                        </a:rPr>
                        <a:t>304</a:t>
                      </a: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c>
                  <a:txBody>
                    <a:bodyPr/>
                    <a:lstStyle/>
                    <a:p>
                      <a:r>
                        <a:rPr lang="en-US" dirty="0">
                          <a:solidFill>
                            <a:schemeClr val="bg1"/>
                          </a:solidFill>
                        </a:rPr>
                        <a:t>305</a:t>
                      </a: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21" name="Table 20"/>
          <p:cNvGraphicFramePr>
            <a:graphicFrameLocks noGrp="1"/>
          </p:cNvGraphicFramePr>
          <p:nvPr/>
        </p:nvGraphicFramePr>
        <p:xfrm>
          <a:off x="5486400" y="5410200"/>
          <a:ext cx="2819400" cy="365760"/>
        </p:xfrm>
        <a:graphic>
          <a:graphicData uri="http://schemas.openxmlformats.org/drawingml/2006/table">
            <a:tbl>
              <a:tblPr firstRow="1" bandRow="1">
                <a:tableStyleId>{2D5ABB26-0587-4C30-8999-92F81FD0307C}</a:tableStyleId>
              </a:tblPr>
              <a:tblGrid>
                <a:gridCol w="563880">
                  <a:extLst>
                    <a:ext uri="{9D8B030D-6E8A-4147-A177-3AD203B41FA5}">
                      <a16:colId xmlns:a16="http://schemas.microsoft.com/office/drawing/2014/main" val="20000"/>
                    </a:ext>
                  </a:extLst>
                </a:gridCol>
                <a:gridCol w="563880">
                  <a:extLst>
                    <a:ext uri="{9D8B030D-6E8A-4147-A177-3AD203B41FA5}">
                      <a16:colId xmlns:a16="http://schemas.microsoft.com/office/drawing/2014/main" val="20001"/>
                    </a:ext>
                  </a:extLst>
                </a:gridCol>
                <a:gridCol w="563880">
                  <a:extLst>
                    <a:ext uri="{9D8B030D-6E8A-4147-A177-3AD203B41FA5}">
                      <a16:colId xmlns:a16="http://schemas.microsoft.com/office/drawing/2014/main" val="20002"/>
                    </a:ext>
                  </a:extLst>
                </a:gridCol>
                <a:gridCol w="563880">
                  <a:extLst>
                    <a:ext uri="{9D8B030D-6E8A-4147-A177-3AD203B41FA5}">
                      <a16:colId xmlns:a16="http://schemas.microsoft.com/office/drawing/2014/main" val="20003"/>
                    </a:ext>
                  </a:extLst>
                </a:gridCol>
                <a:gridCol w="563880">
                  <a:extLst>
                    <a:ext uri="{9D8B030D-6E8A-4147-A177-3AD203B41FA5}">
                      <a16:colId xmlns:a16="http://schemas.microsoft.com/office/drawing/2014/main" val="20004"/>
                    </a:ext>
                  </a:extLst>
                </a:gridCol>
              </a:tblGrid>
              <a:tr h="335280">
                <a:tc>
                  <a:txBody>
                    <a:bodyPr/>
                    <a:lstStyle/>
                    <a:p>
                      <a:r>
                        <a:rPr lang="en-US" dirty="0">
                          <a:solidFill>
                            <a:schemeClr val="bg1"/>
                          </a:solidFill>
                        </a:rPr>
                        <a:t>401</a:t>
                      </a: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c>
                  <a:txBody>
                    <a:bodyPr/>
                    <a:lstStyle/>
                    <a:p>
                      <a:r>
                        <a:rPr lang="en-US" dirty="0">
                          <a:solidFill>
                            <a:schemeClr val="bg1"/>
                          </a:solidFill>
                        </a:rPr>
                        <a:t>402</a:t>
                      </a: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c>
                  <a:txBody>
                    <a:bodyPr/>
                    <a:lstStyle/>
                    <a:p>
                      <a:r>
                        <a:rPr lang="en-US" dirty="0">
                          <a:solidFill>
                            <a:schemeClr val="bg1"/>
                          </a:solidFill>
                        </a:rPr>
                        <a:t>403</a:t>
                      </a: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c>
                  <a:txBody>
                    <a:bodyPr/>
                    <a:lstStyle/>
                    <a:p>
                      <a:r>
                        <a:rPr lang="en-US" dirty="0">
                          <a:solidFill>
                            <a:schemeClr val="bg1"/>
                          </a:solidFill>
                        </a:rPr>
                        <a:t>404</a:t>
                      </a: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c>
                  <a:txBody>
                    <a:bodyPr/>
                    <a:lstStyle/>
                    <a:p>
                      <a:r>
                        <a:rPr lang="en-US" dirty="0">
                          <a:solidFill>
                            <a:schemeClr val="bg1"/>
                          </a:solidFill>
                        </a:rPr>
                        <a:t>405</a:t>
                      </a: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
        <p:nvSpPr>
          <p:cNvPr id="22" name="Freeform 21"/>
          <p:cNvSpPr/>
          <p:nvPr/>
        </p:nvSpPr>
        <p:spPr>
          <a:xfrm>
            <a:off x="1252603" y="1388301"/>
            <a:ext cx="4233797" cy="1292269"/>
          </a:xfrm>
          <a:custGeom>
            <a:avLst/>
            <a:gdLst>
              <a:gd name="connsiteX0" fmla="*/ 0 w 4233797"/>
              <a:gd name="connsiteY0" fmla="*/ 678494 h 1292269"/>
              <a:gd name="connsiteX1" fmla="*/ 2041742 w 4233797"/>
              <a:gd name="connsiteY1" fmla="*/ 102296 h 1292269"/>
              <a:gd name="connsiteX2" fmla="*/ 4233797 w 4233797"/>
              <a:gd name="connsiteY2" fmla="*/ 1292269 h 1292269"/>
            </a:gdLst>
            <a:ahLst/>
            <a:cxnLst>
              <a:cxn ang="0">
                <a:pos x="connsiteX0" y="connsiteY0"/>
              </a:cxn>
              <a:cxn ang="0">
                <a:pos x="connsiteX1" y="connsiteY1"/>
              </a:cxn>
              <a:cxn ang="0">
                <a:pos x="connsiteX2" y="connsiteY2"/>
              </a:cxn>
            </a:cxnLst>
            <a:rect l="l" t="t" r="r" b="b"/>
            <a:pathLst>
              <a:path w="4233797" h="1292269">
                <a:moveTo>
                  <a:pt x="0" y="678494"/>
                </a:moveTo>
                <a:cubicBezTo>
                  <a:pt x="668054" y="339247"/>
                  <a:pt x="1336109" y="0"/>
                  <a:pt x="2041742" y="102296"/>
                </a:cubicBezTo>
                <a:cubicBezTo>
                  <a:pt x="2747375" y="204592"/>
                  <a:pt x="4010416" y="1148220"/>
                  <a:pt x="4233797" y="1292269"/>
                </a:cubicBezTo>
              </a:path>
            </a:pathLst>
          </a:custGeom>
          <a:ln w="381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4" name="Freeform 23"/>
          <p:cNvSpPr/>
          <p:nvPr/>
        </p:nvSpPr>
        <p:spPr>
          <a:xfrm>
            <a:off x="2329841" y="2200405"/>
            <a:ext cx="3169085" cy="1394565"/>
          </a:xfrm>
          <a:custGeom>
            <a:avLst/>
            <a:gdLst>
              <a:gd name="connsiteX0" fmla="*/ 0 w 3169085"/>
              <a:gd name="connsiteY0" fmla="*/ 617951 h 1394565"/>
              <a:gd name="connsiteX1" fmla="*/ 826718 w 3169085"/>
              <a:gd name="connsiteY1" fmla="*/ 129436 h 1394565"/>
              <a:gd name="connsiteX2" fmla="*/ 3169085 w 3169085"/>
              <a:gd name="connsiteY2" fmla="*/ 1394565 h 1394565"/>
            </a:gdLst>
            <a:ahLst/>
            <a:cxnLst>
              <a:cxn ang="0">
                <a:pos x="connsiteX0" y="connsiteY0"/>
              </a:cxn>
              <a:cxn ang="0">
                <a:pos x="connsiteX1" y="connsiteY1"/>
              </a:cxn>
              <a:cxn ang="0">
                <a:pos x="connsiteX2" y="connsiteY2"/>
              </a:cxn>
            </a:cxnLst>
            <a:rect l="l" t="t" r="r" b="b"/>
            <a:pathLst>
              <a:path w="3169085" h="1394565">
                <a:moveTo>
                  <a:pt x="0" y="617951"/>
                </a:moveTo>
                <a:cubicBezTo>
                  <a:pt x="149268" y="308975"/>
                  <a:pt x="298537" y="0"/>
                  <a:pt x="826718" y="129436"/>
                </a:cubicBezTo>
                <a:cubicBezTo>
                  <a:pt x="1354899" y="258872"/>
                  <a:pt x="2261992" y="826718"/>
                  <a:pt x="3169085" y="1394565"/>
                </a:cubicBezTo>
              </a:path>
            </a:pathLst>
          </a:custGeom>
          <a:ln w="381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5" name="Freeform 24"/>
          <p:cNvSpPr/>
          <p:nvPr/>
        </p:nvSpPr>
        <p:spPr>
          <a:xfrm>
            <a:off x="3482236" y="3240065"/>
            <a:ext cx="2016690" cy="1269305"/>
          </a:xfrm>
          <a:custGeom>
            <a:avLst/>
            <a:gdLst>
              <a:gd name="connsiteX0" fmla="*/ 0 w 2016690"/>
              <a:gd name="connsiteY0" fmla="*/ 342379 h 1269305"/>
              <a:gd name="connsiteX1" fmla="*/ 776613 w 2016690"/>
              <a:gd name="connsiteY1" fmla="*/ 154488 h 1269305"/>
              <a:gd name="connsiteX2" fmla="*/ 2016690 w 2016690"/>
              <a:gd name="connsiteY2" fmla="*/ 1269305 h 1269305"/>
            </a:gdLst>
            <a:ahLst/>
            <a:cxnLst>
              <a:cxn ang="0">
                <a:pos x="connsiteX0" y="connsiteY0"/>
              </a:cxn>
              <a:cxn ang="0">
                <a:pos x="connsiteX1" y="connsiteY1"/>
              </a:cxn>
              <a:cxn ang="0">
                <a:pos x="connsiteX2" y="connsiteY2"/>
              </a:cxn>
            </a:cxnLst>
            <a:rect l="l" t="t" r="r" b="b"/>
            <a:pathLst>
              <a:path w="2016690" h="1269305">
                <a:moveTo>
                  <a:pt x="0" y="342379"/>
                </a:moveTo>
                <a:cubicBezTo>
                  <a:pt x="220249" y="171189"/>
                  <a:pt x="440498" y="0"/>
                  <a:pt x="776613" y="154488"/>
                </a:cubicBezTo>
                <a:cubicBezTo>
                  <a:pt x="1112728" y="308976"/>
                  <a:pt x="1564709" y="789140"/>
                  <a:pt x="2016690" y="1269305"/>
                </a:cubicBezTo>
              </a:path>
            </a:pathLst>
          </a:custGeom>
          <a:ln w="381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9" name="Freeform 28"/>
          <p:cNvSpPr/>
          <p:nvPr/>
        </p:nvSpPr>
        <p:spPr>
          <a:xfrm>
            <a:off x="4622104" y="4196219"/>
            <a:ext cx="864296" cy="1189973"/>
          </a:xfrm>
          <a:custGeom>
            <a:avLst/>
            <a:gdLst>
              <a:gd name="connsiteX0" fmla="*/ 0 w 864296"/>
              <a:gd name="connsiteY0" fmla="*/ 0 h 1189973"/>
              <a:gd name="connsiteX1" fmla="*/ 601249 w 864296"/>
              <a:gd name="connsiteY1" fmla="*/ 601249 h 1189973"/>
              <a:gd name="connsiteX2" fmla="*/ 864296 w 864296"/>
              <a:gd name="connsiteY2" fmla="*/ 1189973 h 1189973"/>
            </a:gdLst>
            <a:ahLst/>
            <a:cxnLst>
              <a:cxn ang="0">
                <a:pos x="connsiteX0" y="connsiteY0"/>
              </a:cxn>
              <a:cxn ang="0">
                <a:pos x="connsiteX1" y="connsiteY1"/>
              </a:cxn>
              <a:cxn ang="0">
                <a:pos x="connsiteX2" y="connsiteY2"/>
              </a:cxn>
            </a:cxnLst>
            <a:rect l="l" t="t" r="r" b="b"/>
            <a:pathLst>
              <a:path w="864296" h="1189973">
                <a:moveTo>
                  <a:pt x="0" y="0"/>
                </a:moveTo>
                <a:cubicBezTo>
                  <a:pt x="228600" y="201460"/>
                  <a:pt x="457200" y="402920"/>
                  <a:pt x="601249" y="601249"/>
                </a:cubicBezTo>
                <a:cubicBezTo>
                  <a:pt x="745298" y="799578"/>
                  <a:pt x="804797" y="994775"/>
                  <a:pt x="864296" y="1189973"/>
                </a:cubicBezTo>
              </a:path>
            </a:pathLst>
          </a:custGeom>
          <a:ln w="381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1953077219"/>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strips(downRight)">
                                      <p:cBhvr>
                                        <p:cTn id="7" dur="500"/>
                                        <p:tgtEl>
                                          <p:spTgt spid="22"/>
                                        </p:tgtEl>
                                      </p:cBhvr>
                                    </p:animEffect>
                                  </p:childTnLst>
                                </p:cTn>
                              </p:par>
                              <p:par>
                                <p:cTn id="8" presetID="18" presetClass="entr" presetSubtype="6" fill="hold" grpId="0"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strips(downRight)">
                                      <p:cBhvr>
                                        <p:cTn id="10" dur="500"/>
                                        <p:tgtEl>
                                          <p:spTgt spid="24"/>
                                        </p:tgtEl>
                                      </p:cBhvr>
                                    </p:animEffect>
                                  </p:childTnLst>
                                </p:cTn>
                              </p:par>
                              <p:par>
                                <p:cTn id="11" presetID="18" presetClass="entr" presetSubtype="6" fill="hold" grpId="0" nodeType="withEffect">
                                  <p:stCondLst>
                                    <p:cond delay="0"/>
                                  </p:stCondLst>
                                  <p:childTnLst>
                                    <p:set>
                                      <p:cBhvr>
                                        <p:cTn id="12" dur="1" fill="hold">
                                          <p:stCondLst>
                                            <p:cond delay="0"/>
                                          </p:stCondLst>
                                        </p:cTn>
                                        <p:tgtEl>
                                          <p:spTgt spid="25"/>
                                        </p:tgtEl>
                                        <p:attrNameLst>
                                          <p:attrName>style.visibility</p:attrName>
                                        </p:attrNameLst>
                                      </p:cBhvr>
                                      <p:to>
                                        <p:strVal val="visible"/>
                                      </p:to>
                                    </p:set>
                                    <p:animEffect transition="in" filter="strips(downRight)">
                                      <p:cBhvr>
                                        <p:cTn id="13" dur="500"/>
                                        <p:tgtEl>
                                          <p:spTgt spid="25"/>
                                        </p:tgtEl>
                                      </p:cBhvr>
                                    </p:animEffect>
                                  </p:childTnLst>
                                </p:cTn>
                              </p:par>
                              <p:par>
                                <p:cTn id="14" presetID="18" presetClass="entr" presetSubtype="6" fill="hold" grpId="0" nodeType="withEffect">
                                  <p:stCondLst>
                                    <p:cond delay="0"/>
                                  </p:stCondLst>
                                  <p:childTnLst>
                                    <p:set>
                                      <p:cBhvr>
                                        <p:cTn id="15" dur="1" fill="hold">
                                          <p:stCondLst>
                                            <p:cond delay="0"/>
                                          </p:stCondLst>
                                        </p:cTn>
                                        <p:tgtEl>
                                          <p:spTgt spid="29"/>
                                        </p:tgtEl>
                                        <p:attrNameLst>
                                          <p:attrName>style.visibility</p:attrName>
                                        </p:attrNameLst>
                                      </p:cBhvr>
                                      <p:to>
                                        <p:strVal val="visible"/>
                                      </p:to>
                                    </p:set>
                                    <p:animEffect transition="in" filter="strips(downRight)">
                                      <p:cBhvr>
                                        <p:cTn id="16" dur="500"/>
                                        <p:tgtEl>
                                          <p:spTgt spid="29"/>
                                        </p:tgtEl>
                                      </p:cBhvr>
                                    </p:animEffect>
                                  </p:childTnLst>
                                </p:cTn>
                              </p:par>
                            </p:childTnLst>
                          </p:cTn>
                        </p:par>
                        <p:par>
                          <p:cTn id="17" fill="hold">
                            <p:stCondLst>
                              <p:cond delay="500"/>
                            </p:stCondLst>
                            <p:childTnLst>
                              <p:par>
                                <p:cTn id="18" presetID="18" presetClass="entr" presetSubtype="6" fill="hold" nodeType="after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strips(downRight)">
                                      <p:cBhvr>
                                        <p:cTn id="20" dur="500"/>
                                        <p:tgtEl>
                                          <p:spTgt spid="18"/>
                                        </p:tgtEl>
                                      </p:cBhvr>
                                    </p:animEffect>
                                  </p:childTnLst>
                                </p:cTn>
                              </p:par>
                            </p:childTnLst>
                          </p:cTn>
                        </p:par>
                        <p:par>
                          <p:cTn id="21" fill="hold">
                            <p:stCondLst>
                              <p:cond delay="1000"/>
                            </p:stCondLst>
                            <p:childTnLst>
                              <p:par>
                                <p:cTn id="22" presetID="18" presetClass="entr" presetSubtype="6" fill="hold" nodeType="after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strips(downRight)">
                                      <p:cBhvr>
                                        <p:cTn id="24" dur="500"/>
                                        <p:tgtEl>
                                          <p:spTgt spid="17"/>
                                        </p:tgtEl>
                                      </p:cBhvr>
                                    </p:animEffect>
                                  </p:childTnLst>
                                </p:cTn>
                              </p:par>
                            </p:childTnLst>
                          </p:cTn>
                        </p:par>
                        <p:par>
                          <p:cTn id="25" fill="hold">
                            <p:stCondLst>
                              <p:cond delay="1500"/>
                            </p:stCondLst>
                            <p:childTnLst>
                              <p:par>
                                <p:cTn id="26" presetID="18" presetClass="entr" presetSubtype="6" fill="hold" nodeType="after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strips(downRight)">
                                      <p:cBhvr>
                                        <p:cTn id="28" dur="500"/>
                                        <p:tgtEl>
                                          <p:spTgt spid="19"/>
                                        </p:tgtEl>
                                      </p:cBhvr>
                                    </p:animEffect>
                                  </p:childTnLst>
                                </p:cTn>
                              </p:par>
                            </p:childTnLst>
                          </p:cTn>
                        </p:par>
                        <p:par>
                          <p:cTn id="29" fill="hold">
                            <p:stCondLst>
                              <p:cond delay="2000"/>
                            </p:stCondLst>
                            <p:childTnLst>
                              <p:par>
                                <p:cTn id="30" presetID="18" presetClass="entr" presetSubtype="6" fill="hold" nodeType="after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strips(downRight)">
                                      <p:cBhvr>
                                        <p:cTn id="3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4" grpId="0" animBg="1"/>
      <p:bldP spid="25" grpId="0" animBg="1"/>
      <p:bldP spid="29"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037" y="-364945"/>
            <a:ext cx="9144000" cy="2034699"/>
          </a:xfrm>
        </p:spPr>
        <p:txBody>
          <a:bodyPr>
            <a:normAutofit/>
          </a:bodyPr>
          <a:lstStyle/>
          <a:p>
            <a:r>
              <a:rPr lang="en-US" sz="3000" dirty="0"/>
              <a:t>An optimal spot can be determined by balancing </a:t>
            </a:r>
            <a:br>
              <a:rPr lang="en-US" sz="3000" dirty="0"/>
            </a:br>
            <a:r>
              <a:rPr lang="en-US" sz="3000" dirty="0">
                <a:solidFill>
                  <a:srgbClr val="FF0000"/>
                </a:solidFill>
              </a:rPr>
              <a:t>row-store</a:t>
            </a:r>
            <a:r>
              <a:rPr lang="en-US" sz="3000" dirty="0"/>
              <a:t> and </a:t>
            </a:r>
            <a:r>
              <a:rPr lang="en-US" sz="3000" dirty="0">
                <a:solidFill>
                  <a:srgbClr val="FF0000"/>
                </a:solidFill>
              </a:rPr>
              <a:t>column-store</a:t>
            </a:r>
          </a:p>
        </p:txBody>
      </p:sp>
      <p:sp>
        <p:nvSpPr>
          <p:cNvPr id="3" name="Content Placeholder 2"/>
          <p:cNvSpPr>
            <a:spLocks noGrp="1"/>
          </p:cNvSpPr>
          <p:nvPr>
            <p:ph idx="1"/>
          </p:nvPr>
        </p:nvSpPr>
        <p:spPr>
          <a:xfrm>
            <a:off x="-24063" y="1143000"/>
            <a:ext cx="9144000" cy="5715000"/>
          </a:xfrm>
        </p:spPr>
        <p:txBody>
          <a:bodyPr>
            <a:normAutofit/>
          </a:bodyPr>
          <a:lstStyle/>
          <a:p>
            <a:pPr marL="0" indent="0">
              <a:buNone/>
            </a:pPr>
            <a:r>
              <a:rPr lang="en-US" dirty="0"/>
              <a:t> </a:t>
            </a:r>
          </a:p>
        </p:txBody>
      </p:sp>
      <p:sp>
        <p:nvSpPr>
          <p:cNvPr id="4" name="Slide Number Placeholder 3"/>
          <p:cNvSpPr>
            <a:spLocks noGrp="1"/>
          </p:cNvSpPr>
          <p:nvPr>
            <p:ph type="sldNum" sz="quarter" idx="12"/>
          </p:nvPr>
        </p:nvSpPr>
        <p:spPr/>
        <p:txBody>
          <a:bodyPr/>
          <a:lstStyle/>
          <a:p>
            <a:fld id="{B6F15528-21DE-4FAA-801E-634DDDAF4B2B}" type="slidenum">
              <a:rPr lang="en-US" smtClean="0"/>
              <a:pPr/>
              <a:t>30</a:t>
            </a:fld>
            <a:endParaRPr lang="en-US" dirty="0"/>
          </a:p>
        </p:txBody>
      </p:sp>
      <p:cxnSp>
        <p:nvCxnSpPr>
          <p:cNvPr id="16" name="Straight Arrow Connector 15"/>
          <p:cNvCxnSpPr/>
          <p:nvPr/>
        </p:nvCxnSpPr>
        <p:spPr>
          <a:xfrm>
            <a:off x="2663992" y="5154162"/>
            <a:ext cx="4724400" cy="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flipV="1">
            <a:off x="2667000" y="1371600"/>
            <a:ext cx="0" cy="381000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14037" y="1555898"/>
            <a:ext cx="2667000" cy="646331"/>
          </a:xfrm>
          <a:prstGeom prst="rect">
            <a:avLst/>
          </a:prstGeom>
          <a:noFill/>
        </p:spPr>
        <p:txBody>
          <a:bodyPr wrap="square" rtlCol="0">
            <a:spAutoFit/>
          </a:bodyPr>
          <a:lstStyle/>
          <a:p>
            <a:r>
              <a:rPr lang="en-US" b="1" dirty="0"/>
              <a:t>Unnecessary I/O transfers</a:t>
            </a:r>
          </a:p>
          <a:p>
            <a:r>
              <a:rPr lang="en-US" b="1" dirty="0"/>
              <a:t>(</a:t>
            </a:r>
            <a:r>
              <a:rPr lang="en-US" b="1" dirty="0" err="1"/>
              <a:t>MBytes</a:t>
            </a:r>
            <a:r>
              <a:rPr lang="en-US" b="1" dirty="0"/>
              <a:t>)</a:t>
            </a:r>
          </a:p>
        </p:txBody>
      </p:sp>
      <p:sp>
        <p:nvSpPr>
          <p:cNvPr id="32" name="TextBox 31"/>
          <p:cNvSpPr txBox="1"/>
          <p:nvPr/>
        </p:nvSpPr>
        <p:spPr>
          <a:xfrm>
            <a:off x="5334000" y="5267275"/>
            <a:ext cx="3200400" cy="646331"/>
          </a:xfrm>
          <a:prstGeom prst="rect">
            <a:avLst/>
          </a:prstGeom>
          <a:noFill/>
        </p:spPr>
        <p:txBody>
          <a:bodyPr wrap="square" rtlCol="0">
            <a:spAutoFit/>
          </a:bodyPr>
          <a:lstStyle/>
          <a:p>
            <a:r>
              <a:rPr lang="en-US" b="1" dirty="0"/>
              <a:t>Unnecessary network transfers</a:t>
            </a:r>
          </a:p>
          <a:p>
            <a:r>
              <a:rPr lang="en-US" b="1" dirty="0"/>
              <a:t>(</a:t>
            </a:r>
            <a:r>
              <a:rPr lang="en-US" b="1" dirty="0" err="1"/>
              <a:t>MBytes</a:t>
            </a:r>
            <a:r>
              <a:rPr lang="en-US" b="1" dirty="0"/>
              <a:t>)</a:t>
            </a:r>
          </a:p>
        </p:txBody>
      </p:sp>
      <p:sp>
        <p:nvSpPr>
          <p:cNvPr id="33" name="Oval 32"/>
          <p:cNvSpPr/>
          <p:nvPr/>
        </p:nvSpPr>
        <p:spPr>
          <a:xfrm>
            <a:off x="2743200" y="1637248"/>
            <a:ext cx="419100" cy="20663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p:cNvSpPr/>
          <p:nvPr/>
        </p:nvSpPr>
        <p:spPr>
          <a:xfrm flipV="1">
            <a:off x="6649453" y="4810619"/>
            <a:ext cx="457200" cy="22859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p:cNvSpPr/>
          <p:nvPr/>
        </p:nvSpPr>
        <p:spPr>
          <a:xfrm>
            <a:off x="3810000" y="4114800"/>
            <a:ext cx="381000" cy="381000"/>
          </a:xfrm>
          <a:prstGeom prst="ellipse">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solidFill>
                <a:srgbClr val="FF0000"/>
              </a:solidFill>
            </a:endParaRPr>
          </a:p>
        </p:txBody>
      </p:sp>
      <p:sp>
        <p:nvSpPr>
          <p:cNvPr id="36" name="TextBox 35"/>
          <p:cNvSpPr txBox="1"/>
          <p:nvPr/>
        </p:nvSpPr>
        <p:spPr>
          <a:xfrm>
            <a:off x="3200400" y="1474549"/>
            <a:ext cx="1219200" cy="369332"/>
          </a:xfrm>
          <a:prstGeom prst="rect">
            <a:avLst/>
          </a:prstGeom>
          <a:noFill/>
        </p:spPr>
        <p:txBody>
          <a:bodyPr wrap="square" rtlCol="0">
            <a:spAutoFit/>
          </a:bodyPr>
          <a:lstStyle/>
          <a:p>
            <a:r>
              <a:rPr lang="en-US" b="1" dirty="0">
                <a:solidFill>
                  <a:srgbClr val="C00000"/>
                </a:solidFill>
              </a:rPr>
              <a:t>Row-store</a:t>
            </a:r>
          </a:p>
        </p:txBody>
      </p:sp>
      <p:sp>
        <p:nvSpPr>
          <p:cNvPr id="37" name="TextBox 36"/>
          <p:cNvSpPr txBox="1"/>
          <p:nvPr/>
        </p:nvSpPr>
        <p:spPr>
          <a:xfrm>
            <a:off x="6268451" y="4441287"/>
            <a:ext cx="1503947" cy="369332"/>
          </a:xfrm>
          <a:prstGeom prst="rect">
            <a:avLst/>
          </a:prstGeom>
          <a:noFill/>
        </p:spPr>
        <p:txBody>
          <a:bodyPr wrap="square" rtlCol="0">
            <a:spAutoFit/>
          </a:bodyPr>
          <a:lstStyle/>
          <a:p>
            <a:r>
              <a:rPr lang="en-US" b="1" dirty="0">
                <a:solidFill>
                  <a:srgbClr val="C00000"/>
                </a:solidFill>
              </a:rPr>
              <a:t>Column-store</a:t>
            </a:r>
          </a:p>
        </p:txBody>
      </p:sp>
      <p:sp>
        <p:nvSpPr>
          <p:cNvPr id="38" name="TextBox 37"/>
          <p:cNvSpPr txBox="1"/>
          <p:nvPr/>
        </p:nvSpPr>
        <p:spPr>
          <a:xfrm>
            <a:off x="4130842" y="3139515"/>
            <a:ext cx="1857582" cy="923330"/>
          </a:xfrm>
          <a:prstGeom prst="rect">
            <a:avLst/>
          </a:prstGeom>
          <a:noFill/>
        </p:spPr>
        <p:txBody>
          <a:bodyPr wrap="square" rtlCol="0">
            <a:spAutoFit/>
          </a:bodyPr>
          <a:lstStyle/>
          <a:p>
            <a:r>
              <a:rPr lang="en-US" b="1" dirty="0" err="1">
                <a:solidFill>
                  <a:srgbClr val="FF0000"/>
                </a:solidFill>
              </a:rPr>
              <a:t>RCFile</a:t>
            </a:r>
            <a:r>
              <a:rPr lang="en-US" b="1" dirty="0">
                <a:solidFill>
                  <a:srgbClr val="FF0000"/>
                </a:solidFill>
              </a:rPr>
              <a:t>: </a:t>
            </a:r>
            <a:r>
              <a:rPr lang="en-US" b="1" dirty="0">
                <a:solidFill>
                  <a:srgbClr val="0070C0"/>
                </a:solidFill>
              </a:rPr>
              <a:t>Combined row-stores and column-store</a:t>
            </a:r>
          </a:p>
        </p:txBody>
      </p:sp>
      <p:sp>
        <p:nvSpPr>
          <p:cNvPr id="44" name="Freeform 43"/>
          <p:cNvSpPr/>
          <p:nvPr/>
        </p:nvSpPr>
        <p:spPr>
          <a:xfrm>
            <a:off x="2887285" y="1843882"/>
            <a:ext cx="4379789" cy="3174304"/>
          </a:xfrm>
          <a:custGeom>
            <a:avLst/>
            <a:gdLst>
              <a:gd name="connsiteX0" fmla="*/ 120610 w 4379789"/>
              <a:gd name="connsiteY0" fmla="*/ 0 h 2948753"/>
              <a:gd name="connsiteX1" fmla="*/ 72483 w 4379789"/>
              <a:gd name="connsiteY1" fmla="*/ 360947 h 2948753"/>
              <a:gd name="connsiteX2" fmla="*/ 974852 w 4379789"/>
              <a:gd name="connsiteY2" fmla="*/ 2105526 h 2948753"/>
              <a:gd name="connsiteX3" fmla="*/ 3922589 w 4379789"/>
              <a:gd name="connsiteY3" fmla="*/ 2899610 h 2948753"/>
              <a:gd name="connsiteX4" fmla="*/ 3922589 w 4379789"/>
              <a:gd name="connsiteY4" fmla="*/ 2863515 h 2948753"/>
              <a:gd name="connsiteX5" fmla="*/ 4379789 w 4379789"/>
              <a:gd name="connsiteY5" fmla="*/ 2863515 h 2948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79789" h="2948753">
                <a:moveTo>
                  <a:pt x="120610" y="0"/>
                </a:moveTo>
                <a:cubicBezTo>
                  <a:pt x="25359" y="5013"/>
                  <a:pt x="-69891" y="10026"/>
                  <a:pt x="72483" y="360947"/>
                </a:cubicBezTo>
                <a:cubicBezTo>
                  <a:pt x="214857" y="711868"/>
                  <a:pt x="333168" y="1682416"/>
                  <a:pt x="974852" y="2105526"/>
                </a:cubicBezTo>
                <a:cubicBezTo>
                  <a:pt x="1616536" y="2528636"/>
                  <a:pt x="3431299" y="2773278"/>
                  <a:pt x="3922589" y="2899610"/>
                </a:cubicBezTo>
                <a:cubicBezTo>
                  <a:pt x="4413879" y="3025942"/>
                  <a:pt x="3846389" y="2869531"/>
                  <a:pt x="3922589" y="2863515"/>
                </a:cubicBezTo>
                <a:cubicBezTo>
                  <a:pt x="3998789" y="2857499"/>
                  <a:pt x="4379789" y="2863515"/>
                  <a:pt x="4379789" y="2863515"/>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extBox 46"/>
          <p:cNvSpPr txBox="1"/>
          <p:nvPr/>
        </p:nvSpPr>
        <p:spPr>
          <a:xfrm>
            <a:off x="14511" y="5208100"/>
            <a:ext cx="5281389" cy="1015663"/>
          </a:xfrm>
          <a:prstGeom prst="rect">
            <a:avLst/>
          </a:prstGeom>
          <a:noFill/>
        </p:spPr>
        <p:txBody>
          <a:bodyPr wrap="square" rtlCol="0">
            <a:spAutoFit/>
          </a:bodyPr>
          <a:lstStyle/>
          <a:p>
            <a:r>
              <a:rPr lang="en-US" sz="2000" b="1" dirty="0">
                <a:solidFill>
                  <a:srgbClr val="C00000"/>
                </a:solidFill>
              </a:rPr>
              <a:t>The function curve depends on the ways of table partitioning in rows and columns, and access patterns of workloads.  </a:t>
            </a:r>
          </a:p>
        </p:txBody>
      </p:sp>
    </p:spTree>
    <p:extLst>
      <p:ext uri="{BB962C8B-B14F-4D97-AF65-F5344CB8AC3E}">
        <p14:creationId xmlns:p14="http://schemas.microsoft.com/office/powerpoint/2010/main" val="134095056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32" grpId="0"/>
      <p:bldP spid="33" grpId="0" animBg="1"/>
      <p:bldP spid="34" grpId="0" animBg="1"/>
      <p:bldP spid="35" grpId="0" animBg="1"/>
      <p:bldP spid="36" grpId="0"/>
      <p:bldP spid="37" grpId="0"/>
      <p:bldP spid="38" grpId="0"/>
      <p:bldP spid="44" grpId="0" animBg="1"/>
      <p:bldP spid="47"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文本框 1"/>
          <p:cNvSpPr txBox="1">
            <a:spLocks noChangeArrowheads="1"/>
          </p:cNvSpPr>
          <p:nvPr/>
        </p:nvSpPr>
        <p:spPr bwMode="auto">
          <a:xfrm>
            <a:off x="-7464425" y="4954588"/>
            <a:ext cx="1857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charset="0"/>
              <a:buChar char="•"/>
              <a:defRPr sz="2800">
                <a:solidFill>
                  <a:schemeClr val="tx1"/>
                </a:solidFill>
                <a:latin typeface="Calibri" charset="0"/>
                <a:ea typeface="宋体" charset="0"/>
              </a:defRPr>
            </a:lvl1pPr>
            <a:lvl2pPr marL="742950" indent="-285750">
              <a:lnSpc>
                <a:spcPct val="90000"/>
              </a:lnSpc>
              <a:spcBef>
                <a:spcPts val="500"/>
              </a:spcBef>
              <a:buFont typeface="Arial" charset="0"/>
              <a:buChar char="•"/>
              <a:defRPr sz="2400">
                <a:solidFill>
                  <a:schemeClr val="tx1"/>
                </a:solidFill>
                <a:latin typeface="Calibri" charset="0"/>
                <a:ea typeface="宋体" charset="0"/>
              </a:defRPr>
            </a:lvl2pPr>
            <a:lvl3pPr marL="1143000" indent="-228600">
              <a:lnSpc>
                <a:spcPct val="90000"/>
              </a:lnSpc>
              <a:spcBef>
                <a:spcPts val="500"/>
              </a:spcBef>
              <a:buFont typeface="Arial" charset="0"/>
              <a:buChar char="•"/>
              <a:defRPr sz="2000">
                <a:solidFill>
                  <a:schemeClr val="tx1"/>
                </a:solidFill>
                <a:latin typeface="Calibri" charset="0"/>
                <a:ea typeface="宋体" charset="0"/>
              </a:defRPr>
            </a:lvl3pPr>
            <a:lvl4pPr marL="1600200" indent="-228600">
              <a:lnSpc>
                <a:spcPct val="90000"/>
              </a:lnSpc>
              <a:spcBef>
                <a:spcPts val="500"/>
              </a:spcBef>
              <a:buFont typeface="Arial" charset="0"/>
              <a:buChar char="•"/>
              <a:defRPr>
                <a:solidFill>
                  <a:schemeClr val="tx1"/>
                </a:solidFill>
                <a:latin typeface="Calibri" charset="0"/>
                <a:ea typeface="宋体" charset="0"/>
              </a:defRPr>
            </a:lvl4pPr>
            <a:lvl5pPr marL="2057400" indent="-228600">
              <a:lnSpc>
                <a:spcPct val="90000"/>
              </a:lnSpc>
              <a:spcBef>
                <a:spcPts val="500"/>
              </a:spcBef>
              <a:buFont typeface="Arial" charset="0"/>
              <a:buChar char="•"/>
              <a:defRPr>
                <a:solidFill>
                  <a:schemeClr val="tx1"/>
                </a:solidFill>
                <a:latin typeface="Calibri" charset="0"/>
                <a:ea typeface="宋体" charset="0"/>
              </a:defRPr>
            </a:lvl5pPr>
            <a:lvl6pPr marL="25146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6pPr>
            <a:lvl7pPr marL="29718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7pPr>
            <a:lvl8pPr marL="34290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8pPr>
            <a:lvl9pPr marL="38862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9pPr>
          </a:lstStyle>
          <a:p>
            <a:pPr>
              <a:lnSpc>
                <a:spcPct val="100000"/>
              </a:lnSpc>
              <a:spcBef>
                <a:spcPct val="0"/>
              </a:spcBef>
              <a:buFontTx/>
              <a:buNone/>
            </a:pPr>
            <a:endParaRPr kumimoji="1" lang="zh-CN" altLang="en-US" sz="1800">
              <a:latin typeface="+mn-lt"/>
            </a:endParaRPr>
          </a:p>
        </p:txBody>
      </p:sp>
      <p:sp>
        <p:nvSpPr>
          <p:cNvPr id="10" name="文本框 9">
            <a:extLst>
              <a:ext uri="{FF2B5EF4-FFF2-40B4-BE49-F238E27FC236}">
                <a16:creationId xmlns:a16="http://schemas.microsoft.com/office/drawing/2014/main" id="{5D53F571-3FE3-414E-8DE9-03044D097F3C}"/>
              </a:ext>
            </a:extLst>
          </p:cNvPr>
          <p:cNvSpPr txBox="1"/>
          <p:nvPr/>
        </p:nvSpPr>
        <p:spPr>
          <a:xfrm>
            <a:off x="654258" y="589775"/>
            <a:ext cx="5289342" cy="523220"/>
          </a:xfrm>
          <a:prstGeom prst="rect">
            <a:avLst/>
          </a:prstGeom>
          <a:noFill/>
        </p:spPr>
        <p:txBody>
          <a:bodyPr wrap="square" rtlCol="0">
            <a:spAutoFit/>
          </a:bodyPr>
          <a:lstStyle/>
          <a:p>
            <a:r>
              <a:rPr kumimoji="1" lang="zh-CN" altLang="en-US" sz="2800" dirty="0">
                <a:latin typeface="Microsoft YaHei" charset="-122"/>
                <a:ea typeface="Microsoft YaHei" charset="-122"/>
                <a:cs typeface="Microsoft YaHei" charset="-122"/>
              </a:rPr>
              <a:t>压缩算法分类</a:t>
            </a:r>
            <a:endParaRPr kumimoji="1" lang="en-US" altLang="zh-CN" sz="2800" dirty="0">
              <a:latin typeface="Microsoft YaHei" charset="-122"/>
              <a:ea typeface="Microsoft YaHei" charset="-122"/>
              <a:cs typeface="Microsoft YaHei" charset="-122"/>
            </a:endParaRPr>
          </a:p>
        </p:txBody>
      </p:sp>
      <p:sp>
        <p:nvSpPr>
          <p:cNvPr id="2" name="文本框 1">
            <a:extLst>
              <a:ext uri="{FF2B5EF4-FFF2-40B4-BE49-F238E27FC236}">
                <a16:creationId xmlns:a16="http://schemas.microsoft.com/office/drawing/2014/main" id="{23ECE091-9D6D-4E9C-B36D-A1262B923BEF}"/>
              </a:ext>
            </a:extLst>
          </p:cNvPr>
          <p:cNvSpPr txBox="1"/>
          <p:nvPr/>
        </p:nvSpPr>
        <p:spPr>
          <a:xfrm>
            <a:off x="4113300" y="3924113"/>
            <a:ext cx="5030699" cy="369332"/>
          </a:xfrm>
          <a:prstGeom prst="rect">
            <a:avLst/>
          </a:prstGeom>
          <a:noFill/>
        </p:spPr>
        <p:txBody>
          <a:bodyPr wrap="square" rtlCol="0">
            <a:spAutoFit/>
          </a:bodyPr>
          <a:lstStyle/>
          <a:p>
            <a:r>
              <a:rPr lang="zh-CN" altLang="en-US" dirty="0"/>
              <a:t>熵编码（</a:t>
            </a:r>
            <a:r>
              <a:rPr lang="en-US" altLang="zh-CN" dirty="0" err="1"/>
              <a:t>eg.</a:t>
            </a:r>
            <a:r>
              <a:rPr lang="en-US" altLang="zh-CN" dirty="0"/>
              <a:t> Huffman</a:t>
            </a:r>
            <a:r>
              <a:rPr lang="zh-CN" altLang="en-US" dirty="0"/>
              <a:t> </a:t>
            </a:r>
            <a:r>
              <a:rPr lang="en-US" altLang="zh-CN" dirty="0"/>
              <a:t>coding</a:t>
            </a:r>
            <a:r>
              <a:rPr lang="zh-CN" altLang="en-US" dirty="0"/>
              <a:t>、</a:t>
            </a:r>
            <a:r>
              <a:rPr lang="en-US" altLang="zh-CN" dirty="0"/>
              <a:t>Arithmetic coding</a:t>
            </a:r>
            <a:r>
              <a:rPr lang="zh-CN" altLang="en-US" dirty="0"/>
              <a:t>）</a:t>
            </a:r>
          </a:p>
        </p:txBody>
      </p:sp>
      <p:sp>
        <p:nvSpPr>
          <p:cNvPr id="8" name="文本框 7">
            <a:extLst>
              <a:ext uri="{FF2B5EF4-FFF2-40B4-BE49-F238E27FC236}">
                <a16:creationId xmlns:a16="http://schemas.microsoft.com/office/drawing/2014/main" id="{601B1B45-5C12-49CB-BD5A-5436CAEE7A88}"/>
              </a:ext>
            </a:extLst>
          </p:cNvPr>
          <p:cNvSpPr txBox="1"/>
          <p:nvPr/>
        </p:nvSpPr>
        <p:spPr>
          <a:xfrm>
            <a:off x="4113302" y="4396724"/>
            <a:ext cx="1150330" cy="369332"/>
          </a:xfrm>
          <a:prstGeom prst="rect">
            <a:avLst/>
          </a:prstGeom>
          <a:noFill/>
        </p:spPr>
        <p:txBody>
          <a:bodyPr wrap="square" rtlCol="0">
            <a:spAutoFit/>
          </a:bodyPr>
          <a:lstStyle/>
          <a:p>
            <a:r>
              <a:rPr lang="zh-CN" altLang="en-US" dirty="0"/>
              <a:t>游程编码</a:t>
            </a:r>
          </a:p>
        </p:txBody>
      </p:sp>
      <p:sp>
        <p:nvSpPr>
          <p:cNvPr id="9" name="文本框 8">
            <a:extLst>
              <a:ext uri="{FF2B5EF4-FFF2-40B4-BE49-F238E27FC236}">
                <a16:creationId xmlns:a16="http://schemas.microsoft.com/office/drawing/2014/main" id="{A068348C-D9D0-4C3C-9C5A-95AAF8400D05}"/>
              </a:ext>
            </a:extLst>
          </p:cNvPr>
          <p:cNvSpPr txBox="1"/>
          <p:nvPr/>
        </p:nvSpPr>
        <p:spPr>
          <a:xfrm>
            <a:off x="4113301" y="4951260"/>
            <a:ext cx="1640285" cy="369332"/>
          </a:xfrm>
          <a:prstGeom prst="rect">
            <a:avLst/>
          </a:prstGeom>
          <a:noFill/>
        </p:spPr>
        <p:txBody>
          <a:bodyPr wrap="square" rtlCol="0">
            <a:spAutoFit/>
          </a:bodyPr>
          <a:lstStyle/>
          <a:p>
            <a:r>
              <a:rPr lang="zh-CN" altLang="en-US" dirty="0"/>
              <a:t>建模预测编码</a:t>
            </a:r>
          </a:p>
        </p:txBody>
      </p:sp>
      <p:sp>
        <p:nvSpPr>
          <p:cNvPr id="4" name="左大括号 3">
            <a:extLst>
              <a:ext uri="{FF2B5EF4-FFF2-40B4-BE49-F238E27FC236}">
                <a16:creationId xmlns:a16="http://schemas.microsoft.com/office/drawing/2014/main" id="{3C2A8C7B-98A8-4910-BA6F-81C1E6907C80}"/>
              </a:ext>
            </a:extLst>
          </p:cNvPr>
          <p:cNvSpPr/>
          <p:nvPr/>
        </p:nvSpPr>
        <p:spPr>
          <a:xfrm>
            <a:off x="3810215" y="3966848"/>
            <a:ext cx="340838" cy="1315092"/>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BEEF89B7-8B22-49B4-B4C0-9C4991B5DBBA}"/>
              </a:ext>
            </a:extLst>
          </p:cNvPr>
          <p:cNvSpPr txBox="1"/>
          <p:nvPr/>
        </p:nvSpPr>
        <p:spPr>
          <a:xfrm>
            <a:off x="2438614" y="4445845"/>
            <a:ext cx="1421935" cy="369332"/>
          </a:xfrm>
          <a:prstGeom prst="rect">
            <a:avLst/>
          </a:prstGeom>
          <a:noFill/>
        </p:spPr>
        <p:txBody>
          <a:bodyPr wrap="square" rtlCol="0">
            <a:spAutoFit/>
          </a:bodyPr>
          <a:lstStyle/>
          <a:p>
            <a:r>
              <a:rPr lang="zh-CN" altLang="en-US" dirty="0"/>
              <a:t>无字典编码</a:t>
            </a:r>
          </a:p>
        </p:txBody>
      </p:sp>
      <p:sp>
        <p:nvSpPr>
          <p:cNvPr id="12" name="文本框 11">
            <a:extLst>
              <a:ext uri="{FF2B5EF4-FFF2-40B4-BE49-F238E27FC236}">
                <a16:creationId xmlns:a16="http://schemas.microsoft.com/office/drawing/2014/main" id="{FA971C72-F54E-4008-BA1B-698FDF93923A}"/>
              </a:ext>
            </a:extLst>
          </p:cNvPr>
          <p:cNvSpPr txBox="1"/>
          <p:nvPr/>
        </p:nvSpPr>
        <p:spPr>
          <a:xfrm>
            <a:off x="2438614" y="3315419"/>
            <a:ext cx="5030699" cy="369332"/>
          </a:xfrm>
          <a:prstGeom prst="rect">
            <a:avLst/>
          </a:prstGeom>
          <a:noFill/>
        </p:spPr>
        <p:txBody>
          <a:bodyPr wrap="square" rtlCol="0">
            <a:spAutoFit/>
          </a:bodyPr>
          <a:lstStyle/>
          <a:p>
            <a:r>
              <a:rPr lang="zh-CN" altLang="en-US" dirty="0"/>
              <a:t>字典编码（</a:t>
            </a:r>
            <a:r>
              <a:rPr lang="en-US" altLang="zh-CN" dirty="0"/>
              <a:t>LZ77</a:t>
            </a:r>
            <a:r>
              <a:rPr lang="zh-CN" altLang="en-US" dirty="0"/>
              <a:t>、</a:t>
            </a:r>
            <a:r>
              <a:rPr lang="en-US" altLang="zh-CN" dirty="0"/>
              <a:t>LZ78</a:t>
            </a:r>
            <a:r>
              <a:rPr lang="zh-CN" altLang="en-US" dirty="0"/>
              <a:t>、</a:t>
            </a:r>
            <a:r>
              <a:rPr lang="en-US" altLang="zh-CN" dirty="0"/>
              <a:t>LZW</a:t>
            </a:r>
            <a:r>
              <a:rPr lang="zh-CN" altLang="en-US" dirty="0"/>
              <a:t>等）</a:t>
            </a:r>
          </a:p>
        </p:txBody>
      </p:sp>
      <p:sp>
        <p:nvSpPr>
          <p:cNvPr id="13" name="左大括号 12">
            <a:extLst>
              <a:ext uri="{FF2B5EF4-FFF2-40B4-BE49-F238E27FC236}">
                <a16:creationId xmlns:a16="http://schemas.microsoft.com/office/drawing/2014/main" id="{AA64CBC9-ECB8-49AB-AF36-8E5E281919D8}"/>
              </a:ext>
            </a:extLst>
          </p:cNvPr>
          <p:cNvSpPr/>
          <p:nvPr/>
        </p:nvSpPr>
        <p:spPr>
          <a:xfrm>
            <a:off x="2114979" y="3407752"/>
            <a:ext cx="340838" cy="1315092"/>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4" name="文本框 13">
            <a:extLst>
              <a:ext uri="{FF2B5EF4-FFF2-40B4-BE49-F238E27FC236}">
                <a16:creationId xmlns:a16="http://schemas.microsoft.com/office/drawing/2014/main" id="{D271AD4B-96B7-454F-9166-78C440BEC045}"/>
              </a:ext>
            </a:extLst>
          </p:cNvPr>
          <p:cNvSpPr txBox="1"/>
          <p:nvPr/>
        </p:nvSpPr>
        <p:spPr>
          <a:xfrm>
            <a:off x="1015644" y="3924113"/>
            <a:ext cx="1139679" cy="369332"/>
          </a:xfrm>
          <a:prstGeom prst="rect">
            <a:avLst/>
          </a:prstGeom>
          <a:noFill/>
        </p:spPr>
        <p:txBody>
          <a:bodyPr wrap="square" rtlCol="0">
            <a:spAutoFit/>
          </a:bodyPr>
          <a:lstStyle/>
          <a:p>
            <a:r>
              <a:rPr lang="zh-CN" altLang="en-US" dirty="0"/>
              <a:t>无损压缩</a:t>
            </a:r>
          </a:p>
        </p:txBody>
      </p:sp>
      <p:sp>
        <p:nvSpPr>
          <p:cNvPr id="15" name="文本框 14">
            <a:extLst>
              <a:ext uri="{FF2B5EF4-FFF2-40B4-BE49-F238E27FC236}">
                <a16:creationId xmlns:a16="http://schemas.microsoft.com/office/drawing/2014/main" id="{3467711E-C8F7-42CF-8066-078344ADE7CD}"/>
              </a:ext>
            </a:extLst>
          </p:cNvPr>
          <p:cNvSpPr txBox="1"/>
          <p:nvPr/>
        </p:nvSpPr>
        <p:spPr>
          <a:xfrm>
            <a:off x="1015644" y="2106608"/>
            <a:ext cx="7745584" cy="369332"/>
          </a:xfrm>
          <a:prstGeom prst="rect">
            <a:avLst/>
          </a:prstGeom>
          <a:noFill/>
        </p:spPr>
        <p:txBody>
          <a:bodyPr wrap="square" rtlCol="0">
            <a:spAutoFit/>
          </a:bodyPr>
          <a:lstStyle/>
          <a:p>
            <a:r>
              <a:rPr lang="zh-CN" altLang="en-US" dirty="0"/>
              <a:t>有损压缩（</a:t>
            </a:r>
            <a:r>
              <a:rPr lang="zh-CN" altLang="zh-CN" dirty="0"/>
              <a:t>放弃了很多必要数据的存储</a:t>
            </a:r>
            <a:r>
              <a:rPr lang="zh-CN" altLang="en-US" dirty="0"/>
              <a:t>、</a:t>
            </a:r>
            <a:r>
              <a:rPr lang="zh-CN" altLang="zh-CN" dirty="0"/>
              <a:t>不可能被还原</a:t>
            </a:r>
            <a:r>
              <a:rPr lang="zh-CN" altLang="en-US" dirty="0"/>
              <a:t>）</a:t>
            </a:r>
          </a:p>
        </p:txBody>
      </p:sp>
      <p:sp>
        <p:nvSpPr>
          <p:cNvPr id="16" name="左大括号 15">
            <a:extLst>
              <a:ext uri="{FF2B5EF4-FFF2-40B4-BE49-F238E27FC236}">
                <a16:creationId xmlns:a16="http://schemas.microsoft.com/office/drawing/2014/main" id="{A1090755-5BBA-4F1C-AACC-178342D651D2}"/>
              </a:ext>
            </a:extLst>
          </p:cNvPr>
          <p:cNvSpPr/>
          <p:nvPr/>
        </p:nvSpPr>
        <p:spPr>
          <a:xfrm>
            <a:off x="674806" y="2224149"/>
            <a:ext cx="340838" cy="195639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extLst>
      <p:ext uri="{BB962C8B-B14F-4D97-AF65-F5344CB8AC3E}">
        <p14:creationId xmlns:p14="http://schemas.microsoft.com/office/powerpoint/2010/main" val="3162794081"/>
      </p:ext>
    </p:extLst>
  </p:cSld>
  <p:clrMapOvr>
    <a:masterClrMapping/>
  </p:clrMapOvr>
  <p:transition spd="med">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文本框 1"/>
          <p:cNvSpPr txBox="1">
            <a:spLocks noChangeArrowheads="1"/>
          </p:cNvSpPr>
          <p:nvPr/>
        </p:nvSpPr>
        <p:spPr bwMode="auto">
          <a:xfrm>
            <a:off x="-7464425" y="4954588"/>
            <a:ext cx="1857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charset="0"/>
              <a:buChar char="•"/>
              <a:defRPr sz="2800">
                <a:solidFill>
                  <a:schemeClr val="tx1"/>
                </a:solidFill>
                <a:latin typeface="Calibri" charset="0"/>
                <a:ea typeface="宋体" charset="0"/>
              </a:defRPr>
            </a:lvl1pPr>
            <a:lvl2pPr marL="742950" indent="-285750">
              <a:lnSpc>
                <a:spcPct val="90000"/>
              </a:lnSpc>
              <a:spcBef>
                <a:spcPts val="500"/>
              </a:spcBef>
              <a:buFont typeface="Arial" charset="0"/>
              <a:buChar char="•"/>
              <a:defRPr sz="2400">
                <a:solidFill>
                  <a:schemeClr val="tx1"/>
                </a:solidFill>
                <a:latin typeface="Calibri" charset="0"/>
                <a:ea typeface="宋体" charset="0"/>
              </a:defRPr>
            </a:lvl2pPr>
            <a:lvl3pPr marL="1143000" indent="-228600">
              <a:lnSpc>
                <a:spcPct val="90000"/>
              </a:lnSpc>
              <a:spcBef>
                <a:spcPts val="500"/>
              </a:spcBef>
              <a:buFont typeface="Arial" charset="0"/>
              <a:buChar char="•"/>
              <a:defRPr sz="2000">
                <a:solidFill>
                  <a:schemeClr val="tx1"/>
                </a:solidFill>
                <a:latin typeface="Calibri" charset="0"/>
                <a:ea typeface="宋体" charset="0"/>
              </a:defRPr>
            </a:lvl3pPr>
            <a:lvl4pPr marL="1600200" indent="-228600">
              <a:lnSpc>
                <a:spcPct val="90000"/>
              </a:lnSpc>
              <a:spcBef>
                <a:spcPts val="500"/>
              </a:spcBef>
              <a:buFont typeface="Arial" charset="0"/>
              <a:buChar char="•"/>
              <a:defRPr>
                <a:solidFill>
                  <a:schemeClr val="tx1"/>
                </a:solidFill>
                <a:latin typeface="Calibri" charset="0"/>
                <a:ea typeface="宋体" charset="0"/>
              </a:defRPr>
            </a:lvl4pPr>
            <a:lvl5pPr marL="2057400" indent="-228600">
              <a:lnSpc>
                <a:spcPct val="90000"/>
              </a:lnSpc>
              <a:spcBef>
                <a:spcPts val="500"/>
              </a:spcBef>
              <a:buFont typeface="Arial" charset="0"/>
              <a:buChar char="•"/>
              <a:defRPr>
                <a:solidFill>
                  <a:schemeClr val="tx1"/>
                </a:solidFill>
                <a:latin typeface="Calibri" charset="0"/>
                <a:ea typeface="宋体" charset="0"/>
              </a:defRPr>
            </a:lvl5pPr>
            <a:lvl6pPr marL="25146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6pPr>
            <a:lvl7pPr marL="29718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7pPr>
            <a:lvl8pPr marL="34290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8pPr>
            <a:lvl9pPr marL="38862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9pPr>
          </a:lstStyle>
          <a:p>
            <a:pPr>
              <a:lnSpc>
                <a:spcPct val="100000"/>
              </a:lnSpc>
              <a:spcBef>
                <a:spcPct val="0"/>
              </a:spcBef>
              <a:buFontTx/>
              <a:buNone/>
            </a:pPr>
            <a:endParaRPr kumimoji="1" lang="zh-CN" altLang="en-US" sz="1800">
              <a:latin typeface="+mn-lt"/>
            </a:endParaRPr>
          </a:p>
        </p:txBody>
      </p:sp>
      <p:sp>
        <p:nvSpPr>
          <p:cNvPr id="10" name="文本框 9">
            <a:extLst>
              <a:ext uri="{FF2B5EF4-FFF2-40B4-BE49-F238E27FC236}">
                <a16:creationId xmlns:a16="http://schemas.microsoft.com/office/drawing/2014/main" id="{5D53F571-3FE3-414E-8DE9-03044D097F3C}"/>
              </a:ext>
            </a:extLst>
          </p:cNvPr>
          <p:cNvSpPr txBox="1"/>
          <p:nvPr/>
        </p:nvSpPr>
        <p:spPr>
          <a:xfrm>
            <a:off x="654258" y="589775"/>
            <a:ext cx="5289342" cy="523220"/>
          </a:xfrm>
          <a:prstGeom prst="rect">
            <a:avLst/>
          </a:prstGeom>
          <a:noFill/>
        </p:spPr>
        <p:txBody>
          <a:bodyPr wrap="square" rtlCol="0">
            <a:spAutoFit/>
          </a:bodyPr>
          <a:lstStyle/>
          <a:p>
            <a:r>
              <a:rPr kumimoji="1" lang="zh-CN" altLang="en-US" sz="2800" dirty="0">
                <a:latin typeface="Microsoft YaHei" charset="-122"/>
                <a:ea typeface="Microsoft YaHei" charset="-122"/>
                <a:cs typeface="Microsoft YaHei" charset="-122"/>
              </a:rPr>
              <a:t>字典编码</a:t>
            </a:r>
            <a:r>
              <a:rPr kumimoji="1" lang="en-US" altLang="zh-CN" sz="2800" dirty="0">
                <a:latin typeface="Microsoft YaHei" charset="-122"/>
                <a:ea typeface="Microsoft YaHei" charset="-122"/>
                <a:cs typeface="Microsoft YaHei" charset="-122"/>
              </a:rPr>
              <a:t>LZ77-</a:t>
            </a:r>
            <a:r>
              <a:rPr kumimoji="1" lang="zh-CN" altLang="en-US" sz="2800" dirty="0">
                <a:latin typeface="Microsoft YaHei" charset="-122"/>
                <a:ea typeface="Microsoft YaHei" charset="-122"/>
                <a:cs typeface="Microsoft YaHei" charset="-122"/>
              </a:rPr>
              <a:t>滑动窗机制</a:t>
            </a:r>
            <a:endParaRPr kumimoji="1" lang="en-US" altLang="zh-CN" sz="2800" dirty="0">
              <a:latin typeface="Microsoft YaHei" charset="-122"/>
              <a:ea typeface="Microsoft YaHei" charset="-122"/>
              <a:cs typeface="Microsoft YaHei" charset="-122"/>
            </a:endParaRPr>
          </a:p>
        </p:txBody>
      </p:sp>
      <p:pic>
        <p:nvPicPr>
          <p:cNvPr id="6" name="图片 5">
            <a:extLst>
              <a:ext uri="{FF2B5EF4-FFF2-40B4-BE49-F238E27FC236}">
                <a16:creationId xmlns:a16="http://schemas.microsoft.com/office/drawing/2014/main" id="{C0ECD4FE-B02F-4649-BF42-307D5D03E35F}"/>
              </a:ext>
            </a:extLst>
          </p:cNvPr>
          <p:cNvPicPr/>
          <p:nvPr/>
        </p:nvPicPr>
        <p:blipFill>
          <a:blip r:embed="rId3">
            <a:extLst>
              <a:ext uri="{28A0092B-C50C-407E-A947-70E740481C1C}">
                <a14:useLocalDpi xmlns:a14="http://schemas.microsoft.com/office/drawing/2010/main" val="0"/>
              </a:ext>
            </a:extLst>
          </a:blip>
          <a:stretch>
            <a:fillRect/>
          </a:stretch>
        </p:blipFill>
        <p:spPr>
          <a:xfrm>
            <a:off x="1889760" y="1543346"/>
            <a:ext cx="4053840" cy="610235"/>
          </a:xfrm>
          <a:prstGeom prst="rect">
            <a:avLst/>
          </a:prstGeom>
        </p:spPr>
      </p:pic>
      <p:pic>
        <p:nvPicPr>
          <p:cNvPr id="7" name="图片 6">
            <a:extLst>
              <a:ext uri="{FF2B5EF4-FFF2-40B4-BE49-F238E27FC236}">
                <a16:creationId xmlns:a16="http://schemas.microsoft.com/office/drawing/2014/main" id="{0E8D4B6F-CB1F-42FD-9BCB-62C6E4F6F2F6}"/>
              </a:ext>
            </a:extLst>
          </p:cNvPr>
          <p:cNvPicPr/>
          <p:nvPr/>
        </p:nvPicPr>
        <p:blipFill>
          <a:blip r:embed="rId4"/>
          <a:stretch>
            <a:fillRect/>
          </a:stretch>
        </p:blipFill>
        <p:spPr>
          <a:xfrm>
            <a:off x="1392961" y="2703854"/>
            <a:ext cx="4537075" cy="1663065"/>
          </a:xfrm>
          <a:prstGeom prst="rect">
            <a:avLst/>
          </a:prstGeom>
        </p:spPr>
      </p:pic>
      <p:sp>
        <p:nvSpPr>
          <p:cNvPr id="2" name="文本框 1">
            <a:extLst>
              <a:ext uri="{FF2B5EF4-FFF2-40B4-BE49-F238E27FC236}">
                <a16:creationId xmlns:a16="http://schemas.microsoft.com/office/drawing/2014/main" id="{017E1061-E825-4E49-8A07-EBA4FB0FD3CF}"/>
              </a:ext>
            </a:extLst>
          </p:cNvPr>
          <p:cNvSpPr txBox="1"/>
          <p:nvPr/>
        </p:nvSpPr>
        <p:spPr>
          <a:xfrm>
            <a:off x="5993735" y="2516586"/>
            <a:ext cx="2583807" cy="584775"/>
          </a:xfrm>
          <a:prstGeom prst="rect">
            <a:avLst/>
          </a:prstGeom>
          <a:noFill/>
        </p:spPr>
        <p:txBody>
          <a:bodyPr wrap="square" rtlCol="0">
            <a:spAutoFit/>
          </a:bodyPr>
          <a:lstStyle/>
          <a:p>
            <a:r>
              <a:rPr lang="zh-CN" altLang="zh-CN" sz="1600" dirty="0"/>
              <a:t>三元组（偏移量</a:t>
            </a:r>
            <a:r>
              <a:rPr lang="en-US" altLang="zh-CN" sz="1600" dirty="0"/>
              <a:t>off</a:t>
            </a:r>
            <a:r>
              <a:rPr lang="zh-CN" altLang="zh-CN" sz="1600" dirty="0"/>
              <a:t>，匹配长度</a:t>
            </a:r>
            <a:r>
              <a:rPr lang="en-US" altLang="zh-CN" sz="1600" dirty="0"/>
              <a:t>length</a:t>
            </a:r>
            <a:r>
              <a:rPr lang="zh-CN" altLang="zh-CN" sz="1600" dirty="0"/>
              <a:t>，下个字符</a:t>
            </a:r>
            <a:r>
              <a:rPr lang="en-US" altLang="zh-CN" sz="1600" dirty="0"/>
              <a:t>c</a:t>
            </a:r>
            <a:r>
              <a:rPr lang="zh-CN" altLang="zh-CN" sz="1600" dirty="0"/>
              <a:t>）</a:t>
            </a:r>
            <a:endParaRPr lang="zh-CN" altLang="en-US" sz="1600" dirty="0"/>
          </a:p>
        </p:txBody>
      </p:sp>
      <p:sp>
        <p:nvSpPr>
          <p:cNvPr id="4" name="文本框 3">
            <a:extLst>
              <a:ext uri="{FF2B5EF4-FFF2-40B4-BE49-F238E27FC236}">
                <a16:creationId xmlns:a16="http://schemas.microsoft.com/office/drawing/2014/main" id="{048D71C8-C501-44BB-95C3-A2B694CB9930}"/>
              </a:ext>
            </a:extLst>
          </p:cNvPr>
          <p:cNvSpPr txBox="1"/>
          <p:nvPr/>
        </p:nvSpPr>
        <p:spPr>
          <a:xfrm>
            <a:off x="1488558" y="4869712"/>
            <a:ext cx="6209414" cy="369332"/>
          </a:xfrm>
          <a:prstGeom prst="rect">
            <a:avLst/>
          </a:prstGeom>
          <a:noFill/>
        </p:spPr>
        <p:txBody>
          <a:bodyPr wrap="square" rtlCol="0">
            <a:spAutoFit/>
          </a:bodyPr>
          <a:lstStyle/>
          <a:p>
            <a:r>
              <a:rPr lang="zh-CN" altLang="zh-CN" dirty="0"/>
              <a:t>解压过程就是不断地读取三元组并还原的过程</a:t>
            </a:r>
            <a:endParaRPr lang="zh-CN" altLang="en-US" dirty="0"/>
          </a:p>
        </p:txBody>
      </p:sp>
    </p:spTree>
    <p:extLst>
      <p:ext uri="{BB962C8B-B14F-4D97-AF65-F5344CB8AC3E}">
        <p14:creationId xmlns:p14="http://schemas.microsoft.com/office/powerpoint/2010/main" val="3058343138"/>
      </p:ext>
    </p:extLst>
  </p:cSld>
  <p:clrMapOvr>
    <a:masterClrMapping/>
  </p:clrMapOvr>
  <p:transition spd="med">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文本框 1"/>
          <p:cNvSpPr txBox="1">
            <a:spLocks noChangeArrowheads="1"/>
          </p:cNvSpPr>
          <p:nvPr/>
        </p:nvSpPr>
        <p:spPr bwMode="auto">
          <a:xfrm>
            <a:off x="-7464425" y="4954588"/>
            <a:ext cx="1857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charset="0"/>
              <a:buChar char="•"/>
              <a:defRPr sz="2800">
                <a:solidFill>
                  <a:schemeClr val="tx1"/>
                </a:solidFill>
                <a:latin typeface="Calibri" charset="0"/>
                <a:ea typeface="宋体" charset="0"/>
              </a:defRPr>
            </a:lvl1pPr>
            <a:lvl2pPr marL="742950" indent="-285750">
              <a:lnSpc>
                <a:spcPct val="90000"/>
              </a:lnSpc>
              <a:spcBef>
                <a:spcPts val="500"/>
              </a:spcBef>
              <a:buFont typeface="Arial" charset="0"/>
              <a:buChar char="•"/>
              <a:defRPr sz="2400">
                <a:solidFill>
                  <a:schemeClr val="tx1"/>
                </a:solidFill>
                <a:latin typeface="Calibri" charset="0"/>
                <a:ea typeface="宋体" charset="0"/>
              </a:defRPr>
            </a:lvl2pPr>
            <a:lvl3pPr marL="1143000" indent="-228600">
              <a:lnSpc>
                <a:spcPct val="90000"/>
              </a:lnSpc>
              <a:spcBef>
                <a:spcPts val="500"/>
              </a:spcBef>
              <a:buFont typeface="Arial" charset="0"/>
              <a:buChar char="•"/>
              <a:defRPr sz="2000">
                <a:solidFill>
                  <a:schemeClr val="tx1"/>
                </a:solidFill>
                <a:latin typeface="Calibri" charset="0"/>
                <a:ea typeface="宋体" charset="0"/>
              </a:defRPr>
            </a:lvl3pPr>
            <a:lvl4pPr marL="1600200" indent="-228600">
              <a:lnSpc>
                <a:spcPct val="90000"/>
              </a:lnSpc>
              <a:spcBef>
                <a:spcPts val="500"/>
              </a:spcBef>
              <a:buFont typeface="Arial" charset="0"/>
              <a:buChar char="•"/>
              <a:defRPr>
                <a:solidFill>
                  <a:schemeClr val="tx1"/>
                </a:solidFill>
                <a:latin typeface="Calibri" charset="0"/>
                <a:ea typeface="宋体" charset="0"/>
              </a:defRPr>
            </a:lvl4pPr>
            <a:lvl5pPr marL="2057400" indent="-228600">
              <a:lnSpc>
                <a:spcPct val="90000"/>
              </a:lnSpc>
              <a:spcBef>
                <a:spcPts val="500"/>
              </a:spcBef>
              <a:buFont typeface="Arial" charset="0"/>
              <a:buChar char="•"/>
              <a:defRPr>
                <a:solidFill>
                  <a:schemeClr val="tx1"/>
                </a:solidFill>
                <a:latin typeface="Calibri" charset="0"/>
                <a:ea typeface="宋体" charset="0"/>
              </a:defRPr>
            </a:lvl5pPr>
            <a:lvl6pPr marL="25146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6pPr>
            <a:lvl7pPr marL="29718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7pPr>
            <a:lvl8pPr marL="34290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8pPr>
            <a:lvl9pPr marL="38862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9pPr>
          </a:lstStyle>
          <a:p>
            <a:pPr>
              <a:lnSpc>
                <a:spcPct val="100000"/>
              </a:lnSpc>
              <a:spcBef>
                <a:spcPct val="0"/>
              </a:spcBef>
              <a:buFontTx/>
              <a:buNone/>
            </a:pPr>
            <a:endParaRPr kumimoji="1" lang="zh-CN" altLang="en-US" sz="1800">
              <a:latin typeface="+mn-lt"/>
            </a:endParaRPr>
          </a:p>
        </p:txBody>
      </p:sp>
      <p:sp>
        <p:nvSpPr>
          <p:cNvPr id="10" name="文本框 9">
            <a:extLst>
              <a:ext uri="{FF2B5EF4-FFF2-40B4-BE49-F238E27FC236}">
                <a16:creationId xmlns:a16="http://schemas.microsoft.com/office/drawing/2014/main" id="{5D53F571-3FE3-414E-8DE9-03044D097F3C}"/>
              </a:ext>
            </a:extLst>
          </p:cNvPr>
          <p:cNvSpPr txBox="1"/>
          <p:nvPr/>
        </p:nvSpPr>
        <p:spPr>
          <a:xfrm>
            <a:off x="654258" y="589775"/>
            <a:ext cx="5289342" cy="523220"/>
          </a:xfrm>
          <a:prstGeom prst="rect">
            <a:avLst/>
          </a:prstGeom>
          <a:noFill/>
        </p:spPr>
        <p:txBody>
          <a:bodyPr wrap="square" rtlCol="0">
            <a:spAutoFit/>
          </a:bodyPr>
          <a:lstStyle/>
          <a:p>
            <a:r>
              <a:rPr kumimoji="1" lang="zh-CN" altLang="en-US" sz="2800" dirty="0">
                <a:latin typeface="Microsoft YaHei" charset="-122"/>
                <a:ea typeface="Microsoft YaHei" charset="-122"/>
                <a:cs typeface="Microsoft YaHei" charset="-122"/>
              </a:rPr>
              <a:t>字典编码</a:t>
            </a:r>
            <a:r>
              <a:rPr kumimoji="1" lang="en-US" altLang="zh-CN" sz="2800" dirty="0">
                <a:latin typeface="Microsoft YaHei" charset="-122"/>
                <a:ea typeface="Microsoft YaHei" charset="-122"/>
                <a:cs typeface="Microsoft YaHei" charset="-122"/>
              </a:rPr>
              <a:t>LZ78-</a:t>
            </a:r>
            <a:r>
              <a:rPr kumimoji="1" lang="zh-CN" altLang="en-US" sz="2800" dirty="0">
                <a:latin typeface="Microsoft YaHei" charset="-122"/>
                <a:ea typeface="Microsoft YaHei" charset="-122"/>
                <a:cs typeface="Microsoft YaHei" charset="-122"/>
              </a:rPr>
              <a:t>字符串字典机制</a:t>
            </a:r>
            <a:endParaRPr kumimoji="1" lang="en-US" altLang="zh-CN" sz="2800" dirty="0">
              <a:latin typeface="Microsoft YaHei" charset="-122"/>
              <a:ea typeface="Microsoft YaHei" charset="-122"/>
              <a:cs typeface="Microsoft YaHei" charset="-122"/>
            </a:endParaRPr>
          </a:p>
        </p:txBody>
      </p:sp>
      <p:sp>
        <p:nvSpPr>
          <p:cNvPr id="2" name="文本框 1">
            <a:extLst>
              <a:ext uri="{FF2B5EF4-FFF2-40B4-BE49-F238E27FC236}">
                <a16:creationId xmlns:a16="http://schemas.microsoft.com/office/drawing/2014/main" id="{D83849A2-6B27-498A-9F56-BCC4D4F4BBFA}"/>
              </a:ext>
            </a:extLst>
          </p:cNvPr>
          <p:cNvSpPr txBox="1"/>
          <p:nvPr/>
        </p:nvSpPr>
        <p:spPr>
          <a:xfrm>
            <a:off x="265814" y="1446028"/>
            <a:ext cx="8676167" cy="875881"/>
          </a:xfrm>
          <a:prstGeom prst="rect">
            <a:avLst/>
          </a:prstGeom>
          <a:noFill/>
        </p:spPr>
        <p:txBody>
          <a:bodyPr wrap="square" rtlCol="0">
            <a:spAutoFit/>
          </a:bodyPr>
          <a:lstStyle/>
          <a:p>
            <a:pPr>
              <a:lnSpc>
                <a:spcPct val="150000"/>
              </a:lnSpc>
            </a:pPr>
            <a:r>
              <a:rPr lang="zh-CN" altLang="en-US" dirty="0">
                <a:latin typeface="Times New Roman" panose="02020603050405020304" pitchFamily="18" charset="0"/>
                <a:cs typeface="Times New Roman" panose="02020603050405020304" pitchFamily="18" charset="0"/>
              </a:rPr>
              <a:t>以“</a:t>
            </a:r>
            <a:r>
              <a:rPr lang="en-US" altLang="zh-CN" dirty="0">
                <a:latin typeface="Times New Roman" panose="02020603050405020304" pitchFamily="18" charset="0"/>
                <a:cs typeface="Times New Roman" panose="02020603050405020304" pitchFamily="18" charset="0"/>
              </a:rPr>
              <a:t>the˽theory˽was˽proposed˽by˽1949</a:t>
            </a:r>
            <a:r>
              <a:rPr lang="zh-CN" altLang="en-US" dirty="0">
                <a:latin typeface="Times New Roman" panose="02020603050405020304" pitchFamily="18" charset="0"/>
                <a:cs typeface="Times New Roman" panose="02020603050405020304" pitchFamily="18" charset="0"/>
              </a:rPr>
              <a:t>”为例</a:t>
            </a:r>
            <a:endParaRPr lang="zh-CN" altLang="zh-CN" dirty="0">
              <a:latin typeface="Times New Roman" panose="02020603050405020304" pitchFamily="18" charset="0"/>
              <a:cs typeface="Times New Roman" panose="02020603050405020304" pitchFamily="18" charset="0"/>
            </a:endParaRPr>
          </a:p>
          <a:p>
            <a:pPr>
              <a:lnSpc>
                <a:spcPct val="150000"/>
              </a:lnSpc>
            </a:pPr>
            <a:r>
              <a:rPr lang="zh-CN" altLang="zh-CN" dirty="0"/>
              <a:t>编码器输出二元组（字典中匹配字符串的位置信息，新字符串之后的第一个字符）</a:t>
            </a:r>
            <a:endParaRPr lang="zh-CN" altLang="en-US" dirty="0"/>
          </a:p>
        </p:txBody>
      </p:sp>
      <p:graphicFrame>
        <p:nvGraphicFramePr>
          <p:cNvPr id="3" name="表格 3">
            <a:extLst>
              <a:ext uri="{FF2B5EF4-FFF2-40B4-BE49-F238E27FC236}">
                <a16:creationId xmlns:a16="http://schemas.microsoft.com/office/drawing/2014/main" id="{50A3727B-B4E6-4B12-8486-7892C3E2E5D9}"/>
              </a:ext>
            </a:extLst>
          </p:cNvPr>
          <p:cNvGraphicFramePr>
            <a:graphicFrameLocks noGrp="1"/>
          </p:cNvGraphicFramePr>
          <p:nvPr>
            <p:extLst>
              <p:ext uri="{D42A27DB-BD31-4B8C-83A1-F6EECF244321}">
                <p14:modId xmlns:p14="http://schemas.microsoft.com/office/powerpoint/2010/main" val="296642067"/>
              </p:ext>
            </p:extLst>
          </p:nvPr>
        </p:nvGraphicFramePr>
        <p:xfrm>
          <a:off x="1555898" y="2654942"/>
          <a:ext cx="6095997" cy="1381760"/>
        </p:xfrm>
        <a:graphic>
          <a:graphicData uri="http://schemas.openxmlformats.org/drawingml/2006/table">
            <a:tbl>
              <a:tblPr firstRow="1" bandRow="1">
                <a:tableStyleId>{5C22544A-7EE6-4342-B048-85BDC9FD1C3A}</a:tableStyleId>
              </a:tblPr>
              <a:tblGrid>
                <a:gridCol w="677333">
                  <a:extLst>
                    <a:ext uri="{9D8B030D-6E8A-4147-A177-3AD203B41FA5}">
                      <a16:colId xmlns:a16="http://schemas.microsoft.com/office/drawing/2014/main" val="3652149909"/>
                    </a:ext>
                  </a:extLst>
                </a:gridCol>
                <a:gridCol w="677333">
                  <a:extLst>
                    <a:ext uri="{9D8B030D-6E8A-4147-A177-3AD203B41FA5}">
                      <a16:colId xmlns:a16="http://schemas.microsoft.com/office/drawing/2014/main" val="566550758"/>
                    </a:ext>
                  </a:extLst>
                </a:gridCol>
                <a:gridCol w="677333">
                  <a:extLst>
                    <a:ext uri="{9D8B030D-6E8A-4147-A177-3AD203B41FA5}">
                      <a16:colId xmlns:a16="http://schemas.microsoft.com/office/drawing/2014/main" val="128290677"/>
                    </a:ext>
                  </a:extLst>
                </a:gridCol>
                <a:gridCol w="677333">
                  <a:extLst>
                    <a:ext uri="{9D8B030D-6E8A-4147-A177-3AD203B41FA5}">
                      <a16:colId xmlns:a16="http://schemas.microsoft.com/office/drawing/2014/main" val="4292524581"/>
                    </a:ext>
                  </a:extLst>
                </a:gridCol>
                <a:gridCol w="677333">
                  <a:extLst>
                    <a:ext uri="{9D8B030D-6E8A-4147-A177-3AD203B41FA5}">
                      <a16:colId xmlns:a16="http://schemas.microsoft.com/office/drawing/2014/main" val="1310905476"/>
                    </a:ext>
                  </a:extLst>
                </a:gridCol>
                <a:gridCol w="677333">
                  <a:extLst>
                    <a:ext uri="{9D8B030D-6E8A-4147-A177-3AD203B41FA5}">
                      <a16:colId xmlns:a16="http://schemas.microsoft.com/office/drawing/2014/main" val="3522859695"/>
                    </a:ext>
                  </a:extLst>
                </a:gridCol>
                <a:gridCol w="677333">
                  <a:extLst>
                    <a:ext uri="{9D8B030D-6E8A-4147-A177-3AD203B41FA5}">
                      <a16:colId xmlns:a16="http://schemas.microsoft.com/office/drawing/2014/main" val="1908854556"/>
                    </a:ext>
                  </a:extLst>
                </a:gridCol>
                <a:gridCol w="677333">
                  <a:extLst>
                    <a:ext uri="{9D8B030D-6E8A-4147-A177-3AD203B41FA5}">
                      <a16:colId xmlns:a16="http://schemas.microsoft.com/office/drawing/2014/main" val="2247261894"/>
                    </a:ext>
                  </a:extLst>
                </a:gridCol>
                <a:gridCol w="677333">
                  <a:extLst>
                    <a:ext uri="{9D8B030D-6E8A-4147-A177-3AD203B41FA5}">
                      <a16:colId xmlns:a16="http://schemas.microsoft.com/office/drawing/2014/main" val="262007793"/>
                    </a:ext>
                  </a:extLst>
                </a:gridCol>
              </a:tblGrid>
              <a:tr h="370840">
                <a:tc>
                  <a:txBody>
                    <a:bodyPr/>
                    <a:lstStyle/>
                    <a:p>
                      <a:r>
                        <a:rPr lang="zh-CN" altLang="en-US" dirty="0"/>
                        <a:t>索引</a:t>
                      </a:r>
                    </a:p>
                  </a:txBody>
                  <a:tcPr/>
                </a:tc>
                <a:tc>
                  <a:txBody>
                    <a:bodyPr/>
                    <a:lstStyle/>
                    <a:p>
                      <a:r>
                        <a:rPr lang="en-US" altLang="zh-CN" dirty="0"/>
                        <a:t>0</a:t>
                      </a:r>
                      <a:endParaRPr lang="zh-CN" altLang="en-US" dirty="0"/>
                    </a:p>
                  </a:txBody>
                  <a:tcPr/>
                </a:tc>
                <a:tc>
                  <a:txBody>
                    <a:bodyPr/>
                    <a:lstStyle/>
                    <a:p>
                      <a:r>
                        <a:rPr lang="en-US" altLang="zh-CN" dirty="0"/>
                        <a:t>1</a:t>
                      </a:r>
                      <a:endParaRPr lang="zh-CN" altLang="en-US" dirty="0"/>
                    </a:p>
                  </a:txBody>
                  <a:tcPr/>
                </a:tc>
                <a:tc>
                  <a:txBody>
                    <a:bodyPr/>
                    <a:lstStyle/>
                    <a:p>
                      <a:r>
                        <a:rPr lang="en-US" altLang="zh-CN" dirty="0"/>
                        <a:t>2</a:t>
                      </a:r>
                      <a:endParaRPr lang="zh-CN" altLang="en-US" dirty="0"/>
                    </a:p>
                  </a:txBody>
                  <a:tcPr/>
                </a:tc>
                <a:tc>
                  <a:txBody>
                    <a:bodyPr/>
                    <a:lstStyle/>
                    <a:p>
                      <a:r>
                        <a:rPr lang="en-US" altLang="zh-CN" dirty="0"/>
                        <a:t>3</a:t>
                      </a:r>
                      <a:endParaRPr lang="zh-CN" altLang="en-US" dirty="0"/>
                    </a:p>
                  </a:txBody>
                  <a:tcPr/>
                </a:tc>
                <a:tc>
                  <a:txBody>
                    <a:bodyPr/>
                    <a:lstStyle/>
                    <a:p>
                      <a:r>
                        <a:rPr lang="en-US" altLang="zh-CN" dirty="0"/>
                        <a:t>4</a:t>
                      </a:r>
                      <a:endParaRPr lang="zh-CN" altLang="en-US" dirty="0"/>
                    </a:p>
                  </a:txBody>
                  <a:tcPr/>
                </a:tc>
                <a:tc>
                  <a:txBody>
                    <a:bodyPr/>
                    <a:lstStyle/>
                    <a:p>
                      <a:r>
                        <a:rPr lang="en-US" altLang="zh-CN" dirty="0"/>
                        <a:t>5</a:t>
                      </a:r>
                      <a:endParaRPr lang="zh-CN" altLang="en-US" dirty="0"/>
                    </a:p>
                  </a:txBody>
                  <a:tcPr/>
                </a:tc>
                <a:tc>
                  <a:txBody>
                    <a:bodyPr/>
                    <a:lstStyle/>
                    <a:p>
                      <a:r>
                        <a:rPr lang="en-US" altLang="zh-CN" dirty="0"/>
                        <a:t>6</a:t>
                      </a:r>
                      <a:endParaRPr lang="zh-CN" altLang="en-US" dirty="0"/>
                    </a:p>
                  </a:txBody>
                  <a:tcPr/>
                </a:tc>
                <a:tc>
                  <a:txBody>
                    <a:bodyPr/>
                    <a:lstStyle/>
                    <a:p>
                      <a:r>
                        <a:rPr lang="en-US" altLang="zh-CN" dirty="0"/>
                        <a:t>7</a:t>
                      </a:r>
                      <a:endParaRPr lang="zh-CN" altLang="en-US" dirty="0"/>
                    </a:p>
                  </a:txBody>
                  <a:tcPr/>
                </a:tc>
                <a:extLst>
                  <a:ext uri="{0D108BD9-81ED-4DB2-BD59-A6C34878D82A}">
                    <a16:rowId xmlns:a16="http://schemas.microsoft.com/office/drawing/2014/main" val="1222153532"/>
                  </a:ext>
                </a:extLst>
              </a:tr>
              <a:tr h="370840">
                <a:tc>
                  <a:txBody>
                    <a:bodyPr/>
                    <a:lstStyle/>
                    <a:p>
                      <a:r>
                        <a:rPr lang="zh-CN" altLang="en-US" dirty="0"/>
                        <a:t>字典项</a:t>
                      </a:r>
                    </a:p>
                  </a:txBody>
                  <a:tcPr/>
                </a:tc>
                <a:tc>
                  <a:txBody>
                    <a:bodyPr/>
                    <a:lstStyle/>
                    <a:p>
                      <a:r>
                        <a:rPr lang="en-US" altLang="zh-CN" dirty="0"/>
                        <a:t>NULL</a:t>
                      </a:r>
                      <a:endParaRPr lang="zh-CN" altLang="en-US" dirty="0"/>
                    </a:p>
                  </a:txBody>
                  <a:tcPr/>
                </a:tc>
                <a:tc>
                  <a:txBody>
                    <a:bodyPr/>
                    <a:lstStyle/>
                    <a:p>
                      <a:r>
                        <a:rPr lang="en-US" altLang="zh-CN" dirty="0"/>
                        <a:t>t</a:t>
                      </a:r>
                      <a:endParaRPr lang="zh-CN" altLang="en-US" dirty="0"/>
                    </a:p>
                  </a:txBody>
                  <a:tcPr/>
                </a:tc>
                <a:tc>
                  <a:txBody>
                    <a:bodyPr/>
                    <a:lstStyle/>
                    <a:p>
                      <a:r>
                        <a:rPr lang="en-US" altLang="zh-CN" dirty="0"/>
                        <a:t>h</a:t>
                      </a:r>
                      <a:endParaRPr lang="zh-CN" altLang="en-US" dirty="0"/>
                    </a:p>
                  </a:txBody>
                  <a:tcPr/>
                </a:tc>
                <a:tc>
                  <a:txBody>
                    <a:bodyPr/>
                    <a:lstStyle/>
                    <a:p>
                      <a:r>
                        <a:rPr lang="en-US" altLang="zh-CN" dirty="0"/>
                        <a:t>e</a:t>
                      </a:r>
                      <a:endParaRPr lang="zh-CN" altLang="en-US" dirty="0"/>
                    </a:p>
                  </a:txBody>
                  <a:tcPr/>
                </a:tc>
                <a:tc>
                  <a:txBody>
                    <a:bodyPr/>
                    <a:lstStyle/>
                    <a:p>
                      <a:r>
                        <a:rPr lang="en-US" altLang="zh-CN" dirty="0">
                          <a:latin typeface="Times New Roman" panose="02020603050405020304" pitchFamily="18" charset="0"/>
                          <a:cs typeface="Times New Roman" panose="02020603050405020304" pitchFamily="18" charset="0"/>
                        </a:rPr>
                        <a:t>˽</a:t>
                      </a:r>
                      <a:endParaRPr lang="zh-CN" altLang="en-US" dirty="0"/>
                    </a:p>
                  </a:txBody>
                  <a:tcPr/>
                </a:tc>
                <a:tc>
                  <a:txBody>
                    <a:bodyPr/>
                    <a:lstStyle/>
                    <a:p>
                      <a:r>
                        <a:rPr lang="en-US" altLang="zh-CN" dirty="0" err="1"/>
                        <a:t>th</a:t>
                      </a:r>
                      <a:endParaRPr lang="zh-CN" altLang="en-US" dirty="0"/>
                    </a:p>
                  </a:txBody>
                  <a:tcPr/>
                </a:tc>
                <a:tc>
                  <a:txBody>
                    <a:bodyPr/>
                    <a:lstStyle/>
                    <a:p>
                      <a:r>
                        <a:rPr lang="en-US" altLang="zh-CN" dirty="0" err="1"/>
                        <a:t>eo</a:t>
                      </a:r>
                      <a:endParaRPr lang="zh-CN" altLang="en-US" dirty="0"/>
                    </a:p>
                  </a:txBody>
                  <a:tcPr/>
                </a:tc>
                <a:tc>
                  <a:txBody>
                    <a:bodyPr/>
                    <a:lstStyle/>
                    <a:p>
                      <a:r>
                        <a:rPr lang="en-US" altLang="zh-CN" dirty="0"/>
                        <a:t>r</a:t>
                      </a:r>
                      <a:endParaRPr lang="zh-CN" altLang="en-US" dirty="0"/>
                    </a:p>
                  </a:txBody>
                  <a:tcPr/>
                </a:tc>
                <a:extLst>
                  <a:ext uri="{0D108BD9-81ED-4DB2-BD59-A6C34878D82A}">
                    <a16:rowId xmlns:a16="http://schemas.microsoft.com/office/drawing/2014/main" val="2401246418"/>
                  </a:ext>
                </a:extLst>
              </a:tr>
              <a:tr h="370840">
                <a:tc>
                  <a:txBody>
                    <a:bodyPr/>
                    <a:lstStyle/>
                    <a:p>
                      <a:r>
                        <a:rPr lang="zh-CN" altLang="en-US" dirty="0"/>
                        <a:t>输出</a:t>
                      </a:r>
                    </a:p>
                  </a:txBody>
                  <a:tcPr/>
                </a:tc>
                <a:tc>
                  <a:txBody>
                    <a:bodyPr/>
                    <a:lstStyle/>
                    <a:p>
                      <a:endParaRPr lang="zh-CN" altLang="en-US" dirty="0"/>
                    </a:p>
                  </a:txBody>
                  <a:tcPr/>
                </a:tc>
                <a:tc>
                  <a:txBody>
                    <a:bodyPr/>
                    <a:lstStyle/>
                    <a:p>
                      <a:r>
                        <a:rPr lang="en-US" altLang="zh-CN" dirty="0"/>
                        <a:t>(0,t)</a:t>
                      </a:r>
                      <a:endParaRPr lang="zh-CN" altLang="en-US" dirty="0"/>
                    </a:p>
                  </a:txBody>
                  <a:tcPr/>
                </a:tc>
                <a:tc>
                  <a:txBody>
                    <a:bodyPr/>
                    <a:lstStyle/>
                    <a:p>
                      <a:r>
                        <a:rPr lang="en-US" altLang="zh-CN" dirty="0"/>
                        <a:t>(0,h)</a:t>
                      </a:r>
                      <a:endParaRPr lang="zh-CN" altLang="en-US" dirty="0"/>
                    </a:p>
                  </a:txBody>
                  <a:tcPr/>
                </a:tc>
                <a:tc>
                  <a:txBody>
                    <a:bodyPr/>
                    <a:lstStyle/>
                    <a:p>
                      <a:r>
                        <a:rPr lang="en-US" altLang="zh-CN" dirty="0"/>
                        <a:t>(0,e)</a:t>
                      </a:r>
                      <a:endParaRPr lang="zh-CN"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(0,</a:t>
                      </a:r>
                      <a:r>
                        <a:rPr lang="en-US" altLang="zh-CN" dirty="0">
                          <a:latin typeface="Times New Roman" panose="02020603050405020304" pitchFamily="18" charset="0"/>
                          <a:cs typeface="Times New Roman" panose="02020603050405020304" pitchFamily="18" charset="0"/>
                        </a:rPr>
                        <a:t> ˽)</a:t>
                      </a:r>
                      <a:endParaRPr lang="zh-CN" altLang="en-US" dirty="0"/>
                    </a:p>
                  </a:txBody>
                  <a:tcPr/>
                </a:tc>
                <a:tc>
                  <a:txBody>
                    <a:bodyPr/>
                    <a:lstStyle/>
                    <a:p>
                      <a:r>
                        <a:rPr lang="en-US" altLang="zh-CN" dirty="0"/>
                        <a:t>(1,h)</a:t>
                      </a:r>
                      <a:endParaRPr lang="zh-CN" altLang="en-US" dirty="0"/>
                    </a:p>
                  </a:txBody>
                  <a:tcPr/>
                </a:tc>
                <a:tc>
                  <a:txBody>
                    <a:bodyPr/>
                    <a:lstStyle/>
                    <a:p>
                      <a:r>
                        <a:rPr lang="en-US" altLang="zh-CN" dirty="0"/>
                        <a:t>(3,o)</a:t>
                      </a:r>
                      <a:endParaRPr lang="zh-CN" altLang="en-US" dirty="0"/>
                    </a:p>
                  </a:txBody>
                  <a:tcPr/>
                </a:tc>
                <a:tc>
                  <a:txBody>
                    <a:bodyPr/>
                    <a:lstStyle/>
                    <a:p>
                      <a:r>
                        <a:rPr lang="en-US" altLang="zh-CN" dirty="0"/>
                        <a:t>(0,r)</a:t>
                      </a:r>
                      <a:endParaRPr lang="zh-CN" altLang="en-US" dirty="0"/>
                    </a:p>
                  </a:txBody>
                  <a:tcPr/>
                </a:tc>
                <a:extLst>
                  <a:ext uri="{0D108BD9-81ED-4DB2-BD59-A6C34878D82A}">
                    <a16:rowId xmlns:a16="http://schemas.microsoft.com/office/drawing/2014/main" val="2358453520"/>
                  </a:ext>
                </a:extLst>
              </a:tr>
            </a:tbl>
          </a:graphicData>
        </a:graphic>
      </p:graphicFrame>
      <p:graphicFrame>
        <p:nvGraphicFramePr>
          <p:cNvPr id="5" name="表格 5">
            <a:extLst>
              <a:ext uri="{FF2B5EF4-FFF2-40B4-BE49-F238E27FC236}">
                <a16:creationId xmlns:a16="http://schemas.microsoft.com/office/drawing/2014/main" id="{5E01B96D-C09F-4D83-A99B-9FEEF17321B8}"/>
              </a:ext>
            </a:extLst>
          </p:cNvPr>
          <p:cNvGraphicFramePr>
            <a:graphicFrameLocks noGrp="1"/>
          </p:cNvGraphicFramePr>
          <p:nvPr>
            <p:extLst>
              <p:ext uri="{D42A27DB-BD31-4B8C-83A1-F6EECF244321}">
                <p14:modId xmlns:p14="http://schemas.microsoft.com/office/powerpoint/2010/main" val="385613445"/>
              </p:ext>
            </p:extLst>
          </p:nvPr>
        </p:nvGraphicFramePr>
        <p:xfrm>
          <a:off x="1555898" y="4369735"/>
          <a:ext cx="6095997" cy="1112520"/>
        </p:xfrm>
        <a:graphic>
          <a:graphicData uri="http://schemas.openxmlformats.org/drawingml/2006/table">
            <a:tbl>
              <a:tblPr firstRow="1" bandRow="1">
                <a:tableStyleId>{5C22544A-7EE6-4342-B048-85BDC9FD1C3A}</a:tableStyleId>
              </a:tblPr>
              <a:tblGrid>
                <a:gridCol w="677333">
                  <a:extLst>
                    <a:ext uri="{9D8B030D-6E8A-4147-A177-3AD203B41FA5}">
                      <a16:colId xmlns:a16="http://schemas.microsoft.com/office/drawing/2014/main" val="2524080522"/>
                    </a:ext>
                  </a:extLst>
                </a:gridCol>
                <a:gridCol w="677333">
                  <a:extLst>
                    <a:ext uri="{9D8B030D-6E8A-4147-A177-3AD203B41FA5}">
                      <a16:colId xmlns:a16="http://schemas.microsoft.com/office/drawing/2014/main" val="3614754829"/>
                    </a:ext>
                  </a:extLst>
                </a:gridCol>
                <a:gridCol w="677333">
                  <a:extLst>
                    <a:ext uri="{9D8B030D-6E8A-4147-A177-3AD203B41FA5}">
                      <a16:colId xmlns:a16="http://schemas.microsoft.com/office/drawing/2014/main" val="1351575556"/>
                    </a:ext>
                  </a:extLst>
                </a:gridCol>
                <a:gridCol w="677333">
                  <a:extLst>
                    <a:ext uri="{9D8B030D-6E8A-4147-A177-3AD203B41FA5}">
                      <a16:colId xmlns:a16="http://schemas.microsoft.com/office/drawing/2014/main" val="248127562"/>
                    </a:ext>
                  </a:extLst>
                </a:gridCol>
                <a:gridCol w="677333">
                  <a:extLst>
                    <a:ext uri="{9D8B030D-6E8A-4147-A177-3AD203B41FA5}">
                      <a16:colId xmlns:a16="http://schemas.microsoft.com/office/drawing/2014/main" val="3776480584"/>
                    </a:ext>
                  </a:extLst>
                </a:gridCol>
                <a:gridCol w="677333">
                  <a:extLst>
                    <a:ext uri="{9D8B030D-6E8A-4147-A177-3AD203B41FA5}">
                      <a16:colId xmlns:a16="http://schemas.microsoft.com/office/drawing/2014/main" val="3738988403"/>
                    </a:ext>
                  </a:extLst>
                </a:gridCol>
                <a:gridCol w="677333">
                  <a:extLst>
                    <a:ext uri="{9D8B030D-6E8A-4147-A177-3AD203B41FA5}">
                      <a16:colId xmlns:a16="http://schemas.microsoft.com/office/drawing/2014/main" val="2017732007"/>
                    </a:ext>
                  </a:extLst>
                </a:gridCol>
                <a:gridCol w="677333">
                  <a:extLst>
                    <a:ext uri="{9D8B030D-6E8A-4147-A177-3AD203B41FA5}">
                      <a16:colId xmlns:a16="http://schemas.microsoft.com/office/drawing/2014/main" val="3517454830"/>
                    </a:ext>
                  </a:extLst>
                </a:gridCol>
                <a:gridCol w="677333">
                  <a:extLst>
                    <a:ext uri="{9D8B030D-6E8A-4147-A177-3AD203B41FA5}">
                      <a16:colId xmlns:a16="http://schemas.microsoft.com/office/drawing/2014/main" val="7217578"/>
                    </a:ext>
                  </a:extLst>
                </a:gridCol>
              </a:tblGrid>
              <a:tr h="370840">
                <a:tc>
                  <a:txBody>
                    <a:bodyPr/>
                    <a:lstStyle/>
                    <a:p>
                      <a:r>
                        <a:rPr lang="en-US" altLang="zh-CN" dirty="0"/>
                        <a:t>8</a:t>
                      </a:r>
                      <a:endParaRPr lang="zh-CN" altLang="en-US" dirty="0"/>
                    </a:p>
                  </a:txBody>
                  <a:tcPr/>
                </a:tc>
                <a:tc>
                  <a:txBody>
                    <a:bodyPr/>
                    <a:lstStyle/>
                    <a:p>
                      <a:r>
                        <a:rPr lang="en-US" altLang="zh-CN" dirty="0"/>
                        <a:t>9</a:t>
                      </a:r>
                      <a:endParaRPr lang="zh-CN" altLang="en-US" dirty="0"/>
                    </a:p>
                  </a:txBody>
                  <a:tcPr/>
                </a:tc>
                <a:tc>
                  <a:txBody>
                    <a:bodyPr/>
                    <a:lstStyle/>
                    <a:p>
                      <a:r>
                        <a:rPr lang="en-US" altLang="zh-CN" dirty="0"/>
                        <a:t>10</a:t>
                      </a:r>
                      <a:endParaRPr lang="zh-CN" altLang="en-US" dirty="0"/>
                    </a:p>
                  </a:txBody>
                  <a:tcPr/>
                </a:tc>
                <a:tc>
                  <a:txBody>
                    <a:bodyPr/>
                    <a:lstStyle/>
                    <a:p>
                      <a:r>
                        <a:rPr lang="en-US" altLang="zh-CN" dirty="0"/>
                        <a:t>11</a:t>
                      </a:r>
                      <a:endParaRPr lang="zh-CN" altLang="en-US" dirty="0"/>
                    </a:p>
                  </a:txBody>
                  <a:tcPr/>
                </a:tc>
                <a:tc>
                  <a:txBody>
                    <a:bodyPr/>
                    <a:lstStyle/>
                    <a:p>
                      <a:r>
                        <a:rPr lang="en-US" altLang="zh-CN" dirty="0"/>
                        <a:t>12</a:t>
                      </a:r>
                      <a:endParaRPr lang="zh-CN" altLang="en-US" dirty="0"/>
                    </a:p>
                  </a:txBody>
                  <a:tcPr/>
                </a:tc>
                <a:tc>
                  <a:txBody>
                    <a:bodyPr/>
                    <a:lstStyle/>
                    <a:p>
                      <a:r>
                        <a:rPr lang="en-US" altLang="zh-CN" dirty="0"/>
                        <a:t>13</a:t>
                      </a:r>
                      <a:endParaRPr lang="zh-CN" altLang="en-US" dirty="0"/>
                    </a:p>
                  </a:txBody>
                  <a:tcPr/>
                </a:tc>
                <a:tc>
                  <a:txBody>
                    <a:bodyPr/>
                    <a:lstStyle/>
                    <a:p>
                      <a:r>
                        <a:rPr lang="en-US" altLang="zh-CN" dirty="0"/>
                        <a:t>14</a:t>
                      </a:r>
                      <a:endParaRPr lang="zh-CN" altLang="en-US" dirty="0"/>
                    </a:p>
                  </a:txBody>
                  <a:tcPr/>
                </a:tc>
                <a:tc>
                  <a:txBody>
                    <a:bodyPr/>
                    <a:lstStyle/>
                    <a:p>
                      <a:r>
                        <a:rPr lang="en-US" altLang="zh-CN" dirty="0"/>
                        <a:t>15</a:t>
                      </a:r>
                      <a:endParaRPr lang="zh-CN" altLang="en-US" dirty="0"/>
                    </a:p>
                  </a:txBody>
                  <a:tcPr/>
                </a:tc>
                <a:tc>
                  <a:txBody>
                    <a:bodyPr/>
                    <a:lstStyle/>
                    <a:p>
                      <a:r>
                        <a:rPr lang="en-US" altLang="zh-CN" dirty="0"/>
                        <a:t>16</a:t>
                      </a:r>
                      <a:endParaRPr lang="zh-CN" altLang="en-US" dirty="0"/>
                    </a:p>
                  </a:txBody>
                  <a:tcPr/>
                </a:tc>
                <a:extLst>
                  <a:ext uri="{0D108BD9-81ED-4DB2-BD59-A6C34878D82A}">
                    <a16:rowId xmlns:a16="http://schemas.microsoft.com/office/drawing/2014/main" val="107932731"/>
                  </a:ext>
                </a:extLst>
              </a:tr>
              <a:tr h="370840">
                <a:tc>
                  <a:txBody>
                    <a:bodyPr/>
                    <a:lstStyle/>
                    <a:p>
                      <a:r>
                        <a:rPr lang="en-US" altLang="zh-CN" dirty="0"/>
                        <a:t>y</a:t>
                      </a:r>
                      <a:endParaRPr lang="zh-CN"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latin typeface="Times New Roman" panose="02020603050405020304" pitchFamily="18" charset="0"/>
                          <a:cs typeface="Times New Roman" panose="02020603050405020304" pitchFamily="18" charset="0"/>
                        </a:rPr>
                        <a:t>˽w</a:t>
                      </a:r>
                      <a:endParaRPr lang="zh-CN" altLang="en-US" dirty="0"/>
                    </a:p>
                  </a:txBody>
                  <a:tcPr/>
                </a:tc>
                <a:tc>
                  <a:txBody>
                    <a:bodyPr/>
                    <a:lstStyle/>
                    <a:p>
                      <a:r>
                        <a:rPr lang="en-US" altLang="zh-CN" dirty="0"/>
                        <a:t>a</a:t>
                      </a:r>
                      <a:endParaRPr lang="zh-CN" altLang="en-US" dirty="0"/>
                    </a:p>
                  </a:txBody>
                  <a:tcPr/>
                </a:tc>
                <a:tc>
                  <a:txBody>
                    <a:bodyPr/>
                    <a:lstStyle/>
                    <a:p>
                      <a:r>
                        <a:rPr lang="en-US" altLang="zh-CN" dirty="0"/>
                        <a:t>s</a:t>
                      </a:r>
                      <a:endParaRPr lang="zh-CN"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latin typeface="Times New Roman" panose="02020603050405020304" pitchFamily="18" charset="0"/>
                          <a:cs typeface="Times New Roman" panose="02020603050405020304" pitchFamily="18" charset="0"/>
                        </a:rPr>
                        <a:t>˽p</a:t>
                      </a:r>
                      <a:endParaRPr lang="zh-CN" altLang="en-US" dirty="0"/>
                    </a:p>
                  </a:txBody>
                  <a:tcPr/>
                </a:tc>
                <a:tc>
                  <a:txBody>
                    <a:bodyPr/>
                    <a:lstStyle/>
                    <a:p>
                      <a:r>
                        <a:rPr lang="en-US" altLang="zh-CN" dirty="0" err="1"/>
                        <a:t>ro</a:t>
                      </a:r>
                      <a:endParaRPr lang="zh-CN" altLang="en-US" dirty="0"/>
                    </a:p>
                  </a:txBody>
                  <a:tcPr/>
                </a:tc>
                <a:tc>
                  <a:txBody>
                    <a:bodyPr/>
                    <a:lstStyle/>
                    <a:p>
                      <a:r>
                        <a:rPr lang="en-US" altLang="zh-CN" dirty="0"/>
                        <a:t>p</a:t>
                      </a:r>
                      <a:endParaRPr lang="zh-CN" altLang="en-US" dirty="0"/>
                    </a:p>
                  </a:txBody>
                  <a:tcPr/>
                </a:tc>
                <a:tc>
                  <a:txBody>
                    <a:bodyPr/>
                    <a:lstStyle/>
                    <a:p>
                      <a:r>
                        <a:rPr lang="en-US" altLang="zh-CN" dirty="0"/>
                        <a:t>o</a:t>
                      </a:r>
                      <a:endParaRPr lang="zh-CN" altLang="en-US" dirty="0"/>
                    </a:p>
                  </a:txBody>
                  <a:tcPr/>
                </a:tc>
                <a:tc>
                  <a:txBody>
                    <a:bodyPr/>
                    <a:lstStyle/>
                    <a:p>
                      <a:r>
                        <a:rPr lang="en-US" altLang="zh-CN" dirty="0"/>
                        <a:t>se</a:t>
                      </a:r>
                      <a:endParaRPr lang="zh-CN" altLang="en-US" dirty="0"/>
                    </a:p>
                  </a:txBody>
                  <a:tcPr/>
                </a:tc>
                <a:extLst>
                  <a:ext uri="{0D108BD9-81ED-4DB2-BD59-A6C34878D82A}">
                    <a16:rowId xmlns:a16="http://schemas.microsoft.com/office/drawing/2014/main" val="1707309441"/>
                  </a:ext>
                </a:extLst>
              </a:tr>
              <a:tr h="370840">
                <a:tc>
                  <a:txBody>
                    <a:bodyPr/>
                    <a:lstStyle/>
                    <a:p>
                      <a:r>
                        <a:rPr lang="en-US" altLang="zh-CN" dirty="0"/>
                        <a:t>(0,y)</a:t>
                      </a:r>
                      <a:endParaRPr lang="zh-CN" altLang="en-US" dirty="0"/>
                    </a:p>
                  </a:txBody>
                  <a:tcPr/>
                </a:tc>
                <a:tc>
                  <a:txBody>
                    <a:bodyPr/>
                    <a:lstStyle/>
                    <a:p>
                      <a:r>
                        <a:rPr lang="en-US" altLang="zh-CN" dirty="0"/>
                        <a:t>(4,w)</a:t>
                      </a:r>
                      <a:endParaRPr lang="zh-CN" altLang="en-US" dirty="0"/>
                    </a:p>
                  </a:txBody>
                  <a:tcPr/>
                </a:tc>
                <a:tc>
                  <a:txBody>
                    <a:bodyPr/>
                    <a:lstStyle/>
                    <a:p>
                      <a:r>
                        <a:rPr lang="en-US" altLang="zh-CN" dirty="0"/>
                        <a:t>(0,a)</a:t>
                      </a:r>
                      <a:endParaRPr lang="zh-CN" altLang="en-US" dirty="0"/>
                    </a:p>
                  </a:txBody>
                  <a:tcPr/>
                </a:tc>
                <a:tc>
                  <a:txBody>
                    <a:bodyPr/>
                    <a:lstStyle/>
                    <a:p>
                      <a:r>
                        <a:rPr lang="en-US" altLang="zh-CN" dirty="0"/>
                        <a:t>(0,s)</a:t>
                      </a:r>
                      <a:endParaRPr lang="zh-CN" altLang="en-US" dirty="0"/>
                    </a:p>
                  </a:txBody>
                  <a:tcPr/>
                </a:tc>
                <a:tc>
                  <a:txBody>
                    <a:bodyPr/>
                    <a:lstStyle/>
                    <a:p>
                      <a:r>
                        <a:rPr lang="en-US" altLang="zh-CN" dirty="0"/>
                        <a:t>(4,p)</a:t>
                      </a:r>
                      <a:endParaRPr lang="zh-CN" altLang="en-US" dirty="0"/>
                    </a:p>
                  </a:txBody>
                  <a:tcPr/>
                </a:tc>
                <a:tc>
                  <a:txBody>
                    <a:bodyPr/>
                    <a:lstStyle/>
                    <a:p>
                      <a:r>
                        <a:rPr lang="en-US" altLang="zh-CN" dirty="0"/>
                        <a:t>(7,o)</a:t>
                      </a:r>
                      <a:endParaRPr lang="zh-CN" altLang="en-US" dirty="0"/>
                    </a:p>
                  </a:txBody>
                  <a:tcPr/>
                </a:tc>
                <a:tc>
                  <a:txBody>
                    <a:bodyPr/>
                    <a:lstStyle/>
                    <a:p>
                      <a:r>
                        <a:rPr lang="en-US" altLang="zh-CN" dirty="0"/>
                        <a:t>(0,p)</a:t>
                      </a:r>
                      <a:endParaRPr lang="zh-CN" altLang="en-US" dirty="0"/>
                    </a:p>
                  </a:txBody>
                  <a:tcPr/>
                </a:tc>
                <a:tc>
                  <a:txBody>
                    <a:bodyPr/>
                    <a:lstStyle/>
                    <a:p>
                      <a:r>
                        <a:rPr lang="en-US" altLang="zh-CN" dirty="0"/>
                        <a:t>(0,o)</a:t>
                      </a:r>
                      <a:endParaRPr lang="zh-CN" altLang="en-US" dirty="0"/>
                    </a:p>
                  </a:txBody>
                  <a:tcPr/>
                </a:tc>
                <a:tc>
                  <a:txBody>
                    <a:bodyPr/>
                    <a:lstStyle/>
                    <a:p>
                      <a:r>
                        <a:rPr lang="en-US" altLang="zh-CN" dirty="0"/>
                        <a:t>(11,e)</a:t>
                      </a:r>
                      <a:endParaRPr lang="zh-CN" altLang="en-US" dirty="0"/>
                    </a:p>
                  </a:txBody>
                  <a:tcPr/>
                </a:tc>
                <a:extLst>
                  <a:ext uri="{0D108BD9-81ED-4DB2-BD59-A6C34878D82A}">
                    <a16:rowId xmlns:a16="http://schemas.microsoft.com/office/drawing/2014/main" val="2218658200"/>
                  </a:ext>
                </a:extLst>
              </a:tr>
            </a:tbl>
          </a:graphicData>
        </a:graphic>
      </p:graphicFrame>
    </p:spTree>
    <p:extLst>
      <p:ext uri="{BB962C8B-B14F-4D97-AF65-F5344CB8AC3E}">
        <p14:creationId xmlns:p14="http://schemas.microsoft.com/office/powerpoint/2010/main" val="3375904652"/>
      </p:ext>
    </p:extLst>
  </p:cSld>
  <p:clrMapOvr>
    <a:masterClrMapping/>
  </p:clrMapOvr>
  <p:transition spd="med">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文本框 1"/>
          <p:cNvSpPr txBox="1">
            <a:spLocks noChangeArrowheads="1"/>
          </p:cNvSpPr>
          <p:nvPr/>
        </p:nvSpPr>
        <p:spPr bwMode="auto">
          <a:xfrm>
            <a:off x="-7464425" y="4954588"/>
            <a:ext cx="1857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charset="0"/>
              <a:buChar char="•"/>
              <a:defRPr sz="2800">
                <a:solidFill>
                  <a:schemeClr val="tx1"/>
                </a:solidFill>
                <a:latin typeface="Calibri" charset="0"/>
                <a:ea typeface="宋体" charset="0"/>
              </a:defRPr>
            </a:lvl1pPr>
            <a:lvl2pPr marL="742950" indent="-285750">
              <a:lnSpc>
                <a:spcPct val="90000"/>
              </a:lnSpc>
              <a:spcBef>
                <a:spcPts val="500"/>
              </a:spcBef>
              <a:buFont typeface="Arial" charset="0"/>
              <a:buChar char="•"/>
              <a:defRPr sz="2400">
                <a:solidFill>
                  <a:schemeClr val="tx1"/>
                </a:solidFill>
                <a:latin typeface="Calibri" charset="0"/>
                <a:ea typeface="宋体" charset="0"/>
              </a:defRPr>
            </a:lvl2pPr>
            <a:lvl3pPr marL="1143000" indent="-228600">
              <a:lnSpc>
                <a:spcPct val="90000"/>
              </a:lnSpc>
              <a:spcBef>
                <a:spcPts val="500"/>
              </a:spcBef>
              <a:buFont typeface="Arial" charset="0"/>
              <a:buChar char="•"/>
              <a:defRPr sz="2000">
                <a:solidFill>
                  <a:schemeClr val="tx1"/>
                </a:solidFill>
                <a:latin typeface="Calibri" charset="0"/>
                <a:ea typeface="宋体" charset="0"/>
              </a:defRPr>
            </a:lvl3pPr>
            <a:lvl4pPr marL="1600200" indent="-228600">
              <a:lnSpc>
                <a:spcPct val="90000"/>
              </a:lnSpc>
              <a:spcBef>
                <a:spcPts val="500"/>
              </a:spcBef>
              <a:buFont typeface="Arial" charset="0"/>
              <a:buChar char="•"/>
              <a:defRPr>
                <a:solidFill>
                  <a:schemeClr val="tx1"/>
                </a:solidFill>
                <a:latin typeface="Calibri" charset="0"/>
                <a:ea typeface="宋体" charset="0"/>
              </a:defRPr>
            </a:lvl4pPr>
            <a:lvl5pPr marL="2057400" indent="-228600">
              <a:lnSpc>
                <a:spcPct val="90000"/>
              </a:lnSpc>
              <a:spcBef>
                <a:spcPts val="500"/>
              </a:spcBef>
              <a:buFont typeface="Arial" charset="0"/>
              <a:buChar char="•"/>
              <a:defRPr>
                <a:solidFill>
                  <a:schemeClr val="tx1"/>
                </a:solidFill>
                <a:latin typeface="Calibri" charset="0"/>
                <a:ea typeface="宋体" charset="0"/>
              </a:defRPr>
            </a:lvl5pPr>
            <a:lvl6pPr marL="25146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6pPr>
            <a:lvl7pPr marL="29718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7pPr>
            <a:lvl8pPr marL="34290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8pPr>
            <a:lvl9pPr marL="38862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9pPr>
          </a:lstStyle>
          <a:p>
            <a:pPr>
              <a:lnSpc>
                <a:spcPct val="100000"/>
              </a:lnSpc>
              <a:spcBef>
                <a:spcPct val="0"/>
              </a:spcBef>
              <a:buFontTx/>
              <a:buNone/>
            </a:pPr>
            <a:endParaRPr kumimoji="1" lang="zh-CN" altLang="en-US" sz="1800">
              <a:latin typeface="+mn-lt"/>
            </a:endParaRPr>
          </a:p>
        </p:txBody>
      </p:sp>
      <p:sp>
        <p:nvSpPr>
          <p:cNvPr id="10" name="文本框 9">
            <a:extLst>
              <a:ext uri="{FF2B5EF4-FFF2-40B4-BE49-F238E27FC236}">
                <a16:creationId xmlns:a16="http://schemas.microsoft.com/office/drawing/2014/main" id="{5D53F571-3FE3-414E-8DE9-03044D097F3C}"/>
              </a:ext>
            </a:extLst>
          </p:cNvPr>
          <p:cNvSpPr txBox="1"/>
          <p:nvPr/>
        </p:nvSpPr>
        <p:spPr>
          <a:xfrm>
            <a:off x="654258" y="589775"/>
            <a:ext cx="5289342" cy="523220"/>
          </a:xfrm>
          <a:prstGeom prst="rect">
            <a:avLst/>
          </a:prstGeom>
          <a:noFill/>
        </p:spPr>
        <p:txBody>
          <a:bodyPr wrap="square" rtlCol="0">
            <a:spAutoFit/>
          </a:bodyPr>
          <a:lstStyle/>
          <a:p>
            <a:r>
              <a:rPr kumimoji="1" lang="en-US" altLang="zh-CN" sz="2800" dirty="0" err="1">
                <a:latin typeface="Microsoft YaHei" charset="-122"/>
                <a:ea typeface="Microsoft YaHei" charset="-122"/>
                <a:cs typeface="Microsoft YaHei" charset="-122"/>
              </a:rPr>
              <a:t>lz</a:t>
            </a:r>
            <a:r>
              <a:rPr kumimoji="1" lang="zh-CN" altLang="en-US" sz="2800" dirty="0">
                <a:latin typeface="Microsoft YaHei" charset="-122"/>
                <a:ea typeface="Microsoft YaHei" charset="-122"/>
                <a:cs typeface="Microsoft YaHei" charset="-122"/>
              </a:rPr>
              <a:t>系列算法对比</a:t>
            </a:r>
            <a:endParaRPr kumimoji="1" lang="en-US" altLang="zh-CN" sz="2800" dirty="0">
              <a:latin typeface="Microsoft YaHei" charset="-122"/>
              <a:ea typeface="Microsoft YaHei" charset="-122"/>
              <a:cs typeface="Microsoft YaHei" charset="-122"/>
            </a:endParaRPr>
          </a:p>
        </p:txBody>
      </p:sp>
      <p:sp>
        <p:nvSpPr>
          <p:cNvPr id="2" name="文本框 1">
            <a:extLst>
              <a:ext uri="{FF2B5EF4-FFF2-40B4-BE49-F238E27FC236}">
                <a16:creationId xmlns:a16="http://schemas.microsoft.com/office/drawing/2014/main" id="{D99AEDB9-0DD6-4106-9D90-0993A069B61B}"/>
              </a:ext>
            </a:extLst>
          </p:cNvPr>
          <p:cNvSpPr txBox="1"/>
          <p:nvPr/>
        </p:nvSpPr>
        <p:spPr>
          <a:xfrm>
            <a:off x="318977" y="1456660"/>
            <a:ext cx="8250865" cy="369332"/>
          </a:xfrm>
          <a:prstGeom prst="rect">
            <a:avLst/>
          </a:prstGeom>
          <a:noFill/>
        </p:spPr>
        <p:txBody>
          <a:bodyPr wrap="square" rtlCol="0">
            <a:spAutoFit/>
          </a:bodyPr>
          <a:lstStyle/>
          <a:p>
            <a:r>
              <a:rPr lang="en-US" altLang="zh-CN" dirty="0" err="1"/>
              <a:t>lz</a:t>
            </a:r>
            <a:r>
              <a:rPr lang="zh-CN" altLang="en-US" dirty="0"/>
              <a:t>系列算法中最常用的最具代表性的有：</a:t>
            </a:r>
            <a:r>
              <a:rPr lang="en-US" altLang="zh-CN" dirty="0" err="1"/>
              <a:t>Gzip</a:t>
            </a:r>
            <a:r>
              <a:rPr lang="zh-CN" altLang="en-US" dirty="0"/>
              <a:t>、</a:t>
            </a:r>
            <a:r>
              <a:rPr lang="en-US" altLang="zh-CN" dirty="0"/>
              <a:t>Snappy</a:t>
            </a:r>
            <a:r>
              <a:rPr lang="zh-CN" altLang="en-US" dirty="0"/>
              <a:t>、</a:t>
            </a:r>
            <a:r>
              <a:rPr lang="en-US" altLang="zh-CN" dirty="0"/>
              <a:t>lz4</a:t>
            </a:r>
            <a:endParaRPr lang="zh-CN" altLang="en-US" dirty="0"/>
          </a:p>
        </p:txBody>
      </p:sp>
      <p:sp>
        <p:nvSpPr>
          <p:cNvPr id="3" name="等腰三角形 2">
            <a:extLst>
              <a:ext uri="{FF2B5EF4-FFF2-40B4-BE49-F238E27FC236}">
                <a16:creationId xmlns:a16="http://schemas.microsoft.com/office/drawing/2014/main" id="{9601504B-42CC-49BA-90F4-317DBAE4ED84}"/>
              </a:ext>
            </a:extLst>
          </p:cNvPr>
          <p:cNvSpPr/>
          <p:nvPr/>
        </p:nvSpPr>
        <p:spPr>
          <a:xfrm>
            <a:off x="4019107" y="2892057"/>
            <a:ext cx="978195" cy="616687"/>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id="{A4ED2D10-1CCE-4DBE-B46F-7FC818D6904F}"/>
              </a:ext>
            </a:extLst>
          </p:cNvPr>
          <p:cNvSpPr/>
          <p:nvPr/>
        </p:nvSpPr>
        <p:spPr>
          <a:xfrm rot="21399147">
            <a:off x="2142459" y="2789642"/>
            <a:ext cx="4731489" cy="8897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965550EA-7238-4AFE-BB81-7472D7725503}"/>
              </a:ext>
            </a:extLst>
          </p:cNvPr>
          <p:cNvSpPr txBox="1"/>
          <p:nvPr/>
        </p:nvSpPr>
        <p:spPr>
          <a:xfrm>
            <a:off x="1702646" y="2464796"/>
            <a:ext cx="882502" cy="369332"/>
          </a:xfrm>
          <a:prstGeom prst="rect">
            <a:avLst/>
          </a:prstGeom>
          <a:noFill/>
        </p:spPr>
        <p:txBody>
          <a:bodyPr wrap="square" rtlCol="0">
            <a:spAutoFit/>
          </a:bodyPr>
          <a:lstStyle/>
          <a:p>
            <a:r>
              <a:rPr lang="zh-CN" altLang="en-US" dirty="0"/>
              <a:t>压缩率</a:t>
            </a:r>
          </a:p>
        </p:txBody>
      </p:sp>
      <p:sp>
        <p:nvSpPr>
          <p:cNvPr id="9" name="文本框 8">
            <a:extLst>
              <a:ext uri="{FF2B5EF4-FFF2-40B4-BE49-F238E27FC236}">
                <a16:creationId xmlns:a16="http://schemas.microsoft.com/office/drawing/2014/main" id="{D4655B20-2692-45F0-96E5-BAAE4B6812FC}"/>
              </a:ext>
            </a:extLst>
          </p:cNvPr>
          <p:cNvSpPr txBox="1"/>
          <p:nvPr/>
        </p:nvSpPr>
        <p:spPr>
          <a:xfrm>
            <a:off x="6254742" y="2159513"/>
            <a:ext cx="1235535" cy="369332"/>
          </a:xfrm>
          <a:prstGeom prst="rect">
            <a:avLst/>
          </a:prstGeom>
          <a:noFill/>
        </p:spPr>
        <p:txBody>
          <a:bodyPr wrap="square" rtlCol="0">
            <a:spAutoFit/>
          </a:bodyPr>
          <a:lstStyle/>
          <a:p>
            <a:r>
              <a:rPr lang="zh-CN" altLang="en-US" dirty="0"/>
              <a:t>压缩速度</a:t>
            </a:r>
          </a:p>
        </p:txBody>
      </p:sp>
      <p:graphicFrame>
        <p:nvGraphicFramePr>
          <p:cNvPr id="6" name="表格 6">
            <a:extLst>
              <a:ext uri="{FF2B5EF4-FFF2-40B4-BE49-F238E27FC236}">
                <a16:creationId xmlns:a16="http://schemas.microsoft.com/office/drawing/2014/main" id="{E54336CE-A2F3-4879-BF32-4BE865A166C7}"/>
              </a:ext>
            </a:extLst>
          </p:cNvPr>
          <p:cNvGraphicFramePr>
            <a:graphicFrameLocks noGrp="1"/>
          </p:cNvGraphicFramePr>
          <p:nvPr>
            <p:extLst>
              <p:ext uri="{D42A27DB-BD31-4B8C-83A1-F6EECF244321}">
                <p14:modId xmlns:p14="http://schemas.microsoft.com/office/powerpoint/2010/main" val="1458606552"/>
              </p:ext>
            </p:extLst>
          </p:nvPr>
        </p:nvGraphicFramePr>
        <p:xfrm>
          <a:off x="1524000" y="4027488"/>
          <a:ext cx="6096000" cy="1854200"/>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3640285751"/>
                    </a:ext>
                  </a:extLst>
                </a:gridCol>
                <a:gridCol w="1524000">
                  <a:extLst>
                    <a:ext uri="{9D8B030D-6E8A-4147-A177-3AD203B41FA5}">
                      <a16:colId xmlns:a16="http://schemas.microsoft.com/office/drawing/2014/main" val="2128920493"/>
                    </a:ext>
                  </a:extLst>
                </a:gridCol>
                <a:gridCol w="1524000">
                  <a:extLst>
                    <a:ext uri="{9D8B030D-6E8A-4147-A177-3AD203B41FA5}">
                      <a16:colId xmlns:a16="http://schemas.microsoft.com/office/drawing/2014/main" val="1339643736"/>
                    </a:ext>
                  </a:extLst>
                </a:gridCol>
                <a:gridCol w="1524000">
                  <a:extLst>
                    <a:ext uri="{9D8B030D-6E8A-4147-A177-3AD203B41FA5}">
                      <a16:colId xmlns:a16="http://schemas.microsoft.com/office/drawing/2014/main" val="3414467797"/>
                    </a:ext>
                  </a:extLst>
                </a:gridCol>
              </a:tblGrid>
              <a:tr h="370840">
                <a:tc>
                  <a:txBody>
                    <a:bodyPr/>
                    <a:lstStyle/>
                    <a:p>
                      <a:r>
                        <a:rPr lang="zh-CN" altLang="en-US" dirty="0"/>
                        <a:t>压缩算法</a:t>
                      </a:r>
                    </a:p>
                  </a:txBody>
                  <a:tcPr/>
                </a:tc>
                <a:tc>
                  <a:txBody>
                    <a:bodyPr/>
                    <a:lstStyle/>
                    <a:p>
                      <a:r>
                        <a:rPr lang="zh-CN" altLang="en-US" dirty="0"/>
                        <a:t>压缩速度</a:t>
                      </a:r>
                    </a:p>
                  </a:txBody>
                  <a:tcPr/>
                </a:tc>
                <a:tc>
                  <a:txBody>
                    <a:bodyPr/>
                    <a:lstStyle/>
                    <a:p>
                      <a:r>
                        <a:rPr lang="zh-CN" altLang="en-US" dirty="0"/>
                        <a:t>解压速度</a:t>
                      </a:r>
                    </a:p>
                  </a:txBody>
                  <a:tcPr/>
                </a:tc>
                <a:tc>
                  <a:txBody>
                    <a:bodyPr/>
                    <a:lstStyle/>
                    <a:p>
                      <a:r>
                        <a:rPr lang="zh-CN" altLang="en-US" dirty="0"/>
                        <a:t>压缩率</a:t>
                      </a:r>
                    </a:p>
                  </a:txBody>
                  <a:tcPr/>
                </a:tc>
                <a:extLst>
                  <a:ext uri="{0D108BD9-81ED-4DB2-BD59-A6C34878D82A}">
                    <a16:rowId xmlns:a16="http://schemas.microsoft.com/office/drawing/2014/main" val="2652172610"/>
                  </a:ext>
                </a:extLst>
              </a:tr>
              <a:tr h="370840">
                <a:tc>
                  <a:txBody>
                    <a:bodyPr/>
                    <a:lstStyle/>
                    <a:p>
                      <a:r>
                        <a:rPr lang="en-US" altLang="zh-CN" dirty="0" err="1"/>
                        <a:t>Memcpy</a:t>
                      </a:r>
                      <a:endParaRPr lang="zh-CN" altLang="en-US" dirty="0"/>
                    </a:p>
                  </a:txBody>
                  <a:tcPr/>
                </a:tc>
                <a:tc>
                  <a:txBody>
                    <a:bodyPr/>
                    <a:lstStyle/>
                    <a:p>
                      <a:r>
                        <a:rPr lang="en-US" altLang="zh-CN" sz="1800" b="0" i="0" kern="1200" dirty="0">
                          <a:solidFill>
                            <a:schemeClr val="dk1"/>
                          </a:solidFill>
                          <a:effectLst/>
                          <a:latin typeface="+mn-lt"/>
                          <a:ea typeface="+mn-ea"/>
                          <a:cs typeface="+mn-cs"/>
                        </a:rPr>
                        <a:t>8657 MB/s</a:t>
                      </a:r>
                      <a:endParaRPr lang="zh-CN" altLang="en-US" dirty="0"/>
                    </a:p>
                  </a:txBody>
                  <a:tcPr/>
                </a:tc>
                <a:tc>
                  <a:txBody>
                    <a:bodyPr/>
                    <a:lstStyle/>
                    <a:p>
                      <a:r>
                        <a:rPr lang="en-US" altLang="zh-CN" sz="1800" b="0" i="0" kern="1200" dirty="0">
                          <a:solidFill>
                            <a:schemeClr val="dk1"/>
                          </a:solidFill>
                          <a:effectLst/>
                          <a:latin typeface="+mn-lt"/>
                          <a:ea typeface="+mn-ea"/>
                          <a:cs typeface="+mn-cs"/>
                        </a:rPr>
                        <a:t>8891 MB/s</a:t>
                      </a:r>
                      <a:endParaRPr lang="zh-CN" altLang="en-US" dirty="0"/>
                    </a:p>
                  </a:txBody>
                  <a:tcPr/>
                </a:tc>
                <a:tc>
                  <a:txBody>
                    <a:bodyPr/>
                    <a:lstStyle/>
                    <a:p>
                      <a:r>
                        <a:rPr lang="en-US" altLang="zh-CN" dirty="0"/>
                        <a:t>1</a:t>
                      </a:r>
                      <a:endParaRPr lang="zh-CN" altLang="en-US" dirty="0"/>
                    </a:p>
                  </a:txBody>
                  <a:tcPr/>
                </a:tc>
                <a:extLst>
                  <a:ext uri="{0D108BD9-81ED-4DB2-BD59-A6C34878D82A}">
                    <a16:rowId xmlns:a16="http://schemas.microsoft.com/office/drawing/2014/main" val="3911060779"/>
                  </a:ext>
                </a:extLst>
              </a:tr>
              <a:tr h="370840">
                <a:tc>
                  <a:txBody>
                    <a:bodyPr/>
                    <a:lstStyle/>
                    <a:p>
                      <a:r>
                        <a:rPr lang="en-US" altLang="zh-CN" dirty="0" err="1"/>
                        <a:t>Gzip</a:t>
                      </a:r>
                      <a:endParaRPr lang="zh-CN" altLang="en-US" dirty="0"/>
                    </a:p>
                  </a:txBody>
                  <a:tcPr/>
                </a:tc>
                <a:tc>
                  <a:txBody>
                    <a:bodyPr/>
                    <a:lstStyle/>
                    <a:p>
                      <a:r>
                        <a:rPr lang="en-US" altLang="zh-CN" sz="1800" b="0" i="0" kern="1200" dirty="0">
                          <a:solidFill>
                            <a:schemeClr val="dk1"/>
                          </a:solidFill>
                          <a:effectLst/>
                          <a:latin typeface="+mn-lt"/>
                          <a:ea typeface="+mn-ea"/>
                          <a:cs typeface="+mn-cs"/>
                        </a:rPr>
                        <a:t>66 MB/s</a:t>
                      </a:r>
                      <a:endParaRPr lang="zh-CN" altLang="en-US" dirty="0"/>
                    </a:p>
                  </a:txBody>
                  <a:tcPr/>
                </a:tc>
                <a:tc>
                  <a:txBody>
                    <a:bodyPr/>
                    <a:lstStyle/>
                    <a:p>
                      <a:r>
                        <a:rPr lang="en-US" altLang="zh-CN" sz="1800" b="0" i="0" kern="1200" dirty="0">
                          <a:solidFill>
                            <a:schemeClr val="dk1"/>
                          </a:solidFill>
                          <a:effectLst/>
                          <a:latin typeface="+mn-lt"/>
                          <a:ea typeface="+mn-ea"/>
                          <a:cs typeface="+mn-cs"/>
                        </a:rPr>
                        <a:t>250 MB/s</a:t>
                      </a:r>
                      <a:endParaRPr lang="zh-CN" altLang="en-US" dirty="0"/>
                    </a:p>
                  </a:txBody>
                  <a:tcPr/>
                </a:tc>
                <a:tc>
                  <a:txBody>
                    <a:bodyPr/>
                    <a:lstStyle/>
                    <a:p>
                      <a:r>
                        <a:rPr lang="en-US" altLang="zh-CN" sz="1800" b="0" i="0" kern="1200" dirty="0">
                          <a:solidFill>
                            <a:schemeClr val="dk1"/>
                          </a:solidFill>
                          <a:effectLst/>
                          <a:latin typeface="+mn-lt"/>
                          <a:ea typeface="+mn-ea"/>
                          <a:cs typeface="+mn-cs"/>
                        </a:rPr>
                        <a:t>0.36</a:t>
                      </a:r>
                      <a:endParaRPr lang="zh-CN" altLang="en-US" dirty="0"/>
                    </a:p>
                  </a:txBody>
                  <a:tcPr/>
                </a:tc>
                <a:extLst>
                  <a:ext uri="{0D108BD9-81ED-4DB2-BD59-A6C34878D82A}">
                    <a16:rowId xmlns:a16="http://schemas.microsoft.com/office/drawing/2014/main" val="2405749941"/>
                  </a:ext>
                </a:extLst>
              </a:tr>
              <a:tr h="370840">
                <a:tc>
                  <a:txBody>
                    <a:bodyPr/>
                    <a:lstStyle/>
                    <a:p>
                      <a:r>
                        <a:rPr lang="en-US" altLang="zh-CN" dirty="0"/>
                        <a:t>Snappy</a:t>
                      </a:r>
                      <a:endParaRPr lang="zh-CN" altLang="en-US" dirty="0"/>
                    </a:p>
                  </a:txBody>
                  <a:tcPr/>
                </a:tc>
                <a:tc>
                  <a:txBody>
                    <a:bodyPr/>
                    <a:lstStyle/>
                    <a:p>
                      <a:r>
                        <a:rPr lang="en-US" altLang="zh-CN" sz="1800" b="0" i="0" kern="1200" dirty="0">
                          <a:solidFill>
                            <a:schemeClr val="dk1"/>
                          </a:solidFill>
                          <a:effectLst/>
                          <a:latin typeface="+mn-lt"/>
                          <a:ea typeface="+mn-ea"/>
                          <a:cs typeface="+mn-cs"/>
                        </a:rPr>
                        <a:t>327 MB/s</a:t>
                      </a:r>
                      <a:endParaRPr lang="zh-CN" altLang="en-US" dirty="0"/>
                    </a:p>
                  </a:txBody>
                  <a:tcPr/>
                </a:tc>
                <a:tc>
                  <a:txBody>
                    <a:bodyPr/>
                    <a:lstStyle/>
                    <a:p>
                      <a:r>
                        <a:rPr lang="en-US" altLang="zh-CN" sz="1800" b="0" i="0" kern="1200" dirty="0">
                          <a:solidFill>
                            <a:schemeClr val="dk1"/>
                          </a:solidFill>
                          <a:effectLst/>
                          <a:latin typeface="+mn-lt"/>
                          <a:ea typeface="+mn-ea"/>
                          <a:cs typeface="+mn-cs"/>
                        </a:rPr>
                        <a:t>1075 MB/s</a:t>
                      </a:r>
                      <a:endParaRPr lang="zh-CN" altLang="en-US" dirty="0"/>
                    </a:p>
                  </a:txBody>
                  <a:tcPr/>
                </a:tc>
                <a:tc>
                  <a:txBody>
                    <a:bodyPr/>
                    <a:lstStyle/>
                    <a:p>
                      <a:r>
                        <a:rPr lang="en-US" altLang="zh-CN" dirty="0"/>
                        <a:t>0.48</a:t>
                      </a:r>
                      <a:endParaRPr lang="zh-CN" altLang="en-US" dirty="0"/>
                    </a:p>
                  </a:txBody>
                  <a:tcPr/>
                </a:tc>
                <a:extLst>
                  <a:ext uri="{0D108BD9-81ED-4DB2-BD59-A6C34878D82A}">
                    <a16:rowId xmlns:a16="http://schemas.microsoft.com/office/drawing/2014/main" val="3546919119"/>
                  </a:ext>
                </a:extLst>
              </a:tr>
              <a:tr h="370840">
                <a:tc>
                  <a:txBody>
                    <a:bodyPr/>
                    <a:lstStyle/>
                    <a:p>
                      <a:r>
                        <a:rPr lang="en-US" altLang="zh-CN" dirty="0"/>
                        <a:t>lz4</a:t>
                      </a:r>
                      <a:endParaRPr lang="zh-CN" altLang="en-US" dirty="0"/>
                    </a:p>
                  </a:txBody>
                  <a:tcPr/>
                </a:tc>
                <a:tc>
                  <a:txBody>
                    <a:bodyPr/>
                    <a:lstStyle/>
                    <a:p>
                      <a:r>
                        <a:rPr lang="en-US" altLang="zh-CN" sz="1800" b="0" i="0" kern="1200" dirty="0">
                          <a:solidFill>
                            <a:schemeClr val="dk1"/>
                          </a:solidFill>
                          <a:effectLst/>
                          <a:latin typeface="+mn-lt"/>
                          <a:ea typeface="+mn-ea"/>
                          <a:cs typeface="+mn-cs"/>
                        </a:rPr>
                        <a:t>785 MB/s</a:t>
                      </a:r>
                      <a:endParaRPr lang="zh-CN" altLang="en-US" dirty="0"/>
                    </a:p>
                  </a:txBody>
                  <a:tcPr/>
                </a:tc>
                <a:tc>
                  <a:txBody>
                    <a:bodyPr/>
                    <a:lstStyle/>
                    <a:p>
                      <a:r>
                        <a:rPr lang="en-US" altLang="zh-CN" sz="1800" b="0" i="0" kern="1200" dirty="0">
                          <a:solidFill>
                            <a:schemeClr val="dk1"/>
                          </a:solidFill>
                          <a:effectLst/>
                          <a:latin typeface="+mn-lt"/>
                          <a:ea typeface="+mn-ea"/>
                          <a:cs typeface="+mn-cs"/>
                        </a:rPr>
                        <a:t>2601 MB/s</a:t>
                      </a:r>
                      <a:endParaRPr lang="zh-CN" altLang="en-US" dirty="0"/>
                    </a:p>
                  </a:txBody>
                  <a:tcPr/>
                </a:tc>
                <a:tc>
                  <a:txBody>
                    <a:bodyPr/>
                    <a:lstStyle/>
                    <a:p>
                      <a:r>
                        <a:rPr lang="en-US" altLang="zh-CN" sz="1800" b="0" i="0" kern="1200" dirty="0">
                          <a:solidFill>
                            <a:schemeClr val="dk1"/>
                          </a:solidFill>
                          <a:effectLst/>
                          <a:latin typeface="+mn-lt"/>
                          <a:ea typeface="+mn-ea"/>
                          <a:cs typeface="+mn-cs"/>
                        </a:rPr>
                        <a:t>0.62</a:t>
                      </a:r>
                      <a:endParaRPr lang="zh-CN" altLang="en-US" dirty="0"/>
                    </a:p>
                  </a:txBody>
                  <a:tcPr/>
                </a:tc>
                <a:extLst>
                  <a:ext uri="{0D108BD9-81ED-4DB2-BD59-A6C34878D82A}">
                    <a16:rowId xmlns:a16="http://schemas.microsoft.com/office/drawing/2014/main" val="118890796"/>
                  </a:ext>
                </a:extLst>
              </a:tr>
            </a:tbl>
          </a:graphicData>
        </a:graphic>
      </p:graphicFrame>
    </p:spTree>
    <p:extLst>
      <p:ext uri="{BB962C8B-B14F-4D97-AF65-F5344CB8AC3E}">
        <p14:creationId xmlns:p14="http://schemas.microsoft.com/office/powerpoint/2010/main" val="2061030626"/>
      </p:ext>
    </p:extLst>
  </p:cSld>
  <p:clrMapOvr>
    <a:masterClrMapping/>
  </p:clrMapOvr>
  <p:transition spd="med">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文本框 1"/>
          <p:cNvSpPr txBox="1">
            <a:spLocks noChangeArrowheads="1"/>
          </p:cNvSpPr>
          <p:nvPr/>
        </p:nvSpPr>
        <p:spPr bwMode="auto">
          <a:xfrm>
            <a:off x="-7464425" y="4954588"/>
            <a:ext cx="1857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charset="0"/>
              <a:buChar char="•"/>
              <a:defRPr sz="2800">
                <a:solidFill>
                  <a:schemeClr val="tx1"/>
                </a:solidFill>
                <a:latin typeface="Calibri" charset="0"/>
                <a:ea typeface="宋体" charset="0"/>
              </a:defRPr>
            </a:lvl1pPr>
            <a:lvl2pPr marL="742950" indent="-285750">
              <a:lnSpc>
                <a:spcPct val="90000"/>
              </a:lnSpc>
              <a:spcBef>
                <a:spcPts val="500"/>
              </a:spcBef>
              <a:buFont typeface="Arial" charset="0"/>
              <a:buChar char="•"/>
              <a:defRPr sz="2400">
                <a:solidFill>
                  <a:schemeClr val="tx1"/>
                </a:solidFill>
                <a:latin typeface="Calibri" charset="0"/>
                <a:ea typeface="宋体" charset="0"/>
              </a:defRPr>
            </a:lvl2pPr>
            <a:lvl3pPr marL="1143000" indent="-228600">
              <a:lnSpc>
                <a:spcPct val="90000"/>
              </a:lnSpc>
              <a:spcBef>
                <a:spcPts val="500"/>
              </a:spcBef>
              <a:buFont typeface="Arial" charset="0"/>
              <a:buChar char="•"/>
              <a:defRPr sz="2000">
                <a:solidFill>
                  <a:schemeClr val="tx1"/>
                </a:solidFill>
                <a:latin typeface="Calibri" charset="0"/>
                <a:ea typeface="宋体" charset="0"/>
              </a:defRPr>
            </a:lvl3pPr>
            <a:lvl4pPr marL="1600200" indent="-228600">
              <a:lnSpc>
                <a:spcPct val="90000"/>
              </a:lnSpc>
              <a:spcBef>
                <a:spcPts val="500"/>
              </a:spcBef>
              <a:buFont typeface="Arial" charset="0"/>
              <a:buChar char="•"/>
              <a:defRPr>
                <a:solidFill>
                  <a:schemeClr val="tx1"/>
                </a:solidFill>
                <a:latin typeface="Calibri" charset="0"/>
                <a:ea typeface="宋体" charset="0"/>
              </a:defRPr>
            </a:lvl4pPr>
            <a:lvl5pPr marL="2057400" indent="-228600">
              <a:lnSpc>
                <a:spcPct val="90000"/>
              </a:lnSpc>
              <a:spcBef>
                <a:spcPts val="500"/>
              </a:spcBef>
              <a:buFont typeface="Arial" charset="0"/>
              <a:buChar char="•"/>
              <a:defRPr>
                <a:solidFill>
                  <a:schemeClr val="tx1"/>
                </a:solidFill>
                <a:latin typeface="Calibri" charset="0"/>
                <a:ea typeface="宋体" charset="0"/>
              </a:defRPr>
            </a:lvl5pPr>
            <a:lvl6pPr marL="25146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6pPr>
            <a:lvl7pPr marL="29718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7pPr>
            <a:lvl8pPr marL="34290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8pPr>
            <a:lvl9pPr marL="38862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9pPr>
          </a:lstStyle>
          <a:p>
            <a:pPr>
              <a:lnSpc>
                <a:spcPct val="100000"/>
              </a:lnSpc>
              <a:spcBef>
                <a:spcPct val="0"/>
              </a:spcBef>
              <a:buFontTx/>
              <a:buNone/>
            </a:pPr>
            <a:endParaRPr kumimoji="1" lang="zh-CN" altLang="en-US" sz="1800">
              <a:latin typeface="+mn-lt"/>
            </a:endParaRPr>
          </a:p>
        </p:txBody>
      </p:sp>
      <p:sp>
        <p:nvSpPr>
          <p:cNvPr id="10" name="文本框 9">
            <a:extLst>
              <a:ext uri="{FF2B5EF4-FFF2-40B4-BE49-F238E27FC236}">
                <a16:creationId xmlns:a16="http://schemas.microsoft.com/office/drawing/2014/main" id="{5D53F571-3FE3-414E-8DE9-03044D097F3C}"/>
              </a:ext>
            </a:extLst>
          </p:cNvPr>
          <p:cNvSpPr txBox="1"/>
          <p:nvPr/>
        </p:nvSpPr>
        <p:spPr>
          <a:xfrm>
            <a:off x="654258" y="589775"/>
            <a:ext cx="5289342" cy="523220"/>
          </a:xfrm>
          <a:prstGeom prst="rect">
            <a:avLst/>
          </a:prstGeom>
          <a:noFill/>
        </p:spPr>
        <p:txBody>
          <a:bodyPr wrap="square" rtlCol="0">
            <a:spAutoFit/>
          </a:bodyPr>
          <a:lstStyle/>
          <a:p>
            <a:r>
              <a:rPr kumimoji="1" lang="zh-CN" altLang="en-US" sz="2800" dirty="0">
                <a:latin typeface="Microsoft YaHei" charset="-122"/>
                <a:ea typeface="Microsoft YaHei" charset="-122"/>
                <a:cs typeface="Microsoft YaHei" charset="-122"/>
              </a:rPr>
              <a:t>为什么压缩？</a:t>
            </a:r>
            <a:endParaRPr kumimoji="1" lang="en-US" altLang="zh-CN" sz="2800" dirty="0">
              <a:latin typeface="Microsoft YaHei" charset="-122"/>
              <a:ea typeface="Microsoft YaHei" charset="-122"/>
              <a:cs typeface="Microsoft YaHei" charset="-122"/>
            </a:endParaRP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0F8B491E-030D-4BFC-BEB2-1691DD095864}"/>
                  </a:ext>
                </a:extLst>
              </p:cNvPr>
              <p:cNvSpPr txBox="1"/>
              <p:nvPr/>
            </p:nvSpPr>
            <p:spPr>
              <a:xfrm>
                <a:off x="654258" y="1702125"/>
                <a:ext cx="8319621" cy="3139321"/>
              </a:xfrm>
              <a:prstGeom prst="rect">
                <a:avLst/>
              </a:prstGeom>
              <a:noFill/>
            </p:spPr>
            <p:txBody>
              <a:bodyPr wrap="square" rtlCol="0">
                <a:spAutoFit/>
              </a:bodyPr>
              <a:lstStyle/>
              <a:p>
                <a:r>
                  <a:rPr lang="zh-CN" altLang="en-US" dirty="0"/>
                  <a:t>首先，毫无疑问减少存储空间，尤其是在需要考虑存储成本的情况下</a:t>
                </a:r>
                <a:endParaRPr lang="en-US" altLang="zh-CN" dirty="0"/>
              </a:p>
              <a:p>
                <a:endParaRPr lang="en-US" altLang="zh-CN" dirty="0"/>
              </a:p>
              <a:p>
                <a:r>
                  <a:rPr lang="zh-CN" altLang="en-US" dirty="0"/>
                  <a:t>其次，压缩可以显著优化整体性能，以</a:t>
                </a:r>
                <a:r>
                  <a:rPr lang="en-US" altLang="zh-CN" dirty="0"/>
                  <a:t>HDD</a:t>
                </a:r>
                <a:r>
                  <a:rPr lang="zh-CN" altLang="en-US" dirty="0"/>
                  <a:t>（顺序读约</a:t>
                </a:r>
                <a:r>
                  <a:rPr lang="en-US" altLang="zh-CN" dirty="0"/>
                  <a:t>120MB/S</a:t>
                </a:r>
                <a:r>
                  <a:rPr lang="zh-CN" altLang="en-US" dirty="0"/>
                  <a:t>，顺序写约</a:t>
                </a:r>
                <a:r>
                  <a:rPr lang="en-US" altLang="zh-CN" dirty="0"/>
                  <a:t>80MB/S</a:t>
                </a:r>
                <a:r>
                  <a:rPr lang="zh-CN" altLang="en-US" dirty="0"/>
                  <a:t>）为例，有</a:t>
                </a:r>
                <a:r>
                  <a:rPr lang="en-US" altLang="zh-CN" dirty="0"/>
                  <a:t>1G</a:t>
                </a:r>
                <a:r>
                  <a:rPr lang="zh-CN" altLang="en-US" dirty="0"/>
                  <a:t>的文件需要存储</a:t>
                </a:r>
                <a:endParaRPr lang="en-US" altLang="zh-CN" dirty="0"/>
              </a:p>
              <a:p>
                <a:endParaRPr lang="en-US" altLang="zh-CN" dirty="0"/>
              </a:p>
              <a:p>
                <a:r>
                  <a:rPr lang="zh-CN" altLang="en-US" dirty="0"/>
                  <a:t>不压缩     写：</a:t>
                </a:r>
                <a:r>
                  <a:rPr lang="en-US" altLang="zh-CN" dirty="0"/>
                  <a:t>1024  </a:t>
                </a:r>
                <a14:m>
                  <m:oMath xmlns:m="http://schemas.openxmlformats.org/officeDocument/2006/math">
                    <m:r>
                      <a:rPr lang="zh-CN" altLang="en-US">
                        <a:latin typeface="Cambria Math" panose="02040503050406030204" pitchFamily="18" charset="0"/>
                      </a:rPr>
                      <m:t>÷</m:t>
                    </m:r>
                  </m:oMath>
                </a14:m>
                <a:r>
                  <a:rPr lang="en-US" altLang="zh-CN" dirty="0"/>
                  <a:t>   80 = 12.8 s</a:t>
                </a:r>
              </a:p>
              <a:p>
                <a:r>
                  <a:rPr lang="en-US" altLang="zh-CN" dirty="0"/>
                  <a:t>                  </a:t>
                </a:r>
                <a:r>
                  <a:rPr lang="zh-CN" altLang="en-US" dirty="0"/>
                  <a:t>读：</a:t>
                </a:r>
                <a:r>
                  <a:rPr lang="en-US" altLang="zh-CN" dirty="0"/>
                  <a:t>1024  </a:t>
                </a:r>
                <a14:m>
                  <m:oMath xmlns:m="http://schemas.openxmlformats.org/officeDocument/2006/math">
                    <m:r>
                      <a:rPr lang="zh-CN" altLang="en-US">
                        <a:latin typeface="Cambria Math" panose="02040503050406030204" pitchFamily="18" charset="0"/>
                      </a:rPr>
                      <m:t>÷</m:t>
                    </m:r>
                  </m:oMath>
                </a14:m>
                <a:r>
                  <a:rPr lang="en-US" altLang="zh-CN" dirty="0"/>
                  <a:t>   120 =  8.53</a:t>
                </a:r>
              </a:p>
              <a:p>
                <a:endParaRPr lang="en-US" altLang="zh-CN" dirty="0"/>
              </a:p>
              <a:p>
                <a:r>
                  <a:rPr lang="en-US" altLang="zh-CN" dirty="0"/>
                  <a:t>Snappy</a:t>
                </a:r>
                <a:r>
                  <a:rPr lang="zh-CN" altLang="en-US" dirty="0"/>
                  <a:t>      写： </a:t>
                </a:r>
                <a:r>
                  <a:rPr lang="en-US" altLang="zh-CN" dirty="0"/>
                  <a:t>1024 </a:t>
                </a:r>
                <a14:m>
                  <m:oMath xmlns:m="http://schemas.openxmlformats.org/officeDocument/2006/math">
                    <m:r>
                      <a:rPr lang="en-US" altLang="zh-CN" b="0" i="0" smtClean="0">
                        <a:latin typeface="Cambria Math" panose="02040503050406030204" pitchFamily="18" charset="0"/>
                      </a:rPr>
                      <m:t> </m:t>
                    </m:r>
                    <m:r>
                      <a:rPr lang="zh-CN" altLang="en-US">
                        <a:latin typeface="Cambria Math" panose="02040503050406030204" pitchFamily="18" charset="0"/>
                      </a:rPr>
                      <m:t>÷</m:t>
                    </m:r>
                  </m:oMath>
                </a14:m>
                <a:r>
                  <a:rPr lang="en-US" altLang="zh-CN" dirty="0"/>
                  <a:t>  327 +  1024 </a:t>
                </a:r>
                <a:r>
                  <a:rPr lang="zh-CN" altLang="en-US" dirty="0"/>
                  <a:t>* </a:t>
                </a:r>
                <a:r>
                  <a:rPr lang="en-US" altLang="zh-CN" dirty="0"/>
                  <a:t>0.48 </a:t>
                </a:r>
                <a14:m>
                  <m:oMath xmlns:m="http://schemas.openxmlformats.org/officeDocument/2006/math">
                    <m:r>
                      <a:rPr lang="zh-CN" altLang="en-US">
                        <a:latin typeface="Cambria Math" panose="02040503050406030204" pitchFamily="18" charset="0"/>
                      </a:rPr>
                      <m:t>÷</m:t>
                    </m:r>
                  </m:oMath>
                </a14:m>
                <a:r>
                  <a:rPr lang="en-US" altLang="zh-CN" dirty="0"/>
                  <a:t>  80 =  9.28 s</a:t>
                </a:r>
              </a:p>
              <a:p>
                <a:r>
                  <a:rPr lang="en-US" altLang="zh-CN" dirty="0"/>
                  <a:t>                   </a:t>
                </a:r>
                <a:r>
                  <a:rPr lang="zh-CN" altLang="en-US" dirty="0"/>
                  <a:t>读： </a:t>
                </a:r>
                <a:r>
                  <a:rPr lang="en-US" altLang="zh-CN" dirty="0"/>
                  <a:t>1024 </a:t>
                </a:r>
                <a:r>
                  <a:rPr lang="zh-CN" altLang="en-US" dirty="0"/>
                  <a:t>* </a:t>
                </a:r>
                <a:r>
                  <a:rPr lang="en-US" altLang="zh-CN" dirty="0"/>
                  <a:t>0.48 </a:t>
                </a:r>
                <a14:m>
                  <m:oMath xmlns:m="http://schemas.openxmlformats.org/officeDocument/2006/math">
                    <m:r>
                      <a:rPr lang="zh-CN" altLang="en-US">
                        <a:latin typeface="Cambria Math" panose="02040503050406030204" pitchFamily="18" charset="0"/>
                      </a:rPr>
                      <m:t>÷</m:t>
                    </m:r>
                  </m:oMath>
                </a14:m>
                <a:r>
                  <a:rPr lang="en-US" altLang="zh-CN" dirty="0"/>
                  <a:t> 120 + 1024 </a:t>
                </a:r>
                <a:r>
                  <a:rPr lang="zh-CN" altLang="en-US" dirty="0"/>
                  <a:t>* </a:t>
                </a:r>
                <a:r>
                  <a:rPr lang="en-US" altLang="zh-CN" dirty="0"/>
                  <a:t>0.48 </a:t>
                </a:r>
                <a14:m>
                  <m:oMath xmlns:m="http://schemas.openxmlformats.org/officeDocument/2006/math">
                    <m:r>
                      <a:rPr lang="zh-CN" altLang="en-US">
                        <a:latin typeface="Cambria Math" panose="02040503050406030204" pitchFamily="18" charset="0"/>
                      </a:rPr>
                      <m:t>÷</m:t>
                    </m:r>
                  </m:oMath>
                </a14:m>
                <a:r>
                  <a:rPr lang="en-US" altLang="zh-CN" dirty="0"/>
                  <a:t> 1075 =   4.55 s</a:t>
                </a:r>
                <a:endParaRPr lang="zh-CN" altLang="en-US" dirty="0"/>
              </a:p>
              <a:p>
                <a:endParaRPr lang="zh-CN" altLang="en-US" dirty="0"/>
              </a:p>
            </p:txBody>
          </p:sp>
        </mc:Choice>
        <mc:Fallback xmlns="">
          <p:sp>
            <p:nvSpPr>
              <p:cNvPr id="2" name="文本框 1">
                <a:extLst>
                  <a:ext uri="{FF2B5EF4-FFF2-40B4-BE49-F238E27FC236}">
                    <a16:creationId xmlns:a16="http://schemas.microsoft.com/office/drawing/2014/main" id="{0F8B491E-030D-4BFC-BEB2-1691DD095864}"/>
                  </a:ext>
                </a:extLst>
              </p:cNvPr>
              <p:cNvSpPr txBox="1">
                <a:spLocks noRot="1" noChangeAspect="1" noMove="1" noResize="1" noEditPoints="1" noAdjustHandles="1" noChangeArrowheads="1" noChangeShapeType="1" noTextEdit="1"/>
              </p:cNvSpPr>
              <p:nvPr/>
            </p:nvSpPr>
            <p:spPr>
              <a:xfrm>
                <a:off x="654258" y="1702125"/>
                <a:ext cx="8319621" cy="3139321"/>
              </a:xfrm>
              <a:prstGeom prst="rect">
                <a:avLst/>
              </a:prstGeom>
              <a:blipFill>
                <a:blip r:embed="rId3"/>
                <a:stretch>
                  <a:fillRect l="-586" t="-1553"/>
                </a:stretch>
              </a:blipFill>
            </p:spPr>
            <p:txBody>
              <a:bodyPr/>
              <a:lstStyle/>
              <a:p>
                <a:r>
                  <a:rPr lang="zh-CN" altLang="en-US">
                    <a:noFill/>
                  </a:rPr>
                  <a:t> </a:t>
                </a:r>
              </a:p>
            </p:txBody>
          </p:sp>
        </mc:Fallback>
      </mc:AlternateContent>
      <p:sp>
        <p:nvSpPr>
          <p:cNvPr id="5" name="文本框 4">
            <a:extLst>
              <a:ext uri="{FF2B5EF4-FFF2-40B4-BE49-F238E27FC236}">
                <a16:creationId xmlns:a16="http://schemas.microsoft.com/office/drawing/2014/main" id="{BAF041A7-A279-4DD1-BA13-50AAEAD9B232}"/>
              </a:ext>
            </a:extLst>
          </p:cNvPr>
          <p:cNvSpPr txBox="1"/>
          <p:nvPr/>
        </p:nvSpPr>
        <p:spPr>
          <a:xfrm>
            <a:off x="821933" y="4954588"/>
            <a:ext cx="6472719" cy="830997"/>
          </a:xfrm>
          <a:prstGeom prst="rect">
            <a:avLst/>
          </a:prstGeom>
          <a:noFill/>
        </p:spPr>
        <p:txBody>
          <a:bodyPr wrap="square" rtlCol="0">
            <a:spAutoFit/>
          </a:bodyPr>
          <a:lstStyle/>
          <a:p>
            <a:r>
              <a:rPr lang="zh-CN" altLang="en-US" sz="2400" dirty="0"/>
              <a:t>写减少了</a:t>
            </a:r>
            <a:r>
              <a:rPr lang="en-US" altLang="zh-CN" sz="2400" dirty="0"/>
              <a:t>27.5%</a:t>
            </a:r>
            <a:r>
              <a:rPr lang="zh-CN" altLang="en-US" sz="2400" dirty="0"/>
              <a:t>，读减少了</a:t>
            </a:r>
            <a:r>
              <a:rPr lang="en-US" altLang="zh-CN" sz="2400" dirty="0"/>
              <a:t>46.7% </a:t>
            </a:r>
            <a:r>
              <a:rPr lang="zh-CN" altLang="en-US" sz="2400" dirty="0"/>
              <a:t>！    </a:t>
            </a:r>
            <a:r>
              <a:rPr lang="en-US" altLang="zh-CN" sz="2400" dirty="0"/>
              <a:t>CPU</a:t>
            </a:r>
            <a:r>
              <a:rPr lang="zh-CN" altLang="en-US" sz="2400" dirty="0"/>
              <a:t>换</a:t>
            </a:r>
            <a:r>
              <a:rPr lang="en-US" altLang="zh-CN" sz="2400" dirty="0"/>
              <a:t>IO</a:t>
            </a:r>
          </a:p>
          <a:p>
            <a:endParaRPr lang="zh-CN" altLang="en-US" sz="2400" dirty="0"/>
          </a:p>
        </p:txBody>
      </p:sp>
    </p:spTree>
    <p:extLst>
      <p:ext uri="{BB962C8B-B14F-4D97-AF65-F5344CB8AC3E}">
        <p14:creationId xmlns:p14="http://schemas.microsoft.com/office/powerpoint/2010/main" val="3545573489"/>
      </p:ext>
    </p:extLst>
  </p:cSld>
  <p:clrMapOvr>
    <a:masterClrMapping/>
  </p:clrMapOvr>
  <p:transition spd="med">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文本框 1"/>
          <p:cNvSpPr txBox="1">
            <a:spLocks noChangeArrowheads="1"/>
          </p:cNvSpPr>
          <p:nvPr/>
        </p:nvSpPr>
        <p:spPr bwMode="auto">
          <a:xfrm>
            <a:off x="-7464425" y="4954588"/>
            <a:ext cx="1857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charset="0"/>
              <a:buChar char="•"/>
              <a:defRPr sz="2800">
                <a:solidFill>
                  <a:schemeClr val="tx1"/>
                </a:solidFill>
                <a:latin typeface="Calibri" charset="0"/>
                <a:ea typeface="宋体" charset="0"/>
              </a:defRPr>
            </a:lvl1pPr>
            <a:lvl2pPr marL="742950" indent="-285750">
              <a:lnSpc>
                <a:spcPct val="90000"/>
              </a:lnSpc>
              <a:spcBef>
                <a:spcPts val="500"/>
              </a:spcBef>
              <a:buFont typeface="Arial" charset="0"/>
              <a:buChar char="•"/>
              <a:defRPr sz="2400">
                <a:solidFill>
                  <a:schemeClr val="tx1"/>
                </a:solidFill>
                <a:latin typeface="Calibri" charset="0"/>
                <a:ea typeface="宋体" charset="0"/>
              </a:defRPr>
            </a:lvl2pPr>
            <a:lvl3pPr marL="1143000" indent="-228600">
              <a:lnSpc>
                <a:spcPct val="90000"/>
              </a:lnSpc>
              <a:spcBef>
                <a:spcPts val="500"/>
              </a:spcBef>
              <a:buFont typeface="Arial" charset="0"/>
              <a:buChar char="•"/>
              <a:defRPr sz="2000">
                <a:solidFill>
                  <a:schemeClr val="tx1"/>
                </a:solidFill>
                <a:latin typeface="Calibri" charset="0"/>
                <a:ea typeface="宋体" charset="0"/>
              </a:defRPr>
            </a:lvl3pPr>
            <a:lvl4pPr marL="1600200" indent="-228600">
              <a:lnSpc>
                <a:spcPct val="90000"/>
              </a:lnSpc>
              <a:spcBef>
                <a:spcPts val="500"/>
              </a:spcBef>
              <a:buFont typeface="Arial" charset="0"/>
              <a:buChar char="•"/>
              <a:defRPr>
                <a:solidFill>
                  <a:schemeClr val="tx1"/>
                </a:solidFill>
                <a:latin typeface="Calibri" charset="0"/>
                <a:ea typeface="宋体" charset="0"/>
              </a:defRPr>
            </a:lvl4pPr>
            <a:lvl5pPr marL="2057400" indent="-228600">
              <a:lnSpc>
                <a:spcPct val="90000"/>
              </a:lnSpc>
              <a:spcBef>
                <a:spcPts val="500"/>
              </a:spcBef>
              <a:buFont typeface="Arial" charset="0"/>
              <a:buChar char="•"/>
              <a:defRPr>
                <a:solidFill>
                  <a:schemeClr val="tx1"/>
                </a:solidFill>
                <a:latin typeface="Calibri" charset="0"/>
                <a:ea typeface="宋体" charset="0"/>
              </a:defRPr>
            </a:lvl5pPr>
            <a:lvl6pPr marL="25146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6pPr>
            <a:lvl7pPr marL="29718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7pPr>
            <a:lvl8pPr marL="34290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8pPr>
            <a:lvl9pPr marL="38862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9pPr>
          </a:lstStyle>
          <a:p>
            <a:pPr>
              <a:lnSpc>
                <a:spcPct val="100000"/>
              </a:lnSpc>
              <a:spcBef>
                <a:spcPct val="0"/>
              </a:spcBef>
              <a:buFontTx/>
              <a:buNone/>
            </a:pPr>
            <a:endParaRPr kumimoji="1" lang="zh-CN" altLang="en-US" sz="1800">
              <a:latin typeface="+mn-lt"/>
            </a:endParaRPr>
          </a:p>
        </p:txBody>
      </p:sp>
      <p:sp>
        <p:nvSpPr>
          <p:cNvPr id="10" name="文本框 9">
            <a:extLst>
              <a:ext uri="{FF2B5EF4-FFF2-40B4-BE49-F238E27FC236}">
                <a16:creationId xmlns:a16="http://schemas.microsoft.com/office/drawing/2014/main" id="{5D53F571-3FE3-414E-8DE9-03044D097F3C}"/>
              </a:ext>
            </a:extLst>
          </p:cNvPr>
          <p:cNvSpPr txBox="1"/>
          <p:nvPr/>
        </p:nvSpPr>
        <p:spPr>
          <a:xfrm>
            <a:off x="654258" y="589775"/>
            <a:ext cx="5289342" cy="523220"/>
          </a:xfrm>
          <a:prstGeom prst="rect">
            <a:avLst/>
          </a:prstGeom>
          <a:noFill/>
        </p:spPr>
        <p:txBody>
          <a:bodyPr wrap="square" rtlCol="0">
            <a:spAutoFit/>
          </a:bodyPr>
          <a:lstStyle/>
          <a:p>
            <a:r>
              <a:rPr kumimoji="1" lang="zh-CN" altLang="en-US" sz="2800" dirty="0">
                <a:latin typeface="Microsoft YaHei" charset="-122"/>
                <a:ea typeface="Microsoft YaHei" charset="-122"/>
                <a:cs typeface="Microsoft YaHei" charset="-122"/>
              </a:rPr>
              <a:t>快速设备对传统方案的冲击</a:t>
            </a:r>
            <a:endParaRPr kumimoji="1" lang="en-US" altLang="zh-CN" sz="2800" dirty="0">
              <a:latin typeface="Microsoft YaHei" charset="-122"/>
              <a:ea typeface="Microsoft YaHei" charset="-122"/>
              <a:cs typeface="Microsoft YaHei" charset="-122"/>
            </a:endParaRPr>
          </a:p>
        </p:txBody>
      </p:sp>
      <p:pic>
        <p:nvPicPr>
          <p:cNvPr id="4" name="图片 3">
            <a:extLst>
              <a:ext uri="{FF2B5EF4-FFF2-40B4-BE49-F238E27FC236}">
                <a16:creationId xmlns:a16="http://schemas.microsoft.com/office/drawing/2014/main" id="{B599EFE2-8FC2-4D19-840C-8DEF08E44A5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4258" y="1499991"/>
            <a:ext cx="2290850" cy="1288603"/>
          </a:xfrm>
          <a:prstGeom prst="rect">
            <a:avLst/>
          </a:prstGeom>
        </p:spPr>
      </p:pic>
      <p:sp>
        <p:nvSpPr>
          <p:cNvPr id="2" name="文本框 1">
            <a:extLst>
              <a:ext uri="{FF2B5EF4-FFF2-40B4-BE49-F238E27FC236}">
                <a16:creationId xmlns:a16="http://schemas.microsoft.com/office/drawing/2014/main" id="{A12F0978-7D80-49BE-A67E-1C73F1420B76}"/>
              </a:ext>
            </a:extLst>
          </p:cNvPr>
          <p:cNvSpPr txBox="1"/>
          <p:nvPr/>
        </p:nvSpPr>
        <p:spPr>
          <a:xfrm>
            <a:off x="2945108" y="1821126"/>
            <a:ext cx="3791164" cy="646331"/>
          </a:xfrm>
          <a:prstGeom prst="rect">
            <a:avLst/>
          </a:prstGeom>
          <a:noFill/>
        </p:spPr>
        <p:txBody>
          <a:bodyPr wrap="square" rtlCol="0">
            <a:spAutoFit/>
          </a:bodyPr>
          <a:lstStyle/>
          <a:p>
            <a:r>
              <a:rPr lang="zh-CN" altLang="en-US" dirty="0"/>
              <a:t>顺序读带宽能达到</a:t>
            </a:r>
            <a:r>
              <a:rPr lang="en-US" altLang="zh-CN" dirty="0"/>
              <a:t>3~4GB/s</a:t>
            </a:r>
          </a:p>
          <a:p>
            <a:r>
              <a:rPr lang="zh-CN" altLang="en-US" dirty="0"/>
              <a:t>顺序写带宽能达到</a:t>
            </a:r>
            <a:r>
              <a:rPr lang="en-US" altLang="zh-CN" dirty="0"/>
              <a:t>1~2GB/s</a:t>
            </a:r>
            <a:endParaRPr lang="zh-CN" altLang="en-US" dirty="0"/>
          </a:p>
        </p:txBody>
      </p:sp>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B93F6A58-7418-46DF-A365-1EC4B3C21CFA}"/>
                  </a:ext>
                </a:extLst>
              </p:cNvPr>
              <p:cNvSpPr/>
              <p:nvPr/>
            </p:nvSpPr>
            <p:spPr>
              <a:xfrm>
                <a:off x="1799682" y="3175588"/>
                <a:ext cx="6779239" cy="1477328"/>
              </a:xfrm>
              <a:prstGeom prst="rect">
                <a:avLst/>
              </a:prstGeom>
            </p:spPr>
            <p:txBody>
              <a:bodyPr wrap="square">
                <a:spAutoFit/>
              </a:bodyPr>
              <a:lstStyle/>
              <a:p>
                <a:r>
                  <a:rPr lang="zh-CN" altLang="en-US" dirty="0"/>
                  <a:t>不压缩     写：</a:t>
                </a:r>
                <a:r>
                  <a:rPr lang="en-US" altLang="zh-CN" dirty="0"/>
                  <a:t>1024  </a:t>
                </a:r>
                <a14:m>
                  <m:oMath xmlns:m="http://schemas.openxmlformats.org/officeDocument/2006/math">
                    <m:r>
                      <a:rPr lang="zh-CN" altLang="en-US">
                        <a:latin typeface="Cambria Math" panose="02040503050406030204" pitchFamily="18" charset="0"/>
                      </a:rPr>
                      <m:t>÷</m:t>
                    </m:r>
                  </m:oMath>
                </a14:m>
                <a:r>
                  <a:rPr lang="en-US" altLang="zh-CN" dirty="0"/>
                  <a:t>   1536 = 0.67 s</a:t>
                </a:r>
              </a:p>
              <a:p>
                <a:r>
                  <a:rPr lang="en-US" altLang="zh-CN" dirty="0"/>
                  <a:t>                  </a:t>
                </a:r>
                <a:r>
                  <a:rPr lang="zh-CN" altLang="en-US" dirty="0"/>
                  <a:t>读：</a:t>
                </a:r>
                <a:r>
                  <a:rPr lang="en-US" altLang="zh-CN" dirty="0"/>
                  <a:t>1024  </a:t>
                </a:r>
                <a14:m>
                  <m:oMath xmlns:m="http://schemas.openxmlformats.org/officeDocument/2006/math">
                    <m:r>
                      <a:rPr lang="zh-CN" altLang="en-US">
                        <a:latin typeface="Cambria Math" panose="02040503050406030204" pitchFamily="18" charset="0"/>
                      </a:rPr>
                      <m:t>÷</m:t>
                    </m:r>
                  </m:oMath>
                </a14:m>
                <a:r>
                  <a:rPr lang="en-US" altLang="zh-CN" dirty="0"/>
                  <a:t>   3584 =  0.29 s</a:t>
                </a:r>
              </a:p>
              <a:p>
                <a:endParaRPr lang="en-US" altLang="zh-CN" dirty="0"/>
              </a:p>
              <a:p>
                <a:r>
                  <a:rPr lang="en-US" altLang="zh-CN" dirty="0"/>
                  <a:t>Snappy</a:t>
                </a:r>
                <a:r>
                  <a:rPr lang="zh-CN" altLang="en-US" dirty="0"/>
                  <a:t>      写： </a:t>
                </a:r>
                <a:r>
                  <a:rPr lang="en-US" altLang="zh-CN" dirty="0"/>
                  <a:t>1024 </a:t>
                </a:r>
                <a14:m>
                  <m:oMath xmlns:m="http://schemas.openxmlformats.org/officeDocument/2006/math">
                    <m:r>
                      <a:rPr lang="en-US" altLang="zh-CN">
                        <a:latin typeface="Cambria Math" panose="02040503050406030204" pitchFamily="18" charset="0"/>
                      </a:rPr>
                      <m:t> </m:t>
                    </m:r>
                    <m:r>
                      <a:rPr lang="zh-CN" altLang="en-US">
                        <a:latin typeface="Cambria Math" panose="02040503050406030204" pitchFamily="18" charset="0"/>
                      </a:rPr>
                      <m:t>÷</m:t>
                    </m:r>
                  </m:oMath>
                </a14:m>
                <a:r>
                  <a:rPr lang="en-US" altLang="zh-CN" dirty="0"/>
                  <a:t>  327 +  1024 </a:t>
                </a:r>
                <a:r>
                  <a:rPr lang="zh-CN" altLang="en-US" dirty="0"/>
                  <a:t>* </a:t>
                </a:r>
                <a:r>
                  <a:rPr lang="en-US" altLang="zh-CN" dirty="0"/>
                  <a:t>0.48 </a:t>
                </a:r>
                <a14:m>
                  <m:oMath xmlns:m="http://schemas.openxmlformats.org/officeDocument/2006/math">
                    <m:r>
                      <a:rPr lang="zh-CN" altLang="en-US">
                        <a:latin typeface="Cambria Math" panose="02040503050406030204" pitchFamily="18" charset="0"/>
                      </a:rPr>
                      <m:t>÷</m:t>
                    </m:r>
                  </m:oMath>
                </a14:m>
                <a:r>
                  <a:rPr lang="en-US" altLang="zh-CN" dirty="0"/>
                  <a:t>  1536 =  3.45 s</a:t>
                </a:r>
              </a:p>
              <a:p>
                <a:r>
                  <a:rPr lang="en-US" altLang="zh-CN" dirty="0"/>
                  <a:t>                   </a:t>
                </a:r>
                <a:r>
                  <a:rPr lang="zh-CN" altLang="en-US" dirty="0"/>
                  <a:t>读： </a:t>
                </a:r>
                <a:r>
                  <a:rPr lang="en-US" altLang="zh-CN" dirty="0"/>
                  <a:t>1024 </a:t>
                </a:r>
                <a:r>
                  <a:rPr lang="zh-CN" altLang="en-US" dirty="0"/>
                  <a:t>* </a:t>
                </a:r>
                <a:r>
                  <a:rPr lang="en-US" altLang="zh-CN" dirty="0"/>
                  <a:t>0.48 </a:t>
                </a:r>
                <a14:m>
                  <m:oMath xmlns:m="http://schemas.openxmlformats.org/officeDocument/2006/math">
                    <m:r>
                      <a:rPr lang="zh-CN" altLang="en-US">
                        <a:latin typeface="Cambria Math" panose="02040503050406030204" pitchFamily="18" charset="0"/>
                      </a:rPr>
                      <m:t>÷</m:t>
                    </m:r>
                  </m:oMath>
                </a14:m>
                <a:r>
                  <a:rPr lang="en-US" altLang="zh-CN" dirty="0"/>
                  <a:t> 3584 + 1024 </a:t>
                </a:r>
                <a:r>
                  <a:rPr lang="zh-CN" altLang="en-US" dirty="0"/>
                  <a:t>* </a:t>
                </a:r>
                <a:r>
                  <a:rPr lang="en-US" altLang="zh-CN" dirty="0"/>
                  <a:t>0.48 </a:t>
                </a:r>
                <a14:m>
                  <m:oMath xmlns:m="http://schemas.openxmlformats.org/officeDocument/2006/math">
                    <m:r>
                      <a:rPr lang="zh-CN" altLang="en-US">
                        <a:latin typeface="Cambria Math" panose="02040503050406030204" pitchFamily="18" charset="0"/>
                      </a:rPr>
                      <m:t>÷</m:t>
                    </m:r>
                  </m:oMath>
                </a14:m>
                <a:r>
                  <a:rPr lang="en-US" altLang="zh-CN" dirty="0"/>
                  <a:t> 1075 =   0.59 s</a:t>
                </a:r>
                <a:endParaRPr lang="zh-CN" altLang="en-US" dirty="0"/>
              </a:p>
            </p:txBody>
          </p:sp>
        </mc:Choice>
        <mc:Fallback xmlns="">
          <p:sp>
            <p:nvSpPr>
              <p:cNvPr id="3" name="矩形 2">
                <a:extLst>
                  <a:ext uri="{FF2B5EF4-FFF2-40B4-BE49-F238E27FC236}">
                    <a16:creationId xmlns:a16="http://schemas.microsoft.com/office/drawing/2014/main" id="{B93F6A58-7418-46DF-A365-1EC4B3C21CFA}"/>
                  </a:ext>
                </a:extLst>
              </p:cNvPr>
              <p:cNvSpPr>
                <a:spLocks noRot="1" noChangeAspect="1" noMove="1" noResize="1" noEditPoints="1" noAdjustHandles="1" noChangeArrowheads="1" noChangeShapeType="1" noTextEdit="1"/>
              </p:cNvSpPr>
              <p:nvPr/>
            </p:nvSpPr>
            <p:spPr>
              <a:xfrm>
                <a:off x="1799682" y="3175588"/>
                <a:ext cx="6779239" cy="1477328"/>
              </a:xfrm>
              <a:prstGeom prst="rect">
                <a:avLst/>
              </a:prstGeom>
              <a:blipFill>
                <a:blip r:embed="rId4"/>
                <a:stretch>
                  <a:fillRect l="-719" t="-3719" b="-6198"/>
                </a:stretch>
              </a:blipFill>
            </p:spPr>
            <p:txBody>
              <a:bodyPr/>
              <a:lstStyle/>
              <a:p>
                <a:r>
                  <a:rPr lang="zh-CN" altLang="en-US">
                    <a:noFill/>
                  </a:rPr>
                  <a:t> </a:t>
                </a:r>
              </a:p>
            </p:txBody>
          </p:sp>
        </mc:Fallback>
      </mc:AlternateContent>
      <p:sp>
        <p:nvSpPr>
          <p:cNvPr id="5" name="文本框 4">
            <a:extLst>
              <a:ext uri="{FF2B5EF4-FFF2-40B4-BE49-F238E27FC236}">
                <a16:creationId xmlns:a16="http://schemas.microsoft.com/office/drawing/2014/main" id="{BA5E7D52-A633-4793-8086-B970AB783099}"/>
              </a:ext>
            </a:extLst>
          </p:cNvPr>
          <p:cNvSpPr txBox="1"/>
          <p:nvPr/>
        </p:nvSpPr>
        <p:spPr>
          <a:xfrm>
            <a:off x="1160980" y="5229546"/>
            <a:ext cx="7037798" cy="523220"/>
          </a:xfrm>
          <a:prstGeom prst="rect">
            <a:avLst/>
          </a:prstGeom>
          <a:noFill/>
        </p:spPr>
        <p:txBody>
          <a:bodyPr wrap="square" rtlCol="0">
            <a:spAutoFit/>
          </a:bodyPr>
          <a:lstStyle/>
          <a:p>
            <a:r>
              <a:rPr lang="zh-CN" altLang="en-US" sz="2800" dirty="0"/>
              <a:t>整体性能反而下降！</a:t>
            </a:r>
          </a:p>
        </p:txBody>
      </p:sp>
    </p:spTree>
    <p:extLst>
      <p:ext uri="{BB962C8B-B14F-4D97-AF65-F5344CB8AC3E}">
        <p14:creationId xmlns:p14="http://schemas.microsoft.com/office/powerpoint/2010/main" val="3073261399"/>
      </p:ext>
    </p:extLst>
  </p:cSld>
  <p:clrMapOvr>
    <a:masterClrMapping/>
  </p:clrMapOvr>
  <p:transition spd="med">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文本框 1"/>
          <p:cNvSpPr txBox="1">
            <a:spLocks noChangeArrowheads="1"/>
          </p:cNvSpPr>
          <p:nvPr/>
        </p:nvSpPr>
        <p:spPr bwMode="auto">
          <a:xfrm>
            <a:off x="-7464425" y="4954588"/>
            <a:ext cx="1857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charset="0"/>
              <a:buChar char="•"/>
              <a:defRPr sz="2800">
                <a:solidFill>
                  <a:schemeClr val="tx1"/>
                </a:solidFill>
                <a:latin typeface="Calibri" charset="0"/>
                <a:ea typeface="宋体" charset="0"/>
              </a:defRPr>
            </a:lvl1pPr>
            <a:lvl2pPr marL="742950" indent="-285750">
              <a:lnSpc>
                <a:spcPct val="90000"/>
              </a:lnSpc>
              <a:spcBef>
                <a:spcPts val="500"/>
              </a:spcBef>
              <a:buFont typeface="Arial" charset="0"/>
              <a:buChar char="•"/>
              <a:defRPr sz="2400">
                <a:solidFill>
                  <a:schemeClr val="tx1"/>
                </a:solidFill>
                <a:latin typeface="Calibri" charset="0"/>
                <a:ea typeface="宋体" charset="0"/>
              </a:defRPr>
            </a:lvl2pPr>
            <a:lvl3pPr marL="1143000" indent="-228600">
              <a:lnSpc>
                <a:spcPct val="90000"/>
              </a:lnSpc>
              <a:spcBef>
                <a:spcPts val="500"/>
              </a:spcBef>
              <a:buFont typeface="Arial" charset="0"/>
              <a:buChar char="•"/>
              <a:defRPr sz="2000">
                <a:solidFill>
                  <a:schemeClr val="tx1"/>
                </a:solidFill>
                <a:latin typeface="Calibri" charset="0"/>
                <a:ea typeface="宋体" charset="0"/>
              </a:defRPr>
            </a:lvl3pPr>
            <a:lvl4pPr marL="1600200" indent="-228600">
              <a:lnSpc>
                <a:spcPct val="90000"/>
              </a:lnSpc>
              <a:spcBef>
                <a:spcPts val="500"/>
              </a:spcBef>
              <a:buFont typeface="Arial" charset="0"/>
              <a:buChar char="•"/>
              <a:defRPr>
                <a:solidFill>
                  <a:schemeClr val="tx1"/>
                </a:solidFill>
                <a:latin typeface="Calibri" charset="0"/>
                <a:ea typeface="宋体" charset="0"/>
              </a:defRPr>
            </a:lvl4pPr>
            <a:lvl5pPr marL="2057400" indent="-228600">
              <a:lnSpc>
                <a:spcPct val="90000"/>
              </a:lnSpc>
              <a:spcBef>
                <a:spcPts val="500"/>
              </a:spcBef>
              <a:buFont typeface="Arial" charset="0"/>
              <a:buChar char="•"/>
              <a:defRPr>
                <a:solidFill>
                  <a:schemeClr val="tx1"/>
                </a:solidFill>
                <a:latin typeface="Calibri" charset="0"/>
                <a:ea typeface="宋体" charset="0"/>
              </a:defRPr>
            </a:lvl5pPr>
            <a:lvl6pPr marL="25146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6pPr>
            <a:lvl7pPr marL="29718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7pPr>
            <a:lvl8pPr marL="34290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8pPr>
            <a:lvl9pPr marL="38862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9pPr>
          </a:lstStyle>
          <a:p>
            <a:pPr>
              <a:lnSpc>
                <a:spcPct val="100000"/>
              </a:lnSpc>
              <a:spcBef>
                <a:spcPct val="0"/>
              </a:spcBef>
              <a:buFontTx/>
              <a:buNone/>
            </a:pPr>
            <a:endParaRPr kumimoji="1" lang="zh-CN" altLang="en-US" sz="1800">
              <a:latin typeface="+mn-lt"/>
            </a:endParaRPr>
          </a:p>
        </p:txBody>
      </p:sp>
      <p:sp>
        <p:nvSpPr>
          <p:cNvPr id="10" name="文本框 9">
            <a:extLst>
              <a:ext uri="{FF2B5EF4-FFF2-40B4-BE49-F238E27FC236}">
                <a16:creationId xmlns:a16="http://schemas.microsoft.com/office/drawing/2014/main" id="{5D53F571-3FE3-414E-8DE9-03044D097F3C}"/>
              </a:ext>
            </a:extLst>
          </p:cNvPr>
          <p:cNvSpPr txBox="1"/>
          <p:nvPr/>
        </p:nvSpPr>
        <p:spPr>
          <a:xfrm>
            <a:off x="654258" y="589775"/>
            <a:ext cx="5289342" cy="523220"/>
          </a:xfrm>
          <a:prstGeom prst="rect">
            <a:avLst/>
          </a:prstGeom>
          <a:noFill/>
        </p:spPr>
        <p:txBody>
          <a:bodyPr wrap="square" rtlCol="0">
            <a:spAutoFit/>
          </a:bodyPr>
          <a:lstStyle/>
          <a:p>
            <a:r>
              <a:rPr kumimoji="1" lang="zh-CN" altLang="en-US" sz="2800" dirty="0">
                <a:latin typeface="Microsoft YaHei" charset="-122"/>
                <a:ea typeface="Microsoft YaHei" charset="-122"/>
                <a:cs typeface="Microsoft YaHei" charset="-122"/>
              </a:rPr>
              <a:t>大数据文件格式的体现</a:t>
            </a:r>
            <a:endParaRPr kumimoji="1" lang="en-US" altLang="zh-CN" sz="2800" dirty="0">
              <a:latin typeface="Microsoft YaHei" charset="-122"/>
              <a:ea typeface="Microsoft YaHei" charset="-122"/>
              <a:cs typeface="Microsoft YaHei" charset="-122"/>
            </a:endParaRPr>
          </a:p>
        </p:txBody>
      </p:sp>
      <p:pic>
        <p:nvPicPr>
          <p:cNvPr id="3" name="图片 2">
            <a:extLst>
              <a:ext uri="{FF2B5EF4-FFF2-40B4-BE49-F238E27FC236}">
                <a16:creationId xmlns:a16="http://schemas.microsoft.com/office/drawing/2014/main" id="{8D5970E4-0FF4-4990-9257-01FBEAA098A1}"/>
              </a:ext>
            </a:extLst>
          </p:cNvPr>
          <p:cNvPicPr>
            <a:picLocks noChangeAspect="1"/>
          </p:cNvPicPr>
          <p:nvPr/>
        </p:nvPicPr>
        <p:blipFill>
          <a:blip r:embed="rId3"/>
          <a:stretch>
            <a:fillRect/>
          </a:stretch>
        </p:blipFill>
        <p:spPr>
          <a:xfrm>
            <a:off x="544977" y="1282266"/>
            <a:ext cx="3567108" cy="2345346"/>
          </a:xfrm>
          <a:prstGeom prst="rect">
            <a:avLst/>
          </a:prstGeom>
        </p:spPr>
      </p:pic>
      <p:cxnSp>
        <p:nvCxnSpPr>
          <p:cNvPr id="5" name="直接箭头连接符 4">
            <a:extLst>
              <a:ext uri="{FF2B5EF4-FFF2-40B4-BE49-F238E27FC236}">
                <a16:creationId xmlns:a16="http://schemas.microsoft.com/office/drawing/2014/main" id="{DE96A05F-2776-4663-82DE-1578F0413F22}"/>
              </a:ext>
            </a:extLst>
          </p:cNvPr>
          <p:cNvCxnSpPr/>
          <p:nvPr/>
        </p:nvCxnSpPr>
        <p:spPr>
          <a:xfrm flipV="1">
            <a:off x="3934046" y="2933182"/>
            <a:ext cx="637954" cy="1594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文本框 5">
            <a:extLst>
              <a:ext uri="{FF2B5EF4-FFF2-40B4-BE49-F238E27FC236}">
                <a16:creationId xmlns:a16="http://schemas.microsoft.com/office/drawing/2014/main" id="{F9B64DDD-1830-4471-97E4-6D33B8F7C8DE}"/>
              </a:ext>
            </a:extLst>
          </p:cNvPr>
          <p:cNvSpPr txBox="1"/>
          <p:nvPr/>
        </p:nvSpPr>
        <p:spPr>
          <a:xfrm>
            <a:off x="4494973" y="2733970"/>
            <a:ext cx="1073888" cy="369332"/>
          </a:xfrm>
          <a:prstGeom prst="rect">
            <a:avLst/>
          </a:prstGeom>
          <a:noFill/>
        </p:spPr>
        <p:txBody>
          <a:bodyPr wrap="square" rtlCol="0">
            <a:spAutoFit/>
          </a:bodyPr>
          <a:lstStyle/>
          <a:p>
            <a:r>
              <a:rPr lang="en-US" altLang="zh-CN" dirty="0">
                <a:solidFill>
                  <a:srgbClr val="FF0000"/>
                </a:solidFill>
              </a:rPr>
              <a:t>12.5GB/s</a:t>
            </a:r>
            <a:endParaRPr lang="zh-CN" altLang="en-US" dirty="0">
              <a:solidFill>
                <a:srgbClr val="FF0000"/>
              </a:solidFill>
            </a:endParaRPr>
          </a:p>
        </p:txBody>
      </p:sp>
      <p:pic>
        <p:nvPicPr>
          <p:cNvPr id="4" name="图片 3">
            <a:extLst>
              <a:ext uri="{FF2B5EF4-FFF2-40B4-BE49-F238E27FC236}">
                <a16:creationId xmlns:a16="http://schemas.microsoft.com/office/drawing/2014/main" id="{28F096D6-7C74-4179-8703-CD6BD55A4399}"/>
              </a:ext>
            </a:extLst>
          </p:cNvPr>
          <p:cNvPicPr>
            <a:picLocks noChangeAspect="1"/>
          </p:cNvPicPr>
          <p:nvPr/>
        </p:nvPicPr>
        <p:blipFill>
          <a:blip r:embed="rId4"/>
          <a:stretch>
            <a:fillRect/>
          </a:stretch>
        </p:blipFill>
        <p:spPr>
          <a:xfrm>
            <a:off x="2246186" y="3629018"/>
            <a:ext cx="6645349" cy="2773955"/>
          </a:xfrm>
          <a:prstGeom prst="rect">
            <a:avLst/>
          </a:prstGeom>
        </p:spPr>
      </p:pic>
    </p:spTree>
    <p:extLst>
      <p:ext uri="{BB962C8B-B14F-4D97-AF65-F5344CB8AC3E}">
        <p14:creationId xmlns:p14="http://schemas.microsoft.com/office/powerpoint/2010/main" val="3654570344"/>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文本框 1"/>
          <p:cNvSpPr txBox="1">
            <a:spLocks noChangeArrowheads="1"/>
          </p:cNvSpPr>
          <p:nvPr/>
        </p:nvSpPr>
        <p:spPr bwMode="auto">
          <a:xfrm>
            <a:off x="-7464425" y="4954588"/>
            <a:ext cx="1857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charset="0"/>
              <a:buChar char="•"/>
              <a:defRPr sz="2800">
                <a:solidFill>
                  <a:schemeClr val="tx1"/>
                </a:solidFill>
                <a:latin typeface="Calibri" charset="0"/>
                <a:ea typeface="宋体" charset="0"/>
              </a:defRPr>
            </a:lvl1pPr>
            <a:lvl2pPr marL="742950" indent="-285750">
              <a:lnSpc>
                <a:spcPct val="90000"/>
              </a:lnSpc>
              <a:spcBef>
                <a:spcPts val="500"/>
              </a:spcBef>
              <a:buFont typeface="Arial" charset="0"/>
              <a:buChar char="•"/>
              <a:defRPr sz="2400">
                <a:solidFill>
                  <a:schemeClr val="tx1"/>
                </a:solidFill>
                <a:latin typeface="Calibri" charset="0"/>
                <a:ea typeface="宋体" charset="0"/>
              </a:defRPr>
            </a:lvl2pPr>
            <a:lvl3pPr marL="1143000" indent="-228600">
              <a:lnSpc>
                <a:spcPct val="90000"/>
              </a:lnSpc>
              <a:spcBef>
                <a:spcPts val="500"/>
              </a:spcBef>
              <a:buFont typeface="Arial" charset="0"/>
              <a:buChar char="•"/>
              <a:defRPr sz="2000">
                <a:solidFill>
                  <a:schemeClr val="tx1"/>
                </a:solidFill>
                <a:latin typeface="Calibri" charset="0"/>
                <a:ea typeface="宋体" charset="0"/>
              </a:defRPr>
            </a:lvl3pPr>
            <a:lvl4pPr marL="1600200" indent="-228600">
              <a:lnSpc>
                <a:spcPct val="90000"/>
              </a:lnSpc>
              <a:spcBef>
                <a:spcPts val="500"/>
              </a:spcBef>
              <a:buFont typeface="Arial" charset="0"/>
              <a:buChar char="•"/>
              <a:defRPr>
                <a:solidFill>
                  <a:schemeClr val="tx1"/>
                </a:solidFill>
                <a:latin typeface="Calibri" charset="0"/>
                <a:ea typeface="宋体" charset="0"/>
              </a:defRPr>
            </a:lvl4pPr>
            <a:lvl5pPr marL="2057400" indent="-228600">
              <a:lnSpc>
                <a:spcPct val="90000"/>
              </a:lnSpc>
              <a:spcBef>
                <a:spcPts val="500"/>
              </a:spcBef>
              <a:buFont typeface="Arial" charset="0"/>
              <a:buChar char="•"/>
              <a:defRPr>
                <a:solidFill>
                  <a:schemeClr val="tx1"/>
                </a:solidFill>
                <a:latin typeface="Calibri" charset="0"/>
                <a:ea typeface="宋体" charset="0"/>
              </a:defRPr>
            </a:lvl5pPr>
            <a:lvl6pPr marL="25146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6pPr>
            <a:lvl7pPr marL="29718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7pPr>
            <a:lvl8pPr marL="34290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8pPr>
            <a:lvl9pPr marL="38862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9pPr>
          </a:lstStyle>
          <a:p>
            <a:pPr>
              <a:lnSpc>
                <a:spcPct val="100000"/>
              </a:lnSpc>
              <a:spcBef>
                <a:spcPct val="0"/>
              </a:spcBef>
              <a:buFontTx/>
              <a:buNone/>
            </a:pPr>
            <a:endParaRPr kumimoji="1" lang="zh-CN" altLang="en-US" sz="1800">
              <a:latin typeface="+mn-lt"/>
            </a:endParaRPr>
          </a:p>
        </p:txBody>
      </p:sp>
      <p:sp>
        <p:nvSpPr>
          <p:cNvPr id="10" name="文本框 9">
            <a:extLst>
              <a:ext uri="{FF2B5EF4-FFF2-40B4-BE49-F238E27FC236}">
                <a16:creationId xmlns:a16="http://schemas.microsoft.com/office/drawing/2014/main" id="{5D53F571-3FE3-414E-8DE9-03044D097F3C}"/>
              </a:ext>
            </a:extLst>
          </p:cNvPr>
          <p:cNvSpPr txBox="1"/>
          <p:nvPr/>
        </p:nvSpPr>
        <p:spPr>
          <a:xfrm>
            <a:off x="654258" y="589775"/>
            <a:ext cx="5289342" cy="523220"/>
          </a:xfrm>
          <a:prstGeom prst="rect">
            <a:avLst/>
          </a:prstGeom>
          <a:noFill/>
        </p:spPr>
        <p:txBody>
          <a:bodyPr wrap="square" rtlCol="0">
            <a:spAutoFit/>
          </a:bodyPr>
          <a:lstStyle/>
          <a:p>
            <a:r>
              <a:rPr kumimoji="1" lang="en-US" altLang="zh-CN" sz="2800" dirty="0">
                <a:latin typeface="Microsoft YaHei" charset="-122"/>
                <a:ea typeface="Microsoft YaHei" charset="-122"/>
                <a:cs typeface="Microsoft YaHei" charset="-122"/>
              </a:rPr>
              <a:t>Parquet: </a:t>
            </a:r>
            <a:r>
              <a:rPr kumimoji="1" lang="zh-CN" altLang="en-US" sz="2800" dirty="0">
                <a:latin typeface="Microsoft YaHei" charset="-122"/>
                <a:ea typeface="Microsoft YaHei" charset="-122"/>
                <a:cs typeface="Microsoft YaHei" charset="-122"/>
              </a:rPr>
              <a:t>行存储与列存储的平衡</a:t>
            </a:r>
            <a:endParaRPr kumimoji="1" lang="en-US" altLang="zh-CN" sz="2800" dirty="0">
              <a:latin typeface="Microsoft YaHei" charset="-122"/>
              <a:ea typeface="Microsoft YaHei" charset="-122"/>
              <a:cs typeface="Microsoft YaHei" charset="-122"/>
            </a:endParaRPr>
          </a:p>
        </p:txBody>
      </p:sp>
      <p:pic>
        <p:nvPicPr>
          <p:cNvPr id="1026" name="Picture 2">
            <a:extLst>
              <a:ext uri="{FF2B5EF4-FFF2-40B4-BE49-F238E27FC236}">
                <a16:creationId xmlns:a16="http://schemas.microsoft.com/office/drawing/2014/main" id="{BE9C70DA-7ED7-4D52-8B34-84E1577AE1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09737" y="1542943"/>
            <a:ext cx="5724525" cy="4552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24080138"/>
      </p:ext>
    </p:extLst>
  </p:cSld>
  <p:clrMapOvr>
    <a:masterClrMapping/>
  </p:clrMapOvr>
  <p:transition spd="med">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文本框 1"/>
          <p:cNvSpPr txBox="1">
            <a:spLocks noChangeArrowheads="1"/>
          </p:cNvSpPr>
          <p:nvPr/>
        </p:nvSpPr>
        <p:spPr bwMode="auto">
          <a:xfrm>
            <a:off x="-7464425" y="4954588"/>
            <a:ext cx="1857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charset="0"/>
              <a:buChar char="•"/>
              <a:defRPr sz="2800">
                <a:solidFill>
                  <a:schemeClr val="tx1"/>
                </a:solidFill>
                <a:latin typeface="Calibri" charset="0"/>
                <a:ea typeface="宋体" charset="0"/>
              </a:defRPr>
            </a:lvl1pPr>
            <a:lvl2pPr marL="742950" indent="-285750">
              <a:lnSpc>
                <a:spcPct val="90000"/>
              </a:lnSpc>
              <a:spcBef>
                <a:spcPts val="500"/>
              </a:spcBef>
              <a:buFont typeface="Arial" charset="0"/>
              <a:buChar char="•"/>
              <a:defRPr sz="2400">
                <a:solidFill>
                  <a:schemeClr val="tx1"/>
                </a:solidFill>
                <a:latin typeface="Calibri" charset="0"/>
                <a:ea typeface="宋体" charset="0"/>
              </a:defRPr>
            </a:lvl2pPr>
            <a:lvl3pPr marL="1143000" indent="-228600">
              <a:lnSpc>
                <a:spcPct val="90000"/>
              </a:lnSpc>
              <a:spcBef>
                <a:spcPts val="500"/>
              </a:spcBef>
              <a:buFont typeface="Arial" charset="0"/>
              <a:buChar char="•"/>
              <a:defRPr sz="2000">
                <a:solidFill>
                  <a:schemeClr val="tx1"/>
                </a:solidFill>
                <a:latin typeface="Calibri" charset="0"/>
                <a:ea typeface="宋体" charset="0"/>
              </a:defRPr>
            </a:lvl3pPr>
            <a:lvl4pPr marL="1600200" indent="-228600">
              <a:lnSpc>
                <a:spcPct val="90000"/>
              </a:lnSpc>
              <a:spcBef>
                <a:spcPts val="500"/>
              </a:spcBef>
              <a:buFont typeface="Arial" charset="0"/>
              <a:buChar char="•"/>
              <a:defRPr>
                <a:solidFill>
                  <a:schemeClr val="tx1"/>
                </a:solidFill>
                <a:latin typeface="Calibri" charset="0"/>
                <a:ea typeface="宋体" charset="0"/>
              </a:defRPr>
            </a:lvl4pPr>
            <a:lvl5pPr marL="2057400" indent="-228600">
              <a:lnSpc>
                <a:spcPct val="90000"/>
              </a:lnSpc>
              <a:spcBef>
                <a:spcPts val="500"/>
              </a:spcBef>
              <a:buFont typeface="Arial" charset="0"/>
              <a:buChar char="•"/>
              <a:defRPr>
                <a:solidFill>
                  <a:schemeClr val="tx1"/>
                </a:solidFill>
                <a:latin typeface="Calibri" charset="0"/>
                <a:ea typeface="宋体" charset="0"/>
              </a:defRPr>
            </a:lvl5pPr>
            <a:lvl6pPr marL="25146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6pPr>
            <a:lvl7pPr marL="29718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7pPr>
            <a:lvl8pPr marL="34290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8pPr>
            <a:lvl9pPr marL="38862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9pPr>
          </a:lstStyle>
          <a:p>
            <a:pPr>
              <a:lnSpc>
                <a:spcPct val="100000"/>
              </a:lnSpc>
              <a:spcBef>
                <a:spcPct val="0"/>
              </a:spcBef>
              <a:buFontTx/>
              <a:buNone/>
            </a:pPr>
            <a:endParaRPr kumimoji="1" lang="zh-CN" altLang="en-US" sz="1800">
              <a:latin typeface="+mn-lt"/>
            </a:endParaRPr>
          </a:p>
        </p:txBody>
      </p:sp>
      <p:sp>
        <p:nvSpPr>
          <p:cNvPr id="10" name="文本框 9">
            <a:extLst>
              <a:ext uri="{FF2B5EF4-FFF2-40B4-BE49-F238E27FC236}">
                <a16:creationId xmlns:a16="http://schemas.microsoft.com/office/drawing/2014/main" id="{5D53F571-3FE3-414E-8DE9-03044D097F3C}"/>
              </a:ext>
            </a:extLst>
          </p:cNvPr>
          <p:cNvSpPr txBox="1"/>
          <p:nvPr/>
        </p:nvSpPr>
        <p:spPr>
          <a:xfrm>
            <a:off x="654258" y="589775"/>
            <a:ext cx="5289342" cy="523220"/>
          </a:xfrm>
          <a:prstGeom prst="rect">
            <a:avLst/>
          </a:prstGeom>
          <a:noFill/>
        </p:spPr>
        <p:txBody>
          <a:bodyPr wrap="square" rtlCol="0">
            <a:spAutoFit/>
          </a:bodyPr>
          <a:lstStyle/>
          <a:p>
            <a:r>
              <a:rPr kumimoji="1" lang="zh-CN" altLang="en-US" sz="2800" dirty="0">
                <a:latin typeface="Microsoft YaHei" charset="-122"/>
                <a:ea typeface="Microsoft YaHei" charset="-122"/>
                <a:cs typeface="Microsoft YaHei" charset="-122"/>
              </a:rPr>
              <a:t>大数据文件格式的体现</a:t>
            </a:r>
            <a:endParaRPr kumimoji="1" lang="en-US" altLang="zh-CN" sz="2800" dirty="0">
              <a:latin typeface="Microsoft YaHei" charset="-122"/>
              <a:ea typeface="Microsoft YaHei" charset="-122"/>
              <a:cs typeface="Microsoft YaHei" charset="-122"/>
            </a:endParaRPr>
          </a:p>
        </p:txBody>
      </p:sp>
      <p:pic>
        <p:nvPicPr>
          <p:cNvPr id="8" name="图片 7">
            <a:extLst>
              <a:ext uri="{FF2B5EF4-FFF2-40B4-BE49-F238E27FC236}">
                <a16:creationId xmlns:a16="http://schemas.microsoft.com/office/drawing/2014/main" id="{18FECEE6-EBFC-4840-968D-19D3697ABF54}"/>
              </a:ext>
            </a:extLst>
          </p:cNvPr>
          <p:cNvPicPr>
            <a:picLocks noChangeAspect="1"/>
          </p:cNvPicPr>
          <p:nvPr/>
        </p:nvPicPr>
        <p:blipFill>
          <a:blip r:embed="rId3"/>
          <a:stretch>
            <a:fillRect/>
          </a:stretch>
        </p:blipFill>
        <p:spPr>
          <a:xfrm>
            <a:off x="5464003" y="3639687"/>
            <a:ext cx="3772426" cy="2353003"/>
          </a:xfrm>
          <a:prstGeom prst="rect">
            <a:avLst/>
          </a:prstGeom>
        </p:spPr>
      </p:pic>
      <p:sp>
        <p:nvSpPr>
          <p:cNvPr id="9" name="文本框 8">
            <a:extLst>
              <a:ext uri="{FF2B5EF4-FFF2-40B4-BE49-F238E27FC236}">
                <a16:creationId xmlns:a16="http://schemas.microsoft.com/office/drawing/2014/main" id="{B3DB9579-80B5-4E44-B111-7327431D24F1}"/>
              </a:ext>
            </a:extLst>
          </p:cNvPr>
          <p:cNvSpPr txBox="1"/>
          <p:nvPr/>
        </p:nvSpPr>
        <p:spPr>
          <a:xfrm>
            <a:off x="1192727" y="4954588"/>
            <a:ext cx="4212404" cy="1015663"/>
          </a:xfrm>
          <a:prstGeom prst="rect">
            <a:avLst/>
          </a:prstGeom>
          <a:noFill/>
        </p:spPr>
        <p:txBody>
          <a:bodyPr wrap="square" rtlCol="0">
            <a:spAutoFit/>
          </a:bodyPr>
          <a:lstStyle/>
          <a:p>
            <a:r>
              <a:rPr lang="en-US" altLang="zh-CN" dirty="0"/>
              <a:t> </a:t>
            </a:r>
            <a:r>
              <a:rPr lang="zh-CN" altLang="en-US" sz="2000" dirty="0"/>
              <a:t>完全发挥不出硬件的性能！</a:t>
            </a:r>
            <a:endParaRPr lang="en-US" altLang="zh-CN" sz="2000" dirty="0"/>
          </a:p>
          <a:p>
            <a:endParaRPr lang="en-US" altLang="zh-CN" sz="2000" dirty="0"/>
          </a:p>
          <a:p>
            <a:r>
              <a:rPr lang="en-US" altLang="zh-CN" sz="2000" dirty="0"/>
              <a:t>CPU Bound</a:t>
            </a:r>
            <a:r>
              <a:rPr lang="zh-CN" altLang="en-US" sz="2000" dirty="0"/>
              <a:t>！</a:t>
            </a:r>
            <a:r>
              <a:rPr lang="en-US" altLang="zh-CN" sz="2000" dirty="0"/>
              <a:t>(compression, encoding)</a:t>
            </a:r>
            <a:endParaRPr lang="zh-CN" altLang="en-US" sz="2000" dirty="0"/>
          </a:p>
        </p:txBody>
      </p:sp>
      <p:pic>
        <p:nvPicPr>
          <p:cNvPr id="4" name="图片 3">
            <a:extLst>
              <a:ext uri="{FF2B5EF4-FFF2-40B4-BE49-F238E27FC236}">
                <a16:creationId xmlns:a16="http://schemas.microsoft.com/office/drawing/2014/main" id="{2DF1C2C9-BC18-4D5A-9419-2A2A92C1E887}"/>
              </a:ext>
            </a:extLst>
          </p:cNvPr>
          <p:cNvPicPr>
            <a:picLocks noChangeAspect="1"/>
          </p:cNvPicPr>
          <p:nvPr/>
        </p:nvPicPr>
        <p:blipFill>
          <a:blip r:embed="rId4"/>
          <a:stretch>
            <a:fillRect/>
          </a:stretch>
        </p:blipFill>
        <p:spPr>
          <a:xfrm>
            <a:off x="174661" y="1176460"/>
            <a:ext cx="5289342" cy="3321352"/>
          </a:xfrm>
          <a:prstGeom prst="rect">
            <a:avLst/>
          </a:prstGeom>
        </p:spPr>
      </p:pic>
    </p:spTree>
    <p:extLst>
      <p:ext uri="{BB962C8B-B14F-4D97-AF65-F5344CB8AC3E}">
        <p14:creationId xmlns:p14="http://schemas.microsoft.com/office/powerpoint/2010/main" val="3485305084"/>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1000"/>
                                        <p:tgtEl>
                                          <p:spTgt spid="9"/>
                                        </p:tgtEl>
                                      </p:cBhvr>
                                    </p:animEffect>
                                    <p:anim calcmode="lin" valueType="num">
                                      <p:cBhvr>
                                        <p:cTn id="15" dur="1000" fill="hold"/>
                                        <p:tgtEl>
                                          <p:spTgt spid="9"/>
                                        </p:tgtEl>
                                        <p:attrNameLst>
                                          <p:attrName>ppt_x</p:attrName>
                                        </p:attrNameLst>
                                      </p:cBhvr>
                                      <p:tavLst>
                                        <p:tav tm="0">
                                          <p:val>
                                            <p:strVal val="#ppt_x"/>
                                          </p:val>
                                        </p:tav>
                                        <p:tav tm="100000">
                                          <p:val>
                                            <p:strVal val="#ppt_x"/>
                                          </p:val>
                                        </p:tav>
                                      </p:tavLst>
                                    </p:anim>
                                    <p:anim calcmode="lin" valueType="num">
                                      <p:cBhvr>
                                        <p:cTn id="16"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文本框 1"/>
          <p:cNvSpPr txBox="1">
            <a:spLocks noChangeArrowheads="1"/>
          </p:cNvSpPr>
          <p:nvPr/>
        </p:nvSpPr>
        <p:spPr bwMode="auto">
          <a:xfrm>
            <a:off x="-7464425" y="4954588"/>
            <a:ext cx="1857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charset="0"/>
              <a:buChar char="•"/>
              <a:defRPr sz="2800">
                <a:solidFill>
                  <a:schemeClr val="tx1"/>
                </a:solidFill>
                <a:latin typeface="Calibri" charset="0"/>
                <a:ea typeface="宋体" charset="0"/>
              </a:defRPr>
            </a:lvl1pPr>
            <a:lvl2pPr marL="742950" indent="-285750">
              <a:lnSpc>
                <a:spcPct val="90000"/>
              </a:lnSpc>
              <a:spcBef>
                <a:spcPts val="500"/>
              </a:spcBef>
              <a:buFont typeface="Arial" charset="0"/>
              <a:buChar char="•"/>
              <a:defRPr sz="2400">
                <a:solidFill>
                  <a:schemeClr val="tx1"/>
                </a:solidFill>
                <a:latin typeface="Calibri" charset="0"/>
                <a:ea typeface="宋体" charset="0"/>
              </a:defRPr>
            </a:lvl2pPr>
            <a:lvl3pPr marL="1143000" indent="-228600">
              <a:lnSpc>
                <a:spcPct val="90000"/>
              </a:lnSpc>
              <a:spcBef>
                <a:spcPts val="500"/>
              </a:spcBef>
              <a:buFont typeface="Arial" charset="0"/>
              <a:buChar char="•"/>
              <a:defRPr sz="2000">
                <a:solidFill>
                  <a:schemeClr val="tx1"/>
                </a:solidFill>
                <a:latin typeface="Calibri" charset="0"/>
                <a:ea typeface="宋体" charset="0"/>
              </a:defRPr>
            </a:lvl3pPr>
            <a:lvl4pPr marL="1600200" indent="-228600">
              <a:lnSpc>
                <a:spcPct val="90000"/>
              </a:lnSpc>
              <a:spcBef>
                <a:spcPts val="500"/>
              </a:spcBef>
              <a:buFont typeface="Arial" charset="0"/>
              <a:buChar char="•"/>
              <a:defRPr>
                <a:solidFill>
                  <a:schemeClr val="tx1"/>
                </a:solidFill>
                <a:latin typeface="Calibri" charset="0"/>
                <a:ea typeface="宋体" charset="0"/>
              </a:defRPr>
            </a:lvl4pPr>
            <a:lvl5pPr marL="2057400" indent="-228600">
              <a:lnSpc>
                <a:spcPct val="90000"/>
              </a:lnSpc>
              <a:spcBef>
                <a:spcPts val="500"/>
              </a:spcBef>
              <a:buFont typeface="Arial" charset="0"/>
              <a:buChar char="•"/>
              <a:defRPr>
                <a:solidFill>
                  <a:schemeClr val="tx1"/>
                </a:solidFill>
                <a:latin typeface="Calibri" charset="0"/>
                <a:ea typeface="宋体" charset="0"/>
              </a:defRPr>
            </a:lvl5pPr>
            <a:lvl6pPr marL="25146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6pPr>
            <a:lvl7pPr marL="29718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7pPr>
            <a:lvl8pPr marL="34290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8pPr>
            <a:lvl9pPr marL="38862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9pPr>
          </a:lstStyle>
          <a:p>
            <a:pPr>
              <a:lnSpc>
                <a:spcPct val="100000"/>
              </a:lnSpc>
              <a:spcBef>
                <a:spcPct val="0"/>
              </a:spcBef>
              <a:buFontTx/>
              <a:buNone/>
            </a:pPr>
            <a:endParaRPr kumimoji="1" lang="zh-CN" altLang="en-US" sz="1800">
              <a:latin typeface="+mn-lt"/>
            </a:endParaRPr>
          </a:p>
        </p:txBody>
      </p:sp>
      <p:sp>
        <p:nvSpPr>
          <p:cNvPr id="10" name="文本框 9">
            <a:extLst>
              <a:ext uri="{FF2B5EF4-FFF2-40B4-BE49-F238E27FC236}">
                <a16:creationId xmlns:a16="http://schemas.microsoft.com/office/drawing/2014/main" id="{5D53F571-3FE3-414E-8DE9-03044D097F3C}"/>
              </a:ext>
            </a:extLst>
          </p:cNvPr>
          <p:cNvSpPr txBox="1"/>
          <p:nvPr/>
        </p:nvSpPr>
        <p:spPr>
          <a:xfrm>
            <a:off x="654258" y="589775"/>
            <a:ext cx="5289342" cy="523220"/>
          </a:xfrm>
          <a:prstGeom prst="rect">
            <a:avLst/>
          </a:prstGeom>
          <a:noFill/>
        </p:spPr>
        <p:txBody>
          <a:bodyPr wrap="square" rtlCol="0">
            <a:spAutoFit/>
          </a:bodyPr>
          <a:lstStyle/>
          <a:p>
            <a:r>
              <a:rPr kumimoji="1" lang="en-US" altLang="zh-CN" sz="2800" dirty="0">
                <a:latin typeface="Microsoft YaHei" charset="-122"/>
                <a:ea typeface="Microsoft YaHei" charset="-122"/>
                <a:cs typeface="Microsoft YaHei" charset="-122"/>
              </a:rPr>
              <a:t>Albis—</a:t>
            </a:r>
            <a:r>
              <a:rPr kumimoji="1" lang="zh-CN" altLang="en-US" sz="2800" dirty="0">
                <a:latin typeface="Microsoft YaHei" charset="-122"/>
                <a:ea typeface="Microsoft YaHei" charset="-122"/>
                <a:cs typeface="Microsoft YaHei" charset="-122"/>
              </a:rPr>
              <a:t>发挥硬件性能</a:t>
            </a:r>
            <a:endParaRPr kumimoji="1" lang="en-US" altLang="zh-CN" sz="2800" dirty="0">
              <a:latin typeface="Microsoft YaHei" charset="-122"/>
              <a:ea typeface="Microsoft YaHei" charset="-122"/>
              <a:cs typeface="Microsoft YaHei" charset="-122"/>
            </a:endParaRPr>
          </a:p>
        </p:txBody>
      </p:sp>
      <p:sp>
        <p:nvSpPr>
          <p:cNvPr id="2" name="文本框 1">
            <a:extLst>
              <a:ext uri="{FF2B5EF4-FFF2-40B4-BE49-F238E27FC236}">
                <a16:creationId xmlns:a16="http://schemas.microsoft.com/office/drawing/2014/main" id="{5DB0A6FB-5D55-4009-8219-4DA060A30D24}"/>
              </a:ext>
            </a:extLst>
          </p:cNvPr>
          <p:cNvSpPr txBox="1"/>
          <p:nvPr/>
        </p:nvSpPr>
        <p:spPr>
          <a:xfrm>
            <a:off x="575353" y="1613043"/>
            <a:ext cx="8209051" cy="875881"/>
          </a:xfrm>
          <a:prstGeom prst="rect">
            <a:avLst/>
          </a:prstGeom>
          <a:noFill/>
        </p:spPr>
        <p:txBody>
          <a:bodyPr wrap="square" rtlCol="0">
            <a:spAutoFit/>
          </a:bodyPr>
          <a:lstStyle/>
          <a:p>
            <a:pPr>
              <a:lnSpc>
                <a:spcPct val="150000"/>
              </a:lnSpc>
            </a:pPr>
            <a:r>
              <a:rPr lang="en-US" altLang="zh-CN" dirty="0" err="1"/>
              <a:t>Animesh</a:t>
            </a:r>
            <a:r>
              <a:rPr lang="en-US" altLang="zh-CN" dirty="0"/>
              <a:t> Trivedi</a:t>
            </a:r>
            <a:r>
              <a:rPr lang="zh-CN" altLang="en-US" dirty="0"/>
              <a:t>针对这种情况提出了新的文件格式</a:t>
            </a:r>
            <a:r>
              <a:rPr lang="en-US" altLang="zh-CN" dirty="0"/>
              <a:t>——Albis</a:t>
            </a:r>
            <a:r>
              <a:rPr lang="zh-CN" altLang="en-US" dirty="0"/>
              <a:t>，取消了数据压缩，充分发挥硬件的性能，进而减少整体的处理时间。</a:t>
            </a:r>
          </a:p>
        </p:txBody>
      </p:sp>
      <p:pic>
        <p:nvPicPr>
          <p:cNvPr id="6" name="图片 5">
            <a:extLst>
              <a:ext uri="{FF2B5EF4-FFF2-40B4-BE49-F238E27FC236}">
                <a16:creationId xmlns:a16="http://schemas.microsoft.com/office/drawing/2014/main" id="{8991E35B-8794-4D97-91FD-BC09A02A88D3}"/>
              </a:ext>
            </a:extLst>
          </p:cNvPr>
          <p:cNvPicPr>
            <a:picLocks noChangeAspect="1"/>
          </p:cNvPicPr>
          <p:nvPr/>
        </p:nvPicPr>
        <p:blipFill>
          <a:blip r:embed="rId3"/>
          <a:stretch>
            <a:fillRect/>
          </a:stretch>
        </p:blipFill>
        <p:spPr>
          <a:xfrm>
            <a:off x="0" y="2747486"/>
            <a:ext cx="9144000" cy="3808515"/>
          </a:xfrm>
          <a:prstGeom prst="rect">
            <a:avLst/>
          </a:prstGeom>
        </p:spPr>
      </p:pic>
    </p:spTree>
    <p:extLst>
      <p:ext uri="{BB962C8B-B14F-4D97-AF65-F5344CB8AC3E}">
        <p14:creationId xmlns:p14="http://schemas.microsoft.com/office/powerpoint/2010/main" val="1971654074"/>
      </p:ext>
    </p:extLst>
  </p:cSld>
  <p:clrMapOvr>
    <a:masterClrMapping/>
  </p:clrMapOvr>
  <p:transition spd="med">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文本框 1"/>
          <p:cNvSpPr txBox="1">
            <a:spLocks noChangeArrowheads="1"/>
          </p:cNvSpPr>
          <p:nvPr/>
        </p:nvSpPr>
        <p:spPr bwMode="auto">
          <a:xfrm>
            <a:off x="-7464425" y="4954588"/>
            <a:ext cx="1857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charset="0"/>
              <a:buChar char="•"/>
              <a:defRPr sz="2800">
                <a:solidFill>
                  <a:schemeClr val="tx1"/>
                </a:solidFill>
                <a:latin typeface="Calibri" charset="0"/>
                <a:ea typeface="宋体" charset="0"/>
              </a:defRPr>
            </a:lvl1pPr>
            <a:lvl2pPr marL="742950" indent="-285750">
              <a:lnSpc>
                <a:spcPct val="90000"/>
              </a:lnSpc>
              <a:spcBef>
                <a:spcPts val="500"/>
              </a:spcBef>
              <a:buFont typeface="Arial" charset="0"/>
              <a:buChar char="•"/>
              <a:defRPr sz="2400">
                <a:solidFill>
                  <a:schemeClr val="tx1"/>
                </a:solidFill>
                <a:latin typeface="Calibri" charset="0"/>
                <a:ea typeface="宋体" charset="0"/>
              </a:defRPr>
            </a:lvl2pPr>
            <a:lvl3pPr marL="1143000" indent="-228600">
              <a:lnSpc>
                <a:spcPct val="90000"/>
              </a:lnSpc>
              <a:spcBef>
                <a:spcPts val="500"/>
              </a:spcBef>
              <a:buFont typeface="Arial" charset="0"/>
              <a:buChar char="•"/>
              <a:defRPr sz="2000">
                <a:solidFill>
                  <a:schemeClr val="tx1"/>
                </a:solidFill>
                <a:latin typeface="Calibri" charset="0"/>
                <a:ea typeface="宋体" charset="0"/>
              </a:defRPr>
            </a:lvl3pPr>
            <a:lvl4pPr marL="1600200" indent="-228600">
              <a:lnSpc>
                <a:spcPct val="90000"/>
              </a:lnSpc>
              <a:spcBef>
                <a:spcPts val="500"/>
              </a:spcBef>
              <a:buFont typeface="Arial" charset="0"/>
              <a:buChar char="•"/>
              <a:defRPr>
                <a:solidFill>
                  <a:schemeClr val="tx1"/>
                </a:solidFill>
                <a:latin typeface="Calibri" charset="0"/>
                <a:ea typeface="宋体" charset="0"/>
              </a:defRPr>
            </a:lvl4pPr>
            <a:lvl5pPr marL="2057400" indent="-228600">
              <a:lnSpc>
                <a:spcPct val="90000"/>
              </a:lnSpc>
              <a:spcBef>
                <a:spcPts val="500"/>
              </a:spcBef>
              <a:buFont typeface="Arial" charset="0"/>
              <a:buChar char="•"/>
              <a:defRPr>
                <a:solidFill>
                  <a:schemeClr val="tx1"/>
                </a:solidFill>
                <a:latin typeface="Calibri" charset="0"/>
                <a:ea typeface="宋体" charset="0"/>
              </a:defRPr>
            </a:lvl5pPr>
            <a:lvl6pPr marL="25146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6pPr>
            <a:lvl7pPr marL="29718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7pPr>
            <a:lvl8pPr marL="34290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8pPr>
            <a:lvl9pPr marL="38862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9pPr>
          </a:lstStyle>
          <a:p>
            <a:pPr>
              <a:lnSpc>
                <a:spcPct val="100000"/>
              </a:lnSpc>
              <a:spcBef>
                <a:spcPct val="0"/>
              </a:spcBef>
              <a:buFontTx/>
              <a:buNone/>
            </a:pPr>
            <a:endParaRPr kumimoji="1" lang="zh-CN" altLang="en-US" sz="1800">
              <a:latin typeface="+mn-lt"/>
            </a:endParaRPr>
          </a:p>
        </p:txBody>
      </p:sp>
      <p:sp>
        <p:nvSpPr>
          <p:cNvPr id="10" name="文本框 9">
            <a:extLst>
              <a:ext uri="{FF2B5EF4-FFF2-40B4-BE49-F238E27FC236}">
                <a16:creationId xmlns:a16="http://schemas.microsoft.com/office/drawing/2014/main" id="{5D53F571-3FE3-414E-8DE9-03044D097F3C}"/>
              </a:ext>
            </a:extLst>
          </p:cNvPr>
          <p:cNvSpPr txBox="1"/>
          <p:nvPr/>
        </p:nvSpPr>
        <p:spPr>
          <a:xfrm>
            <a:off x="654258" y="589775"/>
            <a:ext cx="5289342" cy="523220"/>
          </a:xfrm>
          <a:prstGeom prst="rect">
            <a:avLst/>
          </a:prstGeom>
          <a:noFill/>
        </p:spPr>
        <p:txBody>
          <a:bodyPr wrap="square" rtlCol="0">
            <a:spAutoFit/>
          </a:bodyPr>
          <a:lstStyle/>
          <a:p>
            <a:r>
              <a:rPr kumimoji="1" lang="en-US" altLang="zh-CN" sz="2800" dirty="0">
                <a:latin typeface="Microsoft YaHei" charset="-122"/>
                <a:ea typeface="Microsoft YaHei" charset="-122"/>
                <a:cs typeface="Microsoft YaHei" charset="-122"/>
              </a:rPr>
              <a:t>Albis—</a:t>
            </a:r>
            <a:r>
              <a:rPr kumimoji="1" lang="zh-CN" altLang="en-US" sz="2800" dirty="0">
                <a:latin typeface="Microsoft YaHei" charset="-122"/>
                <a:ea typeface="Microsoft YaHei" charset="-122"/>
                <a:cs typeface="Microsoft YaHei" charset="-122"/>
              </a:rPr>
              <a:t>发挥硬件性能</a:t>
            </a:r>
            <a:endParaRPr kumimoji="1" lang="en-US" altLang="zh-CN" sz="2800" dirty="0">
              <a:latin typeface="Microsoft YaHei" charset="-122"/>
              <a:ea typeface="Microsoft YaHei" charset="-122"/>
              <a:cs typeface="Microsoft YaHei" charset="-122"/>
            </a:endParaRPr>
          </a:p>
        </p:txBody>
      </p:sp>
      <p:pic>
        <p:nvPicPr>
          <p:cNvPr id="6" name="图片 5">
            <a:extLst>
              <a:ext uri="{FF2B5EF4-FFF2-40B4-BE49-F238E27FC236}">
                <a16:creationId xmlns:a16="http://schemas.microsoft.com/office/drawing/2014/main" id="{B23EC86F-84E8-4245-B5BD-E60621E46968}"/>
              </a:ext>
            </a:extLst>
          </p:cNvPr>
          <p:cNvPicPr>
            <a:picLocks noChangeAspect="1"/>
          </p:cNvPicPr>
          <p:nvPr/>
        </p:nvPicPr>
        <p:blipFill>
          <a:blip r:embed="rId3"/>
          <a:stretch>
            <a:fillRect/>
          </a:stretch>
        </p:blipFill>
        <p:spPr>
          <a:xfrm>
            <a:off x="0" y="2014496"/>
            <a:ext cx="4748287" cy="3695096"/>
          </a:xfrm>
          <a:prstGeom prst="rect">
            <a:avLst/>
          </a:prstGeom>
        </p:spPr>
      </p:pic>
      <p:sp>
        <p:nvSpPr>
          <p:cNvPr id="7" name="文本框 6">
            <a:extLst>
              <a:ext uri="{FF2B5EF4-FFF2-40B4-BE49-F238E27FC236}">
                <a16:creationId xmlns:a16="http://schemas.microsoft.com/office/drawing/2014/main" id="{45F80D5A-076D-4CF4-8CC2-250036ED8373}"/>
              </a:ext>
            </a:extLst>
          </p:cNvPr>
          <p:cNvSpPr txBox="1"/>
          <p:nvPr/>
        </p:nvSpPr>
        <p:spPr>
          <a:xfrm>
            <a:off x="4748286" y="3096784"/>
            <a:ext cx="4395713" cy="923330"/>
          </a:xfrm>
          <a:prstGeom prst="rect">
            <a:avLst/>
          </a:prstGeom>
          <a:noFill/>
        </p:spPr>
        <p:txBody>
          <a:bodyPr wrap="square" rtlCol="0">
            <a:spAutoFit/>
          </a:bodyPr>
          <a:lstStyle/>
          <a:p>
            <a:r>
              <a:rPr lang="en-US" altLang="zh-CN" dirty="0"/>
              <a:t>If there is only 1 column group : Row store</a:t>
            </a:r>
          </a:p>
          <a:p>
            <a:r>
              <a:rPr lang="en-US" altLang="zh-CN" dirty="0"/>
              <a:t>If there are ‘n’ column groups : Columns store</a:t>
            </a:r>
            <a:endParaRPr lang="zh-CN" altLang="en-US" dirty="0"/>
          </a:p>
        </p:txBody>
      </p:sp>
    </p:spTree>
    <p:extLst>
      <p:ext uri="{BB962C8B-B14F-4D97-AF65-F5344CB8AC3E}">
        <p14:creationId xmlns:p14="http://schemas.microsoft.com/office/powerpoint/2010/main" val="1052911460"/>
      </p:ext>
    </p:extLst>
  </p:cSld>
  <p:clrMapOvr>
    <a:masterClrMapping/>
  </p:clrMapOvr>
  <p:transition spd="med">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文本框 1"/>
          <p:cNvSpPr txBox="1">
            <a:spLocks noChangeArrowheads="1"/>
          </p:cNvSpPr>
          <p:nvPr/>
        </p:nvSpPr>
        <p:spPr bwMode="auto">
          <a:xfrm>
            <a:off x="-7464425" y="4954588"/>
            <a:ext cx="1857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charset="0"/>
              <a:buChar char="•"/>
              <a:defRPr sz="2800">
                <a:solidFill>
                  <a:schemeClr val="tx1"/>
                </a:solidFill>
                <a:latin typeface="Calibri" charset="0"/>
                <a:ea typeface="宋体" charset="0"/>
              </a:defRPr>
            </a:lvl1pPr>
            <a:lvl2pPr marL="742950" indent="-285750">
              <a:lnSpc>
                <a:spcPct val="90000"/>
              </a:lnSpc>
              <a:spcBef>
                <a:spcPts val="500"/>
              </a:spcBef>
              <a:buFont typeface="Arial" charset="0"/>
              <a:buChar char="•"/>
              <a:defRPr sz="2400">
                <a:solidFill>
                  <a:schemeClr val="tx1"/>
                </a:solidFill>
                <a:latin typeface="Calibri" charset="0"/>
                <a:ea typeface="宋体" charset="0"/>
              </a:defRPr>
            </a:lvl2pPr>
            <a:lvl3pPr marL="1143000" indent="-228600">
              <a:lnSpc>
                <a:spcPct val="90000"/>
              </a:lnSpc>
              <a:spcBef>
                <a:spcPts val="500"/>
              </a:spcBef>
              <a:buFont typeface="Arial" charset="0"/>
              <a:buChar char="•"/>
              <a:defRPr sz="2000">
                <a:solidFill>
                  <a:schemeClr val="tx1"/>
                </a:solidFill>
                <a:latin typeface="Calibri" charset="0"/>
                <a:ea typeface="宋体" charset="0"/>
              </a:defRPr>
            </a:lvl3pPr>
            <a:lvl4pPr marL="1600200" indent="-228600">
              <a:lnSpc>
                <a:spcPct val="90000"/>
              </a:lnSpc>
              <a:spcBef>
                <a:spcPts val="500"/>
              </a:spcBef>
              <a:buFont typeface="Arial" charset="0"/>
              <a:buChar char="•"/>
              <a:defRPr>
                <a:solidFill>
                  <a:schemeClr val="tx1"/>
                </a:solidFill>
                <a:latin typeface="Calibri" charset="0"/>
                <a:ea typeface="宋体" charset="0"/>
              </a:defRPr>
            </a:lvl4pPr>
            <a:lvl5pPr marL="2057400" indent="-228600">
              <a:lnSpc>
                <a:spcPct val="90000"/>
              </a:lnSpc>
              <a:spcBef>
                <a:spcPts val="500"/>
              </a:spcBef>
              <a:buFont typeface="Arial" charset="0"/>
              <a:buChar char="•"/>
              <a:defRPr>
                <a:solidFill>
                  <a:schemeClr val="tx1"/>
                </a:solidFill>
                <a:latin typeface="Calibri" charset="0"/>
                <a:ea typeface="宋体" charset="0"/>
              </a:defRPr>
            </a:lvl5pPr>
            <a:lvl6pPr marL="25146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6pPr>
            <a:lvl7pPr marL="29718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7pPr>
            <a:lvl8pPr marL="34290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8pPr>
            <a:lvl9pPr marL="38862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9pPr>
          </a:lstStyle>
          <a:p>
            <a:pPr>
              <a:lnSpc>
                <a:spcPct val="100000"/>
              </a:lnSpc>
              <a:spcBef>
                <a:spcPct val="0"/>
              </a:spcBef>
              <a:buFontTx/>
              <a:buNone/>
            </a:pPr>
            <a:endParaRPr kumimoji="1" lang="zh-CN" altLang="en-US" sz="1800">
              <a:latin typeface="+mn-lt"/>
            </a:endParaRPr>
          </a:p>
        </p:txBody>
      </p:sp>
      <p:sp>
        <p:nvSpPr>
          <p:cNvPr id="10" name="文本框 9">
            <a:extLst>
              <a:ext uri="{FF2B5EF4-FFF2-40B4-BE49-F238E27FC236}">
                <a16:creationId xmlns:a16="http://schemas.microsoft.com/office/drawing/2014/main" id="{5D53F571-3FE3-414E-8DE9-03044D097F3C}"/>
              </a:ext>
            </a:extLst>
          </p:cNvPr>
          <p:cNvSpPr txBox="1"/>
          <p:nvPr/>
        </p:nvSpPr>
        <p:spPr>
          <a:xfrm>
            <a:off x="654258" y="589775"/>
            <a:ext cx="5289342" cy="523220"/>
          </a:xfrm>
          <a:prstGeom prst="rect">
            <a:avLst/>
          </a:prstGeom>
          <a:noFill/>
        </p:spPr>
        <p:txBody>
          <a:bodyPr wrap="square" rtlCol="0">
            <a:spAutoFit/>
          </a:bodyPr>
          <a:lstStyle/>
          <a:p>
            <a:r>
              <a:rPr kumimoji="1" lang="en-US" altLang="zh-CN" sz="2800" dirty="0">
                <a:latin typeface="Microsoft YaHei" charset="-122"/>
                <a:ea typeface="Microsoft YaHei" charset="-122"/>
                <a:cs typeface="Microsoft YaHei" charset="-122"/>
              </a:rPr>
              <a:t>Albis—</a:t>
            </a:r>
            <a:r>
              <a:rPr kumimoji="1" lang="zh-CN" altLang="en-US" sz="2800" dirty="0">
                <a:latin typeface="Microsoft YaHei" charset="-122"/>
                <a:ea typeface="Microsoft YaHei" charset="-122"/>
                <a:cs typeface="Microsoft YaHei" charset="-122"/>
              </a:rPr>
              <a:t>发挥硬件性能</a:t>
            </a:r>
            <a:endParaRPr kumimoji="1" lang="en-US" altLang="zh-CN" sz="2800" dirty="0">
              <a:latin typeface="Microsoft YaHei" charset="-122"/>
              <a:ea typeface="Microsoft YaHei" charset="-122"/>
              <a:cs typeface="Microsoft YaHei" charset="-122"/>
            </a:endParaRPr>
          </a:p>
        </p:txBody>
      </p:sp>
      <p:pic>
        <p:nvPicPr>
          <p:cNvPr id="3" name="图片 2">
            <a:extLst>
              <a:ext uri="{FF2B5EF4-FFF2-40B4-BE49-F238E27FC236}">
                <a16:creationId xmlns:a16="http://schemas.microsoft.com/office/drawing/2014/main" id="{5BA376BD-21FC-42FF-9353-20F35C6A4F17}"/>
              </a:ext>
            </a:extLst>
          </p:cNvPr>
          <p:cNvPicPr>
            <a:picLocks noChangeAspect="1"/>
          </p:cNvPicPr>
          <p:nvPr/>
        </p:nvPicPr>
        <p:blipFill>
          <a:blip r:embed="rId3"/>
          <a:stretch>
            <a:fillRect/>
          </a:stretch>
        </p:blipFill>
        <p:spPr>
          <a:xfrm>
            <a:off x="0" y="2075907"/>
            <a:ext cx="9144000" cy="3535526"/>
          </a:xfrm>
          <a:prstGeom prst="rect">
            <a:avLst/>
          </a:prstGeom>
        </p:spPr>
      </p:pic>
      <p:sp>
        <p:nvSpPr>
          <p:cNvPr id="6" name="文本框 5">
            <a:extLst>
              <a:ext uri="{FF2B5EF4-FFF2-40B4-BE49-F238E27FC236}">
                <a16:creationId xmlns:a16="http://schemas.microsoft.com/office/drawing/2014/main" id="{6FFFAE3D-AF8E-46F2-A04E-3725A4984A67}"/>
              </a:ext>
            </a:extLst>
          </p:cNvPr>
          <p:cNvSpPr txBox="1"/>
          <p:nvPr/>
        </p:nvSpPr>
        <p:spPr>
          <a:xfrm>
            <a:off x="7176499" y="6187764"/>
            <a:ext cx="1561672" cy="369332"/>
          </a:xfrm>
          <a:prstGeom prst="rect">
            <a:avLst/>
          </a:prstGeom>
          <a:noFill/>
        </p:spPr>
        <p:txBody>
          <a:bodyPr wrap="square" rtlCol="0">
            <a:spAutoFit/>
          </a:bodyPr>
          <a:lstStyle/>
          <a:p>
            <a:r>
              <a:rPr lang="en-US" altLang="zh-CN" dirty="0">
                <a:hlinkClick r:id="rId4" action="ppaction://hlinksldjump"/>
              </a:rPr>
              <a:t>back</a:t>
            </a:r>
            <a:endParaRPr lang="zh-CN" altLang="en-US" dirty="0"/>
          </a:p>
        </p:txBody>
      </p:sp>
    </p:spTree>
    <p:extLst>
      <p:ext uri="{BB962C8B-B14F-4D97-AF65-F5344CB8AC3E}">
        <p14:creationId xmlns:p14="http://schemas.microsoft.com/office/powerpoint/2010/main" val="4054123018"/>
      </p:ext>
    </p:extLst>
  </p:cSld>
  <p:clrMapOvr>
    <a:masterClrMapping/>
  </p:clrMapOvr>
  <p:transition spd="med">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文本框 1"/>
          <p:cNvSpPr txBox="1">
            <a:spLocks noChangeArrowheads="1"/>
          </p:cNvSpPr>
          <p:nvPr/>
        </p:nvSpPr>
        <p:spPr bwMode="auto">
          <a:xfrm>
            <a:off x="-7464425" y="4954588"/>
            <a:ext cx="1857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charset="0"/>
              <a:buChar char="•"/>
              <a:defRPr sz="2800">
                <a:solidFill>
                  <a:schemeClr val="tx1"/>
                </a:solidFill>
                <a:latin typeface="Calibri" charset="0"/>
                <a:ea typeface="宋体" charset="0"/>
              </a:defRPr>
            </a:lvl1pPr>
            <a:lvl2pPr marL="742950" indent="-285750">
              <a:lnSpc>
                <a:spcPct val="90000"/>
              </a:lnSpc>
              <a:spcBef>
                <a:spcPts val="500"/>
              </a:spcBef>
              <a:buFont typeface="Arial" charset="0"/>
              <a:buChar char="•"/>
              <a:defRPr sz="2400">
                <a:solidFill>
                  <a:schemeClr val="tx1"/>
                </a:solidFill>
                <a:latin typeface="Calibri" charset="0"/>
                <a:ea typeface="宋体" charset="0"/>
              </a:defRPr>
            </a:lvl2pPr>
            <a:lvl3pPr marL="1143000" indent="-228600">
              <a:lnSpc>
                <a:spcPct val="90000"/>
              </a:lnSpc>
              <a:spcBef>
                <a:spcPts val="500"/>
              </a:spcBef>
              <a:buFont typeface="Arial" charset="0"/>
              <a:buChar char="•"/>
              <a:defRPr sz="2000">
                <a:solidFill>
                  <a:schemeClr val="tx1"/>
                </a:solidFill>
                <a:latin typeface="Calibri" charset="0"/>
                <a:ea typeface="宋体" charset="0"/>
              </a:defRPr>
            </a:lvl3pPr>
            <a:lvl4pPr marL="1600200" indent="-228600">
              <a:lnSpc>
                <a:spcPct val="90000"/>
              </a:lnSpc>
              <a:spcBef>
                <a:spcPts val="500"/>
              </a:spcBef>
              <a:buFont typeface="Arial" charset="0"/>
              <a:buChar char="•"/>
              <a:defRPr>
                <a:solidFill>
                  <a:schemeClr val="tx1"/>
                </a:solidFill>
                <a:latin typeface="Calibri" charset="0"/>
                <a:ea typeface="宋体" charset="0"/>
              </a:defRPr>
            </a:lvl4pPr>
            <a:lvl5pPr marL="2057400" indent="-228600">
              <a:lnSpc>
                <a:spcPct val="90000"/>
              </a:lnSpc>
              <a:spcBef>
                <a:spcPts val="500"/>
              </a:spcBef>
              <a:buFont typeface="Arial" charset="0"/>
              <a:buChar char="•"/>
              <a:defRPr>
                <a:solidFill>
                  <a:schemeClr val="tx1"/>
                </a:solidFill>
                <a:latin typeface="Calibri" charset="0"/>
                <a:ea typeface="宋体" charset="0"/>
              </a:defRPr>
            </a:lvl5pPr>
            <a:lvl6pPr marL="25146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6pPr>
            <a:lvl7pPr marL="29718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7pPr>
            <a:lvl8pPr marL="34290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8pPr>
            <a:lvl9pPr marL="38862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9pPr>
          </a:lstStyle>
          <a:p>
            <a:pPr>
              <a:lnSpc>
                <a:spcPct val="100000"/>
              </a:lnSpc>
              <a:spcBef>
                <a:spcPct val="0"/>
              </a:spcBef>
              <a:buFontTx/>
              <a:buNone/>
            </a:pPr>
            <a:endParaRPr kumimoji="1" lang="zh-CN" altLang="en-US" sz="1800">
              <a:latin typeface="+mn-lt"/>
            </a:endParaRPr>
          </a:p>
        </p:txBody>
      </p:sp>
      <p:sp>
        <p:nvSpPr>
          <p:cNvPr id="10" name="文本框 9">
            <a:extLst>
              <a:ext uri="{FF2B5EF4-FFF2-40B4-BE49-F238E27FC236}">
                <a16:creationId xmlns:a16="http://schemas.microsoft.com/office/drawing/2014/main" id="{5D53F571-3FE3-414E-8DE9-03044D097F3C}"/>
              </a:ext>
            </a:extLst>
          </p:cNvPr>
          <p:cNvSpPr txBox="1"/>
          <p:nvPr/>
        </p:nvSpPr>
        <p:spPr>
          <a:xfrm>
            <a:off x="654258" y="589775"/>
            <a:ext cx="5289342" cy="523220"/>
          </a:xfrm>
          <a:prstGeom prst="rect">
            <a:avLst/>
          </a:prstGeom>
          <a:noFill/>
        </p:spPr>
        <p:txBody>
          <a:bodyPr wrap="square" rtlCol="0">
            <a:spAutoFit/>
          </a:bodyPr>
          <a:lstStyle/>
          <a:p>
            <a:r>
              <a:rPr kumimoji="1" lang="en-US" altLang="zh-CN" sz="2800" dirty="0">
                <a:latin typeface="Microsoft YaHei" charset="-122"/>
                <a:ea typeface="Microsoft YaHei" charset="-122"/>
                <a:cs typeface="Microsoft YaHei" charset="-122"/>
              </a:rPr>
              <a:t>Albis—</a:t>
            </a:r>
            <a:r>
              <a:rPr kumimoji="1" lang="zh-CN" altLang="en-US" sz="2800" dirty="0">
                <a:latin typeface="Microsoft YaHei" charset="-122"/>
                <a:ea typeface="Microsoft YaHei" charset="-122"/>
                <a:cs typeface="Microsoft YaHei" charset="-122"/>
              </a:rPr>
              <a:t>发挥硬件性能</a:t>
            </a:r>
            <a:endParaRPr kumimoji="1" lang="en-US" altLang="zh-CN" sz="2800" dirty="0">
              <a:latin typeface="Microsoft YaHei" charset="-122"/>
              <a:ea typeface="Microsoft YaHei" charset="-122"/>
              <a:cs typeface="Microsoft YaHei" charset="-122"/>
            </a:endParaRPr>
          </a:p>
        </p:txBody>
      </p:sp>
      <p:pic>
        <p:nvPicPr>
          <p:cNvPr id="4" name="图片 3">
            <a:extLst>
              <a:ext uri="{FF2B5EF4-FFF2-40B4-BE49-F238E27FC236}">
                <a16:creationId xmlns:a16="http://schemas.microsoft.com/office/drawing/2014/main" id="{1DA0BBD6-DB19-4339-9DCE-CB155AB19FEE}"/>
              </a:ext>
            </a:extLst>
          </p:cNvPr>
          <p:cNvPicPr>
            <a:picLocks noChangeAspect="1"/>
          </p:cNvPicPr>
          <p:nvPr/>
        </p:nvPicPr>
        <p:blipFill>
          <a:blip r:embed="rId3"/>
          <a:stretch>
            <a:fillRect/>
          </a:stretch>
        </p:blipFill>
        <p:spPr>
          <a:xfrm>
            <a:off x="1952090" y="2114102"/>
            <a:ext cx="4953691" cy="3210373"/>
          </a:xfrm>
          <a:prstGeom prst="rect">
            <a:avLst/>
          </a:prstGeom>
        </p:spPr>
      </p:pic>
    </p:spTree>
    <p:extLst>
      <p:ext uri="{BB962C8B-B14F-4D97-AF65-F5344CB8AC3E}">
        <p14:creationId xmlns:p14="http://schemas.microsoft.com/office/powerpoint/2010/main" val="1993981896"/>
      </p:ext>
    </p:extLst>
  </p:cSld>
  <p:clrMapOvr>
    <a:masterClrMapping/>
  </p:clrMapOvr>
  <p:transition spd="med">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文本框 1"/>
          <p:cNvSpPr txBox="1">
            <a:spLocks noChangeArrowheads="1"/>
          </p:cNvSpPr>
          <p:nvPr/>
        </p:nvSpPr>
        <p:spPr bwMode="auto">
          <a:xfrm>
            <a:off x="-7464425" y="4954588"/>
            <a:ext cx="1857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charset="0"/>
              <a:buChar char="•"/>
              <a:defRPr sz="2800">
                <a:solidFill>
                  <a:schemeClr val="tx1"/>
                </a:solidFill>
                <a:latin typeface="Calibri" charset="0"/>
                <a:ea typeface="宋体" charset="0"/>
              </a:defRPr>
            </a:lvl1pPr>
            <a:lvl2pPr marL="742950" indent="-285750">
              <a:lnSpc>
                <a:spcPct val="90000"/>
              </a:lnSpc>
              <a:spcBef>
                <a:spcPts val="500"/>
              </a:spcBef>
              <a:buFont typeface="Arial" charset="0"/>
              <a:buChar char="•"/>
              <a:defRPr sz="2400">
                <a:solidFill>
                  <a:schemeClr val="tx1"/>
                </a:solidFill>
                <a:latin typeface="Calibri" charset="0"/>
                <a:ea typeface="宋体" charset="0"/>
              </a:defRPr>
            </a:lvl2pPr>
            <a:lvl3pPr marL="1143000" indent="-228600">
              <a:lnSpc>
                <a:spcPct val="90000"/>
              </a:lnSpc>
              <a:spcBef>
                <a:spcPts val="500"/>
              </a:spcBef>
              <a:buFont typeface="Arial" charset="0"/>
              <a:buChar char="•"/>
              <a:defRPr sz="2000">
                <a:solidFill>
                  <a:schemeClr val="tx1"/>
                </a:solidFill>
                <a:latin typeface="Calibri" charset="0"/>
                <a:ea typeface="宋体" charset="0"/>
              </a:defRPr>
            </a:lvl3pPr>
            <a:lvl4pPr marL="1600200" indent="-228600">
              <a:lnSpc>
                <a:spcPct val="90000"/>
              </a:lnSpc>
              <a:spcBef>
                <a:spcPts val="500"/>
              </a:spcBef>
              <a:buFont typeface="Arial" charset="0"/>
              <a:buChar char="•"/>
              <a:defRPr>
                <a:solidFill>
                  <a:schemeClr val="tx1"/>
                </a:solidFill>
                <a:latin typeface="Calibri" charset="0"/>
                <a:ea typeface="宋体" charset="0"/>
              </a:defRPr>
            </a:lvl4pPr>
            <a:lvl5pPr marL="2057400" indent="-228600">
              <a:lnSpc>
                <a:spcPct val="90000"/>
              </a:lnSpc>
              <a:spcBef>
                <a:spcPts val="500"/>
              </a:spcBef>
              <a:buFont typeface="Arial" charset="0"/>
              <a:buChar char="•"/>
              <a:defRPr>
                <a:solidFill>
                  <a:schemeClr val="tx1"/>
                </a:solidFill>
                <a:latin typeface="Calibri" charset="0"/>
                <a:ea typeface="宋体" charset="0"/>
              </a:defRPr>
            </a:lvl5pPr>
            <a:lvl6pPr marL="25146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6pPr>
            <a:lvl7pPr marL="29718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7pPr>
            <a:lvl8pPr marL="34290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8pPr>
            <a:lvl9pPr marL="38862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9pPr>
          </a:lstStyle>
          <a:p>
            <a:pPr>
              <a:lnSpc>
                <a:spcPct val="100000"/>
              </a:lnSpc>
              <a:spcBef>
                <a:spcPct val="0"/>
              </a:spcBef>
              <a:buFontTx/>
              <a:buNone/>
            </a:pPr>
            <a:endParaRPr kumimoji="1" lang="zh-CN" altLang="en-US" sz="1800">
              <a:latin typeface="+mn-lt"/>
            </a:endParaRPr>
          </a:p>
        </p:txBody>
      </p:sp>
      <p:sp>
        <p:nvSpPr>
          <p:cNvPr id="10" name="文本框 9">
            <a:extLst>
              <a:ext uri="{FF2B5EF4-FFF2-40B4-BE49-F238E27FC236}">
                <a16:creationId xmlns:a16="http://schemas.microsoft.com/office/drawing/2014/main" id="{5D53F571-3FE3-414E-8DE9-03044D097F3C}"/>
              </a:ext>
            </a:extLst>
          </p:cNvPr>
          <p:cNvSpPr txBox="1"/>
          <p:nvPr/>
        </p:nvSpPr>
        <p:spPr>
          <a:xfrm>
            <a:off x="654258" y="589775"/>
            <a:ext cx="5289342" cy="523220"/>
          </a:xfrm>
          <a:prstGeom prst="rect">
            <a:avLst/>
          </a:prstGeom>
          <a:noFill/>
        </p:spPr>
        <p:txBody>
          <a:bodyPr wrap="square" rtlCol="0">
            <a:spAutoFit/>
          </a:bodyPr>
          <a:lstStyle/>
          <a:p>
            <a:r>
              <a:rPr kumimoji="1" lang="en-US" altLang="zh-CN" sz="2800" dirty="0">
                <a:latin typeface="Microsoft YaHei" charset="-122"/>
                <a:ea typeface="Microsoft YaHei" charset="-122"/>
                <a:cs typeface="Microsoft YaHei" charset="-122"/>
              </a:rPr>
              <a:t>Albis—</a:t>
            </a:r>
            <a:r>
              <a:rPr kumimoji="1" lang="zh-CN" altLang="en-US" sz="2800" dirty="0">
                <a:latin typeface="Microsoft YaHei" charset="-122"/>
                <a:ea typeface="Microsoft YaHei" charset="-122"/>
                <a:cs typeface="Microsoft YaHei" charset="-122"/>
              </a:rPr>
              <a:t>发挥硬件性能</a:t>
            </a:r>
            <a:endParaRPr kumimoji="1" lang="en-US" altLang="zh-CN" sz="2800" dirty="0">
              <a:latin typeface="Microsoft YaHei" charset="-122"/>
              <a:ea typeface="Microsoft YaHei" charset="-122"/>
              <a:cs typeface="Microsoft YaHei" charset="-122"/>
            </a:endParaRPr>
          </a:p>
        </p:txBody>
      </p:sp>
      <p:pic>
        <p:nvPicPr>
          <p:cNvPr id="3" name="图片 2">
            <a:extLst>
              <a:ext uri="{FF2B5EF4-FFF2-40B4-BE49-F238E27FC236}">
                <a16:creationId xmlns:a16="http://schemas.microsoft.com/office/drawing/2014/main" id="{7ECC40BF-98AD-4009-BCF9-2CC2AB2CD470}"/>
              </a:ext>
            </a:extLst>
          </p:cNvPr>
          <p:cNvPicPr>
            <a:picLocks noChangeAspect="1"/>
          </p:cNvPicPr>
          <p:nvPr/>
        </p:nvPicPr>
        <p:blipFill>
          <a:blip r:embed="rId3"/>
          <a:stretch>
            <a:fillRect/>
          </a:stretch>
        </p:blipFill>
        <p:spPr>
          <a:xfrm>
            <a:off x="0" y="1743470"/>
            <a:ext cx="9144000" cy="3371060"/>
          </a:xfrm>
          <a:prstGeom prst="rect">
            <a:avLst/>
          </a:prstGeom>
        </p:spPr>
      </p:pic>
    </p:spTree>
    <p:extLst>
      <p:ext uri="{BB962C8B-B14F-4D97-AF65-F5344CB8AC3E}">
        <p14:creationId xmlns:p14="http://schemas.microsoft.com/office/powerpoint/2010/main" val="1946093489"/>
      </p:ext>
    </p:extLst>
  </p:cSld>
  <p:clrMapOvr>
    <a:masterClrMapping/>
  </p:clrMapOvr>
  <p:transition spd="med">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文本框 1"/>
          <p:cNvSpPr txBox="1">
            <a:spLocks noChangeArrowheads="1"/>
          </p:cNvSpPr>
          <p:nvPr/>
        </p:nvSpPr>
        <p:spPr bwMode="auto">
          <a:xfrm>
            <a:off x="-7464425" y="4954588"/>
            <a:ext cx="1857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charset="0"/>
              <a:buChar char="•"/>
              <a:defRPr sz="2800">
                <a:solidFill>
                  <a:schemeClr val="tx1"/>
                </a:solidFill>
                <a:latin typeface="Calibri" charset="0"/>
                <a:ea typeface="宋体" charset="0"/>
              </a:defRPr>
            </a:lvl1pPr>
            <a:lvl2pPr marL="742950" indent="-285750">
              <a:lnSpc>
                <a:spcPct val="90000"/>
              </a:lnSpc>
              <a:spcBef>
                <a:spcPts val="500"/>
              </a:spcBef>
              <a:buFont typeface="Arial" charset="0"/>
              <a:buChar char="•"/>
              <a:defRPr sz="2400">
                <a:solidFill>
                  <a:schemeClr val="tx1"/>
                </a:solidFill>
                <a:latin typeface="Calibri" charset="0"/>
                <a:ea typeface="宋体" charset="0"/>
              </a:defRPr>
            </a:lvl2pPr>
            <a:lvl3pPr marL="1143000" indent="-228600">
              <a:lnSpc>
                <a:spcPct val="90000"/>
              </a:lnSpc>
              <a:spcBef>
                <a:spcPts val="500"/>
              </a:spcBef>
              <a:buFont typeface="Arial" charset="0"/>
              <a:buChar char="•"/>
              <a:defRPr sz="2000">
                <a:solidFill>
                  <a:schemeClr val="tx1"/>
                </a:solidFill>
                <a:latin typeface="Calibri" charset="0"/>
                <a:ea typeface="宋体" charset="0"/>
              </a:defRPr>
            </a:lvl3pPr>
            <a:lvl4pPr marL="1600200" indent="-228600">
              <a:lnSpc>
                <a:spcPct val="90000"/>
              </a:lnSpc>
              <a:spcBef>
                <a:spcPts val="500"/>
              </a:spcBef>
              <a:buFont typeface="Arial" charset="0"/>
              <a:buChar char="•"/>
              <a:defRPr>
                <a:solidFill>
                  <a:schemeClr val="tx1"/>
                </a:solidFill>
                <a:latin typeface="Calibri" charset="0"/>
                <a:ea typeface="宋体" charset="0"/>
              </a:defRPr>
            </a:lvl4pPr>
            <a:lvl5pPr marL="2057400" indent="-228600">
              <a:lnSpc>
                <a:spcPct val="90000"/>
              </a:lnSpc>
              <a:spcBef>
                <a:spcPts val="500"/>
              </a:spcBef>
              <a:buFont typeface="Arial" charset="0"/>
              <a:buChar char="•"/>
              <a:defRPr>
                <a:solidFill>
                  <a:schemeClr val="tx1"/>
                </a:solidFill>
                <a:latin typeface="Calibri" charset="0"/>
                <a:ea typeface="宋体" charset="0"/>
              </a:defRPr>
            </a:lvl5pPr>
            <a:lvl6pPr marL="25146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6pPr>
            <a:lvl7pPr marL="29718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7pPr>
            <a:lvl8pPr marL="34290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8pPr>
            <a:lvl9pPr marL="38862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9pPr>
          </a:lstStyle>
          <a:p>
            <a:pPr>
              <a:lnSpc>
                <a:spcPct val="100000"/>
              </a:lnSpc>
              <a:spcBef>
                <a:spcPct val="0"/>
              </a:spcBef>
              <a:buFontTx/>
              <a:buNone/>
            </a:pPr>
            <a:endParaRPr kumimoji="1" lang="zh-CN" altLang="en-US" sz="1800">
              <a:latin typeface="+mn-lt"/>
            </a:endParaRPr>
          </a:p>
        </p:txBody>
      </p:sp>
      <p:sp>
        <p:nvSpPr>
          <p:cNvPr id="10" name="文本框 9">
            <a:extLst>
              <a:ext uri="{FF2B5EF4-FFF2-40B4-BE49-F238E27FC236}">
                <a16:creationId xmlns:a16="http://schemas.microsoft.com/office/drawing/2014/main" id="{5D53F571-3FE3-414E-8DE9-03044D097F3C}"/>
              </a:ext>
            </a:extLst>
          </p:cNvPr>
          <p:cNvSpPr txBox="1"/>
          <p:nvPr/>
        </p:nvSpPr>
        <p:spPr>
          <a:xfrm>
            <a:off x="654258" y="589775"/>
            <a:ext cx="5289342" cy="523220"/>
          </a:xfrm>
          <a:prstGeom prst="rect">
            <a:avLst/>
          </a:prstGeom>
          <a:noFill/>
        </p:spPr>
        <p:txBody>
          <a:bodyPr wrap="square" rtlCol="0">
            <a:spAutoFit/>
          </a:bodyPr>
          <a:lstStyle/>
          <a:p>
            <a:r>
              <a:rPr kumimoji="1" lang="en-US" altLang="zh-CN" sz="2800" dirty="0">
                <a:latin typeface="Microsoft YaHei" charset="-122"/>
                <a:ea typeface="Microsoft YaHei" charset="-122"/>
                <a:cs typeface="Microsoft YaHei" charset="-122"/>
              </a:rPr>
              <a:t>Albis—</a:t>
            </a:r>
            <a:r>
              <a:rPr kumimoji="1" lang="zh-CN" altLang="en-US" sz="2800" dirty="0">
                <a:latin typeface="Microsoft YaHei" charset="-122"/>
                <a:ea typeface="Microsoft YaHei" charset="-122"/>
                <a:cs typeface="Microsoft YaHei" charset="-122"/>
              </a:rPr>
              <a:t>发挥硬件性能</a:t>
            </a:r>
            <a:endParaRPr kumimoji="1" lang="en-US" altLang="zh-CN" sz="2800" dirty="0">
              <a:latin typeface="Microsoft YaHei" charset="-122"/>
              <a:ea typeface="Microsoft YaHei" charset="-122"/>
              <a:cs typeface="Microsoft YaHei" charset="-122"/>
            </a:endParaRPr>
          </a:p>
        </p:txBody>
      </p:sp>
      <p:pic>
        <p:nvPicPr>
          <p:cNvPr id="3" name="图片 2">
            <a:extLst>
              <a:ext uri="{FF2B5EF4-FFF2-40B4-BE49-F238E27FC236}">
                <a16:creationId xmlns:a16="http://schemas.microsoft.com/office/drawing/2014/main" id="{72479AE6-B377-478F-9CD6-55F3BD3F2CD3}"/>
              </a:ext>
            </a:extLst>
          </p:cNvPr>
          <p:cNvPicPr>
            <a:picLocks noChangeAspect="1"/>
          </p:cNvPicPr>
          <p:nvPr/>
        </p:nvPicPr>
        <p:blipFill>
          <a:blip r:embed="rId3"/>
          <a:stretch>
            <a:fillRect/>
          </a:stretch>
        </p:blipFill>
        <p:spPr>
          <a:xfrm>
            <a:off x="0" y="1986293"/>
            <a:ext cx="9144000" cy="2885414"/>
          </a:xfrm>
          <a:prstGeom prst="rect">
            <a:avLst/>
          </a:prstGeom>
        </p:spPr>
      </p:pic>
    </p:spTree>
    <p:extLst>
      <p:ext uri="{BB962C8B-B14F-4D97-AF65-F5344CB8AC3E}">
        <p14:creationId xmlns:p14="http://schemas.microsoft.com/office/powerpoint/2010/main" val="2829456354"/>
      </p:ext>
    </p:extLst>
  </p:cSld>
  <p:clrMapOvr>
    <a:masterClrMapping/>
  </p:clrMapOvr>
  <p:transition spd="med">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文本框 1"/>
          <p:cNvSpPr txBox="1">
            <a:spLocks noChangeArrowheads="1"/>
          </p:cNvSpPr>
          <p:nvPr/>
        </p:nvSpPr>
        <p:spPr bwMode="auto">
          <a:xfrm>
            <a:off x="-7464425" y="4954588"/>
            <a:ext cx="1857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charset="0"/>
              <a:buChar char="•"/>
              <a:defRPr sz="2800">
                <a:solidFill>
                  <a:schemeClr val="tx1"/>
                </a:solidFill>
                <a:latin typeface="Calibri" charset="0"/>
                <a:ea typeface="宋体" charset="0"/>
              </a:defRPr>
            </a:lvl1pPr>
            <a:lvl2pPr marL="742950" indent="-285750">
              <a:lnSpc>
                <a:spcPct val="90000"/>
              </a:lnSpc>
              <a:spcBef>
                <a:spcPts val="500"/>
              </a:spcBef>
              <a:buFont typeface="Arial" charset="0"/>
              <a:buChar char="•"/>
              <a:defRPr sz="2400">
                <a:solidFill>
                  <a:schemeClr val="tx1"/>
                </a:solidFill>
                <a:latin typeface="Calibri" charset="0"/>
                <a:ea typeface="宋体" charset="0"/>
              </a:defRPr>
            </a:lvl2pPr>
            <a:lvl3pPr marL="1143000" indent="-228600">
              <a:lnSpc>
                <a:spcPct val="90000"/>
              </a:lnSpc>
              <a:spcBef>
                <a:spcPts val="500"/>
              </a:spcBef>
              <a:buFont typeface="Arial" charset="0"/>
              <a:buChar char="•"/>
              <a:defRPr sz="2000">
                <a:solidFill>
                  <a:schemeClr val="tx1"/>
                </a:solidFill>
                <a:latin typeface="Calibri" charset="0"/>
                <a:ea typeface="宋体" charset="0"/>
              </a:defRPr>
            </a:lvl3pPr>
            <a:lvl4pPr marL="1600200" indent="-228600">
              <a:lnSpc>
                <a:spcPct val="90000"/>
              </a:lnSpc>
              <a:spcBef>
                <a:spcPts val="500"/>
              </a:spcBef>
              <a:buFont typeface="Arial" charset="0"/>
              <a:buChar char="•"/>
              <a:defRPr>
                <a:solidFill>
                  <a:schemeClr val="tx1"/>
                </a:solidFill>
                <a:latin typeface="Calibri" charset="0"/>
                <a:ea typeface="宋体" charset="0"/>
              </a:defRPr>
            </a:lvl4pPr>
            <a:lvl5pPr marL="2057400" indent="-228600">
              <a:lnSpc>
                <a:spcPct val="90000"/>
              </a:lnSpc>
              <a:spcBef>
                <a:spcPts val="500"/>
              </a:spcBef>
              <a:buFont typeface="Arial" charset="0"/>
              <a:buChar char="•"/>
              <a:defRPr>
                <a:solidFill>
                  <a:schemeClr val="tx1"/>
                </a:solidFill>
                <a:latin typeface="Calibri" charset="0"/>
                <a:ea typeface="宋体" charset="0"/>
              </a:defRPr>
            </a:lvl5pPr>
            <a:lvl6pPr marL="25146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6pPr>
            <a:lvl7pPr marL="29718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7pPr>
            <a:lvl8pPr marL="34290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8pPr>
            <a:lvl9pPr marL="38862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9pPr>
          </a:lstStyle>
          <a:p>
            <a:pPr>
              <a:lnSpc>
                <a:spcPct val="100000"/>
              </a:lnSpc>
              <a:spcBef>
                <a:spcPct val="0"/>
              </a:spcBef>
              <a:buFontTx/>
              <a:buNone/>
            </a:pPr>
            <a:endParaRPr kumimoji="1" lang="zh-CN" altLang="en-US" sz="1800">
              <a:latin typeface="+mn-lt"/>
            </a:endParaRPr>
          </a:p>
        </p:txBody>
      </p:sp>
      <p:sp>
        <p:nvSpPr>
          <p:cNvPr id="10" name="文本框 9">
            <a:extLst>
              <a:ext uri="{FF2B5EF4-FFF2-40B4-BE49-F238E27FC236}">
                <a16:creationId xmlns:a16="http://schemas.microsoft.com/office/drawing/2014/main" id="{5D53F571-3FE3-414E-8DE9-03044D097F3C}"/>
              </a:ext>
            </a:extLst>
          </p:cNvPr>
          <p:cNvSpPr txBox="1"/>
          <p:nvPr/>
        </p:nvSpPr>
        <p:spPr>
          <a:xfrm>
            <a:off x="654258" y="589775"/>
            <a:ext cx="5289342" cy="523220"/>
          </a:xfrm>
          <a:prstGeom prst="rect">
            <a:avLst/>
          </a:prstGeom>
          <a:noFill/>
        </p:spPr>
        <p:txBody>
          <a:bodyPr wrap="square" rtlCol="0">
            <a:spAutoFit/>
          </a:bodyPr>
          <a:lstStyle/>
          <a:p>
            <a:r>
              <a:rPr kumimoji="1" lang="en-US" altLang="zh-CN" sz="2800" dirty="0">
                <a:latin typeface="Microsoft YaHei" charset="-122"/>
                <a:ea typeface="Microsoft YaHei" charset="-122"/>
                <a:cs typeface="Microsoft YaHei" charset="-122"/>
              </a:rPr>
              <a:t>Albis—</a:t>
            </a:r>
            <a:r>
              <a:rPr kumimoji="1" lang="zh-CN" altLang="en-US" sz="2800" dirty="0">
                <a:latin typeface="Microsoft YaHei" charset="-122"/>
                <a:ea typeface="Microsoft YaHei" charset="-122"/>
                <a:cs typeface="Microsoft YaHei" charset="-122"/>
              </a:rPr>
              <a:t>发挥硬件性能</a:t>
            </a:r>
            <a:endParaRPr kumimoji="1" lang="en-US" altLang="zh-CN" sz="2800" dirty="0">
              <a:latin typeface="Microsoft YaHei" charset="-122"/>
              <a:ea typeface="Microsoft YaHei" charset="-122"/>
              <a:cs typeface="Microsoft YaHei" charset="-122"/>
            </a:endParaRPr>
          </a:p>
        </p:txBody>
      </p:sp>
      <p:pic>
        <p:nvPicPr>
          <p:cNvPr id="3" name="图片 2">
            <a:extLst>
              <a:ext uri="{FF2B5EF4-FFF2-40B4-BE49-F238E27FC236}">
                <a16:creationId xmlns:a16="http://schemas.microsoft.com/office/drawing/2014/main" id="{CD57FFBF-AC0E-475F-B12C-FD69D79789E6}"/>
              </a:ext>
            </a:extLst>
          </p:cNvPr>
          <p:cNvPicPr>
            <a:picLocks noChangeAspect="1"/>
          </p:cNvPicPr>
          <p:nvPr/>
        </p:nvPicPr>
        <p:blipFill>
          <a:blip r:embed="rId3"/>
          <a:stretch>
            <a:fillRect/>
          </a:stretch>
        </p:blipFill>
        <p:spPr>
          <a:xfrm>
            <a:off x="0" y="1889268"/>
            <a:ext cx="9144000" cy="3079463"/>
          </a:xfrm>
          <a:prstGeom prst="rect">
            <a:avLst/>
          </a:prstGeom>
        </p:spPr>
      </p:pic>
    </p:spTree>
    <p:extLst>
      <p:ext uri="{BB962C8B-B14F-4D97-AF65-F5344CB8AC3E}">
        <p14:creationId xmlns:p14="http://schemas.microsoft.com/office/powerpoint/2010/main" val="631094940"/>
      </p:ext>
    </p:extLst>
  </p:cSld>
  <p:clrMapOvr>
    <a:masterClrMapping/>
  </p:clrMapOvr>
  <p:transition spd="med">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文本框 1"/>
          <p:cNvSpPr txBox="1">
            <a:spLocks noChangeArrowheads="1"/>
          </p:cNvSpPr>
          <p:nvPr/>
        </p:nvSpPr>
        <p:spPr bwMode="auto">
          <a:xfrm>
            <a:off x="-7464425" y="4954588"/>
            <a:ext cx="1857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charset="0"/>
              <a:buChar char="•"/>
              <a:defRPr sz="2800">
                <a:solidFill>
                  <a:schemeClr val="tx1"/>
                </a:solidFill>
                <a:latin typeface="Calibri" charset="0"/>
                <a:ea typeface="宋体" charset="0"/>
              </a:defRPr>
            </a:lvl1pPr>
            <a:lvl2pPr marL="742950" indent="-285750">
              <a:lnSpc>
                <a:spcPct val="90000"/>
              </a:lnSpc>
              <a:spcBef>
                <a:spcPts val="500"/>
              </a:spcBef>
              <a:buFont typeface="Arial" charset="0"/>
              <a:buChar char="•"/>
              <a:defRPr sz="2400">
                <a:solidFill>
                  <a:schemeClr val="tx1"/>
                </a:solidFill>
                <a:latin typeface="Calibri" charset="0"/>
                <a:ea typeface="宋体" charset="0"/>
              </a:defRPr>
            </a:lvl2pPr>
            <a:lvl3pPr marL="1143000" indent="-228600">
              <a:lnSpc>
                <a:spcPct val="90000"/>
              </a:lnSpc>
              <a:spcBef>
                <a:spcPts val="500"/>
              </a:spcBef>
              <a:buFont typeface="Arial" charset="0"/>
              <a:buChar char="•"/>
              <a:defRPr sz="2000">
                <a:solidFill>
                  <a:schemeClr val="tx1"/>
                </a:solidFill>
                <a:latin typeface="Calibri" charset="0"/>
                <a:ea typeface="宋体" charset="0"/>
              </a:defRPr>
            </a:lvl3pPr>
            <a:lvl4pPr marL="1600200" indent="-228600">
              <a:lnSpc>
                <a:spcPct val="90000"/>
              </a:lnSpc>
              <a:spcBef>
                <a:spcPts val="500"/>
              </a:spcBef>
              <a:buFont typeface="Arial" charset="0"/>
              <a:buChar char="•"/>
              <a:defRPr>
                <a:solidFill>
                  <a:schemeClr val="tx1"/>
                </a:solidFill>
                <a:latin typeface="Calibri" charset="0"/>
                <a:ea typeface="宋体" charset="0"/>
              </a:defRPr>
            </a:lvl4pPr>
            <a:lvl5pPr marL="2057400" indent="-228600">
              <a:lnSpc>
                <a:spcPct val="90000"/>
              </a:lnSpc>
              <a:spcBef>
                <a:spcPts val="500"/>
              </a:spcBef>
              <a:buFont typeface="Arial" charset="0"/>
              <a:buChar char="•"/>
              <a:defRPr>
                <a:solidFill>
                  <a:schemeClr val="tx1"/>
                </a:solidFill>
                <a:latin typeface="Calibri" charset="0"/>
                <a:ea typeface="宋体" charset="0"/>
              </a:defRPr>
            </a:lvl5pPr>
            <a:lvl6pPr marL="25146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6pPr>
            <a:lvl7pPr marL="29718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7pPr>
            <a:lvl8pPr marL="34290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8pPr>
            <a:lvl9pPr marL="38862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9pPr>
          </a:lstStyle>
          <a:p>
            <a:pPr>
              <a:lnSpc>
                <a:spcPct val="100000"/>
              </a:lnSpc>
              <a:spcBef>
                <a:spcPct val="0"/>
              </a:spcBef>
              <a:buFontTx/>
              <a:buNone/>
            </a:pPr>
            <a:endParaRPr kumimoji="1" lang="zh-CN" altLang="en-US" sz="1800">
              <a:latin typeface="+mn-lt"/>
            </a:endParaRPr>
          </a:p>
        </p:txBody>
      </p:sp>
      <p:sp>
        <p:nvSpPr>
          <p:cNvPr id="10" name="文本框 9">
            <a:extLst>
              <a:ext uri="{FF2B5EF4-FFF2-40B4-BE49-F238E27FC236}">
                <a16:creationId xmlns:a16="http://schemas.microsoft.com/office/drawing/2014/main" id="{5D53F571-3FE3-414E-8DE9-03044D097F3C}"/>
              </a:ext>
            </a:extLst>
          </p:cNvPr>
          <p:cNvSpPr txBox="1"/>
          <p:nvPr/>
        </p:nvSpPr>
        <p:spPr>
          <a:xfrm>
            <a:off x="654258" y="589775"/>
            <a:ext cx="5289342" cy="523220"/>
          </a:xfrm>
          <a:prstGeom prst="rect">
            <a:avLst/>
          </a:prstGeom>
          <a:noFill/>
        </p:spPr>
        <p:txBody>
          <a:bodyPr wrap="square" rtlCol="0">
            <a:spAutoFit/>
          </a:bodyPr>
          <a:lstStyle/>
          <a:p>
            <a:r>
              <a:rPr kumimoji="1" lang="en-US" altLang="zh-CN" sz="2800" dirty="0">
                <a:latin typeface="Microsoft YaHei" charset="-122"/>
                <a:ea typeface="Microsoft YaHei" charset="-122"/>
                <a:cs typeface="Microsoft YaHei" charset="-122"/>
              </a:rPr>
              <a:t>Albis—</a:t>
            </a:r>
            <a:r>
              <a:rPr kumimoji="1" lang="zh-CN" altLang="en-US" sz="2800" dirty="0">
                <a:latin typeface="Microsoft YaHei" charset="-122"/>
                <a:ea typeface="Microsoft YaHei" charset="-122"/>
                <a:cs typeface="Microsoft YaHei" charset="-122"/>
              </a:rPr>
              <a:t>发挥硬件性能</a:t>
            </a:r>
            <a:endParaRPr kumimoji="1" lang="en-US" altLang="zh-CN" sz="2800" dirty="0">
              <a:latin typeface="Microsoft YaHei" charset="-122"/>
              <a:ea typeface="Microsoft YaHei" charset="-122"/>
              <a:cs typeface="Microsoft YaHei" charset="-122"/>
            </a:endParaRPr>
          </a:p>
        </p:txBody>
      </p:sp>
      <p:pic>
        <p:nvPicPr>
          <p:cNvPr id="3" name="图片 2">
            <a:extLst>
              <a:ext uri="{FF2B5EF4-FFF2-40B4-BE49-F238E27FC236}">
                <a16:creationId xmlns:a16="http://schemas.microsoft.com/office/drawing/2014/main" id="{046FAE23-B617-4A47-97CB-CEEDB6B085DD}"/>
              </a:ext>
            </a:extLst>
          </p:cNvPr>
          <p:cNvPicPr>
            <a:picLocks noChangeAspect="1"/>
          </p:cNvPicPr>
          <p:nvPr/>
        </p:nvPicPr>
        <p:blipFill>
          <a:blip r:embed="rId3"/>
          <a:stretch>
            <a:fillRect/>
          </a:stretch>
        </p:blipFill>
        <p:spPr>
          <a:xfrm>
            <a:off x="0" y="2106691"/>
            <a:ext cx="9144000" cy="2644617"/>
          </a:xfrm>
          <a:prstGeom prst="rect">
            <a:avLst/>
          </a:prstGeom>
        </p:spPr>
      </p:pic>
    </p:spTree>
    <p:extLst>
      <p:ext uri="{BB962C8B-B14F-4D97-AF65-F5344CB8AC3E}">
        <p14:creationId xmlns:p14="http://schemas.microsoft.com/office/powerpoint/2010/main" val="4124860710"/>
      </p:ext>
    </p:extLst>
  </p:cSld>
  <p:clrMapOvr>
    <a:masterClrMapping/>
  </p:clrMapOvr>
  <p:transition spd="med">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文本框 1"/>
          <p:cNvSpPr txBox="1">
            <a:spLocks noChangeArrowheads="1"/>
          </p:cNvSpPr>
          <p:nvPr/>
        </p:nvSpPr>
        <p:spPr bwMode="auto">
          <a:xfrm>
            <a:off x="-7464425" y="4954588"/>
            <a:ext cx="1857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charset="0"/>
              <a:buChar char="•"/>
              <a:defRPr sz="2800">
                <a:solidFill>
                  <a:schemeClr val="tx1"/>
                </a:solidFill>
                <a:latin typeface="Calibri" charset="0"/>
                <a:ea typeface="宋体" charset="0"/>
              </a:defRPr>
            </a:lvl1pPr>
            <a:lvl2pPr marL="742950" indent="-285750">
              <a:lnSpc>
                <a:spcPct val="90000"/>
              </a:lnSpc>
              <a:spcBef>
                <a:spcPts val="500"/>
              </a:spcBef>
              <a:buFont typeface="Arial" charset="0"/>
              <a:buChar char="•"/>
              <a:defRPr sz="2400">
                <a:solidFill>
                  <a:schemeClr val="tx1"/>
                </a:solidFill>
                <a:latin typeface="Calibri" charset="0"/>
                <a:ea typeface="宋体" charset="0"/>
              </a:defRPr>
            </a:lvl2pPr>
            <a:lvl3pPr marL="1143000" indent="-228600">
              <a:lnSpc>
                <a:spcPct val="90000"/>
              </a:lnSpc>
              <a:spcBef>
                <a:spcPts val="500"/>
              </a:spcBef>
              <a:buFont typeface="Arial" charset="0"/>
              <a:buChar char="•"/>
              <a:defRPr sz="2000">
                <a:solidFill>
                  <a:schemeClr val="tx1"/>
                </a:solidFill>
                <a:latin typeface="Calibri" charset="0"/>
                <a:ea typeface="宋体" charset="0"/>
              </a:defRPr>
            </a:lvl3pPr>
            <a:lvl4pPr marL="1600200" indent="-228600">
              <a:lnSpc>
                <a:spcPct val="90000"/>
              </a:lnSpc>
              <a:spcBef>
                <a:spcPts val="500"/>
              </a:spcBef>
              <a:buFont typeface="Arial" charset="0"/>
              <a:buChar char="•"/>
              <a:defRPr>
                <a:solidFill>
                  <a:schemeClr val="tx1"/>
                </a:solidFill>
                <a:latin typeface="Calibri" charset="0"/>
                <a:ea typeface="宋体" charset="0"/>
              </a:defRPr>
            </a:lvl4pPr>
            <a:lvl5pPr marL="2057400" indent="-228600">
              <a:lnSpc>
                <a:spcPct val="90000"/>
              </a:lnSpc>
              <a:spcBef>
                <a:spcPts val="500"/>
              </a:spcBef>
              <a:buFont typeface="Arial" charset="0"/>
              <a:buChar char="•"/>
              <a:defRPr>
                <a:solidFill>
                  <a:schemeClr val="tx1"/>
                </a:solidFill>
                <a:latin typeface="Calibri" charset="0"/>
                <a:ea typeface="宋体" charset="0"/>
              </a:defRPr>
            </a:lvl5pPr>
            <a:lvl6pPr marL="25146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6pPr>
            <a:lvl7pPr marL="29718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7pPr>
            <a:lvl8pPr marL="34290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8pPr>
            <a:lvl9pPr marL="38862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9pPr>
          </a:lstStyle>
          <a:p>
            <a:pPr>
              <a:lnSpc>
                <a:spcPct val="100000"/>
              </a:lnSpc>
              <a:spcBef>
                <a:spcPct val="0"/>
              </a:spcBef>
              <a:buFontTx/>
              <a:buNone/>
            </a:pPr>
            <a:endParaRPr kumimoji="1" lang="zh-CN" altLang="en-US" sz="1800">
              <a:latin typeface="+mn-lt"/>
            </a:endParaRPr>
          </a:p>
        </p:txBody>
      </p:sp>
      <p:sp>
        <p:nvSpPr>
          <p:cNvPr id="10" name="文本框 9">
            <a:extLst>
              <a:ext uri="{FF2B5EF4-FFF2-40B4-BE49-F238E27FC236}">
                <a16:creationId xmlns:a16="http://schemas.microsoft.com/office/drawing/2014/main" id="{5D53F571-3FE3-414E-8DE9-03044D097F3C}"/>
              </a:ext>
            </a:extLst>
          </p:cNvPr>
          <p:cNvSpPr txBox="1"/>
          <p:nvPr/>
        </p:nvSpPr>
        <p:spPr>
          <a:xfrm>
            <a:off x="654258" y="589775"/>
            <a:ext cx="5289342" cy="523220"/>
          </a:xfrm>
          <a:prstGeom prst="rect">
            <a:avLst/>
          </a:prstGeom>
          <a:noFill/>
        </p:spPr>
        <p:txBody>
          <a:bodyPr wrap="square" rtlCol="0">
            <a:spAutoFit/>
          </a:bodyPr>
          <a:lstStyle/>
          <a:p>
            <a:r>
              <a:rPr kumimoji="1" lang="en-US" altLang="zh-CN" sz="2800" dirty="0">
                <a:latin typeface="Microsoft YaHei" charset="-122"/>
                <a:ea typeface="Microsoft YaHei" charset="-122"/>
                <a:cs typeface="Microsoft YaHei" charset="-122"/>
              </a:rPr>
              <a:t>Albis—</a:t>
            </a:r>
            <a:r>
              <a:rPr kumimoji="1" lang="zh-CN" altLang="en-US" sz="2800" dirty="0">
                <a:latin typeface="Microsoft YaHei" charset="-122"/>
                <a:ea typeface="Microsoft YaHei" charset="-122"/>
                <a:cs typeface="Microsoft YaHei" charset="-122"/>
              </a:rPr>
              <a:t>发挥硬件性能</a:t>
            </a:r>
            <a:endParaRPr kumimoji="1" lang="en-US" altLang="zh-CN" sz="2800" dirty="0">
              <a:latin typeface="Microsoft YaHei" charset="-122"/>
              <a:ea typeface="Microsoft YaHei" charset="-122"/>
              <a:cs typeface="Microsoft YaHei" charset="-122"/>
            </a:endParaRPr>
          </a:p>
        </p:txBody>
      </p:sp>
      <p:pic>
        <p:nvPicPr>
          <p:cNvPr id="3" name="图片 2">
            <a:extLst>
              <a:ext uri="{FF2B5EF4-FFF2-40B4-BE49-F238E27FC236}">
                <a16:creationId xmlns:a16="http://schemas.microsoft.com/office/drawing/2014/main" id="{D373CE14-552A-4845-9C9D-AB6653347510}"/>
              </a:ext>
            </a:extLst>
          </p:cNvPr>
          <p:cNvPicPr>
            <a:picLocks noChangeAspect="1"/>
          </p:cNvPicPr>
          <p:nvPr/>
        </p:nvPicPr>
        <p:blipFill>
          <a:blip r:embed="rId3"/>
          <a:stretch>
            <a:fillRect/>
          </a:stretch>
        </p:blipFill>
        <p:spPr>
          <a:xfrm>
            <a:off x="0" y="1342154"/>
            <a:ext cx="9144000" cy="2897786"/>
          </a:xfrm>
          <a:prstGeom prst="rect">
            <a:avLst/>
          </a:prstGeom>
        </p:spPr>
      </p:pic>
      <p:pic>
        <p:nvPicPr>
          <p:cNvPr id="5" name="图片 4">
            <a:extLst>
              <a:ext uri="{FF2B5EF4-FFF2-40B4-BE49-F238E27FC236}">
                <a16:creationId xmlns:a16="http://schemas.microsoft.com/office/drawing/2014/main" id="{3684A73F-3AFB-4F42-A37E-E2F578C0AFC4}"/>
              </a:ext>
            </a:extLst>
          </p:cNvPr>
          <p:cNvPicPr>
            <a:picLocks noChangeAspect="1"/>
          </p:cNvPicPr>
          <p:nvPr/>
        </p:nvPicPr>
        <p:blipFill>
          <a:blip r:embed="rId4"/>
          <a:stretch>
            <a:fillRect/>
          </a:stretch>
        </p:blipFill>
        <p:spPr>
          <a:xfrm>
            <a:off x="0" y="3828933"/>
            <a:ext cx="9144000" cy="1495542"/>
          </a:xfrm>
          <a:prstGeom prst="rect">
            <a:avLst/>
          </a:prstGeom>
        </p:spPr>
      </p:pic>
    </p:spTree>
    <p:extLst>
      <p:ext uri="{BB962C8B-B14F-4D97-AF65-F5344CB8AC3E}">
        <p14:creationId xmlns:p14="http://schemas.microsoft.com/office/powerpoint/2010/main" val="1176075112"/>
      </p:ext>
    </p:extLst>
  </p:cSld>
  <p:clrMapOvr>
    <a:masterClrMapping/>
  </p:clrMapOvr>
  <p:transition spd="med">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文本框 1"/>
          <p:cNvSpPr txBox="1">
            <a:spLocks noChangeArrowheads="1"/>
          </p:cNvSpPr>
          <p:nvPr/>
        </p:nvSpPr>
        <p:spPr bwMode="auto">
          <a:xfrm>
            <a:off x="-7464425" y="4954588"/>
            <a:ext cx="1857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charset="0"/>
              <a:buChar char="•"/>
              <a:defRPr sz="2800">
                <a:solidFill>
                  <a:schemeClr val="tx1"/>
                </a:solidFill>
                <a:latin typeface="Calibri" charset="0"/>
                <a:ea typeface="宋体" charset="0"/>
              </a:defRPr>
            </a:lvl1pPr>
            <a:lvl2pPr marL="742950" indent="-285750">
              <a:lnSpc>
                <a:spcPct val="90000"/>
              </a:lnSpc>
              <a:spcBef>
                <a:spcPts val="500"/>
              </a:spcBef>
              <a:buFont typeface="Arial" charset="0"/>
              <a:buChar char="•"/>
              <a:defRPr sz="2400">
                <a:solidFill>
                  <a:schemeClr val="tx1"/>
                </a:solidFill>
                <a:latin typeface="Calibri" charset="0"/>
                <a:ea typeface="宋体" charset="0"/>
              </a:defRPr>
            </a:lvl2pPr>
            <a:lvl3pPr marL="1143000" indent="-228600">
              <a:lnSpc>
                <a:spcPct val="90000"/>
              </a:lnSpc>
              <a:spcBef>
                <a:spcPts val="500"/>
              </a:spcBef>
              <a:buFont typeface="Arial" charset="0"/>
              <a:buChar char="•"/>
              <a:defRPr sz="2000">
                <a:solidFill>
                  <a:schemeClr val="tx1"/>
                </a:solidFill>
                <a:latin typeface="Calibri" charset="0"/>
                <a:ea typeface="宋体" charset="0"/>
              </a:defRPr>
            </a:lvl3pPr>
            <a:lvl4pPr marL="1600200" indent="-228600">
              <a:lnSpc>
                <a:spcPct val="90000"/>
              </a:lnSpc>
              <a:spcBef>
                <a:spcPts val="500"/>
              </a:spcBef>
              <a:buFont typeface="Arial" charset="0"/>
              <a:buChar char="•"/>
              <a:defRPr>
                <a:solidFill>
                  <a:schemeClr val="tx1"/>
                </a:solidFill>
                <a:latin typeface="Calibri" charset="0"/>
                <a:ea typeface="宋体" charset="0"/>
              </a:defRPr>
            </a:lvl4pPr>
            <a:lvl5pPr marL="2057400" indent="-228600">
              <a:lnSpc>
                <a:spcPct val="90000"/>
              </a:lnSpc>
              <a:spcBef>
                <a:spcPts val="500"/>
              </a:spcBef>
              <a:buFont typeface="Arial" charset="0"/>
              <a:buChar char="•"/>
              <a:defRPr>
                <a:solidFill>
                  <a:schemeClr val="tx1"/>
                </a:solidFill>
                <a:latin typeface="Calibri" charset="0"/>
                <a:ea typeface="宋体" charset="0"/>
              </a:defRPr>
            </a:lvl5pPr>
            <a:lvl6pPr marL="25146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6pPr>
            <a:lvl7pPr marL="29718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7pPr>
            <a:lvl8pPr marL="34290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8pPr>
            <a:lvl9pPr marL="38862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9pPr>
          </a:lstStyle>
          <a:p>
            <a:pPr>
              <a:lnSpc>
                <a:spcPct val="100000"/>
              </a:lnSpc>
              <a:spcBef>
                <a:spcPct val="0"/>
              </a:spcBef>
              <a:buFontTx/>
              <a:buNone/>
            </a:pPr>
            <a:endParaRPr kumimoji="1" lang="zh-CN" altLang="en-US" sz="1800">
              <a:latin typeface="+mn-lt"/>
            </a:endParaRPr>
          </a:p>
        </p:txBody>
      </p:sp>
      <p:sp>
        <p:nvSpPr>
          <p:cNvPr id="10" name="文本框 9">
            <a:extLst>
              <a:ext uri="{FF2B5EF4-FFF2-40B4-BE49-F238E27FC236}">
                <a16:creationId xmlns:a16="http://schemas.microsoft.com/office/drawing/2014/main" id="{5D53F571-3FE3-414E-8DE9-03044D097F3C}"/>
              </a:ext>
            </a:extLst>
          </p:cNvPr>
          <p:cNvSpPr txBox="1"/>
          <p:nvPr/>
        </p:nvSpPr>
        <p:spPr>
          <a:xfrm>
            <a:off x="654258" y="589775"/>
            <a:ext cx="5289342" cy="523220"/>
          </a:xfrm>
          <a:prstGeom prst="rect">
            <a:avLst/>
          </a:prstGeom>
          <a:noFill/>
        </p:spPr>
        <p:txBody>
          <a:bodyPr wrap="square" rtlCol="0">
            <a:spAutoFit/>
          </a:bodyPr>
          <a:lstStyle/>
          <a:p>
            <a:r>
              <a:rPr kumimoji="1" lang="en-US" altLang="zh-CN" sz="2800" dirty="0">
                <a:latin typeface="Microsoft YaHei" charset="-122"/>
                <a:ea typeface="Microsoft YaHei" charset="-122"/>
                <a:cs typeface="Microsoft YaHei" charset="-122"/>
              </a:rPr>
              <a:t>Albis—</a:t>
            </a:r>
            <a:r>
              <a:rPr kumimoji="1" lang="zh-CN" altLang="en-US" sz="2800" dirty="0">
                <a:latin typeface="Microsoft YaHei" charset="-122"/>
                <a:ea typeface="Microsoft YaHei" charset="-122"/>
                <a:cs typeface="Microsoft YaHei" charset="-122"/>
              </a:rPr>
              <a:t>发挥硬件性能</a:t>
            </a:r>
            <a:endParaRPr kumimoji="1" lang="en-US" altLang="zh-CN" sz="2800" dirty="0">
              <a:latin typeface="Microsoft YaHei" charset="-122"/>
              <a:ea typeface="Microsoft YaHei" charset="-122"/>
              <a:cs typeface="Microsoft YaHei" charset="-122"/>
            </a:endParaRPr>
          </a:p>
        </p:txBody>
      </p:sp>
      <p:sp>
        <p:nvSpPr>
          <p:cNvPr id="2" name="文本框 1">
            <a:extLst>
              <a:ext uri="{FF2B5EF4-FFF2-40B4-BE49-F238E27FC236}">
                <a16:creationId xmlns:a16="http://schemas.microsoft.com/office/drawing/2014/main" id="{9CE222E6-9694-44A2-8D61-17C8114EE65C}"/>
              </a:ext>
            </a:extLst>
          </p:cNvPr>
          <p:cNvSpPr txBox="1"/>
          <p:nvPr/>
        </p:nvSpPr>
        <p:spPr>
          <a:xfrm>
            <a:off x="534256" y="1510301"/>
            <a:ext cx="8291245" cy="1711366"/>
          </a:xfrm>
          <a:prstGeom prst="rect">
            <a:avLst/>
          </a:prstGeom>
          <a:noFill/>
        </p:spPr>
        <p:txBody>
          <a:bodyPr wrap="square" rtlCol="0">
            <a:spAutoFit/>
          </a:bodyPr>
          <a:lstStyle/>
          <a:p>
            <a:pPr>
              <a:lnSpc>
                <a:spcPct val="150000"/>
              </a:lnSpc>
            </a:pPr>
            <a:r>
              <a:rPr lang="en-US" altLang="zh-CN" dirty="0"/>
              <a:t>Albis</a:t>
            </a:r>
            <a:r>
              <a:rPr lang="zh-CN" altLang="en-US" dirty="0"/>
              <a:t>的优势：</a:t>
            </a:r>
            <a:endParaRPr lang="en-US" altLang="zh-CN" dirty="0"/>
          </a:p>
          <a:p>
            <a:pPr marL="285750" indent="-285750">
              <a:lnSpc>
                <a:spcPct val="150000"/>
              </a:lnSpc>
              <a:buFont typeface="Arial" panose="020B0604020202020204" pitchFamily="34" charset="0"/>
              <a:buChar char="•"/>
            </a:pPr>
            <a:r>
              <a:rPr lang="zh-CN" altLang="en-US" dirty="0"/>
              <a:t>快设备不压缩本身带来的优势，如前面分析；</a:t>
            </a:r>
            <a:endParaRPr lang="en-US" altLang="zh-CN" dirty="0"/>
          </a:p>
          <a:p>
            <a:pPr marL="285750" indent="-285750">
              <a:lnSpc>
                <a:spcPct val="150000"/>
              </a:lnSpc>
              <a:buFont typeface="Arial" panose="020B0604020202020204" pitchFamily="34" charset="0"/>
              <a:buChar char="•"/>
            </a:pPr>
            <a:r>
              <a:rPr lang="zh-CN" altLang="en-US" dirty="0"/>
              <a:t>减小了“读放大”  </a:t>
            </a:r>
            <a:r>
              <a:rPr lang="en-US" altLang="zh-CN" dirty="0">
                <a:hlinkClick r:id="rId3" action="ppaction://hlinksldjump"/>
              </a:rPr>
              <a:t>ORC</a:t>
            </a:r>
            <a:r>
              <a:rPr lang="zh-CN" altLang="en-US" dirty="0"/>
              <a:t>     </a:t>
            </a:r>
            <a:r>
              <a:rPr lang="en-US" altLang="zh-CN" dirty="0">
                <a:hlinkClick r:id="rId4" action="ppaction://hlinksldjump"/>
              </a:rPr>
              <a:t>Albis</a:t>
            </a:r>
            <a:r>
              <a:rPr lang="zh-CN" altLang="en-US" dirty="0"/>
              <a:t> </a:t>
            </a:r>
            <a:endParaRPr lang="en-US" altLang="zh-CN" dirty="0"/>
          </a:p>
          <a:p>
            <a:pPr marL="285750" indent="-285750">
              <a:lnSpc>
                <a:spcPct val="150000"/>
              </a:lnSpc>
              <a:buFont typeface="Arial" panose="020B0604020202020204" pitchFamily="34" charset="0"/>
              <a:buChar char="•"/>
            </a:pPr>
            <a:r>
              <a:rPr lang="zh-CN" altLang="en-US" dirty="0"/>
              <a:t>直接采用二进制</a:t>
            </a:r>
            <a:r>
              <a:rPr lang="en-US" altLang="zh-CN" dirty="0"/>
              <a:t>API</a:t>
            </a:r>
            <a:r>
              <a:rPr lang="zh-CN" altLang="en-US" dirty="0"/>
              <a:t>操作</a:t>
            </a:r>
          </a:p>
        </p:txBody>
      </p:sp>
    </p:spTree>
    <p:extLst>
      <p:ext uri="{BB962C8B-B14F-4D97-AF65-F5344CB8AC3E}">
        <p14:creationId xmlns:p14="http://schemas.microsoft.com/office/powerpoint/2010/main" val="2542209119"/>
      </p:ext>
    </p:extLst>
  </p:cSld>
  <p:clrMapOvr>
    <a:masterClrMapping/>
  </p:clrMapOvr>
  <p:transition spd="med">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文本框 1"/>
          <p:cNvSpPr txBox="1">
            <a:spLocks noChangeArrowheads="1"/>
          </p:cNvSpPr>
          <p:nvPr/>
        </p:nvSpPr>
        <p:spPr bwMode="auto">
          <a:xfrm>
            <a:off x="-7464425" y="4954588"/>
            <a:ext cx="1857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charset="0"/>
              <a:buChar char="•"/>
              <a:defRPr sz="2800">
                <a:solidFill>
                  <a:schemeClr val="tx1"/>
                </a:solidFill>
                <a:latin typeface="Calibri" charset="0"/>
                <a:ea typeface="宋体" charset="0"/>
              </a:defRPr>
            </a:lvl1pPr>
            <a:lvl2pPr marL="742950" indent="-285750">
              <a:lnSpc>
                <a:spcPct val="90000"/>
              </a:lnSpc>
              <a:spcBef>
                <a:spcPts val="500"/>
              </a:spcBef>
              <a:buFont typeface="Arial" charset="0"/>
              <a:buChar char="•"/>
              <a:defRPr sz="2400">
                <a:solidFill>
                  <a:schemeClr val="tx1"/>
                </a:solidFill>
                <a:latin typeface="Calibri" charset="0"/>
                <a:ea typeface="宋体" charset="0"/>
              </a:defRPr>
            </a:lvl2pPr>
            <a:lvl3pPr marL="1143000" indent="-228600">
              <a:lnSpc>
                <a:spcPct val="90000"/>
              </a:lnSpc>
              <a:spcBef>
                <a:spcPts val="500"/>
              </a:spcBef>
              <a:buFont typeface="Arial" charset="0"/>
              <a:buChar char="•"/>
              <a:defRPr sz="2000">
                <a:solidFill>
                  <a:schemeClr val="tx1"/>
                </a:solidFill>
                <a:latin typeface="Calibri" charset="0"/>
                <a:ea typeface="宋体" charset="0"/>
              </a:defRPr>
            </a:lvl3pPr>
            <a:lvl4pPr marL="1600200" indent="-228600">
              <a:lnSpc>
                <a:spcPct val="90000"/>
              </a:lnSpc>
              <a:spcBef>
                <a:spcPts val="500"/>
              </a:spcBef>
              <a:buFont typeface="Arial" charset="0"/>
              <a:buChar char="•"/>
              <a:defRPr>
                <a:solidFill>
                  <a:schemeClr val="tx1"/>
                </a:solidFill>
                <a:latin typeface="Calibri" charset="0"/>
                <a:ea typeface="宋体" charset="0"/>
              </a:defRPr>
            </a:lvl4pPr>
            <a:lvl5pPr marL="2057400" indent="-228600">
              <a:lnSpc>
                <a:spcPct val="90000"/>
              </a:lnSpc>
              <a:spcBef>
                <a:spcPts val="500"/>
              </a:spcBef>
              <a:buFont typeface="Arial" charset="0"/>
              <a:buChar char="•"/>
              <a:defRPr>
                <a:solidFill>
                  <a:schemeClr val="tx1"/>
                </a:solidFill>
                <a:latin typeface="Calibri" charset="0"/>
                <a:ea typeface="宋体" charset="0"/>
              </a:defRPr>
            </a:lvl5pPr>
            <a:lvl6pPr marL="25146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6pPr>
            <a:lvl7pPr marL="29718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7pPr>
            <a:lvl8pPr marL="34290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8pPr>
            <a:lvl9pPr marL="38862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9pPr>
          </a:lstStyle>
          <a:p>
            <a:pPr>
              <a:lnSpc>
                <a:spcPct val="100000"/>
              </a:lnSpc>
              <a:spcBef>
                <a:spcPct val="0"/>
              </a:spcBef>
              <a:buFontTx/>
              <a:buNone/>
            </a:pPr>
            <a:endParaRPr kumimoji="1" lang="zh-CN" altLang="en-US" sz="1800">
              <a:latin typeface="+mn-lt"/>
            </a:endParaRPr>
          </a:p>
        </p:txBody>
      </p:sp>
      <p:sp>
        <p:nvSpPr>
          <p:cNvPr id="10" name="文本框 9">
            <a:extLst>
              <a:ext uri="{FF2B5EF4-FFF2-40B4-BE49-F238E27FC236}">
                <a16:creationId xmlns:a16="http://schemas.microsoft.com/office/drawing/2014/main" id="{5D53F571-3FE3-414E-8DE9-03044D097F3C}"/>
              </a:ext>
            </a:extLst>
          </p:cNvPr>
          <p:cNvSpPr txBox="1"/>
          <p:nvPr/>
        </p:nvSpPr>
        <p:spPr>
          <a:xfrm>
            <a:off x="654258" y="589775"/>
            <a:ext cx="5289342" cy="523220"/>
          </a:xfrm>
          <a:prstGeom prst="rect">
            <a:avLst/>
          </a:prstGeom>
          <a:noFill/>
        </p:spPr>
        <p:txBody>
          <a:bodyPr wrap="square" rtlCol="0">
            <a:spAutoFit/>
          </a:bodyPr>
          <a:lstStyle/>
          <a:p>
            <a:r>
              <a:rPr kumimoji="1" lang="en-US" altLang="zh-CN" sz="2800" dirty="0">
                <a:latin typeface="Microsoft YaHei" charset="-122"/>
                <a:ea typeface="Microsoft YaHei" charset="-122"/>
                <a:cs typeface="Microsoft YaHei" charset="-122"/>
              </a:rPr>
              <a:t>Albis—</a:t>
            </a:r>
            <a:r>
              <a:rPr kumimoji="1" lang="zh-CN" altLang="en-US" sz="2800" dirty="0">
                <a:latin typeface="Microsoft YaHei" charset="-122"/>
                <a:ea typeface="Microsoft YaHei" charset="-122"/>
                <a:cs typeface="Microsoft YaHei" charset="-122"/>
              </a:rPr>
              <a:t>发挥硬件性能</a:t>
            </a:r>
            <a:endParaRPr kumimoji="1" lang="en-US" altLang="zh-CN" sz="2800" dirty="0">
              <a:latin typeface="Microsoft YaHei" charset="-122"/>
              <a:ea typeface="Microsoft YaHei" charset="-122"/>
              <a:cs typeface="Microsoft YaHei" charset="-122"/>
            </a:endParaRPr>
          </a:p>
        </p:txBody>
      </p:sp>
      <p:pic>
        <p:nvPicPr>
          <p:cNvPr id="4" name="图片 3">
            <a:extLst>
              <a:ext uri="{FF2B5EF4-FFF2-40B4-BE49-F238E27FC236}">
                <a16:creationId xmlns:a16="http://schemas.microsoft.com/office/drawing/2014/main" id="{0E1861F3-7206-453A-BF2F-CFEC5CDD113E}"/>
              </a:ext>
            </a:extLst>
          </p:cNvPr>
          <p:cNvPicPr>
            <a:picLocks noChangeAspect="1"/>
          </p:cNvPicPr>
          <p:nvPr/>
        </p:nvPicPr>
        <p:blipFill>
          <a:blip r:embed="rId3"/>
          <a:stretch>
            <a:fillRect/>
          </a:stretch>
        </p:blipFill>
        <p:spPr>
          <a:xfrm>
            <a:off x="0" y="1715785"/>
            <a:ext cx="5944388" cy="4043198"/>
          </a:xfrm>
          <a:prstGeom prst="rect">
            <a:avLst/>
          </a:prstGeom>
        </p:spPr>
      </p:pic>
      <p:sp>
        <p:nvSpPr>
          <p:cNvPr id="5" name="文本框 4">
            <a:extLst>
              <a:ext uri="{FF2B5EF4-FFF2-40B4-BE49-F238E27FC236}">
                <a16:creationId xmlns:a16="http://schemas.microsoft.com/office/drawing/2014/main" id="{86FB960C-9F6A-4F16-940A-14CD36467F1B}"/>
              </a:ext>
            </a:extLst>
          </p:cNvPr>
          <p:cNvSpPr txBox="1"/>
          <p:nvPr/>
        </p:nvSpPr>
        <p:spPr>
          <a:xfrm>
            <a:off x="5804898" y="3105834"/>
            <a:ext cx="3226085" cy="646331"/>
          </a:xfrm>
          <a:prstGeom prst="rect">
            <a:avLst/>
          </a:prstGeom>
          <a:noFill/>
        </p:spPr>
        <p:txBody>
          <a:bodyPr wrap="square" rtlCol="0">
            <a:spAutoFit/>
          </a:bodyPr>
          <a:lstStyle/>
          <a:p>
            <a:r>
              <a:rPr lang="en-US" altLang="zh-CN" dirty="0"/>
              <a:t>Trade storage space for performance</a:t>
            </a:r>
            <a:endParaRPr lang="zh-CN" altLang="en-US" dirty="0"/>
          </a:p>
        </p:txBody>
      </p:sp>
    </p:spTree>
    <p:extLst>
      <p:ext uri="{BB962C8B-B14F-4D97-AF65-F5344CB8AC3E}">
        <p14:creationId xmlns:p14="http://schemas.microsoft.com/office/powerpoint/2010/main" val="1727019067"/>
      </p:ext>
    </p:extLst>
  </p:cSld>
  <p:clrMapOvr>
    <a:masterClrMapping/>
  </p:clrMapOvr>
  <p:transition spd="med">
    <p:fade/>
  </p:transition>
</p:sld>
</file>

<file path=ppt/slides/slide51.xml><?xml version="1.0" encoding="utf-8"?>
<p:sld xmlns:a="http://schemas.openxmlformats.org/drawingml/2006/main" xmlns:r="http://schemas.openxmlformats.org/officeDocument/2006/relationships" xmlns:p="http://schemas.openxmlformats.org/presentationml/2006/main">
  <p:cSld>
    <p:bg>
      <p:bgPr>
        <a:blipFill dpi="0" rotWithShape="0">
          <a:blip r:embed="rId3">
            <a:lum/>
          </a:blip>
          <a:srcRect/>
          <a:stretch>
            <a:fillRect/>
          </a:stretch>
        </a:blipFill>
        <a:effectLst/>
      </p:bgPr>
    </p:bg>
    <p:spTree>
      <p:nvGrpSpPr>
        <p:cNvPr id="1" name=""/>
        <p:cNvGrpSpPr/>
        <p:nvPr/>
      </p:nvGrpSpPr>
      <p:grpSpPr>
        <a:xfrm>
          <a:off x="0" y="0"/>
          <a:ext cx="0" cy="0"/>
          <a:chOff x="0" y="0"/>
          <a:chExt cx="0" cy="0"/>
        </a:xfrm>
      </p:grpSpPr>
      <p:sp>
        <p:nvSpPr>
          <p:cNvPr id="15362" name="文本框 1"/>
          <p:cNvSpPr txBox="1">
            <a:spLocks noChangeArrowheads="1"/>
          </p:cNvSpPr>
          <p:nvPr/>
        </p:nvSpPr>
        <p:spPr bwMode="auto">
          <a:xfrm>
            <a:off x="-7464425" y="4954588"/>
            <a:ext cx="1857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charset="0"/>
              <a:buChar char="•"/>
              <a:defRPr sz="2800">
                <a:solidFill>
                  <a:schemeClr val="tx1"/>
                </a:solidFill>
                <a:latin typeface="Calibri" charset="0"/>
                <a:ea typeface="宋体" charset="0"/>
              </a:defRPr>
            </a:lvl1pPr>
            <a:lvl2pPr marL="742950" indent="-285750">
              <a:lnSpc>
                <a:spcPct val="90000"/>
              </a:lnSpc>
              <a:spcBef>
                <a:spcPts val="500"/>
              </a:spcBef>
              <a:buFont typeface="Arial" charset="0"/>
              <a:buChar char="•"/>
              <a:defRPr sz="2400">
                <a:solidFill>
                  <a:schemeClr val="tx1"/>
                </a:solidFill>
                <a:latin typeface="Calibri" charset="0"/>
                <a:ea typeface="宋体" charset="0"/>
              </a:defRPr>
            </a:lvl2pPr>
            <a:lvl3pPr marL="1143000" indent="-228600">
              <a:lnSpc>
                <a:spcPct val="90000"/>
              </a:lnSpc>
              <a:spcBef>
                <a:spcPts val="500"/>
              </a:spcBef>
              <a:buFont typeface="Arial" charset="0"/>
              <a:buChar char="•"/>
              <a:defRPr sz="2000">
                <a:solidFill>
                  <a:schemeClr val="tx1"/>
                </a:solidFill>
                <a:latin typeface="Calibri" charset="0"/>
                <a:ea typeface="宋体" charset="0"/>
              </a:defRPr>
            </a:lvl3pPr>
            <a:lvl4pPr marL="1600200" indent="-228600">
              <a:lnSpc>
                <a:spcPct val="90000"/>
              </a:lnSpc>
              <a:spcBef>
                <a:spcPts val="500"/>
              </a:spcBef>
              <a:buFont typeface="Arial" charset="0"/>
              <a:buChar char="•"/>
              <a:defRPr>
                <a:solidFill>
                  <a:schemeClr val="tx1"/>
                </a:solidFill>
                <a:latin typeface="Calibri" charset="0"/>
                <a:ea typeface="宋体" charset="0"/>
              </a:defRPr>
            </a:lvl4pPr>
            <a:lvl5pPr marL="2057400" indent="-228600">
              <a:lnSpc>
                <a:spcPct val="90000"/>
              </a:lnSpc>
              <a:spcBef>
                <a:spcPts val="500"/>
              </a:spcBef>
              <a:buFont typeface="Arial" charset="0"/>
              <a:buChar char="•"/>
              <a:defRPr>
                <a:solidFill>
                  <a:schemeClr val="tx1"/>
                </a:solidFill>
                <a:latin typeface="Calibri" charset="0"/>
                <a:ea typeface="宋体" charset="0"/>
              </a:defRPr>
            </a:lvl5pPr>
            <a:lvl6pPr marL="25146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6pPr>
            <a:lvl7pPr marL="29718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7pPr>
            <a:lvl8pPr marL="34290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8pPr>
            <a:lvl9pPr marL="38862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9pPr>
          </a:lstStyle>
          <a:p>
            <a:pPr>
              <a:lnSpc>
                <a:spcPct val="100000"/>
              </a:lnSpc>
              <a:spcBef>
                <a:spcPct val="0"/>
              </a:spcBef>
              <a:buFontTx/>
              <a:buNone/>
            </a:pPr>
            <a:endParaRPr kumimoji="1" lang="zh-CN" altLang="en-US" sz="1800"/>
          </a:p>
        </p:txBody>
      </p:sp>
      <p:sp>
        <p:nvSpPr>
          <p:cNvPr id="2" name="文本框 1"/>
          <p:cNvSpPr txBox="1"/>
          <p:nvPr/>
        </p:nvSpPr>
        <p:spPr>
          <a:xfrm>
            <a:off x="6801492" y="4366517"/>
            <a:ext cx="184731" cy="369332"/>
          </a:xfrm>
          <a:prstGeom prst="rect">
            <a:avLst/>
          </a:prstGeom>
          <a:noFill/>
        </p:spPr>
        <p:txBody>
          <a:bodyPr wrap="none" rtlCol="0">
            <a:spAutoFit/>
          </a:bodyPr>
          <a:lstStyle/>
          <a:p>
            <a:endParaRPr kumimoji="1" lang="zh-CN" altLang="en-US"/>
          </a:p>
        </p:txBody>
      </p:sp>
      <p:sp>
        <p:nvSpPr>
          <p:cNvPr id="3" name="文本框 2"/>
          <p:cNvSpPr txBox="1"/>
          <p:nvPr/>
        </p:nvSpPr>
        <p:spPr>
          <a:xfrm>
            <a:off x="2770166" y="2411366"/>
            <a:ext cx="6373834" cy="662554"/>
          </a:xfrm>
          <a:prstGeom prst="rect">
            <a:avLst/>
          </a:prstGeom>
          <a:noFill/>
        </p:spPr>
        <p:txBody>
          <a:bodyPr wrap="square" rtlCol="0">
            <a:spAutoFit/>
          </a:bodyPr>
          <a:lstStyle/>
          <a:p>
            <a:pPr marL="285750" indent="-285750">
              <a:lnSpc>
                <a:spcPct val="150000"/>
              </a:lnSpc>
              <a:buClr>
                <a:schemeClr val="bg1">
                  <a:lumMod val="95000"/>
                </a:schemeClr>
              </a:buClr>
              <a:buSzPct val="75000"/>
              <a:buFont typeface="Wingdings" charset="2"/>
              <a:buChar char="l"/>
            </a:pPr>
            <a:r>
              <a:rPr kumimoji="1" lang="en-US" altLang="zh-CN" sz="2800" dirty="0">
                <a:latin typeface="Microsoft YaHei" charset="-122"/>
                <a:ea typeface="Microsoft YaHei" charset="-122"/>
                <a:cs typeface="Microsoft YaHei" charset="-122"/>
              </a:rPr>
              <a:t>   NVM</a:t>
            </a:r>
            <a:r>
              <a:rPr kumimoji="1" lang="zh-CN" altLang="en-US" sz="2800" dirty="0">
                <a:latin typeface="Microsoft YaHei" charset="-122"/>
                <a:ea typeface="Microsoft YaHei" charset="-122"/>
                <a:cs typeface="Microsoft YaHei" charset="-122"/>
              </a:rPr>
              <a:t>优化</a:t>
            </a:r>
            <a:r>
              <a:rPr kumimoji="1" lang="en-US" altLang="zh-CN" sz="2800" dirty="0">
                <a:latin typeface="Microsoft YaHei" charset="-122"/>
                <a:ea typeface="Microsoft YaHei" charset="-122"/>
                <a:cs typeface="Microsoft YaHei" charset="-122"/>
              </a:rPr>
              <a:t>HDFS</a:t>
            </a:r>
          </a:p>
        </p:txBody>
      </p:sp>
    </p:spTree>
    <p:extLst>
      <p:ext uri="{BB962C8B-B14F-4D97-AF65-F5344CB8AC3E}">
        <p14:creationId xmlns:p14="http://schemas.microsoft.com/office/powerpoint/2010/main" val="280617323"/>
      </p:ext>
    </p:extLst>
  </p:cSld>
  <p:clrMapOvr>
    <a:masterClrMapping/>
  </p:clrMapOvr>
  <p:transition spd="med">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文本框 1"/>
          <p:cNvSpPr txBox="1">
            <a:spLocks noChangeArrowheads="1"/>
          </p:cNvSpPr>
          <p:nvPr/>
        </p:nvSpPr>
        <p:spPr bwMode="auto">
          <a:xfrm>
            <a:off x="-7464425" y="4954588"/>
            <a:ext cx="1857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charset="0"/>
              <a:buChar char="•"/>
              <a:defRPr sz="2800">
                <a:solidFill>
                  <a:schemeClr val="tx1"/>
                </a:solidFill>
                <a:latin typeface="Calibri" charset="0"/>
                <a:ea typeface="宋体" charset="0"/>
              </a:defRPr>
            </a:lvl1pPr>
            <a:lvl2pPr marL="742950" indent="-285750">
              <a:lnSpc>
                <a:spcPct val="90000"/>
              </a:lnSpc>
              <a:spcBef>
                <a:spcPts val="500"/>
              </a:spcBef>
              <a:buFont typeface="Arial" charset="0"/>
              <a:buChar char="•"/>
              <a:defRPr sz="2400">
                <a:solidFill>
                  <a:schemeClr val="tx1"/>
                </a:solidFill>
                <a:latin typeface="Calibri" charset="0"/>
                <a:ea typeface="宋体" charset="0"/>
              </a:defRPr>
            </a:lvl2pPr>
            <a:lvl3pPr marL="1143000" indent="-228600">
              <a:lnSpc>
                <a:spcPct val="90000"/>
              </a:lnSpc>
              <a:spcBef>
                <a:spcPts val="500"/>
              </a:spcBef>
              <a:buFont typeface="Arial" charset="0"/>
              <a:buChar char="•"/>
              <a:defRPr sz="2000">
                <a:solidFill>
                  <a:schemeClr val="tx1"/>
                </a:solidFill>
                <a:latin typeface="Calibri" charset="0"/>
                <a:ea typeface="宋体" charset="0"/>
              </a:defRPr>
            </a:lvl3pPr>
            <a:lvl4pPr marL="1600200" indent="-228600">
              <a:lnSpc>
                <a:spcPct val="90000"/>
              </a:lnSpc>
              <a:spcBef>
                <a:spcPts val="500"/>
              </a:spcBef>
              <a:buFont typeface="Arial" charset="0"/>
              <a:buChar char="•"/>
              <a:defRPr>
                <a:solidFill>
                  <a:schemeClr val="tx1"/>
                </a:solidFill>
                <a:latin typeface="Calibri" charset="0"/>
                <a:ea typeface="宋体" charset="0"/>
              </a:defRPr>
            </a:lvl4pPr>
            <a:lvl5pPr marL="2057400" indent="-228600">
              <a:lnSpc>
                <a:spcPct val="90000"/>
              </a:lnSpc>
              <a:spcBef>
                <a:spcPts val="500"/>
              </a:spcBef>
              <a:buFont typeface="Arial" charset="0"/>
              <a:buChar char="•"/>
              <a:defRPr>
                <a:solidFill>
                  <a:schemeClr val="tx1"/>
                </a:solidFill>
                <a:latin typeface="Calibri" charset="0"/>
                <a:ea typeface="宋体" charset="0"/>
              </a:defRPr>
            </a:lvl5pPr>
            <a:lvl6pPr marL="25146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6pPr>
            <a:lvl7pPr marL="29718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7pPr>
            <a:lvl8pPr marL="34290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8pPr>
            <a:lvl9pPr marL="38862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9pPr>
          </a:lstStyle>
          <a:p>
            <a:pPr>
              <a:lnSpc>
                <a:spcPct val="100000"/>
              </a:lnSpc>
              <a:spcBef>
                <a:spcPct val="0"/>
              </a:spcBef>
              <a:buFontTx/>
              <a:buNone/>
            </a:pPr>
            <a:endParaRPr kumimoji="1" lang="zh-CN" altLang="en-US" sz="1800">
              <a:latin typeface="+mn-lt"/>
            </a:endParaRPr>
          </a:p>
        </p:txBody>
      </p:sp>
      <p:sp>
        <p:nvSpPr>
          <p:cNvPr id="10" name="文本框 9">
            <a:extLst>
              <a:ext uri="{FF2B5EF4-FFF2-40B4-BE49-F238E27FC236}">
                <a16:creationId xmlns:a16="http://schemas.microsoft.com/office/drawing/2014/main" id="{5D53F571-3FE3-414E-8DE9-03044D097F3C}"/>
              </a:ext>
            </a:extLst>
          </p:cNvPr>
          <p:cNvSpPr txBox="1"/>
          <p:nvPr/>
        </p:nvSpPr>
        <p:spPr>
          <a:xfrm>
            <a:off x="654258" y="589775"/>
            <a:ext cx="5289342" cy="523220"/>
          </a:xfrm>
          <a:prstGeom prst="rect">
            <a:avLst/>
          </a:prstGeom>
          <a:noFill/>
        </p:spPr>
        <p:txBody>
          <a:bodyPr wrap="square" rtlCol="0">
            <a:spAutoFit/>
          </a:bodyPr>
          <a:lstStyle/>
          <a:p>
            <a:r>
              <a:rPr kumimoji="1" lang="en-US" altLang="zh-CN" sz="2800" dirty="0">
                <a:latin typeface="Microsoft YaHei" charset="-122"/>
                <a:ea typeface="Microsoft YaHei" charset="-122"/>
                <a:cs typeface="Microsoft YaHei" charset="-122"/>
              </a:rPr>
              <a:t>NVFS——ICS’16</a:t>
            </a:r>
          </a:p>
        </p:txBody>
      </p:sp>
      <p:sp>
        <p:nvSpPr>
          <p:cNvPr id="2" name="文本框 1">
            <a:extLst>
              <a:ext uri="{FF2B5EF4-FFF2-40B4-BE49-F238E27FC236}">
                <a16:creationId xmlns:a16="http://schemas.microsoft.com/office/drawing/2014/main" id="{9CE222E6-9694-44A2-8D61-17C8114EE65C}"/>
              </a:ext>
            </a:extLst>
          </p:cNvPr>
          <p:cNvSpPr txBox="1"/>
          <p:nvPr/>
        </p:nvSpPr>
        <p:spPr>
          <a:xfrm>
            <a:off x="534256" y="1510301"/>
            <a:ext cx="8291245" cy="464871"/>
          </a:xfrm>
          <a:prstGeom prst="rect">
            <a:avLst/>
          </a:prstGeom>
          <a:noFill/>
        </p:spPr>
        <p:txBody>
          <a:bodyPr wrap="square" rtlCol="0">
            <a:spAutoFit/>
          </a:bodyPr>
          <a:lstStyle/>
          <a:p>
            <a:pPr>
              <a:lnSpc>
                <a:spcPct val="150000"/>
              </a:lnSpc>
            </a:pPr>
            <a:r>
              <a:rPr lang="en-US" altLang="zh-CN" dirty="0"/>
              <a:t>Nusrat </a:t>
            </a:r>
            <a:r>
              <a:rPr lang="en-US" altLang="zh-CN" dirty="0" err="1"/>
              <a:t>Sharmin</a:t>
            </a:r>
            <a:r>
              <a:rPr lang="en-US" altLang="zh-CN" dirty="0"/>
              <a:t> Islam</a:t>
            </a:r>
            <a:r>
              <a:rPr lang="zh-CN" altLang="en-US" dirty="0"/>
              <a:t>等人提出基于</a:t>
            </a:r>
            <a:r>
              <a:rPr lang="en-US" altLang="zh-CN" dirty="0"/>
              <a:t>NVM</a:t>
            </a:r>
            <a:r>
              <a:rPr lang="zh-CN" altLang="en-US" dirty="0"/>
              <a:t>的</a:t>
            </a:r>
            <a:r>
              <a:rPr lang="en-US" altLang="zh-CN" dirty="0"/>
              <a:t>HDFS——NVFS</a:t>
            </a:r>
            <a:endParaRPr lang="zh-CN" altLang="en-US" dirty="0"/>
          </a:p>
        </p:txBody>
      </p:sp>
      <p:pic>
        <p:nvPicPr>
          <p:cNvPr id="4" name="图片 3">
            <a:extLst>
              <a:ext uri="{FF2B5EF4-FFF2-40B4-BE49-F238E27FC236}">
                <a16:creationId xmlns:a16="http://schemas.microsoft.com/office/drawing/2014/main" id="{8BA48FA0-03FF-4934-AEAE-C5628A8C99A3}"/>
              </a:ext>
            </a:extLst>
          </p:cNvPr>
          <p:cNvPicPr>
            <a:picLocks noChangeAspect="1"/>
          </p:cNvPicPr>
          <p:nvPr/>
        </p:nvPicPr>
        <p:blipFill>
          <a:blip r:embed="rId3"/>
          <a:stretch>
            <a:fillRect/>
          </a:stretch>
        </p:blipFill>
        <p:spPr>
          <a:xfrm>
            <a:off x="1656943" y="2372478"/>
            <a:ext cx="5830114" cy="3791479"/>
          </a:xfrm>
          <a:prstGeom prst="rect">
            <a:avLst/>
          </a:prstGeom>
        </p:spPr>
      </p:pic>
    </p:spTree>
    <p:extLst>
      <p:ext uri="{BB962C8B-B14F-4D97-AF65-F5344CB8AC3E}">
        <p14:creationId xmlns:p14="http://schemas.microsoft.com/office/powerpoint/2010/main" val="457170047"/>
      </p:ext>
    </p:extLst>
  </p:cSld>
  <p:clrMapOvr>
    <a:masterClrMapping/>
  </p:clrMapOvr>
  <p:transition spd="med">
    <p:fad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文本框 1"/>
          <p:cNvSpPr txBox="1">
            <a:spLocks noChangeArrowheads="1"/>
          </p:cNvSpPr>
          <p:nvPr/>
        </p:nvSpPr>
        <p:spPr bwMode="auto">
          <a:xfrm>
            <a:off x="-7464425" y="4954588"/>
            <a:ext cx="1857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charset="0"/>
              <a:buChar char="•"/>
              <a:defRPr sz="2800">
                <a:solidFill>
                  <a:schemeClr val="tx1"/>
                </a:solidFill>
                <a:latin typeface="Calibri" charset="0"/>
                <a:ea typeface="宋体" charset="0"/>
              </a:defRPr>
            </a:lvl1pPr>
            <a:lvl2pPr marL="742950" indent="-285750">
              <a:lnSpc>
                <a:spcPct val="90000"/>
              </a:lnSpc>
              <a:spcBef>
                <a:spcPts val="500"/>
              </a:spcBef>
              <a:buFont typeface="Arial" charset="0"/>
              <a:buChar char="•"/>
              <a:defRPr sz="2400">
                <a:solidFill>
                  <a:schemeClr val="tx1"/>
                </a:solidFill>
                <a:latin typeface="Calibri" charset="0"/>
                <a:ea typeface="宋体" charset="0"/>
              </a:defRPr>
            </a:lvl2pPr>
            <a:lvl3pPr marL="1143000" indent="-228600">
              <a:lnSpc>
                <a:spcPct val="90000"/>
              </a:lnSpc>
              <a:spcBef>
                <a:spcPts val="500"/>
              </a:spcBef>
              <a:buFont typeface="Arial" charset="0"/>
              <a:buChar char="•"/>
              <a:defRPr sz="2000">
                <a:solidFill>
                  <a:schemeClr val="tx1"/>
                </a:solidFill>
                <a:latin typeface="Calibri" charset="0"/>
                <a:ea typeface="宋体" charset="0"/>
              </a:defRPr>
            </a:lvl3pPr>
            <a:lvl4pPr marL="1600200" indent="-228600">
              <a:lnSpc>
                <a:spcPct val="90000"/>
              </a:lnSpc>
              <a:spcBef>
                <a:spcPts val="500"/>
              </a:spcBef>
              <a:buFont typeface="Arial" charset="0"/>
              <a:buChar char="•"/>
              <a:defRPr>
                <a:solidFill>
                  <a:schemeClr val="tx1"/>
                </a:solidFill>
                <a:latin typeface="Calibri" charset="0"/>
                <a:ea typeface="宋体" charset="0"/>
              </a:defRPr>
            </a:lvl4pPr>
            <a:lvl5pPr marL="2057400" indent="-228600">
              <a:lnSpc>
                <a:spcPct val="90000"/>
              </a:lnSpc>
              <a:spcBef>
                <a:spcPts val="500"/>
              </a:spcBef>
              <a:buFont typeface="Arial" charset="0"/>
              <a:buChar char="•"/>
              <a:defRPr>
                <a:solidFill>
                  <a:schemeClr val="tx1"/>
                </a:solidFill>
                <a:latin typeface="Calibri" charset="0"/>
                <a:ea typeface="宋体" charset="0"/>
              </a:defRPr>
            </a:lvl5pPr>
            <a:lvl6pPr marL="25146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6pPr>
            <a:lvl7pPr marL="29718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7pPr>
            <a:lvl8pPr marL="34290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8pPr>
            <a:lvl9pPr marL="38862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9pPr>
          </a:lstStyle>
          <a:p>
            <a:pPr>
              <a:lnSpc>
                <a:spcPct val="100000"/>
              </a:lnSpc>
              <a:spcBef>
                <a:spcPct val="0"/>
              </a:spcBef>
              <a:buFontTx/>
              <a:buNone/>
            </a:pPr>
            <a:endParaRPr kumimoji="1" lang="zh-CN" altLang="en-US" sz="1800">
              <a:latin typeface="+mn-lt"/>
            </a:endParaRPr>
          </a:p>
        </p:txBody>
      </p:sp>
      <p:sp>
        <p:nvSpPr>
          <p:cNvPr id="10" name="文本框 9">
            <a:extLst>
              <a:ext uri="{FF2B5EF4-FFF2-40B4-BE49-F238E27FC236}">
                <a16:creationId xmlns:a16="http://schemas.microsoft.com/office/drawing/2014/main" id="{5D53F571-3FE3-414E-8DE9-03044D097F3C}"/>
              </a:ext>
            </a:extLst>
          </p:cNvPr>
          <p:cNvSpPr txBox="1"/>
          <p:nvPr/>
        </p:nvSpPr>
        <p:spPr>
          <a:xfrm>
            <a:off x="654258" y="589775"/>
            <a:ext cx="5289342" cy="523220"/>
          </a:xfrm>
          <a:prstGeom prst="rect">
            <a:avLst/>
          </a:prstGeom>
          <a:noFill/>
        </p:spPr>
        <p:txBody>
          <a:bodyPr wrap="square" rtlCol="0">
            <a:spAutoFit/>
          </a:bodyPr>
          <a:lstStyle/>
          <a:p>
            <a:r>
              <a:rPr kumimoji="1" lang="en-US" altLang="zh-CN" sz="2800" dirty="0">
                <a:latin typeface="Microsoft YaHei" charset="-122"/>
                <a:ea typeface="Microsoft YaHei" charset="-122"/>
                <a:cs typeface="Microsoft YaHei" charset="-122"/>
              </a:rPr>
              <a:t>NVFS—</a:t>
            </a:r>
            <a:r>
              <a:rPr kumimoji="1" lang="en-US" altLang="zh-CN" sz="2800" dirty="0" err="1">
                <a:latin typeface="Microsoft YaHei" charset="-122"/>
                <a:ea typeface="Microsoft YaHei" charset="-122"/>
                <a:cs typeface="Microsoft YaHei" charset="-122"/>
              </a:rPr>
              <a:t>BlkIO</a:t>
            </a:r>
            <a:endParaRPr kumimoji="1" lang="en-US" altLang="zh-CN" sz="2800" dirty="0">
              <a:latin typeface="Microsoft YaHei" charset="-122"/>
              <a:ea typeface="Microsoft YaHei" charset="-122"/>
              <a:cs typeface="Microsoft YaHei" charset="-122"/>
            </a:endParaRPr>
          </a:p>
        </p:txBody>
      </p:sp>
      <p:sp>
        <p:nvSpPr>
          <p:cNvPr id="2" name="文本框 1">
            <a:extLst>
              <a:ext uri="{FF2B5EF4-FFF2-40B4-BE49-F238E27FC236}">
                <a16:creationId xmlns:a16="http://schemas.microsoft.com/office/drawing/2014/main" id="{9CE222E6-9694-44A2-8D61-17C8114EE65C}"/>
              </a:ext>
            </a:extLst>
          </p:cNvPr>
          <p:cNvSpPr txBox="1"/>
          <p:nvPr/>
        </p:nvSpPr>
        <p:spPr>
          <a:xfrm>
            <a:off x="534256" y="1510301"/>
            <a:ext cx="8291245" cy="1295868"/>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en-US" altLang="zh-CN" dirty="0"/>
              <a:t>RDMA communication: buffers allocated from NVM</a:t>
            </a:r>
          </a:p>
          <a:p>
            <a:pPr marL="285750" indent="-285750">
              <a:lnSpc>
                <a:spcPct val="150000"/>
              </a:lnSpc>
              <a:buFont typeface="Wingdings" panose="05000000000000000000" pitchFamily="2" charset="2"/>
              <a:buChar char="Ø"/>
            </a:pPr>
            <a:r>
              <a:rPr lang="en-US" altLang="zh-CN" dirty="0"/>
              <a:t>Block files created in NVM using the HDFS file system APIs</a:t>
            </a:r>
          </a:p>
          <a:p>
            <a:pPr marL="285750" indent="-285750">
              <a:lnSpc>
                <a:spcPct val="150000"/>
              </a:lnSpc>
              <a:buFont typeface="Wingdings" panose="05000000000000000000" pitchFamily="2" charset="2"/>
              <a:buChar char="Ø"/>
            </a:pPr>
            <a:r>
              <a:rPr lang="en-US" altLang="zh-CN" dirty="0"/>
              <a:t>JAVA  I/O  streams</a:t>
            </a:r>
          </a:p>
        </p:txBody>
      </p:sp>
      <p:pic>
        <p:nvPicPr>
          <p:cNvPr id="5" name="图片 4">
            <a:extLst>
              <a:ext uri="{FF2B5EF4-FFF2-40B4-BE49-F238E27FC236}">
                <a16:creationId xmlns:a16="http://schemas.microsoft.com/office/drawing/2014/main" id="{C88BF0B5-1B10-4AEF-B4FF-FD2B3E7ACDA1}"/>
              </a:ext>
            </a:extLst>
          </p:cNvPr>
          <p:cNvPicPr>
            <a:picLocks noChangeAspect="1"/>
          </p:cNvPicPr>
          <p:nvPr/>
        </p:nvPicPr>
        <p:blipFill>
          <a:blip r:embed="rId3"/>
          <a:stretch>
            <a:fillRect/>
          </a:stretch>
        </p:blipFill>
        <p:spPr>
          <a:xfrm>
            <a:off x="1924004" y="2740439"/>
            <a:ext cx="5295991" cy="3527786"/>
          </a:xfrm>
          <a:prstGeom prst="rect">
            <a:avLst/>
          </a:prstGeom>
        </p:spPr>
      </p:pic>
    </p:spTree>
    <p:extLst>
      <p:ext uri="{BB962C8B-B14F-4D97-AF65-F5344CB8AC3E}">
        <p14:creationId xmlns:p14="http://schemas.microsoft.com/office/powerpoint/2010/main" val="2946125345"/>
      </p:ext>
    </p:extLst>
  </p:cSld>
  <p:clrMapOvr>
    <a:masterClrMapping/>
  </p:clrMapOvr>
  <p:transition spd="med">
    <p:fad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文本框 1"/>
          <p:cNvSpPr txBox="1">
            <a:spLocks noChangeArrowheads="1"/>
          </p:cNvSpPr>
          <p:nvPr/>
        </p:nvSpPr>
        <p:spPr bwMode="auto">
          <a:xfrm>
            <a:off x="-7464425" y="4954588"/>
            <a:ext cx="1857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charset="0"/>
              <a:buChar char="•"/>
              <a:defRPr sz="2800">
                <a:solidFill>
                  <a:schemeClr val="tx1"/>
                </a:solidFill>
                <a:latin typeface="Calibri" charset="0"/>
                <a:ea typeface="宋体" charset="0"/>
              </a:defRPr>
            </a:lvl1pPr>
            <a:lvl2pPr marL="742950" indent="-285750">
              <a:lnSpc>
                <a:spcPct val="90000"/>
              </a:lnSpc>
              <a:spcBef>
                <a:spcPts val="500"/>
              </a:spcBef>
              <a:buFont typeface="Arial" charset="0"/>
              <a:buChar char="•"/>
              <a:defRPr sz="2400">
                <a:solidFill>
                  <a:schemeClr val="tx1"/>
                </a:solidFill>
                <a:latin typeface="Calibri" charset="0"/>
                <a:ea typeface="宋体" charset="0"/>
              </a:defRPr>
            </a:lvl2pPr>
            <a:lvl3pPr marL="1143000" indent="-228600">
              <a:lnSpc>
                <a:spcPct val="90000"/>
              </a:lnSpc>
              <a:spcBef>
                <a:spcPts val="500"/>
              </a:spcBef>
              <a:buFont typeface="Arial" charset="0"/>
              <a:buChar char="•"/>
              <a:defRPr sz="2000">
                <a:solidFill>
                  <a:schemeClr val="tx1"/>
                </a:solidFill>
                <a:latin typeface="Calibri" charset="0"/>
                <a:ea typeface="宋体" charset="0"/>
              </a:defRPr>
            </a:lvl3pPr>
            <a:lvl4pPr marL="1600200" indent="-228600">
              <a:lnSpc>
                <a:spcPct val="90000"/>
              </a:lnSpc>
              <a:spcBef>
                <a:spcPts val="500"/>
              </a:spcBef>
              <a:buFont typeface="Arial" charset="0"/>
              <a:buChar char="•"/>
              <a:defRPr>
                <a:solidFill>
                  <a:schemeClr val="tx1"/>
                </a:solidFill>
                <a:latin typeface="Calibri" charset="0"/>
                <a:ea typeface="宋体" charset="0"/>
              </a:defRPr>
            </a:lvl4pPr>
            <a:lvl5pPr marL="2057400" indent="-228600">
              <a:lnSpc>
                <a:spcPct val="90000"/>
              </a:lnSpc>
              <a:spcBef>
                <a:spcPts val="500"/>
              </a:spcBef>
              <a:buFont typeface="Arial" charset="0"/>
              <a:buChar char="•"/>
              <a:defRPr>
                <a:solidFill>
                  <a:schemeClr val="tx1"/>
                </a:solidFill>
                <a:latin typeface="Calibri" charset="0"/>
                <a:ea typeface="宋体" charset="0"/>
              </a:defRPr>
            </a:lvl5pPr>
            <a:lvl6pPr marL="25146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6pPr>
            <a:lvl7pPr marL="29718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7pPr>
            <a:lvl8pPr marL="34290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8pPr>
            <a:lvl9pPr marL="38862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9pPr>
          </a:lstStyle>
          <a:p>
            <a:pPr>
              <a:lnSpc>
                <a:spcPct val="100000"/>
              </a:lnSpc>
              <a:spcBef>
                <a:spcPct val="0"/>
              </a:spcBef>
              <a:buFontTx/>
              <a:buNone/>
            </a:pPr>
            <a:endParaRPr kumimoji="1" lang="zh-CN" altLang="en-US" sz="1800">
              <a:latin typeface="+mn-lt"/>
            </a:endParaRPr>
          </a:p>
        </p:txBody>
      </p:sp>
      <p:sp>
        <p:nvSpPr>
          <p:cNvPr id="10" name="文本框 9">
            <a:extLst>
              <a:ext uri="{FF2B5EF4-FFF2-40B4-BE49-F238E27FC236}">
                <a16:creationId xmlns:a16="http://schemas.microsoft.com/office/drawing/2014/main" id="{5D53F571-3FE3-414E-8DE9-03044D097F3C}"/>
              </a:ext>
            </a:extLst>
          </p:cNvPr>
          <p:cNvSpPr txBox="1"/>
          <p:nvPr/>
        </p:nvSpPr>
        <p:spPr>
          <a:xfrm>
            <a:off x="654258" y="589775"/>
            <a:ext cx="5289342" cy="523220"/>
          </a:xfrm>
          <a:prstGeom prst="rect">
            <a:avLst/>
          </a:prstGeom>
          <a:noFill/>
        </p:spPr>
        <p:txBody>
          <a:bodyPr wrap="square" rtlCol="0">
            <a:spAutoFit/>
          </a:bodyPr>
          <a:lstStyle/>
          <a:p>
            <a:r>
              <a:rPr kumimoji="1" lang="en-US" altLang="zh-CN" sz="2800" dirty="0">
                <a:latin typeface="Microsoft YaHei" charset="-122"/>
                <a:ea typeface="Microsoft YaHei" charset="-122"/>
                <a:cs typeface="Microsoft YaHei" charset="-122"/>
              </a:rPr>
              <a:t>NVFS-</a:t>
            </a:r>
            <a:r>
              <a:rPr kumimoji="1" lang="en-US" altLang="zh-CN" sz="2800" dirty="0" err="1">
                <a:latin typeface="Microsoft YaHei" charset="-122"/>
                <a:ea typeface="Microsoft YaHei" charset="-122"/>
                <a:cs typeface="Microsoft YaHei" charset="-122"/>
              </a:rPr>
              <a:t>MemIO</a:t>
            </a:r>
            <a:endParaRPr kumimoji="1" lang="en-US" altLang="zh-CN" sz="2800" dirty="0">
              <a:latin typeface="Microsoft YaHei" charset="-122"/>
              <a:ea typeface="Microsoft YaHei" charset="-122"/>
              <a:cs typeface="Microsoft YaHei" charset="-122"/>
            </a:endParaRPr>
          </a:p>
        </p:txBody>
      </p:sp>
      <p:sp>
        <p:nvSpPr>
          <p:cNvPr id="2" name="文本框 1">
            <a:extLst>
              <a:ext uri="{FF2B5EF4-FFF2-40B4-BE49-F238E27FC236}">
                <a16:creationId xmlns:a16="http://schemas.microsoft.com/office/drawing/2014/main" id="{9CE222E6-9694-44A2-8D61-17C8114EE65C}"/>
              </a:ext>
            </a:extLst>
          </p:cNvPr>
          <p:cNvSpPr txBox="1"/>
          <p:nvPr/>
        </p:nvSpPr>
        <p:spPr>
          <a:xfrm>
            <a:off x="292694" y="4994411"/>
            <a:ext cx="1931542" cy="1295868"/>
          </a:xfrm>
          <a:prstGeom prst="rect">
            <a:avLst/>
          </a:prstGeom>
          <a:noFill/>
        </p:spPr>
        <p:txBody>
          <a:bodyPr wrap="square" rtlCol="0">
            <a:spAutoFit/>
          </a:bodyPr>
          <a:lstStyle/>
          <a:p>
            <a:pPr>
              <a:lnSpc>
                <a:spcPct val="150000"/>
              </a:lnSpc>
            </a:pPr>
            <a:r>
              <a:rPr lang="en-US" altLang="zh-CN" dirty="0"/>
              <a:t>Flat architecture</a:t>
            </a:r>
          </a:p>
          <a:p>
            <a:pPr>
              <a:lnSpc>
                <a:spcPct val="150000"/>
              </a:lnSpc>
            </a:pPr>
            <a:r>
              <a:rPr lang="en-US" altLang="zh-CN" dirty="0"/>
              <a:t>Read:</a:t>
            </a:r>
          </a:p>
          <a:p>
            <a:pPr>
              <a:lnSpc>
                <a:spcPct val="150000"/>
              </a:lnSpc>
            </a:pPr>
            <a:r>
              <a:rPr lang="en-US" altLang="zh-CN" dirty="0"/>
              <a:t>Write:</a:t>
            </a:r>
          </a:p>
        </p:txBody>
      </p:sp>
      <p:pic>
        <p:nvPicPr>
          <p:cNvPr id="4" name="图片 3">
            <a:extLst>
              <a:ext uri="{FF2B5EF4-FFF2-40B4-BE49-F238E27FC236}">
                <a16:creationId xmlns:a16="http://schemas.microsoft.com/office/drawing/2014/main" id="{501432BE-2E5F-4985-B161-104665FCB1E3}"/>
              </a:ext>
            </a:extLst>
          </p:cNvPr>
          <p:cNvPicPr>
            <a:picLocks noChangeAspect="1"/>
          </p:cNvPicPr>
          <p:nvPr/>
        </p:nvPicPr>
        <p:blipFill>
          <a:blip r:embed="rId3"/>
          <a:stretch>
            <a:fillRect/>
          </a:stretch>
        </p:blipFill>
        <p:spPr>
          <a:xfrm>
            <a:off x="534256" y="2224474"/>
            <a:ext cx="3905795" cy="2915057"/>
          </a:xfrm>
          <a:prstGeom prst="rect">
            <a:avLst/>
          </a:prstGeom>
        </p:spPr>
      </p:pic>
      <p:sp>
        <p:nvSpPr>
          <p:cNvPr id="7" name="文本框 6">
            <a:extLst>
              <a:ext uri="{FF2B5EF4-FFF2-40B4-BE49-F238E27FC236}">
                <a16:creationId xmlns:a16="http://schemas.microsoft.com/office/drawing/2014/main" id="{0D448EF2-25AD-4709-9A71-CF0F78FE8B8A}"/>
              </a:ext>
            </a:extLst>
          </p:cNvPr>
          <p:cNvSpPr txBox="1"/>
          <p:nvPr/>
        </p:nvSpPr>
        <p:spPr>
          <a:xfrm>
            <a:off x="4572000" y="2018024"/>
            <a:ext cx="4428162" cy="3788858"/>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en-US" altLang="zh-CN" dirty="0"/>
              <a:t>A pool of buffers</a:t>
            </a:r>
          </a:p>
          <a:p>
            <a:pPr marL="742950" lvl="1" indent="-285750">
              <a:lnSpc>
                <a:spcPct val="150000"/>
              </a:lnSpc>
              <a:buFont typeface="Wingdings" panose="05000000000000000000" pitchFamily="2" charset="2"/>
              <a:buChar char="Ø"/>
            </a:pPr>
            <a:r>
              <a:rPr lang="en-US" altLang="zh-CN" dirty="0"/>
              <a:t>Head pointer</a:t>
            </a:r>
            <a:r>
              <a:rPr lang="zh-CN" altLang="en-US" dirty="0"/>
              <a:t>、</a:t>
            </a:r>
            <a:r>
              <a:rPr lang="en-US" altLang="zh-CN" dirty="0"/>
              <a:t>tail pointer</a:t>
            </a:r>
          </a:p>
          <a:p>
            <a:pPr marL="285750" indent="-285750">
              <a:lnSpc>
                <a:spcPct val="150000"/>
              </a:lnSpc>
              <a:buFont typeface="Wingdings" panose="05000000000000000000" pitchFamily="2" charset="2"/>
              <a:buChar char="Ø"/>
            </a:pPr>
            <a:r>
              <a:rPr lang="en-US" altLang="zh-CN" dirty="0"/>
              <a:t>A blk consists of several pkts</a:t>
            </a:r>
          </a:p>
          <a:p>
            <a:pPr marL="742950" lvl="1" indent="-285750">
              <a:lnSpc>
                <a:spcPct val="150000"/>
              </a:lnSpc>
              <a:buFont typeface="Wingdings" panose="05000000000000000000" pitchFamily="2" charset="2"/>
              <a:buChar char="Ø"/>
            </a:pPr>
            <a:r>
              <a:rPr lang="en-US" altLang="zh-CN" dirty="0"/>
              <a:t>Block id</a:t>
            </a:r>
            <a:r>
              <a:rPr lang="zh-CN" altLang="en-US" dirty="0"/>
              <a:t>、</a:t>
            </a:r>
            <a:r>
              <a:rPr lang="en-US" altLang="zh-CN" dirty="0"/>
              <a:t>packet sequence number</a:t>
            </a:r>
          </a:p>
          <a:p>
            <a:pPr marL="285750" indent="-285750">
              <a:lnSpc>
                <a:spcPct val="150000"/>
              </a:lnSpc>
              <a:buFont typeface="Wingdings" panose="05000000000000000000" pitchFamily="2" charset="2"/>
              <a:buChar char="Ø"/>
            </a:pPr>
            <a:r>
              <a:rPr lang="en-US" altLang="zh-CN" dirty="0"/>
              <a:t>Shared buffers for communication</a:t>
            </a:r>
          </a:p>
          <a:p>
            <a:pPr marL="742950" lvl="1" indent="-285750">
              <a:lnSpc>
                <a:spcPct val="150000"/>
              </a:lnSpc>
              <a:buFont typeface="Wingdings" panose="05000000000000000000" pitchFamily="2" charset="2"/>
              <a:buChar char="Ø"/>
            </a:pPr>
            <a:r>
              <a:rPr lang="en-US" altLang="zh-CN" dirty="0"/>
              <a:t>The first free buffer pointed to by tail act as the RDMA receive buffer</a:t>
            </a:r>
          </a:p>
          <a:p>
            <a:pPr marL="285750" indent="-285750">
              <a:lnSpc>
                <a:spcPct val="150000"/>
              </a:lnSpc>
              <a:buFont typeface="Wingdings" panose="05000000000000000000" pitchFamily="2" charset="2"/>
              <a:buChar char="Ø"/>
            </a:pPr>
            <a:r>
              <a:rPr lang="en-US" altLang="zh-CN" dirty="0">
                <a:solidFill>
                  <a:srgbClr val="FF0000"/>
                </a:solidFill>
              </a:rPr>
              <a:t>Overlap between Reader and Writer</a:t>
            </a:r>
          </a:p>
          <a:p>
            <a:pPr marL="285750" indent="-285750">
              <a:lnSpc>
                <a:spcPct val="150000"/>
              </a:lnSpc>
              <a:buFont typeface="Wingdings" panose="05000000000000000000" pitchFamily="2" charset="2"/>
              <a:buChar char="Ø"/>
            </a:pPr>
            <a:r>
              <a:rPr lang="en-US" altLang="zh-CN" dirty="0">
                <a:solidFill>
                  <a:srgbClr val="FF0000"/>
                </a:solidFill>
              </a:rPr>
              <a:t>Scan through the buffer pool during read</a:t>
            </a:r>
            <a:endParaRPr lang="zh-CN" altLang="en-US" dirty="0">
              <a:solidFill>
                <a:srgbClr val="FF0000"/>
              </a:solidFill>
            </a:endParaRPr>
          </a:p>
        </p:txBody>
      </p:sp>
      <mc:AlternateContent xmlns:mc="http://schemas.openxmlformats.org/markup-compatibility/2006">
        <mc:Choice xmlns:a14="http://schemas.microsoft.com/office/drawing/2010/main" Requires="a14">
          <p:sp>
            <p:nvSpPr>
              <p:cNvPr id="5" name="矩形 4">
                <a:extLst>
                  <a:ext uri="{FF2B5EF4-FFF2-40B4-BE49-F238E27FC236}">
                    <a16:creationId xmlns:a16="http://schemas.microsoft.com/office/drawing/2014/main" id="{C46FE839-9707-4264-AC33-9FA02DE419E8}"/>
                  </a:ext>
                </a:extLst>
              </p:cNvPr>
              <p:cNvSpPr/>
              <p:nvPr/>
            </p:nvSpPr>
            <p:spPr>
              <a:xfrm>
                <a:off x="974857" y="5943542"/>
                <a:ext cx="793486" cy="369332"/>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d>
                        <m:dPr>
                          <m:begChr m:val=""/>
                          <m:ctrlPr>
                            <a:rPr lang="zh-CN" altLang="en-US">
                              <a:latin typeface="Cambria Math" panose="02040503050406030204" pitchFamily="18" charset="0"/>
                            </a:rPr>
                          </m:ctrlPr>
                        </m:dPr>
                        <m:e>
                          <m:r>
                            <a:rPr lang="zh-CN" altLang="en-US" i="1">
                              <a:latin typeface="Cambria Math" panose="02040503050406030204" pitchFamily="18" charset="0"/>
                            </a:rPr>
                            <m:t>𝛰</m:t>
                          </m:r>
                          <m:r>
                            <a:rPr lang="zh-CN" altLang="en-US" i="0">
                              <a:latin typeface="Cambria Math" panose="02040503050406030204" pitchFamily="18" charset="0"/>
                            </a:rPr>
                            <m:t>(</m:t>
                          </m:r>
                          <m:r>
                            <a:rPr lang="zh-CN" altLang="en-US" i="1">
                              <a:latin typeface="Cambria Math" panose="02040503050406030204" pitchFamily="18" charset="0"/>
                            </a:rPr>
                            <m:t>𝑀</m:t>
                          </m:r>
                        </m:e>
                      </m:d>
                    </m:oMath>
                  </m:oMathPara>
                </a14:m>
                <a:endParaRPr lang="zh-CN" altLang="en-US" dirty="0"/>
              </a:p>
            </p:txBody>
          </p:sp>
        </mc:Choice>
        <mc:Fallback>
          <p:sp>
            <p:nvSpPr>
              <p:cNvPr id="5" name="矩形 4">
                <a:extLst>
                  <a:ext uri="{FF2B5EF4-FFF2-40B4-BE49-F238E27FC236}">
                    <a16:creationId xmlns:a16="http://schemas.microsoft.com/office/drawing/2014/main" id="{C46FE839-9707-4264-AC33-9FA02DE419E8}"/>
                  </a:ext>
                </a:extLst>
              </p:cNvPr>
              <p:cNvSpPr>
                <a:spLocks noRot="1" noChangeAspect="1" noMove="1" noResize="1" noEditPoints="1" noAdjustHandles="1" noChangeArrowheads="1" noChangeShapeType="1" noTextEdit="1"/>
              </p:cNvSpPr>
              <p:nvPr/>
            </p:nvSpPr>
            <p:spPr>
              <a:xfrm>
                <a:off x="974857" y="5943542"/>
                <a:ext cx="793486" cy="369332"/>
              </a:xfrm>
              <a:prstGeom prst="rect">
                <a:avLst/>
              </a:prstGeom>
              <a:blipFill>
                <a:blip r:embed="rId4"/>
                <a:stretch>
                  <a:fillRect t="-119672" r="-63846" b="-18360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矩形 5">
                <a:extLst>
                  <a:ext uri="{FF2B5EF4-FFF2-40B4-BE49-F238E27FC236}">
                    <a16:creationId xmlns:a16="http://schemas.microsoft.com/office/drawing/2014/main" id="{E54CA601-58EA-48DE-AF79-E8290DF6269D}"/>
                  </a:ext>
                </a:extLst>
              </p:cNvPr>
              <p:cNvSpPr/>
              <p:nvPr/>
            </p:nvSpPr>
            <p:spPr>
              <a:xfrm>
                <a:off x="926055" y="5510378"/>
                <a:ext cx="1182247" cy="369332"/>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d>
                        <m:dPr>
                          <m:begChr m:val=""/>
                          <m:ctrlPr>
                            <a:rPr lang="zh-CN" altLang="en-US">
                              <a:latin typeface="Cambria Math" panose="02040503050406030204" pitchFamily="18" charset="0"/>
                            </a:rPr>
                          </m:ctrlPr>
                        </m:dPr>
                        <m:e>
                          <m:r>
                            <a:rPr lang="zh-CN" altLang="en-US" i="1">
                              <a:latin typeface="Cambria Math" panose="02040503050406030204" pitchFamily="18" charset="0"/>
                            </a:rPr>
                            <m:t>𝛰</m:t>
                          </m:r>
                          <m:r>
                            <a:rPr lang="zh-CN" altLang="en-US" i="0">
                              <a:latin typeface="Cambria Math" panose="02040503050406030204" pitchFamily="18" charset="0"/>
                            </a:rPr>
                            <m:t>(</m:t>
                          </m:r>
                          <m:r>
                            <a:rPr lang="zh-CN" altLang="en-US" i="1">
                              <a:latin typeface="Cambria Math" panose="02040503050406030204" pitchFamily="18" charset="0"/>
                            </a:rPr>
                            <m:t>𝑀</m:t>
                          </m:r>
                          <m:r>
                            <a:rPr lang="zh-CN" altLang="en-US" i="0">
                              <a:latin typeface="Cambria Math" panose="02040503050406030204" pitchFamily="18" charset="0"/>
                            </a:rPr>
                            <m:t>∗</m:t>
                          </m:r>
                          <m:r>
                            <a:rPr lang="zh-CN" altLang="en-US" i="1">
                              <a:latin typeface="Cambria Math" panose="02040503050406030204" pitchFamily="18" charset="0"/>
                            </a:rPr>
                            <m:t>𝑁</m:t>
                          </m:r>
                        </m:e>
                      </m:d>
                    </m:oMath>
                  </m:oMathPara>
                </a14:m>
                <a:endParaRPr lang="zh-CN" altLang="en-US" dirty="0"/>
              </a:p>
            </p:txBody>
          </p:sp>
        </mc:Choice>
        <mc:Fallback>
          <p:sp>
            <p:nvSpPr>
              <p:cNvPr id="6" name="矩形 5">
                <a:extLst>
                  <a:ext uri="{FF2B5EF4-FFF2-40B4-BE49-F238E27FC236}">
                    <a16:creationId xmlns:a16="http://schemas.microsoft.com/office/drawing/2014/main" id="{E54CA601-58EA-48DE-AF79-E8290DF6269D}"/>
                  </a:ext>
                </a:extLst>
              </p:cNvPr>
              <p:cNvSpPr>
                <a:spLocks noRot="1" noChangeAspect="1" noMove="1" noResize="1" noEditPoints="1" noAdjustHandles="1" noChangeArrowheads="1" noChangeShapeType="1" noTextEdit="1"/>
              </p:cNvSpPr>
              <p:nvPr/>
            </p:nvSpPr>
            <p:spPr>
              <a:xfrm>
                <a:off x="926055" y="5510378"/>
                <a:ext cx="1182247" cy="369332"/>
              </a:xfrm>
              <a:prstGeom prst="rect">
                <a:avLst/>
              </a:prstGeom>
              <a:blipFill>
                <a:blip r:embed="rId5"/>
                <a:stretch>
                  <a:fillRect t="-119672" r="-42784" b="-18360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008672357"/>
      </p:ext>
    </p:extLst>
  </p:cSld>
  <p:clrMapOvr>
    <a:masterClrMapping/>
  </p:clrMapOvr>
  <p:transition spd="med">
    <p:fad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文本框 1"/>
          <p:cNvSpPr txBox="1">
            <a:spLocks noChangeArrowheads="1"/>
          </p:cNvSpPr>
          <p:nvPr/>
        </p:nvSpPr>
        <p:spPr bwMode="auto">
          <a:xfrm>
            <a:off x="-7464425" y="4954588"/>
            <a:ext cx="1857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charset="0"/>
              <a:buChar char="•"/>
              <a:defRPr sz="2800">
                <a:solidFill>
                  <a:schemeClr val="tx1"/>
                </a:solidFill>
                <a:latin typeface="Calibri" charset="0"/>
                <a:ea typeface="宋体" charset="0"/>
              </a:defRPr>
            </a:lvl1pPr>
            <a:lvl2pPr marL="742950" indent="-285750">
              <a:lnSpc>
                <a:spcPct val="90000"/>
              </a:lnSpc>
              <a:spcBef>
                <a:spcPts val="500"/>
              </a:spcBef>
              <a:buFont typeface="Arial" charset="0"/>
              <a:buChar char="•"/>
              <a:defRPr sz="2400">
                <a:solidFill>
                  <a:schemeClr val="tx1"/>
                </a:solidFill>
                <a:latin typeface="Calibri" charset="0"/>
                <a:ea typeface="宋体" charset="0"/>
              </a:defRPr>
            </a:lvl2pPr>
            <a:lvl3pPr marL="1143000" indent="-228600">
              <a:lnSpc>
                <a:spcPct val="90000"/>
              </a:lnSpc>
              <a:spcBef>
                <a:spcPts val="500"/>
              </a:spcBef>
              <a:buFont typeface="Arial" charset="0"/>
              <a:buChar char="•"/>
              <a:defRPr sz="2000">
                <a:solidFill>
                  <a:schemeClr val="tx1"/>
                </a:solidFill>
                <a:latin typeface="Calibri" charset="0"/>
                <a:ea typeface="宋体" charset="0"/>
              </a:defRPr>
            </a:lvl3pPr>
            <a:lvl4pPr marL="1600200" indent="-228600">
              <a:lnSpc>
                <a:spcPct val="90000"/>
              </a:lnSpc>
              <a:spcBef>
                <a:spcPts val="500"/>
              </a:spcBef>
              <a:buFont typeface="Arial" charset="0"/>
              <a:buChar char="•"/>
              <a:defRPr>
                <a:solidFill>
                  <a:schemeClr val="tx1"/>
                </a:solidFill>
                <a:latin typeface="Calibri" charset="0"/>
                <a:ea typeface="宋体" charset="0"/>
              </a:defRPr>
            </a:lvl4pPr>
            <a:lvl5pPr marL="2057400" indent="-228600">
              <a:lnSpc>
                <a:spcPct val="90000"/>
              </a:lnSpc>
              <a:spcBef>
                <a:spcPts val="500"/>
              </a:spcBef>
              <a:buFont typeface="Arial" charset="0"/>
              <a:buChar char="•"/>
              <a:defRPr>
                <a:solidFill>
                  <a:schemeClr val="tx1"/>
                </a:solidFill>
                <a:latin typeface="Calibri" charset="0"/>
                <a:ea typeface="宋体" charset="0"/>
              </a:defRPr>
            </a:lvl5pPr>
            <a:lvl6pPr marL="25146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6pPr>
            <a:lvl7pPr marL="29718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7pPr>
            <a:lvl8pPr marL="34290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8pPr>
            <a:lvl9pPr marL="38862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9pPr>
          </a:lstStyle>
          <a:p>
            <a:pPr>
              <a:lnSpc>
                <a:spcPct val="100000"/>
              </a:lnSpc>
              <a:spcBef>
                <a:spcPct val="0"/>
              </a:spcBef>
              <a:buFontTx/>
              <a:buNone/>
            </a:pPr>
            <a:endParaRPr kumimoji="1" lang="zh-CN" altLang="en-US" sz="1800">
              <a:latin typeface="+mn-lt"/>
            </a:endParaRPr>
          </a:p>
        </p:txBody>
      </p:sp>
      <p:sp>
        <p:nvSpPr>
          <p:cNvPr id="2" name="文本框 1">
            <a:extLst>
              <a:ext uri="{FF2B5EF4-FFF2-40B4-BE49-F238E27FC236}">
                <a16:creationId xmlns:a16="http://schemas.microsoft.com/office/drawing/2014/main" id="{9CE222E6-9694-44A2-8D61-17C8114EE65C}"/>
              </a:ext>
            </a:extLst>
          </p:cNvPr>
          <p:cNvSpPr txBox="1"/>
          <p:nvPr/>
        </p:nvSpPr>
        <p:spPr>
          <a:xfrm>
            <a:off x="4158263" y="1445021"/>
            <a:ext cx="4985738" cy="3788858"/>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en-US" altLang="zh-CN" dirty="0"/>
              <a:t>Two different buffer pools</a:t>
            </a:r>
          </a:p>
          <a:p>
            <a:pPr marL="285750" indent="-285750">
              <a:lnSpc>
                <a:spcPct val="150000"/>
              </a:lnSpc>
              <a:buFont typeface="Wingdings" panose="05000000000000000000" pitchFamily="2" charset="2"/>
              <a:buChar char="Ø"/>
            </a:pPr>
            <a:r>
              <a:rPr lang="en-US" altLang="zh-CN" dirty="0"/>
              <a:t>Re-usable communication buffers</a:t>
            </a:r>
          </a:p>
          <a:p>
            <a:pPr marL="285750" indent="-285750">
              <a:lnSpc>
                <a:spcPct val="150000"/>
              </a:lnSpc>
              <a:buFont typeface="Wingdings" panose="05000000000000000000" pitchFamily="2" charset="2"/>
              <a:buChar char="Ø"/>
            </a:pPr>
            <a:r>
              <a:rPr lang="en-US" altLang="zh-CN" dirty="0"/>
              <a:t>HDFS Block Structure through the storage buffers</a:t>
            </a:r>
          </a:p>
          <a:p>
            <a:pPr marL="285750" indent="-285750">
              <a:lnSpc>
                <a:spcPct val="150000"/>
              </a:lnSpc>
              <a:buFont typeface="Wingdings" panose="05000000000000000000" pitchFamily="2" charset="2"/>
              <a:buChar char="Ø"/>
            </a:pPr>
            <a:r>
              <a:rPr lang="en-US" altLang="zh-CN" dirty="0"/>
              <a:t>Overlapping between communication and storage</a:t>
            </a:r>
          </a:p>
          <a:p>
            <a:pPr marL="285750" indent="-285750">
              <a:lnSpc>
                <a:spcPct val="150000"/>
              </a:lnSpc>
              <a:buFont typeface="Wingdings" panose="05000000000000000000" pitchFamily="2" charset="2"/>
              <a:buChar char="Ø"/>
            </a:pPr>
            <a:r>
              <a:rPr lang="en-US" altLang="zh-CN" dirty="0"/>
              <a:t>Constant time retrieval of blocks during read</a:t>
            </a:r>
          </a:p>
          <a:p>
            <a:pPr marL="285750" indent="-285750">
              <a:lnSpc>
                <a:spcPct val="150000"/>
              </a:lnSpc>
              <a:buFont typeface="Wingdings" panose="05000000000000000000" pitchFamily="2" charset="2"/>
              <a:buChar char="Ø"/>
            </a:pPr>
            <a:r>
              <a:rPr lang="en-US" altLang="zh-CN" dirty="0"/>
              <a:t>Synchronization</a:t>
            </a:r>
          </a:p>
          <a:p>
            <a:pPr marL="285750" indent="-285750">
              <a:lnSpc>
                <a:spcPct val="150000"/>
              </a:lnSpc>
              <a:buFont typeface="Wingdings" panose="05000000000000000000" pitchFamily="2" charset="2"/>
              <a:buChar char="Ø"/>
            </a:pPr>
            <a:endParaRPr lang="zh-CN" altLang="en-US" dirty="0"/>
          </a:p>
        </p:txBody>
      </p:sp>
      <p:sp>
        <p:nvSpPr>
          <p:cNvPr id="6" name="文本框 5">
            <a:extLst>
              <a:ext uri="{FF2B5EF4-FFF2-40B4-BE49-F238E27FC236}">
                <a16:creationId xmlns:a16="http://schemas.microsoft.com/office/drawing/2014/main" id="{209786C6-0242-4FE1-BE76-D95415801606}"/>
              </a:ext>
            </a:extLst>
          </p:cNvPr>
          <p:cNvSpPr txBox="1"/>
          <p:nvPr/>
        </p:nvSpPr>
        <p:spPr>
          <a:xfrm>
            <a:off x="654258" y="589775"/>
            <a:ext cx="5289342" cy="523220"/>
          </a:xfrm>
          <a:prstGeom prst="rect">
            <a:avLst/>
          </a:prstGeom>
          <a:noFill/>
        </p:spPr>
        <p:txBody>
          <a:bodyPr wrap="square" rtlCol="0">
            <a:spAutoFit/>
          </a:bodyPr>
          <a:lstStyle/>
          <a:p>
            <a:r>
              <a:rPr kumimoji="1" lang="en-US" altLang="zh-CN" sz="2800" dirty="0">
                <a:latin typeface="Microsoft YaHei" charset="-122"/>
                <a:ea typeface="Microsoft YaHei" charset="-122"/>
                <a:cs typeface="Microsoft YaHei" charset="-122"/>
              </a:rPr>
              <a:t>NVFS-</a:t>
            </a:r>
            <a:r>
              <a:rPr kumimoji="1" lang="en-US" altLang="zh-CN" sz="2800" dirty="0" err="1">
                <a:latin typeface="Microsoft YaHei" charset="-122"/>
                <a:ea typeface="Microsoft YaHei" charset="-122"/>
                <a:cs typeface="Microsoft YaHei" charset="-122"/>
              </a:rPr>
              <a:t>MemIO</a:t>
            </a:r>
            <a:endParaRPr kumimoji="1" lang="en-US" altLang="zh-CN" sz="2800" dirty="0">
              <a:latin typeface="Microsoft YaHei" charset="-122"/>
              <a:ea typeface="Microsoft YaHei" charset="-122"/>
              <a:cs typeface="Microsoft YaHei" charset="-122"/>
            </a:endParaRPr>
          </a:p>
        </p:txBody>
      </p:sp>
      <p:pic>
        <p:nvPicPr>
          <p:cNvPr id="4" name="图片 3">
            <a:extLst>
              <a:ext uri="{FF2B5EF4-FFF2-40B4-BE49-F238E27FC236}">
                <a16:creationId xmlns:a16="http://schemas.microsoft.com/office/drawing/2014/main" id="{37830DC0-6D5C-4019-90BF-7FD75919255A}"/>
              </a:ext>
            </a:extLst>
          </p:cNvPr>
          <p:cNvPicPr>
            <a:picLocks noChangeAspect="1"/>
          </p:cNvPicPr>
          <p:nvPr/>
        </p:nvPicPr>
        <p:blipFill>
          <a:blip r:embed="rId3"/>
          <a:stretch>
            <a:fillRect/>
          </a:stretch>
        </p:blipFill>
        <p:spPr>
          <a:xfrm>
            <a:off x="232985" y="1601543"/>
            <a:ext cx="3829584" cy="2848373"/>
          </a:xfrm>
          <a:prstGeom prst="rect">
            <a:avLst/>
          </a:prstGeom>
        </p:spPr>
      </p:pic>
      <p:pic>
        <p:nvPicPr>
          <p:cNvPr id="8" name="图片 7">
            <a:extLst>
              <a:ext uri="{FF2B5EF4-FFF2-40B4-BE49-F238E27FC236}">
                <a16:creationId xmlns:a16="http://schemas.microsoft.com/office/drawing/2014/main" id="{2B892419-4D36-464C-980E-75C2B099970F}"/>
              </a:ext>
            </a:extLst>
          </p:cNvPr>
          <p:cNvPicPr>
            <a:picLocks noChangeAspect="1"/>
          </p:cNvPicPr>
          <p:nvPr/>
        </p:nvPicPr>
        <p:blipFill>
          <a:blip r:embed="rId4"/>
          <a:stretch>
            <a:fillRect/>
          </a:stretch>
        </p:blipFill>
        <p:spPr>
          <a:xfrm>
            <a:off x="4572000" y="4800247"/>
            <a:ext cx="3886742" cy="1733792"/>
          </a:xfrm>
          <a:prstGeom prst="rect">
            <a:avLst/>
          </a:prstGeom>
        </p:spPr>
      </p:pic>
      <p:sp>
        <p:nvSpPr>
          <p:cNvPr id="11" name="文本框 10">
            <a:extLst>
              <a:ext uri="{FF2B5EF4-FFF2-40B4-BE49-F238E27FC236}">
                <a16:creationId xmlns:a16="http://schemas.microsoft.com/office/drawing/2014/main" id="{AFABB9CD-8910-4DB1-A4EF-57DE7DF46643}"/>
              </a:ext>
            </a:extLst>
          </p:cNvPr>
          <p:cNvSpPr txBox="1"/>
          <p:nvPr/>
        </p:nvSpPr>
        <p:spPr>
          <a:xfrm>
            <a:off x="335224" y="4490505"/>
            <a:ext cx="1931542" cy="1295868"/>
          </a:xfrm>
          <a:prstGeom prst="rect">
            <a:avLst/>
          </a:prstGeom>
          <a:noFill/>
        </p:spPr>
        <p:txBody>
          <a:bodyPr wrap="square" rtlCol="0">
            <a:spAutoFit/>
          </a:bodyPr>
          <a:lstStyle/>
          <a:p>
            <a:pPr>
              <a:lnSpc>
                <a:spcPct val="150000"/>
              </a:lnSpc>
            </a:pPr>
            <a:r>
              <a:rPr lang="en-US" altLang="zh-CN" dirty="0"/>
              <a:t>block architecture</a:t>
            </a:r>
          </a:p>
          <a:p>
            <a:pPr>
              <a:lnSpc>
                <a:spcPct val="150000"/>
              </a:lnSpc>
            </a:pPr>
            <a:r>
              <a:rPr lang="en-US" altLang="zh-CN" dirty="0"/>
              <a:t>Read: </a:t>
            </a:r>
          </a:p>
          <a:p>
            <a:pPr>
              <a:lnSpc>
                <a:spcPct val="150000"/>
              </a:lnSpc>
            </a:pPr>
            <a:r>
              <a:rPr lang="en-US" altLang="zh-CN" dirty="0"/>
              <a:t>Write: </a:t>
            </a:r>
            <a:endParaRPr lang="zh-CN" altLang="en-US" dirty="0"/>
          </a:p>
        </p:txBody>
      </p:sp>
      <mc:AlternateContent xmlns:mc="http://schemas.openxmlformats.org/markup-compatibility/2006">
        <mc:Choice xmlns:a14="http://schemas.microsoft.com/office/drawing/2010/main" Requires="a14">
          <p:sp>
            <p:nvSpPr>
              <p:cNvPr id="9" name="矩形 8">
                <a:extLst>
                  <a:ext uri="{FF2B5EF4-FFF2-40B4-BE49-F238E27FC236}">
                    <a16:creationId xmlns:a16="http://schemas.microsoft.com/office/drawing/2014/main" id="{9CCC381D-1D43-4F3B-8FF9-E4BA8AA05785}"/>
                  </a:ext>
                </a:extLst>
              </p:cNvPr>
              <p:cNvSpPr/>
              <p:nvPr/>
            </p:nvSpPr>
            <p:spPr>
              <a:xfrm>
                <a:off x="1058458" y="5017314"/>
                <a:ext cx="1550937" cy="369332"/>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d>
                        <m:dPr>
                          <m:begChr m:val=""/>
                          <m:ctrlPr>
                            <a:rPr lang="zh-CN" altLang="en-US">
                              <a:latin typeface="Cambria Math" panose="02040503050406030204" pitchFamily="18" charset="0"/>
                            </a:rPr>
                          </m:ctrlPr>
                        </m:dPr>
                        <m:e>
                          <m:r>
                            <a:rPr lang="zh-CN" altLang="en-US" i="1">
                              <a:latin typeface="Cambria Math" panose="02040503050406030204" pitchFamily="18" charset="0"/>
                            </a:rPr>
                            <m:t>𝛰</m:t>
                          </m:r>
                          <m:r>
                            <a:rPr lang="zh-CN" altLang="en-US" i="0">
                              <a:latin typeface="Cambria Math" panose="02040503050406030204" pitchFamily="18" charset="0"/>
                            </a:rPr>
                            <m:t>(1)+</m:t>
                          </m:r>
                          <m:r>
                            <a:rPr lang="zh-CN" altLang="en-US" i="1">
                              <a:latin typeface="Cambria Math" panose="02040503050406030204" pitchFamily="18" charset="0"/>
                            </a:rPr>
                            <m:t>𝛰</m:t>
                          </m:r>
                          <m:r>
                            <a:rPr lang="zh-CN" altLang="en-US" i="0">
                              <a:latin typeface="Cambria Math" panose="02040503050406030204" pitchFamily="18" charset="0"/>
                            </a:rPr>
                            <m:t>(</m:t>
                          </m:r>
                          <m:r>
                            <a:rPr lang="zh-CN" altLang="en-US" i="1">
                              <a:latin typeface="Cambria Math" panose="02040503050406030204" pitchFamily="18" charset="0"/>
                            </a:rPr>
                            <m:t>𝑀</m:t>
                          </m:r>
                        </m:e>
                      </m:d>
                    </m:oMath>
                  </m:oMathPara>
                </a14:m>
                <a:endParaRPr lang="zh-CN" altLang="en-US" dirty="0"/>
              </a:p>
            </p:txBody>
          </p:sp>
        </mc:Choice>
        <mc:Fallback>
          <p:sp>
            <p:nvSpPr>
              <p:cNvPr id="9" name="矩形 8">
                <a:extLst>
                  <a:ext uri="{FF2B5EF4-FFF2-40B4-BE49-F238E27FC236}">
                    <a16:creationId xmlns:a16="http://schemas.microsoft.com/office/drawing/2014/main" id="{9CCC381D-1D43-4F3B-8FF9-E4BA8AA05785}"/>
                  </a:ext>
                </a:extLst>
              </p:cNvPr>
              <p:cNvSpPr>
                <a:spLocks noRot="1" noChangeAspect="1" noMove="1" noResize="1" noEditPoints="1" noAdjustHandles="1" noChangeArrowheads="1" noChangeShapeType="1" noTextEdit="1"/>
              </p:cNvSpPr>
              <p:nvPr/>
            </p:nvSpPr>
            <p:spPr>
              <a:xfrm>
                <a:off x="1058458" y="5017314"/>
                <a:ext cx="1550937" cy="369332"/>
              </a:xfrm>
              <a:prstGeom prst="rect">
                <a:avLst/>
              </a:prstGeom>
              <a:blipFill>
                <a:blip r:embed="rId5"/>
                <a:stretch>
                  <a:fillRect t="-119672" r="-32677" b="-18360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矩形 11">
                <a:extLst>
                  <a:ext uri="{FF2B5EF4-FFF2-40B4-BE49-F238E27FC236}">
                    <a16:creationId xmlns:a16="http://schemas.microsoft.com/office/drawing/2014/main" id="{FB6A0CBE-D5C0-4E36-8EA9-99B0639C67D6}"/>
                  </a:ext>
                </a:extLst>
              </p:cNvPr>
              <p:cNvSpPr/>
              <p:nvPr/>
            </p:nvSpPr>
            <p:spPr>
              <a:xfrm>
                <a:off x="1025763" y="5432238"/>
                <a:ext cx="2186752" cy="369332"/>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d>
                        <m:dPr>
                          <m:begChr m:val=""/>
                          <m:ctrlPr>
                            <a:rPr lang="zh-CN" altLang="en-US">
                              <a:latin typeface="Cambria Math" panose="02040503050406030204" pitchFamily="18" charset="0"/>
                            </a:rPr>
                          </m:ctrlPr>
                        </m:dPr>
                        <m:e>
                          <m:r>
                            <a:rPr lang="zh-CN" altLang="en-US" i="1">
                              <a:latin typeface="Cambria Math" panose="02040503050406030204" pitchFamily="18" charset="0"/>
                            </a:rPr>
                            <m:t>𝑀</m:t>
                          </m:r>
                          <m:r>
                            <a:rPr lang="zh-CN" altLang="en-US" i="0">
                              <a:latin typeface="Cambria Math" panose="02040503050406030204" pitchFamily="18" charset="0"/>
                            </a:rPr>
                            <m:t>∗(</m:t>
                          </m:r>
                          <m:r>
                            <a:rPr lang="zh-CN" altLang="en-US" i="1">
                              <a:latin typeface="Cambria Math" panose="02040503050406030204" pitchFamily="18" charset="0"/>
                            </a:rPr>
                            <m:t>𝛰</m:t>
                          </m:r>
                          <m:r>
                            <a:rPr lang="zh-CN" altLang="en-US" i="0">
                              <a:latin typeface="Cambria Math" panose="02040503050406030204" pitchFamily="18" charset="0"/>
                            </a:rPr>
                            <m:t>(1)+</m:t>
                          </m:r>
                          <m:r>
                            <a:rPr lang="zh-CN" altLang="en-US" i="1">
                              <a:latin typeface="Cambria Math" panose="02040503050406030204" pitchFamily="18" charset="0"/>
                            </a:rPr>
                            <m:t>𝛰</m:t>
                          </m:r>
                          <m:r>
                            <a:rPr lang="zh-CN" altLang="en-US" i="0">
                              <a:latin typeface="Cambria Math" panose="02040503050406030204" pitchFamily="18" charset="0"/>
                            </a:rPr>
                            <m:t>(</m:t>
                          </m:r>
                          <m:r>
                            <a:rPr lang="zh-CN" altLang="en-US" i="1">
                              <a:latin typeface="Cambria Math" panose="02040503050406030204" pitchFamily="18" charset="0"/>
                            </a:rPr>
                            <m:t>𝑊</m:t>
                          </m:r>
                          <m:r>
                            <a:rPr lang="zh-CN" altLang="en-US" i="0">
                              <a:latin typeface="Cambria Math" panose="02040503050406030204" pitchFamily="18" charset="0"/>
                            </a:rPr>
                            <m:t>)</m:t>
                          </m:r>
                        </m:e>
                      </m:d>
                    </m:oMath>
                  </m:oMathPara>
                </a14:m>
                <a:endParaRPr lang="zh-CN" altLang="en-US" dirty="0"/>
              </a:p>
            </p:txBody>
          </p:sp>
        </mc:Choice>
        <mc:Fallback>
          <p:sp>
            <p:nvSpPr>
              <p:cNvPr id="12" name="矩形 11">
                <a:extLst>
                  <a:ext uri="{FF2B5EF4-FFF2-40B4-BE49-F238E27FC236}">
                    <a16:creationId xmlns:a16="http://schemas.microsoft.com/office/drawing/2014/main" id="{FB6A0CBE-D5C0-4E36-8EA9-99B0639C67D6}"/>
                  </a:ext>
                </a:extLst>
              </p:cNvPr>
              <p:cNvSpPr>
                <a:spLocks noRot="1" noChangeAspect="1" noMove="1" noResize="1" noEditPoints="1" noAdjustHandles="1" noChangeArrowheads="1" noChangeShapeType="1" noTextEdit="1"/>
              </p:cNvSpPr>
              <p:nvPr/>
            </p:nvSpPr>
            <p:spPr>
              <a:xfrm>
                <a:off x="1025763" y="5432238"/>
                <a:ext cx="2186752" cy="369332"/>
              </a:xfrm>
              <a:prstGeom prst="rect">
                <a:avLst/>
              </a:prstGeom>
              <a:blipFill>
                <a:blip r:embed="rId6"/>
                <a:stretch>
                  <a:fillRect t="-119672" r="-22841" b="-18360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289833877"/>
      </p:ext>
    </p:extLst>
  </p:cSld>
  <p:clrMapOvr>
    <a:masterClrMapping/>
  </p:clrMapOvr>
  <p:transition spd="med">
    <p:fad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文本框 1"/>
          <p:cNvSpPr txBox="1">
            <a:spLocks noChangeArrowheads="1"/>
          </p:cNvSpPr>
          <p:nvPr/>
        </p:nvSpPr>
        <p:spPr bwMode="auto">
          <a:xfrm>
            <a:off x="-7464425" y="4954588"/>
            <a:ext cx="1857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charset="0"/>
              <a:buChar char="•"/>
              <a:defRPr sz="2800">
                <a:solidFill>
                  <a:schemeClr val="tx1"/>
                </a:solidFill>
                <a:latin typeface="Calibri" charset="0"/>
                <a:ea typeface="宋体" charset="0"/>
              </a:defRPr>
            </a:lvl1pPr>
            <a:lvl2pPr marL="742950" indent="-285750">
              <a:lnSpc>
                <a:spcPct val="90000"/>
              </a:lnSpc>
              <a:spcBef>
                <a:spcPts val="500"/>
              </a:spcBef>
              <a:buFont typeface="Arial" charset="0"/>
              <a:buChar char="•"/>
              <a:defRPr sz="2400">
                <a:solidFill>
                  <a:schemeClr val="tx1"/>
                </a:solidFill>
                <a:latin typeface="Calibri" charset="0"/>
                <a:ea typeface="宋体" charset="0"/>
              </a:defRPr>
            </a:lvl2pPr>
            <a:lvl3pPr marL="1143000" indent="-228600">
              <a:lnSpc>
                <a:spcPct val="90000"/>
              </a:lnSpc>
              <a:spcBef>
                <a:spcPts val="500"/>
              </a:spcBef>
              <a:buFont typeface="Arial" charset="0"/>
              <a:buChar char="•"/>
              <a:defRPr sz="2000">
                <a:solidFill>
                  <a:schemeClr val="tx1"/>
                </a:solidFill>
                <a:latin typeface="Calibri" charset="0"/>
                <a:ea typeface="宋体" charset="0"/>
              </a:defRPr>
            </a:lvl3pPr>
            <a:lvl4pPr marL="1600200" indent="-228600">
              <a:lnSpc>
                <a:spcPct val="90000"/>
              </a:lnSpc>
              <a:spcBef>
                <a:spcPts val="500"/>
              </a:spcBef>
              <a:buFont typeface="Arial" charset="0"/>
              <a:buChar char="•"/>
              <a:defRPr>
                <a:solidFill>
                  <a:schemeClr val="tx1"/>
                </a:solidFill>
                <a:latin typeface="Calibri" charset="0"/>
                <a:ea typeface="宋体" charset="0"/>
              </a:defRPr>
            </a:lvl4pPr>
            <a:lvl5pPr marL="2057400" indent="-228600">
              <a:lnSpc>
                <a:spcPct val="90000"/>
              </a:lnSpc>
              <a:spcBef>
                <a:spcPts val="500"/>
              </a:spcBef>
              <a:buFont typeface="Arial" charset="0"/>
              <a:buChar char="•"/>
              <a:defRPr>
                <a:solidFill>
                  <a:schemeClr val="tx1"/>
                </a:solidFill>
                <a:latin typeface="Calibri" charset="0"/>
                <a:ea typeface="宋体" charset="0"/>
              </a:defRPr>
            </a:lvl5pPr>
            <a:lvl6pPr marL="25146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6pPr>
            <a:lvl7pPr marL="29718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7pPr>
            <a:lvl8pPr marL="34290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8pPr>
            <a:lvl9pPr marL="38862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9pPr>
          </a:lstStyle>
          <a:p>
            <a:pPr>
              <a:lnSpc>
                <a:spcPct val="100000"/>
              </a:lnSpc>
              <a:spcBef>
                <a:spcPct val="0"/>
              </a:spcBef>
              <a:buFontTx/>
              <a:buNone/>
            </a:pPr>
            <a:endParaRPr kumimoji="1" lang="zh-CN" altLang="en-US" sz="1800">
              <a:latin typeface="+mn-lt"/>
            </a:endParaRPr>
          </a:p>
        </p:txBody>
      </p:sp>
      <p:sp>
        <p:nvSpPr>
          <p:cNvPr id="10" name="文本框 9">
            <a:extLst>
              <a:ext uri="{FF2B5EF4-FFF2-40B4-BE49-F238E27FC236}">
                <a16:creationId xmlns:a16="http://schemas.microsoft.com/office/drawing/2014/main" id="{5D53F571-3FE3-414E-8DE9-03044D097F3C}"/>
              </a:ext>
            </a:extLst>
          </p:cNvPr>
          <p:cNvSpPr txBox="1"/>
          <p:nvPr/>
        </p:nvSpPr>
        <p:spPr>
          <a:xfrm>
            <a:off x="654258" y="589775"/>
            <a:ext cx="5289342" cy="523220"/>
          </a:xfrm>
          <a:prstGeom prst="rect">
            <a:avLst/>
          </a:prstGeom>
          <a:noFill/>
        </p:spPr>
        <p:txBody>
          <a:bodyPr wrap="square" rtlCol="0">
            <a:spAutoFit/>
          </a:bodyPr>
          <a:lstStyle/>
          <a:p>
            <a:r>
              <a:rPr kumimoji="1" lang="en-US" altLang="zh-CN" sz="2800" dirty="0">
                <a:latin typeface="Microsoft YaHei" charset="-122"/>
                <a:ea typeface="Microsoft YaHei" charset="-122"/>
                <a:cs typeface="Microsoft YaHei" charset="-122"/>
              </a:rPr>
              <a:t>NVFS</a:t>
            </a:r>
          </a:p>
        </p:txBody>
      </p:sp>
      <p:sp>
        <p:nvSpPr>
          <p:cNvPr id="2" name="文本框 1">
            <a:extLst>
              <a:ext uri="{FF2B5EF4-FFF2-40B4-BE49-F238E27FC236}">
                <a16:creationId xmlns:a16="http://schemas.microsoft.com/office/drawing/2014/main" id="{9CE222E6-9694-44A2-8D61-17C8114EE65C}"/>
              </a:ext>
            </a:extLst>
          </p:cNvPr>
          <p:cNvSpPr txBox="1"/>
          <p:nvPr/>
        </p:nvSpPr>
        <p:spPr>
          <a:xfrm>
            <a:off x="654258" y="3428179"/>
            <a:ext cx="8291245" cy="464871"/>
          </a:xfrm>
          <a:prstGeom prst="rect">
            <a:avLst/>
          </a:prstGeom>
          <a:noFill/>
        </p:spPr>
        <p:txBody>
          <a:bodyPr wrap="square" rtlCol="0">
            <a:spAutoFit/>
          </a:bodyPr>
          <a:lstStyle/>
          <a:p>
            <a:pPr algn="ctr">
              <a:lnSpc>
                <a:spcPct val="150000"/>
              </a:lnSpc>
            </a:pPr>
            <a:r>
              <a:rPr lang="en-US" altLang="zh-CN" dirty="0"/>
              <a:t>HDFS Benchmark</a:t>
            </a:r>
            <a:endParaRPr lang="zh-CN" altLang="en-US" dirty="0"/>
          </a:p>
        </p:txBody>
      </p:sp>
      <p:pic>
        <p:nvPicPr>
          <p:cNvPr id="4" name="图片 3">
            <a:extLst>
              <a:ext uri="{FF2B5EF4-FFF2-40B4-BE49-F238E27FC236}">
                <a16:creationId xmlns:a16="http://schemas.microsoft.com/office/drawing/2014/main" id="{84174B63-0F29-4517-B64E-D7D5584229BC}"/>
              </a:ext>
            </a:extLst>
          </p:cNvPr>
          <p:cNvPicPr>
            <a:picLocks noChangeAspect="1"/>
          </p:cNvPicPr>
          <p:nvPr/>
        </p:nvPicPr>
        <p:blipFill>
          <a:blip r:embed="rId3"/>
          <a:stretch>
            <a:fillRect/>
          </a:stretch>
        </p:blipFill>
        <p:spPr>
          <a:xfrm>
            <a:off x="0" y="1430887"/>
            <a:ext cx="9144000" cy="1997292"/>
          </a:xfrm>
          <a:prstGeom prst="rect">
            <a:avLst/>
          </a:prstGeom>
        </p:spPr>
      </p:pic>
      <p:pic>
        <p:nvPicPr>
          <p:cNvPr id="6" name="图片 5">
            <a:extLst>
              <a:ext uri="{FF2B5EF4-FFF2-40B4-BE49-F238E27FC236}">
                <a16:creationId xmlns:a16="http://schemas.microsoft.com/office/drawing/2014/main" id="{3299DA68-D122-47EF-829F-43BB316B97DB}"/>
              </a:ext>
            </a:extLst>
          </p:cNvPr>
          <p:cNvPicPr>
            <a:picLocks noChangeAspect="1"/>
          </p:cNvPicPr>
          <p:nvPr/>
        </p:nvPicPr>
        <p:blipFill>
          <a:blip r:embed="rId4"/>
          <a:stretch>
            <a:fillRect/>
          </a:stretch>
        </p:blipFill>
        <p:spPr>
          <a:xfrm>
            <a:off x="0" y="3946476"/>
            <a:ext cx="9144000" cy="2016223"/>
          </a:xfrm>
          <a:prstGeom prst="rect">
            <a:avLst/>
          </a:prstGeom>
        </p:spPr>
      </p:pic>
      <p:sp>
        <p:nvSpPr>
          <p:cNvPr id="9" name="文本框 8">
            <a:extLst>
              <a:ext uri="{FF2B5EF4-FFF2-40B4-BE49-F238E27FC236}">
                <a16:creationId xmlns:a16="http://schemas.microsoft.com/office/drawing/2014/main" id="{EBDD74DE-93FB-4DEC-A84D-8D26ABAFC783}"/>
              </a:ext>
            </a:extLst>
          </p:cNvPr>
          <p:cNvSpPr txBox="1"/>
          <p:nvPr/>
        </p:nvSpPr>
        <p:spPr>
          <a:xfrm>
            <a:off x="530211" y="5898381"/>
            <a:ext cx="8291245" cy="464871"/>
          </a:xfrm>
          <a:prstGeom prst="rect">
            <a:avLst/>
          </a:prstGeom>
          <a:noFill/>
        </p:spPr>
        <p:txBody>
          <a:bodyPr wrap="square" rtlCol="0">
            <a:spAutoFit/>
          </a:bodyPr>
          <a:lstStyle/>
          <a:p>
            <a:pPr algn="ctr">
              <a:lnSpc>
                <a:spcPct val="150000"/>
              </a:lnSpc>
            </a:pPr>
            <a:r>
              <a:rPr lang="en-US" altLang="zh-CN" dirty="0" err="1"/>
              <a:t>TestDFSIO</a:t>
            </a:r>
            <a:endParaRPr lang="zh-CN" altLang="en-US" dirty="0"/>
          </a:p>
        </p:txBody>
      </p:sp>
    </p:spTree>
    <p:extLst>
      <p:ext uri="{BB962C8B-B14F-4D97-AF65-F5344CB8AC3E}">
        <p14:creationId xmlns:p14="http://schemas.microsoft.com/office/powerpoint/2010/main" val="4056568022"/>
      </p:ext>
    </p:extLst>
  </p:cSld>
  <p:clrMapOvr>
    <a:masterClrMapping/>
  </p:clrMapOvr>
  <p:transition spd="med">
    <p:fad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0DA239E8-169D-4837-A964-0C8BC34FF6BF}"/>
              </a:ext>
            </a:extLst>
          </p:cNvPr>
          <p:cNvSpPr txBox="1"/>
          <p:nvPr/>
        </p:nvSpPr>
        <p:spPr>
          <a:xfrm>
            <a:off x="654258" y="589775"/>
            <a:ext cx="5289342" cy="523220"/>
          </a:xfrm>
          <a:prstGeom prst="rect">
            <a:avLst/>
          </a:prstGeom>
          <a:noFill/>
        </p:spPr>
        <p:txBody>
          <a:bodyPr wrap="square" rtlCol="0">
            <a:spAutoFit/>
          </a:bodyPr>
          <a:lstStyle/>
          <a:p>
            <a:r>
              <a:rPr kumimoji="1" lang="zh-CN" altLang="en-US" sz="2800" dirty="0">
                <a:latin typeface="Microsoft YaHei" charset="-122"/>
                <a:ea typeface="Microsoft YaHei" charset="-122"/>
                <a:cs typeface="Microsoft YaHei" charset="-122"/>
              </a:rPr>
              <a:t>参考</a:t>
            </a:r>
            <a:endParaRPr kumimoji="1" lang="en-US" altLang="zh-CN" sz="2800" dirty="0">
              <a:latin typeface="Microsoft YaHei" charset="-122"/>
              <a:ea typeface="Microsoft YaHei" charset="-122"/>
              <a:cs typeface="Microsoft YaHei" charset="-122"/>
            </a:endParaRPr>
          </a:p>
        </p:txBody>
      </p:sp>
      <p:sp>
        <p:nvSpPr>
          <p:cNvPr id="3" name="文本框 2">
            <a:extLst>
              <a:ext uri="{FF2B5EF4-FFF2-40B4-BE49-F238E27FC236}">
                <a16:creationId xmlns:a16="http://schemas.microsoft.com/office/drawing/2014/main" id="{5153BCA5-A933-426B-AC99-4F0F4B63CB43}"/>
              </a:ext>
            </a:extLst>
          </p:cNvPr>
          <p:cNvSpPr txBox="1"/>
          <p:nvPr/>
        </p:nvSpPr>
        <p:spPr>
          <a:xfrm>
            <a:off x="534256" y="1510301"/>
            <a:ext cx="8291245" cy="2321085"/>
          </a:xfrm>
          <a:prstGeom prst="rect">
            <a:avLst/>
          </a:prstGeom>
          <a:noFill/>
        </p:spPr>
        <p:txBody>
          <a:bodyPr wrap="square" rtlCol="0">
            <a:spAutoFit/>
          </a:bodyPr>
          <a:lstStyle/>
          <a:p>
            <a:pPr>
              <a:lnSpc>
                <a:spcPct val="150000"/>
              </a:lnSpc>
            </a:pPr>
            <a:r>
              <a:rPr lang="en-US" altLang="zh-CN" sz="1400" dirty="0"/>
              <a:t>[1] </a:t>
            </a:r>
            <a:r>
              <a:rPr lang="en-US" altLang="zh-CN" sz="1400" dirty="0" err="1"/>
              <a:t>Yongqiang</a:t>
            </a:r>
            <a:r>
              <a:rPr lang="en-US" altLang="zh-CN" sz="1400" dirty="0"/>
              <a:t> He, </a:t>
            </a:r>
            <a:r>
              <a:rPr lang="en-US" altLang="zh-CN" sz="1400" dirty="0" err="1"/>
              <a:t>Rubao</a:t>
            </a:r>
            <a:r>
              <a:rPr lang="en-US" altLang="zh-CN" sz="1400" dirty="0"/>
              <a:t> Lee, </a:t>
            </a:r>
            <a:r>
              <a:rPr lang="en-US" altLang="zh-CN" sz="1400" dirty="0" err="1"/>
              <a:t>Xiaodong</a:t>
            </a:r>
            <a:r>
              <a:rPr lang="en-US" altLang="zh-CN" sz="1400" dirty="0"/>
              <a:t> Zhang, </a:t>
            </a:r>
            <a:r>
              <a:rPr lang="en-US" altLang="zh-CN" sz="1400" dirty="0" err="1"/>
              <a:t>RCFile</a:t>
            </a:r>
            <a:r>
              <a:rPr lang="en-US" altLang="zh-CN" sz="1400" dirty="0"/>
              <a:t>: A Fast and space-efficient data placement structure in MapReduce-based warehouse systems, ICDE’2011</a:t>
            </a:r>
          </a:p>
          <a:p>
            <a:pPr>
              <a:lnSpc>
                <a:spcPct val="150000"/>
              </a:lnSpc>
            </a:pPr>
            <a:r>
              <a:rPr lang="en-US" altLang="zh-CN" sz="1400" dirty="0"/>
              <a:t>[2] 2019</a:t>
            </a:r>
            <a:r>
              <a:rPr lang="zh-CN" altLang="en-US" sz="1400" dirty="0"/>
              <a:t>年中国大数据行业研究报告，</a:t>
            </a:r>
            <a:r>
              <a:rPr lang="en-US" altLang="zh-CN" sz="1400" dirty="0">
                <a:hlinkClick r:id="rId2"/>
              </a:rPr>
              <a:t>https://bg.qianzhan.com/report/detail/1911111127214509.html</a:t>
            </a:r>
            <a:endParaRPr lang="en-US" altLang="zh-CN" sz="1400" dirty="0"/>
          </a:p>
          <a:p>
            <a:pPr>
              <a:lnSpc>
                <a:spcPct val="150000"/>
              </a:lnSpc>
            </a:pPr>
            <a:r>
              <a:rPr lang="en-US" altLang="zh-CN" sz="1400" dirty="0"/>
              <a:t>[3] HDFS Architecture</a:t>
            </a:r>
            <a:r>
              <a:rPr lang="zh-CN" altLang="en-US" sz="1400" dirty="0"/>
              <a:t>，</a:t>
            </a:r>
            <a:r>
              <a:rPr lang="en-US" altLang="zh-CN" sz="1400" dirty="0">
                <a:hlinkClick r:id="rId3"/>
              </a:rPr>
              <a:t>https://hadoop.apache.org/docs/stable/hadoop-project-dist/hadoop-hdfs/HdfsDesign.html</a:t>
            </a:r>
            <a:endParaRPr lang="en-US" altLang="zh-CN" sz="1400" dirty="0"/>
          </a:p>
          <a:p>
            <a:pPr>
              <a:lnSpc>
                <a:spcPct val="150000"/>
              </a:lnSpc>
            </a:pPr>
            <a:r>
              <a:rPr lang="en-US" altLang="zh-CN" sz="1400" dirty="0"/>
              <a:t>[4] Nusrat </a:t>
            </a:r>
            <a:r>
              <a:rPr lang="en-US" altLang="zh-CN" sz="1400" dirty="0" err="1"/>
              <a:t>Sharmin</a:t>
            </a:r>
            <a:r>
              <a:rPr lang="en-US" altLang="zh-CN" sz="1400" dirty="0"/>
              <a:t> Islam, Md. </a:t>
            </a:r>
            <a:r>
              <a:rPr lang="en-US" altLang="zh-CN" sz="1400" dirty="0" err="1"/>
              <a:t>Wasi</a:t>
            </a:r>
            <a:r>
              <a:rPr lang="en-US" altLang="zh-CN" sz="1400" dirty="0"/>
              <a:t>-</a:t>
            </a:r>
            <a:r>
              <a:rPr lang="en-US" altLang="zh-CN" sz="1400" dirty="0" err="1"/>
              <a:t>ur</a:t>
            </a:r>
            <a:r>
              <a:rPr lang="en-US" altLang="zh-CN" sz="1400" dirty="0"/>
              <a:t>-Rahman, </a:t>
            </a:r>
            <a:r>
              <a:rPr lang="en-US" altLang="zh-CN" sz="1400" dirty="0" err="1"/>
              <a:t>Xiaoyi</a:t>
            </a:r>
            <a:r>
              <a:rPr lang="en-US" altLang="zh-CN" sz="1400" dirty="0"/>
              <a:t> Liu, High </a:t>
            </a:r>
            <a:r>
              <a:rPr lang="en-US" altLang="zh-CN" sz="1400" dirty="0" err="1"/>
              <a:t>Perfomance</a:t>
            </a:r>
            <a:r>
              <a:rPr lang="en-US" altLang="zh-CN" sz="1400" dirty="0"/>
              <a:t> Design for HDFS with Byte-Addressability of NVM and RDMA, ICS’2016</a:t>
            </a:r>
            <a:endParaRPr lang="zh-CN" altLang="en-US" sz="1400" dirty="0"/>
          </a:p>
        </p:txBody>
      </p:sp>
    </p:spTree>
    <p:extLst>
      <p:ext uri="{BB962C8B-B14F-4D97-AF65-F5344CB8AC3E}">
        <p14:creationId xmlns:p14="http://schemas.microsoft.com/office/powerpoint/2010/main" val="1355555902"/>
      </p:ext>
    </p:extLst>
  </p:cSld>
  <p:clrMapOvr>
    <a:masterClrMapping/>
  </p:clrMapOvr>
  <p:transition spd="med">
    <p:fad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613373" y="3429000"/>
            <a:ext cx="7772400" cy="1545361"/>
          </a:xfrm>
        </p:spPr>
        <p:txBody>
          <a:bodyPr>
            <a:normAutofit fontScale="90000"/>
          </a:bodyPr>
          <a:lstStyle/>
          <a:p>
            <a:r>
              <a:rPr kumimoji="1" lang="en-US" altLang="zh-CN" dirty="0"/>
              <a:t>Thanks!</a:t>
            </a:r>
            <a:br>
              <a:rPr kumimoji="1" lang="en-US" altLang="zh-CN" dirty="0"/>
            </a:br>
            <a:br>
              <a:rPr kumimoji="1" lang="en-US" altLang="zh-CN" dirty="0"/>
            </a:br>
            <a:r>
              <a:rPr kumimoji="1" lang="en-US" altLang="zh-CN" dirty="0"/>
              <a:t>Q&amp;A</a:t>
            </a:r>
            <a:endParaRPr kumimoji="1" lang="zh-CN" altLang="en-US" dirty="0"/>
          </a:p>
        </p:txBody>
      </p:sp>
    </p:spTree>
    <p:extLst>
      <p:ext uri="{BB962C8B-B14F-4D97-AF65-F5344CB8AC3E}">
        <p14:creationId xmlns:p14="http://schemas.microsoft.com/office/powerpoint/2010/main" val="1763530268"/>
      </p:ext>
    </p:extLst>
  </p:cSld>
  <p:clrMapOvr>
    <a:masterClrMapping/>
  </p:clrMapOvr>
  <p:transition spd="med">
    <p:fade/>
  </p:transition>
</p:sld>
</file>

<file path=ppt/theme/theme1.xml><?xml version="1.0" encoding="utf-8"?>
<a:theme xmlns:a="http://schemas.openxmlformats.org/drawingml/2006/main" name="主题2">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主题2" id="{E0D1F83F-22F0-D546-91D8-FF7C6B24B14B}" vid="{5AF26BE8-7839-1342-A4CE-8DF56C8D06F1}"/>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主题2</Template>
  <TotalTime>66168</TotalTime>
  <Words>3441</Words>
  <Application>Microsoft Office PowerPoint</Application>
  <PresentationFormat>全屏显示(4:3)</PresentationFormat>
  <Paragraphs>640</Paragraphs>
  <Slides>58</Slides>
  <Notes>55</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58</vt:i4>
      </vt:variant>
    </vt:vector>
  </HeadingPairs>
  <TitlesOfParts>
    <vt:vector size="68" baseType="lpstr">
      <vt:lpstr>Microsoft YaHei</vt:lpstr>
      <vt:lpstr>Arial</vt:lpstr>
      <vt:lpstr>Arial Black</vt:lpstr>
      <vt:lpstr>Calibri</vt:lpstr>
      <vt:lpstr>Calibri Light</vt:lpstr>
      <vt:lpstr>Cambria Math</vt:lpstr>
      <vt:lpstr>Garamond</vt:lpstr>
      <vt:lpstr>Times New Roman</vt:lpstr>
      <vt:lpstr>Wingdings</vt:lpstr>
      <vt:lpstr>主题2</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MapReduce Operations on Hadoop</vt:lpstr>
      <vt:lpstr>MapReduce Operations on Hadoop</vt:lpstr>
      <vt:lpstr>MapReduce Operations on Hadoop</vt:lpstr>
      <vt:lpstr>MapReduce Operations on Hadoop</vt:lpstr>
      <vt:lpstr>MapReduce Operations on Hadoop</vt:lpstr>
      <vt:lpstr>Key/Value Pairs in MapReduce </vt:lpstr>
      <vt:lpstr>PowerPoint 演示文稿</vt:lpstr>
      <vt:lpstr>PowerPoint 演示文稿</vt:lpstr>
      <vt:lpstr>PowerPoint 演示文稿</vt:lpstr>
      <vt:lpstr>PowerPoint 演示文稿</vt:lpstr>
      <vt:lpstr>PowerPoint 演示文稿</vt:lpstr>
      <vt:lpstr>PowerPoint 演示文稿</vt:lpstr>
      <vt:lpstr>Existing Data Placement Methods  </vt:lpstr>
      <vt:lpstr>RCFile (Record Columnar File) in Hive</vt:lpstr>
      <vt:lpstr>RCFile: Partition Table into Row Groups</vt:lpstr>
      <vt:lpstr>RCFile: Distributed Row-Groups among Nodes</vt:lpstr>
      <vt:lpstr>Inside each Row Group</vt:lpstr>
      <vt:lpstr>RCFile: Inside each Row Group</vt:lpstr>
      <vt:lpstr>An optimal spot can be determined by balancing  row-store and column-store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Thanks!  Q&amp;A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周会总结</dc:title>
  <dc:creator>Jaycee Zhang</dc:creator>
  <cp:lastModifiedBy>胡 泽瑞</cp:lastModifiedBy>
  <cp:revision>970</cp:revision>
  <cp:lastPrinted>2017-05-11T02:50:32Z</cp:lastPrinted>
  <dcterms:created xsi:type="dcterms:W3CDTF">2016-12-13T05:37:29Z</dcterms:created>
  <dcterms:modified xsi:type="dcterms:W3CDTF">2019-12-10T12:48:16Z</dcterms:modified>
</cp:coreProperties>
</file>