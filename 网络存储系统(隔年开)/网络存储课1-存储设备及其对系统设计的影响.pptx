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3"/>
  </p:notesMasterIdLst>
  <p:sldIdLst>
    <p:sldId id="261" r:id="rId2"/>
    <p:sldId id="355" r:id="rId3"/>
    <p:sldId id="306" r:id="rId4"/>
    <p:sldId id="323" r:id="rId5"/>
    <p:sldId id="322" r:id="rId6"/>
    <p:sldId id="326" r:id="rId7"/>
    <p:sldId id="321" r:id="rId8"/>
    <p:sldId id="324" r:id="rId9"/>
    <p:sldId id="325" r:id="rId10"/>
    <p:sldId id="327" r:id="rId11"/>
    <p:sldId id="330" r:id="rId12"/>
    <p:sldId id="331" r:id="rId13"/>
    <p:sldId id="335" r:id="rId14"/>
    <p:sldId id="342" r:id="rId15"/>
    <p:sldId id="351" r:id="rId16"/>
    <p:sldId id="352" r:id="rId17"/>
    <p:sldId id="353" r:id="rId18"/>
    <p:sldId id="354" r:id="rId19"/>
    <p:sldId id="334" r:id="rId20"/>
    <p:sldId id="338" r:id="rId21"/>
    <p:sldId id="339" r:id="rId22"/>
    <p:sldId id="341" r:id="rId23"/>
    <p:sldId id="344" r:id="rId24"/>
    <p:sldId id="345" r:id="rId25"/>
    <p:sldId id="346" r:id="rId26"/>
    <p:sldId id="356" r:id="rId27"/>
    <p:sldId id="357" r:id="rId28"/>
    <p:sldId id="332" r:id="rId29"/>
    <p:sldId id="359" r:id="rId30"/>
    <p:sldId id="358" r:id="rId31"/>
    <p:sldId id="349" r:id="rId32"/>
    <p:sldId id="360" r:id="rId33"/>
    <p:sldId id="361" r:id="rId34"/>
    <p:sldId id="340" r:id="rId35"/>
    <p:sldId id="362" r:id="rId36"/>
    <p:sldId id="333" r:id="rId37"/>
    <p:sldId id="347" r:id="rId38"/>
    <p:sldId id="348" r:id="rId39"/>
    <p:sldId id="363" r:id="rId40"/>
    <p:sldId id="364" r:id="rId41"/>
    <p:sldId id="328" r:id="rId4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charset="0"/>
        <a:ea typeface="宋体" charset="0"/>
        <a:cs typeface="+mn-cs"/>
      </a:defRPr>
    </a:lvl1pPr>
    <a:lvl2pPr marL="457200" algn="l" rtl="0" eaLnBrk="0" fontAlgn="base" hangingPunct="0">
      <a:spcBef>
        <a:spcPct val="0"/>
      </a:spcBef>
      <a:spcAft>
        <a:spcPct val="0"/>
      </a:spcAft>
      <a:defRPr kern="1200">
        <a:solidFill>
          <a:schemeClr val="tx1"/>
        </a:solidFill>
        <a:latin typeface="Calibri" charset="0"/>
        <a:ea typeface="宋体" charset="0"/>
        <a:cs typeface="+mn-cs"/>
      </a:defRPr>
    </a:lvl2pPr>
    <a:lvl3pPr marL="914400" algn="l" rtl="0" eaLnBrk="0" fontAlgn="base" hangingPunct="0">
      <a:spcBef>
        <a:spcPct val="0"/>
      </a:spcBef>
      <a:spcAft>
        <a:spcPct val="0"/>
      </a:spcAft>
      <a:defRPr kern="1200">
        <a:solidFill>
          <a:schemeClr val="tx1"/>
        </a:solidFill>
        <a:latin typeface="Calibri" charset="0"/>
        <a:ea typeface="宋体" charset="0"/>
        <a:cs typeface="+mn-cs"/>
      </a:defRPr>
    </a:lvl3pPr>
    <a:lvl4pPr marL="1371600" algn="l" rtl="0" eaLnBrk="0" fontAlgn="base" hangingPunct="0">
      <a:spcBef>
        <a:spcPct val="0"/>
      </a:spcBef>
      <a:spcAft>
        <a:spcPct val="0"/>
      </a:spcAft>
      <a:defRPr kern="1200">
        <a:solidFill>
          <a:schemeClr val="tx1"/>
        </a:solidFill>
        <a:latin typeface="Calibri" charset="0"/>
        <a:ea typeface="宋体" charset="0"/>
        <a:cs typeface="+mn-cs"/>
      </a:defRPr>
    </a:lvl4pPr>
    <a:lvl5pPr marL="1828800" algn="l" rtl="0" eaLnBrk="0" fontAlgn="base" hangingPunct="0">
      <a:spcBef>
        <a:spcPct val="0"/>
      </a:spcBef>
      <a:spcAft>
        <a:spcPct val="0"/>
      </a:spcAft>
      <a:defRPr kern="1200">
        <a:solidFill>
          <a:schemeClr val="tx1"/>
        </a:solidFill>
        <a:latin typeface="Calibri" charset="0"/>
        <a:ea typeface="宋体" charset="0"/>
        <a:cs typeface="+mn-cs"/>
      </a:defRPr>
    </a:lvl5pPr>
    <a:lvl6pPr marL="2286000" algn="l" defTabSz="914400" rtl="0" eaLnBrk="1" latinLnBrk="0" hangingPunct="1">
      <a:defRPr kern="1200">
        <a:solidFill>
          <a:schemeClr val="tx1"/>
        </a:solidFill>
        <a:latin typeface="Calibri" charset="0"/>
        <a:ea typeface="宋体" charset="0"/>
        <a:cs typeface="+mn-cs"/>
      </a:defRPr>
    </a:lvl6pPr>
    <a:lvl7pPr marL="2743200" algn="l" defTabSz="914400" rtl="0" eaLnBrk="1" latinLnBrk="0" hangingPunct="1">
      <a:defRPr kern="1200">
        <a:solidFill>
          <a:schemeClr val="tx1"/>
        </a:solidFill>
        <a:latin typeface="Calibri" charset="0"/>
        <a:ea typeface="宋体" charset="0"/>
        <a:cs typeface="+mn-cs"/>
      </a:defRPr>
    </a:lvl7pPr>
    <a:lvl8pPr marL="3200400" algn="l" defTabSz="914400" rtl="0" eaLnBrk="1" latinLnBrk="0" hangingPunct="1">
      <a:defRPr kern="1200">
        <a:solidFill>
          <a:schemeClr val="tx1"/>
        </a:solidFill>
        <a:latin typeface="Calibri" charset="0"/>
        <a:ea typeface="宋体" charset="0"/>
        <a:cs typeface="+mn-cs"/>
      </a:defRPr>
    </a:lvl8pPr>
    <a:lvl9pPr marL="3657600" algn="l" defTabSz="914400" rtl="0" eaLnBrk="1" latinLnBrk="0" hangingPunct="1">
      <a:defRPr kern="1200">
        <a:solidFill>
          <a:schemeClr val="tx1"/>
        </a:solidFill>
        <a:latin typeface="Calibri" charset="0"/>
        <a:ea typeface="宋体" charset="0"/>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0F6"/>
    <a:srgbClr val="66005C"/>
    <a:srgbClr val="FF7E79"/>
    <a:srgbClr val="EAEFF7"/>
    <a:srgbClr val="EBF0F7"/>
    <a:srgbClr val="E2E2E2"/>
    <a:srgbClr val="B330D4"/>
    <a:srgbClr val="BD31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113A9D2-9D6B-4929-AA2D-F23B5EE8CBE7}" styleName="主题样式 2 - 个性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主题样式 1 - 个性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18"/>
    <p:restoredTop sz="81278"/>
  </p:normalViewPr>
  <p:slideViewPr>
    <p:cSldViewPr snapToGrid="0" snapToObjects="1">
      <p:cViewPr varScale="1">
        <p:scale>
          <a:sx n="101" d="100"/>
          <a:sy n="101" d="100"/>
        </p:scale>
        <p:origin x="3036" y="96"/>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kumimoji="1" sz="120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kumimoji="1" sz="1200"/>
            </a:lvl1pPr>
          </a:lstStyle>
          <a:p>
            <a:pPr>
              <a:defRPr/>
            </a:pPr>
            <a:fld id="{EFA51185-30DC-254A-9DD6-8F7A8C8C9CE7}" type="datetimeFigureOut">
              <a:rPr lang="zh-CN" altLang="en-US"/>
              <a:pPr>
                <a:defRPr/>
              </a:pPr>
              <a:t>2019/9/26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kumimoji="1" sz="1200"/>
            </a:lvl1pPr>
          </a:lstStyle>
          <a:p>
            <a:pPr>
              <a:defRPr/>
            </a:pPr>
            <a:endParaRPr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kumimoji="1" sz="1200"/>
            </a:lvl1pPr>
          </a:lstStyle>
          <a:p>
            <a:pPr>
              <a:defRPr/>
            </a:pPr>
            <a:fld id="{0B5B9210-A5D6-DF4A-BCF1-E487EA4C0D19}" type="slidenum">
              <a:rPr lang="zh-CN" altLang="en-US"/>
              <a:pPr>
                <a:defRPr/>
              </a:pPr>
              <a:t>‹#›</a:t>
            </a:fld>
            <a:endParaRPr lang="zh-CN" altLang="en-US"/>
          </a:p>
        </p:txBody>
      </p:sp>
    </p:spTree>
    <p:extLst>
      <p:ext uri="{BB962C8B-B14F-4D97-AF65-F5344CB8AC3E}">
        <p14:creationId xmlns:p14="http://schemas.microsoft.com/office/powerpoint/2010/main" val="130215075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Hard_disk_drive"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Floppy_disk"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en.wikipedia.org/wiki/LaserDisc"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a:t>
            </a:fld>
            <a:endParaRPr lang="zh-CN" altLang="en-US"/>
          </a:p>
        </p:txBody>
      </p:sp>
    </p:spTree>
    <p:extLst>
      <p:ext uri="{BB962C8B-B14F-4D97-AF65-F5344CB8AC3E}">
        <p14:creationId xmlns:p14="http://schemas.microsoft.com/office/powerpoint/2010/main" val="843855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a:t>
            </a:fld>
            <a:endParaRPr lang="zh-CN" altLang="en-US"/>
          </a:p>
        </p:txBody>
      </p:sp>
    </p:spTree>
    <p:extLst>
      <p:ext uri="{BB962C8B-B14F-4D97-AF65-F5344CB8AC3E}">
        <p14:creationId xmlns:p14="http://schemas.microsoft.com/office/powerpoint/2010/main" val="2989495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baseline="0" dirty="0"/>
              <a:t>1959</a:t>
            </a:r>
            <a:r>
              <a:rPr kumimoji="1" lang="zh-CN" altLang="en-US" baseline="0" dirty="0"/>
              <a:t>年工人正在搬磁盘。</a:t>
            </a:r>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a:t>
            </a:fld>
            <a:endParaRPr lang="zh-CN" altLang="en-US"/>
          </a:p>
        </p:txBody>
      </p:sp>
    </p:spTree>
    <p:extLst>
      <p:ext uri="{BB962C8B-B14F-4D97-AF65-F5344CB8AC3E}">
        <p14:creationId xmlns:p14="http://schemas.microsoft.com/office/powerpoint/2010/main" val="495607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baseline="0" dirty="0"/>
              <a:t>1959</a:t>
            </a:r>
            <a:r>
              <a:rPr kumimoji="1" lang="zh-CN" altLang="en-US" baseline="0" dirty="0"/>
              <a:t>年工人正在搬磁盘。</a:t>
            </a:r>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a:t>
            </a:fld>
            <a:endParaRPr lang="zh-CN" altLang="en-US"/>
          </a:p>
        </p:txBody>
      </p:sp>
    </p:spTree>
    <p:extLst>
      <p:ext uri="{BB962C8B-B14F-4D97-AF65-F5344CB8AC3E}">
        <p14:creationId xmlns:p14="http://schemas.microsoft.com/office/powerpoint/2010/main" val="338327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baseline="0" dirty="0"/>
              <a:t>1959</a:t>
            </a:r>
            <a:r>
              <a:rPr kumimoji="1" lang="zh-CN" altLang="en-US" baseline="0" dirty="0"/>
              <a:t>年工人正在搬磁盘。</a:t>
            </a:r>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5</a:t>
            </a:fld>
            <a:endParaRPr lang="zh-CN" altLang="en-US"/>
          </a:p>
        </p:txBody>
      </p:sp>
    </p:spTree>
    <p:extLst>
      <p:ext uri="{BB962C8B-B14F-4D97-AF65-F5344CB8AC3E}">
        <p14:creationId xmlns:p14="http://schemas.microsoft.com/office/powerpoint/2010/main" val="3089416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fr-FR" altLang="zh-CN" dirty="0"/>
            </a:br>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6</a:t>
            </a:fld>
            <a:endParaRPr lang="zh-CN" altLang="en-US"/>
          </a:p>
        </p:txBody>
      </p:sp>
    </p:spTree>
    <p:extLst>
      <p:ext uri="{BB962C8B-B14F-4D97-AF65-F5344CB8AC3E}">
        <p14:creationId xmlns:p14="http://schemas.microsoft.com/office/powerpoint/2010/main" val="1753031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sz="1200" b="0" i="0" kern="1200" dirty="0">
                <a:solidFill>
                  <a:schemeClr val="tx1"/>
                </a:solidFill>
                <a:effectLst/>
                <a:latin typeface="+mn-lt"/>
                <a:ea typeface="+mn-ea"/>
                <a:cs typeface="+mn-cs"/>
              </a:rPr>
              <a:t>The first </a:t>
            </a:r>
            <a:r>
              <a:rPr lang="fr-FR" altLang="zh-CN" sz="1200" b="0" i="0" u="none" strike="noStrike" kern="1200" dirty="0">
                <a:solidFill>
                  <a:schemeClr val="tx1"/>
                </a:solidFill>
                <a:effectLst/>
                <a:latin typeface="+mn-lt"/>
                <a:ea typeface="+mn-ea"/>
                <a:cs typeface="+mn-cs"/>
                <a:hlinkClick r:id="rId3"/>
              </a:rPr>
              <a:t>hard disk drive</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was</a:t>
            </a:r>
            <a:r>
              <a:rPr lang="fr-FR" altLang="zh-CN" sz="1200" b="0" i="0" kern="1200" dirty="0">
                <a:solidFill>
                  <a:schemeClr val="tx1"/>
                </a:solidFill>
                <a:effectLst/>
                <a:latin typeface="+mn-lt"/>
                <a:ea typeface="+mn-ea"/>
                <a:cs typeface="+mn-cs"/>
              </a:rPr>
              <a:t> the IBM Model 350 Disk File </a:t>
            </a:r>
            <a:r>
              <a:rPr lang="fr-FR" altLang="zh-CN" sz="1200" b="0" i="0" kern="1200" dirty="0" err="1">
                <a:solidFill>
                  <a:schemeClr val="tx1"/>
                </a:solidFill>
                <a:effectLst/>
                <a:latin typeface="+mn-lt"/>
                <a:ea typeface="+mn-ea"/>
                <a:cs typeface="+mn-cs"/>
              </a:rPr>
              <a:t>that</a:t>
            </a:r>
            <a:r>
              <a:rPr lang="fr-FR" altLang="zh-CN" sz="1200" b="0" i="0" kern="1200" dirty="0">
                <a:solidFill>
                  <a:schemeClr val="tx1"/>
                </a:solidFill>
                <a:effectLst/>
                <a:latin typeface="+mn-lt"/>
                <a:ea typeface="+mn-ea"/>
                <a:cs typeface="+mn-cs"/>
              </a:rPr>
              <a:t> came </a:t>
            </a:r>
            <a:r>
              <a:rPr lang="fr-FR" altLang="zh-CN" sz="1200" b="0" i="0" kern="1200" dirty="0" err="1">
                <a:solidFill>
                  <a:schemeClr val="tx1"/>
                </a:solidFill>
                <a:effectLst/>
                <a:latin typeface="+mn-lt"/>
                <a:ea typeface="+mn-ea"/>
                <a:cs typeface="+mn-cs"/>
              </a:rPr>
              <a:t>with</a:t>
            </a:r>
            <a:r>
              <a:rPr lang="fr-FR" altLang="zh-CN" sz="1200" b="0" i="0" kern="1200" dirty="0">
                <a:solidFill>
                  <a:schemeClr val="tx1"/>
                </a:solidFill>
                <a:effectLst/>
                <a:latin typeface="+mn-lt"/>
                <a:ea typeface="+mn-ea"/>
                <a:cs typeface="+mn-cs"/>
              </a:rPr>
              <a:t> the IBM 305 RAMAC computer in 1956. It </a:t>
            </a:r>
            <a:r>
              <a:rPr lang="fr-FR" altLang="zh-CN" sz="1200" b="0" i="0" kern="1200" dirty="0" err="1">
                <a:solidFill>
                  <a:schemeClr val="tx1"/>
                </a:solidFill>
                <a:effectLst/>
                <a:latin typeface="+mn-lt"/>
                <a:ea typeface="+mn-ea"/>
                <a:cs typeface="+mn-cs"/>
              </a:rPr>
              <a:t>had</a:t>
            </a:r>
            <a:r>
              <a:rPr lang="fr-FR" altLang="zh-CN" sz="1200" b="0" i="0" kern="1200" dirty="0">
                <a:solidFill>
                  <a:schemeClr val="tx1"/>
                </a:solidFill>
                <a:effectLst/>
                <a:latin typeface="+mn-lt"/>
                <a:ea typeface="+mn-ea"/>
                <a:cs typeface="+mn-cs"/>
              </a:rPr>
              <a:t> 50 24-inch discs </a:t>
            </a:r>
            <a:r>
              <a:rPr lang="fr-FR" altLang="zh-CN" sz="1200" b="0" i="0" kern="1200" dirty="0" err="1">
                <a:solidFill>
                  <a:schemeClr val="tx1"/>
                </a:solidFill>
                <a:effectLst/>
                <a:latin typeface="+mn-lt"/>
                <a:ea typeface="+mn-ea"/>
                <a:cs typeface="+mn-cs"/>
              </a:rPr>
              <a:t>with</a:t>
            </a:r>
            <a:r>
              <a:rPr lang="fr-FR" altLang="zh-CN" sz="1200" b="0" i="0" kern="1200" dirty="0">
                <a:solidFill>
                  <a:schemeClr val="tx1"/>
                </a:solidFill>
                <a:effectLst/>
                <a:latin typeface="+mn-lt"/>
                <a:ea typeface="+mn-ea"/>
                <a:cs typeface="+mn-cs"/>
              </a:rPr>
              <a:t> a total </a:t>
            </a:r>
            <a:r>
              <a:rPr lang="fr-FR" altLang="zh-CN" sz="1200" b="0" i="0" kern="1200" dirty="0" err="1">
                <a:solidFill>
                  <a:schemeClr val="tx1"/>
                </a:solidFill>
                <a:effectLst/>
                <a:latin typeface="+mn-lt"/>
                <a:ea typeface="+mn-ea"/>
                <a:cs typeface="+mn-cs"/>
              </a:rPr>
              <a:t>storage</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capacity</a:t>
            </a:r>
            <a:r>
              <a:rPr lang="fr-FR" altLang="zh-CN" sz="1200" b="0" i="0" kern="1200" dirty="0">
                <a:solidFill>
                  <a:schemeClr val="tx1"/>
                </a:solidFill>
                <a:effectLst/>
                <a:latin typeface="+mn-lt"/>
                <a:ea typeface="+mn-ea"/>
                <a:cs typeface="+mn-cs"/>
              </a:rPr>
              <a:t> of 5 million </a:t>
            </a:r>
            <a:r>
              <a:rPr lang="fr-FR" altLang="zh-CN" sz="1200" b="0" i="0" kern="1200" dirty="0" err="1">
                <a:solidFill>
                  <a:schemeClr val="tx1"/>
                </a:solidFill>
                <a:effectLst/>
                <a:latin typeface="+mn-lt"/>
                <a:ea typeface="+mn-ea"/>
                <a:cs typeface="+mn-cs"/>
              </a:rPr>
              <a:t>characters</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just</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under</a:t>
            </a:r>
            <a:r>
              <a:rPr lang="fr-FR" altLang="zh-CN" sz="1200" b="0" i="0" kern="1200" dirty="0">
                <a:solidFill>
                  <a:schemeClr val="tx1"/>
                </a:solidFill>
                <a:effectLst/>
                <a:latin typeface="+mn-lt"/>
                <a:ea typeface="+mn-ea"/>
                <a:cs typeface="+mn-cs"/>
              </a:rPr>
              <a:t> 5 MB).</a:t>
            </a:r>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7</a:t>
            </a:fld>
            <a:endParaRPr lang="zh-CN" altLang="en-US"/>
          </a:p>
        </p:txBody>
      </p:sp>
    </p:spTree>
    <p:extLst>
      <p:ext uri="{BB962C8B-B14F-4D97-AF65-F5344CB8AC3E}">
        <p14:creationId xmlns:p14="http://schemas.microsoft.com/office/powerpoint/2010/main" val="3039533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sz="1200" b="0" i="0" kern="1200" dirty="0">
                <a:solidFill>
                  <a:schemeClr val="tx1"/>
                </a:solidFill>
                <a:effectLst/>
                <a:latin typeface="+mn-lt"/>
                <a:ea typeface="+mn-ea"/>
                <a:cs typeface="+mn-cs"/>
              </a:rPr>
              <a:t>The diskette, or </a:t>
            </a:r>
            <a:r>
              <a:rPr lang="fr-FR" altLang="zh-CN" sz="1200" b="0" i="0" u="none" strike="noStrike" kern="1200" dirty="0">
                <a:solidFill>
                  <a:schemeClr val="tx1"/>
                </a:solidFill>
                <a:effectLst/>
                <a:latin typeface="+mn-lt"/>
                <a:ea typeface="+mn-ea"/>
                <a:cs typeface="+mn-cs"/>
                <a:hlinkClick r:id="rId3"/>
              </a:rPr>
              <a:t>floppy disk</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named</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so</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because</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they</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were</a:t>
            </a:r>
            <a:r>
              <a:rPr lang="fr-FR" altLang="zh-CN" sz="1200" b="0" i="0" kern="1200" dirty="0">
                <a:solidFill>
                  <a:schemeClr val="tx1"/>
                </a:solidFill>
                <a:effectLst/>
                <a:latin typeface="+mn-lt"/>
                <a:ea typeface="+mn-ea"/>
                <a:cs typeface="+mn-cs"/>
              </a:rPr>
              <a:t> flexible), </a:t>
            </a:r>
            <a:r>
              <a:rPr lang="fr-FR" altLang="zh-CN" sz="1200" b="0" i="0" kern="1200" dirty="0" err="1">
                <a:solidFill>
                  <a:schemeClr val="tx1"/>
                </a:solidFill>
                <a:effectLst/>
                <a:latin typeface="+mn-lt"/>
                <a:ea typeface="+mn-ea"/>
                <a:cs typeface="+mn-cs"/>
              </a:rPr>
              <a:t>was</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invented</a:t>
            </a:r>
            <a:r>
              <a:rPr lang="fr-FR" altLang="zh-CN" sz="1200" b="0" i="0" kern="1200" dirty="0">
                <a:solidFill>
                  <a:schemeClr val="tx1"/>
                </a:solidFill>
                <a:effectLst/>
                <a:latin typeface="+mn-lt"/>
                <a:ea typeface="+mn-ea"/>
                <a:cs typeface="+mn-cs"/>
              </a:rPr>
              <a:t> by IBM and in </a:t>
            </a:r>
            <a:r>
              <a:rPr lang="fr-FR" altLang="zh-CN" sz="1200" b="0" i="0" kern="1200" dirty="0" err="1">
                <a:solidFill>
                  <a:schemeClr val="tx1"/>
                </a:solidFill>
                <a:effectLst/>
                <a:latin typeface="+mn-lt"/>
                <a:ea typeface="+mn-ea"/>
                <a:cs typeface="+mn-cs"/>
              </a:rPr>
              <a:t>common</a:t>
            </a:r>
            <a:r>
              <a:rPr lang="fr-FR" altLang="zh-CN" sz="1200" b="0" i="0" kern="1200" dirty="0">
                <a:solidFill>
                  <a:schemeClr val="tx1"/>
                </a:solidFill>
                <a:effectLst/>
                <a:latin typeface="+mn-lt"/>
                <a:ea typeface="+mn-ea"/>
                <a:cs typeface="+mn-cs"/>
              </a:rPr>
              <a:t> use </a:t>
            </a:r>
            <a:r>
              <a:rPr lang="fr-FR" altLang="zh-CN" sz="1200" b="0" i="0" kern="1200" dirty="0" err="1">
                <a:solidFill>
                  <a:schemeClr val="tx1"/>
                </a:solidFill>
                <a:effectLst/>
                <a:latin typeface="+mn-lt"/>
                <a:ea typeface="+mn-ea"/>
                <a:cs typeface="+mn-cs"/>
              </a:rPr>
              <a:t>from</a:t>
            </a:r>
            <a:r>
              <a:rPr lang="fr-FR" altLang="zh-CN" sz="1200" b="0" i="0" kern="1200" dirty="0">
                <a:solidFill>
                  <a:schemeClr val="tx1"/>
                </a:solidFill>
                <a:effectLst/>
                <a:latin typeface="+mn-lt"/>
                <a:ea typeface="+mn-ea"/>
                <a:cs typeface="+mn-cs"/>
              </a:rPr>
              <a:t> the mid-1970s to the </a:t>
            </a:r>
            <a:r>
              <a:rPr lang="fr-FR" altLang="zh-CN" sz="1200" b="0" i="0" kern="1200" dirty="0" err="1">
                <a:solidFill>
                  <a:schemeClr val="tx1"/>
                </a:solidFill>
                <a:effectLst/>
                <a:latin typeface="+mn-lt"/>
                <a:ea typeface="+mn-ea"/>
                <a:cs typeface="+mn-cs"/>
              </a:rPr>
              <a:t>late</a:t>
            </a:r>
            <a:r>
              <a:rPr lang="fr-FR" altLang="zh-CN" sz="1200" b="0" i="0" kern="1200" dirty="0">
                <a:solidFill>
                  <a:schemeClr val="tx1"/>
                </a:solidFill>
                <a:effectLst/>
                <a:latin typeface="+mn-lt"/>
                <a:ea typeface="+mn-ea"/>
                <a:cs typeface="+mn-cs"/>
              </a:rPr>
              <a:t> 1990s. The first </a:t>
            </a:r>
            <a:r>
              <a:rPr lang="fr-FR" altLang="zh-CN" sz="1200" b="0" i="0" kern="1200" dirty="0" err="1">
                <a:solidFill>
                  <a:schemeClr val="tx1"/>
                </a:solidFill>
                <a:effectLst/>
                <a:latin typeface="+mn-lt"/>
                <a:ea typeface="+mn-ea"/>
                <a:cs typeface="+mn-cs"/>
              </a:rPr>
              <a:t>floppy</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disks</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were</a:t>
            </a:r>
            <a:r>
              <a:rPr lang="fr-FR" altLang="zh-CN" sz="1200" b="0" i="0" kern="1200" dirty="0">
                <a:solidFill>
                  <a:schemeClr val="tx1"/>
                </a:solidFill>
                <a:effectLst/>
                <a:latin typeface="+mn-lt"/>
                <a:ea typeface="+mn-ea"/>
                <a:cs typeface="+mn-cs"/>
              </a:rPr>
              <a:t> 8 </a:t>
            </a:r>
            <a:r>
              <a:rPr lang="fr-FR" altLang="zh-CN" sz="1200" b="0" i="0" kern="1200" dirty="0" err="1">
                <a:solidFill>
                  <a:schemeClr val="tx1"/>
                </a:solidFill>
                <a:effectLst/>
                <a:latin typeface="+mn-lt"/>
                <a:ea typeface="+mn-ea"/>
                <a:cs typeface="+mn-cs"/>
              </a:rPr>
              <a:t>inches</a:t>
            </a:r>
            <a:r>
              <a:rPr lang="fr-FR" altLang="zh-CN" sz="1200" b="0" i="0" kern="1200" dirty="0">
                <a:solidFill>
                  <a:schemeClr val="tx1"/>
                </a:solidFill>
                <a:effectLst/>
                <a:latin typeface="+mn-lt"/>
                <a:ea typeface="+mn-ea"/>
                <a:cs typeface="+mn-cs"/>
              </a:rPr>
              <a:t>, and </a:t>
            </a:r>
            <a:r>
              <a:rPr lang="fr-FR" altLang="zh-CN" sz="1200" b="0" i="0" kern="1200" dirty="0" err="1">
                <a:solidFill>
                  <a:schemeClr val="tx1"/>
                </a:solidFill>
                <a:effectLst/>
                <a:latin typeface="+mn-lt"/>
                <a:ea typeface="+mn-ea"/>
                <a:cs typeface="+mn-cs"/>
              </a:rPr>
              <a:t>later</a:t>
            </a:r>
            <a:r>
              <a:rPr lang="fr-FR" altLang="zh-CN" sz="1200" b="0" i="0" kern="1200" dirty="0">
                <a:solidFill>
                  <a:schemeClr val="tx1"/>
                </a:solidFill>
                <a:effectLst/>
                <a:latin typeface="+mn-lt"/>
                <a:ea typeface="+mn-ea"/>
                <a:cs typeface="+mn-cs"/>
              </a:rPr>
              <a:t> in came 5.25 and 3.5-inch formats. The first </a:t>
            </a:r>
            <a:r>
              <a:rPr lang="fr-FR" altLang="zh-CN" sz="1200" b="0" i="0" kern="1200" dirty="0" err="1">
                <a:solidFill>
                  <a:schemeClr val="tx1"/>
                </a:solidFill>
                <a:effectLst/>
                <a:latin typeface="+mn-lt"/>
                <a:ea typeface="+mn-ea"/>
                <a:cs typeface="+mn-cs"/>
              </a:rPr>
              <a:t>floppy</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disk</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introduced</a:t>
            </a:r>
            <a:r>
              <a:rPr lang="fr-FR" altLang="zh-CN" sz="1200" b="0" i="0" kern="1200" dirty="0">
                <a:solidFill>
                  <a:schemeClr val="tx1"/>
                </a:solidFill>
                <a:effectLst/>
                <a:latin typeface="+mn-lt"/>
                <a:ea typeface="+mn-ea"/>
                <a:cs typeface="+mn-cs"/>
              </a:rPr>
              <a:t> in 1971, </a:t>
            </a:r>
            <a:r>
              <a:rPr lang="fr-FR" altLang="zh-CN" sz="1200" b="0" i="0" kern="1200" dirty="0" err="1">
                <a:solidFill>
                  <a:schemeClr val="tx1"/>
                </a:solidFill>
                <a:effectLst/>
                <a:latin typeface="+mn-lt"/>
                <a:ea typeface="+mn-ea"/>
                <a:cs typeface="+mn-cs"/>
              </a:rPr>
              <a:t>had</a:t>
            </a:r>
            <a:r>
              <a:rPr lang="fr-FR" altLang="zh-CN" sz="1200" b="0" i="0" kern="1200" dirty="0">
                <a:solidFill>
                  <a:schemeClr val="tx1"/>
                </a:solidFill>
                <a:effectLst/>
                <a:latin typeface="+mn-lt"/>
                <a:ea typeface="+mn-ea"/>
                <a:cs typeface="+mn-cs"/>
              </a:rPr>
              <a:t> a </a:t>
            </a:r>
            <a:r>
              <a:rPr lang="fr-FR" altLang="zh-CN" sz="1200" b="0" i="0" kern="1200" dirty="0" err="1">
                <a:solidFill>
                  <a:schemeClr val="tx1"/>
                </a:solidFill>
                <a:effectLst/>
                <a:latin typeface="+mn-lt"/>
                <a:ea typeface="+mn-ea"/>
                <a:cs typeface="+mn-cs"/>
              </a:rPr>
              <a:t>capacity</a:t>
            </a:r>
            <a:r>
              <a:rPr lang="fr-FR" altLang="zh-CN" sz="1200" b="0" i="0" kern="1200" dirty="0">
                <a:solidFill>
                  <a:schemeClr val="tx1"/>
                </a:solidFill>
                <a:effectLst/>
                <a:latin typeface="+mn-lt"/>
                <a:ea typeface="+mn-ea"/>
                <a:cs typeface="+mn-cs"/>
              </a:rPr>
              <a:t> of 79.7 </a:t>
            </a:r>
            <a:r>
              <a:rPr lang="fr-FR" altLang="zh-CN" sz="1200" b="0" i="0" kern="1200" dirty="0" err="1">
                <a:solidFill>
                  <a:schemeClr val="tx1"/>
                </a:solidFill>
                <a:effectLst/>
                <a:latin typeface="+mn-lt"/>
                <a:ea typeface="+mn-ea"/>
                <a:cs typeface="+mn-cs"/>
              </a:rPr>
              <a:t>kB</a:t>
            </a:r>
            <a:r>
              <a:rPr lang="fr-FR" altLang="zh-CN" sz="1200" b="0" i="0" kern="1200" dirty="0">
                <a:solidFill>
                  <a:schemeClr val="tx1"/>
                </a:solidFill>
                <a:effectLst/>
                <a:latin typeface="+mn-lt"/>
                <a:ea typeface="+mn-ea"/>
                <a:cs typeface="+mn-cs"/>
              </a:rPr>
              <a:t>, and </a:t>
            </a:r>
            <a:r>
              <a:rPr lang="fr-FR" altLang="zh-CN" sz="1200" b="0" i="0" kern="1200" dirty="0" err="1">
                <a:solidFill>
                  <a:schemeClr val="tx1"/>
                </a:solidFill>
                <a:effectLst/>
                <a:latin typeface="+mn-lt"/>
                <a:ea typeface="+mn-ea"/>
                <a:cs typeface="+mn-cs"/>
              </a:rPr>
              <a:t>was</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read-only</a:t>
            </a:r>
            <a:r>
              <a:rPr lang="fr-FR" altLang="zh-CN" sz="1200" b="0" i="0" kern="1200" dirty="0">
                <a:solidFill>
                  <a:schemeClr val="tx1"/>
                </a:solidFill>
                <a:effectLst/>
                <a:latin typeface="+mn-lt"/>
                <a:ea typeface="+mn-ea"/>
                <a:cs typeface="+mn-cs"/>
              </a:rPr>
              <a:t>. A </a:t>
            </a:r>
            <a:r>
              <a:rPr lang="fr-FR" altLang="zh-CN" sz="1200" b="0" i="0" kern="1200" dirty="0" err="1">
                <a:solidFill>
                  <a:schemeClr val="tx1"/>
                </a:solidFill>
                <a:effectLst/>
                <a:latin typeface="+mn-lt"/>
                <a:ea typeface="+mn-ea"/>
                <a:cs typeface="+mn-cs"/>
              </a:rPr>
              <a:t>read-write</a:t>
            </a:r>
            <a:r>
              <a:rPr lang="fr-FR" altLang="zh-CN" sz="1200" b="0" i="0" kern="1200" dirty="0">
                <a:solidFill>
                  <a:schemeClr val="tx1"/>
                </a:solidFill>
                <a:effectLst/>
                <a:latin typeface="+mn-lt"/>
                <a:ea typeface="+mn-ea"/>
                <a:cs typeface="+mn-cs"/>
              </a:rPr>
              <a:t> version came a </a:t>
            </a:r>
            <a:r>
              <a:rPr lang="fr-FR" altLang="zh-CN" sz="1200" b="0" i="0" kern="1200" dirty="0" err="1">
                <a:solidFill>
                  <a:schemeClr val="tx1"/>
                </a:solidFill>
                <a:effectLst/>
                <a:latin typeface="+mn-lt"/>
                <a:ea typeface="+mn-ea"/>
                <a:cs typeface="+mn-cs"/>
              </a:rPr>
              <a:t>year</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later</a:t>
            </a:r>
            <a:r>
              <a:rPr lang="fr-FR" altLang="zh-CN" sz="1200" b="0" i="0" kern="1200" dirty="0">
                <a:solidFill>
                  <a:schemeClr val="tx1"/>
                </a:solidFill>
                <a:effectLst/>
                <a:latin typeface="+mn-lt"/>
                <a:ea typeface="+mn-ea"/>
                <a:cs typeface="+mn-cs"/>
              </a:rPr>
              <a:t>.</a:t>
            </a:r>
            <a:endParaRPr lang="fr-FR" altLang="zh-CN" sz="1200" b="1" i="1" kern="1200" dirty="0">
              <a:solidFill>
                <a:schemeClr val="tx1"/>
              </a:solidFill>
              <a:effectLst/>
              <a:latin typeface="+mn-lt"/>
              <a:ea typeface="+mn-ea"/>
              <a:cs typeface="+mn-cs"/>
            </a:endParaRPr>
          </a:p>
          <a:p>
            <a:endParaRPr lang="fr-FR" altLang="zh-CN" sz="1200" b="1" i="1" kern="1200" dirty="0">
              <a:solidFill>
                <a:schemeClr val="tx1"/>
              </a:solidFill>
              <a:effectLst/>
              <a:latin typeface="+mn-lt"/>
              <a:ea typeface="+mn-ea"/>
              <a:cs typeface="+mn-cs"/>
            </a:endParaRPr>
          </a:p>
          <a:p>
            <a:r>
              <a:rPr lang="fr-FR" altLang="zh-CN" sz="1200" b="1" i="1" kern="1200" dirty="0" err="1">
                <a:solidFill>
                  <a:schemeClr val="tx1"/>
                </a:solidFill>
                <a:effectLst/>
                <a:latin typeface="+mn-lt"/>
                <a:ea typeface="+mn-ea"/>
                <a:cs typeface="+mn-cs"/>
              </a:rPr>
              <a:t>Above</a:t>
            </a:r>
            <a:r>
              <a:rPr lang="fr-FR" altLang="zh-CN" sz="1200" b="1" i="1" kern="1200" dirty="0">
                <a:solidFill>
                  <a:schemeClr val="tx1"/>
                </a:solidFill>
                <a:effectLst/>
                <a:latin typeface="+mn-lt"/>
                <a:ea typeface="+mn-ea"/>
                <a:cs typeface="+mn-cs"/>
              </a:rPr>
              <a:t> </a:t>
            </a:r>
            <a:r>
              <a:rPr lang="fr-FR" altLang="zh-CN" sz="1200" b="1" i="1" kern="1200" dirty="0" err="1">
                <a:solidFill>
                  <a:schemeClr val="tx1"/>
                </a:solidFill>
                <a:effectLst/>
                <a:latin typeface="+mn-lt"/>
                <a:ea typeface="+mn-ea"/>
                <a:cs typeface="+mn-cs"/>
              </a:rPr>
              <a:t>left</a:t>
            </a:r>
            <a:r>
              <a:rPr lang="fr-FR" altLang="zh-CN" sz="1200" b="1" i="1" kern="1200" dirty="0">
                <a:solidFill>
                  <a:schemeClr val="tx1"/>
                </a:solidFill>
                <a:effectLst/>
                <a:latin typeface="+mn-lt"/>
                <a:ea typeface="+mn-ea"/>
                <a:cs typeface="+mn-cs"/>
              </a:rPr>
              <a:t>:</a:t>
            </a:r>
            <a:r>
              <a:rPr lang="fr-FR" altLang="zh-CN" sz="1200" b="0" i="1" kern="1200" dirty="0">
                <a:solidFill>
                  <a:schemeClr val="tx1"/>
                </a:solidFill>
                <a:effectLst/>
                <a:latin typeface="+mn-lt"/>
                <a:ea typeface="+mn-ea"/>
                <a:cs typeface="+mn-cs"/>
              </a:rPr>
              <a:t> An 8-inch </a:t>
            </a:r>
            <a:r>
              <a:rPr lang="fr-FR" altLang="zh-CN" sz="1200" b="0" i="1" kern="1200" dirty="0" err="1">
                <a:solidFill>
                  <a:schemeClr val="tx1"/>
                </a:solidFill>
                <a:effectLst/>
                <a:latin typeface="+mn-lt"/>
                <a:ea typeface="+mn-ea"/>
                <a:cs typeface="+mn-cs"/>
              </a:rPr>
              <a:t>floppy</a:t>
            </a:r>
            <a:r>
              <a:rPr lang="fr-FR" altLang="zh-CN" sz="1200" b="0" i="1" kern="1200" dirty="0">
                <a:solidFill>
                  <a:schemeClr val="tx1"/>
                </a:solidFill>
                <a:effectLst/>
                <a:latin typeface="+mn-lt"/>
                <a:ea typeface="+mn-ea"/>
                <a:cs typeface="+mn-cs"/>
              </a:rPr>
              <a:t> and </a:t>
            </a:r>
            <a:r>
              <a:rPr lang="fr-FR" altLang="zh-CN" sz="1200" b="0" i="1" kern="1200" dirty="0" err="1">
                <a:solidFill>
                  <a:schemeClr val="tx1"/>
                </a:solidFill>
                <a:effectLst/>
                <a:latin typeface="+mn-lt"/>
                <a:ea typeface="+mn-ea"/>
                <a:cs typeface="+mn-cs"/>
              </a:rPr>
              <a:t>floppy</a:t>
            </a:r>
            <a:r>
              <a:rPr lang="fr-FR" altLang="zh-CN" sz="1200" b="0" i="1" kern="1200" dirty="0">
                <a:solidFill>
                  <a:schemeClr val="tx1"/>
                </a:solidFill>
                <a:effectLst/>
                <a:latin typeface="+mn-lt"/>
                <a:ea typeface="+mn-ea"/>
                <a:cs typeface="+mn-cs"/>
              </a:rPr>
              <a:t> drive </a:t>
            </a:r>
            <a:r>
              <a:rPr lang="fr-FR" altLang="zh-CN" sz="1200" b="0" i="1" kern="1200" dirty="0" err="1">
                <a:solidFill>
                  <a:schemeClr val="tx1"/>
                </a:solidFill>
                <a:effectLst/>
                <a:latin typeface="+mn-lt"/>
                <a:ea typeface="+mn-ea"/>
                <a:cs typeface="+mn-cs"/>
              </a:rPr>
              <a:t>next</a:t>
            </a:r>
            <a:r>
              <a:rPr lang="fr-FR" altLang="zh-CN" sz="1200" b="0" i="1" kern="1200" dirty="0">
                <a:solidFill>
                  <a:schemeClr val="tx1"/>
                </a:solidFill>
                <a:effectLst/>
                <a:latin typeface="+mn-lt"/>
                <a:ea typeface="+mn-ea"/>
                <a:cs typeface="+mn-cs"/>
              </a:rPr>
              <a:t> to a </a:t>
            </a:r>
            <a:r>
              <a:rPr lang="fr-FR" altLang="zh-CN" sz="1200" b="0" i="1" kern="1200" dirty="0" err="1">
                <a:solidFill>
                  <a:schemeClr val="tx1"/>
                </a:solidFill>
                <a:effectLst/>
                <a:latin typeface="+mn-lt"/>
                <a:ea typeface="+mn-ea"/>
                <a:cs typeface="+mn-cs"/>
              </a:rPr>
              <a:t>regular</a:t>
            </a:r>
            <a:r>
              <a:rPr lang="fr-FR" altLang="zh-CN" sz="1200" b="0" i="1" kern="1200" dirty="0">
                <a:solidFill>
                  <a:schemeClr val="tx1"/>
                </a:solidFill>
                <a:effectLst/>
                <a:latin typeface="+mn-lt"/>
                <a:ea typeface="+mn-ea"/>
                <a:cs typeface="+mn-cs"/>
              </a:rPr>
              <a:t> 3.5-inch </a:t>
            </a:r>
            <a:r>
              <a:rPr lang="fr-FR" altLang="zh-CN" sz="1200" b="0" i="1" kern="1200" dirty="0" err="1">
                <a:solidFill>
                  <a:schemeClr val="tx1"/>
                </a:solidFill>
                <a:effectLst/>
                <a:latin typeface="+mn-lt"/>
                <a:ea typeface="+mn-ea"/>
                <a:cs typeface="+mn-cs"/>
              </a:rPr>
              <a:t>floppy</a:t>
            </a:r>
            <a:r>
              <a:rPr lang="fr-FR" altLang="zh-CN" sz="1200" b="0" i="1" kern="1200" dirty="0">
                <a:solidFill>
                  <a:schemeClr val="tx1"/>
                </a:solidFill>
                <a:effectLst/>
                <a:latin typeface="+mn-lt"/>
                <a:ea typeface="+mn-ea"/>
                <a:cs typeface="+mn-cs"/>
              </a:rPr>
              <a:t> </a:t>
            </a:r>
            <a:r>
              <a:rPr lang="fr-FR" altLang="zh-CN" sz="1200" b="0" i="1" kern="1200" dirty="0" err="1">
                <a:solidFill>
                  <a:schemeClr val="tx1"/>
                </a:solidFill>
                <a:effectLst/>
                <a:latin typeface="+mn-lt"/>
                <a:ea typeface="+mn-ea"/>
                <a:cs typeface="+mn-cs"/>
              </a:rPr>
              <a:t>disk</a:t>
            </a:r>
            <a:r>
              <a:rPr lang="fr-FR" altLang="zh-CN" sz="1200" b="0" i="1" kern="1200" dirty="0">
                <a:solidFill>
                  <a:schemeClr val="tx1"/>
                </a:solidFill>
                <a:effectLst/>
                <a:latin typeface="+mn-lt"/>
                <a:ea typeface="+mn-ea"/>
                <a:cs typeface="+mn-cs"/>
              </a:rPr>
              <a:t>. </a:t>
            </a:r>
            <a:r>
              <a:rPr lang="fr-FR" altLang="zh-CN" sz="1200" b="1" i="1" kern="1200" dirty="0" err="1">
                <a:solidFill>
                  <a:schemeClr val="tx1"/>
                </a:solidFill>
                <a:effectLst/>
                <a:latin typeface="+mn-lt"/>
                <a:ea typeface="+mn-ea"/>
                <a:cs typeface="+mn-cs"/>
              </a:rPr>
              <a:t>Above</a:t>
            </a:r>
            <a:r>
              <a:rPr lang="fr-FR" altLang="zh-CN" sz="1200" b="1" i="1" kern="1200" dirty="0">
                <a:solidFill>
                  <a:schemeClr val="tx1"/>
                </a:solidFill>
                <a:effectLst/>
                <a:latin typeface="+mn-lt"/>
                <a:ea typeface="+mn-ea"/>
                <a:cs typeface="+mn-cs"/>
              </a:rPr>
              <a:t> right:</a:t>
            </a:r>
            <a:r>
              <a:rPr lang="fr-FR" altLang="zh-CN" sz="1200" b="0" i="1" kern="1200" dirty="0">
                <a:solidFill>
                  <a:schemeClr val="tx1"/>
                </a:solidFill>
                <a:effectLst/>
                <a:latin typeface="+mn-lt"/>
                <a:ea typeface="+mn-ea"/>
                <a:cs typeface="+mn-cs"/>
              </a:rPr>
              <a:t> The </a:t>
            </a:r>
            <a:r>
              <a:rPr lang="fr-FR" altLang="zh-CN" sz="1200" b="0" i="1" kern="1200" dirty="0" err="1">
                <a:solidFill>
                  <a:schemeClr val="tx1"/>
                </a:solidFill>
                <a:effectLst/>
                <a:latin typeface="+mn-lt"/>
                <a:ea typeface="+mn-ea"/>
                <a:cs typeface="+mn-cs"/>
              </a:rPr>
              <a:t>convenience</a:t>
            </a:r>
            <a:r>
              <a:rPr lang="fr-FR" altLang="zh-CN" sz="1200" b="0" i="1" kern="1200" dirty="0">
                <a:solidFill>
                  <a:schemeClr val="tx1"/>
                </a:solidFill>
                <a:effectLst/>
                <a:latin typeface="+mn-lt"/>
                <a:ea typeface="+mn-ea"/>
                <a:cs typeface="+mn-cs"/>
              </a:rPr>
              <a:t> of </a:t>
            </a:r>
            <a:r>
              <a:rPr lang="fr-FR" altLang="zh-CN" sz="1200" b="0" i="1" kern="1200" dirty="0" err="1">
                <a:solidFill>
                  <a:schemeClr val="tx1"/>
                </a:solidFill>
                <a:effectLst/>
                <a:latin typeface="+mn-lt"/>
                <a:ea typeface="+mn-ea"/>
                <a:cs typeface="+mn-cs"/>
              </a:rPr>
              <a:t>easily</a:t>
            </a:r>
            <a:r>
              <a:rPr lang="fr-FR" altLang="zh-CN" sz="1200" b="0" i="1" kern="1200" dirty="0">
                <a:solidFill>
                  <a:schemeClr val="tx1"/>
                </a:solidFill>
                <a:effectLst/>
                <a:latin typeface="+mn-lt"/>
                <a:ea typeface="+mn-ea"/>
                <a:cs typeface="+mn-cs"/>
              </a:rPr>
              <a:t> </a:t>
            </a:r>
            <a:r>
              <a:rPr lang="fr-FR" altLang="zh-CN" sz="1200" b="0" i="1" kern="1200" dirty="0" err="1">
                <a:solidFill>
                  <a:schemeClr val="tx1"/>
                </a:solidFill>
                <a:effectLst/>
                <a:latin typeface="+mn-lt"/>
                <a:ea typeface="+mn-ea"/>
                <a:cs typeface="+mn-cs"/>
              </a:rPr>
              <a:t>removable</a:t>
            </a:r>
            <a:r>
              <a:rPr lang="fr-FR" altLang="zh-CN" sz="1200" b="0" i="1" kern="1200" dirty="0">
                <a:solidFill>
                  <a:schemeClr val="tx1"/>
                </a:solidFill>
                <a:effectLst/>
                <a:latin typeface="+mn-lt"/>
                <a:ea typeface="+mn-ea"/>
                <a:cs typeface="+mn-cs"/>
              </a:rPr>
              <a:t> </a:t>
            </a:r>
            <a:r>
              <a:rPr lang="fr-FR" altLang="zh-CN" sz="1200" b="0" i="1" kern="1200" dirty="0" err="1">
                <a:solidFill>
                  <a:schemeClr val="tx1"/>
                </a:solidFill>
                <a:effectLst/>
                <a:latin typeface="+mn-lt"/>
                <a:ea typeface="+mn-ea"/>
                <a:cs typeface="+mn-cs"/>
              </a:rPr>
              <a:t>storage</a:t>
            </a:r>
            <a:r>
              <a:rPr lang="fr-FR" altLang="zh-CN" sz="1200" b="0" i="1" kern="1200" dirty="0">
                <a:solidFill>
                  <a:schemeClr val="tx1"/>
                </a:solidFill>
                <a:effectLst/>
                <a:latin typeface="+mn-lt"/>
                <a:ea typeface="+mn-ea"/>
                <a:cs typeface="+mn-cs"/>
              </a:rPr>
              <a:t> media.</a:t>
            </a:r>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8</a:t>
            </a:fld>
            <a:endParaRPr lang="zh-CN" altLang="en-US"/>
          </a:p>
        </p:txBody>
      </p:sp>
    </p:spTree>
    <p:extLst>
      <p:ext uri="{BB962C8B-B14F-4D97-AF65-F5344CB8AC3E}">
        <p14:creationId xmlns:p14="http://schemas.microsoft.com/office/powerpoint/2010/main" val="2163001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sz="1200" b="0" i="0" kern="1200" dirty="0" err="1">
                <a:solidFill>
                  <a:schemeClr val="tx1"/>
                </a:solidFill>
                <a:effectLst/>
                <a:latin typeface="+mn-lt"/>
                <a:ea typeface="+mn-ea"/>
                <a:cs typeface="+mn-cs"/>
              </a:rPr>
              <a:t>We</a:t>
            </a:r>
            <a:r>
              <a:rPr lang="fr-FR" altLang="zh-CN" sz="1200" b="0" i="0" kern="1200" dirty="0">
                <a:solidFill>
                  <a:schemeClr val="tx1"/>
                </a:solidFill>
                <a:effectLst/>
                <a:latin typeface="+mn-lt"/>
                <a:ea typeface="+mn-ea"/>
                <a:cs typeface="+mn-cs"/>
              </a:rPr>
              <a:t> mention </a:t>
            </a:r>
            <a:r>
              <a:rPr lang="fr-FR" altLang="zh-CN" sz="1200" b="0" i="0" kern="1200" dirty="0" err="1">
                <a:solidFill>
                  <a:schemeClr val="tx1"/>
                </a:solidFill>
                <a:effectLst/>
                <a:latin typeface="+mn-lt"/>
                <a:ea typeface="+mn-ea"/>
                <a:cs typeface="+mn-cs"/>
              </a:rPr>
              <a:t>it</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here</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mainly</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because</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it</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was</a:t>
            </a:r>
            <a:r>
              <a:rPr lang="fr-FR" altLang="zh-CN" sz="1200" b="0" i="0" kern="1200" dirty="0">
                <a:solidFill>
                  <a:schemeClr val="tx1"/>
                </a:solidFill>
                <a:effectLst/>
                <a:latin typeface="+mn-lt"/>
                <a:ea typeface="+mn-ea"/>
                <a:cs typeface="+mn-cs"/>
              </a:rPr>
              <a:t> the </a:t>
            </a:r>
            <a:r>
              <a:rPr lang="fr-FR" altLang="zh-CN" sz="1200" b="0" i="0" kern="1200" dirty="0" err="1">
                <a:solidFill>
                  <a:schemeClr val="tx1"/>
                </a:solidFill>
                <a:effectLst/>
                <a:latin typeface="+mn-lt"/>
                <a:ea typeface="+mn-ea"/>
                <a:cs typeface="+mn-cs"/>
              </a:rPr>
              <a:t>precursor</a:t>
            </a:r>
            <a:r>
              <a:rPr lang="fr-FR" altLang="zh-CN" sz="1200" b="0" i="0" kern="1200" dirty="0">
                <a:solidFill>
                  <a:schemeClr val="tx1"/>
                </a:solidFill>
                <a:effectLst/>
                <a:latin typeface="+mn-lt"/>
                <a:ea typeface="+mn-ea"/>
                <a:cs typeface="+mn-cs"/>
              </a:rPr>
              <a:t> to the CD-ROM and </a:t>
            </a:r>
            <a:r>
              <a:rPr lang="fr-FR" altLang="zh-CN" sz="1200" b="0" i="0" kern="1200" dirty="0" err="1">
                <a:solidFill>
                  <a:schemeClr val="tx1"/>
                </a:solidFill>
                <a:effectLst/>
                <a:latin typeface="+mn-lt"/>
                <a:ea typeface="+mn-ea"/>
                <a:cs typeface="+mn-cs"/>
              </a:rPr>
              <a:t>other</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optical</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storage</a:t>
            </a:r>
            <a:r>
              <a:rPr lang="fr-FR" altLang="zh-CN" sz="1200" b="0" i="0" kern="1200" dirty="0">
                <a:solidFill>
                  <a:schemeClr val="tx1"/>
                </a:solidFill>
                <a:effectLst/>
                <a:latin typeface="+mn-lt"/>
                <a:ea typeface="+mn-ea"/>
                <a:cs typeface="+mn-cs"/>
              </a:rPr>
              <a:t> solutions. It </a:t>
            </a:r>
            <a:r>
              <a:rPr lang="fr-FR" altLang="zh-CN" sz="1200" b="0" i="0" kern="1200" dirty="0" err="1">
                <a:solidFill>
                  <a:schemeClr val="tx1"/>
                </a:solidFill>
                <a:effectLst/>
                <a:latin typeface="+mn-lt"/>
                <a:ea typeface="+mn-ea"/>
                <a:cs typeface="+mn-cs"/>
              </a:rPr>
              <a:t>was</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mainly</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used</a:t>
            </a:r>
            <a:r>
              <a:rPr lang="fr-FR" altLang="zh-CN" sz="1200" b="0" i="0" kern="1200" dirty="0">
                <a:solidFill>
                  <a:schemeClr val="tx1"/>
                </a:solidFill>
                <a:effectLst/>
                <a:latin typeface="+mn-lt"/>
                <a:ea typeface="+mn-ea"/>
                <a:cs typeface="+mn-cs"/>
              </a:rPr>
              <a:t> for </a:t>
            </a:r>
            <a:r>
              <a:rPr lang="fr-FR" altLang="zh-CN" sz="1200" b="0" i="0" kern="1200" dirty="0" err="1">
                <a:solidFill>
                  <a:schemeClr val="tx1"/>
                </a:solidFill>
                <a:effectLst/>
                <a:latin typeface="+mn-lt"/>
                <a:ea typeface="+mn-ea"/>
                <a:cs typeface="+mn-cs"/>
              </a:rPr>
              <a:t>movies</a:t>
            </a:r>
            <a:r>
              <a:rPr lang="fr-FR" altLang="zh-CN" sz="1200" b="0" i="0" kern="1200" dirty="0">
                <a:solidFill>
                  <a:schemeClr val="tx1"/>
                </a:solidFill>
                <a:effectLst/>
                <a:latin typeface="+mn-lt"/>
                <a:ea typeface="+mn-ea"/>
                <a:cs typeface="+mn-cs"/>
              </a:rPr>
              <a:t>. The first </a:t>
            </a:r>
            <a:r>
              <a:rPr lang="fr-FR" altLang="zh-CN" sz="1200" b="0" i="0" kern="1200" dirty="0" err="1">
                <a:solidFill>
                  <a:schemeClr val="tx1"/>
                </a:solidFill>
                <a:effectLst/>
                <a:latin typeface="+mn-lt"/>
                <a:ea typeface="+mn-ea"/>
                <a:cs typeface="+mn-cs"/>
              </a:rPr>
              <a:t>commercially</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available</a:t>
            </a:r>
            <a:r>
              <a:rPr lang="fr-FR" altLang="zh-CN" sz="1200" b="0" i="0" kern="1200" dirty="0">
                <a:solidFill>
                  <a:schemeClr val="tx1"/>
                </a:solidFill>
                <a:effectLst/>
                <a:latin typeface="+mn-lt"/>
                <a:ea typeface="+mn-ea"/>
                <a:cs typeface="+mn-cs"/>
              </a:rPr>
              <a:t> </a:t>
            </a:r>
            <a:r>
              <a:rPr lang="fr-FR" altLang="zh-CN" sz="1200" b="0" i="0" u="none" strike="noStrike" kern="1200" dirty="0">
                <a:solidFill>
                  <a:schemeClr val="tx1"/>
                </a:solidFill>
                <a:effectLst/>
                <a:latin typeface="+mn-lt"/>
                <a:ea typeface="+mn-ea"/>
                <a:cs typeface="+mn-cs"/>
                <a:hlinkClick r:id="rId3"/>
              </a:rPr>
              <a:t>laserdisc</a:t>
            </a:r>
            <a:r>
              <a:rPr lang="fr-FR" altLang="zh-CN" sz="1200" b="0" i="0" kern="1200" dirty="0">
                <a:solidFill>
                  <a:schemeClr val="tx1"/>
                </a:solidFill>
                <a:effectLst/>
                <a:latin typeface="+mn-lt"/>
                <a:ea typeface="+mn-ea"/>
                <a:cs typeface="+mn-cs"/>
              </a:rPr>
              <a:t> system </a:t>
            </a:r>
            <a:r>
              <a:rPr lang="fr-FR" altLang="zh-CN" sz="1200" b="0" i="0" kern="1200" dirty="0" err="1">
                <a:solidFill>
                  <a:schemeClr val="tx1"/>
                </a:solidFill>
                <a:effectLst/>
                <a:latin typeface="+mn-lt"/>
                <a:ea typeface="+mn-ea"/>
                <a:cs typeface="+mn-cs"/>
              </a:rPr>
              <a:t>was</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available</a:t>
            </a:r>
            <a:r>
              <a:rPr lang="fr-FR" altLang="zh-CN" sz="1200" b="0" i="0" kern="1200" dirty="0">
                <a:solidFill>
                  <a:schemeClr val="tx1"/>
                </a:solidFill>
                <a:effectLst/>
                <a:latin typeface="+mn-lt"/>
                <a:ea typeface="+mn-ea"/>
                <a:cs typeface="+mn-cs"/>
              </a:rPr>
              <a:t> on the </a:t>
            </a:r>
            <a:r>
              <a:rPr lang="fr-FR" altLang="zh-CN" sz="1200" b="0" i="0" kern="1200" dirty="0" err="1">
                <a:solidFill>
                  <a:schemeClr val="tx1"/>
                </a:solidFill>
                <a:effectLst/>
                <a:latin typeface="+mn-lt"/>
                <a:ea typeface="+mn-ea"/>
                <a:cs typeface="+mn-cs"/>
              </a:rPr>
              <a:t>market</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late</a:t>
            </a:r>
            <a:r>
              <a:rPr lang="fr-FR" altLang="zh-CN" sz="1200" b="0" i="0" kern="1200" dirty="0">
                <a:solidFill>
                  <a:schemeClr val="tx1"/>
                </a:solidFill>
                <a:effectLst/>
                <a:latin typeface="+mn-lt"/>
                <a:ea typeface="+mn-ea"/>
                <a:cs typeface="+mn-cs"/>
              </a:rPr>
              <a:t> in 1978 (</a:t>
            </a:r>
            <a:r>
              <a:rPr lang="fr-FR" altLang="zh-CN" sz="1200" b="0" i="0" kern="1200" dirty="0" err="1">
                <a:solidFill>
                  <a:schemeClr val="tx1"/>
                </a:solidFill>
                <a:effectLst/>
                <a:latin typeface="+mn-lt"/>
                <a:ea typeface="+mn-ea"/>
                <a:cs typeface="+mn-cs"/>
              </a:rPr>
              <a:t>then</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called</a:t>
            </a:r>
            <a:r>
              <a:rPr lang="fr-FR" altLang="zh-CN" sz="1200" b="0" i="0" kern="1200" dirty="0">
                <a:solidFill>
                  <a:schemeClr val="tx1"/>
                </a:solidFill>
                <a:effectLst/>
                <a:latin typeface="+mn-lt"/>
                <a:ea typeface="+mn-ea"/>
                <a:cs typeface="+mn-cs"/>
              </a:rPr>
              <a:t> Laser </a:t>
            </a:r>
            <a:r>
              <a:rPr lang="fr-FR" altLang="zh-CN" sz="1200" b="0" i="0" kern="1200" dirty="0" err="1">
                <a:solidFill>
                  <a:schemeClr val="tx1"/>
                </a:solidFill>
                <a:effectLst/>
                <a:latin typeface="+mn-lt"/>
                <a:ea typeface="+mn-ea"/>
                <a:cs typeface="+mn-cs"/>
              </a:rPr>
              <a:t>Videodisc</a:t>
            </a:r>
            <a:r>
              <a:rPr lang="fr-FR" altLang="zh-CN" sz="1200" b="0" i="0" kern="1200" dirty="0">
                <a:solidFill>
                  <a:schemeClr val="tx1"/>
                </a:solidFill>
                <a:effectLst/>
                <a:latin typeface="+mn-lt"/>
                <a:ea typeface="+mn-ea"/>
                <a:cs typeface="+mn-cs"/>
              </a:rPr>
              <a:t> and the more </a:t>
            </a:r>
            <a:r>
              <a:rPr lang="fr-FR" altLang="zh-CN" sz="1200" b="0" i="0" kern="1200" dirty="0" err="1">
                <a:solidFill>
                  <a:schemeClr val="tx1"/>
                </a:solidFill>
                <a:effectLst/>
                <a:latin typeface="+mn-lt"/>
                <a:ea typeface="+mn-ea"/>
                <a:cs typeface="+mn-cs"/>
              </a:rPr>
              <a:t>funkily</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branded</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DiscoVision</a:t>
            </a:r>
            <a:r>
              <a:rPr lang="fr-FR" altLang="zh-CN" sz="1200" b="0" i="0" kern="1200" dirty="0">
                <a:solidFill>
                  <a:schemeClr val="tx1"/>
                </a:solidFill>
                <a:effectLst/>
                <a:latin typeface="+mn-lt"/>
                <a:ea typeface="+mn-ea"/>
                <a:cs typeface="+mn-cs"/>
              </a:rPr>
              <a:t>) and </a:t>
            </a:r>
            <a:r>
              <a:rPr lang="fr-FR" altLang="zh-CN" sz="1200" b="0" i="0" kern="1200" dirty="0" err="1">
                <a:solidFill>
                  <a:schemeClr val="tx1"/>
                </a:solidFill>
                <a:effectLst/>
                <a:latin typeface="+mn-lt"/>
                <a:ea typeface="+mn-ea"/>
                <a:cs typeface="+mn-cs"/>
              </a:rPr>
              <a:t>were</a:t>
            </a:r>
            <a:r>
              <a:rPr lang="fr-FR" altLang="zh-CN" sz="1200" b="0" i="0" kern="1200" dirty="0">
                <a:solidFill>
                  <a:schemeClr val="tx1"/>
                </a:solidFill>
                <a:effectLst/>
                <a:latin typeface="+mn-lt"/>
                <a:ea typeface="+mn-ea"/>
                <a:cs typeface="+mn-cs"/>
              </a:rPr>
              <a:t> 11.81 </a:t>
            </a:r>
            <a:r>
              <a:rPr lang="fr-FR" altLang="zh-CN" sz="1200" b="0" i="0" kern="1200" dirty="0" err="1">
                <a:solidFill>
                  <a:schemeClr val="tx1"/>
                </a:solidFill>
                <a:effectLst/>
                <a:latin typeface="+mn-lt"/>
                <a:ea typeface="+mn-ea"/>
                <a:cs typeface="+mn-cs"/>
              </a:rPr>
              <a:t>inches</a:t>
            </a:r>
            <a:r>
              <a:rPr lang="fr-FR" altLang="zh-CN" sz="1200" b="0" i="0" kern="1200" dirty="0">
                <a:solidFill>
                  <a:schemeClr val="tx1"/>
                </a:solidFill>
                <a:effectLst/>
                <a:latin typeface="+mn-lt"/>
                <a:ea typeface="+mn-ea"/>
                <a:cs typeface="+mn-cs"/>
              </a:rPr>
              <a:t> (30 cm) in </a:t>
            </a:r>
            <a:r>
              <a:rPr lang="fr-FR" altLang="zh-CN" sz="1200" b="0" i="0" kern="1200" dirty="0" err="1">
                <a:solidFill>
                  <a:schemeClr val="tx1"/>
                </a:solidFill>
                <a:effectLst/>
                <a:latin typeface="+mn-lt"/>
                <a:ea typeface="+mn-ea"/>
                <a:cs typeface="+mn-cs"/>
              </a:rPr>
              <a:t>diameter</a:t>
            </a:r>
            <a:r>
              <a:rPr lang="fr-FR" altLang="zh-CN" sz="1200" b="0" i="0" kern="1200" dirty="0">
                <a:solidFill>
                  <a:schemeClr val="tx1"/>
                </a:solidFill>
                <a:effectLst/>
                <a:latin typeface="+mn-lt"/>
                <a:ea typeface="+mn-ea"/>
                <a:cs typeface="+mn-cs"/>
              </a:rPr>
              <a:t>. The discs </a:t>
            </a:r>
            <a:r>
              <a:rPr lang="fr-FR" altLang="zh-CN" sz="1200" b="0" i="0" kern="1200" dirty="0" err="1">
                <a:solidFill>
                  <a:schemeClr val="tx1"/>
                </a:solidFill>
                <a:effectLst/>
                <a:latin typeface="+mn-lt"/>
                <a:ea typeface="+mn-ea"/>
                <a:cs typeface="+mn-cs"/>
              </a:rPr>
              <a:t>could</a:t>
            </a:r>
            <a:r>
              <a:rPr lang="fr-FR" altLang="zh-CN" sz="1200" b="0" i="0" kern="1200" dirty="0">
                <a:solidFill>
                  <a:schemeClr val="tx1"/>
                </a:solidFill>
                <a:effectLst/>
                <a:latin typeface="+mn-lt"/>
                <a:ea typeface="+mn-ea"/>
                <a:cs typeface="+mn-cs"/>
              </a:rPr>
              <a:t> have up to 60 minutes of audio/</a:t>
            </a:r>
            <a:r>
              <a:rPr lang="fr-FR" altLang="zh-CN" sz="1200" b="0" i="0" kern="1200" dirty="0" err="1">
                <a:solidFill>
                  <a:schemeClr val="tx1"/>
                </a:solidFill>
                <a:effectLst/>
                <a:latin typeface="+mn-lt"/>
                <a:ea typeface="+mn-ea"/>
                <a:cs typeface="+mn-cs"/>
              </a:rPr>
              <a:t>video</a:t>
            </a:r>
            <a:r>
              <a:rPr lang="fr-FR" altLang="zh-CN" sz="1200" b="0" i="0" kern="1200" dirty="0">
                <a:solidFill>
                  <a:schemeClr val="tx1"/>
                </a:solidFill>
                <a:effectLst/>
                <a:latin typeface="+mn-lt"/>
                <a:ea typeface="+mn-ea"/>
                <a:cs typeface="+mn-cs"/>
              </a:rPr>
              <a:t> on </a:t>
            </a:r>
            <a:r>
              <a:rPr lang="fr-FR" altLang="zh-CN" sz="1200" b="0" i="0" kern="1200" dirty="0" err="1">
                <a:solidFill>
                  <a:schemeClr val="tx1"/>
                </a:solidFill>
                <a:effectLst/>
                <a:latin typeface="+mn-lt"/>
                <a:ea typeface="+mn-ea"/>
                <a:cs typeface="+mn-cs"/>
              </a:rPr>
              <a:t>each</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side</a:t>
            </a:r>
            <a:r>
              <a:rPr lang="fr-FR" altLang="zh-CN" sz="1200" b="0" i="0" kern="1200" dirty="0">
                <a:solidFill>
                  <a:schemeClr val="tx1"/>
                </a:solidFill>
                <a:effectLst/>
                <a:latin typeface="+mn-lt"/>
                <a:ea typeface="+mn-ea"/>
                <a:cs typeface="+mn-cs"/>
              </a:rPr>
              <a:t>. The first </a:t>
            </a:r>
            <a:r>
              <a:rPr lang="fr-FR" altLang="zh-CN" sz="1200" b="0" i="0" kern="1200" dirty="0" err="1">
                <a:solidFill>
                  <a:schemeClr val="tx1"/>
                </a:solidFill>
                <a:effectLst/>
                <a:latin typeface="+mn-lt"/>
                <a:ea typeface="+mn-ea"/>
                <a:cs typeface="+mn-cs"/>
              </a:rPr>
              <a:t>laserdiscs</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had</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entirely</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analog</a:t>
            </a:r>
            <a:r>
              <a:rPr lang="fr-FR" altLang="zh-CN" sz="1200" b="0" i="0" kern="1200" dirty="0">
                <a:solidFill>
                  <a:schemeClr val="tx1"/>
                </a:solidFill>
                <a:effectLst/>
                <a:latin typeface="+mn-lt"/>
                <a:ea typeface="+mn-ea"/>
                <a:cs typeface="+mn-cs"/>
              </a:rPr>
              <a:t> content. The basic </a:t>
            </a:r>
            <a:r>
              <a:rPr lang="fr-FR" altLang="zh-CN" sz="1200" b="0" i="0" kern="1200" dirty="0" err="1">
                <a:solidFill>
                  <a:schemeClr val="tx1"/>
                </a:solidFill>
                <a:effectLst/>
                <a:latin typeface="+mn-lt"/>
                <a:ea typeface="+mn-ea"/>
                <a:cs typeface="+mn-cs"/>
              </a:rPr>
              <a:t>technology</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behind</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laserdiscs</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was</a:t>
            </a:r>
            <a:r>
              <a:rPr lang="fr-FR" altLang="zh-CN" sz="1200" b="0" i="0" kern="1200" dirty="0">
                <a:solidFill>
                  <a:schemeClr val="tx1"/>
                </a:solidFill>
                <a:effectLst/>
                <a:latin typeface="+mn-lt"/>
                <a:ea typeface="+mn-ea"/>
                <a:cs typeface="+mn-cs"/>
              </a:rPr>
              <a:t> </a:t>
            </a:r>
            <a:r>
              <a:rPr lang="fr-FR" altLang="zh-CN" sz="1200" b="0" i="0" kern="1200" dirty="0" err="1">
                <a:solidFill>
                  <a:schemeClr val="tx1"/>
                </a:solidFill>
                <a:effectLst/>
                <a:latin typeface="+mn-lt"/>
                <a:ea typeface="+mn-ea"/>
                <a:cs typeface="+mn-cs"/>
              </a:rPr>
              <a:t>invented</a:t>
            </a:r>
            <a:r>
              <a:rPr lang="fr-FR" altLang="zh-CN" sz="1200" b="0" i="0" kern="1200" dirty="0">
                <a:solidFill>
                  <a:schemeClr val="tx1"/>
                </a:solidFill>
                <a:effectLst/>
                <a:latin typeface="+mn-lt"/>
                <a:ea typeface="+mn-ea"/>
                <a:cs typeface="+mn-cs"/>
              </a:rPr>
              <a:t> all the </a:t>
            </a:r>
            <a:r>
              <a:rPr lang="fr-FR" altLang="zh-CN" sz="1200" b="0" i="0" kern="1200" dirty="0" err="1">
                <a:solidFill>
                  <a:schemeClr val="tx1"/>
                </a:solidFill>
                <a:effectLst/>
                <a:latin typeface="+mn-lt"/>
                <a:ea typeface="+mn-ea"/>
                <a:cs typeface="+mn-cs"/>
              </a:rPr>
              <a:t>way</a:t>
            </a:r>
            <a:r>
              <a:rPr lang="fr-FR" altLang="zh-CN" sz="1200" b="0" i="0" kern="1200" dirty="0">
                <a:solidFill>
                  <a:schemeClr val="tx1"/>
                </a:solidFill>
                <a:effectLst/>
                <a:latin typeface="+mn-lt"/>
                <a:ea typeface="+mn-ea"/>
                <a:cs typeface="+mn-cs"/>
              </a:rPr>
              <a:t> back in 1958.</a:t>
            </a:r>
          </a:p>
          <a:p>
            <a:br>
              <a:rPr lang="fr-FR" altLang="zh-CN" dirty="0"/>
            </a:br>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9</a:t>
            </a:fld>
            <a:endParaRPr lang="zh-CN" altLang="en-US"/>
          </a:p>
        </p:txBody>
      </p:sp>
    </p:spTree>
    <p:extLst>
      <p:ext uri="{BB962C8B-B14F-4D97-AF65-F5344CB8AC3E}">
        <p14:creationId xmlns:p14="http://schemas.microsoft.com/office/powerpoint/2010/main" val="1250043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fr-FR" altLang="zh-CN" dirty="0"/>
            </a:br>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10</a:t>
            </a:fld>
            <a:endParaRPr lang="zh-CN" altLang="en-US"/>
          </a:p>
        </p:txBody>
      </p:sp>
    </p:spTree>
    <p:extLst>
      <p:ext uri="{BB962C8B-B14F-4D97-AF65-F5344CB8AC3E}">
        <p14:creationId xmlns:p14="http://schemas.microsoft.com/office/powerpoint/2010/main" val="1029324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fr-FR" altLang="zh-CN" dirty="0"/>
            </a:br>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11</a:t>
            </a:fld>
            <a:endParaRPr lang="zh-CN" altLang="en-US"/>
          </a:p>
        </p:txBody>
      </p:sp>
    </p:spTree>
    <p:extLst>
      <p:ext uri="{BB962C8B-B14F-4D97-AF65-F5344CB8AC3E}">
        <p14:creationId xmlns:p14="http://schemas.microsoft.com/office/powerpoint/2010/main" val="1355371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fr-FR" altLang="zh-CN" dirty="0"/>
            </a:br>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12</a:t>
            </a:fld>
            <a:endParaRPr lang="zh-CN" altLang="en-US"/>
          </a:p>
        </p:txBody>
      </p:sp>
    </p:spTree>
    <p:extLst>
      <p:ext uri="{BB962C8B-B14F-4D97-AF65-F5344CB8AC3E}">
        <p14:creationId xmlns:p14="http://schemas.microsoft.com/office/powerpoint/2010/main" val="174545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13</a:t>
            </a:fld>
            <a:endParaRPr lang="zh-CN" altLang="en-US"/>
          </a:p>
        </p:txBody>
      </p:sp>
    </p:spTree>
    <p:extLst>
      <p:ext uri="{BB962C8B-B14F-4D97-AF65-F5344CB8AC3E}">
        <p14:creationId xmlns:p14="http://schemas.microsoft.com/office/powerpoint/2010/main" val="3699725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14</a:t>
            </a:fld>
            <a:endParaRPr lang="zh-CN" altLang="en-US"/>
          </a:p>
        </p:txBody>
      </p:sp>
    </p:spTree>
    <p:extLst>
      <p:ext uri="{BB962C8B-B14F-4D97-AF65-F5344CB8AC3E}">
        <p14:creationId xmlns:p14="http://schemas.microsoft.com/office/powerpoint/2010/main" val="1908011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15</a:t>
            </a:fld>
            <a:endParaRPr lang="zh-CN" altLang="en-US"/>
          </a:p>
        </p:txBody>
      </p:sp>
    </p:spTree>
    <p:extLst>
      <p:ext uri="{BB962C8B-B14F-4D97-AF65-F5344CB8AC3E}">
        <p14:creationId xmlns:p14="http://schemas.microsoft.com/office/powerpoint/2010/main" val="2049899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16</a:t>
            </a:fld>
            <a:endParaRPr lang="zh-CN" altLang="en-US"/>
          </a:p>
        </p:txBody>
      </p:sp>
    </p:spTree>
    <p:extLst>
      <p:ext uri="{BB962C8B-B14F-4D97-AF65-F5344CB8AC3E}">
        <p14:creationId xmlns:p14="http://schemas.microsoft.com/office/powerpoint/2010/main" val="3425743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17</a:t>
            </a:fld>
            <a:endParaRPr lang="zh-CN" altLang="en-US"/>
          </a:p>
        </p:txBody>
      </p:sp>
    </p:spTree>
    <p:extLst>
      <p:ext uri="{BB962C8B-B14F-4D97-AF65-F5344CB8AC3E}">
        <p14:creationId xmlns:p14="http://schemas.microsoft.com/office/powerpoint/2010/main" val="2438995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18</a:t>
            </a:fld>
            <a:endParaRPr lang="zh-CN" altLang="en-US"/>
          </a:p>
        </p:txBody>
      </p:sp>
    </p:spTree>
    <p:extLst>
      <p:ext uri="{BB962C8B-B14F-4D97-AF65-F5344CB8AC3E}">
        <p14:creationId xmlns:p14="http://schemas.microsoft.com/office/powerpoint/2010/main" val="36996512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19</a:t>
            </a:fld>
            <a:endParaRPr lang="zh-CN" altLang="en-US"/>
          </a:p>
        </p:txBody>
      </p:sp>
    </p:spTree>
    <p:extLst>
      <p:ext uri="{BB962C8B-B14F-4D97-AF65-F5344CB8AC3E}">
        <p14:creationId xmlns:p14="http://schemas.microsoft.com/office/powerpoint/2010/main" val="25838763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20</a:t>
            </a:fld>
            <a:endParaRPr lang="zh-CN" altLang="en-US"/>
          </a:p>
        </p:txBody>
      </p:sp>
    </p:spTree>
    <p:extLst>
      <p:ext uri="{BB962C8B-B14F-4D97-AF65-F5344CB8AC3E}">
        <p14:creationId xmlns:p14="http://schemas.microsoft.com/office/powerpoint/2010/main" val="11620964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21</a:t>
            </a:fld>
            <a:endParaRPr lang="zh-CN" altLang="en-US"/>
          </a:p>
        </p:txBody>
      </p:sp>
    </p:spTree>
    <p:extLst>
      <p:ext uri="{BB962C8B-B14F-4D97-AF65-F5344CB8AC3E}">
        <p14:creationId xmlns:p14="http://schemas.microsoft.com/office/powerpoint/2010/main" val="3734956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22</a:t>
            </a:fld>
            <a:endParaRPr lang="zh-CN" altLang="en-US"/>
          </a:p>
        </p:txBody>
      </p:sp>
    </p:spTree>
    <p:extLst>
      <p:ext uri="{BB962C8B-B14F-4D97-AF65-F5344CB8AC3E}">
        <p14:creationId xmlns:p14="http://schemas.microsoft.com/office/powerpoint/2010/main" val="34809944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23</a:t>
            </a:fld>
            <a:endParaRPr lang="zh-CN" altLang="en-US"/>
          </a:p>
        </p:txBody>
      </p:sp>
    </p:spTree>
    <p:extLst>
      <p:ext uri="{BB962C8B-B14F-4D97-AF65-F5344CB8AC3E}">
        <p14:creationId xmlns:p14="http://schemas.microsoft.com/office/powerpoint/2010/main" val="29611154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24</a:t>
            </a:fld>
            <a:endParaRPr lang="zh-CN" altLang="en-US"/>
          </a:p>
        </p:txBody>
      </p:sp>
    </p:spTree>
    <p:extLst>
      <p:ext uri="{BB962C8B-B14F-4D97-AF65-F5344CB8AC3E}">
        <p14:creationId xmlns:p14="http://schemas.microsoft.com/office/powerpoint/2010/main" val="17966172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25</a:t>
            </a:fld>
            <a:endParaRPr lang="zh-CN" altLang="en-US"/>
          </a:p>
        </p:txBody>
      </p:sp>
    </p:spTree>
    <p:extLst>
      <p:ext uri="{BB962C8B-B14F-4D97-AF65-F5344CB8AC3E}">
        <p14:creationId xmlns:p14="http://schemas.microsoft.com/office/powerpoint/2010/main" val="1678814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26</a:t>
            </a:fld>
            <a:endParaRPr lang="zh-CN" altLang="en-US"/>
          </a:p>
        </p:txBody>
      </p:sp>
    </p:spTree>
    <p:extLst>
      <p:ext uri="{BB962C8B-B14F-4D97-AF65-F5344CB8AC3E}">
        <p14:creationId xmlns:p14="http://schemas.microsoft.com/office/powerpoint/2010/main" val="42163115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27</a:t>
            </a:fld>
            <a:endParaRPr lang="zh-CN" altLang="en-US"/>
          </a:p>
        </p:txBody>
      </p:sp>
    </p:spTree>
    <p:extLst>
      <p:ext uri="{BB962C8B-B14F-4D97-AF65-F5344CB8AC3E}">
        <p14:creationId xmlns:p14="http://schemas.microsoft.com/office/powerpoint/2010/main" val="38107242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28</a:t>
            </a:fld>
            <a:endParaRPr lang="zh-CN" altLang="en-US"/>
          </a:p>
        </p:txBody>
      </p:sp>
    </p:spTree>
    <p:extLst>
      <p:ext uri="{BB962C8B-B14F-4D97-AF65-F5344CB8AC3E}">
        <p14:creationId xmlns:p14="http://schemas.microsoft.com/office/powerpoint/2010/main" val="1140098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29</a:t>
            </a:fld>
            <a:endParaRPr lang="zh-CN" altLang="en-US"/>
          </a:p>
        </p:txBody>
      </p:sp>
    </p:spTree>
    <p:extLst>
      <p:ext uri="{BB962C8B-B14F-4D97-AF65-F5344CB8AC3E}">
        <p14:creationId xmlns:p14="http://schemas.microsoft.com/office/powerpoint/2010/main" val="33853676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30</a:t>
            </a:fld>
            <a:endParaRPr lang="zh-CN" altLang="en-US"/>
          </a:p>
        </p:txBody>
      </p:sp>
    </p:spTree>
    <p:extLst>
      <p:ext uri="{BB962C8B-B14F-4D97-AF65-F5344CB8AC3E}">
        <p14:creationId xmlns:p14="http://schemas.microsoft.com/office/powerpoint/2010/main" val="3603603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31</a:t>
            </a:fld>
            <a:endParaRPr lang="zh-CN" altLang="en-US"/>
          </a:p>
        </p:txBody>
      </p:sp>
    </p:spTree>
    <p:extLst>
      <p:ext uri="{BB962C8B-B14F-4D97-AF65-F5344CB8AC3E}">
        <p14:creationId xmlns:p14="http://schemas.microsoft.com/office/powerpoint/2010/main" val="28424134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32</a:t>
            </a:fld>
            <a:endParaRPr lang="zh-CN" altLang="en-US"/>
          </a:p>
        </p:txBody>
      </p:sp>
    </p:spTree>
    <p:extLst>
      <p:ext uri="{BB962C8B-B14F-4D97-AF65-F5344CB8AC3E}">
        <p14:creationId xmlns:p14="http://schemas.microsoft.com/office/powerpoint/2010/main" val="22465743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33</a:t>
            </a:fld>
            <a:endParaRPr lang="zh-CN" altLang="en-US"/>
          </a:p>
        </p:txBody>
      </p:sp>
    </p:spTree>
    <p:extLst>
      <p:ext uri="{BB962C8B-B14F-4D97-AF65-F5344CB8AC3E}">
        <p14:creationId xmlns:p14="http://schemas.microsoft.com/office/powerpoint/2010/main" val="4814407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34</a:t>
            </a:fld>
            <a:endParaRPr lang="zh-CN" altLang="en-US"/>
          </a:p>
        </p:txBody>
      </p:sp>
    </p:spTree>
    <p:extLst>
      <p:ext uri="{BB962C8B-B14F-4D97-AF65-F5344CB8AC3E}">
        <p14:creationId xmlns:p14="http://schemas.microsoft.com/office/powerpoint/2010/main" val="34102005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35</a:t>
            </a:fld>
            <a:endParaRPr lang="zh-CN" altLang="en-US"/>
          </a:p>
        </p:txBody>
      </p:sp>
    </p:spTree>
    <p:extLst>
      <p:ext uri="{BB962C8B-B14F-4D97-AF65-F5344CB8AC3E}">
        <p14:creationId xmlns:p14="http://schemas.microsoft.com/office/powerpoint/2010/main" val="2960699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36</a:t>
            </a:fld>
            <a:endParaRPr lang="zh-CN" altLang="en-US"/>
          </a:p>
        </p:txBody>
      </p:sp>
    </p:spTree>
    <p:extLst>
      <p:ext uri="{BB962C8B-B14F-4D97-AF65-F5344CB8AC3E}">
        <p14:creationId xmlns:p14="http://schemas.microsoft.com/office/powerpoint/2010/main" val="20241051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37</a:t>
            </a:fld>
            <a:endParaRPr lang="zh-CN" altLang="en-US"/>
          </a:p>
        </p:txBody>
      </p:sp>
    </p:spTree>
    <p:extLst>
      <p:ext uri="{BB962C8B-B14F-4D97-AF65-F5344CB8AC3E}">
        <p14:creationId xmlns:p14="http://schemas.microsoft.com/office/powerpoint/2010/main" val="35264396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38</a:t>
            </a:fld>
            <a:endParaRPr lang="zh-CN" altLang="en-US"/>
          </a:p>
        </p:txBody>
      </p:sp>
    </p:spTree>
    <p:extLst>
      <p:ext uri="{BB962C8B-B14F-4D97-AF65-F5344CB8AC3E}">
        <p14:creationId xmlns:p14="http://schemas.microsoft.com/office/powerpoint/2010/main" val="20190278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39</a:t>
            </a:fld>
            <a:endParaRPr lang="zh-CN" altLang="en-US"/>
          </a:p>
        </p:txBody>
      </p:sp>
    </p:spTree>
    <p:extLst>
      <p:ext uri="{BB962C8B-B14F-4D97-AF65-F5344CB8AC3E}">
        <p14:creationId xmlns:p14="http://schemas.microsoft.com/office/powerpoint/2010/main" val="25633838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40</a:t>
            </a:fld>
            <a:endParaRPr lang="zh-CN" altLang="en-US"/>
          </a:p>
        </p:txBody>
      </p:sp>
    </p:spTree>
    <p:extLst>
      <p:ext uri="{BB962C8B-B14F-4D97-AF65-F5344CB8AC3E}">
        <p14:creationId xmlns:p14="http://schemas.microsoft.com/office/powerpoint/2010/main" val="14037328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aseline="0" dirty="0"/>
          </a:p>
        </p:txBody>
      </p:sp>
      <p:sp>
        <p:nvSpPr>
          <p:cNvPr id="4" name="幻灯片编号占位符 3"/>
          <p:cNvSpPr>
            <a:spLocks noGrp="1"/>
          </p:cNvSpPr>
          <p:nvPr>
            <p:ph type="sldNum" sz="quarter" idx="10"/>
          </p:nvPr>
        </p:nvSpPr>
        <p:spPr/>
        <p:txBody>
          <a:bodyPr/>
          <a:lstStyle/>
          <a:p>
            <a:pPr>
              <a:defRPr/>
            </a:pPr>
            <a:fld id="{0B5B9210-A5D6-DF4A-BCF1-E487EA4C0D19}" type="slidenum">
              <a:rPr lang="zh-CN" altLang="en-US" smtClean="0"/>
              <a:pPr>
                <a:defRPr/>
              </a:pPr>
              <a:t>41</a:t>
            </a:fld>
            <a:endParaRPr lang="zh-CN" altLang="en-US"/>
          </a:p>
        </p:txBody>
      </p:sp>
    </p:spTree>
    <p:extLst>
      <p:ext uri="{BB962C8B-B14F-4D97-AF65-F5344CB8AC3E}">
        <p14:creationId xmlns:p14="http://schemas.microsoft.com/office/powerpoint/2010/main" val="3684563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47238CC2-A0DA-0A42-9C3B-B99D8DFE8A35}" type="datetimeFigureOut">
              <a:rPr lang="zh-CN" altLang="en-US" smtClean="0"/>
              <a:pPr>
                <a:defRPr/>
              </a:pPr>
              <a:t>2019/9/26</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AA21F175-A356-8641-8B8C-2BC1BAE79F14}" type="slidenum">
              <a:rPr lang="zh-CN" altLang="en-US" smtClean="0"/>
              <a:pPr>
                <a:defRPr/>
              </a:pPr>
              <a:t>‹#›</a:t>
            </a:fld>
            <a:endParaRPr lang="zh-CN" altLang="en-US"/>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fld id="{34D12BB8-9261-4D4B-98FD-C0F0AA2E9A14}" type="datetimeFigureOut">
              <a:rPr lang="zh-CN" altLang="en-US" smtClean="0"/>
              <a:pPr>
                <a:defRPr/>
              </a:pPr>
              <a:t>2019/9/26</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76A8BDDE-DE15-9A4E-B6F5-7D907F811531}" type="slidenum">
              <a:rPr lang="zh-CN" altLang="en-US" smtClean="0"/>
              <a:pPr>
                <a:defRPr/>
              </a:pPr>
              <a:t>‹#›</a:t>
            </a:fld>
            <a:endParaRPr lang="zh-CN" alt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57C6D4EE-D3EF-4F4B-84A5-4EDA7B66ACC6}" type="datetimeFigureOut">
              <a:rPr lang="zh-CN" altLang="en-US" smtClean="0"/>
              <a:pPr>
                <a:defRPr/>
              </a:pPr>
              <a:t>2019/9/26</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416DD28A-AA70-C249-93DE-44022C331C62}" type="slidenum">
              <a:rPr lang="zh-CN" altLang="en-US" smtClean="0"/>
              <a:pPr>
                <a:defRPr/>
              </a:pPr>
              <a:t>‹#›</a:t>
            </a:fld>
            <a:endParaRPr lang="zh-CN" alt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3"/>
          <p:cNvSpPr>
            <a:spLocks noGrp="1"/>
          </p:cNvSpPr>
          <p:nvPr>
            <p:ph type="dt" sz="half" idx="10"/>
          </p:nvPr>
        </p:nvSpPr>
        <p:spPr/>
        <p:txBody>
          <a:bodyPr/>
          <a:lstStyle>
            <a:lvl1pPr>
              <a:defRPr/>
            </a:lvl1pPr>
          </a:lstStyle>
          <a:p>
            <a:pPr>
              <a:defRPr/>
            </a:pPr>
            <a:fld id="{CD34650D-803F-3649-8BE6-A1B7A3B11F99}" type="datetimeFigureOut">
              <a:rPr lang="zh-CN" altLang="en-US" smtClean="0"/>
              <a:pPr>
                <a:defRPr/>
              </a:pPr>
              <a:t>2019/9/26</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D38A0D8-B9E1-5F47-ADDF-1F1E8F331A74}" type="slidenum">
              <a:rPr lang="zh-CN" altLang="en-US" smtClean="0"/>
              <a:pPr>
                <a:defRPr/>
              </a:pPr>
              <a:t>‹#›</a:t>
            </a:fld>
            <a:endParaRPr lang="zh-CN" altLang="en-US"/>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p:cNvSpPr>
            <a:spLocks noGrp="1"/>
          </p:cNvSpPr>
          <p:nvPr>
            <p:ph type="dt" sz="half" idx="10"/>
          </p:nvPr>
        </p:nvSpPr>
        <p:spPr/>
        <p:txBody>
          <a:bodyPr/>
          <a:lstStyle>
            <a:lvl1pPr>
              <a:defRPr/>
            </a:lvl1pPr>
          </a:lstStyle>
          <a:p>
            <a:pPr>
              <a:defRPr/>
            </a:pPr>
            <a:fld id="{EBC8D43A-8F0F-5D46-A343-06333ADB0560}" type="datetimeFigureOut">
              <a:rPr lang="zh-CN" altLang="en-US" smtClean="0"/>
              <a:pPr>
                <a:defRPr/>
              </a:pPr>
              <a:t>2019/9/26</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4FC70463-E988-D144-BBEE-FC4623AD6C23}" type="slidenum">
              <a:rPr lang="zh-CN" altLang="en-US" smtClean="0"/>
              <a:pPr>
                <a:defRPr/>
              </a:pPr>
              <a:t>‹#›</a:t>
            </a:fld>
            <a:endParaRPr lang="zh-CN" altLang="en-US"/>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4920C01F-CEF2-EA4C-85CA-CBF3E7F4DD65}" type="datetimeFigureOut">
              <a:rPr lang="zh-CN" altLang="en-US" smtClean="0"/>
              <a:pPr>
                <a:defRPr/>
              </a:pPr>
              <a:t>2019/9/26</a:t>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5795A4DD-1280-BB47-A602-2C4DAB99FF88}" type="slidenum">
              <a:rPr lang="zh-CN" altLang="en-US" smtClean="0"/>
              <a:pPr>
                <a:defRPr/>
              </a:pPr>
              <a:t>‹#›</a:t>
            </a:fld>
            <a:endParaRPr lang="zh-CN" alt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B2A7B1-2167-7F47-9127-07644A71B60F}" type="datetimeFigureOut">
              <a:rPr lang="zh-CN" altLang="en-US" smtClean="0"/>
              <a:pPr>
                <a:defRPr/>
              </a:pPr>
              <a:t>2019/9/26</a:t>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7AE65D7B-B108-694B-A9F0-6F3476ECBDBF}" type="slidenum">
              <a:rPr lang="zh-CN" altLang="en-US" smtClean="0"/>
              <a:pPr>
                <a:defRPr/>
              </a:pPr>
              <a:t>‹#›</a:t>
            </a:fld>
            <a:endParaRPr lang="zh-CN" altLang="en-US"/>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246C0D54-D0A2-8647-BDAD-39E60643A4AA}" type="datetimeFigureOut">
              <a:rPr lang="zh-CN" altLang="en-US" smtClean="0"/>
              <a:pPr>
                <a:defRPr/>
              </a:pPr>
              <a:t>2019/9/26</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5800DE58-F619-754F-BCBC-313BF1478D2F}" type="slidenum">
              <a:rPr lang="zh-CN" altLang="en-US" smtClean="0"/>
              <a:pPr>
                <a:defRPr/>
              </a:pPr>
              <a:t>‹#›</a:t>
            </a:fld>
            <a:endParaRPr lang="zh-CN" alt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将图片拖动到占位符，或单击添加图标</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F123163E-B686-3245-B20A-8F7674AE5CAC}" type="datetimeFigureOut">
              <a:rPr lang="zh-CN" altLang="en-US" smtClean="0"/>
              <a:pPr>
                <a:defRPr/>
              </a:pPr>
              <a:t>2019/9/26</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18D19B7D-6BEB-0641-9251-9FA303027C7A}" type="slidenum">
              <a:rPr lang="zh-CN" altLang="en-US" smtClean="0"/>
              <a:pPr>
                <a:defRPr/>
              </a:pPr>
              <a:t>‹#›</a:t>
            </a:fld>
            <a:endParaRPr lang="zh-CN" altLang="en-US"/>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fld id="{7D03A3D3-B973-7244-9EC6-9D0618F24062}" type="datetimeFigureOut">
              <a:rPr lang="zh-CN" altLang="en-US" smtClean="0"/>
              <a:pPr>
                <a:defRPr/>
              </a:pPr>
              <a:t>2019/9/26</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E866548C-ABE1-4B4C-895C-8DD5E5C1168E}" type="slidenum">
              <a:rPr lang="zh-CN" altLang="en-US" smtClean="0"/>
              <a:pPr>
                <a:defRPr/>
              </a:pPr>
              <a:t>‹#›</a:t>
            </a:fld>
            <a:endParaRPr lang="zh-CN" altLang="en-US"/>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lvl1pPr>
              <a:defRPr/>
            </a:lvl1pPr>
          </a:lstStyle>
          <a:p>
            <a:pPr>
              <a:defRPr/>
            </a:pPr>
            <a:fld id="{9F680492-F7A2-E24D-8177-01BCF1312587}" type="datetimeFigureOut">
              <a:rPr lang="zh-CN" altLang="en-US" smtClean="0"/>
              <a:pPr>
                <a:defRPr/>
              </a:pPr>
              <a:t>2019/9/26</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989F4E41-E0E2-7A41-9508-905906144EC2}" type="slidenum">
              <a:rPr lang="zh-CN" altLang="en-US" smtClean="0"/>
              <a:pPr>
                <a:defRPr/>
              </a:pPr>
              <a:t>‹#›</a:t>
            </a:fld>
            <a:endParaRPr lang="zh-CN" altLang="en-US"/>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kumimoji="1" sz="1200">
                <a:solidFill>
                  <a:schemeClr val="tx1">
                    <a:tint val="75000"/>
                  </a:schemeClr>
                </a:solidFill>
                <a:latin typeface="+mn-lt"/>
                <a:ea typeface="+mn-ea"/>
              </a:defRPr>
            </a:lvl1pPr>
          </a:lstStyle>
          <a:p>
            <a:pPr>
              <a:defRPr/>
            </a:pPr>
            <a:fld id="{94F0E8F8-0A90-2744-B08D-155929A4155E}" type="datetimeFigureOut">
              <a:rPr lang="zh-CN" altLang="en-US" smtClean="0"/>
              <a:pPr>
                <a:defRPr/>
              </a:pPr>
              <a:t>2019/9/26</a:t>
            </a:fld>
            <a:endParaRPr lang="zh-CN"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kumimoji="1" sz="1200">
                <a:solidFill>
                  <a:schemeClr val="tx1">
                    <a:tint val="75000"/>
                  </a:schemeClr>
                </a:solidFill>
                <a:latin typeface="+mn-lt"/>
                <a:ea typeface="+mn-ea"/>
              </a:defRPr>
            </a:lvl1pPr>
          </a:lstStyle>
          <a:p>
            <a:pPr>
              <a:defRPr/>
            </a:pPr>
            <a:endParaRPr lang="zh-CN" alt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kumimoji="1" sz="1200">
                <a:solidFill>
                  <a:schemeClr val="tx1">
                    <a:tint val="75000"/>
                  </a:schemeClr>
                </a:solidFill>
                <a:latin typeface="+mn-lt"/>
                <a:ea typeface="+mn-ea"/>
              </a:defRPr>
            </a:lvl1pPr>
          </a:lstStyle>
          <a:p>
            <a:pPr>
              <a:defRPr/>
            </a:pPr>
            <a:fld id="{8FB58A7E-3A13-824A-A0CA-841E65082551}" type="slidenum">
              <a:rPr lang="zh-CN" altLang="en-US" smtClean="0"/>
              <a:pPr>
                <a:defRPr/>
              </a:pPr>
              <a:t>‹#›</a:t>
            </a:fld>
            <a:endParaRPr lang="zh-CN" altLang="en-US"/>
          </a:p>
        </p:txBody>
      </p:sp>
    </p:spTree>
    <p:extLst>
      <p:ext uri="{BB962C8B-B14F-4D97-AF65-F5344CB8AC3E}">
        <p14:creationId xmlns:p14="http://schemas.microsoft.com/office/powerpoint/2010/main" val="10801061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fade/>
  </p:transition>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tiff"/></Relationships>
</file>

<file path=ppt/slides/_rels/slide6.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tiff"/></Relationships>
</file>

<file path=ppt/slides/_rels/slide8.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tiff"/><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0.tiff"/><Relationship Id="rId3" Type="http://schemas.openxmlformats.org/officeDocument/2006/relationships/image" Target="../media/image15.tiff"/><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tiff"/><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hyperlink" Target="https://royal.pingdom.com/the-history-of-computer-data-storage-in-pictures/" TargetMode="External"/><Relationship Id="rId7" Type="http://schemas.openxmlformats.org/officeDocument/2006/relationships/hyperlink" Target="https://software.intel.com/en-us/articles/quick-start-guide-configure-intel-optane-dc-persistent-memory-on-linux" TargetMode="External"/><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hyperlink" Target="https://www.snia.org/sites/default/files/Dunn-Feldman_SNIA_Tutorial_Shingled_Magnetic_Recording-r7_Final.pdf" TargetMode="External"/><Relationship Id="rId5" Type="http://schemas.openxmlformats.org/officeDocument/2006/relationships/hyperlink" Target="https://www.slideshare.net/youthmirza/hard-disk-32607833" TargetMode="External"/><Relationship Id="rId4" Type="http://schemas.openxmlformats.org/officeDocument/2006/relationships/hyperlink" Target="https://blog.csdn.net/shaochenshuo/article/details/7282108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3" name="文本框 2"/>
          <p:cNvSpPr txBox="1"/>
          <p:nvPr/>
        </p:nvSpPr>
        <p:spPr>
          <a:xfrm>
            <a:off x="1414922" y="1554975"/>
            <a:ext cx="6340197" cy="1759456"/>
          </a:xfrm>
          <a:prstGeom prst="rect">
            <a:avLst/>
          </a:prstGeom>
          <a:noFill/>
        </p:spPr>
        <p:txBody>
          <a:bodyPr wrap="none" rtlCol="0">
            <a:spAutoFit/>
          </a:bodyPr>
          <a:lstStyle/>
          <a:p>
            <a:pPr algn="ctr">
              <a:lnSpc>
                <a:spcPts val="6520"/>
              </a:lnSpc>
              <a:spcBef>
                <a:spcPts val="0"/>
              </a:spcBef>
            </a:pPr>
            <a:r>
              <a:rPr kumimoji="1" lang="zh-CN" altLang="en-US" sz="6000" dirty="0">
                <a:latin typeface="Microsoft YaHei" charset="-122"/>
                <a:ea typeface="Microsoft YaHei" charset="-122"/>
                <a:cs typeface="Microsoft YaHei" charset="-122"/>
              </a:rPr>
              <a:t>存储设备及其</a:t>
            </a:r>
            <a:endParaRPr kumimoji="1" lang="en-US" altLang="zh-CN" sz="6000" dirty="0">
              <a:latin typeface="Microsoft YaHei" charset="-122"/>
              <a:ea typeface="Microsoft YaHei" charset="-122"/>
              <a:cs typeface="Microsoft YaHei" charset="-122"/>
            </a:endParaRPr>
          </a:p>
          <a:p>
            <a:pPr algn="ctr">
              <a:lnSpc>
                <a:spcPts val="6520"/>
              </a:lnSpc>
              <a:spcBef>
                <a:spcPts val="0"/>
              </a:spcBef>
            </a:pPr>
            <a:r>
              <a:rPr kumimoji="1" lang="zh-CN" altLang="en-US" sz="6000" dirty="0">
                <a:latin typeface="Microsoft YaHei" charset="-122"/>
                <a:ea typeface="Microsoft YaHei" charset="-122"/>
                <a:cs typeface="Microsoft YaHei" charset="-122"/>
              </a:rPr>
              <a:t>对系统设计的影响</a:t>
            </a:r>
            <a:endParaRPr kumimoji="1" lang="en-US" altLang="zh-CN" sz="6000" dirty="0">
              <a:latin typeface="Microsoft YaHei" charset="-122"/>
              <a:ea typeface="Microsoft YaHei" charset="-122"/>
              <a:cs typeface="Microsoft YaHei" charset="-122"/>
            </a:endParaRPr>
          </a:p>
        </p:txBody>
      </p:sp>
      <p:sp>
        <p:nvSpPr>
          <p:cNvPr id="4" name="文本框 3"/>
          <p:cNvSpPr txBox="1"/>
          <p:nvPr/>
        </p:nvSpPr>
        <p:spPr>
          <a:xfrm>
            <a:off x="3104420" y="5219700"/>
            <a:ext cx="2920992" cy="879793"/>
          </a:xfrm>
          <a:prstGeom prst="rect">
            <a:avLst/>
          </a:prstGeom>
          <a:noFill/>
        </p:spPr>
        <p:txBody>
          <a:bodyPr wrap="none" rtlCol="0">
            <a:spAutoFit/>
          </a:bodyPr>
          <a:lstStyle/>
          <a:p>
            <a:pPr algn="ctr">
              <a:lnSpc>
                <a:spcPct val="150000"/>
              </a:lnSpc>
            </a:pPr>
            <a:r>
              <a:rPr kumimoji="1" lang="zh-CN" altLang="en-US" sz="2000" dirty="0">
                <a:latin typeface="Microsoft YaHei" charset="-122"/>
                <a:ea typeface="Microsoft YaHei" charset="-122"/>
                <a:cs typeface="Microsoft YaHei" charset="-122"/>
              </a:rPr>
              <a:t>张佳辰</a:t>
            </a:r>
            <a:r>
              <a:rPr kumimoji="1" lang="en-US" altLang="zh-CN" sz="2000" dirty="0">
                <a:latin typeface="Microsoft YaHei" charset="-122"/>
                <a:ea typeface="Microsoft YaHei" charset="-122"/>
                <a:cs typeface="Microsoft YaHei" charset="-122"/>
              </a:rPr>
              <a:t>   2019.</a:t>
            </a:r>
            <a:r>
              <a:rPr kumimoji="1" lang="zh-CN" altLang="en-US" sz="2000" dirty="0">
                <a:latin typeface="Microsoft YaHei" charset="-122"/>
                <a:ea typeface="Microsoft YaHei" charset="-122"/>
                <a:cs typeface="Microsoft YaHei" charset="-122"/>
              </a:rPr>
              <a:t> </a:t>
            </a:r>
            <a:r>
              <a:rPr kumimoji="1" lang="en-US" altLang="zh-CN" sz="2000" dirty="0">
                <a:latin typeface="Microsoft YaHei" charset="-122"/>
                <a:ea typeface="Microsoft YaHei" charset="-122"/>
                <a:cs typeface="Microsoft YaHei" charset="-122"/>
              </a:rPr>
              <a:t>9.</a:t>
            </a:r>
            <a:r>
              <a:rPr kumimoji="1" lang="zh-CN" altLang="en-US" sz="2000" dirty="0">
                <a:latin typeface="Microsoft YaHei" charset="-122"/>
                <a:ea typeface="Microsoft YaHei" charset="-122"/>
                <a:cs typeface="Microsoft YaHei" charset="-122"/>
              </a:rPr>
              <a:t> </a:t>
            </a:r>
            <a:r>
              <a:rPr kumimoji="1" lang="en-US" altLang="zh-CN" sz="2000">
                <a:latin typeface="Microsoft YaHei" charset="-122"/>
                <a:ea typeface="Microsoft YaHei" charset="-122"/>
                <a:cs typeface="Microsoft YaHei" charset="-122"/>
              </a:rPr>
              <a:t>27</a:t>
            </a:r>
            <a:endParaRPr kumimoji="1" lang="en-US" altLang="zh-CN" sz="2000" dirty="0">
              <a:latin typeface="Microsoft YaHei" charset="-122"/>
              <a:ea typeface="Microsoft YaHei" charset="-122"/>
              <a:cs typeface="Microsoft YaHei" charset="-122"/>
            </a:endParaRPr>
          </a:p>
          <a:p>
            <a:pPr algn="ctr">
              <a:lnSpc>
                <a:spcPct val="150000"/>
              </a:lnSpc>
            </a:pPr>
            <a:r>
              <a:rPr kumimoji="1" lang="en-US" altLang="zh-CN" sz="1600" dirty="0" err="1">
                <a:latin typeface="Microsoft YaHei" charset="-122"/>
                <a:ea typeface="Microsoft YaHei" charset="-122"/>
                <a:cs typeface="Microsoft YaHei" charset="-122"/>
              </a:rPr>
              <a:t>jczhang@nbjl.nankai.edu.cn</a:t>
            </a:r>
            <a:endParaRPr kumimoji="1" lang="zh-CN" altLang="en-US" sz="1600" dirty="0">
              <a:latin typeface="Microsoft YaHei" charset="-122"/>
              <a:ea typeface="Microsoft YaHei" charset="-122"/>
              <a:cs typeface="Microsoft YaHei"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8" name="文本框 7"/>
          <p:cNvSpPr txBox="1"/>
          <p:nvPr/>
        </p:nvSpPr>
        <p:spPr>
          <a:xfrm>
            <a:off x="1376717" y="1173975"/>
            <a:ext cx="1107997" cy="646331"/>
          </a:xfrm>
          <a:prstGeom prst="rect">
            <a:avLst/>
          </a:prstGeom>
          <a:noFill/>
        </p:spPr>
        <p:txBody>
          <a:bodyPr wrap="none" rtlCol="0">
            <a:spAutoFit/>
          </a:bodyPr>
          <a:lstStyle/>
          <a:p>
            <a:pPr algn="ctr"/>
            <a:r>
              <a:rPr kumimoji="1" lang="zh-CN" altLang="en-US" sz="3600" dirty="0">
                <a:solidFill>
                  <a:schemeClr val="bg1">
                    <a:lumMod val="95000"/>
                  </a:schemeClr>
                </a:solidFill>
                <a:latin typeface="Microsoft YaHei" charset="-122"/>
                <a:ea typeface="Microsoft YaHei" charset="-122"/>
                <a:cs typeface="Microsoft YaHei" charset="-122"/>
              </a:rPr>
              <a:t>目录</a:t>
            </a:r>
            <a:endParaRPr kumimoji="1" lang="en-US" altLang="zh-CN" sz="3600" dirty="0">
              <a:solidFill>
                <a:schemeClr val="bg1">
                  <a:lumMod val="95000"/>
                </a:schemeClr>
              </a:solidFill>
              <a:latin typeface="Microsoft YaHei" charset="-122"/>
              <a:ea typeface="Microsoft YaHei" charset="-122"/>
              <a:cs typeface="Microsoft YaHei" charset="-122"/>
            </a:endParaRPr>
          </a:p>
        </p:txBody>
      </p:sp>
      <p:sp>
        <p:nvSpPr>
          <p:cNvPr id="3" name="文本框 2"/>
          <p:cNvSpPr txBox="1"/>
          <p:nvPr/>
        </p:nvSpPr>
        <p:spPr>
          <a:xfrm>
            <a:off x="2770166" y="2411366"/>
            <a:ext cx="5588000" cy="1955151"/>
          </a:xfrm>
          <a:prstGeom prst="rect">
            <a:avLst/>
          </a:prstGeom>
          <a:noFill/>
        </p:spPr>
        <p:txBody>
          <a:bodyPr wrap="square" rtlCol="0">
            <a:spAutoFit/>
          </a:bodyPr>
          <a:lstStyle/>
          <a:p>
            <a:pPr marL="285750" indent="-285750">
              <a:lnSpc>
                <a:spcPct val="150000"/>
              </a:lnSpc>
              <a:buClr>
                <a:schemeClr val="bg1">
                  <a:lumMod val="95000"/>
                </a:schemeClr>
              </a:buClr>
              <a:buSzPct val="75000"/>
              <a:buFont typeface="Wingdings" charset="2"/>
              <a:buChar char="l"/>
            </a:pPr>
            <a:r>
              <a:rPr kumimoji="1" lang="zh-CN" altLang="en-US" sz="2800" dirty="0">
                <a:latin typeface="Microsoft YaHei" charset="-122"/>
                <a:ea typeface="Microsoft YaHei" charset="-122"/>
                <a:cs typeface="Microsoft YaHei" charset="-122"/>
              </a:rPr>
              <a:t>     存储设备</a:t>
            </a:r>
            <a:endParaRPr kumimoji="1" lang="en-US" altLang="zh-CN" sz="2800" dirty="0">
              <a:latin typeface="Microsoft YaHei" charset="-122"/>
              <a:ea typeface="Microsoft YaHei" charset="-122"/>
              <a:cs typeface="Microsoft YaHei" charset="-122"/>
            </a:endParaRPr>
          </a:p>
          <a:p>
            <a:pPr marL="285750" indent="-285750">
              <a:lnSpc>
                <a:spcPct val="150000"/>
              </a:lnSpc>
              <a:buClr>
                <a:schemeClr val="bg1">
                  <a:lumMod val="95000"/>
                </a:schemeClr>
              </a:buClr>
              <a:buSzPct val="75000"/>
              <a:buFont typeface="Wingdings" charset="2"/>
              <a:buChar char="l"/>
            </a:pPr>
            <a:r>
              <a:rPr kumimoji="1" lang="zh-CN" altLang="en-US" sz="2800" dirty="0">
                <a:latin typeface="Microsoft YaHei" charset="-122"/>
                <a:ea typeface="Microsoft YaHei" charset="-122"/>
                <a:cs typeface="Microsoft YaHei" charset="-122"/>
              </a:rPr>
              <a:t>     </a:t>
            </a:r>
            <a:r>
              <a:rPr kumimoji="1" lang="zh-CN" altLang="en-US" sz="2800" dirty="0">
                <a:solidFill>
                  <a:schemeClr val="tx1">
                    <a:lumMod val="50000"/>
                    <a:lumOff val="50000"/>
                  </a:schemeClr>
                </a:solidFill>
                <a:latin typeface="Microsoft YaHei" charset="-122"/>
                <a:ea typeface="Microsoft YaHei" charset="-122"/>
                <a:cs typeface="Microsoft YaHei" charset="-122"/>
              </a:rPr>
              <a:t>存储</a:t>
            </a:r>
            <a:r>
              <a:rPr kumimoji="1" lang="en-US" altLang="zh-CN" sz="2800" dirty="0">
                <a:solidFill>
                  <a:schemeClr val="tx1">
                    <a:lumMod val="50000"/>
                    <a:lumOff val="50000"/>
                  </a:schemeClr>
                </a:solidFill>
                <a:latin typeface="Microsoft YaHei" charset="-122"/>
                <a:ea typeface="Microsoft YaHei" charset="-122"/>
                <a:cs typeface="Microsoft YaHei" charset="-122"/>
              </a:rPr>
              <a:t>I/O</a:t>
            </a:r>
            <a:r>
              <a:rPr kumimoji="1" lang="zh-CN" altLang="en-US" sz="2800" dirty="0">
                <a:solidFill>
                  <a:schemeClr val="tx1">
                    <a:lumMod val="50000"/>
                    <a:lumOff val="50000"/>
                  </a:schemeClr>
                </a:solidFill>
                <a:latin typeface="Microsoft YaHei" charset="-122"/>
                <a:ea typeface="Microsoft YaHei" charset="-122"/>
                <a:cs typeface="Microsoft YaHei" charset="-122"/>
              </a:rPr>
              <a:t>性能</a:t>
            </a:r>
            <a:endParaRPr kumimoji="1" lang="en-US" altLang="zh-CN" sz="2800" dirty="0">
              <a:solidFill>
                <a:schemeClr val="tx1">
                  <a:lumMod val="50000"/>
                  <a:lumOff val="50000"/>
                </a:schemeClr>
              </a:solidFill>
              <a:latin typeface="Microsoft YaHei" charset="-122"/>
              <a:ea typeface="Microsoft YaHei" charset="-122"/>
              <a:cs typeface="Microsoft YaHei" charset="-122"/>
            </a:endParaRPr>
          </a:p>
          <a:p>
            <a:pPr marL="285750" indent="-285750">
              <a:lnSpc>
                <a:spcPct val="150000"/>
              </a:lnSpc>
              <a:buClr>
                <a:schemeClr val="bg1">
                  <a:lumMod val="95000"/>
                </a:schemeClr>
              </a:buClr>
              <a:buSzPct val="75000"/>
              <a:buFont typeface="Wingdings" charset="2"/>
              <a:buChar char="l"/>
            </a:pPr>
            <a:r>
              <a:rPr kumimoji="1" lang="zh-CN" altLang="en-US" sz="2800" dirty="0">
                <a:solidFill>
                  <a:schemeClr val="tx1">
                    <a:lumMod val="50000"/>
                    <a:lumOff val="50000"/>
                  </a:schemeClr>
                </a:solidFill>
                <a:latin typeface="Microsoft YaHei" charset="-122"/>
                <a:ea typeface="Microsoft YaHei" charset="-122"/>
                <a:cs typeface="Microsoft YaHei" charset="-122"/>
              </a:rPr>
              <a:t>     存储设备对系统设计的影响</a:t>
            </a:r>
            <a:endParaRPr kumimoji="1" lang="en-US" altLang="zh-CN" sz="2800" dirty="0">
              <a:solidFill>
                <a:schemeClr val="tx1">
                  <a:lumMod val="50000"/>
                  <a:lumOff val="50000"/>
                </a:schemeClr>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240154745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pic>
        <p:nvPicPr>
          <p:cNvPr id="8" name="图片 7">
            <a:extLst>
              <a:ext uri="{FF2B5EF4-FFF2-40B4-BE49-F238E27FC236}">
                <a16:creationId xmlns:a16="http://schemas.microsoft.com/office/drawing/2014/main" id="{7F9930E0-7D6F-9248-A55E-4E1B00D5CE0A}"/>
              </a:ext>
            </a:extLst>
          </p:cNvPr>
          <p:cNvPicPr>
            <a:picLocks noChangeAspect="1"/>
          </p:cNvPicPr>
          <p:nvPr/>
        </p:nvPicPr>
        <p:blipFill>
          <a:blip r:embed="rId3"/>
          <a:stretch>
            <a:fillRect/>
          </a:stretch>
        </p:blipFill>
        <p:spPr>
          <a:xfrm>
            <a:off x="938494" y="1368627"/>
            <a:ext cx="5005105" cy="2515342"/>
          </a:xfrm>
          <a:prstGeom prst="rect">
            <a:avLst/>
          </a:prstGeom>
        </p:spPr>
      </p:pic>
      <p:pic>
        <p:nvPicPr>
          <p:cNvPr id="11" name="图片 10">
            <a:extLst>
              <a:ext uri="{FF2B5EF4-FFF2-40B4-BE49-F238E27FC236}">
                <a16:creationId xmlns:a16="http://schemas.microsoft.com/office/drawing/2014/main" id="{11567B75-DC0E-4E45-AB97-C600D34973A3}"/>
              </a:ext>
            </a:extLst>
          </p:cNvPr>
          <p:cNvPicPr>
            <a:picLocks noChangeAspect="1"/>
          </p:cNvPicPr>
          <p:nvPr/>
        </p:nvPicPr>
        <p:blipFill>
          <a:blip r:embed="rId4"/>
          <a:stretch>
            <a:fillRect/>
          </a:stretch>
        </p:blipFill>
        <p:spPr>
          <a:xfrm>
            <a:off x="3566307" y="3883969"/>
            <a:ext cx="5005105" cy="2511123"/>
          </a:xfrm>
          <a:prstGeom prst="rect">
            <a:avLst/>
          </a:prstGeom>
        </p:spPr>
      </p:pic>
      <p:sp>
        <p:nvSpPr>
          <p:cNvPr id="12" name="文本框 11">
            <a:extLst>
              <a:ext uri="{FF2B5EF4-FFF2-40B4-BE49-F238E27FC236}">
                <a16:creationId xmlns:a16="http://schemas.microsoft.com/office/drawing/2014/main" id="{ADDADD8C-B76E-1046-9242-D702058D36C9}"/>
              </a:ext>
            </a:extLst>
          </p:cNvPr>
          <p:cNvSpPr txBox="1"/>
          <p:nvPr/>
        </p:nvSpPr>
        <p:spPr>
          <a:xfrm>
            <a:off x="6068859" y="1729041"/>
            <a:ext cx="2763658" cy="1569660"/>
          </a:xfrm>
          <a:prstGeom prst="rect">
            <a:avLst/>
          </a:prstGeom>
          <a:noFill/>
        </p:spPr>
        <p:txBody>
          <a:bodyPr wrap="square" rtlCol="0">
            <a:spAutoFit/>
          </a:bodyPr>
          <a:lstStyle/>
          <a:p>
            <a:r>
              <a:rPr kumimoji="1" lang="zh-CN" altLang="en-US" sz="2400" dirty="0">
                <a:latin typeface="Lantinghei SC Demibold" panose="02000000000000000000" pitchFamily="2" charset="-122"/>
                <a:ea typeface="Lantinghei SC Demibold" panose="02000000000000000000" pitchFamily="2" charset="-122"/>
              </a:rPr>
              <a:t>穿孔卡</a:t>
            </a:r>
            <a:endParaRPr kumimoji="1" lang="en-US" altLang="zh-CN" sz="2400" dirty="0">
              <a:latin typeface="Lantinghei SC Demibold" panose="02000000000000000000" pitchFamily="2" charset="-122"/>
              <a:ea typeface="Lantinghei SC Demibold" panose="02000000000000000000" pitchFamily="2" charset="-122"/>
            </a:endParaRPr>
          </a:p>
          <a:p>
            <a:r>
              <a:rPr kumimoji="1" lang="en-US" altLang="zh-CN" dirty="0"/>
              <a:t>(</a:t>
            </a:r>
            <a:r>
              <a:rPr kumimoji="1" lang="zh-CN" altLang="en-US" dirty="0"/>
              <a:t>一个简单的</a:t>
            </a:r>
            <a:r>
              <a:rPr kumimoji="1" lang="en-US" altLang="zh-CN" dirty="0" err="1"/>
              <a:t>fortran</a:t>
            </a:r>
            <a:r>
              <a:rPr kumimoji="1" lang="zh-CN" altLang="en-US" dirty="0"/>
              <a:t>程序</a:t>
            </a:r>
            <a:r>
              <a:rPr kumimoji="1" lang="en-US" altLang="zh-CN" dirty="0"/>
              <a:t>)</a:t>
            </a:r>
          </a:p>
          <a:p>
            <a:endParaRPr kumimoji="1" lang="en-US" altLang="zh-CN" dirty="0"/>
          </a:p>
          <a:p>
            <a:r>
              <a:rPr lang="zh-CN" altLang="en-US" dirty="0"/>
              <a:t>早在</a:t>
            </a:r>
            <a:r>
              <a:rPr lang="en-US" altLang="zh-CN" dirty="0"/>
              <a:t>1725</a:t>
            </a:r>
            <a:r>
              <a:rPr lang="zh-CN" altLang="en-US" dirty="0"/>
              <a:t>用于机器，</a:t>
            </a:r>
            <a:r>
              <a:rPr lang="en-US" altLang="zh-CN" dirty="0"/>
              <a:t>1970</a:t>
            </a:r>
            <a:r>
              <a:rPr lang="zh-CN" altLang="en-US" dirty="0"/>
              <a:t>年代广泛用于计算机。</a:t>
            </a:r>
            <a:endParaRPr kumimoji="1" lang="en-US" altLang="zh-CN" dirty="0"/>
          </a:p>
        </p:txBody>
      </p:sp>
      <p:sp>
        <p:nvSpPr>
          <p:cNvPr id="14" name="文本框 13">
            <a:extLst>
              <a:ext uri="{FF2B5EF4-FFF2-40B4-BE49-F238E27FC236}">
                <a16:creationId xmlns:a16="http://schemas.microsoft.com/office/drawing/2014/main" id="{1D766E01-C0D5-6148-993D-9C1BB8FCC874}"/>
              </a:ext>
            </a:extLst>
          </p:cNvPr>
          <p:cNvSpPr txBox="1"/>
          <p:nvPr/>
        </p:nvSpPr>
        <p:spPr>
          <a:xfrm>
            <a:off x="938494" y="4954588"/>
            <a:ext cx="2468585" cy="646331"/>
          </a:xfrm>
          <a:prstGeom prst="rect">
            <a:avLst/>
          </a:prstGeom>
          <a:noFill/>
        </p:spPr>
        <p:txBody>
          <a:bodyPr wrap="square" rtlCol="0">
            <a:spAutoFit/>
          </a:bodyPr>
          <a:lstStyle/>
          <a:p>
            <a:r>
              <a:rPr kumimoji="1" lang="zh-CN" altLang="en-US" dirty="0"/>
              <a:t>穿孔卡的</a:t>
            </a:r>
            <a:r>
              <a:rPr kumimoji="1" lang="en-US" altLang="zh-CN" dirty="0"/>
              <a:t>Reader</a:t>
            </a:r>
            <a:r>
              <a:rPr kumimoji="1" lang="zh-CN" altLang="en-US" dirty="0"/>
              <a:t> 和</a:t>
            </a:r>
            <a:endParaRPr kumimoji="1" lang="en-US" altLang="zh-CN" dirty="0"/>
          </a:p>
          <a:p>
            <a:r>
              <a:rPr kumimoji="1" lang="zh-CN" altLang="en-US" dirty="0"/>
              <a:t>穿孔卡</a:t>
            </a:r>
            <a:r>
              <a:rPr kumimoji="1" lang="en-US" altLang="zh-CN" dirty="0"/>
              <a:t>Writer</a:t>
            </a:r>
            <a:endParaRPr kumimoji="1" lang="zh-CN" altLang="en-US" dirty="0"/>
          </a:p>
        </p:txBody>
      </p:sp>
      <p:sp>
        <p:nvSpPr>
          <p:cNvPr id="9" name="文本框 8">
            <a:extLst>
              <a:ext uri="{FF2B5EF4-FFF2-40B4-BE49-F238E27FC236}">
                <a16:creationId xmlns:a16="http://schemas.microsoft.com/office/drawing/2014/main" id="{82733C78-B3ED-B741-A882-3714B0B7F9E9}"/>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存储设备的发展</a:t>
            </a:r>
            <a:endParaRPr kumimoji="1" lang="en-US" altLang="zh-CN" sz="28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82443182"/>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pic>
        <p:nvPicPr>
          <p:cNvPr id="5" name="图片 4">
            <a:extLst>
              <a:ext uri="{FF2B5EF4-FFF2-40B4-BE49-F238E27FC236}">
                <a16:creationId xmlns:a16="http://schemas.microsoft.com/office/drawing/2014/main" id="{D8C0B46C-4920-DF4F-AF6B-B6BADEFF965C}"/>
              </a:ext>
            </a:extLst>
          </p:cNvPr>
          <p:cNvPicPr>
            <a:picLocks noChangeAspect="1"/>
          </p:cNvPicPr>
          <p:nvPr/>
        </p:nvPicPr>
        <p:blipFill>
          <a:blip r:embed="rId3"/>
          <a:stretch>
            <a:fillRect/>
          </a:stretch>
        </p:blipFill>
        <p:spPr>
          <a:xfrm>
            <a:off x="911095" y="1454150"/>
            <a:ext cx="7797800" cy="3949700"/>
          </a:xfrm>
          <a:prstGeom prst="rect">
            <a:avLst/>
          </a:prstGeom>
        </p:spPr>
      </p:pic>
      <p:sp>
        <p:nvSpPr>
          <p:cNvPr id="2" name="文本框 1">
            <a:extLst>
              <a:ext uri="{FF2B5EF4-FFF2-40B4-BE49-F238E27FC236}">
                <a16:creationId xmlns:a16="http://schemas.microsoft.com/office/drawing/2014/main" id="{4EC27DEB-E513-BC4F-BE66-AF87943B7246}"/>
              </a:ext>
            </a:extLst>
          </p:cNvPr>
          <p:cNvSpPr txBox="1"/>
          <p:nvPr/>
        </p:nvSpPr>
        <p:spPr>
          <a:xfrm>
            <a:off x="4121063" y="5575727"/>
            <a:ext cx="1107996" cy="461665"/>
          </a:xfrm>
          <a:prstGeom prst="rect">
            <a:avLst/>
          </a:prstGeom>
          <a:noFill/>
        </p:spPr>
        <p:txBody>
          <a:bodyPr wrap="none" rtlCol="0">
            <a:spAutoFit/>
          </a:bodyPr>
          <a:lstStyle/>
          <a:p>
            <a:r>
              <a:rPr kumimoji="1" lang="zh-CN" altLang="en-US" sz="2400" dirty="0">
                <a:latin typeface="Lantinghei SC Demibold" panose="02000000000000000000" pitchFamily="2" charset="-122"/>
                <a:ea typeface="Lantinghei SC Demibold" panose="02000000000000000000" pitchFamily="2" charset="-122"/>
              </a:rPr>
              <a:t>穿孔带</a:t>
            </a:r>
            <a:endParaRPr kumimoji="1" lang="en-US" altLang="zh-CN" sz="2400" dirty="0"/>
          </a:p>
        </p:txBody>
      </p:sp>
      <p:sp>
        <p:nvSpPr>
          <p:cNvPr id="6" name="文本框 5">
            <a:extLst>
              <a:ext uri="{FF2B5EF4-FFF2-40B4-BE49-F238E27FC236}">
                <a16:creationId xmlns:a16="http://schemas.microsoft.com/office/drawing/2014/main" id="{0E38A42D-C022-8A4D-B9DA-C1C37C5B262E}"/>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存储设备的发展</a:t>
            </a:r>
            <a:endParaRPr kumimoji="1" lang="en-US" altLang="zh-CN" sz="28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591878850"/>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pic>
        <p:nvPicPr>
          <p:cNvPr id="9" name="图片 8">
            <a:extLst>
              <a:ext uri="{FF2B5EF4-FFF2-40B4-BE49-F238E27FC236}">
                <a16:creationId xmlns:a16="http://schemas.microsoft.com/office/drawing/2014/main" id="{08776222-8FB4-004E-84B2-BB2E81BF174A}"/>
              </a:ext>
            </a:extLst>
          </p:cNvPr>
          <p:cNvPicPr>
            <a:picLocks noChangeAspect="1"/>
          </p:cNvPicPr>
          <p:nvPr/>
        </p:nvPicPr>
        <p:blipFill>
          <a:blip r:embed="rId3"/>
          <a:stretch>
            <a:fillRect/>
          </a:stretch>
        </p:blipFill>
        <p:spPr>
          <a:xfrm>
            <a:off x="566576" y="1361591"/>
            <a:ext cx="5289342" cy="2724011"/>
          </a:xfrm>
          <a:prstGeom prst="rect">
            <a:avLst/>
          </a:prstGeom>
        </p:spPr>
      </p:pic>
      <p:pic>
        <p:nvPicPr>
          <p:cNvPr id="2" name="图片 1">
            <a:extLst>
              <a:ext uri="{FF2B5EF4-FFF2-40B4-BE49-F238E27FC236}">
                <a16:creationId xmlns:a16="http://schemas.microsoft.com/office/drawing/2014/main" id="{2F43B192-E21B-164F-81CC-D599708AE6AC}"/>
              </a:ext>
            </a:extLst>
          </p:cNvPr>
          <p:cNvPicPr>
            <a:picLocks noChangeAspect="1"/>
          </p:cNvPicPr>
          <p:nvPr/>
        </p:nvPicPr>
        <p:blipFill>
          <a:blip r:embed="rId4"/>
          <a:stretch>
            <a:fillRect/>
          </a:stretch>
        </p:blipFill>
        <p:spPr>
          <a:xfrm>
            <a:off x="3896100" y="4085602"/>
            <a:ext cx="4681324" cy="2316448"/>
          </a:xfrm>
          <a:prstGeom prst="rect">
            <a:avLst/>
          </a:prstGeom>
        </p:spPr>
      </p:pic>
      <p:sp>
        <p:nvSpPr>
          <p:cNvPr id="4" name="文本框 3">
            <a:extLst>
              <a:ext uri="{FF2B5EF4-FFF2-40B4-BE49-F238E27FC236}">
                <a16:creationId xmlns:a16="http://schemas.microsoft.com/office/drawing/2014/main" id="{780D0B90-D77E-8543-8E37-7292CE069C97}"/>
              </a:ext>
            </a:extLst>
          </p:cNvPr>
          <p:cNvSpPr txBox="1"/>
          <p:nvPr/>
        </p:nvSpPr>
        <p:spPr>
          <a:xfrm>
            <a:off x="5855918" y="1938767"/>
            <a:ext cx="3338186" cy="1292662"/>
          </a:xfrm>
          <a:prstGeom prst="rect">
            <a:avLst/>
          </a:prstGeom>
          <a:noFill/>
        </p:spPr>
        <p:txBody>
          <a:bodyPr wrap="square" rtlCol="0">
            <a:spAutoFit/>
          </a:bodyPr>
          <a:lstStyle/>
          <a:p>
            <a:r>
              <a:rPr kumimoji="1" lang="zh-CN" altLang="en-US" sz="2400" dirty="0">
                <a:latin typeface="Lantinghei SC Demibold" panose="02000000000000000000" pitchFamily="2" charset="-122"/>
                <a:ea typeface="Lantinghei SC Demibold" panose="02000000000000000000" pitchFamily="2" charset="-122"/>
              </a:rPr>
              <a:t>磁带 </a:t>
            </a:r>
            <a:r>
              <a:rPr kumimoji="1" lang="en-US" altLang="zh-CN" sz="1400" b="1" dirty="0">
                <a:latin typeface="+mj-lt"/>
                <a:ea typeface="Lantinghei SC Demibold" panose="02000000000000000000" pitchFamily="2" charset="-122"/>
              </a:rPr>
              <a:t>(</a:t>
            </a:r>
            <a:r>
              <a:rPr lang="fr-FR" altLang="zh-CN" b="1" dirty="0" err="1">
                <a:latin typeface="+mj-lt"/>
              </a:rPr>
              <a:t>Magnetic</a:t>
            </a:r>
            <a:r>
              <a:rPr lang="fr-FR" altLang="zh-CN" b="1" dirty="0">
                <a:latin typeface="+mj-lt"/>
              </a:rPr>
              <a:t> Tape</a:t>
            </a:r>
            <a:r>
              <a:rPr lang="en-US" altLang="zh-CN" b="1" dirty="0">
                <a:latin typeface="+mj-lt"/>
              </a:rPr>
              <a:t>)</a:t>
            </a:r>
            <a:endParaRPr lang="fr-FR" altLang="zh-CN" b="1" dirty="0">
              <a:latin typeface="+mj-lt"/>
            </a:endParaRPr>
          </a:p>
          <a:p>
            <a:pPr marL="285750" indent="-285750">
              <a:buFont typeface="Arial" panose="020B0604020202020204" pitchFamily="34" charset="0"/>
              <a:buChar char="•"/>
            </a:pPr>
            <a:r>
              <a:rPr kumimoji="1" lang="zh-CN" altLang="en-US" dirty="0"/>
              <a:t>左图 </a:t>
            </a:r>
            <a:r>
              <a:rPr kumimoji="1" lang="en-US" altLang="zh-CN" dirty="0"/>
              <a:t>1951</a:t>
            </a:r>
            <a:r>
              <a:rPr kumimoji="1" lang="zh-CN" altLang="en-US" dirty="0"/>
              <a:t>年 </a:t>
            </a:r>
            <a:r>
              <a:rPr lang="fr-FR" altLang="zh-CN" dirty="0"/>
              <a:t>UNIVAC I </a:t>
            </a:r>
            <a:r>
              <a:rPr lang="zh-CN" altLang="fr-FR" dirty="0"/>
              <a:t>计算机</a:t>
            </a:r>
            <a:endParaRPr lang="en-US" altLang="zh-CN" dirty="0"/>
          </a:p>
          <a:p>
            <a:pPr marL="285750" indent="-285750">
              <a:buFont typeface="Arial" panose="020B0604020202020204" pitchFamily="34" charset="0"/>
              <a:buChar char="•"/>
            </a:pPr>
            <a:r>
              <a:rPr kumimoji="1" lang="zh-CN" altLang="en-US" dirty="0"/>
              <a:t>右图 </a:t>
            </a:r>
            <a:r>
              <a:rPr kumimoji="1" lang="en-US" altLang="zh-CN" dirty="0"/>
              <a:t>1971</a:t>
            </a:r>
            <a:r>
              <a:rPr kumimoji="1" lang="zh-CN" altLang="en-US" dirty="0"/>
              <a:t>年 </a:t>
            </a:r>
            <a:r>
              <a:rPr lang="fr-FR" altLang="zh-CN" dirty="0"/>
              <a:t>IBM 3410 </a:t>
            </a:r>
            <a:r>
              <a:rPr lang="fr-FR" altLang="zh-CN" dirty="0" err="1"/>
              <a:t>Magnetic</a:t>
            </a:r>
            <a:r>
              <a:rPr lang="fr-FR" altLang="zh-CN" dirty="0"/>
              <a:t> Tape </a:t>
            </a:r>
            <a:r>
              <a:rPr lang="fr-FR" altLang="zh-CN" dirty="0" err="1"/>
              <a:t>Subsystem</a:t>
            </a:r>
            <a:endParaRPr kumimoji="1" lang="zh-CN" altLang="en-US" dirty="0"/>
          </a:p>
        </p:txBody>
      </p:sp>
      <p:sp>
        <p:nvSpPr>
          <p:cNvPr id="11" name="文本框 10">
            <a:extLst>
              <a:ext uri="{FF2B5EF4-FFF2-40B4-BE49-F238E27FC236}">
                <a16:creationId xmlns:a16="http://schemas.microsoft.com/office/drawing/2014/main" id="{38135318-F761-B44C-B03C-C766381CCF02}"/>
              </a:ext>
            </a:extLst>
          </p:cNvPr>
          <p:cNvSpPr txBox="1"/>
          <p:nvPr/>
        </p:nvSpPr>
        <p:spPr>
          <a:xfrm>
            <a:off x="662297" y="4755088"/>
            <a:ext cx="3233803" cy="1138773"/>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rPr>
              <a:t>70~80</a:t>
            </a:r>
            <a:r>
              <a:rPr kumimoji="1" lang="zh-CN" altLang="en-US" b="1" dirty="0">
                <a:latin typeface="Microsoft YaHei" panose="020B0503020204020204" pitchFamily="34" charset="-122"/>
                <a:ea typeface="Microsoft YaHei" panose="020B0503020204020204" pitchFamily="34" charset="-122"/>
              </a:rPr>
              <a:t>年代用于个人电脑</a:t>
            </a:r>
            <a:r>
              <a:rPr kumimoji="1" lang="en-US" altLang="zh-CN" b="1" dirty="0">
                <a:latin typeface="Microsoft YaHei" panose="020B0503020204020204" pitchFamily="34" charset="-122"/>
                <a:ea typeface="Microsoft YaHei" panose="020B0503020204020204" pitchFamily="34" charset="-122"/>
              </a:rPr>
              <a:t>(PC)</a:t>
            </a:r>
            <a:r>
              <a:rPr kumimoji="1" lang="zh-CN" altLang="en-US" b="1" dirty="0">
                <a:latin typeface="Microsoft YaHei" panose="020B0503020204020204" pitchFamily="34" charset="-122"/>
                <a:ea typeface="Microsoft YaHei" panose="020B0503020204020204" pitchFamily="34" charset="-122"/>
              </a:rPr>
              <a:t>的小型磁带。</a:t>
            </a:r>
            <a:endParaRPr kumimoji="1" lang="en-US" altLang="zh-CN" b="1"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1600" dirty="0">
                <a:latin typeface="Microsoft YaHei" panose="020B0503020204020204" pitchFamily="34" charset="-122"/>
                <a:ea typeface="Microsoft YaHei" panose="020B0503020204020204" pitchFamily="34" charset="-122"/>
              </a:rPr>
              <a:t>速度约 </a:t>
            </a:r>
            <a:r>
              <a:rPr kumimoji="1" lang="en-US" altLang="zh-CN" sz="1600" dirty="0">
                <a:latin typeface="Microsoft YaHei" panose="020B0503020204020204" pitchFamily="34" charset="-122"/>
                <a:ea typeface="Microsoft YaHei" panose="020B0503020204020204" pitchFamily="34" charset="-122"/>
              </a:rPr>
              <a:t>250</a:t>
            </a:r>
            <a:r>
              <a:rPr kumimoji="1" lang="zh-CN" altLang="en-US" sz="1600" dirty="0">
                <a:latin typeface="Microsoft YaHei" panose="020B0503020204020204" pitchFamily="34" charset="-122"/>
                <a:ea typeface="Microsoft YaHei" panose="020B0503020204020204" pitchFamily="34" charset="-122"/>
              </a:rPr>
              <a:t> </a:t>
            </a:r>
            <a:r>
              <a:rPr kumimoji="1" lang="en-US" altLang="zh-CN" sz="1600" dirty="0">
                <a:latin typeface="Microsoft YaHei" panose="020B0503020204020204" pitchFamily="34" charset="-122"/>
                <a:ea typeface="Microsoft YaHei" panose="020B0503020204020204" pitchFamily="34" charset="-122"/>
              </a:rPr>
              <a:t>Byte/s</a:t>
            </a:r>
          </a:p>
          <a:p>
            <a:pPr marL="285750" indent="-285750">
              <a:buFont typeface="Arial" panose="020B0604020202020204" pitchFamily="34" charset="0"/>
              <a:buChar char="•"/>
            </a:pPr>
            <a:r>
              <a:rPr kumimoji="1" lang="zh-CN" altLang="en-US" sz="1600" dirty="0">
                <a:latin typeface="Microsoft YaHei" panose="020B0503020204020204" pitchFamily="34" charset="-122"/>
                <a:ea typeface="Microsoft YaHei" panose="020B0503020204020204" pitchFamily="34" charset="-122"/>
              </a:rPr>
              <a:t>大小单面约</a:t>
            </a:r>
            <a:r>
              <a:rPr kumimoji="1" lang="en-US" altLang="zh-CN" sz="1600" dirty="0">
                <a:latin typeface="Microsoft YaHei" panose="020B0503020204020204" pitchFamily="34" charset="-122"/>
                <a:ea typeface="Microsoft YaHei" panose="020B0503020204020204" pitchFamily="34" charset="-122"/>
              </a:rPr>
              <a:t>660</a:t>
            </a:r>
            <a:r>
              <a:rPr kumimoji="1" lang="zh-CN" altLang="en-US" sz="1600" dirty="0">
                <a:latin typeface="Microsoft YaHei" panose="020B0503020204020204" pitchFamily="34" charset="-122"/>
                <a:ea typeface="Microsoft YaHei" panose="020B0503020204020204" pitchFamily="34" charset="-122"/>
              </a:rPr>
              <a:t> </a:t>
            </a:r>
            <a:r>
              <a:rPr kumimoji="1" lang="en-US" altLang="zh-CN" sz="1600" dirty="0">
                <a:latin typeface="Microsoft YaHei" panose="020B0503020204020204" pitchFamily="34" charset="-122"/>
                <a:ea typeface="Microsoft YaHei" panose="020B0503020204020204" pitchFamily="34" charset="-122"/>
              </a:rPr>
              <a:t>KB</a:t>
            </a:r>
            <a:r>
              <a:rPr kumimoji="1" lang="zh-CN" altLang="en-US" sz="1600" dirty="0">
                <a:latin typeface="Microsoft YaHei" panose="020B0503020204020204" pitchFamily="34" charset="-122"/>
                <a:ea typeface="Microsoft YaHei" panose="020B0503020204020204" pitchFamily="34" charset="-122"/>
              </a:rPr>
              <a:t>。</a:t>
            </a:r>
            <a:endParaRPr kumimoji="1" lang="en-US" altLang="zh-CN" sz="1600" dirty="0">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DC431E40-8EBC-1F4A-86B6-BA762464F3AD}"/>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存储设备的发展</a:t>
            </a:r>
            <a:endParaRPr kumimoji="1" lang="en-US" altLang="zh-CN" sz="28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366310398"/>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pic>
        <p:nvPicPr>
          <p:cNvPr id="16" name="图片 15">
            <a:extLst>
              <a:ext uri="{FF2B5EF4-FFF2-40B4-BE49-F238E27FC236}">
                <a16:creationId xmlns:a16="http://schemas.microsoft.com/office/drawing/2014/main" id="{DF213FD4-0AA6-DA45-B5F4-7E1E772E1618}"/>
              </a:ext>
            </a:extLst>
          </p:cNvPr>
          <p:cNvPicPr>
            <a:picLocks noChangeAspect="1"/>
          </p:cNvPicPr>
          <p:nvPr/>
        </p:nvPicPr>
        <p:blipFill>
          <a:blip r:embed="rId3"/>
          <a:stretch>
            <a:fillRect/>
          </a:stretch>
        </p:blipFill>
        <p:spPr>
          <a:xfrm>
            <a:off x="2237215" y="1655741"/>
            <a:ext cx="4375804" cy="3546518"/>
          </a:xfrm>
          <a:prstGeom prst="rect">
            <a:avLst/>
          </a:prstGeom>
        </p:spPr>
      </p:pic>
      <p:sp>
        <p:nvSpPr>
          <p:cNvPr id="20" name="文本框 19">
            <a:extLst>
              <a:ext uri="{FF2B5EF4-FFF2-40B4-BE49-F238E27FC236}">
                <a16:creationId xmlns:a16="http://schemas.microsoft.com/office/drawing/2014/main" id="{24D6F2EA-75E8-444F-B9B6-81404D591529}"/>
              </a:ext>
            </a:extLst>
          </p:cNvPr>
          <p:cNvSpPr txBox="1"/>
          <p:nvPr/>
        </p:nvSpPr>
        <p:spPr>
          <a:xfrm>
            <a:off x="4171890" y="5544434"/>
            <a:ext cx="800219" cy="461665"/>
          </a:xfrm>
          <a:prstGeom prst="rect">
            <a:avLst/>
          </a:prstGeom>
          <a:noFill/>
        </p:spPr>
        <p:txBody>
          <a:bodyPr wrap="none" rtlCol="0">
            <a:spAutoFit/>
          </a:bodyPr>
          <a:lstStyle/>
          <a:p>
            <a:r>
              <a:rPr kumimoji="1" lang="zh-CN" altLang="en-US" sz="2400" b="1" dirty="0">
                <a:latin typeface="Microsoft YaHei" charset="-122"/>
                <a:ea typeface="Microsoft YaHei" charset="-122"/>
                <a:cs typeface="Microsoft YaHei" charset="-122"/>
              </a:rPr>
              <a:t>磁带</a:t>
            </a:r>
            <a:endParaRPr kumimoji="1" lang="zh-CN" altLang="en-US" dirty="0">
              <a:latin typeface="Microsoft YaHei" charset="-122"/>
              <a:ea typeface="Microsoft YaHei" charset="-122"/>
              <a:cs typeface="Microsoft YaHei" charset="-122"/>
            </a:endParaRPr>
          </a:p>
        </p:txBody>
      </p:sp>
      <p:sp>
        <p:nvSpPr>
          <p:cNvPr id="22" name="文本框 21">
            <a:extLst>
              <a:ext uri="{FF2B5EF4-FFF2-40B4-BE49-F238E27FC236}">
                <a16:creationId xmlns:a16="http://schemas.microsoft.com/office/drawing/2014/main" id="{84B5EF5B-434D-B44E-987A-DE93ABDA1EC3}"/>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存储设备的发展</a:t>
            </a:r>
            <a:endParaRPr kumimoji="1" lang="en-US" altLang="zh-CN" sz="28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3600332326"/>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pic>
        <p:nvPicPr>
          <p:cNvPr id="2" name="图片 1"/>
          <p:cNvPicPr>
            <a:picLocks noChangeAspect="1"/>
          </p:cNvPicPr>
          <p:nvPr/>
        </p:nvPicPr>
        <p:blipFill>
          <a:blip r:embed="rId3"/>
          <a:stretch>
            <a:fillRect/>
          </a:stretch>
        </p:blipFill>
        <p:spPr>
          <a:xfrm>
            <a:off x="577850" y="1803400"/>
            <a:ext cx="3980360" cy="3429000"/>
          </a:xfrm>
          <a:prstGeom prst="rect">
            <a:avLst/>
          </a:prstGeom>
        </p:spPr>
      </p:pic>
      <p:sp>
        <p:nvSpPr>
          <p:cNvPr id="3" name="文本框 2"/>
          <p:cNvSpPr txBox="1"/>
          <p:nvPr/>
        </p:nvSpPr>
        <p:spPr>
          <a:xfrm>
            <a:off x="2201522" y="5324475"/>
            <a:ext cx="4966424" cy="1012906"/>
          </a:xfrm>
          <a:prstGeom prst="rect">
            <a:avLst/>
          </a:prstGeom>
          <a:noFill/>
        </p:spPr>
        <p:txBody>
          <a:bodyPr wrap="none" rtlCol="0">
            <a:spAutoFit/>
          </a:bodyPr>
          <a:lstStyle/>
          <a:p>
            <a:pPr>
              <a:lnSpc>
                <a:spcPct val="150000"/>
              </a:lnSpc>
            </a:pPr>
            <a:r>
              <a:rPr kumimoji="1" lang="zh-CN" altLang="en-US" sz="2400" b="1" dirty="0">
                <a:latin typeface="Microsoft YaHei" charset="-122"/>
                <a:ea typeface="Microsoft YaHei" charset="-122"/>
                <a:cs typeface="Microsoft YaHei" charset="-122"/>
              </a:rPr>
              <a:t>硬盘 </a:t>
            </a:r>
            <a:r>
              <a:rPr kumimoji="1" lang="en-US" altLang="zh-CN" b="1" dirty="0">
                <a:latin typeface="Microsoft YaHei" charset="-122"/>
                <a:ea typeface="Microsoft YaHei" charset="-122"/>
                <a:cs typeface="Microsoft YaHei" charset="-122"/>
              </a:rPr>
              <a:t>(Hard</a:t>
            </a:r>
            <a:r>
              <a:rPr kumimoji="1" lang="zh-CN" altLang="en-US" b="1" dirty="0">
                <a:latin typeface="Microsoft YaHei" charset="-122"/>
                <a:ea typeface="Microsoft YaHei" charset="-122"/>
                <a:cs typeface="Microsoft YaHei" charset="-122"/>
              </a:rPr>
              <a:t> </a:t>
            </a:r>
            <a:r>
              <a:rPr kumimoji="1" lang="en-US" altLang="zh-CN" b="1" dirty="0">
                <a:latin typeface="Microsoft YaHei" charset="-122"/>
                <a:ea typeface="Microsoft YaHei" charset="-122"/>
                <a:cs typeface="Microsoft YaHei" charset="-122"/>
              </a:rPr>
              <a:t>Disk</a:t>
            </a:r>
            <a:r>
              <a:rPr kumimoji="1" lang="zh-CN" altLang="en-US" b="1" dirty="0">
                <a:latin typeface="Microsoft YaHei" charset="-122"/>
                <a:ea typeface="Microsoft YaHei" charset="-122"/>
                <a:cs typeface="Microsoft YaHei" charset="-122"/>
              </a:rPr>
              <a:t> </a:t>
            </a:r>
            <a:r>
              <a:rPr kumimoji="1" lang="en-US" altLang="zh-CN" b="1" dirty="0">
                <a:latin typeface="Microsoft YaHei" charset="-122"/>
                <a:ea typeface="Microsoft YaHei" charset="-122"/>
                <a:cs typeface="Microsoft YaHei" charset="-122"/>
              </a:rPr>
              <a:t>Drive)</a:t>
            </a:r>
            <a:r>
              <a:rPr kumimoji="1" lang="zh-CN" altLang="en-US" b="1" dirty="0">
                <a:latin typeface="Microsoft YaHei" charset="-122"/>
                <a:ea typeface="Microsoft YaHei" charset="-122"/>
                <a:cs typeface="Microsoft YaHei" charset="-122"/>
              </a:rPr>
              <a:t>   </a:t>
            </a:r>
            <a:endParaRPr kumimoji="1" lang="en-US" altLang="zh-CN" b="1" dirty="0">
              <a:latin typeface="Microsoft YaHei" charset="-122"/>
              <a:ea typeface="Microsoft YaHei" charset="-122"/>
              <a:cs typeface="Microsoft YaHei" charset="-122"/>
            </a:endParaRPr>
          </a:p>
          <a:p>
            <a:pPr>
              <a:lnSpc>
                <a:spcPct val="150000"/>
              </a:lnSpc>
            </a:pPr>
            <a:r>
              <a:rPr kumimoji="1" lang="en-US" altLang="zh-CN" dirty="0">
                <a:latin typeface="Microsoft YaHei" charset="-122"/>
                <a:ea typeface="Microsoft YaHei" charset="-122"/>
                <a:cs typeface="Microsoft YaHei" charset="-122"/>
              </a:rPr>
              <a:t>1956</a:t>
            </a:r>
            <a:r>
              <a:rPr kumimoji="1" lang="zh-CN" altLang="en-US" dirty="0">
                <a:latin typeface="Microsoft YaHei" charset="-122"/>
                <a:ea typeface="Microsoft YaHei" charset="-122"/>
                <a:cs typeface="Microsoft YaHei" charset="-122"/>
              </a:rPr>
              <a:t>年， </a:t>
            </a:r>
            <a:r>
              <a:rPr kumimoji="1" lang="en-US" altLang="zh-CN" dirty="0">
                <a:latin typeface="Microsoft YaHei" charset="-122"/>
                <a:ea typeface="Microsoft YaHei" charset="-122"/>
                <a:cs typeface="Microsoft YaHei" charset="-122"/>
              </a:rPr>
              <a:t>IBM</a:t>
            </a:r>
            <a:r>
              <a:rPr kumimoji="1" lang="zh-CN" altLang="en-US" dirty="0">
                <a:latin typeface="Microsoft YaHei" charset="-122"/>
                <a:ea typeface="Microsoft YaHei" charset="-122"/>
                <a:cs typeface="Microsoft YaHei" charset="-122"/>
              </a:rPr>
              <a:t>的世界上第一块硬盘，容量</a:t>
            </a:r>
            <a:r>
              <a:rPr kumimoji="1" lang="en-US" altLang="zh-CN" dirty="0">
                <a:latin typeface="Microsoft YaHei" charset="-122"/>
                <a:ea typeface="Microsoft YaHei" charset="-122"/>
                <a:cs typeface="Microsoft YaHei" charset="-122"/>
              </a:rPr>
              <a:t>5MB</a:t>
            </a:r>
            <a:endParaRPr kumimoji="1" lang="zh-CN" altLang="en-US" dirty="0">
              <a:latin typeface="Microsoft YaHei" charset="-122"/>
              <a:ea typeface="Microsoft YaHei" charset="-122"/>
              <a:cs typeface="Microsoft YaHei" charset="-122"/>
            </a:endParaRPr>
          </a:p>
        </p:txBody>
      </p:sp>
      <p:pic>
        <p:nvPicPr>
          <p:cNvPr id="4" name="图片 3"/>
          <p:cNvPicPr>
            <a:picLocks noChangeAspect="1"/>
          </p:cNvPicPr>
          <p:nvPr/>
        </p:nvPicPr>
        <p:blipFill>
          <a:blip r:embed="rId4"/>
          <a:stretch>
            <a:fillRect/>
          </a:stretch>
        </p:blipFill>
        <p:spPr>
          <a:xfrm>
            <a:off x="5156200" y="1771651"/>
            <a:ext cx="3632200" cy="3460680"/>
          </a:xfrm>
          <a:prstGeom prst="rect">
            <a:avLst/>
          </a:prstGeom>
        </p:spPr>
      </p:pic>
      <p:sp>
        <p:nvSpPr>
          <p:cNvPr id="8" name="文本框 7">
            <a:extLst>
              <a:ext uri="{FF2B5EF4-FFF2-40B4-BE49-F238E27FC236}">
                <a16:creationId xmlns:a16="http://schemas.microsoft.com/office/drawing/2014/main" id="{15522D8A-E52F-C74F-B0F2-CCE5F5074E82}"/>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存储设备的发展</a:t>
            </a:r>
            <a:endParaRPr kumimoji="1" lang="en-US" altLang="zh-CN" sz="28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239100791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3" name="文本框 2"/>
          <p:cNvSpPr txBox="1"/>
          <p:nvPr/>
        </p:nvSpPr>
        <p:spPr>
          <a:xfrm>
            <a:off x="2222628" y="5681299"/>
            <a:ext cx="3137397" cy="461665"/>
          </a:xfrm>
          <a:prstGeom prst="rect">
            <a:avLst/>
          </a:prstGeom>
          <a:noFill/>
        </p:spPr>
        <p:txBody>
          <a:bodyPr wrap="none" rtlCol="0">
            <a:spAutoFit/>
          </a:bodyPr>
          <a:lstStyle/>
          <a:p>
            <a:r>
              <a:rPr kumimoji="1" lang="zh-CN" altLang="en-US" sz="2400" b="1" dirty="0">
                <a:latin typeface="Microsoft YaHei" charset="-122"/>
                <a:ea typeface="Microsoft YaHei" charset="-122"/>
                <a:cs typeface="Microsoft YaHei" charset="-122"/>
              </a:rPr>
              <a:t>软盘</a:t>
            </a:r>
            <a:r>
              <a:rPr kumimoji="1" lang="zh-CN" altLang="en-US" sz="2400" dirty="0">
                <a:latin typeface="Microsoft YaHei" charset="-122"/>
                <a:ea typeface="Microsoft YaHei" charset="-122"/>
                <a:cs typeface="Microsoft YaHei" charset="-122"/>
              </a:rPr>
              <a:t>  </a:t>
            </a:r>
            <a:r>
              <a:rPr kumimoji="1" lang="en-US" altLang="zh-CN" dirty="0">
                <a:latin typeface="Microsoft YaHei" charset="-122"/>
                <a:ea typeface="Microsoft YaHei" charset="-122"/>
                <a:cs typeface="Microsoft YaHei" charset="-122"/>
              </a:rPr>
              <a:t>70</a:t>
            </a:r>
            <a:r>
              <a:rPr kumimoji="1" lang="zh-CN" altLang="en-US" dirty="0">
                <a:latin typeface="Microsoft YaHei" charset="-122"/>
                <a:ea typeface="Microsoft YaHei" charset="-122"/>
                <a:cs typeface="Microsoft YaHei" charset="-122"/>
              </a:rPr>
              <a:t>到</a:t>
            </a:r>
            <a:r>
              <a:rPr kumimoji="1" lang="en-US" altLang="zh-CN" dirty="0">
                <a:latin typeface="Microsoft YaHei" charset="-122"/>
                <a:ea typeface="Microsoft YaHei" charset="-122"/>
                <a:cs typeface="Microsoft YaHei" charset="-122"/>
              </a:rPr>
              <a:t>90</a:t>
            </a:r>
            <a:r>
              <a:rPr kumimoji="1" lang="zh-CN" altLang="en-US" dirty="0">
                <a:latin typeface="Microsoft YaHei" charset="-122"/>
                <a:ea typeface="Microsoft YaHei" charset="-122"/>
                <a:cs typeface="Microsoft YaHei" charset="-122"/>
              </a:rPr>
              <a:t>年代广泛使用</a:t>
            </a:r>
          </a:p>
        </p:txBody>
      </p:sp>
      <p:pic>
        <p:nvPicPr>
          <p:cNvPr id="5" name="图片 4">
            <a:extLst>
              <a:ext uri="{FF2B5EF4-FFF2-40B4-BE49-F238E27FC236}">
                <a16:creationId xmlns:a16="http://schemas.microsoft.com/office/drawing/2014/main" id="{105B1C91-1FB9-1844-9688-10C2E3D418AE}"/>
              </a:ext>
            </a:extLst>
          </p:cNvPr>
          <p:cNvPicPr>
            <a:picLocks noChangeAspect="1"/>
          </p:cNvPicPr>
          <p:nvPr/>
        </p:nvPicPr>
        <p:blipFill>
          <a:blip r:embed="rId3"/>
          <a:stretch>
            <a:fillRect/>
          </a:stretch>
        </p:blipFill>
        <p:spPr>
          <a:xfrm>
            <a:off x="889000" y="1606550"/>
            <a:ext cx="7366000" cy="3644900"/>
          </a:xfrm>
          <a:prstGeom prst="rect">
            <a:avLst/>
          </a:prstGeom>
        </p:spPr>
      </p:pic>
      <p:sp>
        <p:nvSpPr>
          <p:cNvPr id="6" name="文本框 5">
            <a:extLst>
              <a:ext uri="{FF2B5EF4-FFF2-40B4-BE49-F238E27FC236}">
                <a16:creationId xmlns:a16="http://schemas.microsoft.com/office/drawing/2014/main" id="{A46763DB-C16C-CA45-920F-515232908A1F}"/>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存储设备的发展</a:t>
            </a:r>
            <a:endParaRPr kumimoji="1" lang="en-US" altLang="zh-CN" sz="28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704502261"/>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3" name="文本框 2"/>
          <p:cNvSpPr txBox="1"/>
          <p:nvPr/>
        </p:nvSpPr>
        <p:spPr>
          <a:xfrm>
            <a:off x="2354567" y="5686510"/>
            <a:ext cx="2305439" cy="461665"/>
          </a:xfrm>
          <a:prstGeom prst="rect">
            <a:avLst/>
          </a:prstGeom>
          <a:noFill/>
        </p:spPr>
        <p:txBody>
          <a:bodyPr wrap="none" rtlCol="0">
            <a:spAutoFit/>
          </a:bodyPr>
          <a:lstStyle/>
          <a:p>
            <a:r>
              <a:rPr kumimoji="1" lang="zh-CN" altLang="en-US" sz="2400" b="1" dirty="0">
                <a:latin typeface="Microsoft YaHei" charset="-122"/>
                <a:ea typeface="Microsoft YaHei" charset="-122"/>
                <a:cs typeface="Microsoft YaHei" charset="-122"/>
              </a:rPr>
              <a:t>光盘   </a:t>
            </a:r>
            <a:r>
              <a:rPr kumimoji="1" lang="en-US" altLang="zh-CN" dirty="0">
                <a:latin typeface="Microsoft YaHei" charset="-122"/>
                <a:ea typeface="Microsoft YaHei" charset="-122"/>
                <a:cs typeface="Microsoft YaHei" charset="-122"/>
              </a:rPr>
              <a:t>1978</a:t>
            </a:r>
            <a:r>
              <a:rPr kumimoji="1" lang="zh-CN" altLang="en-US" dirty="0">
                <a:latin typeface="Microsoft YaHei" charset="-122"/>
                <a:ea typeface="Microsoft YaHei" charset="-122"/>
                <a:cs typeface="Microsoft YaHei" charset="-122"/>
              </a:rPr>
              <a:t>年面世</a:t>
            </a:r>
          </a:p>
        </p:txBody>
      </p:sp>
      <p:pic>
        <p:nvPicPr>
          <p:cNvPr id="4" name="图片 3">
            <a:extLst>
              <a:ext uri="{FF2B5EF4-FFF2-40B4-BE49-F238E27FC236}">
                <a16:creationId xmlns:a16="http://schemas.microsoft.com/office/drawing/2014/main" id="{F6385A35-95D2-C44F-9667-1F1F2FD31E62}"/>
              </a:ext>
            </a:extLst>
          </p:cNvPr>
          <p:cNvPicPr>
            <a:picLocks noChangeAspect="1"/>
          </p:cNvPicPr>
          <p:nvPr/>
        </p:nvPicPr>
        <p:blipFill>
          <a:blip r:embed="rId3"/>
          <a:stretch>
            <a:fillRect/>
          </a:stretch>
        </p:blipFill>
        <p:spPr>
          <a:xfrm>
            <a:off x="788791" y="1606550"/>
            <a:ext cx="7366000" cy="3644900"/>
          </a:xfrm>
          <a:prstGeom prst="rect">
            <a:avLst/>
          </a:prstGeom>
        </p:spPr>
      </p:pic>
      <p:sp>
        <p:nvSpPr>
          <p:cNvPr id="6" name="文本框 5">
            <a:extLst>
              <a:ext uri="{FF2B5EF4-FFF2-40B4-BE49-F238E27FC236}">
                <a16:creationId xmlns:a16="http://schemas.microsoft.com/office/drawing/2014/main" id="{ED2F736D-649D-6146-919D-1880BB44FEA2}"/>
              </a:ext>
            </a:extLst>
          </p:cNvPr>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存储设备的发展</a:t>
            </a:r>
            <a:endParaRPr kumimoji="1" lang="en-US" altLang="zh-CN" sz="28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301461807"/>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7" name="文本框 6"/>
          <p:cNvSpPr txBox="1"/>
          <p:nvPr/>
        </p:nvSpPr>
        <p:spPr>
          <a:xfrm>
            <a:off x="654258" y="58977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存储设备的发展</a:t>
            </a:r>
            <a:endParaRPr kumimoji="1" lang="en-US" altLang="zh-CN" sz="2800" dirty="0">
              <a:latin typeface="Microsoft YaHei" charset="-122"/>
              <a:ea typeface="Microsoft YaHei" charset="-122"/>
              <a:cs typeface="Microsoft YaHei" charset="-122"/>
            </a:endParaRPr>
          </a:p>
        </p:txBody>
      </p:sp>
      <p:pic>
        <p:nvPicPr>
          <p:cNvPr id="5" name="图片 4">
            <a:extLst>
              <a:ext uri="{FF2B5EF4-FFF2-40B4-BE49-F238E27FC236}">
                <a16:creationId xmlns:a16="http://schemas.microsoft.com/office/drawing/2014/main" id="{C16D21D9-69F7-C149-AE56-FC457B9F1FBA}"/>
              </a:ext>
            </a:extLst>
          </p:cNvPr>
          <p:cNvPicPr>
            <a:picLocks noChangeAspect="1"/>
          </p:cNvPicPr>
          <p:nvPr/>
        </p:nvPicPr>
        <p:blipFill>
          <a:blip r:embed="rId3"/>
          <a:stretch>
            <a:fillRect/>
          </a:stretch>
        </p:blipFill>
        <p:spPr>
          <a:xfrm>
            <a:off x="1521390" y="1720658"/>
            <a:ext cx="6101219" cy="3416683"/>
          </a:xfrm>
          <a:prstGeom prst="rect">
            <a:avLst/>
          </a:prstGeom>
        </p:spPr>
      </p:pic>
      <p:sp>
        <p:nvSpPr>
          <p:cNvPr id="14" name="文本框 13">
            <a:extLst>
              <a:ext uri="{FF2B5EF4-FFF2-40B4-BE49-F238E27FC236}">
                <a16:creationId xmlns:a16="http://schemas.microsoft.com/office/drawing/2014/main" id="{1854D581-675F-454E-ACDA-40EA8B9EDF02}"/>
              </a:ext>
            </a:extLst>
          </p:cNvPr>
          <p:cNvSpPr txBox="1"/>
          <p:nvPr/>
        </p:nvSpPr>
        <p:spPr>
          <a:xfrm>
            <a:off x="2318153" y="5344894"/>
            <a:ext cx="3137205" cy="461665"/>
          </a:xfrm>
          <a:prstGeom prst="rect">
            <a:avLst/>
          </a:prstGeom>
          <a:noFill/>
        </p:spPr>
        <p:txBody>
          <a:bodyPr wrap="none" rtlCol="0">
            <a:spAutoFit/>
          </a:bodyPr>
          <a:lstStyle/>
          <a:p>
            <a:r>
              <a:rPr kumimoji="1" lang="en-US" altLang="zh-CN" sz="2400" b="1" dirty="0">
                <a:latin typeface="Microsoft YaHei" charset="-122"/>
                <a:ea typeface="Microsoft YaHei" charset="-122"/>
                <a:cs typeface="Microsoft YaHei" charset="-122"/>
              </a:rPr>
              <a:t>SSD</a:t>
            </a:r>
            <a:r>
              <a:rPr kumimoji="1" lang="zh-CN" altLang="en-US" sz="2400" b="1" dirty="0">
                <a:latin typeface="Microsoft YaHei" charset="-122"/>
                <a:ea typeface="Microsoft YaHei" charset="-122"/>
                <a:cs typeface="Microsoft YaHei" charset="-122"/>
              </a:rPr>
              <a:t>  </a:t>
            </a:r>
            <a:r>
              <a:rPr kumimoji="1" lang="en-US" altLang="zh-CN" dirty="0">
                <a:latin typeface="Microsoft YaHei" charset="-122"/>
                <a:ea typeface="Microsoft YaHei" charset="-122"/>
                <a:cs typeface="Microsoft YaHei" charset="-122"/>
              </a:rPr>
              <a:t>(Solid</a:t>
            </a:r>
            <a:r>
              <a:rPr kumimoji="1" lang="zh-CN" altLang="en-US" dirty="0">
                <a:latin typeface="Microsoft YaHei" charset="-122"/>
                <a:ea typeface="Microsoft YaHei" charset="-122"/>
                <a:cs typeface="Microsoft YaHei" charset="-122"/>
              </a:rPr>
              <a:t> </a:t>
            </a:r>
            <a:r>
              <a:rPr kumimoji="1" lang="en-US" altLang="zh-CN" dirty="0">
                <a:latin typeface="Microsoft YaHei" charset="-122"/>
                <a:ea typeface="Microsoft YaHei" charset="-122"/>
                <a:cs typeface="Microsoft YaHei" charset="-122"/>
              </a:rPr>
              <a:t>State</a:t>
            </a:r>
            <a:r>
              <a:rPr kumimoji="1" lang="zh-CN" altLang="en-US" dirty="0">
                <a:latin typeface="Microsoft YaHei" charset="-122"/>
                <a:ea typeface="Microsoft YaHei" charset="-122"/>
                <a:cs typeface="Microsoft YaHei" charset="-122"/>
              </a:rPr>
              <a:t> </a:t>
            </a:r>
            <a:r>
              <a:rPr kumimoji="1" lang="en-US" altLang="zh-CN" dirty="0">
                <a:latin typeface="Microsoft YaHei" charset="-122"/>
                <a:ea typeface="Microsoft YaHei" charset="-122"/>
                <a:cs typeface="Microsoft YaHei" charset="-122"/>
              </a:rPr>
              <a:t>Driver)</a:t>
            </a:r>
            <a:endParaRPr kumimoji="1" lang="zh-CN" altLang="en-US"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2223109436"/>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7" name="文本框 6"/>
          <p:cNvSpPr txBox="1"/>
          <p:nvPr/>
        </p:nvSpPr>
        <p:spPr>
          <a:xfrm>
            <a:off x="708772" y="527145"/>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现在流行的存储设备</a:t>
            </a:r>
            <a:r>
              <a:rPr kumimoji="1" lang="en-US" altLang="zh-CN" sz="2800" dirty="0">
                <a:latin typeface="Microsoft YaHei" charset="-122"/>
                <a:ea typeface="Microsoft YaHei" charset="-122"/>
                <a:cs typeface="Microsoft YaHei" charset="-122"/>
              </a:rPr>
              <a:t>…</a:t>
            </a:r>
          </a:p>
        </p:txBody>
      </p:sp>
      <p:pic>
        <p:nvPicPr>
          <p:cNvPr id="2" name="图片 1">
            <a:extLst>
              <a:ext uri="{FF2B5EF4-FFF2-40B4-BE49-F238E27FC236}">
                <a16:creationId xmlns:a16="http://schemas.microsoft.com/office/drawing/2014/main" id="{23386DC5-6D10-E84B-B289-32D3005FDD8E}"/>
              </a:ext>
            </a:extLst>
          </p:cNvPr>
          <p:cNvPicPr>
            <a:picLocks noChangeAspect="1"/>
          </p:cNvPicPr>
          <p:nvPr/>
        </p:nvPicPr>
        <p:blipFill>
          <a:blip r:embed="rId3"/>
          <a:stretch>
            <a:fillRect/>
          </a:stretch>
        </p:blipFill>
        <p:spPr>
          <a:xfrm>
            <a:off x="2683595" y="2463266"/>
            <a:ext cx="1553134" cy="1179900"/>
          </a:xfrm>
          <a:prstGeom prst="rect">
            <a:avLst/>
          </a:prstGeom>
        </p:spPr>
      </p:pic>
      <p:pic>
        <p:nvPicPr>
          <p:cNvPr id="10" name="图片 9">
            <a:extLst>
              <a:ext uri="{FF2B5EF4-FFF2-40B4-BE49-F238E27FC236}">
                <a16:creationId xmlns:a16="http://schemas.microsoft.com/office/drawing/2014/main" id="{9789AB4B-571B-1F41-BBBD-B7D976372E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3170" y="2516180"/>
            <a:ext cx="1288603" cy="1288603"/>
          </a:xfrm>
          <a:prstGeom prst="rect">
            <a:avLst/>
          </a:prstGeom>
        </p:spPr>
      </p:pic>
      <p:pic>
        <p:nvPicPr>
          <p:cNvPr id="12" name="图片 11">
            <a:extLst>
              <a:ext uri="{FF2B5EF4-FFF2-40B4-BE49-F238E27FC236}">
                <a16:creationId xmlns:a16="http://schemas.microsoft.com/office/drawing/2014/main" id="{56EB7FA3-64AB-F445-BD3A-46F982BDE0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76334" y="2424665"/>
            <a:ext cx="2290850" cy="1288603"/>
          </a:xfrm>
          <a:prstGeom prst="rect">
            <a:avLst/>
          </a:prstGeom>
        </p:spPr>
      </p:pic>
      <p:sp>
        <p:nvSpPr>
          <p:cNvPr id="5" name="文本框 4">
            <a:extLst>
              <a:ext uri="{FF2B5EF4-FFF2-40B4-BE49-F238E27FC236}">
                <a16:creationId xmlns:a16="http://schemas.microsoft.com/office/drawing/2014/main" id="{88BC5410-1B3C-C44D-BBFF-34135FF50ACD}"/>
              </a:ext>
            </a:extLst>
          </p:cNvPr>
          <p:cNvSpPr txBox="1"/>
          <p:nvPr/>
        </p:nvSpPr>
        <p:spPr>
          <a:xfrm>
            <a:off x="7329289" y="3789033"/>
            <a:ext cx="1184940" cy="369332"/>
          </a:xfrm>
          <a:prstGeom prst="rect">
            <a:avLst/>
          </a:prstGeom>
          <a:noFill/>
        </p:spPr>
        <p:txBody>
          <a:bodyPr wrap="none" rtlCol="0">
            <a:spAutoFit/>
          </a:bodyPr>
          <a:lstStyle/>
          <a:p>
            <a:r>
              <a:rPr kumimoji="1" lang="en-US" altLang="zh-CN" dirty="0" err="1"/>
              <a:t>NVMe</a:t>
            </a:r>
            <a:r>
              <a:rPr kumimoji="1" lang="zh-CN" altLang="en-US" dirty="0"/>
              <a:t> </a:t>
            </a:r>
            <a:r>
              <a:rPr kumimoji="1" lang="en-US" altLang="zh-CN" dirty="0"/>
              <a:t>SSD</a:t>
            </a:r>
            <a:endParaRPr kumimoji="1" lang="zh-CN" altLang="en-US" dirty="0"/>
          </a:p>
        </p:txBody>
      </p:sp>
      <p:sp>
        <p:nvSpPr>
          <p:cNvPr id="14" name="文本框 13">
            <a:extLst>
              <a:ext uri="{FF2B5EF4-FFF2-40B4-BE49-F238E27FC236}">
                <a16:creationId xmlns:a16="http://schemas.microsoft.com/office/drawing/2014/main" id="{BE739FA1-973B-7B42-A9B9-F0C127094A9E}"/>
              </a:ext>
            </a:extLst>
          </p:cNvPr>
          <p:cNvSpPr txBox="1"/>
          <p:nvPr/>
        </p:nvSpPr>
        <p:spPr>
          <a:xfrm>
            <a:off x="5085184" y="3789033"/>
            <a:ext cx="1038233" cy="369332"/>
          </a:xfrm>
          <a:prstGeom prst="rect">
            <a:avLst/>
          </a:prstGeom>
          <a:noFill/>
        </p:spPr>
        <p:txBody>
          <a:bodyPr wrap="none" rtlCol="0">
            <a:spAutoFit/>
          </a:bodyPr>
          <a:lstStyle/>
          <a:p>
            <a:r>
              <a:rPr kumimoji="1" lang="en-US" altLang="zh-CN" dirty="0"/>
              <a:t>SATA</a:t>
            </a:r>
            <a:r>
              <a:rPr kumimoji="1" lang="zh-CN" altLang="en-US" dirty="0"/>
              <a:t> </a:t>
            </a:r>
            <a:r>
              <a:rPr kumimoji="1" lang="en-US" altLang="zh-CN" dirty="0"/>
              <a:t>SSD</a:t>
            </a:r>
            <a:endParaRPr kumimoji="1" lang="zh-CN" altLang="en-US" dirty="0"/>
          </a:p>
        </p:txBody>
      </p:sp>
      <p:sp>
        <p:nvSpPr>
          <p:cNvPr id="15" name="文本框 14">
            <a:extLst>
              <a:ext uri="{FF2B5EF4-FFF2-40B4-BE49-F238E27FC236}">
                <a16:creationId xmlns:a16="http://schemas.microsoft.com/office/drawing/2014/main" id="{77263292-B0C0-F64E-9DBE-9ED553C589BA}"/>
              </a:ext>
            </a:extLst>
          </p:cNvPr>
          <p:cNvSpPr txBox="1"/>
          <p:nvPr/>
        </p:nvSpPr>
        <p:spPr>
          <a:xfrm>
            <a:off x="3153027" y="3804783"/>
            <a:ext cx="614271" cy="369332"/>
          </a:xfrm>
          <a:prstGeom prst="rect">
            <a:avLst/>
          </a:prstGeom>
          <a:noFill/>
        </p:spPr>
        <p:txBody>
          <a:bodyPr wrap="none" rtlCol="0">
            <a:spAutoFit/>
          </a:bodyPr>
          <a:lstStyle/>
          <a:p>
            <a:r>
              <a:rPr kumimoji="1" lang="en-US" altLang="zh-CN" dirty="0"/>
              <a:t>HDD</a:t>
            </a:r>
            <a:endParaRPr kumimoji="1" lang="zh-CN" altLang="en-US" dirty="0"/>
          </a:p>
        </p:txBody>
      </p:sp>
      <p:pic>
        <p:nvPicPr>
          <p:cNvPr id="11" name="图片 10">
            <a:extLst>
              <a:ext uri="{FF2B5EF4-FFF2-40B4-BE49-F238E27FC236}">
                <a16:creationId xmlns:a16="http://schemas.microsoft.com/office/drawing/2014/main" id="{95840136-BE03-D34F-AE3C-5FB0F6CE4A67}"/>
              </a:ext>
            </a:extLst>
          </p:cNvPr>
          <p:cNvPicPr>
            <a:picLocks noChangeAspect="1"/>
          </p:cNvPicPr>
          <p:nvPr/>
        </p:nvPicPr>
        <p:blipFill>
          <a:blip r:embed="rId6"/>
          <a:stretch>
            <a:fillRect/>
          </a:stretch>
        </p:blipFill>
        <p:spPr>
          <a:xfrm>
            <a:off x="196440" y="2210135"/>
            <a:ext cx="2190890" cy="1686163"/>
          </a:xfrm>
          <a:prstGeom prst="rect">
            <a:avLst/>
          </a:prstGeom>
        </p:spPr>
      </p:pic>
      <p:sp>
        <p:nvSpPr>
          <p:cNvPr id="13" name="文本框 12">
            <a:extLst>
              <a:ext uri="{FF2B5EF4-FFF2-40B4-BE49-F238E27FC236}">
                <a16:creationId xmlns:a16="http://schemas.microsoft.com/office/drawing/2014/main" id="{4C042FE6-FA86-B148-9448-06D62BEEE21E}"/>
              </a:ext>
            </a:extLst>
          </p:cNvPr>
          <p:cNvSpPr txBox="1"/>
          <p:nvPr/>
        </p:nvSpPr>
        <p:spPr>
          <a:xfrm>
            <a:off x="965087" y="3804783"/>
            <a:ext cx="626710" cy="369332"/>
          </a:xfrm>
          <a:prstGeom prst="rect">
            <a:avLst/>
          </a:prstGeom>
          <a:noFill/>
        </p:spPr>
        <p:txBody>
          <a:bodyPr wrap="none" rtlCol="0">
            <a:spAutoFit/>
          </a:bodyPr>
          <a:lstStyle/>
          <a:p>
            <a:r>
              <a:rPr kumimoji="1" lang="en-US" altLang="zh-CN" dirty="0"/>
              <a:t>Tape</a:t>
            </a:r>
            <a:endParaRPr kumimoji="1" lang="zh-CN" altLang="en-US" dirty="0"/>
          </a:p>
        </p:txBody>
      </p:sp>
    </p:spTree>
    <p:extLst>
      <p:ext uri="{BB962C8B-B14F-4D97-AF65-F5344CB8AC3E}">
        <p14:creationId xmlns:p14="http://schemas.microsoft.com/office/powerpoint/2010/main" val="4010670768"/>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7" name="文本框 6"/>
          <p:cNvSpPr txBox="1"/>
          <p:nvPr/>
        </p:nvSpPr>
        <p:spPr>
          <a:xfrm>
            <a:off x="660623" y="539671"/>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新兴存储设备</a:t>
            </a:r>
            <a:r>
              <a:rPr kumimoji="1" lang="en-US" altLang="zh-CN" sz="2800" dirty="0">
                <a:latin typeface="Microsoft YaHei" charset="-122"/>
                <a:ea typeface="Microsoft YaHei" charset="-122"/>
                <a:cs typeface="Microsoft YaHei" charset="-122"/>
              </a:rPr>
              <a:t>…</a:t>
            </a:r>
          </a:p>
        </p:txBody>
      </p:sp>
      <p:pic>
        <p:nvPicPr>
          <p:cNvPr id="2" name="图片 1">
            <a:extLst>
              <a:ext uri="{FF2B5EF4-FFF2-40B4-BE49-F238E27FC236}">
                <a16:creationId xmlns:a16="http://schemas.microsoft.com/office/drawing/2014/main" id="{23386DC5-6D10-E84B-B289-32D3005FDD8E}"/>
              </a:ext>
            </a:extLst>
          </p:cNvPr>
          <p:cNvPicPr>
            <a:picLocks noChangeAspect="1"/>
          </p:cNvPicPr>
          <p:nvPr/>
        </p:nvPicPr>
        <p:blipFill>
          <a:blip r:embed="rId3"/>
          <a:stretch>
            <a:fillRect/>
          </a:stretch>
        </p:blipFill>
        <p:spPr>
          <a:xfrm>
            <a:off x="2838168" y="2839540"/>
            <a:ext cx="1228009" cy="932906"/>
          </a:xfrm>
          <a:prstGeom prst="rect">
            <a:avLst/>
          </a:prstGeom>
        </p:spPr>
      </p:pic>
      <p:pic>
        <p:nvPicPr>
          <p:cNvPr id="10" name="图片 9">
            <a:extLst>
              <a:ext uri="{FF2B5EF4-FFF2-40B4-BE49-F238E27FC236}">
                <a16:creationId xmlns:a16="http://schemas.microsoft.com/office/drawing/2014/main" id="{9789AB4B-571B-1F41-BBBD-B7D976372E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9408" y="2753592"/>
            <a:ext cx="1018854" cy="1018854"/>
          </a:xfrm>
          <a:prstGeom prst="rect">
            <a:avLst/>
          </a:prstGeom>
        </p:spPr>
      </p:pic>
      <p:pic>
        <p:nvPicPr>
          <p:cNvPr id="12" name="图片 11">
            <a:extLst>
              <a:ext uri="{FF2B5EF4-FFF2-40B4-BE49-F238E27FC236}">
                <a16:creationId xmlns:a16="http://schemas.microsoft.com/office/drawing/2014/main" id="{56EB7FA3-64AB-F445-BD3A-46F982BDE0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4527" y="2678141"/>
            <a:ext cx="1811296" cy="1018854"/>
          </a:xfrm>
          <a:prstGeom prst="rect">
            <a:avLst/>
          </a:prstGeom>
        </p:spPr>
      </p:pic>
      <p:sp>
        <p:nvSpPr>
          <p:cNvPr id="5" name="文本框 4">
            <a:extLst>
              <a:ext uri="{FF2B5EF4-FFF2-40B4-BE49-F238E27FC236}">
                <a16:creationId xmlns:a16="http://schemas.microsoft.com/office/drawing/2014/main" id="{88BC5410-1B3C-C44D-BBFF-34135FF50ACD}"/>
              </a:ext>
            </a:extLst>
          </p:cNvPr>
          <p:cNvSpPr txBox="1"/>
          <p:nvPr/>
        </p:nvSpPr>
        <p:spPr>
          <a:xfrm>
            <a:off x="5871697" y="3940623"/>
            <a:ext cx="1152778" cy="338554"/>
          </a:xfrm>
          <a:prstGeom prst="rect">
            <a:avLst/>
          </a:prstGeom>
          <a:noFill/>
        </p:spPr>
        <p:txBody>
          <a:bodyPr wrap="square" rtlCol="0">
            <a:spAutoFit/>
          </a:bodyPr>
          <a:lstStyle/>
          <a:p>
            <a:r>
              <a:rPr kumimoji="1" lang="en-US" altLang="zh-CN" sz="1600" dirty="0" err="1"/>
              <a:t>NVMe</a:t>
            </a:r>
            <a:r>
              <a:rPr kumimoji="1" lang="zh-CN" altLang="en-US" sz="1600" dirty="0"/>
              <a:t> </a:t>
            </a:r>
            <a:r>
              <a:rPr kumimoji="1" lang="en-US" altLang="zh-CN" sz="1600" dirty="0"/>
              <a:t>SSD</a:t>
            </a:r>
            <a:endParaRPr kumimoji="1" lang="zh-CN" altLang="en-US" sz="1600" dirty="0"/>
          </a:p>
        </p:txBody>
      </p:sp>
      <p:sp>
        <p:nvSpPr>
          <p:cNvPr id="14" name="文本框 13">
            <a:extLst>
              <a:ext uri="{FF2B5EF4-FFF2-40B4-BE49-F238E27FC236}">
                <a16:creationId xmlns:a16="http://schemas.microsoft.com/office/drawing/2014/main" id="{BE739FA1-973B-7B42-A9B9-F0C127094A9E}"/>
              </a:ext>
            </a:extLst>
          </p:cNvPr>
          <p:cNvSpPr txBox="1"/>
          <p:nvPr/>
        </p:nvSpPr>
        <p:spPr>
          <a:xfrm>
            <a:off x="4299408" y="3928531"/>
            <a:ext cx="1152778" cy="369332"/>
          </a:xfrm>
          <a:prstGeom prst="rect">
            <a:avLst/>
          </a:prstGeom>
          <a:noFill/>
        </p:spPr>
        <p:txBody>
          <a:bodyPr wrap="square" rtlCol="0">
            <a:spAutoFit/>
          </a:bodyPr>
          <a:lstStyle/>
          <a:p>
            <a:r>
              <a:rPr kumimoji="1" lang="en-US" altLang="zh-CN" dirty="0"/>
              <a:t>SATA</a:t>
            </a:r>
            <a:r>
              <a:rPr kumimoji="1" lang="zh-CN" altLang="en-US" dirty="0"/>
              <a:t> </a:t>
            </a:r>
            <a:r>
              <a:rPr kumimoji="1" lang="en-US" altLang="zh-CN" dirty="0"/>
              <a:t>SSD</a:t>
            </a:r>
            <a:endParaRPr kumimoji="1" lang="zh-CN" altLang="en-US" dirty="0"/>
          </a:p>
        </p:txBody>
      </p:sp>
      <p:sp>
        <p:nvSpPr>
          <p:cNvPr id="15" name="文本框 14">
            <a:extLst>
              <a:ext uri="{FF2B5EF4-FFF2-40B4-BE49-F238E27FC236}">
                <a16:creationId xmlns:a16="http://schemas.microsoft.com/office/drawing/2014/main" id="{77263292-B0C0-F64E-9DBE-9ED553C589BA}"/>
              </a:ext>
            </a:extLst>
          </p:cNvPr>
          <p:cNvSpPr txBox="1"/>
          <p:nvPr/>
        </p:nvSpPr>
        <p:spPr>
          <a:xfrm>
            <a:off x="3223202" y="3916491"/>
            <a:ext cx="717515" cy="369332"/>
          </a:xfrm>
          <a:prstGeom prst="rect">
            <a:avLst/>
          </a:prstGeom>
          <a:noFill/>
        </p:spPr>
        <p:txBody>
          <a:bodyPr wrap="square" rtlCol="0">
            <a:spAutoFit/>
          </a:bodyPr>
          <a:lstStyle/>
          <a:p>
            <a:r>
              <a:rPr kumimoji="1" lang="en-US" altLang="zh-CN" dirty="0"/>
              <a:t>HDD</a:t>
            </a:r>
            <a:endParaRPr kumimoji="1" lang="zh-CN" altLang="en-US" dirty="0"/>
          </a:p>
        </p:txBody>
      </p:sp>
      <p:pic>
        <p:nvPicPr>
          <p:cNvPr id="11" name="图片 10">
            <a:extLst>
              <a:ext uri="{FF2B5EF4-FFF2-40B4-BE49-F238E27FC236}">
                <a16:creationId xmlns:a16="http://schemas.microsoft.com/office/drawing/2014/main" id="{95840136-BE03-D34F-AE3C-5FB0F6CE4A67}"/>
              </a:ext>
            </a:extLst>
          </p:cNvPr>
          <p:cNvPicPr>
            <a:picLocks noChangeAspect="1"/>
          </p:cNvPicPr>
          <p:nvPr/>
        </p:nvPicPr>
        <p:blipFill>
          <a:blip r:embed="rId6"/>
          <a:stretch>
            <a:fillRect/>
          </a:stretch>
        </p:blipFill>
        <p:spPr>
          <a:xfrm>
            <a:off x="-205507" y="2520973"/>
            <a:ext cx="1732261" cy="1333191"/>
          </a:xfrm>
          <a:prstGeom prst="rect">
            <a:avLst/>
          </a:prstGeom>
        </p:spPr>
      </p:pic>
      <p:sp>
        <p:nvSpPr>
          <p:cNvPr id="13" name="文本框 12">
            <a:extLst>
              <a:ext uri="{FF2B5EF4-FFF2-40B4-BE49-F238E27FC236}">
                <a16:creationId xmlns:a16="http://schemas.microsoft.com/office/drawing/2014/main" id="{4C042FE6-FA86-B148-9448-06D62BEEE21E}"/>
              </a:ext>
            </a:extLst>
          </p:cNvPr>
          <p:cNvSpPr txBox="1"/>
          <p:nvPr/>
        </p:nvSpPr>
        <p:spPr>
          <a:xfrm>
            <a:off x="394739" y="3909845"/>
            <a:ext cx="717516" cy="369332"/>
          </a:xfrm>
          <a:prstGeom prst="rect">
            <a:avLst/>
          </a:prstGeom>
          <a:noFill/>
        </p:spPr>
        <p:txBody>
          <a:bodyPr wrap="square" rtlCol="0">
            <a:spAutoFit/>
          </a:bodyPr>
          <a:lstStyle/>
          <a:p>
            <a:r>
              <a:rPr kumimoji="1" lang="en-US" altLang="zh-CN" dirty="0"/>
              <a:t>Tape</a:t>
            </a:r>
            <a:endParaRPr kumimoji="1" lang="zh-CN" altLang="en-US" dirty="0"/>
          </a:p>
        </p:txBody>
      </p:sp>
      <p:cxnSp>
        <p:nvCxnSpPr>
          <p:cNvPr id="6" name="直线箭头连接符 5">
            <a:extLst>
              <a:ext uri="{FF2B5EF4-FFF2-40B4-BE49-F238E27FC236}">
                <a16:creationId xmlns:a16="http://schemas.microsoft.com/office/drawing/2014/main" id="{B96A9853-FF9C-6A46-9565-BDC196CB80A4}"/>
              </a:ext>
            </a:extLst>
          </p:cNvPr>
          <p:cNvCxnSpPr>
            <a:cxnSpLocks/>
          </p:cNvCxnSpPr>
          <p:nvPr/>
        </p:nvCxnSpPr>
        <p:spPr>
          <a:xfrm flipH="1">
            <a:off x="160828" y="4484875"/>
            <a:ext cx="4085495"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8FCDC2FE-F204-6D40-8991-AE10B9D40E39}"/>
              </a:ext>
            </a:extLst>
          </p:cNvPr>
          <p:cNvSpPr txBox="1"/>
          <p:nvPr/>
        </p:nvSpPr>
        <p:spPr>
          <a:xfrm>
            <a:off x="1016188" y="4690574"/>
            <a:ext cx="2092239"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备份数据 成本更低</a:t>
            </a:r>
          </a:p>
        </p:txBody>
      </p:sp>
      <p:pic>
        <p:nvPicPr>
          <p:cNvPr id="16" name="图片 15">
            <a:extLst>
              <a:ext uri="{FF2B5EF4-FFF2-40B4-BE49-F238E27FC236}">
                <a16:creationId xmlns:a16="http://schemas.microsoft.com/office/drawing/2014/main" id="{8C7A0363-E08E-A046-9621-A70EC876C6C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15126" y="3050731"/>
            <a:ext cx="1581577" cy="576146"/>
          </a:xfrm>
          <a:prstGeom prst="rect">
            <a:avLst/>
          </a:prstGeom>
        </p:spPr>
      </p:pic>
      <p:sp>
        <p:nvSpPr>
          <p:cNvPr id="18" name="文本框 17">
            <a:extLst>
              <a:ext uri="{FF2B5EF4-FFF2-40B4-BE49-F238E27FC236}">
                <a16:creationId xmlns:a16="http://schemas.microsoft.com/office/drawing/2014/main" id="{FABD2C4A-5D56-D840-8812-987619A7EDB3}"/>
              </a:ext>
            </a:extLst>
          </p:cNvPr>
          <p:cNvSpPr txBox="1"/>
          <p:nvPr/>
        </p:nvSpPr>
        <p:spPr>
          <a:xfrm>
            <a:off x="7162262" y="3901102"/>
            <a:ext cx="2427223" cy="369332"/>
          </a:xfrm>
          <a:prstGeom prst="rect">
            <a:avLst/>
          </a:prstGeom>
          <a:noFill/>
        </p:spPr>
        <p:txBody>
          <a:bodyPr wrap="square" rtlCol="0">
            <a:spAutoFit/>
          </a:bodyPr>
          <a:lstStyle/>
          <a:p>
            <a:r>
              <a:rPr kumimoji="1" lang="en-US" altLang="zh-CN" b="1" dirty="0"/>
              <a:t>Persistent</a:t>
            </a:r>
            <a:r>
              <a:rPr kumimoji="1" lang="zh-CN" altLang="en-US" b="1" dirty="0"/>
              <a:t> </a:t>
            </a:r>
            <a:r>
              <a:rPr kumimoji="1" lang="en-US" altLang="zh-CN" b="1" dirty="0"/>
              <a:t>Memory</a:t>
            </a:r>
            <a:endParaRPr kumimoji="1" lang="zh-CN" altLang="en-US" b="1" dirty="0"/>
          </a:p>
        </p:txBody>
      </p:sp>
      <p:pic>
        <p:nvPicPr>
          <p:cNvPr id="3" name="图片 2">
            <a:extLst>
              <a:ext uri="{FF2B5EF4-FFF2-40B4-BE49-F238E27FC236}">
                <a16:creationId xmlns:a16="http://schemas.microsoft.com/office/drawing/2014/main" id="{8F55DEE1-EE98-A44D-8015-87E6CB72A2A6}"/>
              </a:ext>
            </a:extLst>
          </p:cNvPr>
          <p:cNvPicPr>
            <a:picLocks noChangeAspect="1"/>
          </p:cNvPicPr>
          <p:nvPr/>
        </p:nvPicPr>
        <p:blipFill>
          <a:blip r:embed="rId8"/>
          <a:stretch>
            <a:fillRect/>
          </a:stretch>
        </p:blipFill>
        <p:spPr>
          <a:xfrm>
            <a:off x="1418862" y="2793490"/>
            <a:ext cx="1127663" cy="1018854"/>
          </a:xfrm>
          <a:prstGeom prst="rect">
            <a:avLst/>
          </a:prstGeom>
        </p:spPr>
      </p:pic>
      <p:sp>
        <p:nvSpPr>
          <p:cNvPr id="19" name="文本框 18">
            <a:extLst>
              <a:ext uri="{FF2B5EF4-FFF2-40B4-BE49-F238E27FC236}">
                <a16:creationId xmlns:a16="http://schemas.microsoft.com/office/drawing/2014/main" id="{73535C67-ADD6-5041-A1BC-0C5E242D7711}"/>
              </a:ext>
            </a:extLst>
          </p:cNvPr>
          <p:cNvSpPr txBox="1"/>
          <p:nvPr/>
        </p:nvSpPr>
        <p:spPr>
          <a:xfrm>
            <a:off x="1350112" y="3901102"/>
            <a:ext cx="1514399" cy="400110"/>
          </a:xfrm>
          <a:prstGeom prst="rect">
            <a:avLst/>
          </a:prstGeom>
          <a:noFill/>
        </p:spPr>
        <p:txBody>
          <a:bodyPr wrap="square" rtlCol="0">
            <a:spAutoFit/>
          </a:bodyPr>
          <a:lstStyle/>
          <a:p>
            <a:r>
              <a:rPr kumimoji="1" lang="en-US" altLang="zh-CN" sz="2000" b="1" dirty="0"/>
              <a:t>SMR</a:t>
            </a:r>
            <a:r>
              <a:rPr kumimoji="1" lang="zh-CN" altLang="en-US" sz="2000" b="1" dirty="0"/>
              <a:t> </a:t>
            </a:r>
            <a:r>
              <a:rPr kumimoji="1" lang="en-US" altLang="zh-CN" sz="2000" b="1" dirty="0"/>
              <a:t>HDD</a:t>
            </a:r>
            <a:endParaRPr kumimoji="1" lang="zh-CN" altLang="en-US" sz="2000" b="1" dirty="0"/>
          </a:p>
        </p:txBody>
      </p:sp>
      <p:cxnSp>
        <p:nvCxnSpPr>
          <p:cNvPr id="20" name="直线箭头连接符 19">
            <a:extLst>
              <a:ext uri="{FF2B5EF4-FFF2-40B4-BE49-F238E27FC236}">
                <a16:creationId xmlns:a16="http://schemas.microsoft.com/office/drawing/2014/main" id="{7446D054-09AB-B140-8664-8C3A9E5B3E2C}"/>
              </a:ext>
            </a:extLst>
          </p:cNvPr>
          <p:cNvCxnSpPr>
            <a:cxnSpLocks/>
          </p:cNvCxnSpPr>
          <p:nvPr/>
        </p:nvCxnSpPr>
        <p:spPr>
          <a:xfrm>
            <a:off x="4572000" y="4484875"/>
            <a:ext cx="4444952"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8495C57D-1FAA-C543-979C-741BC5F8E5CD}"/>
              </a:ext>
            </a:extLst>
          </p:cNvPr>
          <p:cNvSpPr txBox="1"/>
          <p:nvPr/>
        </p:nvSpPr>
        <p:spPr>
          <a:xfrm>
            <a:off x="5871697" y="4690574"/>
            <a:ext cx="2100255" cy="369332"/>
          </a:xfrm>
          <a:prstGeom prst="rect">
            <a:avLst/>
          </a:prstGeom>
          <a:noFill/>
        </p:spPr>
        <p:txBody>
          <a:bodyPr wrap="none" rtlCol="0">
            <a:spAutoFit/>
          </a:bodyPr>
          <a:lstStyle/>
          <a:p>
            <a:r>
              <a:rPr kumimoji="1" lang="zh-CN" altLang="en-US" b="1" dirty="0">
                <a:latin typeface="Microsoft YaHei" panose="020B0503020204020204" pitchFamily="34" charset="-122"/>
                <a:ea typeface="Microsoft YaHei" panose="020B0503020204020204" pitchFamily="34" charset="-122"/>
              </a:rPr>
              <a:t>在线数据 性能更高</a:t>
            </a:r>
          </a:p>
        </p:txBody>
      </p:sp>
    </p:spTree>
    <p:extLst>
      <p:ext uri="{BB962C8B-B14F-4D97-AF65-F5344CB8AC3E}">
        <p14:creationId xmlns:p14="http://schemas.microsoft.com/office/powerpoint/2010/main" val="2618512082"/>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8" name="文本框 7"/>
          <p:cNvSpPr txBox="1"/>
          <p:nvPr/>
        </p:nvSpPr>
        <p:spPr>
          <a:xfrm>
            <a:off x="1376717" y="1173975"/>
            <a:ext cx="1107997" cy="646331"/>
          </a:xfrm>
          <a:prstGeom prst="rect">
            <a:avLst/>
          </a:prstGeom>
          <a:noFill/>
        </p:spPr>
        <p:txBody>
          <a:bodyPr wrap="none" rtlCol="0">
            <a:spAutoFit/>
          </a:bodyPr>
          <a:lstStyle/>
          <a:p>
            <a:pPr algn="ctr"/>
            <a:r>
              <a:rPr kumimoji="1" lang="zh-CN" altLang="en-US" sz="3600" dirty="0">
                <a:solidFill>
                  <a:schemeClr val="bg1">
                    <a:lumMod val="95000"/>
                  </a:schemeClr>
                </a:solidFill>
                <a:latin typeface="Microsoft YaHei" charset="-122"/>
                <a:ea typeface="Microsoft YaHei" charset="-122"/>
                <a:cs typeface="Microsoft YaHei" charset="-122"/>
              </a:rPr>
              <a:t>目录</a:t>
            </a:r>
            <a:endParaRPr kumimoji="1" lang="en-US" altLang="zh-CN" sz="3600" dirty="0">
              <a:solidFill>
                <a:schemeClr val="bg1">
                  <a:lumMod val="95000"/>
                </a:schemeClr>
              </a:solidFill>
              <a:latin typeface="Microsoft YaHei" charset="-122"/>
              <a:ea typeface="Microsoft YaHei" charset="-122"/>
              <a:cs typeface="Microsoft YaHei" charset="-122"/>
            </a:endParaRPr>
          </a:p>
        </p:txBody>
      </p:sp>
      <p:sp>
        <p:nvSpPr>
          <p:cNvPr id="3" name="文本框 2"/>
          <p:cNvSpPr txBox="1"/>
          <p:nvPr/>
        </p:nvSpPr>
        <p:spPr>
          <a:xfrm>
            <a:off x="2770166" y="2411366"/>
            <a:ext cx="5588000" cy="2570704"/>
          </a:xfrm>
          <a:prstGeom prst="rect">
            <a:avLst/>
          </a:prstGeom>
          <a:noFill/>
        </p:spPr>
        <p:txBody>
          <a:bodyPr wrap="square" rtlCol="0">
            <a:spAutoFit/>
          </a:bodyPr>
          <a:lstStyle/>
          <a:p>
            <a:pPr marL="285750" indent="-285750">
              <a:lnSpc>
                <a:spcPct val="150000"/>
              </a:lnSpc>
              <a:buClr>
                <a:schemeClr val="bg1">
                  <a:lumMod val="95000"/>
                </a:schemeClr>
              </a:buClr>
              <a:buSzPct val="75000"/>
              <a:buFont typeface="Wingdings" charset="2"/>
              <a:buChar char="l"/>
            </a:pPr>
            <a:r>
              <a:rPr kumimoji="1" lang="zh-CN" altLang="en-US" sz="2800" dirty="0">
                <a:latin typeface="Microsoft YaHei" charset="-122"/>
                <a:ea typeface="Microsoft YaHei" charset="-122"/>
                <a:cs typeface="Microsoft YaHei" charset="-122"/>
              </a:rPr>
              <a:t>     </a:t>
            </a:r>
            <a:r>
              <a:rPr kumimoji="1" lang="zh-CN" altLang="en-US" sz="2800" dirty="0">
                <a:solidFill>
                  <a:schemeClr val="tx1">
                    <a:lumMod val="50000"/>
                    <a:lumOff val="50000"/>
                  </a:schemeClr>
                </a:solidFill>
                <a:latin typeface="Microsoft YaHei" charset="-122"/>
                <a:ea typeface="Microsoft YaHei" charset="-122"/>
                <a:cs typeface="Microsoft YaHei" charset="-122"/>
              </a:rPr>
              <a:t>存储设备</a:t>
            </a:r>
            <a:endParaRPr kumimoji="1" lang="en-US" altLang="zh-CN" sz="2800" dirty="0">
              <a:solidFill>
                <a:schemeClr val="tx1">
                  <a:lumMod val="50000"/>
                  <a:lumOff val="50000"/>
                </a:schemeClr>
              </a:solidFill>
              <a:latin typeface="Microsoft YaHei" charset="-122"/>
              <a:ea typeface="Microsoft YaHei" charset="-122"/>
              <a:cs typeface="Microsoft YaHei" charset="-122"/>
            </a:endParaRPr>
          </a:p>
          <a:p>
            <a:pPr marL="285750" indent="-285750">
              <a:lnSpc>
                <a:spcPct val="150000"/>
              </a:lnSpc>
              <a:buClr>
                <a:schemeClr val="bg1">
                  <a:lumMod val="95000"/>
                </a:schemeClr>
              </a:buClr>
              <a:buSzPct val="75000"/>
              <a:buFont typeface="Wingdings" charset="2"/>
              <a:buChar char="l"/>
            </a:pPr>
            <a:r>
              <a:rPr kumimoji="1" lang="zh-CN" altLang="en-US" sz="2800" dirty="0">
                <a:latin typeface="Microsoft YaHei" charset="-122"/>
                <a:ea typeface="Microsoft YaHei" charset="-122"/>
                <a:cs typeface="Microsoft YaHei" charset="-122"/>
              </a:rPr>
              <a:t>     存储</a:t>
            </a:r>
            <a:r>
              <a:rPr kumimoji="1" lang="en-US" altLang="zh-CN" sz="2800" dirty="0">
                <a:latin typeface="Microsoft YaHei" charset="-122"/>
                <a:ea typeface="Microsoft YaHei" charset="-122"/>
                <a:cs typeface="Microsoft YaHei" charset="-122"/>
              </a:rPr>
              <a:t>I/O</a:t>
            </a:r>
            <a:r>
              <a:rPr kumimoji="1" lang="zh-CN" altLang="en-US" sz="2800" dirty="0">
                <a:latin typeface="Microsoft YaHei" charset="-122"/>
                <a:ea typeface="Microsoft YaHei" charset="-122"/>
                <a:cs typeface="Microsoft YaHei" charset="-122"/>
              </a:rPr>
              <a:t>性能</a:t>
            </a:r>
            <a:endParaRPr kumimoji="1" lang="en-US" altLang="zh-CN" sz="2800" dirty="0">
              <a:latin typeface="Microsoft YaHei" charset="-122"/>
              <a:ea typeface="Microsoft YaHei" charset="-122"/>
              <a:cs typeface="Microsoft YaHei" charset="-122"/>
            </a:endParaRPr>
          </a:p>
          <a:p>
            <a:pPr marL="1257300" lvl="2" indent="-342900">
              <a:buClr>
                <a:schemeClr val="tx1"/>
              </a:buClr>
              <a:buSzPct val="75000"/>
              <a:buFont typeface="Wingdings" pitchFamily="2" charset="2"/>
              <a:buChar char="l"/>
            </a:pPr>
            <a:r>
              <a:rPr kumimoji="1" lang="zh-CN" altLang="en-US" sz="2000" dirty="0">
                <a:latin typeface="Microsoft YaHei" charset="-122"/>
                <a:ea typeface="Microsoft YaHei" charset="-122"/>
                <a:cs typeface="Microsoft YaHei" charset="-122"/>
              </a:rPr>
              <a:t>性能指标</a:t>
            </a:r>
            <a:endParaRPr kumimoji="1" lang="en-US" altLang="zh-CN" sz="2000" dirty="0">
              <a:latin typeface="Microsoft YaHei" charset="-122"/>
              <a:ea typeface="Microsoft YaHei" charset="-122"/>
              <a:cs typeface="Microsoft YaHei" charset="-122"/>
            </a:endParaRPr>
          </a:p>
          <a:p>
            <a:pPr marL="1257300" lvl="2" indent="-342900">
              <a:buClr>
                <a:schemeClr val="tx1"/>
              </a:buClr>
              <a:buSzPct val="75000"/>
              <a:buFont typeface="Wingdings" pitchFamily="2" charset="2"/>
              <a:buChar char="l"/>
            </a:pPr>
            <a:r>
              <a:rPr kumimoji="1" lang="zh-CN" altLang="en-US" sz="2000" dirty="0">
                <a:latin typeface="Microsoft YaHei" charset="-122"/>
                <a:ea typeface="Microsoft YaHei" charset="-122"/>
                <a:cs typeface="Microsoft YaHei" charset="-122"/>
              </a:rPr>
              <a:t>测试方法</a:t>
            </a:r>
            <a:endParaRPr kumimoji="1" lang="en-US" altLang="zh-CN" sz="2800" dirty="0">
              <a:solidFill>
                <a:schemeClr val="tx1">
                  <a:lumMod val="50000"/>
                  <a:lumOff val="50000"/>
                </a:schemeClr>
              </a:solidFill>
              <a:latin typeface="Microsoft YaHei" charset="-122"/>
              <a:ea typeface="Microsoft YaHei" charset="-122"/>
              <a:cs typeface="Microsoft YaHei" charset="-122"/>
            </a:endParaRPr>
          </a:p>
          <a:p>
            <a:pPr marL="285750" indent="-285750">
              <a:lnSpc>
                <a:spcPct val="150000"/>
              </a:lnSpc>
              <a:buClr>
                <a:schemeClr val="bg1">
                  <a:lumMod val="95000"/>
                </a:schemeClr>
              </a:buClr>
              <a:buSzPct val="75000"/>
              <a:buFont typeface="Wingdings" charset="2"/>
              <a:buChar char="l"/>
            </a:pPr>
            <a:r>
              <a:rPr kumimoji="1" lang="zh-CN" altLang="en-US" sz="2800" dirty="0">
                <a:solidFill>
                  <a:schemeClr val="tx1">
                    <a:lumMod val="50000"/>
                    <a:lumOff val="50000"/>
                  </a:schemeClr>
                </a:solidFill>
                <a:latin typeface="Microsoft YaHei" charset="-122"/>
                <a:ea typeface="Microsoft YaHei" charset="-122"/>
                <a:cs typeface="Microsoft YaHei" charset="-122"/>
              </a:rPr>
              <a:t>     存储设备对系统设计的影响</a:t>
            </a:r>
            <a:endParaRPr kumimoji="1" lang="en-US" altLang="zh-CN" sz="2800" dirty="0">
              <a:solidFill>
                <a:schemeClr val="tx1">
                  <a:lumMod val="50000"/>
                  <a:lumOff val="50000"/>
                </a:schemeClr>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2114159059"/>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3" name="文本框 12">
            <a:extLst>
              <a:ext uri="{FF2B5EF4-FFF2-40B4-BE49-F238E27FC236}">
                <a16:creationId xmlns:a16="http://schemas.microsoft.com/office/drawing/2014/main" id="{3DD9C94B-9069-A44B-91AA-C4049D57B3CF}"/>
              </a:ext>
            </a:extLst>
          </p:cNvPr>
          <p:cNvSpPr txBox="1"/>
          <p:nvPr/>
        </p:nvSpPr>
        <p:spPr>
          <a:xfrm>
            <a:off x="308079" y="552678"/>
            <a:ext cx="59116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存储性能指标</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40B3754F-8982-3449-AEA5-6E481089A48A}"/>
              </a:ext>
            </a:extLst>
          </p:cNvPr>
          <p:cNvSpPr txBox="1"/>
          <p:nvPr/>
        </p:nvSpPr>
        <p:spPr>
          <a:xfrm>
            <a:off x="878681" y="1556277"/>
            <a:ext cx="7386638" cy="1569660"/>
          </a:xfrm>
          <a:prstGeom prst="rect">
            <a:avLst/>
          </a:prstGeom>
          <a:noFill/>
        </p:spPr>
        <p:txBody>
          <a:bodyPr wrap="square" rtlCol="0">
            <a:spAutoFit/>
          </a:bodyPr>
          <a:lstStyle/>
          <a:p>
            <a:r>
              <a:rPr kumimoji="1" lang="zh-CN" altLang="en-US" sz="2000" b="1" dirty="0">
                <a:latin typeface="Microsoft YaHei" panose="020B0503020204020204" pitchFamily="34" charset="-122"/>
                <a:ea typeface="Microsoft YaHei" panose="020B0503020204020204" pitchFamily="34" charset="-122"/>
              </a:rPr>
              <a:t>延迟 </a:t>
            </a:r>
            <a:r>
              <a:rPr kumimoji="1" lang="en-US" altLang="zh-CN" sz="2000" b="1" dirty="0">
                <a:latin typeface="Microsoft YaHei" panose="020B0503020204020204" pitchFamily="34" charset="-122"/>
                <a:ea typeface="Microsoft YaHei" panose="020B0503020204020204" pitchFamily="34" charset="-122"/>
              </a:rPr>
              <a:t>(Latency)</a:t>
            </a:r>
            <a:r>
              <a:rPr kumimoji="1" lang="zh-CN" altLang="en-US" sz="2000" b="1"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完成一次操作的时间。</a:t>
            </a:r>
            <a:endParaRPr kumimoji="1" lang="en-US" altLang="zh-CN" dirty="0">
              <a:latin typeface="Microsoft YaHei" panose="020B0503020204020204" pitchFamily="34" charset="-122"/>
              <a:ea typeface="Microsoft YaHei" panose="020B0503020204020204" pitchFamily="34" charset="-122"/>
            </a:endParaRPr>
          </a:p>
          <a:p>
            <a:endParaRPr kumimoji="1" lang="en-US" altLang="zh-CN" dirty="0">
              <a:latin typeface="Microsoft YaHei" panose="020B0503020204020204" pitchFamily="34" charset="-122"/>
              <a:ea typeface="Microsoft YaHei" panose="020B0503020204020204" pitchFamily="34" charset="-122"/>
            </a:endParaRPr>
          </a:p>
          <a:p>
            <a:r>
              <a:rPr kumimoji="1" lang="zh-CN" altLang="en-US" sz="2000" b="1" dirty="0">
                <a:latin typeface="Microsoft YaHei" panose="020B0503020204020204" pitchFamily="34" charset="-122"/>
                <a:ea typeface="Microsoft YaHei" panose="020B0503020204020204" pitchFamily="34" charset="-122"/>
              </a:rPr>
              <a:t>带宽 </a:t>
            </a:r>
            <a:r>
              <a:rPr kumimoji="1" lang="en-US" altLang="zh-CN" sz="2000" b="1" dirty="0">
                <a:latin typeface="Microsoft YaHei" panose="020B0503020204020204" pitchFamily="34" charset="-122"/>
                <a:ea typeface="Microsoft YaHei" panose="020B0503020204020204" pitchFamily="34" charset="-122"/>
              </a:rPr>
              <a:t>(Bandwidth)</a:t>
            </a:r>
            <a:r>
              <a:rPr kumimoji="1" lang="zh-CN" altLang="en-US" sz="2000" b="1"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读</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写速度，通常单位为</a:t>
            </a:r>
            <a:r>
              <a:rPr kumimoji="1" lang="en-US" altLang="zh-CN" dirty="0">
                <a:latin typeface="Microsoft YaHei" panose="020B0503020204020204" pitchFamily="34" charset="-122"/>
                <a:ea typeface="Microsoft YaHei" panose="020B0503020204020204" pitchFamily="34" charset="-122"/>
              </a:rPr>
              <a:t>MB/s</a:t>
            </a:r>
            <a:r>
              <a:rPr kumimoji="1" lang="zh-CN" altLang="en-US" dirty="0">
                <a:latin typeface="Microsoft YaHei" panose="020B0503020204020204" pitchFamily="34" charset="-122"/>
                <a:ea typeface="Microsoft YaHei" panose="020B0503020204020204" pitchFamily="34" charset="-122"/>
              </a:rPr>
              <a:t> 或 </a:t>
            </a:r>
            <a:r>
              <a:rPr kumimoji="1" lang="en-US" altLang="zh-CN" dirty="0">
                <a:latin typeface="Microsoft YaHei" panose="020B0503020204020204" pitchFamily="34" charset="-122"/>
                <a:ea typeface="Microsoft YaHei" panose="020B0503020204020204" pitchFamily="34" charset="-122"/>
              </a:rPr>
              <a:t>GB/s</a:t>
            </a:r>
            <a:r>
              <a:rPr kumimoji="1" lang="zh-CN" altLang="en-US" dirty="0">
                <a:latin typeface="Microsoft YaHei" panose="020B0503020204020204" pitchFamily="34" charset="-122"/>
                <a:ea typeface="Microsoft YaHei" panose="020B0503020204020204" pitchFamily="34" charset="-122"/>
              </a:rPr>
              <a:t>。</a:t>
            </a:r>
            <a:endParaRPr kumimoji="1" lang="en-US" altLang="zh-CN" dirty="0">
              <a:latin typeface="Microsoft YaHei" panose="020B0503020204020204" pitchFamily="34" charset="-122"/>
              <a:ea typeface="Microsoft YaHei" panose="020B0503020204020204" pitchFamily="34" charset="-122"/>
            </a:endParaRPr>
          </a:p>
          <a:p>
            <a:endParaRPr kumimoji="1" lang="en-US" altLang="zh-CN" dirty="0">
              <a:latin typeface="Microsoft YaHei" panose="020B0503020204020204" pitchFamily="34" charset="-122"/>
              <a:ea typeface="Microsoft YaHei" panose="020B0503020204020204" pitchFamily="34" charset="-122"/>
            </a:endParaRPr>
          </a:p>
          <a:p>
            <a:r>
              <a:rPr kumimoji="1" lang="en-US" altLang="zh-CN" sz="2000" b="1" dirty="0">
                <a:latin typeface="Microsoft YaHei" panose="020B0503020204020204" pitchFamily="34" charset="-122"/>
                <a:ea typeface="Microsoft YaHei" panose="020B0503020204020204" pitchFamily="34" charset="-122"/>
              </a:rPr>
              <a:t>IOPS</a:t>
            </a:r>
            <a:r>
              <a:rPr kumimoji="1" lang="zh-CN" altLang="en-US" sz="2000" b="1" dirty="0">
                <a:latin typeface="Microsoft YaHei" panose="020B0503020204020204" pitchFamily="34" charset="-122"/>
                <a:ea typeface="Microsoft YaHei" panose="020B0503020204020204" pitchFamily="34" charset="-122"/>
              </a:rPr>
              <a:t> </a:t>
            </a:r>
            <a:r>
              <a:rPr kumimoji="1" lang="en-US" altLang="zh-CN" sz="2000" b="1" dirty="0">
                <a:latin typeface="Microsoft YaHei" panose="020B0503020204020204" pitchFamily="34" charset="-122"/>
                <a:ea typeface="Microsoft YaHei" panose="020B0503020204020204" pitchFamily="34" charset="-122"/>
              </a:rPr>
              <a:t>(I/O</a:t>
            </a:r>
            <a:r>
              <a:rPr kumimoji="1" lang="zh-CN" altLang="en-US" sz="2000" b="1" dirty="0">
                <a:latin typeface="Microsoft YaHei" panose="020B0503020204020204" pitchFamily="34" charset="-122"/>
                <a:ea typeface="Microsoft YaHei" panose="020B0503020204020204" pitchFamily="34" charset="-122"/>
              </a:rPr>
              <a:t> </a:t>
            </a:r>
            <a:r>
              <a:rPr kumimoji="1" lang="en-US" altLang="zh-CN" sz="2000" b="1" dirty="0">
                <a:latin typeface="Microsoft YaHei" panose="020B0503020204020204" pitchFamily="34" charset="-122"/>
                <a:ea typeface="Microsoft YaHei" panose="020B0503020204020204" pitchFamily="34" charset="-122"/>
              </a:rPr>
              <a:t>operations</a:t>
            </a:r>
            <a:r>
              <a:rPr kumimoji="1" lang="zh-CN" altLang="en-US" sz="2000" b="1" dirty="0">
                <a:latin typeface="Microsoft YaHei" panose="020B0503020204020204" pitchFamily="34" charset="-122"/>
                <a:ea typeface="Microsoft YaHei" panose="020B0503020204020204" pitchFamily="34" charset="-122"/>
              </a:rPr>
              <a:t> </a:t>
            </a:r>
            <a:r>
              <a:rPr kumimoji="1" lang="en-US" altLang="zh-CN" sz="2000" b="1" dirty="0">
                <a:latin typeface="Microsoft YaHei" panose="020B0503020204020204" pitchFamily="34" charset="-122"/>
                <a:ea typeface="Microsoft YaHei" panose="020B0503020204020204" pitchFamily="34" charset="-122"/>
              </a:rPr>
              <a:t>per</a:t>
            </a:r>
            <a:r>
              <a:rPr kumimoji="1" lang="zh-CN" altLang="en-US" sz="2000" b="1" dirty="0">
                <a:latin typeface="Microsoft YaHei" panose="020B0503020204020204" pitchFamily="34" charset="-122"/>
                <a:ea typeface="Microsoft YaHei" panose="020B0503020204020204" pitchFamily="34" charset="-122"/>
              </a:rPr>
              <a:t> </a:t>
            </a:r>
            <a:r>
              <a:rPr kumimoji="1" lang="en-US" altLang="zh-CN" sz="2000" b="1" dirty="0">
                <a:latin typeface="Microsoft YaHei" panose="020B0503020204020204" pitchFamily="34" charset="-122"/>
                <a:ea typeface="Microsoft YaHei" panose="020B0503020204020204" pitchFamily="34" charset="-122"/>
              </a:rPr>
              <a:t>second)</a:t>
            </a:r>
            <a:r>
              <a:rPr kumimoji="1" lang="zh-CN" altLang="en-US" b="1"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每秒的操作数。</a:t>
            </a:r>
          </a:p>
        </p:txBody>
      </p:sp>
      <p:pic>
        <p:nvPicPr>
          <p:cNvPr id="8" name="图片 7">
            <a:extLst>
              <a:ext uri="{FF2B5EF4-FFF2-40B4-BE49-F238E27FC236}">
                <a16:creationId xmlns:a16="http://schemas.microsoft.com/office/drawing/2014/main" id="{74F2C96D-876B-8B4C-BE32-34A76916C2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5951" y="4112731"/>
            <a:ext cx="1898610" cy="691637"/>
          </a:xfrm>
          <a:prstGeom prst="rect">
            <a:avLst/>
          </a:prstGeom>
        </p:spPr>
      </p:pic>
      <p:sp>
        <p:nvSpPr>
          <p:cNvPr id="10" name="文本框 9">
            <a:extLst>
              <a:ext uri="{FF2B5EF4-FFF2-40B4-BE49-F238E27FC236}">
                <a16:creationId xmlns:a16="http://schemas.microsoft.com/office/drawing/2014/main" id="{D18B0739-0674-314E-AD99-BA7CC0C87C5C}"/>
              </a:ext>
            </a:extLst>
          </p:cNvPr>
          <p:cNvSpPr txBox="1"/>
          <p:nvPr/>
        </p:nvSpPr>
        <p:spPr>
          <a:xfrm>
            <a:off x="4407983" y="3510899"/>
            <a:ext cx="1358969" cy="507831"/>
          </a:xfrm>
          <a:prstGeom prst="rect">
            <a:avLst/>
          </a:prstGeom>
          <a:noFill/>
        </p:spPr>
        <p:txBody>
          <a:bodyPr wrap="square" rtlCol="0">
            <a:spAutoFit/>
          </a:bodyPr>
          <a:lstStyle/>
          <a:p>
            <a:pPr algn="ctr"/>
            <a:r>
              <a:rPr kumimoji="1" lang="zh-CN" altLang="en-US" dirty="0">
                <a:latin typeface="Microsoft YaHei" panose="020B0503020204020204" pitchFamily="34" charset="-122"/>
                <a:ea typeface="Microsoft YaHei" panose="020B0503020204020204" pitchFamily="34" charset="-122"/>
              </a:rPr>
              <a:t>持久型内存</a:t>
            </a:r>
            <a:endParaRPr kumimoji="1" lang="zh-CN" altLang="en-US" sz="2700" dirty="0">
              <a:latin typeface="Microsoft YaHei" panose="020B0503020204020204" pitchFamily="34" charset="-122"/>
              <a:ea typeface="Microsoft YaHei" panose="020B0503020204020204" pitchFamily="34" charset="-122"/>
            </a:endParaRPr>
          </a:p>
        </p:txBody>
      </p:sp>
      <p:sp>
        <p:nvSpPr>
          <p:cNvPr id="11" name="文本框 10">
            <a:extLst>
              <a:ext uri="{FF2B5EF4-FFF2-40B4-BE49-F238E27FC236}">
                <a16:creationId xmlns:a16="http://schemas.microsoft.com/office/drawing/2014/main" id="{2106CD9A-EDA5-DA45-8431-052DF6AC529F}"/>
              </a:ext>
            </a:extLst>
          </p:cNvPr>
          <p:cNvSpPr txBox="1"/>
          <p:nvPr/>
        </p:nvSpPr>
        <p:spPr>
          <a:xfrm>
            <a:off x="2270044" y="3500642"/>
            <a:ext cx="899605" cy="646331"/>
          </a:xfrm>
          <a:prstGeom prst="rect">
            <a:avLst/>
          </a:prstGeom>
          <a:noFill/>
        </p:spPr>
        <p:txBody>
          <a:bodyPr wrap="square" rtlCol="0">
            <a:spAutoFit/>
          </a:bodyPr>
          <a:lstStyle/>
          <a:p>
            <a:pPr algn="ctr"/>
            <a:r>
              <a:rPr kumimoji="1" lang="en-US" altLang="zh-CN" dirty="0">
                <a:latin typeface="Lantinghei SC Demibold" panose="02000000000000000000" pitchFamily="2" charset="-122"/>
                <a:ea typeface="Lantinghei SC Demibold" panose="02000000000000000000" pitchFamily="2" charset="-122"/>
              </a:rPr>
              <a:t>DRAM</a:t>
            </a:r>
          </a:p>
          <a:p>
            <a:pPr algn="ctr"/>
            <a:r>
              <a:rPr kumimoji="1" lang="zh-CN" altLang="en-US" dirty="0">
                <a:latin typeface="Lantinghei SC Demibold" panose="02000000000000000000" pitchFamily="2" charset="-122"/>
                <a:ea typeface="Lantinghei SC Demibold" panose="02000000000000000000" pitchFamily="2" charset="-122"/>
              </a:rPr>
              <a:t>内存</a:t>
            </a:r>
          </a:p>
        </p:txBody>
      </p:sp>
      <p:sp>
        <p:nvSpPr>
          <p:cNvPr id="14" name="文本框 13">
            <a:extLst>
              <a:ext uri="{FF2B5EF4-FFF2-40B4-BE49-F238E27FC236}">
                <a16:creationId xmlns:a16="http://schemas.microsoft.com/office/drawing/2014/main" id="{958E42CB-F6E3-FB47-ADBE-AADACED9F820}"/>
              </a:ext>
            </a:extLst>
          </p:cNvPr>
          <p:cNvSpPr txBox="1"/>
          <p:nvPr/>
        </p:nvSpPr>
        <p:spPr>
          <a:xfrm>
            <a:off x="6802967" y="3454859"/>
            <a:ext cx="1257075" cy="646331"/>
          </a:xfrm>
          <a:prstGeom prst="rect">
            <a:avLst/>
          </a:prstGeom>
          <a:noFill/>
        </p:spPr>
        <p:txBody>
          <a:bodyPr wrap="square" rtlCol="0">
            <a:spAutoFit/>
          </a:bodyPr>
          <a:lstStyle/>
          <a:p>
            <a:pPr algn="ctr"/>
            <a:r>
              <a:rPr kumimoji="1" lang="en-US" altLang="zh-CN" dirty="0">
                <a:latin typeface="Lantinghei SC Demibold" panose="02000000000000000000" pitchFamily="2" charset="-122"/>
                <a:ea typeface="Lantinghei SC Demibold" panose="02000000000000000000" pitchFamily="2" charset="-122"/>
              </a:rPr>
              <a:t>HDD/SSD</a:t>
            </a:r>
          </a:p>
          <a:p>
            <a:pPr algn="ctr"/>
            <a:r>
              <a:rPr kumimoji="1" lang="zh-CN" altLang="en-US" dirty="0">
                <a:latin typeface="Lantinghei SC Demibold" panose="02000000000000000000" pitchFamily="2" charset="-122"/>
                <a:ea typeface="Lantinghei SC Demibold" panose="02000000000000000000" pitchFamily="2" charset="-122"/>
              </a:rPr>
              <a:t>存储</a:t>
            </a:r>
          </a:p>
        </p:txBody>
      </p:sp>
      <p:graphicFrame>
        <p:nvGraphicFramePr>
          <p:cNvPr id="15" name="表格 14">
            <a:extLst>
              <a:ext uri="{FF2B5EF4-FFF2-40B4-BE49-F238E27FC236}">
                <a16:creationId xmlns:a16="http://schemas.microsoft.com/office/drawing/2014/main" id="{D39FACCE-9E18-794E-88CB-3B15DB767723}"/>
              </a:ext>
            </a:extLst>
          </p:cNvPr>
          <p:cNvGraphicFramePr>
            <a:graphicFrameLocks noGrp="1"/>
          </p:cNvGraphicFramePr>
          <p:nvPr>
            <p:extLst>
              <p:ext uri="{D42A27DB-BD31-4B8C-83A1-F6EECF244321}">
                <p14:modId xmlns:p14="http://schemas.microsoft.com/office/powerpoint/2010/main" val="1151817660"/>
              </p:ext>
            </p:extLst>
          </p:nvPr>
        </p:nvGraphicFramePr>
        <p:xfrm>
          <a:off x="-476071" y="5054761"/>
          <a:ext cx="9029733" cy="1051170"/>
        </p:xfrm>
        <a:graphic>
          <a:graphicData uri="http://schemas.openxmlformats.org/drawingml/2006/table">
            <a:tbl>
              <a:tblPr firstRow="1" bandRow="1">
                <a:tableStyleId>{5C22544A-7EE6-4342-B048-85BDC9FD1C3A}</a:tableStyleId>
              </a:tblPr>
              <a:tblGrid>
                <a:gridCol w="2257425">
                  <a:extLst>
                    <a:ext uri="{9D8B030D-6E8A-4147-A177-3AD203B41FA5}">
                      <a16:colId xmlns:a16="http://schemas.microsoft.com/office/drawing/2014/main" val="20000"/>
                    </a:ext>
                  </a:extLst>
                </a:gridCol>
                <a:gridCol w="2257442">
                  <a:extLst>
                    <a:ext uri="{9D8B030D-6E8A-4147-A177-3AD203B41FA5}">
                      <a16:colId xmlns:a16="http://schemas.microsoft.com/office/drawing/2014/main" val="20001"/>
                    </a:ext>
                  </a:extLst>
                </a:gridCol>
                <a:gridCol w="2257433">
                  <a:extLst>
                    <a:ext uri="{9D8B030D-6E8A-4147-A177-3AD203B41FA5}">
                      <a16:colId xmlns:a16="http://schemas.microsoft.com/office/drawing/2014/main" val="20002"/>
                    </a:ext>
                  </a:extLst>
                </a:gridCol>
                <a:gridCol w="2257433">
                  <a:extLst>
                    <a:ext uri="{9D8B030D-6E8A-4147-A177-3AD203B41FA5}">
                      <a16:colId xmlns:a16="http://schemas.microsoft.com/office/drawing/2014/main" val="20003"/>
                    </a:ext>
                  </a:extLst>
                </a:gridCol>
              </a:tblGrid>
              <a:tr h="350390">
                <a:tc>
                  <a:txBody>
                    <a:bodyPr/>
                    <a:lstStyle/>
                    <a:p>
                      <a:pPr algn="r"/>
                      <a:r>
                        <a:rPr lang="zh-CN" altLang="en-US" sz="1500" dirty="0">
                          <a:solidFill>
                            <a:schemeClr val="tx1"/>
                          </a:solidFill>
                          <a:latin typeface="Lantinghei SC Demibold" panose="02000000000000000000" pitchFamily="2" charset="-122"/>
                          <a:ea typeface="Lantinghei SC Demibold" panose="02000000000000000000" pitchFamily="2" charset="-122"/>
                        </a:rPr>
                        <a:t>延迟</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rgbClr val="00B050"/>
                          </a:solidFill>
                          <a:latin typeface="Lantinghei SC Demibold" panose="02000000000000000000" pitchFamily="2" charset="-122"/>
                          <a:ea typeface="Lantinghei SC Demibold" panose="02000000000000000000" pitchFamily="2" charset="-122"/>
                        </a:rPr>
                        <a:t>~100</a:t>
                      </a:r>
                      <a:r>
                        <a:rPr lang="zh-CN" altLang="en-US" sz="1500" dirty="0">
                          <a:solidFill>
                            <a:srgbClr val="00B050"/>
                          </a:solidFill>
                          <a:latin typeface="Lantinghei SC Demibold" panose="02000000000000000000" pitchFamily="2" charset="-122"/>
                          <a:ea typeface="Lantinghei SC Demibold" panose="02000000000000000000" pitchFamily="2" charset="-122"/>
                        </a:rPr>
                        <a:t> </a:t>
                      </a:r>
                      <a:r>
                        <a:rPr lang="en-US" altLang="zh-CN" sz="1500" dirty="0">
                          <a:solidFill>
                            <a:srgbClr val="00B050"/>
                          </a:solidFill>
                          <a:latin typeface="Lantinghei SC Demibold" panose="02000000000000000000" pitchFamily="2" charset="-122"/>
                          <a:ea typeface="Lantinghei SC Demibold" panose="02000000000000000000" pitchFamily="2" charset="-122"/>
                        </a:rPr>
                        <a:t>ns</a:t>
                      </a:r>
                      <a:endParaRPr lang="zh-CN" altLang="en-US" sz="1500" dirty="0">
                        <a:solidFill>
                          <a:srgbClr val="00B050"/>
                        </a:solidFill>
                        <a:latin typeface="Lantinghei SC Demibold" panose="02000000000000000000" pitchFamily="2" charset="-122"/>
                        <a:ea typeface="Lantinghei SC Demibold" panose="02000000000000000000" pitchFamily="2" charset="-122"/>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chemeClr val="accent2"/>
                          </a:solidFill>
                          <a:latin typeface="Lantinghei SC Demibold" panose="02000000000000000000" pitchFamily="2" charset="-122"/>
                          <a:ea typeface="Lantinghei SC Demibold" panose="02000000000000000000" pitchFamily="2" charset="-122"/>
                        </a:rPr>
                        <a:t>~250</a:t>
                      </a:r>
                      <a:r>
                        <a:rPr lang="zh-CN" altLang="en-US" sz="1500" dirty="0">
                          <a:solidFill>
                            <a:schemeClr val="accent2"/>
                          </a:solidFill>
                          <a:latin typeface="Lantinghei SC Demibold" panose="02000000000000000000" pitchFamily="2" charset="-122"/>
                          <a:ea typeface="Lantinghei SC Demibold" panose="02000000000000000000" pitchFamily="2" charset="-122"/>
                        </a:rPr>
                        <a:t> </a:t>
                      </a:r>
                      <a:r>
                        <a:rPr lang="en-US" altLang="zh-CN" sz="1500" dirty="0">
                          <a:solidFill>
                            <a:schemeClr val="accent2"/>
                          </a:solidFill>
                          <a:latin typeface="Lantinghei SC Demibold" panose="02000000000000000000" pitchFamily="2" charset="-122"/>
                          <a:ea typeface="Lantinghei SC Demibold" panose="02000000000000000000" pitchFamily="2" charset="-122"/>
                        </a:rPr>
                        <a:t>ns</a:t>
                      </a:r>
                      <a:endParaRPr lang="zh-CN" altLang="en-US" sz="1500" dirty="0">
                        <a:solidFill>
                          <a:schemeClr val="accent2"/>
                        </a:solidFill>
                        <a:latin typeface="Lantinghei SC Demibold" panose="02000000000000000000" pitchFamily="2" charset="-122"/>
                        <a:ea typeface="Lantinghei SC Demibold" panose="02000000000000000000" pitchFamily="2" charset="-122"/>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rgbClr val="C00000"/>
                          </a:solidFill>
                          <a:latin typeface="Lantinghei SC Demibold" panose="02000000000000000000" pitchFamily="2" charset="-122"/>
                          <a:ea typeface="Lantinghei SC Demibold" panose="02000000000000000000" pitchFamily="2" charset="-122"/>
                        </a:rPr>
                        <a:t>10us</a:t>
                      </a:r>
                      <a:r>
                        <a:rPr lang="zh-CN" altLang="en-US" sz="1500" dirty="0">
                          <a:solidFill>
                            <a:srgbClr val="C00000"/>
                          </a:solidFill>
                          <a:latin typeface="Lantinghei SC Demibold" panose="02000000000000000000" pitchFamily="2" charset="-122"/>
                          <a:ea typeface="Lantinghei SC Demibold" panose="02000000000000000000" pitchFamily="2" charset="-122"/>
                        </a:rPr>
                        <a:t> </a:t>
                      </a:r>
                      <a:r>
                        <a:rPr lang="en-US" altLang="zh-CN" sz="1500" dirty="0">
                          <a:solidFill>
                            <a:srgbClr val="C00000"/>
                          </a:solidFill>
                          <a:latin typeface="Lantinghei SC Demibold" panose="02000000000000000000" pitchFamily="2" charset="-122"/>
                          <a:ea typeface="Lantinghei SC Demibold" panose="02000000000000000000" pitchFamily="2" charset="-122"/>
                        </a:rPr>
                        <a:t>~</a:t>
                      </a:r>
                      <a:r>
                        <a:rPr lang="zh-CN" altLang="en-US" sz="1500" dirty="0">
                          <a:solidFill>
                            <a:srgbClr val="C00000"/>
                          </a:solidFill>
                          <a:latin typeface="Lantinghei SC Demibold" panose="02000000000000000000" pitchFamily="2" charset="-122"/>
                          <a:ea typeface="Lantinghei SC Demibold" panose="02000000000000000000" pitchFamily="2" charset="-122"/>
                        </a:rPr>
                        <a:t> </a:t>
                      </a:r>
                      <a:r>
                        <a:rPr lang="en-US" altLang="zh-CN" sz="1500" dirty="0">
                          <a:solidFill>
                            <a:srgbClr val="C00000"/>
                          </a:solidFill>
                          <a:latin typeface="Lantinghei SC Demibold" panose="02000000000000000000" pitchFamily="2" charset="-122"/>
                          <a:ea typeface="Lantinghei SC Demibold" panose="02000000000000000000" pitchFamily="2" charset="-122"/>
                        </a:rPr>
                        <a:t>10ms</a:t>
                      </a:r>
                      <a:endParaRPr lang="zh-CN" altLang="en-US" sz="1500" dirty="0">
                        <a:solidFill>
                          <a:srgbClr val="C00000"/>
                        </a:solidFill>
                        <a:latin typeface="Lantinghei SC Demibold" panose="02000000000000000000" pitchFamily="2" charset="-122"/>
                        <a:ea typeface="Lantinghei SC Demibold" panose="02000000000000000000" pitchFamily="2" charset="-122"/>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50390">
                <a:tc>
                  <a:txBody>
                    <a:bodyPr/>
                    <a:lstStyle/>
                    <a:p>
                      <a:pPr algn="r"/>
                      <a:r>
                        <a:rPr lang="zh-CN" altLang="en-US" sz="1500" dirty="0">
                          <a:solidFill>
                            <a:schemeClr val="tx1"/>
                          </a:solidFill>
                          <a:latin typeface="Lantinghei SC Demibold" panose="02000000000000000000" pitchFamily="2" charset="-122"/>
                          <a:ea typeface="Lantinghei SC Demibold" panose="02000000000000000000" pitchFamily="2" charset="-122"/>
                        </a:rPr>
                        <a:t>单条读带宽</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rgbClr val="00B050"/>
                          </a:solidFill>
                          <a:latin typeface="Lantinghei SC Demibold" panose="02000000000000000000" pitchFamily="2" charset="-122"/>
                          <a:ea typeface="Lantinghei SC Demibold" panose="02000000000000000000" pitchFamily="2" charset="-122"/>
                        </a:rPr>
                        <a:t>~20</a:t>
                      </a:r>
                      <a:r>
                        <a:rPr lang="zh-CN" altLang="en-US" sz="1500" dirty="0">
                          <a:solidFill>
                            <a:srgbClr val="00B050"/>
                          </a:solidFill>
                          <a:latin typeface="Lantinghei SC Demibold" panose="02000000000000000000" pitchFamily="2" charset="-122"/>
                          <a:ea typeface="Lantinghei SC Demibold" panose="02000000000000000000" pitchFamily="2" charset="-122"/>
                        </a:rPr>
                        <a:t> </a:t>
                      </a:r>
                      <a:r>
                        <a:rPr lang="en-US" altLang="zh-CN" sz="1500" dirty="0">
                          <a:solidFill>
                            <a:srgbClr val="00B050"/>
                          </a:solidFill>
                          <a:latin typeface="Lantinghei SC Demibold" panose="02000000000000000000" pitchFamily="2" charset="-122"/>
                          <a:ea typeface="Lantinghei SC Demibold" panose="02000000000000000000" pitchFamily="2" charset="-122"/>
                        </a:rPr>
                        <a:t>GB/s</a:t>
                      </a:r>
                      <a:endParaRPr lang="zh-CN" altLang="en-US" sz="1500" dirty="0">
                        <a:solidFill>
                          <a:srgbClr val="00B050"/>
                        </a:solidFill>
                        <a:latin typeface="Lantinghei SC Demibold" panose="02000000000000000000" pitchFamily="2" charset="-122"/>
                        <a:ea typeface="Lantinghei SC Demibold" panose="02000000000000000000" pitchFamily="2" charset="-122"/>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chemeClr val="accent2"/>
                          </a:solidFill>
                          <a:latin typeface="Lantinghei SC Demibold" panose="02000000000000000000" pitchFamily="2" charset="-122"/>
                          <a:ea typeface="Lantinghei SC Demibold" panose="02000000000000000000" pitchFamily="2" charset="-122"/>
                        </a:rPr>
                        <a:t>~</a:t>
                      </a:r>
                      <a:r>
                        <a:rPr lang="zh-CN" altLang="en-US" sz="1500" dirty="0">
                          <a:solidFill>
                            <a:schemeClr val="accent2"/>
                          </a:solidFill>
                          <a:latin typeface="Lantinghei SC Demibold" panose="02000000000000000000" pitchFamily="2" charset="-122"/>
                          <a:ea typeface="Lantinghei SC Demibold" panose="02000000000000000000" pitchFamily="2" charset="-122"/>
                        </a:rPr>
                        <a:t> </a:t>
                      </a:r>
                      <a:r>
                        <a:rPr lang="en-US" altLang="zh-CN" sz="1500" dirty="0">
                          <a:solidFill>
                            <a:schemeClr val="accent2"/>
                          </a:solidFill>
                          <a:latin typeface="Lantinghei SC Demibold" panose="02000000000000000000" pitchFamily="2" charset="-122"/>
                          <a:ea typeface="Lantinghei SC Demibold" panose="02000000000000000000" pitchFamily="2" charset="-122"/>
                        </a:rPr>
                        <a:t>7</a:t>
                      </a:r>
                      <a:r>
                        <a:rPr lang="zh-CN" altLang="en-US" sz="1500" dirty="0">
                          <a:solidFill>
                            <a:schemeClr val="accent2"/>
                          </a:solidFill>
                          <a:latin typeface="Lantinghei SC Demibold" panose="02000000000000000000" pitchFamily="2" charset="-122"/>
                          <a:ea typeface="Lantinghei SC Demibold" panose="02000000000000000000" pitchFamily="2" charset="-122"/>
                        </a:rPr>
                        <a:t> </a:t>
                      </a:r>
                      <a:r>
                        <a:rPr lang="en-US" altLang="zh-CN" sz="1500" dirty="0">
                          <a:solidFill>
                            <a:schemeClr val="accent2"/>
                          </a:solidFill>
                          <a:latin typeface="Lantinghei SC Demibold" panose="02000000000000000000" pitchFamily="2" charset="-122"/>
                          <a:ea typeface="Lantinghei SC Demibold" panose="02000000000000000000" pitchFamily="2" charset="-122"/>
                        </a:rPr>
                        <a:t>GB/s</a:t>
                      </a:r>
                      <a:endParaRPr lang="zh-CN" altLang="en-US" sz="1500" dirty="0">
                        <a:solidFill>
                          <a:schemeClr val="accent2"/>
                        </a:solidFill>
                        <a:latin typeface="Lantinghei SC Demibold" panose="02000000000000000000" pitchFamily="2" charset="-122"/>
                        <a:ea typeface="Lantinghei SC Demibold" panose="02000000000000000000" pitchFamily="2" charset="-122"/>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rgbClr val="C00000"/>
                          </a:solidFill>
                          <a:latin typeface="Lantinghei SC Demibold" panose="02000000000000000000" pitchFamily="2" charset="-122"/>
                          <a:ea typeface="Lantinghei SC Demibold" panose="02000000000000000000" pitchFamily="2" charset="-122"/>
                        </a:rPr>
                        <a:t>120</a:t>
                      </a:r>
                      <a:r>
                        <a:rPr lang="zh-CN" altLang="en-US" sz="1500" dirty="0">
                          <a:solidFill>
                            <a:srgbClr val="C00000"/>
                          </a:solidFill>
                          <a:latin typeface="Lantinghei SC Demibold" panose="02000000000000000000" pitchFamily="2" charset="-122"/>
                          <a:ea typeface="Lantinghei SC Demibold" panose="02000000000000000000" pitchFamily="2" charset="-122"/>
                        </a:rPr>
                        <a:t> </a:t>
                      </a:r>
                      <a:r>
                        <a:rPr lang="en-US" altLang="zh-CN" sz="1500" dirty="0">
                          <a:solidFill>
                            <a:srgbClr val="C00000"/>
                          </a:solidFill>
                          <a:latin typeface="Lantinghei SC Demibold" panose="02000000000000000000" pitchFamily="2" charset="-122"/>
                          <a:ea typeface="Lantinghei SC Demibold" panose="02000000000000000000" pitchFamily="2" charset="-122"/>
                        </a:rPr>
                        <a:t>MB</a:t>
                      </a:r>
                      <a:r>
                        <a:rPr lang="zh-CN" altLang="en-US" sz="1500" dirty="0">
                          <a:solidFill>
                            <a:srgbClr val="C00000"/>
                          </a:solidFill>
                          <a:latin typeface="Lantinghei SC Demibold" panose="02000000000000000000" pitchFamily="2" charset="-122"/>
                          <a:ea typeface="Lantinghei SC Demibold" panose="02000000000000000000" pitchFamily="2" charset="-122"/>
                        </a:rPr>
                        <a:t> </a:t>
                      </a:r>
                      <a:r>
                        <a:rPr lang="en-US" altLang="zh-CN" sz="1500" dirty="0">
                          <a:solidFill>
                            <a:srgbClr val="C00000"/>
                          </a:solidFill>
                          <a:latin typeface="Lantinghei SC Demibold" panose="02000000000000000000" pitchFamily="2" charset="-122"/>
                          <a:ea typeface="Lantinghei SC Demibold" panose="02000000000000000000" pitchFamily="2" charset="-122"/>
                        </a:rPr>
                        <a:t>~</a:t>
                      </a:r>
                      <a:r>
                        <a:rPr lang="zh-CN" altLang="en-US" sz="1500" dirty="0">
                          <a:solidFill>
                            <a:srgbClr val="C00000"/>
                          </a:solidFill>
                          <a:latin typeface="Lantinghei SC Demibold" panose="02000000000000000000" pitchFamily="2" charset="-122"/>
                          <a:ea typeface="Lantinghei SC Demibold" panose="02000000000000000000" pitchFamily="2" charset="-122"/>
                        </a:rPr>
                        <a:t> </a:t>
                      </a:r>
                      <a:r>
                        <a:rPr lang="en-US" altLang="zh-CN" sz="1500" dirty="0">
                          <a:solidFill>
                            <a:srgbClr val="C00000"/>
                          </a:solidFill>
                          <a:latin typeface="Lantinghei SC Demibold" panose="02000000000000000000" pitchFamily="2" charset="-122"/>
                          <a:ea typeface="Lantinghei SC Demibold" panose="02000000000000000000" pitchFamily="2" charset="-122"/>
                        </a:rPr>
                        <a:t>2.5</a:t>
                      </a:r>
                      <a:r>
                        <a:rPr lang="zh-CN" altLang="en-US" sz="1500" dirty="0">
                          <a:solidFill>
                            <a:srgbClr val="C00000"/>
                          </a:solidFill>
                          <a:latin typeface="Lantinghei SC Demibold" panose="02000000000000000000" pitchFamily="2" charset="-122"/>
                          <a:ea typeface="Lantinghei SC Demibold" panose="02000000000000000000" pitchFamily="2" charset="-122"/>
                        </a:rPr>
                        <a:t> </a:t>
                      </a:r>
                      <a:r>
                        <a:rPr lang="en-US" altLang="zh-CN" sz="1500" dirty="0">
                          <a:solidFill>
                            <a:srgbClr val="C00000"/>
                          </a:solidFill>
                          <a:latin typeface="Lantinghei SC Demibold" panose="02000000000000000000" pitchFamily="2" charset="-122"/>
                          <a:ea typeface="Lantinghei SC Demibold" panose="02000000000000000000" pitchFamily="2" charset="-122"/>
                        </a:rPr>
                        <a:t>GB/s</a:t>
                      </a:r>
                      <a:endParaRPr lang="zh-CN" altLang="en-US" sz="1500" dirty="0">
                        <a:solidFill>
                          <a:srgbClr val="C00000"/>
                        </a:solidFill>
                        <a:latin typeface="Lantinghei SC Demibold" panose="02000000000000000000" pitchFamily="2" charset="-122"/>
                        <a:ea typeface="Lantinghei SC Demibold" panose="02000000000000000000" pitchFamily="2" charset="-122"/>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50390">
                <a:tc>
                  <a:txBody>
                    <a:bodyPr/>
                    <a:lstStyle/>
                    <a:p>
                      <a:pPr algn="r"/>
                      <a:r>
                        <a:rPr lang="zh-CN" altLang="en-US" sz="1500" dirty="0">
                          <a:solidFill>
                            <a:schemeClr val="tx1"/>
                          </a:solidFill>
                          <a:latin typeface="Lantinghei SC Demibold" panose="02000000000000000000" pitchFamily="2" charset="-122"/>
                          <a:ea typeface="Lantinghei SC Demibold" panose="02000000000000000000" pitchFamily="2" charset="-122"/>
                        </a:rPr>
                        <a:t>单条写带宽</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rgbClr val="00B050"/>
                          </a:solidFill>
                          <a:latin typeface="Lantinghei SC Demibold" panose="02000000000000000000" pitchFamily="2" charset="-122"/>
                          <a:ea typeface="Lantinghei SC Demibold" panose="02000000000000000000" pitchFamily="2" charset="-122"/>
                        </a:rPr>
                        <a:t>~13.5</a:t>
                      </a:r>
                      <a:r>
                        <a:rPr lang="zh-CN" altLang="en-US" sz="1500" dirty="0">
                          <a:solidFill>
                            <a:srgbClr val="00B050"/>
                          </a:solidFill>
                          <a:latin typeface="Lantinghei SC Demibold" panose="02000000000000000000" pitchFamily="2" charset="-122"/>
                          <a:ea typeface="Lantinghei SC Demibold" panose="02000000000000000000" pitchFamily="2" charset="-122"/>
                        </a:rPr>
                        <a:t> </a:t>
                      </a:r>
                      <a:r>
                        <a:rPr lang="en-US" altLang="zh-CN" sz="1500" dirty="0">
                          <a:solidFill>
                            <a:srgbClr val="00B050"/>
                          </a:solidFill>
                          <a:latin typeface="Lantinghei SC Demibold" panose="02000000000000000000" pitchFamily="2" charset="-122"/>
                          <a:ea typeface="Lantinghei SC Demibold" panose="02000000000000000000" pitchFamily="2" charset="-122"/>
                        </a:rPr>
                        <a:t>GB/s</a:t>
                      </a:r>
                      <a:endParaRPr lang="zh-CN" altLang="en-US" sz="1500" dirty="0">
                        <a:solidFill>
                          <a:srgbClr val="00B050"/>
                        </a:solidFill>
                        <a:latin typeface="Lantinghei SC Demibold" panose="02000000000000000000" pitchFamily="2" charset="-122"/>
                        <a:ea typeface="Lantinghei SC Demibold" panose="02000000000000000000" pitchFamily="2" charset="-122"/>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chemeClr val="accent2"/>
                          </a:solidFill>
                          <a:latin typeface="Lantinghei SC Demibold" panose="02000000000000000000" pitchFamily="2" charset="-122"/>
                          <a:ea typeface="Lantinghei SC Demibold" panose="02000000000000000000" pitchFamily="2" charset="-122"/>
                        </a:rPr>
                        <a:t>~</a:t>
                      </a:r>
                      <a:r>
                        <a:rPr lang="zh-CN" altLang="en-US" sz="1500" dirty="0">
                          <a:solidFill>
                            <a:schemeClr val="accent2"/>
                          </a:solidFill>
                          <a:latin typeface="Lantinghei SC Demibold" panose="02000000000000000000" pitchFamily="2" charset="-122"/>
                          <a:ea typeface="Lantinghei SC Demibold" panose="02000000000000000000" pitchFamily="2" charset="-122"/>
                        </a:rPr>
                        <a:t> </a:t>
                      </a:r>
                      <a:r>
                        <a:rPr lang="en-US" altLang="zh-CN" sz="1500" dirty="0">
                          <a:solidFill>
                            <a:schemeClr val="accent2"/>
                          </a:solidFill>
                          <a:latin typeface="Lantinghei SC Demibold" panose="02000000000000000000" pitchFamily="2" charset="-122"/>
                          <a:ea typeface="Lantinghei SC Demibold" panose="02000000000000000000" pitchFamily="2" charset="-122"/>
                        </a:rPr>
                        <a:t>2.3</a:t>
                      </a:r>
                      <a:r>
                        <a:rPr lang="zh-CN" altLang="en-US" sz="1500" dirty="0">
                          <a:solidFill>
                            <a:schemeClr val="accent2"/>
                          </a:solidFill>
                          <a:latin typeface="Lantinghei SC Demibold" panose="02000000000000000000" pitchFamily="2" charset="-122"/>
                          <a:ea typeface="Lantinghei SC Demibold" panose="02000000000000000000" pitchFamily="2" charset="-122"/>
                        </a:rPr>
                        <a:t> </a:t>
                      </a:r>
                      <a:r>
                        <a:rPr lang="en-US" altLang="zh-CN" sz="1500" dirty="0">
                          <a:solidFill>
                            <a:schemeClr val="accent2"/>
                          </a:solidFill>
                          <a:latin typeface="Lantinghei SC Demibold" panose="02000000000000000000" pitchFamily="2" charset="-122"/>
                          <a:ea typeface="Lantinghei SC Demibold" panose="02000000000000000000" pitchFamily="2" charset="-122"/>
                        </a:rPr>
                        <a:t>GB/s</a:t>
                      </a:r>
                      <a:endParaRPr lang="zh-CN" altLang="en-US" sz="1500" dirty="0">
                        <a:solidFill>
                          <a:schemeClr val="accent2"/>
                        </a:solidFill>
                        <a:latin typeface="Lantinghei SC Demibold" panose="02000000000000000000" pitchFamily="2" charset="-122"/>
                        <a:ea typeface="Lantinghei SC Demibold" panose="02000000000000000000" pitchFamily="2" charset="-122"/>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500" dirty="0">
                          <a:solidFill>
                            <a:srgbClr val="C00000"/>
                          </a:solidFill>
                          <a:latin typeface="Lantinghei SC Demibold" panose="02000000000000000000" pitchFamily="2" charset="-122"/>
                          <a:ea typeface="Lantinghei SC Demibold" panose="02000000000000000000" pitchFamily="2" charset="-122"/>
                        </a:rPr>
                        <a:t>80</a:t>
                      </a:r>
                      <a:r>
                        <a:rPr lang="zh-CN" altLang="en-US" sz="1500" dirty="0">
                          <a:solidFill>
                            <a:srgbClr val="C00000"/>
                          </a:solidFill>
                          <a:latin typeface="Lantinghei SC Demibold" panose="02000000000000000000" pitchFamily="2" charset="-122"/>
                          <a:ea typeface="Lantinghei SC Demibold" panose="02000000000000000000" pitchFamily="2" charset="-122"/>
                        </a:rPr>
                        <a:t> </a:t>
                      </a:r>
                      <a:r>
                        <a:rPr lang="en-US" altLang="zh-CN" sz="1500" dirty="0">
                          <a:solidFill>
                            <a:srgbClr val="C00000"/>
                          </a:solidFill>
                          <a:latin typeface="Lantinghei SC Demibold" panose="02000000000000000000" pitchFamily="2" charset="-122"/>
                          <a:ea typeface="Lantinghei SC Demibold" panose="02000000000000000000" pitchFamily="2" charset="-122"/>
                        </a:rPr>
                        <a:t>MB</a:t>
                      </a:r>
                      <a:r>
                        <a:rPr lang="zh-CN" altLang="en-US" sz="1500" dirty="0">
                          <a:solidFill>
                            <a:srgbClr val="C00000"/>
                          </a:solidFill>
                          <a:latin typeface="Lantinghei SC Demibold" panose="02000000000000000000" pitchFamily="2" charset="-122"/>
                          <a:ea typeface="Lantinghei SC Demibold" panose="02000000000000000000" pitchFamily="2" charset="-122"/>
                        </a:rPr>
                        <a:t> </a:t>
                      </a:r>
                      <a:r>
                        <a:rPr lang="en-US" altLang="zh-CN" sz="1500" dirty="0">
                          <a:solidFill>
                            <a:srgbClr val="C00000"/>
                          </a:solidFill>
                          <a:latin typeface="Lantinghei SC Demibold" panose="02000000000000000000" pitchFamily="2" charset="-122"/>
                          <a:ea typeface="Lantinghei SC Demibold" panose="02000000000000000000" pitchFamily="2" charset="-122"/>
                        </a:rPr>
                        <a:t>~</a:t>
                      </a:r>
                      <a:r>
                        <a:rPr lang="zh-CN" altLang="en-US" sz="1500" dirty="0">
                          <a:solidFill>
                            <a:srgbClr val="C00000"/>
                          </a:solidFill>
                          <a:latin typeface="Lantinghei SC Demibold" panose="02000000000000000000" pitchFamily="2" charset="-122"/>
                          <a:ea typeface="Lantinghei SC Demibold" panose="02000000000000000000" pitchFamily="2" charset="-122"/>
                        </a:rPr>
                        <a:t> </a:t>
                      </a:r>
                      <a:r>
                        <a:rPr lang="en-US" altLang="zh-CN" sz="1500" dirty="0">
                          <a:solidFill>
                            <a:srgbClr val="C00000"/>
                          </a:solidFill>
                          <a:latin typeface="Lantinghei SC Demibold" panose="02000000000000000000" pitchFamily="2" charset="-122"/>
                          <a:ea typeface="Lantinghei SC Demibold" panose="02000000000000000000" pitchFamily="2" charset="-122"/>
                        </a:rPr>
                        <a:t>2.2</a:t>
                      </a:r>
                      <a:r>
                        <a:rPr lang="zh-CN" altLang="en-US" sz="1500" dirty="0">
                          <a:solidFill>
                            <a:srgbClr val="C00000"/>
                          </a:solidFill>
                          <a:latin typeface="Lantinghei SC Demibold" panose="02000000000000000000" pitchFamily="2" charset="-122"/>
                          <a:ea typeface="Lantinghei SC Demibold" panose="02000000000000000000" pitchFamily="2" charset="-122"/>
                        </a:rPr>
                        <a:t> </a:t>
                      </a:r>
                      <a:r>
                        <a:rPr lang="en-US" altLang="zh-CN" sz="1500" dirty="0">
                          <a:solidFill>
                            <a:srgbClr val="C00000"/>
                          </a:solidFill>
                          <a:latin typeface="Lantinghei SC Demibold" panose="02000000000000000000" pitchFamily="2" charset="-122"/>
                          <a:ea typeface="Lantinghei SC Demibold" panose="02000000000000000000" pitchFamily="2" charset="-122"/>
                        </a:rPr>
                        <a:t>GB.s</a:t>
                      </a:r>
                      <a:endParaRPr lang="zh-CN" altLang="en-US" sz="1500" dirty="0">
                        <a:solidFill>
                          <a:srgbClr val="C00000"/>
                        </a:solidFill>
                        <a:latin typeface="Lantinghei SC Demibold" panose="02000000000000000000" pitchFamily="2" charset="-122"/>
                        <a:ea typeface="Lantinghei SC Demibold" panose="02000000000000000000" pitchFamily="2" charset="-122"/>
                      </a:endParaRP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pic>
        <p:nvPicPr>
          <p:cNvPr id="16" name="图片 15">
            <a:extLst>
              <a:ext uri="{FF2B5EF4-FFF2-40B4-BE49-F238E27FC236}">
                <a16:creationId xmlns:a16="http://schemas.microsoft.com/office/drawing/2014/main" id="{D4AB2554-3BD9-2949-BBDC-80B0E79D47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793085">
            <a:off x="1932522" y="3671225"/>
            <a:ext cx="1574648" cy="1574648"/>
          </a:xfrm>
          <a:prstGeom prst="rect">
            <a:avLst/>
          </a:prstGeom>
        </p:spPr>
      </p:pic>
      <p:pic>
        <p:nvPicPr>
          <p:cNvPr id="17" name="图片 16">
            <a:extLst>
              <a:ext uri="{FF2B5EF4-FFF2-40B4-BE49-F238E27FC236}">
                <a16:creationId xmlns:a16="http://schemas.microsoft.com/office/drawing/2014/main" id="{4E55EC40-007E-2D42-8E33-02C5FFE65A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6834" y="3812266"/>
            <a:ext cx="1209341" cy="1209341"/>
          </a:xfrm>
          <a:prstGeom prst="rect">
            <a:avLst/>
          </a:prstGeom>
        </p:spPr>
      </p:pic>
      <p:cxnSp>
        <p:nvCxnSpPr>
          <p:cNvPr id="18" name="直线连接符 17">
            <a:extLst>
              <a:ext uri="{FF2B5EF4-FFF2-40B4-BE49-F238E27FC236}">
                <a16:creationId xmlns:a16="http://schemas.microsoft.com/office/drawing/2014/main" id="{8CC5AED2-F9A9-0B4C-B02B-2B367B3431D5}"/>
              </a:ext>
            </a:extLst>
          </p:cNvPr>
          <p:cNvCxnSpPr>
            <a:cxnSpLocks/>
          </p:cNvCxnSpPr>
          <p:nvPr/>
        </p:nvCxnSpPr>
        <p:spPr>
          <a:xfrm>
            <a:off x="801863" y="4911525"/>
            <a:ext cx="76273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53249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3" name="文本框 12">
            <a:extLst>
              <a:ext uri="{FF2B5EF4-FFF2-40B4-BE49-F238E27FC236}">
                <a16:creationId xmlns:a16="http://schemas.microsoft.com/office/drawing/2014/main" id="{3DD9C94B-9069-A44B-91AA-C4049D57B3CF}"/>
              </a:ext>
            </a:extLst>
          </p:cNvPr>
          <p:cNvSpPr txBox="1"/>
          <p:nvPr/>
        </p:nvSpPr>
        <p:spPr>
          <a:xfrm>
            <a:off x="308079" y="552678"/>
            <a:ext cx="59116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存储性能 </a:t>
            </a:r>
            <a:r>
              <a:rPr kumimoji="1" lang="en-US" altLang="zh-CN" sz="2800" dirty="0">
                <a:latin typeface="Microsoft YaHei" charset="-122"/>
                <a:ea typeface="Microsoft YaHei" charset="-122"/>
                <a:cs typeface="Microsoft YaHei" charset="-122"/>
              </a:rPr>
              <a:t>--</a:t>
            </a:r>
            <a:r>
              <a:rPr kumimoji="1" lang="zh-CN" altLang="en-US" sz="2800" dirty="0">
                <a:latin typeface="Microsoft YaHei" charset="-122"/>
                <a:ea typeface="Microsoft YaHei" charset="-122"/>
                <a:cs typeface="Microsoft YaHei" charset="-122"/>
              </a:rPr>
              <a:t> </a:t>
            </a:r>
            <a:r>
              <a:rPr kumimoji="1" lang="en-US" altLang="zh-CN" sz="2800" dirty="0" err="1">
                <a:latin typeface="Microsoft YaHei" charset="-122"/>
                <a:ea typeface="Microsoft YaHei" charset="-122"/>
                <a:cs typeface="Microsoft YaHei" charset="-122"/>
              </a:rPr>
              <a:t>fio</a:t>
            </a:r>
            <a:r>
              <a:rPr kumimoji="1" lang="zh-CN" altLang="en-US" sz="2800" dirty="0">
                <a:latin typeface="Microsoft YaHei" charset="-122"/>
                <a:ea typeface="Microsoft YaHei" charset="-122"/>
                <a:cs typeface="Microsoft YaHei" charset="-122"/>
              </a:rPr>
              <a:t>测试延迟</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40B3754F-8982-3449-AEA5-6E481089A48A}"/>
              </a:ext>
            </a:extLst>
          </p:cNvPr>
          <p:cNvSpPr txBox="1"/>
          <p:nvPr/>
        </p:nvSpPr>
        <p:spPr>
          <a:xfrm>
            <a:off x="601249" y="1605078"/>
            <a:ext cx="7386638" cy="400110"/>
          </a:xfrm>
          <a:prstGeom prst="rect">
            <a:avLst/>
          </a:prstGeom>
          <a:noFill/>
        </p:spPr>
        <p:txBody>
          <a:bodyPr wrap="square" rtlCol="0">
            <a:spAutoFit/>
          </a:bodyPr>
          <a:lstStyle/>
          <a:p>
            <a:r>
              <a:rPr kumimoji="1" lang="en-US" altLang="zh-CN" sz="2000" b="1" dirty="0">
                <a:latin typeface="Microsoft YaHei" panose="020B0503020204020204" pitchFamily="34" charset="-122"/>
                <a:ea typeface="Microsoft YaHei" panose="020B0503020204020204" pitchFamily="34" charset="-122"/>
              </a:rPr>
              <a:t>(</a:t>
            </a:r>
            <a:r>
              <a:rPr kumimoji="1" lang="zh-CN" altLang="en-US" sz="2000" b="1" dirty="0">
                <a:latin typeface="Microsoft YaHei" panose="020B0503020204020204" pitchFamily="34" charset="-122"/>
                <a:ea typeface="Microsoft YaHei" panose="020B0503020204020204" pitchFamily="34" charset="-122"/>
              </a:rPr>
              <a:t>最小</a:t>
            </a:r>
            <a:r>
              <a:rPr kumimoji="1" lang="en-US" altLang="zh-CN" sz="2000" b="1" dirty="0">
                <a:latin typeface="Microsoft YaHei" panose="020B0503020204020204" pitchFamily="34" charset="-122"/>
                <a:ea typeface="Microsoft YaHei" panose="020B0503020204020204" pitchFamily="34" charset="-122"/>
              </a:rPr>
              <a:t>)</a:t>
            </a:r>
            <a:r>
              <a:rPr kumimoji="1" lang="zh-CN" altLang="en-US" sz="2000" b="1" dirty="0">
                <a:latin typeface="Microsoft YaHei" panose="020B0503020204020204" pitchFamily="34" charset="-122"/>
                <a:ea typeface="Microsoft YaHei" panose="020B0503020204020204" pitchFamily="34" charset="-122"/>
              </a:rPr>
              <a:t>延迟 </a:t>
            </a:r>
            <a:r>
              <a:rPr kumimoji="1" lang="en-US" altLang="zh-CN" sz="2000" b="1" dirty="0">
                <a:latin typeface="Microsoft YaHei" panose="020B0503020204020204" pitchFamily="34" charset="-122"/>
                <a:ea typeface="Microsoft YaHei" panose="020B0503020204020204" pitchFamily="34" charset="-122"/>
              </a:rPr>
              <a:t>(Latency)</a:t>
            </a:r>
            <a:r>
              <a:rPr kumimoji="1" lang="zh-CN" altLang="en-US" sz="2000" b="1"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完成一次操作的时间。</a:t>
            </a:r>
            <a:endParaRPr kumimoji="1" lang="en-US" altLang="zh-CN"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0AA77B28-F838-544C-96D6-8CD3B58C26B5}"/>
              </a:ext>
            </a:extLst>
          </p:cNvPr>
          <p:cNvPicPr>
            <a:picLocks noChangeAspect="1"/>
          </p:cNvPicPr>
          <p:nvPr/>
        </p:nvPicPr>
        <p:blipFill>
          <a:blip r:embed="rId3"/>
          <a:stretch>
            <a:fillRect/>
          </a:stretch>
        </p:blipFill>
        <p:spPr>
          <a:xfrm>
            <a:off x="1114816" y="2811907"/>
            <a:ext cx="7152362" cy="3347781"/>
          </a:xfrm>
          <a:prstGeom prst="rect">
            <a:avLst/>
          </a:prstGeom>
          <a:ln>
            <a:noFill/>
          </a:ln>
          <a:effectLst>
            <a:outerShdw blurRad="406400" sx="101000" sy="101000" algn="tl" rotWithShape="0">
              <a:srgbClr val="333333">
                <a:alpha val="65000"/>
              </a:srgbClr>
            </a:outerShdw>
          </a:effectLst>
        </p:spPr>
      </p:pic>
      <p:sp>
        <p:nvSpPr>
          <p:cNvPr id="4" name="文本框 3">
            <a:extLst>
              <a:ext uri="{FF2B5EF4-FFF2-40B4-BE49-F238E27FC236}">
                <a16:creationId xmlns:a16="http://schemas.microsoft.com/office/drawing/2014/main" id="{0A382AE5-231E-B74F-A356-108134953308}"/>
              </a:ext>
            </a:extLst>
          </p:cNvPr>
          <p:cNvSpPr txBox="1"/>
          <p:nvPr/>
        </p:nvSpPr>
        <p:spPr>
          <a:xfrm>
            <a:off x="1002082" y="2310866"/>
            <a:ext cx="1927131" cy="369332"/>
          </a:xfrm>
          <a:prstGeom prst="rect">
            <a:avLst/>
          </a:prstGeom>
          <a:noFill/>
        </p:spPr>
        <p:txBody>
          <a:bodyPr wrap="none" rtlCol="0">
            <a:spAutoFit/>
          </a:bodyPr>
          <a:lstStyle/>
          <a:p>
            <a:r>
              <a:rPr kumimoji="1" lang="en-US" altLang="zh-CN" dirty="0" err="1">
                <a:latin typeface="Microsoft YaHei" panose="020B0503020204020204" pitchFamily="34" charset="-122"/>
                <a:ea typeface="Microsoft YaHei" panose="020B0503020204020204" pitchFamily="34" charset="-122"/>
              </a:rPr>
              <a:t>fio</a:t>
            </a:r>
            <a:r>
              <a:rPr kumimoji="1" lang="zh-CN" altLang="en-US" dirty="0">
                <a:latin typeface="Microsoft YaHei" panose="020B0503020204020204" pitchFamily="34" charset="-122"/>
                <a:ea typeface="Microsoft YaHei" panose="020B0503020204020204" pitchFamily="34" charset="-122"/>
              </a:rPr>
              <a:t> 读延迟脚本：</a:t>
            </a:r>
            <a:endParaRPr kumimoji="1"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07350245"/>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EDF009-3B0D-5441-AFD6-13B3F5C29710}"/>
              </a:ext>
            </a:extLst>
          </p:cNvPr>
          <p:cNvPicPr>
            <a:picLocks noChangeAspect="1"/>
          </p:cNvPicPr>
          <p:nvPr/>
        </p:nvPicPr>
        <p:blipFill>
          <a:blip r:embed="rId3"/>
          <a:stretch>
            <a:fillRect/>
          </a:stretch>
        </p:blipFill>
        <p:spPr>
          <a:xfrm>
            <a:off x="1114816" y="2811907"/>
            <a:ext cx="7152362" cy="3401473"/>
          </a:xfrm>
          <a:prstGeom prst="rect">
            <a:avLst/>
          </a:prstGeom>
          <a:ln>
            <a:noFill/>
          </a:ln>
          <a:effectLst>
            <a:outerShdw blurRad="355600" sx="102000" sy="102000" algn="tl" rotWithShape="0">
              <a:srgbClr val="333333">
                <a:alpha val="65000"/>
              </a:srgbClr>
            </a:outerShdw>
          </a:effectLst>
        </p:spPr>
      </p:pic>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3" name="文本框 12">
            <a:extLst>
              <a:ext uri="{FF2B5EF4-FFF2-40B4-BE49-F238E27FC236}">
                <a16:creationId xmlns:a16="http://schemas.microsoft.com/office/drawing/2014/main" id="{3DD9C94B-9069-A44B-91AA-C4049D57B3CF}"/>
              </a:ext>
            </a:extLst>
          </p:cNvPr>
          <p:cNvSpPr txBox="1"/>
          <p:nvPr/>
        </p:nvSpPr>
        <p:spPr>
          <a:xfrm>
            <a:off x="308079" y="552678"/>
            <a:ext cx="59116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存储性能 </a:t>
            </a:r>
            <a:r>
              <a:rPr kumimoji="1" lang="en-US" altLang="zh-CN" sz="2800" dirty="0">
                <a:latin typeface="Microsoft YaHei" charset="-122"/>
                <a:ea typeface="Microsoft YaHei" charset="-122"/>
                <a:cs typeface="Microsoft YaHei" charset="-122"/>
              </a:rPr>
              <a:t>--</a:t>
            </a:r>
            <a:r>
              <a:rPr kumimoji="1" lang="zh-CN" altLang="en-US" sz="2800" dirty="0">
                <a:latin typeface="Microsoft YaHei" charset="-122"/>
                <a:ea typeface="Microsoft YaHei" charset="-122"/>
                <a:cs typeface="Microsoft YaHei" charset="-122"/>
              </a:rPr>
              <a:t> </a:t>
            </a:r>
            <a:r>
              <a:rPr kumimoji="1" lang="en-US" altLang="zh-CN" sz="2800" dirty="0" err="1">
                <a:latin typeface="Microsoft YaHei" charset="-122"/>
                <a:ea typeface="Microsoft YaHei" charset="-122"/>
                <a:cs typeface="Microsoft YaHei" charset="-122"/>
              </a:rPr>
              <a:t>fio</a:t>
            </a:r>
            <a:r>
              <a:rPr kumimoji="1" lang="zh-CN" altLang="en-US" sz="2800" dirty="0">
                <a:latin typeface="Microsoft YaHei" charset="-122"/>
                <a:ea typeface="Microsoft YaHei" charset="-122"/>
                <a:cs typeface="Microsoft YaHei" charset="-122"/>
              </a:rPr>
              <a:t>测试带宽</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40B3754F-8982-3449-AEA5-6E481089A48A}"/>
              </a:ext>
            </a:extLst>
          </p:cNvPr>
          <p:cNvSpPr txBox="1"/>
          <p:nvPr/>
        </p:nvSpPr>
        <p:spPr>
          <a:xfrm>
            <a:off x="601249" y="1605078"/>
            <a:ext cx="7386638" cy="400110"/>
          </a:xfrm>
          <a:prstGeom prst="rect">
            <a:avLst/>
          </a:prstGeom>
          <a:noFill/>
        </p:spPr>
        <p:txBody>
          <a:bodyPr wrap="square" rtlCol="0">
            <a:spAutoFit/>
          </a:bodyPr>
          <a:lstStyle/>
          <a:p>
            <a:r>
              <a:rPr kumimoji="1" lang="zh-CN" altLang="en-US" sz="2000" b="1" dirty="0">
                <a:latin typeface="Microsoft YaHei" panose="020B0503020204020204" pitchFamily="34" charset="-122"/>
                <a:ea typeface="Microsoft YaHei" panose="020B0503020204020204" pitchFamily="34" charset="-122"/>
              </a:rPr>
              <a:t>带宽 </a:t>
            </a:r>
            <a:r>
              <a:rPr kumimoji="1" lang="en-US" altLang="zh-CN" sz="2000" b="1" dirty="0">
                <a:latin typeface="Microsoft YaHei" panose="020B0503020204020204" pitchFamily="34" charset="-122"/>
                <a:ea typeface="Microsoft YaHei" panose="020B0503020204020204" pitchFamily="34" charset="-122"/>
              </a:rPr>
              <a:t>(Bandwidth)</a:t>
            </a:r>
            <a:r>
              <a:rPr kumimoji="1" lang="zh-CN" altLang="en-US" sz="2000" b="1"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读</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写速度，通常单位为</a:t>
            </a:r>
            <a:r>
              <a:rPr kumimoji="1" lang="en-US" altLang="zh-CN" dirty="0">
                <a:latin typeface="Microsoft YaHei" panose="020B0503020204020204" pitchFamily="34" charset="-122"/>
                <a:ea typeface="Microsoft YaHei" panose="020B0503020204020204" pitchFamily="34" charset="-122"/>
              </a:rPr>
              <a:t>MB/s</a:t>
            </a:r>
            <a:r>
              <a:rPr kumimoji="1" lang="zh-CN" altLang="en-US" dirty="0">
                <a:latin typeface="Microsoft YaHei" panose="020B0503020204020204" pitchFamily="34" charset="-122"/>
                <a:ea typeface="Microsoft YaHei" panose="020B0503020204020204" pitchFamily="34" charset="-122"/>
              </a:rPr>
              <a:t> 或 </a:t>
            </a:r>
            <a:r>
              <a:rPr kumimoji="1" lang="en-US" altLang="zh-CN" dirty="0">
                <a:latin typeface="Microsoft YaHei" panose="020B0503020204020204" pitchFamily="34" charset="-122"/>
                <a:ea typeface="Microsoft YaHei" panose="020B0503020204020204" pitchFamily="34" charset="-122"/>
              </a:rPr>
              <a:t>GB/s</a:t>
            </a:r>
            <a:r>
              <a:rPr kumimoji="1" lang="zh-CN" altLang="en-US" dirty="0">
                <a:latin typeface="Microsoft YaHei" panose="020B0503020204020204" pitchFamily="34" charset="-122"/>
                <a:ea typeface="Microsoft YaHei" panose="020B0503020204020204" pitchFamily="34" charset="-122"/>
              </a:rPr>
              <a:t>。</a:t>
            </a:r>
            <a:endParaRPr kumimoji="1" lang="en-US" altLang="zh-CN" dirty="0">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0A382AE5-231E-B74F-A356-108134953308}"/>
              </a:ext>
            </a:extLst>
          </p:cNvPr>
          <p:cNvSpPr txBox="1"/>
          <p:nvPr/>
        </p:nvSpPr>
        <p:spPr>
          <a:xfrm>
            <a:off x="1002082" y="2310866"/>
            <a:ext cx="1927131" cy="369332"/>
          </a:xfrm>
          <a:prstGeom prst="rect">
            <a:avLst/>
          </a:prstGeom>
          <a:noFill/>
        </p:spPr>
        <p:txBody>
          <a:bodyPr wrap="none" rtlCol="0">
            <a:spAutoFit/>
          </a:bodyPr>
          <a:lstStyle/>
          <a:p>
            <a:r>
              <a:rPr kumimoji="1" lang="en-US" altLang="zh-CN" dirty="0" err="1">
                <a:latin typeface="Microsoft YaHei" panose="020B0503020204020204" pitchFamily="34" charset="-122"/>
                <a:ea typeface="Microsoft YaHei" panose="020B0503020204020204" pitchFamily="34" charset="-122"/>
              </a:rPr>
              <a:t>fio</a:t>
            </a:r>
            <a:r>
              <a:rPr kumimoji="1" lang="zh-CN" altLang="en-US" dirty="0">
                <a:latin typeface="Microsoft YaHei" panose="020B0503020204020204" pitchFamily="34" charset="-122"/>
                <a:ea typeface="Microsoft YaHei" panose="020B0503020204020204" pitchFamily="34" charset="-122"/>
              </a:rPr>
              <a:t> 读带宽脚本：</a:t>
            </a:r>
            <a:endParaRPr kumimoji="1"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722095607"/>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3DA6256-06B7-9947-A17A-F6D93CD2B0E1}"/>
              </a:ext>
            </a:extLst>
          </p:cNvPr>
          <p:cNvPicPr>
            <a:picLocks noChangeAspect="1"/>
          </p:cNvPicPr>
          <p:nvPr/>
        </p:nvPicPr>
        <p:blipFill>
          <a:blip r:embed="rId3"/>
          <a:stretch>
            <a:fillRect/>
          </a:stretch>
        </p:blipFill>
        <p:spPr>
          <a:xfrm>
            <a:off x="1114815" y="2811907"/>
            <a:ext cx="7152363" cy="3370654"/>
          </a:xfrm>
          <a:prstGeom prst="rect">
            <a:avLst/>
          </a:prstGeom>
          <a:ln>
            <a:noFill/>
          </a:ln>
          <a:effectLst>
            <a:outerShdw blurRad="381000" sx="103000" sy="103000" algn="tl" rotWithShape="0">
              <a:srgbClr val="333333">
                <a:alpha val="65000"/>
              </a:srgbClr>
            </a:outerShdw>
          </a:effectLst>
        </p:spPr>
      </p:pic>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3" name="文本框 12">
            <a:extLst>
              <a:ext uri="{FF2B5EF4-FFF2-40B4-BE49-F238E27FC236}">
                <a16:creationId xmlns:a16="http://schemas.microsoft.com/office/drawing/2014/main" id="{3DD9C94B-9069-A44B-91AA-C4049D57B3CF}"/>
              </a:ext>
            </a:extLst>
          </p:cNvPr>
          <p:cNvSpPr txBox="1"/>
          <p:nvPr/>
        </p:nvSpPr>
        <p:spPr>
          <a:xfrm>
            <a:off x="308079" y="552678"/>
            <a:ext cx="59116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存储性能 </a:t>
            </a:r>
            <a:r>
              <a:rPr kumimoji="1" lang="en-US" altLang="zh-CN" sz="2800" dirty="0">
                <a:latin typeface="Microsoft YaHei" charset="-122"/>
                <a:ea typeface="Microsoft YaHei" charset="-122"/>
                <a:cs typeface="Microsoft YaHei" charset="-122"/>
              </a:rPr>
              <a:t>--</a:t>
            </a:r>
            <a:r>
              <a:rPr kumimoji="1" lang="zh-CN" altLang="en-US" sz="2800" dirty="0">
                <a:latin typeface="Microsoft YaHei" charset="-122"/>
                <a:ea typeface="Microsoft YaHei" charset="-122"/>
                <a:cs typeface="Microsoft YaHei" charset="-122"/>
              </a:rPr>
              <a:t> </a:t>
            </a:r>
            <a:r>
              <a:rPr kumimoji="1" lang="en-US" altLang="zh-CN" sz="2800" dirty="0" err="1">
                <a:latin typeface="Microsoft YaHei" charset="-122"/>
                <a:ea typeface="Microsoft YaHei" charset="-122"/>
                <a:cs typeface="Microsoft YaHei" charset="-122"/>
              </a:rPr>
              <a:t>fio</a:t>
            </a:r>
            <a:r>
              <a:rPr kumimoji="1" lang="zh-CN" altLang="en-US" sz="2800" dirty="0">
                <a:latin typeface="Microsoft YaHei" charset="-122"/>
                <a:ea typeface="Microsoft YaHei" charset="-122"/>
                <a:cs typeface="Microsoft YaHei" charset="-122"/>
              </a:rPr>
              <a:t>测试</a:t>
            </a:r>
            <a:r>
              <a:rPr kumimoji="1" lang="en-US" altLang="zh-CN" sz="2800" dirty="0">
                <a:latin typeface="Microsoft YaHei" charset="-122"/>
                <a:ea typeface="Microsoft YaHei" charset="-122"/>
                <a:cs typeface="Microsoft YaHei" charset="-122"/>
              </a:rPr>
              <a:t>IOPS</a:t>
            </a:r>
          </a:p>
        </p:txBody>
      </p:sp>
      <p:sp>
        <p:nvSpPr>
          <p:cNvPr id="2" name="文本框 1">
            <a:extLst>
              <a:ext uri="{FF2B5EF4-FFF2-40B4-BE49-F238E27FC236}">
                <a16:creationId xmlns:a16="http://schemas.microsoft.com/office/drawing/2014/main" id="{40B3754F-8982-3449-AEA5-6E481089A48A}"/>
              </a:ext>
            </a:extLst>
          </p:cNvPr>
          <p:cNvSpPr txBox="1"/>
          <p:nvPr/>
        </p:nvSpPr>
        <p:spPr>
          <a:xfrm>
            <a:off x="601249" y="1605078"/>
            <a:ext cx="7386638" cy="400110"/>
          </a:xfrm>
          <a:prstGeom prst="rect">
            <a:avLst/>
          </a:prstGeom>
          <a:noFill/>
        </p:spPr>
        <p:txBody>
          <a:bodyPr wrap="square" rtlCol="0">
            <a:spAutoFit/>
          </a:bodyPr>
          <a:lstStyle/>
          <a:p>
            <a:r>
              <a:rPr kumimoji="1" lang="en-US" altLang="zh-CN" sz="2000" b="1" dirty="0">
                <a:latin typeface="Microsoft YaHei" panose="020B0503020204020204" pitchFamily="34" charset="-122"/>
                <a:ea typeface="Microsoft YaHei" panose="020B0503020204020204" pitchFamily="34" charset="-122"/>
              </a:rPr>
              <a:t>IOPS</a:t>
            </a:r>
            <a:r>
              <a:rPr kumimoji="1" lang="zh-CN" altLang="en-US" sz="2000" b="1" dirty="0">
                <a:latin typeface="Microsoft YaHei" panose="020B0503020204020204" pitchFamily="34" charset="-122"/>
                <a:ea typeface="Microsoft YaHei" panose="020B0503020204020204" pitchFamily="34" charset="-122"/>
              </a:rPr>
              <a:t> </a:t>
            </a:r>
            <a:r>
              <a:rPr kumimoji="1" lang="en-US" altLang="zh-CN" sz="2000" b="1" dirty="0">
                <a:latin typeface="Microsoft YaHei" panose="020B0503020204020204" pitchFamily="34" charset="-122"/>
                <a:ea typeface="Microsoft YaHei" panose="020B0503020204020204" pitchFamily="34" charset="-122"/>
              </a:rPr>
              <a:t>(I/O</a:t>
            </a:r>
            <a:r>
              <a:rPr kumimoji="1" lang="zh-CN" altLang="en-US" sz="2000" b="1" dirty="0">
                <a:latin typeface="Microsoft YaHei" panose="020B0503020204020204" pitchFamily="34" charset="-122"/>
                <a:ea typeface="Microsoft YaHei" panose="020B0503020204020204" pitchFamily="34" charset="-122"/>
              </a:rPr>
              <a:t> </a:t>
            </a:r>
            <a:r>
              <a:rPr kumimoji="1" lang="en-US" altLang="zh-CN" sz="2000" b="1" dirty="0">
                <a:latin typeface="Microsoft YaHei" panose="020B0503020204020204" pitchFamily="34" charset="-122"/>
                <a:ea typeface="Microsoft YaHei" panose="020B0503020204020204" pitchFamily="34" charset="-122"/>
              </a:rPr>
              <a:t>operations</a:t>
            </a:r>
            <a:r>
              <a:rPr kumimoji="1" lang="zh-CN" altLang="en-US" sz="2000" b="1" dirty="0">
                <a:latin typeface="Microsoft YaHei" panose="020B0503020204020204" pitchFamily="34" charset="-122"/>
                <a:ea typeface="Microsoft YaHei" panose="020B0503020204020204" pitchFamily="34" charset="-122"/>
              </a:rPr>
              <a:t> </a:t>
            </a:r>
            <a:r>
              <a:rPr kumimoji="1" lang="en-US" altLang="zh-CN" sz="2000" b="1" dirty="0">
                <a:latin typeface="Microsoft YaHei" panose="020B0503020204020204" pitchFamily="34" charset="-122"/>
                <a:ea typeface="Microsoft YaHei" panose="020B0503020204020204" pitchFamily="34" charset="-122"/>
              </a:rPr>
              <a:t>per</a:t>
            </a:r>
            <a:r>
              <a:rPr kumimoji="1" lang="zh-CN" altLang="en-US" sz="2000" b="1" dirty="0">
                <a:latin typeface="Microsoft YaHei" panose="020B0503020204020204" pitchFamily="34" charset="-122"/>
                <a:ea typeface="Microsoft YaHei" panose="020B0503020204020204" pitchFamily="34" charset="-122"/>
              </a:rPr>
              <a:t> </a:t>
            </a:r>
            <a:r>
              <a:rPr kumimoji="1" lang="en-US" altLang="zh-CN" sz="2000" b="1" dirty="0">
                <a:latin typeface="Microsoft YaHei" panose="020B0503020204020204" pitchFamily="34" charset="-122"/>
                <a:ea typeface="Microsoft YaHei" panose="020B0503020204020204" pitchFamily="34" charset="-122"/>
              </a:rPr>
              <a:t>second)</a:t>
            </a:r>
            <a:r>
              <a:rPr kumimoji="1" lang="zh-CN" altLang="en-US" sz="2000" b="1" dirty="0">
                <a:latin typeface="Microsoft YaHei" panose="020B0503020204020204" pitchFamily="34" charset="-122"/>
                <a:ea typeface="Microsoft YaHei" panose="020B0503020204020204" pitchFamily="34" charset="-122"/>
              </a:rPr>
              <a:t>  </a:t>
            </a:r>
            <a:r>
              <a:rPr kumimoji="1" lang="zh-CN" altLang="en-US" sz="2000" dirty="0">
                <a:latin typeface="Microsoft YaHei" panose="020B0503020204020204" pitchFamily="34" charset="-122"/>
                <a:ea typeface="Microsoft YaHei" panose="020B0503020204020204" pitchFamily="34" charset="-122"/>
              </a:rPr>
              <a:t>每秒的操作数。</a:t>
            </a:r>
            <a:endParaRPr kumimoji="1" lang="en-US" altLang="zh-CN" dirty="0">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0A382AE5-231E-B74F-A356-108134953308}"/>
              </a:ext>
            </a:extLst>
          </p:cNvPr>
          <p:cNvSpPr txBox="1"/>
          <p:nvPr/>
        </p:nvSpPr>
        <p:spPr>
          <a:xfrm>
            <a:off x="1002082" y="2310866"/>
            <a:ext cx="1994457" cy="369332"/>
          </a:xfrm>
          <a:prstGeom prst="rect">
            <a:avLst/>
          </a:prstGeom>
          <a:noFill/>
        </p:spPr>
        <p:txBody>
          <a:bodyPr wrap="none" rtlCol="0">
            <a:spAutoFit/>
          </a:bodyPr>
          <a:lstStyle/>
          <a:p>
            <a:r>
              <a:rPr kumimoji="1" lang="en-US" altLang="zh-CN" dirty="0" err="1">
                <a:latin typeface="Microsoft YaHei" panose="020B0503020204020204" pitchFamily="34" charset="-122"/>
                <a:ea typeface="Microsoft YaHei" panose="020B0503020204020204" pitchFamily="34" charset="-122"/>
              </a:rPr>
              <a:t>fio</a:t>
            </a:r>
            <a:r>
              <a:rPr kumimoji="1" lang="zh-CN" altLang="en-US" dirty="0">
                <a:latin typeface="Microsoft YaHei" panose="020B0503020204020204" pitchFamily="34" charset="-122"/>
                <a:ea typeface="Microsoft YaHei" panose="020B0503020204020204" pitchFamily="34" charset="-122"/>
              </a:rPr>
              <a:t> 读</a:t>
            </a:r>
            <a:r>
              <a:rPr kumimoji="1" lang="en-US" altLang="zh-CN" dirty="0">
                <a:latin typeface="Microsoft YaHei" panose="020B0503020204020204" pitchFamily="34" charset="-122"/>
                <a:ea typeface="Microsoft YaHei" panose="020B0503020204020204" pitchFamily="34" charset="-122"/>
              </a:rPr>
              <a:t>IOPS</a:t>
            </a:r>
            <a:r>
              <a:rPr kumimoji="1" lang="zh-CN" altLang="en-US" dirty="0">
                <a:latin typeface="Microsoft YaHei" panose="020B0503020204020204" pitchFamily="34" charset="-122"/>
                <a:ea typeface="Microsoft YaHei" panose="020B0503020204020204" pitchFamily="34" charset="-122"/>
              </a:rPr>
              <a:t>脚本：</a:t>
            </a:r>
            <a:endParaRPr kumimoji="1"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288245557"/>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8" name="文本框 7"/>
          <p:cNvSpPr txBox="1"/>
          <p:nvPr/>
        </p:nvSpPr>
        <p:spPr>
          <a:xfrm>
            <a:off x="1376717" y="1173975"/>
            <a:ext cx="1107997" cy="646331"/>
          </a:xfrm>
          <a:prstGeom prst="rect">
            <a:avLst/>
          </a:prstGeom>
          <a:noFill/>
        </p:spPr>
        <p:txBody>
          <a:bodyPr wrap="none" rtlCol="0">
            <a:spAutoFit/>
          </a:bodyPr>
          <a:lstStyle/>
          <a:p>
            <a:pPr algn="ctr"/>
            <a:r>
              <a:rPr kumimoji="1" lang="zh-CN" altLang="en-US" sz="3600" dirty="0">
                <a:solidFill>
                  <a:schemeClr val="bg1">
                    <a:lumMod val="95000"/>
                  </a:schemeClr>
                </a:solidFill>
                <a:latin typeface="Microsoft YaHei" charset="-122"/>
                <a:ea typeface="Microsoft YaHei" charset="-122"/>
                <a:cs typeface="Microsoft YaHei" charset="-122"/>
              </a:rPr>
              <a:t>目录</a:t>
            </a:r>
            <a:endParaRPr kumimoji="1" lang="en-US" altLang="zh-CN" sz="3600" dirty="0">
              <a:solidFill>
                <a:schemeClr val="bg1">
                  <a:lumMod val="95000"/>
                </a:schemeClr>
              </a:solidFill>
              <a:latin typeface="Microsoft YaHei" charset="-122"/>
              <a:ea typeface="Microsoft YaHei" charset="-122"/>
              <a:cs typeface="Microsoft YaHei" charset="-122"/>
            </a:endParaRPr>
          </a:p>
        </p:txBody>
      </p:sp>
      <p:sp>
        <p:nvSpPr>
          <p:cNvPr id="3" name="文本框 2"/>
          <p:cNvSpPr txBox="1"/>
          <p:nvPr/>
        </p:nvSpPr>
        <p:spPr>
          <a:xfrm>
            <a:off x="2770166" y="2411366"/>
            <a:ext cx="6373834" cy="2954655"/>
          </a:xfrm>
          <a:prstGeom prst="rect">
            <a:avLst/>
          </a:prstGeom>
          <a:noFill/>
        </p:spPr>
        <p:txBody>
          <a:bodyPr wrap="square" rtlCol="0">
            <a:spAutoFit/>
          </a:bodyPr>
          <a:lstStyle/>
          <a:p>
            <a:pPr marL="285750" indent="-285750">
              <a:lnSpc>
                <a:spcPct val="150000"/>
              </a:lnSpc>
              <a:buClr>
                <a:schemeClr val="bg1">
                  <a:lumMod val="95000"/>
                </a:schemeClr>
              </a:buClr>
              <a:buSzPct val="75000"/>
              <a:buFont typeface="Wingdings" charset="2"/>
              <a:buChar char="l"/>
            </a:pPr>
            <a:r>
              <a:rPr kumimoji="1" lang="zh-CN" altLang="en-US" sz="2800" dirty="0">
                <a:latin typeface="Microsoft YaHei" charset="-122"/>
                <a:ea typeface="Microsoft YaHei" charset="-122"/>
                <a:cs typeface="Microsoft YaHei" charset="-122"/>
              </a:rPr>
              <a:t>     </a:t>
            </a:r>
            <a:r>
              <a:rPr kumimoji="1" lang="zh-CN" altLang="en-US" sz="2800" dirty="0">
                <a:solidFill>
                  <a:schemeClr val="tx1">
                    <a:lumMod val="50000"/>
                    <a:lumOff val="50000"/>
                  </a:schemeClr>
                </a:solidFill>
                <a:latin typeface="Microsoft YaHei" charset="-122"/>
                <a:ea typeface="Microsoft YaHei" charset="-122"/>
                <a:cs typeface="Microsoft YaHei" charset="-122"/>
              </a:rPr>
              <a:t>存储设备</a:t>
            </a:r>
            <a:endParaRPr kumimoji="1" lang="en-US" altLang="zh-CN" sz="2800" dirty="0">
              <a:solidFill>
                <a:schemeClr val="tx1">
                  <a:lumMod val="50000"/>
                  <a:lumOff val="50000"/>
                </a:schemeClr>
              </a:solidFill>
              <a:latin typeface="Microsoft YaHei" charset="-122"/>
              <a:ea typeface="Microsoft YaHei" charset="-122"/>
              <a:cs typeface="Microsoft YaHei" charset="-122"/>
            </a:endParaRPr>
          </a:p>
          <a:p>
            <a:pPr marL="285750" indent="-285750">
              <a:lnSpc>
                <a:spcPct val="150000"/>
              </a:lnSpc>
              <a:buClr>
                <a:schemeClr val="bg1">
                  <a:lumMod val="95000"/>
                </a:schemeClr>
              </a:buClr>
              <a:buSzPct val="75000"/>
              <a:buFont typeface="Wingdings" charset="2"/>
              <a:buChar char="l"/>
            </a:pPr>
            <a:r>
              <a:rPr kumimoji="1" lang="zh-CN" altLang="en-US" sz="2800" dirty="0">
                <a:latin typeface="Microsoft YaHei" charset="-122"/>
                <a:ea typeface="Microsoft YaHei" charset="-122"/>
                <a:cs typeface="Microsoft YaHei" charset="-122"/>
              </a:rPr>
              <a:t>     </a:t>
            </a:r>
            <a:r>
              <a:rPr kumimoji="1" lang="zh-CN" altLang="en-US" sz="2800" dirty="0">
                <a:solidFill>
                  <a:schemeClr val="tx1">
                    <a:lumMod val="50000"/>
                    <a:lumOff val="50000"/>
                  </a:schemeClr>
                </a:solidFill>
                <a:latin typeface="Microsoft YaHei" charset="-122"/>
                <a:ea typeface="Microsoft YaHei" charset="-122"/>
                <a:cs typeface="Microsoft YaHei" charset="-122"/>
              </a:rPr>
              <a:t>存储</a:t>
            </a:r>
            <a:r>
              <a:rPr kumimoji="1" lang="en-US" altLang="zh-CN" sz="2800" dirty="0">
                <a:solidFill>
                  <a:schemeClr val="tx1">
                    <a:lumMod val="50000"/>
                    <a:lumOff val="50000"/>
                  </a:schemeClr>
                </a:solidFill>
                <a:latin typeface="Microsoft YaHei" charset="-122"/>
                <a:ea typeface="Microsoft YaHei" charset="-122"/>
                <a:cs typeface="Microsoft YaHei" charset="-122"/>
              </a:rPr>
              <a:t>I/O</a:t>
            </a:r>
            <a:r>
              <a:rPr kumimoji="1" lang="zh-CN" altLang="en-US" sz="2800" dirty="0">
                <a:solidFill>
                  <a:schemeClr val="tx1">
                    <a:lumMod val="50000"/>
                    <a:lumOff val="50000"/>
                  </a:schemeClr>
                </a:solidFill>
                <a:latin typeface="Microsoft YaHei" charset="-122"/>
                <a:ea typeface="Microsoft YaHei" charset="-122"/>
                <a:cs typeface="Microsoft YaHei" charset="-122"/>
              </a:rPr>
              <a:t>性能</a:t>
            </a:r>
            <a:endParaRPr kumimoji="1" lang="en-US" altLang="zh-CN" sz="2800" dirty="0">
              <a:solidFill>
                <a:schemeClr val="tx1">
                  <a:lumMod val="50000"/>
                  <a:lumOff val="50000"/>
                </a:schemeClr>
              </a:solidFill>
              <a:latin typeface="Microsoft YaHei" charset="-122"/>
              <a:ea typeface="Microsoft YaHei" charset="-122"/>
              <a:cs typeface="Microsoft YaHei" charset="-122"/>
            </a:endParaRPr>
          </a:p>
          <a:p>
            <a:pPr marL="285750" indent="-285750">
              <a:lnSpc>
                <a:spcPct val="150000"/>
              </a:lnSpc>
              <a:buClr>
                <a:schemeClr val="bg1">
                  <a:lumMod val="95000"/>
                </a:schemeClr>
              </a:buClr>
              <a:buSzPct val="75000"/>
              <a:buFont typeface="Wingdings" charset="2"/>
              <a:buChar char="l"/>
            </a:pPr>
            <a:r>
              <a:rPr kumimoji="1" lang="zh-CN" altLang="en-US" sz="2800" dirty="0">
                <a:solidFill>
                  <a:schemeClr val="tx1">
                    <a:lumMod val="50000"/>
                    <a:lumOff val="50000"/>
                  </a:schemeClr>
                </a:solidFill>
                <a:latin typeface="Microsoft YaHei" charset="-122"/>
                <a:ea typeface="Microsoft YaHei" charset="-122"/>
                <a:cs typeface="Microsoft YaHei" charset="-122"/>
              </a:rPr>
              <a:t>     </a:t>
            </a:r>
            <a:r>
              <a:rPr kumimoji="1" lang="zh-CN" altLang="en-US" sz="2800" dirty="0">
                <a:latin typeface="Microsoft YaHei" charset="-122"/>
                <a:ea typeface="Microsoft YaHei" charset="-122"/>
                <a:cs typeface="Microsoft YaHei" charset="-122"/>
              </a:rPr>
              <a:t>存储设备对系统设计的影响</a:t>
            </a:r>
            <a:endParaRPr kumimoji="1" lang="en-US" altLang="zh-CN" sz="2800" dirty="0">
              <a:latin typeface="Microsoft YaHei" charset="-122"/>
              <a:ea typeface="Microsoft YaHei" charset="-122"/>
              <a:cs typeface="Microsoft YaHei" charset="-122"/>
            </a:endParaRPr>
          </a:p>
          <a:p>
            <a:pPr marL="1257300" lvl="2" indent="-342900">
              <a:buClr>
                <a:schemeClr val="tx1"/>
              </a:buClr>
              <a:buSzPct val="75000"/>
              <a:buFont typeface="Wingdings" pitchFamily="2" charset="2"/>
              <a:buChar char="l"/>
            </a:pPr>
            <a:r>
              <a:rPr kumimoji="1" lang="en-US" altLang="zh-CN" sz="2000" dirty="0">
                <a:latin typeface="Microsoft YaHei" charset="-122"/>
                <a:ea typeface="Microsoft YaHei" charset="-122"/>
                <a:cs typeface="Microsoft YaHei" charset="-122"/>
              </a:rPr>
              <a:t>HDD</a:t>
            </a:r>
            <a:r>
              <a:rPr kumimoji="1" lang="zh-CN" altLang="en-US" sz="2000" dirty="0">
                <a:latin typeface="Microsoft YaHei" charset="-122"/>
                <a:ea typeface="Microsoft YaHei" charset="-122"/>
                <a:cs typeface="Microsoft YaHei" charset="-122"/>
              </a:rPr>
              <a:t> 和 </a:t>
            </a:r>
            <a:r>
              <a:rPr kumimoji="1" lang="en-US" altLang="zh-CN" sz="2000" dirty="0">
                <a:latin typeface="Microsoft YaHei" charset="-122"/>
                <a:ea typeface="Microsoft YaHei" charset="-122"/>
                <a:cs typeface="Microsoft YaHei" charset="-122"/>
              </a:rPr>
              <a:t>SMR</a:t>
            </a:r>
            <a:r>
              <a:rPr kumimoji="1" lang="zh-CN" altLang="en-US" sz="2000" dirty="0">
                <a:latin typeface="Microsoft YaHei" charset="-122"/>
                <a:ea typeface="Microsoft YaHei" charset="-122"/>
                <a:cs typeface="Microsoft YaHei" charset="-122"/>
              </a:rPr>
              <a:t> </a:t>
            </a:r>
            <a:r>
              <a:rPr kumimoji="1" lang="en-US" altLang="zh-CN" sz="2000" dirty="0">
                <a:latin typeface="Microsoft YaHei" charset="-122"/>
                <a:ea typeface="Microsoft YaHei" charset="-122"/>
                <a:cs typeface="Microsoft YaHei" charset="-122"/>
              </a:rPr>
              <a:t>HDD</a:t>
            </a:r>
          </a:p>
          <a:p>
            <a:pPr marL="1257300" lvl="2" indent="-342900">
              <a:buClr>
                <a:schemeClr val="tx1"/>
              </a:buClr>
              <a:buSzPct val="75000"/>
              <a:buFont typeface="Wingdings" pitchFamily="2" charset="2"/>
              <a:buChar char="l"/>
            </a:pPr>
            <a:r>
              <a:rPr kumimoji="1" lang="en-US" altLang="zh-CN" sz="2000" dirty="0" err="1">
                <a:latin typeface="Microsoft YaHei" charset="-122"/>
                <a:ea typeface="Microsoft YaHei" charset="-122"/>
                <a:cs typeface="Microsoft YaHei" charset="-122"/>
              </a:rPr>
              <a:t>Nand</a:t>
            </a:r>
            <a:r>
              <a:rPr kumimoji="1" lang="zh-CN" altLang="en-US" sz="2000" dirty="0">
                <a:latin typeface="Microsoft YaHei" charset="-122"/>
                <a:ea typeface="Microsoft YaHei" charset="-122"/>
                <a:cs typeface="Microsoft YaHei" charset="-122"/>
              </a:rPr>
              <a:t> </a:t>
            </a:r>
            <a:r>
              <a:rPr kumimoji="1" lang="en-US" altLang="zh-CN" sz="2000" dirty="0">
                <a:latin typeface="Microsoft YaHei" charset="-122"/>
                <a:ea typeface="Microsoft YaHei" charset="-122"/>
                <a:cs typeface="Microsoft YaHei" charset="-122"/>
              </a:rPr>
              <a:t>Flash</a:t>
            </a:r>
            <a:r>
              <a:rPr kumimoji="1" lang="zh-CN" altLang="en-US" sz="2000" dirty="0">
                <a:latin typeface="Microsoft YaHei" charset="-122"/>
                <a:ea typeface="Microsoft YaHei" charset="-122"/>
                <a:cs typeface="Microsoft YaHei" charset="-122"/>
              </a:rPr>
              <a:t> </a:t>
            </a:r>
            <a:r>
              <a:rPr kumimoji="1" lang="en-US" altLang="zh-CN" sz="2000" dirty="0">
                <a:latin typeface="Microsoft YaHei" charset="-122"/>
                <a:ea typeface="Microsoft YaHei" charset="-122"/>
                <a:cs typeface="Microsoft YaHei" charset="-122"/>
              </a:rPr>
              <a:t>SSD</a:t>
            </a:r>
          </a:p>
          <a:p>
            <a:pPr marL="1257300" lvl="2" indent="-342900">
              <a:buClr>
                <a:schemeClr val="tx1"/>
              </a:buClr>
              <a:buSzPct val="75000"/>
              <a:buFont typeface="Wingdings" pitchFamily="2" charset="2"/>
              <a:buChar char="l"/>
            </a:pPr>
            <a:r>
              <a:rPr kumimoji="1" lang="en-US" altLang="zh-CN" sz="2000" dirty="0">
                <a:latin typeface="Microsoft YaHei" charset="-122"/>
                <a:ea typeface="Microsoft YaHei" charset="-122"/>
                <a:cs typeface="Microsoft YaHei" charset="-122"/>
              </a:rPr>
              <a:t>Persistent</a:t>
            </a:r>
            <a:r>
              <a:rPr kumimoji="1" lang="zh-CN" altLang="en-US" sz="2000" dirty="0">
                <a:latin typeface="Microsoft YaHei" charset="-122"/>
                <a:ea typeface="Microsoft YaHei" charset="-122"/>
                <a:cs typeface="Microsoft YaHei" charset="-122"/>
              </a:rPr>
              <a:t> </a:t>
            </a:r>
            <a:r>
              <a:rPr kumimoji="1" lang="en-US" altLang="zh-CN" sz="2000" dirty="0">
                <a:latin typeface="Microsoft YaHei" charset="-122"/>
                <a:ea typeface="Microsoft YaHei" charset="-122"/>
                <a:cs typeface="Microsoft YaHei" charset="-122"/>
              </a:rPr>
              <a:t>Memory</a:t>
            </a:r>
          </a:p>
        </p:txBody>
      </p:sp>
    </p:spTree>
    <p:extLst>
      <p:ext uri="{BB962C8B-B14F-4D97-AF65-F5344CB8AC3E}">
        <p14:creationId xmlns:p14="http://schemas.microsoft.com/office/powerpoint/2010/main" val="4016970520"/>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4" name="文本框 13">
            <a:extLst>
              <a:ext uri="{FF2B5EF4-FFF2-40B4-BE49-F238E27FC236}">
                <a16:creationId xmlns:a16="http://schemas.microsoft.com/office/drawing/2014/main" id="{68BE4575-C96F-A24D-910A-753EB464E607}"/>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HDD</a:t>
            </a:r>
            <a:r>
              <a:rPr kumimoji="1" lang="zh-CN" altLang="en-US" sz="2800" dirty="0">
                <a:latin typeface="Microsoft YaHei" charset="-122"/>
                <a:ea typeface="Microsoft YaHei" charset="-122"/>
                <a:cs typeface="Microsoft YaHei" charset="-122"/>
              </a:rPr>
              <a:t> 磁盘存储原理</a:t>
            </a:r>
            <a:endParaRPr kumimoji="1" lang="en-US" altLang="zh-CN" sz="2800" dirty="0">
              <a:latin typeface="Microsoft YaHei" charset="-122"/>
              <a:ea typeface="Microsoft YaHei" charset="-122"/>
              <a:cs typeface="Microsoft YaHei" charset="-122"/>
            </a:endParaRPr>
          </a:p>
        </p:txBody>
      </p:sp>
      <p:pic>
        <p:nvPicPr>
          <p:cNvPr id="9" name="图片 8">
            <a:extLst>
              <a:ext uri="{FF2B5EF4-FFF2-40B4-BE49-F238E27FC236}">
                <a16:creationId xmlns:a16="http://schemas.microsoft.com/office/drawing/2014/main" id="{35D7E6CE-A98A-4D46-93B3-3B2D68FD7885}"/>
              </a:ext>
            </a:extLst>
          </p:cNvPr>
          <p:cNvPicPr>
            <a:picLocks noChangeAspect="1"/>
          </p:cNvPicPr>
          <p:nvPr/>
        </p:nvPicPr>
        <p:blipFill>
          <a:blip r:embed="rId3"/>
          <a:stretch>
            <a:fillRect/>
          </a:stretch>
        </p:blipFill>
        <p:spPr>
          <a:xfrm>
            <a:off x="541337" y="2035178"/>
            <a:ext cx="3598862" cy="2787643"/>
          </a:xfrm>
          <a:prstGeom prst="rect">
            <a:avLst/>
          </a:prstGeom>
        </p:spPr>
      </p:pic>
      <p:pic>
        <p:nvPicPr>
          <p:cNvPr id="10" name="图片 9">
            <a:extLst>
              <a:ext uri="{FF2B5EF4-FFF2-40B4-BE49-F238E27FC236}">
                <a16:creationId xmlns:a16="http://schemas.microsoft.com/office/drawing/2014/main" id="{DF1322E8-0282-1C4A-BFE0-7468C6673242}"/>
              </a:ext>
            </a:extLst>
          </p:cNvPr>
          <p:cNvPicPr>
            <a:picLocks noChangeAspect="1"/>
          </p:cNvPicPr>
          <p:nvPr/>
        </p:nvPicPr>
        <p:blipFill>
          <a:blip r:embed="rId4"/>
          <a:stretch>
            <a:fillRect/>
          </a:stretch>
        </p:blipFill>
        <p:spPr>
          <a:xfrm>
            <a:off x="4257675" y="1717128"/>
            <a:ext cx="4549609" cy="3423742"/>
          </a:xfrm>
          <a:prstGeom prst="rect">
            <a:avLst/>
          </a:prstGeom>
        </p:spPr>
      </p:pic>
      <p:sp>
        <p:nvSpPr>
          <p:cNvPr id="12" name="文本框 11">
            <a:extLst>
              <a:ext uri="{FF2B5EF4-FFF2-40B4-BE49-F238E27FC236}">
                <a16:creationId xmlns:a16="http://schemas.microsoft.com/office/drawing/2014/main" id="{B9F0B4A3-1D03-1748-B2F4-0379DF126ED4}"/>
              </a:ext>
            </a:extLst>
          </p:cNvPr>
          <p:cNvSpPr txBox="1"/>
          <p:nvPr/>
        </p:nvSpPr>
        <p:spPr>
          <a:xfrm>
            <a:off x="3629025" y="5838540"/>
            <a:ext cx="1620957" cy="523220"/>
          </a:xfrm>
          <a:prstGeom prst="rect">
            <a:avLst/>
          </a:prstGeom>
          <a:noFill/>
        </p:spPr>
        <p:txBody>
          <a:bodyPr wrap="none" rtlCol="0">
            <a:spAutoFit/>
          </a:bodyPr>
          <a:lstStyle/>
          <a:p>
            <a:r>
              <a:rPr kumimoji="1" lang="zh-CN" altLang="en-US" sz="2800" dirty="0">
                <a:latin typeface="Microsoft YaHei" panose="020B0503020204020204" pitchFamily="34" charset="-122"/>
                <a:ea typeface="Microsoft YaHei" panose="020B0503020204020204" pitchFamily="34" charset="-122"/>
              </a:rPr>
              <a:t>内部构造</a:t>
            </a:r>
          </a:p>
        </p:txBody>
      </p:sp>
    </p:spTree>
    <p:extLst>
      <p:ext uri="{BB962C8B-B14F-4D97-AF65-F5344CB8AC3E}">
        <p14:creationId xmlns:p14="http://schemas.microsoft.com/office/powerpoint/2010/main" val="3790725375"/>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pic>
        <p:nvPicPr>
          <p:cNvPr id="7" name="图片 6">
            <a:extLst>
              <a:ext uri="{FF2B5EF4-FFF2-40B4-BE49-F238E27FC236}">
                <a16:creationId xmlns:a16="http://schemas.microsoft.com/office/drawing/2014/main" id="{A8D4CB23-2105-B54D-85E3-E664399FFF2A}"/>
              </a:ext>
            </a:extLst>
          </p:cNvPr>
          <p:cNvPicPr>
            <a:picLocks noChangeAspect="1"/>
          </p:cNvPicPr>
          <p:nvPr/>
        </p:nvPicPr>
        <p:blipFill>
          <a:blip r:embed="rId3"/>
          <a:stretch>
            <a:fillRect/>
          </a:stretch>
        </p:blipFill>
        <p:spPr>
          <a:xfrm>
            <a:off x="1243010" y="1294723"/>
            <a:ext cx="6272213" cy="4248577"/>
          </a:xfrm>
          <a:prstGeom prst="rect">
            <a:avLst/>
          </a:prstGeom>
        </p:spPr>
      </p:pic>
      <p:pic>
        <p:nvPicPr>
          <p:cNvPr id="9" name="图片 8">
            <a:extLst>
              <a:ext uri="{FF2B5EF4-FFF2-40B4-BE49-F238E27FC236}">
                <a16:creationId xmlns:a16="http://schemas.microsoft.com/office/drawing/2014/main" id="{8E802EC8-7F21-154F-A153-C236939A0AB9}"/>
              </a:ext>
            </a:extLst>
          </p:cNvPr>
          <p:cNvPicPr>
            <a:picLocks noChangeAspect="1"/>
          </p:cNvPicPr>
          <p:nvPr/>
        </p:nvPicPr>
        <p:blipFill>
          <a:blip r:embed="rId4"/>
          <a:stretch>
            <a:fillRect/>
          </a:stretch>
        </p:blipFill>
        <p:spPr>
          <a:xfrm>
            <a:off x="1243010" y="4576766"/>
            <a:ext cx="4268267" cy="1248121"/>
          </a:xfrm>
          <a:prstGeom prst="rect">
            <a:avLst/>
          </a:prstGeom>
        </p:spPr>
      </p:pic>
      <p:sp>
        <p:nvSpPr>
          <p:cNvPr id="12" name="文本框 11">
            <a:extLst>
              <a:ext uri="{FF2B5EF4-FFF2-40B4-BE49-F238E27FC236}">
                <a16:creationId xmlns:a16="http://schemas.microsoft.com/office/drawing/2014/main" id="{699E1B9A-667F-AD40-B1B2-656AA787C7FB}"/>
              </a:ext>
            </a:extLst>
          </p:cNvPr>
          <p:cNvSpPr txBox="1"/>
          <p:nvPr/>
        </p:nvSpPr>
        <p:spPr>
          <a:xfrm>
            <a:off x="3825813" y="5943699"/>
            <a:ext cx="2060636" cy="523220"/>
          </a:xfrm>
          <a:prstGeom prst="rect">
            <a:avLst/>
          </a:prstGeom>
          <a:noFill/>
        </p:spPr>
        <p:txBody>
          <a:bodyPr wrap="square" rtlCol="0">
            <a:spAutoFit/>
          </a:bodyPr>
          <a:lstStyle/>
          <a:p>
            <a:r>
              <a:rPr kumimoji="1" lang="zh-CN" altLang="en-US" sz="2800" dirty="0">
                <a:latin typeface="Microsoft YaHei" panose="020B0503020204020204" pitchFamily="34" charset="-122"/>
                <a:ea typeface="Microsoft YaHei" panose="020B0503020204020204" pitchFamily="34" charset="-122"/>
              </a:rPr>
              <a:t>存储原理</a:t>
            </a:r>
          </a:p>
        </p:txBody>
      </p:sp>
      <p:sp>
        <p:nvSpPr>
          <p:cNvPr id="13" name="文本框 12">
            <a:extLst>
              <a:ext uri="{FF2B5EF4-FFF2-40B4-BE49-F238E27FC236}">
                <a16:creationId xmlns:a16="http://schemas.microsoft.com/office/drawing/2014/main" id="{3DD9C94B-9069-A44B-91AA-C4049D57B3CF}"/>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HDD</a:t>
            </a:r>
            <a:r>
              <a:rPr kumimoji="1" lang="zh-CN" altLang="en-US" sz="2800" dirty="0">
                <a:latin typeface="Microsoft YaHei" charset="-122"/>
                <a:ea typeface="Microsoft YaHei" charset="-122"/>
                <a:cs typeface="Microsoft YaHei" charset="-122"/>
              </a:rPr>
              <a:t> 磁盘存储原理</a:t>
            </a:r>
            <a:endParaRPr kumimoji="1" lang="en-US" altLang="zh-CN" sz="28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3235933446"/>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7" name="文本框 6">
            <a:extLst>
              <a:ext uri="{FF2B5EF4-FFF2-40B4-BE49-F238E27FC236}">
                <a16:creationId xmlns:a16="http://schemas.microsoft.com/office/drawing/2014/main" id="{BFA0FF36-1C6A-3F4F-9420-EE58293A57A5}"/>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HDD</a:t>
            </a:r>
            <a:r>
              <a:rPr kumimoji="1" lang="zh-CN" altLang="en-US" sz="2800" dirty="0">
                <a:latin typeface="Microsoft YaHei" charset="-122"/>
                <a:ea typeface="Microsoft YaHei" charset="-122"/>
                <a:cs typeface="Microsoft YaHei" charset="-122"/>
              </a:rPr>
              <a:t> 磁盘</a:t>
            </a:r>
            <a:r>
              <a:rPr kumimoji="1" lang="en-US" altLang="zh-CN" sz="2800" dirty="0">
                <a:latin typeface="Microsoft YaHei" charset="-122"/>
                <a:ea typeface="Microsoft YaHei" charset="-122"/>
                <a:cs typeface="Microsoft YaHei" charset="-122"/>
              </a:rPr>
              <a:t>I/O</a:t>
            </a:r>
            <a:r>
              <a:rPr kumimoji="1" lang="zh-CN" altLang="en-US" sz="2800" dirty="0">
                <a:latin typeface="Microsoft YaHei" charset="-122"/>
                <a:ea typeface="Microsoft YaHei" charset="-122"/>
                <a:cs typeface="Microsoft YaHei" charset="-122"/>
              </a:rPr>
              <a:t>性能</a:t>
            </a:r>
            <a:endParaRPr kumimoji="1" lang="en-US" altLang="zh-CN" sz="2800" dirty="0">
              <a:latin typeface="Microsoft YaHei" charset="-122"/>
              <a:ea typeface="Microsoft YaHei" charset="-122"/>
              <a:cs typeface="Microsoft YaHei" charset="-122"/>
            </a:endParaRPr>
          </a:p>
        </p:txBody>
      </p:sp>
      <p:pic>
        <p:nvPicPr>
          <p:cNvPr id="5" name="图片 4">
            <a:extLst>
              <a:ext uri="{FF2B5EF4-FFF2-40B4-BE49-F238E27FC236}">
                <a16:creationId xmlns:a16="http://schemas.microsoft.com/office/drawing/2014/main" id="{3535E3D5-0B41-FB4C-B315-64297B72AEA2}"/>
              </a:ext>
            </a:extLst>
          </p:cNvPr>
          <p:cNvPicPr>
            <a:picLocks noChangeAspect="1"/>
          </p:cNvPicPr>
          <p:nvPr/>
        </p:nvPicPr>
        <p:blipFill rotWithShape="1">
          <a:blip r:embed="rId3"/>
          <a:srcRect b="31536"/>
          <a:stretch/>
        </p:blipFill>
        <p:spPr>
          <a:xfrm>
            <a:off x="308079" y="1908278"/>
            <a:ext cx="8101013" cy="1298773"/>
          </a:xfrm>
          <a:prstGeom prst="rect">
            <a:avLst/>
          </a:prstGeom>
        </p:spPr>
      </p:pic>
      <p:sp>
        <p:nvSpPr>
          <p:cNvPr id="6" name="文本框 5">
            <a:extLst>
              <a:ext uri="{FF2B5EF4-FFF2-40B4-BE49-F238E27FC236}">
                <a16:creationId xmlns:a16="http://schemas.microsoft.com/office/drawing/2014/main" id="{A2E81029-ADD1-CA42-B20B-D382E7CC0D13}"/>
              </a:ext>
            </a:extLst>
          </p:cNvPr>
          <p:cNvSpPr txBox="1"/>
          <p:nvPr/>
        </p:nvSpPr>
        <p:spPr>
          <a:xfrm>
            <a:off x="6006307" y="1723612"/>
            <a:ext cx="1002967" cy="369332"/>
          </a:xfrm>
          <a:prstGeom prst="rect">
            <a:avLst/>
          </a:prstGeom>
          <a:noFill/>
        </p:spPr>
        <p:txBody>
          <a:bodyPr wrap="none" rtlCol="0">
            <a:spAutoFit/>
          </a:bodyPr>
          <a:lstStyle/>
          <a:p>
            <a:r>
              <a:rPr kumimoji="1" lang="en-US" altLang="zh-CN" dirty="0">
                <a:solidFill>
                  <a:srgbClr val="1630F6"/>
                </a:solidFill>
              </a:rPr>
              <a:t>(SATA</a:t>
            </a:r>
            <a:r>
              <a:rPr kumimoji="1" lang="zh-CN" altLang="en-US" dirty="0">
                <a:solidFill>
                  <a:srgbClr val="1630F6"/>
                </a:solidFill>
              </a:rPr>
              <a:t>盘</a:t>
            </a:r>
            <a:r>
              <a:rPr kumimoji="1" lang="en-US" altLang="zh-CN" dirty="0">
                <a:solidFill>
                  <a:srgbClr val="1630F6"/>
                </a:solidFill>
              </a:rPr>
              <a:t>)</a:t>
            </a:r>
            <a:endParaRPr kumimoji="1" lang="zh-CN" altLang="en-US" dirty="0">
              <a:solidFill>
                <a:srgbClr val="1630F6"/>
              </a:solidFill>
            </a:endParaRPr>
          </a:p>
        </p:txBody>
      </p:sp>
      <p:sp>
        <p:nvSpPr>
          <p:cNvPr id="10" name="文本框 9">
            <a:extLst>
              <a:ext uri="{FF2B5EF4-FFF2-40B4-BE49-F238E27FC236}">
                <a16:creationId xmlns:a16="http://schemas.microsoft.com/office/drawing/2014/main" id="{ACB37672-D664-9A4B-B00A-81537B653138}"/>
              </a:ext>
            </a:extLst>
          </p:cNvPr>
          <p:cNvSpPr txBox="1"/>
          <p:nvPr/>
        </p:nvSpPr>
        <p:spPr>
          <a:xfrm>
            <a:off x="4375493" y="1723612"/>
            <a:ext cx="949299" cy="369332"/>
          </a:xfrm>
          <a:prstGeom prst="rect">
            <a:avLst/>
          </a:prstGeom>
          <a:noFill/>
        </p:spPr>
        <p:txBody>
          <a:bodyPr wrap="none" rtlCol="0">
            <a:spAutoFit/>
          </a:bodyPr>
          <a:lstStyle/>
          <a:p>
            <a:pPr algn="ctr"/>
            <a:r>
              <a:rPr kumimoji="1" lang="en-US" altLang="zh-CN" dirty="0">
                <a:solidFill>
                  <a:srgbClr val="1630F6"/>
                </a:solidFill>
              </a:rPr>
              <a:t>(SCSI</a:t>
            </a:r>
            <a:r>
              <a:rPr kumimoji="1" lang="zh-CN" altLang="en-US" dirty="0">
                <a:solidFill>
                  <a:srgbClr val="1630F6"/>
                </a:solidFill>
              </a:rPr>
              <a:t>盘</a:t>
            </a:r>
            <a:r>
              <a:rPr kumimoji="1" lang="en-US" altLang="zh-CN" dirty="0">
                <a:solidFill>
                  <a:srgbClr val="1630F6"/>
                </a:solidFill>
              </a:rPr>
              <a:t>)</a:t>
            </a:r>
            <a:endParaRPr kumimoji="1" lang="zh-CN" altLang="en-US" dirty="0">
              <a:solidFill>
                <a:srgbClr val="1630F6"/>
              </a:solidFill>
            </a:endParaRPr>
          </a:p>
        </p:txBody>
      </p:sp>
      <p:sp>
        <p:nvSpPr>
          <p:cNvPr id="8" name="文本框 7">
            <a:extLst>
              <a:ext uri="{FF2B5EF4-FFF2-40B4-BE49-F238E27FC236}">
                <a16:creationId xmlns:a16="http://schemas.microsoft.com/office/drawing/2014/main" id="{0A92E6F0-FD03-A84F-81C6-20BA7BDA56FB}"/>
              </a:ext>
            </a:extLst>
          </p:cNvPr>
          <p:cNvSpPr txBox="1"/>
          <p:nvPr/>
        </p:nvSpPr>
        <p:spPr>
          <a:xfrm>
            <a:off x="3744222" y="3207051"/>
            <a:ext cx="4664870" cy="523220"/>
          </a:xfrm>
          <a:prstGeom prst="rect">
            <a:avLst/>
          </a:prstGeom>
          <a:noFill/>
        </p:spPr>
        <p:txBody>
          <a:bodyPr wrap="square" rtlCol="0">
            <a:spAutoFit/>
          </a:bodyPr>
          <a:lstStyle/>
          <a:p>
            <a:r>
              <a:rPr kumimoji="1" lang="en-US" altLang="zh-CN" sz="2800" dirty="0">
                <a:solidFill>
                  <a:srgbClr val="C00000"/>
                </a:solidFill>
                <a:latin typeface="Microsoft YaHei" panose="020B0503020204020204" pitchFamily="34" charset="-122"/>
                <a:ea typeface="Microsoft YaHei" panose="020B0503020204020204" pitchFamily="34" charset="-122"/>
              </a:rPr>
              <a:t>HDD</a:t>
            </a:r>
            <a:r>
              <a:rPr kumimoji="1" lang="zh-CN" altLang="en-US" sz="2800" dirty="0">
                <a:solidFill>
                  <a:srgbClr val="C00000"/>
                </a:solidFill>
                <a:latin typeface="Microsoft YaHei" panose="020B0503020204020204" pitchFamily="34" charset="-122"/>
                <a:ea typeface="Microsoft YaHei" panose="020B0503020204020204" pitchFamily="34" charset="-122"/>
              </a:rPr>
              <a:t>随机读写性能很差！</a:t>
            </a:r>
            <a:endParaRPr kumimoji="1" lang="zh-CN" altLang="en-US" dirty="0">
              <a:solidFill>
                <a:srgbClr val="C00000"/>
              </a:solidFill>
              <a:latin typeface="Microsoft YaHei" panose="020B0503020204020204" pitchFamily="34" charset="-122"/>
              <a:ea typeface="Microsoft YaHei" panose="020B0503020204020204" pitchFamily="34" charset="-122"/>
            </a:endParaRPr>
          </a:p>
        </p:txBody>
      </p:sp>
      <p:sp>
        <p:nvSpPr>
          <p:cNvPr id="9" name="矩形 8">
            <a:extLst>
              <a:ext uri="{FF2B5EF4-FFF2-40B4-BE49-F238E27FC236}">
                <a16:creationId xmlns:a16="http://schemas.microsoft.com/office/drawing/2014/main" id="{438A0276-D52E-694B-A639-63EE8B25A2CB}"/>
              </a:ext>
            </a:extLst>
          </p:cNvPr>
          <p:cNvSpPr/>
          <p:nvPr/>
        </p:nvSpPr>
        <p:spPr>
          <a:xfrm>
            <a:off x="4015686" y="2450587"/>
            <a:ext cx="3414713" cy="292219"/>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1" name="图片 10">
            <a:extLst>
              <a:ext uri="{FF2B5EF4-FFF2-40B4-BE49-F238E27FC236}">
                <a16:creationId xmlns:a16="http://schemas.microsoft.com/office/drawing/2014/main" id="{9C375AEC-E200-9E42-925B-101E96F3DD58}"/>
              </a:ext>
            </a:extLst>
          </p:cNvPr>
          <p:cNvPicPr>
            <a:picLocks noChangeAspect="1"/>
          </p:cNvPicPr>
          <p:nvPr/>
        </p:nvPicPr>
        <p:blipFill>
          <a:blip r:embed="rId4"/>
          <a:stretch>
            <a:fillRect/>
          </a:stretch>
        </p:blipFill>
        <p:spPr>
          <a:xfrm>
            <a:off x="2067925" y="4346739"/>
            <a:ext cx="5362474" cy="639966"/>
          </a:xfrm>
          <a:prstGeom prst="rect">
            <a:avLst/>
          </a:prstGeom>
        </p:spPr>
      </p:pic>
      <p:sp>
        <p:nvSpPr>
          <p:cNvPr id="12" name="文本框 11">
            <a:extLst>
              <a:ext uri="{FF2B5EF4-FFF2-40B4-BE49-F238E27FC236}">
                <a16:creationId xmlns:a16="http://schemas.microsoft.com/office/drawing/2014/main" id="{95A59CB7-D5E6-5943-A7F6-A3C4D730D5C0}"/>
              </a:ext>
            </a:extLst>
          </p:cNvPr>
          <p:cNvSpPr txBox="1"/>
          <p:nvPr/>
        </p:nvSpPr>
        <p:spPr>
          <a:xfrm>
            <a:off x="654718" y="3943174"/>
            <a:ext cx="3429144" cy="400110"/>
          </a:xfrm>
          <a:prstGeom prst="rect">
            <a:avLst/>
          </a:prstGeom>
          <a:noFill/>
        </p:spPr>
        <p:txBody>
          <a:bodyPr wrap="none" rtlCol="0">
            <a:spAutoFit/>
          </a:bodyPr>
          <a:lstStyle/>
          <a:p>
            <a:pPr marL="342900" indent="-342900">
              <a:buFont typeface="Arial" panose="020B0604020202020204" pitchFamily="34" charset="0"/>
              <a:buChar char="•"/>
            </a:pPr>
            <a:r>
              <a:rPr kumimoji="1" lang="en-US" altLang="zh-CN" sz="2000" dirty="0">
                <a:latin typeface="Microsoft YaHei" panose="020B0503020204020204" pitchFamily="34" charset="-122"/>
                <a:ea typeface="Microsoft YaHei" panose="020B0503020204020204" pitchFamily="34" charset="-122"/>
              </a:rPr>
              <a:t>HDD</a:t>
            </a:r>
            <a:r>
              <a:rPr kumimoji="1" lang="zh-CN" altLang="en-US" sz="2000" dirty="0">
                <a:latin typeface="Microsoft YaHei" panose="020B0503020204020204" pitchFamily="34" charset="-122"/>
                <a:ea typeface="Microsoft YaHei" panose="020B0503020204020204" pitchFamily="34" charset="-122"/>
              </a:rPr>
              <a:t>随机读写延迟模型：</a:t>
            </a:r>
          </a:p>
        </p:txBody>
      </p:sp>
      <p:sp>
        <p:nvSpPr>
          <p:cNvPr id="15" name="文本框 14">
            <a:extLst>
              <a:ext uri="{FF2B5EF4-FFF2-40B4-BE49-F238E27FC236}">
                <a16:creationId xmlns:a16="http://schemas.microsoft.com/office/drawing/2014/main" id="{2332CA92-F0E6-5447-9391-8205C3E1839A}"/>
              </a:ext>
            </a:extLst>
          </p:cNvPr>
          <p:cNvSpPr txBox="1"/>
          <p:nvPr/>
        </p:nvSpPr>
        <p:spPr>
          <a:xfrm>
            <a:off x="661327" y="5187680"/>
            <a:ext cx="2582758" cy="400110"/>
          </a:xfrm>
          <a:prstGeom prst="rect">
            <a:avLst/>
          </a:prstGeom>
          <a:noFill/>
        </p:spPr>
        <p:txBody>
          <a:bodyPr wrap="none" rtlCol="0">
            <a:spAutoFit/>
          </a:bodyPr>
          <a:lstStyle/>
          <a:p>
            <a:pPr marL="342900" indent="-342900">
              <a:buFont typeface="Arial" panose="020B0604020202020204" pitchFamily="34" charset="0"/>
              <a:buChar char="•"/>
            </a:pPr>
            <a:r>
              <a:rPr kumimoji="1" lang="zh-CN" altLang="en-US" sz="2000" dirty="0">
                <a:latin typeface="Microsoft YaHei" panose="020B0503020204020204" pitchFamily="34" charset="-122"/>
                <a:ea typeface="Microsoft YaHei" panose="020B0503020204020204" pitchFamily="34" charset="-122"/>
              </a:rPr>
              <a:t>随机读写情况下：</a:t>
            </a:r>
          </a:p>
        </p:txBody>
      </p:sp>
      <p:pic>
        <p:nvPicPr>
          <p:cNvPr id="13" name="图片 12">
            <a:extLst>
              <a:ext uri="{FF2B5EF4-FFF2-40B4-BE49-F238E27FC236}">
                <a16:creationId xmlns:a16="http://schemas.microsoft.com/office/drawing/2014/main" id="{5783D231-E0AD-5849-B21B-5ECB2FE748FA}"/>
              </a:ext>
            </a:extLst>
          </p:cNvPr>
          <p:cNvPicPr>
            <a:picLocks noChangeAspect="1"/>
          </p:cNvPicPr>
          <p:nvPr/>
        </p:nvPicPr>
        <p:blipFill>
          <a:blip r:embed="rId5"/>
          <a:stretch>
            <a:fillRect/>
          </a:stretch>
        </p:blipFill>
        <p:spPr>
          <a:xfrm>
            <a:off x="1176233" y="5561894"/>
            <a:ext cx="7382878" cy="574411"/>
          </a:xfrm>
          <a:prstGeom prst="rect">
            <a:avLst/>
          </a:prstGeom>
        </p:spPr>
      </p:pic>
      <p:sp>
        <p:nvSpPr>
          <p:cNvPr id="17" name="文本框 16">
            <a:extLst>
              <a:ext uri="{FF2B5EF4-FFF2-40B4-BE49-F238E27FC236}">
                <a16:creationId xmlns:a16="http://schemas.microsoft.com/office/drawing/2014/main" id="{9AF30851-2984-CC4E-A732-0A4972551385}"/>
              </a:ext>
            </a:extLst>
          </p:cNvPr>
          <p:cNvSpPr txBox="1"/>
          <p:nvPr/>
        </p:nvSpPr>
        <p:spPr>
          <a:xfrm>
            <a:off x="661327" y="1379255"/>
            <a:ext cx="3281668" cy="400110"/>
          </a:xfrm>
          <a:prstGeom prst="rect">
            <a:avLst/>
          </a:prstGeom>
          <a:noFill/>
        </p:spPr>
        <p:txBody>
          <a:bodyPr wrap="none" rtlCol="0">
            <a:spAutoFit/>
          </a:bodyPr>
          <a:lstStyle/>
          <a:p>
            <a:pPr marL="342900" indent="-342900">
              <a:buFont typeface="Arial" panose="020B0604020202020204" pitchFamily="34" charset="0"/>
              <a:buChar char="•"/>
            </a:pPr>
            <a:r>
              <a:rPr kumimoji="1" lang="zh-CN" altLang="en-US" sz="2000" dirty="0">
                <a:latin typeface="Microsoft YaHei" panose="020B0503020204020204" pitchFamily="34" charset="-122"/>
                <a:ea typeface="Microsoft YaHei" panose="020B0503020204020204" pitchFamily="34" charset="-122"/>
              </a:rPr>
              <a:t>两种</a:t>
            </a:r>
            <a:r>
              <a:rPr kumimoji="1" lang="en-US" altLang="zh-CN" sz="2000" dirty="0">
                <a:latin typeface="Microsoft YaHei" panose="020B0503020204020204" pitchFamily="34" charset="-122"/>
                <a:ea typeface="Microsoft YaHei" panose="020B0503020204020204" pitchFamily="34" charset="-122"/>
              </a:rPr>
              <a:t>HDD</a:t>
            </a:r>
            <a:r>
              <a:rPr kumimoji="1" lang="zh-CN" altLang="en-US" sz="2000" dirty="0">
                <a:latin typeface="Microsoft YaHei" panose="020B0503020204020204" pitchFamily="34" charset="-122"/>
                <a:ea typeface="Microsoft YaHei" panose="020B0503020204020204" pitchFamily="34" charset="-122"/>
              </a:rPr>
              <a:t>的随机</a:t>
            </a: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顺序：</a:t>
            </a:r>
          </a:p>
        </p:txBody>
      </p:sp>
      <p:sp>
        <p:nvSpPr>
          <p:cNvPr id="16" name="矩形 15">
            <a:extLst>
              <a:ext uri="{FF2B5EF4-FFF2-40B4-BE49-F238E27FC236}">
                <a16:creationId xmlns:a16="http://schemas.microsoft.com/office/drawing/2014/main" id="{5141AA21-90F6-884D-804E-8F50F5ABE06F}"/>
              </a:ext>
            </a:extLst>
          </p:cNvPr>
          <p:cNvSpPr/>
          <p:nvPr/>
        </p:nvSpPr>
        <p:spPr>
          <a:xfrm>
            <a:off x="3138582" y="6193729"/>
            <a:ext cx="5862543" cy="430887"/>
          </a:xfrm>
          <a:prstGeom prst="rect">
            <a:avLst/>
          </a:prstGeom>
        </p:spPr>
        <p:txBody>
          <a:bodyPr wrap="square">
            <a:spAutoFit/>
          </a:bodyPr>
          <a:lstStyle/>
          <a:p>
            <a:r>
              <a:rPr lang="en-US" altLang="zh-CN" sz="1100" b="1" dirty="0">
                <a:solidFill>
                  <a:srgbClr val="000000"/>
                </a:solidFill>
                <a:latin typeface="PingFang SC" charset="-122"/>
              </a:rPr>
              <a:t>《Operating Systems: Three Easy Pieces》</a:t>
            </a:r>
            <a:r>
              <a:rPr lang="en-US" altLang="zh-CN" sz="1100" dirty="0"/>
              <a:t>,</a:t>
            </a:r>
            <a:r>
              <a:rPr lang="zh-CN" altLang="en-US" sz="1100" dirty="0"/>
              <a:t> </a:t>
            </a:r>
            <a:r>
              <a:rPr lang="en-US" altLang="zh-CN" sz="1100" dirty="0" err="1">
                <a:solidFill>
                  <a:srgbClr val="000000"/>
                </a:solidFill>
                <a:latin typeface="PingFang SC" charset="-122"/>
              </a:rPr>
              <a:t>Remzi</a:t>
            </a:r>
            <a:r>
              <a:rPr lang="en-US" altLang="zh-CN" sz="1100" dirty="0">
                <a:solidFill>
                  <a:srgbClr val="000000"/>
                </a:solidFill>
                <a:latin typeface="PingFang SC" charset="-122"/>
              </a:rPr>
              <a:t> H. </a:t>
            </a:r>
            <a:r>
              <a:rPr lang="en-US" altLang="zh-CN" sz="1100" dirty="0" err="1">
                <a:solidFill>
                  <a:srgbClr val="000000"/>
                </a:solidFill>
                <a:latin typeface="PingFang SC" charset="-122"/>
              </a:rPr>
              <a:t>Arpaci-Dusseau</a:t>
            </a:r>
            <a:r>
              <a:rPr lang="en-US" altLang="zh-CN" sz="1100" dirty="0">
                <a:solidFill>
                  <a:srgbClr val="000000"/>
                </a:solidFill>
                <a:latin typeface="PingFang SC" charset="-122"/>
              </a:rPr>
              <a:t> and Andrea C.,</a:t>
            </a:r>
            <a:r>
              <a:rPr lang="zh-CN" altLang="en-US" sz="1100" dirty="0">
                <a:solidFill>
                  <a:srgbClr val="000000"/>
                </a:solidFill>
                <a:latin typeface="PingFang SC" charset="-122"/>
              </a:rPr>
              <a:t> </a:t>
            </a:r>
            <a:r>
              <a:rPr lang="en-US" altLang="zh-CN" sz="1100" dirty="0" err="1">
                <a:solidFill>
                  <a:srgbClr val="000000"/>
                </a:solidFill>
                <a:latin typeface="PingFang SC" charset="-122"/>
              </a:rPr>
              <a:t>Arpaci-Dusseau</a:t>
            </a:r>
            <a:r>
              <a:rPr lang="en-US" altLang="zh-CN" sz="1100" dirty="0">
                <a:solidFill>
                  <a:srgbClr val="000000"/>
                </a:solidFill>
                <a:latin typeface="PingFang SC" charset="-122"/>
              </a:rPr>
              <a:t>,</a:t>
            </a:r>
            <a:r>
              <a:rPr lang="zh-CN" altLang="en-US" sz="1100" dirty="0">
                <a:solidFill>
                  <a:srgbClr val="000000"/>
                </a:solidFill>
                <a:latin typeface="PingFang SC" charset="-122"/>
              </a:rPr>
              <a:t> </a:t>
            </a:r>
            <a:r>
              <a:rPr lang="en-US" altLang="zh-CN" sz="1100" dirty="0" err="1">
                <a:solidFill>
                  <a:srgbClr val="000000"/>
                </a:solidFill>
                <a:latin typeface="PingFang SC" charset="-122"/>
              </a:rPr>
              <a:t>Arpaci-Dusseau</a:t>
            </a:r>
            <a:r>
              <a:rPr lang="en-US" altLang="zh-CN" sz="1100" dirty="0">
                <a:solidFill>
                  <a:srgbClr val="000000"/>
                </a:solidFill>
                <a:latin typeface="PingFang SC" charset="-122"/>
              </a:rPr>
              <a:t> Books ,</a:t>
            </a:r>
            <a:r>
              <a:rPr lang="zh-CN" altLang="en-US" sz="1100" dirty="0">
                <a:solidFill>
                  <a:srgbClr val="000000"/>
                </a:solidFill>
                <a:latin typeface="PingFang SC" charset="-122"/>
              </a:rPr>
              <a:t> </a:t>
            </a:r>
            <a:r>
              <a:rPr lang="en-US" altLang="zh-CN" sz="1100" dirty="0">
                <a:solidFill>
                  <a:srgbClr val="000000"/>
                </a:solidFill>
                <a:latin typeface="PingFang SC" charset="-122"/>
              </a:rPr>
              <a:t>March, 2015 (Version 0.80) </a:t>
            </a:r>
            <a:endParaRPr lang="zh-CN" altLang="en-US" sz="1100" dirty="0"/>
          </a:p>
        </p:txBody>
      </p:sp>
    </p:spTree>
    <p:extLst>
      <p:ext uri="{BB962C8B-B14F-4D97-AF65-F5344CB8AC3E}">
        <p14:creationId xmlns:p14="http://schemas.microsoft.com/office/powerpoint/2010/main" val="10520954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2"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3" name="文本框 12">
            <a:extLst>
              <a:ext uri="{FF2B5EF4-FFF2-40B4-BE49-F238E27FC236}">
                <a16:creationId xmlns:a16="http://schemas.microsoft.com/office/drawing/2014/main" id="{3DD9C94B-9069-A44B-91AA-C4049D57B3CF}"/>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SMR</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HDD</a:t>
            </a:r>
            <a:r>
              <a:rPr kumimoji="1" lang="zh-CN" altLang="en-US" sz="2800" dirty="0">
                <a:latin typeface="Microsoft YaHei" charset="-122"/>
                <a:ea typeface="Microsoft YaHei" charset="-122"/>
                <a:cs typeface="Microsoft YaHei" charset="-122"/>
              </a:rPr>
              <a:t> 磁盘存储原理</a:t>
            </a:r>
            <a:endParaRPr kumimoji="1" lang="en-US" altLang="zh-CN" sz="2800" dirty="0">
              <a:latin typeface="Microsoft YaHei" charset="-122"/>
              <a:ea typeface="Microsoft YaHei" charset="-122"/>
              <a:cs typeface="Microsoft YaHei" charset="-122"/>
            </a:endParaRPr>
          </a:p>
        </p:txBody>
      </p:sp>
      <p:pic>
        <p:nvPicPr>
          <p:cNvPr id="8" name="图片 7">
            <a:extLst>
              <a:ext uri="{FF2B5EF4-FFF2-40B4-BE49-F238E27FC236}">
                <a16:creationId xmlns:a16="http://schemas.microsoft.com/office/drawing/2014/main" id="{C7014359-4896-704C-9A71-AA738A78F608}"/>
              </a:ext>
            </a:extLst>
          </p:cNvPr>
          <p:cNvPicPr>
            <a:picLocks noChangeAspect="1"/>
          </p:cNvPicPr>
          <p:nvPr/>
        </p:nvPicPr>
        <p:blipFill>
          <a:blip r:embed="rId3"/>
          <a:stretch>
            <a:fillRect/>
          </a:stretch>
        </p:blipFill>
        <p:spPr>
          <a:xfrm>
            <a:off x="5767882" y="1924198"/>
            <a:ext cx="2536874" cy="2292090"/>
          </a:xfrm>
          <a:prstGeom prst="rect">
            <a:avLst/>
          </a:prstGeom>
        </p:spPr>
      </p:pic>
      <p:pic>
        <p:nvPicPr>
          <p:cNvPr id="11" name="图片 10">
            <a:extLst>
              <a:ext uri="{FF2B5EF4-FFF2-40B4-BE49-F238E27FC236}">
                <a16:creationId xmlns:a16="http://schemas.microsoft.com/office/drawing/2014/main" id="{5503EFE0-6BB7-864B-B900-0395DE69E038}"/>
              </a:ext>
            </a:extLst>
          </p:cNvPr>
          <p:cNvPicPr>
            <a:picLocks noChangeAspect="1"/>
          </p:cNvPicPr>
          <p:nvPr/>
        </p:nvPicPr>
        <p:blipFill>
          <a:blip r:embed="rId4"/>
          <a:stretch>
            <a:fillRect/>
          </a:stretch>
        </p:blipFill>
        <p:spPr>
          <a:xfrm>
            <a:off x="401571" y="1439958"/>
            <a:ext cx="5114609" cy="2864816"/>
          </a:xfrm>
          <a:prstGeom prst="rect">
            <a:avLst/>
          </a:prstGeom>
        </p:spPr>
      </p:pic>
      <p:sp>
        <p:nvSpPr>
          <p:cNvPr id="4" name="文本框 3">
            <a:extLst>
              <a:ext uri="{FF2B5EF4-FFF2-40B4-BE49-F238E27FC236}">
                <a16:creationId xmlns:a16="http://schemas.microsoft.com/office/drawing/2014/main" id="{2B9C5133-521A-9846-9F10-BFDA1E6049A9}"/>
              </a:ext>
            </a:extLst>
          </p:cNvPr>
          <p:cNvSpPr txBox="1"/>
          <p:nvPr/>
        </p:nvSpPr>
        <p:spPr>
          <a:xfrm>
            <a:off x="5196509" y="4400867"/>
            <a:ext cx="4047699" cy="1477328"/>
          </a:xfrm>
          <a:prstGeom prst="rect">
            <a:avLst/>
          </a:prstGeom>
          <a:noFill/>
        </p:spPr>
        <p:txBody>
          <a:bodyPr wrap="square" rtlCol="0">
            <a:spAutoFit/>
          </a:bodyPr>
          <a:lstStyle/>
          <a:p>
            <a:r>
              <a:rPr lang="zh-CN" altLang="en-US" sz="2000" dirty="0">
                <a:latin typeface="Microsoft YaHei" panose="020B0503020204020204" pitchFamily="34" charset="-122"/>
                <a:ea typeface="Microsoft YaHei" panose="020B0503020204020204" pitchFamily="34" charset="-122"/>
              </a:rPr>
              <a:t>    </a:t>
            </a:r>
            <a:r>
              <a:rPr lang="zh-CN" altLang="en-US" sz="2000" b="1" dirty="0">
                <a:latin typeface="Microsoft YaHei" panose="020B0503020204020204" pitchFamily="34" charset="-122"/>
                <a:ea typeface="Microsoft YaHei" panose="020B0503020204020204" pitchFamily="34" charset="-122"/>
              </a:rPr>
              <a:t>叠瓦式磁记录 </a:t>
            </a:r>
            <a:r>
              <a:rPr lang="en-US" altLang="zh-CN" sz="2000" b="1" dirty="0">
                <a:latin typeface="Microsoft YaHei" panose="020B0503020204020204" pitchFamily="34" charset="-122"/>
                <a:ea typeface="Microsoft YaHei" panose="020B0503020204020204" pitchFamily="34" charset="-122"/>
              </a:rPr>
              <a:t>HDD</a:t>
            </a:r>
            <a:endParaRPr lang="fr-FR" altLang="zh-CN" sz="2000" b="1" dirty="0">
              <a:latin typeface="Microsoft YaHei" panose="020B0503020204020204" pitchFamily="34" charset="-122"/>
              <a:ea typeface="Microsoft YaHei" panose="020B0503020204020204" pitchFamily="34" charset="-122"/>
            </a:endParaRPr>
          </a:p>
          <a:p>
            <a:r>
              <a:rPr lang="fr-FR" altLang="zh-CN" sz="1400" b="1" dirty="0" err="1">
                <a:latin typeface="Microsoft YaHei" panose="020B0503020204020204" pitchFamily="34" charset="-122"/>
                <a:ea typeface="Microsoft YaHei" panose="020B0503020204020204" pitchFamily="34" charset="-122"/>
              </a:rPr>
              <a:t>Shingled</a:t>
            </a:r>
            <a:r>
              <a:rPr lang="zh-CN" altLang="en-US" sz="1400" b="1" dirty="0">
                <a:latin typeface="Microsoft YaHei" panose="020B0503020204020204" pitchFamily="34" charset="-122"/>
                <a:ea typeface="Microsoft YaHei" panose="020B0503020204020204" pitchFamily="34" charset="-122"/>
              </a:rPr>
              <a:t> </a:t>
            </a:r>
            <a:r>
              <a:rPr lang="fr-FR" altLang="zh-CN" sz="1400" b="1" dirty="0" err="1">
                <a:latin typeface="Microsoft YaHei" panose="020B0503020204020204" pitchFamily="34" charset="-122"/>
                <a:ea typeface="Microsoft YaHei" panose="020B0503020204020204" pitchFamily="34" charset="-122"/>
              </a:rPr>
              <a:t>Magnetic</a:t>
            </a:r>
            <a:r>
              <a:rPr lang="fr-FR" altLang="zh-CN" sz="1400" b="1" dirty="0">
                <a:latin typeface="Microsoft YaHei" panose="020B0503020204020204" pitchFamily="34" charset="-122"/>
                <a:ea typeface="Microsoft YaHei" panose="020B0503020204020204" pitchFamily="34" charset="-122"/>
              </a:rPr>
              <a:t> </a:t>
            </a:r>
            <a:r>
              <a:rPr lang="fr-FR" altLang="zh-CN" sz="1400" b="1" dirty="0" err="1">
                <a:latin typeface="Microsoft YaHei" panose="020B0503020204020204" pitchFamily="34" charset="-122"/>
                <a:ea typeface="Microsoft YaHei" panose="020B0503020204020204" pitchFamily="34" charset="-122"/>
              </a:rPr>
              <a:t>Recording</a:t>
            </a:r>
            <a:r>
              <a:rPr lang="zh-CN" altLang="en-US" sz="1400" b="1" dirty="0">
                <a:latin typeface="Microsoft YaHei" panose="020B0503020204020204" pitchFamily="34" charset="-122"/>
                <a:ea typeface="Microsoft YaHei" panose="020B0503020204020204" pitchFamily="34" charset="-122"/>
              </a:rPr>
              <a:t> </a:t>
            </a:r>
            <a:r>
              <a:rPr lang="en-US" altLang="zh-CN" sz="1400" b="1" dirty="0">
                <a:latin typeface="Microsoft YaHei" panose="020B0503020204020204" pitchFamily="34" charset="-122"/>
                <a:ea typeface="Microsoft YaHei" panose="020B0503020204020204" pitchFamily="34" charset="-122"/>
              </a:rPr>
              <a:t>(SMR)</a:t>
            </a:r>
            <a:r>
              <a:rPr lang="zh-CN" altLang="en-US" sz="1400" b="1" dirty="0">
                <a:latin typeface="Microsoft YaHei" panose="020B0503020204020204" pitchFamily="34" charset="-122"/>
                <a:ea typeface="Microsoft YaHei" panose="020B0503020204020204" pitchFamily="34" charset="-122"/>
              </a:rPr>
              <a:t> </a:t>
            </a:r>
            <a:r>
              <a:rPr lang="en-US" altLang="zh-CN" sz="1400" b="1" dirty="0">
                <a:latin typeface="Microsoft YaHei" panose="020B0503020204020204" pitchFamily="34" charset="-122"/>
                <a:ea typeface="Microsoft YaHei" panose="020B0503020204020204" pitchFamily="34" charset="-122"/>
              </a:rPr>
              <a:t>HDD</a:t>
            </a:r>
          </a:p>
          <a:p>
            <a:pPr algn="ct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存储密度</a:t>
            </a: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随机读写性能更差</a:t>
            </a:r>
          </a:p>
        </p:txBody>
      </p:sp>
    </p:spTree>
    <p:extLst>
      <p:ext uri="{BB962C8B-B14F-4D97-AF65-F5344CB8AC3E}">
        <p14:creationId xmlns:p14="http://schemas.microsoft.com/office/powerpoint/2010/main" val="2620630862"/>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3" name="文本框 12">
            <a:extLst>
              <a:ext uri="{FF2B5EF4-FFF2-40B4-BE49-F238E27FC236}">
                <a16:creationId xmlns:a16="http://schemas.microsoft.com/office/drawing/2014/main" id="{3DD9C94B-9069-A44B-91AA-C4049D57B3CF}"/>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SMR</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HDD</a:t>
            </a:r>
            <a:r>
              <a:rPr kumimoji="1" lang="zh-CN" altLang="en-US" sz="2800" dirty="0">
                <a:latin typeface="Microsoft YaHei" charset="-122"/>
                <a:ea typeface="Microsoft YaHei" charset="-122"/>
                <a:cs typeface="Microsoft YaHei" charset="-122"/>
              </a:rPr>
              <a:t> 磁盘存储原理</a:t>
            </a:r>
            <a:endParaRPr kumimoji="1" lang="en-US" altLang="zh-CN" sz="2800" dirty="0">
              <a:latin typeface="Microsoft YaHei" charset="-122"/>
              <a:ea typeface="Microsoft YaHei" charset="-122"/>
              <a:cs typeface="Microsoft YaHei" charset="-122"/>
            </a:endParaRPr>
          </a:p>
        </p:txBody>
      </p:sp>
      <p:pic>
        <p:nvPicPr>
          <p:cNvPr id="2" name="图片 1">
            <a:extLst>
              <a:ext uri="{FF2B5EF4-FFF2-40B4-BE49-F238E27FC236}">
                <a16:creationId xmlns:a16="http://schemas.microsoft.com/office/drawing/2014/main" id="{F75FEDD5-CF3A-334B-ABDA-E2DC1B97BE30}"/>
              </a:ext>
            </a:extLst>
          </p:cNvPr>
          <p:cNvPicPr>
            <a:picLocks noChangeAspect="1"/>
          </p:cNvPicPr>
          <p:nvPr/>
        </p:nvPicPr>
        <p:blipFill>
          <a:blip r:embed="rId3"/>
          <a:stretch>
            <a:fillRect/>
          </a:stretch>
        </p:blipFill>
        <p:spPr>
          <a:xfrm>
            <a:off x="833478" y="1262168"/>
            <a:ext cx="6481722" cy="4866403"/>
          </a:xfrm>
          <a:prstGeom prst="rect">
            <a:avLst/>
          </a:prstGeom>
        </p:spPr>
      </p:pic>
    </p:spTree>
    <p:extLst>
      <p:ext uri="{BB962C8B-B14F-4D97-AF65-F5344CB8AC3E}">
        <p14:creationId xmlns:p14="http://schemas.microsoft.com/office/powerpoint/2010/main" val="182251489"/>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3" name="文本框 12">
            <a:extLst>
              <a:ext uri="{FF2B5EF4-FFF2-40B4-BE49-F238E27FC236}">
                <a16:creationId xmlns:a16="http://schemas.microsoft.com/office/drawing/2014/main" id="{3DD9C94B-9069-A44B-91AA-C4049D57B3CF}"/>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SMR</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HDD</a:t>
            </a:r>
            <a:r>
              <a:rPr kumimoji="1" lang="zh-CN" altLang="en-US" sz="2800" dirty="0">
                <a:latin typeface="Microsoft YaHei" charset="-122"/>
                <a:ea typeface="Microsoft YaHei" charset="-122"/>
                <a:cs typeface="Microsoft YaHei" charset="-122"/>
              </a:rPr>
              <a:t> 磁盘存储原理</a:t>
            </a:r>
            <a:endParaRPr kumimoji="1" lang="en-US" altLang="zh-CN" sz="2800" dirty="0">
              <a:latin typeface="Microsoft YaHei" charset="-122"/>
              <a:ea typeface="Microsoft YaHei" charset="-122"/>
              <a:cs typeface="Microsoft YaHei" charset="-122"/>
            </a:endParaRPr>
          </a:p>
        </p:txBody>
      </p:sp>
      <p:pic>
        <p:nvPicPr>
          <p:cNvPr id="3" name="图片 2">
            <a:extLst>
              <a:ext uri="{FF2B5EF4-FFF2-40B4-BE49-F238E27FC236}">
                <a16:creationId xmlns:a16="http://schemas.microsoft.com/office/drawing/2014/main" id="{F51FA056-235B-4F48-A1F4-0BCA7598A061}"/>
              </a:ext>
            </a:extLst>
          </p:cNvPr>
          <p:cNvPicPr>
            <a:picLocks noChangeAspect="1"/>
          </p:cNvPicPr>
          <p:nvPr/>
        </p:nvPicPr>
        <p:blipFill>
          <a:blip r:embed="rId3"/>
          <a:stretch>
            <a:fillRect/>
          </a:stretch>
        </p:blipFill>
        <p:spPr>
          <a:xfrm>
            <a:off x="833478" y="1247348"/>
            <a:ext cx="6481722" cy="4861292"/>
          </a:xfrm>
          <a:prstGeom prst="rect">
            <a:avLst/>
          </a:prstGeom>
        </p:spPr>
      </p:pic>
    </p:spTree>
    <p:extLst>
      <p:ext uri="{BB962C8B-B14F-4D97-AF65-F5344CB8AC3E}">
        <p14:creationId xmlns:p14="http://schemas.microsoft.com/office/powerpoint/2010/main" val="949570943"/>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3" name="文本框 12">
            <a:extLst>
              <a:ext uri="{FF2B5EF4-FFF2-40B4-BE49-F238E27FC236}">
                <a16:creationId xmlns:a16="http://schemas.microsoft.com/office/drawing/2014/main" id="{3DD9C94B-9069-A44B-91AA-C4049D57B3CF}"/>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SMR</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HDD</a:t>
            </a:r>
            <a:r>
              <a:rPr kumimoji="1" lang="zh-CN" altLang="en-US" sz="2800" dirty="0">
                <a:latin typeface="Microsoft YaHei" charset="-122"/>
                <a:ea typeface="Microsoft YaHei" charset="-122"/>
                <a:cs typeface="Microsoft YaHei" charset="-122"/>
              </a:rPr>
              <a:t> 磁盘存储原理</a:t>
            </a:r>
            <a:endParaRPr kumimoji="1" lang="en-US" altLang="zh-CN" sz="2800" dirty="0">
              <a:latin typeface="Microsoft YaHei" charset="-122"/>
              <a:ea typeface="Microsoft YaHei" charset="-122"/>
              <a:cs typeface="Microsoft YaHei" charset="-122"/>
            </a:endParaRPr>
          </a:p>
        </p:txBody>
      </p:sp>
      <p:pic>
        <p:nvPicPr>
          <p:cNvPr id="2" name="图片 1">
            <a:extLst>
              <a:ext uri="{FF2B5EF4-FFF2-40B4-BE49-F238E27FC236}">
                <a16:creationId xmlns:a16="http://schemas.microsoft.com/office/drawing/2014/main" id="{210B4608-9603-A546-A36D-C575551FD657}"/>
              </a:ext>
            </a:extLst>
          </p:cNvPr>
          <p:cNvPicPr>
            <a:picLocks noChangeAspect="1"/>
          </p:cNvPicPr>
          <p:nvPr/>
        </p:nvPicPr>
        <p:blipFill>
          <a:blip r:embed="rId3"/>
          <a:stretch>
            <a:fillRect/>
          </a:stretch>
        </p:blipFill>
        <p:spPr>
          <a:xfrm>
            <a:off x="862053" y="1261636"/>
            <a:ext cx="6483985" cy="4861291"/>
          </a:xfrm>
          <a:prstGeom prst="rect">
            <a:avLst/>
          </a:prstGeom>
        </p:spPr>
      </p:pic>
    </p:spTree>
    <p:extLst>
      <p:ext uri="{BB962C8B-B14F-4D97-AF65-F5344CB8AC3E}">
        <p14:creationId xmlns:p14="http://schemas.microsoft.com/office/powerpoint/2010/main" val="523683206"/>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7" name="文本框 6">
            <a:extLst>
              <a:ext uri="{FF2B5EF4-FFF2-40B4-BE49-F238E27FC236}">
                <a16:creationId xmlns:a16="http://schemas.microsoft.com/office/drawing/2014/main" id="{BFA0FF36-1C6A-3F4F-9420-EE58293A57A5}"/>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HDD</a:t>
            </a:r>
            <a:r>
              <a:rPr kumimoji="1" lang="zh-CN" altLang="en-US" sz="2800" dirty="0">
                <a:latin typeface="Microsoft YaHei" charset="-122"/>
                <a:ea typeface="Microsoft YaHei" charset="-122"/>
                <a:cs typeface="Microsoft YaHei" charset="-122"/>
              </a:rPr>
              <a:t> 和 </a:t>
            </a:r>
            <a:r>
              <a:rPr kumimoji="1" lang="en-US" altLang="zh-CN" sz="2800" dirty="0">
                <a:latin typeface="Microsoft YaHei" charset="-122"/>
                <a:ea typeface="Microsoft YaHei" charset="-122"/>
                <a:cs typeface="Microsoft YaHei" charset="-122"/>
              </a:rPr>
              <a:t>SMR</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HDD</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I/O</a:t>
            </a:r>
            <a:r>
              <a:rPr kumimoji="1" lang="zh-CN" altLang="en-US" sz="2800" dirty="0">
                <a:latin typeface="Microsoft YaHei" charset="-122"/>
                <a:ea typeface="Microsoft YaHei" charset="-122"/>
                <a:cs typeface="Microsoft YaHei" charset="-122"/>
              </a:rPr>
              <a:t>性能优化</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779E0D7B-5741-5544-A78C-89FDB703066E}"/>
              </a:ext>
            </a:extLst>
          </p:cNvPr>
          <p:cNvSpPr txBox="1"/>
          <p:nvPr/>
        </p:nvSpPr>
        <p:spPr>
          <a:xfrm>
            <a:off x="983293" y="1754267"/>
            <a:ext cx="6901841" cy="3570208"/>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2000" b="1" dirty="0">
                <a:latin typeface="Microsoft YaHei" panose="020B0503020204020204" pitchFamily="34" charset="-122"/>
                <a:ea typeface="Microsoft YaHei" panose="020B0503020204020204" pitchFamily="34" charset="-122"/>
              </a:rPr>
              <a:t>更大的读写单元：</a:t>
            </a:r>
            <a:r>
              <a:rPr kumimoji="1" lang="zh-CN" altLang="en-US" dirty="0">
                <a:latin typeface="Microsoft YaHei" panose="020B0503020204020204" pitchFamily="34" charset="-122"/>
                <a:ea typeface="Microsoft YaHei" panose="020B0503020204020204" pitchFamily="34" charset="-122"/>
              </a:rPr>
              <a:t>减小随机性，充分利用顺序读写带宽</a:t>
            </a: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endParaRPr kumimoji="1" lang="en-US" altLang="zh-CN" b="1"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2000" b="1" dirty="0">
                <a:latin typeface="Microsoft YaHei" panose="020B0503020204020204" pitchFamily="34" charset="-122"/>
                <a:ea typeface="Microsoft YaHei" panose="020B0503020204020204" pitchFamily="34" charset="-122"/>
              </a:rPr>
              <a:t>内存作磁盘</a:t>
            </a:r>
            <a:r>
              <a:rPr kumimoji="1" lang="en-US" altLang="zh-CN" sz="2000" b="1" dirty="0">
                <a:latin typeface="Microsoft YaHei" panose="020B0503020204020204" pitchFamily="34" charset="-122"/>
                <a:ea typeface="Microsoft YaHei" panose="020B0503020204020204" pitchFamily="34" charset="-122"/>
              </a:rPr>
              <a:t>cache</a:t>
            </a:r>
            <a:r>
              <a:rPr kumimoji="1" lang="zh-CN" altLang="en-US" sz="2000" b="1"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利用数据访问的空间</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时间局部性，用更快的内存加快</a:t>
            </a:r>
            <a:r>
              <a:rPr kumimoji="1" lang="en-US" altLang="zh-CN" dirty="0">
                <a:latin typeface="Microsoft YaHei" panose="020B0503020204020204" pitchFamily="34" charset="-122"/>
                <a:ea typeface="Microsoft YaHei" panose="020B0503020204020204" pitchFamily="34" charset="-122"/>
              </a:rPr>
              <a:t>IO</a:t>
            </a:r>
            <a:r>
              <a:rPr kumimoji="1" lang="zh-CN" altLang="en-US" dirty="0">
                <a:latin typeface="Microsoft YaHei" panose="020B0503020204020204" pitchFamily="34" charset="-122"/>
                <a:ea typeface="Microsoft YaHei" panose="020B0503020204020204" pitchFamily="34" charset="-122"/>
              </a:rPr>
              <a:t>。</a:t>
            </a: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endParaRPr kumimoji="1" lang="en-US" altLang="zh-CN" b="1"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2000" b="1" dirty="0">
                <a:latin typeface="Microsoft YaHei" panose="020B0503020204020204" pitchFamily="34" charset="-122"/>
                <a:ea typeface="Microsoft YaHei" panose="020B0503020204020204" pitchFamily="34" charset="-122"/>
              </a:rPr>
              <a:t>透明压缩：</a:t>
            </a:r>
            <a:r>
              <a:rPr kumimoji="1" lang="zh-CN" altLang="en-US" dirty="0">
                <a:latin typeface="Microsoft YaHei" panose="020B0503020204020204" pitchFamily="34" charset="-122"/>
                <a:ea typeface="Microsoft YaHei" panose="020B0503020204020204" pitchFamily="34" charset="-122"/>
              </a:rPr>
              <a:t>压缩磁盘块可以减少</a:t>
            </a:r>
            <a:r>
              <a:rPr kumimoji="1" lang="en-US" altLang="zh-CN" dirty="0">
                <a:latin typeface="Microsoft YaHei" panose="020B0503020204020204" pitchFamily="34" charset="-122"/>
                <a:ea typeface="Microsoft YaHei" panose="020B0503020204020204" pitchFamily="34" charset="-122"/>
              </a:rPr>
              <a:t>IO</a:t>
            </a:r>
            <a:r>
              <a:rPr kumimoji="1" lang="zh-CN" altLang="en-US" dirty="0">
                <a:latin typeface="Microsoft YaHei" panose="020B0503020204020204" pitchFamily="34" charset="-122"/>
                <a:ea typeface="Microsoft YaHei" panose="020B0503020204020204" pitchFamily="34" charset="-122"/>
              </a:rPr>
              <a:t>带宽，提高性能。</a:t>
            </a: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endParaRPr kumimoji="1" lang="en-US" altLang="zh-CN" b="1"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en-US" altLang="zh-CN" sz="2000" b="1" dirty="0">
                <a:latin typeface="Microsoft YaHei" panose="020B0503020204020204" pitchFamily="34" charset="-122"/>
                <a:ea typeface="Microsoft YaHei" panose="020B0503020204020204" pitchFamily="34" charset="-122"/>
              </a:rPr>
              <a:t>IO</a:t>
            </a:r>
            <a:r>
              <a:rPr kumimoji="1" lang="zh-CN" altLang="en-US" sz="2000" b="1" dirty="0">
                <a:latin typeface="Microsoft YaHei" panose="020B0503020204020204" pitchFamily="34" charset="-122"/>
                <a:ea typeface="Microsoft YaHei" panose="020B0503020204020204" pitchFamily="34" charset="-122"/>
              </a:rPr>
              <a:t>合并：</a:t>
            </a:r>
            <a:r>
              <a:rPr kumimoji="1" lang="zh-CN" altLang="en-US" dirty="0">
                <a:latin typeface="Microsoft YaHei" panose="020B0503020204020204" pitchFamily="34" charset="-122"/>
                <a:ea typeface="Microsoft YaHei" panose="020B0503020204020204" pitchFamily="34" charset="-122"/>
              </a:rPr>
              <a:t>将多次空间连续但是提交时间乱序的小</a:t>
            </a:r>
            <a:r>
              <a:rPr kumimoji="1" lang="en-US" altLang="zh-CN" dirty="0">
                <a:latin typeface="Microsoft YaHei" panose="020B0503020204020204" pitchFamily="34" charset="-122"/>
                <a:ea typeface="Microsoft YaHei" panose="020B0503020204020204" pitchFamily="34" charset="-122"/>
              </a:rPr>
              <a:t>IO</a:t>
            </a:r>
            <a:r>
              <a:rPr kumimoji="1" lang="zh-CN" altLang="en-US" dirty="0">
                <a:latin typeface="Microsoft YaHei" panose="020B0503020204020204" pitchFamily="34" charset="-122"/>
                <a:ea typeface="Microsoft YaHei" panose="020B0503020204020204" pitchFamily="34" charset="-122"/>
              </a:rPr>
              <a:t>合为一次连续大</a:t>
            </a:r>
            <a:r>
              <a:rPr kumimoji="1" lang="en-US" altLang="zh-CN" dirty="0">
                <a:latin typeface="Microsoft YaHei" panose="020B0503020204020204" pitchFamily="34" charset="-122"/>
                <a:ea typeface="Microsoft YaHei" panose="020B0503020204020204" pitchFamily="34" charset="-122"/>
              </a:rPr>
              <a:t>IO</a:t>
            </a:r>
            <a:r>
              <a:rPr kumimoji="1" lang="zh-CN" altLang="en-US" dirty="0">
                <a:latin typeface="Microsoft YaHei" panose="020B0503020204020204" pitchFamily="34" charset="-122"/>
                <a:ea typeface="Microsoft YaHei" panose="020B0503020204020204" pitchFamily="34" charset="-122"/>
              </a:rPr>
              <a:t>。</a:t>
            </a: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endParaRPr kumimoji="1" lang="en-US" altLang="zh-CN" b="1"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2000" b="1" dirty="0">
                <a:latin typeface="Microsoft YaHei" panose="020B0503020204020204" pitchFamily="34" charset="-122"/>
                <a:ea typeface="Microsoft YaHei" panose="020B0503020204020204" pitchFamily="34" charset="-122"/>
              </a:rPr>
              <a:t>使用</a:t>
            </a:r>
            <a:r>
              <a:rPr kumimoji="1" lang="en-US" altLang="zh-CN" sz="2000" b="1" dirty="0">
                <a:latin typeface="Microsoft YaHei" panose="020B0503020204020204" pitchFamily="34" charset="-122"/>
                <a:ea typeface="Microsoft YaHei" panose="020B0503020204020204" pitchFamily="34" charset="-122"/>
              </a:rPr>
              <a:t>Log</a:t>
            </a:r>
            <a:r>
              <a:rPr kumimoji="1" lang="zh-CN" altLang="en-US" sz="2000" b="1" dirty="0">
                <a:latin typeface="Microsoft YaHei" panose="020B0503020204020204" pitchFamily="34" charset="-122"/>
                <a:ea typeface="Microsoft YaHei" panose="020B0503020204020204" pitchFamily="34" charset="-122"/>
              </a:rPr>
              <a:t> </a:t>
            </a:r>
            <a:r>
              <a:rPr kumimoji="1" lang="en-US" altLang="zh-CN" sz="2000" b="1" dirty="0">
                <a:latin typeface="Microsoft YaHei" panose="020B0503020204020204" pitchFamily="34" charset="-122"/>
                <a:ea typeface="Microsoft YaHei" panose="020B0503020204020204" pitchFamily="34" charset="-122"/>
              </a:rPr>
              <a:t>structured</a:t>
            </a:r>
            <a:r>
              <a:rPr kumimoji="1" lang="zh-CN" altLang="en-US" sz="2000" b="1" dirty="0">
                <a:latin typeface="Microsoft YaHei" panose="020B0503020204020204" pitchFamily="34" charset="-122"/>
                <a:ea typeface="Microsoft YaHei" panose="020B0503020204020204" pitchFamily="34" charset="-122"/>
              </a:rPr>
              <a:t> 方式优化写性能：</a:t>
            </a:r>
            <a:r>
              <a:rPr kumimoji="1" lang="zh-CN" altLang="en-US" dirty="0">
                <a:latin typeface="Microsoft YaHei" panose="020B0503020204020204" pitchFamily="34" charset="-122"/>
                <a:ea typeface="Microsoft YaHei" panose="020B0503020204020204" pitchFamily="34" charset="-122"/>
              </a:rPr>
              <a:t>用追加的方式将随机写转为顺序写。</a:t>
            </a:r>
          </a:p>
        </p:txBody>
      </p:sp>
    </p:spTree>
    <p:extLst>
      <p:ext uri="{BB962C8B-B14F-4D97-AF65-F5344CB8AC3E}">
        <p14:creationId xmlns:p14="http://schemas.microsoft.com/office/powerpoint/2010/main" val="2181029422"/>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4" name="文本框 13">
            <a:extLst>
              <a:ext uri="{FF2B5EF4-FFF2-40B4-BE49-F238E27FC236}">
                <a16:creationId xmlns:a16="http://schemas.microsoft.com/office/drawing/2014/main" id="{68BE4575-C96F-A24D-910A-753EB464E607}"/>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err="1">
                <a:latin typeface="Microsoft YaHei" charset="-122"/>
                <a:ea typeface="Microsoft YaHei" charset="-122"/>
                <a:cs typeface="Microsoft YaHei" charset="-122"/>
              </a:rPr>
              <a:t>Nand</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Flash</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based</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SSD</a:t>
            </a:r>
          </a:p>
        </p:txBody>
      </p:sp>
      <p:pic>
        <p:nvPicPr>
          <p:cNvPr id="2" name="图片 1">
            <a:extLst>
              <a:ext uri="{FF2B5EF4-FFF2-40B4-BE49-F238E27FC236}">
                <a16:creationId xmlns:a16="http://schemas.microsoft.com/office/drawing/2014/main" id="{5FD312E3-DCAD-7E4D-B3EB-951FE916FDBF}"/>
              </a:ext>
            </a:extLst>
          </p:cNvPr>
          <p:cNvPicPr>
            <a:picLocks noChangeAspect="1"/>
          </p:cNvPicPr>
          <p:nvPr/>
        </p:nvPicPr>
        <p:blipFill>
          <a:blip r:embed="rId3"/>
          <a:stretch>
            <a:fillRect/>
          </a:stretch>
        </p:blipFill>
        <p:spPr>
          <a:xfrm>
            <a:off x="2502075" y="2090315"/>
            <a:ext cx="4215007" cy="4215007"/>
          </a:xfrm>
          <a:prstGeom prst="rect">
            <a:avLst/>
          </a:prstGeom>
        </p:spPr>
      </p:pic>
      <p:pic>
        <p:nvPicPr>
          <p:cNvPr id="5" name="图片 4">
            <a:extLst>
              <a:ext uri="{FF2B5EF4-FFF2-40B4-BE49-F238E27FC236}">
                <a16:creationId xmlns:a16="http://schemas.microsoft.com/office/drawing/2014/main" id="{FBD28160-40B5-354A-B0F6-B4F745101D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76815" y="886477"/>
            <a:ext cx="2650124" cy="2650124"/>
          </a:xfrm>
          <a:prstGeom prst="rect">
            <a:avLst/>
          </a:prstGeom>
        </p:spPr>
      </p:pic>
    </p:spTree>
    <p:extLst>
      <p:ext uri="{BB962C8B-B14F-4D97-AF65-F5344CB8AC3E}">
        <p14:creationId xmlns:p14="http://schemas.microsoft.com/office/powerpoint/2010/main" val="937729978"/>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23" name="文本框 22"/>
          <p:cNvSpPr txBox="1"/>
          <p:nvPr/>
        </p:nvSpPr>
        <p:spPr>
          <a:xfrm>
            <a:off x="308079" y="552678"/>
            <a:ext cx="5911642" cy="523220"/>
          </a:xfrm>
          <a:prstGeom prst="rect">
            <a:avLst/>
          </a:prstGeom>
          <a:noFill/>
        </p:spPr>
        <p:txBody>
          <a:bodyPr wrap="square" rtlCol="0">
            <a:spAutoFit/>
          </a:bodyPr>
          <a:lstStyle/>
          <a:p>
            <a:r>
              <a:rPr kumimoji="1" lang="en-US" altLang="zh-CN" sz="2800" dirty="0" err="1">
                <a:latin typeface="Microsoft YaHei" charset="-122"/>
                <a:ea typeface="Microsoft YaHei" charset="-122"/>
                <a:cs typeface="Microsoft YaHei" charset="-122"/>
              </a:rPr>
              <a:t>Nand</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Flash</a:t>
            </a:r>
            <a:r>
              <a:rPr kumimoji="1" lang="zh-CN" altLang="en-US" sz="2800" dirty="0">
                <a:latin typeface="Microsoft YaHei" charset="-122"/>
                <a:ea typeface="Microsoft YaHei" charset="-122"/>
                <a:cs typeface="Microsoft YaHei" charset="-122"/>
              </a:rPr>
              <a:t> 存储介质</a:t>
            </a:r>
            <a:endParaRPr kumimoji="1" lang="en-US" altLang="zh-CN" sz="2800" dirty="0">
              <a:latin typeface="Microsoft YaHei" charset="-122"/>
              <a:ea typeface="Microsoft YaHei" charset="-122"/>
              <a:cs typeface="Microsoft YaHei" charset="-122"/>
            </a:endParaRPr>
          </a:p>
        </p:txBody>
      </p:sp>
      <p:pic>
        <p:nvPicPr>
          <p:cNvPr id="6" name="图片 5">
            <a:extLst>
              <a:ext uri="{FF2B5EF4-FFF2-40B4-BE49-F238E27FC236}">
                <a16:creationId xmlns:a16="http://schemas.microsoft.com/office/drawing/2014/main" id="{0CB65275-9865-A746-BD2C-1F21B6AE7EB6}"/>
              </a:ext>
            </a:extLst>
          </p:cNvPr>
          <p:cNvPicPr>
            <a:picLocks noChangeAspect="1"/>
          </p:cNvPicPr>
          <p:nvPr/>
        </p:nvPicPr>
        <p:blipFill>
          <a:blip r:embed="rId3"/>
          <a:stretch>
            <a:fillRect/>
          </a:stretch>
        </p:blipFill>
        <p:spPr>
          <a:xfrm>
            <a:off x="2264210" y="1314116"/>
            <a:ext cx="4615580" cy="5099732"/>
          </a:xfrm>
          <a:prstGeom prst="rect">
            <a:avLst/>
          </a:prstGeom>
        </p:spPr>
      </p:pic>
    </p:spTree>
    <p:extLst>
      <p:ext uri="{BB962C8B-B14F-4D97-AF65-F5344CB8AC3E}">
        <p14:creationId xmlns:p14="http://schemas.microsoft.com/office/powerpoint/2010/main" val="1776500142"/>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23" name="文本框 22"/>
          <p:cNvSpPr txBox="1"/>
          <p:nvPr/>
        </p:nvSpPr>
        <p:spPr>
          <a:xfrm>
            <a:off x="308079" y="552678"/>
            <a:ext cx="5911642" cy="523220"/>
          </a:xfrm>
          <a:prstGeom prst="rect">
            <a:avLst/>
          </a:prstGeom>
          <a:noFill/>
        </p:spPr>
        <p:txBody>
          <a:bodyPr wrap="square" rtlCol="0">
            <a:spAutoFit/>
          </a:bodyPr>
          <a:lstStyle/>
          <a:p>
            <a:r>
              <a:rPr kumimoji="1" lang="en-US" altLang="zh-CN" sz="2800" dirty="0" err="1">
                <a:latin typeface="Microsoft YaHei" charset="-122"/>
                <a:ea typeface="Microsoft YaHei" charset="-122"/>
                <a:cs typeface="Microsoft YaHei" charset="-122"/>
              </a:rPr>
              <a:t>Nand</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Flash</a:t>
            </a:r>
            <a:r>
              <a:rPr kumimoji="1" lang="zh-CN" altLang="en-US" sz="2800" dirty="0">
                <a:latin typeface="Microsoft YaHei" charset="-122"/>
                <a:ea typeface="Microsoft YaHei" charset="-122"/>
                <a:cs typeface="Microsoft YaHei" charset="-122"/>
              </a:rPr>
              <a:t> 存储介质</a:t>
            </a:r>
            <a:endParaRPr kumimoji="1" lang="en-US" altLang="zh-CN" sz="2800" dirty="0">
              <a:latin typeface="Microsoft YaHei" charset="-122"/>
              <a:ea typeface="Microsoft YaHei" charset="-122"/>
              <a:cs typeface="Microsoft YaHei" charset="-122"/>
            </a:endParaRPr>
          </a:p>
        </p:txBody>
      </p:sp>
      <p:sp>
        <p:nvSpPr>
          <p:cNvPr id="11" name="文本框 10"/>
          <p:cNvSpPr txBox="1"/>
          <p:nvPr/>
        </p:nvSpPr>
        <p:spPr>
          <a:xfrm>
            <a:off x="3263900" y="6362701"/>
            <a:ext cx="4622800" cy="276999"/>
          </a:xfrm>
          <a:prstGeom prst="rect">
            <a:avLst/>
          </a:prstGeom>
          <a:noFill/>
        </p:spPr>
        <p:txBody>
          <a:bodyPr wrap="square" rtlCol="0">
            <a:spAutoFit/>
          </a:bodyPr>
          <a:lstStyle/>
          <a:p>
            <a:r>
              <a:rPr kumimoji="1" lang="zh-CN" altLang="en-US" sz="1200" dirty="0"/>
              <a:t>图摘自</a:t>
            </a:r>
            <a:r>
              <a:rPr kumimoji="1" lang="en-US" altLang="zh-CN" sz="1200" dirty="0"/>
              <a:t>《</a:t>
            </a:r>
            <a:r>
              <a:rPr kumimoji="1" lang="zh-CN" altLang="en-US" sz="1200" dirty="0"/>
              <a:t>深入浅出</a:t>
            </a:r>
            <a:r>
              <a:rPr kumimoji="1" lang="en-US" altLang="zh-CN" sz="1200" dirty="0"/>
              <a:t>SSD</a:t>
            </a:r>
            <a:r>
              <a:rPr kumimoji="1" lang="zh-CN" altLang="en-US" sz="1200" dirty="0"/>
              <a:t>：固态存储核心技术、原理与实战</a:t>
            </a:r>
            <a:r>
              <a:rPr kumimoji="1" lang="en-US" altLang="zh-CN" sz="1200" dirty="0"/>
              <a:t>》</a:t>
            </a:r>
            <a:endParaRPr kumimoji="1" lang="zh-CN" altLang="en-US" sz="1200" dirty="0"/>
          </a:p>
        </p:txBody>
      </p:sp>
      <p:pic>
        <p:nvPicPr>
          <p:cNvPr id="4" name="图片 3"/>
          <p:cNvPicPr>
            <a:picLocks noChangeAspect="1"/>
          </p:cNvPicPr>
          <p:nvPr/>
        </p:nvPicPr>
        <p:blipFill>
          <a:blip r:embed="rId3"/>
          <a:stretch>
            <a:fillRect/>
          </a:stretch>
        </p:blipFill>
        <p:spPr>
          <a:xfrm>
            <a:off x="4571999" y="1733551"/>
            <a:ext cx="3635781" cy="2025649"/>
          </a:xfrm>
          <a:prstGeom prst="rect">
            <a:avLst/>
          </a:prstGeom>
        </p:spPr>
      </p:pic>
      <p:pic>
        <p:nvPicPr>
          <p:cNvPr id="2" name="图片 1"/>
          <p:cNvPicPr>
            <a:picLocks noChangeAspect="1"/>
          </p:cNvPicPr>
          <p:nvPr/>
        </p:nvPicPr>
        <p:blipFill>
          <a:blip r:embed="rId4"/>
          <a:stretch>
            <a:fillRect/>
          </a:stretch>
        </p:blipFill>
        <p:spPr>
          <a:xfrm>
            <a:off x="177800" y="3759200"/>
            <a:ext cx="5211582" cy="2457999"/>
          </a:xfrm>
          <a:prstGeom prst="rect">
            <a:avLst/>
          </a:prstGeom>
        </p:spPr>
      </p:pic>
      <p:sp>
        <p:nvSpPr>
          <p:cNvPr id="3" name="文本框 2"/>
          <p:cNvSpPr txBox="1"/>
          <p:nvPr/>
        </p:nvSpPr>
        <p:spPr>
          <a:xfrm>
            <a:off x="5435600" y="4025900"/>
            <a:ext cx="3517900" cy="1538883"/>
          </a:xfrm>
          <a:prstGeom prst="rect">
            <a:avLst/>
          </a:prstGeom>
          <a:noFill/>
        </p:spPr>
        <p:txBody>
          <a:bodyPr wrap="square" rtlCol="0">
            <a:spAutoFit/>
          </a:bodyPr>
          <a:lstStyle/>
          <a:p>
            <a:r>
              <a:rPr kumimoji="1" lang="zh-CN" altLang="en-US" sz="1400" b="1" dirty="0">
                <a:latin typeface="Microsoft YaHei" charset="-122"/>
                <a:ea typeface="Microsoft YaHei" charset="-122"/>
                <a:cs typeface="Microsoft YaHei" charset="-122"/>
              </a:rPr>
              <a:t>写</a:t>
            </a:r>
            <a:r>
              <a:rPr kumimoji="1" lang="zh-CN" altLang="en-US" sz="1400" dirty="0">
                <a:latin typeface="Microsoft YaHei" charset="-122"/>
                <a:ea typeface="Microsoft YaHei" charset="-122"/>
                <a:cs typeface="Microsoft YaHei" charset="-122"/>
              </a:rPr>
              <a:t>：控制栅极加正电，衬底接地，电子被“吸入”浮栅层。 </a:t>
            </a:r>
            <a:r>
              <a:rPr kumimoji="1" lang="en-US" altLang="zh-CN" sz="1400" dirty="0">
                <a:latin typeface="Microsoft YaHei" charset="-122"/>
                <a:ea typeface="Microsoft YaHei" charset="-122"/>
                <a:cs typeface="Microsoft YaHei" charset="-122"/>
              </a:rPr>
              <a:t>(</a:t>
            </a:r>
            <a:r>
              <a:rPr kumimoji="1" lang="zh-CN" altLang="en-US" sz="1400" dirty="0">
                <a:latin typeface="Microsoft YaHei" charset="-122"/>
                <a:ea typeface="Microsoft YaHei" charset="-122"/>
                <a:cs typeface="Microsoft YaHei" charset="-122"/>
              </a:rPr>
              <a:t>写为</a:t>
            </a:r>
            <a:r>
              <a:rPr kumimoji="1" lang="en-US" altLang="zh-CN" sz="1400" dirty="0">
                <a:latin typeface="Microsoft YaHei" charset="-122"/>
                <a:ea typeface="Microsoft YaHei" charset="-122"/>
                <a:cs typeface="Microsoft YaHei" charset="-122"/>
              </a:rPr>
              <a:t>0)</a:t>
            </a:r>
          </a:p>
          <a:p>
            <a:endParaRPr kumimoji="1" lang="en-US" altLang="zh-CN" sz="500" dirty="0">
              <a:latin typeface="Microsoft YaHei" charset="-122"/>
              <a:ea typeface="Microsoft YaHei" charset="-122"/>
              <a:cs typeface="Microsoft YaHei" charset="-122"/>
            </a:endParaRPr>
          </a:p>
          <a:p>
            <a:r>
              <a:rPr kumimoji="1" lang="zh-CN" altLang="en-US" sz="1400" b="1" dirty="0">
                <a:latin typeface="Microsoft YaHei" charset="-122"/>
                <a:ea typeface="Microsoft YaHei" charset="-122"/>
                <a:cs typeface="Microsoft YaHei" charset="-122"/>
              </a:rPr>
              <a:t>擦</a:t>
            </a:r>
            <a:r>
              <a:rPr kumimoji="1" lang="zh-CN" altLang="en-US" sz="1400" dirty="0">
                <a:latin typeface="Microsoft YaHei" charset="-122"/>
                <a:ea typeface="Microsoft YaHei" charset="-122"/>
                <a:cs typeface="Microsoft YaHei" charset="-122"/>
              </a:rPr>
              <a:t>：衬底</a:t>
            </a:r>
            <a:r>
              <a:rPr kumimoji="1" lang="en-US" altLang="zh-CN" sz="1400" dirty="0">
                <a:latin typeface="Microsoft YaHei" charset="-122"/>
                <a:ea typeface="Microsoft YaHei" charset="-122"/>
                <a:cs typeface="Microsoft YaHei" charset="-122"/>
              </a:rPr>
              <a:t>(P-well)</a:t>
            </a:r>
            <a:r>
              <a:rPr kumimoji="1" lang="zh-CN" altLang="en-US" sz="1400" dirty="0">
                <a:latin typeface="Microsoft YaHei" charset="-122"/>
                <a:ea typeface="Microsoft YaHei" charset="-122"/>
                <a:cs typeface="Microsoft YaHei" charset="-122"/>
              </a:rPr>
              <a:t>加正电，电子被“吸”回来，数据被擦除。 </a:t>
            </a:r>
            <a:r>
              <a:rPr kumimoji="1" lang="en-US" altLang="zh-CN" sz="1400" dirty="0">
                <a:latin typeface="Microsoft YaHei" charset="-122"/>
                <a:ea typeface="Microsoft YaHei" charset="-122"/>
                <a:cs typeface="Microsoft YaHei" charset="-122"/>
              </a:rPr>
              <a:t>(</a:t>
            </a:r>
            <a:r>
              <a:rPr kumimoji="1" lang="zh-CN" altLang="en-US" sz="1400" dirty="0">
                <a:latin typeface="Microsoft YaHei" charset="-122"/>
                <a:ea typeface="Microsoft YaHei" charset="-122"/>
                <a:cs typeface="Microsoft YaHei" charset="-122"/>
              </a:rPr>
              <a:t>擦为</a:t>
            </a:r>
            <a:r>
              <a:rPr kumimoji="1" lang="en-US" altLang="zh-CN" sz="1400" dirty="0">
                <a:latin typeface="Microsoft YaHei" charset="-122"/>
                <a:ea typeface="Microsoft YaHei" charset="-122"/>
                <a:cs typeface="Microsoft YaHei" charset="-122"/>
              </a:rPr>
              <a:t>1)</a:t>
            </a:r>
          </a:p>
          <a:p>
            <a:endParaRPr kumimoji="1" lang="en-US" altLang="zh-CN" sz="500" b="1" dirty="0">
              <a:latin typeface="Microsoft YaHei" charset="-122"/>
              <a:ea typeface="Microsoft YaHei" charset="-122"/>
              <a:cs typeface="Microsoft YaHei" charset="-122"/>
            </a:endParaRPr>
          </a:p>
          <a:p>
            <a:r>
              <a:rPr kumimoji="1" lang="zh-CN" altLang="en-US" sz="1400" b="1" dirty="0">
                <a:latin typeface="Microsoft YaHei" charset="-122"/>
                <a:ea typeface="Microsoft YaHei" charset="-122"/>
                <a:cs typeface="Microsoft YaHei" charset="-122"/>
              </a:rPr>
              <a:t>读</a:t>
            </a:r>
            <a:r>
              <a:rPr kumimoji="1" lang="zh-CN" altLang="en-US" sz="1400" dirty="0">
                <a:latin typeface="Microsoft YaHei" charset="-122"/>
                <a:ea typeface="Microsoft YaHei" charset="-122"/>
                <a:cs typeface="Microsoft YaHei" charset="-122"/>
              </a:rPr>
              <a:t>：以</a:t>
            </a:r>
            <a:r>
              <a:rPr kumimoji="1" lang="en-US" altLang="zh-CN" sz="1400" dirty="0">
                <a:latin typeface="Microsoft YaHei" charset="-122"/>
                <a:ea typeface="Microsoft YaHei" charset="-122"/>
                <a:cs typeface="Microsoft YaHei" charset="-122"/>
              </a:rPr>
              <a:t>page</a:t>
            </a:r>
            <a:r>
              <a:rPr kumimoji="1" lang="zh-CN" altLang="en-US" sz="1400" dirty="0">
                <a:latin typeface="Microsoft YaHei" charset="-122"/>
                <a:ea typeface="Microsoft YaHei" charset="-122"/>
                <a:cs typeface="Microsoft YaHei" charset="-122"/>
              </a:rPr>
              <a:t>为单位，要读的</a:t>
            </a:r>
            <a:r>
              <a:rPr kumimoji="1" lang="en-US" altLang="zh-CN" sz="1400" dirty="0">
                <a:latin typeface="Microsoft YaHei" charset="-122"/>
                <a:ea typeface="Microsoft YaHei" charset="-122"/>
                <a:cs typeface="Microsoft YaHei" charset="-122"/>
              </a:rPr>
              <a:t>page</a:t>
            </a:r>
            <a:r>
              <a:rPr kumimoji="1" lang="zh-CN" altLang="en-US" sz="1400" dirty="0">
                <a:latin typeface="Microsoft YaHei" charset="-122"/>
                <a:ea typeface="Microsoft YaHei" charset="-122"/>
                <a:cs typeface="Microsoft YaHei" charset="-122"/>
              </a:rPr>
              <a:t>栅极加电压，通过读</a:t>
            </a:r>
            <a:r>
              <a:rPr kumimoji="1" lang="en-US" altLang="zh-CN" sz="1400" dirty="0">
                <a:latin typeface="Microsoft YaHei" charset="-122"/>
                <a:ea typeface="Microsoft YaHei" charset="-122"/>
                <a:cs typeface="Microsoft YaHei" charset="-122"/>
              </a:rPr>
              <a:t>BL</a:t>
            </a:r>
            <a:r>
              <a:rPr kumimoji="1" lang="zh-CN" altLang="en-US" sz="1400" dirty="0">
                <a:latin typeface="Microsoft YaHei" charset="-122"/>
                <a:ea typeface="Microsoft YaHei" charset="-122"/>
                <a:cs typeface="Microsoft YaHei" charset="-122"/>
              </a:rPr>
              <a:t>来确定</a:t>
            </a:r>
            <a:r>
              <a:rPr kumimoji="1" lang="en-US" altLang="zh-CN" sz="1400" dirty="0">
                <a:latin typeface="Microsoft YaHei" charset="-122"/>
                <a:ea typeface="Microsoft YaHei" charset="-122"/>
                <a:cs typeface="Microsoft YaHei" charset="-122"/>
              </a:rPr>
              <a:t>0</a:t>
            </a:r>
            <a:r>
              <a:rPr kumimoji="1" lang="zh-CN" altLang="en-US" sz="1400" dirty="0">
                <a:latin typeface="Microsoft YaHei" charset="-122"/>
                <a:ea typeface="Microsoft YaHei" charset="-122"/>
                <a:cs typeface="Microsoft YaHei" charset="-122"/>
              </a:rPr>
              <a:t> </a:t>
            </a:r>
            <a:r>
              <a:rPr kumimoji="1" lang="en-US" altLang="zh-CN" sz="1400" dirty="0">
                <a:latin typeface="Microsoft YaHei" charset="-122"/>
                <a:ea typeface="Microsoft YaHei" charset="-122"/>
                <a:cs typeface="Microsoft YaHei" charset="-122"/>
              </a:rPr>
              <a:t>/</a:t>
            </a:r>
            <a:r>
              <a:rPr kumimoji="1" lang="zh-CN" altLang="en-US" sz="1400" dirty="0">
                <a:latin typeface="Microsoft YaHei" charset="-122"/>
                <a:ea typeface="Microsoft YaHei" charset="-122"/>
                <a:cs typeface="Microsoft YaHei" charset="-122"/>
              </a:rPr>
              <a:t> </a:t>
            </a:r>
            <a:r>
              <a:rPr kumimoji="1" lang="en-US" altLang="zh-CN" sz="1400" dirty="0">
                <a:latin typeface="Microsoft YaHei" charset="-122"/>
                <a:ea typeface="Microsoft YaHei" charset="-122"/>
                <a:cs typeface="Microsoft YaHei" charset="-122"/>
              </a:rPr>
              <a:t>1</a:t>
            </a:r>
            <a:r>
              <a:rPr kumimoji="1" lang="zh-CN" altLang="en-US" sz="1400" dirty="0">
                <a:latin typeface="Microsoft YaHei" charset="-122"/>
                <a:ea typeface="Microsoft YaHei" charset="-122"/>
                <a:cs typeface="Microsoft YaHei" charset="-122"/>
              </a:rPr>
              <a:t>值。</a:t>
            </a:r>
            <a:endParaRPr kumimoji="1" lang="en-US" altLang="zh-CN" sz="1400" dirty="0">
              <a:latin typeface="Microsoft YaHei" charset="-122"/>
              <a:ea typeface="Microsoft YaHei" charset="-122"/>
              <a:cs typeface="Microsoft YaHei" charset="-122"/>
            </a:endParaRPr>
          </a:p>
        </p:txBody>
      </p:sp>
      <p:pic>
        <p:nvPicPr>
          <p:cNvPr id="5" name="图片 4"/>
          <p:cNvPicPr>
            <a:picLocks noChangeAspect="1"/>
          </p:cNvPicPr>
          <p:nvPr/>
        </p:nvPicPr>
        <p:blipFill>
          <a:blip r:embed="rId5"/>
          <a:stretch>
            <a:fillRect/>
          </a:stretch>
        </p:blipFill>
        <p:spPr>
          <a:xfrm>
            <a:off x="298449" y="1200730"/>
            <a:ext cx="3638551" cy="2801253"/>
          </a:xfrm>
          <a:prstGeom prst="rect">
            <a:avLst/>
          </a:prstGeom>
        </p:spPr>
      </p:pic>
      <p:sp>
        <p:nvSpPr>
          <p:cNvPr id="16" name="圆角矩形 15"/>
          <p:cNvSpPr/>
          <p:nvPr/>
        </p:nvSpPr>
        <p:spPr>
          <a:xfrm>
            <a:off x="1257300" y="1562100"/>
            <a:ext cx="419100" cy="2057400"/>
          </a:xfrm>
          <a:prstGeom prst="roundRect">
            <a:avLst/>
          </a:prstGeom>
          <a:noFill/>
          <a:ln w="28575">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
        <p:nvSpPr>
          <p:cNvPr id="18" name="文本框 17"/>
          <p:cNvSpPr txBox="1"/>
          <p:nvPr/>
        </p:nvSpPr>
        <p:spPr>
          <a:xfrm flipH="1">
            <a:off x="1150618" y="3543300"/>
            <a:ext cx="1389381" cy="369332"/>
          </a:xfrm>
          <a:prstGeom prst="rect">
            <a:avLst/>
          </a:prstGeom>
          <a:noFill/>
        </p:spPr>
        <p:txBody>
          <a:bodyPr wrap="square" rtlCol="0">
            <a:spAutoFit/>
          </a:bodyPr>
          <a:lstStyle/>
          <a:p>
            <a:r>
              <a:rPr kumimoji="1" lang="en-US" altLang="zh-CN">
                <a:solidFill>
                  <a:srgbClr val="C00000"/>
                </a:solidFill>
              </a:rPr>
              <a:t>page</a:t>
            </a:r>
            <a:endParaRPr kumimoji="1" lang="zh-CN" altLang="en-US" dirty="0">
              <a:solidFill>
                <a:srgbClr val="C00000"/>
              </a:solidFill>
            </a:endParaRPr>
          </a:p>
        </p:txBody>
      </p:sp>
      <p:sp>
        <p:nvSpPr>
          <p:cNvPr id="19" name="圆角矩形 18"/>
          <p:cNvSpPr/>
          <p:nvPr/>
        </p:nvSpPr>
        <p:spPr>
          <a:xfrm>
            <a:off x="508000" y="1625600"/>
            <a:ext cx="3365500" cy="1943100"/>
          </a:xfrm>
          <a:prstGeom prst="roundRect">
            <a:avLst/>
          </a:prstGeom>
          <a:noFill/>
          <a:ln w="28575">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solidFill>
                <a:schemeClr val="accent5">
                  <a:lumMod val="75000"/>
                </a:schemeClr>
              </a:solidFill>
            </a:endParaRPr>
          </a:p>
        </p:txBody>
      </p:sp>
      <p:sp>
        <p:nvSpPr>
          <p:cNvPr id="20" name="文本框 19"/>
          <p:cNvSpPr txBox="1"/>
          <p:nvPr/>
        </p:nvSpPr>
        <p:spPr>
          <a:xfrm flipH="1">
            <a:off x="3335018" y="3530600"/>
            <a:ext cx="1389381" cy="369332"/>
          </a:xfrm>
          <a:prstGeom prst="rect">
            <a:avLst/>
          </a:prstGeom>
          <a:noFill/>
        </p:spPr>
        <p:txBody>
          <a:bodyPr wrap="square" rtlCol="0">
            <a:spAutoFit/>
          </a:bodyPr>
          <a:lstStyle/>
          <a:p>
            <a:r>
              <a:rPr kumimoji="1" lang="en-US" altLang="zh-CN" dirty="0">
                <a:solidFill>
                  <a:srgbClr val="0070C0"/>
                </a:solidFill>
              </a:rPr>
              <a:t>block</a:t>
            </a:r>
            <a:endParaRPr kumimoji="1" lang="zh-CN" altLang="en-US" dirty="0">
              <a:solidFill>
                <a:srgbClr val="0070C0"/>
              </a:solidFill>
            </a:endParaRPr>
          </a:p>
        </p:txBody>
      </p:sp>
      <p:sp>
        <p:nvSpPr>
          <p:cNvPr id="7" name="矩形 6"/>
          <p:cNvSpPr/>
          <p:nvPr/>
        </p:nvSpPr>
        <p:spPr>
          <a:xfrm>
            <a:off x="5168900" y="5720547"/>
            <a:ext cx="3873500" cy="584775"/>
          </a:xfrm>
          <a:prstGeom prst="rect">
            <a:avLst/>
          </a:prstGeom>
        </p:spPr>
        <p:txBody>
          <a:bodyPr wrap="square">
            <a:spAutoFit/>
          </a:bodyPr>
          <a:lstStyle/>
          <a:p>
            <a:r>
              <a:rPr kumimoji="1" lang="zh-CN" altLang="en-US" sz="1600" b="1" dirty="0">
                <a:solidFill>
                  <a:srgbClr val="C00000"/>
                </a:solidFill>
                <a:latin typeface="Microsoft YaHei" charset="-122"/>
                <a:ea typeface="Microsoft YaHei" charset="-122"/>
                <a:cs typeface="Microsoft YaHei" charset="-122"/>
              </a:rPr>
              <a:t>注意</a:t>
            </a:r>
            <a:r>
              <a:rPr kumimoji="1" lang="zh-CN" altLang="en-US" sz="1600" dirty="0">
                <a:solidFill>
                  <a:srgbClr val="C00000"/>
                </a:solidFill>
                <a:latin typeface="Microsoft YaHei" charset="-122"/>
                <a:ea typeface="Microsoft YaHei" charset="-122"/>
                <a:cs typeface="Microsoft YaHei" charset="-122"/>
              </a:rPr>
              <a:t>：衬底加电压整个</a:t>
            </a:r>
            <a:r>
              <a:rPr kumimoji="1" lang="en-US" altLang="zh-CN" sz="1600" dirty="0">
                <a:solidFill>
                  <a:srgbClr val="C00000"/>
                </a:solidFill>
                <a:latin typeface="Microsoft YaHei" charset="-122"/>
                <a:ea typeface="Microsoft YaHei" charset="-122"/>
                <a:cs typeface="Microsoft YaHei" charset="-122"/>
              </a:rPr>
              <a:t>block</a:t>
            </a:r>
            <a:r>
              <a:rPr kumimoji="1" lang="zh-CN" altLang="en-US" sz="1600" dirty="0">
                <a:solidFill>
                  <a:srgbClr val="C00000"/>
                </a:solidFill>
                <a:latin typeface="Microsoft YaHei" charset="-122"/>
                <a:ea typeface="Microsoft YaHei" charset="-122"/>
                <a:cs typeface="Microsoft YaHei" charset="-122"/>
              </a:rPr>
              <a:t>会被擦，所以并非字节寻址。</a:t>
            </a:r>
          </a:p>
        </p:txBody>
      </p:sp>
    </p:spTree>
    <p:extLst>
      <p:ext uri="{BB962C8B-B14F-4D97-AF65-F5344CB8AC3E}">
        <p14:creationId xmlns:p14="http://schemas.microsoft.com/office/powerpoint/2010/main" val="273127895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animBg="1"/>
      <p:bldP spid="18" grpId="0"/>
      <p:bldP spid="19" grpId="0" animBg="1"/>
      <p:bldP spid="20"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23" name="文本框 22"/>
          <p:cNvSpPr txBox="1"/>
          <p:nvPr/>
        </p:nvSpPr>
        <p:spPr>
          <a:xfrm>
            <a:off x="308079" y="552678"/>
            <a:ext cx="3880686"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Flash</a:t>
            </a:r>
            <a:r>
              <a:rPr kumimoji="1" lang="zh-CN" altLang="en-US" sz="2800" dirty="0">
                <a:latin typeface="Microsoft YaHei" charset="-122"/>
                <a:ea typeface="Microsoft YaHei" charset="-122"/>
                <a:cs typeface="Microsoft YaHei" charset="-122"/>
              </a:rPr>
              <a:t> 作存储的复杂性</a:t>
            </a:r>
            <a:endParaRPr kumimoji="1" lang="en-US" altLang="zh-CN" sz="2800" dirty="0">
              <a:latin typeface="Microsoft YaHei" charset="-122"/>
              <a:ea typeface="Microsoft YaHei" charset="-122"/>
              <a:cs typeface="Microsoft YaHei" charset="-122"/>
            </a:endParaRPr>
          </a:p>
        </p:txBody>
      </p:sp>
      <p:sp>
        <p:nvSpPr>
          <p:cNvPr id="11" name="文本框 10"/>
          <p:cNvSpPr txBox="1"/>
          <p:nvPr/>
        </p:nvSpPr>
        <p:spPr>
          <a:xfrm>
            <a:off x="3263900" y="6362701"/>
            <a:ext cx="4622800" cy="276999"/>
          </a:xfrm>
          <a:prstGeom prst="rect">
            <a:avLst/>
          </a:prstGeom>
          <a:noFill/>
        </p:spPr>
        <p:txBody>
          <a:bodyPr wrap="square" rtlCol="0">
            <a:spAutoFit/>
          </a:bodyPr>
          <a:lstStyle/>
          <a:p>
            <a:r>
              <a:rPr kumimoji="1" lang="zh-CN" altLang="en-US" sz="1200" dirty="0"/>
              <a:t>图摘自</a:t>
            </a:r>
            <a:r>
              <a:rPr kumimoji="1" lang="en-US" altLang="zh-CN" sz="1200" dirty="0"/>
              <a:t>《</a:t>
            </a:r>
            <a:r>
              <a:rPr kumimoji="1" lang="zh-CN" altLang="en-US" sz="1200" dirty="0"/>
              <a:t>深入浅出</a:t>
            </a:r>
            <a:r>
              <a:rPr kumimoji="1" lang="en-US" altLang="zh-CN" sz="1200" dirty="0"/>
              <a:t>SSD</a:t>
            </a:r>
            <a:r>
              <a:rPr kumimoji="1" lang="zh-CN" altLang="en-US" sz="1200" dirty="0"/>
              <a:t>：固态存储核心技术、原理与实战</a:t>
            </a:r>
            <a:r>
              <a:rPr kumimoji="1" lang="en-US" altLang="zh-CN" sz="1200" dirty="0"/>
              <a:t>》</a:t>
            </a:r>
            <a:endParaRPr kumimoji="1" lang="zh-CN" altLang="en-US" sz="1200" dirty="0"/>
          </a:p>
        </p:txBody>
      </p:sp>
      <p:pic>
        <p:nvPicPr>
          <p:cNvPr id="5" name="图片 4"/>
          <p:cNvPicPr>
            <a:picLocks noChangeAspect="1"/>
          </p:cNvPicPr>
          <p:nvPr/>
        </p:nvPicPr>
        <p:blipFill>
          <a:blip r:embed="rId3"/>
          <a:stretch>
            <a:fillRect/>
          </a:stretch>
        </p:blipFill>
        <p:spPr>
          <a:xfrm>
            <a:off x="298449" y="1200730"/>
            <a:ext cx="3638551" cy="2801253"/>
          </a:xfrm>
          <a:prstGeom prst="rect">
            <a:avLst/>
          </a:prstGeom>
        </p:spPr>
      </p:pic>
      <p:sp>
        <p:nvSpPr>
          <p:cNvPr id="16" name="圆角矩形 15"/>
          <p:cNvSpPr/>
          <p:nvPr/>
        </p:nvSpPr>
        <p:spPr>
          <a:xfrm>
            <a:off x="1257300" y="1562100"/>
            <a:ext cx="419100" cy="2057400"/>
          </a:xfrm>
          <a:prstGeom prst="roundRect">
            <a:avLst/>
          </a:prstGeom>
          <a:noFill/>
          <a:ln w="28575">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
        <p:nvSpPr>
          <p:cNvPr id="18" name="文本框 17"/>
          <p:cNvSpPr txBox="1"/>
          <p:nvPr/>
        </p:nvSpPr>
        <p:spPr>
          <a:xfrm flipH="1">
            <a:off x="1150618" y="3543300"/>
            <a:ext cx="1389381" cy="369332"/>
          </a:xfrm>
          <a:prstGeom prst="rect">
            <a:avLst/>
          </a:prstGeom>
          <a:noFill/>
        </p:spPr>
        <p:txBody>
          <a:bodyPr wrap="square" rtlCol="0">
            <a:spAutoFit/>
          </a:bodyPr>
          <a:lstStyle/>
          <a:p>
            <a:r>
              <a:rPr kumimoji="1" lang="en-US" altLang="zh-CN">
                <a:solidFill>
                  <a:srgbClr val="C00000"/>
                </a:solidFill>
              </a:rPr>
              <a:t>page</a:t>
            </a:r>
            <a:endParaRPr kumimoji="1" lang="zh-CN" altLang="en-US" dirty="0">
              <a:solidFill>
                <a:srgbClr val="C00000"/>
              </a:solidFill>
            </a:endParaRPr>
          </a:p>
        </p:txBody>
      </p:sp>
      <p:sp>
        <p:nvSpPr>
          <p:cNvPr id="19" name="圆角矩形 18"/>
          <p:cNvSpPr/>
          <p:nvPr/>
        </p:nvSpPr>
        <p:spPr>
          <a:xfrm>
            <a:off x="508000" y="1625600"/>
            <a:ext cx="3365500" cy="1943100"/>
          </a:xfrm>
          <a:prstGeom prst="roundRect">
            <a:avLst/>
          </a:prstGeom>
          <a:noFill/>
          <a:ln w="28575">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solidFill>
                <a:schemeClr val="accent5">
                  <a:lumMod val="75000"/>
                </a:schemeClr>
              </a:solidFill>
            </a:endParaRPr>
          </a:p>
        </p:txBody>
      </p:sp>
      <p:sp>
        <p:nvSpPr>
          <p:cNvPr id="20" name="文本框 19"/>
          <p:cNvSpPr txBox="1"/>
          <p:nvPr/>
        </p:nvSpPr>
        <p:spPr>
          <a:xfrm flipH="1">
            <a:off x="3335018" y="3530600"/>
            <a:ext cx="1389381" cy="369332"/>
          </a:xfrm>
          <a:prstGeom prst="rect">
            <a:avLst/>
          </a:prstGeom>
          <a:noFill/>
        </p:spPr>
        <p:txBody>
          <a:bodyPr wrap="square" rtlCol="0">
            <a:spAutoFit/>
          </a:bodyPr>
          <a:lstStyle/>
          <a:p>
            <a:r>
              <a:rPr kumimoji="1" lang="en-US" altLang="zh-CN" dirty="0">
                <a:solidFill>
                  <a:srgbClr val="0070C0"/>
                </a:solidFill>
              </a:rPr>
              <a:t>block</a:t>
            </a:r>
            <a:endParaRPr kumimoji="1" lang="zh-CN" altLang="en-US" dirty="0">
              <a:solidFill>
                <a:srgbClr val="0070C0"/>
              </a:solidFill>
            </a:endParaRPr>
          </a:p>
        </p:txBody>
      </p:sp>
      <p:sp>
        <p:nvSpPr>
          <p:cNvPr id="6" name="文本框 5">
            <a:extLst>
              <a:ext uri="{FF2B5EF4-FFF2-40B4-BE49-F238E27FC236}">
                <a16:creationId xmlns:a16="http://schemas.microsoft.com/office/drawing/2014/main" id="{A9185DBA-B52D-2D43-AA5C-D2796F290E29}"/>
              </a:ext>
            </a:extLst>
          </p:cNvPr>
          <p:cNvSpPr txBox="1"/>
          <p:nvPr/>
        </p:nvSpPr>
        <p:spPr>
          <a:xfrm>
            <a:off x="639930" y="4535319"/>
            <a:ext cx="7864140" cy="1538883"/>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由于</a:t>
            </a:r>
            <a:r>
              <a:rPr kumimoji="1" lang="en-US" altLang="zh-CN" dirty="0">
                <a:latin typeface="Microsoft YaHei" panose="020B0503020204020204" pitchFamily="34" charset="-122"/>
                <a:ea typeface="Microsoft YaHei" panose="020B0503020204020204" pitchFamily="34" charset="-122"/>
              </a:rPr>
              <a:t>Block</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size</a:t>
            </a:r>
            <a:r>
              <a:rPr kumimoji="1" lang="zh-CN" altLang="en-US" dirty="0">
                <a:latin typeface="Microsoft YaHei" panose="020B0503020204020204" pitchFamily="34" charset="-122"/>
                <a:ea typeface="Microsoft YaHei" panose="020B0503020204020204" pitchFamily="34" charset="-122"/>
              </a:rPr>
              <a:t>大于</a:t>
            </a:r>
            <a:r>
              <a:rPr kumimoji="1" lang="en-US" altLang="zh-CN" dirty="0">
                <a:latin typeface="Microsoft YaHei" panose="020B0503020204020204" pitchFamily="34" charset="-122"/>
                <a:ea typeface="Microsoft YaHei" panose="020B0503020204020204" pitchFamily="34" charset="-122"/>
              </a:rPr>
              <a:t>page</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size</a:t>
            </a:r>
            <a:r>
              <a:rPr kumimoji="1" lang="zh-CN" altLang="en-US" dirty="0">
                <a:latin typeface="Microsoft YaHei" panose="020B0503020204020204" pitchFamily="34" charset="-122"/>
                <a:ea typeface="Microsoft YaHei" panose="020B0503020204020204" pitchFamily="34" charset="-122"/>
              </a:rPr>
              <a:t>，所以可能需要进行“读</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修改</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写操作”</a:t>
            </a:r>
            <a:r>
              <a:rPr kumimoji="1" lang="en-US" altLang="zh-CN" dirty="0">
                <a:latin typeface="Microsoft YaHei" panose="020B0503020204020204" pitchFamily="34" charset="-122"/>
                <a:ea typeface="Microsoft YaHei" panose="020B0503020204020204" pitchFamily="34" charset="-122"/>
              </a:rPr>
              <a:t>(Read-Modify-Write,</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RMW)</a:t>
            </a:r>
            <a:r>
              <a:rPr kumimoji="1" lang="zh-CN" altLang="en-US" dirty="0">
                <a:latin typeface="Microsoft YaHei" panose="020B0503020204020204" pitchFamily="34" charset="-122"/>
                <a:ea typeface="Microsoft YaHei" panose="020B0503020204020204" pitchFamily="34" charset="-122"/>
              </a:rPr>
              <a:t> 造成</a:t>
            </a:r>
            <a:r>
              <a:rPr kumimoji="1" lang="zh-CN" altLang="en-US" sz="2000" b="1" dirty="0">
                <a:latin typeface="Microsoft YaHei" panose="020B0503020204020204" pitchFamily="34" charset="-122"/>
                <a:ea typeface="Microsoft YaHei" panose="020B0503020204020204" pitchFamily="34" charset="-122"/>
              </a:rPr>
              <a:t>写放大问题</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Over-</a:t>
            </a:r>
            <a:r>
              <a:rPr kumimoji="1" lang="en-US" altLang="zh-CN" dirty="0" err="1">
                <a:latin typeface="Microsoft YaHei" panose="020B0503020204020204" pitchFamily="34" charset="-122"/>
                <a:ea typeface="Microsoft YaHei" panose="020B0503020204020204" pitchFamily="34" charset="-122"/>
              </a:rPr>
              <a:t>provison</a:t>
            </a:r>
            <a:r>
              <a:rPr kumimoji="1" lang="en-US" altLang="zh-CN" dirty="0">
                <a:latin typeface="Microsoft YaHei" panose="020B0503020204020204" pitchFamily="34" charset="-122"/>
                <a:ea typeface="Microsoft YaHei" panose="020B0503020204020204" pitchFamily="34" charset="-122"/>
              </a:rPr>
              <a:t>(OP)</a:t>
            </a:r>
            <a:r>
              <a:rPr kumimoji="1" lang="zh-CN" altLang="en-US" dirty="0">
                <a:latin typeface="Microsoft YaHei" panose="020B0503020204020204" pitchFamily="34" charset="-122"/>
                <a:ea typeface="Microsoft YaHei" panose="020B0503020204020204" pitchFamily="34" charset="-122"/>
              </a:rPr>
              <a:t>和提前的垃圾回收</a:t>
            </a:r>
            <a:r>
              <a:rPr kumimoji="1" lang="en-US" altLang="zh-CN" dirty="0">
                <a:latin typeface="Microsoft YaHei" panose="020B0503020204020204" pitchFamily="34" charset="-122"/>
                <a:ea typeface="Microsoft YaHei" panose="020B0503020204020204" pitchFamily="34" charset="-122"/>
              </a:rPr>
              <a:t>(GC)</a:t>
            </a:r>
            <a:r>
              <a:rPr kumimoji="1" lang="zh-CN" altLang="en-US" dirty="0">
                <a:latin typeface="Microsoft YaHei" panose="020B0503020204020204" pitchFamily="34" charset="-122"/>
                <a:ea typeface="Microsoft YaHei" panose="020B0503020204020204" pitchFamily="34" charset="-122"/>
              </a:rPr>
              <a:t>可以减少</a:t>
            </a:r>
            <a:r>
              <a:rPr kumimoji="1" lang="en-US" altLang="zh-CN" dirty="0">
                <a:latin typeface="Microsoft YaHei" panose="020B0503020204020204" pitchFamily="34" charset="-122"/>
                <a:ea typeface="Microsoft YaHei" panose="020B0503020204020204" pitchFamily="34" charset="-122"/>
              </a:rPr>
              <a:t>SSD</a:t>
            </a:r>
            <a:r>
              <a:rPr kumimoji="1" lang="zh-CN" altLang="en-US" dirty="0">
                <a:latin typeface="Microsoft YaHei" panose="020B0503020204020204" pitchFamily="34" charset="-122"/>
                <a:ea typeface="Microsoft YaHei" panose="020B0503020204020204" pitchFamily="34" charset="-122"/>
              </a:rPr>
              <a:t>写放大</a:t>
            </a:r>
            <a:r>
              <a:rPr kumimoji="1" lang="en-US" altLang="zh-CN" dirty="0">
                <a:latin typeface="Microsoft YaHei" panose="020B0503020204020204" pitchFamily="34" charset="-122"/>
                <a:ea typeface="Microsoft YaHei" panose="020B0503020204020204" pitchFamily="34" charset="-122"/>
              </a:rPr>
              <a:t>!</a:t>
            </a:r>
          </a:p>
          <a:p>
            <a:pPr marL="285750" indent="-285750">
              <a:buFont typeface="Arial" panose="020B0604020202020204" pitchFamily="34" charset="0"/>
              <a:buChar char="•"/>
            </a:pP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由于每个</a:t>
            </a:r>
            <a:r>
              <a:rPr kumimoji="1" lang="en-US" altLang="zh-CN" dirty="0">
                <a:latin typeface="Microsoft YaHei" panose="020B0503020204020204" pitchFamily="34" charset="-122"/>
                <a:ea typeface="Microsoft YaHei" panose="020B0503020204020204" pitchFamily="34" charset="-122"/>
              </a:rPr>
              <a:t>block</a:t>
            </a:r>
            <a:r>
              <a:rPr kumimoji="1" lang="zh-CN" altLang="en-US" dirty="0">
                <a:latin typeface="Microsoft YaHei" panose="020B0503020204020204" pitchFamily="34" charset="-122"/>
                <a:ea typeface="Microsoft YaHei" panose="020B0503020204020204" pitchFamily="34" charset="-122"/>
              </a:rPr>
              <a:t>存在最大擦除次数，即使用寿命，所以需要</a:t>
            </a:r>
            <a:r>
              <a:rPr kumimoji="1" lang="zh-CN" altLang="en-US" sz="2000" b="1" dirty="0">
                <a:latin typeface="Microsoft YaHei" panose="020B0503020204020204" pitchFamily="34" charset="-122"/>
                <a:ea typeface="Microsoft YaHei" panose="020B0503020204020204" pitchFamily="34" charset="-122"/>
              </a:rPr>
              <a:t>磨损均衡</a:t>
            </a:r>
            <a:r>
              <a:rPr kumimoji="1" lang="zh-CN" altLang="en-US" dirty="0">
                <a:latin typeface="Microsoft YaHei" panose="020B0503020204020204" pitchFamily="34" charset="-122"/>
                <a:ea typeface="Microsoft YaHei" panose="020B0503020204020204" pitchFamily="34" charset="-122"/>
              </a:rPr>
              <a:t>。</a:t>
            </a:r>
          </a:p>
        </p:txBody>
      </p:sp>
      <p:sp>
        <p:nvSpPr>
          <p:cNvPr id="8" name="文本框 7">
            <a:extLst>
              <a:ext uri="{FF2B5EF4-FFF2-40B4-BE49-F238E27FC236}">
                <a16:creationId xmlns:a16="http://schemas.microsoft.com/office/drawing/2014/main" id="{602C9277-907F-2347-BD44-93DF18A5BE14}"/>
              </a:ext>
            </a:extLst>
          </p:cNvPr>
          <p:cNvSpPr txBox="1"/>
          <p:nvPr/>
        </p:nvSpPr>
        <p:spPr>
          <a:xfrm>
            <a:off x="4188765" y="1774708"/>
            <a:ext cx="4888294" cy="1754326"/>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最小读写单元为</a:t>
            </a:r>
            <a:r>
              <a:rPr kumimoji="1" lang="en-US" altLang="zh-CN" dirty="0">
                <a:latin typeface="Microsoft YaHei" panose="020B0503020204020204" pitchFamily="34" charset="-122"/>
                <a:ea typeface="Microsoft YaHei" panose="020B0503020204020204" pitchFamily="34" charset="-122"/>
              </a:rPr>
              <a:t>page</a:t>
            </a:r>
            <a:r>
              <a:rPr kumimoji="1" lang="zh-CN" altLang="en-US" dirty="0">
                <a:latin typeface="Microsoft YaHei" panose="020B0503020204020204" pitchFamily="34" charset="-122"/>
                <a:ea typeface="Microsoft YaHei" panose="020B0503020204020204" pitchFamily="34" charset="-122"/>
              </a:rPr>
              <a:t>。</a:t>
            </a: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擦除后的</a:t>
            </a:r>
            <a:r>
              <a:rPr kumimoji="1" lang="en-US" altLang="zh-CN" dirty="0">
                <a:latin typeface="Microsoft YaHei" panose="020B0503020204020204" pitchFamily="34" charset="-122"/>
                <a:ea typeface="Microsoft YaHei" panose="020B0503020204020204" pitchFamily="34" charset="-122"/>
              </a:rPr>
              <a:t>page</a:t>
            </a:r>
            <a:r>
              <a:rPr kumimoji="1" lang="zh-CN" altLang="en-US" dirty="0">
                <a:latin typeface="Microsoft YaHei" panose="020B0503020204020204" pitchFamily="34" charset="-122"/>
                <a:ea typeface="Microsoft YaHei" panose="020B0503020204020204" pitchFamily="34" charset="-122"/>
              </a:rPr>
              <a:t>只能写一次，要覆盖写</a:t>
            </a:r>
            <a:r>
              <a:rPr kumimoji="1" lang="en-US" altLang="zh-CN" dirty="0">
                <a:latin typeface="Microsoft YaHei" panose="020B0503020204020204" pitchFamily="34" charset="-122"/>
                <a:ea typeface="Microsoft YaHei" panose="020B0503020204020204" pitchFamily="34" charset="-122"/>
              </a:rPr>
              <a:t>page</a:t>
            </a:r>
            <a:r>
              <a:rPr kumimoji="1" lang="zh-CN" altLang="en-US" dirty="0">
                <a:latin typeface="Microsoft YaHei" panose="020B0503020204020204" pitchFamily="34" charset="-122"/>
                <a:ea typeface="Microsoft YaHei" panose="020B0503020204020204" pitchFamily="34" charset="-122"/>
              </a:rPr>
              <a:t>需要先擦除，擦除单位为</a:t>
            </a:r>
            <a:r>
              <a:rPr kumimoji="1" lang="en-US" altLang="zh-CN" dirty="0">
                <a:latin typeface="Microsoft YaHei" panose="020B0503020204020204" pitchFamily="34" charset="-122"/>
                <a:ea typeface="Microsoft YaHei" panose="020B0503020204020204" pitchFamily="34" charset="-122"/>
              </a:rPr>
              <a:t>block</a:t>
            </a:r>
            <a:r>
              <a:rPr kumimoji="1" lang="zh-CN" altLang="en-US" dirty="0">
                <a:latin typeface="Microsoft YaHei" panose="020B0503020204020204" pitchFamily="34" charset="-122"/>
                <a:ea typeface="Microsoft YaHei" panose="020B0503020204020204" pitchFamily="34" charset="-122"/>
              </a:rPr>
              <a:t>。</a:t>
            </a: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endParaRPr kumimoji="1"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dirty="0">
                <a:latin typeface="Microsoft YaHei" panose="020B0503020204020204" pitchFamily="34" charset="-122"/>
                <a:ea typeface="Microsoft YaHei" panose="020B0503020204020204" pitchFamily="34" charset="-122"/>
              </a:rPr>
              <a:t>每个</a:t>
            </a:r>
            <a:r>
              <a:rPr kumimoji="1" lang="en-US" altLang="zh-CN" dirty="0">
                <a:latin typeface="Microsoft YaHei" panose="020B0503020204020204" pitchFamily="34" charset="-122"/>
                <a:ea typeface="Microsoft YaHei" panose="020B0503020204020204" pitchFamily="34" charset="-122"/>
              </a:rPr>
              <a:t>block</a:t>
            </a:r>
            <a:r>
              <a:rPr kumimoji="1" lang="zh-CN" altLang="en-US" dirty="0">
                <a:latin typeface="Microsoft YaHei" panose="020B0503020204020204" pitchFamily="34" charset="-122"/>
                <a:ea typeface="Microsoft YaHei" panose="020B0503020204020204" pitchFamily="34" charset="-122"/>
              </a:rPr>
              <a:t>存在最大擦除次数。</a:t>
            </a:r>
            <a:endParaRPr kumimoji="1"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605595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4" name="文本框 13">
            <a:extLst>
              <a:ext uri="{FF2B5EF4-FFF2-40B4-BE49-F238E27FC236}">
                <a16:creationId xmlns:a16="http://schemas.microsoft.com/office/drawing/2014/main" id="{68BE4575-C96F-A24D-910A-753EB464E607}"/>
              </a:ext>
            </a:extLst>
          </p:cNvPr>
          <p:cNvSpPr txBox="1"/>
          <p:nvPr/>
        </p:nvSpPr>
        <p:spPr>
          <a:xfrm>
            <a:off x="308079" y="552678"/>
            <a:ext cx="59116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管理的</a:t>
            </a:r>
            <a:r>
              <a:rPr kumimoji="1" lang="en-US" altLang="zh-CN" sz="2800" dirty="0" err="1">
                <a:latin typeface="Microsoft YaHei" charset="-122"/>
                <a:ea typeface="Microsoft YaHei" charset="-122"/>
                <a:cs typeface="Microsoft YaHei" charset="-122"/>
              </a:rPr>
              <a:t>Nand</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Flash</a:t>
            </a:r>
            <a:r>
              <a:rPr kumimoji="1" lang="zh-CN" altLang="en-US" sz="2800" dirty="0">
                <a:latin typeface="Microsoft YaHei" charset="-122"/>
                <a:ea typeface="Microsoft YaHei" charset="-122"/>
                <a:cs typeface="Microsoft YaHei" charset="-122"/>
              </a:rPr>
              <a:t>的</a:t>
            </a:r>
            <a:r>
              <a:rPr kumimoji="1" lang="en-US" altLang="zh-CN" sz="2800" dirty="0">
                <a:latin typeface="Microsoft YaHei" charset="-122"/>
                <a:ea typeface="Microsoft YaHei" charset="-122"/>
                <a:cs typeface="Microsoft YaHei" charset="-122"/>
              </a:rPr>
              <a:t>SSD</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FTL</a:t>
            </a:r>
            <a:r>
              <a:rPr kumimoji="1" lang="zh-CN" altLang="en-US" sz="2800" dirty="0">
                <a:latin typeface="Microsoft YaHei" charset="-122"/>
                <a:ea typeface="Microsoft YaHei" charset="-122"/>
                <a:cs typeface="Microsoft YaHei" charset="-122"/>
              </a:rPr>
              <a:t>层</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455400A9-E676-A04B-A314-55F0734FD932}"/>
              </a:ext>
            </a:extLst>
          </p:cNvPr>
          <p:cNvSpPr txBox="1"/>
          <p:nvPr/>
        </p:nvSpPr>
        <p:spPr>
          <a:xfrm>
            <a:off x="1253795" y="3638148"/>
            <a:ext cx="5554534" cy="2308324"/>
          </a:xfrm>
          <a:prstGeom prst="rect">
            <a:avLst/>
          </a:prstGeom>
          <a:noFill/>
        </p:spPr>
        <p:txBody>
          <a:bodyPr wrap="none" rtlCol="0">
            <a:spAutoFit/>
          </a:bodyPr>
          <a:lstStyle/>
          <a:p>
            <a:r>
              <a:rPr kumimoji="1" lang="zh-CN" altLang="en-US" sz="2400" b="1" dirty="0">
                <a:latin typeface="Microsoft YaHei" panose="020B0503020204020204" pitchFamily="34" charset="-122"/>
                <a:ea typeface="Microsoft YaHei" panose="020B0503020204020204" pitchFamily="34" charset="-122"/>
              </a:rPr>
              <a:t>一般实现于设备端</a:t>
            </a:r>
            <a:r>
              <a:rPr kumimoji="1" lang="zh-CN" altLang="en-US" sz="2400" b="1" dirty="0">
                <a:latin typeface="Microsoft YaHei" charset="-122"/>
                <a:ea typeface="Microsoft YaHei" charset="-122"/>
              </a:rPr>
              <a:t>，主要</a:t>
            </a:r>
            <a:r>
              <a:rPr kumimoji="1" lang="zh-CN" altLang="en-US" sz="2400" b="1" dirty="0">
                <a:latin typeface="Microsoft YaHei" charset="-122"/>
                <a:ea typeface="Microsoft YaHei" charset="-122"/>
                <a:cs typeface="Microsoft YaHei" charset="-122"/>
              </a:rPr>
              <a:t>功能：</a:t>
            </a:r>
            <a:endParaRPr kumimoji="1" lang="en-US" altLang="zh-CN" sz="2400" b="1" dirty="0">
              <a:latin typeface="Microsoft YaHei" charset="-122"/>
              <a:ea typeface="Microsoft YaHei" charset="-122"/>
              <a:cs typeface="Microsoft YaHei" charset="-122"/>
            </a:endParaRPr>
          </a:p>
          <a:p>
            <a:endParaRPr kumimoji="1" lang="en-US" altLang="zh-CN" sz="2000" dirty="0">
              <a:latin typeface="Microsoft YaHei" panose="020B0503020204020204" pitchFamily="34" charset="-122"/>
              <a:ea typeface="Microsoft YaHei" panose="020B0503020204020204" pitchFamily="34" charset="-122"/>
            </a:endParaRPr>
          </a:p>
          <a:p>
            <a:pPr marL="800100" lvl="1" indent="-342900">
              <a:buFont typeface="Arial" panose="020B0604020202020204" pitchFamily="34" charset="0"/>
              <a:buChar char="•"/>
            </a:pPr>
            <a:r>
              <a:rPr kumimoji="1" lang="zh-CN" altLang="en-US" sz="2000" dirty="0">
                <a:latin typeface="Microsoft YaHei" panose="020B0503020204020204" pitchFamily="34" charset="-122"/>
                <a:ea typeface="Microsoft YaHei" panose="020B0503020204020204" pitchFamily="34" charset="-122"/>
              </a:rPr>
              <a:t>管理逻辑块</a:t>
            </a: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物理块的映射</a:t>
            </a:r>
            <a:endParaRPr kumimoji="1" lang="en-US" altLang="zh-CN" sz="2000" dirty="0">
              <a:latin typeface="Microsoft YaHei" panose="020B0503020204020204" pitchFamily="34" charset="-122"/>
              <a:ea typeface="Microsoft YaHei" panose="020B0503020204020204" pitchFamily="34" charset="-122"/>
            </a:endParaRPr>
          </a:p>
          <a:p>
            <a:pPr marL="800100" lvl="1" indent="-342900">
              <a:buFont typeface="Arial" panose="020B0604020202020204" pitchFamily="34" charset="0"/>
              <a:buChar char="•"/>
            </a:pPr>
            <a:endParaRPr kumimoji="1" lang="en-US" altLang="zh-CN" sz="2000" dirty="0">
              <a:latin typeface="Microsoft YaHei" panose="020B0503020204020204" pitchFamily="34" charset="-122"/>
              <a:ea typeface="Microsoft YaHei" panose="020B0503020204020204" pitchFamily="34" charset="-122"/>
            </a:endParaRPr>
          </a:p>
          <a:p>
            <a:pPr marL="800100" lvl="1" indent="-342900">
              <a:buFont typeface="Arial" panose="020B0604020202020204" pitchFamily="34" charset="0"/>
              <a:buChar char="•"/>
            </a:pPr>
            <a:r>
              <a:rPr kumimoji="1" lang="zh-CN" altLang="en-US" sz="2000" dirty="0">
                <a:latin typeface="Microsoft YaHei" panose="020B0503020204020204" pitchFamily="34" charset="-122"/>
                <a:ea typeface="Microsoft YaHei" panose="020B0503020204020204" pitchFamily="34" charset="-122"/>
              </a:rPr>
              <a:t>负责垃圾回收</a:t>
            </a:r>
            <a:r>
              <a:rPr kumimoji="1" lang="en-US" altLang="zh-CN" sz="2000" dirty="0">
                <a:latin typeface="Microsoft YaHei" panose="020B0503020204020204" pitchFamily="34" charset="-122"/>
                <a:ea typeface="Microsoft YaHei" panose="020B0503020204020204" pitchFamily="34" charset="-122"/>
              </a:rPr>
              <a:t>(GC)</a:t>
            </a:r>
            <a:r>
              <a:rPr kumimoji="1" lang="zh-CN" altLang="en-US" sz="2000" dirty="0">
                <a:latin typeface="Microsoft YaHei" panose="020B0503020204020204" pitchFamily="34" charset="-122"/>
                <a:ea typeface="Microsoft YaHei" panose="020B0503020204020204" pitchFamily="34" charset="-122"/>
              </a:rPr>
              <a:t>和</a:t>
            </a:r>
            <a:r>
              <a:rPr kumimoji="1" lang="en-US" altLang="zh-CN" sz="2000" dirty="0">
                <a:latin typeface="Microsoft YaHei" panose="020B0503020204020204" pitchFamily="34" charset="-122"/>
                <a:ea typeface="Microsoft YaHei" panose="020B0503020204020204" pitchFamily="34" charset="-122"/>
              </a:rPr>
              <a:t>over-</a:t>
            </a:r>
            <a:r>
              <a:rPr kumimoji="1" lang="en-US" altLang="zh-CN" sz="2000" dirty="0" err="1">
                <a:latin typeface="Microsoft YaHei" panose="020B0503020204020204" pitchFamily="34" charset="-122"/>
                <a:ea typeface="Microsoft YaHei" panose="020B0503020204020204" pitchFamily="34" charset="-122"/>
              </a:rPr>
              <a:t>provison</a:t>
            </a:r>
            <a:r>
              <a:rPr kumimoji="1" lang="en-US" altLang="zh-CN" sz="2000" dirty="0">
                <a:latin typeface="Microsoft YaHei" panose="020B0503020204020204" pitchFamily="34" charset="-122"/>
                <a:ea typeface="Microsoft YaHei" panose="020B0503020204020204" pitchFamily="34" charset="-122"/>
              </a:rPr>
              <a:t>(OP)</a:t>
            </a:r>
          </a:p>
          <a:p>
            <a:pPr marL="800100" lvl="1" indent="-342900">
              <a:buFont typeface="Arial" panose="020B0604020202020204" pitchFamily="34" charset="0"/>
              <a:buChar char="•"/>
            </a:pPr>
            <a:endParaRPr kumimoji="1" lang="en-US" altLang="zh-CN" sz="2000" dirty="0">
              <a:latin typeface="Microsoft YaHei" panose="020B0503020204020204" pitchFamily="34" charset="-122"/>
              <a:ea typeface="Microsoft YaHei" panose="020B0503020204020204" pitchFamily="34" charset="-122"/>
            </a:endParaRPr>
          </a:p>
          <a:p>
            <a:pPr marL="800100" lvl="1" indent="-342900">
              <a:buFont typeface="Arial" panose="020B0604020202020204" pitchFamily="34" charset="0"/>
              <a:buChar char="•"/>
            </a:pPr>
            <a:r>
              <a:rPr kumimoji="1" lang="zh-CN" altLang="en-US" sz="2000" dirty="0">
                <a:latin typeface="Microsoft YaHei" panose="020B0503020204020204" pitchFamily="34" charset="-122"/>
                <a:ea typeface="Microsoft YaHei" panose="020B0503020204020204" pitchFamily="34" charset="-122"/>
              </a:rPr>
              <a:t>磨损平衡</a:t>
            </a:r>
          </a:p>
        </p:txBody>
      </p:sp>
      <p:pic>
        <p:nvPicPr>
          <p:cNvPr id="4" name="图片 3">
            <a:extLst>
              <a:ext uri="{FF2B5EF4-FFF2-40B4-BE49-F238E27FC236}">
                <a16:creationId xmlns:a16="http://schemas.microsoft.com/office/drawing/2014/main" id="{D066C69B-CABB-5742-9B34-EF8D5B0A8AB2}"/>
              </a:ext>
            </a:extLst>
          </p:cNvPr>
          <p:cNvPicPr>
            <a:picLocks noChangeAspect="1"/>
          </p:cNvPicPr>
          <p:nvPr/>
        </p:nvPicPr>
        <p:blipFill>
          <a:blip r:embed="rId3"/>
          <a:stretch>
            <a:fillRect/>
          </a:stretch>
        </p:blipFill>
        <p:spPr>
          <a:xfrm>
            <a:off x="174931" y="1582394"/>
            <a:ext cx="4083918" cy="1470941"/>
          </a:xfrm>
          <a:prstGeom prst="rect">
            <a:avLst/>
          </a:prstGeom>
        </p:spPr>
      </p:pic>
      <p:pic>
        <p:nvPicPr>
          <p:cNvPr id="5" name="图片 4">
            <a:extLst>
              <a:ext uri="{FF2B5EF4-FFF2-40B4-BE49-F238E27FC236}">
                <a16:creationId xmlns:a16="http://schemas.microsoft.com/office/drawing/2014/main" id="{FB27A451-23C1-494F-AC3E-BD1EF0CFDDF9}"/>
              </a:ext>
            </a:extLst>
          </p:cNvPr>
          <p:cNvPicPr>
            <a:picLocks noChangeAspect="1"/>
          </p:cNvPicPr>
          <p:nvPr/>
        </p:nvPicPr>
        <p:blipFill>
          <a:blip r:embed="rId4"/>
          <a:stretch>
            <a:fillRect/>
          </a:stretch>
        </p:blipFill>
        <p:spPr>
          <a:xfrm>
            <a:off x="4647589" y="1725296"/>
            <a:ext cx="4321480" cy="1255899"/>
          </a:xfrm>
          <a:prstGeom prst="rect">
            <a:avLst/>
          </a:prstGeom>
        </p:spPr>
      </p:pic>
    </p:spTree>
    <p:extLst>
      <p:ext uri="{BB962C8B-B14F-4D97-AF65-F5344CB8AC3E}">
        <p14:creationId xmlns:p14="http://schemas.microsoft.com/office/powerpoint/2010/main" val="182234600"/>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23" name="文本框 22"/>
          <p:cNvSpPr txBox="1"/>
          <p:nvPr/>
        </p:nvSpPr>
        <p:spPr>
          <a:xfrm>
            <a:off x="308079" y="552678"/>
            <a:ext cx="5291055"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SSD</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FTL</a:t>
            </a:r>
            <a:r>
              <a:rPr kumimoji="1" lang="zh-CN" altLang="en-US" sz="2800" dirty="0">
                <a:latin typeface="Microsoft YaHei" charset="-122"/>
                <a:ea typeface="Microsoft YaHei" charset="-122"/>
                <a:cs typeface="Microsoft YaHei" charset="-122"/>
              </a:rPr>
              <a:t>层的</a:t>
            </a:r>
            <a:r>
              <a:rPr kumimoji="1" lang="en-US" altLang="zh-CN" sz="2800" dirty="0">
                <a:latin typeface="Microsoft YaHei" charset="-122"/>
                <a:ea typeface="Microsoft YaHei" charset="-122"/>
                <a:cs typeface="Microsoft YaHei" charset="-122"/>
              </a:rPr>
              <a:t>OP</a:t>
            </a:r>
          </a:p>
        </p:txBody>
      </p:sp>
      <p:sp>
        <p:nvSpPr>
          <p:cNvPr id="11" name="文本框 10"/>
          <p:cNvSpPr txBox="1"/>
          <p:nvPr/>
        </p:nvSpPr>
        <p:spPr>
          <a:xfrm>
            <a:off x="3263900" y="6362701"/>
            <a:ext cx="4622800" cy="276999"/>
          </a:xfrm>
          <a:prstGeom prst="rect">
            <a:avLst/>
          </a:prstGeom>
          <a:noFill/>
        </p:spPr>
        <p:txBody>
          <a:bodyPr wrap="square" rtlCol="0">
            <a:spAutoFit/>
          </a:bodyPr>
          <a:lstStyle/>
          <a:p>
            <a:r>
              <a:rPr kumimoji="1" lang="zh-CN" altLang="en-US" sz="1200" dirty="0"/>
              <a:t>图摘自</a:t>
            </a:r>
            <a:r>
              <a:rPr kumimoji="1" lang="en-US" altLang="zh-CN" sz="1200" dirty="0"/>
              <a:t>《</a:t>
            </a:r>
            <a:r>
              <a:rPr kumimoji="1" lang="zh-CN" altLang="en-US" sz="1200" dirty="0"/>
              <a:t>深入浅出</a:t>
            </a:r>
            <a:r>
              <a:rPr kumimoji="1" lang="en-US" altLang="zh-CN" sz="1200" dirty="0"/>
              <a:t>SSD</a:t>
            </a:r>
            <a:r>
              <a:rPr kumimoji="1" lang="zh-CN" altLang="en-US" sz="1200" dirty="0"/>
              <a:t>：固态存储核心技术、原理与实战</a:t>
            </a:r>
            <a:r>
              <a:rPr kumimoji="1" lang="en-US" altLang="zh-CN" sz="1200" dirty="0"/>
              <a:t>》</a:t>
            </a:r>
            <a:endParaRPr kumimoji="1" lang="zh-CN" altLang="en-US" sz="1200" dirty="0"/>
          </a:p>
        </p:txBody>
      </p:sp>
      <p:pic>
        <p:nvPicPr>
          <p:cNvPr id="7" name="图片 6">
            <a:extLst>
              <a:ext uri="{FF2B5EF4-FFF2-40B4-BE49-F238E27FC236}">
                <a16:creationId xmlns:a16="http://schemas.microsoft.com/office/drawing/2014/main" id="{5FB76F4F-D0B8-554D-93D3-AE81963DC55D}"/>
              </a:ext>
            </a:extLst>
          </p:cNvPr>
          <p:cNvPicPr>
            <a:picLocks noChangeAspect="1"/>
          </p:cNvPicPr>
          <p:nvPr/>
        </p:nvPicPr>
        <p:blipFill>
          <a:blip r:embed="rId3"/>
          <a:stretch>
            <a:fillRect/>
          </a:stretch>
        </p:blipFill>
        <p:spPr>
          <a:xfrm>
            <a:off x="308079" y="1773327"/>
            <a:ext cx="4429777" cy="3891945"/>
          </a:xfrm>
          <a:prstGeom prst="rect">
            <a:avLst/>
          </a:prstGeom>
        </p:spPr>
      </p:pic>
      <p:sp>
        <p:nvSpPr>
          <p:cNvPr id="9" name="文本框 8">
            <a:extLst>
              <a:ext uri="{FF2B5EF4-FFF2-40B4-BE49-F238E27FC236}">
                <a16:creationId xmlns:a16="http://schemas.microsoft.com/office/drawing/2014/main" id="{AFEAC944-4A96-084D-AAD6-EDDE9A3D0212}"/>
              </a:ext>
            </a:extLst>
          </p:cNvPr>
          <p:cNvSpPr txBox="1"/>
          <p:nvPr/>
        </p:nvSpPr>
        <p:spPr>
          <a:xfrm>
            <a:off x="4588009" y="2431375"/>
            <a:ext cx="4555991" cy="2339102"/>
          </a:xfrm>
          <a:prstGeom prst="rect">
            <a:avLst/>
          </a:prstGeom>
          <a:noFill/>
        </p:spPr>
        <p:txBody>
          <a:bodyPr wrap="none" rtlCol="0">
            <a:spAutoFit/>
          </a:bodyPr>
          <a:lstStyle/>
          <a:p>
            <a:r>
              <a:rPr kumimoji="1" lang="zh-CN" altLang="en-US" sz="2000" dirty="0">
                <a:latin typeface="Microsoft YaHei" panose="020B0503020204020204" pitchFamily="34" charset="-122"/>
                <a:ea typeface="Microsoft YaHei" panose="020B0503020204020204" pitchFamily="34" charset="-122"/>
              </a:rPr>
              <a:t>考虑覆盖写</a:t>
            </a:r>
            <a:r>
              <a:rPr kumimoji="1" lang="en-US" altLang="zh-CN" sz="2000" dirty="0">
                <a:latin typeface="Microsoft YaHei" panose="020B0503020204020204" pitchFamily="34" charset="-122"/>
                <a:ea typeface="Microsoft YaHei" panose="020B0503020204020204" pitchFamily="34" charset="-122"/>
              </a:rPr>
              <a:t>block</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a:latin typeface="Microsoft YaHei" panose="020B0503020204020204" pitchFamily="34" charset="-122"/>
                <a:ea typeface="Microsoft YaHei" panose="020B0503020204020204" pitchFamily="34" charset="-122"/>
              </a:rPr>
              <a:t>0</a:t>
            </a:r>
            <a:r>
              <a:rPr kumimoji="1" lang="zh-CN" altLang="en-US" sz="2000" dirty="0">
                <a:latin typeface="Microsoft YaHei" panose="020B0503020204020204" pitchFamily="34" charset="-122"/>
                <a:ea typeface="Microsoft YaHei" panose="020B0503020204020204" pitchFamily="34" charset="-122"/>
              </a:rPr>
              <a:t> 中的某一</a:t>
            </a:r>
            <a:r>
              <a:rPr kumimoji="1" lang="en-US" altLang="zh-CN" sz="2000" dirty="0">
                <a:latin typeface="Microsoft YaHei" panose="020B0503020204020204" pitchFamily="34" charset="-122"/>
                <a:ea typeface="Microsoft YaHei" panose="020B0503020204020204" pitchFamily="34" charset="-122"/>
              </a:rPr>
              <a:t>page</a:t>
            </a:r>
            <a:r>
              <a:rPr kumimoji="1" lang="zh-CN" altLang="en-US" sz="2000" dirty="0">
                <a:latin typeface="Microsoft YaHei" panose="020B0503020204020204" pitchFamily="34" charset="-122"/>
                <a:ea typeface="Microsoft YaHei" panose="020B0503020204020204" pitchFamily="34" charset="-122"/>
              </a:rPr>
              <a:t>：</a:t>
            </a:r>
            <a:endParaRPr kumimoji="1" lang="en-US" altLang="zh-CN" sz="2000" dirty="0">
              <a:latin typeface="Microsoft YaHei" panose="020B0503020204020204" pitchFamily="34" charset="-122"/>
              <a:ea typeface="Microsoft YaHei" panose="020B0503020204020204" pitchFamily="34" charset="-122"/>
            </a:endParaRPr>
          </a:p>
          <a:p>
            <a:endParaRPr kumimoji="1" lang="en-US" altLang="zh-CN" dirty="0">
              <a:latin typeface="Microsoft YaHei" panose="020B0503020204020204" pitchFamily="34" charset="-122"/>
              <a:ea typeface="Microsoft YaHei" panose="020B0503020204020204" pitchFamily="34" charset="-122"/>
            </a:endParaRPr>
          </a:p>
          <a:p>
            <a:pPr lvl="1"/>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Block</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5</a:t>
            </a:r>
            <a:r>
              <a:rPr kumimoji="1" lang="zh-CN" altLang="en-US" dirty="0">
                <a:latin typeface="Microsoft YaHei" panose="020B0503020204020204" pitchFamily="34" charset="-122"/>
                <a:ea typeface="Microsoft YaHei" panose="020B0503020204020204" pitchFamily="34" charset="-122"/>
              </a:rPr>
              <a:t>不作</a:t>
            </a:r>
            <a:r>
              <a:rPr kumimoji="1" lang="en-US" altLang="zh-CN" dirty="0">
                <a:latin typeface="Microsoft YaHei" panose="020B0503020204020204" pitchFamily="34" charset="-122"/>
                <a:ea typeface="Microsoft YaHei" panose="020B0503020204020204" pitchFamily="34" charset="-122"/>
              </a:rPr>
              <a:t>OP</a:t>
            </a:r>
            <a:r>
              <a:rPr kumimoji="1" lang="zh-CN" altLang="en-US" dirty="0">
                <a:latin typeface="Microsoft YaHei" panose="020B0503020204020204" pitchFamily="34" charset="-122"/>
                <a:ea typeface="Microsoft YaHei" panose="020B0503020204020204" pitchFamily="34" charset="-122"/>
              </a:rPr>
              <a:t>， 暴露给主机：</a:t>
            </a:r>
            <a:endParaRPr kumimoji="1" lang="en-US" altLang="zh-CN" dirty="0">
              <a:latin typeface="Microsoft YaHei" panose="020B0503020204020204" pitchFamily="34" charset="-122"/>
              <a:ea typeface="Microsoft YaHei" panose="020B0503020204020204" pitchFamily="34" charset="-122"/>
            </a:endParaRPr>
          </a:p>
          <a:p>
            <a:pPr lvl="1"/>
            <a:r>
              <a:rPr kumimoji="1" lang="zh-CN" altLang="en-US" dirty="0">
                <a:latin typeface="Microsoft YaHei" panose="020B0503020204020204" pitchFamily="34" charset="-122"/>
                <a:ea typeface="Microsoft YaHei" panose="020B0503020204020204" pitchFamily="34" charset="-122"/>
              </a:rPr>
              <a:t>需要读</a:t>
            </a:r>
            <a:r>
              <a:rPr kumimoji="1" lang="en-US" altLang="zh-CN" dirty="0">
                <a:latin typeface="Microsoft YaHei" panose="020B0503020204020204" pitchFamily="34" charset="-122"/>
                <a:ea typeface="Microsoft YaHei" panose="020B0503020204020204" pitchFamily="34" charset="-122"/>
              </a:rPr>
              <a:t>block</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0</a:t>
            </a:r>
            <a:r>
              <a:rPr kumimoji="1" lang="zh-CN" altLang="en-US" dirty="0">
                <a:latin typeface="Microsoft YaHei" panose="020B0503020204020204" pitchFamily="34" charset="-122"/>
                <a:ea typeface="Microsoft YaHei" panose="020B0503020204020204" pitchFamily="34" charset="-122"/>
              </a:rPr>
              <a:t>中 </a:t>
            </a:r>
            <a:r>
              <a:rPr kumimoji="1" lang="en-US" altLang="zh-CN" dirty="0">
                <a:latin typeface="Microsoft YaHei" panose="020B0503020204020204" pitchFamily="34" charset="-122"/>
                <a:ea typeface="Microsoft YaHei" panose="020B0503020204020204" pitchFamily="34" charset="-122"/>
              </a:rPr>
              <a:t>9</a:t>
            </a:r>
            <a:r>
              <a:rPr kumimoji="1" lang="zh-CN" altLang="en-US" dirty="0">
                <a:latin typeface="Microsoft YaHei" panose="020B0503020204020204" pitchFamily="34" charset="-122"/>
                <a:ea typeface="Microsoft YaHei" panose="020B0503020204020204" pitchFamily="34" charset="-122"/>
              </a:rPr>
              <a:t> 个</a:t>
            </a:r>
            <a:r>
              <a:rPr kumimoji="1" lang="en-US" altLang="zh-CN" dirty="0">
                <a:latin typeface="Microsoft YaHei" panose="020B0503020204020204" pitchFamily="34" charset="-122"/>
                <a:ea typeface="Microsoft YaHei" panose="020B0503020204020204" pitchFamily="34" charset="-122"/>
              </a:rPr>
              <a:t>page</a:t>
            </a:r>
            <a:r>
              <a:rPr kumimoji="1" lang="zh-CN" altLang="en-US" dirty="0">
                <a:latin typeface="Microsoft YaHei" panose="020B0503020204020204" pitchFamily="34" charset="-122"/>
                <a:ea typeface="Microsoft YaHei" panose="020B0503020204020204" pitchFamily="34" charset="-122"/>
              </a:rPr>
              <a:t>到</a:t>
            </a:r>
            <a:r>
              <a:rPr kumimoji="1" lang="en-US" altLang="zh-CN" dirty="0">
                <a:latin typeface="Microsoft YaHei" panose="020B0503020204020204" pitchFamily="34" charset="-122"/>
                <a:ea typeface="Microsoft YaHei" panose="020B0503020204020204" pitchFamily="34" charset="-122"/>
              </a:rPr>
              <a:t>buffer</a:t>
            </a:r>
            <a:r>
              <a:rPr kumimoji="1" lang="zh-CN" altLang="en-US" dirty="0">
                <a:latin typeface="Microsoft YaHei" panose="020B0503020204020204" pitchFamily="34" charset="-122"/>
                <a:ea typeface="Microsoft YaHei" panose="020B0503020204020204" pitchFamily="34" charset="-122"/>
              </a:rPr>
              <a:t>，</a:t>
            </a:r>
            <a:endParaRPr kumimoji="1" lang="en-US" altLang="zh-CN" dirty="0">
              <a:latin typeface="Microsoft YaHei" panose="020B0503020204020204" pitchFamily="34" charset="-122"/>
              <a:ea typeface="Microsoft YaHei" panose="020B0503020204020204" pitchFamily="34" charset="-122"/>
            </a:endParaRPr>
          </a:p>
          <a:p>
            <a:pPr lvl="1"/>
            <a:r>
              <a:rPr kumimoji="1" lang="zh-CN" altLang="en-US" dirty="0">
                <a:latin typeface="Microsoft YaHei" panose="020B0503020204020204" pitchFamily="34" charset="-122"/>
                <a:ea typeface="Microsoft YaHei" panose="020B0503020204020204" pitchFamily="34" charset="-122"/>
              </a:rPr>
              <a:t>修改其中</a:t>
            </a:r>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个</a:t>
            </a:r>
            <a:r>
              <a:rPr kumimoji="1" lang="en-US" altLang="zh-CN" dirty="0">
                <a:latin typeface="Microsoft YaHei" panose="020B0503020204020204" pitchFamily="34" charset="-122"/>
                <a:ea typeface="Microsoft YaHei" panose="020B0503020204020204" pitchFamily="34" charset="-122"/>
              </a:rPr>
              <a:t>page</a:t>
            </a:r>
            <a:r>
              <a:rPr kumimoji="1" lang="zh-CN" altLang="en-US" dirty="0">
                <a:latin typeface="Microsoft YaHei" panose="020B0503020204020204" pitchFamily="34" charset="-122"/>
                <a:ea typeface="Microsoft YaHei" panose="020B0503020204020204" pitchFamily="34" charset="-122"/>
              </a:rPr>
              <a:t>，擦除</a:t>
            </a:r>
            <a:r>
              <a:rPr kumimoji="1" lang="en-US" altLang="zh-CN" dirty="0">
                <a:latin typeface="Microsoft YaHei" panose="020B0503020204020204" pitchFamily="34" charset="-122"/>
                <a:ea typeface="Microsoft YaHei" panose="020B0503020204020204" pitchFamily="34" charset="-122"/>
              </a:rPr>
              <a:t>block</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0</a:t>
            </a:r>
            <a:r>
              <a:rPr kumimoji="1" lang="zh-CN" altLang="en-US" dirty="0">
                <a:latin typeface="Microsoft YaHei" panose="020B0503020204020204" pitchFamily="34" charset="-122"/>
                <a:ea typeface="Microsoft YaHei" panose="020B0503020204020204" pitchFamily="34" charset="-122"/>
              </a:rPr>
              <a:t>，</a:t>
            </a:r>
            <a:endParaRPr kumimoji="1" lang="en-US" altLang="zh-CN" dirty="0">
              <a:latin typeface="Microsoft YaHei" panose="020B0503020204020204" pitchFamily="34" charset="-122"/>
              <a:ea typeface="Microsoft YaHei" panose="020B0503020204020204" pitchFamily="34" charset="-122"/>
            </a:endParaRPr>
          </a:p>
          <a:p>
            <a:pPr lvl="1"/>
            <a:r>
              <a:rPr kumimoji="1" lang="zh-CN" altLang="en-US" dirty="0">
                <a:latin typeface="Microsoft YaHei" panose="020B0503020204020204" pitchFamily="34" charset="-122"/>
                <a:ea typeface="Microsoft YaHei" panose="020B0503020204020204" pitchFamily="34" charset="-122"/>
              </a:rPr>
              <a:t>再写入</a:t>
            </a:r>
            <a:r>
              <a:rPr kumimoji="1" lang="en-US" altLang="zh-CN" dirty="0">
                <a:latin typeface="Microsoft YaHei" panose="020B0503020204020204" pitchFamily="34" charset="-122"/>
                <a:ea typeface="Microsoft YaHei" panose="020B0503020204020204" pitchFamily="34" charset="-122"/>
              </a:rPr>
              <a:t>9</a:t>
            </a:r>
            <a:r>
              <a:rPr kumimoji="1" lang="zh-CN" altLang="en-US" dirty="0">
                <a:latin typeface="Microsoft YaHei" panose="020B0503020204020204" pitchFamily="34" charset="-122"/>
                <a:ea typeface="Microsoft YaHei" panose="020B0503020204020204" pitchFamily="34" charset="-122"/>
              </a:rPr>
              <a:t>页，造成了“写放大”。</a:t>
            </a:r>
            <a:endParaRPr kumimoji="1" lang="en-US" altLang="zh-CN" dirty="0">
              <a:latin typeface="Microsoft YaHei" panose="020B0503020204020204" pitchFamily="34" charset="-122"/>
              <a:ea typeface="Microsoft YaHei" panose="020B0503020204020204" pitchFamily="34" charset="-122"/>
            </a:endParaRPr>
          </a:p>
          <a:p>
            <a:pPr lvl="1"/>
            <a:endParaRPr kumimoji="1" lang="en-US" altLang="zh-CN" dirty="0">
              <a:latin typeface="Microsoft YaHei" panose="020B0503020204020204" pitchFamily="34" charset="-122"/>
              <a:ea typeface="Microsoft YaHei" panose="020B0503020204020204" pitchFamily="34" charset="-122"/>
            </a:endParaRPr>
          </a:p>
          <a:p>
            <a:r>
              <a:rPr kumimoji="1" lang="en-US" altLang="zh-CN" dirty="0"/>
              <a:t>	</a:t>
            </a:r>
            <a:endParaRPr kumimoji="1" lang="zh-CN" altLang="en-US" dirty="0"/>
          </a:p>
        </p:txBody>
      </p:sp>
      <p:sp>
        <p:nvSpPr>
          <p:cNvPr id="12" name="矩形 11">
            <a:extLst>
              <a:ext uri="{FF2B5EF4-FFF2-40B4-BE49-F238E27FC236}">
                <a16:creationId xmlns:a16="http://schemas.microsoft.com/office/drawing/2014/main" id="{5DFFD505-0011-6746-BEB7-A5F899E4EE76}"/>
              </a:ext>
            </a:extLst>
          </p:cNvPr>
          <p:cNvSpPr/>
          <p:nvPr/>
        </p:nvSpPr>
        <p:spPr>
          <a:xfrm>
            <a:off x="4588009" y="4308257"/>
            <a:ext cx="4572000" cy="646331"/>
          </a:xfrm>
          <a:prstGeom prst="rect">
            <a:avLst/>
          </a:prstGeom>
        </p:spPr>
        <p:txBody>
          <a:bodyPr>
            <a:spAutoFit/>
          </a:bodyPr>
          <a:lstStyle/>
          <a:p>
            <a:pPr lvl="1"/>
            <a:r>
              <a:rPr kumimoji="1" lang="en-US" altLang="zh-CN" dirty="0">
                <a:latin typeface="Microsoft YaHei" panose="020B0503020204020204" pitchFamily="34" charset="-122"/>
                <a:ea typeface="Microsoft YaHei" panose="020B0503020204020204" pitchFamily="34" charset="-122"/>
              </a:rPr>
              <a:t>2)</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Block</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5</a:t>
            </a:r>
            <a:r>
              <a:rPr kumimoji="1" lang="zh-CN" altLang="en-US" dirty="0">
                <a:latin typeface="Microsoft YaHei" panose="020B0503020204020204" pitchFamily="34" charset="-122"/>
                <a:ea typeface="Microsoft YaHei" panose="020B0503020204020204" pitchFamily="34" charset="-122"/>
              </a:rPr>
              <a:t> 作</a:t>
            </a:r>
            <a:r>
              <a:rPr kumimoji="1" lang="en-US" altLang="zh-CN" dirty="0">
                <a:latin typeface="Microsoft YaHei" panose="020B0503020204020204" pitchFamily="34" charset="-122"/>
                <a:ea typeface="Microsoft YaHei" panose="020B0503020204020204" pitchFamily="34" charset="-122"/>
              </a:rPr>
              <a:t>OP</a:t>
            </a:r>
            <a:r>
              <a:rPr kumimoji="1" lang="zh-CN" altLang="en-US" dirty="0">
                <a:latin typeface="Microsoft YaHei" panose="020B0503020204020204" pitchFamily="34" charset="-122"/>
                <a:ea typeface="Microsoft YaHei" panose="020B0503020204020204" pitchFamily="34" charset="-122"/>
              </a:rPr>
              <a:t>，不暴露给主机：</a:t>
            </a:r>
            <a:endParaRPr kumimoji="1" lang="en-US" altLang="zh-CN" dirty="0">
              <a:latin typeface="Microsoft YaHei" panose="020B0503020204020204" pitchFamily="34" charset="-122"/>
              <a:ea typeface="Microsoft YaHei" panose="020B0503020204020204" pitchFamily="34" charset="-122"/>
            </a:endParaRPr>
          </a:p>
          <a:p>
            <a:pPr lvl="1"/>
            <a:r>
              <a:rPr kumimoji="1" lang="zh-CN" altLang="en-US" dirty="0">
                <a:latin typeface="Microsoft YaHei" panose="020B0503020204020204" pitchFamily="34" charset="-122"/>
                <a:ea typeface="Microsoft YaHei" panose="020B0503020204020204" pitchFamily="34" charset="-122"/>
              </a:rPr>
              <a:t>可以直接写</a:t>
            </a:r>
            <a:r>
              <a:rPr kumimoji="1" lang="en-US" altLang="zh-CN" dirty="0">
                <a:latin typeface="Microsoft YaHei" panose="020B0503020204020204" pitchFamily="34" charset="-122"/>
                <a:ea typeface="Microsoft YaHei" panose="020B0503020204020204" pitchFamily="34" charset="-122"/>
              </a:rPr>
              <a:t>Block</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5</a:t>
            </a:r>
          </a:p>
        </p:txBody>
      </p:sp>
    </p:spTree>
    <p:extLst>
      <p:ext uri="{BB962C8B-B14F-4D97-AF65-F5344CB8AC3E}">
        <p14:creationId xmlns:p14="http://schemas.microsoft.com/office/powerpoint/2010/main" val="3664803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23" name="文本框 22"/>
          <p:cNvSpPr txBox="1"/>
          <p:nvPr/>
        </p:nvSpPr>
        <p:spPr>
          <a:xfrm>
            <a:off x="308079" y="552678"/>
            <a:ext cx="5291055"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SSD</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FTL</a:t>
            </a:r>
            <a:r>
              <a:rPr kumimoji="1" lang="zh-CN" altLang="en-US" sz="2800" dirty="0">
                <a:latin typeface="Microsoft YaHei" charset="-122"/>
                <a:ea typeface="Microsoft YaHei" charset="-122"/>
                <a:cs typeface="Microsoft YaHei" charset="-122"/>
              </a:rPr>
              <a:t>层的</a:t>
            </a:r>
            <a:r>
              <a:rPr kumimoji="1" lang="en-US" altLang="zh-CN" sz="2800" dirty="0">
                <a:latin typeface="Microsoft YaHei" charset="-122"/>
                <a:ea typeface="Microsoft YaHei" charset="-122"/>
                <a:cs typeface="Microsoft YaHei" charset="-122"/>
              </a:rPr>
              <a:t>GC</a:t>
            </a:r>
          </a:p>
        </p:txBody>
      </p:sp>
      <p:sp>
        <p:nvSpPr>
          <p:cNvPr id="11" name="文本框 10"/>
          <p:cNvSpPr txBox="1"/>
          <p:nvPr/>
        </p:nvSpPr>
        <p:spPr>
          <a:xfrm>
            <a:off x="3263900" y="6362701"/>
            <a:ext cx="4622800" cy="276999"/>
          </a:xfrm>
          <a:prstGeom prst="rect">
            <a:avLst/>
          </a:prstGeom>
          <a:noFill/>
        </p:spPr>
        <p:txBody>
          <a:bodyPr wrap="square" rtlCol="0">
            <a:spAutoFit/>
          </a:bodyPr>
          <a:lstStyle/>
          <a:p>
            <a:r>
              <a:rPr kumimoji="1" lang="zh-CN" altLang="en-US" sz="1200" dirty="0"/>
              <a:t>图摘自</a:t>
            </a:r>
            <a:r>
              <a:rPr kumimoji="1" lang="en-US" altLang="zh-CN" sz="1200" dirty="0"/>
              <a:t>《</a:t>
            </a:r>
            <a:r>
              <a:rPr kumimoji="1" lang="zh-CN" altLang="en-US" sz="1200" dirty="0"/>
              <a:t>深入浅出</a:t>
            </a:r>
            <a:r>
              <a:rPr kumimoji="1" lang="en-US" altLang="zh-CN" sz="1200" dirty="0"/>
              <a:t>SSD</a:t>
            </a:r>
            <a:r>
              <a:rPr kumimoji="1" lang="zh-CN" altLang="en-US" sz="1200" dirty="0"/>
              <a:t>：固态存储核心技术、原理与实战</a:t>
            </a:r>
            <a:r>
              <a:rPr kumimoji="1" lang="en-US" altLang="zh-CN" sz="1200" dirty="0"/>
              <a:t>》</a:t>
            </a:r>
            <a:endParaRPr kumimoji="1" lang="zh-CN" altLang="en-US" sz="1200" dirty="0"/>
          </a:p>
        </p:txBody>
      </p:sp>
      <p:pic>
        <p:nvPicPr>
          <p:cNvPr id="2" name="图片 1">
            <a:extLst>
              <a:ext uri="{FF2B5EF4-FFF2-40B4-BE49-F238E27FC236}">
                <a16:creationId xmlns:a16="http://schemas.microsoft.com/office/drawing/2014/main" id="{36C7A44E-1946-2542-BA0A-AD1C9685F48D}"/>
              </a:ext>
            </a:extLst>
          </p:cNvPr>
          <p:cNvPicPr>
            <a:picLocks noChangeAspect="1"/>
          </p:cNvPicPr>
          <p:nvPr/>
        </p:nvPicPr>
        <p:blipFill>
          <a:blip r:embed="rId3"/>
          <a:stretch>
            <a:fillRect/>
          </a:stretch>
        </p:blipFill>
        <p:spPr>
          <a:xfrm>
            <a:off x="308079" y="2041377"/>
            <a:ext cx="4030519" cy="3355845"/>
          </a:xfrm>
          <a:prstGeom prst="rect">
            <a:avLst/>
          </a:prstGeom>
        </p:spPr>
      </p:pic>
      <p:pic>
        <p:nvPicPr>
          <p:cNvPr id="3" name="图片 2">
            <a:extLst>
              <a:ext uri="{FF2B5EF4-FFF2-40B4-BE49-F238E27FC236}">
                <a16:creationId xmlns:a16="http://schemas.microsoft.com/office/drawing/2014/main" id="{34C5C144-8644-2F47-9987-63C662F36AB5}"/>
              </a:ext>
            </a:extLst>
          </p:cNvPr>
          <p:cNvPicPr>
            <a:picLocks noChangeAspect="1"/>
          </p:cNvPicPr>
          <p:nvPr/>
        </p:nvPicPr>
        <p:blipFill>
          <a:blip r:embed="rId4"/>
          <a:stretch>
            <a:fillRect/>
          </a:stretch>
        </p:blipFill>
        <p:spPr>
          <a:xfrm>
            <a:off x="4805405" y="2047211"/>
            <a:ext cx="4249455" cy="3414092"/>
          </a:xfrm>
          <a:prstGeom prst="rect">
            <a:avLst/>
          </a:prstGeom>
        </p:spPr>
      </p:pic>
    </p:spTree>
    <p:extLst>
      <p:ext uri="{BB962C8B-B14F-4D97-AF65-F5344CB8AC3E}">
        <p14:creationId xmlns:p14="http://schemas.microsoft.com/office/powerpoint/2010/main" val="158855914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4" name="文本框 13">
            <a:extLst>
              <a:ext uri="{FF2B5EF4-FFF2-40B4-BE49-F238E27FC236}">
                <a16:creationId xmlns:a16="http://schemas.microsoft.com/office/drawing/2014/main" id="{68BE4575-C96F-A24D-910A-753EB464E607}"/>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SSD</a:t>
            </a:r>
            <a:r>
              <a:rPr kumimoji="1" lang="zh-CN" altLang="en-US" sz="2800" dirty="0">
                <a:latin typeface="Microsoft YaHei" charset="-122"/>
                <a:ea typeface="Microsoft YaHei" charset="-122"/>
                <a:cs typeface="Microsoft YaHei" charset="-122"/>
              </a:rPr>
              <a:t> 的 </a:t>
            </a:r>
            <a:r>
              <a:rPr kumimoji="1" lang="en-US" altLang="zh-CN" sz="2800" dirty="0">
                <a:latin typeface="Microsoft YaHei" charset="-122"/>
                <a:ea typeface="Microsoft YaHei" charset="-122"/>
                <a:cs typeface="Microsoft YaHei" charset="-122"/>
              </a:rPr>
              <a:t>I/O</a:t>
            </a:r>
            <a:r>
              <a:rPr kumimoji="1" lang="zh-CN" altLang="en-US" sz="2800" dirty="0">
                <a:latin typeface="Microsoft YaHei" charset="-122"/>
                <a:ea typeface="Microsoft YaHei" charset="-122"/>
                <a:cs typeface="Microsoft YaHei" charset="-122"/>
              </a:rPr>
              <a:t>性能</a:t>
            </a:r>
            <a:endParaRPr kumimoji="1" lang="en-US" altLang="zh-CN" sz="2800" dirty="0">
              <a:latin typeface="Microsoft YaHei" charset="-122"/>
              <a:ea typeface="Microsoft YaHei" charset="-122"/>
              <a:cs typeface="Microsoft YaHei" charset="-122"/>
            </a:endParaRPr>
          </a:p>
        </p:txBody>
      </p:sp>
      <p:pic>
        <p:nvPicPr>
          <p:cNvPr id="3" name="图片 2">
            <a:extLst>
              <a:ext uri="{FF2B5EF4-FFF2-40B4-BE49-F238E27FC236}">
                <a16:creationId xmlns:a16="http://schemas.microsoft.com/office/drawing/2014/main" id="{B73B12B8-51D3-6B42-908D-EF85F98EA4DB}"/>
              </a:ext>
            </a:extLst>
          </p:cNvPr>
          <p:cNvPicPr>
            <a:picLocks noChangeAspect="1"/>
          </p:cNvPicPr>
          <p:nvPr/>
        </p:nvPicPr>
        <p:blipFill>
          <a:blip r:embed="rId3"/>
          <a:stretch>
            <a:fillRect/>
          </a:stretch>
        </p:blipFill>
        <p:spPr>
          <a:xfrm>
            <a:off x="1659300" y="1830111"/>
            <a:ext cx="4955814" cy="4108018"/>
          </a:xfrm>
          <a:prstGeom prst="rect">
            <a:avLst/>
          </a:prstGeom>
        </p:spPr>
      </p:pic>
    </p:spTree>
    <p:extLst>
      <p:ext uri="{BB962C8B-B14F-4D97-AF65-F5344CB8AC3E}">
        <p14:creationId xmlns:p14="http://schemas.microsoft.com/office/powerpoint/2010/main" val="1569583199"/>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7" name="文本框 6">
            <a:extLst>
              <a:ext uri="{FF2B5EF4-FFF2-40B4-BE49-F238E27FC236}">
                <a16:creationId xmlns:a16="http://schemas.microsoft.com/office/drawing/2014/main" id="{BFA0FF36-1C6A-3F4F-9420-EE58293A57A5}"/>
              </a:ext>
            </a:extLst>
          </p:cNvPr>
          <p:cNvSpPr txBox="1"/>
          <p:nvPr/>
        </p:nvSpPr>
        <p:spPr>
          <a:xfrm>
            <a:off x="308079" y="552678"/>
            <a:ext cx="5911642"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SSD</a:t>
            </a:r>
            <a:r>
              <a:rPr kumimoji="1" lang="zh-CN" altLang="en-US" sz="2800" dirty="0">
                <a:latin typeface="Microsoft YaHei" charset="-122"/>
                <a:ea typeface="Microsoft YaHei" charset="-122"/>
                <a:cs typeface="Microsoft YaHei" charset="-122"/>
              </a:rPr>
              <a:t> 不再适用传统的</a:t>
            </a:r>
            <a:r>
              <a:rPr kumimoji="1" lang="en-US" altLang="zh-CN" sz="2800" dirty="0">
                <a:latin typeface="Microsoft YaHei" charset="-122"/>
                <a:ea typeface="Microsoft YaHei" charset="-122"/>
                <a:cs typeface="Microsoft YaHei" charset="-122"/>
              </a:rPr>
              <a:t>HDD</a:t>
            </a:r>
            <a:r>
              <a:rPr kumimoji="1" lang="zh-CN" altLang="en-US" sz="2800" dirty="0">
                <a:latin typeface="Microsoft YaHei" charset="-122"/>
                <a:ea typeface="Microsoft YaHei" charset="-122"/>
                <a:cs typeface="Microsoft YaHei" charset="-122"/>
              </a:rPr>
              <a:t>优化</a:t>
            </a:r>
            <a:endParaRPr kumimoji="1" lang="en-US" altLang="zh-CN" sz="2800" dirty="0">
              <a:latin typeface="Microsoft YaHei" charset="-122"/>
              <a:ea typeface="Microsoft YaHei" charset="-122"/>
              <a:cs typeface="Microsoft YaHei" charset="-122"/>
            </a:endParaRPr>
          </a:p>
        </p:txBody>
      </p:sp>
      <p:sp>
        <p:nvSpPr>
          <p:cNvPr id="2" name="文本框 1">
            <a:extLst>
              <a:ext uri="{FF2B5EF4-FFF2-40B4-BE49-F238E27FC236}">
                <a16:creationId xmlns:a16="http://schemas.microsoft.com/office/drawing/2014/main" id="{779E0D7B-5741-5544-A78C-89FDB703066E}"/>
              </a:ext>
            </a:extLst>
          </p:cNvPr>
          <p:cNvSpPr txBox="1"/>
          <p:nvPr/>
        </p:nvSpPr>
        <p:spPr>
          <a:xfrm>
            <a:off x="983293" y="1754267"/>
            <a:ext cx="6901841" cy="4124206"/>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2000" b="1" strike="sngStrike" dirty="0">
                <a:solidFill>
                  <a:srgbClr val="C00000"/>
                </a:solidFill>
                <a:latin typeface="Microsoft YaHei" panose="020B0503020204020204" pitchFamily="34" charset="-122"/>
                <a:ea typeface="Microsoft YaHei" panose="020B0503020204020204" pitchFamily="34" charset="-122"/>
              </a:rPr>
              <a:t>更大的读写单元：</a:t>
            </a:r>
            <a:r>
              <a:rPr kumimoji="1" lang="zh-CN" altLang="en-US" strike="sngStrike" dirty="0">
                <a:solidFill>
                  <a:srgbClr val="C00000"/>
                </a:solidFill>
                <a:latin typeface="Microsoft YaHei" panose="020B0503020204020204" pitchFamily="34" charset="-122"/>
                <a:ea typeface="Microsoft YaHei" panose="020B0503020204020204" pitchFamily="34" charset="-122"/>
              </a:rPr>
              <a:t>减小随机性，充分利用顺序读写带宽 </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可以用更小读写单元</a:t>
            </a:r>
            <a:r>
              <a:rPr kumimoji="1" lang="en-US" altLang="zh-CN" dirty="0">
                <a:latin typeface="Microsoft YaHei" panose="020B0503020204020204" pitchFamily="34" charset="-122"/>
                <a:ea typeface="Microsoft YaHei" panose="020B0503020204020204" pitchFamily="34" charset="-122"/>
              </a:rPr>
              <a:t>)</a:t>
            </a:r>
          </a:p>
          <a:p>
            <a:pPr marL="285750" indent="-285750">
              <a:buFont typeface="Arial" panose="020B0604020202020204" pitchFamily="34" charset="0"/>
              <a:buChar char="•"/>
            </a:pPr>
            <a:endParaRPr kumimoji="1" lang="en-US" altLang="zh-CN" b="1"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2000" b="1" dirty="0">
                <a:solidFill>
                  <a:srgbClr val="FFC000"/>
                </a:solidFill>
                <a:latin typeface="Microsoft YaHei" panose="020B0503020204020204" pitchFamily="34" charset="-122"/>
                <a:ea typeface="Microsoft YaHei" panose="020B0503020204020204" pitchFamily="34" charset="-122"/>
              </a:rPr>
              <a:t>内存作磁盘</a:t>
            </a:r>
            <a:r>
              <a:rPr kumimoji="1" lang="en-US" altLang="zh-CN" sz="2000" b="1" dirty="0">
                <a:solidFill>
                  <a:srgbClr val="FFC000"/>
                </a:solidFill>
                <a:latin typeface="Microsoft YaHei" panose="020B0503020204020204" pitchFamily="34" charset="-122"/>
                <a:ea typeface="Microsoft YaHei" panose="020B0503020204020204" pitchFamily="34" charset="-122"/>
              </a:rPr>
              <a:t>cache</a:t>
            </a:r>
            <a:r>
              <a:rPr kumimoji="1" lang="zh-CN" altLang="en-US" sz="2000" b="1" dirty="0">
                <a:solidFill>
                  <a:srgbClr val="FFC000"/>
                </a:solidFill>
                <a:latin typeface="Microsoft YaHei" panose="020B0503020204020204" pitchFamily="34" charset="-122"/>
                <a:ea typeface="Microsoft YaHei" panose="020B0503020204020204" pitchFamily="34" charset="-122"/>
              </a:rPr>
              <a:t>：</a:t>
            </a:r>
            <a:r>
              <a:rPr kumimoji="1" lang="zh-CN" altLang="en-US" dirty="0">
                <a:solidFill>
                  <a:srgbClr val="FFC000"/>
                </a:solidFill>
                <a:latin typeface="Microsoft YaHei" panose="020B0503020204020204" pitchFamily="34" charset="-122"/>
                <a:ea typeface="Microsoft YaHei" panose="020B0503020204020204" pitchFamily="34" charset="-122"/>
              </a:rPr>
              <a:t>利用数据访问的空间</a:t>
            </a:r>
            <a:r>
              <a:rPr kumimoji="1" lang="en-US" altLang="zh-CN" dirty="0">
                <a:solidFill>
                  <a:srgbClr val="FFC000"/>
                </a:solidFill>
                <a:latin typeface="Microsoft YaHei" panose="020B0503020204020204" pitchFamily="34" charset="-122"/>
                <a:ea typeface="Microsoft YaHei" panose="020B0503020204020204" pitchFamily="34" charset="-122"/>
              </a:rPr>
              <a:t>/</a:t>
            </a:r>
            <a:r>
              <a:rPr kumimoji="1" lang="zh-CN" altLang="en-US" dirty="0">
                <a:solidFill>
                  <a:srgbClr val="FFC000"/>
                </a:solidFill>
                <a:latin typeface="Microsoft YaHei" panose="020B0503020204020204" pitchFamily="34" charset="-122"/>
                <a:ea typeface="Microsoft YaHei" panose="020B0503020204020204" pitchFamily="34" charset="-122"/>
              </a:rPr>
              <a:t>时间局部性，用更快的内存加快</a:t>
            </a:r>
            <a:r>
              <a:rPr kumimoji="1" lang="en-US" altLang="zh-CN" dirty="0">
                <a:solidFill>
                  <a:srgbClr val="FFC000"/>
                </a:solidFill>
                <a:latin typeface="Microsoft YaHei" panose="020B0503020204020204" pitchFamily="34" charset="-122"/>
                <a:ea typeface="Microsoft YaHei" panose="020B0503020204020204" pitchFamily="34" charset="-122"/>
              </a:rPr>
              <a:t>IO</a:t>
            </a:r>
            <a:r>
              <a:rPr kumimoji="1" lang="zh-CN" altLang="en-US" dirty="0">
                <a:solidFill>
                  <a:srgbClr val="FFC000"/>
                </a:solidFill>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作用减弱</a:t>
            </a:r>
            <a:r>
              <a:rPr kumimoji="1" lang="en-US" altLang="zh-CN" dirty="0">
                <a:latin typeface="Microsoft YaHei" panose="020B0503020204020204" pitchFamily="34" charset="-122"/>
                <a:ea typeface="Microsoft YaHei" panose="020B0503020204020204" pitchFamily="34" charset="-122"/>
              </a:rPr>
              <a:t>)</a:t>
            </a:r>
          </a:p>
          <a:p>
            <a:pPr marL="285750" indent="-285750">
              <a:buFont typeface="Arial" panose="020B0604020202020204" pitchFamily="34" charset="0"/>
              <a:buChar char="•"/>
            </a:pPr>
            <a:endParaRPr kumimoji="1" lang="en-US" altLang="zh-CN" b="1"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2000" b="1" dirty="0">
                <a:solidFill>
                  <a:srgbClr val="FFC000"/>
                </a:solidFill>
                <a:latin typeface="Microsoft YaHei" panose="020B0503020204020204" pitchFamily="34" charset="-122"/>
                <a:ea typeface="Microsoft YaHei" panose="020B0503020204020204" pitchFamily="34" charset="-122"/>
              </a:rPr>
              <a:t>透明压缩：</a:t>
            </a:r>
            <a:r>
              <a:rPr kumimoji="1" lang="zh-CN" altLang="en-US" dirty="0">
                <a:solidFill>
                  <a:srgbClr val="FFC000"/>
                </a:solidFill>
                <a:latin typeface="Microsoft YaHei" panose="020B0503020204020204" pitchFamily="34" charset="-122"/>
                <a:ea typeface="Microsoft YaHei" panose="020B0503020204020204" pitchFamily="34" charset="-122"/>
              </a:rPr>
              <a:t>压缩磁盘块可以减少</a:t>
            </a:r>
            <a:r>
              <a:rPr kumimoji="1" lang="en-US" altLang="zh-CN" dirty="0">
                <a:solidFill>
                  <a:srgbClr val="FFC000"/>
                </a:solidFill>
                <a:latin typeface="Microsoft YaHei" panose="020B0503020204020204" pitchFamily="34" charset="-122"/>
                <a:ea typeface="Microsoft YaHei" panose="020B0503020204020204" pitchFamily="34" charset="-122"/>
              </a:rPr>
              <a:t>IO</a:t>
            </a:r>
            <a:r>
              <a:rPr kumimoji="1" lang="zh-CN" altLang="en-US" dirty="0">
                <a:solidFill>
                  <a:srgbClr val="FFC000"/>
                </a:solidFill>
                <a:latin typeface="Microsoft YaHei" panose="020B0503020204020204" pitchFamily="34" charset="-122"/>
                <a:ea typeface="Microsoft YaHei" panose="020B0503020204020204" pitchFamily="34" charset="-122"/>
              </a:rPr>
              <a:t>带宽，提高性能。</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无法提升</a:t>
            </a:r>
            <a:r>
              <a:rPr kumimoji="1" lang="en-US" altLang="zh-CN" dirty="0">
                <a:latin typeface="Microsoft YaHei" panose="020B0503020204020204" pitchFamily="34" charset="-122"/>
                <a:ea typeface="Microsoft YaHei" panose="020B0503020204020204" pitchFamily="34" charset="-122"/>
              </a:rPr>
              <a:t>IO</a:t>
            </a:r>
            <a:r>
              <a:rPr kumimoji="1" lang="zh-CN" altLang="en-US" dirty="0">
                <a:latin typeface="Microsoft YaHei" panose="020B0503020204020204" pitchFamily="34" charset="-122"/>
                <a:ea typeface="Microsoft YaHei" panose="020B0503020204020204" pitchFamily="34" charset="-122"/>
              </a:rPr>
              <a:t>性能，只能节省存储空间</a:t>
            </a:r>
            <a:r>
              <a:rPr kumimoji="1" lang="en-US" altLang="zh-CN" dirty="0">
                <a:latin typeface="Microsoft YaHei" panose="020B0503020204020204" pitchFamily="34" charset="-122"/>
                <a:ea typeface="Microsoft YaHei" panose="020B0503020204020204" pitchFamily="34" charset="-122"/>
              </a:rPr>
              <a:t>)</a:t>
            </a:r>
          </a:p>
          <a:p>
            <a:pPr marL="285750" indent="-285750">
              <a:buFont typeface="Arial" panose="020B0604020202020204" pitchFamily="34" charset="0"/>
              <a:buChar char="•"/>
            </a:pPr>
            <a:endParaRPr kumimoji="1" lang="en-US" altLang="zh-CN" b="1"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en-US" altLang="zh-CN" sz="2000" b="1" strike="sngStrike" dirty="0">
                <a:solidFill>
                  <a:srgbClr val="C00000"/>
                </a:solidFill>
                <a:latin typeface="Microsoft YaHei" panose="020B0503020204020204" pitchFamily="34" charset="-122"/>
                <a:ea typeface="Microsoft YaHei" panose="020B0503020204020204" pitchFamily="34" charset="-122"/>
              </a:rPr>
              <a:t>IO</a:t>
            </a:r>
            <a:r>
              <a:rPr kumimoji="1" lang="zh-CN" altLang="en-US" sz="2000" b="1" strike="sngStrike" dirty="0">
                <a:solidFill>
                  <a:srgbClr val="C00000"/>
                </a:solidFill>
                <a:latin typeface="Microsoft YaHei" panose="020B0503020204020204" pitchFamily="34" charset="-122"/>
                <a:ea typeface="Microsoft YaHei" panose="020B0503020204020204" pitchFamily="34" charset="-122"/>
              </a:rPr>
              <a:t>合并：</a:t>
            </a:r>
            <a:r>
              <a:rPr kumimoji="1" lang="zh-CN" altLang="en-US" strike="sngStrike" dirty="0">
                <a:solidFill>
                  <a:srgbClr val="C00000"/>
                </a:solidFill>
                <a:latin typeface="Microsoft YaHei" panose="020B0503020204020204" pitchFamily="34" charset="-122"/>
                <a:ea typeface="Microsoft YaHei" panose="020B0503020204020204" pitchFamily="34" charset="-122"/>
              </a:rPr>
              <a:t>将多次空间连续但是提交时间乱序的小</a:t>
            </a:r>
            <a:r>
              <a:rPr kumimoji="1" lang="en-US" altLang="zh-CN" strike="sngStrike" dirty="0">
                <a:solidFill>
                  <a:srgbClr val="C00000"/>
                </a:solidFill>
                <a:latin typeface="Microsoft YaHei" panose="020B0503020204020204" pitchFamily="34" charset="-122"/>
                <a:ea typeface="Microsoft YaHei" panose="020B0503020204020204" pitchFamily="34" charset="-122"/>
              </a:rPr>
              <a:t>IO</a:t>
            </a:r>
            <a:r>
              <a:rPr kumimoji="1" lang="zh-CN" altLang="en-US" strike="sngStrike" dirty="0">
                <a:solidFill>
                  <a:srgbClr val="C00000"/>
                </a:solidFill>
                <a:latin typeface="Microsoft YaHei" panose="020B0503020204020204" pitchFamily="34" charset="-122"/>
                <a:ea typeface="Microsoft YaHei" panose="020B0503020204020204" pitchFamily="34" charset="-122"/>
              </a:rPr>
              <a:t>合为一次连续大</a:t>
            </a:r>
            <a:r>
              <a:rPr kumimoji="1" lang="en-US" altLang="zh-CN" strike="sngStrike" dirty="0">
                <a:solidFill>
                  <a:srgbClr val="C00000"/>
                </a:solidFill>
                <a:latin typeface="Microsoft YaHei" panose="020B0503020204020204" pitchFamily="34" charset="-122"/>
                <a:ea typeface="Microsoft YaHei" panose="020B0503020204020204" pitchFamily="34" charset="-122"/>
              </a:rPr>
              <a:t>IO</a:t>
            </a:r>
            <a:r>
              <a:rPr kumimoji="1" lang="zh-CN" altLang="en-US" strike="sngStrike" dirty="0">
                <a:solidFill>
                  <a:srgbClr val="C00000"/>
                </a:solidFill>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反而增加延迟，越高性能</a:t>
            </a:r>
            <a:r>
              <a:rPr kumimoji="1" lang="en-US" altLang="zh-CN" dirty="0">
                <a:latin typeface="Microsoft YaHei" panose="020B0503020204020204" pitchFamily="34" charset="-122"/>
                <a:ea typeface="Microsoft YaHei" panose="020B0503020204020204" pitchFamily="34" charset="-122"/>
              </a:rPr>
              <a:t>SSD</a:t>
            </a:r>
            <a:r>
              <a:rPr kumimoji="1" lang="zh-CN" altLang="en-US" dirty="0">
                <a:latin typeface="Microsoft YaHei" panose="020B0503020204020204" pitchFamily="34" charset="-122"/>
                <a:ea typeface="Microsoft YaHei" panose="020B0503020204020204" pitchFamily="34" charset="-122"/>
              </a:rPr>
              <a:t>越不需要合并</a:t>
            </a:r>
            <a:r>
              <a:rPr kumimoji="1" lang="en-US" altLang="zh-CN" dirty="0">
                <a:latin typeface="Microsoft YaHei" panose="020B0503020204020204" pitchFamily="34" charset="-122"/>
                <a:ea typeface="Microsoft YaHei" panose="020B0503020204020204" pitchFamily="34" charset="-122"/>
              </a:rPr>
              <a:t>)</a:t>
            </a:r>
          </a:p>
          <a:p>
            <a:pPr marL="285750" indent="-285750">
              <a:buFont typeface="Arial" panose="020B0604020202020204" pitchFamily="34" charset="0"/>
              <a:buChar char="•"/>
            </a:pPr>
            <a:endParaRPr kumimoji="1" lang="en-US" altLang="zh-CN" b="1"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2000" b="1" dirty="0">
                <a:solidFill>
                  <a:srgbClr val="00B050"/>
                </a:solidFill>
                <a:latin typeface="Microsoft YaHei" panose="020B0503020204020204" pitchFamily="34" charset="-122"/>
                <a:ea typeface="Microsoft YaHei" panose="020B0503020204020204" pitchFamily="34" charset="-122"/>
              </a:rPr>
              <a:t>使用</a:t>
            </a:r>
            <a:r>
              <a:rPr kumimoji="1" lang="en-US" altLang="zh-CN" sz="2000" b="1" dirty="0">
                <a:solidFill>
                  <a:srgbClr val="00B050"/>
                </a:solidFill>
                <a:latin typeface="Microsoft YaHei" panose="020B0503020204020204" pitchFamily="34" charset="-122"/>
                <a:ea typeface="Microsoft YaHei" panose="020B0503020204020204" pitchFamily="34" charset="-122"/>
              </a:rPr>
              <a:t>Log</a:t>
            </a:r>
            <a:r>
              <a:rPr kumimoji="1" lang="zh-CN" altLang="en-US" sz="2000" b="1" dirty="0">
                <a:solidFill>
                  <a:srgbClr val="00B050"/>
                </a:solidFill>
                <a:latin typeface="Microsoft YaHei" panose="020B0503020204020204" pitchFamily="34" charset="-122"/>
                <a:ea typeface="Microsoft YaHei" panose="020B0503020204020204" pitchFamily="34" charset="-122"/>
              </a:rPr>
              <a:t> </a:t>
            </a:r>
            <a:r>
              <a:rPr kumimoji="1" lang="en-US" altLang="zh-CN" sz="2000" b="1" dirty="0">
                <a:solidFill>
                  <a:srgbClr val="00B050"/>
                </a:solidFill>
                <a:latin typeface="Microsoft YaHei" panose="020B0503020204020204" pitchFamily="34" charset="-122"/>
                <a:ea typeface="Microsoft YaHei" panose="020B0503020204020204" pitchFamily="34" charset="-122"/>
              </a:rPr>
              <a:t>structured</a:t>
            </a:r>
            <a:r>
              <a:rPr kumimoji="1" lang="zh-CN" altLang="en-US" sz="2000" b="1" dirty="0">
                <a:solidFill>
                  <a:srgbClr val="00B050"/>
                </a:solidFill>
                <a:latin typeface="Microsoft YaHei" panose="020B0503020204020204" pitchFamily="34" charset="-122"/>
                <a:ea typeface="Microsoft YaHei" panose="020B0503020204020204" pitchFamily="34" charset="-122"/>
              </a:rPr>
              <a:t> 方式优化写性能：</a:t>
            </a:r>
            <a:r>
              <a:rPr kumimoji="1" lang="zh-CN" altLang="en-US" dirty="0">
                <a:solidFill>
                  <a:srgbClr val="00B050"/>
                </a:solidFill>
                <a:latin typeface="Microsoft YaHei" panose="020B0503020204020204" pitchFamily="34" charset="-122"/>
                <a:ea typeface="Microsoft YaHei" panose="020B0503020204020204" pitchFamily="34" charset="-122"/>
              </a:rPr>
              <a:t>用追加的方式将随机写转为顺序写。</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意外收获：用在</a:t>
            </a:r>
            <a:r>
              <a:rPr kumimoji="1" lang="en-US" altLang="zh-CN" dirty="0">
                <a:latin typeface="Microsoft YaHei" panose="020B0503020204020204" pitchFamily="34" charset="-122"/>
                <a:ea typeface="Microsoft YaHei" panose="020B0503020204020204" pitchFamily="34" charset="-122"/>
              </a:rPr>
              <a:t>SSD</a:t>
            </a:r>
            <a:r>
              <a:rPr kumimoji="1" lang="zh-CN" altLang="en-US" dirty="0">
                <a:latin typeface="Microsoft YaHei" panose="020B0503020204020204" pitchFamily="34" charset="-122"/>
                <a:ea typeface="Microsoft YaHei" panose="020B0503020204020204" pitchFamily="34" charset="-122"/>
              </a:rPr>
              <a:t>上可以减少写放大</a:t>
            </a:r>
            <a:r>
              <a:rPr kumimoji="1" lang="en-US" altLang="zh-CN" dirty="0">
                <a:latin typeface="Microsoft YaHei" panose="020B0503020204020204" pitchFamily="34" charset="-122"/>
                <a:ea typeface="Microsoft YaHei" panose="020B0503020204020204" pitchFamily="34" charset="-122"/>
              </a:rPr>
              <a:t>)</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36586730"/>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23" name="文本框 22"/>
          <p:cNvSpPr txBox="1"/>
          <p:nvPr/>
        </p:nvSpPr>
        <p:spPr>
          <a:xfrm>
            <a:off x="280533" y="586387"/>
            <a:ext cx="5308131" cy="523220"/>
          </a:xfrm>
          <a:prstGeom prst="rect">
            <a:avLst/>
          </a:prstGeom>
          <a:noFill/>
        </p:spPr>
        <p:txBody>
          <a:bodyPr wrap="square" rtlCol="0">
            <a:spAutoFit/>
          </a:bodyPr>
          <a:lstStyle/>
          <a:p>
            <a:r>
              <a:rPr kumimoji="1" lang="en-US" altLang="zh-CN" sz="2800" dirty="0">
                <a:latin typeface="Microsoft YaHei" charset="-122"/>
                <a:ea typeface="Microsoft YaHei" charset="-122"/>
                <a:cs typeface="Microsoft YaHei" charset="-122"/>
              </a:rPr>
              <a:t>Phase</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Change</a:t>
            </a:r>
            <a:r>
              <a:rPr kumimoji="1" lang="zh-CN" altLang="en-US" sz="2800" dirty="0">
                <a:latin typeface="Microsoft YaHei" charset="-122"/>
                <a:ea typeface="Microsoft YaHei" charset="-122"/>
                <a:cs typeface="Microsoft YaHei" charset="-122"/>
              </a:rPr>
              <a:t> </a:t>
            </a:r>
            <a:r>
              <a:rPr kumimoji="1" lang="en-US" altLang="zh-CN" sz="2800" dirty="0">
                <a:latin typeface="Microsoft YaHei" charset="-122"/>
                <a:ea typeface="Microsoft YaHei" charset="-122"/>
                <a:cs typeface="Microsoft YaHei" charset="-122"/>
              </a:rPr>
              <a:t>Memory</a:t>
            </a:r>
            <a:r>
              <a:rPr kumimoji="1" lang="zh-CN" altLang="en-US" sz="2800" dirty="0">
                <a:latin typeface="Microsoft YaHei" charset="-122"/>
                <a:ea typeface="Microsoft YaHei" charset="-122"/>
                <a:cs typeface="Microsoft YaHei" charset="-122"/>
              </a:rPr>
              <a:t> 原理</a:t>
            </a:r>
            <a:endParaRPr kumimoji="1" lang="en-US" altLang="zh-CN" sz="2800" dirty="0">
              <a:latin typeface="Microsoft YaHei" charset="-122"/>
              <a:ea typeface="Microsoft YaHei" charset="-122"/>
              <a:cs typeface="Microsoft YaHei" charset="-122"/>
            </a:endParaRPr>
          </a:p>
        </p:txBody>
      </p:sp>
      <p:sp>
        <p:nvSpPr>
          <p:cNvPr id="11" name="文本框 10"/>
          <p:cNvSpPr txBox="1"/>
          <p:nvPr/>
        </p:nvSpPr>
        <p:spPr>
          <a:xfrm>
            <a:off x="3263900" y="6362701"/>
            <a:ext cx="4622800" cy="276999"/>
          </a:xfrm>
          <a:prstGeom prst="rect">
            <a:avLst/>
          </a:prstGeom>
          <a:noFill/>
        </p:spPr>
        <p:txBody>
          <a:bodyPr wrap="square" rtlCol="0">
            <a:spAutoFit/>
          </a:bodyPr>
          <a:lstStyle/>
          <a:p>
            <a:r>
              <a:rPr kumimoji="1" lang="zh-CN" altLang="en-US" sz="1200" dirty="0"/>
              <a:t>摘自</a:t>
            </a:r>
            <a:r>
              <a:rPr kumimoji="1" lang="en-US" altLang="zh-CN" sz="1200" dirty="0"/>
              <a:t>《</a:t>
            </a:r>
            <a:r>
              <a:rPr kumimoji="1" lang="zh-CN" altLang="en-US" sz="1200" dirty="0"/>
              <a:t>深入浅出</a:t>
            </a:r>
            <a:r>
              <a:rPr kumimoji="1" lang="en-US" altLang="zh-CN" sz="1200" dirty="0"/>
              <a:t>SSD</a:t>
            </a:r>
            <a:r>
              <a:rPr kumimoji="1" lang="zh-CN" altLang="en-US" sz="1200" dirty="0"/>
              <a:t>：固态存储核心技术、原理与实战</a:t>
            </a:r>
            <a:r>
              <a:rPr kumimoji="1" lang="en-US" altLang="zh-CN" sz="1200" dirty="0"/>
              <a:t>》</a:t>
            </a:r>
            <a:endParaRPr kumimoji="1" lang="zh-CN" altLang="en-US" sz="1200" dirty="0"/>
          </a:p>
        </p:txBody>
      </p:sp>
      <p:pic>
        <p:nvPicPr>
          <p:cNvPr id="6" name="图片 5"/>
          <p:cNvPicPr>
            <a:picLocks noChangeAspect="1"/>
          </p:cNvPicPr>
          <p:nvPr/>
        </p:nvPicPr>
        <p:blipFill>
          <a:blip r:embed="rId3"/>
          <a:stretch>
            <a:fillRect/>
          </a:stretch>
        </p:blipFill>
        <p:spPr>
          <a:xfrm>
            <a:off x="814598" y="1549401"/>
            <a:ext cx="4240002" cy="4456932"/>
          </a:xfrm>
          <a:prstGeom prst="rect">
            <a:avLst/>
          </a:prstGeom>
        </p:spPr>
      </p:pic>
      <p:sp>
        <p:nvSpPr>
          <p:cNvPr id="7" name="文本框 6"/>
          <p:cNvSpPr txBox="1"/>
          <p:nvPr/>
        </p:nvSpPr>
        <p:spPr>
          <a:xfrm>
            <a:off x="5016500" y="1574800"/>
            <a:ext cx="4025900" cy="4247317"/>
          </a:xfrm>
          <a:prstGeom prst="rect">
            <a:avLst/>
          </a:prstGeom>
          <a:noFill/>
        </p:spPr>
        <p:txBody>
          <a:bodyPr wrap="square" rtlCol="0">
            <a:spAutoFit/>
          </a:bodyPr>
          <a:lstStyle/>
          <a:p>
            <a:r>
              <a:rPr kumimoji="1" lang="en-US" altLang="zh-CN" dirty="0">
                <a:latin typeface="Microsoft YaHei" charset="-122"/>
                <a:ea typeface="Microsoft YaHei" charset="-122"/>
                <a:cs typeface="Microsoft YaHei" charset="-122"/>
              </a:rPr>
              <a:t>Phase</a:t>
            </a:r>
            <a:r>
              <a:rPr kumimoji="1" lang="zh-CN" altLang="en-US" dirty="0">
                <a:latin typeface="Microsoft YaHei" charset="-122"/>
                <a:ea typeface="Microsoft YaHei" charset="-122"/>
                <a:cs typeface="Microsoft YaHei" charset="-122"/>
              </a:rPr>
              <a:t> </a:t>
            </a:r>
            <a:r>
              <a:rPr kumimoji="1" lang="en-US" altLang="zh-CN" dirty="0">
                <a:latin typeface="Microsoft YaHei" charset="-122"/>
                <a:ea typeface="Microsoft YaHei" charset="-122"/>
                <a:cs typeface="Microsoft YaHei" charset="-122"/>
              </a:rPr>
              <a:t>Change</a:t>
            </a:r>
            <a:r>
              <a:rPr kumimoji="1" lang="zh-CN" altLang="en-US" dirty="0">
                <a:latin typeface="Microsoft YaHei" charset="-122"/>
                <a:ea typeface="Microsoft YaHei" charset="-122"/>
                <a:cs typeface="Microsoft YaHei" charset="-122"/>
              </a:rPr>
              <a:t> </a:t>
            </a:r>
            <a:r>
              <a:rPr kumimoji="1" lang="en-US" altLang="zh-CN" dirty="0">
                <a:latin typeface="Microsoft YaHei" charset="-122"/>
                <a:ea typeface="Microsoft YaHei" charset="-122"/>
                <a:cs typeface="Microsoft YaHei" charset="-122"/>
              </a:rPr>
              <a:t>Memory(PCM)</a:t>
            </a:r>
            <a:r>
              <a:rPr kumimoji="1" lang="zh-CN" altLang="en-US" dirty="0">
                <a:latin typeface="Microsoft YaHei" charset="-122"/>
                <a:ea typeface="Microsoft YaHei" charset="-122"/>
                <a:cs typeface="Microsoft YaHei" charset="-122"/>
              </a:rPr>
              <a:t>利用物质的多种相态存储信息。</a:t>
            </a:r>
            <a:endParaRPr kumimoji="1" lang="en-US" altLang="zh-CN" dirty="0">
              <a:latin typeface="Microsoft YaHei" charset="-122"/>
              <a:ea typeface="Microsoft YaHei" charset="-122"/>
              <a:cs typeface="Microsoft YaHei" charset="-122"/>
            </a:endParaRPr>
          </a:p>
          <a:p>
            <a:endParaRPr kumimoji="1" lang="en-US" altLang="zh-CN" dirty="0">
              <a:latin typeface="Microsoft YaHei" charset="-122"/>
              <a:ea typeface="Microsoft YaHei" charset="-122"/>
              <a:cs typeface="Microsoft YaHei" charset="-122"/>
            </a:endParaRPr>
          </a:p>
          <a:p>
            <a:r>
              <a:rPr kumimoji="1" lang="zh-CN" altLang="en-US" dirty="0">
                <a:latin typeface="Microsoft YaHei" charset="-122"/>
                <a:ea typeface="Microsoft YaHei" charset="-122"/>
                <a:cs typeface="Microsoft YaHei" charset="-122"/>
              </a:rPr>
              <a:t>一般用</a:t>
            </a:r>
            <a:r>
              <a:rPr lang="zh-CN" altLang="en-US" dirty="0">
                <a:latin typeface="Microsoft YaHei" charset="-122"/>
                <a:ea typeface="Microsoft YaHei" charset="-122"/>
                <a:cs typeface="Microsoft YaHei" charset="-122"/>
              </a:rPr>
              <a:t>准金属合金</a:t>
            </a:r>
            <a:r>
              <a:rPr lang="en-US" altLang="zh-CN" dirty="0">
                <a:latin typeface="Microsoft YaHei" charset="-122"/>
                <a:ea typeface="Microsoft YaHei" charset="-122"/>
                <a:cs typeface="Microsoft YaHei" charset="-122"/>
              </a:rPr>
              <a:t>GST</a:t>
            </a:r>
            <a:r>
              <a:rPr lang="zh-CN" altLang="en-US" dirty="0">
                <a:latin typeface="Microsoft YaHei" charset="-122"/>
                <a:ea typeface="Microsoft YaHei" charset="-122"/>
                <a:cs typeface="Microsoft YaHei" charset="-122"/>
              </a:rPr>
              <a:t>以各种方式加热和冷却材料来操纵相态之间的变化来实现信息的存储。</a:t>
            </a:r>
            <a:endParaRPr lang="en-US" altLang="zh-CN" dirty="0">
              <a:latin typeface="Microsoft YaHei" charset="-122"/>
              <a:ea typeface="Microsoft YaHei" charset="-122"/>
              <a:cs typeface="Microsoft YaHei" charset="-122"/>
            </a:endParaRPr>
          </a:p>
          <a:p>
            <a:endParaRPr kumimoji="1" lang="en-US" altLang="zh-CN" dirty="0">
              <a:latin typeface="Microsoft YaHei" charset="-122"/>
              <a:ea typeface="Microsoft YaHei" charset="-122"/>
              <a:cs typeface="Microsoft YaHei" charset="-122"/>
            </a:endParaRPr>
          </a:p>
          <a:p>
            <a:r>
              <a:rPr kumimoji="1" lang="en-US" altLang="zh-CN" dirty="0" err="1">
                <a:latin typeface="Microsoft YaHei" charset="-122"/>
                <a:ea typeface="Microsoft YaHei" charset="-122"/>
                <a:cs typeface="Microsoft YaHei" charset="-122"/>
              </a:rPr>
              <a:t>Numonyx</a:t>
            </a:r>
            <a:r>
              <a:rPr kumimoji="1" lang="en-US" altLang="zh-CN" dirty="0">
                <a:latin typeface="Microsoft YaHei" charset="-122"/>
                <a:ea typeface="Microsoft YaHei" charset="-122"/>
                <a:cs typeface="Microsoft YaHei" charset="-122"/>
              </a:rPr>
              <a:t> </a:t>
            </a:r>
            <a:r>
              <a:rPr kumimoji="1" lang="zh-CN" altLang="en-US" dirty="0">
                <a:latin typeface="Microsoft YaHei" charset="-122"/>
                <a:ea typeface="Microsoft YaHei" charset="-122"/>
                <a:cs typeface="Microsoft YaHei" charset="-122"/>
              </a:rPr>
              <a:t>的相变存储器使用一种含 锗、锑、碲的合成材料（</a:t>
            </a:r>
            <a:r>
              <a:rPr kumimoji="1" lang="en-US" altLang="zh-CN" dirty="0">
                <a:latin typeface="Microsoft YaHei" charset="-122"/>
                <a:ea typeface="Microsoft YaHei" charset="-122"/>
                <a:cs typeface="Microsoft YaHei" charset="-122"/>
              </a:rPr>
              <a:t>Ge2Sb2Te5</a:t>
            </a:r>
            <a:r>
              <a:rPr kumimoji="1" lang="zh-CN" altLang="en-US" dirty="0">
                <a:latin typeface="Microsoft YaHei" charset="-122"/>
                <a:ea typeface="Microsoft YaHei" charset="-122"/>
                <a:cs typeface="Microsoft YaHei" charset="-122"/>
              </a:rPr>
              <a:t>）， 多被称为 </a:t>
            </a:r>
            <a:r>
              <a:rPr kumimoji="1" lang="en-US" altLang="zh-CN" dirty="0">
                <a:latin typeface="Microsoft YaHei" charset="-122"/>
                <a:ea typeface="Microsoft YaHei" charset="-122"/>
                <a:cs typeface="Microsoft YaHei" charset="-122"/>
              </a:rPr>
              <a:t>GST</a:t>
            </a:r>
            <a:r>
              <a:rPr kumimoji="1" lang="zh-CN" altLang="en-US" dirty="0">
                <a:latin typeface="Microsoft YaHei" charset="-122"/>
                <a:ea typeface="Microsoft YaHei" charset="-122"/>
                <a:cs typeface="Microsoft YaHei" charset="-122"/>
              </a:rPr>
              <a:t>。</a:t>
            </a:r>
            <a:endParaRPr kumimoji="1" lang="en-US" altLang="zh-CN" dirty="0">
              <a:latin typeface="Microsoft YaHei" charset="-122"/>
              <a:ea typeface="Microsoft YaHei" charset="-122"/>
              <a:cs typeface="Microsoft YaHei" charset="-122"/>
            </a:endParaRPr>
          </a:p>
          <a:p>
            <a:r>
              <a:rPr kumimoji="1" lang="en-US" altLang="zh-CN" dirty="0">
                <a:latin typeface="Microsoft YaHei" charset="-122"/>
                <a:ea typeface="Microsoft YaHei" charset="-122"/>
                <a:cs typeface="Microsoft YaHei" charset="-122"/>
              </a:rPr>
              <a:t>Intel </a:t>
            </a:r>
            <a:r>
              <a:rPr kumimoji="1" lang="zh-CN" altLang="en-US" dirty="0">
                <a:latin typeface="Microsoft YaHei" charset="-122"/>
                <a:ea typeface="Microsoft YaHei" charset="-122"/>
                <a:cs typeface="Microsoft YaHei" charset="-122"/>
              </a:rPr>
              <a:t>开发的相变存储器使用了硫属化物（</a:t>
            </a:r>
            <a:r>
              <a:rPr kumimoji="1" lang="en-US" altLang="zh-CN" dirty="0">
                <a:latin typeface="Microsoft YaHei" charset="-122"/>
                <a:ea typeface="Microsoft YaHei" charset="-122"/>
                <a:cs typeface="Microsoft YaHei" charset="-122"/>
              </a:rPr>
              <a:t>Chalcogenides</a:t>
            </a:r>
            <a:r>
              <a:rPr kumimoji="1" lang="zh-CN" altLang="en-US" dirty="0">
                <a:latin typeface="Microsoft YaHei" charset="-122"/>
                <a:ea typeface="Microsoft YaHei" charset="-122"/>
                <a:cs typeface="Microsoft YaHei" charset="-122"/>
              </a:rPr>
              <a:t>）。</a:t>
            </a:r>
            <a:endParaRPr kumimoji="1" lang="en-US" altLang="zh-CN" dirty="0">
              <a:latin typeface="Microsoft YaHei" charset="-122"/>
              <a:ea typeface="Microsoft YaHei" charset="-122"/>
              <a:cs typeface="Microsoft YaHei" charset="-122"/>
            </a:endParaRPr>
          </a:p>
          <a:p>
            <a:endParaRPr kumimoji="1" lang="en-US" altLang="zh-CN" dirty="0">
              <a:latin typeface="Microsoft YaHei" charset="-122"/>
              <a:ea typeface="Microsoft YaHei" charset="-122"/>
              <a:cs typeface="Microsoft YaHei" charset="-122"/>
            </a:endParaRPr>
          </a:p>
          <a:p>
            <a:r>
              <a:rPr kumimoji="1" lang="en-US" altLang="zh-CN" dirty="0">
                <a:latin typeface="Microsoft YaHei" charset="-122"/>
                <a:ea typeface="Microsoft YaHei" charset="-122"/>
                <a:cs typeface="Microsoft YaHei" charset="-122"/>
              </a:rPr>
              <a:t>Intel</a:t>
            </a:r>
            <a:r>
              <a:rPr kumimoji="1" lang="zh-CN" altLang="en-US" dirty="0">
                <a:latin typeface="Microsoft YaHei" charset="-122"/>
                <a:ea typeface="Microsoft YaHei" charset="-122"/>
                <a:cs typeface="Microsoft YaHei" charset="-122"/>
              </a:rPr>
              <a:t>和</a:t>
            </a:r>
            <a:r>
              <a:rPr kumimoji="1" lang="en-US" altLang="zh-CN" dirty="0">
                <a:latin typeface="Microsoft YaHei" charset="-122"/>
                <a:ea typeface="Microsoft YaHei" charset="-122"/>
                <a:cs typeface="Microsoft YaHei" charset="-122"/>
              </a:rPr>
              <a:t>Micron</a:t>
            </a:r>
            <a:r>
              <a:rPr kumimoji="1" lang="zh-CN" altLang="en-US" dirty="0">
                <a:latin typeface="Microsoft YaHei" charset="-122"/>
                <a:ea typeface="Microsoft YaHei" charset="-122"/>
                <a:cs typeface="Microsoft YaHei" charset="-122"/>
              </a:rPr>
              <a:t>的</a:t>
            </a:r>
            <a:r>
              <a:rPr kumimoji="1" lang="en-US" altLang="zh-CN" dirty="0">
                <a:latin typeface="Microsoft YaHei" charset="-122"/>
                <a:ea typeface="Microsoft YaHei" charset="-122"/>
                <a:cs typeface="Microsoft YaHei" charset="-122"/>
              </a:rPr>
              <a:t>3D</a:t>
            </a:r>
            <a:r>
              <a:rPr kumimoji="1" lang="zh-CN" altLang="en-US" dirty="0">
                <a:latin typeface="Microsoft YaHei" charset="-122"/>
                <a:ea typeface="Microsoft YaHei" charset="-122"/>
                <a:cs typeface="Microsoft YaHei" charset="-122"/>
              </a:rPr>
              <a:t> </a:t>
            </a:r>
            <a:r>
              <a:rPr kumimoji="1" lang="en-US" altLang="zh-CN" dirty="0" err="1">
                <a:latin typeface="Microsoft YaHei" charset="-122"/>
                <a:ea typeface="Microsoft YaHei" charset="-122"/>
                <a:cs typeface="Microsoft YaHei" charset="-122"/>
              </a:rPr>
              <a:t>Xpoint</a:t>
            </a:r>
            <a:r>
              <a:rPr kumimoji="1" lang="zh-CN" altLang="en-US" dirty="0">
                <a:latin typeface="Microsoft YaHei" charset="-122"/>
                <a:ea typeface="Microsoft YaHei" charset="-122"/>
                <a:cs typeface="Microsoft YaHei" charset="-122"/>
              </a:rPr>
              <a:t>技术被猜测属于</a:t>
            </a:r>
            <a:r>
              <a:rPr kumimoji="1" lang="en-US" altLang="zh-CN" dirty="0">
                <a:latin typeface="Microsoft YaHei" charset="-122"/>
                <a:ea typeface="Microsoft YaHei" charset="-122"/>
                <a:cs typeface="Microsoft YaHei" charset="-122"/>
              </a:rPr>
              <a:t>PCM</a:t>
            </a:r>
            <a:r>
              <a:rPr kumimoji="1" lang="zh-CN" altLang="en-US" dirty="0">
                <a:latin typeface="Microsoft YaHei" charset="-122"/>
                <a:ea typeface="Microsoft YaHei" charset="-122"/>
                <a:cs typeface="Microsoft YaHei" charset="-122"/>
              </a:rPr>
              <a:t>的技术。</a:t>
            </a:r>
            <a:endParaRPr kumimoji="1" lang="en-US" altLang="zh-CN"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989413525"/>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7" name="文本框 6"/>
          <p:cNvSpPr txBox="1"/>
          <p:nvPr/>
        </p:nvSpPr>
        <p:spPr>
          <a:xfrm>
            <a:off x="641558" y="615175"/>
            <a:ext cx="5289342" cy="461665"/>
          </a:xfrm>
          <a:prstGeom prst="rect">
            <a:avLst/>
          </a:prstGeom>
          <a:noFill/>
        </p:spPr>
        <p:txBody>
          <a:bodyPr wrap="square" rtlCol="0">
            <a:spAutoFit/>
          </a:bodyPr>
          <a:lstStyle/>
          <a:p>
            <a:r>
              <a:rPr kumimoji="1" lang="en-US" altLang="zh-CN" sz="2400" dirty="0">
                <a:latin typeface="Microsoft YaHei" charset="-122"/>
                <a:ea typeface="Microsoft YaHei" charset="-122"/>
                <a:cs typeface="Microsoft YaHei" charset="-122"/>
              </a:rPr>
              <a:t>PM</a:t>
            </a:r>
            <a:r>
              <a:rPr kumimoji="1" lang="zh-CN" altLang="en-US" sz="2400" dirty="0">
                <a:latin typeface="Microsoft YaHei" charset="-122"/>
                <a:ea typeface="Microsoft YaHei" charset="-122"/>
                <a:cs typeface="Microsoft YaHei" charset="-122"/>
              </a:rPr>
              <a:t>存储系统设计问题</a:t>
            </a:r>
            <a:endParaRPr kumimoji="1" lang="en-US" altLang="zh-CN" sz="2400" dirty="0">
              <a:latin typeface="Microsoft YaHei" charset="-122"/>
              <a:ea typeface="Microsoft YaHei" charset="-122"/>
              <a:cs typeface="Microsoft YaHei" charset="-122"/>
            </a:endParaRPr>
          </a:p>
        </p:txBody>
      </p:sp>
      <p:pic>
        <p:nvPicPr>
          <p:cNvPr id="5" name="图片 4"/>
          <p:cNvPicPr>
            <a:picLocks noChangeAspect="1"/>
          </p:cNvPicPr>
          <p:nvPr/>
        </p:nvPicPr>
        <p:blipFill>
          <a:blip r:embed="rId3"/>
          <a:stretch>
            <a:fillRect/>
          </a:stretch>
        </p:blipFill>
        <p:spPr>
          <a:xfrm>
            <a:off x="177800" y="3929102"/>
            <a:ext cx="8623300" cy="2146767"/>
          </a:xfrm>
          <a:prstGeom prst="rect">
            <a:avLst/>
          </a:prstGeom>
        </p:spPr>
      </p:pic>
      <p:sp>
        <p:nvSpPr>
          <p:cNvPr id="6" name="文本框 5"/>
          <p:cNvSpPr txBox="1"/>
          <p:nvPr/>
        </p:nvSpPr>
        <p:spPr>
          <a:xfrm>
            <a:off x="711200" y="1968500"/>
            <a:ext cx="7092006" cy="1384995"/>
          </a:xfrm>
          <a:prstGeom prst="rect">
            <a:avLst/>
          </a:prstGeom>
          <a:noFill/>
        </p:spPr>
        <p:txBody>
          <a:bodyPr wrap="none" rtlCol="0">
            <a:spAutoFit/>
          </a:bodyPr>
          <a:lstStyle/>
          <a:p>
            <a:r>
              <a:rPr kumimoji="1" lang="zh-CN" altLang="en-US" dirty="0">
                <a:latin typeface="Microsoft YaHei" charset="-122"/>
                <a:ea typeface="Microsoft YaHei" charset="-122"/>
                <a:cs typeface="Microsoft YaHei" charset="-122"/>
              </a:rPr>
              <a:t>近年</a:t>
            </a:r>
            <a:r>
              <a:rPr kumimoji="1" lang="en-US" altLang="zh-CN" dirty="0">
                <a:latin typeface="Microsoft YaHei" charset="-122"/>
                <a:ea typeface="Microsoft YaHei" charset="-122"/>
                <a:cs typeface="Microsoft YaHei" charset="-122"/>
              </a:rPr>
              <a:t>PM</a:t>
            </a:r>
            <a:r>
              <a:rPr kumimoji="1" lang="zh-CN" altLang="en-US" dirty="0">
                <a:latin typeface="Microsoft YaHei" charset="-122"/>
                <a:ea typeface="Microsoft YaHei" charset="-122"/>
                <a:cs typeface="Microsoft YaHei" charset="-122"/>
              </a:rPr>
              <a:t>的相关工作很多。</a:t>
            </a:r>
            <a:endParaRPr kumimoji="1" lang="en-US" altLang="zh-CN" dirty="0">
              <a:latin typeface="Microsoft YaHei" charset="-122"/>
              <a:ea typeface="Microsoft YaHei" charset="-122"/>
              <a:cs typeface="Microsoft YaHei" charset="-122"/>
            </a:endParaRPr>
          </a:p>
          <a:p>
            <a:endParaRPr kumimoji="1" lang="en-US" altLang="zh-CN" dirty="0">
              <a:latin typeface="Microsoft YaHei" charset="-122"/>
              <a:ea typeface="Microsoft YaHei" charset="-122"/>
              <a:cs typeface="Microsoft YaHei" charset="-122"/>
            </a:endParaRPr>
          </a:p>
          <a:p>
            <a:r>
              <a:rPr kumimoji="1" lang="zh-CN" altLang="en-US" dirty="0">
                <a:latin typeface="Microsoft YaHei" charset="-122"/>
                <a:ea typeface="Microsoft YaHei" charset="-122"/>
                <a:cs typeface="Microsoft YaHei" charset="-122"/>
              </a:rPr>
              <a:t>都涉及到不同类存储系统利用</a:t>
            </a:r>
            <a:r>
              <a:rPr kumimoji="1" lang="en-US" altLang="zh-CN" dirty="0">
                <a:latin typeface="Microsoft YaHei" charset="-122"/>
                <a:ea typeface="Microsoft YaHei" charset="-122"/>
                <a:cs typeface="Microsoft YaHei" charset="-122"/>
              </a:rPr>
              <a:t>PM</a:t>
            </a:r>
            <a:r>
              <a:rPr kumimoji="1" lang="zh-CN" altLang="en-US" dirty="0">
                <a:latin typeface="Microsoft YaHei" charset="-122"/>
                <a:ea typeface="Microsoft YaHei" charset="-122"/>
                <a:cs typeface="Microsoft YaHei" charset="-122"/>
              </a:rPr>
              <a:t>时的 </a:t>
            </a:r>
            <a:r>
              <a:rPr kumimoji="1" lang="zh-CN" altLang="en-US" sz="2400" dirty="0">
                <a:solidFill>
                  <a:srgbClr val="C00000"/>
                </a:solidFill>
                <a:latin typeface="Microsoft YaHei" charset="-122"/>
                <a:ea typeface="Microsoft YaHei" charset="-122"/>
                <a:cs typeface="Microsoft YaHei" charset="-122"/>
              </a:rPr>
              <a:t>持久化</a:t>
            </a:r>
            <a:r>
              <a:rPr kumimoji="1" lang="zh-CN" altLang="en-US" sz="2400" dirty="0">
                <a:latin typeface="Microsoft YaHei" charset="-122"/>
                <a:ea typeface="Microsoft YaHei" charset="-122"/>
                <a:cs typeface="Microsoft YaHei" charset="-122"/>
              </a:rPr>
              <a:t>、</a:t>
            </a:r>
            <a:r>
              <a:rPr kumimoji="1" lang="zh-CN" altLang="en-US" sz="2400" dirty="0">
                <a:solidFill>
                  <a:schemeClr val="accent6">
                    <a:lumMod val="75000"/>
                  </a:schemeClr>
                </a:solidFill>
                <a:latin typeface="Microsoft YaHei" charset="-122"/>
                <a:ea typeface="Microsoft YaHei" charset="-122"/>
                <a:cs typeface="Microsoft YaHei" charset="-122"/>
              </a:rPr>
              <a:t>原子可见性</a:t>
            </a:r>
            <a:r>
              <a:rPr kumimoji="1" lang="zh-CN" altLang="en-US" sz="2400" dirty="0">
                <a:latin typeface="Microsoft YaHei" charset="-122"/>
                <a:ea typeface="Microsoft YaHei" charset="-122"/>
                <a:cs typeface="Microsoft YaHei" charset="-122"/>
              </a:rPr>
              <a:t>、</a:t>
            </a:r>
            <a:endParaRPr kumimoji="1" lang="en-US" altLang="zh-CN" sz="2400" dirty="0">
              <a:latin typeface="Microsoft YaHei" charset="-122"/>
              <a:ea typeface="Microsoft YaHei" charset="-122"/>
              <a:cs typeface="Microsoft YaHei" charset="-122"/>
            </a:endParaRPr>
          </a:p>
          <a:p>
            <a:r>
              <a:rPr kumimoji="1" lang="zh-CN" altLang="en-US" sz="2400" dirty="0">
                <a:solidFill>
                  <a:srgbClr val="0070C0"/>
                </a:solidFill>
                <a:latin typeface="Microsoft YaHei" charset="-122"/>
                <a:ea typeface="Microsoft YaHei" charset="-122"/>
                <a:cs typeface="Microsoft YaHei" charset="-122"/>
              </a:rPr>
              <a:t>崩溃一致性 </a:t>
            </a:r>
            <a:r>
              <a:rPr kumimoji="1" lang="zh-CN" altLang="en-US" dirty="0">
                <a:latin typeface="Microsoft YaHei" charset="-122"/>
                <a:ea typeface="Microsoft YaHei" charset="-122"/>
                <a:cs typeface="Microsoft YaHei" charset="-122"/>
              </a:rPr>
              <a:t>等问题。</a:t>
            </a:r>
          </a:p>
        </p:txBody>
      </p:sp>
    </p:spTree>
    <p:extLst>
      <p:ext uri="{BB962C8B-B14F-4D97-AF65-F5344CB8AC3E}">
        <p14:creationId xmlns:p14="http://schemas.microsoft.com/office/powerpoint/2010/main" val="3022463294"/>
      </p:ext>
    </p:extLst>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a:blip r:embed="rId3"/>
          <a:stretch>
            <a:fillRect/>
          </a:stretch>
        </p:blipFill>
        <p:spPr>
          <a:xfrm>
            <a:off x="152399" y="4572000"/>
            <a:ext cx="8591823" cy="1764392"/>
          </a:xfrm>
          <a:prstGeom prst="rect">
            <a:avLst/>
          </a:prstGeom>
        </p:spPr>
      </p:pic>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2" name="文本框 1"/>
          <p:cNvSpPr txBox="1"/>
          <p:nvPr/>
        </p:nvSpPr>
        <p:spPr>
          <a:xfrm>
            <a:off x="6801492" y="4366517"/>
            <a:ext cx="184731" cy="369332"/>
          </a:xfrm>
          <a:prstGeom prst="rect">
            <a:avLst/>
          </a:prstGeom>
          <a:noFill/>
        </p:spPr>
        <p:txBody>
          <a:bodyPr wrap="none" rtlCol="0">
            <a:spAutoFit/>
          </a:bodyPr>
          <a:lstStyle/>
          <a:p>
            <a:endParaRPr kumimoji="1" lang="zh-CN" altLang="en-US"/>
          </a:p>
        </p:txBody>
      </p:sp>
      <p:sp>
        <p:nvSpPr>
          <p:cNvPr id="7" name="文本框 6"/>
          <p:cNvSpPr txBox="1"/>
          <p:nvPr/>
        </p:nvSpPr>
        <p:spPr>
          <a:xfrm>
            <a:off x="654258" y="615175"/>
            <a:ext cx="5289342" cy="461665"/>
          </a:xfrm>
          <a:prstGeom prst="rect">
            <a:avLst/>
          </a:prstGeom>
          <a:noFill/>
        </p:spPr>
        <p:txBody>
          <a:bodyPr wrap="square" rtlCol="0">
            <a:spAutoFit/>
          </a:bodyPr>
          <a:lstStyle/>
          <a:p>
            <a:r>
              <a:rPr kumimoji="1" lang="en-US" altLang="zh-CN" sz="2400" dirty="0">
                <a:latin typeface="Microsoft YaHei" charset="-122"/>
                <a:ea typeface="Microsoft YaHei" charset="-122"/>
                <a:cs typeface="Microsoft YaHei" charset="-122"/>
              </a:rPr>
              <a:t>PM</a:t>
            </a:r>
            <a:r>
              <a:rPr kumimoji="1" lang="zh-CN" altLang="en-US" sz="2400" dirty="0">
                <a:latin typeface="Microsoft YaHei" charset="-122"/>
                <a:ea typeface="Microsoft YaHei" charset="-122"/>
                <a:cs typeface="Microsoft YaHei" charset="-122"/>
              </a:rPr>
              <a:t>存储系统设计问题 </a:t>
            </a:r>
            <a:r>
              <a:rPr kumimoji="1" lang="mr-IN" altLang="zh-CN" sz="2400" dirty="0">
                <a:latin typeface="Microsoft YaHei" charset="-122"/>
                <a:ea typeface="Microsoft YaHei" charset="-122"/>
                <a:cs typeface="Microsoft YaHei" charset="-122"/>
              </a:rPr>
              <a:t>–</a:t>
            </a:r>
            <a:r>
              <a:rPr kumimoji="1" lang="zh-CN" altLang="en-US" sz="2400" dirty="0">
                <a:latin typeface="Microsoft YaHei" charset="-122"/>
                <a:ea typeface="Microsoft YaHei" charset="-122"/>
                <a:cs typeface="Microsoft YaHei" charset="-122"/>
              </a:rPr>
              <a:t> 持久化</a:t>
            </a:r>
            <a:endParaRPr kumimoji="1" lang="en-US" altLang="zh-CN" sz="2400" dirty="0">
              <a:latin typeface="Microsoft YaHei" charset="-122"/>
              <a:ea typeface="Microsoft YaHei" charset="-122"/>
              <a:cs typeface="Microsoft YaHei" charset="-122"/>
            </a:endParaRPr>
          </a:p>
        </p:txBody>
      </p:sp>
      <p:pic>
        <p:nvPicPr>
          <p:cNvPr id="6" name="图片 5"/>
          <p:cNvPicPr>
            <a:picLocks noChangeAspect="1"/>
          </p:cNvPicPr>
          <p:nvPr/>
        </p:nvPicPr>
        <p:blipFill>
          <a:blip r:embed="rId4"/>
          <a:stretch>
            <a:fillRect/>
          </a:stretch>
        </p:blipFill>
        <p:spPr>
          <a:xfrm>
            <a:off x="495300" y="1365249"/>
            <a:ext cx="2159000" cy="3088743"/>
          </a:xfrm>
          <a:prstGeom prst="rect">
            <a:avLst/>
          </a:prstGeom>
        </p:spPr>
      </p:pic>
      <p:sp>
        <p:nvSpPr>
          <p:cNvPr id="10" name="文本框 9"/>
          <p:cNvSpPr txBox="1"/>
          <p:nvPr/>
        </p:nvSpPr>
        <p:spPr>
          <a:xfrm>
            <a:off x="3741342" y="2298700"/>
            <a:ext cx="4695388" cy="369332"/>
          </a:xfrm>
          <a:prstGeom prst="rect">
            <a:avLst/>
          </a:prstGeom>
          <a:noFill/>
        </p:spPr>
        <p:txBody>
          <a:bodyPr wrap="none" rtlCol="0">
            <a:spAutoFit/>
          </a:bodyPr>
          <a:lstStyle/>
          <a:p>
            <a:r>
              <a:rPr kumimoji="1" lang="en-US" altLang="zh-CN" dirty="0"/>
              <a:t>Register</a:t>
            </a:r>
            <a:r>
              <a:rPr kumimoji="1" lang="zh-CN" altLang="en-US" dirty="0"/>
              <a:t> </a:t>
            </a:r>
            <a:r>
              <a:rPr kumimoji="1" lang="en-US" altLang="zh-CN" dirty="0"/>
              <a:t>--&gt;</a:t>
            </a:r>
            <a:r>
              <a:rPr kumimoji="1" lang="zh-CN" altLang="en-US" dirty="0"/>
              <a:t> </a:t>
            </a:r>
            <a:r>
              <a:rPr kumimoji="1" lang="en-US" altLang="zh-CN" dirty="0"/>
              <a:t>L1/L2/L3</a:t>
            </a:r>
            <a:r>
              <a:rPr kumimoji="1" lang="zh-CN" altLang="en-US" dirty="0"/>
              <a:t> </a:t>
            </a:r>
            <a:r>
              <a:rPr kumimoji="1" lang="en-US" altLang="zh-CN" dirty="0"/>
              <a:t>caches</a:t>
            </a:r>
            <a:r>
              <a:rPr kumimoji="1" lang="zh-CN" altLang="en-US" dirty="0"/>
              <a:t> </a:t>
            </a:r>
            <a:r>
              <a:rPr kumimoji="1" lang="en-US" altLang="zh-CN" dirty="0"/>
              <a:t>--&gt;</a:t>
            </a:r>
            <a:r>
              <a:rPr kumimoji="1" lang="zh-CN" altLang="en-US" dirty="0"/>
              <a:t> </a:t>
            </a:r>
            <a:r>
              <a:rPr kumimoji="1" lang="en-US" altLang="zh-CN" dirty="0"/>
              <a:t>memory</a:t>
            </a:r>
            <a:r>
              <a:rPr kumimoji="1" lang="zh-CN" altLang="en-US" dirty="0"/>
              <a:t> </a:t>
            </a:r>
            <a:r>
              <a:rPr kumimoji="1" lang="en-US" altLang="zh-CN" dirty="0"/>
              <a:t>--&gt;</a:t>
            </a:r>
            <a:r>
              <a:rPr kumimoji="1" lang="zh-CN" altLang="en-US" dirty="0"/>
              <a:t> </a:t>
            </a:r>
            <a:r>
              <a:rPr kumimoji="1" lang="en-US" altLang="zh-CN" dirty="0"/>
              <a:t>disk</a:t>
            </a:r>
            <a:endParaRPr kumimoji="1" lang="zh-CN" altLang="en-US" dirty="0"/>
          </a:p>
        </p:txBody>
      </p:sp>
      <p:sp>
        <p:nvSpPr>
          <p:cNvPr id="11" name="文本框 10"/>
          <p:cNvSpPr txBox="1"/>
          <p:nvPr/>
        </p:nvSpPr>
        <p:spPr>
          <a:xfrm>
            <a:off x="3779442" y="3670300"/>
            <a:ext cx="4947445" cy="369332"/>
          </a:xfrm>
          <a:prstGeom prst="rect">
            <a:avLst/>
          </a:prstGeom>
          <a:noFill/>
        </p:spPr>
        <p:txBody>
          <a:bodyPr wrap="none" rtlCol="0">
            <a:spAutoFit/>
          </a:bodyPr>
          <a:lstStyle/>
          <a:p>
            <a:r>
              <a:rPr kumimoji="1" lang="en-US" altLang="zh-CN" dirty="0"/>
              <a:t>Register</a:t>
            </a:r>
            <a:r>
              <a:rPr kumimoji="1" lang="zh-CN" altLang="en-US" dirty="0"/>
              <a:t> </a:t>
            </a:r>
            <a:r>
              <a:rPr kumimoji="1" lang="en-US" altLang="zh-CN" dirty="0"/>
              <a:t>--&gt;</a:t>
            </a:r>
            <a:r>
              <a:rPr kumimoji="1" lang="zh-CN" altLang="en-US" dirty="0"/>
              <a:t> </a:t>
            </a:r>
            <a:r>
              <a:rPr kumimoji="1" lang="en-US" altLang="zh-CN" dirty="0"/>
              <a:t>L1/L2/L3</a:t>
            </a:r>
            <a:r>
              <a:rPr kumimoji="1" lang="zh-CN" altLang="en-US" dirty="0"/>
              <a:t> </a:t>
            </a:r>
            <a:r>
              <a:rPr kumimoji="1" lang="en-US" altLang="zh-CN" dirty="0"/>
              <a:t>caches</a:t>
            </a:r>
            <a:r>
              <a:rPr kumimoji="1" lang="zh-CN" altLang="en-US" dirty="0"/>
              <a:t> </a:t>
            </a:r>
            <a:r>
              <a:rPr kumimoji="1" lang="en-US" altLang="zh-CN" dirty="0"/>
              <a:t>--&gt;</a:t>
            </a:r>
            <a:r>
              <a:rPr kumimoji="1" lang="zh-CN" altLang="en-US" dirty="0"/>
              <a:t> </a:t>
            </a:r>
            <a:r>
              <a:rPr kumimoji="1" lang="en-US" altLang="zh-CN" dirty="0"/>
              <a:t>persistent</a:t>
            </a:r>
            <a:r>
              <a:rPr kumimoji="1" lang="zh-CN" altLang="en-US" dirty="0"/>
              <a:t> </a:t>
            </a:r>
            <a:r>
              <a:rPr kumimoji="1" lang="en-US" altLang="zh-CN" dirty="0"/>
              <a:t>memory</a:t>
            </a:r>
            <a:endParaRPr kumimoji="1" lang="zh-CN" altLang="en-US" dirty="0"/>
          </a:p>
        </p:txBody>
      </p:sp>
      <p:sp>
        <p:nvSpPr>
          <p:cNvPr id="9" name="圆角矩形 8"/>
          <p:cNvSpPr/>
          <p:nvPr/>
        </p:nvSpPr>
        <p:spPr>
          <a:xfrm>
            <a:off x="3784600" y="2298700"/>
            <a:ext cx="3886200" cy="419100"/>
          </a:xfrm>
          <a:prstGeom prst="roundRect">
            <a:avLst/>
          </a:prstGeom>
          <a:noFill/>
          <a:ln w="190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70C0"/>
              </a:solidFill>
            </a:endParaRPr>
          </a:p>
        </p:txBody>
      </p:sp>
      <p:sp>
        <p:nvSpPr>
          <p:cNvPr id="12" name="文本框 11"/>
          <p:cNvSpPr txBox="1"/>
          <p:nvPr/>
        </p:nvSpPr>
        <p:spPr>
          <a:xfrm>
            <a:off x="4051300" y="1968500"/>
            <a:ext cx="646331" cy="276999"/>
          </a:xfrm>
          <a:prstGeom prst="rect">
            <a:avLst/>
          </a:prstGeom>
          <a:noFill/>
        </p:spPr>
        <p:txBody>
          <a:bodyPr wrap="none" rtlCol="0">
            <a:spAutoFit/>
          </a:bodyPr>
          <a:lstStyle/>
          <a:p>
            <a:r>
              <a:rPr kumimoji="1" lang="zh-CN" altLang="en-US" sz="1200" dirty="0">
                <a:solidFill>
                  <a:srgbClr val="0070C0"/>
                </a:solidFill>
                <a:latin typeface="Microsoft YaHei" charset="-122"/>
                <a:ea typeface="Microsoft YaHei" charset="-122"/>
                <a:cs typeface="Microsoft YaHei" charset="-122"/>
              </a:rPr>
              <a:t>易失区</a:t>
            </a:r>
          </a:p>
        </p:txBody>
      </p:sp>
      <p:sp>
        <p:nvSpPr>
          <p:cNvPr id="18" name="上弧形箭头 17"/>
          <p:cNvSpPr/>
          <p:nvPr/>
        </p:nvSpPr>
        <p:spPr>
          <a:xfrm>
            <a:off x="6261100" y="2806700"/>
            <a:ext cx="1879600" cy="266700"/>
          </a:xfrm>
          <a:prstGeom prst="curvedUpArrow">
            <a:avLst>
              <a:gd name="adj1" fmla="val 0"/>
              <a:gd name="adj2" fmla="val 41168"/>
              <a:gd name="adj3" fmla="val 33571"/>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0" name="圆角矩形 19"/>
          <p:cNvSpPr/>
          <p:nvPr/>
        </p:nvSpPr>
        <p:spPr>
          <a:xfrm>
            <a:off x="7747000" y="2286000"/>
            <a:ext cx="812800" cy="419100"/>
          </a:xfrm>
          <a:prstGeom prst="round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p:cNvSpPr txBox="1"/>
          <p:nvPr/>
        </p:nvSpPr>
        <p:spPr>
          <a:xfrm>
            <a:off x="7759700" y="1968500"/>
            <a:ext cx="800219" cy="276999"/>
          </a:xfrm>
          <a:prstGeom prst="rect">
            <a:avLst/>
          </a:prstGeom>
          <a:noFill/>
        </p:spPr>
        <p:txBody>
          <a:bodyPr wrap="none" rtlCol="0">
            <a:spAutoFit/>
          </a:bodyPr>
          <a:lstStyle/>
          <a:p>
            <a:r>
              <a:rPr kumimoji="1" lang="zh-CN" altLang="en-US" sz="1200" dirty="0">
                <a:solidFill>
                  <a:srgbClr val="C00000"/>
                </a:solidFill>
                <a:latin typeface="Microsoft YaHei" charset="-122"/>
                <a:ea typeface="Microsoft YaHei" charset="-122"/>
                <a:cs typeface="Microsoft YaHei" charset="-122"/>
              </a:rPr>
              <a:t>非易失区</a:t>
            </a:r>
          </a:p>
        </p:txBody>
      </p:sp>
      <p:sp>
        <p:nvSpPr>
          <p:cNvPr id="19" name="文本框 18"/>
          <p:cNvSpPr txBox="1"/>
          <p:nvPr/>
        </p:nvSpPr>
        <p:spPr>
          <a:xfrm>
            <a:off x="6858000" y="3022600"/>
            <a:ext cx="876300" cy="369332"/>
          </a:xfrm>
          <a:prstGeom prst="rect">
            <a:avLst/>
          </a:prstGeom>
          <a:noFill/>
        </p:spPr>
        <p:txBody>
          <a:bodyPr wrap="square" rtlCol="0">
            <a:spAutoFit/>
          </a:bodyPr>
          <a:lstStyle/>
          <a:p>
            <a:r>
              <a:rPr kumimoji="1" lang="en-US" altLang="zh-CN" dirty="0" err="1"/>
              <a:t>fsync</a:t>
            </a:r>
            <a:r>
              <a:rPr kumimoji="1" lang="en-US" altLang="zh-CN" dirty="0"/>
              <a:t>()</a:t>
            </a:r>
            <a:r>
              <a:rPr kumimoji="1" lang="zh-CN" altLang="en-US" dirty="0"/>
              <a:t> </a:t>
            </a:r>
          </a:p>
        </p:txBody>
      </p:sp>
      <p:sp>
        <p:nvSpPr>
          <p:cNvPr id="22" name="文本框 21"/>
          <p:cNvSpPr txBox="1"/>
          <p:nvPr/>
        </p:nvSpPr>
        <p:spPr>
          <a:xfrm>
            <a:off x="2882900" y="1447800"/>
            <a:ext cx="3012363" cy="369332"/>
          </a:xfrm>
          <a:prstGeom prst="rect">
            <a:avLst/>
          </a:prstGeom>
          <a:noFill/>
        </p:spPr>
        <p:txBody>
          <a:bodyPr wrap="none" rtlCol="0">
            <a:spAutoFit/>
          </a:bodyPr>
          <a:lstStyle/>
          <a:p>
            <a:pPr marL="285750" indent="-285750">
              <a:buFont typeface="Arial" charset="0"/>
              <a:buChar char="•"/>
            </a:pPr>
            <a:r>
              <a:rPr kumimoji="1" lang="zh-CN" altLang="en-US" dirty="0">
                <a:latin typeface="Microsoft YaHei" charset="-122"/>
                <a:ea typeface="Microsoft YaHei" charset="-122"/>
                <a:cs typeface="Microsoft YaHei" charset="-122"/>
              </a:rPr>
              <a:t>传统存储设备的持久化：</a:t>
            </a:r>
            <a:endParaRPr kumimoji="1" lang="en-US" altLang="zh-CN" dirty="0">
              <a:latin typeface="Microsoft YaHei" charset="-122"/>
              <a:ea typeface="Microsoft YaHei" charset="-122"/>
              <a:cs typeface="Microsoft YaHei" charset="-122"/>
            </a:endParaRPr>
          </a:p>
        </p:txBody>
      </p:sp>
      <p:sp>
        <p:nvSpPr>
          <p:cNvPr id="24" name="圆角矩形 23"/>
          <p:cNvSpPr/>
          <p:nvPr/>
        </p:nvSpPr>
        <p:spPr>
          <a:xfrm>
            <a:off x="3810000" y="3683000"/>
            <a:ext cx="2755900" cy="419100"/>
          </a:xfrm>
          <a:prstGeom prst="roundRect">
            <a:avLst/>
          </a:prstGeom>
          <a:noFill/>
          <a:ln w="190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70C0"/>
              </a:solidFill>
            </a:endParaRPr>
          </a:p>
        </p:txBody>
      </p:sp>
      <p:sp>
        <p:nvSpPr>
          <p:cNvPr id="25" name="圆角矩形 24"/>
          <p:cNvSpPr/>
          <p:nvPr/>
        </p:nvSpPr>
        <p:spPr>
          <a:xfrm>
            <a:off x="6629400" y="3670300"/>
            <a:ext cx="2019300" cy="419100"/>
          </a:xfrm>
          <a:prstGeom prst="round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上弧形箭头 25"/>
          <p:cNvSpPr/>
          <p:nvPr/>
        </p:nvSpPr>
        <p:spPr>
          <a:xfrm>
            <a:off x="5943600" y="4152900"/>
            <a:ext cx="1879600" cy="279400"/>
          </a:xfrm>
          <a:prstGeom prst="curvedUpArrow">
            <a:avLst>
              <a:gd name="adj1" fmla="val 0"/>
              <a:gd name="adj2" fmla="val 41168"/>
              <a:gd name="adj3" fmla="val 33571"/>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7" name="文本框 26"/>
          <p:cNvSpPr txBox="1"/>
          <p:nvPr/>
        </p:nvSpPr>
        <p:spPr>
          <a:xfrm>
            <a:off x="6134100" y="4432300"/>
            <a:ext cx="2260600" cy="307777"/>
          </a:xfrm>
          <a:prstGeom prst="rect">
            <a:avLst/>
          </a:prstGeom>
          <a:noFill/>
        </p:spPr>
        <p:txBody>
          <a:bodyPr wrap="square" rtlCol="0">
            <a:spAutoFit/>
          </a:bodyPr>
          <a:lstStyle/>
          <a:p>
            <a:r>
              <a:rPr kumimoji="1" lang="en-US" altLang="zh-CN" sz="1400" dirty="0" err="1">
                <a:latin typeface="Microsoft YaHei" charset="-122"/>
                <a:ea typeface="Microsoft YaHei" charset="-122"/>
                <a:cs typeface="Microsoft YaHei" charset="-122"/>
              </a:rPr>
              <a:t>Cacheline</a:t>
            </a:r>
            <a:r>
              <a:rPr kumimoji="1" lang="zh-CN" altLang="en-US" sz="1400" dirty="0">
                <a:latin typeface="Microsoft YaHei" charset="-122"/>
                <a:ea typeface="Microsoft YaHei" charset="-122"/>
                <a:cs typeface="Microsoft YaHei" charset="-122"/>
              </a:rPr>
              <a:t>刷新指令 </a:t>
            </a:r>
          </a:p>
        </p:txBody>
      </p:sp>
      <p:sp>
        <p:nvSpPr>
          <p:cNvPr id="29" name="文本框 28"/>
          <p:cNvSpPr txBox="1"/>
          <p:nvPr/>
        </p:nvSpPr>
        <p:spPr>
          <a:xfrm>
            <a:off x="2844800" y="3187700"/>
            <a:ext cx="2456122" cy="369332"/>
          </a:xfrm>
          <a:prstGeom prst="rect">
            <a:avLst/>
          </a:prstGeom>
          <a:noFill/>
        </p:spPr>
        <p:txBody>
          <a:bodyPr wrap="none" rtlCol="0">
            <a:spAutoFit/>
          </a:bodyPr>
          <a:lstStyle/>
          <a:p>
            <a:pPr marL="285750" indent="-285750">
              <a:buFont typeface="Arial" charset="0"/>
              <a:buChar char="•"/>
            </a:pPr>
            <a:r>
              <a:rPr kumimoji="1" lang="en-US" altLang="zh-CN" dirty="0">
                <a:latin typeface="Microsoft YaHei" charset="-122"/>
                <a:ea typeface="Microsoft YaHei" charset="-122"/>
                <a:cs typeface="Microsoft YaHei" charset="-122"/>
              </a:rPr>
              <a:t>PM</a:t>
            </a:r>
            <a:r>
              <a:rPr kumimoji="1" lang="zh-CN" altLang="en-US" dirty="0">
                <a:latin typeface="Microsoft YaHei" charset="-122"/>
                <a:ea typeface="Microsoft YaHei" charset="-122"/>
                <a:cs typeface="Microsoft YaHei" charset="-122"/>
              </a:rPr>
              <a:t>设备的持久化：</a:t>
            </a:r>
            <a:endParaRPr kumimoji="1" lang="en-US" altLang="zh-CN"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21900665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1" grpId="0"/>
      <p:bldP spid="9" grpId="0" animBg="1"/>
      <p:bldP spid="12" grpId="0"/>
      <p:bldP spid="18" grpId="0" animBg="1"/>
      <p:bldP spid="20" grpId="0" animBg="1"/>
      <p:bldP spid="21" grpId="0"/>
      <p:bldP spid="19" grpId="0"/>
      <p:bldP spid="22" grpId="0"/>
      <p:bldP spid="24" grpId="0" animBg="1"/>
      <p:bldP spid="25" grpId="0" animBg="1"/>
      <p:bldP spid="26" grpId="0" animBg="1"/>
      <p:bldP spid="27" grpId="0"/>
      <p:bldP spid="2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7" name="文本框 6"/>
          <p:cNvSpPr txBox="1"/>
          <p:nvPr/>
        </p:nvSpPr>
        <p:spPr>
          <a:xfrm>
            <a:off x="654258" y="615175"/>
            <a:ext cx="5289342" cy="461665"/>
          </a:xfrm>
          <a:prstGeom prst="rect">
            <a:avLst/>
          </a:prstGeom>
          <a:noFill/>
        </p:spPr>
        <p:txBody>
          <a:bodyPr wrap="square" rtlCol="0">
            <a:spAutoFit/>
          </a:bodyPr>
          <a:lstStyle/>
          <a:p>
            <a:r>
              <a:rPr kumimoji="1" lang="en-US" altLang="zh-CN" sz="2400" dirty="0">
                <a:latin typeface="Microsoft YaHei" charset="-122"/>
                <a:ea typeface="Microsoft YaHei" charset="-122"/>
                <a:cs typeface="Microsoft YaHei" charset="-122"/>
              </a:rPr>
              <a:t>PM</a:t>
            </a:r>
            <a:r>
              <a:rPr kumimoji="1" lang="zh-CN" altLang="en-US" sz="2400" dirty="0">
                <a:latin typeface="Microsoft YaHei" charset="-122"/>
                <a:ea typeface="Microsoft YaHei" charset="-122"/>
                <a:cs typeface="Microsoft YaHei" charset="-122"/>
              </a:rPr>
              <a:t>存储系统设计问题 </a:t>
            </a:r>
            <a:r>
              <a:rPr kumimoji="1" lang="mr-IN" altLang="zh-CN" sz="2400" dirty="0">
                <a:latin typeface="Microsoft YaHei" charset="-122"/>
                <a:ea typeface="Microsoft YaHei" charset="-122"/>
                <a:cs typeface="Microsoft YaHei" charset="-122"/>
              </a:rPr>
              <a:t>–</a:t>
            </a:r>
            <a:r>
              <a:rPr kumimoji="1" lang="zh-CN" altLang="en-US" sz="2400" dirty="0">
                <a:latin typeface="Microsoft YaHei" charset="-122"/>
                <a:ea typeface="Microsoft YaHei" charset="-122"/>
                <a:cs typeface="Microsoft YaHei" charset="-122"/>
              </a:rPr>
              <a:t> 更多样的用法</a:t>
            </a:r>
            <a:endParaRPr kumimoji="1" lang="en-US" altLang="zh-CN" sz="2400" dirty="0">
              <a:latin typeface="Microsoft YaHei" charset="-122"/>
              <a:ea typeface="Microsoft YaHei" charset="-122"/>
              <a:cs typeface="Microsoft YaHei" charset="-122"/>
            </a:endParaRPr>
          </a:p>
        </p:txBody>
      </p:sp>
      <p:pic>
        <p:nvPicPr>
          <p:cNvPr id="30" name="图片 29">
            <a:extLst>
              <a:ext uri="{FF2B5EF4-FFF2-40B4-BE49-F238E27FC236}">
                <a16:creationId xmlns:a16="http://schemas.microsoft.com/office/drawing/2014/main" id="{5129651D-8785-D844-9EB2-84216ADB82A1}"/>
              </a:ext>
            </a:extLst>
          </p:cNvPr>
          <p:cNvPicPr>
            <a:picLocks noChangeAspect="1"/>
          </p:cNvPicPr>
          <p:nvPr/>
        </p:nvPicPr>
        <p:blipFill>
          <a:blip r:embed="rId3"/>
          <a:srcRect r="49160"/>
          <a:stretch>
            <a:fillRect/>
          </a:stretch>
        </p:blipFill>
        <p:spPr>
          <a:xfrm>
            <a:off x="-20539" y="1355018"/>
            <a:ext cx="5065138" cy="4795592"/>
          </a:xfrm>
          <a:prstGeom prst="rect">
            <a:avLst/>
          </a:prstGeom>
        </p:spPr>
      </p:pic>
      <p:sp>
        <p:nvSpPr>
          <p:cNvPr id="31" name="文本框 30">
            <a:extLst>
              <a:ext uri="{FF2B5EF4-FFF2-40B4-BE49-F238E27FC236}">
                <a16:creationId xmlns:a16="http://schemas.microsoft.com/office/drawing/2014/main" id="{B46A563C-56B9-FC49-A4F9-D360F6BCD784}"/>
              </a:ext>
            </a:extLst>
          </p:cNvPr>
          <p:cNvSpPr txBox="1"/>
          <p:nvPr/>
        </p:nvSpPr>
        <p:spPr>
          <a:xfrm>
            <a:off x="5143342" y="4915245"/>
            <a:ext cx="1514475" cy="523220"/>
          </a:xfrm>
          <a:prstGeom prst="rect">
            <a:avLst/>
          </a:prstGeom>
          <a:noFill/>
        </p:spPr>
        <p:txBody>
          <a:bodyPr wrap="square" rtlCol="0">
            <a:spAutoFit/>
          </a:bodyPr>
          <a:lstStyle/>
          <a:p>
            <a:pPr algn="ctr"/>
            <a:r>
              <a:rPr lang="en-US" altLang="zh-CN" sz="1600" b="1" dirty="0">
                <a:latin typeface="兰亭黑-简" panose="02000000000000000000" charset="-122"/>
                <a:ea typeface="兰亭黑-简" panose="02000000000000000000" charset="-122"/>
              </a:rPr>
              <a:t>3</a:t>
            </a:r>
            <a:r>
              <a:rPr lang="zh-CN" altLang="en-US" sz="1600" b="1" dirty="0">
                <a:latin typeface="兰亭黑-简" panose="02000000000000000000" charset="-122"/>
                <a:ea typeface="兰亭黑-简" panose="02000000000000000000" charset="-122"/>
              </a:rPr>
              <a:t>种</a:t>
            </a:r>
            <a:r>
              <a:rPr lang="en-US" altLang="zh-CN" sz="1600" b="1" dirty="0">
                <a:latin typeface="兰亭黑-简" panose="02000000000000000000" charset="-122"/>
                <a:ea typeface="兰亭黑-简" panose="02000000000000000000" charset="-122"/>
              </a:rPr>
              <a:t>region</a:t>
            </a:r>
          </a:p>
          <a:p>
            <a:pPr algn="ctr"/>
            <a:r>
              <a:rPr lang="en-US" altLang="zh-CN" sz="1200" dirty="0">
                <a:latin typeface="兰亭黑-简" panose="02000000000000000000" charset="-122"/>
                <a:ea typeface="兰亭黑-简" panose="02000000000000000000" charset="-122"/>
              </a:rPr>
              <a:t>(</a:t>
            </a:r>
            <a:r>
              <a:rPr lang="en-US" altLang="zh-CN" sz="1200" dirty="0" err="1">
                <a:latin typeface="兰亭黑-简" panose="02000000000000000000" charset="-122"/>
                <a:ea typeface="兰亭黑-简" panose="02000000000000000000" charset="-122"/>
                <a:sym typeface="+mn-ea"/>
              </a:rPr>
              <a:t>ipmctl</a:t>
            </a:r>
            <a:r>
              <a:rPr lang="zh-CN" altLang="en-US" sz="1200" dirty="0">
                <a:latin typeface="兰亭黑-简" panose="02000000000000000000" charset="-122"/>
                <a:ea typeface="兰亭黑-简" panose="02000000000000000000" charset="-122"/>
                <a:sym typeface="+mn-ea"/>
              </a:rPr>
              <a:t>工具管理</a:t>
            </a:r>
            <a:r>
              <a:rPr lang="en-US" altLang="zh-CN" sz="1200" dirty="0">
                <a:latin typeface="兰亭黑-简" panose="02000000000000000000" charset="-122"/>
                <a:ea typeface="兰亭黑-简" panose="02000000000000000000" charset="-122"/>
              </a:rPr>
              <a:t>)</a:t>
            </a:r>
          </a:p>
        </p:txBody>
      </p:sp>
      <p:sp>
        <p:nvSpPr>
          <p:cNvPr id="32" name="文本框 31">
            <a:extLst>
              <a:ext uri="{FF2B5EF4-FFF2-40B4-BE49-F238E27FC236}">
                <a16:creationId xmlns:a16="http://schemas.microsoft.com/office/drawing/2014/main" id="{08C17F63-380D-224D-ABE3-8341F67260B2}"/>
              </a:ext>
            </a:extLst>
          </p:cNvPr>
          <p:cNvSpPr txBox="1"/>
          <p:nvPr/>
        </p:nvSpPr>
        <p:spPr>
          <a:xfrm>
            <a:off x="6660991" y="4644594"/>
            <a:ext cx="2853690" cy="1064522"/>
          </a:xfrm>
          <a:prstGeom prst="rect">
            <a:avLst/>
          </a:prstGeom>
          <a:noFill/>
        </p:spPr>
        <p:txBody>
          <a:bodyPr wrap="square" rtlCol="0" anchor="t">
            <a:spAutoFit/>
          </a:bodyPr>
          <a:lstStyle/>
          <a:p>
            <a:pPr algn="l">
              <a:lnSpc>
                <a:spcPct val="150000"/>
              </a:lnSpc>
            </a:pPr>
            <a:r>
              <a:rPr lang="en-US" altLang="zh-CN" sz="1400" b="1" dirty="0">
                <a:latin typeface="兰亭黑-简" panose="02000000000000000000" charset="-122"/>
                <a:ea typeface="兰亭黑-简" panose="02000000000000000000" charset="-122"/>
                <a:sym typeface="+mn-ea"/>
              </a:rPr>
              <a:t>memory mode</a:t>
            </a:r>
            <a:r>
              <a:rPr lang="zh-CN" altLang="en-US" sz="1200" dirty="0">
                <a:latin typeface="兰亭黑-简" panose="02000000000000000000" charset="-122"/>
                <a:ea typeface="兰亭黑-简" panose="02000000000000000000" charset="-122"/>
                <a:sym typeface="+mn-ea"/>
              </a:rPr>
              <a:t>（可配百分比）</a:t>
            </a:r>
            <a:endParaRPr lang="en-US" altLang="zh-CN" sz="1400" b="1" dirty="0">
              <a:latin typeface="兰亭黑-简" panose="02000000000000000000" charset="-122"/>
              <a:ea typeface="兰亭黑-简" panose="02000000000000000000" charset="-122"/>
              <a:sym typeface="+mn-ea"/>
            </a:endParaRPr>
          </a:p>
          <a:p>
            <a:pPr algn="l">
              <a:lnSpc>
                <a:spcPct val="150000"/>
              </a:lnSpc>
            </a:pPr>
            <a:r>
              <a:rPr lang="en-US" altLang="zh-CN" sz="1400" b="1" dirty="0">
                <a:latin typeface="兰亭黑-简" panose="02000000000000000000" charset="-122"/>
                <a:ea typeface="兰亭黑-简" panose="02000000000000000000" charset="-122"/>
                <a:sym typeface="+mn-ea"/>
              </a:rPr>
              <a:t>app direct </a:t>
            </a:r>
            <a:r>
              <a:rPr lang="en-US" altLang="zh-CN" sz="1200" dirty="0">
                <a:latin typeface="兰亭黑-简" panose="02000000000000000000" charset="-122"/>
                <a:ea typeface="兰亭黑-简" panose="02000000000000000000" charset="-122"/>
                <a:sym typeface="+mn-ea"/>
              </a:rPr>
              <a:t>(interleaved)</a:t>
            </a:r>
          </a:p>
          <a:p>
            <a:pPr algn="l">
              <a:lnSpc>
                <a:spcPct val="150000"/>
              </a:lnSpc>
            </a:pPr>
            <a:r>
              <a:rPr lang="en-US" altLang="zh-CN" sz="1400" b="1" dirty="0">
                <a:latin typeface="兰亭黑-简" panose="02000000000000000000" charset="-122"/>
                <a:ea typeface="兰亭黑-简" panose="02000000000000000000" charset="-122"/>
              </a:rPr>
              <a:t>app direct </a:t>
            </a:r>
            <a:r>
              <a:rPr lang="en-US" altLang="zh-CN" sz="1200" dirty="0">
                <a:latin typeface="兰亭黑-简" panose="02000000000000000000" charset="-122"/>
                <a:ea typeface="兰亭黑-简" panose="02000000000000000000" charset="-122"/>
              </a:rPr>
              <a:t>(not interleaved)</a:t>
            </a:r>
          </a:p>
        </p:txBody>
      </p:sp>
      <p:sp>
        <p:nvSpPr>
          <p:cNvPr id="33" name="左大括号 32">
            <a:extLst>
              <a:ext uri="{FF2B5EF4-FFF2-40B4-BE49-F238E27FC236}">
                <a16:creationId xmlns:a16="http://schemas.microsoft.com/office/drawing/2014/main" id="{A526EFFC-8362-D046-80A3-D752C775BC14}"/>
              </a:ext>
            </a:extLst>
          </p:cNvPr>
          <p:cNvSpPr/>
          <p:nvPr/>
        </p:nvSpPr>
        <p:spPr>
          <a:xfrm>
            <a:off x="6573361" y="4723800"/>
            <a:ext cx="99060" cy="949325"/>
          </a:xfrm>
          <a:prstGeom prst="leftBrace">
            <a:avLst>
              <a:gd name="adj1" fmla="val 133067"/>
              <a:gd name="adj2" fmla="val 50000"/>
            </a:avLst>
          </a:prstGeom>
          <a:ln w="28575">
            <a:solidFill>
              <a:srgbClr val="2DB7C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600">
              <a:solidFill>
                <a:srgbClr val="2DB7C2"/>
              </a:solidFill>
            </a:endParaRPr>
          </a:p>
        </p:txBody>
      </p:sp>
      <p:sp>
        <p:nvSpPr>
          <p:cNvPr id="34" name="文本框 33">
            <a:extLst>
              <a:ext uri="{FF2B5EF4-FFF2-40B4-BE49-F238E27FC236}">
                <a16:creationId xmlns:a16="http://schemas.microsoft.com/office/drawing/2014/main" id="{CA2D66FD-7C18-2740-9C9B-AF75A12646BA}"/>
              </a:ext>
            </a:extLst>
          </p:cNvPr>
          <p:cNvSpPr txBox="1"/>
          <p:nvPr/>
        </p:nvSpPr>
        <p:spPr>
          <a:xfrm>
            <a:off x="5143342" y="3314725"/>
            <a:ext cx="2476500" cy="338554"/>
          </a:xfrm>
          <a:prstGeom prst="rect">
            <a:avLst/>
          </a:prstGeom>
          <a:noFill/>
        </p:spPr>
        <p:txBody>
          <a:bodyPr wrap="square" rtlCol="0">
            <a:spAutoFit/>
          </a:bodyPr>
          <a:lstStyle/>
          <a:p>
            <a:pPr algn="ctr"/>
            <a:r>
              <a:rPr lang="zh-CN" altLang="en-US" sz="1600" b="1" dirty="0">
                <a:latin typeface="兰亭黑-简" panose="02000000000000000000" charset="-122"/>
                <a:ea typeface="兰亭黑-简" panose="02000000000000000000" charset="-122"/>
              </a:rPr>
              <a:t>多种</a:t>
            </a:r>
            <a:r>
              <a:rPr lang="en-US" altLang="zh-CN" sz="1600" b="1" dirty="0">
                <a:latin typeface="兰亭黑-简" panose="02000000000000000000" charset="-122"/>
                <a:ea typeface="兰亭黑-简" panose="02000000000000000000" charset="-122"/>
              </a:rPr>
              <a:t>namespace</a:t>
            </a:r>
            <a:r>
              <a:rPr lang="zh-CN" altLang="en-US" sz="1600" b="1" dirty="0">
                <a:latin typeface="兰亭黑-简" panose="02000000000000000000" charset="-122"/>
                <a:ea typeface="兰亭黑-简" panose="02000000000000000000" charset="-122"/>
              </a:rPr>
              <a:t>驱动</a:t>
            </a:r>
            <a:r>
              <a:rPr lang="en-US" altLang="zh-CN" sz="1600" b="1" dirty="0">
                <a:latin typeface="兰亭黑-简" panose="02000000000000000000" charset="-122"/>
                <a:ea typeface="兰亭黑-简" panose="02000000000000000000" charset="-122"/>
              </a:rPr>
              <a:t>:</a:t>
            </a:r>
            <a:endParaRPr lang="en-US" altLang="zh-CN" sz="1200" b="1" dirty="0">
              <a:latin typeface="兰亭黑-简" panose="02000000000000000000" charset="-122"/>
              <a:ea typeface="兰亭黑-简" panose="02000000000000000000" charset="-122"/>
            </a:endParaRPr>
          </a:p>
        </p:txBody>
      </p:sp>
      <p:sp>
        <p:nvSpPr>
          <p:cNvPr id="35" name="文本框 34">
            <a:extLst>
              <a:ext uri="{FF2B5EF4-FFF2-40B4-BE49-F238E27FC236}">
                <a16:creationId xmlns:a16="http://schemas.microsoft.com/office/drawing/2014/main" id="{C860DE65-AC69-2F4B-9C40-A8D5ACB0AC7E}"/>
              </a:ext>
            </a:extLst>
          </p:cNvPr>
          <p:cNvSpPr txBox="1"/>
          <p:nvPr/>
        </p:nvSpPr>
        <p:spPr>
          <a:xfrm>
            <a:off x="7196839" y="3138395"/>
            <a:ext cx="2258695" cy="738664"/>
          </a:xfrm>
          <a:prstGeom prst="rect">
            <a:avLst/>
          </a:prstGeom>
          <a:noFill/>
        </p:spPr>
        <p:txBody>
          <a:bodyPr wrap="square" rtlCol="0">
            <a:spAutoFit/>
          </a:bodyPr>
          <a:lstStyle/>
          <a:p>
            <a:pPr algn="ctr"/>
            <a:r>
              <a:rPr lang="zh-CN" altLang="en-US" sz="1400" b="1" dirty="0">
                <a:latin typeface="兰亭黑-简" panose="02000000000000000000" charset="-122"/>
                <a:ea typeface="兰亭黑-简" panose="02000000000000000000" charset="-122"/>
              </a:rPr>
              <a:t>devdax</a:t>
            </a:r>
            <a:r>
              <a:rPr lang="en-US" altLang="zh-CN" sz="1400" b="1" dirty="0">
                <a:latin typeface="兰亭黑-简" panose="02000000000000000000" charset="-122"/>
                <a:ea typeface="兰亭黑-简" panose="02000000000000000000" charset="-122"/>
              </a:rPr>
              <a:t>, </a:t>
            </a:r>
            <a:r>
              <a:rPr lang="zh-CN" altLang="en-US" sz="1400" b="1" dirty="0">
                <a:latin typeface="兰亭黑-简" panose="02000000000000000000" charset="-122"/>
                <a:ea typeface="兰亭黑-简" panose="02000000000000000000" charset="-122"/>
              </a:rPr>
              <a:t>fsdax</a:t>
            </a:r>
            <a:r>
              <a:rPr lang="en-US" altLang="zh-CN" sz="1400" b="1" dirty="0">
                <a:latin typeface="兰亭黑-简" panose="02000000000000000000" charset="-122"/>
                <a:ea typeface="兰亭黑-简" panose="02000000000000000000" charset="-122"/>
              </a:rPr>
              <a:t>, </a:t>
            </a:r>
          </a:p>
          <a:p>
            <a:pPr algn="ctr"/>
            <a:r>
              <a:rPr lang="zh-CN" altLang="en-US" sz="1400" b="1" dirty="0">
                <a:latin typeface="兰亭黑-简" panose="02000000000000000000" charset="-122"/>
                <a:ea typeface="兰亭黑-简" panose="02000000000000000000" charset="-122"/>
              </a:rPr>
              <a:t>sector</a:t>
            </a:r>
            <a:r>
              <a:rPr lang="en-US" altLang="zh-CN" sz="1400" b="1" dirty="0">
                <a:latin typeface="兰亭黑-简" panose="02000000000000000000" charset="-122"/>
                <a:ea typeface="兰亭黑-简" panose="02000000000000000000" charset="-122"/>
              </a:rPr>
              <a:t>, </a:t>
            </a:r>
            <a:r>
              <a:rPr lang="zh-CN" altLang="en-US" sz="1400" b="1" dirty="0">
                <a:latin typeface="兰亭黑-简" panose="02000000000000000000" charset="-122"/>
                <a:ea typeface="兰亭黑-简" panose="02000000000000000000" charset="-122"/>
              </a:rPr>
              <a:t>raw</a:t>
            </a:r>
            <a:r>
              <a:rPr lang="en-US" altLang="zh-CN" sz="1400" b="1" dirty="0">
                <a:latin typeface="兰亭黑-简" panose="02000000000000000000" charset="-122"/>
                <a:ea typeface="兰亭黑-简" panose="02000000000000000000" charset="-122"/>
              </a:rPr>
              <a:t>, </a:t>
            </a:r>
            <a:r>
              <a:rPr lang="zh-CN" altLang="en-US" sz="1400" b="1" dirty="0">
                <a:latin typeface="兰亭黑-简" panose="02000000000000000000" charset="-122"/>
                <a:ea typeface="兰亭黑-简" panose="02000000000000000000" charset="-122"/>
              </a:rPr>
              <a:t>kmem</a:t>
            </a:r>
          </a:p>
          <a:p>
            <a:pPr algn="ctr"/>
            <a:r>
              <a:rPr lang="en-US" altLang="zh-CN" sz="1400" b="1" dirty="0">
                <a:latin typeface="兰亭黑-简" panose="02000000000000000000" charset="-122"/>
                <a:ea typeface="兰亭黑-简" panose="02000000000000000000" charset="-122"/>
              </a:rPr>
              <a:t>....</a:t>
            </a:r>
          </a:p>
        </p:txBody>
      </p:sp>
      <p:sp>
        <p:nvSpPr>
          <p:cNvPr id="36" name="文本框 35">
            <a:extLst>
              <a:ext uri="{FF2B5EF4-FFF2-40B4-BE49-F238E27FC236}">
                <a16:creationId xmlns:a16="http://schemas.microsoft.com/office/drawing/2014/main" id="{3C717985-E596-2142-9E3D-9F840657A6EB}"/>
              </a:ext>
            </a:extLst>
          </p:cNvPr>
          <p:cNvSpPr txBox="1"/>
          <p:nvPr/>
        </p:nvSpPr>
        <p:spPr>
          <a:xfrm>
            <a:off x="5067776" y="4071280"/>
            <a:ext cx="4107815" cy="523220"/>
          </a:xfrm>
          <a:prstGeom prst="rect">
            <a:avLst/>
          </a:prstGeom>
          <a:noFill/>
        </p:spPr>
        <p:txBody>
          <a:bodyPr wrap="square" rtlCol="0">
            <a:spAutoFit/>
          </a:bodyPr>
          <a:lstStyle/>
          <a:p>
            <a:pPr algn="ctr"/>
            <a:r>
              <a:rPr lang="zh-CN" altLang="en-US" sz="1600" b="1" dirty="0">
                <a:latin typeface="兰亭黑-简" panose="02000000000000000000" charset="-122"/>
                <a:ea typeface="兰亭黑-简" panose="02000000000000000000" charset="-122"/>
              </a:rPr>
              <a:t>对</a:t>
            </a:r>
            <a:r>
              <a:rPr lang="en-US" altLang="zh-CN" sz="1600" b="1" dirty="0">
                <a:latin typeface="兰亭黑-简" panose="02000000000000000000" charset="-122"/>
                <a:ea typeface="兰亭黑-简" panose="02000000000000000000" charset="-122"/>
              </a:rPr>
              <a:t>app-direct region</a:t>
            </a:r>
            <a:r>
              <a:rPr lang="zh-CN" altLang="en-US" sz="1600" b="1" dirty="0">
                <a:latin typeface="兰亭黑-简" panose="02000000000000000000" charset="-122"/>
                <a:ea typeface="兰亭黑-简" panose="02000000000000000000" charset="-122"/>
              </a:rPr>
              <a:t>可分</a:t>
            </a:r>
            <a:r>
              <a:rPr lang="en-US" altLang="zh-CN" sz="1600" b="1" dirty="0">
                <a:latin typeface="兰亭黑-简" panose="02000000000000000000" charset="-122"/>
                <a:ea typeface="兰亭黑-简" panose="02000000000000000000" charset="-122"/>
              </a:rPr>
              <a:t>namespace</a:t>
            </a:r>
          </a:p>
          <a:p>
            <a:pPr algn="ctr"/>
            <a:r>
              <a:rPr lang="en-US" altLang="zh-CN" sz="1200" dirty="0">
                <a:latin typeface="兰亭黑-简" panose="02000000000000000000" charset="-122"/>
                <a:ea typeface="兰亭黑-简" panose="02000000000000000000" charset="-122"/>
              </a:rPr>
              <a:t>(</a:t>
            </a:r>
            <a:r>
              <a:rPr lang="zh-CN" altLang="en-US" sz="1200" dirty="0">
                <a:latin typeface="兰亭黑-简" panose="02000000000000000000" charset="-122"/>
                <a:ea typeface="兰亭黑-简" panose="02000000000000000000" charset="-122"/>
              </a:rPr>
              <a:t>与磁盘分区概念类似</a:t>
            </a:r>
            <a:r>
              <a:rPr lang="en-US" altLang="zh-CN" sz="1200" dirty="0">
                <a:latin typeface="兰亭黑-简" panose="02000000000000000000" charset="-122"/>
                <a:ea typeface="兰亭黑-简" panose="02000000000000000000" charset="-122"/>
              </a:rPr>
              <a:t>)</a:t>
            </a:r>
          </a:p>
        </p:txBody>
      </p:sp>
      <p:sp>
        <p:nvSpPr>
          <p:cNvPr id="37" name="文本框 36">
            <a:extLst>
              <a:ext uri="{FF2B5EF4-FFF2-40B4-BE49-F238E27FC236}">
                <a16:creationId xmlns:a16="http://schemas.microsoft.com/office/drawing/2014/main" id="{A8DAC701-B1F3-1240-9A55-D613BF9BB13F}"/>
              </a:ext>
            </a:extLst>
          </p:cNvPr>
          <p:cNvSpPr txBox="1"/>
          <p:nvPr/>
        </p:nvSpPr>
        <p:spPr>
          <a:xfrm>
            <a:off x="4934744" y="2231318"/>
            <a:ext cx="3538855" cy="769441"/>
          </a:xfrm>
          <a:prstGeom prst="rect">
            <a:avLst/>
          </a:prstGeom>
          <a:noFill/>
        </p:spPr>
        <p:txBody>
          <a:bodyPr wrap="square" rtlCol="0">
            <a:spAutoFit/>
          </a:bodyPr>
          <a:lstStyle/>
          <a:p>
            <a:pPr algn="ctr"/>
            <a:r>
              <a:rPr lang="zh-CN" altLang="en-US" sz="1600" b="1">
                <a:latin typeface="兰亭黑-简" panose="02000000000000000000" charset="-122"/>
                <a:ea typeface="兰亭黑-简" panose="02000000000000000000" charset="-122"/>
              </a:rPr>
              <a:t>对</a:t>
            </a:r>
            <a:r>
              <a:rPr lang="en-US" altLang="zh-CN" sz="1600" b="1">
                <a:latin typeface="兰亭黑-简" panose="02000000000000000000" charset="-122"/>
                <a:ea typeface="兰亭黑-简" panose="02000000000000000000" charset="-122"/>
              </a:rPr>
              <a:t>fsdax namespace</a:t>
            </a:r>
            <a:r>
              <a:rPr lang="zh-CN" altLang="en-US" sz="1600" b="1">
                <a:latin typeface="兰亭黑-简" panose="02000000000000000000" charset="-122"/>
                <a:ea typeface="兰亭黑-简" panose="02000000000000000000" charset="-122"/>
              </a:rPr>
              <a:t>可以格式化</a:t>
            </a:r>
          </a:p>
          <a:p>
            <a:pPr algn="ctr"/>
            <a:r>
              <a:rPr lang="en-US" altLang="zh-CN" sz="1600" b="1">
                <a:latin typeface="兰亭黑-简" panose="02000000000000000000" charset="-122"/>
                <a:ea typeface="兰亭黑-简" panose="02000000000000000000" charset="-122"/>
              </a:rPr>
              <a:t>PM-aware File System</a:t>
            </a:r>
          </a:p>
          <a:p>
            <a:pPr algn="ctr"/>
            <a:r>
              <a:rPr lang="en-US" altLang="zh-CN" sz="1200">
                <a:latin typeface="兰亭黑-简" panose="02000000000000000000" charset="-122"/>
                <a:ea typeface="兰亭黑-简" panose="02000000000000000000" charset="-122"/>
              </a:rPr>
              <a:t>(ext4, XFS</a:t>
            </a:r>
            <a:r>
              <a:rPr lang="zh-CN" altLang="en-US" sz="1200">
                <a:latin typeface="兰亭黑-简" panose="02000000000000000000" charset="-122"/>
                <a:ea typeface="兰亭黑-简" panose="02000000000000000000" charset="-122"/>
              </a:rPr>
              <a:t>已经支持</a:t>
            </a:r>
            <a:r>
              <a:rPr lang="en-US" altLang="zh-CN" sz="1200">
                <a:latin typeface="兰亭黑-简" panose="02000000000000000000" charset="-122"/>
                <a:ea typeface="兰亭黑-简" panose="02000000000000000000" charset="-122"/>
              </a:rPr>
              <a:t>)</a:t>
            </a:r>
          </a:p>
        </p:txBody>
      </p:sp>
      <p:sp>
        <p:nvSpPr>
          <p:cNvPr id="38" name="文本框 37">
            <a:extLst>
              <a:ext uri="{FF2B5EF4-FFF2-40B4-BE49-F238E27FC236}">
                <a16:creationId xmlns:a16="http://schemas.microsoft.com/office/drawing/2014/main" id="{EF7AFC7C-5403-734F-95F3-F4880C263E50}"/>
              </a:ext>
            </a:extLst>
          </p:cNvPr>
          <p:cNvSpPr txBox="1"/>
          <p:nvPr/>
        </p:nvSpPr>
        <p:spPr>
          <a:xfrm>
            <a:off x="5044599" y="1355018"/>
            <a:ext cx="3156585" cy="584775"/>
          </a:xfrm>
          <a:prstGeom prst="rect">
            <a:avLst/>
          </a:prstGeom>
          <a:noFill/>
        </p:spPr>
        <p:txBody>
          <a:bodyPr wrap="square" rtlCol="0">
            <a:spAutoFit/>
          </a:bodyPr>
          <a:lstStyle/>
          <a:p>
            <a:pPr algn="ctr"/>
            <a:r>
              <a:rPr lang="zh-CN" altLang="en-US" sz="1600" b="1">
                <a:latin typeface="兰亭黑-简" panose="02000000000000000000" charset="-122"/>
                <a:ea typeface="兰亭黑-简" panose="02000000000000000000" charset="-122"/>
              </a:rPr>
              <a:t>可以直接利用</a:t>
            </a:r>
            <a:r>
              <a:rPr lang="en-US" altLang="zh-CN" sz="1600" b="1">
                <a:latin typeface="兰亭黑-简" panose="02000000000000000000" charset="-122"/>
                <a:ea typeface="兰亭黑-简" panose="02000000000000000000" charset="-122"/>
              </a:rPr>
              <a:t>PM-aware FS</a:t>
            </a:r>
            <a:endParaRPr lang="zh-CN" altLang="en-US" sz="1600" b="1">
              <a:latin typeface="兰亭黑-简" panose="02000000000000000000" charset="-122"/>
              <a:ea typeface="兰亭黑-简" panose="02000000000000000000" charset="-122"/>
            </a:endParaRPr>
          </a:p>
          <a:p>
            <a:pPr algn="ctr"/>
            <a:r>
              <a:rPr lang="zh-CN" altLang="en-US" sz="1600" b="1">
                <a:latin typeface="兰亭黑-简" panose="02000000000000000000" charset="-122"/>
                <a:ea typeface="兰亭黑-简" panose="02000000000000000000" charset="-122"/>
              </a:rPr>
              <a:t>或更上层的</a:t>
            </a:r>
            <a:r>
              <a:rPr lang="en-US" altLang="zh-CN" sz="1600" b="1">
                <a:latin typeface="兰亭黑-简" panose="02000000000000000000" charset="-122"/>
                <a:ea typeface="兰亭黑-简" panose="02000000000000000000" charset="-122"/>
              </a:rPr>
              <a:t>PMDK</a:t>
            </a:r>
            <a:r>
              <a:rPr lang="zh-CN" altLang="en-US" sz="1600" b="1">
                <a:latin typeface="兰亭黑-简" panose="02000000000000000000" charset="-122"/>
                <a:ea typeface="兰亭黑-简" panose="02000000000000000000" charset="-122"/>
              </a:rPr>
              <a:t>封装</a:t>
            </a:r>
          </a:p>
        </p:txBody>
      </p:sp>
    </p:spTree>
    <p:extLst>
      <p:ext uri="{BB962C8B-B14F-4D97-AF65-F5344CB8AC3E}">
        <p14:creationId xmlns:p14="http://schemas.microsoft.com/office/powerpoint/2010/main" val="2387718295"/>
      </p:ext>
    </p:extLst>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p>
        </p:txBody>
      </p:sp>
      <p:sp>
        <p:nvSpPr>
          <p:cNvPr id="7" name="文本框 6"/>
          <p:cNvSpPr txBox="1"/>
          <p:nvPr/>
        </p:nvSpPr>
        <p:spPr>
          <a:xfrm>
            <a:off x="654258" y="615175"/>
            <a:ext cx="5289342" cy="461665"/>
          </a:xfrm>
          <a:prstGeom prst="rect">
            <a:avLst/>
          </a:prstGeom>
          <a:noFill/>
        </p:spPr>
        <p:txBody>
          <a:bodyPr wrap="square" rtlCol="0">
            <a:spAutoFit/>
          </a:bodyPr>
          <a:lstStyle/>
          <a:p>
            <a:r>
              <a:rPr kumimoji="1" lang="en-US" altLang="zh-CN" sz="2400" dirty="0">
                <a:latin typeface="Microsoft YaHei" charset="-122"/>
                <a:ea typeface="Microsoft YaHei" charset="-122"/>
                <a:cs typeface="Microsoft YaHei" charset="-122"/>
              </a:rPr>
              <a:t>PM</a:t>
            </a:r>
            <a:r>
              <a:rPr kumimoji="1" lang="zh-CN" altLang="en-US" sz="2400" dirty="0">
                <a:latin typeface="Microsoft YaHei" charset="-122"/>
                <a:ea typeface="Microsoft YaHei" charset="-122"/>
                <a:cs typeface="Microsoft YaHei" charset="-122"/>
              </a:rPr>
              <a:t>存储系统设计问题 </a:t>
            </a:r>
            <a:r>
              <a:rPr kumimoji="1" lang="mr-IN" altLang="zh-CN" sz="2400" dirty="0">
                <a:latin typeface="Microsoft YaHei" charset="-122"/>
                <a:ea typeface="Microsoft YaHei" charset="-122"/>
                <a:cs typeface="Microsoft YaHei" charset="-122"/>
              </a:rPr>
              <a:t>–</a:t>
            </a:r>
            <a:r>
              <a:rPr kumimoji="1" lang="zh-CN" altLang="en-US" sz="2400" dirty="0">
                <a:latin typeface="Microsoft YaHei" charset="-122"/>
                <a:ea typeface="Microsoft YaHei" charset="-122"/>
                <a:cs typeface="Microsoft YaHei" charset="-122"/>
              </a:rPr>
              <a:t> 更多样的用法</a:t>
            </a:r>
            <a:endParaRPr kumimoji="1" lang="en-US" altLang="zh-CN" sz="2400" dirty="0">
              <a:latin typeface="Microsoft YaHei" charset="-122"/>
              <a:ea typeface="Microsoft YaHei" charset="-122"/>
              <a:cs typeface="Microsoft YaHei" charset="-122"/>
            </a:endParaRPr>
          </a:p>
        </p:txBody>
      </p:sp>
      <p:graphicFrame>
        <p:nvGraphicFramePr>
          <p:cNvPr id="28" name="表格 27">
            <a:extLst>
              <a:ext uri="{FF2B5EF4-FFF2-40B4-BE49-F238E27FC236}">
                <a16:creationId xmlns:a16="http://schemas.microsoft.com/office/drawing/2014/main" id="{D5DB2ACA-0797-B342-A00A-68A80E78A855}"/>
              </a:ext>
            </a:extLst>
          </p:cNvPr>
          <p:cNvGraphicFramePr/>
          <p:nvPr/>
        </p:nvGraphicFramePr>
        <p:xfrm>
          <a:off x="0" y="1315233"/>
          <a:ext cx="8823255" cy="4384106"/>
        </p:xfrm>
        <a:graphic>
          <a:graphicData uri="http://schemas.openxmlformats.org/drawingml/2006/table">
            <a:tbl>
              <a:tblPr firstRow="1" bandRow="1">
                <a:tableStyleId>{2D5ABB26-0587-4C30-8999-92F81FD0307C}</a:tableStyleId>
              </a:tblPr>
              <a:tblGrid>
                <a:gridCol w="1523711">
                  <a:extLst>
                    <a:ext uri="{9D8B030D-6E8A-4147-A177-3AD203B41FA5}">
                      <a16:colId xmlns:a16="http://schemas.microsoft.com/office/drawing/2014/main" val="20000"/>
                    </a:ext>
                  </a:extLst>
                </a:gridCol>
                <a:gridCol w="1137196">
                  <a:extLst>
                    <a:ext uri="{9D8B030D-6E8A-4147-A177-3AD203B41FA5}">
                      <a16:colId xmlns:a16="http://schemas.microsoft.com/office/drawing/2014/main" val="20001"/>
                    </a:ext>
                  </a:extLst>
                </a:gridCol>
                <a:gridCol w="1137196">
                  <a:extLst>
                    <a:ext uri="{9D8B030D-6E8A-4147-A177-3AD203B41FA5}">
                      <a16:colId xmlns:a16="http://schemas.microsoft.com/office/drawing/2014/main" val="20002"/>
                    </a:ext>
                  </a:extLst>
                </a:gridCol>
                <a:gridCol w="1136720">
                  <a:extLst>
                    <a:ext uri="{9D8B030D-6E8A-4147-A177-3AD203B41FA5}">
                      <a16:colId xmlns:a16="http://schemas.microsoft.com/office/drawing/2014/main" val="20003"/>
                    </a:ext>
                  </a:extLst>
                </a:gridCol>
                <a:gridCol w="1137196">
                  <a:extLst>
                    <a:ext uri="{9D8B030D-6E8A-4147-A177-3AD203B41FA5}">
                      <a16:colId xmlns:a16="http://schemas.microsoft.com/office/drawing/2014/main" val="20004"/>
                    </a:ext>
                  </a:extLst>
                </a:gridCol>
                <a:gridCol w="1137196">
                  <a:extLst>
                    <a:ext uri="{9D8B030D-6E8A-4147-A177-3AD203B41FA5}">
                      <a16:colId xmlns:a16="http://schemas.microsoft.com/office/drawing/2014/main" val="20005"/>
                    </a:ext>
                  </a:extLst>
                </a:gridCol>
                <a:gridCol w="1614040">
                  <a:extLst>
                    <a:ext uri="{9D8B030D-6E8A-4147-A177-3AD203B41FA5}">
                      <a16:colId xmlns:a16="http://schemas.microsoft.com/office/drawing/2014/main" val="20006"/>
                    </a:ext>
                  </a:extLst>
                </a:gridCol>
              </a:tblGrid>
              <a:tr h="1514677">
                <a:tc>
                  <a:txBody>
                    <a:bodyPr/>
                    <a:lstStyle/>
                    <a:p>
                      <a:pPr algn="ctr">
                        <a:buNone/>
                      </a:pPr>
                      <a:endParaRPr lang="zh-CN" altLang="en-US" sz="1800" dirty="0"/>
                    </a:p>
                  </a:txBody>
                  <a:tcPr marL="68459" marR="68459" marT="34230" marB="34230"/>
                </a:tc>
                <a:tc>
                  <a:txBody>
                    <a:bodyPr/>
                    <a:lstStyle/>
                    <a:p>
                      <a:pPr algn="ctr">
                        <a:buNone/>
                      </a:pPr>
                      <a:r>
                        <a:rPr lang="en-US" altLang="zh-CN" sz="1600" b="1">
                          <a:latin typeface="兰亭黑-简" panose="02000000000000000000" charset="-122"/>
                          <a:ea typeface="兰亭黑-简" panose="02000000000000000000" charset="-122"/>
                        </a:rPr>
                        <a:t>memory-mode</a:t>
                      </a:r>
                      <a:endParaRPr lang="en-US" altLang="zh-CN" sz="1600">
                        <a:latin typeface="兰亭黑-简" panose="02000000000000000000" charset="-122"/>
                        <a:ea typeface="兰亭黑-简" panose="02000000000000000000" charset="-122"/>
                      </a:endParaRPr>
                    </a:p>
                    <a:p>
                      <a:pPr algn="ctr">
                        <a:buNone/>
                      </a:pPr>
                      <a:endParaRPr lang="en-US" altLang="zh-CN" sz="1600">
                        <a:latin typeface="兰亭黑-简" panose="02000000000000000000" charset="-122"/>
                        <a:ea typeface="兰亭黑-简" panose="02000000000000000000" charset="-122"/>
                      </a:endParaRPr>
                    </a:p>
                  </a:txBody>
                  <a:tcPr marL="68459" marR="68459" marT="34230" marB="34230" anchor="b">
                    <a:lnB w="28575">
                      <a:solidFill>
                        <a:schemeClr val="tx1"/>
                      </a:solidFill>
                      <a:prstDash val="solid"/>
                    </a:lnB>
                  </a:tcPr>
                </a:tc>
                <a:tc>
                  <a:txBody>
                    <a:bodyPr/>
                    <a:lstStyle/>
                    <a:p>
                      <a:pPr algn="ctr">
                        <a:buNone/>
                      </a:pPr>
                      <a:r>
                        <a:rPr lang="en-US" altLang="zh-CN" sz="1600" b="1">
                          <a:latin typeface="兰亭黑-简" panose="02000000000000000000" charset="-122"/>
                          <a:ea typeface="兰亭黑-简" panose="02000000000000000000" charset="-122"/>
                        </a:rPr>
                        <a:t>app-direct</a:t>
                      </a:r>
                      <a:endParaRPr lang="zh-CN" altLang="en-US" sz="1600">
                        <a:latin typeface="兰亭黑-简" panose="02000000000000000000" charset="-122"/>
                        <a:ea typeface="兰亭黑-简" panose="02000000000000000000" charset="-122"/>
                      </a:endParaRPr>
                    </a:p>
                    <a:p>
                      <a:pPr algn="ctr">
                        <a:buNone/>
                      </a:pPr>
                      <a:r>
                        <a:rPr lang="zh-CN" altLang="en-US" sz="1200">
                          <a:latin typeface="兰亭黑-简" panose="02000000000000000000" charset="-122"/>
                          <a:ea typeface="兰亭黑-简" panose="02000000000000000000" charset="-122"/>
                        </a:rPr>
                        <a:t>作单独</a:t>
                      </a:r>
                      <a:r>
                        <a:rPr lang="en-US" altLang="zh-CN" sz="1200">
                          <a:latin typeface="兰亭黑-简" panose="02000000000000000000" charset="-122"/>
                          <a:ea typeface="兰亭黑-简" panose="02000000000000000000" charset="-122"/>
                        </a:rPr>
                        <a:t>numa node</a:t>
                      </a:r>
                      <a:r>
                        <a:rPr lang="zh-CN" altLang="en-US" sz="1200">
                          <a:latin typeface="兰亭黑-简" panose="02000000000000000000" charset="-122"/>
                          <a:ea typeface="兰亭黑-简" panose="02000000000000000000" charset="-122"/>
                        </a:rPr>
                        <a:t>内存</a:t>
                      </a:r>
                    </a:p>
                  </a:txBody>
                  <a:tcPr marL="68459" marR="68459" marT="34230" marB="34230" anchor="b">
                    <a:lnB w="28575">
                      <a:solidFill>
                        <a:schemeClr val="tx1"/>
                      </a:solidFill>
                      <a:prstDash val="solid"/>
                    </a:lnB>
                  </a:tcPr>
                </a:tc>
                <a:tc>
                  <a:txBody>
                    <a:bodyPr/>
                    <a:lstStyle/>
                    <a:p>
                      <a:pPr algn="ctr">
                        <a:buNone/>
                      </a:pPr>
                      <a:r>
                        <a:rPr lang="en-US" altLang="zh-CN" sz="1600" b="1">
                          <a:latin typeface="兰亭黑-简" panose="02000000000000000000" charset="-122"/>
                          <a:ea typeface="兰亭黑-简" panose="02000000000000000000" charset="-122"/>
                        </a:rPr>
                        <a:t>app-direct</a:t>
                      </a:r>
                      <a:endParaRPr lang="en-US" altLang="zh-CN" sz="1600">
                        <a:latin typeface="兰亭黑-简" panose="02000000000000000000" charset="-122"/>
                        <a:ea typeface="兰亭黑-简" panose="02000000000000000000" charset="-122"/>
                      </a:endParaRPr>
                    </a:p>
                    <a:p>
                      <a:pPr algn="ctr">
                        <a:buNone/>
                      </a:pPr>
                      <a:r>
                        <a:rPr lang="zh-CN" altLang="en-US" sz="1200">
                          <a:latin typeface="兰亭黑-简" panose="02000000000000000000" charset="-122"/>
                          <a:ea typeface="兰亭黑-简" panose="02000000000000000000" charset="-122"/>
                        </a:rPr>
                        <a:t>作传统磁盘</a:t>
                      </a:r>
                    </a:p>
                    <a:p>
                      <a:pPr algn="ctr">
                        <a:buNone/>
                      </a:pPr>
                      <a:endParaRPr lang="zh-CN" altLang="en-US" sz="1200">
                        <a:latin typeface="兰亭黑-简" panose="02000000000000000000" charset="-122"/>
                        <a:ea typeface="兰亭黑-简" panose="02000000000000000000" charset="-122"/>
                      </a:endParaRPr>
                    </a:p>
                  </a:txBody>
                  <a:tcPr marL="68459" marR="68459" marT="34230" marB="34230" anchor="b">
                    <a:lnB w="28575">
                      <a:solidFill>
                        <a:schemeClr val="tx1"/>
                      </a:solidFill>
                      <a:prstDash val="solid"/>
                    </a:lnB>
                  </a:tcPr>
                </a:tc>
                <a:tc>
                  <a:txBody>
                    <a:bodyPr/>
                    <a:lstStyle/>
                    <a:p>
                      <a:pPr algn="ctr">
                        <a:buNone/>
                      </a:pPr>
                      <a:r>
                        <a:rPr lang="en-US" altLang="zh-CN" sz="1600" b="1" dirty="0">
                          <a:latin typeface="兰亭黑-简" panose="02000000000000000000" charset="-122"/>
                          <a:ea typeface="兰亭黑-简" panose="02000000000000000000" charset="-122"/>
                        </a:rPr>
                        <a:t>app-direct</a:t>
                      </a:r>
                      <a:endParaRPr lang="en-US" altLang="zh-CN" sz="1600" dirty="0">
                        <a:latin typeface="兰亭黑-简" panose="02000000000000000000" charset="-122"/>
                        <a:ea typeface="兰亭黑-简" panose="02000000000000000000" charset="-122"/>
                      </a:endParaRPr>
                    </a:p>
                    <a:p>
                      <a:pPr algn="ctr">
                        <a:buNone/>
                      </a:pPr>
                      <a:r>
                        <a:rPr lang="zh-CN" altLang="en-US" sz="1200" dirty="0">
                          <a:latin typeface="兰亭黑-简" panose="02000000000000000000" charset="-122"/>
                          <a:ea typeface="兰亭黑-简" panose="02000000000000000000" charset="-122"/>
                        </a:rPr>
                        <a:t>作</a:t>
                      </a:r>
                      <a:r>
                        <a:rPr lang="en-US" altLang="zh-CN" sz="1200" dirty="0">
                          <a:latin typeface="兰亭黑-简" panose="02000000000000000000" charset="-122"/>
                          <a:ea typeface="兰亭黑-简" panose="02000000000000000000" charset="-122"/>
                        </a:rPr>
                        <a:t>PM-aware FS</a:t>
                      </a:r>
                    </a:p>
                  </a:txBody>
                  <a:tcPr marL="68459" marR="68459" marT="34230" marB="34230" anchor="b">
                    <a:lnB w="28575">
                      <a:solidFill>
                        <a:schemeClr val="tx1"/>
                      </a:solidFill>
                      <a:prstDash val="solid"/>
                    </a:lnB>
                  </a:tcPr>
                </a:tc>
                <a:tc>
                  <a:txBody>
                    <a:bodyPr/>
                    <a:lstStyle/>
                    <a:p>
                      <a:pPr algn="ctr">
                        <a:buNone/>
                      </a:pPr>
                      <a:r>
                        <a:rPr lang="en-US" altLang="zh-CN" sz="1600" b="1">
                          <a:latin typeface="兰亭黑-简" panose="02000000000000000000" charset="-122"/>
                          <a:ea typeface="兰亭黑-简" panose="02000000000000000000" charset="-122"/>
                        </a:rPr>
                        <a:t>app-direct</a:t>
                      </a:r>
                      <a:endParaRPr lang="en-US" altLang="zh-CN" sz="1600">
                        <a:latin typeface="兰亭黑-简" panose="02000000000000000000" charset="-122"/>
                        <a:ea typeface="兰亭黑-简" panose="02000000000000000000" charset="-122"/>
                      </a:endParaRPr>
                    </a:p>
                    <a:p>
                      <a:pPr algn="ctr">
                        <a:buNone/>
                      </a:pPr>
                      <a:r>
                        <a:rPr lang="zh-CN" altLang="en-US" sz="1200">
                          <a:latin typeface="兰亭黑-简" panose="02000000000000000000" charset="-122"/>
                          <a:ea typeface="兰亭黑-简" panose="02000000000000000000" charset="-122"/>
                        </a:rPr>
                        <a:t>用</a:t>
                      </a:r>
                      <a:r>
                        <a:rPr lang="en-US" altLang="zh-CN" sz="1200">
                          <a:latin typeface="兰亭黑-简" panose="02000000000000000000" charset="-122"/>
                          <a:ea typeface="兰亭黑-简" panose="02000000000000000000" charset="-122"/>
                        </a:rPr>
                        <a:t>PMDK</a:t>
                      </a:r>
                    </a:p>
                    <a:p>
                      <a:pPr algn="ctr">
                        <a:buNone/>
                      </a:pPr>
                      <a:endParaRPr lang="en-US" altLang="zh-CN" sz="1200">
                        <a:latin typeface="兰亭黑-简" panose="02000000000000000000" charset="-122"/>
                        <a:ea typeface="兰亭黑-简" panose="02000000000000000000" charset="-122"/>
                      </a:endParaRPr>
                    </a:p>
                  </a:txBody>
                  <a:tcPr marL="68459" marR="68459" marT="34230" marB="34230" anchor="b">
                    <a:lnB w="28575">
                      <a:solidFill>
                        <a:schemeClr val="tx1"/>
                      </a:solidFill>
                      <a:prstDash val="solid"/>
                    </a:lnB>
                  </a:tcPr>
                </a:tc>
                <a:tc>
                  <a:txBody>
                    <a:bodyPr/>
                    <a:lstStyle/>
                    <a:p>
                      <a:pPr algn="ctr">
                        <a:buNone/>
                      </a:pPr>
                      <a:r>
                        <a:rPr lang="en-US" altLang="zh-CN" sz="1600">
                          <a:latin typeface="兰亭黑-简" panose="02000000000000000000" charset="-122"/>
                          <a:ea typeface="兰亭黑-简" panose="02000000000000000000" charset="-122"/>
                        </a:rPr>
                        <a:t>...</a:t>
                      </a:r>
                    </a:p>
                  </a:txBody>
                  <a:tcPr marL="68459" marR="68459" marT="34230" marB="34230" anchor="b">
                    <a:lnB w="28575">
                      <a:solidFill>
                        <a:schemeClr val="tx1"/>
                      </a:solidFill>
                      <a:prstDash val="solid"/>
                    </a:lnB>
                  </a:tcPr>
                </a:tc>
                <a:extLst>
                  <a:ext uri="{0D108BD9-81ED-4DB2-BD59-A6C34878D82A}">
                    <a16:rowId xmlns:a16="http://schemas.microsoft.com/office/drawing/2014/main" val="10000"/>
                  </a:ext>
                </a:extLst>
              </a:tr>
              <a:tr h="839729">
                <a:tc>
                  <a:txBody>
                    <a:bodyPr/>
                    <a:lstStyle/>
                    <a:p>
                      <a:pPr algn="ctr">
                        <a:buNone/>
                      </a:pPr>
                      <a:r>
                        <a:rPr lang="en-US" altLang="zh-CN" sz="1800" b="1">
                          <a:latin typeface="兰亭黑-简" panose="02000000000000000000" charset="-122"/>
                          <a:ea typeface="兰亭黑-简" panose="02000000000000000000" charset="-122"/>
                        </a:rPr>
                        <a:t>Region</a:t>
                      </a:r>
                    </a:p>
                  </a:txBody>
                  <a:tcPr marL="68459" marR="68459" marT="34230" marB="34230" anchor="ctr"/>
                </a:tc>
                <a:tc>
                  <a:txBody>
                    <a:bodyPr/>
                    <a:lstStyle/>
                    <a:p>
                      <a:pPr algn="ctr">
                        <a:buNone/>
                      </a:pPr>
                      <a:r>
                        <a:rPr lang="en-US" altLang="zh-CN" sz="1600"/>
                        <a:t>memory mode</a:t>
                      </a:r>
                    </a:p>
                    <a:p>
                      <a:pPr algn="ctr">
                        <a:buNone/>
                      </a:pPr>
                      <a:r>
                        <a:rPr lang="en-US" altLang="zh-CN" sz="1000"/>
                        <a:t>(interleaved</a:t>
                      </a:r>
                    </a:p>
                    <a:p>
                      <a:pPr algn="ctr">
                        <a:buNone/>
                      </a:pPr>
                      <a:r>
                        <a:rPr lang="zh-CN" altLang="en-US" sz="1000"/>
                        <a:t>或</a:t>
                      </a:r>
                      <a:r>
                        <a:rPr lang="en-US" altLang="zh-CN" sz="1000"/>
                        <a:t>not interleaved)</a:t>
                      </a:r>
                    </a:p>
                  </a:txBody>
                  <a:tcPr marL="68459" marR="68459" marT="34230" marB="34230" anchor="ctr">
                    <a:lnT w="28575">
                      <a:solidFill>
                        <a:schemeClr val="tx1"/>
                      </a:solidFill>
                      <a:prstDash val="solid"/>
                    </a:lnT>
                    <a:lnB w="12700">
                      <a:solidFill>
                        <a:schemeClr val="tx1"/>
                      </a:solidFill>
                      <a:prstDash val="solid"/>
                    </a:lnB>
                  </a:tcPr>
                </a:tc>
                <a:tc>
                  <a:txBody>
                    <a:bodyPr/>
                    <a:lstStyle/>
                    <a:p>
                      <a:pPr algn="ctr">
                        <a:buNone/>
                      </a:pPr>
                      <a:r>
                        <a:rPr lang="en-US" altLang="zh-CN" sz="1600"/>
                        <a:t>app direct</a:t>
                      </a:r>
                    </a:p>
                  </a:txBody>
                  <a:tcPr marL="68459" marR="68459" marT="34230" marB="34230" anchor="ctr">
                    <a:lnT w="28575">
                      <a:solidFill>
                        <a:schemeClr val="tx1"/>
                      </a:solidFill>
                      <a:prstDash val="solid"/>
                    </a:lnT>
                    <a:lnB w="12700">
                      <a:solidFill>
                        <a:schemeClr val="tx1"/>
                      </a:solidFill>
                      <a:prstDash val="solid"/>
                    </a:lnB>
                  </a:tcPr>
                </a:tc>
                <a:tc>
                  <a:txBody>
                    <a:bodyPr/>
                    <a:lstStyle/>
                    <a:p>
                      <a:pPr algn="ctr">
                        <a:buNone/>
                      </a:pPr>
                      <a:r>
                        <a:rPr lang="en-US" altLang="zh-CN" sz="1600">
                          <a:sym typeface="+mn-ea"/>
                        </a:rPr>
                        <a:t>app direct</a:t>
                      </a:r>
                    </a:p>
                  </a:txBody>
                  <a:tcPr marL="68459" marR="68459" marT="34230" marB="34230" anchor="ctr">
                    <a:lnT w="28575">
                      <a:solidFill>
                        <a:schemeClr val="tx1"/>
                      </a:solidFill>
                      <a:prstDash val="solid"/>
                    </a:lnT>
                    <a:lnB w="12700">
                      <a:solidFill>
                        <a:schemeClr val="tx1"/>
                      </a:solidFill>
                      <a:prstDash val="solid"/>
                    </a:lnB>
                  </a:tcPr>
                </a:tc>
                <a:tc>
                  <a:txBody>
                    <a:bodyPr/>
                    <a:lstStyle/>
                    <a:p>
                      <a:pPr algn="ctr">
                        <a:buNone/>
                      </a:pPr>
                      <a:r>
                        <a:rPr lang="en-US" altLang="zh-CN" sz="1600">
                          <a:sym typeface="+mn-ea"/>
                        </a:rPr>
                        <a:t>app direct</a:t>
                      </a:r>
                    </a:p>
                  </a:txBody>
                  <a:tcPr marL="68459" marR="68459" marT="34230" marB="34230" anchor="ctr">
                    <a:lnT w="28575">
                      <a:solidFill>
                        <a:schemeClr val="tx1"/>
                      </a:solidFill>
                      <a:prstDash val="solid"/>
                    </a:lnT>
                    <a:lnB w="12700">
                      <a:solidFill>
                        <a:schemeClr val="tx1"/>
                      </a:solidFill>
                      <a:prstDash val="solid"/>
                    </a:lnB>
                  </a:tcPr>
                </a:tc>
                <a:tc>
                  <a:txBody>
                    <a:bodyPr/>
                    <a:lstStyle/>
                    <a:p>
                      <a:pPr algn="ctr">
                        <a:buNone/>
                      </a:pPr>
                      <a:r>
                        <a:rPr lang="en-US" altLang="zh-CN" sz="1600">
                          <a:sym typeface="+mn-ea"/>
                        </a:rPr>
                        <a:t>app direct</a:t>
                      </a:r>
                    </a:p>
                  </a:txBody>
                  <a:tcPr marL="68459" marR="68459" marT="34230" marB="34230" anchor="ctr">
                    <a:lnT w="28575">
                      <a:solidFill>
                        <a:schemeClr val="tx1"/>
                      </a:solidFill>
                      <a:prstDash val="solid"/>
                    </a:lnT>
                    <a:lnB w="12700">
                      <a:solidFill>
                        <a:schemeClr val="tx1"/>
                      </a:solidFill>
                      <a:prstDash val="solid"/>
                    </a:lnB>
                  </a:tcPr>
                </a:tc>
                <a:tc>
                  <a:txBody>
                    <a:bodyPr/>
                    <a:lstStyle/>
                    <a:p>
                      <a:pPr algn="ctr">
                        <a:buNone/>
                      </a:pPr>
                      <a:endParaRPr lang="zh-CN" altLang="en-US" sz="1000"/>
                    </a:p>
                  </a:txBody>
                  <a:tcPr marL="68459" marR="68459" marT="34230" marB="34230">
                    <a:lnT w="28575">
                      <a:solidFill>
                        <a:schemeClr val="tx1"/>
                      </a:solidFill>
                      <a:prstDash val="solid"/>
                    </a:lnT>
                    <a:lnB w="12700">
                      <a:solidFill>
                        <a:schemeClr val="tx1"/>
                      </a:solidFill>
                      <a:prstDash val="solid"/>
                    </a:lnB>
                  </a:tcPr>
                </a:tc>
                <a:extLst>
                  <a:ext uri="{0D108BD9-81ED-4DB2-BD59-A6C34878D82A}">
                    <a16:rowId xmlns:a16="http://schemas.microsoft.com/office/drawing/2014/main" val="10001"/>
                  </a:ext>
                </a:extLst>
              </a:tr>
              <a:tr h="601877">
                <a:tc>
                  <a:txBody>
                    <a:bodyPr/>
                    <a:lstStyle/>
                    <a:p>
                      <a:pPr algn="ctr">
                        <a:buNone/>
                      </a:pPr>
                      <a:r>
                        <a:rPr lang="en-US" altLang="zh-CN" sz="1800" b="1">
                          <a:latin typeface="兰亭黑-简" panose="02000000000000000000" charset="-122"/>
                          <a:ea typeface="兰亭黑-简" panose="02000000000000000000" charset="-122"/>
                        </a:rPr>
                        <a:t>namespace</a:t>
                      </a:r>
                    </a:p>
                  </a:txBody>
                  <a:tcPr marL="68459" marR="68459" marT="34230" marB="34230" anchor="ctr"/>
                </a:tc>
                <a:tc>
                  <a:txBody>
                    <a:bodyPr/>
                    <a:lstStyle/>
                    <a:p>
                      <a:pPr algn="ctr">
                        <a:buNone/>
                      </a:pPr>
                      <a:endParaRPr lang="zh-CN" altLang="en-US" sz="1000"/>
                    </a:p>
                  </a:txBody>
                  <a:tcPr marL="68459" marR="68459" marT="34230" marB="34230" anchor="ctr">
                    <a:lnT w="12700">
                      <a:solidFill>
                        <a:schemeClr val="tx1"/>
                      </a:solidFill>
                      <a:prstDash val="solid"/>
                    </a:lnT>
                    <a:lnB w="12700">
                      <a:solidFill>
                        <a:schemeClr val="tx1"/>
                      </a:solidFill>
                      <a:prstDash val="solid"/>
                    </a:lnB>
                  </a:tcPr>
                </a:tc>
                <a:tc>
                  <a:txBody>
                    <a:bodyPr/>
                    <a:lstStyle/>
                    <a:p>
                      <a:pPr algn="ctr">
                        <a:buNone/>
                      </a:pPr>
                      <a:r>
                        <a:rPr lang="en-US" altLang="zh-CN" sz="1600"/>
                        <a:t>kmem</a:t>
                      </a:r>
                    </a:p>
                  </a:txBody>
                  <a:tcPr marL="68459" marR="68459" marT="34230" marB="34230" anchor="ctr">
                    <a:lnT w="12700">
                      <a:solidFill>
                        <a:schemeClr val="tx1"/>
                      </a:solidFill>
                      <a:prstDash val="solid"/>
                    </a:lnT>
                    <a:lnB w="12700">
                      <a:solidFill>
                        <a:schemeClr val="tx1"/>
                      </a:solidFill>
                      <a:prstDash val="solid"/>
                    </a:lnB>
                  </a:tcPr>
                </a:tc>
                <a:tc>
                  <a:txBody>
                    <a:bodyPr/>
                    <a:lstStyle/>
                    <a:p>
                      <a:pPr algn="ctr">
                        <a:buNone/>
                      </a:pPr>
                      <a:r>
                        <a:rPr lang="en-US" altLang="zh-CN" sz="1600"/>
                        <a:t>sector</a:t>
                      </a:r>
                    </a:p>
                  </a:txBody>
                  <a:tcPr marL="68459" marR="68459" marT="34230" marB="34230" anchor="ctr">
                    <a:lnT w="12700">
                      <a:solidFill>
                        <a:schemeClr val="tx1"/>
                      </a:solidFill>
                      <a:prstDash val="solid"/>
                    </a:lnT>
                    <a:lnB w="12700">
                      <a:solidFill>
                        <a:schemeClr val="tx1"/>
                      </a:solidFill>
                      <a:prstDash val="solid"/>
                    </a:lnB>
                  </a:tcPr>
                </a:tc>
                <a:tc>
                  <a:txBody>
                    <a:bodyPr/>
                    <a:lstStyle/>
                    <a:p>
                      <a:pPr algn="ctr">
                        <a:buNone/>
                      </a:pPr>
                      <a:r>
                        <a:rPr lang="en-US" altLang="zh-CN" sz="1600"/>
                        <a:t>fsdax</a:t>
                      </a:r>
                    </a:p>
                  </a:txBody>
                  <a:tcPr marL="68459" marR="68459" marT="34230" marB="34230" anchor="ctr">
                    <a:lnT w="12700">
                      <a:solidFill>
                        <a:schemeClr val="tx1"/>
                      </a:solidFill>
                      <a:prstDash val="solid"/>
                    </a:lnT>
                    <a:lnB w="12700">
                      <a:solidFill>
                        <a:schemeClr val="tx1"/>
                      </a:solidFill>
                      <a:prstDash val="solid"/>
                    </a:lnB>
                  </a:tcPr>
                </a:tc>
                <a:tc>
                  <a:txBody>
                    <a:bodyPr/>
                    <a:lstStyle/>
                    <a:p>
                      <a:pPr algn="ctr">
                        <a:buNone/>
                      </a:pPr>
                      <a:r>
                        <a:rPr lang="en-US" altLang="zh-CN" sz="1600"/>
                        <a:t>fsdax / devdax</a:t>
                      </a:r>
                    </a:p>
                  </a:txBody>
                  <a:tcPr marL="68459" marR="68459" marT="34230" marB="34230" anchor="ctr">
                    <a:lnT w="12700">
                      <a:solidFill>
                        <a:schemeClr val="tx1"/>
                      </a:solidFill>
                      <a:prstDash val="solid"/>
                    </a:lnT>
                    <a:lnB w="12700">
                      <a:solidFill>
                        <a:schemeClr val="tx1"/>
                      </a:solidFill>
                      <a:prstDash val="solid"/>
                    </a:lnB>
                  </a:tcPr>
                </a:tc>
                <a:tc>
                  <a:txBody>
                    <a:bodyPr/>
                    <a:lstStyle/>
                    <a:p>
                      <a:pPr algn="ctr">
                        <a:buNone/>
                      </a:pPr>
                      <a:endParaRPr lang="zh-CN" altLang="en-US" sz="1000"/>
                    </a:p>
                  </a:txBody>
                  <a:tcPr marL="68459" marR="68459" marT="34230" marB="34230">
                    <a:lnT w="12700">
                      <a:solidFill>
                        <a:schemeClr val="tx1"/>
                      </a:solidFill>
                      <a:prstDash val="solid"/>
                    </a:lnT>
                    <a:lnB w="12700">
                      <a:solidFill>
                        <a:schemeClr val="tx1"/>
                      </a:solidFill>
                      <a:prstDash val="solid"/>
                    </a:lnB>
                  </a:tcPr>
                </a:tc>
                <a:extLst>
                  <a:ext uri="{0D108BD9-81ED-4DB2-BD59-A6C34878D82A}">
                    <a16:rowId xmlns:a16="http://schemas.microsoft.com/office/drawing/2014/main" val="10002"/>
                  </a:ext>
                </a:extLst>
              </a:tr>
              <a:tr h="784162">
                <a:tc>
                  <a:txBody>
                    <a:bodyPr/>
                    <a:lstStyle/>
                    <a:p>
                      <a:pPr algn="ctr">
                        <a:buNone/>
                      </a:pPr>
                      <a:r>
                        <a:rPr lang="zh-CN" altLang="en-US" sz="1800" b="1">
                          <a:latin typeface="兰亭黑-简" panose="02000000000000000000" charset="-122"/>
                          <a:ea typeface="兰亭黑-简" panose="02000000000000000000" charset="-122"/>
                        </a:rPr>
                        <a:t>文件系统</a:t>
                      </a:r>
                    </a:p>
                  </a:txBody>
                  <a:tcPr marL="68459" marR="68459" marT="34230" marB="34230" anchor="ctr"/>
                </a:tc>
                <a:tc>
                  <a:txBody>
                    <a:bodyPr/>
                    <a:lstStyle/>
                    <a:p>
                      <a:pPr algn="ctr">
                        <a:buNone/>
                      </a:pPr>
                      <a:endParaRPr lang="zh-CN" altLang="en-US" sz="1000"/>
                    </a:p>
                  </a:txBody>
                  <a:tcPr marL="68459" marR="68459" marT="34230" marB="34230" anchor="ctr">
                    <a:lnT w="12700">
                      <a:solidFill>
                        <a:schemeClr val="tx1"/>
                      </a:solidFill>
                      <a:prstDash val="solid"/>
                    </a:lnT>
                    <a:lnB w="12700">
                      <a:solidFill>
                        <a:schemeClr val="tx1"/>
                      </a:solidFill>
                      <a:prstDash val="solid"/>
                    </a:lnB>
                  </a:tcPr>
                </a:tc>
                <a:tc>
                  <a:txBody>
                    <a:bodyPr/>
                    <a:lstStyle/>
                    <a:p>
                      <a:pPr algn="ctr">
                        <a:buNone/>
                      </a:pPr>
                      <a:endParaRPr lang="zh-CN" altLang="en-US" sz="1400"/>
                    </a:p>
                  </a:txBody>
                  <a:tcPr marL="68459" marR="68459" marT="34230" marB="34230" anchor="ctr">
                    <a:lnT w="12700">
                      <a:solidFill>
                        <a:schemeClr val="tx1"/>
                      </a:solidFill>
                      <a:prstDash val="solid"/>
                    </a:lnT>
                    <a:lnB w="12700">
                      <a:solidFill>
                        <a:schemeClr val="tx1"/>
                      </a:solidFill>
                      <a:prstDash val="solid"/>
                    </a:lnB>
                  </a:tcPr>
                </a:tc>
                <a:tc>
                  <a:txBody>
                    <a:bodyPr/>
                    <a:lstStyle/>
                    <a:p>
                      <a:pPr algn="ctr">
                        <a:buNone/>
                      </a:pPr>
                      <a:r>
                        <a:rPr lang="zh-CN" altLang="en-US" sz="1600">
                          <a:latin typeface="兰亭黑-简" panose="02000000000000000000" charset="-122"/>
                          <a:ea typeface="兰亭黑-简" panose="02000000000000000000" charset="-122"/>
                        </a:rPr>
                        <a:t>任意</a:t>
                      </a:r>
                    </a:p>
                    <a:p>
                      <a:pPr algn="ctr">
                        <a:buNone/>
                      </a:pPr>
                      <a:r>
                        <a:rPr lang="zh-CN" altLang="en-US" sz="1600">
                          <a:latin typeface="兰亭黑-简" panose="02000000000000000000" charset="-122"/>
                          <a:ea typeface="兰亭黑-简" panose="02000000000000000000" charset="-122"/>
                        </a:rPr>
                        <a:t>文件系统</a:t>
                      </a:r>
                    </a:p>
                  </a:txBody>
                  <a:tcPr marL="68459" marR="68459" marT="34230" marB="34230" anchor="ctr">
                    <a:lnT w="12700">
                      <a:solidFill>
                        <a:schemeClr val="tx1"/>
                      </a:solidFill>
                      <a:prstDash val="solid"/>
                    </a:lnT>
                    <a:lnB w="12700">
                      <a:solidFill>
                        <a:schemeClr val="tx1"/>
                      </a:solidFill>
                      <a:prstDash val="solid"/>
                    </a:lnB>
                  </a:tcPr>
                </a:tc>
                <a:tc>
                  <a:txBody>
                    <a:bodyPr/>
                    <a:lstStyle/>
                    <a:p>
                      <a:pPr algn="ctr">
                        <a:buNone/>
                      </a:pPr>
                      <a:r>
                        <a:rPr lang="en-US" altLang="zh-CN" sz="1600"/>
                        <a:t>ext4-dax / </a:t>
                      </a:r>
                    </a:p>
                    <a:p>
                      <a:pPr algn="ctr">
                        <a:buNone/>
                      </a:pPr>
                      <a:r>
                        <a:rPr lang="en-US" altLang="zh-CN" sz="1600"/>
                        <a:t>xfs-dax</a:t>
                      </a:r>
                    </a:p>
                  </a:txBody>
                  <a:tcPr marL="68459" marR="68459" marT="34230" marB="34230" anchor="ctr">
                    <a:lnT w="12700">
                      <a:solidFill>
                        <a:schemeClr val="tx1"/>
                      </a:solidFill>
                      <a:prstDash val="solid"/>
                    </a:lnT>
                    <a:lnB w="12700">
                      <a:solidFill>
                        <a:schemeClr val="tx1"/>
                      </a:solidFill>
                      <a:prstDash val="solid"/>
                    </a:lnB>
                  </a:tcPr>
                </a:tc>
                <a:tc>
                  <a:txBody>
                    <a:bodyPr/>
                    <a:lstStyle/>
                    <a:p>
                      <a:pPr algn="ctr">
                        <a:buNone/>
                      </a:pPr>
                      <a:r>
                        <a:rPr lang="en-US" altLang="zh-CN" sz="1600"/>
                        <a:t>ext4-dax / </a:t>
                      </a:r>
                    </a:p>
                    <a:p>
                      <a:pPr algn="ctr">
                        <a:buNone/>
                      </a:pPr>
                      <a:r>
                        <a:rPr lang="en-US" altLang="zh-CN" sz="1600"/>
                        <a:t>xfs-dax /</a:t>
                      </a:r>
                    </a:p>
                    <a:p>
                      <a:pPr algn="ctr">
                        <a:buNone/>
                      </a:pPr>
                      <a:r>
                        <a:rPr lang="en-US" altLang="zh-CN" sz="1600"/>
                        <a:t>no fs</a:t>
                      </a:r>
                    </a:p>
                  </a:txBody>
                  <a:tcPr marL="68459" marR="68459" marT="34230" marB="34230" anchor="ctr">
                    <a:lnT w="12700">
                      <a:solidFill>
                        <a:schemeClr val="tx1"/>
                      </a:solidFill>
                      <a:prstDash val="solid"/>
                    </a:lnT>
                    <a:lnB w="12700">
                      <a:solidFill>
                        <a:schemeClr val="tx1"/>
                      </a:solidFill>
                      <a:prstDash val="solid"/>
                    </a:lnB>
                  </a:tcPr>
                </a:tc>
                <a:tc>
                  <a:txBody>
                    <a:bodyPr/>
                    <a:lstStyle/>
                    <a:p>
                      <a:pPr algn="ctr">
                        <a:buNone/>
                      </a:pPr>
                      <a:endParaRPr lang="zh-CN" altLang="en-US" sz="1000"/>
                    </a:p>
                  </a:txBody>
                  <a:tcPr marL="68459" marR="68459" marT="34230" marB="34230">
                    <a:lnT w="12700">
                      <a:solidFill>
                        <a:schemeClr val="tx1"/>
                      </a:solidFill>
                      <a:prstDash val="solid"/>
                    </a:lnT>
                    <a:lnB w="12700">
                      <a:solidFill>
                        <a:schemeClr val="tx1"/>
                      </a:solidFill>
                      <a:prstDash val="solid"/>
                    </a:lnB>
                  </a:tcPr>
                </a:tc>
                <a:extLst>
                  <a:ext uri="{0D108BD9-81ED-4DB2-BD59-A6C34878D82A}">
                    <a16:rowId xmlns:a16="http://schemas.microsoft.com/office/drawing/2014/main" val="10003"/>
                  </a:ext>
                </a:extLst>
              </a:tr>
              <a:tr h="606632">
                <a:tc>
                  <a:txBody>
                    <a:bodyPr/>
                    <a:lstStyle/>
                    <a:p>
                      <a:pPr algn="ctr">
                        <a:buNone/>
                      </a:pPr>
                      <a:r>
                        <a:rPr lang="zh-CN" altLang="en-US" sz="1800" b="1">
                          <a:latin typeface="兰亭黑-简" panose="02000000000000000000" charset="-122"/>
                          <a:ea typeface="兰亭黑-简" panose="02000000000000000000" charset="-122"/>
                        </a:rPr>
                        <a:t>用户态库</a:t>
                      </a:r>
                    </a:p>
                  </a:txBody>
                  <a:tcPr marL="68459" marR="68459" marT="34230" marB="34230" anchor="ctr"/>
                </a:tc>
                <a:tc>
                  <a:txBody>
                    <a:bodyPr/>
                    <a:lstStyle/>
                    <a:p>
                      <a:pPr algn="ctr">
                        <a:buNone/>
                      </a:pPr>
                      <a:endParaRPr lang="zh-CN" altLang="en-US" sz="1000"/>
                    </a:p>
                  </a:txBody>
                  <a:tcPr marL="68459" marR="68459" marT="34230" marB="34230" anchor="ctr">
                    <a:lnT w="12700">
                      <a:solidFill>
                        <a:schemeClr val="tx1"/>
                      </a:solidFill>
                      <a:prstDash val="solid"/>
                    </a:lnT>
                    <a:lnB w="28575">
                      <a:solidFill>
                        <a:schemeClr val="tx1"/>
                      </a:solidFill>
                      <a:prstDash val="solid"/>
                    </a:lnB>
                  </a:tcPr>
                </a:tc>
                <a:tc>
                  <a:txBody>
                    <a:bodyPr/>
                    <a:lstStyle/>
                    <a:p>
                      <a:pPr algn="ctr">
                        <a:buNone/>
                      </a:pPr>
                      <a:endParaRPr lang="zh-CN" altLang="en-US" sz="1400"/>
                    </a:p>
                  </a:txBody>
                  <a:tcPr marL="68459" marR="68459" marT="34230" marB="34230" anchor="ctr">
                    <a:lnT w="12700">
                      <a:solidFill>
                        <a:schemeClr val="tx1"/>
                      </a:solidFill>
                      <a:prstDash val="solid"/>
                    </a:lnT>
                    <a:lnB w="28575">
                      <a:solidFill>
                        <a:schemeClr val="tx1"/>
                      </a:solidFill>
                      <a:prstDash val="solid"/>
                    </a:lnB>
                  </a:tcPr>
                </a:tc>
                <a:tc>
                  <a:txBody>
                    <a:bodyPr/>
                    <a:lstStyle/>
                    <a:p>
                      <a:pPr algn="ctr">
                        <a:buNone/>
                      </a:pPr>
                      <a:endParaRPr lang="zh-CN" altLang="en-US" sz="1600"/>
                    </a:p>
                  </a:txBody>
                  <a:tcPr marL="68459" marR="68459" marT="34230" marB="34230" anchor="ctr">
                    <a:lnT w="12700">
                      <a:solidFill>
                        <a:schemeClr val="tx1"/>
                      </a:solidFill>
                      <a:prstDash val="solid"/>
                    </a:lnT>
                    <a:lnB w="28575">
                      <a:solidFill>
                        <a:schemeClr val="tx1"/>
                      </a:solidFill>
                      <a:prstDash val="solid"/>
                    </a:lnB>
                  </a:tcPr>
                </a:tc>
                <a:tc>
                  <a:txBody>
                    <a:bodyPr/>
                    <a:lstStyle/>
                    <a:p>
                      <a:pPr algn="ctr">
                        <a:buNone/>
                      </a:pPr>
                      <a:endParaRPr lang="zh-CN" altLang="en-US" sz="1600"/>
                    </a:p>
                  </a:txBody>
                  <a:tcPr marL="68459" marR="68459" marT="34230" marB="34230" anchor="ctr">
                    <a:lnT w="12700">
                      <a:solidFill>
                        <a:schemeClr val="tx1"/>
                      </a:solidFill>
                      <a:prstDash val="solid"/>
                    </a:lnT>
                    <a:lnB w="28575">
                      <a:solidFill>
                        <a:schemeClr val="tx1"/>
                      </a:solidFill>
                      <a:prstDash val="solid"/>
                    </a:lnB>
                  </a:tcPr>
                </a:tc>
                <a:tc>
                  <a:txBody>
                    <a:bodyPr/>
                    <a:lstStyle/>
                    <a:p>
                      <a:pPr algn="ctr">
                        <a:buNone/>
                      </a:pPr>
                      <a:r>
                        <a:rPr lang="en-US" altLang="zh-CN" sz="1600"/>
                        <a:t>PMDK</a:t>
                      </a:r>
                    </a:p>
                  </a:txBody>
                  <a:tcPr marL="68459" marR="68459" marT="34230" marB="34230" anchor="ctr">
                    <a:lnT w="12700">
                      <a:solidFill>
                        <a:schemeClr val="tx1"/>
                      </a:solidFill>
                      <a:prstDash val="solid"/>
                    </a:lnT>
                    <a:lnB w="28575">
                      <a:solidFill>
                        <a:schemeClr val="tx1"/>
                      </a:solidFill>
                      <a:prstDash val="solid"/>
                    </a:lnB>
                  </a:tcPr>
                </a:tc>
                <a:tc>
                  <a:txBody>
                    <a:bodyPr/>
                    <a:lstStyle/>
                    <a:p>
                      <a:pPr algn="ctr">
                        <a:buNone/>
                      </a:pPr>
                      <a:endParaRPr lang="zh-CN" altLang="en-US" sz="1000" dirty="0"/>
                    </a:p>
                  </a:txBody>
                  <a:tcPr marL="68459" marR="68459" marT="34230" marB="34230">
                    <a:lnT w="12700">
                      <a:solidFill>
                        <a:schemeClr val="tx1"/>
                      </a:solidFill>
                      <a:prstDash val="solid"/>
                    </a:lnT>
                    <a:lnB w="28575">
                      <a:solidFill>
                        <a:schemeClr val="tx1"/>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75577941"/>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1"/>
          <p:cNvSpPr txBox="1">
            <a:spLocks noChangeArrowheads="1"/>
          </p:cNvSpPr>
          <p:nvPr/>
        </p:nvSpPr>
        <p:spPr bwMode="auto">
          <a:xfrm>
            <a:off x="-7464425" y="4954588"/>
            <a:ext cx="185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ea typeface="宋体" charset="0"/>
              </a:defRPr>
            </a:lvl1pPr>
            <a:lvl2pPr marL="742950" indent="-285750">
              <a:lnSpc>
                <a:spcPct val="90000"/>
              </a:lnSpc>
              <a:spcBef>
                <a:spcPts val="500"/>
              </a:spcBef>
              <a:buFont typeface="Arial" charset="0"/>
              <a:buChar char="•"/>
              <a:defRPr sz="2400">
                <a:solidFill>
                  <a:schemeClr val="tx1"/>
                </a:solidFill>
                <a:latin typeface="Calibri" charset="0"/>
                <a:ea typeface="宋体" charset="0"/>
              </a:defRPr>
            </a:lvl2pPr>
            <a:lvl3pPr marL="1143000" indent="-228600">
              <a:lnSpc>
                <a:spcPct val="90000"/>
              </a:lnSpc>
              <a:spcBef>
                <a:spcPts val="500"/>
              </a:spcBef>
              <a:buFont typeface="Arial" charset="0"/>
              <a:buChar char="•"/>
              <a:defRPr sz="2000">
                <a:solidFill>
                  <a:schemeClr val="tx1"/>
                </a:solidFill>
                <a:latin typeface="Calibri" charset="0"/>
                <a:ea typeface="宋体" charset="0"/>
              </a:defRPr>
            </a:lvl3pPr>
            <a:lvl4pPr marL="1600200" indent="-228600">
              <a:lnSpc>
                <a:spcPct val="90000"/>
              </a:lnSpc>
              <a:spcBef>
                <a:spcPts val="500"/>
              </a:spcBef>
              <a:buFont typeface="Arial" charset="0"/>
              <a:buChar char="•"/>
              <a:defRPr>
                <a:solidFill>
                  <a:schemeClr val="tx1"/>
                </a:solidFill>
                <a:latin typeface="Calibri" charset="0"/>
                <a:ea typeface="宋体" charset="0"/>
              </a:defRPr>
            </a:lvl4pPr>
            <a:lvl5pPr marL="2057400" indent="-228600">
              <a:lnSpc>
                <a:spcPct val="90000"/>
              </a:lnSpc>
              <a:spcBef>
                <a:spcPts val="500"/>
              </a:spcBef>
              <a:buFont typeface="Arial" charset="0"/>
              <a:buChar char="•"/>
              <a:defRPr>
                <a:solidFill>
                  <a:schemeClr val="tx1"/>
                </a:solidFill>
                <a:latin typeface="Calibri" charset="0"/>
                <a:ea typeface="宋体"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charset="0"/>
                <a:ea typeface="宋体" charset="0"/>
              </a:defRPr>
            </a:lvl9pPr>
          </a:lstStyle>
          <a:p>
            <a:pPr>
              <a:lnSpc>
                <a:spcPct val="100000"/>
              </a:lnSpc>
              <a:spcBef>
                <a:spcPct val="0"/>
              </a:spcBef>
              <a:buFontTx/>
              <a:buNone/>
            </a:pPr>
            <a:endParaRPr kumimoji="1" lang="zh-CN" altLang="en-US" sz="1800">
              <a:latin typeface="+mn-lt"/>
            </a:endParaRPr>
          </a:p>
        </p:txBody>
      </p:sp>
      <p:sp>
        <p:nvSpPr>
          <p:cNvPr id="11" name="文本框 10"/>
          <p:cNvSpPr txBox="1"/>
          <p:nvPr/>
        </p:nvSpPr>
        <p:spPr>
          <a:xfrm>
            <a:off x="499362" y="2392658"/>
            <a:ext cx="5289342" cy="523220"/>
          </a:xfrm>
          <a:prstGeom prst="rect">
            <a:avLst/>
          </a:prstGeom>
          <a:noFill/>
        </p:spPr>
        <p:txBody>
          <a:bodyPr wrap="square" rtlCol="0">
            <a:spAutoFit/>
          </a:bodyPr>
          <a:lstStyle/>
          <a:p>
            <a:r>
              <a:rPr kumimoji="1" lang="zh-CN" altLang="en-US" sz="2800" dirty="0">
                <a:latin typeface="Microsoft YaHei" charset="-122"/>
                <a:ea typeface="Microsoft YaHei" charset="-122"/>
                <a:cs typeface="Microsoft YaHei" charset="-122"/>
              </a:rPr>
              <a:t>参考</a:t>
            </a:r>
            <a:r>
              <a:rPr kumimoji="1" lang="en-US" altLang="zh-CN" sz="2800" dirty="0">
                <a:latin typeface="Microsoft YaHei" charset="-122"/>
                <a:ea typeface="Microsoft YaHei" charset="-122"/>
                <a:cs typeface="Microsoft YaHei" charset="-122"/>
              </a:rPr>
              <a:t>:</a:t>
            </a:r>
          </a:p>
        </p:txBody>
      </p:sp>
      <p:sp>
        <p:nvSpPr>
          <p:cNvPr id="2" name="矩形 1">
            <a:extLst>
              <a:ext uri="{FF2B5EF4-FFF2-40B4-BE49-F238E27FC236}">
                <a16:creationId xmlns:a16="http://schemas.microsoft.com/office/drawing/2014/main" id="{D4CF93DA-86F4-EF48-90EF-ECDB72D88FE3}"/>
              </a:ext>
            </a:extLst>
          </p:cNvPr>
          <p:cNvSpPr/>
          <p:nvPr/>
        </p:nvSpPr>
        <p:spPr>
          <a:xfrm>
            <a:off x="591628" y="2915878"/>
            <a:ext cx="8189118" cy="3323987"/>
          </a:xfrm>
          <a:prstGeom prst="rect">
            <a:avLst/>
          </a:prstGeom>
        </p:spPr>
        <p:txBody>
          <a:bodyPr wrap="square">
            <a:spAutoFit/>
          </a:bodyPr>
          <a:lstStyle/>
          <a:p>
            <a:r>
              <a:rPr lang="en-US" altLang="zh-CN" sz="1400" dirty="0">
                <a:latin typeface="+mj-lt"/>
                <a:ea typeface="Microsoft YaHei" panose="020B0503020204020204" pitchFamily="34" charset="-122"/>
              </a:rPr>
              <a:t>[1]</a:t>
            </a:r>
            <a:r>
              <a:rPr lang="zh-CN" altLang="en-US" sz="1400" dirty="0">
                <a:latin typeface="+mj-lt"/>
                <a:ea typeface="Microsoft YaHei" panose="020B0503020204020204" pitchFamily="34" charset="-122"/>
              </a:rPr>
              <a:t> </a:t>
            </a:r>
            <a:r>
              <a:rPr lang="fr-FR" altLang="zh-CN" sz="1400" dirty="0">
                <a:latin typeface="+mj-lt"/>
                <a:ea typeface="Microsoft YaHei" panose="020B0503020204020204" pitchFamily="34" charset="-122"/>
              </a:rPr>
              <a:t>The </a:t>
            </a:r>
            <a:r>
              <a:rPr lang="fr-FR" altLang="zh-CN" sz="1400" dirty="0" err="1">
                <a:latin typeface="+mj-lt"/>
                <a:ea typeface="Microsoft YaHei" panose="020B0503020204020204" pitchFamily="34" charset="-122"/>
              </a:rPr>
              <a:t>History</a:t>
            </a:r>
            <a:r>
              <a:rPr lang="fr-FR" altLang="zh-CN" sz="1400" dirty="0">
                <a:latin typeface="+mj-lt"/>
                <a:ea typeface="Microsoft YaHei" panose="020B0503020204020204" pitchFamily="34" charset="-122"/>
              </a:rPr>
              <a:t> of Computer Data Storage, in </a:t>
            </a:r>
            <a:r>
              <a:rPr lang="fr-FR" altLang="zh-CN" sz="1400" dirty="0" err="1">
                <a:latin typeface="+mj-lt"/>
                <a:ea typeface="Microsoft YaHei" panose="020B0503020204020204" pitchFamily="34" charset="-122"/>
              </a:rPr>
              <a:t>Pictures</a:t>
            </a:r>
            <a:r>
              <a:rPr lang="en-US" altLang="zh-CN" sz="1400" dirty="0">
                <a:latin typeface="+mj-lt"/>
                <a:ea typeface="Microsoft YaHei" panose="020B0503020204020204" pitchFamily="34" charset="-122"/>
              </a:rPr>
              <a:t>,</a:t>
            </a:r>
            <a:r>
              <a:rPr lang="zh-CN" altLang="en-US" sz="1400" dirty="0">
                <a:latin typeface="+mj-lt"/>
                <a:ea typeface="Microsoft YaHei" panose="020B0503020204020204" pitchFamily="34" charset="-122"/>
              </a:rPr>
              <a:t> </a:t>
            </a:r>
            <a:r>
              <a:rPr lang="fr-FR" altLang="zh-CN" sz="1400" dirty="0">
                <a:latin typeface="+mj-lt"/>
                <a:ea typeface="Microsoft YaHei" panose="020B0503020204020204" pitchFamily="34" charset="-122"/>
                <a:hlinkClick r:id="rId3"/>
              </a:rPr>
              <a:t>https://royal.pingdom.com/the-history-of-computer-data-storage-in-pictures/</a:t>
            </a:r>
            <a:endParaRPr lang="fr-FR" altLang="zh-CN" sz="1400" dirty="0">
              <a:latin typeface="+mj-lt"/>
              <a:ea typeface="Microsoft YaHei" panose="020B0503020204020204" pitchFamily="34" charset="-122"/>
            </a:endParaRPr>
          </a:p>
          <a:p>
            <a:r>
              <a:rPr lang="en-US" altLang="zh-CN" sz="1400" dirty="0">
                <a:latin typeface="+mj-lt"/>
                <a:ea typeface="Microsoft YaHei" panose="020B0503020204020204" pitchFamily="34" charset="-122"/>
              </a:rPr>
              <a:t>[2]</a:t>
            </a:r>
            <a:r>
              <a:rPr lang="zh-CN" altLang="en-US" sz="1400" dirty="0">
                <a:latin typeface="+mj-lt"/>
                <a:ea typeface="Microsoft YaHei" panose="020B0503020204020204" pitchFamily="34" charset="-122"/>
              </a:rPr>
              <a:t> </a:t>
            </a:r>
            <a:r>
              <a:rPr lang="en-US" altLang="zh-CN" sz="1400" dirty="0">
                <a:latin typeface="+mj-lt"/>
                <a:ea typeface="Microsoft YaHei" panose="020B0503020204020204" pitchFamily="34" charset="-122"/>
              </a:rPr>
              <a:t>《</a:t>
            </a:r>
            <a:r>
              <a:rPr lang="zh-CN" altLang="en-US" sz="1400" dirty="0">
                <a:latin typeface="+mj-lt"/>
                <a:ea typeface="Microsoft YaHei" panose="020B0503020204020204" pitchFamily="34" charset="-122"/>
              </a:rPr>
              <a:t>大话存储</a:t>
            </a:r>
            <a:r>
              <a:rPr lang="en-US" altLang="zh-CN" sz="1400" dirty="0">
                <a:latin typeface="+mj-lt"/>
                <a:ea typeface="Microsoft YaHei" panose="020B0503020204020204" pitchFamily="34" charset="-122"/>
              </a:rPr>
              <a:t>2:</a:t>
            </a:r>
            <a:r>
              <a:rPr lang="zh-CN" altLang="en-US" sz="1400" dirty="0">
                <a:latin typeface="+mj-lt"/>
                <a:ea typeface="Microsoft YaHei" panose="020B0503020204020204" pitchFamily="34" charset="-122"/>
              </a:rPr>
              <a:t>存储系统架构与底层原理极限剖析</a:t>
            </a:r>
            <a:r>
              <a:rPr lang="en-US" altLang="zh-CN" sz="1400" dirty="0">
                <a:latin typeface="+mj-lt"/>
                <a:ea typeface="Microsoft YaHei" panose="020B0503020204020204" pitchFamily="34" charset="-122"/>
              </a:rPr>
              <a:t>》</a:t>
            </a:r>
          </a:p>
          <a:p>
            <a:r>
              <a:rPr lang="en-US" altLang="zh-CN" sz="1400" dirty="0">
                <a:latin typeface="+mj-lt"/>
                <a:ea typeface="Microsoft YaHei" panose="020B0503020204020204" pitchFamily="34" charset="-122"/>
              </a:rPr>
              <a:t>[3]</a:t>
            </a:r>
            <a:r>
              <a:rPr lang="zh-CN" altLang="en-US" sz="1400" dirty="0">
                <a:latin typeface="+mj-lt"/>
                <a:ea typeface="Microsoft YaHei" panose="020B0503020204020204" pitchFamily="34" charset="-122"/>
              </a:rPr>
              <a:t> </a:t>
            </a:r>
            <a:r>
              <a:rPr lang="en-US" altLang="zh-CN" sz="1400" dirty="0">
                <a:latin typeface="+mj-lt"/>
                <a:ea typeface="Microsoft YaHei" panose="020B0503020204020204" pitchFamily="34" charset="-122"/>
              </a:rPr>
              <a:t>《</a:t>
            </a:r>
            <a:r>
              <a:rPr lang="zh-CN" altLang="en-US" sz="1400" dirty="0">
                <a:latin typeface="+mj-lt"/>
                <a:ea typeface="Microsoft YaHei" panose="020B0503020204020204" pitchFamily="34" charset="-122"/>
              </a:rPr>
              <a:t>深入浅出</a:t>
            </a:r>
            <a:r>
              <a:rPr lang="en-US" altLang="zh-CN" sz="1400" dirty="0">
                <a:latin typeface="+mj-lt"/>
                <a:ea typeface="Microsoft YaHei" panose="020B0503020204020204" pitchFamily="34" charset="-122"/>
              </a:rPr>
              <a:t>SSD</a:t>
            </a:r>
            <a:r>
              <a:rPr lang="zh-CN" altLang="en-US" sz="1400" dirty="0">
                <a:latin typeface="+mj-lt"/>
                <a:ea typeface="Microsoft YaHei" panose="020B0503020204020204" pitchFamily="34" charset="-122"/>
              </a:rPr>
              <a:t>：固态存储核心技术、原理与实战</a:t>
            </a:r>
            <a:r>
              <a:rPr lang="en-US" altLang="zh-CN" sz="1400" dirty="0">
                <a:latin typeface="+mj-lt"/>
                <a:ea typeface="Microsoft YaHei" panose="020B0503020204020204" pitchFamily="34" charset="-122"/>
              </a:rPr>
              <a:t>》</a:t>
            </a:r>
          </a:p>
          <a:p>
            <a:r>
              <a:rPr lang="en-US" altLang="zh-CN" sz="1400" dirty="0">
                <a:latin typeface="+mj-lt"/>
                <a:ea typeface="Microsoft YaHei" panose="020B0503020204020204" pitchFamily="34" charset="-122"/>
              </a:rPr>
              <a:t>[4]</a:t>
            </a:r>
            <a:r>
              <a:rPr lang="zh-CN" altLang="en-US" sz="1400" dirty="0">
                <a:latin typeface="+mj-lt"/>
                <a:ea typeface="Microsoft YaHei" panose="020B0503020204020204" pitchFamily="34" charset="-122"/>
              </a:rPr>
              <a:t>  硬盘的存储原理和内部架构</a:t>
            </a:r>
            <a:r>
              <a:rPr lang="en-US" altLang="zh-CN" sz="1400" dirty="0">
                <a:latin typeface="+mj-lt"/>
                <a:ea typeface="Microsoft YaHei" panose="020B0503020204020204" pitchFamily="34" charset="-122"/>
              </a:rPr>
              <a:t>,</a:t>
            </a:r>
            <a:r>
              <a:rPr lang="zh-CN" altLang="en-US" sz="1400" dirty="0">
                <a:latin typeface="+mj-lt"/>
                <a:ea typeface="Microsoft YaHei" panose="020B0503020204020204" pitchFamily="34" charset="-122"/>
              </a:rPr>
              <a:t> </a:t>
            </a:r>
            <a:r>
              <a:rPr lang="fr-FR" altLang="zh-CN" sz="1400" dirty="0">
                <a:latin typeface="+mj-lt"/>
                <a:ea typeface="Microsoft YaHei" panose="020B0503020204020204" pitchFamily="34" charset="-122"/>
                <a:hlinkClick r:id="rId4"/>
              </a:rPr>
              <a:t>https://blog.csdn.net/shaochenshuo/article/details/72821089</a:t>
            </a:r>
            <a:endParaRPr lang="en-US" altLang="zh-CN" sz="1400" dirty="0">
              <a:latin typeface="+mj-lt"/>
              <a:ea typeface="Microsoft YaHei" panose="020B0503020204020204" pitchFamily="34" charset="-122"/>
            </a:endParaRPr>
          </a:p>
          <a:p>
            <a:r>
              <a:rPr lang="en-US" altLang="zh-CN" sz="1400" dirty="0">
                <a:latin typeface="+mj-lt"/>
                <a:ea typeface="Microsoft YaHei" panose="020B0503020204020204" pitchFamily="34" charset="-122"/>
              </a:rPr>
              <a:t>[5]</a:t>
            </a:r>
            <a:r>
              <a:rPr lang="zh-CN" altLang="en-US" sz="1400" dirty="0">
                <a:latin typeface="+mj-lt"/>
                <a:ea typeface="Microsoft YaHei" panose="020B0503020204020204" pitchFamily="34" charset="-122"/>
              </a:rPr>
              <a:t> </a:t>
            </a:r>
            <a:r>
              <a:rPr lang="fr-FR" altLang="zh-CN" sz="1400" dirty="0">
                <a:latin typeface="+mj-lt"/>
                <a:ea typeface="Microsoft YaHei" panose="020B0503020204020204" pitchFamily="34" charset="-122"/>
                <a:hlinkClick r:id="rId5"/>
              </a:rPr>
              <a:t>https://www.slideshare.net/youthmirza/hard-disk-32607833</a:t>
            </a:r>
            <a:endParaRPr lang="fr-FR" altLang="zh-CN" sz="1400" dirty="0">
              <a:latin typeface="+mj-lt"/>
              <a:ea typeface="Microsoft YaHei" panose="020B0503020204020204" pitchFamily="34" charset="-122"/>
            </a:endParaRPr>
          </a:p>
          <a:p>
            <a:r>
              <a:rPr lang="en-US" altLang="zh-CN" sz="1400" dirty="0">
                <a:latin typeface="+mj-lt"/>
                <a:ea typeface="Microsoft YaHei" panose="020B0503020204020204" pitchFamily="34" charset="-122"/>
              </a:rPr>
              <a:t>[6]</a:t>
            </a:r>
            <a:r>
              <a:rPr lang="zh-CN" altLang="en-US" sz="1400" dirty="0">
                <a:latin typeface="+mj-lt"/>
                <a:ea typeface="Microsoft YaHei" panose="020B0503020204020204" pitchFamily="34" charset="-122"/>
              </a:rPr>
              <a:t> </a:t>
            </a:r>
            <a:r>
              <a:rPr lang="en-US" altLang="zh-CN" sz="1400" dirty="0">
                <a:solidFill>
                  <a:srgbClr val="000000"/>
                </a:solidFill>
                <a:latin typeface="+mj-lt"/>
                <a:ea typeface="Microsoft YaHei" panose="020B0503020204020204" pitchFamily="34" charset="-122"/>
              </a:rPr>
              <a:t>《Operating Systems: Three Easy Pieces》</a:t>
            </a:r>
            <a:r>
              <a:rPr lang="en-US" altLang="zh-CN" sz="1400" dirty="0">
                <a:latin typeface="+mj-lt"/>
                <a:ea typeface="Microsoft YaHei" panose="020B0503020204020204" pitchFamily="34" charset="-122"/>
              </a:rPr>
              <a:t>,</a:t>
            </a:r>
            <a:r>
              <a:rPr lang="zh-CN" altLang="en-US" sz="1400" dirty="0">
                <a:latin typeface="+mj-lt"/>
                <a:ea typeface="Microsoft YaHei" panose="020B0503020204020204" pitchFamily="34" charset="-122"/>
              </a:rPr>
              <a:t> </a:t>
            </a:r>
            <a:r>
              <a:rPr lang="en-US" altLang="zh-CN" sz="1400" dirty="0" err="1">
                <a:solidFill>
                  <a:srgbClr val="000000"/>
                </a:solidFill>
                <a:latin typeface="+mj-lt"/>
                <a:ea typeface="Microsoft YaHei" panose="020B0503020204020204" pitchFamily="34" charset="-122"/>
              </a:rPr>
              <a:t>Remzi</a:t>
            </a:r>
            <a:r>
              <a:rPr lang="en-US" altLang="zh-CN" sz="1400" dirty="0">
                <a:solidFill>
                  <a:srgbClr val="000000"/>
                </a:solidFill>
                <a:latin typeface="+mj-lt"/>
                <a:ea typeface="Microsoft YaHei" panose="020B0503020204020204" pitchFamily="34" charset="-122"/>
              </a:rPr>
              <a:t> H. </a:t>
            </a:r>
            <a:r>
              <a:rPr lang="en-US" altLang="zh-CN" sz="1400" dirty="0" err="1">
                <a:solidFill>
                  <a:srgbClr val="000000"/>
                </a:solidFill>
                <a:latin typeface="+mj-lt"/>
                <a:ea typeface="Microsoft YaHei" panose="020B0503020204020204" pitchFamily="34" charset="-122"/>
              </a:rPr>
              <a:t>Arpaci-Dusseau</a:t>
            </a:r>
            <a:r>
              <a:rPr lang="en-US" altLang="zh-CN" sz="1400" dirty="0">
                <a:solidFill>
                  <a:srgbClr val="000000"/>
                </a:solidFill>
                <a:latin typeface="+mj-lt"/>
                <a:ea typeface="Microsoft YaHei" panose="020B0503020204020204" pitchFamily="34" charset="-122"/>
              </a:rPr>
              <a:t> and Andrea C.,</a:t>
            </a:r>
            <a:r>
              <a:rPr lang="zh-CN" altLang="en-US" sz="1400" dirty="0">
                <a:solidFill>
                  <a:srgbClr val="000000"/>
                </a:solidFill>
                <a:latin typeface="+mj-lt"/>
                <a:ea typeface="Microsoft YaHei" panose="020B0503020204020204" pitchFamily="34" charset="-122"/>
              </a:rPr>
              <a:t> </a:t>
            </a:r>
            <a:r>
              <a:rPr lang="en-US" altLang="zh-CN" sz="1400" dirty="0" err="1">
                <a:solidFill>
                  <a:srgbClr val="000000"/>
                </a:solidFill>
                <a:latin typeface="+mj-lt"/>
                <a:ea typeface="Microsoft YaHei" panose="020B0503020204020204" pitchFamily="34" charset="-122"/>
              </a:rPr>
              <a:t>Arpaci-Dusseau</a:t>
            </a:r>
            <a:r>
              <a:rPr lang="en-US" altLang="zh-CN" sz="1400" dirty="0">
                <a:solidFill>
                  <a:srgbClr val="000000"/>
                </a:solidFill>
                <a:latin typeface="+mj-lt"/>
                <a:ea typeface="Microsoft YaHei" panose="020B0503020204020204" pitchFamily="34" charset="-122"/>
              </a:rPr>
              <a:t>,</a:t>
            </a:r>
            <a:r>
              <a:rPr lang="zh-CN" altLang="en-US" sz="1400" dirty="0">
                <a:solidFill>
                  <a:srgbClr val="000000"/>
                </a:solidFill>
                <a:latin typeface="+mj-lt"/>
                <a:ea typeface="Microsoft YaHei" panose="020B0503020204020204" pitchFamily="34" charset="-122"/>
              </a:rPr>
              <a:t> </a:t>
            </a:r>
            <a:r>
              <a:rPr lang="en-US" altLang="zh-CN" sz="1400" dirty="0" err="1">
                <a:solidFill>
                  <a:srgbClr val="000000"/>
                </a:solidFill>
                <a:latin typeface="+mj-lt"/>
                <a:ea typeface="Microsoft YaHei" panose="020B0503020204020204" pitchFamily="34" charset="-122"/>
              </a:rPr>
              <a:t>Arpaci-Dusseau</a:t>
            </a:r>
            <a:r>
              <a:rPr lang="en-US" altLang="zh-CN" sz="1400" dirty="0">
                <a:solidFill>
                  <a:srgbClr val="000000"/>
                </a:solidFill>
                <a:latin typeface="+mj-lt"/>
                <a:ea typeface="Microsoft YaHei" panose="020B0503020204020204" pitchFamily="34" charset="-122"/>
              </a:rPr>
              <a:t> Books ,</a:t>
            </a:r>
            <a:r>
              <a:rPr lang="zh-CN" altLang="en-US" sz="1400" dirty="0">
                <a:solidFill>
                  <a:srgbClr val="000000"/>
                </a:solidFill>
                <a:latin typeface="+mj-lt"/>
                <a:ea typeface="Microsoft YaHei" panose="020B0503020204020204" pitchFamily="34" charset="-122"/>
              </a:rPr>
              <a:t> </a:t>
            </a:r>
            <a:r>
              <a:rPr lang="en-US" altLang="zh-CN" sz="1400" dirty="0">
                <a:solidFill>
                  <a:srgbClr val="000000"/>
                </a:solidFill>
                <a:latin typeface="+mj-lt"/>
                <a:ea typeface="Microsoft YaHei" panose="020B0503020204020204" pitchFamily="34" charset="-122"/>
              </a:rPr>
              <a:t>March, 2015 (Version 0.80)</a:t>
            </a:r>
          </a:p>
          <a:p>
            <a:r>
              <a:rPr lang="en-US" altLang="zh-CN" sz="1400" dirty="0">
                <a:solidFill>
                  <a:srgbClr val="000000"/>
                </a:solidFill>
                <a:latin typeface="+mj-lt"/>
                <a:ea typeface="Microsoft YaHei" panose="020B0503020204020204" pitchFamily="34" charset="-122"/>
              </a:rPr>
              <a:t>[7]</a:t>
            </a:r>
            <a:r>
              <a:rPr lang="zh-CN" altLang="en-US" sz="1400" dirty="0">
                <a:solidFill>
                  <a:srgbClr val="000000"/>
                </a:solidFill>
                <a:latin typeface="+mj-lt"/>
                <a:ea typeface="Microsoft YaHei" panose="020B0503020204020204" pitchFamily="34" charset="-122"/>
              </a:rPr>
              <a:t>  </a:t>
            </a:r>
            <a:r>
              <a:rPr lang="fr-FR" altLang="zh-CN" sz="1400" dirty="0">
                <a:latin typeface="+mj-lt"/>
                <a:ea typeface="Microsoft YaHei" panose="020B0503020204020204" pitchFamily="34" charset="-122"/>
              </a:rPr>
              <a:t>A. </a:t>
            </a:r>
            <a:r>
              <a:rPr lang="fr-FR" altLang="zh-CN" sz="1400" dirty="0" err="1">
                <a:latin typeface="+mj-lt"/>
                <a:ea typeface="Microsoft YaHei" panose="020B0503020204020204" pitchFamily="34" charset="-122"/>
              </a:rPr>
              <a:t>Aghayev</a:t>
            </a:r>
            <a:r>
              <a:rPr lang="fr-FR" altLang="zh-CN" sz="1400" dirty="0">
                <a:latin typeface="+mj-lt"/>
                <a:ea typeface="Microsoft YaHei" panose="020B0503020204020204" pitchFamily="34" charset="-122"/>
              </a:rPr>
              <a:t>, </a:t>
            </a:r>
            <a:r>
              <a:rPr lang="fr-FR" altLang="zh-CN" sz="1400" dirty="0" err="1">
                <a:latin typeface="+mj-lt"/>
                <a:ea typeface="Microsoft YaHei" panose="020B0503020204020204" pitchFamily="34" charset="-122"/>
              </a:rPr>
              <a:t>T</a:t>
            </a:r>
            <a:r>
              <a:rPr lang="fr-FR" altLang="zh-CN" sz="1400" dirty="0">
                <a:latin typeface="+mj-lt"/>
                <a:ea typeface="Microsoft YaHei" panose="020B0503020204020204" pitchFamily="34" charset="-122"/>
              </a:rPr>
              <a:t>. </a:t>
            </a:r>
            <a:r>
              <a:rPr lang="fr-FR" altLang="zh-CN" sz="1400" dirty="0" err="1">
                <a:latin typeface="+mj-lt"/>
                <a:ea typeface="Microsoft YaHei" panose="020B0503020204020204" pitchFamily="34" charset="-122"/>
              </a:rPr>
              <a:t>Ts’o</a:t>
            </a:r>
            <a:r>
              <a:rPr lang="fr-FR" altLang="zh-CN" sz="1400" dirty="0">
                <a:latin typeface="+mj-lt"/>
                <a:ea typeface="Microsoft YaHei" panose="020B0503020204020204" pitchFamily="34" charset="-122"/>
              </a:rPr>
              <a:t>, G. Gibson, and P. </a:t>
            </a:r>
            <a:r>
              <a:rPr lang="fr-FR" altLang="zh-CN" sz="1400" dirty="0" err="1">
                <a:latin typeface="+mj-lt"/>
                <a:ea typeface="Microsoft YaHei" panose="020B0503020204020204" pitchFamily="34" charset="-122"/>
              </a:rPr>
              <a:t>Desnoyers</a:t>
            </a:r>
            <a:r>
              <a:rPr lang="fr-FR" altLang="zh-CN" sz="1400" dirty="0">
                <a:latin typeface="+mj-lt"/>
                <a:ea typeface="Microsoft YaHei" panose="020B0503020204020204" pitchFamily="34" charset="-122"/>
              </a:rPr>
              <a:t>, “</a:t>
            </a:r>
            <a:r>
              <a:rPr lang="fr-FR" altLang="zh-CN" sz="1400" dirty="0" err="1">
                <a:latin typeface="+mj-lt"/>
                <a:ea typeface="Microsoft YaHei" panose="020B0503020204020204" pitchFamily="34" charset="-122"/>
              </a:rPr>
              <a:t>Evolving</a:t>
            </a:r>
            <a:r>
              <a:rPr lang="fr-FR" altLang="zh-CN" sz="1400" dirty="0">
                <a:latin typeface="+mj-lt"/>
                <a:ea typeface="Microsoft YaHei" panose="020B0503020204020204" pitchFamily="34" charset="-122"/>
              </a:rPr>
              <a:t> Ext4 for </a:t>
            </a:r>
            <a:r>
              <a:rPr lang="fr-FR" altLang="zh-CN" sz="1400" dirty="0" err="1">
                <a:latin typeface="+mj-lt"/>
                <a:ea typeface="Microsoft YaHei" panose="020B0503020204020204" pitchFamily="34" charset="-122"/>
              </a:rPr>
              <a:t>Shingled</a:t>
            </a:r>
            <a:r>
              <a:rPr lang="fr-FR" altLang="zh-CN" sz="1400" dirty="0">
                <a:latin typeface="+mj-lt"/>
                <a:ea typeface="Microsoft YaHei" panose="020B0503020204020204" pitchFamily="34" charset="-122"/>
              </a:rPr>
              <a:t> </a:t>
            </a:r>
            <a:r>
              <a:rPr lang="fr-FR" altLang="zh-CN" sz="1400" dirty="0" err="1">
                <a:latin typeface="+mj-lt"/>
                <a:ea typeface="Microsoft YaHei" panose="020B0503020204020204" pitchFamily="34" charset="-122"/>
              </a:rPr>
              <a:t>Disks</a:t>
            </a:r>
            <a:r>
              <a:rPr lang="fr-FR" altLang="zh-CN" sz="1400" dirty="0">
                <a:latin typeface="+mj-lt"/>
                <a:ea typeface="Microsoft YaHei" panose="020B0503020204020204" pitchFamily="34" charset="-122"/>
              </a:rPr>
              <a:t>,” </a:t>
            </a:r>
            <a:r>
              <a:rPr lang="fr-FR" altLang="zh-CN" sz="1400" i="1" dirty="0">
                <a:latin typeface="+mj-lt"/>
                <a:ea typeface="Microsoft YaHei" panose="020B0503020204020204" pitchFamily="34" charset="-122"/>
              </a:rPr>
              <a:t>15th USENIX </a:t>
            </a:r>
            <a:r>
              <a:rPr lang="fr-FR" altLang="zh-CN" sz="1400" i="1" dirty="0" err="1">
                <a:latin typeface="+mj-lt"/>
                <a:ea typeface="Microsoft YaHei" panose="020B0503020204020204" pitchFamily="34" charset="-122"/>
              </a:rPr>
              <a:t>Conf</a:t>
            </a:r>
            <a:r>
              <a:rPr lang="fr-FR" altLang="zh-CN" sz="1400" i="1" dirty="0">
                <a:latin typeface="+mj-lt"/>
                <a:ea typeface="Microsoft YaHei" panose="020B0503020204020204" pitchFamily="34" charset="-122"/>
              </a:rPr>
              <a:t>. File Storage </a:t>
            </a:r>
            <a:r>
              <a:rPr lang="fr-FR" altLang="zh-CN" sz="1400" i="1" dirty="0" err="1">
                <a:latin typeface="+mj-lt"/>
                <a:ea typeface="Microsoft YaHei" panose="020B0503020204020204" pitchFamily="34" charset="-122"/>
              </a:rPr>
              <a:t>Technol</a:t>
            </a:r>
            <a:r>
              <a:rPr lang="fr-FR" altLang="zh-CN" sz="1400" i="1" dirty="0">
                <a:latin typeface="+mj-lt"/>
                <a:ea typeface="Microsoft YaHei" panose="020B0503020204020204" pitchFamily="34" charset="-122"/>
              </a:rPr>
              <a:t>. (FAST 17)</a:t>
            </a:r>
            <a:r>
              <a:rPr lang="fr-FR" altLang="zh-CN" sz="1400" dirty="0">
                <a:latin typeface="+mj-lt"/>
                <a:ea typeface="Microsoft YaHei" panose="020B0503020204020204" pitchFamily="34" charset="-122"/>
              </a:rPr>
              <a:t>, vol. 2, pp. 105–120, 2017.</a:t>
            </a:r>
          </a:p>
          <a:p>
            <a:r>
              <a:rPr lang="en-US" altLang="zh-CN" sz="1400" dirty="0">
                <a:latin typeface="+mj-lt"/>
                <a:ea typeface="Microsoft YaHei" panose="020B0503020204020204" pitchFamily="34" charset="-122"/>
              </a:rPr>
              <a:t>[8]</a:t>
            </a:r>
            <a:r>
              <a:rPr lang="zh-CN" altLang="en-US" sz="1400" dirty="0">
                <a:latin typeface="+mj-lt"/>
                <a:ea typeface="Microsoft YaHei" panose="020B0503020204020204" pitchFamily="34" charset="-122"/>
              </a:rPr>
              <a:t> </a:t>
            </a:r>
            <a:r>
              <a:rPr lang="fr-FR" altLang="zh-CN" sz="1400" dirty="0">
                <a:latin typeface="+mj-lt"/>
                <a:ea typeface="Microsoft YaHei" panose="020B0503020204020204" pitchFamily="34" charset="-122"/>
                <a:hlinkClick r:id="rId6"/>
              </a:rPr>
              <a:t>https://www.snia.org/sites/default/files/Dunn-Feldman_SNIA_Tutorial_Shingled_Magnetic_Recording-r7_Final.pdf</a:t>
            </a:r>
            <a:endParaRPr lang="fr-FR" altLang="zh-CN" sz="1400" dirty="0">
              <a:latin typeface="+mj-lt"/>
              <a:ea typeface="Microsoft YaHei" panose="020B0503020204020204" pitchFamily="34" charset="-122"/>
            </a:endParaRPr>
          </a:p>
          <a:p>
            <a:r>
              <a:rPr lang="en-US" altLang="zh-CN" sz="1400" dirty="0">
                <a:latin typeface="+mj-lt"/>
                <a:ea typeface="Microsoft YaHei" panose="020B0503020204020204" pitchFamily="34" charset="-122"/>
              </a:rPr>
              <a:t>[9]</a:t>
            </a:r>
            <a:r>
              <a:rPr lang="zh-CN" altLang="en-US" sz="1400" dirty="0">
                <a:latin typeface="+mj-lt"/>
                <a:ea typeface="Microsoft YaHei" panose="020B0503020204020204" pitchFamily="34" charset="-122"/>
              </a:rPr>
              <a:t> </a:t>
            </a:r>
            <a:r>
              <a:rPr lang="fr-FR" altLang="zh-CN" sz="1400" dirty="0">
                <a:latin typeface="+mj-lt"/>
                <a:ea typeface="Microsoft YaHei" panose="020B0503020204020204" pitchFamily="34" charset="-122"/>
                <a:hlinkClick r:id="rId7"/>
              </a:rPr>
              <a:t>https://software.intel.com/en-us/articles/quick-start-guide-configure-intel-optane-dc-persistent-memory-on-linux</a:t>
            </a:r>
            <a:endParaRPr lang="fr-FR" altLang="zh-CN" sz="1400" dirty="0">
              <a:latin typeface="+mj-lt"/>
              <a:ea typeface="Microsoft YaHei" panose="020B0503020204020204" pitchFamily="34" charset="-122"/>
            </a:endParaRPr>
          </a:p>
          <a:p>
            <a:r>
              <a:rPr lang="en-US" altLang="zh-CN" sz="1400" dirty="0">
                <a:latin typeface="+mj-lt"/>
                <a:ea typeface="Microsoft YaHei" panose="020B0503020204020204" pitchFamily="34" charset="-122"/>
              </a:rPr>
              <a:t>[10]</a:t>
            </a:r>
            <a:r>
              <a:rPr lang="zh-CN" altLang="en-US" sz="1400" dirty="0">
                <a:latin typeface="+mj-lt"/>
                <a:ea typeface="Microsoft YaHei" panose="020B0503020204020204" pitchFamily="34" charset="-122"/>
              </a:rPr>
              <a:t> </a:t>
            </a:r>
            <a:r>
              <a:rPr lang="fr-FR" altLang="zh-CN" sz="1400" dirty="0">
                <a:latin typeface="+mj-lt"/>
                <a:ea typeface="Microsoft YaHei" panose="020B0503020204020204" pitchFamily="34" charset="-122"/>
              </a:rPr>
              <a:t>D. J. </a:t>
            </a:r>
            <a:r>
              <a:rPr lang="fr-FR" altLang="zh-CN" sz="1400" dirty="0" err="1">
                <a:latin typeface="+mj-lt"/>
                <a:ea typeface="Microsoft YaHei" panose="020B0503020204020204" pitchFamily="34" charset="-122"/>
              </a:rPr>
              <a:t>Sorin</a:t>
            </a:r>
            <a:r>
              <a:rPr lang="fr-FR" altLang="zh-CN" sz="1400" dirty="0">
                <a:latin typeface="+mj-lt"/>
                <a:ea typeface="Microsoft YaHei" panose="020B0503020204020204" pitchFamily="34" charset="-122"/>
              </a:rPr>
              <a:t>, “Persistent Memory </a:t>
            </a:r>
            <a:r>
              <a:rPr lang="fr-FR" altLang="zh-CN" sz="1400" dirty="0" err="1">
                <a:latin typeface="+mj-lt"/>
                <a:ea typeface="Microsoft YaHei" panose="020B0503020204020204" pitchFamily="34" charset="-122"/>
              </a:rPr>
              <a:t>Programming</a:t>
            </a:r>
            <a:r>
              <a:rPr lang="fr-FR" altLang="zh-CN" sz="1400" dirty="0">
                <a:latin typeface="+mj-lt"/>
                <a:ea typeface="Microsoft YaHei" panose="020B0503020204020204" pitchFamily="34" charset="-122"/>
              </a:rPr>
              <a:t>,” </a:t>
            </a:r>
            <a:r>
              <a:rPr lang="fr-FR" altLang="zh-CN" sz="1400" i="1" dirty="0">
                <a:latin typeface="+mj-lt"/>
                <a:ea typeface="Microsoft YaHei" panose="020B0503020204020204" pitchFamily="34" charset="-122"/>
              </a:rPr>
              <a:t>Computer (Long. Beach. </a:t>
            </a:r>
            <a:r>
              <a:rPr lang="fr-FR" altLang="zh-CN" sz="1400" i="1" dirty="0" err="1">
                <a:latin typeface="+mj-lt"/>
                <a:ea typeface="Microsoft YaHei" panose="020B0503020204020204" pitchFamily="34" charset="-122"/>
              </a:rPr>
              <a:t>Calif</a:t>
            </a:r>
            <a:r>
              <a:rPr lang="fr-FR" altLang="zh-CN" sz="1400" i="1" dirty="0">
                <a:latin typeface="+mj-lt"/>
                <a:ea typeface="Microsoft YaHei" panose="020B0503020204020204" pitchFamily="34" charset="-122"/>
              </a:rPr>
              <a:t>).</a:t>
            </a:r>
            <a:r>
              <a:rPr lang="fr-FR" altLang="zh-CN" sz="1400" dirty="0">
                <a:latin typeface="+mj-lt"/>
                <a:ea typeface="Microsoft YaHei" panose="020B0503020204020204" pitchFamily="34" charset="-122"/>
              </a:rPr>
              <a:t>, vol. 50, no. 3, p. 12, 2017.</a:t>
            </a:r>
          </a:p>
        </p:txBody>
      </p:sp>
      <p:sp>
        <p:nvSpPr>
          <p:cNvPr id="3" name="文本框 2">
            <a:extLst>
              <a:ext uri="{FF2B5EF4-FFF2-40B4-BE49-F238E27FC236}">
                <a16:creationId xmlns:a16="http://schemas.microsoft.com/office/drawing/2014/main" id="{0B7E1C52-CE76-CF4D-BEB5-C75931393AFF}"/>
              </a:ext>
            </a:extLst>
          </p:cNvPr>
          <p:cNvSpPr txBox="1"/>
          <p:nvPr/>
        </p:nvSpPr>
        <p:spPr>
          <a:xfrm>
            <a:off x="2278134" y="1655256"/>
            <a:ext cx="4587731" cy="707886"/>
          </a:xfrm>
          <a:prstGeom prst="rect">
            <a:avLst/>
          </a:prstGeom>
          <a:noFill/>
        </p:spPr>
        <p:txBody>
          <a:bodyPr wrap="none" rtlCol="0">
            <a:spAutoFit/>
          </a:bodyPr>
          <a:lstStyle/>
          <a:p>
            <a:r>
              <a:rPr kumimoji="1" lang="en-US" altLang="zh-CN" sz="4000" b="1" dirty="0"/>
              <a:t>Thanks!</a:t>
            </a:r>
            <a:r>
              <a:rPr kumimoji="1" lang="zh-CN" altLang="en-US" sz="4000" b="1" dirty="0"/>
              <a:t>   </a:t>
            </a:r>
            <a:r>
              <a:rPr kumimoji="1" lang="en-US" altLang="zh-CN" sz="4000" b="1" dirty="0"/>
              <a:t>Questions?</a:t>
            </a:r>
            <a:endParaRPr kumimoji="1" lang="zh-CN" altLang="en-US" sz="4000" b="1" dirty="0"/>
          </a:p>
        </p:txBody>
      </p:sp>
    </p:spTree>
    <p:extLst>
      <p:ext uri="{BB962C8B-B14F-4D97-AF65-F5344CB8AC3E}">
        <p14:creationId xmlns:p14="http://schemas.microsoft.com/office/powerpoint/2010/main" val="1273558207"/>
      </p:ext>
    </p:extLst>
  </p:cSld>
  <p:clrMapOvr>
    <a:masterClrMapping/>
  </p:clrMapOvr>
  <p:transition spd="med">
    <p:fade/>
  </p:transition>
</p:sld>
</file>

<file path=ppt/theme/theme1.xml><?xml version="1.0" encoding="utf-8"?>
<a:theme xmlns:a="http://schemas.openxmlformats.org/drawingml/2006/main" name="主题2">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2" id="{E0D1F83F-22F0-D546-91D8-FF7C6B24B14B}" vid="{5AF26BE8-7839-1342-A4CE-8DF56C8D06F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主题2</Template>
  <TotalTime>54740</TotalTime>
  <Words>1754</Words>
  <Application>Microsoft Office PowerPoint</Application>
  <PresentationFormat>全屏显示(4:3)</PresentationFormat>
  <Paragraphs>323</Paragraphs>
  <Slides>41</Slides>
  <Notes>41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41</vt:i4>
      </vt:variant>
    </vt:vector>
  </HeadingPairs>
  <TitlesOfParts>
    <vt:vector size="51" baseType="lpstr">
      <vt:lpstr>Lantinghei SC Demibold</vt:lpstr>
      <vt:lpstr>PingFang SC</vt:lpstr>
      <vt:lpstr>兰亭黑-简</vt:lpstr>
      <vt:lpstr>宋体</vt:lpstr>
      <vt:lpstr>Microsoft YaHei</vt:lpstr>
      <vt:lpstr>Arial</vt:lpstr>
      <vt:lpstr>Calibri</vt:lpstr>
      <vt:lpstr>Calibri Light</vt:lpstr>
      <vt:lpstr>Wingdings</vt:lpstr>
      <vt:lpstr>主题2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周会总结</dc:title>
  <dc:creator>Jaycee Zhang</dc:creator>
  <cp:lastModifiedBy>王 刚</cp:lastModifiedBy>
  <cp:revision>744</cp:revision>
  <cp:lastPrinted>2017-05-11T02:50:32Z</cp:lastPrinted>
  <dcterms:created xsi:type="dcterms:W3CDTF">2016-12-13T05:37:29Z</dcterms:created>
  <dcterms:modified xsi:type="dcterms:W3CDTF">2019-09-26T09:02:25Z</dcterms:modified>
</cp:coreProperties>
</file>