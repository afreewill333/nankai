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5"/>
  </p:notesMasterIdLst>
  <p:sldIdLst>
    <p:sldId id="261" r:id="rId2"/>
    <p:sldId id="302" r:id="rId3"/>
    <p:sldId id="308" r:id="rId4"/>
    <p:sldId id="267" r:id="rId5"/>
    <p:sldId id="303" r:id="rId6"/>
    <p:sldId id="305" r:id="rId7"/>
    <p:sldId id="306" r:id="rId8"/>
    <p:sldId id="307" r:id="rId9"/>
    <p:sldId id="309" r:id="rId10"/>
    <p:sldId id="310" r:id="rId11"/>
    <p:sldId id="311" r:id="rId12"/>
    <p:sldId id="312" r:id="rId13"/>
    <p:sldId id="313" r:id="rId14"/>
    <p:sldId id="315" r:id="rId15"/>
    <p:sldId id="314" r:id="rId16"/>
    <p:sldId id="316" r:id="rId17"/>
    <p:sldId id="319" r:id="rId18"/>
    <p:sldId id="317" r:id="rId19"/>
    <p:sldId id="318" r:id="rId20"/>
    <p:sldId id="321" r:id="rId21"/>
    <p:sldId id="320" r:id="rId22"/>
    <p:sldId id="322" r:id="rId23"/>
    <p:sldId id="323" r:id="rId24"/>
    <p:sldId id="324" r:id="rId25"/>
    <p:sldId id="325" r:id="rId26"/>
    <p:sldId id="326" r:id="rId27"/>
    <p:sldId id="327" r:id="rId28"/>
    <p:sldId id="329" r:id="rId29"/>
    <p:sldId id="330" r:id="rId30"/>
    <p:sldId id="336" r:id="rId31"/>
    <p:sldId id="337" r:id="rId32"/>
    <p:sldId id="338" r:id="rId33"/>
    <p:sldId id="339" r:id="rId34"/>
    <p:sldId id="340" r:id="rId35"/>
    <p:sldId id="341" r:id="rId36"/>
    <p:sldId id="331" r:id="rId37"/>
    <p:sldId id="332" r:id="rId38"/>
    <p:sldId id="333" r:id="rId39"/>
    <p:sldId id="334" r:id="rId40"/>
    <p:sldId id="335" r:id="rId41"/>
    <p:sldId id="342" r:id="rId42"/>
    <p:sldId id="304" r:id="rId43"/>
    <p:sldId id="328" r:id="rId4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5C"/>
    <a:srgbClr val="FF7E79"/>
    <a:srgbClr val="1630F6"/>
    <a:srgbClr val="EAEFF7"/>
    <a:srgbClr val="EBF0F7"/>
    <a:srgbClr val="E2E2E2"/>
    <a:srgbClr val="B330D4"/>
    <a:srgbClr val="BD3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主题样式 2 - 个性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主题样式 1 - 个性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4"/>
    <p:restoredTop sz="81385"/>
  </p:normalViewPr>
  <p:slideViewPr>
    <p:cSldViewPr snapToGrid="0" snapToObjects="1">
      <p:cViewPr varScale="1">
        <p:scale>
          <a:sx n="103" d="100"/>
          <a:sy n="103" d="100"/>
        </p:scale>
        <p:origin x="17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/>
            </a:lvl1pPr>
          </a:lstStyle>
          <a:p>
            <a:pPr>
              <a:defRPr/>
            </a:pPr>
            <a:fld id="{EFA51185-30DC-254A-9DD6-8F7A8C8C9CE7}" type="datetimeFigureOut">
              <a:rPr lang="zh-CN" altLang="en-US"/>
              <a:pPr>
                <a:defRPr/>
              </a:pPr>
              <a:t>2019/12/3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kumimoji="1" sz="1200"/>
            </a:lvl1pPr>
          </a:lstStyle>
          <a:p>
            <a:pPr>
              <a:defRPr/>
            </a:pPr>
            <a:fld id="{0B5B9210-A5D6-DF4A-BCF1-E487EA4C0D1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1507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855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38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733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38CC2-A0DA-0A42-9C3B-B99D8DFE8A35}" type="datetimeFigureOut">
              <a:rPr lang="zh-CN" altLang="en-US" smtClean="0"/>
              <a:pPr>
                <a:defRPr/>
              </a:pPr>
              <a:t>2019/12/3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F175-A356-8641-8B8C-2BC1BAE79F1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12BB8-9261-4D4B-98FD-C0F0AA2E9A14}" type="datetimeFigureOut">
              <a:rPr lang="zh-CN" altLang="en-US" smtClean="0"/>
              <a:pPr>
                <a:defRPr/>
              </a:pPr>
              <a:t>2019/12/3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8BDDE-DE15-9A4E-B6F5-7D907F81153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6D4EE-D3EF-4F4B-84A5-4EDA7B66ACC6}" type="datetimeFigureOut">
              <a:rPr lang="zh-CN" altLang="en-US" smtClean="0"/>
              <a:pPr>
                <a:defRPr/>
              </a:pPr>
              <a:t>2019/12/3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DD28A-AA70-C249-93DE-44022C331C6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4650D-803F-3649-8BE6-A1B7A3B11F99}" type="datetimeFigureOut">
              <a:rPr lang="zh-CN" altLang="en-US" smtClean="0"/>
              <a:pPr>
                <a:defRPr/>
              </a:pPr>
              <a:t>2019/12/3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8A0D8-B9E1-5F47-ADDF-1F1E8F331A7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8D43A-8F0F-5D46-A343-06333ADB0560}" type="datetimeFigureOut">
              <a:rPr lang="zh-CN" altLang="en-US" smtClean="0"/>
              <a:pPr>
                <a:defRPr/>
              </a:pPr>
              <a:t>2019/12/3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70463-E988-D144-BBEE-FC4623AD6C2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0C01F-CEF2-EA4C-85CA-CBF3E7F4DD65}" type="datetimeFigureOut">
              <a:rPr lang="zh-CN" altLang="en-US" smtClean="0"/>
              <a:pPr>
                <a:defRPr/>
              </a:pPr>
              <a:t>2019/12/3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5A4DD-1280-BB47-A602-2C4DAB99FF88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2A7B1-2167-7F47-9127-07644A71B60F}" type="datetimeFigureOut">
              <a:rPr lang="zh-CN" altLang="en-US" smtClean="0"/>
              <a:pPr>
                <a:defRPr/>
              </a:pPr>
              <a:t>2019/12/3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65D7B-B108-694B-A9F0-6F3476ECBDB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C0D54-D0A2-8647-BDAD-39E60643A4AA}" type="datetimeFigureOut">
              <a:rPr lang="zh-CN" altLang="en-US" smtClean="0"/>
              <a:pPr>
                <a:defRPr/>
              </a:pPr>
              <a:t>2019/12/3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0DE58-F619-754F-BCBC-313BF1478D2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3163E-B686-3245-B20A-8F7674AE5CAC}" type="datetimeFigureOut">
              <a:rPr lang="zh-CN" altLang="en-US" smtClean="0"/>
              <a:pPr>
                <a:defRPr/>
              </a:pPr>
              <a:t>2019/12/3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19B7D-6BEB-0641-9251-9FA303027C7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3A3D3-B973-7244-9EC6-9D0618F24062}" type="datetimeFigureOut">
              <a:rPr lang="zh-CN" altLang="en-US" smtClean="0"/>
              <a:pPr>
                <a:defRPr/>
              </a:pPr>
              <a:t>2019/12/3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6548C-ABE1-4B4C-895C-8DD5E5C1168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80492-F7A2-E24D-8177-01BCF1312587}" type="datetimeFigureOut">
              <a:rPr lang="zh-CN" altLang="en-US" smtClean="0"/>
              <a:pPr>
                <a:defRPr/>
              </a:pPr>
              <a:t>2019/12/3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9F4E41-E0E2-7A41-9508-905906144EC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4F0E8F8-0A90-2744-B08D-155929A4155E}" type="datetimeFigureOut">
              <a:rPr lang="zh-CN" altLang="en-US" smtClean="0"/>
              <a:pPr>
                <a:defRPr/>
              </a:pPr>
              <a:t>2019/12/3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FB58A7E-3A13-824A-A0CA-841E6508255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10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fade/>
  </p:transition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21972" y="1554975"/>
            <a:ext cx="6326091" cy="1759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6520"/>
              </a:lnSpc>
              <a:spcBef>
                <a:spcPts val="0"/>
              </a:spcBef>
            </a:pPr>
            <a:r>
              <a:rPr kumimoji="1" lang="en-US" altLang="zh-CN" sz="6000" dirty="0">
                <a:latin typeface="Microsoft YaHei" charset="-122"/>
                <a:ea typeface="Microsoft YaHei" charset="-122"/>
                <a:cs typeface="Microsoft YaHei" charset="-122"/>
              </a:rPr>
              <a:t>LSM-tree KV</a:t>
            </a:r>
            <a:r>
              <a:rPr kumimoji="1" lang="zh-CN" altLang="en-US" sz="6000" dirty="0">
                <a:latin typeface="Microsoft YaHei" charset="-122"/>
                <a:ea typeface="Microsoft YaHei" charset="-122"/>
                <a:cs typeface="Microsoft YaHei" charset="-122"/>
              </a:rPr>
              <a:t>存储</a:t>
            </a:r>
            <a:endParaRPr kumimoji="1" lang="en-US" altLang="zh-CN" sz="6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>
              <a:lnSpc>
                <a:spcPts val="6520"/>
              </a:lnSpc>
              <a:spcBef>
                <a:spcPts val="0"/>
              </a:spcBef>
            </a:pPr>
            <a:r>
              <a:rPr kumimoji="1" lang="zh-CN" altLang="en-US" sz="6000" dirty="0">
                <a:latin typeface="Microsoft YaHei" charset="-122"/>
                <a:ea typeface="Microsoft YaHei" charset="-122"/>
                <a:cs typeface="Microsoft YaHei" charset="-122"/>
              </a:rPr>
              <a:t>优化</a:t>
            </a:r>
            <a:endParaRPr kumimoji="1" lang="en-US" altLang="zh-CN" sz="4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85981" y="5219700"/>
            <a:ext cx="2757871" cy="8798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何柯文</a:t>
            </a:r>
            <a:endParaRPr kumimoji="1"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kekw@nbjl.nankai.edu.cn</a:t>
            </a:r>
            <a:endParaRPr kumimoji="1" lang="zh-CN" altLang="en-US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82900" y="1574800"/>
            <a:ext cx="5588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 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LSM-tree 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介绍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LSM-tree</a:t>
            </a: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en-US" altLang="zh-CN" sz="1600" dirty="0" err="1">
                <a:latin typeface="Microsoft YaHei" charset="-122"/>
                <a:ea typeface="Microsoft YaHei" charset="-122"/>
                <a:cs typeface="Microsoft YaHei" charset="-122"/>
              </a:rPr>
              <a:t>BigTable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LSM tree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结构的存储系统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  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LSM-tree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的写放大与读放大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写放大、读放大解释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产生写放大、读放大的原因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解决方案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  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LSM-tree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的写尾延迟过大</a:t>
            </a:r>
            <a:endParaRPr kumimoji="1"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100000"/>
              <a:buFont typeface="Arial" charset="0"/>
              <a:buChar char="•"/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SILK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  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LSM-</a:t>
            </a:r>
            <a:r>
              <a:rPr kumimoji="1" lang="en-US" altLang="zh-CN" sz="2000" dirty="0" err="1">
                <a:latin typeface="Microsoft YaHei" charset="-122"/>
                <a:ea typeface="Microsoft YaHei" charset="-122"/>
                <a:cs typeface="Microsoft YaHei" charset="-122"/>
              </a:rPr>
              <a:t>treeKV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的硬件优化策略</a:t>
            </a:r>
            <a:endParaRPr kumimoji="1"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100000"/>
              <a:buFont typeface="Arial" charset="0"/>
              <a:buChar char="•"/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KV SSD</a:t>
            </a:r>
          </a:p>
          <a:p>
            <a:pPr marL="1200150" lvl="2" indent="-285750">
              <a:buSzPct val="100000"/>
              <a:buFont typeface="Arial" charset="0"/>
              <a:buChar char="•"/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</a:p>
        </p:txBody>
      </p:sp>
    </p:spTree>
    <p:extLst>
      <p:ext uri="{BB962C8B-B14F-4D97-AF65-F5344CB8AC3E}">
        <p14:creationId xmlns:p14="http://schemas.microsoft.com/office/powerpoint/2010/main" val="1953917824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AF95936-0A38-5A4E-B32D-AEF5C3880D31}"/>
              </a:ext>
            </a:extLst>
          </p:cNvPr>
          <p:cNvSpPr txBox="1"/>
          <p:nvPr/>
        </p:nvSpPr>
        <p:spPr>
          <a:xfrm>
            <a:off x="3128964" y="3429000"/>
            <a:ext cx="3757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/>
              <a:t>LSM-Tree</a:t>
            </a:r>
            <a:r>
              <a:rPr kumimoji="1" lang="zh-CN" altLang="en-US" sz="3600" dirty="0"/>
              <a:t> 介绍</a:t>
            </a:r>
          </a:p>
        </p:txBody>
      </p:sp>
    </p:spTree>
    <p:extLst>
      <p:ext uri="{BB962C8B-B14F-4D97-AF65-F5344CB8AC3E}">
        <p14:creationId xmlns:p14="http://schemas.microsoft.com/office/powerpoint/2010/main" val="3369997736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14" name="文本框 13"/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LSM-tree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4258D9-E6E3-6C4B-8454-2150533FA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31" y="2614612"/>
            <a:ext cx="5370495" cy="201453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2D34B62-9B5E-D848-99A2-29FB268C63F9}"/>
              </a:ext>
            </a:extLst>
          </p:cNvPr>
          <p:cNvSpPr txBox="1"/>
          <p:nvPr/>
        </p:nvSpPr>
        <p:spPr>
          <a:xfrm>
            <a:off x="5629275" y="1671638"/>
            <a:ext cx="32575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The Log-Structured Merge-Tree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LSM Tree</a:t>
            </a:r>
            <a:r>
              <a:rPr kumimoji="1" lang="zh-CN" altLang="en-US" dirty="0"/>
              <a:t>在</a:t>
            </a:r>
            <a:r>
              <a:rPr kumimoji="1" lang="en-US" altLang="zh-CN" dirty="0"/>
              <a:t>1996</a:t>
            </a:r>
            <a:r>
              <a:rPr kumimoji="1" lang="zh-CN" altLang="en-US" dirty="0"/>
              <a:t>年提出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基本思想：从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中</a:t>
            </a:r>
            <a:r>
              <a:rPr kumimoji="1" lang="en-US" altLang="zh-CN" dirty="0"/>
              <a:t>C0 tree</a:t>
            </a:r>
            <a:r>
              <a:rPr kumimoji="1" lang="zh-CN" altLang="en-US" dirty="0"/>
              <a:t>最小，与磁盘中下层的</a:t>
            </a:r>
            <a:r>
              <a:rPr kumimoji="1" lang="en-US" altLang="zh-CN" dirty="0" err="1"/>
              <a:t>C_i</a:t>
            </a:r>
            <a:r>
              <a:rPr kumimoji="1" lang="en-US" altLang="zh-CN" dirty="0"/>
              <a:t> tree</a:t>
            </a:r>
            <a:r>
              <a:rPr kumimoji="1" lang="zh-CN" altLang="en-US" dirty="0"/>
              <a:t>进行</a:t>
            </a:r>
            <a:r>
              <a:rPr kumimoji="1" lang="en-US" altLang="zh-CN" dirty="0"/>
              <a:t>merge sort</a:t>
            </a:r>
            <a:r>
              <a:rPr kumimoji="1" lang="zh-CN" altLang="en-US" dirty="0"/>
              <a:t>保持索引的强有序，每一层的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逐层变大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主要优势：</a:t>
            </a:r>
            <a:endParaRPr kumimoji="1" lang="en-US" altLang="zh-CN" dirty="0"/>
          </a:p>
          <a:p>
            <a:r>
              <a:rPr kumimoji="1" lang="zh-CN" altLang="en-US" dirty="0"/>
              <a:t>      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）亲和</a:t>
            </a:r>
            <a:r>
              <a:rPr kumimoji="1" lang="en-US" altLang="zh-CN" dirty="0"/>
              <a:t>HDD</a:t>
            </a:r>
            <a:r>
              <a:rPr kumimoji="1" lang="zh-CN" altLang="en-US" dirty="0"/>
              <a:t>顺序优于随机的特点；</a:t>
            </a:r>
            <a:endParaRPr kumimoji="1" lang="en-US" altLang="zh-CN" dirty="0"/>
          </a:p>
          <a:p>
            <a:r>
              <a:rPr kumimoji="1" lang="zh-CN" altLang="en-US" dirty="0"/>
              <a:t>      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）亲和写性能。</a:t>
            </a:r>
            <a:endParaRPr kumimoji="1"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3EB680-4330-0040-B6E6-1413340206C0}"/>
              </a:ext>
            </a:extLst>
          </p:cNvPr>
          <p:cNvSpPr/>
          <p:nvPr/>
        </p:nvSpPr>
        <p:spPr>
          <a:xfrm>
            <a:off x="3858335" y="6083559"/>
            <a:ext cx="44524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﻿The Log-Structured Merge-Tree (LSM-Tree)</a:t>
            </a:r>
            <a:r>
              <a:rPr lang="en-US" altLang="zh-CN" dirty="0"/>
              <a:t>[1]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8099959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A89B8B-17B6-DB4A-908E-5774178A8962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err="1">
                <a:latin typeface="Microsoft YaHei" charset="-122"/>
                <a:ea typeface="Microsoft YaHei" charset="-122"/>
                <a:cs typeface="Microsoft YaHei" charset="-122"/>
              </a:rPr>
              <a:t>BigTable</a:t>
            </a:r>
            <a:endParaRPr kumimoji="1" lang="en-US" altLang="zh-CN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CB5D4A-505B-FF49-85EE-2DB6A53AC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29" y="2079327"/>
            <a:ext cx="4773871" cy="32115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A47B7F7-C8E7-904E-AD89-4B608F543FAF}"/>
              </a:ext>
            </a:extLst>
          </p:cNvPr>
          <p:cNvSpPr txBox="1"/>
          <p:nvPr/>
        </p:nvSpPr>
        <p:spPr>
          <a:xfrm>
            <a:off x="5229225" y="1528763"/>
            <a:ext cx="374332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Google </a:t>
            </a:r>
            <a:r>
              <a:rPr kumimoji="1" lang="en-US" altLang="zh-CN" sz="2400" dirty="0" err="1"/>
              <a:t>BigTable</a:t>
            </a: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2005</a:t>
            </a:r>
            <a:r>
              <a:rPr kumimoji="1" lang="zh-CN" altLang="en-US" dirty="0"/>
              <a:t>年，</a:t>
            </a:r>
            <a:r>
              <a:rPr kumimoji="1" lang="en-US" altLang="zh-CN" dirty="0"/>
              <a:t> google </a:t>
            </a:r>
            <a:r>
              <a:rPr kumimoji="1" lang="en-US" altLang="zh-CN" dirty="0" err="1"/>
              <a:t>Jeaf</a:t>
            </a:r>
            <a:r>
              <a:rPr kumimoji="1" lang="en-US" altLang="zh-CN" dirty="0"/>
              <a:t> Dean </a:t>
            </a:r>
            <a:r>
              <a:rPr kumimoji="1" lang="en-US" altLang="zh-CN" dirty="0" err="1"/>
              <a:t>BigTable</a:t>
            </a:r>
            <a:r>
              <a:rPr kumimoji="1" lang="zh-CN" altLang="en-US" dirty="0"/>
              <a:t>使用了</a:t>
            </a:r>
            <a:r>
              <a:rPr kumimoji="1" lang="en-US" altLang="zh-CN" dirty="0"/>
              <a:t>LSM tree</a:t>
            </a:r>
            <a:r>
              <a:rPr kumimoji="1" lang="zh-CN" altLang="en-US" dirty="0"/>
              <a:t>结构的</a:t>
            </a:r>
            <a:r>
              <a:rPr kumimoji="1" lang="en-US" altLang="zh-CN" dirty="0"/>
              <a:t>NoSQL KV</a:t>
            </a:r>
            <a:r>
              <a:rPr kumimoji="1" lang="zh-CN" altLang="en-US" dirty="0"/>
              <a:t>单机存储引擎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基本结构：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 err="1"/>
              <a:t>Memtable</a:t>
            </a:r>
            <a:r>
              <a:rPr kumimoji="1" lang="zh-CN" altLang="en-US" dirty="0"/>
              <a:t>：由</a:t>
            </a:r>
            <a:r>
              <a:rPr kumimoji="1" lang="en-US" altLang="zh-CN" dirty="0" err="1"/>
              <a:t>Skiplist</a:t>
            </a:r>
            <a:r>
              <a:rPr kumimoji="1" lang="zh-CN" altLang="en-US" dirty="0"/>
              <a:t>构成，全在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中，存储刚写入的数据；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tablet log</a:t>
            </a:r>
            <a:r>
              <a:rPr kumimoji="1" lang="zh-CN" altLang="en-US" dirty="0"/>
              <a:t>：</a:t>
            </a:r>
            <a:r>
              <a:rPr kumimoji="1" lang="en-US" altLang="zh-CN" dirty="0"/>
              <a:t>WAL(</a:t>
            </a:r>
            <a:r>
              <a:rPr kumimoji="1" lang="zh-CN" altLang="en-US" dirty="0"/>
              <a:t>写前日志</a:t>
            </a:r>
            <a:r>
              <a:rPr kumimoji="1" lang="en-US" altLang="zh-CN" dirty="0"/>
              <a:t>)</a:t>
            </a:r>
            <a:r>
              <a:rPr kumimoji="1" lang="zh-CN" altLang="en-US" dirty="0"/>
              <a:t>，用来备份以及恢复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 err="1"/>
              <a:t>SSTable</a:t>
            </a:r>
            <a:r>
              <a:rPr kumimoji="1" lang="en-US" altLang="zh-CN" dirty="0"/>
              <a:t> Files</a:t>
            </a:r>
            <a:r>
              <a:rPr kumimoji="1" lang="zh-CN" altLang="en-US" dirty="0"/>
              <a:t>：</a:t>
            </a:r>
            <a:r>
              <a:rPr kumimoji="1" lang="en-US" altLang="zh-CN" dirty="0" err="1"/>
              <a:t>memtable</a:t>
            </a:r>
            <a:r>
              <a:rPr kumimoji="1" lang="zh-CN" altLang="en-US" dirty="0"/>
              <a:t>写满之后持久化的文件</a:t>
            </a:r>
            <a:r>
              <a:rPr kumimoji="1" lang="en-US" altLang="zh-CN" dirty="0"/>
              <a:t>(</a:t>
            </a:r>
            <a:r>
              <a:rPr kumimoji="1" lang="zh-CN" altLang="en-US" dirty="0"/>
              <a:t>强有序</a:t>
            </a:r>
            <a:r>
              <a:rPr kumimoji="1" lang="en-US" altLang="zh-CN" dirty="0"/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C45E40-A7F5-BE49-9DCF-AFE0E8F06C86}"/>
              </a:ext>
            </a:extLst>
          </p:cNvPr>
          <p:cNvSpPr txBox="1"/>
          <p:nvPr/>
        </p:nvSpPr>
        <p:spPr>
          <a:xfrm>
            <a:off x="5557838" y="6086475"/>
            <a:ext cx="2643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Bigtable[2]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5280727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04E2D77-71C9-C641-BA90-D7421384E671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LSM tree</a:t>
            </a:r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结构的存储系统</a:t>
            </a:r>
            <a:endParaRPr kumimoji="1" lang="en-US" altLang="zh-CN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238E79-9CD0-3340-8C74-62CE869F2FFD}"/>
              </a:ext>
            </a:extLst>
          </p:cNvPr>
          <p:cNvSpPr txBox="1"/>
          <p:nvPr/>
        </p:nvSpPr>
        <p:spPr>
          <a:xfrm>
            <a:off x="628650" y="1285875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Google </a:t>
            </a:r>
            <a:r>
              <a:rPr kumimoji="1" lang="en-US" altLang="zh-CN" dirty="0" err="1"/>
              <a:t>LevelDB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A8CDC22-EE43-8A4C-AEE4-732165E22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72" y="1889642"/>
            <a:ext cx="7862039" cy="41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69637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FF0B6AA-897B-7B40-92E2-94DA48860F1E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LSM tree</a:t>
            </a:r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结构的存储系统</a:t>
            </a:r>
            <a:endParaRPr kumimoji="1" lang="en-US" altLang="zh-CN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1D4342-D9A0-294C-990B-06F1A20FD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25" y="1523056"/>
            <a:ext cx="8907534" cy="452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50927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0E42E1B-F35A-EC4B-9C6F-D025115FF499}"/>
              </a:ext>
            </a:extLst>
          </p:cNvPr>
          <p:cNvSpPr txBox="1"/>
          <p:nvPr/>
        </p:nvSpPr>
        <p:spPr>
          <a:xfrm>
            <a:off x="1457326" y="3429000"/>
            <a:ext cx="6843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/>
              <a:t>LSM-Tree</a:t>
            </a:r>
            <a:r>
              <a:rPr kumimoji="1" lang="zh-CN" altLang="en-US" sz="3600" dirty="0"/>
              <a:t>写放大以及读放大问题</a:t>
            </a:r>
          </a:p>
        </p:txBody>
      </p:sp>
    </p:spTree>
    <p:extLst>
      <p:ext uri="{BB962C8B-B14F-4D97-AF65-F5344CB8AC3E}">
        <p14:creationId xmlns:p14="http://schemas.microsoft.com/office/powerpoint/2010/main" val="331500304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F0CBBFB-4CEF-5343-93E5-731FBCB6555B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写放大、读放大解释</a:t>
            </a:r>
            <a:endParaRPr kumimoji="1" lang="en-US" altLang="zh-CN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84F148-5BDD-0748-B171-825AD2DC0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12" y="1922978"/>
            <a:ext cx="4881342" cy="367772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96F02C2-12F1-1B48-BA46-50B269E618B2}"/>
              </a:ext>
            </a:extLst>
          </p:cNvPr>
          <p:cNvSpPr txBox="1"/>
          <p:nvPr/>
        </p:nvSpPr>
        <p:spPr>
          <a:xfrm>
            <a:off x="5472113" y="2028825"/>
            <a:ext cx="3457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写放大：实际从外存</a:t>
            </a:r>
            <a:r>
              <a:rPr kumimoji="1" lang="en-US" altLang="zh-CN" dirty="0"/>
              <a:t>(HDD</a:t>
            </a:r>
            <a:r>
              <a:rPr kumimoji="1" lang="zh-CN" altLang="en-US" dirty="0"/>
              <a:t>、</a:t>
            </a:r>
            <a:r>
              <a:rPr kumimoji="1" lang="en-US" altLang="zh-CN" dirty="0"/>
              <a:t>SSD)</a:t>
            </a:r>
            <a:r>
              <a:rPr kumimoji="1" lang="zh-CN" altLang="en-US" dirty="0"/>
              <a:t>写入的数据量</a:t>
            </a:r>
            <a:r>
              <a:rPr kumimoji="1" lang="en-US" altLang="zh-CN" dirty="0"/>
              <a:t> / </a:t>
            </a:r>
            <a:r>
              <a:rPr kumimoji="1" lang="zh-CN" altLang="en-US" dirty="0"/>
              <a:t>写入</a:t>
            </a:r>
            <a:r>
              <a:rPr kumimoji="1" lang="en-US" altLang="zh-CN" dirty="0"/>
              <a:t>KV</a:t>
            </a:r>
            <a:r>
              <a:rPr kumimoji="1" lang="zh-CN" altLang="en-US" dirty="0"/>
              <a:t>的大小</a:t>
            </a:r>
            <a:endParaRPr kumimoji="1" lang="en-US" altLang="zh-CN" dirty="0"/>
          </a:p>
          <a:p>
            <a:r>
              <a:rPr kumimoji="1" lang="zh-CN" altLang="en-US" dirty="0"/>
              <a:t>读放大：实际从外存</a:t>
            </a:r>
            <a:r>
              <a:rPr kumimoji="1" lang="en-US" altLang="zh-CN" dirty="0"/>
              <a:t>(HDD</a:t>
            </a:r>
            <a:r>
              <a:rPr kumimoji="1" lang="zh-CN" altLang="en-US" dirty="0"/>
              <a:t>、</a:t>
            </a:r>
            <a:r>
              <a:rPr kumimoji="1" lang="en-US" altLang="zh-CN" dirty="0"/>
              <a:t>SSD)</a:t>
            </a:r>
            <a:r>
              <a:rPr kumimoji="1" lang="zh-CN" altLang="en-US" dirty="0"/>
              <a:t>读取的数据量 </a:t>
            </a:r>
            <a:r>
              <a:rPr kumimoji="1" lang="en-US" altLang="zh-CN" dirty="0"/>
              <a:t>/</a:t>
            </a:r>
            <a:r>
              <a:rPr kumimoji="1" lang="zh-CN" altLang="en-US" dirty="0"/>
              <a:t> 读取</a:t>
            </a:r>
            <a:r>
              <a:rPr kumimoji="1" lang="en-US" altLang="zh-CN" dirty="0"/>
              <a:t>KV</a:t>
            </a:r>
            <a:r>
              <a:rPr kumimoji="1" lang="zh-CN" altLang="en-US" dirty="0"/>
              <a:t>的大小</a:t>
            </a:r>
          </a:p>
        </p:txBody>
      </p:sp>
    </p:spTree>
    <p:extLst>
      <p:ext uri="{BB962C8B-B14F-4D97-AF65-F5344CB8AC3E}">
        <p14:creationId xmlns:p14="http://schemas.microsoft.com/office/powerpoint/2010/main" val="1447211796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B089215-2351-A84C-BA27-28192A567C16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写放大、读放大原因</a:t>
            </a:r>
            <a:endParaRPr kumimoji="1" lang="en-US" altLang="zh-CN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20911E-41F1-774A-B8F3-5BDAD7428ED3}"/>
              </a:ext>
            </a:extLst>
          </p:cNvPr>
          <p:cNvSpPr txBox="1"/>
          <p:nvPr/>
        </p:nvSpPr>
        <p:spPr>
          <a:xfrm>
            <a:off x="5186363" y="1814513"/>
            <a:ext cx="338613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写放大：</a:t>
            </a:r>
            <a:r>
              <a:rPr kumimoji="1" lang="en-US" altLang="zh-CN" dirty="0"/>
              <a:t>(1) Compaction</a:t>
            </a:r>
            <a:r>
              <a:rPr kumimoji="1" lang="zh-CN" altLang="en-US" dirty="0"/>
              <a:t>阶段需要读取出两层中的</a:t>
            </a:r>
            <a:r>
              <a:rPr kumimoji="1" lang="en-US" altLang="zh-CN" dirty="0" err="1"/>
              <a:t>sst</a:t>
            </a:r>
            <a:r>
              <a:rPr kumimoji="1" lang="zh-CN" altLang="en-US" dirty="0"/>
              <a:t>文件进行</a:t>
            </a:r>
            <a:r>
              <a:rPr kumimoji="1" lang="en-US" altLang="zh-CN" dirty="0"/>
              <a:t>merge</a:t>
            </a:r>
            <a:r>
              <a:rPr kumimoji="1" lang="zh-CN" altLang="en-US" dirty="0"/>
              <a:t>，然后写入；</a:t>
            </a:r>
            <a:endParaRPr kumimoji="1" lang="en-US" altLang="zh-CN" dirty="0"/>
          </a:p>
          <a:p>
            <a:r>
              <a:rPr kumimoji="1" lang="en-US" altLang="zh-CN" dirty="0"/>
              <a:t>(2)</a:t>
            </a:r>
            <a:r>
              <a:rPr kumimoji="1" lang="zh-CN" altLang="en-US" dirty="0"/>
              <a:t> 当层次满的时候，会触发多层次的</a:t>
            </a:r>
            <a:r>
              <a:rPr kumimoji="1" lang="en-US" altLang="zh-CN" dirty="0"/>
              <a:t>Compaction</a:t>
            </a:r>
            <a:r>
              <a:rPr kumimoji="1" lang="zh-CN" altLang="en-US" dirty="0"/>
              <a:t>，最坏情况触发所有层次的</a:t>
            </a:r>
            <a:r>
              <a:rPr kumimoji="1" lang="en-US" altLang="zh-CN" dirty="0"/>
              <a:t>compaction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r>
              <a:rPr kumimoji="1" lang="en-US" altLang="zh-CN" dirty="0"/>
              <a:t>(3) </a:t>
            </a:r>
            <a:r>
              <a:rPr kumimoji="1" lang="zh-CN" altLang="en-US" dirty="0"/>
              <a:t>层次越低层，数据越多</a:t>
            </a:r>
            <a:r>
              <a:rPr kumimoji="1" lang="en-US" altLang="zh-CN" dirty="0"/>
              <a:t>(</a:t>
            </a:r>
            <a:r>
              <a:rPr kumimoji="1" lang="zh-CN" altLang="en-US" dirty="0"/>
              <a:t>下一层是上一层</a:t>
            </a:r>
            <a:r>
              <a:rPr kumimoji="1" lang="en-US" altLang="zh-CN" dirty="0"/>
              <a:t>10</a:t>
            </a:r>
            <a:r>
              <a:rPr kumimoji="1" lang="zh-CN" altLang="en-US" dirty="0"/>
              <a:t>倍</a:t>
            </a:r>
            <a:r>
              <a:rPr kumimoji="1" lang="en-US" altLang="zh-CN" dirty="0"/>
              <a:t>)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zh-CN" altLang="en-US" dirty="0"/>
              <a:t>读放大</a:t>
            </a:r>
            <a:r>
              <a:rPr kumimoji="1" lang="zh-CN" altLang="en-US" dirty="0">
                <a:sym typeface="Wingdings" pitchFamily="2" charset="2"/>
              </a:rPr>
              <a:t>：</a:t>
            </a:r>
            <a:r>
              <a:rPr kumimoji="1" lang="en-US" altLang="zh-CN" dirty="0">
                <a:sym typeface="Wingdings" pitchFamily="2" charset="2"/>
              </a:rPr>
              <a:t>(1) </a:t>
            </a:r>
            <a:r>
              <a:rPr kumimoji="1" lang="zh-CN" altLang="en-US" dirty="0">
                <a:sym typeface="Wingdings" pitchFamily="2" charset="2"/>
              </a:rPr>
              <a:t>数据如果在最后一层，需要找</a:t>
            </a:r>
            <a:r>
              <a:rPr kumimoji="1" lang="en-US" altLang="zh-CN" dirty="0" err="1">
                <a:sym typeface="Wingdings" pitchFamily="2" charset="2"/>
              </a:rPr>
              <a:t>memtable</a:t>
            </a:r>
            <a:r>
              <a:rPr kumimoji="1" lang="en-US" altLang="zh-CN" dirty="0">
                <a:sym typeface="Wingdings" pitchFamily="2" charset="2"/>
              </a:rPr>
              <a:t> -&gt; immutable -&gt; </a:t>
            </a:r>
            <a:r>
              <a:rPr kumimoji="1" lang="zh-CN" altLang="en-US" dirty="0">
                <a:sym typeface="Wingdings" pitchFamily="2" charset="2"/>
              </a:rPr>
              <a:t>多层</a:t>
            </a:r>
            <a:r>
              <a:rPr kumimoji="1" lang="en-US" altLang="zh-CN" dirty="0" err="1">
                <a:sym typeface="Wingdings" pitchFamily="2" charset="2"/>
              </a:rPr>
              <a:t>sst</a:t>
            </a:r>
            <a:r>
              <a:rPr kumimoji="1" lang="zh-CN" altLang="en-US" dirty="0">
                <a:sym typeface="Wingdings" pitchFamily="2" charset="2"/>
              </a:rPr>
              <a:t>文件。读放大严重；</a:t>
            </a:r>
            <a:endParaRPr kumimoji="1" lang="en-US" altLang="zh-CN" dirty="0">
              <a:sym typeface="Wingdings" pitchFamily="2" charset="2"/>
            </a:endParaRPr>
          </a:p>
          <a:p>
            <a:r>
              <a:rPr kumimoji="1" lang="en-US" altLang="zh-CN" dirty="0">
                <a:sym typeface="Wingdings" pitchFamily="2" charset="2"/>
              </a:rPr>
              <a:t>(2)</a:t>
            </a:r>
            <a:r>
              <a:rPr kumimoji="1" lang="zh-CN" altLang="en-US" dirty="0">
                <a:sym typeface="Wingdings" pitchFamily="2" charset="2"/>
              </a:rPr>
              <a:t> 需要读大量索引数据。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A2E5F31-A3AD-0B40-8F30-134D165D9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97" y="1814512"/>
            <a:ext cx="4797166" cy="369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35716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662B4F-DC97-A242-82FC-CA39E6F00FE0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写放大、读放大原因</a:t>
            </a:r>
            <a:endParaRPr kumimoji="1" lang="en-US" altLang="zh-CN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507A7D-7CEC-6340-B049-4B1A52630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903" y="1234713"/>
            <a:ext cx="5269172" cy="487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0862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3014B1B-6A82-F048-BFD1-88430C9073B1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解决方案</a:t>
            </a:r>
            <a:endParaRPr kumimoji="1" lang="en-US" altLang="zh-CN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09A907-45A2-F445-BC7E-23DF56BB8B0B}"/>
              </a:ext>
            </a:extLst>
          </p:cNvPr>
          <p:cNvSpPr txBox="1"/>
          <p:nvPr/>
        </p:nvSpPr>
        <p:spPr>
          <a:xfrm>
            <a:off x="628650" y="1228725"/>
            <a:ext cx="368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KV</a:t>
            </a:r>
            <a:r>
              <a:rPr kumimoji="1" lang="zh-CN" altLang="en-US" dirty="0"/>
              <a:t>分离：</a:t>
            </a:r>
            <a:r>
              <a:rPr kumimoji="1" lang="en-US" altLang="zh-CN" dirty="0" err="1"/>
              <a:t>WiscKey</a:t>
            </a:r>
            <a:r>
              <a:rPr kumimoji="1" lang="en-US" altLang="zh-CN" dirty="0"/>
              <a:t>[3]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8F2A7C-A775-FA45-B97C-C18CDAA45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5" y="2301321"/>
            <a:ext cx="5118636" cy="31115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AFA1857-141F-8744-9D2B-1E940BD88016}"/>
              </a:ext>
            </a:extLst>
          </p:cNvPr>
          <p:cNvSpPr txBox="1"/>
          <p:nvPr/>
        </p:nvSpPr>
        <p:spPr>
          <a:xfrm>
            <a:off x="5529263" y="1775342"/>
            <a:ext cx="34575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方案思路：</a:t>
            </a:r>
            <a:br>
              <a:rPr kumimoji="1" lang="en-US" altLang="zh-CN" dirty="0"/>
            </a:br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  <a:r>
              <a:rPr kumimoji="1" lang="en-US" altLang="zh-CN" dirty="0"/>
              <a:t>LSM-tree</a:t>
            </a:r>
            <a:r>
              <a:rPr kumimoji="1" lang="zh-CN" altLang="en-US" dirty="0"/>
              <a:t>上只存</a:t>
            </a:r>
            <a:r>
              <a:rPr kumimoji="1" lang="en-US" altLang="zh-CN" dirty="0"/>
              <a:t>key</a:t>
            </a:r>
            <a:r>
              <a:rPr kumimoji="1" lang="zh-CN" altLang="en-US" dirty="0"/>
              <a:t>和</a:t>
            </a:r>
            <a:r>
              <a:rPr kumimoji="1" lang="en-US" altLang="zh-CN" dirty="0"/>
              <a:t>value </a:t>
            </a:r>
            <a:r>
              <a:rPr kumimoji="1" lang="en-US" altLang="zh-CN" dirty="0" err="1"/>
              <a:t>addr</a:t>
            </a:r>
            <a:r>
              <a:rPr kumimoji="1" lang="zh-CN" altLang="en-US" dirty="0"/>
              <a:t>，所有的</a:t>
            </a:r>
            <a:r>
              <a:rPr kumimoji="1" lang="en-US" altLang="zh-CN" dirty="0"/>
              <a:t>value</a:t>
            </a:r>
            <a:r>
              <a:rPr kumimoji="1" lang="zh-CN" altLang="en-US" dirty="0"/>
              <a:t>值都顺序写在</a:t>
            </a:r>
            <a:r>
              <a:rPr kumimoji="1" lang="en-US" altLang="zh-CN" dirty="0"/>
              <a:t>value log</a:t>
            </a:r>
            <a:r>
              <a:rPr kumimoji="1" lang="zh-CN" altLang="en-US" dirty="0"/>
              <a:t>中，不强有序。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）所有</a:t>
            </a:r>
            <a:r>
              <a:rPr kumimoji="1" lang="en-US" altLang="zh-CN" dirty="0"/>
              <a:t>compaction</a:t>
            </a:r>
            <a:r>
              <a:rPr kumimoji="1" lang="zh-CN" altLang="en-US" dirty="0"/>
              <a:t>都只对</a:t>
            </a:r>
            <a:r>
              <a:rPr kumimoji="1" lang="en-US" altLang="zh-CN" dirty="0"/>
              <a:t>key</a:t>
            </a:r>
            <a:r>
              <a:rPr kumimoji="1" lang="zh-CN" altLang="en-US" dirty="0"/>
              <a:t>进行搬运，大大减少放大的倍数。</a:t>
            </a:r>
            <a:endParaRPr kumimoji="1" lang="en-US" altLang="zh-CN" dirty="0"/>
          </a:p>
          <a:p>
            <a:r>
              <a:rPr kumimoji="1" lang="zh-CN" altLang="en-US" dirty="0"/>
              <a:t>产生的问题：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  <a:r>
              <a:rPr kumimoji="1" lang="en-US" altLang="zh-CN" dirty="0"/>
              <a:t>scan</a:t>
            </a:r>
            <a:r>
              <a:rPr kumimoji="1" lang="zh-CN" altLang="en-US" dirty="0"/>
              <a:t>操作成为瓶颈，</a:t>
            </a:r>
            <a:r>
              <a:rPr kumimoji="1" lang="en-US" altLang="zh-CN" dirty="0"/>
              <a:t>log</a:t>
            </a:r>
            <a:r>
              <a:rPr kumimoji="1" lang="zh-CN" altLang="en-US" dirty="0"/>
              <a:t>是无序的；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  <a:r>
              <a:rPr kumimoji="1" lang="en-US" altLang="zh-CN" dirty="0"/>
              <a:t>Log</a:t>
            </a:r>
            <a:r>
              <a:rPr kumimoji="1" lang="zh-CN" altLang="en-US" dirty="0"/>
              <a:t>的垃圾回收。</a:t>
            </a:r>
          </a:p>
        </p:txBody>
      </p:sp>
    </p:spTree>
    <p:extLst>
      <p:ext uri="{BB962C8B-B14F-4D97-AF65-F5344CB8AC3E}">
        <p14:creationId xmlns:p14="http://schemas.microsoft.com/office/powerpoint/2010/main" val="3605455164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E694903-B945-B24B-9D39-794E49CF3629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解决方案</a:t>
            </a:r>
            <a:endParaRPr kumimoji="1" lang="en-US" altLang="zh-CN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0E0442-EE1D-9449-BB30-914B60732699}"/>
              </a:ext>
            </a:extLst>
          </p:cNvPr>
          <p:cNvSpPr txBox="1"/>
          <p:nvPr/>
        </p:nvSpPr>
        <p:spPr>
          <a:xfrm>
            <a:off x="628650" y="1228725"/>
            <a:ext cx="368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KV</a:t>
            </a:r>
            <a:r>
              <a:rPr kumimoji="1" lang="zh-CN" altLang="en-US" dirty="0"/>
              <a:t>分离：</a:t>
            </a:r>
            <a:r>
              <a:rPr kumimoji="1" lang="en-US" altLang="zh-CN" dirty="0" err="1"/>
              <a:t>WiscKey</a:t>
            </a:r>
            <a:r>
              <a:rPr kumimoji="1" lang="en-US" altLang="zh-CN" dirty="0"/>
              <a:t>[3]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39EDCA-153A-EC4F-B961-41460FD93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" y="2270126"/>
            <a:ext cx="4594003" cy="31448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8078881-5780-964C-99BD-78555565D94A}"/>
              </a:ext>
            </a:extLst>
          </p:cNvPr>
          <p:cNvSpPr txBox="1"/>
          <p:nvPr/>
        </p:nvSpPr>
        <p:spPr>
          <a:xfrm>
            <a:off x="4789265" y="1598057"/>
            <a:ext cx="4097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KV</a:t>
            </a:r>
            <a:r>
              <a:rPr kumimoji="1" lang="zh-CN" altLang="en-US" dirty="0"/>
              <a:t>分离的挑战一：</a:t>
            </a:r>
            <a:r>
              <a:rPr kumimoji="1" lang="en-US" altLang="zh-CN" dirty="0"/>
              <a:t>scan</a:t>
            </a:r>
            <a:r>
              <a:rPr kumimoji="1" lang="zh-CN" altLang="en-US" dirty="0"/>
              <a:t>操作性能低下</a:t>
            </a:r>
            <a:endParaRPr kumimoji="1" lang="en-US" altLang="zh-CN" dirty="0"/>
          </a:p>
          <a:p>
            <a:r>
              <a:rPr kumimoji="1" lang="zh-CN" altLang="en-US" dirty="0"/>
              <a:t>解决方案：针对于</a:t>
            </a:r>
            <a:r>
              <a:rPr kumimoji="1" lang="en-US" altLang="zh-CN" dirty="0"/>
              <a:t>SSD</a:t>
            </a:r>
            <a:r>
              <a:rPr kumimoji="1" lang="zh-CN" altLang="en-US" dirty="0"/>
              <a:t>来说，</a:t>
            </a:r>
            <a:r>
              <a:rPr kumimoji="1" lang="en-US" altLang="zh-CN" dirty="0"/>
              <a:t>SSD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NVMe</a:t>
            </a:r>
            <a:r>
              <a:rPr kumimoji="1" lang="zh-CN" altLang="en-US" dirty="0"/>
              <a:t>协议的并发访问较好，利用多线程随机读来达到顺序读一样的性能（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换</a:t>
            </a:r>
            <a:r>
              <a:rPr kumimoji="1" lang="en-US" altLang="zh-CN" dirty="0"/>
              <a:t>IO</a:t>
            </a:r>
            <a:r>
              <a:rPr kumimoji="1" lang="zh-CN" altLang="en-US" dirty="0"/>
              <a:t>，而且</a:t>
            </a:r>
            <a:r>
              <a:rPr kumimoji="1" lang="en-US" altLang="zh-CN" dirty="0"/>
              <a:t>SSD</a:t>
            </a:r>
            <a:r>
              <a:rPr kumimoji="1" lang="zh-CN" altLang="en-US" dirty="0"/>
              <a:t>的顺序和随机差别不大）。</a:t>
            </a:r>
            <a:endParaRPr kumimoji="1"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90CD56-73F2-0047-8E04-0E07B628E72D}"/>
              </a:ext>
            </a:extLst>
          </p:cNvPr>
          <p:cNvSpPr txBox="1"/>
          <p:nvPr/>
        </p:nvSpPr>
        <p:spPr>
          <a:xfrm>
            <a:off x="4789264" y="4065032"/>
            <a:ext cx="43547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KV</a:t>
            </a:r>
            <a:r>
              <a:rPr kumimoji="1" lang="zh-CN" altLang="en-US" dirty="0"/>
              <a:t>分离的挑战二：</a:t>
            </a:r>
            <a:r>
              <a:rPr kumimoji="1" lang="en-US" altLang="zh-CN" dirty="0"/>
              <a:t>value log</a:t>
            </a:r>
            <a:r>
              <a:rPr kumimoji="1" lang="zh-CN" altLang="en-US" dirty="0"/>
              <a:t>如何进行回收</a:t>
            </a:r>
            <a:endParaRPr kumimoji="1" lang="en-US" altLang="zh-CN" dirty="0"/>
          </a:p>
          <a:p>
            <a:r>
              <a:rPr kumimoji="1" lang="zh-CN" altLang="en-US" dirty="0"/>
              <a:t>解决方案：两个指针</a:t>
            </a:r>
            <a:r>
              <a:rPr kumimoji="1" lang="en-US" altLang="zh-CN" dirty="0"/>
              <a:t>(tail</a:t>
            </a:r>
            <a:r>
              <a:rPr kumimoji="1" lang="zh-CN" altLang="en-US" dirty="0"/>
              <a:t>用来回收、</a:t>
            </a:r>
            <a:r>
              <a:rPr kumimoji="1" lang="en-US" altLang="zh-CN" dirty="0"/>
              <a:t>head</a:t>
            </a:r>
            <a:r>
              <a:rPr kumimoji="1" lang="zh-CN" altLang="en-US" dirty="0"/>
              <a:t>用来插入</a:t>
            </a:r>
            <a:r>
              <a:rPr kumimoji="1" lang="en-US" altLang="zh-CN" dirty="0"/>
              <a:t>)</a:t>
            </a:r>
            <a:r>
              <a:rPr kumimoji="1" lang="zh-CN" altLang="en-US" dirty="0"/>
              <a:t>，</a:t>
            </a:r>
            <a:r>
              <a:rPr kumimoji="1" lang="en-US" altLang="zh-CN" dirty="0"/>
              <a:t>Time</a:t>
            </a:r>
            <a:r>
              <a:rPr kumimoji="1" lang="zh-CN" altLang="en-US" dirty="0"/>
              <a:t>触发或者阈值设定</a:t>
            </a:r>
            <a:r>
              <a:rPr kumimoji="1" lang="en-US" altLang="zh-CN" dirty="0"/>
              <a:t>GC</a:t>
            </a:r>
            <a:r>
              <a:rPr kumimoji="1" lang="zh-CN" altLang="en-US" dirty="0"/>
              <a:t>时机：</a:t>
            </a:r>
            <a:r>
              <a:rPr kumimoji="1" lang="en-US" altLang="zh-CN" dirty="0"/>
              <a:t>GC</a:t>
            </a:r>
            <a:r>
              <a:rPr kumimoji="1" lang="zh-CN" altLang="en-US" dirty="0"/>
              <a:t>的时候，从</a:t>
            </a:r>
            <a:r>
              <a:rPr kumimoji="1" lang="en-US" altLang="zh-CN" dirty="0"/>
              <a:t>tail</a:t>
            </a:r>
            <a:r>
              <a:rPr kumimoji="1" lang="zh-CN" altLang="en-US" dirty="0"/>
              <a:t>读取多个</a:t>
            </a:r>
            <a:r>
              <a:rPr kumimoji="1" lang="en-US" altLang="zh-CN" dirty="0"/>
              <a:t>value</a:t>
            </a:r>
            <a:r>
              <a:rPr kumimoji="1" lang="zh-CN" altLang="en-US" dirty="0"/>
              <a:t>，进</a:t>
            </a:r>
            <a:r>
              <a:rPr kumimoji="1" lang="en-US" altLang="zh-CN" dirty="0"/>
              <a:t>LSM-tree</a:t>
            </a:r>
            <a:r>
              <a:rPr kumimoji="1" lang="zh-CN" altLang="en-US" dirty="0"/>
              <a:t>查找是否</a:t>
            </a:r>
            <a:r>
              <a:rPr kumimoji="1" lang="en-US" altLang="zh-CN" dirty="0"/>
              <a:t>valid</a:t>
            </a:r>
            <a:r>
              <a:rPr kumimoji="1" lang="zh-CN" altLang="en-US" dirty="0"/>
              <a:t>，然后</a:t>
            </a:r>
            <a:r>
              <a:rPr kumimoji="1" lang="en-US" altLang="zh-CN" dirty="0"/>
              <a:t>valid</a:t>
            </a:r>
            <a:r>
              <a:rPr kumimoji="1" lang="zh-CN" altLang="en-US" dirty="0"/>
              <a:t>的数据重新</a:t>
            </a:r>
            <a:r>
              <a:rPr kumimoji="1" lang="en-US" altLang="zh-CN" dirty="0"/>
              <a:t>append</a:t>
            </a:r>
            <a:r>
              <a:rPr kumimoji="1" lang="zh-CN" altLang="en-US" dirty="0"/>
              <a:t>进</a:t>
            </a:r>
            <a:r>
              <a:rPr kumimoji="1" lang="en-US" altLang="zh-CN" dirty="0"/>
              <a:t>head</a:t>
            </a:r>
            <a:r>
              <a:rPr kumimoji="1" lang="zh-CN" altLang="en-US" dirty="0"/>
              <a:t>中，最终移动头尾指针并回收。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83071344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3815D7B-1A6E-734E-AF0F-9AE911155D40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解决方案</a:t>
            </a:r>
            <a:endParaRPr kumimoji="1" lang="en-US" altLang="zh-CN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508CE6-2D14-024A-88B1-CEB3EE1D8E75}"/>
              </a:ext>
            </a:extLst>
          </p:cNvPr>
          <p:cNvSpPr txBox="1"/>
          <p:nvPr/>
        </p:nvSpPr>
        <p:spPr>
          <a:xfrm>
            <a:off x="628650" y="1228725"/>
            <a:ext cx="368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KV</a:t>
            </a:r>
            <a:r>
              <a:rPr kumimoji="1" lang="zh-CN" altLang="en-US" dirty="0"/>
              <a:t>分离：</a:t>
            </a:r>
            <a:r>
              <a:rPr kumimoji="1" lang="en-US" altLang="zh-CN" dirty="0" err="1"/>
              <a:t>WiscKey</a:t>
            </a:r>
            <a:r>
              <a:rPr kumimoji="1" lang="en-US" altLang="zh-CN" dirty="0"/>
              <a:t>[3]</a:t>
            </a: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4CBD64-FDAF-3C4E-AF00-4F89E3B9A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622" y="1664916"/>
            <a:ext cx="5880756" cy="460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49278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883A893-5680-F048-932B-97C915395363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解决方案</a:t>
            </a:r>
            <a:endParaRPr kumimoji="1" lang="en-US" altLang="zh-CN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3EF08E-118C-664B-867F-98E7FAF67FB6}"/>
              </a:ext>
            </a:extLst>
          </p:cNvPr>
          <p:cNvSpPr txBox="1"/>
          <p:nvPr/>
        </p:nvSpPr>
        <p:spPr>
          <a:xfrm>
            <a:off x="542925" y="1243013"/>
            <a:ext cx="3671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弱有序的</a:t>
            </a:r>
            <a:r>
              <a:rPr kumimoji="1" lang="en-US" altLang="zh-CN" dirty="0"/>
              <a:t>LSM tree</a:t>
            </a:r>
            <a:r>
              <a:rPr kumimoji="1" lang="zh-CN" altLang="en-US" dirty="0"/>
              <a:t>：</a:t>
            </a:r>
            <a:r>
              <a:rPr kumimoji="1" lang="en-US" altLang="zh-CN" dirty="0" err="1"/>
              <a:t>PebblesDB</a:t>
            </a:r>
            <a:r>
              <a:rPr kumimoji="1" lang="en-US" altLang="zh-CN" dirty="0"/>
              <a:t>[4]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FCA5999-186D-264B-9A4F-136C3700D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77" y="1803918"/>
            <a:ext cx="4924625" cy="425398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FA2721A-1060-BF45-8484-1AC2A87986F0}"/>
              </a:ext>
            </a:extLst>
          </p:cNvPr>
          <p:cNvSpPr txBox="1"/>
          <p:nvPr/>
        </p:nvSpPr>
        <p:spPr>
          <a:xfrm>
            <a:off x="5486400" y="1803918"/>
            <a:ext cx="34432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原因：强有序带来更大的写放大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措施：借鉴</a:t>
            </a:r>
            <a:r>
              <a:rPr kumimoji="1" lang="en-US" altLang="zh-CN" dirty="0" err="1"/>
              <a:t>skiplist</a:t>
            </a:r>
            <a:r>
              <a:rPr kumimoji="1" lang="zh-CN" altLang="en-US" dirty="0"/>
              <a:t>的思想，在每一层，以多个</a:t>
            </a:r>
            <a:r>
              <a:rPr kumimoji="1" lang="en-US" altLang="zh-CN" dirty="0" err="1"/>
              <a:t>sst</a:t>
            </a:r>
            <a:r>
              <a:rPr kumimoji="1" lang="zh-CN" altLang="en-US" dirty="0"/>
              <a:t>文件为一组建立</a:t>
            </a:r>
            <a:r>
              <a:rPr kumimoji="1" lang="en-US" altLang="zh-CN" dirty="0"/>
              <a:t>Guard</a:t>
            </a:r>
            <a:r>
              <a:rPr kumimoji="1" lang="zh-CN" altLang="en-US" dirty="0"/>
              <a:t>，让</a:t>
            </a:r>
            <a:r>
              <a:rPr kumimoji="1" lang="en-US" altLang="zh-CN" dirty="0"/>
              <a:t>Guard</a:t>
            </a:r>
            <a:r>
              <a:rPr kumimoji="1" lang="zh-CN" altLang="en-US" dirty="0"/>
              <a:t>强有序，</a:t>
            </a:r>
            <a:r>
              <a:rPr kumimoji="1" lang="en-US" altLang="zh-CN" dirty="0"/>
              <a:t>Guard</a:t>
            </a:r>
            <a:r>
              <a:rPr kumimoji="1" lang="zh-CN" altLang="en-US" dirty="0"/>
              <a:t>中的</a:t>
            </a:r>
            <a:r>
              <a:rPr kumimoji="1" lang="en-US" altLang="zh-CN" dirty="0" err="1"/>
              <a:t>sst</a:t>
            </a:r>
            <a:r>
              <a:rPr kumimoji="1" lang="zh-CN" altLang="en-US" dirty="0"/>
              <a:t>文件不用有序，并且可以重叠，写放大得到一个减小。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Guard</a:t>
            </a:r>
            <a:r>
              <a:rPr kumimoji="1" lang="zh-CN" altLang="en-US" dirty="0"/>
              <a:t>代表当前</a:t>
            </a:r>
            <a:r>
              <a:rPr kumimoji="1" lang="en-US" altLang="zh-CN" dirty="0"/>
              <a:t>fragment</a:t>
            </a:r>
            <a:r>
              <a:rPr kumimoji="1" lang="zh-CN" altLang="en-US" dirty="0"/>
              <a:t>的最小</a:t>
            </a:r>
            <a:r>
              <a:rPr kumimoji="1" lang="en-US" altLang="zh-CN" dirty="0"/>
              <a:t>key</a:t>
            </a:r>
            <a:r>
              <a:rPr kumimoji="1" lang="zh-CN" altLang="en-US" dirty="0"/>
              <a:t>值</a:t>
            </a:r>
            <a:endParaRPr kumimoji="1" lang="en-US" altLang="zh-CN" dirty="0"/>
          </a:p>
          <a:p>
            <a:r>
              <a:rPr kumimoji="1" lang="zh-CN" altLang="en-US" dirty="0"/>
              <a:t>带来的问题：如果选取</a:t>
            </a:r>
            <a:r>
              <a:rPr kumimoji="1" lang="en-US" altLang="zh-CN" dirty="0"/>
              <a:t>Guard</a:t>
            </a:r>
            <a:r>
              <a:rPr kumimoji="1" lang="zh-CN" altLang="en-US" dirty="0"/>
              <a:t>？</a:t>
            </a:r>
            <a:r>
              <a:rPr kumimoji="1" lang="en-US" altLang="zh-CN" dirty="0"/>
              <a:t>Guard</a:t>
            </a:r>
            <a:r>
              <a:rPr kumimoji="1" lang="zh-CN" altLang="en-US" dirty="0"/>
              <a:t>如何分割？一个</a:t>
            </a:r>
            <a:r>
              <a:rPr kumimoji="1" lang="en-US" altLang="zh-CN" dirty="0"/>
              <a:t>Guard</a:t>
            </a:r>
            <a:r>
              <a:rPr kumimoji="1" lang="zh-CN" altLang="en-US" dirty="0"/>
              <a:t>里面有多少数据？如何进行</a:t>
            </a:r>
            <a:r>
              <a:rPr kumimoji="1" lang="en-US" altLang="zh-CN" dirty="0"/>
              <a:t>Guard</a:t>
            </a:r>
            <a:r>
              <a:rPr kumimoji="1" lang="zh-CN" altLang="en-US" dirty="0"/>
              <a:t>的分割？</a:t>
            </a:r>
          </a:p>
        </p:txBody>
      </p:sp>
    </p:spTree>
    <p:extLst>
      <p:ext uri="{BB962C8B-B14F-4D97-AF65-F5344CB8AC3E}">
        <p14:creationId xmlns:p14="http://schemas.microsoft.com/office/powerpoint/2010/main" val="3562318126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61FB05-EB38-8E4B-A6D1-16FCBD8EF526}"/>
              </a:ext>
            </a:extLst>
          </p:cNvPr>
          <p:cNvSpPr txBox="1"/>
          <p:nvPr/>
        </p:nvSpPr>
        <p:spPr>
          <a:xfrm>
            <a:off x="1457326" y="3429000"/>
            <a:ext cx="6843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/>
              <a:t>LSM-Tree</a:t>
            </a:r>
            <a:r>
              <a:rPr kumimoji="1" lang="zh-CN" altLang="en-US" sz="3600" dirty="0"/>
              <a:t>写尾延迟过大的问题</a:t>
            </a:r>
          </a:p>
        </p:txBody>
      </p:sp>
    </p:spTree>
    <p:extLst>
      <p:ext uri="{BB962C8B-B14F-4D97-AF65-F5344CB8AC3E}">
        <p14:creationId xmlns:p14="http://schemas.microsoft.com/office/powerpoint/2010/main" val="3088134683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BCD1198-3EC1-1E47-9DE2-A0A20ED37C72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LSM-Tree</a:t>
            </a:r>
            <a:r>
              <a:rPr kumimoji="1" lang="zh-CN" altLang="en-US" sz="2400" dirty="0"/>
              <a:t>写尾延迟过大的问题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60DD63-6EC2-D440-A361-0B9D6D377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0855"/>
            <a:ext cx="8783139" cy="402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528196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F7DD105-494E-864F-970C-922E9C87A020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LSM-Tree</a:t>
            </a:r>
            <a:r>
              <a:rPr kumimoji="1" lang="zh-CN" altLang="en-US" sz="2400" dirty="0"/>
              <a:t>写尾延迟过大的问题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F3A40B-33ED-0947-A2EC-C87E6C78B0AF}"/>
              </a:ext>
            </a:extLst>
          </p:cNvPr>
          <p:cNvSpPr txBox="1"/>
          <p:nvPr/>
        </p:nvSpPr>
        <p:spPr>
          <a:xfrm>
            <a:off x="654257" y="1385888"/>
            <a:ext cx="5689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﻿SILK: Preventing Latency Spikes in Log-Structured Merge Key-Value Stores[5]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272F51-3A1A-554F-BB8F-6A3824132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39" y="2124733"/>
            <a:ext cx="8059122" cy="414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78271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8DC100B-CBBE-6C45-9FAA-A1CEE4657F28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LSM-Tree</a:t>
            </a:r>
            <a:r>
              <a:rPr kumimoji="1" lang="zh-CN" altLang="en-US" sz="2400" dirty="0"/>
              <a:t>写尾延迟过大的问题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36B679-D20E-B240-A805-B8DECE1F5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711611"/>
            <a:ext cx="8915400" cy="45566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65D4971-F674-A143-897B-5D42B16C4280}"/>
              </a:ext>
            </a:extLst>
          </p:cNvPr>
          <p:cNvSpPr txBox="1"/>
          <p:nvPr/>
        </p:nvSpPr>
        <p:spPr>
          <a:xfrm>
            <a:off x="928688" y="1257300"/>
            <a:ext cx="6129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L0</a:t>
            </a:r>
            <a:r>
              <a:rPr kumimoji="1" lang="zh-CN" altLang="en-US" dirty="0"/>
              <a:t>满了，无法进行</a:t>
            </a:r>
            <a:r>
              <a:rPr kumimoji="1" lang="en-US" altLang="zh-CN" dirty="0"/>
              <a:t>Flush</a:t>
            </a:r>
            <a:r>
              <a:rPr kumimoji="1" lang="zh-CN" altLang="en-US" dirty="0"/>
              <a:t>，所以卡住了，写尾延迟高</a:t>
            </a:r>
          </a:p>
        </p:txBody>
      </p:sp>
    </p:spTree>
    <p:extLst>
      <p:ext uri="{BB962C8B-B14F-4D97-AF65-F5344CB8AC3E}">
        <p14:creationId xmlns:p14="http://schemas.microsoft.com/office/powerpoint/2010/main" val="3967321533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A17830D-2FD2-BF4F-8965-F7B736CA4B70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LSM-Tree</a:t>
            </a:r>
            <a:r>
              <a:rPr kumimoji="1" lang="zh-CN" altLang="en-US" sz="2400" dirty="0"/>
              <a:t>写尾延迟过大的问题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4EF88B-C88D-8F47-B108-893F12FBA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22" y="1547043"/>
            <a:ext cx="8115756" cy="425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12410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239921A-F60B-E74A-BE47-4AF33F77E861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LSM-Tree</a:t>
            </a:r>
            <a:r>
              <a:rPr kumimoji="1" lang="zh-CN" altLang="en-US" sz="2400" dirty="0"/>
              <a:t>写尾延迟过大的问题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CEE80C-A141-C645-A3DE-A901B25E5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1687201"/>
            <a:ext cx="8491655" cy="4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0668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76FB13F-A3AB-C34D-AC7B-37FC87C0A706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LSM-Tree</a:t>
            </a:r>
            <a:r>
              <a:rPr kumimoji="1" lang="zh-CN" altLang="en-US" sz="2400" dirty="0"/>
              <a:t>写尾延迟过大的问题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9682CD-F42A-9645-9BF5-E462D8D93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99" y="1534615"/>
            <a:ext cx="8718002" cy="426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49430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56EC3E6-E0EA-FC48-9BA1-A15EE2750780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LSM-Tree</a:t>
            </a:r>
            <a:r>
              <a:rPr kumimoji="1" lang="zh-CN" altLang="en-US" sz="2400" dirty="0"/>
              <a:t>写尾延迟过大的问题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7D9AB2-DB0F-3A40-A477-D8303B01A6F8}"/>
              </a:ext>
            </a:extLst>
          </p:cNvPr>
          <p:cNvSpPr txBox="1"/>
          <p:nvPr/>
        </p:nvSpPr>
        <p:spPr>
          <a:xfrm>
            <a:off x="223877" y="2826740"/>
            <a:ext cx="34319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设计目标：</a:t>
            </a:r>
            <a:br>
              <a:rPr kumimoji="1" lang="en-US" altLang="zh-CN" dirty="0"/>
            </a:br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）确保</a:t>
            </a:r>
            <a:r>
              <a:rPr kumimoji="1" lang="en-US" altLang="zh-CN" dirty="0"/>
              <a:t>L0</a:t>
            </a:r>
            <a:r>
              <a:rPr kumimoji="1" lang="zh-CN" altLang="en-US" dirty="0"/>
              <a:t>层不会满；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）确保足够的</a:t>
            </a:r>
            <a:r>
              <a:rPr kumimoji="1" lang="en-US" altLang="zh-CN" dirty="0"/>
              <a:t>IO</a:t>
            </a:r>
            <a:r>
              <a:rPr kumimoji="1" lang="zh-CN" altLang="en-US" dirty="0"/>
              <a:t>给</a:t>
            </a:r>
            <a:r>
              <a:rPr kumimoji="1" lang="en-US" altLang="zh-CN" dirty="0"/>
              <a:t>Flush</a:t>
            </a:r>
            <a:r>
              <a:rPr kumimoji="1" lang="zh-CN" altLang="en-US" dirty="0"/>
              <a:t>和低层次的</a:t>
            </a:r>
            <a:r>
              <a:rPr kumimoji="1" lang="en-US" altLang="zh-CN" dirty="0"/>
              <a:t>compaction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）确保其它层次的</a:t>
            </a:r>
            <a:r>
              <a:rPr kumimoji="1" lang="en-US" altLang="zh-CN" dirty="0"/>
              <a:t>compactions</a:t>
            </a:r>
            <a:r>
              <a:rPr kumimoji="1" lang="zh-CN" altLang="en-US" dirty="0"/>
              <a:t>不会落后太多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68EF54-3F56-2441-AAA6-05D7E7AD2721}"/>
              </a:ext>
            </a:extLst>
          </p:cNvPr>
          <p:cNvSpPr txBox="1"/>
          <p:nvPr/>
        </p:nvSpPr>
        <p:spPr>
          <a:xfrm>
            <a:off x="4572000" y="1521380"/>
            <a:ext cx="35290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措施</a:t>
            </a:r>
            <a:r>
              <a:rPr kumimoji="1" lang="en-US" altLang="zh-CN" dirty="0"/>
              <a:t>1:</a:t>
            </a:r>
            <a:r>
              <a:rPr kumimoji="1" lang="zh-CN" altLang="en-US" dirty="0"/>
              <a:t>在</a:t>
            </a:r>
            <a:r>
              <a:rPr kumimoji="1" lang="en-US" altLang="zh-CN" dirty="0"/>
              <a:t>Client I/O</a:t>
            </a:r>
            <a:r>
              <a:rPr kumimoji="1" lang="zh-CN" altLang="en-US" dirty="0"/>
              <a:t>请求小的时候，增加内部操作的</a:t>
            </a:r>
            <a:r>
              <a:rPr kumimoji="1" lang="en-US" altLang="zh-CN" dirty="0"/>
              <a:t>I/O</a:t>
            </a:r>
            <a:r>
              <a:rPr kumimoji="1" lang="zh-CN" altLang="en-US" dirty="0"/>
              <a:t>占比</a:t>
            </a:r>
            <a:r>
              <a:rPr kumimoji="1" lang="en-US" altLang="zh-CN" dirty="0"/>
              <a:t>(flush</a:t>
            </a:r>
            <a:r>
              <a:rPr kumimoji="1" lang="zh-CN" altLang="en-US" dirty="0"/>
              <a:t>、</a:t>
            </a:r>
            <a:r>
              <a:rPr kumimoji="1" lang="en-US" altLang="zh-CN" dirty="0"/>
              <a:t>compaction)</a:t>
            </a:r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C2EB492-1ADE-E445-8F5A-D64920907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844" y="3131428"/>
            <a:ext cx="5032454" cy="289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122906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1AC9C74-E19B-AA40-AD44-D21837BA1968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LSM-Tree</a:t>
            </a:r>
            <a:r>
              <a:rPr kumimoji="1" lang="zh-CN" altLang="en-US" sz="2400" dirty="0"/>
              <a:t>写尾延迟过大的问题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CD9AB7-5D4E-B24F-8405-9B61F94E13D2}"/>
              </a:ext>
            </a:extLst>
          </p:cNvPr>
          <p:cNvSpPr txBox="1"/>
          <p:nvPr/>
        </p:nvSpPr>
        <p:spPr>
          <a:xfrm>
            <a:off x="4965700" y="1997839"/>
            <a:ext cx="36290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措施</a:t>
            </a:r>
            <a:r>
              <a:rPr kumimoji="1" lang="en-US" altLang="zh-CN" dirty="0"/>
              <a:t>2:</a:t>
            </a:r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）将</a:t>
            </a:r>
            <a:r>
              <a:rPr kumimoji="1" lang="en-US" altLang="zh-CN" dirty="0"/>
              <a:t>Flushing</a:t>
            </a:r>
            <a:r>
              <a:rPr kumimoji="1" lang="zh-CN" altLang="en-US" dirty="0"/>
              <a:t>和</a:t>
            </a:r>
            <a:r>
              <a:rPr kumimoji="1" lang="en-US" altLang="zh-CN" dirty="0"/>
              <a:t>L0</a:t>
            </a:r>
            <a:r>
              <a:rPr kumimoji="1" lang="en-US" altLang="zh-CN" dirty="0">
                <a:sym typeface="Wingdings" pitchFamily="2" charset="2"/>
              </a:rPr>
              <a:t> L1 compaction</a:t>
            </a:r>
            <a:r>
              <a:rPr kumimoji="1" lang="zh-CN" altLang="en-US" dirty="0">
                <a:sym typeface="Wingdings" pitchFamily="2" charset="2"/>
              </a:rPr>
              <a:t>的线程绑定在一个线程池中，其它高层次的</a:t>
            </a:r>
            <a:r>
              <a:rPr kumimoji="1" lang="en-US" altLang="zh-CN" dirty="0">
                <a:sym typeface="Wingdings" pitchFamily="2" charset="2"/>
              </a:rPr>
              <a:t>compaction</a:t>
            </a:r>
            <a:r>
              <a:rPr kumimoji="1" lang="zh-CN" altLang="en-US" dirty="0">
                <a:sym typeface="Wingdings" pitchFamily="2" charset="2"/>
              </a:rPr>
              <a:t>则在其它线程池中；</a:t>
            </a:r>
            <a:endParaRPr kumimoji="1" lang="en-US" altLang="zh-CN" dirty="0">
              <a:sym typeface="Wingdings" pitchFamily="2" charset="2"/>
            </a:endParaRPr>
          </a:p>
          <a:p>
            <a:r>
              <a:rPr kumimoji="1" lang="zh-CN" altLang="en-US" dirty="0">
                <a:sym typeface="Wingdings" pitchFamily="2" charset="2"/>
              </a:rPr>
              <a:t>（</a:t>
            </a:r>
            <a:r>
              <a:rPr kumimoji="1" lang="en-US" altLang="zh-CN" dirty="0">
                <a:sym typeface="Wingdings" pitchFamily="2" charset="2"/>
              </a:rPr>
              <a:t>2</a:t>
            </a:r>
            <a:r>
              <a:rPr kumimoji="1" lang="zh-CN" altLang="en-US" dirty="0">
                <a:sym typeface="Wingdings" pitchFamily="2" charset="2"/>
              </a:rPr>
              <a:t>）将</a:t>
            </a:r>
            <a:r>
              <a:rPr kumimoji="1" lang="en-US" altLang="zh-CN" dirty="0">
                <a:sym typeface="Wingdings" pitchFamily="2" charset="2"/>
              </a:rPr>
              <a:t>I/O</a:t>
            </a:r>
            <a:r>
              <a:rPr kumimoji="1" lang="zh-CN" altLang="en-US" dirty="0">
                <a:sym typeface="Wingdings" pitchFamily="2" charset="2"/>
              </a:rPr>
              <a:t>带宽以及</a:t>
            </a:r>
            <a:r>
              <a:rPr kumimoji="1" lang="en-US" altLang="zh-CN" dirty="0">
                <a:sym typeface="Wingdings" pitchFamily="2" charset="2"/>
              </a:rPr>
              <a:t>CPU</a:t>
            </a:r>
            <a:r>
              <a:rPr kumimoji="1" lang="zh-CN" altLang="en-US" dirty="0">
                <a:sym typeface="Wingdings" pitchFamily="2" charset="2"/>
              </a:rPr>
              <a:t>等资源优先调度给</a:t>
            </a:r>
            <a:r>
              <a:rPr kumimoji="1" lang="en-US" altLang="zh-CN" dirty="0">
                <a:sym typeface="Wingdings" pitchFamily="2" charset="2"/>
              </a:rPr>
              <a:t>Flush</a:t>
            </a:r>
            <a:r>
              <a:rPr kumimoji="1" lang="zh-CN" altLang="en-US" dirty="0">
                <a:sym typeface="Wingdings" pitchFamily="2" charset="2"/>
              </a:rPr>
              <a:t>和</a:t>
            </a:r>
            <a:r>
              <a:rPr kumimoji="1" lang="en-US" altLang="zh-CN" dirty="0">
                <a:sym typeface="Wingdings" pitchFamily="2" charset="2"/>
              </a:rPr>
              <a:t>L0 -&gt; L1 compactions.</a:t>
            </a:r>
          </a:p>
          <a:p>
            <a:r>
              <a:rPr kumimoji="1" lang="zh-CN" altLang="en-US" dirty="0">
                <a:sym typeface="Wingdings" pitchFamily="2" charset="2"/>
              </a:rPr>
              <a:t>（</a:t>
            </a:r>
            <a:r>
              <a:rPr kumimoji="1" lang="en-US" altLang="zh-CN" dirty="0">
                <a:sym typeface="Wingdings" pitchFamily="2" charset="2"/>
              </a:rPr>
              <a:t>3</a:t>
            </a:r>
            <a:r>
              <a:rPr kumimoji="1" lang="zh-CN" altLang="en-US" dirty="0">
                <a:sym typeface="Wingdings" pitchFamily="2" charset="2"/>
              </a:rPr>
              <a:t>）</a:t>
            </a:r>
            <a:r>
              <a:rPr kumimoji="1" lang="en-US" altLang="zh-CN" dirty="0">
                <a:sym typeface="Wingdings" pitchFamily="2" charset="2"/>
              </a:rPr>
              <a:t>L0 -&gt; L1</a:t>
            </a:r>
            <a:r>
              <a:rPr kumimoji="1" lang="zh-CN" altLang="en-US" dirty="0">
                <a:sym typeface="Wingdings" pitchFamily="2" charset="2"/>
              </a:rPr>
              <a:t>和</a:t>
            </a:r>
            <a:r>
              <a:rPr kumimoji="1" lang="en-US" altLang="zh-CN" dirty="0">
                <a:sym typeface="Wingdings" pitchFamily="2" charset="2"/>
              </a:rPr>
              <a:t>flush</a:t>
            </a:r>
            <a:r>
              <a:rPr kumimoji="1" lang="zh-CN" altLang="en-US" dirty="0">
                <a:sym typeface="Wingdings" pitchFamily="2" charset="2"/>
              </a:rPr>
              <a:t>线程可以抢占高层次的</a:t>
            </a:r>
            <a:r>
              <a:rPr kumimoji="1" lang="en-US" altLang="zh-CN" dirty="0">
                <a:sym typeface="Wingdings" pitchFamily="2" charset="2"/>
              </a:rPr>
              <a:t>IO</a:t>
            </a:r>
            <a:r>
              <a:rPr kumimoji="1" lang="zh-CN" altLang="en-US" dirty="0">
                <a:sym typeface="Wingdings" pitchFamily="2" charset="2"/>
              </a:rPr>
              <a:t>带宽</a:t>
            </a:r>
            <a:endParaRPr kumimoji="1" lang="en-US" altLang="zh-CN" dirty="0">
              <a:sym typeface="Wingdings" pitchFamily="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98A0296-53AC-7B46-B28E-C69A51225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5001"/>
            <a:ext cx="4760726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11540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F8D185-3B44-7D4B-B169-2A656ECF56E3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LSM-Tree</a:t>
            </a:r>
            <a:r>
              <a:rPr kumimoji="1" lang="zh-CN" altLang="en-US" sz="2400" dirty="0"/>
              <a:t>写尾延迟过大的问题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448D51-794E-1240-88DB-C536B9F482D0}"/>
              </a:ext>
            </a:extLst>
          </p:cNvPr>
          <p:cNvSpPr txBox="1"/>
          <p:nvPr/>
        </p:nvSpPr>
        <p:spPr>
          <a:xfrm>
            <a:off x="800100" y="1328738"/>
            <a:ext cx="3100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效果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C095352-B4EA-C74E-89BE-4240C5887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23" y="2129256"/>
            <a:ext cx="8521354" cy="39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04957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4E37140-3164-414D-B257-9A6D99FEF40C}"/>
              </a:ext>
            </a:extLst>
          </p:cNvPr>
          <p:cNvSpPr txBox="1"/>
          <p:nvPr/>
        </p:nvSpPr>
        <p:spPr>
          <a:xfrm>
            <a:off x="1457326" y="3429000"/>
            <a:ext cx="6843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/>
              <a:t>LSM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Tree </a:t>
            </a:r>
            <a:r>
              <a:rPr kumimoji="1" lang="zh-CN" altLang="en-US" sz="3600" dirty="0"/>
              <a:t>新型硬件优化策略</a:t>
            </a:r>
          </a:p>
        </p:txBody>
      </p:sp>
    </p:spTree>
    <p:extLst>
      <p:ext uri="{BB962C8B-B14F-4D97-AF65-F5344CB8AC3E}">
        <p14:creationId xmlns:p14="http://schemas.microsoft.com/office/powerpoint/2010/main" val="3066346881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E42428C-3D1B-1E4B-B363-9DB4A6828FE4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KVSSD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09BF7C-B49D-1E46-B4F4-B570673F9E8D}"/>
              </a:ext>
            </a:extLst>
          </p:cNvPr>
          <p:cNvSpPr txBox="1"/>
          <p:nvPr/>
        </p:nvSpPr>
        <p:spPr>
          <a:xfrm>
            <a:off x="542925" y="1328738"/>
            <a:ext cx="687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KVSSD</a:t>
            </a:r>
            <a:r>
              <a:rPr kumimoji="1" lang="zh-CN" altLang="en-US" dirty="0"/>
              <a:t>：</a:t>
            </a:r>
            <a:r>
              <a:rPr kumimoji="1" lang="en-US" altLang="zh-CN" dirty="0"/>
              <a:t>Close Integration of LSM Trees and Flash Translation Layer for Write-Efficient KV Store[6]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262773-8922-8747-A64E-B8D91BF18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1174"/>
            <a:ext cx="4607474" cy="345757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574FAC6-DF6A-A743-A696-9E875236FA2F}"/>
              </a:ext>
            </a:extLst>
          </p:cNvPr>
          <p:cNvSpPr/>
          <p:nvPr/>
        </p:nvSpPr>
        <p:spPr>
          <a:xfrm>
            <a:off x="4593431" y="2559427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en-US" altLang="zh-CN" b="1" dirty="0" err="1"/>
              <a:t>Memtable</a:t>
            </a:r>
            <a:endParaRPr lang="en-US" altLang="zh-CN" b="1" dirty="0"/>
          </a:p>
          <a:p>
            <a:pPr marL="457200" indent="-457200">
              <a:buFont typeface="+mj-ea"/>
              <a:buAutoNum type="circleNumDbPlain"/>
            </a:pPr>
            <a:endParaRPr lang="en-US" altLang="zh-CN" b="1" dirty="0"/>
          </a:p>
          <a:p>
            <a:pPr marL="457200" indent="-457200">
              <a:buFont typeface="+mj-ea"/>
              <a:buAutoNum type="circleNumDbPlain"/>
            </a:pPr>
            <a:r>
              <a:rPr lang="en-US" altLang="zh-CN" b="1" dirty="0"/>
              <a:t>Key Range Tree</a:t>
            </a:r>
            <a:r>
              <a:rPr lang="en-US" altLang="zh-CN" dirty="0"/>
              <a:t>: </a:t>
            </a:r>
            <a:r>
              <a:rPr lang="zh-CN" altLang="en-US" dirty="0"/>
              <a:t>代表了</a:t>
            </a:r>
            <a:r>
              <a:rPr lang="en-US" altLang="zh-CN" dirty="0"/>
              <a:t>LSM</a:t>
            </a:r>
            <a:r>
              <a:rPr lang="zh-CN" altLang="en-US" dirty="0"/>
              <a:t>的分层结构，每个树节点代表</a:t>
            </a:r>
            <a:r>
              <a:rPr lang="en-US" altLang="zh-CN" dirty="0" err="1"/>
              <a:t>SSTable</a:t>
            </a:r>
            <a:r>
              <a:rPr lang="zh-CN" altLang="en-US" dirty="0"/>
              <a:t>的</a:t>
            </a:r>
            <a:r>
              <a:rPr lang="en-US" altLang="zh-CN" dirty="0"/>
              <a:t>key range</a:t>
            </a:r>
            <a:r>
              <a:rPr lang="zh-CN" altLang="en-US" dirty="0"/>
              <a:t>，包含指向该</a:t>
            </a:r>
            <a:r>
              <a:rPr lang="en-US" altLang="zh-CN" dirty="0" err="1"/>
              <a:t>SSTable</a:t>
            </a:r>
            <a:r>
              <a:rPr lang="zh-CN" altLang="en-US" dirty="0"/>
              <a:t>的</a:t>
            </a:r>
            <a:r>
              <a:rPr lang="en-US" altLang="zh-CN" dirty="0"/>
              <a:t>metadata page</a:t>
            </a:r>
            <a:r>
              <a:rPr lang="zh-CN" altLang="en-US" dirty="0"/>
              <a:t>的指针。</a:t>
            </a: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en-US" altLang="zh-CN" b="1" dirty="0"/>
              <a:t>Metadata Zone</a:t>
            </a:r>
            <a:r>
              <a:rPr lang="zh-CN" altLang="en-US" dirty="0"/>
              <a:t>：包含</a:t>
            </a:r>
            <a:r>
              <a:rPr lang="en-US" altLang="zh-CN" dirty="0"/>
              <a:t>key range</a:t>
            </a:r>
            <a:r>
              <a:rPr lang="zh-CN" altLang="en-US" dirty="0"/>
              <a:t>和指向</a:t>
            </a:r>
            <a:r>
              <a:rPr lang="en-US" altLang="zh-CN" dirty="0"/>
              <a:t>KV page</a:t>
            </a:r>
            <a:r>
              <a:rPr lang="zh-CN" altLang="en-US" dirty="0"/>
              <a:t>的指针。</a:t>
            </a: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en-US" altLang="zh-CN" b="1" dirty="0"/>
              <a:t>KV Zone</a:t>
            </a:r>
            <a:r>
              <a:rPr lang="zh-CN" altLang="en-US" dirty="0"/>
              <a:t>：实际存储有序的</a:t>
            </a:r>
            <a:r>
              <a:rPr lang="en-US" altLang="zh-CN" dirty="0"/>
              <a:t>KV</a:t>
            </a:r>
            <a:r>
              <a:rPr lang="zh-CN" altLang="en-US" dirty="0"/>
              <a:t>键值对。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61522024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5184F0B-5594-9749-A2A1-C847070AEB63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KVSSD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38B179-8DED-F84A-A52B-A9A27D77FD25}"/>
              </a:ext>
            </a:extLst>
          </p:cNvPr>
          <p:cNvSpPr txBox="1"/>
          <p:nvPr/>
        </p:nvSpPr>
        <p:spPr>
          <a:xfrm>
            <a:off x="654258" y="1314450"/>
            <a:ext cx="3746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Remapping Compaction</a:t>
            </a:r>
            <a:endParaRPr kumimoji="1"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CFCA0F-D265-244F-9136-E07C4B93E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29" y="2357672"/>
            <a:ext cx="4567223" cy="318587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6FFE2CE-D8CC-174C-94FB-B1B2B608D854}"/>
              </a:ext>
            </a:extLst>
          </p:cNvPr>
          <p:cNvSpPr/>
          <p:nvPr/>
        </p:nvSpPr>
        <p:spPr>
          <a:xfrm>
            <a:off x="4572000" y="2657949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/>
              <a:t>（</a:t>
            </a:r>
            <a:r>
              <a:rPr lang="en-US" altLang="zh-CN" b="1" dirty="0" err="1"/>
              <a:t>rLSM</a:t>
            </a:r>
            <a:r>
              <a:rPr lang="en-US" altLang="zh-CN" b="1" dirty="0"/>
              <a:t>-</a:t>
            </a:r>
            <a:r>
              <a:rPr lang="zh-CN" altLang="en-US" b="1" dirty="0"/>
              <a:t>）不执行实际</a:t>
            </a:r>
            <a:r>
              <a:rPr lang="en-US" altLang="zh-CN" b="1" dirty="0"/>
              <a:t>Compaction</a:t>
            </a:r>
            <a:r>
              <a:rPr lang="zh-CN" altLang="en-US" b="1" dirty="0"/>
              <a:t>操作。</a:t>
            </a:r>
            <a:endParaRPr lang="en-US" altLang="zh-CN" b="1" dirty="0"/>
          </a:p>
          <a:p>
            <a:endParaRPr lang="en-US" altLang="zh-CN" b="1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只修改元数据。新</a:t>
            </a:r>
            <a:r>
              <a:rPr lang="en-US" altLang="zh-CN" dirty="0"/>
              <a:t>metadata</a:t>
            </a:r>
            <a:r>
              <a:rPr lang="zh-CN" altLang="en-US" dirty="0"/>
              <a:t>中</a:t>
            </a:r>
            <a:r>
              <a:rPr lang="en-US" altLang="zh-CN" dirty="0"/>
              <a:t>KV page</a:t>
            </a:r>
            <a:r>
              <a:rPr lang="zh-CN" altLang="en-US" dirty="0"/>
              <a:t>指针指向已存在的</a:t>
            </a:r>
            <a:r>
              <a:rPr lang="en-US" altLang="zh-CN" dirty="0"/>
              <a:t>KV page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图中常规</a:t>
            </a:r>
            <a:r>
              <a:rPr lang="en-US" altLang="zh-CN" dirty="0"/>
              <a:t>Compaction</a:t>
            </a:r>
            <a:r>
              <a:rPr lang="zh-CN" altLang="en-US" dirty="0"/>
              <a:t>需要重写</a:t>
            </a:r>
            <a:r>
              <a:rPr lang="en-US" altLang="zh-CN" dirty="0"/>
              <a:t>12</a:t>
            </a:r>
            <a:r>
              <a:rPr lang="zh-CN" altLang="en-US" dirty="0"/>
              <a:t>个</a:t>
            </a:r>
            <a:r>
              <a:rPr lang="en-US" altLang="zh-CN" dirty="0"/>
              <a:t>KV pages</a:t>
            </a:r>
            <a:r>
              <a:rPr lang="zh-CN" altLang="en-US" dirty="0"/>
              <a:t>和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  <a:r>
              <a:rPr lang="en-US" altLang="zh-CN" dirty="0"/>
              <a:t>metadata pages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而</a:t>
            </a:r>
            <a:r>
              <a:rPr lang="en-US" altLang="zh-CN" dirty="0"/>
              <a:t>Remapping</a:t>
            </a:r>
            <a:r>
              <a:rPr lang="zh-CN" altLang="en-US" dirty="0"/>
              <a:t>操作仅需重写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  <a:r>
              <a:rPr lang="en-US" altLang="zh-CN" dirty="0"/>
              <a:t>metadata pages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会出现重叠范围的</a:t>
            </a:r>
            <a:r>
              <a:rPr lang="en-US" altLang="zh-CN" dirty="0"/>
              <a:t>KV page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13095116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C99B0CE-98C6-E344-A0A2-79E2909468C1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KVSSD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340F8C-8689-344F-A1AF-CF149AB1362E}"/>
              </a:ext>
            </a:extLst>
          </p:cNvPr>
          <p:cNvSpPr txBox="1"/>
          <p:nvPr/>
        </p:nvSpPr>
        <p:spPr>
          <a:xfrm>
            <a:off x="654258" y="1314450"/>
            <a:ext cx="3746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Remapping Compaction</a:t>
            </a:r>
            <a:endParaRPr kumimoji="1"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F3FD309-14C3-2C43-95E7-9633FB80A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4" y="2304774"/>
            <a:ext cx="4531276" cy="28771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A98C39-9628-1542-B28D-C282A4F0DCEE}"/>
              </a:ext>
            </a:extLst>
          </p:cNvPr>
          <p:cNvSpPr/>
          <p:nvPr/>
        </p:nvSpPr>
        <p:spPr>
          <a:xfrm>
            <a:off x="4572000" y="2589174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/>
              <a:t>（</a:t>
            </a:r>
            <a:r>
              <a:rPr lang="en-US" altLang="zh-CN" b="1" dirty="0" err="1"/>
              <a:t>rLSM</a:t>
            </a:r>
            <a:r>
              <a:rPr lang="en-US" altLang="zh-CN" b="1" dirty="0"/>
              <a:t>-</a:t>
            </a:r>
            <a:r>
              <a:rPr lang="zh-CN" altLang="en-US" b="1" dirty="0"/>
              <a:t>）不执行实际</a:t>
            </a:r>
            <a:r>
              <a:rPr lang="en-US" altLang="zh-CN" b="1" dirty="0"/>
              <a:t>Compaction</a:t>
            </a:r>
            <a:r>
              <a:rPr lang="zh-CN" altLang="en-US" b="1" dirty="0"/>
              <a:t>操作。</a:t>
            </a:r>
            <a:endParaRPr lang="en-US" altLang="zh-CN" b="1" dirty="0"/>
          </a:p>
          <a:p>
            <a:endParaRPr lang="en-US" altLang="zh-CN" b="1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来自上层的重叠</a:t>
            </a:r>
            <a:r>
              <a:rPr lang="en-US" altLang="zh-CN" dirty="0"/>
              <a:t>KV page</a:t>
            </a:r>
            <a:r>
              <a:rPr lang="zh-CN" altLang="en-US" dirty="0"/>
              <a:t>放在</a:t>
            </a:r>
            <a:r>
              <a:rPr lang="en-US" altLang="zh-CN" dirty="0"/>
              <a:t>metadata page</a:t>
            </a:r>
            <a:r>
              <a:rPr lang="zh-CN" altLang="en-US" dirty="0"/>
              <a:t>的前端。</a:t>
            </a: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查询时会造成读放大。</a:t>
            </a: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每个</a:t>
            </a:r>
            <a:r>
              <a:rPr lang="en-US" altLang="zh-CN" dirty="0"/>
              <a:t>metadata</a:t>
            </a:r>
            <a:r>
              <a:rPr lang="zh-CN" altLang="en-US" dirty="0"/>
              <a:t>记录重叠的</a:t>
            </a:r>
            <a:r>
              <a:rPr lang="en-US" altLang="zh-CN" dirty="0"/>
              <a:t>KV page</a:t>
            </a:r>
            <a:r>
              <a:rPr lang="zh-CN" altLang="en-US" dirty="0"/>
              <a:t>来自多少不同层。并设置阈值，超过阈值会进行实际的</a:t>
            </a:r>
            <a:r>
              <a:rPr lang="en-US" altLang="zh-CN" dirty="0"/>
              <a:t>Compaction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40536368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F685900-2B8B-C84C-A5CA-D54DC9E12359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PM + LSM Tree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645417-8AA9-6644-A855-C25B54341DD7}"/>
              </a:ext>
            </a:extLst>
          </p:cNvPr>
          <p:cNvSpPr txBox="1"/>
          <p:nvPr/>
        </p:nvSpPr>
        <p:spPr>
          <a:xfrm>
            <a:off x="654258" y="1295400"/>
            <a:ext cx="6470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Redesigning LSMs for Nonvolatile Memory with </a:t>
            </a:r>
            <a:r>
              <a:rPr kumimoji="1" lang="en" altLang="zh-CN" dirty="0" err="1"/>
              <a:t>NoveLSM</a:t>
            </a:r>
            <a:r>
              <a:rPr kumimoji="1" lang="en" altLang="zh-CN" dirty="0"/>
              <a:t>[7]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5DC945-B109-D54E-8EDE-B9D9EF1E41F6}"/>
              </a:ext>
            </a:extLst>
          </p:cNvPr>
          <p:cNvSpPr txBox="1"/>
          <p:nvPr/>
        </p:nvSpPr>
        <p:spPr>
          <a:xfrm>
            <a:off x="4483100" y="1905000"/>
            <a:ext cx="4089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出发点：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）字节寻址的</a:t>
            </a:r>
            <a:r>
              <a:rPr kumimoji="1" lang="en-US" altLang="zh-CN" dirty="0"/>
              <a:t>NVM</a:t>
            </a:r>
            <a:r>
              <a:rPr kumimoji="1" lang="zh-CN" altLang="en-US" dirty="0"/>
              <a:t>设备带宽高达</a:t>
            </a:r>
            <a:r>
              <a:rPr kumimoji="1" lang="en-US" altLang="zh-CN" dirty="0"/>
              <a:t>5~10GB/s</a:t>
            </a:r>
            <a:r>
              <a:rPr kumimoji="1" lang="zh-CN" altLang="en-US" dirty="0"/>
              <a:t>，延迟在</a:t>
            </a:r>
            <a:r>
              <a:rPr kumimoji="1" lang="en-US" altLang="zh-CN" dirty="0"/>
              <a:t>500ns~2us</a:t>
            </a:r>
            <a:r>
              <a:rPr kumimoji="1" lang="zh-CN" altLang="en-US" dirty="0"/>
              <a:t>之间，目前没有新设备；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）目前</a:t>
            </a:r>
            <a:r>
              <a:rPr kumimoji="1" lang="en-US" altLang="zh-CN" dirty="0"/>
              <a:t>LSM tree</a:t>
            </a:r>
            <a:r>
              <a:rPr kumimoji="1" lang="zh-CN" altLang="en-US" dirty="0"/>
              <a:t>的一些问题：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）高的序列化、反序列化开销；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）高写</a:t>
            </a:r>
            <a:r>
              <a:rPr kumimoji="1" lang="en-US" altLang="zh-CN" dirty="0"/>
              <a:t>compaction</a:t>
            </a:r>
            <a:r>
              <a:rPr kumimoji="1" lang="zh-CN" altLang="en-US" dirty="0"/>
              <a:t>开销；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）高写</a:t>
            </a:r>
            <a:r>
              <a:rPr kumimoji="1" lang="en-US" altLang="zh-CN" dirty="0"/>
              <a:t>Log</a:t>
            </a:r>
            <a:r>
              <a:rPr kumimoji="1" lang="zh-CN" altLang="en-US" dirty="0"/>
              <a:t>开销；</a:t>
            </a:r>
            <a:endParaRPr kumimoji="1" lang="en-US" altLang="zh-CN" dirty="0"/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）读并行度低。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C753111-959D-4349-AFA2-B17370888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17" y="2828683"/>
            <a:ext cx="4238383" cy="258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11908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101AF68-9A63-F04E-BC1D-2B254E849C49}"/>
              </a:ext>
            </a:extLst>
          </p:cNvPr>
          <p:cNvSpPr txBox="1"/>
          <p:nvPr/>
        </p:nvSpPr>
        <p:spPr>
          <a:xfrm>
            <a:off x="520700" y="635000"/>
            <a:ext cx="450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NoveLSM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D8E68E-131D-5148-ABE5-B988E0B92B85}"/>
              </a:ext>
            </a:extLst>
          </p:cNvPr>
          <p:cNvSpPr txBox="1"/>
          <p:nvPr/>
        </p:nvSpPr>
        <p:spPr>
          <a:xfrm>
            <a:off x="520700" y="1460500"/>
            <a:ext cx="322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优化点</a:t>
            </a:r>
            <a:r>
              <a:rPr kumimoji="1" lang="en-US" altLang="zh-CN" dirty="0"/>
              <a:t>1:</a:t>
            </a:r>
            <a:r>
              <a:rPr kumimoji="1" lang="zh-CN" altLang="en-US" dirty="0"/>
              <a:t>持久化的跳表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358DDE6-9314-6F46-9553-E0C515580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1829832"/>
            <a:ext cx="7277100" cy="463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452758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A5AAFEA-F063-3E4F-9F37-E4A01650FBB0}"/>
              </a:ext>
            </a:extLst>
          </p:cNvPr>
          <p:cNvSpPr txBox="1"/>
          <p:nvPr/>
        </p:nvSpPr>
        <p:spPr>
          <a:xfrm>
            <a:off x="520700" y="635000"/>
            <a:ext cx="450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NoveLSM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9190B6-A428-0145-8C6C-F552D29C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04" y="1474861"/>
            <a:ext cx="8561392" cy="446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271935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7FB42D4-647A-4D4F-BBDB-ADE0448C6E18}"/>
              </a:ext>
            </a:extLst>
          </p:cNvPr>
          <p:cNvSpPr txBox="1"/>
          <p:nvPr/>
        </p:nvSpPr>
        <p:spPr>
          <a:xfrm>
            <a:off x="520700" y="635000"/>
            <a:ext cx="450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NoveLSM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89040A-D29D-D945-8C35-5B400D6C71B7}"/>
              </a:ext>
            </a:extLst>
          </p:cNvPr>
          <p:cNvSpPr txBox="1"/>
          <p:nvPr/>
        </p:nvSpPr>
        <p:spPr>
          <a:xfrm>
            <a:off x="673100" y="1270000"/>
            <a:ext cx="662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减少</a:t>
            </a:r>
            <a:r>
              <a:rPr kumimoji="1" lang="en-US" altLang="zh-CN" dirty="0"/>
              <a:t>Compaction</a:t>
            </a:r>
            <a:r>
              <a:rPr kumimoji="1" lang="zh-CN" altLang="en-US" dirty="0"/>
              <a:t>代价：</a:t>
            </a:r>
            <a:r>
              <a:rPr kumimoji="1" lang="en-US" altLang="zh-CN" dirty="0"/>
              <a:t>NVM</a:t>
            </a:r>
            <a:r>
              <a:rPr kumimoji="1" lang="zh-CN" altLang="en-US" dirty="0"/>
              <a:t>是可以字节寻址原地更改的，</a:t>
            </a:r>
            <a:r>
              <a:rPr kumimoji="1" lang="en-US" altLang="zh-CN" dirty="0"/>
              <a:t>NVM</a:t>
            </a:r>
            <a:r>
              <a:rPr kumimoji="1" lang="zh-CN" altLang="en-US" dirty="0"/>
              <a:t>做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的备用空间，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可以进行</a:t>
            </a:r>
            <a:r>
              <a:rPr kumimoji="1" lang="en-US" altLang="zh-CN" dirty="0"/>
              <a:t>compaction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67C6CCD-044C-6E4D-B651-ACB2088DB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1867460"/>
            <a:ext cx="7632700" cy="435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482465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D967745-32D9-2B47-9D2E-F9A0F8427067}"/>
              </a:ext>
            </a:extLst>
          </p:cNvPr>
          <p:cNvSpPr txBox="1"/>
          <p:nvPr/>
        </p:nvSpPr>
        <p:spPr>
          <a:xfrm>
            <a:off x="520700" y="635000"/>
            <a:ext cx="450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NoveLSM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BCE1AF-925E-5C43-B51F-AF5BEE63A8A4}"/>
              </a:ext>
            </a:extLst>
          </p:cNvPr>
          <p:cNvSpPr txBox="1"/>
          <p:nvPr/>
        </p:nvSpPr>
        <p:spPr>
          <a:xfrm>
            <a:off x="825500" y="1320800"/>
            <a:ext cx="607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减少</a:t>
            </a:r>
            <a:r>
              <a:rPr kumimoji="1" lang="en-US" altLang="zh-CN" dirty="0"/>
              <a:t>Log</a:t>
            </a:r>
            <a:r>
              <a:rPr kumimoji="1" lang="zh-CN" altLang="en-US" dirty="0"/>
              <a:t>的开销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61F7AD5-505F-674B-A0C4-2961B7C74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9" y="1713557"/>
            <a:ext cx="8586042" cy="450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55271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2FFBED2-D0F6-8D48-A71E-2007C8E0463C}"/>
              </a:ext>
            </a:extLst>
          </p:cNvPr>
          <p:cNvSpPr txBox="1"/>
          <p:nvPr/>
        </p:nvSpPr>
        <p:spPr>
          <a:xfrm>
            <a:off x="520700" y="635000"/>
            <a:ext cx="450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NoveLSM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D1785F-1D8B-D049-B76B-E2EE97A1E736}"/>
              </a:ext>
            </a:extLst>
          </p:cNvPr>
          <p:cNvSpPr txBox="1"/>
          <p:nvPr/>
        </p:nvSpPr>
        <p:spPr>
          <a:xfrm>
            <a:off x="622300" y="1244600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增加读并行度，设置读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的线程以及读</a:t>
            </a:r>
            <a:r>
              <a:rPr kumimoji="1" lang="en-US" altLang="zh-CN" dirty="0"/>
              <a:t>NVM</a:t>
            </a:r>
            <a:r>
              <a:rPr kumimoji="1" lang="zh-CN" altLang="en-US" dirty="0"/>
              <a:t>的线程</a:t>
            </a:r>
            <a:r>
              <a:rPr kumimoji="1" lang="en-US" altLang="zh-CN" dirty="0"/>
              <a:t>(</a:t>
            </a:r>
            <a:r>
              <a:rPr kumimoji="1" lang="zh-CN" altLang="en-US" dirty="0"/>
              <a:t>利用</a:t>
            </a:r>
            <a:r>
              <a:rPr kumimoji="1" lang="en-US" altLang="zh-CN" dirty="0"/>
              <a:t>bloom filter</a:t>
            </a:r>
            <a:r>
              <a:rPr kumimoji="1" lang="zh-CN" altLang="en-US" dirty="0"/>
              <a:t>进行筛选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F4DC40-3324-7B46-A5A0-EEB9285FA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25" y="2050552"/>
            <a:ext cx="7550150" cy="409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783663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8BCEB9F-EA2E-4943-871B-EE65D8E9839E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PM + LSM Tree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CD9043-BC17-734C-AF21-156075515218}"/>
              </a:ext>
            </a:extLst>
          </p:cNvPr>
          <p:cNvSpPr txBox="1"/>
          <p:nvPr/>
        </p:nvSpPr>
        <p:spPr>
          <a:xfrm>
            <a:off x="654258" y="1371600"/>
            <a:ext cx="741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SLM-DB: Single Level Merge Key-Value Store with Persistent Memory[8]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050695-B922-ED4A-B047-66F9B3E5B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02" y="1929533"/>
            <a:ext cx="7410242" cy="410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27384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51B0102-C425-5248-A093-B24E571CF723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SLM-DB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BCBB5F-750F-6A4D-AF4C-A6AD9D25C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42" y="1615930"/>
            <a:ext cx="8153400" cy="438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73838"/>
      </p:ext>
    </p:extLst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270D35B-B0B5-CD46-B1DD-435D34921353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SLM-DB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31B86F-C49A-D64B-B985-ECF62909C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27" y="1402470"/>
            <a:ext cx="7585278" cy="452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93981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D27FE1-D534-A14E-8F75-07D0F5269C7D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SLM-DB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90C88F6-9AED-2F41-A883-79534CFF5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341" y="1660997"/>
            <a:ext cx="6940433" cy="410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68842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AA17B4B-F2A0-694E-BB01-C3684C674A56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SLM-DB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48E21E-A611-1942-A678-7D4C5FC7EADC}"/>
              </a:ext>
            </a:extLst>
          </p:cNvPr>
          <p:cNvSpPr txBox="1"/>
          <p:nvPr/>
        </p:nvSpPr>
        <p:spPr>
          <a:xfrm>
            <a:off x="952500" y="1282700"/>
            <a:ext cx="680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SST</a:t>
            </a:r>
            <a:r>
              <a:rPr kumimoji="1" lang="zh-CN" altLang="en-US" dirty="0"/>
              <a:t>文件之间无序，并且有重叠。</a:t>
            </a:r>
            <a:endParaRPr kumimoji="1" lang="en-US" altLang="zh-CN" dirty="0"/>
          </a:p>
          <a:p>
            <a:r>
              <a:rPr kumimoji="1" lang="zh-CN" altLang="en-US" dirty="0"/>
              <a:t>带来的问题：如何做垃圾回收、</a:t>
            </a:r>
            <a:r>
              <a:rPr kumimoji="1" lang="en-US" altLang="zh-CN" dirty="0"/>
              <a:t>scan</a:t>
            </a:r>
            <a:r>
              <a:rPr kumimoji="1" lang="zh-CN" altLang="en-US" dirty="0"/>
              <a:t>操作的顺序访问如何做优化。</a:t>
            </a:r>
            <a:endParaRPr kumimoji="1" lang="en-US" altLang="zh-CN" dirty="0"/>
          </a:p>
          <a:p>
            <a:r>
              <a:rPr kumimoji="1" lang="zh-CN" altLang="en-US" dirty="0"/>
              <a:t>解决方案：</a:t>
            </a:r>
            <a:r>
              <a:rPr kumimoji="1" lang="en-US" altLang="zh-CN" dirty="0"/>
              <a:t>Selective compaction</a:t>
            </a:r>
            <a:r>
              <a:rPr kumimoji="1" lang="zh-CN" altLang="en-US" dirty="0"/>
              <a:t>（调整局部有序、有选择的进行最少的</a:t>
            </a:r>
            <a:r>
              <a:rPr kumimoji="1" lang="en-US" altLang="zh-CN" dirty="0"/>
              <a:t>compaction</a:t>
            </a:r>
            <a:r>
              <a:rPr kumimoji="1" lang="zh-CN" altLang="en-US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141C06C-689E-554C-B8E0-074F5D36E594}"/>
              </a:ext>
            </a:extLst>
          </p:cNvPr>
          <p:cNvSpPr txBox="1"/>
          <p:nvPr/>
        </p:nvSpPr>
        <p:spPr>
          <a:xfrm>
            <a:off x="952500" y="2714289"/>
            <a:ext cx="62103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Selection</a:t>
            </a:r>
            <a:r>
              <a:rPr kumimoji="1" lang="zh-CN" altLang="en-US" dirty="0"/>
              <a:t>的原则：</a:t>
            </a:r>
            <a:br>
              <a:rPr kumimoji="1" lang="en-US" altLang="zh-CN" dirty="0"/>
            </a:br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  <a:r>
              <a:rPr kumimoji="1" lang="en-US" altLang="zh-CN" dirty="0"/>
              <a:t>Live-key ratio selection of an </a:t>
            </a:r>
            <a:r>
              <a:rPr kumimoji="1" lang="en-US" altLang="zh-CN" dirty="0" err="1"/>
              <a:t>SSTable</a:t>
            </a:r>
            <a:r>
              <a:rPr kumimoji="1" lang="en-US" altLang="zh-CN" dirty="0"/>
              <a:t> (for GC)</a:t>
            </a:r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  <a:r>
              <a:rPr kumimoji="1" lang="en-US" altLang="zh-CN" dirty="0"/>
              <a:t>Leaf node scans in the B+-tree(for </a:t>
            </a:r>
            <a:r>
              <a:rPr kumimoji="1" lang="en-US" altLang="zh-CN" dirty="0" err="1"/>
              <a:t>sequentiality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  <a:r>
              <a:rPr kumimoji="1" lang="en-US" altLang="zh-CN" dirty="0"/>
              <a:t>Degree of </a:t>
            </a:r>
            <a:r>
              <a:rPr kumimoji="1" lang="en-US" altLang="zh-CN" dirty="0" err="1"/>
              <a:t>sequentiality</a:t>
            </a:r>
            <a:r>
              <a:rPr kumimoji="1" lang="en-US" altLang="zh-CN" dirty="0"/>
              <a:t> per range query(for </a:t>
            </a:r>
            <a:r>
              <a:rPr kumimoji="1" lang="en-US" altLang="zh-CN" dirty="0" err="1"/>
              <a:t>sequentiality</a:t>
            </a:r>
            <a:r>
              <a:rPr kumimoji="1" lang="en-US" altLang="zh-CN" dirty="0"/>
              <a:t>)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Compaction</a:t>
            </a:r>
            <a:r>
              <a:rPr kumimoji="1" lang="zh-CN" altLang="en-US" dirty="0"/>
              <a:t>触发的时机：</a:t>
            </a:r>
            <a:br>
              <a:rPr kumimoji="1" lang="en-US" altLang="zh-CN" dirty="0"/>
            </a:br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  <a:r>
              <a:rPr kumimoji="1" lang="en-US" altLang="zh-CN" dirty="0"/>
              <a:t>compaction</a:t>
            </a:r>
            <a:r>
              <a:rPr kumimoji="1" lang="zh-CN" altLang="en-US" dirty="0"/>
              <a:t>的候选文件过多；</a:t>
            </a:r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07255254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C693799-A3CB-9846-ABFF-4C08EAFB7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266336"/>
            <a:ext cx="7975600" cy="483606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0DB5B4A-DA08-C84A-8F1C-B5FCD650945F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SLM-DB(</a:t>
            </a:r>
            <a:r>
              <a:rPr kumimoji="1" lang="zh-CN" altLang="en-US" sz="2400">
                <a:latin typeface="Microsoft YaHei" charset="-122"/>
                <a:ea typeface="Microsoft YaHei" charset="-122"/>
                <a:cs typeface="Microsoft YaHei" charset="-122"/>
              </a:rPr>
              <a:t>实验表现</a:t>
            </a:r>
            <a:r>
              <a:rPr kumimoji="1" lang="en-US" altLang="zh-CN" sz="240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  <a:endParaRPr kumimoji="1" lang="en-US" altLang="zh-CN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1126586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7A36AE6-12D5-8848-92AC-3DDA34F63C51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参考文献</a:t>
            </a:r>
            <a:endParaRPr kumimoji="1" lang="en-US" altLang="zh-CN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7082CB-7BAC-9841-81C8-8E93B2C81682}"/>
              </a:ext>
            </a:extLst>
          </p:cNvPr>
          <p:cNvSpPr txBox="1"/>
          <p:nvPr/>
        </p:nvSpPr>
        <p:spPr>
          <a:xfrm>
            <a:off x="1100138" y="1728788"/>
            <a:ext cx="67865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</a:t>
            </a:r>
            <a:r>
              <a:rPr lang="en" altLang="zh-CN" dirty="0"/>
              <a:t>O’Neil P, Cheng E, </a:t>
            </a:r>
            <a:r>
              <a:rPr lang="en" altLang="zh-CN" dirty="0" err="1"/>
              <a:t>Gawlick</a:t>
            </a:r>
            <a:r>
              <a:rPr lang="en" altLang="zh-CN" dirty="0"/>
              <a:t> D, et al. The log-structured merge-tree (LSM-tree)[J]. Acta Informatica, 1996, 33(4): 351-385.</a:t>
            </a:r>
          </a:p>
          <a:p>
            <a:r>
              <a:rPr kumimoji="1" lang="en-US" altLang="zh-CN" dirty="0"/>
              <a:t>[2] </a:t>
            </a:r>
            <a:r>
              <a:rPr kumimoji="1" lang="en" altLang="zh-CN" dirty="0"/>
              <a:t>﻿</a:t>
            </a:r>
            <a:r>
              <a:rPr lang="en" altLang="zh-CN" dirty="0"/>
              <a:t>Chang F, Dean J, Ghemawat S, et al. Bigtable: A distributed storage system for structured data[J]. ACM Transactions on Computer Systems (TOCS), 2008, 26(2): 4.</a:t>
            </a:r>
          </a:p>
          <a:p>
            <a:r>
              <a:rPr kumimoji="1" lang="en" altLang="zh-CN" dirty="0"/>
              <a:t>[3] </a:t>
            </a:r>
            <a:r>
              <a:rPr lang="en" altLang="zh-CN" dirty="0"/>
              <a:t>Lu L, Pillai T S, Gopalakrishnan H, et al. </a:t>
            </a:r>
            <a:r>
              <a:rPr lang="en" altLang="zh-CN" dirty="0" err="1"/>
              <a:t>Wisckey</a:t>
            </a:r>
            <a:r>
              <a:rPr lang="en" altLang="zh-CN" dirty="0"/>
              <a:t>: Separating keys from values in </a:t>
            </a:r>
            <a:r>
              <a:rPr lang="en" altLang="zh-CN" dirty="0" err="1"/>
              <a:t>ssd</a:t>
            </a:r>
            <a:r>
              <a:rPr lang="en" altLang="zh-CN" dirty="0"/>
              <a:t>-conscious storage[J]. ACM Transactions on Storage (TOS), 2017, 13(1): 5.</a:t>
            </a:r>
          </a:p>
          <a:p>
            <a:r>
              <a:rPr lang="en" altLang="zh-CN" dirty="0"/>
              <a:t>[4] Raju P, </a:t>
            </a:r>
            <a:r>
              <a:rPr lang="en" altLang="zh-CN" dirty="0" err="1"/>
              <a:t>Kadekodi</a:t>
            </a:r>
            <a:r>
              <a:rPr lang="en" altLang="zh-CN" dirty="0"/>
              <a:t> R, Chidambaram V, et al. </a:t>
            </a:r>
            <a:r>
              <a:rPr lang="en" altLang="zh-CN" dirty="0" err="1"/>
              <a:t>Pebblesdb</a:t>
            </a:r>
            <a:r>
              <a:rPr lang="en" altLang="zh-CN" dirty="0"/>
              <a:t>: Building key-value stores using fragmented log-structured merge trees[C]//Proceedings of the 26th Symposium on Operating Systems Principles. ACM, 2017: 497-514.</a:t>
            </a:r>
          </a:p>
          <a:p>
            <a:r>
              <a:rPr kumimoji="1" lang="en-US" altLang="zh-CN" dirty="0"/>
              <a:t>[5] </a:t>
            </a:r>
            <a:r>
              <a:rPr lang="en" altLang="zh-CN" dirty="0" err="1"/>
              <a:t>Balmau</a:t>
            </a:r>
            <a:r>
              <a:rPr lang="en" altLang="zh-CN" dirty="0"/>
              <a:t> O, Dinu F, </a:t>
            </a:r>
            <a:r>
              <a:rPr lang="en" altLang="zh-CN" dirty="0" err="1"/>
              <a:t>Zwaenepoel</a:t>
            </a:r>
            <a:r>
              <a:rPr lang="en" altLang="zh-CN" dirty="0"/>
              <a:t> W, et al. {SILK}: Preventing Latency Spikes in Log-Structured Merge Key-Value Stores[C]//2019 {USENIX} Annual Technical Conference ({USENIX}{ATC} 19). 2019: 753-766.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4306155"/>
      </p:ext>
    </p:extLst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AEE44D9-9388-2741-B31D-0AD3168C871D}"/>
              </a:ext>
            </a:extLst>
          </p:cNvPr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参考文献</a:t>
            </a:r>
            <a:endParaRPr kumimoji="1" lang="en-US" altLang="zh-CN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5251A4-4BAD-BD4B-B664-D98262CFCC73}"/>
              </a:ext>
            </a:extLst>
          </p:cNvPr>
          <p:cNvSpPr txBox="1"/>
          <p:nvPr/>
        </p:nvSpPr>
        <p:spPr>
          <a:xfrm>
            <a:off x="1100138" y="1728788"/>
            <a:ext cx="67865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[6]</a:t>
            </a:r>
            <a:r>
              <a:rPr lang="zh-CN" altLang="en-US" dirty="0"/>
              <a:t> </a:t>
            </a:r>
            <a:r>
              <a:rPr lang="en" altLang="zh-CN" dirty="0"/>
              <a:t>Wu S M, Lin K H, Chang L P. KVSSD: Close integration of LSM trees and flash translation layer for write-efficient KV store[C]//2018 Design, Automation &amp; Test in Europe Conference &amp; Exhibition (DATE). IEEE, 2018: 563-568.</a:t>
            </a:r>
            <a:br>
              <a:rPr lang="en" altLang="zh-CN" dirty="0"/>
            </a:br>
            <a:r>
              <a:rPr lang="en" altLang="zh-CN" dirty="0"/>
              <a:t>[7] Kannan S, Bhat N, </a:t>
            </a:r>
            <a:r>
              <a:rPr lang="en" altLang="zh-CN" dirty="0" err="1"/>
              <a:t>Gavrilovska</a:t>
            </a:r>
            <a:r>
              <a:rPr lang="en" altLang="zh-CN" dirty="0"/>
              <a:t> A, et al. Redesigning LSMs for nonvolatile memory with </a:t>
            </a:r>
            <a:r>
              <a:rPr lang="en" altLang="zh-CN" dirty="0" err="1"/>
              <a:t>NoveLSM</a:t>
            </a:r>
            <a:r>
              <a:rPr lang="en" altLang="zh-CN" dirty="0"/>
              <a:t>[C]//2018 {USENIX} Annual Technical Conference ({USENIX}{ATC} 18). 2018: 993-1005.</a:t>
            </a:r>
          </a:p>
          <a:p>
            <a:r>
              <a:rPr kumimoji="1" lang="en" altLang="zh-CN" dirty="0"/>
              <a:t>[8]</a:t>
            </a:r>
            <a:r>
              <a:rPr lang="en" altLang="zh-CN" dirty="0"/>
              <a:t> </a:t>
            </a:r>
            <a:r>
              <a:rPr lang="en" altLang="zh-CN" dirty="0" err="1"/>
              <a:t>Kaiyrakhmet</a:t>
            </a:r>
            <a:r>
              <a:rPr lang="en" altLang="zh-CN" dirty="0"/>
              <a:t> O, Lee S, Nam B, et al. SLM-DB: single-level key-value store with persistent memory[C]//17th {USENIX} Conference on File and Storage Technologies ({FAST} 19). 2019: 191-205.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0733025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主题2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2" id="{E0D1F83F-22F0-D546-91D8-FF7C6B24B14B}" vid="{5AF26BE8-7839-1342-A4CE-8DF56C8D06F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44669</TotalTime>
  <Words>1369</Words>
  <Application>Microsoft Office PowerPoint</Application>
  <PresentationFormat>全屏显示(4:3)</PresentationFormat>
  <Paragraphs>161</Paragraphs>
  <Slides>43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0" baseType="lpstr">
      <vt:lpstr>宋体</vt:lpstr>
      <vt:lpstr>Microsoft YaHei</vt:lpstr>
      <vt:lpstr>Arial</vt:lpstr>
      <vt:lpstr>Calibri</vt:lpstr>
      <vt:lpstr>Calibri Light</vt:lpstr>
      <vt:lpstr>Wingdings</vt:lpstr>
      <vt:lpstr>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周会总结</dc:title>
  <dc:creator>Jaycee Zhang</dc:creator>
  <cp:lastModifiedBy>王 刚</cp:lastModifiedBy>
  <cp:revision>747</cp:revision>
  <cp:lastPrinted>2017-05-11T02:50:32Z</cp:lastPrinted>
  <dcterms:created xsi:type="dcterms:W3CDTF">2016-12-13T05:37:29Z</dcterms:created>
  <dcterms:modified xsi:type="dcterms:W3CDTF">2019-12-03T00:38:57Z</dcterms:modified>
</cp:coreProperties>
</file>