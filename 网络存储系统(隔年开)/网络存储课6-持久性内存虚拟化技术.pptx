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58" r:id="rId2"/>
    <p:sldId id="326" r:id="rId3"/>
    <p:sldId id="324" r:id="rId4"/>
    <p:sldId id="263" r:id="rId5"/>
    <p:sldId id="320" r:id="rId6"/>
    <p:sldId id="299" r:id="rId7"/>
    <p:sldId id="323" r:id="rId8"/>
    <p:sldId id="328" r:id="rId9"/>
    <p:sldId id="302" r:id="rId10"/>
    <p:sldId id="317" r:id="rId11"/>
    <p:sldId id="286" r:id="rId12"/>
    <p:sldId id="318" r:id="rId13"/>
    <p:sldId id="297" r:id="rId14"/>
    <p:sldId id="319" r:id="rId15"/>
    <p:sldId id="288" r:id="rId16"/>
    <p:sldId id="289" r:id="rId17"/>
    <p:sldId id="313" r:id="rId18"/>
    <p:sldId id="304" r:id="rId19"/>
    <p:sldId id="272" r:id="rId20"/>
    <p:sldId id="292" r:id="rId21"/>
    <p:sldId id="293" r:id="rId22"/>
    <p:sldId id="314" r:id="rId23"/>
    <p:sldId id="306" r:id="rId24"/>
    <p:sldId id="277" r:id="rId25"/>
    <p:sldId id="279" r:id="rId26"/>
    <p:sldId id="281" r:id="rId27"/>
    <p:sldId id="325" r:id="rId28"/>
    <p:sldId id="327" r:id="rId29"/>
    <p:sldId id="329" r:id="rId30"/>
    <p:sldId id="330" r:id="rId31"/>
    <p:sldId id="331" r:id="rId32"/>
    <p:sldId id="332" r:id="rId33"/>
    <p:sldId id="333" r:id="rId34"/>
    <p:sldId id="295"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9" userDrawn="1">
          <p15:clr>
            <a:srgbClr val="A4A3A4"/>
          </p15:clr>
        </p15:guide>
        <p15:guide id="2" pos="1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384"/>
    <a:srgbClr val="308CF4"/>
    <a:srgbClr val="D0D0D0"/>
    <a:srgbClr val="349EF4"/>
    <a:srgbClr val="67B5F3"/>
    <a:srgbClr val="1A68F0"/>
    <a:srgbClr val="AD0046"/>
    <a:srgbClr val="F0BEC2"/>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5"/>
    <p:restoredTop sz="75138"/>
  </p:normalViewPr>
  <p:slideViewPr>
    <p:cSldViewPr snapToGrid="0" snapToObjects="1">
      <p:cViewPr varScale="1">
        <p:scale>
          <a:sx n="86" d="100"/>
          <a:sy n="86" d="100"/>
        </p:scale>
        <p:origin x="1926" y="78"/>
      </p:cViewPr>
      <p:guideLst>
        <p:guide orient="horz" pos="709"/>
        <p:guide pos="158"/>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10ADE-393E-1F4B-98C7-73831B0852B0}" type="datetimeFigureOut">
              <a:rPr kumimoji="1" lang="zh-CN" altLang="en-US" smtClean="0"/>
              <a:t>2019/10/22</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A4ED16-4179-F049-8FD5-FB531273BF32}" type="slidenum">
              <a:rPr kumimoji="1" lang="zh-CN" altLang="en-US" smtClean="0"/>
              <a:t>‹#›</a:t>
            </a:fld>
            <a:endParaRPr kumimoji="1" lang="zh-CN" altLang="en-US"/>
          </a:p>
        </p:txBody>
      </p:sp>
    </p:spTree>
    <p:extLst>
      <p:ext uri="{BB962C8B-B14F-4D97-AF65-F5344CB8AC3E}">
        <p14:creationId xmlns:p14="http://schemas.microsoft.com/office/powerpoint/2010/main" val="906127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a:t>
            </a:fld>
            <a:endParaRPr kumimoji="1" lang="zh-CN" altLang="en-US"/>
          </a:p>
        </p:txBody>
      </p:sp>
    </p:spTree>
    <p:extLst>
      <p:ext uri="{BB962C8B-B14F-4D97-AF65-F5344CB8AC3E}">
        <p14:creationId xmlns:p14="http://schemas.microsoft.com/office/powerpoint/2010/main" val="973074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a:t>
            </a:r>
            <a:r>
              <a:rPr kumimoji="1" lang="en-US" altLang="zh-CN" baseline="0" dirty="0"/>
              <a:t> is the agenda</a:t>
            </a:r>
            <a:r>
              <a:rPr kumimoji="1" lang="zh-CN" altLang="en-US" baseline="0" dirty="0"/>
              <a:t> </a:t>
            </a:r>
            <a:r>
              <a:rPr kumimoji="1" lang="en-US" altLang="zh-CN" baseline="0" dirty="0"/>
              <a:t>of this presentation, </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B9210-A5D6-DF4A-BCF1-E487EA4C0D19}"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29433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a:t>
            </a:r>
            <a:r>
              <a:rPr kumimoji="1" lang="en-US" altLang="zh-CN" baseline="0" dirty="0"/>
              <a:t> is the agenda</a:t>
            </a:r>
            <a:r>
              <a:rPr kumimoji="1" lang="zh-CN" altLang="en-US" baseline="0" dirty="0"/>
              <a:t> </a:t>
            </a:r>
            <a:r>
              <a:rPr kumimoji="1" lang="en-US" altLang="zh-CN" baseline="0" dirty="0"/>
              <a:t>of this presentation, </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B9210-A5D6-DF4A-BCF1-E487EA4C0D19}"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75465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4</a:t>
            </a:fld>
            <a:endParaRPr kumimoji="1" lang="zh-CN" altLang="en-US"/>
          </a:p>
        </p:txBody>
      </p:sp>
    </p:spTree>
    <p:extLst>
      <p:ext uri="{BB962C8B-B14F-4D97-AF65-F5344CB8AC3E}">
        <p14:creationId xmlns:p14="http://schemas.microsoft.com/office/powerpoint/2010/main" val="1499195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5</a:t>
            </a:fld>
            <a:endParaRPr kumimoji="1" lang="zh-CN" altLang="en-US"/>
          </a:p>
        </p:txBody>
      </p:sp>
    </p:spTree>
    <p:extLst>
      <p:ext uri="{BB962C8B-B14F-4D97-AF65-F5344CB8AC3E}">
        <p14:creationId xmlns:p14="http://schemas.microsoft.com/office/powerpoint/2010/main" val="922482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6</a:t>
            </a:fld>
            <a:endParaRPr kumimoji="1" lang="zh-CN" altLang="en-US"/>
          </a:p>
        </p:txBody>
      </p:sp>
    </p:spTree>
    <p:extLst>
      <p:ext uri="{BB962C8B-B14F-4D97-AF65-F5344CB8AC3E}">
        <p14:creationId xmlns:p14="http://schemas.microsoft.com/office/powerpoint/2010/main" val="39608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a:t>
            </a:r>
            <a:r>
              <a:rPr kumimoji="1" lang="en-US" altLang="zh-CN" baseline="0" dirty="0"/>
              <a:t> is the agenda</a:t>
            </a:r>
            <a:r>
              <a:rPr kumimoji="1" lang="zh-CN" altLang="en-US" baseline="0" dirty="0"/>
              <a:t> </a:t>
            </a:r>
            <a:r>
              <a:rPr kumimoji="1" lang="en-US" altLang="zh-CN" baseline="0" dirty="0"/>
              <a:t>of this presentation, </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B9210-A5D6-DF4A-BCF1-E487EA4C0D19}"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403955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9</a:t>
            </a:fld>
            <a:endParaRPr kumimoji="1" lang="zh-CN" altLang="en-US"/>
          </a:p>
        </p:txBody>
      </p:sp>
    </p:spTree>
    <p:extLst>
      <p:ext uri="{BB962C8B-B14F-4D97-AF65-F5344CB8AC3E}">
        <p14:creationId xmlns:p14="http://schemas.microsoft.com/office/powerpoint/2010/main" val="1469464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10</a:t>
            </a:fld>
            <a:endParaRPr kumimoji="1" lang="zh-CN" altLang="en-US"/>
          </a:p>
        </p:txBody>
      </p:sp>
    </p:spTree>
    <p:extLst>
      <p:ext uri="{BB962C8B-B14F-4D97-AF65-F5344CB8AC3E}">
        <p14:creationId xmlns:p14="http://schemas.microsoft.com/office/powerpoint/2010/main" val="160751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11</a:t>
            </a:fld>
            <a:endParaRPr kumimoji="1" lang="zh-CN" altLang="en-US"/>
          </a:p>
        </p:txBody>
      </p:sp>
    </p:spTree>
    <p:extLst>
      <p:ext uri="{BB962C8B-B14F-4D97-AF65-F5344CB8AC3E}">
        <p14:creationId xmlns:p14="http://schemas.microsoft.com/office/powerpoint/2010/main" val="1256333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12</a:t>
            </a:fld>
            <a:endParaRPr kumimoji="1" lang="zh-CN" altLang="en-US"/>
          </a:p>
        </p:txBody>
      </p:sp>
    </p:spTree>
    <p:extLst>
      <p:ext uri="{BB962C8B-B14F-4D97-AF65-F5344CB8AC3E}">
        <p14:creationId xmlns:p14="http://schemas.microsoft.com/office/powerpoint/2010/main" val="3812774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13</a:t>
            </a:fld>
            <a:endParaRPr kumimoji="1" lang="zh-CN" altLang="en-US"/>
          </a:p>
        </p:txBody>
      </p:sp>
    </p:spTree>
    <p:extLst>
      <p:ext uri="{BB962C8B-B14F-4D97-AF65-F5344CB8AC3E}">
        <p14:creationId xmlns:p14="http://schemas.microsoft.com/office/powerpoint/2010/main" val="1449239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A4ED16-4179-F049-8FD5-FB531273BF32}" type="slidenum">
              <a:rPr kumimoji="1"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096536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15</a:t>
            </a:fld>
            <a:endParaRPr kumimoji="1" lang="zh-CN" altLang="en-US"/>
          </a:p>
        </p:txBody>
      </p:sp>
    </p:spTree>
    <p:extLst>
      <p:ext uri="{BB962C8B-B14F-4D97-AF65-F5344CB8AC3E}">
        <p14:creationId xmlns:p14="http://schemas.microsoft.com/office/powerpoint/2010/main" val="677432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镜像监视器分为两大模块</a:t>
            </a:r>
            <a:endParaRPr lang="en-US" altLang="zh-CN" dirty="0"/>
          </a:p>
          <a:p>
            <a:r>
              <a:rPr lang="zh-CN" altLang="en-US" dirty="0"/>
              <a:t>镜像扩展模块使用</a:t>
            </a:r>
            <a:r>
              <a:rPr lang="en-US" altLang="zh-CN" dirty="0" err="1"/>
              <a:t>userfaultfd</a:t>
            </a:r>
            <a:r>
              <a:rPr lang="zh-CN" altLang="en-US" dirty="0"/>
              <a:t>，在用户态编写缺页处理函数</a:t>
            </a:r>
            <a:endParaRPr lang="en-US" altLang="zh-CN" dirty="0"/>
          </a:p>
          <a:p>
            <a:endParaRPr lang="en-US" altLang="zh-CN" dirty="0"/>
          </a:p>
          <a:p>
            <a:r>
              <a:rPr lang="zh-CN" altLang="en-US" dirty="0"/>
              <a:t>写时复制模块使用信号处理机制，当访问写保护内存区域时，会发出</a:t>
            </a:r>
            <a:r>
              <a:rPr lang="en-US" altLang="zh-CN" dirty="0"/>
              <a:t>SIGSEGV</a:t>
            </a:r>
            <a:r>
              <a:rPr lang="zh-CN" altLang="en-US" dirty="0"/>
              <a:t>信号。</a:t>
            </a:r>
          </a:p>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16</a:t>
            </a:fld>
            <a:endParaRPr kumimoji="1" lang="zh-CN" altLang="en-US"/>
          </a:p>
        </p:txBody>
      </p:sp>
    </p:spTree>
    <p:extLst>
      <p:ext uri="{BB962C8B-B14F-4D97-AF65-F5344CB8AC3E}">
        <p14:creationId xmlns:p14="http://schemas.microsoft.com/office/powerpoint/2010/main" val="1626358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镜像扩展模块的工作流程</a:t>
            </a:r>
            <a:endParaRPr lang="en-US" altLang="zh-CN" dirty="0"/>
          </a:p>
          <a:p>
            <a:r>
              <a:rPr lang="zh-CN" altLang="en-US" dirty="0"/>
              <a:t>映射的地址空间大于文件后端映射地址。</a:t>
            </a:r>
            <a:endParaRPr lang="en-US" altLang="zh-CN" dirty="0"/>
          </a:p>
          <a:p>
            <a:r>
              <a:rPr lang="zh-CN" altLang="en-US" dirty="0"/>
              <a:t>本文中将有后端镜像映射的地址称为“真实”地址</a:t>
            </a:r>
            <a:endParaRPr lang="en-US" altLang="zh-CN" dirty="0"/>
          </a:p>
          <a:p>
            <a:r>
              <a:rPr lang="zh-CN" altLang="en-US" dirty="0"/>
              <a:t>“虚假”地址</a:t>
            </a:r>
            <a:endParaRPr lang="en-US" altLang="zh-CN" dirty="0"/>
          </a:p>
          <a:p>
            <a:endParaRPr lang="en-US" altLang="zh-CN" dirty="0"/>
          </a:p>
          <a:p>
            <a:r>
              <a:rPr lang="zh-CN" altLang="en-US" dirty="0"/>
              <a:t>访问真实地址时，镜像监视器不会拦截访问请求，如绿色箭头所示</a:t>
            </a:r>
            <a:endParaRPr lang="en-US" altLang="zh-CN" dirty="0"/>
          </a:p>
          <a:p>
            <a:r>
              <a:rPr lang="zh-CN" altLang="en-US" dirty="0"/>
              <a:t>当虚拟机</a:t>
            </a:r>
            <a:r>
              <a:rPr lang="en-US" altLang="zh-CN" dirty="0"/>
              <a:t>app</a:t>
            </a:r>
            <a:r>
              <a:rPr lang="zh-CN" altLang="en-US" dirty="0"/>
              <a:t>访问虚假地址时，会触发缺页中断，镜像扩展模块进行处理。如图中红色箭头所示</a:t>
            </a:r>
            <a:endParaRPr lang="en-US" altLang="zh-CN" dirty="0"/>
          </a:p>
          <a:p>
            <a:r>
              <a:rPr lang="zh-CN" altLang="en-US" dirty="0"/>
              <a:t>镜像扩展模块会在文件末尾追加一块新的数据块</a:t>
            </a:r>
            <a:endParaRPr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17</a:t>
            </a:fld>
            <a:endParaRPr kumimoji="1" lang="zh-CN" altLang="en-US"/>
          </a:p>
        </p:txBody>
      </p:sp>
    </p:spTree>
    <p:extLst>
      <p:ext uri="{BB962C8B-B14F-4D97-AF65-F5344CB8AC3E}">
        <p14:creationId xmlns:p14="http://schemas.microsoft.com/office/powerpoint/2010/main" val="1730203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如图所示的镜像中包括一个快照，当虚拟机</a:t>
            </a:r>
            <a:r>
              <a:rPr lang="en-US" altLang="zh-CN" dirty="0"/>
              <a:t>app</a:t>
            </a:r>
            <a:r>
              <a:rPr lang="zh-CN" altLang="en-US" dirty="0"/>
              <a:t>访问以快照为后端的地址时，由于为该部分地址上加上写保护</a:t>
            </a:r>
            <a:endParaRPr lang="en-US" altLang="zh-CN" dirty="0"/>
          </a:p>
          <a:p>
            <a:r>
              <a:rPr lang="zh-CN" altLang="en-US" dirty="0"/>
              <a:t>会触发</a:t>
            </a:r>
            <a:r>
              <a:rPr lang="en-US" altLang="zh-CN" dirty="0"/>
              <a:t>SIGSEGV</a:t>
            </a:r>
            <a:r>
              <a:rPr lang="zh-CN" altLang="en-US" dirty="0"/>
              <a:t>信号，</a:t>
            </a:r>
          </a:p>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18</a:t>
            </a:fld>
            <a:endParaRPr kumimoji="1" lang="zh-CN" altLang="en-US"/>
          </a:p>
        </p:txBody>
      </p:sp>
    </p:spTree>
    <p:extLst>
      <p:ext uri="{BB962C8B-B14F-4D97-AF65-F5344CB8AC3E}">
        <p14:creationId xmlns:p14="http://schemas.microsoft.com/office/powerpoint/2010/main" val="146806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我们针对</a:t>
            </a:r>
            <a:r>
              <a:rPr lang="en-US" altLang="zh-CN" dirty="0"/>
              <a:t>PM</a:t>
            </a:r>
            <a:r>
              <a:rPr lang="zh-CN" altLang="en-US" dirty="0"/>
              <a:t>特点设计了</a:t>
            </a:r>
            <a:r>
              <a:rPr lang="en-US" altLang="zh-CN" dirty="0"/>
              <a:t>PM</a:t>
            </a:r>
            <a:r>
              <a:rPr lang="zh-CN" altLang="en-US" dirty="0"/>
              <a:t>镜像文件格式</a:t>
            </a:r>
            <a:r>
              <a:rPr lang="en-US" altLang="zh-CN" dirty="0" err="1"/>
              <a:t>pcow</a:t>
            </a:r>
            <a:r>
              <a:rPr lang="zh-CN" altLang="en-US" dirty="0"/>
              <a:t>。</a:t>
            </a:r>
            <a:endParaRPr lang="en-US" altLang="zh-CN" dirty="0"/>
          </a:p>
          <a:p>
            <a:r>
              <a:rPr lang="zh-CN" altLang="en-US" dirty="0"/>
              <a:t>镜像文件的组织单位为块，由超级快</a:t>
            </a:r>
            <a:r>
              <a:rPr lang="en-US" altLang="zh-CN" dirty="0"/>
              <a:t>/</a:t>
            </a:r>
            <a:r>
              <a:rPr lang="zh-CN" altLang="en-US" dirty="0"/>
              <a:t>元数据快</a:t>
            </a:r>
            <a:r>
              <a:rPr lang="en-US" altLang="zh-CN" dirty="0"/>
              <a:t>/</a:t>
            </a:r>
            <a:r>
              <a:rPr lang="zh-CN" altLang="en-US" dirty="0"/>
              <a:t>数据块组成</a:t>
            </a:r>
            <a:endParaRPr lang="en-US" altLang="zh-CN" dirty="0"/>
          </a:p>
          <a:p>
            <a:r>
              <a:rPr lang="zh-CN" altLang="en-US" dirty="0"/>
              <a:t>镜像文件或者每个快照的头部是一个超级块，图中以“</a:t>
            </a:r>
            <a:r>
              <a:rPr lang="en-US" altLang="zh-CN" dirty="0"/>
              <a:t>S”</a:t>
            </a:r>
            <a:r>
              <a:rPr lang="zh-CN" altLang="en-US" dirty="0"/>
              <a:t>代表，超级块会记录该镜像或者快照的块大小、可以拥有的最大数据块个数等信息。元数据块，图中以“</a:t>
            </a:r>
            <a:r>
              <a:rPr lang="en-US" altLang="zh-CN" dirty="0"/>
              <a:t>M”</a:t>
            </a:r>
            <a:r>
              <a:rPr lang="zh-CN" altLang="en-US" dirty="0"/>
              <a:t>代表，会记录它所管理的数据块的元数据，一个元数据块和它所管理的数据块共同构成了一个数据段。数据段大小由文件块大小所决定，当一个数据段被分配满，镜像会紧跟其后创建一个新的元数据块，该元数据块将作为新数据段的头部。</a:t>
            </a:r>
            <a:endParaRPr lang="en-US" altLang="zh-CN" dirty="0"/>
          </a:p>
          <a:p>
            <a:endParaRPr lang="en-US" altLang="zh-CN" dirty="0"/>
          </a:p>
          <a:p>
            <a:r>
              <a:rPr lang="zh-CN" altLang="en-US" dirty="0"/>
              <a:t>超级快的结构和元数据块的结构如表所示</a:t>
            </a:r>
          </a:p>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19</a:t>
            </a:fld>
            <a:endParaRPr kumimoji="1" lang="zh-CN" altLang="en-US"/>
          </a:p>
        </p:txBody>
      </p:sp>
    </p:spTree>
    <p:extLst>
      <p:ext uri="{BB962C8B-B14F-4D97-AF65-F5344CB8AC3E}">
        <p14:creationId xmlns:p14="http://schemas.microsoft.com/office/powerpoint/2010/main" val="284105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ea typeface="楷体" panose="02010609060101010101" pitchFamily="49" charset="-122"/>
              </a:rPr>
              <a:t>①可写数据、快照只读数据和基础镜像</a:t>
            </a:r>
            <a:endParaRPr lang="en-US" altLang="zh-CN" sz="1200" dirty="0">
              <a:latin typeface="Times New Roman" panose="02020603050405020304" pitchFamily="18" charset="0"/>
              <a:ea typeface="楷体" panose="02010609060101010101" pitchFamily="49" charset="-122"/>
            </a:endParaRPr>
          </a:p>
          <a:p>
            <a:r>
              <a:rPr lang="zh-CN" altLang="en-US" sz="1200" dirty="0">
                <a:latin typeface="Times New Roman" panose="02020603050405020304" pitchFamily="18" charset="0"/>
                <a:ea typeface="楷体" panose="02010609060101010101" pitchFamily="49" charset="-122"/>
              </a:rPr>
              <a:t>只读数据被分别计算出映射的逻辑地址</a:t>
            </a:r>
            <a:endParaRPr lang="en-US" altLang="zh-CN" sz="1200" dirty="0">
              <a:latin typeface="Times New Roman" panose="02020603050405020304" pitchFamily="18" charset="0"/>
              <a:ea typeface="楷体" panose="02010609060101010101" pitchFamily="49" charset="-122"/>
            </a:endParaRPr>
          </a:p>
          <a:p>
            <a:endParaRPr lang="en-US" altLang="zh-CN" sz="1200" dirty="0">
              <a:latin typeface="Times New Roman" panose="02020603050405020304" pitchFamily="18" charset="0"/>
              <a:ea typeface="楷体" panose="02010609060101010101" pitchFamily="49" charset="-122"/>
            </a:endParaRPr>
          </a:p>
          <a:p>
            <a:r>
              <a:rPr lang="zh-CN" altLang="en-US" sz="1200" dirty="0">
                <a:latin typeface="Times New Roman" panose="02020603050405020304" pitchFamily="18" charset="0"/>
                <a:ea typeface="楷体" panose="02010609060101010101" pitchFamily="49" charset="-122"/>
              </a:rPr>
              <a:t>②合并多层逻辑地址到一个地址空间，</a:t>
            </a:r>
            <a:endParaRPr lang="en-US" altLang="zh-CN" sz="1200" dirty="0">
              <a:latin typeface="Times New Roman" panose="02020603050405020304" pitchFamily="18" charset="0"/>
              <a:ea typeface="楷体" panose="02010609060101010101" pitchFamily="49" charset="-122"/>
            </a:endParaRPr>
          </a:p>
          <a:p>
            <a:r>
              <a:rPr lang="zh-CN" altLang="en-US" sz="1200" dirty="0">
                <a:latin typeface="Times New Roman" panose="02020603050405020304" pitchFamily="18" charset="0"/>
                <a:ea typeface="楷体" panose="02010609060101010101" pitchFamily="49" charset="-122"/>
              </a:rPr>
              <a:t>并映射到虚拟地址空间供客户机使用</a:t>
            </a:r>
            <a:endParaRPr lang="en-US" altLang="zh-CN" sz="1200" dirty="0">
              <a:latin typeface="Times New Roman" panose="02020603050405020304" pitchFamily="18" charset="0"/>
              <a:ea typeface="楷体" panose="02010609060101010101" pitchFamily="49" charset="-122"/>
            </a:endParaRPr>
          </a:p>
          <a:p>
            <a:endParaRPr lang="en-US" altLang="zh-CN" sz="1200" dirty="0">
              <a:latin typeface="Times New Roman" panose="02020603050405020304" pitchFamily="18" charset="0"/>
              <a:ea typeface="楷体" panose="02010609060101010101" pitchFamily="49" charset="-122"/>
            </a:endParaRPr>
          </a:p>
          <a:p>
            <a:r>
              <a:rPr lang="en-US" altLang="zh-CN" sz="1200" dirty="0">
                <a:latin typeface="Times New Roman" panose="02020603050405020304" pitchFamily="18" charset="0"/>
                <a:ea typeface="楷体" panose="02010609060101010101" pitchFamily="49" charset="-122"/>
              </a:rPr>
              <a:t>③</a:t>
            </a:r>
            <a:r>
              <a:rPr lang="zh-CN" altLang="en-US" sz="1200" dirty="0">
                <a:latin typeface="Times New Roman" panose="02020603050405020304" pitchFamily="18" charset="0"/>
                <a:ea typeface="楷体" panose="02010609060101010101" pitchFamily="49" charset="-122"/>
              </a:rPr>
              <a:t>当同一逻辑地址存在多个数据块映射，</a:t>
            </a:r>
            <a:endParaRPr lang="en-US" altLang="zh-CN" sz="1200" dirty="0">
              <a:latin typeface="Times New Roman" panose="02020603050405020304" pitchFamily="18" charset="0"/>
              <a:ea typeface="楷体" panose="02010609060101010101" pitchFamily="49" charset="-122"/>
            </a:endParaRPr>
          </a:p>
          <a:p>
            <a:r>
              <a:rPr lang="zh-CN" altLang="en-US" sz="1200" dirty="0">
                <a:latin typeface="Times New Roman" panose="02020603050405020304" pitchFamily="18" charset="0"/>
                <a:ea typeface="楷体" panose="02010609060101010101" pitchFamily="49" charset="-122"/>
              </a:rPr>
              <a:t>考虑不同数据块的优先级问题</a:t>
            </a:r>
            <a:endParaRPr lang="en-US" altLang="zh-CN" sz="1200" dirty="0">
              <a:latin typeface="Times New Roman" panose="02020603050405020304" pitchFamily="18" charset="0"/>
              <a:ea typeface="楷体" panose="02010609060101010101" pitchFamily="49" charset="-122"/>
            </a:endParaRPr>
          </a:p>
          <a:p>
            <a:r>
              <a:rPr kumimoji="1" lang="en-US" altLang="zh-CN" dirty="0"/>
              <a:t>﻿</a:t>
            </a:r>
          </a:p>
          <a:p>
            <a:endParaRPr kumimoji="1" lang="en-US" altLang="zh-CN" dirty="0"/>
          </a:p>
          <a:p>
            <a:r>
              <a:rPr kumimoji="1" lang="en-US" altLang="zh-CN" dirty="0"/>
              <a:t>at startup, for each </a:t>
            </a:r>
            <a:r>
              <a:rPr kumimoji="1" lang="en-US" altLang="zh-CN" dirty="0" err="1"/>
              <a:t>pcow</a:t>
            </a:r>
            <a:r>
              <a:rPr kumimoji="1" lang="en-US" altLang="zh-CN" dirty="0"/>
              <a:t> image, image monitor scans all the meta clusters and super clusters to map and register the virtualized address space to EPT.</a:t>
            </a:r>
          </a:p>
          <a:p>
            <a:endParaRPr kumimoji="1" lang="en-US" altLang="zh-CN" dirty="0"/>
          </a:p>
          <a:p>
            <a:r>
              <a:rPr kumimoji="1" lang="en-US" altLang="zh-CN" dirty="0"/>
              <a:t>﻿the writable part, the snapshot part and the base image part can be represented by three logical address spaces (Fig. 5b) according to the logical address that derived from </a:t>
            </a:r>
            <a:r>
              <a:rPr kumimoji="1" lang="en-US" altLang="zh-CN" dirty="0" err="1"/>
              <a:t>data_cluster_num</a:t>
            </a:r>
            <a:r>
              <a:rPr kumimoji="1" lang="en-US" altLang="zh-CN" dirty="0"/>
              <a:t> and </a:t>
            </a:r>
            <a:r>
              <a:rPr kumimoji="1" lang="en-US" altLang="zh-CN" dirty="0" err="1"/>
              <a:t>cluster_size</a:t>
            </a:r>
            <a:r>
              <a:rPr kumimoji="1" lang="en-US" altLang="zh-CN" dirty="0"/>
              <a:t>. Then the multiple logical address spaces are merged into one (Fig. 5c), which is finally mapped to a virtual machine as a virtual PM region.</a:t>
            </a:r>
          </a:p>
          <a:p>
            <a:endParaRPr kumimoji="1" lang="en-US" altLang="zh-CN" dirty="0"/>
          </a:p>
          <a:p>
            <a:r>
              <a:rPr kumimoji="1" lang="en-US" altLang="zh-CN" dirty="0"/>
              <a:t>﻿It should be noted that the logical address spaces </a:t>
            </a:r>
            <a:r>
              <a:rPr kumimoji="1" lang="en-US" altLang="zh-CN" dirty="0" err="1"/>
              <a:t>mayoverlap</a:t>
            </a:r>
            <a:r>
              <a:rPr kumimoji="1" lang="en-US" altLang="zh-CN" dirty="0"/>
              <a:t> between each other. Thus when the merging step is performed (Fig. 5b to Fig. 5c), there should be priorities. For- </a:t>
            </a:r>
            <a:r>
              <a:rPr kumimoji="1" lang="en-US" altLang="zh-CN" dirty="0" err="1"/>
              <a:t>tunately</a:t>
            </a:r>
            <a:r>
              <a:rPr kumimoji="1" lang="en-US" altLang="zh-CN" dirty="0"/>
              <a:t>, for the base image or snapshot feature, the priorities are straightforward. Among multiple images, the priorities are based on dependencies. Base images have lower priorities than current images. Within an image file, the priorities are based on snapshot time. The priorities of more recent snapshots are higher, and the last writable part have the highest priority. Taking Fig. 5 as an example, the clusters labelled 0 and 3 of the base image are overlaid by the current image’s cluster 0 and cluster 3 in the merged address space. And the cluster labelled 5 of the snapshot part is overlaid by the cluster in writable part</a:t>
            </a:r>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20</a:t>
            </a:fld>
            <a:endParaRPr kumimoji="1" lang="zh-CN" altLang="en-US"/>
          </a:p>
        </p:txBody>
      </p:sp>
    </p:spTree>
    <p:extLst>
      <p:ext uri="{BB962C8B-B14F-4D97-AF65-F5344CB8AC3E}">
        <p14:creationId xmlns:p14="http://schemas.microsoft.com/office/powerpoint/2010/main" val="1204468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21</a:t>
            </a:fld>
            <a:endParaRPr kumimoji="1" lang="zh-CN" altLang="en-US"/>
          </a:p>
        </p:txBody>
      </p:sp>
    </p:spTree>
    <p:extLst>
      <p:ext uri="{BB962C8B-B14F-4D97-AF65-F5344CB8AC3E}">
        <p14:creationId xmlns:p14="http://schemas.microsoft.com/office/powerpoint/2010/main" val="649241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22</a:t>
            </a:fld>
            <a:endParaRPr kumimoji="1" lang="zh-CN" altLang="en-US"/>
          </a:p>
        </p:txBody>
      </p:sp>
    </p:spTree>
    <p:extLst>
      <p:ext uri="{BB962C8B-B14F-4D97-AF65-F5344CB8AC3E}">
        <p14:creationId xmlns:p14="http://schemas.microsoft.com/office/powerpoint/2010/main" val="1536925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5A4ED16-4179-F049-8FD5-FB531273BF32}" type="slidenum">
              <a:rPr kumimoji="1" lang="zh-CN" altLang="en-US" smtClean="0"/>
              <a:t>23</a:t>
            </a:fld>
            <a:endParaRPr kumimoji="1" lang="zh-CN" altLang="en-US"/>
          </a:p>
        </p:txBody>
      </p:sp>
    </p:spTree>
    <p:extLst>
      <p:ext uri="{BB962C8B-B14F-4D97-AF65-F5344CB8AC3E}">
        <p14:creationId xmlns:p14="http://schemas.microsoft.com/office/powerpoint/2010/main" val="296439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a:t>
            </a:r>
            <a:r>
              <a:rPr kumimoji="1" lang="en-US" altLang="zh-CN" baseline="0" dirty="0"/>
              <a:t> is the agenda</a:t>
            </a:r>
            <a:r>
              <a:rPr kumimoji="1" lang="zh-CN" altLang="en-US" baseline="0" dirty="0"/>
              <a:t> </a:t>
            </a:r>
            <a:r>
              <a:rPr kumimoji="1" lang="en-US" altLang="zh-CN" baseline="0" dirty="0"/>
              <a:t>of this presentation, </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B9210-A5D6-DF4A-BCF1-E487EA4C0D19}"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76888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7B18A45-F633-574C-ADAB-D7C1DF14009F}"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347077-D760-7845-8651-BF4A9F71AC57}" type="datetimeFigureOut">
              <a:rPr kumimoji="1" lang="zh-CN" altLang="en-US" smtClean="0"/>
              <a:t>2019/10/22</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B18A45-F633-574C-ADAB-D7C1DF14009F}" type="slidenum">
              <a:rPr kumimoji="1" lang="zh-CN" altLang="en-US" smtClean="0"/>
              <a:t>‹#›</a:t>
            </a:fld>
            <a:endParaRPr kumimoji="1" lang="zh-CN" altLang="en-US"/>
          </a:p>
        </p:txBody>
      </p:sp>
    </p:spTree>
    <p:extLst>
      <p:ext uri="{BB962C8B-B14F-4D97-AF65-F5344CB8AC3E}">
        <p14:creationId xmlns:p14="http://schemas.microsoft.com/office/powerpoint/2010/main" val="1519877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4.emf"/><Relationship Id="rId7"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7.emf"/><Relationship Id="rId11" Type="http://schemas.openxmlformats.org/officeDocument/2006/relationships/image" Target="../media/image22.emf"/><Relationship Id="rId5" Type="http://schemas.openxmlformats.org/officeDocument/2006/relationships/image" Target="../media/image16.emf"/><Relationship Id="rId10" Type="http://schemas.openxmlformats.org/officeDocument/2006/relationships/image" Target="../media/image21.emf"/><Relationship Id="rId4" Type="http://schemas.openxmlformats.org/officeDocument/2006/relationships/image" Target="../media/image15.emf"/><Relationship Id="rId9"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62962" y="1215946"/>
            <a:ext cx="9026305" cy="1545361"/>
          </a:xfrm>
        </p:spPr>
        <p:txBody>
          <a:bodyPr>
            <a:noAutofit/>
          </a:bodyPr>
          <a:lstStyle/>
          <a:p>
            <a:r>
              <a:rPr kumimoji="1" lang="en-US" altLang="zh-CN" sz="3400" dirty="0"/>
              <a:t>﻿</a:t>
            </a:r>
            <a:r>
              <a:rPr kumimoji="1" lang="zh-CN" altLang="en-US" sz="4400" dirty="0">
                <a:latin typeface="黑体" panose="02010609060101010101" pitchFamily="49" charset="-122"/>
                <a:ea typeface="黑体" panose="02010609060101010101" pitchFamily="49" charset="-122"/>
              </a:rPr>
              <a:t>持久性内存虚拟化</a:t>
            </a:r>
            <a:br>
              <a:rPr kumimoji="1" lang="en-US" altLang="zh-CN" sz="4400" dirty="0">
                <a:latin typeface="黑体" panose="02010609060101010101" pitchFamily="49" charset="-122"/>
                <a:ea typeface="黑体" panose="02010609060101010101" pitchFamily="49" charset="-122"/>
              </a:rPr>
            </a:br>
            <a:r>
              <a:rPr kumimoji="1" lang="zh-CN" altLang="en-US" sz="4400" dirty="0">
                <a:latin typeface="黑体" panose="02010609060101010101" pitchFamily="49" charset="-122"/>
                <a:ea typeface="黑体" panose="02010609060101010101" pitchFamily="49" charset="-122"/>
              </a:rPr>
              <a:t>的优化方法</a:t>
            </a:r>
            <a:endParaRPr kumimoji="1" lang="zh-CN" altLang="en-US" sz="3400" dirty="0">
              <a:latin typeface="黑体" panose="02010609060101010101" pitchFamily="49" charset="-122"/>
              <a:ea typeface="黑体" panose="02010609060101010101" pitchFamily="49" charset="-122"/>
            </a:endParaRPr>
          </a:p>
        </p:txBody>
      </p:sp>
      <p:sp>
        <p:nvSpPr>
          <p:cNvPr id="3" name="标题 1"/>
          <p:cNvSpPr txBox="1">
            <a:spLocks/>
          </p:cNvSpPr>
          <p:nvPr/>
        </p:nvSpPr>
        <p:spPr>
          <a:xfrm>
            <a:off x="0" y="2761307"/>
            <a:ext cx="9026305" cy="64755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kumimoji="1" lang="zh-CN" altLang="en-US" sz="3400" dirty="0"/>
          </a:p>
        </p:txBody>
      </p:sp>
      <p:sp>
        <p:nvSpPr>
          <p:cNvPr id="4" name="矩形 3"/>
          <p:cNvSpPr/>
          <p:nvPr/>
        </p:nvSpPr>
        <p:spPr>
          <a:xfrm>
            <a:off x="1525508" y="5233400"/>
            <a:ext cx="6251419" cy="646331"/>
          </a:xfrm>
          <a:prstGeom prst="rect">
            <a:avLst/>
          </a:prstGeom>
        </p:spPr>
        <p:txBody>
          <a:bodyPr wrap="square">
            <a:spAutoFit/>
          </a:bodyPr>
          <a:lstStyle/>
          <a:p>
            <a:pPr algn="ctr"/>
            <a:r>
              <a:rPr lang="zh-CN" altLang="en-US" dirty="0">
                <a:latin typeface="Times New Roman" panose="02020603050405020304" pitchFamily="18" charset="0"/>
                <a:ea typeface="黑体" panose="02010609060101010101" pitchFamily="49" charset="-122"/>
              </a:rPr>
              <a:t>﻿</a:t>
            </a:r>
            <a:r>
              <a:rPr lang="zh-CN" altLang="en-US" sz="2000" dirty="0">
                <a:latin typeface="楷体" panose="02010609060101010101" pitchFamily="49" charset="-122"/>
                <a:ea typeface="楷体" panose="02010609060101010101" pitchFamily="49" charset="-122"/>
              </a:rPr>
              <a:t>崔立骁</a:t>
            </a:r>
            <a:endParaRPr lang="en-US" altLang="zh-CN" dirty="0">
              <a:latin typeface="楷体" panose="02010609060101010101" pitchFamily="49" charset="-122"/>
              <a:ea typeface="楷体" panose="02010609060101010101" pitchFamily="49" charset="-122"/>
            </a:endParaRPr>
          </a:p>
          <a:p>
            <a:pPr algn="ctr"/>
            <a:r>
              <a:rPr lang="en-US" altLang="zh-CN" sz="1600" dirty="0">
                <a:latin typeface="Times New Roman" panose="02020603050405020304" pitchFamily="18" charset="0"/>
                <a:ea typeface="黑体" panose="02010609060101010101" pitchFamily="49" charset="-122"/>
              </a:rPr>
              <a:t>cuilx@nbjl.nankai.edu.cn</a:t>
            </a:r>
          </a:p>
        </p:txBody>
      </p:sp>
    </p:spTree>
    <p:extLst>
      <p:ext uri="{BB962C8B-B14F-4D97-AF65-F5344CB8AC3E}">
        <p14:creationId xmlns:p14="http://schemas.microsoft.com/office/powerpoint/2010/main" val="207797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charset="0"/>
              <a:ea typeface="宋体" charset="0"/>
              <a:cs typeface="+mn-cs"/>
            </a:endParaRPr>
          </a:p>
        </p:txBody>
      </p:sp>
      <p:sp>
        <p:nvSpPr>
          <p:cNvPr id="2" name="文本框 1"/>
          <p:cNvSpPr txBox="1"/>
          <p:nvPr/>
        </p:nvSpPr>
        <p:spPr>
          <a:xfrm>
            <a:off x="6801492" y="436651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2974693" y="2465408"/>
            <a:ext cx="5797348" cy="2221762"/>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持久性内存虚拟化介绍</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srgbClr val="E7E6E6">
                    <a:lumMod val="90000"/>
                  </a:srgbClr>
                </a:solidFill>
                <a:effectLst/>
                <a:uLnTx/>
                <a:uFillTx/>
                <a:latin typeface="宋体" panose="02010600030101010101" pitchFamily="2" charset="-122"/>
                <a:ea typeface="宋体" panose="02010600030101010101" pitchFamily="2" charset="-122"/>
                <a:cs typeface="+mn-cs"/>
              </a:rPr>
              <a:t>   </a:t>
            </a:r>
            <a:r>
              <a:rPr kumimoji="1"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优化一：面向镜像管理的</a:t>
            </a:r>
            <a:r>
              <a:rPr kumimoji="1" lang="en-US" altLang="zh-CN" sz="24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   优化二：面向混合存储的</a:t>
            </a:r>
            <a:r>
              <a:rPr kumimoji="1" lang="en-US" altLang="zh-CN" sz="24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endParaRPr kumimoji="1" lang="zh-CN" altLang="en-US" sz="2400" b="0" i="0" u="none" strike="noStrike" kern="1200" cap="none" spc="0" normalizeH="0" baseline="0" noProof="0" dirty="0">
              <a:ln>
                <a:noFill/>
              </a:ln>
              <a:solidFill>
                <a:srgbClr val="E7E6E6">
                  <a:lumMod val="90000"/>
                </a:srgbClr>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1377696" y="1450848"/>
            <a:ext cx="175791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rPr>
              <a:t>Agenda</a:t>
            </a:r>
            <a:endParaRPr kumimoji="1" lang="zh-CN" altLang="en-US"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43333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charset="0"/>
              <a:ea typeface="宋体" charset="0"/>
              <a:cs typeface="+mn-cs"/>
            </a:endParaRPr>
          </a:p>
        </p:txBody>
      </p:sp>
      <p:sp>
        <p:nvSpPr>
          <p:cNvPr id="2" name="文本框 1"/>
          <p:cNvSpPr txBox="1"/>
          <p:nvPr/>
        </p:nvSpPr>
        <p:spPr>
          <a:xfrm>
            <a:off x="6801492" y="436651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2974693" y="2465408"/>
            <a:ext cx="5797348" cy="2221762"/>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持久性内存虚拟化介绍</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   优化一：面向镜像管理的</a:t>
            </a:r>
            <a:r>
              <a:rPr kumimoji="1" lang="en-US" altLang="zh-CN" sz="2400" b="0" i="0" u="none" strike="noStrike" kern="1200" cap="none" spc="0" normalizeH="0" baseline="0" noProof="0" dirty="0">
                <a:ln>
                  <a:noFill/>
                </a:ln>
                <a:solidFill>
                  <a:schemeClr val="bg2">
                    <a:lumMod val="90000"/>
                  </a:schemeClr>
                </a:solidFill>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endParaRPr>
          </a:p>
          <a:p>
            <a:pPr marL="285750" indent="-285750">
              <a:lnSpc>
                <a:spcPct val="150000"/>
              </a:lnSpc>
              <a:buClr>
                <a:prstClr val="white"/>
              </a:buClr>
              <a:buFont typeface="Arial" charset="0"/>
              <a:buChar char="•"/>
            </a:pP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   优化二：</a:t>
            </a:r>
            <a:r>
              <a:rPr kumimoji="1" lang="zh-CN" altLang="en-US" sz="2400" dirty="0">
                <a:solidFill>
                  <a:schemeClr val="bg2">
                    <a:lumMod val="90000"/>
                  </a:schemeClr>
                </a:solidFill>
                <a:latin typeface="宋体" panose="02010600030101010101" pitchFamily="2" charset="-122"/>
                <a:ea typeface="宋体" panose="02010600030101010101" pitchFamily="2" charset="-122"/>
              </a:rPr>
              <a:t>面向混合存储的</a:t>
            </a:r>
            <a:r>
              <a:rPr kumimoji="1" lang="en-US" altLang="zh-CN" sz="2400" dirty="0">
                <a:solidFill>
                  <a:schemeClr val="bg2">
                    <a:lumMod val="90000"/>
                  </a:schemeClr>
                </a:solidFill>
                <a:latin typeface="Times New Roman" panose="02020603050405020304" pitchFamily="18" charset="0"/>
                <a:ea typeface="宋体" panose="02010600030101010101" pitchFamily="2" charset="-122"/>
              </a:rPr>
              <a:t>PM</a:t>
            </a:r>
            <a:r>
              <a:rPr kumimoji="1" lang="zh-CN" altLang="en-US" sz="2400" dirty="0">
                <a:solidFill>
                  <a:schemeClr val="bg2">
                    <a:lumMod val="90000"/>
                  </a:schemeClr>
                </a:solidFill>
                <a:latin typeface="宋体" panose="02010600030101010101" pitchFamily="2" charset="-122"/>
                <a:ea typeface="宋体" panose="02010600030101010101" pitchFamily="2" charset="-122"/>
              </a:rPr>
              <a:t>虚拟化</a:t>
            </a:r>
            <a:endParaRPr kumimoji="1" lang="en-US" altLang="zh-CN" sz="2400" dirty="0">
              <a:solidFill>
                <a:schemeClr val="bg2">
                  <a:lumMod val="90000"/>
                </a:schemeClr>
              </a:solidFill>
              <a:latin typeface="宋体" panose="02010600030101010101" pitchFamily="2" charset="-122"/>
              <a:ea typeface="宋体" panose="02010600030101010101" pitchFamily="2" charset="-122"/>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endPar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1377696" y="1450848"/>
            <a:ext cx="175791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rPr>
              <a:t>Agenda</a:t>
            </a:r>
            <a:endParaRPr kumimoji="1" lang="zh-CN" altLang="en-US"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887280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00113" y="554335"/>
            <a:ext cx="1723549"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持久性内存</a:t>
            </a:r>
            <a:endParaRPr kumimoji="1" lang="en-US" altLang="zh-CN" sz="2400" dirty="0">
              <a:latin typeface="宋体" panose="02010600030101010101" pitchFamily="2" charset="-122"/>
              <a:ea typeface="宋体" panose="02010600030101010101" pitchFamily="2" charset="-122"/>
            </a:endParaRPr>
          </a:p>
        </p:txBody>
      </p:sp>
      <p:sp>
        <p:nvSpPr>
          <p:cNvPr id="6" name="文本框 5"/>
          <p:cNvSpPr txBox="1"/>
          <p:nvPr/>
        </p:nvSpPr>
        <p:spPr>
          <a:xfrm>
            <a:off x="2652711" y="3012959"/>
            <a:ext cx="4058055" cy="369332"/>
          </a:xfrm>
          <a:prstGeom prst="rect">
            <a:avLst/>
          </a:prstGeom>
          <a:noFill/>
        </p:spPr>
        <p:txBody>
          <a:bodyPr wrap="square" rtlCol="0">
            <a:spAutoFit/>
          </a:bodyPr>
          <a:lstStyle/>
          <a:p>
            <a:r>
              <a:rPr kumimoji="1" lang="en-US" altLang="zh-CN" dirty="0"/>
              <a:t>Intel’s</a:t>
            </a:r>
            <a:r>
              <a:rPr kumimoji="1" lang="zh-CN" altLang="en-US" dirty="0"/>
              <a:t> </a:t>
            </a:r>
            <a:r>
              <a:rPr kumimoji="1" lang="en-US" altLang="zh-CN" dirty="0"/>
              <a:t>DIMM</a:t>
            </a:r>
            <a:r>
              <a:rPr kumimoji="1" lang="zh-CN" altLang="en-US" dirty="0"/>
              <a:t> </a:t>
            </a:r>
            <a:r>
              <a:rPr kumimoji="1" lang="en-US" altLang="zh-CN" dirty="0"/>
              <a:t>form</a:t>
            </a:r>
            <a:r>
              <a:rPr kumimoji="1" lang="zh-CN" altLang="en-US" dirty="0"/>
              <a:t> </a:t>
            </a:r>
            <a:r>
              <a:rPr kumimoji="1" lang="en-US" altLang="zh-CN" dirty="0"/>
              <a:t>Persistent</a:t>
            </a:r>
            <a:r>
              <a:rPr kumimoji="1" lang="zh-CN" altLang="en-US" dirty="0"/>
              <a:t> </a:t>
            </a:r>
            <a:r>
              <a:rPr kumimoji="1" lang="en-US" altLang="zh-CN" dirty="0"/>
              <a:t>Memory</a:t>
            </a:r>
            <a:endParaRPr kumimoji="1" lang="zh-CN" altLang="en-US" dirty="0"/>
          </a:p>
        </p:txBody>
      </p:sp>
      <p:sp>
        <p:nvSpPr>
          <p:cNvPr id="7" name="文本框 6"/>
          <p:cNvSpPr txBox="1"/>
          <p:nvPr/>
        </p:nvSpPr>
        <p:spPr>
          <a:xfrm>
            <a:off x="325969" y="3839458"/>
            <a:ext cx="4653483" cy="2369880"/>
          </a:xfrm>
          <a:prstGeom prst="rect">
            <a:avLst/>
          </a:prstGeom>
          <a:noFill/>
        </p:spPr>
        <p:txBody>
          <a:bodyPr wrap="square" rtlCol="0">
            <a:spAutoFit/>
          </a:bodyPr>
          <a:lstStyle/>
          <a:p>
            <a:pPr marL="342900" lvl="0" indent="-342900">
              <a:buFont typeface="Arial" panose="020B0604020202020204" pitchFamily="34" charset="0"/>
              <a:buChar char="•"/>
            </a:pPr>
            <a:r>
              <a:rPr lang="zh-CN" altLang="en-US" sz="2400" dirty="0">
                <a:solidFill>
                  <a:prstClr val="black"/>
                </a:solidFill>
                <a:latin typeface="楷体" panose="02010609060101010101" pitchFamily="49" charset="-122"/>
                <a:ea typeface="楷体" panose="02010609060101010101" pitchFamily="49" charset="-122"/>
              </a:rPr>
              <a:t>内存特性</a:t>
            </a:r>
            <a:endParaRPr lang="en-US" altLang="zh-CN" sz="2400" dirty="0">
              <a:solidFill>
                <a:prstClr val="black"/>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dirty="0">
                <a:solidFill>
                  <a:prstClr val="black"/>
                </a:solidFill>
                <a:latin typeface="楷体" panose="02010609060101010101" pitchFamily="49" charset="-122"/>
                <a:ea typeface="楷体" panose="02010609060101010101" pitchFamily="49" charset="-122"/>
              </a:rPr>
              <a:t>字节寻址</a:t>
            </a:r>
            <a:endParaRPr lang="en-US" altLang="zh-CN" sz="2000" dirty="0">
              <a:solidFill>
                <a:prstClr val="black"/>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dirty="0">
                <a:solidFill>
                  <a:prstClr val="black"/>
                </a:solidFill>
                <a:latin typeface="楷体" panose="02010609060101010101" pitchFamily="49" charset="-122"/>
                <a:ea typeface="楷体" panose="02010609060101010101" pitchFamily="49" charset="-122"/>
              </a:rPr>
              <a:t>低延迟</a:t>
            </a:r>
            <a:endParaRPr lang="en-US" altLang="zh-CN" sz="2000" dirty="0">
              <a:solidFill>
                <a:prstClr val="black"/>
              </a:solidFill>
              <a:latin typeface="楷体" panose="02010609060101010101" pitchFamily="49" charset="-122"/>
              <a:ea typeface="楷体" panose="02010609060101010101" pitchFamily="49" charset="-122"/>
            </a:endParaRPr>
          </a:p>
          <a:p>
            <a:pPr marL="342900" lvl="0" indent="-342900">
              <a:buFont typeface="Arial" panose="020B0604020202020204" pitchFamily="34" charset="0"/>
              <a:buChar char="•"/>
            </a:pPr>
            <a:r>
              <a:rPr lang="zh-CN" altLang="en-US" sz="2400" dirty="0">
                <a:solidFill>
                  <a:prstClr val="black"/>
                </a:solidFill>
                <a:latin typeface="楷体" panose="02010609060101010101" pitchFamily="49" charset="-122"/>
                <a:ea typeface="楷体" panose="02010609060101010101" pitchFamily="49" charset="-122"/>
              </a:rPr>
              <a:t>外存特性</a:t>
            </a:r>
            <a:endParaRPr lang="en-US" altLang="zh-CN" sz="2400" dirty="0">
              <a:solidFill>
                <a:prstClr val="black"/>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dirty="0">
                <a:solidFill>
                  <a:prstClr val="black"/>
                </a:solidFill>
                <a:latin typeface="楷体" panose="02010609060101010101" pitchFamily="49" charset="-122"/>
                <a:ea typeface="楷体" panose="02010609060101010101" pitchFamily="49" charset="-122"/>
              </a:rPr>
              <a:t>数据非易失</a:t>
            </a:r>
            <a:endParaRPr lang="en-US" altLang="zh-CN" sz="2000" dirty="0">
              <a:solidFill>
                <a:prstClr val="black"/>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dirty="0">
                <a:solidFill>
                  <a:prstClr val="black"/>
                </a:solidFill>
                <a:latin typeface="楷体" panose="02010609060101010101" pitchFamily="49" charset="-122"/>
                <a:ea typeface="楷体" panose="02010609060101010101" pitchFamily="49" charset="-122"/>
              </a:rPr>
              <a:t>大容量</a:t>
            </a:r>
            <a:endParaRPr lang="en-US" altLang="zh-CN" sz="2000" dirty="0">
              <a:solidFill>
                <a:prstClr val="black"/>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endParaRPr lang="en-US" altLang="zh-CN" sz="2000" dirty="0">
              <a:latin typeface="楷体" panose="02010609060101010101" pitchFamily="49" charset="-122"/>
              <a:ea typeface="楷体" panose="02010609060101010101" pitchFamily="49" charset="-122"/>
            </a:endParaRPr>
          </a:p>
        </p:txBody>
      </p:sp>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941" y="1725495"/>
            <a:ext cx="4672117" cy="1287464"/>
          </a:xfrm>
          <a:prstGeom prst="rect">
            <a:avLst/>
          </a:prstGeom>
        </p:spPr>
      </p:pic>
      <p:sp>
        <p:nvSpPr>
          <p:cNvPr id="8" name="TextBox 29">
            <a:extLst>
              <a:ext uri="{FF2B5EF4-FFF2-40B4-BE49-F238E27FC236}">
                <a16:creationId xmlns:a16="http://schemas.microsoft.com/office/drawing/2014/main" id="{82333543-4B75-439D-BB1B-9C34727DAD70}"/>
              </a:ext>
            </a:extLst>
          </p:cNvPr>
          <p:cNvSpPr txBox="1"/>
          <p:nvPr/>
        </p:nvSpPr>
        <p:spPr>
          <a:xfrm>
            <a:off x="2978131" y="3839458"/>
            <a:ext cx="7859853" cy="3477875"/>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pPr marL="342900" indent="-342900">
              <a:buFont typeface="Arial" panose="020B0604020202020204" pitchFamily="34" charset="0"/>
              <a:buChar char="•"/>
            </a:pPr>
            <a:r>
              <a:rPr lang="zh-CN" altLang="en-US" sz="2000" dirty="0">
                <a:solidFill>
                  <a:prstClr val="black">
                    <a:lumMod val="75000"/>
                    <a:lumOff val="25000"/>
                  </a:prstClr>
                </a:solidFill>
                <a:latin typeface="Times New Roman" panose="02020603050405020304" pitchFamily="18" charset="0"/>
                <a:ea typeface="楷体" panose="02010609060101010101" pitchFamily="49" charset="-122"/>
              </a:rPr>
              <a:t>访问模式</a:t>
            </a:r>
            <a:endParaRPr lang="en-US" altLang="zh-CN" sz="2000" dirty="0">
              <a:solidFill>
                <a:prstClr val="black">
                  <a:lumMod val="75000"/>
                  <a:lumOff val="25000"/>
                </a:prstClr>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en-US" altLang="zh-CN" dirty="0">
                <a:solidFill>
                  <a:prstClr val="black"/>
                </a:solidFill>
                <a:latin typeface="Times New Roman" panose="02020603050405020304" pitchFamily="18" charset="0"/>
                <a:ea typeface="楷体" panose="02010609060101010101" pitchFamily="49" charset="-122"/>
              </a:rPr>
              <a:t>PM</a:t>
            </a:r>
            <a:r>
              <a:rPr lang="zh-CN" altLang="en-US" dirty="0">
                <a:solidFill>
                  <a:prstClr val="black"/>
                </a:solidFill>
                <a:latin typeface="Times New Roman" panose="02020603050405020304" pitchFamily="18" charset="0"/>
                <a:ea typeface="楷体" panose="02010609060101010101" pitchFamily="49" charset="-122"/>
              </a:rPr>
              <a:t>感知文件系统</a:t>
            </a:r>
            <a:r>
              <a:rPr lang="en-US" altLang="zh-CN" dirty="0">
                <a:solidFill>
                  <a:prstClr val="black"/>
                </a:solidFill>
                <a:latin typeface="Times New Roman" panose="02020603050405020304" pitchFamily="18" charset="0"/>
                <a:ea typeface="楷体" panose="02010609060101010101" pitchFamily="49" charset="-122"/>
              </a:rPr>
              <a:t>(</a:t>
            </a:r>
            <a:r>
              <a:rPr lang="zh-CN" altLang="en-US" dirty="0">
                <a:solidFill>
                  <a:prstClr val="black"/>
                </a:solidFill>
                <a:latin typeface="Times New Roman" panose="02020603050405020304" pitchFamily="18" charset="0"/>
                <a:ea typeface="楷体" panose="02010609060101010101" pitchFamily="49" charset="-122"/>
              </a:rPr>
              <a:t>例如</a:t>
            </a:r>
            <a:r>
              <a:rPr lang="en-US" altLang="zh-CN" dirty="0">
                <a:solidFill>
                  <a:prstClr val="black"/>
                </a:solidFill>
                <a:latin typeface="Times New Roman" panose="02020603050405020304" pitchFamily="18" charset="0"/>
                <a:ea typeface="楷体" panose="02010609060101010101" pitchFamily="49" charset="-122"/>
              </a:rPr>
              <a:t>ext4-DAX)</a:t>
            </a:r>
          </a:p>
          <a:p>
            <a:pPr marL="800100" lvl="1" indent="-342900">
              <a:buFont typeface="Arial" panose="020B0604020202020204" pitchFamily="34" charset="0"/>
              <a:buChar char="•"/>
            </a:pPr>
            <a:r>
              <a:rPr lang="zh-CN" altLang="en-US" dirty="0">
                <a:solidFill>
                  <a:prstClr val="black"/>
                </a:solidFill>
                <a:latin typeface="Times New Roman" panose="02020603050405020304" pitchFamily="18" charset="0"/>
                <a:ea typeface="楷体" panose="02010609060101010101" pitchFamily="49" charset="-122"/>
              </a:rPr>
              <a:t>旁路操作系统页缓存</a:t>
            </a: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dirty="0">
                <a:solidFill>
                  <a:prstClr val="black"/>
                </a:solidFill>
                <a:latin typeface="Times New Roman" panose="02020603050405020304" pitchFamily="18" charset="0"/>
                <a:ea typeface="楷体" panose="02010609060101010101" pitchFamily="49" charset="-122"/>
              </a:rPr>
              <a:t>应用通过</a:t>
            </a:r>
            <a:r>
              <a:rPr lang="en-US" altLang="zh-CN" dirty="0" err="1">
                <a:solidFill>
                  <a:prstClr val="black"/>
                </a:solidFill>
                <a:latin typeface="Times New Roman" panose="02020603050405020304" pitchFamily="18" charset="0"/>
                <a:ea typeface="楷体" panose="02010609060101010101" pitchFamily="49" charset="-122"/>
              </a:rPr>
              <a:t>mmap</a:t>
            </a:r>
            <a:r>
              <a:rPr lang="zh-CN" altLang="en-US" dirty="0">
                <a:solidFill>
                  <a:prstClr val="black"/>
                </a:solidFill>
                <a:latin typeface="Times New Roman" panose="02020603050405020304" pitchFamily="18" charset="0"/>
                <a:ea typeface="楷体" panose="02010609060101010101" pitchFamily="49" charset="-122"/>
              </a:rPr>
              <a:t>映射访问或文件接口访问</a:t>
            </a: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endParaRPr lang="en-US" altLang="zh-CN" dirty="0">
              <a:solidFill>
                <a:prstClr val="black"/>
              </a:solidFill>
              <a:latin typeface="Times New Roman" panose="02020603050405020304" pitchFamily="18" charset="0"/>
              <a:ea typeface="楷体" panose="02010609060101010101" pitchFamily="49" charset="-122"/>
            </a:endParaRPr>
          </a:p>
        </p:txBody>
      </p:sp>
      <p:sp>
        <p:nvSpPr>
          <p:cNvPr id="9" name="文本框 8">
            <a:extLst>
              <a:ext uri="{FF2B5EF4-FFF2-40B4-BE49-F238E27FC236}">
                <a16:creationId xmlns:a16="http://schemas.microsoft.com/office/drawing/2014/main" id="{D923E4B5-776C-4BE5-8719-D6D71A3779FD}"/>
              </a:ext>
            </a:extLst>
          </p:cNvPr>
          <p:cNvSpPr txBox="1"/>
          <p:nvPr/>
        </p:nvSpPr>
        <p:spPr>
          <a:xfrm>
            <a:off x="2978131" y="5141192"/>
            <a:ext cx="8212687" cy="677108"/>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prstClr val="black"/>
                </a:solidFill>
                <a:latin typeface="Times New Roman" panose="02020603050405020304" pitchFamily="18" charset="0"/>
                <a:ea typeface="楷体" panose="02010609060101010101" pitchFamily="49" charset="-122"/>
              </a:rPr>
              <a:t>持久化</a:t>
            </a:r>
            <a:endParaRPr lang="en-US" altLang="zh-CN" sz="2000" dirty="0">
              <a:solidFill>
                <a:prstClr val="black"/>
              </a:solidFill>
              <a:latin typeface="Times New Roman" panose="02020603050405020304" pitchFamily="18" charset="0"/>
              <a:ea typeface="楷体" panose="02010609060101010101" pitchFamily="49" charset="-122"/>
            </a:endParaRPr>
          </a:p>
          <a:p>
            <a:pPr marL="742950" lvl="1" indent="-285750">
              <a:buFont typeface="Arial" panose="020B0604020202020204" pitchFamily="34" charset="0"/>
              <a:buChar char="•"/>
            </a:pPr>
            <a:r>
              <a:rPr lang="en-US" altLang="zh-CN" dirty="0" err="1">
                <a:solidFill>
                  <a:prstClr val="black"/>
                </a:solidFill>
                <a:latin typeface="Times New Roman" panose="02020603050405020304" pitchFamily="18" charset="0"/>
                <a:ea typeface="楷体" panose="02010609060101010101" pitchFamily="49" charset="-122"/>
              </a:rPr>
              <a:t>clflush</a:t>
            </a:r>
            <a:r>
              <a:rPr lang="zh-CN" altLang="en-US" dirty="0">
                <a:solidFill>
                  <a:prstClr val="black"/>
                </a:solidFill>
                <a:latin typeface="Times New Roman" panose="02020603050405020304" pitchFamily="18" charset="0"/>
                <a:ea typeface="楷体" panose="02010609060101010101" pitchFamily="49" charset="-122"/>
              </a:rPr>
              <a:t>将</a:t>
            </a:r>
            <a:r>
              <a:rPr lang="en-US" altLang="zh-CN" dirty="0" err="1">
                <a:solidFill>
                  <a:prstClr val="black"/>
                </a:solidFill>
                <a:latin typeface="Times New Roman" panose="02020603050405020304" pitchFamily="18" charset="0"/>
                <a:ea typeface="楷体" panose="02010609060101010101" pitchFamily="49" charset="-122"/>
              </a:rPr>
              <a:t>cacheline</a:t>
            </a:r>
            <a:r>
              <a:rPr lang="zh-CN" altLang="en-US" dirty="0">
                <a:solidFill>
                  <a:prstClr val="black"/>
                </a:solidFill>
                <a:latin typeface="Times New Roman" panose="02020603050405020304" pitchFamily="18" charset="0"/>
                <a:ea typeface="楷体" panose="02010609060101010101" pitchFamily="49" charset="-122"/>
              </a:rPr>
              <a:t>强制刷入</a:t>
            </a:r>
            <a:r>
              <a:rPr lang="en-US" altLang="zh-CN" dirty="0">
                <a:solidFill>
                  <a:prstClr val="black"/>
                </a:solidFill>
                <a:latin typeface="Times New Roman" panose="02020603050405020304" pitchFamily="18" charset="0"/>
                <a:ea typeface="楷体" panose="02010609060101010101" pitchFamily="49" charset="-122"/>
              </a:rPr>
              <a:t>PM</a:t>
            </a:r>
            <a:endParaRPr lang="zh-CN" altLang="en-US" dirty="0">
              <a:solidFill>
                <a:prstClr val="black"/>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71116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97E87D4-58C9-4160-9621-8CC3745D8C59}"/>
              </a:ext>
            </a:extLst>
          </p:cNvPr>
          <p:cNvSpPr txBox="1"/>
          <p:nvPr/>
        </p:nvSpPr>
        <p:spPr>
          <a:xfrm>
            <a:off x="900113" y="554335"/>
            <a:ext cx="2646878"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持久性内存虚拟化</a:t>
            </a:r>
            <a:endParaRPr kumimoji="1" lang="en-US" altLang="zh-CN" sz="2400"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545EE3D5-67FE-4812-B880-8C2ED590953C}"/>
              </a:ext>
            </a:extLst>
          </p:cNvPr>
          <p:cNvPicPr>
            <a:picLocks noChangeAspect="1"/>
          </p:cNvPicPr>
          <p:nvPr/>
        </p:nvPicPr>
        <p:blipFill rotWithShape="1">
          <a:blip r:embed="rId3"/>
          <a:srcRect r="51813"/>
          <a:stretch/>
        </p:blipFill>
        <p:spPr>
          <a:xfrm>
            <a:off x="4772838" y="1589630"/>
            <a:ext cx="3557123" cy="3990975"/>
          </a:xfrm>
          <a:prstGeom prst="rect">
            <a:avLst/>
          </a:prstGeom>
        </p:spPr>
      </p:pic>
      <p:sp>
        <p:nvSpPr>
          <p:cNvPr id="5" name="TextBox 29">
            <a:extLst>
              <a:ext uri="{FF2B5EF4-FFF2-40B4-BE49-F238E27FC236}">
                <a16:creationId xmlns:a16="http://schemas.microsoft.com/office/drawing/2014/main" id="{0BB66C18-BD04-40A8-A837-D36B8E5E1379}"/>
              </a:ext>
            </a:extLst>
          </p:cNvPr>
          <p:cNvSpPr txBox="1"/>
          <p:nvPr/>
        </p:nvSpPr>
        <p:spPr>
          <a:xfrm>
            <a:off x="248170" y="1883831"/>
            <a:ext cx="8218822" cy="2585323"/>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pPr marL="342900" indent="-342900">
              <a:buFont typeface="Arial" panose="020B0604020202020204" pitchFamily="34" charset="0"/>
              <a:buChar char="•"/>
            </a:pPr>
            <a:r>
              <a:rPr lang="en-US" altLang="zh-CN" sz="2000" dirty="0">
                <a:latin typeface="Times New Roman" panose="02020603050405020304" pitchFamily="18" charset="0"/>
                <a:ea typeface="楷体" panose="02010609060101010101" pitchFamily="49" charset="-122"/>
              </a:rPr>
              <a:t>I/O</a:t>
            </a:r>
            <a:r>
              <a:rPr lang="zh-CN" altLang="en-US" sz="2000" dirty="0">
                <a:latin typeface="Times New Roman" panose="02020603050405020304" pitchFamily="18" charset="0"/>
                <a:ea typeface="楷体" panose="02010609060101010101" pitchFamily="49" charset="-122"/>
              </a:rPr>
              <a:t>虚拟化</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虚拟机监视器</a:t>
            </a:r>
            <a:r>
              <a:rPr lang="en-US" altLang="zh-CN" sz="2000" dirty="0">
                <a:latin typeface="Times New Roman" panose="02020603050405020304" pitchFamily="18" charset="0"/>
                <a:ea typeface="楷体" panose="02010609060101010101" pitchFamily="49" charset="-122"/>
              </a:rPr>
              <a:t>(VMM)</a:t>
            </a:r>
            <a:r>
              <a:rPr lang="zh-CN" altLang="en-US" sz="2000" dirty="0">
                <a:latin typeface="Times New Roman" panose="02020603050405020304" pitchFamily="18" charset="0"/>
                <a:ea typeface="楷体" panose="02010609060101010101" pitchFamily="49" charset="-122"/>
              </a:rPr>
              <a:t>为虚拟机</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模拟出虚拟块设备</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虚拟块设备的后端是主机文件</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系统上的镜像文件</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en-US" altLang="zh-CN" sz="2000" dirty="0">
                <a:latin typeface="Times New Roman" panose="02020603050405020304" pitchFamily="18" charset="0"/>
                <a:ea typeface="楷体" panose="02010609060101010101" pitchFamily="49" charset="-122"/>
              </a:rPr>
              <a:t>VMM</a:t>
            </a:r>
            <a:r>
              <a:rPr lang="zh-CN" altLang="en-US" sz="2000" dirty="0">
                <a:latin typeface="Times New Roman" panose="02020603050405020304" pitchFamily="18" charset="0"/>
                <a:ea typeface="楷体" panose="02010609060101010101" pitchFamily="49" charset="-122"/>
              </a:rPr>
              <a:t>拦截虚拟机的</a:t>
            </a:r>
            <a:r>
              <a:rPr lang="en-US" altLang="zh-CN" sz="2000" dirty="0">
                <a:latin typeface="Times New Roman" panose="02020603050405020304" pitchFamily="18" charset="0"/>
                <a:ea typeface="楷体" panose="02010609060101010101" pitchFamily="49" charset="-122"/>
              </a:rPr>
              <a:t>I/O</a:t>
            </a:r>
            <a:r>
              <a:rPr lang="zh-CN" altLang="en-US" sz="2000" dirty="0">
                <a:latin typeface="Times New Roman" panose="02020603050405020304" pitchFamily="18" charset="0"/>
                <a:ea typeface="楷体" panose="02010609060101010101" pitchFamily="49" charset="-122"/>
              </a:rPr>
              <a:t>请求并</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处理</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丰富的镜像管理功能</a:t>
            </a:r>
            <a:endParaRPr lang="en-US" altLang="zh-CN"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94412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442254" y="5602852"/>
            <a:ext cx="3570208" cy="461665"/>
          </a:xfrm>
          <a:prstGeom prst="rect">
            <a:avLst/>
          </a:prstGeom>
          <a:noFill/>
        </p:spPr>
        <p:txBody>
          <a:bodyPr wrap="none" rtlCol="0">
            <a:spAutoFit/>
          </a:bodyPr>
          <a:lstStyle/>
          <a:p>
            <a:pPr algn="ctr"/>
            <a:r>
              <a:rPr kumimoji="1" lang="zh-CN" altLang="en-US" sz="2400" dirty="0">
                <a:solidFill>
                  <a:srgbClr val="FF0000"/>
                </a:solidFill>
                <a:latin typeface="宋体" panose="02010600030101010101" pitchFamily="2" charset="-122"/>
                <a:ea typeface="宋体" panose="02010600030101010101" pitchFamily="2" charset="-122"/>
              </a:rPr>
              <a:t>该选择哪种持久化方式？</a:t>
            </a:r>
          </a:p>
        </p:txBody>
      </p:sp>
      <p:sp>
        <p:nvSpPr>
          <p:cNvPr id="7" name="文本框 6">
            <a:extLst>
              <a:ext uri="{FF2B5EF4-FFF2-40B4-BE49-F238E27FC236}">
                <a16:creationId xmlns:a16="http://schemas.microsoft.com/office/drawing/2014/main" id="{397E87D4-58C9-4160-9621-8CC3745D8C59}"/>
              </a:ext>
            </a:extLst>
          </p:cNvPr>
          <p:cNvSpPr txBox="1"/>
          <p:nvPr/>
        </p:nvSpPr>
        <p:spPr>
          <a:xfrm>
            <a:off x="900113" y="554335"/>
            <a:ext cx="2646878"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持久性内存虚拟化</a:t>
            </a:r>
            <a:endParaRPr kumimoji="1" lang="en-US" altLang="zh-CN" sz="2400"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545EE3D5-67FE-4812-B880-8C2ED590953C}"/>
              </a:ext>
            </a:extLst>
          </p:cNvPr>
          <p:cNvPicPr>
            <a:picLocks noChangeAspect="1"/>
          </p:cNvPicPr>
          <p:nvPr/>
        </p:nvPicPr>
        <p:blipFill>
          <a:blip r:embed="rId3"/>
          <a:stretch>
            <a:fillRect/>
          </a:stretch>
        </p:blipFill>
        <p:spPr>
          <a:xfrm>
            <a:off x="881062" y="1511571"/>
            <a:ext cx="7381875" cy="3990975"/>
          </a:xfrm>
          <a:prstGeom prst="rect">
            <a:avLst/>
          </a:prstGeom>
        </p:spPr>
      </p:pic>
    </p:spTree>
    <p:extLst>
      <p:ext uri="{BB962C8B-B14F-4D97-AF65-F5344CB8AC3E}">
        <p14:creationId xmlns:p14="http://schemas.microsoft.com/office/powerpoint/2010/main" val="1962214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charset="0"/>
              <a:ea typeface="宋体" charset="0"/>
              <a:cs typeface="+mn-cs"/>
            </a:endParaRPr>
          </a:p>
        </p:txBody>
      </p:sp>
      <p:sp>
        <p:nvSpPr>
          <p:cNvPr id="2" name="文本框 1"/>
          <p:cNvSpPr txBox="1"/>
          <p:nvPr/>
        </p:nvSpPr>
        <p:spPr>
          <a:xfrm>
            <a:off x="6801492" y="436651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2974693" y="2465408"/>
            <a:ext cx="5797348" cy="1684244"/>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400" b="0" i="0" u="none" strike="noStrike" kern="1200" cap="none" spc="0" normalizeH="0" baseline="0" noProof="0" dirty="0">
                <a:ln>
                  <a:noFill/>
                </a:ln>
                <a:solidFill>
                  <a:srgbClr val="E7E6E6">
                    <a:lumMod val="90000"/>
                  </a:srgbClr>
                </a:solidFill>
                <a:effectLst/>
                <a:uLnTx/>
                <a:uFillTx/>
                <a:latin typeface="宋体" panose="02010600030101010101" pitchFamily="2" charset="-122"/>
                <a:ea typeface="宋体" panose="02010600030101010101" pitchFamily="2" charset="-122"/>
                <a:cs typeface="+mn-cs"/>
              </a:rPr>
              <a:t>持久性内存虚拟化介绍</a:t>
            </a:r>
            <a:endParaRPr kumimoji="1" lang="en-US" altLang="zh-CN" sz="2400" b="0" i="0" u="none" strike="noStrike" kern="1200" cap="none" spc="0" normalizeH="0" baseline="0" noProof="0" dirty="0">
              <a:ln>
                <a:noFill/>
              </a:ln>
              <a:solidFill>
                <a:srgbClr val="E7E6E6">
                  <a:lumMod val="90000"/>
                </a:srgbClr>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优化一：镜像管理的</a:t>
            </a:r>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85750" indent="-285750">
              <a:lnSpc>
                <a:spcPct val="150000"/>
              </a:lnSpc>
              <a:buClr>
                <a:prstClr val="white"/>
              </a:buClr>
              <a:buFont typeface="Arial" charset="0"/>
              <a:buChar char="•"/>
            </a:pPr>
            <a:r>
              <a:rPr kumimoji="1" lang="zh-CN" altLang="en-US" sz="2400" dirty="0">
                <a:solidFill>
                  <a:prstClr val="black"/>
                </a:solidFill>
                <a:latin typeface="宋体" panose="02010600030101010101" pitchFamily="2" charset="-122"/>
                <a:ea typeface="宋体" panose="02010600030101010101" pitchFamily="2" charset="-122"/>
              </a:rPr>
              <a:t>   </a:t>
            </a:r>
            <a:r>
              <a:rPr kumimoji="1" lang="zh-CN" altLang="en-US" sz="2400" dirty="0">
                <a:solidFill>
                  <a:schemeClr val="bg2">
                    <a:lumMod val="90000"/>
                  </a:schemeClr>
                </a:solidFill>
                <a:latin typeface="宋体" panose="02010600030101010101" pitchFamily="2" charset="-122"/>
                <a:ea typeface="宋体" panose="02010600030101010101" pitchFamily="2" charset="-122"/>
              </a:rPr>
              <a:t>优化二：面向混合存储的</a:t>
            </a:r>
            <a:r>
              <a:rPr kumimoji="1" lang="en-US" altLang="zh-CN" sz="2400" dirty="0">
                <a:solidFill>
                  <a:schemeClr val="bg2">
                    <a:lumMod val="90000"/>
                  </a:schemeClr>
                </a:solidFill>
                <a:latin typeface="Times New Roman" panose="02020603050405020304" pitchFamily="18" charset="0"/>
                <a:ea typeface="宋体" panose="02010600030101010101" pitchFamily="2" charset="-122"/>
              </a:rPr>
              <a:t>PM</a:t>
            </a:r>
            <a:r>
              <a:rPr kumimoji="1" lang="zh-CN" altLang="en-US" sz="2400" dirty="0">
                <a:solidFill>
                  <a:schemeClr val="bg2">
                    <a:lumMod val="90000"/>
                  </a:schemeClr>
                </a:solidFill>
                <a:latin typeface="宋体" panose="02010600030101010101" pitchFamily="2" charset="-122"/>
                <a:ea typeface="宋体" panose="02010600030101010101" pitchFamily="2" charset="-122"/>
              </a:rPr>
              <a:t>虚拟化</a:t>
            </a:r>
            <a:endParaRPr kumimoji="1" lang="en-US" altLang="zh-CN" sz="2400" dirty="0">
              <a:solidFill>
                <a:schemeClr val="bg2">
                  <a:lumMod val="9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1377696" y="1450848"/>
            <a:ext cx="175791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rPr>
              <a:t>Agenda</a:t>
            </a:r>
            <a:endParaRPr kumimoji="1" lang="zh-CN" altLang="en-US"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944460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2" name="文本框 1">
            <a:extLst>
              <a:ext uri="{FF2B5EF4-FFF2-40B4-BE49-F238E27FC236}">
                <a16:creationId xmlns:a16="http://schemas.microsoft.com/office/drawing/2014/main" id="{5A02B1D0-E504-4499-A640-9C79A2184EF7}"/>
              </a:ext>
            </a:extLst>
          </p:cNvPr>
          <p:cNvSpPr txBox="1"/>
          <p:nvPr/>
        </p:nvSpPr>
        <p:spPr>
          <a:xfrm>
            <a:off x="671332" y="1794076"/>
            <a:ext cx="7627716" cy="3662541"/>
          </a:xfrm>
          <a:prstGeom prst="rect">
            <a:avLst/>
          </a:prstGeom>
          <a:noFill/>
        </p:spPr>
        <p:txBody>
          <a:bodyPr wrap="square" rtlCol="0">
            <a:spAutoFit/>
          </a:bodyPr>
          <a:lstStyle/>
          <a:p>
            <a:pPr algn="ctr"/>
            <a:endParaRPr lang="en-US" altLang="zh-CN" sz="2800" dirty="0">
              <a:latin typeface="Times New Roman" panose="02020603050405020304" pitchFamily="18" charset="0"/>
              <a:cs typeface="Times New Roman" panose="02020603050405020304" pitchFamily="18" charset="0"/>
            </a:endParaRPr>
          </a:p>
          <a:p>
            <a:pPr algn="ctr"/>
            <a:r>
              <a:rPr lang="en-US" altLang="zh-CN" sz="2800" dirty="0">
                <a:latin typeface="Times New Roman" panose="02020603050405020304" pitchFamily="18" charset="0"/>
                <a:cs typeface="Times New Roman" panose="02020603050405020304" pitchFamily="18" charset="0"/>
              </a:rPr>
              <a:t>Towards Virtual Machine Image Management for</a:t>
            </a:r>
            <a:br>
              <a:rPr lang="en-US" altLang="zh-CN" sz="2800" dirty="0">
                <a:latin typeface="Times New Roman" panose="02020603050405020304" pitchFamily="18" charset="0"/>
                <a:cs typeface="Times New Roman" panose="02020603050405020304" pitchFamily="18" charset="0"/>
              </a:rPr>
            </a:br>
            <a:r>
              <a:rPr lang="en-US" altLang="zh-CN" sz="2800" dirty="0">
                <a:latin typeface="Times New Roman" panose="02020603050405020304" pitchFamily="18" charset="0"/>
                <a:cs typeface="Times New Roman" panose="02020603050405020304" pitchFamily="18" charset="0"/>
              </a:rPr>
              <a:t>Persistent Memory</a:t>
            </a:r>
          </a:p>
          <a:p>
            <a:pPr algn="ctr"/>
            <a:br>
              <a:rPr lang="en-US" altLang="zh-CN" dirty="0"/>
            </a:br>
            <a:r>
              <a:rPr lang="en-US" altLang="zh-CN" sz="2000" dirty="0" err="1"/>
              <a:t>Jiachen</a:t>
            </a:r>
            <a:r>
              <a:rPr lang="en-US" altLang="zh-CN" sz="2000" dirty="0"/>
              <a:t> Zhang, </a:t>
            </a:r>
            <a:r>
              <a:rPr lang="en-US" altLang="zh-CN" sz="2000" b="1" dirty="0" err="1"/>
              <a:t>Lixiao</a:t>
            </a:r>
            <a:r>
              <a:rPr lang="en-US" altLang="zh-CN" sz="2000" b="1" dirty="0"/>
              <a:t> Cui</a:t>
            </a:r>
            <a:r>
              <a:rPr lang="en-US" altLang="zh-CN" sz="2000" dirty="0"/>
              <a:t>, Peng Li, Xiaoguang Liu*, Gang Wang*</a:t>
            </a:r>
          </a:p>
          <a:p>
            <a:pPr algn="ctr"/>
            <a:br>
              <a:rPr lang="en-US" altLang="zh-CN" dirty="0"/>
            </a:br>
            <a:r>
              <a:rPr lang="en-US" altLang="zh-CN" sz="2000" i="1" dirty="0"/>
              <a:t>Nankai-Baidu Joint Lab, College of Computer Science, Nankai University</a:t>
            </a:r>
          </a:p>
          <a:p>
            <a:pPr algn="ctr"/>
            <a:endParaRPr lang="en-US" altLang="zh-CN" sz="2000" i="1" dirty="0"/>
          </a:p>
          <a:p>
            <a:pPr algn="ctr"/>
            <a:r>
              <a:rPr lang="en-US" altLang="zh-CN" sz="2000" i="1" dirty="0"/>
              <a:t>In MSST</a:t>
            </a:r>
            <a:r>
              <a:rPr lang="zh-CN" altLang="en-US" sz="2000" i="1" dirty="0"/>
              <a:t>‘ </a:t>
            </a:r>
            <a:r>
              <a:rPr lang="en-US" altLang="zh-CN" sz="2000" i="1" dirty="0"/>
              <a:t>19</a:t>
            </a:r>
            <a:r>
              <a:rPr lang="en-US" altLang="zh-CN" sz="2800" dirty="0"/>
              <a:t> </a:t>
            </a:r>
            <a:br>
              <a:rPr lang="en-US" altLang="zh-CN" sz="2400" dirty="0"/>
            </a:br>
            <a:endParaRPr lang="zh-CN" altLang="en-US" sz="2400" dirty="0"/>
          </a:p>
        </p:txBody>
      </p:sp>
    </p:spTree>
    <p:extLst>
      <p:ext uri="{BB962C8B-B14F-4D97-AF65-F5344CB8AC3E}">
        <p14:creationId xmlns:p14="http://schemas.microsoft.com/office/powerpoint/2010/main" val="2992899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042900" y="1674796"/>
            <a:ext cx="2703982" cy="3570973"/>
          </a:xfrm>
          <a:prstGeom prst="rect">
            <a:avLst/>
          </a:prstGeom>
        </p:spPr>
      </p:pic>
      <p:pic>
        <p:nvPicPr>
          <p:cNvPr id="4" name="图片 3"/>
          <p:cNvPicPr>
            <a:picLocks noChangeAspect="1"/>
          </p:cNvPicPr>
          <p:nvPr/>
        </p:nvPicPr>
        <p:blipFill>
          <a:blip r:embed="rId4"/>
          <a:stretch>
            <a:fillRect/>
          </a:stretch>
        </p:blipFill>
        <p:spPr>
          <a:xfrm>
            <a:off x="4850077" y="1674796"/>
            <a:ext cx="2697499" cy="3570974"/>
          </a:xfrm>
          <a:prstGeom prst="rect">
            <a:avLst/>
          </a:prstGeom>
        </p:spPr>
      </p:pic>
      <p:sp>
        <p:nvSpPr>
          <p:cNvPr id="12" name="笑脸 11"/>
          <p:cNvSpPr/>
          <p:nvPr/>
        </p:nvSpPr>
        <p:spPr>
          <a:xfrm>
            <a:off x="7193419" y="2373988"/>
            <a:ext cx="337931" cy="337931"/>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笑脸 14"/>
          <p:cNvSpPr/>
          <p:nvPr/>
        </p:nvSpPr>
        <p:spPr>
          <a:xfrm>
            <a:off x="2160488" y="2351424"/>
            <a:ext cx="337931" cy="337931"/>
          </a:xfrm>
          <a:prstGeom prst="smileyFace">
            <a:avLst>
              <a:gd name="adj" fmla="val -465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652464" y="2406316"/>
            <a:ext cx="1415772" cy="338554"/>
          </a:xfrm>
          <a:prstGeom prst="rect">
            <a:avLst/>
          </a:prstGeom>
          <a:noFill/>
        </p:spPr>
        <p:txBody>
          <a:bodyPr wrap="none" rtlCol="0">
            <a:spAutoFit/>
          </a:bodyPr>
          <a:lstStyle/>
          <a:p>
            <a:r>
              <a:rPr kumimoji="1" lang="zh-CN" altLang="en-US" sz="1600" dirty="0">
                <a:solidFill>
                  <a:srgbClr val="C00000"/>
                </a:solidFill>
                <a:latin typeface="楷体" panose="02010609060101010101" pitchFamily="49" charset="-122"/>
                <a:ea typeface="楷体" panose="02010609060101010101" pitchFamily="49" charset="-122"/>
              </a:rPr>
              <a:t>不可字节寻址</a:t>
            </a:r>
          </a:p>
        </p:txBody>
      </p:sp>
      <p:sp>
        <p:nvSpPr>
          <p:cNvPr id="20" name="文本框 19"/>
          <p:cNvSpPr txBox="1"/>
          <p:nvPr/>
        </p:nvSpPr>
        <p:spPr>
          <a:xfrm>
            <a:off x="7583102" y="2395087"/>
            <a:ext cx="1107996" cy="584775"/>
          </a:xfrm>
          <a:prstGeom prst="rect">
            <a:avLst/>
          </a:prstGeom>
          <a:noFill/>
        </p:spPr>
        <p:txBody>
          <a:bodyPr wrap="none" rtlCol="0">
            <a:spAutoFit/>
          </a:bodyPr>
          <a:lstStyle/>
          <a:p>
            <a:r>
              <a:rPr kumimoji="1" lang="zh-CN" altLang="en-US" sz="1600" dirty="0">
                <a:solidFill>
                  <a:schemeClr val="accent6"/>
                </a:solidFill>
                <a:latin typeface="楷体" panose="02010609060101010101" pitchFamily="49" charset="-122"/>
                <a:ea typeface="楷体" panose="02010609060101010101" pitchFamily="49" charset="-122"/>
              </a:rPr>
              <a:t>字节寻址</a:t>
            </a:r>
            <a:r>
              <a:rPr kumimoji="1" lang="en-US" altLang="zh-CN" sz="1600" dirty="0">
                <a:solidFill>
                  <a:schemeClr val="accent6"/>
                </a:solidFill>
                <a:latin typeface="楷体" panose="02010609060101010101" pitchFamily="49" charset="-122"/>
                <a:ea typeface="楷体" panose="02010609060101010101" pitchFamily="49" charset="-122"/>
              </a:rPr>
              <a:t>&amp;</a:t>
            </a:r>
          </a:p>
          <a:p>
            <a:r>
              <a:rPr kumimoji="1" lang="zh-CN" altLang="en-US" sz="1600" dirty="0">
                <a:solidFill>
                  <a:schemeClr val="accent6"/>
                </a:solidFill>
                <a:latin typeface="楷体" panose="02010609060101010101" pitchFamily="49" charset="-122"/>
                <a:ea typeface="楷体" panose="02010609060101010101" pitchFamily="49" charset="-122"/>
              </a:rPr>
              <a:t>高性能</a:t>
            </a:r>
          </a:p>
        </p:txBody>
      </p:sp>
      <p:sp>
        <p:nvSpPr>
          <p:cNvPr id="9" name="文本框 8"/>
          <p:cNvSpPr txBox="1"/>
          <p:nvPr/>
        </p:nvSpPr>
        <p:spPr>
          <a:xfrm>
            <a:off x="898194" y="554335"/>
            <a:ext cx="3262432"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传统存储虚拟化优缺点</a:t>
            </a:r>
            <a:endParaRPr kumimoji="1" lang="en-US" altLang="zh-CN" sz="2400" dirty="0">
              <a:latin typeface="宋体" panose="02010600030101010101" pitchFamily="2" charset="-122"/>
              <a:ea typeface="宋体" panose="02010600030101010101" pitchFamily="2" charset="-122"/>
            </a:endParaRPr>
          </a:p>
        </p:txBody>
      </p:sp>
      <p:sp>
        <p:nvSpPr>
          <p:cNvPr id="10" name="文本框 9"/>
          <p:cNvSpPr txBox="1"/>
          <p:nvPr/>
        </p:nvSpPr>
        <p:spPr>
          <a:xfrm>
            <a:off x="2498419" y="5511171"/>
            <a:ext cx="2770907" cy="338554"/>
          </a:xfrm>
          <a:prstGeom prst="rect">
            <a:avLst/>
          </a:prstGeom>
          <a:noFill/>
        </p:spPr>
        <p:txBody>
          <a:bodyPr wrap="square" rtlCol="0">
            <a:spAutoFit/>
          </a:bodyPr>
          <a:lstStyle/>
          <a:p>
            <a:r>
              <a:rPr kumimoji="1" lang="en-US" altLang="zh-CN" sz="1600" dirty="0"/>
              <a:t>QEMU IO</a:t>
            </a:r>
            <a:r>
              <a:rPr kumimoji="1" lang="zh-CN" altLang="en-US" sz="1600" dirty="0"/>
              <a:t>虚拟化</a:t>
            </a:r>
          </a:p>
        </p:txBody>
      </p:sp>
      <p:sp>
        <p:nvSpPr>
          <p:cNvPr id="11" name="文本框 10"/>
          <p:cNvSpPr txBox="1"/>
          <p:nvPr/>
        </p:nvSpPr>
        <p:spPr>
          <a:xfrm>
            <a:off x="5269326" y="5511171"/>
            <a:ext cx="2788237" cy="338554"/>
          </a:xfrm>
          <a:prstGeom prst="rect">
            <a:avLst/>
          </a:prstGeom>
          <a:noFill/>
        </p:spPr>
        <p:txBody>
          <a:bodyPr wrap="square" rtlCol="0">
            <a:spAutoFit/>
          </a:bodyPr>
          <a:lstStyle/>
          <a:p>
            <a:r>
              <a:rPr kumimoji="1" lang="en-US" altLang="zh-CN" sz="1600" dirty="0"/>
              <a:t>QEMU </a:t>
            </a:r>
            <a:r>
              <a:rPr kumimoji="1" lang="zh-CN" altLang="en-US" sz="1600" dirty="0"/>
              <a:t>内存虚拟化</a:t>
            </a:r>
          </a:p>
        </p:txBody>
      </p:sp>
    </p:spTree>
    <p:extLst>
      <p:ext uri="{BB962C8B-B14F-4D97-AF65-F5344CB8AC3E}">
        <p14:creationId xmlns:p14="http://schemas.microsoft.com/office/powerpoint/2010/main" val="1414791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042900" y="1674796"/>
            <a:ext cx="2703982" cy="3570973"/>
          </a:xfrm>
          <a:prstGeom prst="rect">
            <a:avLst/>
          </a:prstGeom>
        </p:spPr>
      </p:pic>
      <p:pic>
        <p:nvPicPr>
          <p:cNvPr id="4" name="图片 3"/>
          <p:cNvPicPr>
            <a:picLocks noChangeAspect="1"/>
          </p:cNvPicPr>
          <p:nvPr/>
        </p:nvPicPr>
        <p:blipFill>
          <a:blip r:embed="rId4"/>
          <a:stretch>
            <a:fillRect/>
          </a:stretch>
        </p:blipFill>
        <p:spPr>
          <a:xfrm>
            <a:off x="4850077" y="1674796"/>
            <a:ext cx="2697499" cy="3570974"/>
          </a:xfrm>
          <a:prstGeom prst="rect">
            <a:avLst/>
          </a:prstGeom>
        </p:spPr>
      </p:pic>
      <p:sp>
        <p:nvSpPr>
          <p:cNvPr id="12" name="笑脸 11"/>
          <p:cNvSpPr/>
          <p:nvPr/>
        </p:nvSpPr>
        <p:spPr>
          <a:xfrm>
            <a:off x="7193419" y="2373988"/>
            <a:ext cx="337931" cy="337931"/>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笑脸 14"/>
          <p:cNvSpPr/>
          <p:nvPr/>
        </p:nvSpPr>
        <p:spPr>
          <a:xfrm>
            <a:off x="2160488" y="2351424"/>
            <a:ext cx="337931" cy="337931"/>
          </a:xfrm>
          <a:prstGeom prst="smileyFace">
            <a:avLst>
              <a:gd name="adj" fmla="val -465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652464" y="2406316"/>
            <a:ext cx="1415772" cy="338554"/>
          </a:xfrm>
          <a:prstGeom prst="rect">
            <a:avLst/>
          </a:prstGeom>
          <a:noFill/>
        </p:spPr>
        <p:txBody>
          <a:bodyPr wrap="none" rtlCol="0">
            <a:spAutoFit/>
          </a:bodyPr>
          <a:lstStyle/>
          <a:p>
            <a:r>
              <a:rPr kumimoji="1" lang="zh-CN" altLang="en-US" sz="1600" dirty="0">
                <a:solidFill>
                  <a:srgbClr val="C00000"/>
                </a:solidFill>
                <a:latin typeface="楷体" panose="02010609060101010101" pitchFamily="49" charset="-122"/>
                <a:ea typeface="楷体" panose="02010609060101010101" pitchFamily="49" charset="-122"/>
              </a:rPr>
              <a:t>不可字节寻址</a:t>
            </a:r>
          </a:p>
        </p:txBody>
      </p:sp>
      <p:sp>
        <p:nvSpPr>
          <p:cNvPr id="20" name="文本框 19"/>
          <p:cNvSpPr txBox="1"/>
          <p:nvPr/>
        </p:nvSpPr>
        <p:spPr>
          <a:xfrm>
            <a:off x="7583102" y="2395087"/>
            <a:ext cx="1107996" cy="584775"/>
          </a:xfrm>
          <a:prstGeom prst="rect">
            <a:avLst/>
          </a:prstGeom>
          <a:noFill/>
        </p:spPr>
        <p:txBody>
          <a:bodyPr wrap="none" rtlCol="0">
            <a:spAutoFit/>
          </a:bodyPr>
          <a:lstStyle/>
          <a:p>
            <a:r>
              <a:rPr kumimoji="1" lang="zh-CN" altLang="en-US" sz="1600" dirty="0">
                <a:solidFill>
                  <a:schemeClr val="accent6"/>
                </a:solidFill>
                <a:latin typeface="楷体" panose="02010609060101010101" pitchFamily="49" charset="-122"/>
                <a:ea typeface="楷体" panose="02010609060101010101" pitchFamily="49" charset="-122"/>
              </a:rPr>
              <a:t>字节寻址</a:t>
            </a:r>
            <a:r>
              <a:rPr kumimoji="1" lang="en-US" altLang="zh-CN" sz="1600" dirty="0">
                <a:solidFill>
                  <a:schemeClr val="accent6"/>
                </a:solidFill>
                <a:latin typeface="楷体" panose="02010609060101010101" pitchFamily="49" charset="-122"/>
                <a:ea typeface="楷体" panose="02010609060101010101" pitchFamily="49" charset="-122"/>
              </a:rPr>
              <a:t>&amp;</a:t>
            </a:r>
          </a:p>
          <a:p>
            <a:r>
              <a:rPr kumimoji="1" lang="zh-CN" altLang="en-US" sz="1600" dirty="0">
                <a:solidFill>
                  <a:schemeClr val="accent6"/>
                </a:solidFill>
                <a:latin typeface="楷体" panose="02010609060101010101" pitchFamily="49" charset="-122"/>
                <a:ea typeface="楷体" panose="02010609060101010101" pitchFamily="49" charset="-122"/>
              </a:rPr>
              <a:t>高性能</a:t>
            </a:r>
          </a:p>
        </p:txBody>
      </p:sp>
      <p:sp>
        <p:nvSpPr>
          <p:cNvPr id="10" name="文本框 9"/>
          <p:cNvSpPr txBox="1"/>
          <p:nvPr/>
        </p:nvSpPr>
        <p:spPr>
          <a:xfrm>
            <a:off x="2498419" y="5511171"/>
            <a:ext cx="2770907" cy="338554"/>
          </a:xfrm>
          <a:prstGeom prst="rect">
            <a:avLst/>
          </a:prstGeom>
          <a:noFill/>
        </p:spPr>
        <p:txBody>
          <a:bodyPr wrap="square" rtlCol="0">
            <a:spAutoFit/>
          </a:bodyPr>
          <a:lstStyle/>
          <a:p>
            <a:r>
              <a:rPr kumimoji="1" lang="en-US" altLang="zh-CN" sz="1600" dirty="0"/>
              <a:t>QEMU IO</a:t>
            </a:r>
            <a:r>
              <a:rPr kumimoji="1" lang="zh-CN" altLang="en-US" sz="1600" dirty="0"/>
              <a:t>虚拟化</a:t>
            </a:r>
          </a:p>
        </p:txBody>
      </p:sp>
      <p:sp>
        <p:nvSpPr>
          <p:cNvPr id="11" name="文本框 10"/>
          <p:cNvSpPr txBox="1"/>
          <p:nvPr/>
        </p:nvSpPr>
        <p:spPr>
          <a:xfrm>
            <a:off x="5269326" y="5511171"/>
            <a:ext cx="2788237" cy="338554"/>
          </a:xfrm>
          <a:prstGeom prst="rect">
            <a:avLst/>
          </a:prstGeom>
          <a:noFill/>
        </p:spPr>
        <p:txBody>
          <a:bodyPr wrap="square" rtlCol="0">
            <a:spAutoFit/>
          </a:bodyPr>
          <a:lstStyle/>
          <a:p>
            <a:r>
              <a:rPr kumimoji="1" lang="en-US" altLang="zh-CN" sz="1600" dirty="0"/>
              <a:t>QEMU </a:t>
            </a:r>
            <a:r>
              <a:rPr kumimoji="1" lang="zh-CN" altLang="en-US" sz="1600" dirty="0"/>
              <a:t>内存虚拟化</a:t>
            </a:r>
          </a:p>
        </p:txBody>
      </p:sp>
      <p:sp>
        <p:nvSpPr>
          <p:cNvPr id="13" name="文本框 12">
            <a:extLst>
              <a:ext uri="{FF2B5EF4-FFF2-40B4-BE49-F238E27FC236}">
                <a16:creationId xmlns:a16="http://schemas.microsoft.com/office/drawing/2014/main" id="{19CFE409-CCA9-4F20-AA62-75B56E5E06B4}"/>
              </a:ext>
            </a:extLst>
          </p:cNvPr>
          <p:cNvSpPr txBox="1"/>
          <p:nvPr/>
        </p:nvSpPr>
        <p:spPr>
          <a:xfrm>
            <a:off x="172339" y="3344809"/>
            <a:ext cx="1780674" cy="584775"/>
          </a:xfrm>
          <a:prstGeom prst="rect">
            <a:avLst/>
          </a:prstGeom>
          <a:noFill/>
        </p:spPr>
        <p:txBody>
          <a:bodyPr wrap="square" rtlCol="0">
            <a:spAutoFit/>
          </a:bodyPr>
          <a:lstStyle/>
          <a:p>
            <a:r>
              <a:rPr kumimoji="1" lang="en-US" altLang="zh-CN" sz="1600" dirty="0">
                <a:solidFill>
                  <a:schemeClr val="accent6"/>
                </a:solidFill>
                <a:latin typeface="楷体" panose="02010609060101010101" pitchFamily="49" charset="-122"/>
                <a:ea typeface="楷体" panose="02010609060101010101" pitchFamily="49" charset="-122"/>
              </a:rPr>
              <a:t>IO</a:t>
            </a:r>
            <a:r>
              <a:rPr kumimoji="1" lang="zh-CN" altLang="en-US" sz="1600" dirty="0">
                <a:solidFill>
                  <a:schemeClr val="accent6"/>
                </a:solidFill>
                <a:latin typeface="楷体" panose="02010609060101010101" pitchFamily="49" charset="-122"/>
                <a:ea typeface="楷体" panose="02010609060101010101" pitchFamily="49" charset="-122"/>
              </a:rPr>
              <a:t>虚拟化特性</a:t>
            </a:r>
            <a:r>
              <a:rPr kumimoji="1" lang="en-US" altLang="zh-CN" sz="1600" dirty="0">
                <a:latin typeface="楷体" panose="02010609060101010101" pitchFamily="49" charset="-122"/>
                <a:ea typeface="楷体" panose="02010609060101010101" pitchFamily="49" charset="-122"/>
              </a:rPr>
              <a:t>:</a:t>
            </a:r>
            <a:r>
              <a:rPr kumimoji="1" lang="zh-CN" altLang="en-US" sz="1600" dirty="0">
                <a:latin typeface="楷体" panose="02010609060101010101" pitchFamily="49" charset="-122"/>
                <a:ea typeface="楷体" panose="02010609060101010101" pitchFamily="49" charset="-122"/>
              </a:rPr>
              <a:t> </a:t>
            </a:r>
            <a:endParaRPr kumimoji="1" lang="en-US" altLang="zh-CN" sz="1600" dirty="0">
              <a:latin typeface="楷体" panose="02010609060101010101" pitchFamily="49" charset="-122"/>
              <a:ea typeface="楷体" panose="02010609060101010101" pitchFamily="49" charset="-122"/>
            </a:endParaRPr>
          </a:p>
          <a:p>
            <a:r>
              <a:rPr kumimoji="1" lang="en-US" altLang="zh-CN" sz="1600" dirty="0">
                <a:latin typeface="楷体" panose="02010609060101010101" pitchFamily="49" charset="-122"/>
                <a:ea typeface="楷体" panose="02010609060101010101" pitchFamily="49" charset="-122"/>
              </a:rPr>
              <a:t>(e.g.</a:t>
            </a:r>
            <a:r>
              <a:rPr kumimoji="1" lang="zh-CN" altLang="en-US" sz="1600" dirty="0">
                <a:latin typeface="楷体" panose="02010609060101010101" pitchFamily="49" charset="-122"/>
                <a:ea typeface="楷体" panose="02010609060101010101" pitchFamily="49" charset="-122"/>
              </a:rPr>
              <a:t> </a:t>
            </a:r>
            <a:r>
              <a:rPr kumimoji="1" lang="en-US" altLang="zh-CN" sz="1600" dirty="0">
                <a:latin typeface="楷体" panose="02010609060101010101" pitchFamily="49" charset="-122"/>
                <a:ea typeface="楷体" panose="02010609060101010101" pitchFamily="49" charset="-122"/>
              </a:rPr>
              <a:t>qcow2)</a:t>
            </a:r>
          </a:p>
        </p:txBody>
      </p:sp>
      <p:sp>
        <p:nvSpPr>
          <p:cNvPr id="14" name="文本框 13">
            <a:extLst>
              <a:ext uri="{FF2B5EF4-FFF2-40B4-BE49-F238E27FC236}">
                <a16:creationId xmlns:a16="http://schemas.microsoft.com/office/drawing/2014/main" id="{D53591D1-4229-4110-81E8-3DDB0D012D28}"/>
              </a:ext>
            </a:extLst>
          </p:cNvPr>
          <p:cNvSpPr txBox="1"/>
          <p:nvPr/>
        </p:nvSpPr>
        <p:spPr>
          <a:xfrm>
            <a:off x="469267" y="4003605"/>
            <a:ext cx="2254313" cy="830997"/>
          </a:xfrm>
          <a:prstGeom prst="rect">
            <a:avLst/>
          </a:prstGeom>
          <a:noFill/>
        </p:spPr>
        <p:txBody>
          <a:bodyPr wrap="square" rtlCol="0">
            <a:spAutoFit/>
          </a:bodyPr>
          <a:lstStyle/>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瘦分配</a:t>
            </a:r>
            <a:endParaRPr kumimoji="1" lang="en-US" altLang="zh-CN" sz="1600" dirty="0">
              <a:latin typeface="楷体" panose="02010609060101010101" pitchFamily="49" charset="-122"/>
              <a:ea typeface="楷体" panose="02010609060101010101" pitchFamily="49" charset="-122"/>
            </a:endParaRPr>
          </a:p>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快照</a:t>
            </a:r>
            <a:endParaRPr kumimoji="1" lang="en-US" altLang="zh-CN" sz="1600" dirty="0">
              <a:latin typeface="楷体" panose="02010609060101010101" pitchFamily="49" charset="-122"/>
              <a:ea typeface="楷体" panose="02010609060101010101" pitchFamily="49" charset="-122"/>
            </a:endParaRPr>
          </a:p>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基础镜像</a:t>
            </a:r>
          </a:p>
        </p:txBody>
      </p:sp>
      <p:sp>
        <p:nvSpPr>
          <p:cNvPr id="17" name="文本框 16">
            <a:extLst>
              <a:ext uri="{FF2B5EF4-FFF2-40B4-BE49-F238E27FC236}">
                <a16:creationId xmlns:a16="http://schemas.microsoft.com/office/drawing/2014/main" id="{89ECE7F9-0332-4105-8308-FB309B74764C}"/>
              </a:ext>
            </a:extLst>
          </p:cNvPr>
          <p:cNvSpPr txBox="1"/>
          <p:nvPr/>
        </p:nvSpPr>
        <p:spPr>
          <a:xfrm>
            <a:off x="898194" y="554335"/>
            <a:ext cx="3262432"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传统存储虚拟化优缺点</a:t>
            </a:r>
            <a:endParaRPr kumimoji="1"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60809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042900" y="1674796"/>
            <a:ext cx="2703982" cy="3570973"/>
          </a:xfrm>
          <a:prstGeom prst="rect">
            <a:avLst/>
          </a:prstGeom>
        </p:spPr>
      </p:pic>
      <p:pic>
        <p:nvPicPr>
          <p:cNvPr id="4" name="图片 3"/>
          <p:cNvPicPr>
            <a:picLocks noChangeAspect="1"/>
          </p:cNvPicPr>
          <p:nvPr/>
        </p:nvPicPr>
        <p:blipFill>
          <a:blip r:embed="rId4"/>
          <a:stretch>
            <a:fillRect/>
          </a:stretch>
        </p:blipFill>
        <p:spPr>
          <a:xfrm>
            <a:off x="4850077" y="1674796"/>
            <a:ext cx="2697499" cy="3570974"/>
          </a:xfrm>
          <a:prstGeom prst="rect">
            <a:avLst/>
          </a:prstGeom>
        </p:spPr>
      </p:pic>
      <p:sp>
        <p:nvSpPr>
          <p:cNvPr id="12" name="笑脸 11"/>
          <p:cNvSpPr/>
          <p:nvPr/>
        </p:nvSpPr>
        <p:spPr>
          <a:xfrm>
            <a:off x="7193419" y="2373988"/>
            <a:ext cx="337931" cy="337931"/>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笑脸 13"/>
          <p:cNvSpPr/>
          <p:nvPr/>
        </p:nvSpPr>
        <p:spPr>
          <a:xfrm>
            <a:off x="6291957" y="3317438"/>
            <a:ext cx="337931" cy="337931"/>
          </a:xfrm>
          <a:prstGeom prst="smileyFace">
            <a:avLst>
              <a:gd name="adj" fmla="val -465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笑脸 14"/>
          <p:cNvSpPr/>
          <p:nvPr/>
        </p:nvSpPr>
        <p:spPr>
          <a:xfrm>
            <a:off x="2160488" y="2351424"/>
            <a:ext cx="337931" cy="337931"/>
          </a:xfrm>
          <a:prstGeom prst="smileyFace">
            <a:avLst>
              <a:gd name="adj" fmla="val -465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笑脸 18"/>
          <p:cNvSpPr/>
          <p:nvPr/>
        </p:nvSpPr>
        <p:spPr>
          <a:xfrm>
            <a:off x="2158429" y="3422374"/>
            <a:ext cx="337931" cy="337931"/>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p:cNvSpPr txBox="1"/>
          <p:nvPr/>
        </p:nvSpPr>
        <p:spPr>
          <a:xfrm>
            <a:off x="7218979" y="3310956"/>
            <a:ext cx="2031325" cy="338554"/>
          </a:xfrm>
          <a:prstGeom prst="rect">
            <a:avLst/>
          </a:prstGeom>
          <a:noFill/>
        </p:spPr>
        <p:txBody>
          <a:bodyPr wrap="none" rtlCol="0">
            <a:spAutoFit/>
          </a:bodyPr>
          <a:lstStyle/>
          <a:p>
            <a:r>
              <a:rPr kumimoji="1" lang="zh-CN" altLang="en-US" sz="1600" dirty="0">
                <a:solidFill>
                  <a:srgbClr val="C00000"/>
                </a:solidFill>
                <a:latin typeface="楷体" panose="02010609060101010101" pitchFamily="49" charset="-122"/>
                <a:ea typeface="楷体" panose="02010609060101010101" pitchFamily="49" charset="-122"/>
              </a:rPr>
              <a:t>不具备镜像管理功能</a:t>
            </a:r>
          </a:p>
        </p:txBody>
      </p:sp>
      <p:sp>
        <p:nvSpPr>
          <p:cNvPr id="24" name="矩形 23"/>
          <p:cNvSpPr/>
          <p:nvPr/>
        </p:nvSpPr>
        <p:spPr>
          <a:xfrm>
            <a:off x="2550257" y="3490484"/>
            <a:ext cx="1689268" cy="318052"/>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A126FFE2-4E7E-438A-BC89-C529B6C255C5}"/>
              </a:ext>
            </a:extLst>
          </p:cNvPr>
          <p:cNvSpPr txBox="1"/>
          <p:nvPr/>
        </p:nvSpPr>
        <p:spPr>
          <a:xfrm>
            <a:off x="652464" y="2406316"/>
            <a:ext cx="1415772" cy="338554"/>
          </a:xfrm>
          <a:prstGeom prst="rect">
            <a:avLst/>
          </a:prstGeom>
          <a:noFill/>
        </p:spPr>
        <p:txBody>
          <a:bodyPr wrap="none" rtlCol="0">
            <a:spAutoFit/>
          </a:bodyPr>
          <a:lstStyle/>
          <a:p>
            <a:r>
              <a:rPr kumimoji="1" lang="zh-CN" altLang="en-US" sz="1600" dirty="0">
                <a:solidFill>
                  <a:srgbClr val="C00000"/>
                </a:solidFill>
                <a:latin typeface="楷体" panose="02010609060101010101" pitchFamily="49" charset="-122"/>
                <a:ea typeface="楷体" panose="02010609060101010101" pitchFamily="49" charset="-122"/>
              </a:rPr>
              <a:t>不可字节寻址</a:t>
            </a:r>
          </a:p>
        </p:txBody>
      </p:sp>
      <p:sp>
        <p:nvSpPr>
          <p:cNvPr id="26" name="文本框 25">
            <a:extLst>
              <a:ext uri="{FF2B5EF4-FFF2-40B4-BE49-F238E27FC236}">
                <a16:creationId xmlns:a16="http://schemas.microsoft.com/office/drawing/2014/main" id="{DA2480F9-784D-4BAB-BD5C-48D956EC806E}"/>
              </a:ext>
            </a:extLst>
          </p:cNvPr>
          <p:cNvSpPr txBox="1"/>
          <p:nvPr/>
        </p:nvSpPr>
        <p:spPr>
          <a:xfrm>
            <a:off x="7583102" y="2395087"/>
            <a:ext cx="1107996" cy="584775"/>
          </a:xfrm>
          <a:prstGeom prst="rect">
            <a:avLst/>
          </a:prstGeom>
          <a:noFill/>
        </p:spPr>
        <p:txBody>
          <a:bodyPr wrap="none" rtlCol="0">
            <a:spAutoFit/>
          </a:bodyPr>
          <a:lstStyle/>
          <a:p>
            <a:r>
              <a:rPr kumimoji="1" lang="zh-CN" altLang="en-US" sz="1600" dirty="0">
                <a:solidFill>
                  <a:schemeClr val="accent6"/>
                </a:solidFill>
                <a:latin typeface="楷体" panose="02010609060101010101" pitchFamily="49" charset="-122"/>
                <a:ea typeface="楷体" panose="02010609060101010101" pitchFamily="49" charset="-122"/>
              </a:rPr>
              <a:t>字节寻址</a:t>
            </a:r>
            <a:r>
              <a:rPr kumimoji="1" lang="en-US" altLang="zh-CN" sz="1600" dirty="0">
                <a:solidFill>
                  <a:schemeClr val="accent6"/>
                </a:solidFill>
                <a:latin typeface="楷体" panose="02010609060101010101" pitchFamily="49" charset="-122"/>
                <a:ea typeface="楷体" panose="02010609060101010101" pitchFamily="49" charset="-122"/>
              </a:rPr>
              <a:t>&amp;</a:t>
            </a:r>
          </a:p>
          <a:p>
            <a:r>
              <a:rPr kumimoji="1" lang="zh-CN" altLang="en-US" sz="1600" dirty="0">
                <a:solidFill>
                  <a:schemeClr val="accent6"/>
                </a:solidFill>
                <a:latin typeface="楷体" panose="02010609060101010101" pitchFamily="49" charset="-122"/>
                <a:ea typeface="楷体" panose="02010609060101010101" pitchFamily="49" charset="-122"/>
              </a:rPr>
              <a:t>高性能</a:t>
            </a:r>
          </a:p>
        </p:txBody>
      </p:sp>
      <p:sp>
        <p:nvSpPr>
          <p:cNvPr id="27" name="文本框 26">
            <a:extLst>
              <a:ext uri="{FF2B5EF4-FFF2-40B4-BE49-F238E27FC236}">
                <a16:creationId xmlns:a16="http://schemas.microsoft.com/office/drawing/2014/main" id="{9F6D3928-3B83-4C83-96B6-4FB7482C1D87}"/>
              </a:ext>
            </a:extLst>
          </p:cNvPr>
          <p:cNvSpPr txBox="1"/>
          <p:nvPr/>
        </p:nvSpPr>
        <p:spPr>
          <a:xfrm>
            <a:off x="2449738" y="5489069"/>
            <a:ext cx="2770907" cy="338554"/>
          </a:xfrm>
          <a:prstGeom prst="rect">
            <a:avLst/>
          </a:prstGeom>
          <a:noFill/>
        </p:spPr>
        <p:txBody>
          <a:bodyPr wrap="square" rtlCol="0">
            <a:spAutoFit/>
          </a:bodyPr>
          <a:lstStyle/>
          <a:p>
            <a:r>
              <a:rPr kumimoji="1" lang="en-US" altLang="zh-CN" sz="1600" dirty="0"/>
              <a:t>QEMU IO</a:t>
            </a:r>
            <a:r>
              <a:rPr kumimoji="1" lang="zh-CN" altLang="en-US" sz="1600" dirty="0"/>
              <a:t>虚拟化</a:t>
            </a:r>
          </a:p>
        </p:txBody>
      </p:sp>
      <p:sp>
        <p:nvSpPr>
          <p:cNvPr id="28" name="文本框 27">
            <a:extLst>
              <a:ext uri="{FF2B5EF4-FFF2-40B4-BE49-F238E27FC236}">
                <a16:creationId xmlns:a16="http://schemas.microsoft.com/office/drawing/2014/main" id="{4B739F76-D39F-44E2-AB3E-B0FC8C57DD2F}"/>
              </a:ext>
            </a:extLst>
          </p:cNvPr>
          <p:cNvSpPr txBox="1"/>
          <p:nvPr/>
        </p:nvSpPr>
        <p:spPr>
          <a:xfrm>
            <a:off x="5269326" y="5511171"/>
            <a:ext cx="2788237" cy="338554"/>
          </a:xfrm>
          <a:prstGeom prst="rect">
            <a:avLst/>
          </a:prstGeom>
          <a:noFill/>
        </p:spPr>
        <p:txBody>
          <a:bodyPr wrap="square" rtlCol="0">
            <a:spAutoFit/>
          </a:bodyPr>
          <a:lstStyle/>
          <a:p>
            <a:r>
              <a:rPr kumimoji="1" lang="en-US" altLang="zh-CN" sz="1600" dirty="0"/>
              <a:t>QEMU </a:t>
            </a:r>
            <a:r>
              <a:rPr kumimoji="1" lang="zh-CN" altLang="en-US" sz="1600" dirty="0"/>
              <a:t>内存虚拟化</a:t>
            </a:r>
          </a:p>
        </p:txBody>
      </p:sp>
      <p:sp>
        <p:nvSpPr>
          <p:cNvPr id="29" name="文本框 28">
            <a:extLst>
              <a:ext uri="{FF2B5EF4-FFF2-40B4-BE49-F238E27FC236}">
                <a16:creationId xmlns:a16="http://schemas.microsoft.com/office/drawing/2014/main" id="{6EBB80B9-DE62-4821-9978-A6BD8D23C0F1}"/>
              </a:ext>
            </a:extLst>
          </p:cNvPr>
          <p:cNvSpPr txBox="1"/>
          <p:nvPr/>
        </p:nvSpPr>
        <p:spPr>
          <a:xfrm>
            <a:off x="172339" y="3344809"/>
            <a:ext cx="1780674" cy="584775"/>
          </a:xfrm>
          <a:prstGeom prst="rect">
            <a:avLst/>
          </a:prstGeom>
          <a:noFill/>
        </p:spPr>
        <p:txBody>
          <a:bodyPr wrap="square" rtlCol="0">
            <a:spAutoFit/>
          </a:bodyPr>
          <a:lstStyle/>
          <a:p>
            <a:r>
              <a:rPr kumimoji="1" lang="en-US" altLang="zh-CN" sz="1600" dirty="0">
                <a:solidFill>
                  <a:schemeClr val="accent6"/>
                </a:solidFill>
                <a:latin typeface="楷体" panose="02010609060101010101" pitchFamily="49" charset="-122"/>
                <a:ea typeface="楷体" panose="02010609060101010101" pitchFamily="49" charset="-122"/>
              </a:rPr>
              <a:t>IO</a:t>
            </a:r>
            <a:r>
              <a:rPr kumimoji="1" lang="zh-CN" altLang="en-US" sz="1600" dirty="0">
                <a:solidFill>
                  <a:schemeClr val="accent6"/>
                </a:solidFill>
                <a:latin typeface="楷体" panose="02010609060101010101" pitchFamily="49" charset="-122"/>
                <a:ea typeface="楷体" panose="02010609060101010101" pitchFamily="49" charset="-122"/>
              </a:rPr>
              <a:t>虚拟化特性</a:t>
            </a:r>
            <a:r>
              <a:rPr kumimoji="1" lang="en-US" altLang="zh-CN" sz="1600" dirty="0">
                <a:latin typeface="楷体" panose="02010609060101010101" pitchFamily="49" charset="-122"/>
                <a:ea typeface="楷体" panose="02010609060101010101" pitchFamily="49" charset="-122"/>
              </a:rPr>
              <a:t>:</a:t>
            </a:r>
            <a:r>
              <a:rPr kumimoji="1" lang="zh-CN" altLang="en-US" sz="1600" dirty="0">
                <a:latin typeface="楷体" panose="02010609060101010101" pitchFamily="49" charset="-122"/>
                <a:ea typeface="楷体" panose="02010609060101010101" pitchFamily="49" charset="-122"/>
              </a:rPr>
              <a:t> </a:t>
            </a:r>
            <a:endParaRPr kumimoji="1" lang="en-US" altLang="zh-CN" sz="1600" dirty="0">
              <a:latin typeface="楷体" panose="02010609060101010101" pitchFamily="49" charset="-122"/>
              <a:ea typeface="楷体" panose="02010609060101010101" pitchFamily="49" charset="-122"/>
            </a:endParaRPr>
          </a:p>
          <a:p>
            <a:r>
              <a:rPr kumimoji="1" lang="en-US" altLang="zh-CN" sz="1600" dirty="0">
                <a:latin typeface="楷体" panose="02010609060101010101" pitchFamily="49" charset="-122"/>
                <a:ea typeface="楷体" panose="02010609060101010101" pitchFamily="49" charset="-122"/>
              </a:rPr>
              <a:t>(e.g.</a:t>
            </a:r>
            <a:r>
              <a:rPr kumimoji="1" lang="zh-CN" altLang="en-US" sz="1600" dirty="0">
                <a:latin typeface="楷体" panose="02010609060101010101" pitchFamily="49" charset="-122"/>
                <a:ea typeface="楷体" panose="02010609060101010101" pitchFamily="49" charset="-122"/>
              </a:rPr>
              <a:t> </a:t>
            </a:r>
            <a:r>
              <a:rPr kumimoji="1" lang="en-US" altLang="zh-CN" sz="1600" dirty="0">
                <a:latin typeface="楷体" panose="02010609060101010101" pitchFamily="49" charset="-122"/>
                <a:ea typeface="楷体" panose="02010609060101010101" pitchFamily="49" charset="-122"/>
              </a:rPr>
              <a:t>qcow2)</a:t>
            </a:r>
          </a:p>
        </p:txBody>
      </p:sp>
      <p:sp>
        <p:nvSpPr>
          <p:cNvPr id="30" name="文本框 29">
            <a:extLst>
              <a:ext uri="{FF2B5EF4-FFF2-40B4-BE49-F238E27FC236}">
                <a16:creationId xmlns:a16="http://schemas.microsoft.com/office/drawing/2014/main" id="{0E0D9D97-7F99-4ED4-814B-14A0A066B669}"/>
              </a:ext>
            </a:extLst>
          </p:cNvPr>
          <p:cNvSpPr txBox="1"/>
          <p:nvPr/>
        </p:nvSpPr>
        <p:spPr>
          <a:xfrm>
            <a:off x="469267" y="4003605"/>
            <a:ext cx="2254313" cy="830997"/>
          </a:xfrm>
          <a:prstGeom prst="rect">
            <a:avLst/>
          </a:prstGeom>
          <a:noFill/>
        </p:spPr>
        <p:txBody>
          <a:bodyPr wrap="square" rtlCol="0">
            <a:spAutoFit/>
          </a:bodyPr>
          <a:lstStyle/>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瘦分配</a:t>
            </a:r>
            <a:endParaRPr kumimoji="1" lang="en-US" altLang="zh-CN" sz="1600" dirty="0">
              <a:latin typeface="楷体" panose="02010609060101010101" pitchFamily="49" charset="-122"/>
              <a:ea typeface="楷体" panose="02010609060101010101" pitchFamily="49" charset="-122"/>
            </a:endParaRPr>
          </a:p>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快照</a:t>
            </a:r>
            <a:endParaRPr kumimoji="1" lang="en-US" altLang="zh-CN" sz="1600" dirty="0">
              <a:latin typeface="楷体" panose="02010609060101010101" pitchFamily="49" charset="-122"/>
              <a:ea typeface="楷体" panose="02010609060101010101" pitchFamily="49" charset="-122"/>
            </a:endParaRPr>
          </a:p>
          <a:p>
            <a:pPr marL="285750" indent="-285750">
              <a:buFont typeface="Arial" charset="0"/>
              <a:buChar char="•"/>
            </a:pPr>
            <a:r>
              <a:rPr kumimoji="1" lang="zh-CN" altLang="en-US" sz="1600" dirty="0">
                <a:latin typeface="楷体" panose="02010609060101010101" pitchFamily="49" charset="-122"/>
                <a:ea typeface="楷体" panose="02010609060101010101" pitchFamily="49" charset="-122"/>
              </a:rPr>
              <a:t>基础镜像</a:t>
            </a:r>
          </a:p>
        </p:txBody>
      </p:sp>
      <p:sp>
        <p:nvSpPr>
          <p:cNvPr id="31" name="文本框 30">
            <a:extLst>
              <a:ext uri="{FF2B5EF4-FFF2-40B4-BE49-F238E27FC236}">
                <a16:creationId xmlns:a16="http://schemas.microsoft.com/office/drawing/2014/main" id="{02D57526-CB25-42A8-8120-7CD4611F93AD}"/>
              </a:ext>
            </a:extLst>
          </p:cNvPr>
          <p:cNvSpPr txBox="1"/>
          <p:nvPr/>
        </p:nvSpPr>
        <p:spPr>
          <a:xfrm>
            <a:off x="898194" y="554335"/>
            <a:ext cx="3262432"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传统存储虚拟化优缺点</a:t>
            </a:r>
            <a:endParaRPr kumimoji="1"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2884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97E87D4-58C9-4160-9621-8CC3745D8C59}"/>
              </a:ext>
            </a:extLst>
          </p:cNvPr>
          <p:cNvSpPr txBox="1"/>
          <p:nvPr/>
        </p:nvSpPr>
        <p:spPr>
          <a:xfrm>
            <a:off x="900113" y="554335"/>
            <a:ext cx="2339102"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虚拟化镜像管理</a:t>
            </a:r>
            <a:endParaRPr kumimoji="1" lang="en-US" altLang="zh-CN" sz="2400" dirty="0">
              <a:latin typeface="宋体" panose="02010600030101010101" pitchFamily="2" charset="-122"/>
              <a:ea typeface="宋体" panose="02010600030101010101" pitchFamily="2" charset="-122"/>
            </a:endParaRPr>
          </a:p>
        </p:txBody>
      </p:sp>
      <p:sp>
        <p:nvSpPr>
          <p:cNvPr id="8" name="TextBox 29">
            <a:extLst>
              <a:ext uri="{FF2B5EF4-FFF2-40B4-BE49-F238E27FC236}">
                <a16:creationId xmlns:a16="http://schemas.microsoft.com/office/drawing/2014/main" id="{F8700C41-C7E2-49CD-B341-F9329102B71D}"/>
              </a:ext>
            </a:extLst>
          </p:cNvPr>
          <p:cNvSpPr txBox="1"/>
          <p:nvPr/>
        </p:nvSpPr>
        <p:spPr>
          <a:xfrm>
            <a:off x="248170" y="1883831"/>
            <a:ext cx="8218822" cy="3262432"/>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瘦分配</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虚拟机承诺向用户提供较大的存储空间，但在镜像创建时只会占用较小的真实存储空间。随着用户对虚拟机的使用，镜像空间会自动增长来满足用户要求。</a:t>
            </a: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快照</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通过写时复制技术保存某一时间点的虚拟机状态。镜像通过回滚到某一快照点，快速恢复到当时的虚拟机状态。</a:t>
            </a: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基础镜像</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用户可以在已存在镜像的基础上创建新的镜像。新的镜像继承了基础镜像的配置，有利于用户快速备份和部署虚拟机。</a:t>
            </a:r>
            <a:endParaRPr lang="en-US" altLang="zh-CN"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478210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477816" y="1727932"/>
            <a:ext cx="6048399" cy="2736662"/>
          </a:xfrm>
          <a:prstGeom prst="rect">
            <a:avLst/>
          </a:prstGeom>
        </p:spPr>
      </p:pic>
      <p:sp>
        <p:nvSpPr>
          <p:cNvPr id="25" name="笑脸 24"/>
          <p:cNvSpPr/>
          <p:nvPr/>
        </p:nvSpPr>
        <p:spPr>
          <a:xfrm>
            <a:off x="6996871" y="2027248"/>
            <a:ext cx="390266" cy="390266"/>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笑脸 25"/>
          <p:cNvSpPr/>
          <p:nvPr/>
        </p:nvSpPr>
        <p:spPr>
          <a:xfrm>
            <a:off x="6996871" y="2868544"/>
            <a:ext cx="390266" cy="390266"/>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921596" y="5111486"/>
            <a:ext cx="1620957" cy="1323439"/>
          </a:xfrm>
          <a:prstGeom prst="rect">
            <a:avLst/>
          </a:prstGeom>
          <a:noFill/>
        </p:spPr>
        <p:txBody>
          <a:bodyPr wrap="none" rtlCol="0">
            <a:spAutoFit/>
          </a:bodyPr>
          <a:lstStyle/>
          <a:p>
            <a:pPr algn="ctr"/>
            <a:r>
              <a:rPr kumimoji="1" lang="zh-CN" altLang="en-US" sz="1600" dirty="0">
                <a:latin typeface="Times New Roman" panose="02020603050405020304" pitchFamily="18" charset="0"/>
                <a:ea typeface="楷体" panose="02010609060101010101" pitchFamily="49" charset="-122"/>
              </a:rPr>
              <a:t>字节寻址</a:t>
            </a:r>
            <a:endParaRPr kumimoji="1" lang="en-US" altLang="zh-CN" sz="1600" dirty="0">
              <a:latin typeface="Times New Roman" panose="02020603050405020304" pitchFamily="18" charset="0"/>
              <a:ea typeface="楷体" panose="02010609060101010101" pitchFamily="49" charset="-122"/>
            </a:endParaRPr>
          </a:p>
          <a:p>
            <a:pPr algn="ctr"/>
            <a:r>
              <a:rPr kumimoji="1" lang="en-US" altLang="zh-CN" sz="1400" dirty="0">
                <a:latin typeface="Times New Roman" panose="02020603050405020304" pitchFamily="18" charset="0"/>
                <a:ea typeface="楷体" panose="02010609060101010101" pitchFamily="49" charset="-122"/>
              </a:rPr>
              <a:t>(</a:t>
            </a:r>
            <a:r>
              <a:rPr kumimoji="1" lang="zh-CN" altLang="en-US" sz="1400" dirty="0">
                <a:latin typeface="Times New Roman" panose="02020603050405020304" pitchFamily="18" charset="0"/>
                <a:ea typeface="楷体" panose="02010609060101010101" pitchFamily="49" charset="-122"/>
              </a:rPr>
              <a:t>对</a:t>
            </a:r>
            <a:r>
              <a:rPr kumimoji="1" lang="en-US" altLang="zh-CN" sz="1400" dirty="0">
                <a:latin typeface="Times New Roman" panose="02020603050405020304" pitchFamily="18" charset="0"/>
                <a:ea typeface="楷体" panose="02010609060101010101" pitchFamily="49" charset="-122"/>
              </a:rPr>
              <a:t>guest</a:t>
            </a:r>
            <a:r>
              <a:rPr kumimoji="1" lang="zh-CN" altLang="en-US" sz="1400" dirty="0">
                <a:latin typeface="Times New Roman" panose="02020603050405020304" pitchFamily="18" charset="0"/>
                <a:ea typeface="楷体" panose="02010609060101010101" pitchFamily="49" charset="-122"/>
              </a:rPr>
              <a:t>应用</a:t>
            </a:r>
            <a:r>
              <a:rPr kumimoji="1" lang="en-US" altLang="zh-CN" sz="1400" dirty="0">
                <a:latin typeface="Times New Roman" panose="02020603050405020304" pitchFamily="18" charset="0"/>
                <a:ea typeface="楷体" panose="02010609060101010101" pitchFamily="49" charset="-122"/>
              </a:rPr>
              <a:t>)</a:t>
            </a:r>
          </a:p>
          <a:p>
            <a:pPr algn="ctr"/>
            <a:endParaRPr kumimoji="1" lang="en-US" altLang="zh-CN" sz="1400" dirty="0">
              <a:latin typeface="Times New Roman" panose="02020603050405020304" pitchFamily="18" charset="0"/>
              <a:ea typeface="楷体" panose="02010609060101010101" pitchFamily="49" charset="-122"/>
            </a:endParaRPr>
          </a:p>
          <a:p>
            <a:pPr algn="ctr"/>
            <a:r>
              <a:rPr kumimoji="1" lang="zh-CN" altLang="en-US" sz="1600" dirty="0">
                <a:latin typeface="Times New Roman" panose="02020603050405020304" pitchFamily="18" charset="0"/>
                <a:ea typeface="楷体" panose="02010609060101010101" pitchFamily="49" charset="-122"/>
              </a:rPr>
              <a:t>存储虚拟化特征</a:t>
            </a:r>
            <a:endParaRPr kumimoji="1" lang="en-US" altLang="zh-CN" sz="1600" dirty="0">
              <a:latin typeface="Times New Roman" panose="02020603050405020304" pitchFamily="18" charset="0"/>
              <a:ea typeface="楷体" panose="02010609060101010101" pitchFamily="49" charset="-122"/>
            </a:endParaRPr>
          </a:p>
          <a:p>
            <a:pPr algn="ctr"/>
            <a:r>
              <a:rPr kumimoji="1" lang="en-US" altLang="zh-CN" sz="2000" dirty="0">
                <a:latin typeface="Times New Roman" panose="02020603050405020304" pitchFamily="18" charset="0"/>
                <a:ea typeface="楷体" panose="02010609060101010101" pitchFamily="49" charset="-122"/>
              </a:rPr>
              <a:t> </a:t>
            </a:r>
            <a:r>
              <a:rPr kumimoji="1" lang="en-US" altLang="zh-CN" sz="1200" dirty="0">
                <a:latin typeface="Times New Roman" panose="02020603050405020304" pitchFamily="18" charset="0"/>
                <a:ea typeface="楷体" panose="02010609060101010101" pitchFamily="49" charset="-122"/>
              </a:rPr>
              <a:t>(host</a:t>
            </a:r>
            <a:r>
              <a:rPr kumimoji="1" lang="zh-CN" altLang="en-US" sz="1200" dirty="0">
                <a:latin typeface="Times New Roman" panose="02020603050405020304" pitchFamily="18" charset="0"/>
                <a:ea typeface="楷体" panose="02010609060101010101" pitchFamily="49" charset="-122"/>
              </a:rPr>
              <a:t>端的镜像管理</a:t>
            </a:r>
            <a:r>
              <a:rPr kumimoji="1" lang="en-US" altLang="zh-CN" sz="1400" dirty="0">
                <a:latin typeface="Times New Roman" panose="02020603050405020304" pitchFamily="18" charset="0"/>
                <a:ea typeface="楷体" panose="02010609060101010101" pitchFamily="49" charset="-122"/>
              </a:rPr>
              <a:t>)</a:t>
            </a:r>
          </a:p>
        </p:txBody>
      </p:sp>
      <p:sp>
        <p:nvSpPr>
          <p:cNvPr id="6" name="文本框 5"/>
          <p:cNvSpPr txBox="1"/>
          <p:nvPr/>
        </p:nvSpPr>
        <p:spPr>
          <a:xfrm>
            <a:off x="2725194" y="4708170"/>
            <a:ext cx="3404444" cy="338554"/>
          </a:xfrm>
          <a:prstGeom prst="rect">
            <a:avLst/>
          </a:prstGeom>
          <a:noFill/>
        </p:spPr>
        <p:txBody>
          <a:bodyPr wrap="square" rtlCol="0">
            <a:spAutoFit/>
          </a:bodyPr>
          <a:lstStyle/>
          <a:p>
            <a:r>
              <a:rPr kumimoji="1" lang="en-US" altLang="zh-CN" sz="1600" dirty="0">
                <a:latin typeface="Times New Roman" panose="02020603050405020304" pitchFamily="18" charset="0"/>
                <a:ea typeface="楷体" panose="02010609060101010101" pitchFamily="49" charset="-122"/>
              </a:rPr>
              <a:t>   I/O</a:t>
            </a:r>
            <a:r>
              <a:rPr kumimoji="1" lang="zh-CN" altLang="en-US" sz="1600" dirty="0">
                <a:latin typeface="Times New Roman" panose="02020603050405020304" pitchFamily="18" charset="0"/>
                <a:ea typeface="楷体" panose="02010609060101010101" pitchFamily="49" charset="-122"/>
              </a:rPr>
              <a:t> 虚拟化</a:t>
            </a:r>
            <a:r>
              <a:rPr kumimoji="1" lang="en-US" altLang="zh-CN" sz="1600" dirty="0">
                <a:latin typeface="Times New Roman" panose="02020603050405020304" pitchFamily="18" charset="0"/>
                <a:ea typeface="楷体" panose="02010609060101010101" pitchFamily="49" charset="-122"/>
              </a:rPr>
              <a:t> 	Memory</a:t>
            </a:r>
            <a:r>
              <a:rPr kumimoji="1" lang="zh-CN" altLang="en-US" sz="1600" dirty="0">
                <a:latin typeface="Times New Roman" panose="02020603050405020304" pitchFamily="18" charset="0"/>
                <a:ea typeface="楷体" panose="02010609060101010101" pitchFamily="49" charset="-122"/>
              </a:rPr>
              <a:t> 虚拟化</a:t>
            </a:r>
          </a:p>
        </p:txBody>
      </p:sp>
      <p:sp>
        <p:nvSpPr>
          <p:cNvPr id="7" name="矩形 6"/>
          <p:cNvSpPr/>
          <p:nvPr/>
        </p:nvSpPr>
        <p:spPr>
          <a:xfrm>
            <a:off x="4836227" y="5091838"/>
            <a:ext cx="441146" cy="400110"/>
          </a:xfrm>
          <a:prstGeom prst="rect">
            <a:avLst/>
          </a:prstGeom>
        </p:spPr>
        <p:txBody>
          <a:bodyPr wrap="none">
            <a:spAutoFit/>
          </a:bodyPr>
          <a:lstStyle/>
          <a:p>
            <a:r>
              <a:rPr lang="zh-CN" altLang="en-US" sz="2000" b="1" dirty="0">
                <a:solidFill>
                  <a:srgbClr val="00B050"/>
                </a:solidFill>
                <a:latin typeface="+mj-lt"/>
                <a:ea typeface="Microsoft YaHei" charset="-122"/>
                <a:cs typeface="Microsoft YaHei" charset="-122"/>
              </a:rPr>
              <a:t>✔</a:t>
            </a:r>
            <a:endParaRPr lang="zh-CN" altLang="en-US" sz="2000" b="1" dirty="0">
              <a:latin typeface="+mj-lt"/>
              <a:ea typeface="Microsoft YaHei" charset="-122"/>
              <a:cs typeface="Microsoft YaHei" charset="-122"/>
            </a:endParaRPr>
          </a:p>
        </p:txBody>
      </p:sp>
      <p:sp>
        <p:nvSpPr>
          <p:cNvPr id="10" name="矩形 9"/>
          <p:cNvSpPr/>
          <p:nvPr/>
        </p:nvSpPr>
        <p:spPr>
          <a:xfrm>
            <a:off x="3236472" y="5122616"/>
            <a:ext cx="415498" cy="369332"/>
          </a:xfrm>
          <a:prstGeom prst="rect">
            <a:avLst/>
          </a:prstGeom>
        </p:spPr>
        <p:txBody>
          <a:bodyPr wrap="none">
            <a:spAutoFit/>
          </a:bodyPr>
          <a:lstStyle/>
          <a:p>
            <a:r>
              <a:rPr lang="zh-CN" altLang="en-US" b="1" dirty="0">
                <a:solidFill>
                  <a:srgbClr val="FF0000"/>
                </a:solidFill>
              </a:rPr>
              <a:t>✘</a:t>
            </a:r>
          </a:p>
        </p:txBody>
      </p:sp>
      <p:sp>
        <p:nvSpPr>
          <p:cNvPr id="27" name="矩形 26"/>
          <p:cNvSpPr/>
          <p:nvPr/>
        </p:nvSpPr>
        <p:spPr>
          <a:xfrm>
            <a:off x="4849051" y="5788161"/>
            <a:ext cx="415498" cy="369332"/>
          </a:xfrm>
          <a:prstGeom prst="rect">
            <a:avLst/>
          </a:prstGeom>
        </p:spPr>
        <p:txBody>
          <a:bodyPr wrap="none">
            <a:spAutoFit/>
          </a:bodyPr>
          <a:lstStyle/>
          <a:p>
            <a:r>
              <a:rPr lang="zh-CN" altLang="en-US" b="1" dirty="0">
                <a:solidFill>
                  <a:srgbClr val="FF0000"/>
                </a:solidFill>
              </a:rPr>
              <a:t>✘</a:t>
            </a:r>
          </a:p>
        </p:txBody>
      </p:sp>
      <p:sp>
        <p:nvSpPr>
          <p:cNvPr id="28" name="矩形 27"/>
          <p:cNvSpPr/>
          <p:nvPr/>
        </p:nvSpPr>
        <p:spPr>
          <a:xfrm>
            <a:off x="3210824" y="5757383"/>
            <a:ext cx="441146" cy="400110"/>
          </a:xfrm>
          <a:prstGeom prst="rect">
            <a:avLst/>
          </a:prstGeom>
        </p:spPr>
        <p:txBody>
          <a:bodyPr wrap="none">
            <a:spAutoFit/>
          </a:bodyPr>
          <a:lstStyle/>
          <a:p>
            <a:r>
              <a:rPr lang="zh-CN" altLang="en-US" sz="2000" b="1" dirty="0">
                <a:solidFill>
                  <a:srgbClr val="00B050"/>
                </a:solidFill>
                <a:latin typeface="+mj-lt"/>
                <a:ea typeface="Microsoft YaHei" charset="-122"/>
                <a:cs typeface="Microsoft YaHei" charset="-122"/>
              </a:rPr>
              <a:t>✔</a:t>
            </a:r>
            <a:endParaRPr lang="zh-CN" altLang="en-US" sz="2000" b="1" dirty="0">
              <a:latin typeface="+mj-lt"/>
              <a:ea typeface="Microsoft YaHei" charset="-122"/>
              <a:cs typeface="Microsoft YaHei" charset="-122"/>
            </a:endParaRPr>
          </a:p>
        </p:txBody>
      </p:sp>
      <p:sp>
        <p:nvSpPr>
          <p:cNvPr id="29" name="矩形 28"/>
          <p:cNvSpPr/>
          <p:nvPr/>
        </p:nvSpPr>
        <p:spPr>
          <a:xfrm>
            <a:off x="6418661" y="5111486"/>
            <a:ext cx="441146" cy="400110"/>
          </a:xfrm>
          <a:prstGeom prst="rect">
            <a:avLst/>
          </a:prstGeom>
        </p:spPr>
        <p:txBody>
          <a:bodyPr wrap="none">
            <a:spAutoFit/>
          </a:bodyPr>
          <a:lstStyle/>
          <a:p>
            <a:r>
              <a:rPr lang="zh-CN" altLang="en-US" sz="2000" b="1" dirty="0">
                <a:solidFill>
                  <a:srgbClr val="00B050"/>
                </a:solidFill>
                <a:latin typeface="+mj-lt"/>
                <a:ea typeface="Microsoft YaHei" charset="-122"/>
                <a:cs typeface="Microsoft YaHei" charset="-122"/>
              </a:rPr>
              <a:t>✔</a:t>
            </a:r>
            <a:endParaRPr lang="zh-CN" altLang="en-US" sz="2000" b="1" dirty="0">
              <a:latin typeface="+mj-lt"/>
              <a:ea typeface="Microsoft YaHei" charset="-122"/>
              <a:cs typeface="Microsoft YaHei" charset="-122"/>
            </a:endParaRPr>
          </a:p>
        </p:txBody>
      </p:sp>
      <p:sp>
        <p:nvSpPr>
          <p:cNvPr id="30" name="矩形 29"/>
          <p:cNvSpPr/>
          <p:nvPr/>
        </p:nvSpPr>
        <p:spPr>
          <a:xfrm>
            <a:off x="6418661" y="5777031"/>
            <a:ext cx="441146" cy="400110"/>
          </a:xfrm>
          <a:prstGeom prst="rect">
            <a:avLst/>
          </a:prstGeom>
        </p:spPr>
        <p:txBody>
          <a:bodyPr wrap="none">
            <a:spAutoFit/>
          </a:bodyPr>
          <a:lstStyle/>
          <a:p>
            <a:r>
              <a:rPr lang="zh-CN" altLang="en-US" sz="2000" b="1" dirty="0">
                <a:solidFill>
                  <a:srgbClr val="00B050"/>
                </a:solidFill>
                <a:latin typeface="+mj-lt"/>
                <a:ea typeface="Microsoft YaHei" charset="-122"/>
                <a:cs typeface="Microsoft YaHei" charset="-122"/>
              </a:rPr>
              <a:t>✔</a:t>
            </a:r>
            <a:endParaRPr lang="zh-CN" altLang="en-US" sz="2000" b="1" dirty="0">
              <a:latin typeface="+mj-lt"/>
              <a:ea typeface="Microsoft YaHei" charset="-122"/>
              <a:cs typeface="Microsoft YaHei" charset="-122"/>
            </a:endParaRPr>
          </a:p>
        </p:txBody>
      </p:sp>
      <p:cxnSp>
        <p:nvCxnSpPr>
          <p:cNvPr id="14" name="直线连接符 13"/>
          <p:cNvCxnSpPr/>
          <p:nvPr/>
        </p:nvCxnSpPr>
        <p:spPr>
          <a:xfrm>
            <a:off x="734584" y="5015947"/>
            <a:ext cx="67916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900113" y="554335"/>
            <a:ext cx="3684022" cy="461665"/>
          </a:xfrm>
          <a:prstGeom prst="rect">
            <a:avLst/>
          </a:prstGeom>
          <a:noFill/>
        </p:spPr>
        <p:txBody>
          <a:bodyPr wrap="none" rtlCol="0">
            <a:spAutoFit/>
          </a:bodyPr>
          <a:lstStyle/>
          <a:p>
            <a:r>
              <a:rPr kumimoji="1" lang="zh-CN" altLang="en-US" sz="2400" dirty="0">
                <a:latin typeface="宋体" panose="02010600030101010101" pitchFamily="2" charset="-122"/>
                <a:ea typeface="宋体" panose="02010600030101010101" pitchFamily="2" charset="-122"/>
              </a:rPr>
              <a:t>面向镜像管理的</a:t>
            </a:r>
            <a:r>
              <a:rPr kumimoji="1" lang="en-US" altLang="zh-CN" sz="2400" dirty="0">
                <a:latin typeface="宋体" panose="02010600030101010101" pitchFamily="2" charset="-122"/>
                <a:ea typeface="宋体" panose="02010600030101010101" pitchFamily="2" charset="-122"/>
              </a:rPr>
              <a:t>PM</a:t>
            </a:r>
            <a:r>
              <a:rPr kumimoji="1" lang="zh-CN" altLang="en-US" sz="2400" dirty="0">
                <a:latin typeface="宋体" panose="02010600030101010101" pitchFamily="2" charset="-122"/>
                <a:ea typeface="宋体" panose="02010600030101010101" pitchFamily="2" charset="-122"/>
              </a:rPr>
              <a:t>虚拟化</a:t>
            </a:r>
            <a:endParaRPr kumimoji="1" lang="en-US" altLang="zh-CN" sz="2400" dirty="0">
              <a:latin typeface="宋体" panose="02010600030101010101" pitchFamily="2" charset="-122"/>
              <a:ea typeface="宋体" panose="02010600030101010101" pitchFamily="2" charset="-122"/>
            </a:endParaRPr>
          </a:p>
        </p:txBody>
      </p:sp>
      <p:sp>
        <p:nvSpPr>
          <p:cNvPr id="15" name="文本框 14"/>
          <p:cNvSpPr txBox="1"/>
          <p:nvPr/>
        </p:nvSpPr>
        <p:spPr>
          <a:xfrm>
            <a:off x="7397628" y="1960771"/>
            <a:ext cx="1104790" cy="523220"/>
          </a:xfrm>
          <a:prstGeom prst="rect">
            <a:avLst/>
          </a:prstGeom>
          <a:noFill/>
        </p:spPr>
        <p:txBody>
          <a:bodyPr wrap="none" rtlCol="0">
            <a:spAutoFit/>
          </a:bodyPr>
          <a:lstStyle/>
          <a:p>
            <a:r>
              <a:rPr kumimoji="1" lang="zh-CN" altLang="en-US" sz="1400" dirty="0">
                <a:solidFill>
                  <a:schemeClr val="accent6"/>
                </a:solidFill>
              </a:rPr>
              <a:t>字节寻址 </a:t>
            </a:r>
            <a:r>
              <a:rPr kumimoji="1" lang="en-US" altLang="zh-CN" sz="1400" dirty="0">
                <a:solidFill>
                  <a:schemeClr val="accent6"/>
                </a:solidFill>
              </a:rPr>
              <a:t>&amp; </a:t>
            </a:r>
          </a:p>
          <a:p>
            <a:r>
              <a:rPr kumimoji="1" lang="zh-CN" altLang="en-US" sz="1400" dirty="0">
                <a:solidFill>
                  <a:schemeClr val="accent6"/>
                </a:solidFill>
              </a:rPr>
              <a:t> 高性能 </a:t>
            </a:r>
          </a:p>
        </p:txBody>
      </p:sp>
      <p:sp>
        <p:nvSpPr>
          <p:cNvPr id="16" name="文本框 15"/>
          <p:cNvSpPr txBox="1"/>
          <p:nvPr/>
        </p:nvSpPr>
        <p:spPr>
          <a:xfrm>
            <a:off x="7395160" y="2806202"/>
            <a:ext cx="1780674" cy="307777"/>
          </a:xfrm>
          <a:prstGeom prst="rect">
            <a:avLst/>
          </a:prstGeom>
          <a:noFill/>
        </p:spPr>
        <p:txBody>
          <a:bodyPr wrap="square" rtlCol="0">
            <a:spAutoFit/>
          </a:bodyPr>
          <a:lstStyle/>
          <a:p>
            <a:r>
              <a:rPr kumimoji="1" lang="zh-CN" altLang="en-US" sz="1400" dirty="0">
                <a:solidFill>
                  <a:schemeClr val="accent6"/>
                </a:solidFill>
              </a:rPr>
              <a:t>镜像管理功能</a:t>
            </a:r>
            <a:endParaRPr kumimoji="1" lang="en-US" altLang="zh-CN" sz="1400" dirty="0">
              <a:solidFill>
                <a:schemeClr val="accent6"/>
              </a:solidFill>
            </a:endParaRPr>
          </a:p>
        </p:txBody>
      </p:sp>
      <p:sp>
        <p:nvSpPr>
          <p:cNvPr id="4" name="矩形 3"/>
          <p:cNvSpPr/>
          <p:nvPr/>
        </p:nvSpPr>
        <p:spPr>
          <a:xfrm>
            <a:off x="6187828" y="4706068"/>
            <a:ext cx="1005403" cy="338554"/>
          </a:xfrm>
          <a:prstGeom prst="rect">
            <a:avLst/>
          </a:prstGeom>
        </p:spPr>
        <p:txBody>
          <a:bodyPr wrap="none">
            <a:spAutoFit/>
          </a:bodyPr>
          <a:lstStyle/>
          <a:p>
            <a:r>
              <a:rPr lang="zh-CN" altLang="en-US" sz="1600" dirty="0">
                <a:latin typeface="Times New Roman" panose="02020603050405020304" pitchFamily="18" charset="0"/>
                <a:ea typeface="楷体" panose="02010609060101010101" pitchFamily="49" charset="-122"/>
              </a:rPr>
              <a:t>优化方案</a:t>
            </a:r>
          </a:p>
        </p:txBody>
      </p:sp>
    </p:spTree>
    <p:extLst>
      <p:ext uri="{BB962C8B-B14F-4D97-AF65-F5344CB8AC3E}">
        <p14:creationId xmlns:p14="http://schemas.microsoft.com/office/powerpoint/2010/main" val="209582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26" presetClass="emph" presetSubtype="0" fill="hold" grpId="1" nodeType="withEffect">
                                  <p:stCondLst>
                                    <p:cond delay="0"/>
                                  </p:stCondLst>
                                  <p:childTnLst>
                                    <p:animEffect transition="out" filter="fade">
                                      <p:cBhvr>
                                        <p:cTn id="20" dur="500" tmFilter="0, 0; .2, .5; .8, .5; 1, 0"/>
                                        <p:tgtEl>
                                          <p:spTgt spid="4"/>
                                        </p:tgtEl>
                                      </p:cBhvr>
                                    </p:animEffect>
                                    <p:animScale>
                                      <p:cBhvr>
                                        <p:cTn id="21" dur="250" autoRev="1" fill="hold"/>
                                        <p:tgtEl>
                                          <p:spTgt spid="4"/>
                                        </p:tgtEl>
                                      </p:cBhvr>
                                      <p:by x="105000" y="105000"/>
                                    </p:animScale>
                                  </p:childTnLst>
                                </p:cTn>
                              </p:par>
                              <p:par>
                                <p:cTn id="22" presetID="26" presetClass="emph" presetSubtype="0" fill="hold" grpId="1" nodeType="withEffect">
                                  <p:stCondLst>
                                    <p:cond delay="0"/>
                                  </p:stCondLst>
                                  <p:childTnLst>
                                    <p:animEffect transition="out" filter="fade">
                                      <p:cBhvr>
                                        <p:cTn id="23" dur="500" tmFilter="0, 0; .2, .5; .8, .5; 1, 0"/>
                                        <p:tgtEl>
                                          <p:spTgt spid="29"/>
                                        </p:tgtEl>
                                      </p:cBhvr>
                                    </p:animEffect>
                                    <p:animScale>
                                      <p:cBhvr>
                                        <p:cTn id="24" dur="250" autoRev="1" fill="hold"/>
                                        <p:tgtEl>
                                          <p:spTgt spid="29"/>
                                        </p:tgtEl>
                                      </p:cBhvr>
                                      <p:by x="105000" y="105000"/>
                                    </p:animScale>
                                  </p:childTnLst>
                                </p:cTn>
                              </p:par>
                              <p:par>
                                <p:cTn id="25" presetID="26" presetClass="emph" presetSubtype="0" fill="hold" grpId="1" nodeType="withEffect">
                                  <p:stCondLst>
                                    <p:cond delay="0"/>
                                  </p:stCondLst>
                                  <p:childTnLst>
                                    <p:animEffect transition="out" filter="fade">
                                      <p:cBhvr>
                                        <p:cTn id="26" dur="500" tmFilter="0, 0; .2, .5; .8, .5; 1, 0"/>
                                        <p:tgtEl>
                                          <p:spTgt spid="30"/>
                                        </p:tgtEl>
                                      </p:cBhvr>
                                    </p:animEffect>
                                    <p:animScale>
                                      <p:cBhvr>
                                        <p:cTn id="27" dur="250" autoRev="1" fill="hold"/>
                                        <p:tgtEl>
                                          <p:spTgt spid="30"/>
                                        </p:tgtEl>
                                      </p:cBhvr>
                                      <p:by x="105000" y="105000"/>
                                    </p:animScale>
                                  </p:childTnLst>
                                </p:cTn>
                              </p:par>
                              <p:par>
                                <p:cTn id="28" presetID="26" presetClass="emph" presetSubtype="0" fill="hold" grpId="0" nodeType="withEffect">
                                  <p:stCondLst>
                                    <p:cond delay="0"/>
                                  </p:stCondLst>
                                  <p:childTnLst>
                                    <p:animEffect transition="out" filter="fade">
                                      <p:cBhvr>
                                        <p:cTn id="29" dur="500" tmFilter="0, 0; .2, .5; .8, .5; 1, 0"/>
                                        <p:tgtEl>
                                          <p:spTgt spid="16"/>
                                        </p:tgtEl>
                                      </p:cBhvr>
                                    </p:animEffect>
                                    <p:animScale>
                                      <p:cBhvr>
                                        <p:cTn id="30" dur="250" autoRev="1" fill="hold"/>
                                        <p:tgtEl>
                                          <p:spTgt spid="16"/>
                                        </p:tgtEl>
                                      </p:cBhvr>
                                      <p:by x="105000" y="105000"/>
                                    </p:animScale>
                                  </p:childTnLst>
                                </p:cTn>
                              </p:par>
                              <p:par>
                                <p:cTn id="31" presetID="26" presetClass="emph" presetSubtype="0" fill="hold" grpId="0" nodeType="withEffect">
                                  <p:stCondLst>
                                    <p:cond delay="0"/>
                                  </p:stCondLst>
                                  <p:childTnLst>
                                    <p:animEffect transition="out" filter="fade">
                                      <p:cBhvr>
                                        <p:cTn id="32" dur="500" tmFilter="0, 0; .2, .5; .8, .5; 1, 0"/>
                                        <p:tgtEl>
                                          <p:spTgt spid="26"/>
                                        </p:tgtEl>
                                      </p:cBhvr>
                                    </p:animEffect>
                                    <p:animScale>
                                      <p:cBhvr>
                                        <p:cTn id="33" dur="250" autoRev="1" fill="hold"/>
                                        <p:tgtEl>
                                          <p:spTgt spid="26"/>
                                        </p:tgtEl>
                                      </p:cBhvr>
                                      <p:by x="105000" y="105000"/>
                                    </p:animScale>
                                  </p:childTnLst>
                                </p:cTn>
                              </p:par>
                              <p:par>
                                <p:cTn id="34" presetID="26" presetClass="emph" presetSubtype="0" fill="hold" grpId="0" nodeType="withEffect">
                                  <p:stCondLst>
                                    <p:cond delay="0"/>
                                  </p:stCondLst>
                                  <p:childTnLst>
                                    <p:animEffect transition="out" filter="fade">
                                      <p:cBhvr>
                                        <p:cTn id="35" dur="500" tmFilter="0, 0; .2, .5; .8, .5; 1, 0"/>
                                        <p:tgtEl>
                                          <p:spTgt spid="25"/>
                                        </p:tgtEl>
                                      </p:cBhvr>
                                    </p:animEffect>
                                    <p:animScale>
                                      <p:cBhvr>
                                        <p:cTn id="36" dur="250" autoRev="1" fill="hold"/>
                                        <p:tgtEl>
                                          <p:spTgt spid="25"/>
                                        </p:tgtEl>
                                      </p:cBhvr>
                                      <p:by x="105000" y="105000"/>
                                    </p:animScale>
                                  </p:childTnLst>
                                </p:cTn>
                              </p:par>
                              <p:par>
                                <p:cTn id="37" presetID="26" presetClass="emph" presetSubtype="0" fill="hold" grpId="0" nodeType="withEffect">
                                  <p:stCondLst>
                                    <p:cond delay="0"/>
                                  </p:stCondLst>
                                  <p:childTnLst>
                                    <p:animEffect transition="out" filter="fade">
                                      <p:cBhvr>
                                        <p:cTn id="38" dur="500" tmFilter="0, 0; .2, .5; .8, .5; 1, 0"/>
                                        <p:tgtEl>
                                          <p:spTgt spid="15"/>
                                        </p:tgtEl>
                                      </p:cBhvr>
                                    </p:animEffect>
                                    <p:animScale>
                                      <p:cBhvr>
                                        <p:cTn id="39" dur="250" autoRev="1" fill="hold"/>
                                        <p:tgtEl>
                                          <p:spTgt spid="15"/>
                                        </p:tgtEl>
                                      </p:cBhvr>
                                      <p:by x="105000" y="105000"/>
                                    </p:animScale>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3"/>
                                        </p:tgtEl>
                                      </p:cBhvr>
                                    </p:animEffect>
                                    <p:set>
                                      <p:cBhvr>
                                        <p:cTn id="44" dur="1" fill="hold">
                                          <p:stCondLst>
                                            <p:cond delay="499"/>
                                          </p:stCondLst>
                                        </p:cTn>
                                        <p:tgtEl>
                                          <p:spTgt spid="3"/>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7"/>
                                        </p:tgtEl>
                                      </p:cBhvr>
                                    </p:animEffect>
                                    <p:set>
                                      <p:cBhvr>
                                        <p:cTn id="50" dur="1" fill="hold">
                                          <p:stCondLst>
                                            <p:cond delay="499"/>
                                          </p:stCondLst>
                                        </p:cTn>
                                        <p:tgtEl>
                                          <p:spTgt spid="7"/>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10"/>
                                        </p:tgtEl>
                                      </p:cBhvr>
                                    </p:animEffect>
                                    <p:set>
                                      <p:cBhvr>
                                        <p:cTn id="53" dur="1" fill="hold">
                                          <p:stCondLst>
                                            <p:cond delay="499"/>
                                          </p:stCondLst>
                                        </p:cTn>
                                        <p:tgtEl>
                                          <p:spTgt spid="10"/>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27"/>
                                        </p:tgtEl>
                                      </p:cBhvr>
                                    </p:animEffect>
                                    <p:set>
                                      <p:cBhvr>
                                        <p:cTn id="56" dur="1" fill="hold">
                                          <p:stCondLst>
                                            <p:cond delay="499"/>
                                          </p:stCondLst>
                                        </p:cTn>
                                        <p:tgtEl>
                                          <p:spTgt spid="27"/>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28"/>
                                        </p:tgtEl>
                                      </p:cBhvr>
                                    </p:animEffect>
                                    <p:set>
                                      <p:cBhvr>
                                        <p:cTn id="59" dur="1" fill="hold">
                                          <p:stCondLst>
                                            <p:cond delay="499"/>
                                          </p:stCondLst>
                                        </p:cTn>
                                        <p:tgtEl>
                                          <p:spTgt spid="28"/>
                                        </p:tgtEl>
                                        <p:attrNameLst>
                                          <p:attrName>style.visibility</p:attrName>
                                        </p:attrNameLst>
                                      </p:cBhvr>
                                      <p:to>
                                        <p:strVal val="hidden"/>
                                      </p:to>
                                    </p:set>
                                  </p:childTnLst>
                                </p:cTn>
                              </p:par>
                              <p:par>
                                <p:cTn id="60" presetID="10" presetClass="exit" presetSubtype="0" fill="hold" grpId="2" nodeType="withEffect">
                                  <p:stCondLst>
                                    <p:cond delay="0"/>
                                  </p:stCondLst>
                                  <p:childTnLst>
                                    <p:animEffect transition="out" filter="fade">
                                      <p:cBhvr>
                                        <p:cTn id="61" dur="500"/>
                                        <p:tgtEl>
                                          <p:spTgt spid="29"/>
                                        </p:tgtEl>
                                      </p:cBhvr>
                                    </p:animEffect>
                                    <p:set>
                                      <p:cBhvr>
                                        <p:cTn id="62" dur="1" fill="hold">
                                          <p:stCondLst>
                                            <p:cond delay="499"/>
                                          </p:stCondLst>
                                        </p:cTn>
                                        <p:tgtEl>
                                          <p:spTgt spid="29"/>
                                        </p:tgtEl>
                                        <p:attrNameLst>
                                          <p:attrName>style.visibility</p:attrName>
                                        </p:attrNameLst>
                                      </p:cBhvr>
                                      <p:to>
                                        <p:strVal val="hidden"/>
                                      </p:to>
                                    </p:set>
                                  </p:childTnLst>
                                </p:cTn>
                              </p:par>
                              <p:par>
                                <p:cTn id="63" presetID="10" presetClass="exit" presetSubtype="0" fill="hold" grpId="2" nodeType="withEffect">
                                  <p:stCondLst>
                                    <p:cond delay="0"/>
                                  </p:stCondLst>
                                  <p:childTnLst>
                                    <p:animEffect transition="out" filter="fade">
                                      <p:cBhvr>
                                        <p:cTn id="64" dur="500"/>
                                        <p:tgtEl>
                                          <p:spTgt spid="30"/>
                                        </p:tgtEl>
                                      </p:cBhvr>
                                    </p:animEffect>
                                    <p:set>
                                      <p:cBhvr>
                                        <p:cTn id="65" dur="1" fill="hold">
                                          <p:stCondLst>
                                            <p:cond delay="499"/>
                                          </p:stCondLst>
                                        </p:cTn>
                                        <p:tgtEl>
                                          <p:spTgt spid="30"/>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14"/>
                                        </p:tgtEl>
                                      </p:cBhvr>
                                    </p:animEffect>
                                    <p:set>
                                      <p:cBhvr>
                                        <p:cTn id="68" dur="1" fill="hold">
                                          <p:stCondLst>
                                            <p:cond delay="499"/>
                                          </p:stCondLst>
                                        </p:cTn>
                                        <p:tgtEl>
                                          <p:spTgt spid="14"/>
                                        </p:tgtEl>
                                        <p:attrNameLst>
                                          <p:attrName>style.visibility</p:attrName>
                                        </p:attrNameLst>
                                      </p:cBhvr>
                                      <p:to>
                                        <p:strVal val="hidden"/>
                                      </p:to>
                                    </p:set>
                                  </p:childTnLst>
                                </p:cTn>
                              </p:par>
                              <p:par>
                                <p:cTn id="69" presetID="10" presetClass="exit" presetSubtype="0" fill="hold" grpId="2" nodeType="withEffect">
                                  <p:stCondLst>
                                    <p:cond delay="0"/>
                                  </p:stCondLst>
                                  <p:childTnLst>
                                    <p:animEffect transition="out" filter="fade">
                                      <p:cBhvr>
                                        <p:cTn id="70" dur="500"/>
                                        <p:tgtEl>
                                          <p:spTgt spid="4"/>
                                        </p:tgtEl>
                                      </p:cBhvr>
                                    </p:animEffect>
                                    <p:set>
                                      <p:cBhvr>
                                        <p:cTn id="71"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3" grpId="0"/>
      <p:bldP spid="6" grpId="0"/>
      <p:bldP spid="7" grpId="0"/>
      <p:bldP spid="10" grpId="0"/>
      <p:bldP spid="27" grpId="0"/>
      <p:bldP spid="28" grpId="0"/>
      <p:bldP spid="29" grpId="0"/>
      <p:bldP spid="29" grpId="1"/>
      <p:bldP spid="29" grpId="2"/>
      <p:bldP spid="30" grpId="0"/>
      <p:bldP spid="30" grpId="1"/>
      <p:bldP spid="30" grpId="2"/>
      <p:bldP spid="15" grpId="0"/>
      <p:bldP spid="15" grpId="1"/>
      <p:bldP spid="16" grpId="0"/>
      <p:bldP spid="16" grpId="1"/>
      <p:bldP spid="4" grpId="0"/>
      <p:bldP spid="4" grpId="1"/>
      <p:bldP spid="4" grpId="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477816" y="1727932"/>
            <a:ext cx="6048399" cy="2736662"/>
          </a:xfrm>
          <a:prstGeom prst="rect">
            <a:avLst/>
          </a:prstGeom>
        </p:spPr>
      </p:pic>
      <p:sp>
        <p:nvSpPr>
          <p:cNvPr id="25" name="笑脸 24"/>
          <p:cNvSpPr/>
          <p:nvPr/>
        </p:nvSpPr>
        <p:spPr>
          <a:xfrm>
            <a:off x="6996871" y="2027248"/>
            <a:ext cx="390266" cy="390266"/>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6" name="笑脸 25"/>
          <p:cNvSpPr/>
          <p:nvPr/>
        </p:nvSpPr>
        <p:spPr>
          <a:xfrm>
            <a:off x="6996871" y="2868544"/>
            <a:ext cx="390266" cy="390266"/>
          </a:xfrm>
          <a:prstGeom prst="smileyFac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1" name="文本框 20"/>
          <p:cNvSpPr txBox="1"/>
          <p:nvPr/>
        </p:nvSpPr>
        <p:spPr>
          <a:xfrm>
            <a:off x="900113" y="554335"/>
            <a:ext cx="368402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面向镜像管理的</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PM</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5" name="文本框 14"/>
          <p:cNvSpPr txBox="1"/>
          <p:nvPr/>
        </p:nvSpPr>
        <p:spPr>
          <a:xfrm>
            <a:off x="7397628" y="1960771"/>
            <a:ext cx="131318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70AD47"/>
                </a:solidFill>
                <a:effectLst/>
                <a:uLnTx/>
                <a:uFillTx/>
                <a:latin typeface="楷体" panose="02010609060101010101" pitchFamily="49" charset="-122"/>
                <a:ea typeface="楷体" panose="02010609060101010101" pitchFamily="49" charset="-122"/>
              </a:rPr>
              <a:t>字节寻址 </a:t>
            </a:r>
            <a:r>
              <a:rPr kumimoji="1" lang="en-US" altLang="zh-CN" sz="1600" b="0" i="0" u="none" strike="noStrike" kern="1200" cap="none" spc="0" normalizeH="0" baseline="0" noProof="0" dirty="0">
                <a:ln>
                  <a:noFill/>
                </a:ln>
                <a:solidFill>
                  <a:srgbClr val="70AD47"/>
                </a:solidFill>
                <a:effectLst/>
                <a:uLnTx/>
                <a:uFillTx/>
                <a:latin typeface="楷体" panose="02010609060101010101" pitchFamily="49" charset="-122"/>
                <a:ea typeface="楷体" panose="02010609060101010101" pitchFamily="49" charset="-122"/>
              </a:rPr>
              <a:t>&amp;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70AD47"/>
                </a:solidFill>
                <a:effectLst/>
                <a:uLnTx/>
                <a:uFillTx/>
                <a:latin typeface="楷体" panose="02010609060101010101" pitchFamily="49" charset="-122"/>
                <a:ea typeface="楷体" panose="02010609060101010101" pitchFamily="49" charset="-122"/>
              </a:rPr>
              <a:t> 高性能 </a:t>
            </a:r>
          </a:p>
        </p:txBody>
      </p:sp>
      <p:sp>
        <p:nvSpPr>
          <p:cNvPr id="16" name="文本框 15"/>
          <p:cNvSpPr txBox="1"/>
          <p:nvPr/>
        </p:nvSpPr>
        <p:spPr>
          <a:xfrm>
            <a:off x="7395160" y="2806202"/>
            <a:ext cx="17806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70AD47"/>
                </a:solidFill>
                <a:effectLst/>
                <a:uLnTx/>
                <a:uFillTx/>
                <a:latin typeface="楷体" panose="02010609060101010101" pitchFamily="49" charset="-122"/>
                <a:ea typeface="楷体" panose="02010609060101010101" pitchFamily="49" charset="-122"/>
              </a:rPr>
              <a:t>镜像管理功能</a:t>
            </a:r>
            <a:endParaRPr kumimoji="1" lang="en-US" altLang="zh-CN" sz="1600" b="0" i="0" u="none" strike="noStrike" kern="1200" cap="none" spc="0" normalizeH="0" baseline="0" noProof="0" dirty="0">
              <a:ln>
                <a:noFill/>
              </a:ln>
              <a:solidFill>
                <a:srgbClr val="70AD47"/>
              </a:solidFill>
              <a:effectLst/>
              <a:uLnTx/>
              <a:uFillTx/>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32A4D3C6-AEF9-4CF9-9347-7BD81CF7496C}"/>
              </a:ext>
            </a:extLst>
          </p:cNvPr>
          <p:cNvSpPr txBox="1"/>
          <p:nvPr/>
        </p:nvSpPr>
        <p:spPr>
          <a:xfrm>
            <a:off x="913686" y="4531815"/>
            <a:ext cx="7628001" cy="923330"/>
          </a:xfrm>
          <a:prstGeom prst="rect">
            <a:avLst/>
          </a:prstGeom>
          <a:noFill/>
        </p:spPr>
        <p:txBody>
          <a:bodyPr wrap="square" rtlCol="0">
            <a:spAutoFit/>
          </a:bodyPr>
          <a:lstStyle/>
          <a:p>
            <a:r>
              <a:rPr kumimoji="1" lang="en-US" altLang="zh-CN" dirty="0">
                <a:solidFill>
                  <a:srgbClr val="C00000"/>
                </a:solidFill>
              </a:rPr>
              <a:t>Challenge:</a:t>
            </a:r>
          </a:p>
          <a:p>
            <a:pPr lvl="1"/>
            <a:r>
              <a:rPr kumimoji="1" lang="zh-CN" altLang="en-US" dirty="0">
                <a:latin typeface="Times New Roman" panose="02020603050405020304" pitchFamily="18" charset="0"/>
                <a:ea typeface="楷体" panose="02010609060101010101" pitchFamily="49" charset="-122"/>
              </a:rPr>
              <a:t>所有的数据访问都不经过</a:t>
            </a:r>
            <a:r>
              <a:rPr kumimoji="1" lang="en-US" altLang="zh-CN" dirty="0">
                <a:latin typeface="Times New Roman" panose="02020603050405020304" pitchFamily="18" charset="0"/>
                <a:ea typeface="楷体" panose="02010609060101010101" pitchFamily="49" charset="-122"/>
              </a:rPr>
              <a:t>QUMU, </a:t>
            </a:r>
            <a:r>
              <a:rPr kumimoji="1" lang="zh-CN" altLang="en-US" dirty="0">
                <a:latin typeface="Times New Roman" panose="02020603050405020304" pitchFamily="18" charset="0"/>
                <a:ea typeface="楷体" panose="02010609060101010101" pitchFamily="49" charset="-122"/>
              </a:rPr>
              <a:t>在</a:t>
            </a:r>
            <a:r>
              <a:rPr kumimoji="1" lang="en-US" altLang="zh-CN" dirty="0">
                <a:latin typeface="Times New Roman" panose="02020603050405020304" pitchFamily="18" charset="0"/>
                <a:ea typeface="楷体" panose="02010609060101010101" pitchFamily="49" charset="-122"/>
              </a:rPr>
              <a:t>host</a:t>
            </a:r>
            <a:r>
              <a:rPr kumimoji="1" lang="zh-CN" altLang="en-US" dirty="0">
                <a:latin typeface="Times New Roman" panose="02020603050405020304" pitchFamily="18" charset="0"/>
                <a:ea typeface="楷体" panose="02010609060101010101" pitchFamily="49" charset="-122"/>
              </a:rPr>
              <a:t>端的用户态完成访问操作。无法拦截数据流增加镜像格式驱动</a:t>
            </a:r>
            <a:endParaRPr kumimoji="1" lang="zh-CN" altLang="en-US" sz="2000" dirty="0">
              <a:latin typeface="Times New Roman" panose="02020603050405020304" pitchFamily="18" charset="0"/>
              <a:ea typeface="楷体" panose="02010609060101010101" pitchFamily="49" charset="-122"/>
            </a:endParaRPr>
          </a:p>
        </p:txBody>
      </p:sp>
      <p:sp>
        <p:nvSpPr>
          <p:cNvPr id="19" name="文本框 18">
            <a:extLst>
              <a:ext uri="{FF2B5EF4-FFF2-40B4-BE49-F238E27FC236}">
                <a16:creationId xmlns:a16="http://schemas.microsoft.com/office/drawing/2014/main" id="{1D23D93D-7873-438E-8340-C53DFF37A4BD}"/>
              </a:ext>
            </a:extLst>
          </p:cNvPr>
          <p:cNvSpPr txBox="1"/>
          <p:nvPr/>
        </p:nvSpPr>
        <p:spPr>
          <a:xfrm>
            <a:off x="900113" y="5460810"/>
            <a:ext cx="7512367" cy="646331"/>
          </a:xfrm>
          <a:prstGeom prst="rect">
            <a:avLst/>
          </a:prstGeom>
          <a:noFill/>
        </p:spPr>
        <p:txBody>
          <a:bodyPr wrap="square" rtlCol="0">
            <a:spAutoFit/>
          </a:bodyPr>
          <a:lstStyle/>
          <a:p>
            <a:r>
              <a:rPr kumimoji="1" lang="en-US" altLang="zh-CN" dirty="0">
                <a:solidFill>
                  <a:srgbClr val="00B050"/>
                </a:solidFill>
              </a:rPr>
              <a:t>Opportunity:</a:t>
            </a:r>
          </a:p>
          <a:p>
            <a:r>
              <a:rPr kumimoji="1" lang="zh-CN" altLang="en-US" sz="1600" dirty="0">
                <a:latin typeface="Times New Roman" panose="02020603050405020304" pitchFamily="18" charset="0"/>
              </a:rPr>
              <a:t>          </a:t>
            </a:r>
            <a:r>
              <a:rPr kumimoji="1" lang="en-US" altLang="zh-CN" dirty="0">
                <a:latin typeface="Times New Roman" panose="02020603050405020304" pitchFamily="18" charset="0"/>
                <a:ea typeface="楷体" panose="02010609060101010101" pitchFamily="49" charset="-122"/>
              </a:rPr>
              <a:t>PM</a:t>
            </a:r>
            <a:r>
              <a:rPr kumimoji="1" lang="zh-CN" altLang="en-US" dirty="0">
                <a:latin typeface="Times New Roman" panose="02020603050405020304" pitchFamily="18" charset="0"/>
                <a:ea typeface="楷体" panose="02010609060101010101" pitchFamily="49" charset="-122"/>
              </a:rPr>
              <a:t>可借助内存虚拟化中的硬件辅助虚拟化获得虚拟化后的高性能</a:t>
            </a:r>
            <a:endParaRPr kumimoji="1" lang="en-US" altLang="zh-CN"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83935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26" presetClass="emph" presetSubtype="0" fill="hold" grpId="0" nodeType="withEffect">
                                  <p:stCondLst>
                                    <p:cond delay="0"/>
                                  </p:stCondLst>
                                  <p:childTnLst>
                                    <p:animEffect transition="out" filter="fade">
                                      <p:cBhvr>
                                        <p:cTn id="14" dur="500" tmFilter="0, 0; .2, .5; .8, .5; 1, 0"/>
                                        <p:tgtEl>
                                          <p:spTgt spid="16"/>
                                        </p:tgtEl>
                                      </p:cBhvr>
                                    </p:animEffect>
                                    <p:animScale>
                                      <p:cBhvr>
                                        <p:cTn id="15" dur="250" autoRev="1" fill="hold"/>
                                        <p:tgtEl>
                                          <p:spTgt spid="16"/>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26"/>
                                        </p:tgtEl>
                                      </p:cBhvr>
                                    </p:animEffect>
                                    <p:animScale>
                                      <p:cBhvr>
                                        <p:cTn id="18" dur="250" autoRev="1" fill="hold"/>
                                        <p:tgtEl>
                                          <p:spTgt spid="26"/>
                                        </p:tgtEl>
                                      </p:cBhvr>
                                      <p:by x="105000" y="105000"/>
                                    </p:animScale>
                                  </p:childTnLst>
                                </p:cTn>
                              </p:par>
                              <p:par>
                                <p:cTn id="19" presetID="26" presetClass="emph" presetSubtype="0" fill="hold" grpId="0" nodeType="withEffect">
                                  <p:stCondLst>
                                    <p:cond delay="0"/>
                                  </p:stCondLst>
                                  <p:childTnLst>
                                    <p:animEffect transition="out" filter="fade">
                                      <p:cBhvr>
                                        <p:cTn id="20" dur="500" tmFilter="0, 0; .2, .5; .8, .5; 1, 0"/>
                                        <p:tgtEl>
                                          <p:spTgt spid="25"/>
                                        </p:tgtEl>
                                      </p:cBhvr>
                                    </p:animEffect>
                                    <p:animScale>
                                      <p:cBhvr>
                                        <p:cTn id="21" dur="250" autoRev="1" fill="hold"/>
                                        <p:tgtEl>
                                          <p:spTgt spid="25"/>
                                        </p:tgtEl>
                                      </p:cBhvr>
                                      <p:by x="105000" y="105000"/>
                                    </p:animScale>
                                  </p:childTnLst>
                                </p:cTn>
                              </p:par>
                              <p:par>
                                <p:cTn id="22" presetID="26" presetClass="emph" presetSubtype="0" fill="hold" grpId="0" nodeType="withEffect">
                                  <p:stCondLst>
                                    <p:cond delay="0"/>
                                  </p:stCondLst>
                                  <p:childTnLst>
                                    <p:animEffect transition="out" filter="fade">
                                      <p:cBhvr>
                                        <p:cTn id="23" dur="500" tmFilter="0, 0; .2, .5; .8, .5; 1, 0"/>
                                        <p:tgtEl>
                                          <p:spTgt spid="15"/>
                                        </p:tgtEl>
                                      </p:cBhvr>
                                    </p:animEffect>
                                    <p:animScale>
                                      <p:cBhvr>
                                        <p:cTn id="24" dur="250" autoRev="1" fill="hold"/>
                                        <p:tgtEl>
                                          <p:spTgt spid="1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15" grpId="0"/>
      <p:bldP spid="15" grpId="1"/>
      <p:bldP spid="16" grpId="0"/>
      <p:bldP spid="1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50825" y="663873"/>
            <a:ext cx="4850751" cy="461665"/>
          </a:xfrm>
          <a:prstGeom prst="rect">
            <a:avLst/>
          </a:prstGeom>
          <a:noFill/>
        </p:spPr>
        <p:txBody>
          <a:bodyPr wrap="none" rtlCol="0">
            <a:spAutoFit/>
          </a:bodyPr>
          <a:lstStyle/>
          <a:p>
            <a:r>
              <a:rPr kumimoji="1" lang="en-US" altLang="zh-CN" sz="2400" dirty="0"/>
              <a:t>Image</a:t>
            </a:r>
            <a:r>
              <a:rPr kumimoji="1" lang="zh-CN" altLang="en-US" sz="2400" dirty="0"/>
              <a:t> </a:t>
            </a:r>
            <a:r>
              <a:rPr kumimoji="1" lang="en-US" altLang="zh-CN" sz="2400" dirty="0"/>
              <a:t>Monitor</a:t>
            </a:r>
            <a:r>
              <a:rPr kumimoji="1" lang="zh-CN" altLang="en-US" sz="2400" dirty="0"/>
              <a:t> </a:t>
            </a:r>
            <a:r>
              <a:rPr kumimoji="1" lang="en-US" altLang="zh-CN" dirty="0"/>
              <a:t>|</a:t>
            </a:r>
            <a:r>
              <a:rPr kumimoji="1" lang="zh-CN" altLang="en-US" dirty="0"/>
              <a:t> </a:t>
            </a:r>
            <a:r>
              <a:rPr kumimoji="1" lang="en-US" altLang="zh-CN" sz="1400" dirty="0" err="1">
                <a:solidFill>
                  <a:schemeClr val="tx1">
                    <a:lumMod val="50000"/>
                    <a:lumOff val="50000"/>
                  </a:schemeClr>
                </a:solidFill>
              </a:rPr>
              <a:t>Pcow</a:t>
            </a:r>
            <a:r>
              <a:rPr kumimoji="1" lang="zh-CN" altLang="en-US" sz="1400" dirty="0">
                <a:solidFill>
                  <a:schemeClr val="tx1">
                    <a:lumMod val="50000"/>
                    <a:lumOff val="50000"/>
                  </a:schemeClr>
                </a:solidFill>
              </a:rPr>
              <a:t> </a:t>
            </a:r>
            <a:r>
              <a:rPr kumimoji="1" lang="en-US" altLang="zh-CN" sz="1400" dirty="0">
                <a:solidFill>
                  <a:schemeClr val="tx1">
                    <a:lumMod val="50000"/>
                    <a:lumOff val="50000"/>
                  </a:schemeClr>
                </a:solidFill>
              </a:rPr>
              <a:t>Format</a:t>
            </a:r>
            <a:r>
              <a:rPr kumimoji="1" lang="zh-CN" altLang="en-US" dirty="0">
                <a:solidFill>
                  <a:schemeClr val="tx1">
                    <a:lumMod val="50000"/>
                    <a:lumOff val="50000"/>
                  </a:schemeClr>
                </a:solidFill>
              </a:rPr>
              <a:t> </a:t>
            </a:r>
            <a:r>
              <a:rPr kumimoji="1" lang="en-US" altLang="zh-CN" sz="1400" dirty="0"/>
              <a:t>|</a:t>
            </a:r>
            <a:r>
              <a:rPr kumimoji="1" lang="zh-CN" altLang="en-US" sz="14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pic>
        <p:nvPicPr>
          <p:cNvPr id="8" name="图片 7">
            <a:extLst>
              <a:ext uri="{FF2B5EF4-FFF2-40B4-BE49-F238E27FC236}">
                <a16:creationId xmlns:a16="http://schemas.microsoft.com/office/drawing/2014/main" id="{D974DC9E-66A4-4CC3-9D67-A39C414A5A52}"/>
              </a:ext>
            </a:extLst>
          </p:cNvPr>
          <p:cNvPicPr>
            <a:picLocks noChangeAspect="1"/>
          </p:cNvPicPr>
          <p:nvPr/>
        </p:nvPicPr>
        <p:blipFill>
          <a:blip r:embed="rId3"/>
          <a:stretch>
            <a:fillRect/>
          </a:stretch>
        </p:blipFill>
        <p:spPr>
          <a:xfrm>
            <a:off x="4163361" y="1317471"/>
            <a:ext cx="4943475" cy="5048250"/>
          </a:xfrm>
          <a:prstGeom prst="rect">
            <a:avLst/>
          </a:prstGeom>
        </p:spPr>
      </p:pic>
      <p:sp>
        <p:nvSpPr>
          <p:cNvPr id="11" name="TextBox 29">
            <a:extLst>
              <a:ext uri="{FF2B5EF4-FFF2-40B4-BE49-F238E27FC236}">
                <a16:creationId xmlns:a16="http://schemas.microsoft.com/office/drawing/2014/main" id="{9FEC4508-75D6-484E-A014-4FE93E0EE36B}"/>
              </a:ext>
            </a:extLst>
          </p:cNvPr>
          <p:cNvSpPr txBox="1"/>
          <p:nvPr/>
        </p:nvSpPr>
        <p:spPr>
          <a:xfrm>
            <a:off x="248170" y="1883831"/>
            <a:ext cx="8218822" cy="3724096"/>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基于内存虚拟化架构</a:t>
            </a: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扩展</a:t>
            </a:r>
            <a:r>
              <a:rPr lang="en-US" altLang="zh-CN" sz="2000" dirty="0">
                <a:latin typeface="Times New Roman" panose="02020603050405020304" pitchFamily="18" charset="0"/>
                <a:ea typeface="楷体" panose="02010609060101010101" pitchFamily="49" charset="-122"/>
              </a:rPr>
              <a:t>VMM</a:t>
            </a:r>
            <a:r>
              <a:rPr lang="zh-CN" altLang="en-US" sz="2000" dirty="0">
                <a:latin typeface="Times New Roman" panose="02020603050405020304" pitchFamily="18" charset="0"/>
                <a:ea typeface="楷体" panose="02010609060101010101" pitchFamily="49" charset="-122"/>
              </a:rPr>
              <a:t>，增加</a:t>
            </a:r>
            <a:r>
              <a:rPr lang="zh-CN" altLang="en-US" sz="2000" dirty="0">
                <a:solidFill>
                  <a:srgbClr val="C00000"/>
                </a:solidFill>
                <a:latin typeface="Times New Roman" panose="02020603050405020304" pitchFamily="18" charset="0"/>
                <a:ea typeface="楷体" panose="02010609060101010101" pitchFamily="49" charset="-122"/>
              </a:rPr>
              <a:t>镜像监视器</a:t>
            </a:r>
            <a:endParaRPr lang="en-US" altLang="zh-CN" sz="2000" dirty="0">
              <a:solidFill>
                <a:srgbClr val="C00000"/>
              </a:solidFill>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为</a:t>
            </a:r>
            <a:r>
              <a:rPr lang="en-US" altLang="zh-CN" sz="2000" dirty="0">
                <a:latin typeface="Times New Roman" panose="02020603050405020304" pitchFamily="18" charset="0"/>
                <a:ea typeface="楷体" panose="02010609060101010101" pitchFamily="49" charset="-122"/>
              </a:rPr>
              <a:t>PM</a:t>
            </a:r>
            <a:r>
              <a:rPr lang="zh-CN" altLang="en-US" sz="2000" dirty="0">
                <a:latin typeface="Times New Roman" panose="02020603050405020304" pitchFamily="18" charset="0"/>
                <a:ea typeface="楷体" panose="02010609060101010101" pitchFamily="49" charset="-122"/>
              </a:rPr>
              <a:t>设计新的</a:t>
            </a:r>
            <a:r>
              <a:rPr lang="zh-CN" altLang="en-US" sz="2000" dirty="0">
                <a:solidFill>
                  <a:srgbClr val="00B050"/>
                </a:solidFill>
                <a:latin typeface="Times New Roman" panose="02020603050405020304" pitchFamily="18" charset="0"/>
                <a:ea typeface="楷体" panose="02010609060101010101" pitchFamily="49" charset="-122"/>
              </a:rPr>
              <a:t>镜像文件格式</a:t>
            </a:r>
            <a:r>
              <a:rPr lang="zh-CN" altLang="en-US" sz="2000" dirty="0">
                <a:latin typeface="Times New Roman" panose="02020603050405020304" pitchFamily="18" charset="0"/>
                <a:ea typeface="楷体" panose="02010609060101010101" pitchFamily="49" charset="-122"/>
              </a:rPr>
              <a:t>，</a:t>
            </a:r>
            <a:endParaRPr lang="en-US" altLang="zh-CN" sz="2000" dirty="0">
              <a:latin typeface="Times New Roman" panose="02020603050405020304" pitchFamily="18" charset="0"/>
              <a:ea typeface="楷体" panose="02010609060101010101" pitchFamily="49" charset="-122"/>
            </a:endParaRPr>
          </a:p>
          <a:p>
            <a:r>
              <a:rPr lang="en-US" altLang="zh-CN" sz="2000" dirty="0">
                <a:latin typeface="Times New Roman" panose="02020603050405020304" pitchFamily="18" charset="0"/>
                <a:ea typeface="楷体" panose="02010609060101010101" pitchFamily="49" charset="-122"/>
              </a:rPr>
              <a:t>      </a:t>
            </a:r>
            <a:r>
              <a:rPr lang="zh-CN" altLang="en-US" sz="2000" dirty="0">
                <a:latin typeface="Times New Roman" panose="02020603050405020304" pitchFamily="18" charset="0"/>
                <a:ea typeface="楷体" panose="02010609060101010101" pitchFamily="49" charset="-122"/>
              </a:rPr>
              <a:t>命名为</a:t>
            </a:r>
            <a:r>
              <a:rPr lang="en-US" altLang="zh-CN" sz="2000" dirty="0" err="1">
                <a:latin typeface="Times New Roman" panose="02020603050405020304" pitchFamily="18" charset="0"/>
                <a:ea typeface="楷体" panose="02010609060101010101" pitchFamily="49" charset="-122"/>
              </a:rPr>
              <a:t>pcow</a:t>
            </a:r>
            <a:r>
              <a:rPr lang="en-US" altLang="zh-CN" sz="2000" dirty="0">
                <a:latin typeface="Times New Roman" panose="02020603050405020304" pitchFamily="18" charset="0"/>
                <a:ea typeface="楷体" panose="02010609060101010101" pitchFamily="49" charset="-122"/>
              </a:rPr>
              <a:t>(PM copy-on-write)</a:t>
            </a:r>
          </a:p>
          <a:p>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实现镜像管理功能</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瘦分配</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快照</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基础镜像</a:t>
            </a:r>
            <a:endParaRPr lang="en-US" altLang="zh-CN"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69293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50825" y="663873"/>
            <a:ext cx="4850751" cy="461665"/>
          </a:xfrm>
          <a:prstGeom prst="rect">
            <a:avLst/>
          </a:prstGeom>
          <a:noFill/>
        </p:spPr>
        <p:txBody>
          <a:bodyPr wrap="none" rtlCol="0">
            <a:spAutoFit/>
          </a:bodyPr>
          <a:lstStyle/>
          <a:p>
            <a:r>
              <a:rPr kumimoji="1" lang="en-US" altLang="zh-CN" sz="2400" dirty="0"/>
              <a:t>Image</a:t>
            </a:r>
            <a:r>
              <a:rPr kumimoji="1" lang="zh-CN" altLang="en-US" sz="2400" dirty="0"/>
              <a:t> </a:t>
            </a:r>
            <a:r>
              <a:rPr kumimoji="1" lang="en-US" altLang="zh-CN" sz="2400" dirty="0"/>
              <a:t>Monitor</a:t>
            </a:r>
            <a:r>
              <a:rPr kumimoji="1" lang="zh-CN" altLang="en-US" sz="2400" dirty="0"/>
              <a:t> </a:t>
            </a:r>
            <a:r>
              <a:rPr kumimoji="1" lang="en-US" altLang="zh-CN" dirty="0"/>
              <a:t>|</a:t>
            </a:r>
            <a:r>
              <a:rPr kumimoji="1" lang="zh-CN" altLang="en-US" dirty="0"/>
              <a:t> </a:t>
            </a:r>
            <a:r>
              <a:rPr kumimoji="1" lang="en-US" altLang="zh-CN" sz="1400" dirty="0" err="1">
                <a:solidFill>
                  <a:schemeClr val="tx1">
                    <a:lumMod val="50000"/>
                    <a:lumOff val="50000"/>
                  </a:schemeClr>
                </a:solidFill>
              </a:rPr>
              <a:t>Pcow</a:t>
            </a:r>
            <a:r>
              <a:rPr kumimoji="1" lang="zh-CN" altLang="en-US" sz="1400" dirty="0">
                <a:solidFill>
                  <a:schemeClr val="tx1">
                    <a:lumMod val="50000"/>
                    <a:lumOff val="50000"/>
                  </a:schemeClr>
                </a:solidFill>
              </a:rPr>
              <a:t> </a:t>
            </a:r>
            <a:r>
              <a:rPr kumimoji="1" lang="en-US" altLang="zh-CN" sz="1400" dirty="0">
                <a:solidFill>
                  <a:schemeClr val="tx1">
                    <a:lumMod val="50000"/>
                    <a:lumOff val="50000"/>
                  </a:schemeClr>
                </a:solidFill>
              </a:rPr>
              <a:t>Format</a:t>
            </a:r>
            <a:r>
              <a:rPr kumimoji="1" lang="zh-CN" altLang="en-US" dirty="0">
                <a:solidFill>
                  <a:schemeClr val="tx1">
                    <a:lumMod val="50000"/>
                    <a:lumOff val="50000"/>
                  </a:schemeClr>
                </a:solidFill>
              </a:rPr>
              <a:t> </a:t>
            </a:r>
            <a:r>
              <a:rPr kumimoji="1" lang="en-US" altLang="zh-CN" sz="1400" dirty="0"/>
              <a:t>|</a:t>
            </a:r>
            <a:r>
              <a:rPr kumimoji="1" lang="zh-CN" altLang="en-US" sz="14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pic>
        <p:nvPicPr>
          <p:cNvPr id="2" name="图片 1">
            <a:extLst>
              <a:ext uri="{FF2B5EF4-FFF2-40B4-BE49-F238E27FC236}">
                <a16:creationId xmlns:a16="http://schemas.microsoft.com/office/drawing/2014/main" id="{A9A444ED-8CD2-4512-B547-9049CF057C3E}"/>
              </a:ext>
            </a:extLst>
          </p:cNvPr>
          <p:cNvPicPr>
            <a:picLocks noChangeAspect="1"/>
          </p:cNvPicPr>
          <p:nvPr/>
        </p:nvPicPr>
        <p:blipFill>
          <a:blip r:embed="rId3"/>
          <a:stretch>
            <a:fillRect/>
          </a:stretch>
        </p:blipFill>
        <p:spPr>
          <a:xfrm>
            <a:off x="4163361" y="1317471"/>
            <a:ext cx="4943475" cy="5048250"/>
          </a:xfrm>
          <a:prstGeom prst="rect">
            <a:avLst/>
          </a:prstGeom>
        </p:spPr>
      </p:pic>
      <p:sp>
        <p:nvSpPr>
          <p:cNvPr id="6" name="TextBox 29">
            <a:extLst>
              <a:ext uri="{FF2B5EF4-FFF2-40B4-BE49-F238E27FC236}">
                <a16:creationId xmlns:a16="http://schemas.microsoft.com/office/drawing/2014/main" id="{0A655282-53D0-41D5-A6DA-5910FCC0BFA2}"/>
              </a:ext>
            </a:extLst>
          </p:cNvPr>
          <p:cNvSpPr txBox="1"/>
          <p:nvPr/>
        </p:nvSpPr>
        <p:spPr>
          <a:xfrm>
            <a:off x="248170" y="1883831"/>
            <a:ext cx="8218822" cy="3539430"/>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镜像扩展模块</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瘦分配功能的实现基础</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利用用户态缺页处理</a:t>
            </a:r>
            <a:endParaRPr lang="en-US" altLang="zh-CN" sz="2000" dirty="0">
              <a:latin typeface="Times New Roman" panose="02020603050405020304" pitchFamily="18" charset="0"/>
              <a:ea typeface="楷体" panose="02010609060101010101" pitchFamily="49" charset="-122"/>
            </a:endParaRPr>
          </a:p>
          <a:p>
            <a:pPr lvl="1"/>
            <a:r>
              <a:rPr lang="en-US" altLang="zh-CN" sz="2000" dirty="0">
                <a:latin typeface="Times New Roman" panose="02020603050405020304" pitchFamily="18" charset="0"/>
                <a:ea typeface="楷体" panose="02010609060101010101" pitchFamily="49" charset="-122"/>
              </a:rPr>
              <a:t>(</a:t>
            </a:r>
            <a:r>
              <a:rPr lang="en-US" altLang="zh-CN" sz="2000" dirty="0" err="1">
                <a:latin typeface="Times New Roman" panose="02020603050405020304" pitchFamily="18" charset="0"/>
                <a:ea typeface="楷体" panose="02010609060101010101" pitchFamily="49" charset="-122"/>
              </a:rPr>
              <a:t>userfaultfd</a:t>
            </a:r>
            <a:r>
              <a:rPr lang="en-US" altLang="zh-CN" sz="2000" dirty="0">
                <a:latin typeface="Times New Roman" panose="02020603050405020304" pitchFamily="18" charset="0"/>
                <a:ea typeface="楷体" panose="02010609060101010101" pitchFamily="49" charset="-122"/>
              </a:rPr>
              <a:t>)</a:t>
            </a:r>
          </a:p>
          <a:p>
            <a:pPr marL="800100" lvl="1" indent="-342900">
              <a:buFont typeface="Arial" panose="020B0604020202020204" pitchFamily="34" charset="0"/>
              <a:buChar char="•"/>
            </a:pPr>
            <a:endParaRPr lang="en-US" altLang="zh-CN" sz="2000" dirty="0">
              <a:latin typeface="Times New Roman" panose="02020603050405020304" pitchFamily="18" charset="0"/>
              <a:ea typeface="楷体" panose="02010609060101010101" pitchFamily="49"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写时复制模块</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快照、基础镜像功能</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的实现基础</a:t>
            </a:r>
            <a:endParaRPr lang="en-US" altLang="zh-CN" sz="2000" dirty="0">
              <a:latin typeface="Times New Roman" panose="02020603050405020304" pitchFamily="18" charset="0"/>
              <a:ea typeface="楷体" panose="02010609060101010101" pitchFamily="49" charset="-122"/>
            </a:endParaRPr>
          </a:p>
          <a:p>
            <a:pPr marL="800100" lvl="1" indent="-342900">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利用</a:t>
            </a:r>
            <a:r>
              <a:rPr lang="en-US" altLang="zh-CN" sz="2000" dirty="0">
                <a:latin typeface="Times New Roman" panose="02020603050405020304" pitchFamily="18" charset="0"/>
                <a:ea typeface="楷体" panose="02010609060101010101" pitchFamily="49" charset="-122"/>
              </a:rPr>
              <a:t>SIGSEGV</a:t>
            </a:r>
            <a:r>
              <a:rPr lang="zh-CN" altLang="en-US" sz="2000" dirty="0">
                <a:latin typeface="Times New Roman" panose="02020603050405020304" pitchFamily="18" charset="0"/>
                <a:ea typeface="楷体" panose="02010609060101010101" pitchFamily="49" charset="-122"/>
              </a:rPr>
              <a:t>信号处理</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机制，处理内存写保护区域</a:t>
            </a:r>
            <a:endParaRPr lang="en-US" altLang="zh-CN" sz="2000" dirty="0">
              <a:latin typeface="Times New Roman" panose="02020603050405020304" pitchFamily="18" charset="0"/>
              <a:ea typeface="楷体" panose="02010609060101010101" pitchFamily="49" charset="-122"/>
            </a:endParaRPr>
          </a:p>
          <a:p>
            <a:pPr lvl="1"/>
            <a:r>
              <a:rPr lang="zh-CN" altLang="en-US" sz="2000" dirty="0">
                <a:latin typeface="Times New Roman" panose="02020603050405020304" pitchFamily="18" charset="0"/>
                <a:ea typeface="楷体" panose="02010609060101010101" pitchFamily="49" charset="-122"/>
              </a:rPr>
              <a:t>的写请求</a:t>
            </a:r>
            <a:endParaRPr lang="en-US" altLang="zh-CN"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772182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20305" y="1475115"/>
            <a:ext cx="3999984" cy="677108"/>
          </a:xfrm>
          <a:prstGeom prst="rect">
            <a:avLst/>
          </a:prstGeom>
          <a:noFill/>
        </p:spPr>
        <p:txBody>
          <a:bodyPr wrap="square" rtlCol="0">
            <a:spAutoFit/>
          </a:bodyPr>
          <a:lstStyle/>
          <a:p>
            <a:r>
              <a:rPr kumimoji="1" lang="zh-CN" altLang="en-US" sz="2000" dirty="0">
                <a:solidFill>
                  <a:srgbClr val="FF6384"/>
                </a:solidFill>
                <a:latin typeface="楷体" panose="02010609060101010101" pitchFamily="49" charset="-122"/>
                <a:ea typeface="楷体" panose="02010609060101010101" pitchFamily="49" charset="-122"/>
              </a:rPr>
              <a:t>镜像扩展模块</a:t>
            </a:r>
            <a:endParaRPr kumimoji="1" lang="en-US" altLang="zh-CN" sz="2000" dirty="0">
              <a:solidFill>
                <a:srgbClr val="FF6384"/>
              </a:solidFill>
              <a:latin typeface="楷体" panose="02010609060101010101" pitchFamily="49" charset="-122"/>
              <a:ea typeface="楷体" panose="02010609060101010101" pitchFamily="49" charset="-122"/>
            </a:endParaRPr>
          </a:p>
          <a:p>
            <a:r>
              <a:rPr kumimoji="1" lang="en-US" altLang="zh-CN" b="1" dirty="0">
                <a:solidFill>
                  <a:srgbClr val="FF6384"/>
                </a:solidFill>
              </a:rPr>
              <a:t>Expansion</a:t>
            </a:r>
            <a:r>
              <a:rPr kumimoji="1" lang="zh-CN" altLang="en-US" b="1" dirty="0">
                <a:solidFill>
                  <a:srgbClr val="FF6384"/>
                </a:solidFill>
              </a:rPr>
              <a:t> </a:t>
            </a:r>
            <a:r>
              <a:rPr kumimoji="1" lang="en-US" altLang="zh-CN" b="1" dirty="0">
                <a:solidFill>
                  <a:srgbClr val="FF6384"/>
                </a:solidFill>
              </a:rPr>
              <a:t>handler</a:t>
            </a:r>
          </a:p>
        </p:txBody>
      </p:sp>
      <p:pic>
        <p:nvPicPr>
          <p:cNvPr id="5" name="图片 4"/>
          <p:cNvPicPr>
            <a:picLocks noChangeAspect="1"/>
          </p:cNvPicPr>
          <p:nvPr/>
        </p:nvPicPr>
        <p:blipFill>
          <a:blip r:embed="rId3"/>
          <a:stretch>
            <a:fillRect/>
          </a:stretch>
        </p:blipFill>
        <p:spPr>
          <a:xfrm>
            <a:off x="3965342" y="1632217"/>
            <a:ext cx="4930685" cy="4760833"/>
          </a:xfrm>
          <a:prstGeom prst="rect">
            <a:avLst/>
          </a:prstGeom>
        </p:spPr>
      </p:pic>
      <p:pic>
        <p:nvPicPr>
          <p:cNvPr id="4" name="图片 3"/>
          <p:cNvPicPr>
            <a:picLocks noChangeAspect="1"/>
          </p:cNvPicPr>
          <p:nvPr/>
        </p:nvPicPr>
        <p:blipFill>
          <a:blip r:embed="rId4"/>
          <a:stretch>
            <a:fillRect/>
          </a:stretch>
        </p:blipFill>
        <p:spPr>
          <a:xfrm>
            <a:off x="1104567" y="2767058"/>
            <a:ext cx="2838367" cy="99786"/>
          </a:xfrm>
          <a:prstGeom prst="rect">
            <a:avLst/>
          </a:prstGeom>
        </p:spPr>
      </p:pic>
      <p:sp>
        <p:nvSpPr>
          <p:cNvPr id="6" name="矩形 5"/>
          <p:cNvSpPr/>
          <p:nvPr/>
        </p:nvSpPr>
        <p:spPr>
          <a:xfrm>
            <a:off x="1185847" y="2711728"/>
            <a:ext cx="354965" cy="1057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11" name="矩形 10"/>
          <p:cNvSpPr/>
          <p:nvPr/>
        </p:nvSpPr>
        <p:spPr>
          <a:xfrm>
            <a:off x="1945938" y="2709237"/>
            <a:ext cx="354965" cy="105770"/>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12" name="矩形 11"/>
          <p:cNvSpPr/>
          <p:nvPr/>
        </p:nvSpPr>
        <p:spPr>
          <a:xfrm>
            <a:off x="2300903" y="2709237"/>
            <a:ext cx="354965" cy="105770"/>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8" name="文本框 7"/>
          <p:cNvSpPr txBox="1"/>
          <p:nvPr/>
        </p:nvSpPr>
        <p:spPr>
          <a:xfrm>
            <a:off x="-3096" y="2577977"/>
            <a:ext cx="1180131" cy="369332"/>
          </a:xfrm>
          <a:prstGeom prst="rect">
            <a:avLst/>
          </a:prstGeom>
          <a:noFill/>
        </p:spPr>
        <p:txBody>
          <a:bodyPr wrap="none" rtlCol="0">
            <a:spAutoFit/>
          </a:bodyPr>
          <a:lstStyle/>
          <a:p>
            <a:r>
              <a:rPr kumimoji="1" lang="en-US" altLang="zh-CN"/>
              <a:t>Virtual</a:t>
            </a:r>
            <a:r>
              <a:rPr kumimoji="1" lang="zh-CN" altLang="en-US" dirty="0"/>
              <a:t> </a:t>
            </a:r>
            <a:r>
              <a:rPr kumimoji="1" lang="en-US" altLang="zh-CN" dirty="0"/>
              <a:t>PM</a:t>
            </a:r>
            <a:endParaRPr kumimoji="1" lang="zh-CN" altLang="en-US" dirty="0"/>
          </a:p>
        </p:txBody>
      </p:sp>
      <p:sp>
        <p:nvSpPr>
          <p:cNvPr id="13" name="文本框 12"/>
          <p:cNvSpPr txBox="1"/>
          <p:nvPr/>
        </p:nvSpPr>
        <p:spPr>
          <a:xfrm>
            <a:off x="0" y="3079927"/>
            <a:ext cx="1139799" cy="369332"/>
          </a:xfrm>
          <a:prstGeom prst="rect">
            <a:avLst/>
          </a:prstGeom>
          <a:noFill/>
        </p:spPr>
        <p:txBody>
          <a:bodyPr wrap="none" rtlCol="0">
            <a:spAutoFit/>
          </a:bodyPr>
          <a:lstStyle/>
          <a:p>
            <a:r>
              <a:rPr kumimoji="1" lang="en-US" altLang="zh-CN" dirty="0"/>
              <a:t>Image</a:t>
            </a:r>
            <a:r>
              <a:rPr kumimoji="1" lang="zh-CN" altLang="en-US" dirty="0"/>
              <a:t> </a:t>
            </a:r>
            <a:r>
              <a:rPr kumimoji="1" lang="en-US" altLang="zh-CN" dirty="0"/>
              <a:t>File</a:t>
            </a:r>
            <a:endParaRPr kumimoji="1" lang="zh-CN" altLang="en-US" dirty="0"/>
          </a:p>
        </p:txBody>
      </p:sp>
      <p:cxnSp>
        <p:nvCxnSpPr>
          <p:cNvPr id="15" name="直线连接符 14"/>
          <p:cNvCxnSpPr/>
          <p:nvPr/>
        </p:nvCxnSpPr>
        <p:spPr>
          <a:xfrm>
            <a:off x="1185847" y="2817498"/>
            <a:ext cx="35496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a:off x="1945939" y="2815007"/>
            <a:ext cx="35496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直线连接符 27"/>
          <p:cNvCxnSpPr/>
          <p:nvPr/>
        </p:nvCxnSpPr>
        <p:spPr>
          <a:xfrm>
            <a:off x="2300902" y="2815007"/>
            <a:ext cx="35496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直线连接符 28"/>
          <p:cNvCxnSpPr/>
          <p:nvPr/>
        </p:nvCxnSpPr>
        <p:spPr>
          <a:xfrm flipV="1">
            <a:off x="1540812" y="2815007"/>
            <a:ext cx="405126" cy="150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2655867" y="2815007"/>
            <a:ext cx="35496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线连接符 31"/>
          <p:cNvCxnSpPr/>
          <p:nvPr/>
        </p:nvCxnSpPr>
        <p:spPr>
          <a:xfrm>
            <a:off x="3010832" y="2815007"/>
            <a:ext cx="35496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p:nvCxnSpPr>
        <p:spPr>
          <a:xfrm>
            <a:off x="3365797" y="2815007"/>
            <a:ext cx="49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曲线连接符 35"/>
          <p:cNvCxnSpPr/>
          <p:nvPr/>
        </p:nvCxnSpPr>
        <p:spPr>
          <a:xfrm rot="5400000">
            <a:off x="2021786" y="2194072"/>
            <a:ext cx="595041" cy="31815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曲线连接符 51"/>
          <p:cNvCxnSpPr/>
          <p:nvPr/>
        </p:nvCxnSpPr>
        <p:spPr>
          <a:xfrm rot="16200000" flipH="1">
            <a:off x="2743580" y="2221685"/>
            <a:ext cx="575988" cy="251429"/>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1185847" y="3079927"/>
            <a:ext cx="300840" cy="300840"/>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50000"/>
                  <a:lumOff val="50000"/>
                </a:schemeClr>
              </a:solidFill>
            </a:endParaRPr>
          </a:p>
        </p:txBody>
      </p:sp>
      <p:sp>
        <p:nvSpPr>
          <p:cNvPr id="66" name="矩形 65"/>
          <p:cNvSpPr/>
          <p:nvPr/>
        </p:nvSpPr>
        <p:spPr>
          <a:xfrm>
            <a:off x="1785906" y="3079927"/>
            <a:ext cx="300840" cy="30084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p:cNvSpPr/>
          <p:nvPr/>
        </p:nvSpPr>
        <p:spPr>
          <a:xfrm>
            <a:off x="1486687" y="3080342"/>
            <a:ext cx="300840" cy="30084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2085125" y="3079927"/>
            <a:ext cx="300840" cy="3008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1" name="文本框 70"/>
          <p:cNvSpPr txBox="1"/>
          <p:nvPr/>
        </p:nvSpPr>
        <p:spPr>
          <a:xfrm>
            <a:off x="3182801" y="2166657"/>
            <a:ext cx="338554" cy="276999"/>
          </a:xfrm>
          <a:prstGeom prst="rect">
            <a:avLst/>
          </a:prstGeom>
          <a:noFill/>
        </p:spPr>
        <p:txBody>
          <a:bodyPr wrap="none" rtlCol="0">
            <a:spAutoFit/>
          </a:bodyPr>
          <a:lstStyle/>
          <a:p>
            <a:r>
              <a:rPr kumimoji="1" lang="zh-CN" altLang="en-US" sz="1200" dirty="0"/>
              <a:t>①</a:t>
            </a:r>
          </a:p>
        </p:txBody>
      </p:sp>
      <p:sp>
        <p:nvSpPr>
          <p:cNvPr id="72" name="文本框 71"/>
          <p:cNvSpPr txBox="1"/>
          <p:nvPr/>
        </p:nvSpPr>
        <p:spPr>
          <a:xfrm>
            <a:off x="6928964" y="3704856"/>
            <a:ext cx="364202" cy="307777"/>
          </a:xfrm>
          <a:prstGeom prst="rect">
            <a:avLst/>
          </a:prstGeom>
          <a:noFill/>
        </p:spPr>
        <p:txBody>
          <a:bodyPr wrap="none" rtlCol="0">
            <a:spAutoFit/>
          </a:bodyPr>
          <a:lstStyle/>
          <a:p>
            <a:r>
              <a:rPr kumimoji="1" lang="zh-CN" altLang="en-US" sz="1400" b="1" dirty="0"/>
              <a:t>①</a:t>
            </a:r>
          </a:p>
        </p:txBody>
      </p:sp>
      <p:cxnSp>
        <p:nvCxnSpPr>
          <p:cNvPr id="75" name="直线连接符 74"/>
          <p:cNvCxnSpPr/>
          <p:nvPr/>
        </p:nvCxnSpPr>
        <p:spPr>
          <a:xfrm flipH="1">
            <a:off x="1138320" y="2814691"/>
            <a:ext cx="805554" cy="26523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7" name="直线连接符 76"/>
          <p:cNvCxnSpPr/>
          <p:nvPr/>
        </p:nvCxnSpPr>
        <p:spPr>
          <a:xfrm flipH="1">
            <a:off x="1803529" y="2820640"/>
            <a:ext cx="805554" cy="26523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直线连接符 77"/>
          <p:cNvCxnSpPr>
            <a:stCxn id="4" idx="1"/>
          </p:cNvCxnSpPr>
          <p:nvPr/>
        </p:nvCxnSpPr>
        <p:spPr>
          <a:xfrm>
            <a:off x="1104567" y="2816951"/>
            <a:ext cx="667400" cy="26256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直线连接符 81"/>
          <p:cNvCxnSpPr/>
          <p:nvPr/>
        </p:nvCxnSpPr>
        <p:spPr>
          <a:xfrm>
            <a:off x="1485208" y="2831172"/>
            <a:ext cx="667400" cy="26256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5" name="直线连接符 84"/>
          <p:cNvCxnSpPr/>
          <p:nvPr/>
        </p:nvCxnSpPr>
        <p:spPr>
          <a:xfrm flipH="1">
            <a:off x="2100686" y="2820323"/>
            <a:ext cx="909416" cy="259189"/>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87" name="直线连接符 86"/>
          <p:cNvCxnSpPr/>
          <p:nvPr/>
        </p:nvCxnSpPr>
        <p:spPr>
          <a:xfrm flipH="1">
            <a:off x="2378641" y="2820322"/>
            <a:ext cx="932794" cy="268711"/>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grpSp>
        <p:nvGrpSpPr>
          <p:cNvPr id="91" name="组 90"/>
          <p:cNvGrpSpPr/>
          <p:nvPr/>
        </p:nvGrpSpPr>
        <p:grpSpPr>
          <a:xfrm>
            <a:off x="2956470" y="2709237"/>
            <a:ext cx="362542" cy="105454"/>
            <a:chOff x="2898383" y="2797859"/>
            <a:chExt cx="362542" cy="105454"/>
          </a:xfrm>
          <a:noFill/>
        </p:grpSpPr>
        <p:sp>
          <p:nvSpPr>
            <p:cNvPr id="83" name="矩形 82"/>
            <p:cNvSpPr/>
            <p:nvPr/>
          </p:nvSpPr>
          <p:spPr>
            <a:xfrm>
              <a:off x="2905959" y="2797859"/>
              <a:ext cx="354966" cy="10545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0" name="直线连接符 89"/>
            <p:cNvCxnSpPr/>
            <p:nvPr/>
          </p:nvCxnSpPr>
          <p:spPr>
            <a:xfrm>
              <a:off x="2898383" y="2901867"/>
              <a:ext cx="354965" cy="0"/>
            </a:xfrm>
            <a:prstGeom prst="line">
              <a:avLst/>
            </a:prstGeom>
            <a:grpFill/>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4" name="文本框 103"/>
          <p:cNvSpPr txBox="1"/>
          <p:nvPr/>
        </p:nvSpPr>
        <p:spPr>
          <a:xfrm>
            <a:off x="2351263" y="3272980"/>
            <a:ext cx="338554" cy="276999"/>
          </a:xfrm>
          <a:prstGeom prst="rect">
            <a:avLst/>
          </a:prstGeom>
          <a:noFill/>
        </p:spPr>
        <p:txBody>
          <a:bodyPr wrap="none" rtlCol="0">
            <a:spAutoFit/>
          </a:bodyPr>
          <a:lstStyle/>
          <a:p>
            <a:r>
              <a:rPr kumimoji="1" lang="zh-CN" altLang="en-US" sz="1200"/>
              <a:t>②</a:t>
            </a:r>
            <a:endParaRPr kumimoji="1" lang="zh-CN" altLang="en-US" sz="1200" dirty="0"/>
          </a:p>
        </p:txBody>
      </p:sp>
      <p:sp>
        <p:nvSpPr>
          <p:cNvPr id="105" name="文本框 104"/>
          <p:cNvSpPr txBox="1"/>
          <p:nvPr/>
        </p:nvSpPr>
        <p:spPr>
          <a:xfrm>
            <a:off x="4521493" y="3638601"/>
            <a:ext cx="583814" cy="307777"/>
          </a:xfrm>
          <a:prstGeom prst="rect">
            <a:avLst/>
          </a:prstGeom>
          <a:noFill/>
        </p:spPr>
        <p:txBody>
          <a:bodyPr wrap="none" rtlCol="0">
            <a:spAutoFit/>
          </a:bodyPr>
          <a:lstStyle/>
          <a:p>
            <a:r>
              <a:rPr kumimoji="1" lang="zh-CN" altLang="en-US" sz="1400" b="1" dirty="0"/>
              <a:t>② ③</a:t>
            </a:r>
          </a:p>
        </p:txBody>
      </p:sp>
      <p:sp>
        <p:nvSpPr>
          <p:cNvPr id="107" name="文本框 106"/>
          <p:cNvSpPr txBox="1"/>
          <p:nvPr/>
        </p:nvSpPr>
        <p:spPr>
          <a:xfrm>
            <a:off x="2839990" y="2922174"/>
            <a:ext cx="338554" cy="276999"/>
          </a:xfrm>
          <a:prstGeom prst="rect">
            <a:avLst/>
          </a:prstGeom>
          <a:noFill/>
        </p:spPr>
        <p:txBody>
          <a:bodyPr wrap="none" rtlCol="0">
            <a:spAutoFit/>
          </a:bodyPr>
          <a:lstStyle/>
          <a:p>
            <a:r>
              <a:rPr kumimoji="1" lang="zh-CN" altLang="en-US" sz="1200" dirty="0"/>
              <a:t>③</a:t>
            </a:r>
          </a:p>
        </p:txBody>
      </p:sp>
      <p:sp>
        <p:nvSpPr>
          <p:cNvPr id="111" name="文本框 110"/>
          <p:cNvSpPr txBox="1"/>
          <p:nvPr/>
        </p:nvSpPr>
        <p:spPr>
          <a:xfrm>
            <a:off x="250825" y="663873"/>
            <a:ext cx="4850751" cy="461665"/>
          </a:xfrm>
          <a:prstGeom prst="rect">
            <a:avLst/>
          </a:prstGeom>
          <a:noFill/>
        </p:spPr>
        <p:txBody>
          <a:bodyPr wrap="none" rtlCol="0">
            <a:spAutoFit/>
          </a:bodyPr>
          <a:lstStyle/>
          <a:p>
            <a:r>
              <a:rPr kumimoji="1" lang="en-US" altLang="zh-CN" sz="2400" dirty="0"/>
              <a:t>Image</a:t>
            </a:r>
            <a:r>
              <a:rPr kumimoji="1" lang="zh-CN" altLang="en-US" sz="2400" dirty="0"/>
              <a:t> </a:t>
            </a:r>
            <a:r>
              <a:rPr kumimoji="1" lang="en-US" altLang="zh-CN" sz="2400" dirty="0"/>
              <a:t>Monitor</a:t>
            </a:r>
            <a:r>
              <a:rPr kumimoji="1" lang="zh-CN" altLang="en-US" sz="2400" dirty="0"/>
              <a:t> </a:t>
            </a:r>
            <a:r>
              <a:rPr kumimoji="1" lang="en-US" altLang="zh-CN" dirty="0"/>
              <a:t>|</a:t>
            </a:r>
            <a:r>
              <a:rPr kumimoji="1" lang="zh-CN" altLang="en-US" dirty="0"/>
              <a:t> </a:t>
            </a:r>
            <a:r>
              <a:rPr kumimoji="1" lang="en-US" altLang="zh-CN" sz="1400" dirty="0" err="1">
                <a:solidFill>
                  <a:schemeClr val="tx1">
                    <a:lumMod val="50000"/>
                    <a:lumOff val="50000"/>
                  </a:schemeClr>
                </a:solidFill>
              </a:rPr>
              <a:t>Pcow</a:t>
            </a:r>
            <a:r>
              <a:rPr kumimoji="1" lang="zh-CN" altLang="en-US" sz="1400" dirty="0">
                <a:solidFill>
                  <a:schemeClr val="tx1">
                    <a:lumMod val="50000"/>
                    <a:lumOff val="50000"/>
                  </a:schemeClr>
                </a:solidFill>
              </a:rPr>
              <a:t> </a:t>
            </a:r>
            <a:r>
              <a:rPr kumimoji="1" lang="en-US" altLang="zh-CN" sz="1400" dirty="0">
                <a:solidFill>
                  <a:schemeClr val="tx1">
                    <a:lumMod val="50000"/>
                    <a:lumOff val="50000"/>
                  </a:schemeClr>
                </a:solidFill>
              </a:rPr>
              <a:t>Format</a:t>
            </a:r>
            <a:r>
              <a:rPr kumimoji="1" lang="zh-CN" altLang="en-US" dirty="0">
                <a:solidFill>
                  <a:schemeClr val="tx1">
                    <a:lumMod val="50000"/>
                    <a:lumOff val="50000"/>
                  </a:schemeClr>
                </a:solidFill>
              </a:rPr>
              <a:t> </a:t>
            </a:r>
            <a:r>
              <a:rPr kumimoji="1" lang="en-US" altLang="zh-CN" sz="1400" dirty="0"/>
              <a:t>|</a:t>
            </a:r>
            <a:r>
              <a:rPr kumimoji="1" lang="zh-CN" altLang="en-US" sz="14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sp>
        <p:nvSpPr>
          <p:cNvPr id="42" name="TextBox 29">
            <a:extLst>
              <a:ext uri="{FF2B5EF4-FFF2-40B4-BE49-F238E27FC236}">
                <a16:creationId xmlns:a16="http://schemas.microsoft.com/office/drawing/2014/main" id="{AD3F120F-42E3-45F2-B10F-AD5CC51E4B14}"/>
              </a:ext>
            </a:extLst>
          </p:cNvPr>
          <p:cNvSpPr txBox="1"/>
          <p:nvPr/>
        </p:nvSpPr>
        <p:spPr>
          <a:xfrm>
            <a:off x="247973" y="3768968"/>
            <a:ext cx="8218822" cy="2510303"/>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r>
              <a:rPr lang="zh-CN" altLang="en-US" sz="1600" dirty="0">
                <a:latin typeface="Times New Roman" panose="02020603050405020304" pitchFamily="18" charset="0"/>
                <a:ea typeface="楷体" panose="02010609060101010101" pitchFamily="49" charset="-122"/>
              </a:rPr>
              <a:t>①应用访问没有后端镜像映射的地址</a:t>
            </a:r>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触发缺页中断，进入</a:t>
            </a:r>
            <a:r>
              <a:rPr lang="zh-CN" altLang="en-US" sz="1600" dirty="0">
                <a:solidFill>
                  <a:srgbClr val="C00000"/>
                </a:solidFill>
                <a:latin typeface="Times New Roman" panose="02020603050405020304" pitchFamily="18" charset="0"/>
                <a:ea typeface="楷体" panose="02010609060101010101" pitchFamily="49" charset="-122"/>
              </a:rPr>
              <a:t>镜像扩展</a:t>
            </a:r>
            <a:r>
              <a:rPr lang="zh-CN" altLang="en-US" sz="1600" dirty="0">
                <a:latin typeface="Times New Roman" panose="02020603050405020304" pitchFamily="18" charset="0"/>
                <a:ea typeface="楷体" panose="02010609060101010101" pitchFamily="49" charset="-122"/>
              </a:rPr>
              <a:t>模块处理</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②</a:t>
            </a:r>
            <a:r>
              <a:rPr lang="zh-CN" altLang="en-US" sz="1600" dirty="0">
                <a:solidFill>
                  <a:srgbClr val="C00000"/>
                </a:solidFill>
                <a:latin typeface="Times New Roman" panose="02020603050405020304" pitchFamily="18" charset="0"/>
                <a:ea typeface="楷体" panose="02010609060101010101" pitchFamily="49" charset="-122"/>
              </a:rPr>
              <a:t>镜像格式驱动</a:t>
            </a:r>
            <a:r>
              <a:rPr lang="zh-CN" altLang="en-US" sz="1600" dirty="0">
                <a:latin typeface="Times New Roman" panose="02020603050405020304" pitchFamily="18" charset="0"/>
                <a:ea typeface="楷体" panose="02010609060101010101" pitchFamily="49" charset="-122"/>
              </a:rPr>
              <a:t>在镜像文件末尾分配</a:t>
            </a:r>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新数据块</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a:p>
            <a:r>
              <a:rPr lang="en-US" altLang="zh-CN" sz="1600" dirty="0">
                <a:latin typeface="Times New Roman" panose="02020603050405020304" pitchFamily="18" charset="0"/>
                <a:ea typeface="楷体" panose="02010609060101010101" pitchFamily="49" charset="-122"/>
              </a:rPr>
              <a:t>③</a:t>
            </a:r>
            <a:r>
              <a:rPr lang="zh-CN" altLang="en-US" sz="1600" dirty="0">
                <a:latin typeface="Times New Roman" panose="02020603050405020304" pitchFamily="18" charset="0"/>
                <a:ea typeface="楷体" panose="02010609060101010101" pitchFamily="49" charset="-122"/>
              </a:rPr>
              <a:t>将新分配的数据块映射到触发缺页</a:t>
            </a:r>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中断的地址</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51728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up)">
                                      <p:cBhvr>
                                        <p:cTn id="7" dur="500"/>
                                        <p:tgtEl>
                                          <p:spTgt spid="5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wipe(up)">
                                      <p:cBhvr>
                                        <p:cTn id="10" dur="500"/>
                                        <p:tgtEl>
                                          <p:spTgt spid="71"/>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2"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26" presetClass="emph" presetSubtype="0" fill="hold" grpId="3" nodeType="withEffect">
                                  <p:stCondLst>
                                    <p:cond delay="0"/>
                                  </p:stCondLst>
                                  <p:childTnLst>
                                    <p:animEffect transition="out" filter="fade">
                                      <p:cBhvr>
                                        <p:cTn id="16" dur="500" tmFilter="0, 0; .2, .5; .8, .5; 1, 0"/>
                                        <p:tgtEl>
                                          <p:spTgt spid="70"/>
                                        </p:tgtEl>
                                      </p:cBhvr>
                                    </p:animEffect>
                                    <p:animScale>
                                      <p:cBhvr>
                                        <p:cTn id="17" dur="250" autoRev="1" fill="hold"/>
                                        <p:tgtEl>
                                          <p:spTgt spid="70"/>
                                        </p:tgtEl>
                                      </p:cBhvr>
                                      <p:by x="105000" y="105000"/>
                                    </p:animScale>
                                  </p:childTnLst>
                                </p:cTn>
                              </p:par>
                              <p:par>
                                <p:cTn id="18" presetID="1" presetClass="entr" presetSubtype="0" fill="hold" grpId="0" nodeType="withEffect">
                                  <p:stCondLst>
                                    <p:cond delay="0"/>
                                  </p:stCondLst>
                                  <p:childTnLst>
                                    <p:set>
                                      <p:cBhvr>
                                        <p:cTn id="19" dur="1" fill="hold">
                                          <p:stCondLst>
                                            <p:cond delay="0"/>
                                          </p:stCondLst>
                                        </p:cTn>
                                        <p:tgtEl>
                                          <p:spTgt spid="10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down)">
                                      <p:cBhvr>
                                        <p:cTn id="24" dur="500"/>
                                        <p:tgtEl>
                                          <p:spTgt spid="87"/>
                                        </p:tgtEl>
                                      </p:cBhvr>
                                    </p:animEffect>
                                  </p:childTnLst>
                                </p:cTn>
                              </p:par>
                              <p:par>
                                <p:cTn id="25" presetID="22" presetClass="entr" presetSubtype="4" fill="hold" nodeType="with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wipe(down)">
                                      <p:cBhvr>
                                        <p:cTn id="27" dur="500"/>
                                        <p:tgtEl>
                                          <p:spTgt spid="85"/>
                                        </p:tgtEl>
                                      </p:cBhvr>
                                    </p:animEffect>
                                  </p:childTnLst>
                                </p:cTn>
                              </p:par>
                              <p:par>
                                <p:cTn id="28" presetID="1" presetClass="entr" presetSubtype="0" fill="hold" nodeType="withEffect">
                                  <p:stCondLst>
                                    <p:cond delay="0"/>
                                  </p:stCondLst>
                                  <p:childTnLst>
                                    <p:set>
                                      <p:cBhvr>
                                        <p:cTn id="29" dur="1" fill="hold">
                                          <p:stCondLst>
                                            <p:cond delay="0"/>
                                          </p:stCondLst>
                                        </p:cTn>
                                        <p:tgtEl>
                                          <p:spTgt spid="91"/>
                                        </p:tgtEl>
                                        <p:attrNameLst>
                                          <p:attrName>style.visibility</p:attrName>
                                        </p:attrNameLst>
                                      </p:cBhvr>
                                      <p:to>
                                        <p:strVal val="visible"/>
                                      </p:to>
                                    </p:set>
                                  </p:childTnLst>
                                </p:cTn>
                              </p:par>
                              <p:par>
                                <p:cTn id="30" presetID="26" presetClass="emph" presetSubtype="0" fill="hold" nodeType="withEffect">
                                  <p:stCondLst>
                                    <p:cond delay="0"/>
                                  </p:stCondLst>
                                  <p:childTnLst>
                                    <p:animEffect transition="out" filter="fade">
                                      <p:cBhvr>
                                        <p:cTn id="31" dur="500" tmFilter="0, 0; .2, .5; .8, .5; 1, 0"/>
                                        <p:tgtEl>
                                          <p:spTgt spid="91"/>
                                        </p:tgtEl>
                                      </p:cBhvr>
                                    </p:animEffect>
                                    <p:animScale>
                                      <p:cBhvr>
                                        <p:cTn id="32" dur="250" autoRev="1" fill="hold"/>
                                        <p:tgtEl>
                                          <p:spTgt spid="91"/>
                                        </p:tgtEl>
                                      </p:cBhvr>
                                      <p:by x="105000" y="105000"/>
                                    </p:animScale>
                                  </p:childTnLst>
                                </p:cTn>
                              </p:par>
                              <p:par>
                                <p:cTn id="33" presetID="1" presetClass="entr" presetSubtype="0" fill="hold" grpId="0"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2" animBg="1"/>
      <p:bldP spid="70" grpId="3" animBg="1"/>
      <p:bldP spid="71" grpId="0"/>
      <p:bldP spid="104" grpId="0"/>
      <p:bldP spid="10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25768" y="1230638"/>
            <a:ext cx="2357957" cy="677108"/>
          </a:xfrm>
          <a:prstGeom prst="rect">
            <a:avLst/>
          </a:prstGeom>
          <a:noFill/>
        </p:spPr>
        <p:txBody>
          <a:bodyPr wrap="square" rtlCol="0">
            <a:spAutoFit/>
          </a:bodyPr>
          <a:lstStyle/>
          <a:p>
            <a:r>
              <a:rPr kumimoji="1" lang="zh-CN" altLang="en-US" sz="2000" dirty="0">
                <a:solidFill>
                  <a:srgbClr val="349EF4"/>
                </a:solidFill>
                <a:latin typeface="楷体" panose="02010609060101010101" pitchFamily="49" charset="-122"/>
                <a:ea typeface="楷体" panose="02010609060101010101" pitchFamily="49" charset="-122"/>
              </a:rPr>
              <a:t>写时复制模块</a:t>
            </a:r>
            <a:endParaRPr kumimoji="1" lang="en-US" altLang="zh-CN" sz="2000" dirty="0">
              <a:solidFill>
                <a:srgbClr val="349EF4"/>
              </a:solidFill>
              <a:latin typeface="楷体" panose="02010609060101010101" pitchFamily="49" charset="-122"/>
              <a:ea typeface="楷体" panose="02010609060101010101" pitchFamily="49" charset="-122"/>
            </a:endParaRPr>
          </a:p>
          <a:p>
            <a:r>
              <a:rPr kumimoji="1" lang="en-US" altLang="zh-CN" b="1" dirty="0">
                <a:solidFill>
                  <a:srgbClr val="349EF4"/>
                </a:solidFill>
              </a:rPr>
              <a:t>Copy-on-write</a:t>
            </a:r>
            <a:r>
              <a:rPr kumimoji="1" lang="zh-CN" altLang="en-US" b="1" dirty="0">
                <a:solidFill>
                  <a:srgbClr val="349EF4"/>
                </a:solidFill>
              </a:rPr>
              <a:t> </a:t>
            </a:r>
            <a:r>
              <a:rPr kumimoji="1" lang="en-US" altLang="zh-CN" b="1" dirty="0">
                <a:solidFill>
                  <a:srgbClr val="349EF4"/>
                </a:solidFill>
              </a:rPr>
              <a:t>handler</a:t>
            </a:r>
          </a:p>
        </p:txBody>
      </p:sp>
      <p:pic>
        <p:nvPicPr>
          <p:cNvPr id="4" name="图片 3"/>
          <p:cNvPicPr>
            <a:picLocks noChangeAspect="1"/>
          </p:cNvPicPr>
          <p:nvPr/>
        </p:nvPicPr>
        <p:blipFill>
          <a:blip r:embed="rId3"/>
          <a:stretch>
            <a:fillRect/>
          </a:stretch>
        </p:blipFill>
        <p:spPr>
          <a:xfrm>
            <a:off x="3976417" y="1628080"/>
            <a:ext cx="4919704" cy="4750230"/>
          </a:xfrm>
          <a:prstGeom prst="rect">
            <a:avLst/>
          </a:prstGeom>
        </p:spPr>
      </p:pic>
      <p:pic>
        <p:nvPicPr>
          <p:cNvPr id="8" name="图片 7"/>
          <p:cNvPicPr>
            <a:picLocks noChangeAspect="1"/>
          </p:cNvPicPr>
          <p:nvPr/>
        </p:nvPicPr>
        <p:blipFill>
          <a:blip r:embed="rId4"/>
          <a:stretch>
            <a:fillRect/>
          </a:stretch>
        </p:blipFill>
        <p:spPr>
          <a:xfrm>
            <a:off x="1138050" y="2519150"/>
            <a:ext cx="2838367" cy="99786"/>
          </a:xfrm>
          <a:prstGeom prst="rect">
            <a:avLst/>
          </a:prstGeom>
        </p:spPr>
      </p:pic>
      <p:sp>
        <p:nvSpPr>
          <p:cNvPr id="10" name="矩形 9"/>
          <p:cNvSpPr/>
          <p:nvPr/>
        </p:nvSpPr>
        <p:spPr>
          <a:xfrm>
            <a:off x="1219330" y="2463820"/>
            <a:ext cx="354965" cy="1057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11" name="矩形 10"/>
          <p:cNvSpPr/>
          <p:nvPr/>
        </p:nvSpPr>
        <p:spPr>
          <a:xfrm>
            <a:off x="1979421" y="2461329"/>
            <a:ext cx="354965" cy="105770"/>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12" name="矩形 11"/>
          <p:cNvSpPr/>
          <p:nvPr/>
        </p:nvSpPr>
        <p:spPr>
          <a:xfrm>
            <a:off x="2334386" y="2461329"/>
            <a:ext cx="354965" cy="105770"/>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0F0"/>
              </a:solidFill>
            </a:endParaRPr>
          </a:p>
        </p:txBody>
      </p:sp>
      <p:sp>
        <p:nvSpPr>
          <p:cNvPr id="13" name="文本框 12"/>
          <p:cNvSpPr txBox="1"/>
          <p:nvPr/>
        </p:nvSpPr>
        <p:spPr>
          <a:xfrm>
            <a:off x="30387" y="2330069"/>
            <a:ext cx="1180131" cy="369332"/>
          </a:xfrm>
          <a:prstGeom prst="rect">
            <a:avLst/>
          </a:prstGeom>
          <a:noFill/>
        </p:spPr>
        <p:txBody>
          <a:bodyPr wrap="none" rtlCol="0">
            <a:spAutoFit/>
          </a:bodyPr>
          <a:lstStyle/>
          <a:p>
            <a:r>
              <a:rPr kumimoji="1" lang="en-US" altLang="zh-CN"/>
              <a:t>Virtual</a:t>
            </a:r>
            <a:r>
              <a:rPr kumimoji="1" lang="zh-CN" altLang="en-US" dirty="0"/>
              <a:t> </a:t>
            </a:r>
            <a:r>
              <a:rPr kumimoji="1" lang="en-US" altLang="zh-CN" dirty="0"/>
              <a:t>PM</a:t>
            </a:r>
            <a:endParaRPr kumimoji="1" lang="zh-CN" altLang="en-US" dirty="0"/>
          </a:p>
        </p:txBody>
      </p:sp>
      <p:sp>
        <p:nvSpPr>
          <p:cNvPr id="14" name="文本框 13"/>
          <p:cNvSpPr txBox="1"/>
          <p:nvPr/>
        </p:nvSpPr>
        <p:spPr>
          <a:xfrm>
            <a:off x="33483" y="2832019"/>
            <a:ext cx="1139799" cy="369332"/>
          </a:xfrm>
          <a:prstGeom prst="rect">
            <a:avLst/>
          </a:prstGeom>
          <a:noFill/>
        </p:spPr>
        <p:txBody>
          <a:bodyPr wrap="none" rtlCol="0">
            <a:spAutoFit/>
          </a:bodyPr>
          <a:lstStyle/>
          <a:p>
            <a:r>
              <a:rPr kumimoji="1" lang="en-US" altLang="zh-CN" dirty="0"/>
              <a:t>Image</a:t>
            </a:r>
            <a:r>
              <a:rPr kumimoji="1" lang="zh-CN" altLang="en-US" dirty="0"/>
              <a:t> </a:t>
            </a:r>
            <a:r>
              <a:rPr kumimoji="1" lang="en-US" altLang="zh-CN" dirty="0"/>
              <a:t>File</a:t>
            </a:r>
            <a:endParaRPr kumimoji="1" lang="zh-CN" altLang="en-US" dirty="0"/>
          </a:p>
        </p:txBody>
      </p:sp>
      <p:cxnSp>
        <p:nvCxnSpPr>
          <p:cNvPr id="15" name="直线连接符 14"/>
          <p:cNvCxnSpPr/>
          <p:nvPr/>
        </p:nvCxnSpPr>
        <p:spPr>
          <a:xfrm>
            <a:off x="1219330" y="2569590"/>
            <a:ext cx="35496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a:off x="1979422" y="2567099"/>
            <a:ext cx="3549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2334385" y="2567099"/>
            <a:ext cx="354965"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V="1">
            <a:off x="1574295" y="2567099"/>
            <a:ext cx="405126" cy="150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2689350" y="2567099"/>
            <a:ext cx="35496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a:off x="3044315" y="2567099"/>
            <a:ext cx="35496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3399280" y="2567099"/>
            <a:ext cx="49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曲线连接符 21"/>
          <p:cNvCxnSpPr/>
          <p:nvPr/>
        </p:nvCxnSpPr>
        <p:spPr>
          <a:xfrm rot="5400000">
            <a:off x="1258368" y="1949941"/>
            <a:ext cx="595041" cy="31815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p:nvPr/>
        </p:nvCxnSpPr>
        <p:spPr>
          <a:xfrm rot="16200000" flipH="1">
            <a:off x="2126284" y="1973777"/>
            <a:ext cx="575988" cy="251429"/>
          </a:xfrm>
          <a:prstGeom prst="curvedConnector3">
            <a:avLst>
              <a:gd name="adj1" fmla="val 50000"/>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219330" y="2832019"/>
            <a:ext cx="300840" cy="300840"/>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50000"/>
                  <a:lumOff val="50000"/>
                </a:schemeClr>
              </a:solidFill>
            </a:endParaRPr>
          </a:p>
        </p:txBody>
      </p:sp>
      <p:sp>
        <p:nvSpPr>
          <p:cNvPr id="25" name="矩形 24"/>
          <p:cNvSpPr/>
          <p:nvPr/>
        </p:nvSpPr>
        <p:spPr>
          <a:xfrm>
            <a:off x="1819389" y="2832019"/>
            <a:ext cx="300840" cy="30084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p:cNvSpPr/>
          <p:nvPr/>
        </p:nvSpPr>
        <p:spPr>
          <a:xfrm>
            <a:off x="1520170" y="2832434"/>
            <a:ext cx="300840" cy="30084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p:cNvSpPr txBox="1"/>
          <p:nvPr/>
        </p:nvSpPr>
        <p:spPr>
          <a:xfrm>
            <a:off x="2419600" y="1889439"/>
            <a:ext cx="338554" cy="276999"/>
          </a:xfrm>
          <a:prstGeom prst="rect">
            <a:avLst/>
          </a:prstGeom>
          <a:noFill/>
        </p:spPr>
        <p:txBody>
          <a:bodyPr wrap="none" rtlCol="0">
            <a:spAutoFit/>
          </a:bodyPr>
          <a:lstStyle/>
          <a:p>
            <a:r>
              <a:rPr kumimoji="1" lang="zh-CN" altLang="en-US" sz="1200" dirty="0"/>
              <a:t>①</a:t>
            </a:r>
          </a:p>
        </p:txBody>
      </p:sp>
      <p:cxnSp>
        <p:nvCxnSpPr>
          <p:cNvPr id="29" name="直线连接符 28"/>
          <p:cNvCxnSpPr/>
          <p:nvPr/>
        </p:nvCxnSpPr>
        <p:spPr>
          <a:xfrm flipH="1">
            <a:off x="1168131" y="2574127"/>
            <a:ext cx="805554" cy="265236"/>
          </a:xfrm>
          <a:prstGeom prst="line">
            <a:avLst/>
          </a:prstGeom>
          <a:ln w="1270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30" name="直线连接符 29"/>
          <p:cNvCxnSpPr/>
          <p:nvPr/>
        </p:nvCxnSpPr>
        <p:spPr>
          <a:xfrm flipH="1">
            <a:off x="1837012" y="2572732"/>
            <a:ext cx="805554" cy="265236"/>
          </a:xfrm>
          <a:prstGeom prst="line">
            <a:avLst/>
          </a:prstGeom>
          <a:ln w="1270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31" name="直线连接符 30"/>
          <p:cNvCxnSpPr>
            <a:stCxn id="11" idx="1"/>
          </p:cNvCxnSpPr>
          <p:nvPr/>
        </p:nvCxnSpPr>
        <p:spPr>
          <a:xfrm>
            <a:off x="1138050" y="2569043"/>
            <a:ext cx="667400" cy="26256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线连接符 31"/>
          <p:cNvCxnSpPr/>
          <p:nvPr/>
        </p:nvCxnSpPr>
        <p:spPr>
          <a:xfrm>
            <a:off x="1518691" y="2583264"/>
            <a:ext cx="667400" cy="26256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p:nvCxnSpPr>
        <p:spPr>
          <a:xfrm flipH="1">
            <a:off x="2118608" y="2585798"/>
            <a:ext cx="249336" cy="240849"/>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nvCxnSpPr>
        <p:spPr>
          <a:xfrm flipH="1">
            <a:off x="2433389" y="2581926"/>
            <a:ext cx="240739" cy="250093"/>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2384746" y="3025072"/>
            <a:ext cx="338554" cy="276999"/>
          </a:xfrm>
          <a:prstGeom prst="rect">
            <a:avLst/>
          </a:prstGeom>
          <a:noFill/>
        </p:spPr>
        <p:txBody>
          <a:bodyPr wrap="none" rtlCol="0">
            <a:spAutoFit/>
          </a:bodyPr>
          <a:lstStyle/>
          <a:p>
            <a:r>
              <a:rPr kumimoji="1" lang="zh-CN" altLang="en-US" sz="1200"/>
              <a:t>②</a:t>
            </a:r>
            <a:endParaRPr kumimoji="1" lang="zh-CN" altLang="en-US" sz="1200" dirty="0"/>
          </a:p>
        </p:txBody>
      </p:sp>
      <p:sp>
        <p:nvSpPr>
          <p:cNvPr id="39" name="文本框 38"/>
          <p:cNvSpPr txBox="1"/>
          <p:nvPr/>
        </p:nvSpPr>
        <p:spPr>
          <a:xfrm>
            <a:off x="2498593" y="2640942"/>
            <a:ext cx="338554" cy="276999"/>
          </a:xfrm>
          <a:prstGeom prst="rect">
            <a:avLst/>
          </a:prstGeom>
          <a:noFill/>
        </p:spPr>
        <p:txBody>
          <a:bodyPr wrap="none" rtlCol="0">
            <a:spAutoFit/>
          </a:bodyPr>
          <a:lstStyle/>
          <a:p>
            <a:r>
              <a:rPr kumimoji="1" lang="zh-CN" altLang="en-US" sz="1200" dirty="0"/>
              <a:t>③</a:t>
            </a:r>
          </a:p>
        </p:txBody>
      </p:sp>
      <p:cxnSp>
        <p:nvCxnSpPr>
          <p:cNvPr id="6" name="直线连接符 5"/>
          <p:cNvCxnSpPr/>
          <p:nvPr/>
        </p:nvCxnSpPr>
        <p:spPr>
          <a:xfrm>
            <a:off x="1814460" y="2851609"/>
            <a:ext cx="0" cy="397467"/>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线连接符 39"/>
          <p:cNvCxnSpPr/>
          <p:nvPr/>
        </p:nvCxnSpPr>
        <p:spPr>
          <a:xfrm>
            <a:off x="1218437" y="2845825"/>
            <a:ext cx="0" cy="397467"/>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41" name="左大括号 40"/>
          <p:cNvSpPr/>
          <p:nvPr/>
        </p:nvSpPr>
        <p:spPr>
          <a:xfrm rot="16200000">
            <a:off x="1473187" y="3041745"/>
            <a:ext cx="87498" cy="608149"/>
          </a:xfrm>
          <a:prstGeom prst="leftBrace">
            <a:avLst/>
          </a:prstGeom>
          <a:ln w="1905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42" name="直线连接符 41"/>
          <p:cNvCxnSpPr/>
          <p:nvPr/>
        </p:nvCxnSpPr>
        <p:spPr>
          <a:xfrm flipH="1">
            <a:off x="1514127" y="2589270"/>
            <a:ext cx="805554" cy="265236"/>
          </a:xfrm>
          <a:prstGeom prst="line">
            <a:avLst/>
          </a:prstGeom>
          <a:ln w="1270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119702" y="3369427"/>
            <a:ext cx="816249" cy="430887"/>
          </a:xfrm>
          <a:prstGeom prst="rect">
            <a:avLst/>
          </a:prstGeom>
          <a:noFill/>
        </p:spPr>
        <p:txBody>
          <a:bodyPr wrap="none" rtlCol="0">
            <a:spAutoFit/>
          </a:bodyPr>
          <a:lstStyle/>
          <a:p>
            <a:pPr algn="ctr"/>
            <a:r>
              <a:rPr kumimoji="1" lang="en-US" altLang="zh-CN" sz="1100" dirty="0"/>
              <a:t>Snapshot</a:t>
            </a:r>
            <a:r>
              <a:rPr kumimoji="1" lang="zh-CN" altLang="en-US" sz="1100" dirty="0"/>
              <a:t> </a:t>
            </a:r>
            <a:r>
              <a:rPr kumimoji="1" lang="en-US" altLang="zh-CN" sz="1100" dirty="0"/>
              <a:t>1</a:t>
            </a:r>
          </a:p>
          <a:p>
            <a:pPr algn="ctr"/>
            <a:r>
              <a:rPr kumimoji="1" lang="en-US" altLang="zh-CN" sz="1100" dirty="0"/>
              <a:t>(read-only)</a:t>
            </a:r>
            <a:endParaRPr kumimoji="1" lang="zh-CN" altLang="en-US" sz="1100" dirty="0"/>
          </a:p>
        </p:txBody>
      </p:sp>
      <p:sp>
        <p:nvSpPr>
          <p:cNvPr id="53" name="矩形 52"/>
          <p:cNvSpPr/>
          <p:nvPr/>
        </p:nvSpPr>
        <p:spPr>
          <a:xfrm>
            <a:off x="2122422" y="2832019"/>
            <a:ext cx="300840" cy="3008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27" name="矩形 26"/>
          <p:cNvSpPr/>
          <p:nvPr/>
        </p:nvSpPr>
        <p:spPr>
          <a:xfrm>
            <a:off x="2124615" y="2832032"/>
            <a:ext cx="300840" cy="300840"/>
          </a:xfrm>
          <a:prstGeom prst="rect">
            <a:avLst/>
          </a:prstGeom>
          <a:solidFill>
            <a:srgbClr val="D0D0D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cxnSp>
        <p:nvCxnSpPr>
          <p:cNvPr id="54" name="直线连接符 53"/>
          <p:cNvCxnSpPr/>
          <p:nvPr/>
        </p:nvCxnSpPr>
        <p:spPr>
          <a:xfrm>
            <a:off x="2334385" y="2567622"/>
            <a:ext cx="35496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6001519" y="4910808"/>
            <a:ext cx="364202" cy="307777"/>
          </a:xfrm>
          <a:prstGeom prst="rect">
            <a:avLst/>
          </a:prstGeom>
          <a:noFill/>
        </p:spPr>
        <p:txBody>
          <a:bodyPr wrap="none" rtlCol="0">
            <a:spAutoFit/>
          </a:bodyPr>
          <a:lstStyle/>
          <a:p>
            <a:r>
              <a:rPr kumimoji="1" lang="zh-CN" altLang="en-US" sz="1400" b="1" dirty="0"/>
              <a:t>①</a:t>
            </a:r>
          </a:p>
        </p:txBody>
      </p:sp>
      <p:sp>
        <p:nvSpPr>
          <p:cNvPr id="56" name="文本框 55"/>
          <p:cNvSpPr txBox="1"/>
          <p:nvPr/>
        </p:nvSpPr>
        <p:spPr>
          <a:xfrm>
            <a:off x="4521493" y="3638601"/>
            <a:ext cx="583814" cy="307777"/>
          </a:xfrm>
          <a:prstGeom prst="rect">
            <a:avLst/>
          </a:prstGeom>
          <a:noFill/>
        </p:spPr>
        <p:txBody>
          <a:bodyPr wrap="none" rtlCol="0">
            <a:spAutoFit/>
          </a:bodyPr>
          <a:lstStyle/>
          <a:p>
            <a:r>
              <a:rPr kumimoji="1" lang="zh-CN" altLang="en-US" sz="1400" b="1" dirty="0"/>
              <a:t>② ③</a:t>
            </a:r>
          </a:p>
        </p:txBody>
      </p:sp>
      <p:sp>
        <p:nvSpPr>
          <p:cNvPr id="57" name="文本框 56"/>
          <p:cNvSpPr txBox="1"/>
          <p:nvPr/>
        </p:nvSpPr>
        <p:spPr>
          <a:xfrm>
            <a:off x="250825" y="663873"/>
            <a:ext cx="4850751" cy="461665"/>
          </a:xfrm>
          <a:prstGeom prst="rect">
            <a:avLst/>
          </a:prstGeom>
          <a:noFill/>
        </p:spPr>
        <p:txBody>
          <a:bodyPr wrap="none" rtlCol="0">
            <a:spAutoFit/>
          </a:bodyPr>
          <a:lstStyle/>
          <a:p>
            <a:r>
              <a:rPr kumimoji="1" lang="en-US" altLang="zh-CN" sz="2400" dirty="0"/>
              <a:t>Image</a:t>
            </a:r>
            <a:r>
              <a:rPr kumimoji="1" lang="zh-CN" altLang="en-US" sz="2400" dirty="0"/>
              <a:t> </a:t>
            </a:r>
            <a:r>
              <a:rPr kumimoji="1" lang="en-US" altLang="zh-CN" sz="2400" dirty="0"/>
              <a:t>Monitor</a:t>
            </a:r>
            <a:r>
              <a:rPr kumimoji="1" lang="zh-CN" altLang="en-US" sz="2400" dirty="0"/>
              <a:t> </a:t>
            </a:r>
            <a:r>
              <a:rPr kumimoji="1" lang="en-US" altLang="zh-CN" dirty="0"/>
              <a:t>|</a:t>
            </a:r>
            <a:r>
              <a:rPr kumimoji="1" lang="zh-CN" altLang="en-US" dirty="0"/>
              <a:t> </a:t>
            </a:r>
            <a:r>
              <a:rPr kumimoji="1" lang="en-US" altLang="zh-CN" sz="1400" dirty="0" err="1">
                <a:solidFill>
                  <a:schemeClr val="tx1">
                    <a:lumMod val="50000"/>
                    <a:lumOff val="50000"/>
                  </a:schemeClr>
                </a:solidFill>
              </a:rPr>
              <a:t>Pcow</a:t>
            </a:r>
            <a:r>
              <a:rPr kumimoji="1" lang="zh-CN" altLang="en-US" sz="1400" dirty="0">
                <a:solidFill>
                  <a:schemeClr val="tx1">
                    <a:lumMod val="50000"/>
                    <a:lumOff val="50000"/>
                  </a:schemeClr>
                </a:solidFill>
              </a:rPr>
              <a:t> </a:t>
            </a:r>
            <a:r>
              <a:rPr kumimoji="1" lang="en-US" altLang="zh-CN" sz="1400" dirty="0">
                <a:solidFill>
                  <a:schemeClr val="tx1">
                    <a:lumMod val="50000"/>
                    <a:lumOff val="50000"/>
                  </a:schemeClr>
                </a:solidFill>
              </a:rPr>
              <a:t>Format</a:t>
            </a:r>
            <a:r>
              <a:rPr kumimoji="1" lang="zh-CN" altLang="en-US" dirty="0">
                <a:solidFill>
                  <a:schemeClr val="tx1">
                    <a:lumMod val="50000"/>
                    <a:lumOff val="50000"/>
                  </a:schemeClr>
                </a:solidFill>
              </a:rPr>
              <a:t> </a:t>
            </a:r>
            <a:r>
              <a:rPr kumimoji="1" lang="en-US" altLang="zh-CN" sz="1400" dirty="0"/>
              <a:t>|</a:t>
            </a:r>
            <a:r>
              <a:rPr kumimoji="1" lang="zh-CN" altLang="en-US" sz="14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sp>
        <p:nvSpPr>
          <p:cNvPr id="47" name="TextBox 29">
            <a:extLst>
              <a:ext uri="{FF2B5EF4-FFF2-40B4-BE49-F238E27FC236}">
                <a16:creationId xmlns:a16="http://schemas.microsoft.com/office/drawing/2014/main" id="{2EC71B4A-670E-431C-A25C-7A3AE872430B}"/>
              </a:ext>
            </a:extLst>
          </p:cNvPr>
          <p:cNvSpPr txBox="1"/>
          <p:nvPr/>
        </p:nvSpPr>
        <p:spPr>
          <a:xfrm>
            <a:off x="125768" y="3881073"/>
            <a:ext cx="8218822" cy="2510303"/>
          </a:xfrm>
          <a:prstGeom prst="rect">
            <a:avLst/>
          </a:prstGeom>
          <a:noFill/>
        </p:spPr>
        <p:txBody>
          <a:bodyPr wrap="square" rtlCol="0">
            <a:spAutoFit/>
          </a:bodyPr>
          <a:lstStyle>
            <a:defPPr>
              <a:defRPr lang="zh-CN"/>
            </a:defPPr>
            <a:lvl1pPr>
              <a:lnSpc>
                <a:spcPct val="110000"/>
              </a:lnSpc>
              <a:defRPr>
                <a:solidFill>
                  <a:schemeClr val="tx1">
                    <a:lumMod val="75000"/>
                    <a:lumOff val="25000"/>
                  </a:schemeClr>
                </a:solidFill>
                <a:ea typeface="华文楷体" panose="02010600040101010101" pitchFamily="2" charset="-122"/>
              </a:defRPr>
            </a:lvl1pPr>
          </a:lstStyle>
          <a:p>
            <a:r>
              <a:rPr lang="zh-CN" altLang="en-US" sz="1600" dirty="0">
                <a:latin typeface="Times New Roman" panose="02020603050405020304" pitchFamily="18" charset="0"/>
                <a:ea typeface="楷体" panose="02010609060101010101" pitchFamily="49" charset="-122"/>
              </a:rPr>
              <a:t>①应用访问写保护的内存地址，触发</a:t>
            </a:r>
            <a:endParaRPr lang="en-US" altLang="zh-CN" sz="1600" dirty="0">
              <a:latin typeface="Times New Roman" panose="02020603050405020304" pitchFamily="18" charset="0"/>
              <a:ea typeface="楷体" panose="02010609060101010101" pitchFamily="49" charset="-122"/>
            </a:endParaRPr>
          </a:p>
          <a:p>
            <a:r>
              <a:rPr lang="en-US" altLang="zh-CN" sz="1600" dirty="0">
                <a:latin typeface="Times New Roman" panose="02020603050405020304" pitchFamily="18" charset="0"/>
                <a:ea typeface="楷体" panose="02010609060101010101" pitchFamily="49" charset="-122"/>
              </a:rPr>
              <a:t>SIGSEGV</a:t>
            </a:r>
            <a:r>
              <a:rPr lang="zh-CN" altLang="en-US" sz="1600" dirty="0">
                <a:latin typeface="Times New Roman" panose="02020603050405020304" pitchFamily="18" charset="0"/>
                <a:ea typeface="楷体" panose="02010609060101010101" pitchFamily="49" charset="-122"/>
              </a:rPr>
              <a:t>信号，进入写时复制模块</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②镜像格式驱动在镜像文件末尾分配</a:t>
            </a:r>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新数据块，并进行写时复制</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a:p>
            <a:r>
              <a:rPr lang="en-US" altLang="zh-CN" sz="1600" dirty="0">
                <a:latin typeface="Times New Roman" panose="02020603050405020304" pitchFamily="18" charset="0"/>
                <a:ea typeface="楷体" panose="02010609060101010101" pitchFamily="49" charset="-122"/>
              </a:rPr>
              <a:t>③</a:t>
            </a:r>
            <a:r>
              <a:rPr lang="zh-CN" altLang="en-US" sz="1600" dirty="0">
                <a:latin typeface="Times New Roman" panose="02020603050405020304" pitchFamily="18" charset="0"/>
                <a:ea typeface="楷体" panose="02010609060101010101" pitchFamily="49" charset="-122"/>
              </a:rPr>
              <a:t>将新分配的数据块映射到触发写保</a:t>
            </a:r>
            <a:endParaRPr lang="en-US" altLang="zh-CN" sz="1600" dirty="0">
              <a:latin typeface="Times New Roman" panose="02020603050405020304" pitchFamily="18" charset="0"/>
              <a:ea typeface="楷体" panose="02010609060101010101" pitchFamily="49" charset="-122"/>
            </a:endParaRPr>
          </a:p>
          <a:p>
            <a:r>
              <a:rPr lang="zh-CN" altLang="en-US" sz="1600" dirty="0">
                <a:latin typeface="Times New Roman" panose="02020603050405020304" pitchFamily="18" charset="0"/>
                <a:ea typeface="楷体" panose="02010609060101010101" pitchFamily="49" charset="-122"/>
              </a:rPr>
              <a:t>护的地址</a:t>
            </a:r>
            <a:endParaRPr lang="en-US" altLang="zh-CN" sz="1600" dirty="0">
              <a:latin typeface="Times New Roman" panose="02020603050405020304" pitchFamily="18" charset="0"/>
              <a:ea typeface="楷体" panose="02010609060101010101" pitchFamily="49" charset="-122"/>
            </a:endParaRPr>
          </a:p>
          <a:p>
            <a:endParaRPr lang="en-US" altLang="zh-CN" sz="16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85910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up)">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26" presetClass="emph" presetSubtype="0" fill="hold" grpId="1" nodeType="withEffect">
                                  <p:stCondLst>
                                    <p:cond delay="0"/>
                                  </p:stCondLst>
                                  <p:childTnLst>
                                    <p:animEffect transition="out" filter="fade">
                                      <p:cBhvr>
                                        <p:cTn id="16" dur="500" tmFilter="0, 0; .2, .5; .8, .5; 1, 0"/>
                                        <p:tgtEl>
                                          <p:spTgt spid="53"/>
                                        </p:tgtEl>
                                      </p:cBhvr>
                                    </p:animEffect>
                                    <p:animScale>
                                      <p:cBhvr>
                                        <p:cTn id="17" dur="250" autoRev="1" fill="hold"/>
                                        <p:tgtEl>
                                          <p:spTgt spid="53"/>
                                        </p:tgtEl>
                                      </p:cBhvr>
                                      <p:by x="105000" y="105000"/>
                                    </p:animScale>
                                  </p:childTnLst>
                                </p:cTn>
                              </p:par>
                              <p:par>
                                <p:cTn id="18" presetID="1" presetClass="entr" presetSubtype="0"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par>
                                <p:cTn id="20" presetID="22" presetClass="entr" presetSubtype="8" fill="hold" grpId="0" nodeType="withEffect">
                                  <p:stCondLst>
                                    <p:cond delay="100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down)">
                                      <p:cBhvr>
                                        <p:cTn id="27" dur="500"/>
                                        <p:tgtEl>
                                          <p:spTgt spid="34"/>
                                        </p:tgtEl>
                                      </p:cBhvr>
                                    </p:animEffect>
                                  </p:childTnLst>
                                </p:cTn>
                              </p:par>
                              <p:par>
                                <p:cTn id="28" presetID="22" presetClass="entr" presetSubtype="4" fill="hold"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down)">
                                      <p:cBhvr>
                                        <p:cTn id="30" dur="500"/>
                                        <p:tgtEl>
                                          <p:spTgt spid="33"/>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26" presetClass="emph" presetSubtype="0" fill="hold" nodeType="withEffect">
                                  <p:stCondLst>
                                    <p:cond delay="0"/>
                                  </p:stCondLst>
                                  <p:childTnLst>
                                    <p:animEffect transition="out" filter="fade">
                                      <p:cBhvr>
                                        <p:cTn id="36" dur="500" tmFilter="0, 0; .2, .5; .8, .5; 1, 0"/>
                                        <p:tgtEl>
                                          <p:spTgt spid="54"/>
                                        </p:tgtEl>
                                      </p:cBhvr>
                                    </p:animEffect>
                                    <p:animScale>
                                      <p:cBhvr>
                                        <p:cTn id="37" dur="250" autoRev="1" fill="hold"/>
                                        <p:tgtEl>
                                          <p:spTgt spid="54"/>
                                        </p:tgtEl>
                                      </p:cBhvr>
                                      <p:by x="105000" y="105000"/>
                                    </p:animScale>
                                  </p:childTnLst>
                                </p:cTn>
                              </p:par>
                              <p:par>
                                <p:cTn id="38" presetID="22" presetClass="exit" presetSubtype="4" fill="hold" nodeType="withEffect">
                                  <p:stCondLst>
                                    <p:cond delay="0"/>
                                  </p:stCondLst>
                                  <p:childTnLst>
                                    <p:animEffect transition="out" filter="wipe(down)">
                                      <p:cBhvr>
                                        <p:cTn id="39" dur="500"/>
                                        <p:tgtEl>
                                          <p:spTgt spid="30"/>
                                        </p:tgtEl>
                                      </p:cBhvr>
                                    </p:animEffect>
                                    <p:set>
                                      <p:cBhvr>
                                        <p:cTn id="40"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8" grpId="0"/>
      <p:bldP spid="39" grpId="0"/>
      <p:bldP spid="53" grpId="0" animBg="1"/>
      <p:bldP spid="53" grpId="1"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4824" y="569984"/>
            <a:ext cx="4927375" cy="584775"/>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dirty="0"/>
              <a:t>|</a:t>
            </a:r>
            <a:r>
              <a:rPr kumimoji="1" lang="zh-CN" altLang="en-US" dirty="0"/>
              <a:t> </a:t>
            </a:r>
            <a:r>
              <a:rPr kumimoji="1" lang="en-US" altLang="zh-CN" sz="2400" dirty="0" err="1"/>
              <a:t>Pcow</a:t>
            </a:r>
            <a:r>
              <a:rPr kumimoji="1" lang="zh-CN" altLang="en-US" sz="2400" dirty="0"/>
              <a:t> </a:t>
            </a:r>
            <a:r>
              <a:rPr kumimoji="1" lang="en-US" altLang="zh-CN" sz="2400" dirty="0"/>
              <a:t>Format</a:t>
            </a:r>
            <a:r>
              <a:rPr kumimoji="1" lang="zh-CN" altLang="en-US" sz="3200" dirty="0">
                <a:solidFill>
                  <a:schemeClr val="tx1">
                    <a:lumMod val="50000"/>
                    <a:lumOff val="50000"/>
                  </a:schemeClr>
                </a:solidFill>
              </a:rPr>
              <a:t> </a:t>
            </a:r>
            <a:r>
              <a:rPr kumimoji="1" lang="en-US" altLang="zh-CN" sz="1600" dirty="0"/>
              <a:t>|</a:t>
            </a:r>
            <a:r>
              <a:rPr kumimoji="1" lang="zh-CN" altLang="en-US" sz="16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pic>
        <p:nvPicPr>
          <p:cNvPr id="8" name="图片 7"/>
          <p:cNvPicPr>
            <a:picLocks noChangeAspect="1"/>
          </p:cNvPicPr>
          <p:nvPr/>
        </p:nvPicPr>
        <p:blipFill>
          <a:blip r:embed="rId3"/>
          <a:stretch>
            <a:fillRect/>
          </a:stretch>
        </p:blipFill>
        <p:spPr>
          <a:xfrm>
            <a:off x="1659461" y="1433855"/>
            <a:ext cx="5825077" cy="3662322"/>
          </a:xfrm>
          <a:prstGeom prst="rect">
            <a:avLst/>
          </a:prstGeom>
        </p:spPr>
      </p:pic>
      <p:sp>
        <p:nvSpPr>
          <p:cNvPr id="2" name="文本框 1">
            <a:extLst>
              <a:ext uri="{FF2B5EF4-FFF2-40B4-BE49-F238E27FC236}">
                <a16:creationId xmlns:a16="http://schemas.microsoft.com/office/drawing/2014/main" id="{D4BF309E-7C85-4340-9073-72452FB8AF91}"/>
              </a:ext>
            </a:extLst>
          </p:cNvPr>
          <p:cNvSpPr txBox="1"/>
          <p:nvPr/>
        </p:nvSpPr>
        <p:spPr>
          <a:xfrm>
            <a:off x="1088679" y="5375272"/>
            <a:ext cx="7939669"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latin typeface="楷体" panose="02010609060101010101" pitchFamily="49" charset="-122"/>
                <a:ea typeface="楷体" panose="02010609060101010101" pitchFamily="49" charset="-122"/>
              </a:rPr>
              <a:t>分块组织，块大小固定</a:t>
            </a:r>
            <a:endParaRPr lang="en-US" altLang="zh-CN"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dirty="0">
                <a:latin typeface="楷体" panose="02010609060101010101" pitchFamily="49" charset="-122"/>
                <a:ea typeface="楷体" panose="02010609060101010101" pitchFamily="49" charset="-122"/>
              </a:rPr>
              <a:t>超级块、元数据块、数据块</a:t>
            </a:r>
            <a:endParaRPr lang="en-US" altLang="zh-CN"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996043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1604" y="588475"/>
            <a:ext cx="4757328" cy="584775"/>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dirty="0"/>
              <a:t>|</a:t>
            </a:r>
            <a:r>
              <a:rPr kumimoji="1" lang="zh-CN" altLang="en-US" dirty="0"/>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3200" dirty="0">
                <a:solidFill>
                  <a:schemeClr val="tx1">
                    <a:lumMod val="50000"/>
                    <a:lumOff val="50000"/>
                  </a:schemeClr>
                </a:solidFill>
              </a:rPr>
              <a:t> </a:t>
            </a:r>
            <a:r>
              <a:rPr kumimoji="1" lang="en-US" altLang="zh-CN" sz="1600" dirty="0"/>
              <a:t>|</a:t>
            </a:r>
            <a:r>
              <a:rPr kumimoji="1" lang="zh-CN" altLang="en-US" sz="1600" dirty="0"/>
              <a:t> </a:t>
            </a:r>
            <a:r>
              <a:rPr kumimoji="1" lang="en-US" altLang="zh-CN" sz="2400" dirty="0"/>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sp>
        <p:nvSpPr>
          <p:cNvPr id="3" name="文本框 2"/>
          <p:cNvSpPr txBox="1"/>
          <p:nvPr/>
        </p:nvSpPr>
        <p:spPr>
          <a:xfrm>
            <a:off x="468339" y="1427549"/>
            <a:ext cx="1819216" cy="400110"/>
          </a:xfrm>
          <a:prstGeom prst="rect">
            <a:avLst/>
          </a:prstGeom>
          <a:noFill/>
        </p:spPr>
        <p:txBody>
          <a:bodyPr wrap="none" rtlCol="0">
            <a:spAutoFit/>
          </a:bodyPr>
          <a:lstStyle/>
          <a:p>
            <a:r>
              <a:rPr kumimoji="1" lang="en-US" altLang="zh-CN" sz="2000" dirty="0" err="1">
                <a:solidFill>
                  <a:srgbClr val="FF6384"/>
                </a:solidFill>
              </a:rPr>
              <a:t>Pcow</a:t>
            </a:r>
            <a:r>
              <a:rPr kumimoji="1" lang="zh-CN" altLang="en-US" sz="2000" dirty="0">
                <a:solidFill>
                  <a:srgbClr val="FF6384"/>
                </a:solidFill>
              </a:rPr>
              <a:t> </a:t>
            </a:r>
            <a:r>
              <a:rPr kumimoji="1" lang="zh-CN" altLang="en-US" sz="2000" dirty="0">
                <a:solidFill>
                  <a:srgbClr val="FF6384"/>
                </a:solidFill>
                <a:latin typeface="楷体" panose="02010609060101010101" pitchFamily="49" charset="-122"/>
                <a:ea typeface="楷体" panose="02010609060101010101" pitchFamily="49" charset="-122"/>
              </a:rPr>
              <a:t>镜像映射</a:t>
            </a:r>
          </a:p>
        </p:txBody>
      </p:sp>
      <p:pic>
        <p:nvPicPr>
          <p:cNvPr id="23" name="图片 22"/>
          <p:cNvPicPr>
            <a:picLocks noChangeAspect="1"/>
          </p:cNvPicPr>
          <p:nvPr/>
        </p:nvPicPr>
        <p:blipFill>
          <a:blip r:embed="rId3"/>
          <a:stretch>
            <a:fillRect/>
          </a:stretch>
        </p:blipFill>
        <p:spPr>
          <a:xfrm flipV="1">
            <a:off x="2031706" y="5932293"/>
            <a:ext cx="5040000" cy="150718"/>
          </a:xfrm>
          <a:prstGeom prst="rect">
            <a:avLst/>
          </a:prstGeom>
        </p:spPr>
      </p:pic>
      <p:pic>
        <p:nvPicPr>
          <p:cNvPr id="2" name="图片 1"/>
          <p:cNvPicPr>
            <a:picLocks noChangeAspect="1"/>
          </p:cNvPicPr>
          <p:nvPr/>
        </p:nvPicPr>
        <p:blipFill>
          <a:blip r:embed="rId4"/>
          <a:stretch>
            <a:fillRect/>
          </a:stretch>
        </p:blipFill>
        <p:spPr>
          <a:xfrm>
            <a:off x="1524000" y="2151310"/>
            <a:ext cx="6704827" cy="1239648"/>
          </a:xfrm>
          <a:prstGeom prst="rect">
            <a:avLst/>
          </a:prstGeom>
        </p:spPr>
      </p:pic>
      <p:pic>
        <p:nvPicPr>
          <p:cNvPr id="7" name="图片 6"/>
          <p:cNvPicPr>
            <a:picLocks noChangeAspect="1"/>
          </p:cNvPicPr>
          <p:nvPr/>
        </p:nvPicPr>
        <p:blipFill>
          <a:blip r:embed="rId5"/>
          <a:stretch>
            <a:fillRect/>
          </a:stretch>
        </p:blipFill>
        <p:spPr>
          <a:xfrm>
            <a:off x="3546652" y="3242704"/>
            <a:ext cx="1677600" cy="102342"/>
          </a:xfrm>
          <a:prstGeom prst="rect">
            <a:avLst/>
          </a:prstGeom>
        </p:spPr>
      </p:pic>
      <p:pic>
        <p:nvPicPr>
          <p:cNvPr id="9" name="图片 8"/>
          <p:cNvPicPr>
            <a:picLocks noChangeAspect="1"/>
          </p:cNvPicPr>
          <p:nvPr/>
        </p:nvPicPr>
        <p:blipFill>
          <a:blip r:embed="rId6"/>
          <a:stretch>
            <a:fillRect/>
          </a:stretch>
        </p:blipFill>
        <p:spPr>
          <a:xfrm>
            <a:off x="2031706" y="4954387"/>
            <a:ext cx="5040000" cy="307464"/>
          </a:xfrm>
          <a:prstGeom prst="rect">
            <a:avLst/>
          </a:prstGeom>
        </p:spPr>
      </p:pic>
      <p:pic>
        <p:nvPicPr>
          <p:cNvPr id="16" name="图片 15"/>
          <p:cNvPicPr>
            <a:picLocks noChangeAspect="1"/>
          </p:cNvPicPr>
          <p:nvPr/>
        </p:nvPicPr>
        <p:blipFill>
          <a:blip r:embed="rId7"/>
          <a:stretch>
            <a:fillRect/>
          </a:stretch>
        </p:blipFill>
        <p:spPr>
          <a:xfrm>
            <a:off x="3546652" y="2499430"/>
            <a:ext cx="1677600" cy="102342"/>
          </a:xfrm>
          <a:prstGeom prst="rect">
            <a:avLst/>
          </a:prstGeom>
        </p:spPr>
      </p:pic>
      <p:pic>
        <p:nvPicPr>
          <p:cNvPr id="20" name="图片 19"/>
          <p:cNvPicPr>
            <a:picLocks noChangeAspect="1"/>
          </p:cNvPicPr>
          <p:nvPr/>
        </p:nvPicPr>
        <p:blipFill>
          <a:blip r:embed="rId8"/>
          <a:stretch>
            <a:fillRect/>
          </a:stretch>
        </p:blipFill>
        <p:spPr>
          <a:xfrm>
            <a:off x="5552638" y="2499430"/>
            <a:ext cx="1677600" cy="102342"/>
          </a:xfrm>
          <a:prstGeom prst="rect">
            <a:avLst/>
          </a:prstGeom>
        </p:spPr>
      </p:pic>
      <p:pic>
        <p:nvPicPr>
          <p:cNvPr id="6" name="图片 5"/>
          <p:cNvPicPr>
            <a:picLocks noChangeAspect="1"/>
          </p:cNvPicPr>
          <p:nvPr/>
        </p:nvPicPr>
        <p:blipFill>
          <a:blip r:embed="rId7"/>
          <a:stretch>
            <a:fillRect/>
          </a:stretch>
        </p:blipFill>
        <p:spPr>
          <a:xfrm>
            <a:off x="2031706" y="4498378"/>
            <a:ext cx="5040000" cy="307464"/>
          </a:xfrm>
          <a:prstGeom prst="rect">
            <a:avLst/>
          </a:prstGeom>
        </p:spPr>
      </p:pic>
      <p:pic>
        <p:nvPicPr>
          <p:cNvPr id="4" name="图片 3"/>
          <p:cNvPicPr>
            <a:picLocks noChangeAspect="1"/>
          </p:cNvPicPr>
          <p:nvPr/>
        </p:nvPicPr>
        <p:blipFill>
          <a:blip r:embed="rId8"/>
          <a:stretch>
            <a:fillRect/>
          </a:stretch>
        </p:blipFill>
        <p:spPr>
          <a:xfrm>
            <a:off x="2031706" y="4039367"/>
            <a:ext cx="5040000" cy="307465"/>
          </a:xfrm>
          <a:prstGeom prst="rect">
            <a:avLst/>
          </a:prstGeom>
        </p:spPr>
      </p:pic>
      <p:pic>
        <p:nvPicPr>
          <p:cNvPr id="10" name="图片 9"/>
          <p:cNvPicPr>
            <a:picLocks noChangeAspect="1"/>
          </p:cNvPicPr>
          <p:nvPr/>
        </p:nvPicPr>
        <p:blipFill>
          <a:blip r:embed="rId9"/>
          <a:stretch>
            <a:fillRect/>
          </a:stretch>
        </p:blipFill>
        <p:spPr>
          <a:xfrm>
            <a:off x="2031706" y="5155604"/>
            <a:ext cx="3520932" cy="641360"/>
          </a:xfrm>
          <a:prstGeom prst="rect">
            <a:avLst/>
          </a:prstGeom>
        </p:spPr>
      </p:pic>
      <p:pic>
        <p:nvPicPr>
          <p:cNvPr id="12" name="图片 11"/>
          <p:cNvPicPr>
            <a:picLocks noChangeAspect="1"/>
          </p:cNvPicPr>
          <p:nvPr/>
        </p:nvPicPr>
        <p:blipFill>
          <a:blip r:embed="rId10"/>
          <a:stretch>
            <a:fillRect/>
          </a:stretch>
        </p:blipFill>
        <p:spPr>
          <a:xfrm>
            <a:off x="2827667" y="6049475"/>
            <a:ext cx="1800089" cy="493573"/>
          </a:xfrm>
          <a:prstGeom prst="rect">
            <a:avLst/>
          </a:prstGeom>
        </p:spPr>
      </p:pic>
      <p:pic>
        <p:nvPicPr>
          <p:cNvPr id="13" name="图片 12"/>
          <p:cNvPicPr>
            <a:picLocks noChangeAspect="1"/>
          </p:cNvPicPr>
          <p:nvPr/>
        </p:nvPicPr>
        <p:blipFill>
          <a:blip r:embed="rId11"/>
          <a:stretch>
            <a:fillRect/>
          </a:stretch>
        </p:blipFill>
        <p:spPr>
          <a:xfrm>
            <a:off x="4712917" y="6049475"/>
            <a:ext cx="2245444" cy="491191"/>
          </a:xfrm>
          <a:prstGeom prst="rect">
            <a:avLst/>
          </a:prstGeom>
        </p:spPr>
      </p:pic>
    </p:spTree>
    <p:extLst>
      <p:ext uri="{BB962C8B-B14F-4D97-AF65-F5344CB8AC3E}">
        <p14:creationId xmlns:p14="http://schemas.microsoft.com/office/powerpoint/2010/main" val="163211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6" presetClass="emph" presetSubtype="0" fill="hold" nodeType="withEffect">
                                  <p:stCondLst>
                                    <p:cond delay="0"/>
                                  </p:stCondLst>
                                  <p:childTnLst>
                                    <p:animScale>
                                      <p:cBhvr>
                                        <p:cTn id="8" dur="1000" fill="hold"/>
                                        <p:tgtEl>
                                          <p:spTgt spid="7"/>
                                        </p:tgtEl>
                                      </p:cBhvr>
                                      <p:by x="300000" y="300000"/>
                                    </p:animScale>
                                  </p:childTnLst>
                                </p:cTn>
                              </p:par>
                              <p:par>
                                <p:cTn id="9" presetID="0" presetClass="path" presetSubtype="0" accel="50000" decel="50000" fill="hold" nodeType="withEffect">
                                  <p:stCondLst>
                                    <p:cond delay="0"/>
                                  </p:stCondLst>
                                  <p:childTnLst>
                                    <p:animMotion origin="layout" path="M -3.88889E-6 -4.07407E-6 L 0.02987 0.26065 " pathEditMode="relative" rAng="0" ptsTypes="AA">
                                      <p:cBhvr>
                                        <p:cTn id="10" dur="1000" fill="hold"/>
                                        <p:tgtEl>
                                          <p:spTgt spid="7"/>
                                        </p:tgtEl>
                                        <p:attrNameLst>
                                          <p:attrName>ppt_x</p:attrName>
                                          <p:attrName>ppt_y</p:attrName>
                                        </p:attrNameLst>
                                      </p:cBhvr>
                                      <p:rCtr x="1493" y="13032"/>
                                    </p:animMotion>
                                  </p:childTnLst>
                                </p:cTn>
                              </p:par>
                            </p:childTnLst>
                          </p:cTn>
                        </p:par>
                        <p:par>
                          <p:cTn id="11" fill="hold">
                            <p:stCondLst>
                              <p:cond delay="1000"/>
                            </p:stCondLst>
                            <p:childTnLst>
                              <p:par>
                                <p:cTn id="12" presetID="1" presetClass="exit" presetSubtype="0" fill="hold" nodeType="afterEffect">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6" presetClass="emph" presetSubtype="0" fill="hold" nodeType="withEffect">
                                  <p:stCondLst>
                                    <p:cond delay="0"/>
                                  </p:stCondLst>
                                  <p:childTnLst>
                                    <p:animScale>
                                      <p:cBhvr>
                                        <p:cTn id="21" dur="1000" fill="hold"/>
                                        <p:tgtEl>
                                          <p:spTgt spid="16"/>
                                        </p:tgtEl>
                                      </p:cBhvr>
                                      <p:by x="300000" y="300000"/>
                                    </p:animScale>
                                  </p:childTnLst>
                                </p:cTn>
                              </p:par>
                              <p:par>
                                <p:cTn id="22" presetID="0" presetClass="path" presetSubtype="0" accel="50000" decel="50000" fill="hold" nodeType="withEffect">
                                  <p:stCondLst>
                                    <p:cond delay="0"/>
                                  </p:stCondLst>
                                  <p:childTnLst>
                                    <p:animMotion origin="layout" path="M -0.00121 0.01944 L 0.029 0.30208 " pathEditMode="relative" rAng="0" ptsTypes="AA">
                                      <p:cBhvr>
                                        <p:cTn id="23" dur="1000" fill="hold"/>
                                        <p:tgtEl>
                                          <p:spTgt spid="16"/>
                                        </p:tgtEl>
                                        <p:attrNameLst>
                                          <p:attrName>ppt_x</p:attrName>
                                          <p:attrName>ppt_y</p:attrName>
                                        </p:attrNameLst>
                                      </p:cBhvr>
                                      <p:rCtr x="1510" y="14120"/>
                                    </p:animMotion>
                                  </p:childTnLst>
                                </p:cTn>
                              </p:par>
                            </p:childTnLst>
                          </p:cTn>
                        </p:par>
                        <p:par>
                          <p:cTn id="24" fill="hold">
                            <p:stCondLst>
                              <p:cond delay="1000"/>
                            </p:stCondLst>
                            <p:childTnLst>
                              <p:par>
                                <p:cTn id="25" presetID="1" presetClass="exit" presetSubtype="0" fill="hold" nodeType="afterEffect">
                                  <p:stCondLst>
                                    <p:cond delay="0"/>
                                  </p:stCondLst>
                                  <p:childTnLst>
                                    <p:set>
                                      <p:cBhvr>
                                        <p:cTn id="26" dur="1" fill="hold">
                                          <p:stCondLst>
                                            <p:cond delay="0"/>
                                          </p:stCondLst>
                                        </p:cTn>
                                        <p:tgtEl>
                                          <p:spTgt spid="16"/>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6" presetClass="emph" presetSubtype="0" fill="hold" nodeType="withEffect">
                                  <p:stCondLst>
                                    <p:cond delay="0"/>
                                  </p:stCondLst>
                                  <p:childTnLst>
                                    <p:animScale>
                                      <p:cBhvr>
                                        <p:cTn id="34" dur="1000" fill="hold"/>
                                        <p:tgtEl>
                                          <p:spTgt spid="20"/>
                                        </p:tgtEl>
                                      </p:cBhvr>
                                      <p:by x="300000" y="300000"/>
                                    </p:animScale>
                                  </p:childTnLst>
                                </p:cTn>
                              </p:par>
                              <p:par>
                                <p:cTn id="35" presetID="0" presetClass="path" presetSubtype="0" accel="50000" decel="50000" fill="hold" nodeType="withEffect">
                                  <p:stCondLst>
                                    <p:cond delay="0"/>
                                  </p:stCondLst>
                                  <p:childTnLst>
                                    <p:animMotion origin="layout" path="M 1.66667E-6 7.40741E-7 L -0.19427 0.23773 " pathEditMode="relative" rAng="0" ptsTypes="AA">
                                      <p:cBhvr>
                                        <p:cTn id="36" dur="1000" fill="hold"/>
                                        <p:tgtEl>
                                          <p:spTgt spid="20"/>
                                        </p:tgtEl>
                                        <p:attrNameLst>
                                          <p:attrName>ppt_x</p:attrName>
                                          <p:attrName>ppt_y</p:attrName>
                                        </p:attrNameLst>
                                      </p:cBhvr>
                                      <p:rCtr x="-9722" y="11875"/>
                                    </p:animMotion>
                                  </p:childTnLst>
                                </p:cTn>
                              </p:par>
                            </p:childTnLst>
                          </p:cTn>
                        </p:par>
                        <p:par>
                          <p:cTn id="37" fill="hold">
                            <p:stCondLst>
                              <p:cond delay="1000"/>
                            </p:stCondLst>
                            <p:childTnLst>
                              <p:par>
                                <p:cTn id="38" presetID="1" presetClass="exit" presetSubtype="0" fill="hold" nodeType="afterEffect">
                                  <p:stCondLst>
                                    <p:cond delay="0"/>
                                  </p:stCondLst>
                                  <p:childTnLst>
                                    <p:set>
                                      <p:cBhvr>
                                        <p:cTn id="39" dur="1" fill="hold">
                                          <p:stCondLst>
                                            <p:cond delay="0"/>
                                          </p:stCondLst>
                                        </p:cTn>
                                        <p:tgtEl>
                                          <p:spTgt spid="20"/>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nodeType="clickEffect">
                                  <p:stCondLst>
                                    <p:cond delay="0"/>
                                  </p:stCondLst>
                                  <p:childTnLst>
                                    <p:animMotion origin="layout" path="M -3.05556E-6 2.59259E-6 L -3.05556E-6 0.12014 " pathEditMode="relative" rAng="0" ptsTypes="AA">
                                      <p:cBhvr>
                                        <p:cTn id="45" dur="2000" fill="hold"/>
                                        <p:tgtEl>
                                          <p:spTgt spid="9"/>
                                        </p:tgtEl>
                                        <p:attrNameLst>
                                          <p:attrName>ppt_x</p:attrName>
                                          <p:attrName>ppt_y</p:attrName>
                                        </p:attrNameLst>
                                      </p:cBhvr>
                                      <p:rCtr x="0" y="5995"/>
                                    </p:animMotion>
                                  </p:childTnLst>
                                </p:cTn>
                              </p:par>
                            </p:childTnLst>
                          </p:cTn>
                        </p:par>
                      </p:childTnLst>
                    </p:cTn>
                  </p:par>
                  <p:par>
                    <p:cTn id="46" fill="hold">
                      <p:stCondLst>
                        <p:cond delay="indefinite"/>
                      </p:stCondLst>
                      <p:childTnLst>
                        <p:par>
                          <p:cTn id="47" fill="hold">
                            <p:stCondLst>
                              <p:cond delay="0"/>
                            </p:stCondLst>
                            <p:childTnLst>
                              <p:par>
                                <p:cTn id="48" presetID="0" presetClass="path" presetSubtype="0" accel="50000" decel="50000" fill="hold" nodeType="clickEffect">
                                  <p:stCondLst>
                                    <p:cond delay="0"/>
                                  </p:stCondLst>
                                  <p:childTnLst>
                                    <p:animMotion origin="layout" path="M -3.05556E-6 -7.40741E-7 L -0.00017 0.18681 " pathEditMode="relative" rAng="0" ptsTypes="AA">
                                      <p:cBhvr>
                                        <p:cTn id="49" dur="2000" fill="hold"/>
                                        <p:tgtEl>
                                          <p:spTgt spid="6"/>
                                        </p:tgtEl>
                                        <p:attrNameLst>
                                          <p:attrName>ppt_x</p:attrName>
                                          <p:attrName>ppt_y</p:attrName>
                                        </p:attrNameLst>
                                      </p:cBhvr>
                                      <p:rCtr x="-17" y="9329"/>
                                    </p:animMotion>
                                  </p:childTnLst>
                                </p:cTn>
                              </p:par>
                            </p:childTnLst>
                          </p:cTn>
                        </p:par>
                      </p:childTnLst>
                    </p:cTn>
                  </p:par>
                  <p:par>
                    <p:cTn id="50" fill="hold">
                      <p:stCondLst>
                        <p:cond delay="indefinite"/>
                      </p:stCondLst>
                      <p:childTnLst>
                        <p:par>
                          <p:cTn id="51" fill="hold">
                            <p:stCondLst>
                              <p:cond delay="0"/>
                            </p:stCondLst>
                            <p:childTnLst>
                              <p:par>
                                <p:cTn id="52" presetID="0" presetClass="path" presetSubtype="0" accel="50000" decel="50000" fill="hold" nodeType="clickEffect">
                                  <p:stCondLst>
                                    <p:cond delay="0"/>
                                  </p:stCondLst>
                                  <p:childTnLst>
                                    <p:animMotion origin="layout" path="M -3.05556E-6 -7.40741E-7 L -3.05556E-6 0.25417 " pathEditMode="relative" rAng="0" ptsTypes="AA">
                                      <p:cBhvr>
                                        <p:cTn id="53" dur="2000" fill="hold"/>
                                        <p:tgtEl>
                                          <p:spTgt spid="4"/>
                                        </p:tgtEl>
                                        <p:attrNameLst>
                                          <p:attrName>ppt_x</p:attrName>
                                          <p:attrName>ppt_y</p:attrName>
                                        </p:attrNameLst>
                                      </p:cBhvr>
                                      <p:rCtr x="0" y="12708"/>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71604" y="588475"/>
            <a:ext cx="4757328" cy="584775"/>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dirty="0"/>
              <a:t>|</a:t>
            </a:r>
            <a:r>
              <a:rPr kumimoji="1" lang="zh-CN" altLang="en-US" dirty="0"/>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3200" dirty="0">
                <a:solidFill>
                  <a:schemeClr val="tx1">
                    <a:lumMod val="50000"/>
                    <a:lumOff val="50000"/>
                  </a:schemeClr>
                </a:solidFill>
              </a:rPr>
              <a:t> </a:t>
            </a:r>
            <a:r>
              <a:rPr kumimoji="1" lang="en-US" altLang="zh-CN" sz="1600" dirty="0"/>
              <a:t>|</a:t>
            </a:r>
            <a:r>
              <a:rPr kumimoji="1" lang="zh-CN" altLang="en-US" sz="1600" dirty="0"/>
              <a:t> </a:t>
            </a:r>
            <a:r>
              <a:rPr kumimoji="1" lang="en-US" altLang="zh-CN" sz="2400" dirty="0"/>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sp>
        <p:nvSpPr>
          <p:cNvPr id="3" name="文本框 2"/>
          <p:cNvSpPr txBox="1"/>
          <p:nvPr/>
        </p:nvSpPr>
        <p:spPr>
          <a:xfrm>
            <a:off x="823630" y="4162973"/>
            <a:ext cx="8220009" cy="2000548"/>
          </a:xfrm>
          <a:prstGeom prst="rect">
            <a:avLst/>
          </a:prstGeom>
          <a:noFill/>
        </p:spPr>
        <p:txBody>
          <a:bodyPr wrap="square" rtlCol="0">
            <a:spAutoFit/>
          </a:bodyPr>
          <a:lstStyle/>
          <a:p>
            <a:pPr marL="342900" indent="-342900">
              <a:buFont typeface="Arial" charset="0"/>
              <a:buChar char="•"/>
            </a:pPr>
            <a:r>
              <a:rPr kumimoji="1" lang="zh-CN" altLang="en-US" dirty="0">
                <a:ea typeface="楷体" panose="02010609060101010101" pitchFamily="49" charset="-122"/>
              </a:rPr>
              <a:t>可写区域</a:t>
            </a:r>
            <a:r>
              <a:rPr kumimoji="1" lang="en-US" altLang="zh-CN" dirty="0">
                <a:ea typeface="楷体" panose="02010609060101010101" pitchFamily="49" charset="-122"/>
              </a:rPr>
              <a:t>(Writeable</a:t>
            </a:r>
            <a:r>
              <a:rPr kumimoji="1" lang="zh-CN" altLang="en-US" dirty="0">
                <a:ea typeface="楷体" panose="02010609060101010101" pitchFamily="49" charset="-122"/>
              </a:rPr>
              <a:t> </a:t>
            </a:r>
            <a:r>
              <a:rPr kumimoji="1" lang="en-US" altLang="zh-CN" dirty="0">
                <a:ea typeface="楷体" panose="02010609060101010101" pitchFamily="49" charset="-122"/>
              </a:rPr>
              <a:t>area) </a:t>
            </a:r>
            <a:r>
              <a:rPr kumimoji="1" lang="zh-CN" altLang="en-US" dirty="0">
                <a:ea typeface="楷体" panose="02010609060101010101" pitchFamily="49" charset="-122"/>
              </a:rPr>
              <a:t>可被</a:t>
            </a:r>
            <a:r>
              <a:rPr kumimoji="1" lang="en-US" altLang="zh-CN" dirty="0">
                <a:ea typeface="楷体" panose="02010609060101010101" pitchFamily="49" charset="-122"/>
              </a:rPr>
              <a:t>Guest APP</a:t>
            </a:r>
            <a:r>
              <a:rPr kumimoji="1" lang="zh-CN" altLang="en-US" dirty="0">
                <a:ea typeface="楷体" panose="02010609060101010101" pitchFamily="49" charset="-122"/>
              </a:rPr>
              <a:t>直接读写</a:t>
            </a:r>
            <a:endParaRPr kumimoji="1" lang="en-US" altLang="zh-CN" dirty="0">
              <a:ea typeface="楷体" panose="02010609060101010101" pitchFamily="49" charset="-122"/>
            </a:endParaRPr>
          </a:p>
          <a:p>
            <a:pPr marL="342900" indent="-342900">
              <a:buFont typeface="Arial" charset="0"/>
              <a:buChar char="•"/>
            </a:pPr>
            <a:endParaRPr kumimoji="1" lang="en-US" altLang="zh-CN" dirty="0">
              <a:ea typeface="楷体" panose="02010609060101010101" pitchFamily="49" charset="-122"/>
            </a:endParaRPr>
          </a:p>
          <a:p>
            <a:pPr marL="342900" indent="-342900">
              <a:buFont typeface="Arial" charset="0"/>
              <a:buChar char="•"/>
            </a:pPr>
            <a:r>
              <a:rPr kumimoji="1" lang="zh-CN" altLang="en-US" dirty="0">
                <a:ea typeface="楷体" panose="02010609060101010101" pitchFamily="49" charset="-122"/>
              </a:rPr>
              <a:t>对写保护区域</a:t>
            </a:r>
            <a:r>
              <a:rPr kumimoji="1" lang="en-US" altLang="zh-CN" dirty="0">
                <a:ea typeface="楷体" panose="02010609060101010101" pitchFamily="49" charset="-122"/>
              </a:rPr>
              <a:t>(write-protected</a:t>
            </a:r>
            <a:r>
              <a:rPr kumimoji="1" lang="zh-CN" altLang="en-US" dirty="0">
                <a:ea typeface="楷体" panose="02010609060101010101" pitchFamily="49" charset="-122"/>
              </a:rPr>
              <a:t> </a:t>
            </a:r>
            <a:r>
              <a:rPr kumimoji="1" lang="en-US" altLang="zh-CN" dirty="0">
                <a:ea typeface="楷体" panose="02010609060101010101" pitchFamily="49" charset="-122"/>
              </a:rPr>
              <a:t>area)</a:t>
            </a:r>
            <a:r>
              <a:rPr kumimoji="1" lang="zh-CN" altLang="en-US" dirty="0">
                <a:ea typeface="楷体" panose="02010609060101010101" pitchFamily="49" charset="-122"/>
              </a:rPr>
              <a:t> 的写由写时复制模块处理</a:t>
            </a:r>
            <a:endParaRPr kumimoji="1" lang="en-US" altLang="zh-CN" dirty="0">
              <a:solidFill>
                <a:srgbClr val="308CF4"/>
              </a:solidFill>
              <a:ea typeface="楷体" panose="02010609060101010101" pitchFamily="49" charset="-122"/>
            </a:endParaRPr>
          </a:p>
          <a:p>
            <a:pPr marL="342900" indent="-342900">
              <a:buFont typeface="Arial" charset="0"/>
              <a:buChar char="•"/>
            </a:pPr>
            <a:endParaRPr kumimoji="1" lang="en-US" altLang="zh-CN" dirty="0">
              <a:solidFill>
                <a:srgbClr val="308CF4"/>
              </a:solidFill>
              <a:ea typeface="楷体" panose="02010609060101010101" pitchFamily="49" charset="-122"/>
            </a:endParaRPr>
          </a:p>
          <a:p>
            <a:pPr marL="342900" indent="-342900">
              <a:buFont typeface="Arial" charset="0"/>
              <a:buChar char="•"/>
            </a:pPr>
            <a:r>
              <a:rPr kumimoji="1" lang="zh-CN" altLang="en-US" dirty="0">
                <a:ea typeface="楷体" panose="02010609060101010101" pitchFamily="49" charset="-122"/>
              </a:rPr>
              <a:t>对 </a:t>
            </a:r>
            <a:r>
              <a:rPr kumimoji="1" lang="en-US" altLang="zh-CN" dirty="0" err="1">
                <a:ea typeface="楷体" panose="02010609060101010101" pitchFamily="49" charset="-122"/>
              </a:rPr>
              <a:t>userfaultfd</a:t>
            </a:r>
            <a:r>
              <a:rPr kumimoji="1" lang="en-US" altLang="zh-CN" dirty="0">
                <a:ea typeface="楷体" panose="02010609060101010101" pitchFamily="49" charset="-122"/>
              </a:rPr>
              <a:t> </a:t>
            </a:r>
            <a:r>
              <a:rPr kumimoji="1" lang="zh-CN" altLang="en-US" dirty="0">
                <a:ea typeface="楷体" panose="02010609060101010101" pitchFamily="49" charset="-122"/>
              </a:rPr>
              <a:t>区域的读</a:t>
            </a:r>
            <a:r>
              <a:rPr kumimoji="1" lang="en-US" altLang="zh-CN" dirty="0">
                <a:ea typeface="楷体" panose="02010609060101010101" pitchFamily="49" charset="-122"/>
              </a:rPr>
              <a:t>/</a:t>
            </a:r>
            <a:r>
              <a:rPr kumimoji="1" lang="zh-CN" altLang="en-US" dirty="0">
                <a:ea typeface="楷体" panose="02010609060101010101" pitchFamily="49" charset="-122"/>
              </a:rPr>
              <a:t>写由镜像扩展模块处理</a:t>
            </a:r>
            <a:endParaRPr kumimoji="1" lang="en-US" altLang="zh-CN" dirty="0">
              <a:solidFill>
                <a:srgbClr val="FF6384"/>
              </a:solidFill>
              <a:ea typeface="楷体" panose="02010609060101010101" pitchFamily="49" charset="-122"/>
            </a:endParaRPr>
          </a:p>
          <a:p>
            <a:pPr marL="342900" indent="-342900">
              <a:buFont typeface="Arial" charset="0"/>
              <a:buChar char="•"/>
            </a:pPr>
            <a:endParaRPr kumimoji="1" lang="en-US" altLang="zh-CN" dirty="0"/>
          </a:p>
          <a:p>
            <a:endParaRPr kumimoji="1" lang="zh-CN" altLang="en-US" sz="1600" dirty="0"/>
          </a:p>
        </p:txBody>
      </p:sp>
      <p:sp>
        <p:nvSpPr>
          <p:cNvPr id="8" name="文本框 7"/>
          <p:cNvSpPr txBox="1"/>
          <p:nvPr/>
        </p:nvSpPr>
        <p:spPr>
          <a:xfrm>
            <a:off x="468339" y="1427549"/>
            <a:ext cx="2075696" cy="400110"/>
          </a:xfrm>
          <a:prstGeom prst="rect">
            <a:avLst/>
          </a:prstGeom>
          <a:noFill/>
        </p:spPr>
        <p:txBody>
          <a:bodyPr wrap="none" rtlCol="0">
            <a:spAutoFit/>
          </a:bodyPr>
          <a:lstStyle/>
          <a:p>
            <a:r>
              <a:rPr kumimoji="1" lang="en-US" altLang="zh-CN" sz="2000" dirty="0" err="1">
                <a:solidFill>
                  <a:srgbClr val="308CF4"/>
                </a:solidFill>
              </a:rPr>
              <a:t>Pcow</a:t>
            </a:r>
            <a:r>
              <a:rPr kumimoji="1" lang="en-US" altLang="zh-CN" sz="2000" dirty="0">
                <a:solidFill>
                  <a:srgbClr val="308CF4"/>
                </a:solidFill>
              </a:rPr>
              <a:t> </a:t>
            </a:r>
            <a:r>
              <a:rPr kumimoji="1" lang="zh-CN" altLang="en-US" sz="2000" dirty="0">
                <a:solidFill>
                  <a:srgbClr val="308CF4"/>
                </a:solidFill>
                <a:latin typeface="楷体" panose="02010609060101010101" pitchFamily="49" charset="-122"/>
                <a:ea typeface="楷体" panose="02010609060101010101" pitchFamily="49" charset="-122"/>
              </a:rPr>
              <a:t>运行时更新</a:t>
            </a:r>
          </a:p>
        </p:txBody>
      </p:sp>
      <p:pic>
        <p:nvPicPr>
          <p:cNvPr id="10" name="图片 9"/>
          <p:cNvPicPr>
            <a:picLocks noChangeAspect="1"/>
          </p:cNvPicPr>
          <p:nvPr/>
        </p:nvPicPr>
        <p:blipFill>
          <a:blip r:embed="rId3"/>
          <a:stretch>
            <a:fillRect/>
          </a:stretch>
        </p:blipFill>
        <p:spPr>
          <a:xfrm>
            <a:off x="2168307" y="2140047"/>
            <a:ext cx="5040000" cy="1368517"/>
          </a:xfrm>
          <a:prstGeom prst="rect">
            <a:avLst/>
          </a:prstGeom>
        </p:spPr>
      </p:pic>
    </p:spTree>
    <p:extLst>
      <p:ext uri="{BB962C8B-B14F-4D97-AF65-F5344CB8AC3E}">
        <p14:creationId xmlns:p14="http://schemas.microsoft.com/office/powerpoint/2010/main" val="5149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1604" y="588475"/>
            <a:ext cx="4757328" cy="584775"/>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dirty="0"/>
              <a:t>|</a:t>
            </a:r>
            <a:r>
              <a:rPr kumimoji="1" lang="zh-CN" altLang="en-US" dirty="0"/>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3200" dirty="0">
                <a:solidFill>
                  <a:schemeClr val="tx1">
                    <a:lumMod val="50000"/>
                    <a:lumOff val="50000"/>
                  </a:schemeClr>
                </a:solidFill>
              </a:rPr>
              <a:t> </a:t>
            </a:r>
            <a:r>
              <a:rPr kumimoji="1" lang="en-US" altLang="zh-CN" sz="1600" dirty="0"/>
              <a:t>|</a:t>
            </a:r>
            <a:r>
              <a:rPr kumimoji="1" lang="zh-CN" altLang="en-US" sz="1600" dirty="0"/>
              <a:t> </a:t>
            </a:r>
            <a:r>
              <a:rPr kumimoji="1" lang="en-US" altLang="zh-CN" sz="2400" dirty="0"/>
              <a:t>Details</a:t>
            </a:r>
            <a:r>
              <a:rPr kumimoji="1" lang="zh-CN" altLang="en-US" dirty="0"/>
              <a:t> </a:t>
            </a:r>
            <a:r>
              <a:rPr kumimoji="1" lang="en-US" altLang="zh-CN" sz="1400" dirty="0"/>
              <a:t>|</a:t>
            </a:r>
            <a:r>
              <a:rPr kumimoji="1" lang="zh-CN" altLang="en-US" dirty="0"/>
              <a:t> </a:t>
            </a:r>
            <a:r>
              <a:rPr kumimoji="1" lang="en-US" altLang="zh-CN" sz="1400" dirty="0">
                <a:solidFill>
                  <a:schemeClr val="tx1">
                    <a:lumMod val="50000"/>
                    <a:lumOff val="50000"/>
                  </a:schemeClr>
                </a:solidFill>
              </a:rPr>
              <a:t>Evaluation</a:t>
            </a:r>
            <a:endParaRPr kumimoji="1" lang="zh-CN" altLang="en-US" sz="1400" dirty="0">
              <a:solidFill>
                <a:schemeClr val="tx1">
                  <a:lumMod val="50000"/>
                  <a:lumOff val="50000"/>
                </a:schemeClr>
              </a:solidFill>
            </a:endParaRPr>
          </a:p>
        </p:txBody>
      </p:sp>
      <p:sp>
        <p:nvSpPr>
          <p:cNvPr id="8" name="文本框 7"/>
          <p:cNvSpPr txBox="1"/>
          <p:nvPr/>
        </p:nvSpPr>
        <p:spPr>
          <a:xfrm>
            <a:off x="468339" y="1427549"/>
            <a:ext cx="2075696" cy="400110"/>
          </a:xfrm>
          <a:prstGeom prst="rect">
            <a:avLst/>
          </a:prstGeom>
          <a:noFill/>
        </p:spPr>
        <p:txBody>
          <a:bodyPr wrap="none" rtlCol="0">
            <a:spAutoFit/>
          </a:bodyPr>
          <a:lstStyle/>
          <a:p>
            <a:r>
              <a:rPr kumimoji="1" lang="en-US" altLang="zh-CN" sz="2000" dirty="0" err="1">
                <a:solidFill>
                  <a:srgbClr val="308CF4"/>
                </a:solidFill>
              </a:rPr>
              <a:t>Pcow</a:t>
            </a:r>
            <a:r>
              <a:rPr kumimoji="1" lang="en-US" altLang="zh-CN" sz="2000" dirty="0">
                <a:solidFill>
                  <a:srgbClr val="308CF4"/>
                </a:solidFill>
              </a:rPr>
              <a:t> </a:t>
            </a:r>
            <a:r>
              <a:rPr kumimoji="1" lang="zh-CN" altLang="en-US" sz="2000" dirty="0">
                <a:solidFill>
                  <a:srgbClr val="308CF4"/>
                </a:solidFill>
                <a:latin typeface="楷体" panose="02010609060101010101" pitchFamily="49" charset="-122"/>
                <a:ea typeface="楷体" panose="02010609060101010101" pitchFamily="49" charset="-122"/>
              </a:rPr>
              <a:t>运行时更新</a:t>
            </a:r>
          </a:p>
        </p:txBody>
      </p:sp>
      <p:grpSp>
        <p:nvGrpSpPr>
          <p:cNvPr id="12" name="组 11"/>
          <p:cNvGrpSpPr/>
          <p:nvPr/>
        </p:nvGrpSpPr>
        <p:grpSpPr>
          <a:xfrm>
            <a:off x="1618990" y="2638985"/>
            <a:ext cx="4636843" cy="1640891"/>
            <a:chOff x="4289039" y="2424430"/>
            <a:chExt cx="4085528" cy="1289211"/>
          </a:xfrm>
        </p:grpSpPr>
        <p:pic>
          <p:nvPicPr>
            <p:cNvPr id="2" name="图片 1"/>
            <p:cNvPicPr>
              <a:picLocks noChangeAspect="1"/>
            </p:cNvPicPr>
            <p:nvPr/>
          </p:nvPicPr>
          <p:blipFill>
            <a:blip r:embed="rId3"/>
            <a:stretch>
              <a:fillRect/>
            </a:stretch>
          </p:blipFill>
          <p:spPr>
            <a:xfrm>
              <a:off x="4289039" y="2424430"/>
              <a:ext cx="4085528" cy="1289211"/>
            </a:xfrm>
            <a:prstGeom prst="rect">
              <a:avLst/>
            </a:prstGeom>
            <a:ln>
              <a:noFill/>
            </a:ln>
            <a:effectLst>
              <a:outerShdw blurRad="292100" dist="139700" dir="2700000" algn="tl" rotWithShape="0">
                <a:srgbClr val="333333">
                  <a:alpha val="65000"/>
                </a:srgbClr>
              </a:outerShdw>
            </a:effectLst>
          </p:spPr>
        </p:pic>
        <p:sp>
          <p:nvSpPr>
            <p:cNvPr id="7" name="矩形 6"/>
            <p:cNvSpPr/>
            <p:nvPr/>
          </p:nvSpPr>
          <p:spPr>
            <a:xfrm>
              <a:off x="4553410" y="2609386"/>
              <a:ext cx="3564678" cy="34395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p:cNvSpPr/>
            <p:nvPr/>
          </p:nvSpPr>
          <p:spPr>
            <a:xfrm>
              <a:off x="4553410" y="3138298"/>
              <a:ext cx="3564678" cy="33644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9" name="文本框 8"/>
          <p:cNvSpPr txBox="1"/>
          <p:nvPr/>
        </p:nvSpPr>
        <p:spPr>
          <a:xfrm>
            <a:off x="692662" y="4934285"/>
            <a:ext cx="6353855" cy="1015663"/>
          </a:xfrm>
          <a:prstGeom prst="rect">
            <a:avLst/>
          </a:prstGeom>
          <a:noFill/>
        </p:spPr>
        <p:txBody>
          <a:bodyPr wrap="none" rtlCol="0">
            <a:spAutoFit/>
          </a:bodyPr>
          <a:lstStyle/>
          <a:p>
            <a:pPr marL="342900" indent="-342900">
              <a:buFont typeface="Arial" charset="0"/>
              <a:buChar char="•"/>
            </a:pPr>
            <a:r>
              <a:rPr lang="en-US" altLang="zh-CN" sz="2000" dirty="0" err="1">
                <a:ea typeface="楷体" panose="02010609060101010101" pitchFamily="49" charset="-122"/>
              </a:rPr>
              <a:t>clflush</a:t>
            </a:r>
            <a:r>
              <a:rPr lang="zh-CN" altLang="en-US" sz="2000" dirty="0">
                <a:ea typeface="楷体" panose="02010609060101010101" pitchFamily="49" charset="-122"/>
              </a:rPr>
              <a:t> 和 </a:t>
            </a:r>
            <a:r>
              <a:rPr lang="en-US" altLang="zh-CN" sz="2000" dirty="0" err="1">
                <a:ea typeface="楷体" panose="02010609060101010101" pitchFamily="49" charset="-122"/>
              </a:rPr>
              <a:t>sfence</a:t>
            </a:r>
            <a:r>
              <a:rPr lang="zh-CN" altLang="en-US" sz="2000" dirty="0">
                <a:ea typeface="楷体" panose="02010609060101010101" pitchFamily="49" charset="-122"/>
              </a:rPr>
              <a:t>指令被用来维护元数据的崩溃一致性</a:t>
            </a:r>
            <a:endParaRPr lang="en-US" altLang="zh-CN" sz="2000" dirty="0">
              <a:ea typeface="楷体" panose="02010609060101010101" pitchFamily="49" charset="-122"/>
            </a:endParaRPr>
          </a:p>
          <a:p>
            <a:pPr marL="342900" indent="-342900">
              <a:buFont typeface="Arial" charset="0"/>
              <a:buChar char="•"/>
            </a:pPr>
            <a:endParaRPr lang="en-US" altLang="zh-CN" sz="2000" dirty="0"/>
          </a:p>
          <a:p>
            <a:endParaRPr lang="en-US" altLang="zh-CN" sz="2000" dirty="0"/>
          </a:p>
        </p:txBody>
      </p:sp>
    </p:spTree>
    <p:extLst>
      <p:ext uri="{BB962C8B-B14F-4D97-AF65-F5344CB8AC3E}">
        <p14:creationId xmlns:p14="http://schemas.microsoft.com/office/powerpoint/2010/main" val="1157460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5094280" cy="523220"/>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sz="1600" dirty="0"/>
              <a:t>|</a:t>
            </a:r>
            <a:r>
              <a:rPr kumimoji="1" lang="zh-CN" altLang="en-US" sz="1600" dirty="0">
                <a:solidFill>
                  <a:schemeClr val="tx1">
                    <a:lumMod val="50000"/>
                    <a:lumOff val="50000"/>
                  </a:schemeClr>
                </a:solidFill>
              </a:rPr>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1600" dirty="0">
                <a:solidFill>
                  <a:schemeClr val="tx1">
                    <a:lumMod val="50000"/>
                    <a:lumOff val="50000"/>
                  </a:schemeClr>
                </a:solidFill>
              </a:rPr>
              <a:t> </a:t>
            </a:r>
            <a:r>
              <a:rPr kumimoji="1" lang="en-US" altLang="zh-CN" sz="1600" dirty="0"/>
              <a:t>|</a:t>
            </a:r>
            <a:r>
              <a:rPr kumimoji="1" lang="zh-CN" altLang="en-US" sz="1600" dirty="0"/>
              <a:t> </a:t>
            </a:r>
            <a:r>
              <a:rPr kumimoji="1" lang="en-US" altLang="zh-CN" sz="1400" dirty="0">
                <a:solidFill>
                  <a:schemeClr val="tx1">
                    <a:lumMod val="50000"/>
                    <a:lumOff val="50000"/>
                  </a:schemeClr>
                </a:solidFill>
              </a:rPr>
              <a:t>Details</a:t>
            </a:r>
            <a:r>
              <a:rPr kumimoji="1" lang="zh-CN" altLang="en-US" dirty="0"/>
              <a:t> </a:t>
            </a:r>
            <a:r>
              <a:rPr kumimoji="1" lang="en-US" altLang="zh-CN" sz="1600" dirty="0"/>
              <a:t>|</a:t>
            </a:r>
            <a:r>
              <a:rPr kumimoji="1" lang="zh-CN" altLang="en-US" dirty="0"/>
              <a:t> </a:t>
            </a:r>
            <a:r>
              <a:rPr kumimoji="1" lang="en-US" altLang="zh-CN" sz="2800" dirty="0"/>
              <a:t>Evaluation</a:t>
            </a:r>
            <a:endParaRPr kumimoji="1" lang="zh-CN" altLang="en-US" sz="2800" dirty="0"/>
          </a:p>
        </p:txBody>
      </p:sp>
      <p:pic>
        <p:nvPicPr>
          <p:cNvPr id="3" name="图片 2"/>
          <p:cNvPicPr>
            <a:picLocks noChangeAspect="1"/>
          </p:cNvPicPr>
          <p:nvPr/>
        </p:nvPicPr>
        <p:blipFill>
          <a:blip r:embed="rId3"/>
          <a:stretch>
            <a:fillRect/>
          </a:stretch>
        </p:blipFill>
        <p:spPr>
          <a:xfrm>
            <a:off x="472094" y="1778255"/>
            <a:ext cx="4673421" cy="3987115"/>
          </a:xfrm>
          <a:prstGeom prst="rect">
            <a:avLst/>
          </a:prstGeom>
        </p:spPr>
      </p:pic>
      <p:sp>
        <p:nvSpPr>
          <p:cNvPr id="2" name="文本框 1"/>
          <p:cNvSpPr txBox="1"/>
          <p:nvPr/>
        </p:nvSpPr>
        <p:spPr>
          <a:xfrm>
            <a:off x="5873857" y="2392655"/>
            <a:ext cx="2493183" cy="923330"/>
          </a:xfrm>
          <a:prstGeom prst="rect">
            <a:avLst/>
          </a:prstGeom>
          <a:noFill/>
        </p:spPr>
        <p:txBody>
          <a:bodyPr wrap="none" rtlCol="0">
            <a:spAutoFit/>
          </a:bodyPr>
          <a:lstStyle/>
          <a:p>
            <a:pPr marL="285750" indent="-285750">
              <a:buFont typeface="Arial" charset="0"/>
              <a:buChar char="•"/>
            </a:pPr>
            <a:r>
              <a:rPr kumimoji="1" lang="en-US" altLang="zh-CN" dirty="0" err="1"/>
              <a:t>Fio</a:t>
            </a:r>
            <a:r>
              <a:rPr kumimoji="1" lang="zh-CN" altLang="en-US" dirty="0"/>
              <a:t> </a:t>
            </a:r>
            <a:r>
              <a:rPr kumimoji="1" lang="en-US" altLang="zh-CN" dirty="0"/>
              <a:t>4KB</a:t>
            </a:r>
            <a:r>
              <a:rPr kumimoji="1" lang="zh-CN" altLang="en-US" dirty="0"/>
              <a:t> </a:t>
            </a:r>
            <a:r>
              <a:rPr kumimoji="1" lang="en-US" altLang="zh-CN" dirty="0"/>
              <a:t>single</a:t>
            </a:r>
            <a:r>
              <a:rPr kumimoji="1" lang="zh-CN" altLang="en-US" dirty="0"/>
              <a:t> </a:t>
            </a:r>
            <a:r>
              <a:rPr kumimoji="1" lang="en-US" altLang="zh-CN" dirty="0"/>
              <a:t>thread</a:t>
            </a:r>
          </a:p>
          <a:p>
            <a:pPr marL="285750" indent="-285750">
              <a:buFont typeface="Arial" charset="0"/>
              <a:buChar char="•"/>
            </a:pPr>
            <a:r>
              <a:rPr kumimoji="1" lang="en-US" altLang="zh-CN" dirty="0" err="1"/>
              <a:t>mmap</a:t>
            </a:r>
            <a:r>
              <a:rPr kumimoji="1" lang="zh-CN" altLang="en-US" dirty="0"/>
              <a:t> </a:t>
            </a:r>
            <a:r>
              <a:rPr kumimoji="1" lang="en-US" altLang="zh-CN" dirty="0"/>
              <a:t>engine</a:t>
            </a:r>
            <a:r>
              <a:rPr kumimoji="1" lang="zh-CN" altLang="en-US" dirty="0"/>
              <a:t> </a:t>
            </a:r>
            <a:r>
              <a:rPr kumimoji="1" lang="en-US" altLang="zh-CN" dirty="0"/>
              <a:t>(-</a:t>
            </a:r>
            <a:r>
              <a:rPr kumimoji="1" lang="en-US" altLang="zh-CN" dirty="0" err="1"/>
              <a:t>dax</a:t>
            </a:r>
            <a:r>
              <a:rPr kumimoji="1" lang="en-US" altLang="zh-CN" dirty="0"/>
              <a:t>)</a:t>
            </a:r>
          </a:p>
          <a:p>
            <a:pPr marL="285750" indent="-285750">
              <a:buFont typeface="Arial" charset="0"/>
              <a:buChar char="•"/>
            </a:pPr>
            <a:r>
              <a:rPr kumimoji="1" lang="en-US" altLang="zh-CN" dirty="0" err="1"/>
              <a:t>pvsync</a:t>
            </a:r>
            <a:r>
              <a:rPr kumimoji="1" lang="zh-CN" altLang="en-US" dirty="0"/>
              <a:t> </a:t>
            </a:r>
            <a:r>
              <a:rPr kumimoji="1" lang="en-US" altLang="zh-CN" dirty="0"/>
              <a:t>engine</a:t>
            </a:r>
            <a:r>
              <a:rPr kumimoji="1" lang="zh-CN" altLang="en-US" dirty="0"/>
              <a:t> </a:t>
            </a:r>
            <a:r>
              <a:rPr kumimoji="1" lang="en-US" altLang="zh-CN" dirty="0"/>
              <a:t>(-</a:t>
            </a:r>
            <a:r>
              <a:rPr kumimoji="1" lang="en-US" altLang="zh-CN" dirty="0" err="1"/>
              <a:t>blk</a:t>
            </a:r>
            <a:r>
              <a:rPr kumimoji="1" lang="en-US" altLang="zh-CN" dirty="0"/>
              <a:t>)</a:t>
            </a:r>
            <a:endParaRPr kumimoji="1" lang="zh-CN" altLang="en-US" dirty="0"/>
          </a:p>
        </p:txBody>
      </p:sp>
      <p:sp>
        <p:nvSpPr>
          <p:cNvPr id="6" name="文本框 5"/>
          <p:cNvSpPr txBox="1"/>
          <p:nvPr/>
        </p:nvSpPr>
        <p:spPr>
          <a:xfrm>
            <a:off x="5433319" y="4097699"/>
            <a:ext cx="3431965" cy="1200329"/>
          </a:xfrm>
          <a:prstGeom prst="rect">
            <a:avLst/>
          </a:prstGeom>
          <a:noFill/>
        </p:spPr>
        <p:txBody>
          <a:bodyPr wrap="none" rtlCol="0">
            <a:spAutoFit/>
          </a:bodyPr>
          <a:lstStyle/>
          <a:p>
            <a:r>
              <a:rPr kumimoji="1" lang="en-US" altLang="zh-CN" dirty="0" err="1"/>
              <a:t>Pcow-dax</a:t>
            </a:r>
            <a:r>
              <a:rPr kumimoji="1" lang="zh-CN" altLang="en-US" dirty="0"/>
              <a:t> </a:t>
            </a:r>
            <a:r>
              <a:rPr kumimoji="1" lang="en-US" altLang="zh-CN" dirty="0"/>
              <a:t>introduce</a:t>
            </a:r>
            <a:r>
              <a:rPr kumimoji="1" lang="zh-CN" altLang="en-US" dirty="0"/>
              <a:t> </a:t>
            </a:r>
            <a:r>
              <a:rPr kumimoji="1" lang="en-US" altLang="zh-CN" dirty="0"/>
              <a:t>almost</a:t>
            </a:r>
            <a:r>
              <a:rPr kumimoji="1" lang="zh-CN" altLang="en-US" dirty="0"/>
              <a:t> </a:t>
            </a:r>
            <a:r>
              <a:rPr kumimoji="1" lang="en-US" altLang="zh-CN" dirty="0"/>
              <a:t>no</a:t>
            </a:r>
          </a:p>
          <a:p>
            <a:r>
              <a:rPr kumimoji="1" lang="en-US" altLang="zh-CN" dirty="0"/>
              <a:t>Overhead</a:t>
            </a:r>
            <a:r>
              <a:rPr kumimoji="1" lang="zh-CN" altLang="en-US" dirty="0"/>
              <a:t> </a:t>
            </a:r>
            <a:r>
              <a:rPr kumimoji="1" lang="en-US" altLang="zh-CN" dirty="0"/>
              <a:t>compared</a:t>
            </a:r>
            <a:r>
              <a:rPr kumimoji="1" lang="zh-CN" altLang="en-US" dirty="0"/>
              <a:t> </a:t>
            </a:r>
            <a:r>
              <a:rPr kumimoji="1" lang="en-US" altLang="zh-CN" dirty="0"/>
              <a:t>with</a:t>
            </a:r>
            <a:r>
              <a:rPr kumimoji="1" lang="zh-CN" altLang="en-US" dirty="0"/>
              <a:t> </a:t>
            </a:r>
            <a:r>
              <a:rPr kumimoji="1" lang="en-US" altLang="zh-CN" dirty="0"/>
              <a:t>raw-</a:t>
            </a:r>
            <a:r>
              <a:rPr kumimoji="1" lang="en-US" altLang="zh-CN" dirty="0" err="1"/>
              <a:t>dax</a:t>
            </a:r>
            <a:r>
              <a:rPr kumimoji="1" lang="en-US" altLang="zh-CN" dirty="0"/>
              <a:t>.</a:t>
            </a:r>
          </a:p>
          <a:p>
            <a:endParaRPr kumimoji="1" lang="en-US" altLang="zh-CN" dirty="0"/>
          </a:p>
          <a:p>
            <a:endParaRPr kumimoji="1" lang="zh-CN" altLang="en-US" dirty="0"/>
          </a:p>
        </p:txBody>
      </p:sp>
    </p:spTree>
    <p:extLst>
      <p:ext uri="{BB962C8B-B14F-4D97-AF65-F5344CB8AC3E}">
        <p14:creationId xmlns:p14="http://schemas.microsoft.com/office/powerpoint/2010/main" val="1013247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5094280" cy="523220"/>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sz="1600" dirty="0"/>
              <a:t>|</a:t>
            </a:r>
            <a:r>
              <a:rPr kumimoji="1" lang="zh-CN" altLang="en-US" sz="1600" dirty="0">
                <a:solidFill>
                  <a:schemeClr val="tx1">
                    <a:lumMod val="50000"/>
                    <a:lumOff val="50000"/>
                  </a:schemeClr>
                </a:solidFill>
              </a:rPr>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1600" dirty="0">
                <a:solidFill>
                  <a:schemeClr val="tx1">
                    <a:lumMod val="50000"/>
                    <a:lumOff val="50000"/>
                  </a:schemeClr>
                </a:solidFill>
              </a:rPr>
              <a:t> </a:t>
            </a:r>
            <a:r>
              <a:rPr kumimoji="1" lang="en-US" altLang="zh-CN" sz="1600" dirty="0"/>
              <a:t>|</a:t>
            </a:r>
            <a:r>
              <a:rPr kumimoji="1" lang="zh-CN" altLang="en-US" sz="1600" dirty="0"/>
              <a:t> </a:t>
            </a:r>
            <a:r>
              <a:rPr kumimoji="1" lang="en-US" altLang="zh-CN" sz="1400" dirty="0">
                <a:solidFill>
                  <a:schemeClr val="tx1">
                    <a:lumMod val="50000"/>
                    <a:lumOff val="50000"/>
                  </a:schemeClr>
                </a:solidFill>
              </a:rPr>
              <a:t>Details</a:t>
            </a:r>
            <a:r>
              <a:rPr kumimoji="1" lang="zh-CN" altLang="en-US" dirty="0"/>
              <a:t> </a:t>
            </a:r>
            <a:r>
              <a:rPr kumimoji="1" lang="en-US" altLang="zh-CN" sz="1600" dirty="0"/>
              <a:t>|</a:t>
            </a:r>
            <a:r>
              <a:rPr kumimoji="1" lang="zh-CN" altLang="en-US" dirty="0"/>
              <a:t> </a:t>
            </a:r>
            <a:r>
              <a:rPr kumimoji="1" lang="en-US" altLang="zh-CN" sz="2800" dirty="0"/>
              <a:t>Evaluation</a:t>
            </a:r>
            <a:endParaRPr kumimoji="1" lang="zh-CN" altLang="en-US" sz="2800" dirty="0"/>
          </a:p>
        </p:txBody>
      </p:sp>
      <p:pic>
        <p:nvPicPr>
          <p:cNvPr id="2" name="图片 1"/>
          <p:cNvPicPr>
            <a:picLocks noChangeAspect="1"/>
          </p:cNvPicPr>
          <p:nvPr/>
        </p:nvPicPr>
        <p:blipFill>
          <a:blip r:embed="rId2"/>
          <a:stretch>
            <a:fillRect/>
          </a:stretch>
        </p:blipFill>
        <p:spPr>
          <a:xfrm>
            <a:off x="734876" y="1913901"/>
            <a:ext cx="4621069" cy="3997912"/>
          </a:xfrm>
          <a:prstGeom prst="rect">
            <a:avLst/>
          </a:prstGeom>
        </p:spPr>
      </p:pic>
      <p:sp>
        <p:nvSpPr>
          <p:cNvPr id="6" name="文本框 5"/>
          <p:cNvSpPr txBox="1"/>
          <p:nvPr/>
        </p:nvSpPr>
        <p:spPr>
          <a:xfrm>
            <a:off x="5873857" y="2392655"/>
            <a:ext cx="2401811" cy="923330"/>
          </a:xfrm>
          <a:prstGeom prst="rect">
            <a:avLst/>
          </a:prstGeom>
          <a:noFill/>
        </p:spPr>
        <p:txBody>
          <a:bodyPr wrap="none" rtlCol="0">
            <a:spAutoFit/>
          </a:bodyPr>
          <a:lstStyle/>
          <a:p>
            <a:pPr marL="285750" indent="-285750">
              <a:buFont typeface="Arial" charset="0"/>
              <a:buChar char="•"/>
            </a:pPr>
            <a:r>
              <a:rPr kumimoji="1" lang="en-US" altLang="zh-CN" dirty="0" err="1"/>
              <a:t>Fio</a:t>
            </a:r>
            <a:r>
              <a:rPr kumimoji="1" lang="zh-CN" altLang="en-US" dirty="0"/>
              <a:t> </a:t>
            </a:r>
            <a:r>
              <a:rPr kumimoji="1" lang="en-US" altLang="zh-CN" dirty="0"/>
              <a:t>1MB</a:t>
            </a:r>
            <a:r>
              <a:rPr kumimoji="1" lang="zh-CN" altLang="en-US" dirty="0"/>
              <a:t> </a:t>
            </a:r>
            <a:r>
              <a:rPr kumimoji="1" lang="en-US" altLang="zh-CN" dirty="0"/>
              <a:t>16</a:t>
            </a:r>
            <a:r>
              <a:rPr kumimoji="1" lang="zh-CN" altLang="en-US" dirty="0"/>
              <a:t> </a:t>
            </a:r>
            <a:r>
              <a:rPr kumimoji="1" lang="en-US" altLang="zh-CN" dirty="0"/>
              <a:t>thread</a:t>
            </a:r>
          </a:p>
          <a:p>
            <a:pPr marL="285750" indent="-285750">
              <a:buFont typeface="Arial" charset="0"/>
              <a:buChar char="•"/>
            </a:pPr>
            <a:r>
              <a:rPr kumimoji="1" lang="en-US" altLang="zh-CN" dirty="0" err="1"/>
              <a:t>mmap</a:t>
            </a:r>
            <a:r>
              <a:rPr kumimoji="1" lang="zh-CN" altLang="en-US" dirty="0"/>
              <a:t> </a:t>
            </a:r>
            <a:r>
              <a:rPr kumimoji="1" lang="en-US" altLang="zh-CN" dirty="0"/>
              <a:t>engine</a:t>
            </a:r>
            <a:r>
              <a:rPr kumimoji="1" lang="zh-CN" altLang="en-US" dirty="0"/>
              <a:t> </a:t>
            </a:r>
            <a:r>
              <a:rPr kumimoji="1" lang="en-US" altLang="zh-CN" dirty="0"/>
              <a:t>(-</a:t>
            </a:r>
            <a:r>
              <a:rPr kumimoji="1" lang="en-US" altLang="zh-CN" dirty="0" err="1"/>
              <a:t>dax</a:t>
            </a:r>
            <a:r>
              <a:rPr kumimoji="1" lang="en-US" altLang="zh-CN" dirty="0"/>
              <a:t>)</a:t>
            </a:r>
          </a:p>
          <a:p>
            <a:pPr marL="285750" indent="-285750">
              <a:buFont typeface="Arial" charset="0"/>
              <a:buChar char="•"/>
            </a:pPr>
            <a:r>
              <a:rPr kumimoji="1" lang="en-US" altLang="zh-CN" dirty="0" err="1"/>
              <a:t>pvsync</a:t>
            </a:r>
            <a:r>
              <a:rPr kumimoji="1" lang="zh-CN" altLang="en-US" dirty="0"/>
              <a:t> </a:t>
            </a:r>
            <a:r>
              <a:rPr kumimoji="1" lang="en-US" altLang="zh-CN" dirty="0"/>
              <a:t>engine</a:t>
            </a:r>
            <a:r>
              <a:rPr kumimoji="1" lang="zh-CN" altLang="en-US" dirty="0"/>
              <a:t> </a:t>
            </a:r>
            <a:r>
              <a:rPr kumimoji="1" lang="en-US" altLang="zh-CN" dirty="0"/>
              <a:t>(-</a:t>
            </a:r>
            <a:r>
              <a:rPr kumimoji="1" lang="en-US" altLang="zh-CN" dirty="0" err="1"/>
              <a:t>blk</a:t>
            </a:r>
            <a:r>
              <a:rPr kumimoji="1" lang="en-US" altLang="zh-CN" dirty="0"/>
              <a:t>)</a:t>
            </a:r>
            <a:endParaRPr kumimoji="1" lang="zh-CN" altLang="en-US" dirty="0"/>
          </a:p>
        </p:txBody>
      </p:sp>
    </p:spTree>
    <p:extLst>
      <p:ext uri="{BB962C8B-B14F-4D97-AF65-F5344CB8AC3E}">
        <p14:creationId xmlns:p14="http://schemas.microsoft.com/office/powerpoint/2010/main" val="1965372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5094280" cy="523220"/>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sz="1600" dirty="0"/>
              <a:t>|</a:t>
            </a:r>
            <a:r>
              <a:rPr kumimoji="1" lang="zh-CN" altLang="en-US" sz="1600" dirty="0">
                <a:solidFill>
                  <a:schemeClr val="tx1">
                    <a:lumMod val="50000"/>
                    <a:lumOff val="50000"/>
                  </a:schemeClr>
                </a:solidFill>
              </a:rPr>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1600" dirty="0">
                <a:solidFill>
                  <a:schemeClr val="tx1">
                    <a:lumMod val="50000"/>
                    <a:lumOff val="50000"/>
                  </a:schemeClr>
                </a:solidFill>
              </a:rPr>
              <a:t> </a:t>
            </a:r>
            <a:r>
              <a:rPr kumimoji="1" lang="en-US" altLang="zh-CN" sz="1600" dirty="0"/>
              <a:t>|</a:t>
            </a:r>
            <a:r>
              <a:rPr kumimoji="1" lang="zh-CN" altLang="en-US" sz="1600" dirty="0"/>
              <a:t> </a:t>
            </a:r>
            <a:r>
              <a:rPr kumimoji="1" lang="en-US" altLang="zh-CN" sz="1400" dirty="0">
                <a:solidFill>
                  <a:schemeClr val="tx1">
                    <a:lumMod val="50000"/>
                    <a:lumOff val="50000"/>
                  </a:schemeClr>
                </a:solidFill>
              </a:rPr>
              <a:t>Details</a:t>
            </a:r>
            <a:r>
              <a:rPr kumimoji="1" lang="zh-CN" altLang="en-US" dirty="0"/>
              <a:t> </a:t>
            </a:r>
            <a:r>
              <a:rPr kumimoji="1" lang="en-US" altLang="zh-CN" sz="1600" dirty="0"/>
              <a:t>|</a:t>
            </a:r>
            <a:r>
              <a:rPr kumimoji="1" lang="zh-CN" altLang="en-US" dirty="0"/>
              <a:t> </a:t>
            </a:r>
            <a:r>
              <a:rPr kumimoji="1" lang="en-US" altLang="zh-CN" sz="2800" dirty="0"/>
              <a:t>Evaluation</a:t>
            </a:r>
            <a:endParaRPr kumimoji="1" lang="zh-CN" altLang="en-US" sz="2800" dirty="0"/>
          </a:p>
        </p:txBody>
      </p:sp>
      <p:pic>
        <p:nvPicPr>
          <p:cNvPr id="3" name="图片 2"/>
          <p:cNvPicPr>
            <a:picLocks noChangeAspect="1"/>
          </p:cNvPicPr>
          <p:nvPr/>
        </p:nvPicPr>
        <p:blipFill>
          <a:blip r:embed="rId2"/>
          <a:stretch>
            <a:fillRect/>
          </a:stretch>
        </p:blipFill>
        <p:spPr>
          <a:xfrm>
            <a:off x="695740" y="1776341"/>
            <a:ext cx="7275443" cy="3088554"/>
          </a:xfrm>
          <a:prstGeom prst="rect">
            <a:avLst/>
          </a:prstGeom>
        </p:spPr>
      </p:pic>
    </p:spTree>
    <p:extLst>
      <p:ext uri="{BB962C8B-B14F-4D97-AF65-F5344CB8AC3E}">
        <p14:creationId xmlns:p14="http://schemas.microsoft.com/office/powerpoint/2010/main" val="1159187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5094280" cy="523220"/>
          </a:xfrm>
          <a:prstGeom prst="rect">
            <a:avLst/>
          </a:prstGeom>
          <a:noFill/>
        </p:spPr>
        <p:txBody>
          <a:bodyPr wrap="none" rtlCol="0">
            <a:spAutoFit/>
          </a:bodyPr>
          <a:lstStyle/>
          <a:p>
            <a:r>
              <a:rPr kumimoji="1" lang="en-US" altLang="zh-CN" sz="1600" dirty="0">
                <a:solidFill>
                  <a:schemeClr val="tx1">
                    <a:lumMod val="50000"/>
                    <a:lumOff val="50000"/>
                  </a:schemeClr>
                </a:solidFill>
              </a:rPr>
              <a:t>Image</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Monitor</a:t>
            </a:r>
            <a:r>
              <a:rPr kumimoji="1" lang="zh-CN" altLang="en-US" sz="1600" dirty="0"/>
              <a:t> </a:t>
            </a:r>
            <a:r>
              <a:rPr kumimoji="1" lang="en-US" altLang="zh-CN" sz="1600" dirty="0"/>
              <a:t>|</a:t>
            </a:r>
            <a:r>
              <a:rPr kumimoji="1" lang="zh-CN" altLang="en-US" sz="1600" dirty="0">
                <a:solidFill>
                  <a:schemeClr val="tx1">
                    <a:lumMod val="50000"/>
                    <a:lumOff val="50000"/>
                  </a:schemeClr>
                </a:solidFill>
              </a:rPr>
              <a:t> </a:t>
            </a:r>
            <a:r>
              <a:rPr kumimoji="1" lang="en-US" altLang="zh-CN" sz="1600" dirty="0" err="1">
                <a:solidFill>
                  <a:schemeClr val="tx1">
                    <a:lumMod val="50000"/>
                    <a:lumOff val="50000"/>
                  </a:schemeClr>
                </a:solidFill>
              </a:rPr>
              <a:t>Pcow</a:t>
            </a:r>
            <a:r>
              <a:rPr kumimoji="1" lang="zh-CN" altLang="en-US" sz="1600" dirty="0">
                <a:solidFill>
                  <a:schemeClr val="tx1">
                    <a:lumMod val="50000"/>
                    <a:lumOff val="50000"/>
                  </a:schemeClr>
                </a:solidFill>
              </a:rPr>
              <a:t> </a:t>
            </a:r>
            <a:r>
              <a:rPr kumimoji="1" lang="en-US" altLang="zh-CN" sz="1600" dirty="0">
                <a:solidFill>
                  <a:schemeClr val="tx1">
                    <a:lumMod val="50000"/>
                    <a:lumOff val="50000"/>
                  </a:schemeClr>
                </a:solidFill>
              </a:rPr>
              <a:t>Format</a:t>
            </a:r>
            <a:r>
              <a:rPr kumimoji="1" lang="zh-CN" altLang="en-US" sz="1600" dirty="0">
                <a:solidFill>
                  <a:schemeClr val="tx1">
                    <a:lumMod val="50000"/>
                    <a:lumOff val="50000"/>
                  </a:schemeClr>
                </a:solidFill>
              </a:rPr>
              <a:t> </a:t>
            </a:r>
            <a:r>
              <a:rPr kumimoji="1" lang="en-US" altLang="zh-CN" sz="1600" dirty="0"/>
              <a:t>|</a:t>
            </a:r>
            <a:r>
              <a:rPr kumimoji="1" lang="zh-CN" altLang="en-US" sz="1600" dirty="0"/>
              <a:t> </a:t>
            </a:r>
            <a:r>
              <a:rPr kumimoji="1" lang="en-US" altLang="zh-CN" sz="1400" dirty="0">
                <a:solidFill>
                  <a:schemeClr val="tx1">
                    <a:lumMod val="50000"/>
                    <a:lumOff val="50000"/>
                  </a:schemeClr>
                </a:solidFill>
              </a:rPr>
              <a:t>Details</a:t>
            </a:r>
            <a:r>
              <a:rPr kumimoji="1" lang="zh-CN" altLang="en-US" dirty="0"/>
              <a:t> </a:t>
            </a:r>
            <a:r>
              <a:rPr kumimoji="1" lang="en-US" altLang="zh-CN" sz="1400" dirty="0"/>
              <a:t>|</a:t>
            </a:r>
            <a:r>
              <a:rPr kumimoji="1" lang="zh-CN" altLang="en-US" dirty="0"/>
              <a:t> </a:t>
            </a:r>
            <a:r>
              <a:rPr kumimoji="1" lang="en-US" altLang="zh-CN" sz="2800" dirty="0"/>
              <a:t>Evaluation</a:t>
            </a:r>
            <a:endParaRPr kumimoji="1" lang="zh-CN" altLang="en-US" sz="2800" dirty="0"/>
          </a:p>
        </p:txBody>
      </p:sp>
      <p:pic>
        <p:nvPicPr>
          <p:cNvPr id="6" name="图片 5"/>
          <p:cNvPicPr>
            <a:picLocks noChangeAspect="1"/>
          </p:cNvPicPr>
          <p:nvPr/>
        </p:nvPicPr>
        <p:blipFill>
          <a:blip r:embed="rId2"/>
          <a:stretch>
            <a:fillRect/>
          </a:stretch>
        </p:blipFill>
        <p:spPr>
          <a:xfrm>
            <a:off x="1794376" y="1764231"/>
            <a:ext cx="5651500" cy="3733800"/>
          </a:xfrm>
          <a:prstGeom prst="rect">
            <a:avLst/>
          </a:prstGeom>
        </p:spPr>
      </p:pic>
    </p:spTree>
    <p:extLst>
      <p:ext uri="{BB962C8B-B14F-4D97-AF65-F5344CB8AC3E}">
        <p14:creationId xmlns:p14="http://schemas.microsoft.com/office/powerpoint/2010/main" val="2080689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charset="0"/>
              <a:ea typeface="宋体" charset="0"/>
              <a:cs typeface="+mn-cs"/>
            </a:endParaRPr>
          </a:p>
        </p:txBody>
      </p:sp>
      <p:sp>
        <p:nvSpPr>
          <p:cNvPr id="2" name="文本框 1"/>
          <p:cNvSpPr txBox="1"/>
          <p:nvPr/>
        </p:nvSpPr>
        <p:spPr>
          <a:xfrm>
            <a:off x="6801492" y="436651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2974693" y="2465408"/>
            <a:ext cx="5797348" cy="2605521"/>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   持久性内存虚拟化介绍</a:t>
            </a:r>
            <a:endParaRPr kumimoji="1" lang="en-US" altLang="zh-CN"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   优化一：面向镜像管理的</a:t>
            </a:r>
            <a:r>
              <a:rPr kumimoji="1" lang="en-US" altLang="zh-CN" sz="2400" b="0" i="0" u="none" strike="noStrike" kern="1200" cap="none" spc="0" normalizeH="0" baseline="0" noProof="0" dirty="0">
                <a:ln>
                  <a:noFill/>
                </a:ln>
                <a:solidFill>
                  <a:schemeClr val="bg2">
                    <a:lumMod val="90000"/>
                  </a:schemeClr>
                </a:solidFill>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solidFill>
                <a:schemeClr val="bg2">
                  <a:lumMod val="90000"/>
                </a:schemeClr>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
                <a:prstClr val="white"/>
              </a:buClr>
              <a:buSzTx/>
              <a:buFont typeface="Arial" charset="0"/>
              <a:buChar char="•"/>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优化二：面向混合存储的</a:t>
            </a:r>
            <a:r>
              <a:rPr kumimoji="1"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宋体" panose="02010600030101010101" pitchFamily="2" charset="-122"/>
                <a:cs typeface="+mn-cs"/>
              </a:rPr>
              <a:t>PM</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虚拟化</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00100" lvl="1" indent="-342900">
              <a:lnSpc>
                <a:spcPct val="150000"/>
              </a:lnSpc>
              <a:buClr>
                <a:prstClr val="white"/>
              </a:buClr>
              <a:buFont typeface="Wingdings" panose="05000000000000000000" pitchFamily="2" charset="2"/>
              <a:buChar char="Ø"/>
            </a:pPr>
            <a:r>
              <a:rPr kumimoji="1"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非易失虚拟化</a:t>
            </a:r>
            <a:endParaRPr kumimoji="1" lang="en-US" altLang="zh-CN" sz="2000" dirty="0">
              <a:solidFill>
                <a:prstClr val="black"/>
              </a:solidFill>
              <a:latin typeface="宋体" panose="02010600030101010101" pitchFamily="2" charset="-122"/>
              <a:ea typeface="宋体" panose="02010600030101010101" pitchFamily="2" charset="-122"/>
            </a:endParaRPr>
          </a:p>
          <a:p>
            <a:pPr marL="800100" lvl="1" indent="-342900">
              <a:lnSpc>
                <a:spcPct val="150000"/>
              </a:lnSpc>
              <a:buClr>
                <a:prstClr val="white"/>
              </a:buClr>
              <a:buFont typeface="Wingdings" panose="05000000000000000000" pitchFamily="2" charset="2"/>
              <a:buChar char="Ø"/>
            </a:pPr>
            <a:r>
              <a:rPr kumimoji="1"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易失虚拟化</a:t>
            </a:r>
            <a:endParaRPr kumimoji="1"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1377696" y="1450848"/>
            <a:ext cx="175791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rPr>
              <a:t>Agenda</a:t>
            </a:r>
            <a:endParaRPr kumimoji="1" lang="zh-CN" altLang="en-US" sz="4000" b="0" i="0" u="none" strike="noStrike" kern="1200" cap="none" spc="0" normalizeH="0" baseline="0" noProof="0" dirty="0">
              <a:ln>
                <a:noFill/>
              </a:ln>
              <a:solidFill>
                <a:prstClr val="white">
                  <a:lumMod val="95000"/>
                </a:prstClr>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615687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2698175" cy="523220"/>
          </a:xfrm>
          <a:prstGeom prst="rect">
            <a:avLst/>
          </a:prstGeom>
          <a:noFill/>
        </p:spPr>
        <p:txBody>
          <a:bodyPr wrap="none" rtlCol="0">
            <a:spAutoFit/>
          </a:bodyPr>
          <a:lstStyle/>
          <a:p>
            <a:r>
              <a:rPr kumimoji="1" lang="zh-CN" altLang="en-US" sz="2800" dirty="0">
                <a:latin typeface="楷体" panose="02010609060101010101" pitchFamily="49" charset="-122"/>
                <a:ea typeface="楷体" panose="02010609060101010101" pitchFamily="49" charset="-122"/>
              </a:rPr>
              <a:t>非易失性虚拟化</a:t>
            </a:r>
          </a:p>
        </p:txBody>
      </p:sp>
      <p:sp>
        <p:nvSpPr>
          <p:cNvPr id="2" name="文本框 1">
            <a:extLst>
              <a:ext uri="{FF2B5EF4-FFF2-40B4-BE49-F238E27FC236}">
                <a16:creationId xmlns:a16="http://schemas.microsoft.com/office/drawing/2014/main" id="{5A02B1D0-E504-4499-A640-9C79A2184EF7}"/>
              </a:ext>
            </a:extLst>
          </p:cNvPr>
          <p:cNvSpPr txBox="1"/>
          <p:nvPr/>
        </p:nvSpPr>
        <p:spPr>
          <a:xfrm>
            <a:off x="671332" y="1794076"/>
            <a:ext cx="7627716" cy="3816429"/>
          </a:xfrm>
          <a:prstGeom prst="rect">
            <a:avLst/>
          </a:prstGeom>
          <a:noFill/>
        </p:spPr>
        <p:txBody>
          <a:bodyPr wrap="square" rtlCol="0">
            <a:spAutoFit/>
          </a:bodyPr>
          <a:lstStyle/>
          <a:p>
            <a:pPr algn="ctr"/>
            <a:endParaRPr lang="en-US" altLang="zh-CN" sz="3200" dirty="0">
              <a:latin typeface="Times New Roman" panose="02020603050405020304" pitchFamily="18" charset="0"/>
              <a:cs typeface="Times New Roman" panose="02020603050405020304" pitchFamily="18" charset="0"/>
            </a:endParaRPr>
          </a:p>
          <a:p>
            <a:pPr algn="ctr"/>
            <a:r>
              <a:rPr lang="en-US" altLang="zh-CN" sz="3200" dirty="0">
                <a:latin typeface="Times New Roman" panose="02020603050405020304" pitchFamily="18" charset="0"/>
                <a:cs typeface="Times New Roman" panose="02020603050405020304" pitchFamily="18" charset="0"/>
              </a:rPr>
              <a:t>A Case for Virtualizing Persistent Memory</a:t>
            </a:r>
            <a:br>
              <a:rPr lang="en-US" altLang="zh-CN" dirty="0"/>
            </a:br>
            <a:endParaRPr lang="en-US" altLang="zh-CN" dirty="0"/>
          </a:p>
          <a:p>
            <a:pPr algn="ctr"/>
            <a:r>
              <a:rPr lang="en-US" altLang="zh-CN" sz="2000" dirty="0"/>
              <a:t>Liang </a:t>
            </a:r>
            <a:r>
              <a:rPr lang="en-US" altLang="zh-CN" sz="2000" dirty="0" err="1"/>
              <a:t>Liang</a:t>
            </a:r>
            <a:r>
              <a:rPr lang="en-US" altLang="zh-CN" sz="2000" dirty="0"/>
              <a:t>, Rong Chen, </a:t>
            </a:r>
            <a:r>
              <a:rPr lang="en-US" altLang="zh-CN" sz="2000" dirty="0" err="1"/>
              <a:t>Haibo</a:t>
            </a:r>
            <a:r>
              <a:rPr lang="en-US" altLang="zh-CN" sz="2000" dirty="0"/>
              <a:t> Chen, </a:t>
            </a:r>
            <a:r>
              <a:rPr lang="en-US" altLang="zh-CN" sz="2000" dirty="0" err="1"/>
              <a:t>Yubin</a:t>
            </a:r>
            <a:r>
              <a:rPr lang="en-US" altLang="zh-CN" sz="2000" dirty="0"/>
              <a:t> Xia, †</a:t>
            </a:r>
            <a:r>
              <a:rPr lang="en-US" altLang="zh-CN" sz="2000" dirty="0" err="1"/>
              <a:t>KwanJong</a:t>
            </a:r>
            <a:r>
              <a:rPr lang="en-US" altLang="zh-CN" sz="2000" dirty="0"/>
              <a:t> Park, </a:t>
            </a:r>
            <a:r>
              <a:rPr lang="en-US" altLang="zh-CN" sz="2000" dirty="0" err="1"/>
              <a:t>Binyu</a:t>
            </a:r>
            <a:r>
              <a:rPr lang="en-US" altLang="zh-CN" sz="2000" dirty="0"/>
              <a:t> Zang, Haibing Guan</a:t>
            </a:r>
          </a:p>
          <a:p>
            <a:pPr algn="ctr"/>
            <a:br>
              <a:rPr lang="en-US" altLang="zh-CN" dirty="0"/>
            </a:br>
            <a:r>
              <a:rPr lang="en-US" altLang="zh-CN" dirty="0"/>
              <a:t>Shanghai Jiao Tong University</a:t>
            </a:r>
            <a:br>
              <a:rPr lang="en-US" altLang="zh-CN" dirty="0"/>
            </a:br>
            <a:r>
              <a:rPr lang="en-US" altLang="zh-CN" dirty="0"/>
              <a:t>†Samsung Electronics </a:t>
            </a:r>
          </a:p>
          <a:p>
            <a:pPr algn="ctr"/>
            <a:endParaRPr lang="en-US" altLang="zh-CN" dirty="0"/>
          </a:p>
          <a:p>
            <a:pPr algn="ctr"/>
            <a:r>
              <a:rPr lang="en-US" altLang="zh-CN" sz="2000" dirty="0"/>
              <a:t>In </a:t>
            </a:r>
            <a:r>
              <a:rPr lang="en-US" altLang="zh-CN" sz="2000" dirty="0" err="1"/>
              <a:t>SoCC</a:t>
            </a:r>
            <a:r>
              <a:rPr lang="zh-CN" altLang="en-US" sz="2000" dirty="0"/>
              <a:t>‘ </a:t>
            </a:r>
            <a:r>
              <a:rPr lang="en-US" altLang="zh-CN" sz="2000" dirty="0"/>
              <a:t>16</a:t>
            </a:r>
            <a:br>
              <a:rPr lang="en-US" altLang="zh-CN" sz="2400" dirty="0"/>
            </a:br>
            <a:endParaRPr lang="zh-CN" altLang="en-US" sz="2400" dirty="0"/>
          </a:p>
        </p:txBody>
      </p:sp>
    </p:spTree>
    <p:extLst>
      <p:ext uri="{BB962C8B-B14F-4D97-AF65-F5344CB8AC3E}">
        <p14:creationId xmlns:p14="http://schemas.microsoft.com/office/powerpoint/2010/main" val="1083386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 name="文本框 4"/>
          <p:cNvSpPr txBox="1"/>
          <p:nvPr/>
        </p:nvSpPr>
        <p:spPr>
          <a:xfrm>
            <a:off x="261665" y="628232"/>
            <a:ext cx="269817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非易失性虚拟化</a:t>
            </a:r>
          </a:p>
        </p:txBody>
      </p:sp>
      <p:sp>
        <p:nvSpPr>
          <p:cNvPr id="2" name="文本框 1">
            <a:extLst>
              <a:ext uri="{FF2B5EF4-FFF2-40B4-BE49-F238E27FC236}">
                <a16:creationId xmlns:a16="http://schemas.microsoft.com/office/drawing/2014/main" id="{5A02B1D0-E504-4499-A640-9C79A2184EF7}"/>
              </a:ext>
            </a:extLst>
          </p:cNvPr>
          <p:cNvSpPr txBox="1"/>
          <p:nvPr/>
        </p:nvSpPr>
        <p:spPr>
          <a:xfrm>
            <a:off x="671332" y="1794076"/>
            <a:ext cx="7627716" cy="3416320"/>
          </a:xfrm>
          <a:prstGeom prst="rect">
            <a:avLst/>
          </a:prstGeom>
          <a:noFill/>
        </p:spPr>
        <p:txBody>
          <a:bodyPr wrap="square" rtlCol="0">
            <a:spAutoFit/>
          </a:bodyPr>
          <a:lstStyle/>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2400" dirty="0">
                <a:solidFill>
                  <a:prstClr val="black"/>
                </a:solidFill>
                <a:latin typeface="Calibri" panose="020F0502020204030204"/>
                <a:ea typeface="楷体" panose="02010609060101010101" pitchFamily="49" charset="-122"/>
              </a:rPr>
              <a:t>PM</a:t>
            </a:r>
            <a:r>
              <a:rPr lang="zh-CN" altLang="en-US" sz="2400" dirty="0">
                <a:solidFill>
                  <a:prstClr val="black"/>
                </a:solidFill>
                <a:latin typeface="Calibri" panose="020F0502020204030204"/>
                <a:ea typeface="楷体" panose="02010609060101010101" pitchFamily="49" charset="-122"/>
              </a:rPr>
              <a:t>在</a:t>
            </a:r>
            <a:r>
              <a:rPr lang="en-US" altLang="zh-CN" sz="2400" dirty="0">
                <a:solidFill>
                  <a:prstClr val="black"/>
                </a:solidFill>
                <a:latin typeface="Calibri" panose="020F0502020204030204"/>
                <a:ea typeface="楷体" panose="02010609060101010101" pitchFamily="49" charset="-122"/>
              </a:rPr>
              <a:t>G</a:t>
            </a:r>
            <a:r>
              <a:rPr kumimoji="0" lang="en-US" altLang="zh-CN" sz="2400" b="0" i="0" u="none" strike="noStrike" kern="1200" cap="none" spc="0" normalizeH="0" baseline="0" noProof="0" dirty="0" err="1">
                <a:ln>
                  <a:noFill/>
                </a:ln>
                <a:solidFill>
                  <a:prstClr val="black"/>
                </a:solidFill>
                <a:effectLst/>
                <a:uLnTx/>
                <a:uFillTx/>
                <a:latin typeface="Calibri" panose="020F0502020204030204"/>
                <a:ea typeface="楷体" panose="02010609060101010101" pitchFamily="49" charset="-122"/>
                <a:cs typeface="+mn-cs"/>
              </a:rPr>
              <a:t>uest</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楷体" panose="02010609060101010101" pitchFamily="49" charset="-122"/>
                <a:cs typeface="+mn-cs"/>
              </a:rPr>
              <a:t> </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楷体" panose="02010609060101010101" pitchFamily="49" charset="-122"/>
                <a:cs typeface="+mn-cs"/>
              </a:rPr>
              <a:t>端是可见的</a:t>
            </a:r>
            <a:r>
              <a:rPr lang="zh-CN" altLang="en-US" sz="2400" dirty="0">
                <a:solidFill>
                  <a:prstClr val="black"/>
                </a:solidFill>
                <a:latin typeface="Calibri" panose="020F0502020204030204"/>
                <a:ea typeface="楷体" panose="02010609060101010101" pitchFamily="49" charset="-122"/>
              </a:rPr>
              <a:t>，虚拟化后不丧失持久性</a:t>
            </a: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solidFill>
                  <a:prstClr val="black"/>
                </a:solidFill>
                <a:latin typeface="Calibri" panose="020F0502020204030204"/>
                <a:ea typeface="楷体" panose="02010609060101010101" pitchFamily="49" charset="-122"/>
              </a:rPr>
              <a:t>分别利用全虚拟化和半虚拟化实现</a:t>
            </a:r>
            <a:r>
              <a:rPr lang="en-US" altLang="zh-CN" sz="2400" dirty="0">
                <a:solidFill>
                  <a:prstClr val="black"/>
                </a:solidFill>
                <a:latin typeface="Calibri" panose="020F0502020204030204"/>
                <a:ea typeface="楷体" panose="02010609060101010101" pitchFamily="49" charset="-122"/>
              </a:rPr>
              <a:t>PM</a:t>
            </a:r>
            <a:r>
              <a:rPr lang="zh-CN" altLang="en-US" sz="2400" dirty="0">
                <a:solidFill>
                  <a:prstClr val="black"/>
                </a:solidFill>
                <a:latin typeface="Calibri" panose="020F0502020204030204"/>
                <a:ea typeface="楷体" panose="02010609060101010101" pitchFamily="49" charset="-122"/>
              </a:rPr>
              <a:t>虚拟化</a:t>
            </a: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solidFill>
                  <a:prstClr val="black"/>
                </a:solidFill>
                <a:latin typeface="Calibri" panose="020F0502020204030204"/>
                <a:ea typeface="楷体" panose="02010609060101010101" pitchFamily="49" charset="-122"/>
              </a:rPr>
              <a:t>分别提供</a:t>
            </a:r>
            <a:r>
              <a:rPr lang="en-US" altLang="zh-CN" sz="2400" dirty="0">
                <a:solidFill>
                  <a:prstClr val="black"/>
                </a:solidFill>
                <a:latin typeface="Calibri" panose="020F0502020204030204"/>
                <a:ea typeface="楷体" panose="02010609060101010101" pitchFamily="49" charset="-122"/>
              </a:rPr>
              <a:t>I/O</a:t>
            </a:r>
            <a:r>
              <a:rPr lang="zh-CN" altLang="en-US" sz="2400" dirty="0">
                <a:solidFill>
                  <a:prstClr val="black"/>
                </a:solidFill>
                <a:latin typeface="Calibri" panose="020F0502020204030204"/>
                <a:ea typeface="楷体" panose="02010609060101010101" pitchFamily="49" charset="-122"/>
              </a:rPr>
              <a:t>访问接口和内存访问接口</a:t>
            </a: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solidFill>
                  <a:prstClr val="black"/>
                </a:solidFill>
                <a:latin typeface="Calibri" panose="020F0502020204030204"/>
                <a:ea typeface="楷体" panose="02010609060101010101" pitchFamily="49" charset="-122"/>
              </a:rPr>
              <a:t>虚拟化</a:t>
            </a:r>
            <a:r>
              <a:rPr lang="en-US" altLang="zh-CN" sz="2400" dirty="0">
                <a:solidFill>
                  <a:prstClr val="black"/>
                </a:solidFill>
                <a:latin typeface="Calibri" panose="020F0502020204030204"/>
                <a:ea typeface="楷体" panose="02010609060101010101" pitchFamily="49" charset="-122"/>
              </a:rPr>
              <a:t>PM</a:t>
            </a:r>
            <a:r>
              <a:rPr lang="zh-CN" altLang="en-US" sz="2400" dirty="0">
                <a:solidFill>
                  <a:prstClr val="black"/>
                </a:solidFill>
                <a:latin typeface="Calibri" panose="020F0502020204030204"/>
                <a:ea typeface="楷体" panose="02010609060101010101" pitchFamily="49" charset="-122"/>
              </a:rPr>
              <a:t>在</a:t>
            </a:r>
            <a:r>
              <a:rPr lang="en-US" altLang="zh-CN" sz="2400" dirty="0">
                <a:solidFill>
                  <a:prstClr val="black"/>
                </a:solidFill>
                <a:latin typeface="Calibri" panose="020F0502020204030204"/>
                <a:ea typeface="楷体" panose="02010609060101010101" pitchFamily="49" charset="-122"/>
              </a:rPr>
              <a:t>host</a:t>
            </a:r>
            <a:r>
              <a:rPr lang="zh-CN" altLang="en-US" sz="2400" dirty="0">
                <a:solidFill>
                  <a:prstClr val="black"/>
                </a:solidFill>
                <a:latin typeface="Calibri" panose="020F0502020204030204"/>
                <a:ea typeface="楷体" panose="02010609060101010101" pitchFamily="49" charset="-122"/>
              </a:rPr>
              <a:t>端可以分布在多种存储介质中</a:t>
            </a:r>
            <a:endParaRPr lang="en-US" altLang="zh-CN" sz="2400" dirty="0">
              <a:solidFill>
                <a:prstClr val="black"/>
              </a:solidFill>
              <a:latin typeface="Calibri" panose="020F0502020204030204"/>
              <a:ea typeface="楷体" panose="02010609060101010101" pitchFamily="49" charset="-122"/>
            </a:endParaRPr>
          </a:p>
          <a:p>
            <a:pPr marL="800100" lvl="1" indent="-342900">
              <a:buFont typeface="Arial" panose="020B0604020202020204" pitchFamily="34" charset="0"/>
              <a:buChar char="•"/>
            </a:pPr>
            <a:r>
              <a:rPr lang="en-US" altLang="zh-CN" sz="2400" dirty="0">
                <a:solidFill>
                  <a:prstClr val="black"/>
                </a:solidFill>
                <a:latin typeface="Calibri" panose="020F0502020204030204"/>
                <a:ea typeface="楷体" panose="02010609060101010101" pitchFamily="49" charset="-122"/>
              </a:rPr>
              <a:t>	</a:t>
            </a:r>
            <a:r>
              <a:rPr lang="zh-CN" altLang="en-US" sz="2400" dirty="0">
                <a:solidFill>
                  <a:prstClr val="black"/>
                </a:solidFill>
                <a:latin typeface="Calibri" panose="020F0502020204030204"/>
                <a:ea typeface="楷体" panose="02010609060101010101" pitchFamily="49" charset="-122"/>
              </a:rPr>
              <a:t>降低成本</a:t>
            </a:r>
            <a:endParaRPr lang="en-US" altLang="zh-CN" sz="2400" dirty="0">
              <a:solidFill>
                <a:prstClr val="black"/>
              </a:solidFill>
              <a:latin typeface="Calibri" panose="020F0502020204030204"/>
              <a:ea typeface="楷体" panose="02010609060101010101" pitchFamily="49" charset="-122"/>
            </a:endParaRPr>
          </a:p>
          <a:p>
            <a:pPr marL="800100" lvl="1" indent="-342900">
              <a:buFont typeface="Arial" panose="020B0604020202020204" pitchFamily="34" charset="0"/>
              <a:buChar char="•"/>
            </a:pPr>
            <a:r>
              <a:rPr lang="en-US" altLang="zh-CN" sz="2400" dirty="0">
                <a:solidFill>
                  <a:prstClr val="black"/>
                </a:solidFill>
                <a:latin typeface="Calibri" panose="020F0502020204030204"/>
                <a:ea typeface="楷体" panose="02010609060101010101" pitchFamily="49" charset="-122"/>
              </a:rPr>
              <a:t>	</a:t>
            </a:r>
            <a:r>
              <a:rPr lang="zh-CN" altLang="en-US" sz="2400" dirty="0">
                <a:solidFill>
                  <a:prstClr val="black"/>
                </a:solidFill>
                <a:latin typeface="Calibri" panose="020F0502020204030204"/>
                <a:ea typeface="楷体" panose="02010609060101010101" pitchFamily="49" charset="-122"/>
              </a:rPr>
              <a:t>维持读写性能</a:t>
            </a:r>
            <a:endParaRPr lang="en-US" altLang="zh-CN" sz="2400" dirty="0">
              <a:solidFill>
                <a:prstClr val="black"/>
              </a:solidFill>
              <a:latin typeface="Calibri" panose="020F0502020204030204"/>
              <a:ea typeface="楷体" panose="02010609060101010101" pitchFamily="49" charset="-122"/>
            </a:endParaRPr>
          </a:p>
        </p:txBody>
      </p:sp>
    </p:spTree>
    <p:extLst>
      <p:ext uri="{BB962C8B-B14F-4D97-AF65-F5344CB8AC3E}">
        <p14:creationId xmlns:p14="http://schemas.microsoft.com/office/powerpoint/2010/main" val="1030765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 name="文本框 4"/>
          <p:cNvSpPr txBox="1"/>
          <p:nvPr/>
        </p:nvSpPr>
        <p:spPr>
          <a:xfrm>
            <a:off x="261665" y="628232"/>
            <a:ext cx="269817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非易失性虚拟化</a:t>
            </a:r>
          </a:p>
        </p:txBody>
      </p:sp>
      <p:sp>
        <p:nvSpPr>
          <p:cNvPr id="2" name="文本框 1">
            <a:extLst>
              <a:ext uri="{FF2B5EF4-FFF2-40B4-BE49-F238E27FC236}">
                <a16:creationId xmlns:a16="http://schemas.microsoft.com/office/drawing/2014/main" id="{5A02B1D0-E504-4499-A640-9C79A2184EF7}"/>
              </a:ext>
            </a:extLst>
          </p:cNvPr>
          <p:cNvSpPr txBox="1"/>
          <p:nvPr/>
        </p:nvSpPr>
        <p:spPr>
          <a:xfrm>
            <a:off x="582123" y="4942282"/>
            <a:ext cx="7627716" cy="1200329"/>
          </a:xfrm>
          <a:prstGeom prst="rect">
            <a:avLst/>
          </a:prstGeom>
          <a:noFill/>
        </p:spPr>
        <p:txBody>
          <a:bodyPr wrap="square" rtlCol="0">
            <a:spAutoFit/>
          </a:bodyPr>
          <a:lstStyle/>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solidFill>
                  <a:prstClr val="black"/>
                </a:solidFill>
                <a:latin typeface="Calibri" panose="020F0502020204030204"/>
                <a:ea typeface="楷体" panose="02010609060101010101" pitchFamily="49" charset="-122"/>
              </a:rPr>
              <a:t>读：数据可以在</a:t>
            </a:r>
            <a:r>
              <a:rPr lang="en-US" altLang="zh-CN" sz="2400" dirty="0">
                <a:solidFill>
                  <a:prstClr val="black"/>
                </a:solidFill>
                <a:latin typeface="Calibri" panose="020F0502020204030204"/>
                <a:ea typeface="楷体" panose="02010609060101010101" pitchFamily="49" charset="-122"/>
              </a:rPr>
              <a:t>DRAM</a:t>
            </a:r>
            <a:r>
              <a:rPr lang="zh-CN" altLang="en-US" sz="2400" dirty="0">
                <a:solidFill>
                  <a:prstClr val="black"/>
                </a:solidFill>
                <a:latin typeface="Calibri" panose="020F0502020204030204"/>
                <a:ea typeface="楷体" panose="02010609060101010101" pitchFamily="49" charset="-122"/>
              </a:rPr>
              <a:t>中，其他虚拟机可以使用</a:t>
            </a:r>
            <a:r>
              <a:rPr lang="en-US" altLang="zh-CN" sz="2400" dirty="0">
                <a:solidFill>
                  <a:prstClr val="black"/>
                </a:solidFill>
                <a:latin typeface="Calibri" panose="020F0502020204030204"/>
                <a:ea typeface="楷体" panose="02010609060101010101" pitchFamily="49" charset="-122"/>
              </a:rPr>
              <a:t>PM</a:t>
            </a: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solidFill>
                  <a:prstClr val="black"/>
                </a:solidFill>
                <a:latin typeface="Calibri" panose="020F0502020204030204"/>
                <a:ea typeface="楷体" panose="02010609060101010101" pitchFamily="49" charset="-122"/>
              </a:rPr>
              <a:t>数据必须由一份在持久性介质</a:t>
            </a:r>
            <a:r>
              <a:rPr lang="en-US" altLang="zh-CN" sz="2400" dirty="0">
                <a:solidFill>
                  <a:prstClr val="black"/>
                </a:solidFill>
                <a:latin typeface="Calibri" panose="020F0502020204030204"/>
                <a:ea typeface="楷体" panose="02010609060101010101" pitchFamily="49" charset="-122"/>
              </a:rPr>
              <a:t>(PM / Disk)</a:t>
            </a:r>
            <a:r>
              <a:rPr lang="zh-CN" altLang="en-US" sz="2400" dirty="0">
                <a:solidFill>
                  <a:prstClr val="black"/>
                </a:solidFill>
                <a:latin typeface="Calibri" panose="020F0502020204030204"/>
                <a:ea typeface="楷体" panose="02010609060101010101" pitchFamily="49" charset="-122"/>
              </a:rPr>
              <a:t>中</a:t>
            </a:r>
            <a:endParaRPr lang="en-US" altLang="zh-CN" sz="2400" dirty="0">
              <a:solidFill>
                <a:prstClr val="black"/>
              </a:solidFill>
              <a:latin typeface="Calibri" panose="020F0502020204030204"/>
              <a:ea typeface="楷体" panose="02010609060101010101" pitchFamily="49" charset="-122"/>
            </a:endParaRP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2400" dirty="0">
              <a:solidFill>
                <a:prstClr val="black"/>
              </a:solidFill>
              <a:latin typeface="Calibri" panose="020F0502020204030204"/>
              <a:ea typeface="楷体" panose="02010609060101010101" pitchFamily="49" charset="-122"/>
            </a:endParaRPr>
          </a:p>
        </p:txBody>
      </p:sp>
      <p:pic>
        <p:nvPicPr>
          <p:cNvPr id="3" name="图片 2">
            <a:extLst>
              <a:ext uri="{FF2B5EF4-FFF2-40B4-BE49-F238E27FC236}">
                <a16:creationId xmlns:a16="http://schemas.microsoft.com/office/drawing/2014/main" id="{2A951460-FE95-4B91-9A2D-E74EA69D6A7D}"/>
              </a:ext>
            </a:extLst>
          </p:cNvPr>
          <p:cNvPicPr>
            <a:picLocks noChangeAspect="1"/>
          </p:cNvPicPr>
          <p:nvPr/>
        </p:nvPicPr>
        <p:blipFill>
          <a:blip r:embed="rId2"/>
          <a:stretch>
            <a:fillRect/>
          </a:stretch>
        </p:blipFill>
        <p:spPr>
          <a:xfrm>
            <a:off x="825519" y="1389457"/>
            <a:ext cx="6943725" cy="3552825"/>
          </a:xfrm>
          <a:prstGeom prst="rect">
            <a:avLst/>
          </a:prstGeom>
        </p:spPr>
      </p:pic>
    </p:spTree>
    <p:extLst>
      <p:ext uri="{BB962C8B-B14F-4D97-AF65-F5344CB8AC3E}">
        <p14:creationId xmlns:p14="http://schemas.microsoft.com/office/powerpoint/2010/main" val="1342927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2339102" cy="523220"/>
          </a:xfrm>
          <a:prstGeom prst="rect">
            <a:avLst/>
          </a:prstGeom>
          <a:noFill/>
        </p:spPr>
        <p:txBody>
          <a:bodyPr wrap="none" rtlCol="0">
            <a:spAutoFit/>
          </a:bodyPr>
          <a:lstStyle/>
          <a:p>
            <a:r>
              <a:rPr kumimoji="1" lang="zh-CN" altLang="en-US" sz="2800" dirty="0">
                <a:latin typeface="楷体" panose="02010609060101010101" pitchFamily="49" charset="-122"/>
                <a:ea typeface="楷体" panose="02010609060101010101" pitchFamily="49" charset="-122"/>
              </a:rPr>
              <a:t>易失性虚拟化</a:t>
            </a:r>
          </a:p>
        </p:txBody>
      </p:sp>
      <p:sp>
        <p:nvSpPr>
          <p:cNvPr id="2" name="文本框 1">
            <a:extLst>
              <a:ext uri="{FF2B5EF4-FFF2-40B4-BE49-F238E27FC236}">
                <a16:creationId xmlns:a16="http://schemas.microsoft.com/office/drawing/2014/main" id="{5A02B1D0-E504-4499-A640-9C79A2184EF7}"/>
              </a:ext>
            </a:extLst>
          </p:cNvPr>
          <p:cNvSpPr txBox="1"/>
          <p:nvPr/>
        </p:nvSpPr>
        <p:spPr>
          <a:xfrm>
            <a:off x="671332" y="1794076"/>
            <a:ext cx="7627716" cy="3877985"/>
          </a:xfrm>
          <a:prstGeom prst="rect">
            <a:avLst/>
          </a:prstGeom>
          <a:noFill/>
        </p:spPr>
        <p:txBody>
          <a:bodyPr wrap="square" rtlCol="0">
            <a:spAutoFit/>
          </a:bodyPr>
          <a:lstStyle/>
          <a:p>
            <a:pPr algn="ctr"/>
            <a:r>
              <a:rPr lang="en-US" altLang="zh-CN" sz="3200" dirty="0" err="1">
                <a:latin typeface="Times New Roman" panose="02020603050405020304" pitchFamily="18" charset="0"/>
                <a:cs typeface="Times New Roman" panose="02020603050405020304" pitchFamily="18" charset="0"/>
              </a:rPr>
              <a:t>SwapX</a:t>
            </a:r>
            <a:r>
              <a:rPr lang="en-US" altLang="zh-CN" sz="3200" dirty="0">
                <a:latin typeface="Times New Roman" panose="02020603050405020304" pitchFamily="18" charset="0"/>
                <a:cs typeface="Times New Roman" panose="02020603050405020304" pitchFamily="18" charset="0"/>
              </a:rPr>
              <a:t>: An NVM-Based Hierarchical Swapping Framework</a:t>
            </a:r>
          </a:p>
          <a:p>
            <a:pPr algn="ctr"/>
            <a:endParaRPr lang="en-US" altLang="zh-CN" sz="3200" dirty="0">
              <a:latin typeface="Times New Roman" panose="02020603050405020304" pitchFamily="18" charset="0"/>
              <a:cs typeface="Times New Roman" panose="02020603050405020304" pitchFamily="18" charset="0"/>
            </a:endParaRPr>
          </a:p>
          <a:p>
            <a:pPr algn="ctr"/>
            <a:r>
              <a:rPr lang="en-US" altLang="zh-CN" dirty="0"/>
              <a:t>GUOLIANG ZHU, KAI LU, XIAOPING WANG, YIMING ZHANG,</a:t>
            </a:r>
            <a:br>
              <a:rPr lang="en-US" altLang="zh-CN" dirty="0"/>
            </a:br>
            <a:r>
              <a:rPr lang="en-US" altLang="zh-CN" dirty="0"/>
              <a:t>PENGFEI ZHANG, SPARSH MITTAL</a:t>
            </a:r>
            <a:br>
              <a:rPr lang="en-US" altLang="zh-CN" dirty="0"/>
            </a:br>
            <a:endParaRPr lang="en-US" altLang="zh-CN" dirty="0"/>
          </a:p>
          <a:p>
            <a:pPr algn="ctr"/>
            <a:r>
              <a:rPr lang="en-US" altLang="zh-CN" dirty="0"/>
              <a:t>National University of Defense Technology</a:t>
            </a:r>
            <a:r>
              <a:rPr lang="en-US" altLang="zh-CN" sz="2400" dirty="0"/>
              <a:t> </a:t>
            </a:r>
          </a:p>
          <a:p>
            <a:pPr algn="ctr"/>
            <a:r>
              <a:rPr lang="en-US" altLang="zh-CN" dirty="0"/>
              <a:t>IIT Hyderabad</a:t>
            </a:r>
            <a:r>
              <a:rPr lang="en-US" altLang="zh-CN" sz="2400" dirty="0"/>
              <a:t> </a:t>
            </a:r>
            <a:br>
              <a:rPr lang="en-US" altLang="zh-CN" sz="2400" dirty="0"/>
            </a:br>
            <a:br>
              <a:rPr lang="en-US" altLang="zh-CN" sz="2400" dirty="0"/>
            </a:br>
            <a:endParaRPr lang="zh-CN" altLang="en-US" sz="2400" dirty="0"/>
          </a:p>
        </p:txBody>
      </p:sp>
    </p:spTree>
    <p:extLst>
      <p:ext uri="{BB962C8B-B14F-4D97-AF65-F5344CB8AC3E}">
        <p14:creationId xmlns:p14="http://schemas.microsoft.com/office/powerpoint/2010/main" val="2871254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2339102" cy="523220"/>
          </a:xfrm>
          <a:prstGeom prst="rect">
            <a:avLst/>
          </a:prstGeom>
          <a:noFill/>
        </p:spPr>
        <p:txBody>
          <a:bodyPr wrap="none" rtlCol="0">
            <a:spAutoFit/>
          </a:bodyPr>
          <a:lstStyle/>
          <a:p>
            <a:r>
              <a:rPr kumimoji="1" lang="zh-CN" altLang="en-US" sz="2800" dirty="0">
                <a:latin typeface="楷体" panose="02010609060101010101" pitchFamily="49" charset="-122"/>
                <a:ea typeface="楷体" panose="02010609060101010101" pitchFamily="49" charset="-122"/>
              </a:rPr>
              <a:t>易失性虚拟化</a:t>
            </a:r>
          </a:p>
        </p:txBody>
      </p:sp>
      <p:sp>
        <p:nvSpPr>
          <p:cNvPr id="2" name="文本框 1">
            <a:extLst>
              <a:ext uri="{FF2B5EF4-FFF2-40B4-BE49-F238E27FC236}">
                <a16:creationId xmlns:a16="http://schemas.microsoft.com/office/drawing/2014/main" id="{5A02B1D0-E504-4499-A640-9C79A2184EF7}"/>
              </a:ext>
            </a:extLst>
          </p:cNvPr>
          <p:cNvSpPr txBox="1"/>
          <p:nvPr/>
        </p:nvSpPr>
        <p:spPr>
          <a:xfrm>
            <a:off x="671332" y="1794076"/>
            <a:ext cx="7627716" cy="267765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ea typeface="楷体" panose="02010609060101010101" pitchFamily="49" charset="-122"/>
              </a:rPr>
              <a:t>PM</a:t>
            </a:r>
            <a:r>
              <a:rPr lang="zh-CN" altLang="en-US" sz="2400" dirty="0">
                <a:ea typeface="楷体" panose="02010609060101010101" pitchFamily="49" charset="-122"/>
              </a:rPr>
              <a:t>虚拟化为更大更慢的内存</a:t>
            </a:r>
            <a:endParaRPr lang="en-US" altLang="zh-CN" sz="2400" dirty="0">
              <a:ea typeface="楷体" panose="02010609060101010101" pitchFamily="49" charset="-122"/>
            </a:endParaRPr>
          </a:p>
          <a:p>
            <a:pPr marL="342900" indent="-342900">
              <a:buFont typeface="Arial" panose="020B0604020202020204" pitchFamily="34" charset="0"/>
              <a:buChar char="•"/>
            </a:pPr>
            <a:endParaRPr lang="en-US" altLang="zh-CN" sz="2400" dirty="0">
              <a:ea typeface="楷体" panose="02010609060101010101" pitchFamily="49" charset="-122"/>
            </a:endParaRPr>
          </a:p>
          <a:p>
            <a:pPr marL="342900" indent="-342900">
              <a:buFont typeface="Arial" panose="020B0604020202020204" pitchFamily="34" charset="0"/>
              <a:buChar char="•"/>
            </a:pPr>
            <a:r>
              <a:rPr lang="en-US" altLang="zh-CN" sz="2400" dirty="0">
                <a:ea typeface="楷体" panose="02010609060101010101" pitchFamily="49" charset="-122"/>
              </a:rPr>
              <a:t>PM</a:t>
            </a:r>
            <a:r>
              <a:rPr lang="zh-CN" altLang="en-US" sz="2400" dirty="0">
                <a:ea typeface="楷体" panose="02010609060101010101" pitchFamily="49" charset="-122"/>
              </a:rPr>
              <a:t>与</a:t>
            </a:r>
            <a:r>
              <a:rPr lang="en-US" altLang="zh-CN" sz="2400" dirty="0">
                <a:ea typeface="楷体" panose="02010609060101010101" pitchFamily="49" charset="-122"/>
              </a:rPr>
              <a:t>DRAM</a:t>
            </a:r>
            <a:r>
              <a:rPr lang="zh-CN" altLang="en-US" sz="2400" dirty="0">
                <a:ea typeface="楷体" panose="02010609060101010101" pitchFamily="49" charset="-122"/>
              </a:rPr>
              <a:t>共同作为虚拟机的工作内存</a:t>
            </a:r>
            <a:endParaRPr lang="en-US" altLang="zh-CN" sz="2400" dirty="0">
              <a:ea typeface="楷体" panose="02010609060101010101" pitchFamily="49" charset="-122"/>
            </a:endParaRPr>
          </a:p>
          <a:p>
            <a:pPr marL="342900" indent="-342900">
              <a:buFont typeface="Arial" panose="020B0604020202020204" pitchFamily="34" charset="0"/>
              <a:buChar char="•"/>
            </a:pPr>
            <a:endParaRPr lang="en-US" altLang="zh-CN" sz="2400" dirty="0">
              <a:ea typeface="楷体" panose="02010609060101010101" pitchFamily="49" charset="-122"/>
            </a:endParaRPr>
          </a:p>
          <a:p>
            <a:pPr marL="342900" indent="-342900">
              <a:buFont typeface="Arial" panose="020B0604020202020204" pitchFamily="34" charset="0"/>
              <a:buChar char="•"/>
            </a:pPr>
            <a:r>
              <a:rPr lang="zh-CN" altLang="en-US" sz="2400" dirty="0">
                <a:ea typeface="楷体" panose="02010609060101010101" pitchFamily="49" charset="-122"/>
              </a:rPr>
              <a:t>根据读写访问的热度，数据在</a:t>
            </a:r>
            <a:r>
              <a:rPr lang="en-US" altLang="zh-CN" sz="2400" dirty="0">
                <a:ea typeface="楷体" panose="02010609060101010101" pitchFamily="49" charset="-122"/>
              </a:rPr>
              <a:t>PM</a:t>
            </a:r>
            <a:r>
              <a:rPr lang="zh-CN" altLang="en-US" sz="2400" dirty="0">
                <a:ea typeface="楷体" panose="02010609060101010101" pitchFamily="49" charset="-122"/>
              </a:rPr>
              <a:t>和</a:t>
            </a:r>
            <a:r>
              <a:rPr lang="en-US" altLang="zh-CN" sz="2400" dirty="0">
                <a:ea typeface="楷体" panose="02010609060101010101" pitchFamily="49" charset="-122"/>
              </a:rPr>
              <a:t>DRAM</a:t>
            </a:r>
            <a:r>
              <a:rPr lang="zh-CN" altLang="en-US" sz="2400" dirty="0">
                <a:ea typeface="楷体" panose="02010609060101010101" pitchFamily="49" charset="-122"/>
              </a:rPr>
              <a:t>上迁移</a:t>
            </a:r>
            <a:br>
              <a:rPr lang="en-US" altLang="zh-CN" sz="2400" dirty="0">
                <a:ea typeface="楷体" panose="02010609060101010101" pitchFamily="49" charset="-122"/>
              </a:rPr>
            </a:br>
            <a:br>
              <a:rPr lang="en-US" altLang="zh-CN" sz="2400" dirty="0">
                <a:ea typeface="楷体" panose="02010609060101010101" pitchFamily="49" charset="-122"/>
              </a:rPr>
            </a:br>
            <a:endParaRPr lang="zh-CN" altLang="en-US" sz="2400" dirty="0">
              <a:ea typeface="楷体" panose="02010609060101010101" pitchFamily="49" charset="-122"/>
            </a:endParaRPr>
          </a:p>
        </p:txBody>
      </p:sp>
    </p:spTree>
    <p:extLst>
      <p:ext uri="{BB962C8B-B14F-4D97-AF65-F5344CB8AC3E}">
        <p14:creationId xmlns:p14="http://schemas.microsoft.com/office/powerpoint/2010/main" val="1370950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a:spLocks/>
          </p:cNvSpPr>
          <p:nvPr/>
        </p:nvSpPr>
        <p:spPr>
          <a:xfrm>
            <a:off x="1088679" y="3592984"/>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kumimoji="1" lang="zh-CN" altLang="en-US" dirty="0"/>
          </a:p>
        </p:txBody>
      </p:sp>
      <p:sp>
        <p:nvSpPr>
          <p:cNvPr id="5" name="文本框 4"/>
          <p:cNvSpPr txBox="1"/>
          <p:nvPr/>
        </p:nvSpPr>
        <p:spPr>
          <a:xfrm>
            <a:off x="261665" y="628232"/>
            <a:ext cx="2339102" cy="523220"/>
          </a:xfrm>
          <a:prstGeom prst="rect">
            <a:avLst/>
          </a:prstGeom>
          <a:noFill/>
        </p:spPr>
        <p:txBody>
          <a:bodyPr wrap="none" rtlCol="0">
            <a:spAutoFit/>
          </a:bodyPr>
          <a:lstStyle/>
          <a:p>
            <a:r>
              <a:rPr kumimoji="1" lang="zh-CN" altLang="en-US" sz="2800" dirty="0">
                <a:latin typeface="楷体" panose="02010609060101010101" pitchFamily="49" charset="-122"/>
                <a:ea typeface="楷体" panose="02010609060101010101" pitchFamily="49" charset="-122"/>
              </a:rPr>
              <a:t>易失性虚拟化</a:t>
            </a:r>
          </a:p>
        </p:txBody>
      </p:sp>
      <p:pic>
        <p:nvPicPr>
          <p:cNvPr id="3" name="图片 2">
            <a:extLst>
              <a:ext uri="{FF2B5EF4-FFF2-40B4-BE49-F238E27FC236}">
                <a16:creationId xmlns:a16="http://schemas.microsoft.com/office/drawing/2014/main" id="{39AE4763-D512-4EFD-AFBA-5CAD0D51D02F}"/>
              </a:ext>
            </a:extLst>
          </p:cNvPr>
          <p:cNvPicPr>
            <a:picLocks noChangeAspect="1"/>
          </p:cNvPicPr>
          <p:nvPr/>
        </p:nvPicPr>
        <p:blipFill>
          <a:blip r:embed="rId2"/>
          <a:stretch>
            <a:fillRect/>
          </a:stretch>
        </p:blipFill>
        <p:spPr>
          <a:xfrm>
            <a:off x="900693" y="1560041"/>
            <a:ext cx="6762750" cy="3409950"/>
          </a:xfrm>
          <a:prstGeom prst="rect">
            <a:avLst/>
          </a:prstGeom>
        </p:spPr>
      </p:pic>
      <p:sp>
        <p:nvSpPr>
          <p:cNvPr id="6" name="文本框 5">
            <a:extLst>
              <a:ext uri="{FF2B5EF4-FFF2-40B4-BE49-F238E27FC236}">
                <a16:creationId xmlns:a16="http://schemas.microsoft.com/office/drawing/2014/main" id="{98453ED1-2194-4793-8FD8-1C976220D524}"/>
              </a:ext>
            </a:extLst>
          </p:cNvPr>
          <p:cNvSpPr txBox="1"/>
          <p:nvPr/>
        </p:nvSpPr>
        <p:spPr>
          <a:xfrm>
            <a:off x="900693" y="5248746"/>
            <a:ext cx="7815702" cy="1569660"/>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ea typeface="楷体" panose="02010609060101010101" pitchFamily="49" charset="-122"/>
              </a:rPr>
              <a:t>DRAM</a:t>
            </a:r>
            <a:r>
              <a:rPr lang="zh-CN" altLang="en-US" sz="2400" dirty="0">
                <a:ea typeface="楷体" panose="02010609060101010101" pitchFamily="49" charset="-122"/>
              </a:rPr>
              <a:t>和</a:t>
            </a:r>
            <a:r>
              <a:rPr lang="en-US" altLang="zh-CN" sz="2400" dirty="0">
                <a:ea typeface="楷体" panose="02010609060101010101" pitchFamily="49" charset="-122"/>
              </a:rPr>
              <a:t>PM</a:t>
            </a:r>
            <a:r>
              <a:rPr lang="zh-CN" altLang="en-US" sz="2400" dirty="0">
                <a:ea typeface="楷体" panose="02010609060101010101" pitchFamily="49" charset="-122"/>
              </a:rPr>
              <a:t>以</a:t>
            </a:r>
            <a:r>
              <a:rPr lang="en-US" altLang="zh-CN" sz="2400" dirty="0">
                <a:ea typeface="楷体" panose="02010609060101010101" pitchFamily="49" charset="-122"/>
              </a:rPr>
              <a:t>64MB</a:t>
            </a:r>
            <a:r>
              <a:rPr lang="zh-CN" altLang="en-US" sz="2400" dirty="0">
                <a:ea typeface="楷体" panose="02010609060101010101" pitchFamily="49" charset="-122"/>
              </a:rPr>
              <a:t>的单位进行冷热数据交换</a:t>
            </a:r>
            <a:endParaRPr lang="en-US" altLang="zh-CN" sz="2400" dirty="0">
              <a:ea typeface="楷体" panose="02010609060101010101" pitchFamily="49" charset="-122"/>
            </a:endParaRPr>
          </a:p>
          <a:p>
            <a:pPr marL="342900" indent="-342900">
              <a:buFont typeface="Arial" panose="020B0604020202020204" pitchFamily="34" charset="0"/>
              <a:buChar char="•"/>
            </a:pPr>
            <a:r>
              <a:rPr lang="zh-CN" altLang="en-US" sz="2400" dirty="0">
                <a:ea typeface="楷体" panose="02010609060101010101" pitchFamily="49" charset="-122"/>
              </a:rPr>
              <a:t>扩容，通过数据冷热保证性能</a:t>
            </a:r>
            <a:br>
              <a:rPr lang="en-US" altLang="zh-CN" sz="2400" dirty="0">
                <a:ea typeface="楷体" panose="02010609060101010101" pitchFamily="49" charset="-122"/>
              </a:rPr>
            </a:br>
            <a:br>
              <a:rPr lang="en-US" altLang="zh-CN" sz="2400" dirty="0">
                <a:ea typeface="楷体" panose="02010609060101010101" pitchFamily="49" charset="-122"/>
              </a:rPr>
            </a:br>
            <a:endParaRPr lang="zh-CN" altLang="en-US" sz="2400" dirty="0">
              <a:ea typeface="楷体" panose="02010609060101010101" pitchFamily="49" charset="-122"/>
            </a:endParaRPr>
          </a:p>
        </p:txBody>
      </p:sp>
    </p:spTree>
    <p:extLst>
      <p:ext uri="{BB962C8B-B14F-4D97-AF65-F5344CB8AC3E}">
        <p14:creationId xmlns:p14="http://schemas.microsoft.com/office/powerpoint/2010/main" val="1259980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13373" y="3429000"/>
            <a:ext cx="7772400" cy="1545361"/>
          </a:xfrm>
        </p:spPr>
        <p:txBody>
          <a:bodyPr>
            <a:normAutofit fontScale="90000"/>
          </a:bodyPr>
          <a:lstStyle/>
          <a:p>
            <a:r>
              <a:rPr kumimoji="1" lang="en-US" altLang="zh-CN" dirty="0"/>
              <a:t>Thanks!</a:t>
            </a:r>
            <a:br>
              <a:rPr kumimoji="1" lang="en-US" altLang="zh-CN" dirty="0"/>
            </a:br>
            <a:br>
              <a:rPr kumimoji="1" lang="en-US" altLang="zh-CN" dirty="0"/>
            </a:br>
            <a:r>
              <a:rPr kumimoji="1" lang="en-US" altLang="zh-CN" dirty="0"/>
              <a:t>Q&amp;A</a:t>
            </a:r>
            <a:endParaRPr kumimoji="1" lang="zh-CN" altLang="en-US" dirty="0"/>
          </a:p>
        </p:txBody>
      </p:sp>
    </p:spTree>
    <p:extLst>
      <p:ext uri="{BB962C8B-B14F-4D97-AF65-F5344CB8AC3E}">
        <p14:creationId xmlns:p14="http://schemas.microsoft.com/office/powerpoint/2010/main" val="176353026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5697</TotalTime>
  <Words>1616</Words>
  <Application>Microsoft Office PowerPoint</Application>
  <PresentationFormat>全屏显示(4:3)</PresentationFormat>
  <Paragraphs>305</Paragraphs>
  <Slides>34</Slides>
  <Notes>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DengXian</vt:lpstr>
      <vt:lpstr>黑体</vt:lpstr>
      <vt:lpstr>楷体</vt:lpstr>
      <vt:lpstr>宋体</vt:lpstr>
      <vt:lpstr>Arial</vt:lpstr>
      <vt:lpstr>Calibri</vt:lpstr>
      <vt:lpstr>Calibri Light</vt:lpstr>
      <vt:lpstr>Times New Roman</vt:lpstr>
      <vt:lpstr>Wingdings</vt:lpstr>
      <vt:lpstr>Office 主题</vt:lpstr>
      <vt:lpstr>﻿持久性内存虚拟化 的优化方法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Virtual Machine Image Management  for Persistent Memory</dc:title>
  <dc:creator>张 佳辰</dc:creator>
  <cp:lastModifiedBy>崔 立骁</cp:lastModifiedBy>
  <cp:revision>308</cp:revision>
  <dcterms:created xsi:type="dcterms:W3CDTF">2019-05-01T06:59:51Z</dcterms:created>
  <dcterms:modified xsi:type="dcterms:W3CDTF">2019-10-22T14:05:13Z</dcterms:modified>
</cp:coreProperties>
</file>