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59"/>
  </p:notesMasterIdLst>
  <p:sldIdLst>
    <p:sldId id="258" r:id="rId3"/>
    <p:sldId id="358" r:id="rId4"/>
    <p:sldId id="385" r:id="rId5"/>
    <p:sldId id="357" r:id="rId6"/>
    <p:sldId id="263" r:id="rId7"/>
    <p:sldId id="320" r:id="rId8"/>
    <p:sldId id="335" r:id="rId9"/>
    <p:sldId id="336" r:id="rId10"/>
    <p:sldId id="337" r:id="rId11"/>
    <p:sldId id="299" r:id="rId12"/>
    <p:sldId id="386" r:id="rId13"/>
    <p:sldId id="376" r:id="rId14"/>
    <p:sldId id="377" r:id="rId15"/>
    <p:sldId id="378" r:id="rId16"/>
    <p:sldId id="379" r:id="rId17"/>
    <p:sldId id="380" r:id="rId18"/>
    <p:sldId id="381" r:id="rId19"/>
    <p:sldId id="382" r:id="rId20"/>
    <p:sldId id="383" r:id="rId21"/>
    <p:sldId id="384" r:id="rId22"/>
    <p:sldId id="387" r:id="rId23"/>
    <p:sldId id="339" r:id="rId24"/>
    <p:sldId id="328" r:id="rId25"/>
    <p:sldId id="302" r:id="rId26"/>
    <p:sldId id="340" r:id="rId27"/>
    <p:sldId id="341" r:id="rId28"/>
    <p:sldId id="342" r:id="rId29"/>
    <p:sldId id="343" r:id="rId30"/>
    <p:sldId id="344" r:id="rId31"/>
    <p:sldId id="345" r:id="rId32"/>
    <p:sldId id="346" r:id="rId33"/>
    <p:sldId id="347" r:id="rId34"/>
    <p:sldId id="348" r:id="rId35"/>
    <p:sldId id="349" r:id="rId36"/>
    <p:sldId id="350" r:id="rId37"/>
    <p:sldId id="351" r:id="rId38"/>
    <p:sldId id="352" r:id="rId39"/>
    <p:sldId id="353" r:id="rId40"/>
    <p:sldId id="355" r:id="rId41"/>
    <p:sldId id="354" r:id="rId42"/>
    <p:sldId id="356" r:id="rId43"/>
    <p:sldId id="388" r:id="rId44"/>
    <p:sldId id="362" r:id="rId45"/>
    <p:sldId id="363" r:id="rId46"/>
    <p:sldId id="364" r:id="rId47"/>
    <p:sldId id="365" r:id="rId48"/>
    <p:sldId id="367" r:id="rId49"/>
    <p:sldId id="368" r:id="rId50"/>
    <p:sldId id="366" r:id="rId51"/>
    <p:sldId id="369" r:id="rId52"/>
    <p:sldId id="370" r:id="rId53"/>
    <p:sldId id="371" r:id="rId54"/>
    <p:sldId id="373" r:id="rId55"/>
    <p:sldId id="372" r:id="rId56"/>
    <p:sldId id="374" r:id="rId57"/>
    <p:sldId id="389" r:id="rId5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1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68F0"/>
    <a:srgbClr val="308CF4"/>
    <a:srgbClr val="FF6384"/>
    <a:srgbClr val="D0D0D0"/>
    <a:srgbClr val="349EF4"/>
    <a:srgbClr val="67B5F3"/>
    <a:srgbClr val="AD0046"/>
    <a:srgbClr val="F0BEC2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75138"/>
  </p:normalViewPr>
  <p:slideViewPr>
    <p:cSldViewPr snapToGrid="0" snapToObjects="1">
      <p:cViewPr varScale="1">
        <p:scale>
          <a:sx n="83" d="100"/>
          <a:sy n="83" d="100"/>
        </p:scale>
        <p:origin x="3930" y="96"/>
      </p:cViewPr>
      <p:guideLst>
        <p:guide orient="horz" pos="70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10ADE-393E-1F4B-98C7-73831B0852B0}" type="datetimeFigureOut">
              <a:rPr kumimoji="1" lang="zh-CN" altLang="en-US" smtClean="0"/>
              <a:t>2019/11/18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4ED16-4179-F049-8FD5-FB531273BF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6127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3074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2798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284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3014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9195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2482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5777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095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5836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08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758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3232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2099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35335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93864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06220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1852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30590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63102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26287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2556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44286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94649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85083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35387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4ED16-4179-F049-8FD5-FB531273BF32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63150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69076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51388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4734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2461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44909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0801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23230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1847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6319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9236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2688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1642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32305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01817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23435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1998</a:t>
            </a:r>
            <a:r>
              <a:rPr kumimoji="1" lang="zh-CN" altLang="en-US" dirty="0"/>
              <a:t>年图灵奖得主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99926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45880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大规模分布式存储面临的共同问题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69703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36921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740506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69531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39042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来源 </a:t>
            </a:r>
            <a:r>
              <a:rPr kumimoji="1" lang="en-US" altLang="zh-CN" dirty="0"/>
              <a:t>《</a:t>
            </a:r>
            <a:r>
              <a:rPr kumimoji="1" lang="zh-CN" altLang="en-US" dirty="0"/>
              <a:t>深入理解计算机系统</a:t>
            </a:r>
            <a:r>
              <a:rPr kumimoji="1" lang="en-US" altLang="zh-CN" dirty="0"/>
              <a:t>》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1263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来源 </a:t>
            </a:r>
            <a:r>
              <a:rPr kumimoji="1" lang="en-US" altLang="zh-CN" dirty="0"/>
              <a:t>《</a:t>
            </a:r>
            <a:r>
              <a:rPr kumimoji="1" lang="zh-CN" altLang="en-US" dirty="0"/>
              <a:t>深入理解计算机系统</a:t>
            </a:r>
            <a:r>
              <a:rPr kumimoji="1" lang="en-US" altLang="zh-CN" dirty="0"/>
              <a:t>》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63534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3401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357960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4ED16-4179-F049-8FD5-FB531273BF3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F0502020204030204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F0502020204030204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386148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0364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7077-D760-7845-8651-BF4A9F71AC57}" type="datetimeFigureOut">
              <a:rPr kumimoji="1" lang="zh-CN" altLang="en-US" smtClean="0"/>
              <a:t>2019/11/18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8A45-F633-574C-ADAB-D7C1DF1400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7077-D760-7845-8651-BF4A9F71AC57}" type="datetimeFigureOut">
              <a:rPr kumimoji="1" lang="zh-CN" altLang="en-US" smtClean="0"/>
              <a:t>2019/11/18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8A45-F633-574C-ADAB-D7C1DF1400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7077-D760-7845-8651-BF4A9F71AC57}" type="datetimeFigureOut">
              <a:rPr kumimoji="1" lang="zh-CN" altLang="en-US" smtClean="0"/>
              <a:t>2019/11/18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8A45-F633-574C-ADAB-D7C1DF1400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7077-D760-7845-8651-BF4A9F71AC57}" type="datetimeFigureOut">
              <a:rPr kumimoji="1" lang="zh-CN" altLang="en-US" smtClean="0"/>
              <a:t>2019/11/18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8A45-F633-574C-ADAB-D7C1DF1400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7077-D760-7845-8651-BF4A9F71AC57}" type="datetimeFigureOut">
              <a:rPr kumimoji="1" lang="zh-CN" altLang="en-US" smtClean="0"/>
              <a:t>2019/11/18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8A45-F633-574C-ADAB-D7C1DF1400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7077-D760-7845-8651-BF4A9F71AC57}" type="datetimeFigureOut">
              <a:rPr kumimoji="1" lang="zh-CN" altLang="en-US" smtClean="0"/>
              <a:t>2019/11/18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8A45-F633-574C-ADAB-D7C1DF1400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7077-D760-7845-8651-BF4A9F71AC57}" type="datetimeFigureOut">
              <a:rPr kumimoji="1" lang="zh-CN" altLang="en-US" smtClean="0"/>
              <a:t>2019/11/18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8A45-F633-574C-ADAB-D7C1DF1400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7077-D760-7845-8651-BF4A9F71AC57}" type="datetimeFigureOut">
              <a:rPr kumimoji="1" lang="zh-CN" altLang="en-US" smtClean="0"/>
              <a:t>2019/11/18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8A45-F633-574C-ADAB-D7C1DF1400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7077-D760-7845-8651-BF4A9F71AC57}" type="datetimeFigureOut">
              <a:rPr kumimoji="1" lang="zh-CN" altLang="en-US" smtClean="0"/>
              <a:t>2019/11/18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8A45-F633-574C-ADAB-D7C1DF1400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7077-D760-7845-8651-BF4A9F71AC57}" type="datetimeFigureOut">
              <a:rPr kumimoji="1" lang="zh-CN" altLang="en-US" smtClean="0"/>
              <a:t>2019/11/18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8A45-F633-574C-ADAB-D7C1DF1400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7077-D760-7845-8651-BF4A9F71AC57}" type="datetimeFigureOut">
              <a:rPr kumimoji="1" lang="zh-CN" altLang="en-US" smtClean="0"/>
              <a:t>2019/11/18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8A45-F633-574C-ADAB-D7C1DF1400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38CC2-A0DA-0A42-9C3B-B99D8DFE8A35}" type="datetimeFigureOut">
              <a:rPr lang="zh-CN" altLang="en-US" smtClean="0"/>
              <a:pPr>
                <a:defRPr/>
              </a:pPr>
              <a:t>2019/11/18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F175-A356-8641-8B8C-2BC1BAE79F1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364564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12BB8-9261-4D4B-98FD-C0F0AA2E9A14}" type="datetimeFigureOut">
              <a:rPr lang="zh-CN" altLang="en-US" smtClean="0"/>
              <a:pPr>
                <a:defRPr/>
              </a:pPr>
              <a:t>2019/11/18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8BDDE-DE15-9A4E-B6F5-7D907F81153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595997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6D4EE-D3EF-4F4B-84A5-4EDA7B66ACC6}" type="datetimeFigureOut">
              <a:rPr lang="zh-CN" altLang="en-US" smtClean="0"/>
              <a:pPr>
                <a:defRPr/>
              </a:pPr>
              <a:t>2019/11/18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6DD28A-AA70-C249-93DE-44022C331C6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181904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4650D-803F-3649-8BE6-A1B7A3B11F99}" type="datetimeFigureOut">
              <a:rPr lang="zh-CN" altLang="en-US" smtClean="0"/>
              <a:pPr>
                <a:defRPr/>
              </a:pPr>
              <a:t>2019/11/18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8A0D8-B9E1-5F47-ADDF-1F1E8F331A7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112986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8D43A-8F0F-5D46-A343-06333ADB0560}" type="datetimeFigureOut">
              <a:rPr lang="zh-CN" altLang="en-US" smtClean="0"/>
              <a:pPr>
                <a:defRPr/>
              </a:pPr>
              <a:t>2019/11/18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70463-E988-D144-BBEE-FC4623AD6C2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474312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0C01F-CEF2-EA4C-85CA-CBF3E7F4DD65}" type="datetimeFigureOut">
              <a:rPr lang="zh-CN" altLang="en-US" smtClean="0"/>
              <a:pPr>
                <a:defRPr/>
              </a:pPr>
              <a:t>2019/11/18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5A4DD-1280-BB47-A602-2C4DAB99FF88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867245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2A7B1-2167-7F47-9127-07644A71B60F}" type="datetimeFigureOut">
              <a:rPr lang="zh-CN" altLang="en-US" smtClean="0"/>
              <a:pPr>
                <a:defRPr/>
              </a:pPr>
              <a:t>2019/11/18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65D7B-B108-694B-A9F0-6F3476ECBDB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232651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C0D54-D0A2-8647-BDAD-39E60643A4AA}" type="datetimeFigureOut">
              <a:rPr lang="zh-CN" altLang="en-US" smtClean="0"/>
              <a:pPr>
                <a:defRPr/>
              </a:pPr>
              <a:t>2019/11/18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0DE58-F619-754F-BCBC-313BF1478D2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235908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3163E-B686-3245-B20A-8F7674AE5CAC}" type="datetimeFigureOut">
              <a:rPr lang="zh-CN" altLang="en-US" smtClean="0"/>
              <a:pPr>
                <a:defRPr/>
              </a:pPr>
              <a:t>2019/11/18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19B7D-6BEB-0641-9251-9FA303027C7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015695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3A3D3-B973-7244-9EC6-9D0618F24062}" type="datetimeFigureOut">
              <a:rPr lang="zh-CN" altLang="en-US" smtClean="0"/>
              <a:pPr>
                <a:defRPr/>
              </a:pPr>
              <a:t>2019/11/18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6548C-ABE1-4B4C-895C-8DD5E5C1168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362047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80492-F7A2-E24D-8177-01BCF1312587}" type="datetimeFigureOut">
              <a:rPr lang="zh-CN" altLang="en-US" smtClean="0"/>
              <a:pPr>
                <a:defRPr/>
              </a:pPr>
              <a:t>2019/11/18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9F4E41-E0E2-7A41-9508-905906144EC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464415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47077-D760-7845-8651-BF4A9F71AC57}" type="datetimeFigureOut">
              <a:rPr kumimoji="1" lang="zh-CN" altLang="en-US" smtClean="0"/>
              <a:t>2019/11/18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8A45-F633-574C-ADAB-D7C1DF1400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9877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4F0E8F8-0A90-2744-B08D-155929A4155E}" type="datetimeFigureOut">
              <a:rPr lang="zh-CN" altLang="en-US" smtClean="0"/>
              <a:pPr>
                <a:defRPr/>
              </a:pPr>
              <a:t>2019/11/18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FB58A7E-3A13-824A-A0CA-841E6508255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58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fade/>
  </p:transition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18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37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56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7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594" indent="-228594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162962" y="1215946"/>
            <a:ext cx="9026305" cy="1545361"/>
          </a:xfrm>
        </p:spPr>
        <p:txBody>
          <a:bodyPr>
            <a:noAutofit/>
          </a:bodyPr>
          <a:lstStyle/>
          <a:p>
            <a:r>
              <a:rPr kumimoji="1" lang="en-US" altLang="zh-CN" sz="3400" dirty="0"/>
              <a:t>﻿</a:t>
            </a:r>
            <a:r>
              <a:rPr kumimoji="1"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内存键值对存储系统优化</a:t>
            </a:r>
            <a:endParaRPr kumimoji="1" lang="zh-CN" altLang="en-US" sz="3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0" y="2761307"/>
            <a:ext cx="9026305" cy="6475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zh-CN" altLang="en-US" sz="3400" dirty="0"/>
          </a:p>
        </p:txBody>
      </p:sp>
      <p:sp>
        <p:nvSpPr>
          <p:cNvPr id="4" name="矩形 3"/>
          <p:cNvSpPr/>
          <p:nvPr/>
        </p:nvSpPr>
        <p:spPr>
          <a:xfrm>
            <a:off x="1525508" y="5233400"/>
            <a:ext cx="62514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﻿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崔立骁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cuilx@nbjl.nankai.edu.cn</a:t>
            </a:r>
          </a:p>
        </p:txBody>
      </p:sp>
    </p:spTree>
    <p:extLst>
      <p:ext uri="{BB962C8B-B14F-4D97-AF65-F5344CB8AC3E}">
        <p14:creationId xmlns:p14="http://schemas.microsoft.com/office/powerpoint/2010/main" val="207797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74693" y="2465408"/>
            <a:ext cx="5797348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内存键值对系统现状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SSD</a:t>
            </a:r>
            <a:r>
              <a:rPr kumimoji="1" lang="zh-CN" altLang="en-US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扩容的内存键值对系统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面向异构内存的内存键值对系统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纯内存数据存储系统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77696" y="1450848"/>
            <a:ext cx="1757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Agenda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620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74693" y="2465408"/>
            <a:ext cx="5797348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内存键值对系统现状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SSD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扩容的内存键值对系统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面向异构内存的内存键值对系统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纯内存数据存储系统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77696" y="1450848"/>
            <a:ext cx="1757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Agenda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842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00113" y="55433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内存键值对系统现状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C914E5-28D3-4973-BAC2-03B484837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82" t="27252" r="5293" b="5924"/>
          <a:stretch/>
        </p:blipFill>
        <p:spPr>
          <a:xfrm>
            <a:off x="1509882" y="1339769"/>
            <a:ext cx="5654847" cy="4178462"/>
          </a:xfrm>
          <a:prstGeom prst="rect">
            <a:avLst/>
          </a:prstGeom>
        </p:spPr>
      </p:pic>
      <p:sp>
        <p:nvSpPr>
          <p:cNvPr id="6" name="爆炸形: 8 pt  5">
            <a:extLst>
              <a:ext uri="{FF2B5EF4-FFF2-40B4-BE49-F238E27FC236}">
                <a16:creationId xmlns:a16="http://schemas.microsoft.com/office/drawing/2014/main" id="{9317084B-8021-461E-9ED7-919D93F158B6}"/>
              </a:ext>
            </a:extLst>
          </p:cNvPr>
          <p:cNvSpPr/>
          <p:nvPr/>
        </p:nvSpPr>
        <p:spPr>
          <a:xfrm>
            <a:off x="4699321" y="3333509"/>
            <a:ext cx="1643605" cy="972273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slow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59F2550-B983-4A76-AE2A-3F1658EB77D0}"/>
              </a:ext>
            </a:extLst>
          </p:cNvPr>
          <p:cNvSpPr/>
          <p:nvPr/>
        </p:nvSpPr>
        <p:spPr>
          <a:xfrm>
            <a:off x="2354562" y="3515810"/>
            <a:ext cx="3965486" cy="4977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cache</a:t>
            </a:r>
            <a:endParaRPr lang="zh-CN" altLang="en-US" sz="2400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70122D2-C54E-49C3-B0B8-9C042B586049}"/>
              </a:ext>
            </a:extLst>
          </p:cNvPr>
          <p:cNvSpPr/>
          <p:nvPr/>
        </p:nvSpPr>
        <p:spPr>
          <a:xfrm>
            <a:off x="2320245" y="4323225"/>
            <a:ext cx="3999803" cy="885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KV storage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1DCBDCE-B837-4CC3-988B-499FD44F7416}"/>
              </a:ext>
            </a:extLst>
          </p:cNvPr>
          <p:cNvSpPr/>
          <p:nvPr/>
        </p:nvSpPr>
        <p:spPr>
          <a:xfrm>
            <a:off x="2354562" y="3524531"/>
            <a:ext cx="3965486" cy="4977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In memory KV cache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0247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9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00113" y="55433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内存键值对系统现状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1087" y="3839458"/>
            <a:ext cx="740182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访问速度快</a:t>
            </a:r>
            <a:endParaRPr lang="en-US" altLang="zh-CN" sz="2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数据全部存储于内存</a:t>
            </a:r>
            <a:endParaRPr lang="en-US" altLang="zh-CN" sz="2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通过快速索引查找数据</a:t>
            </a:r>
            <a:endParaRPr lang="en-US" altLang="zh-CN" sz="2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数据易失性</a:t>
            </a:r>
            <a:endParaRPr lang="en-US" altLang="zh-CN" sz="2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系统崩溃后数据丢失</a:t>
            </a:r>
            <a:endParaRPr lang="en-US" altLang="zh-CN" sz="2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与下层的持久性存储搭配使用</a:t>
            </a:r>
            <a:endParaRPr lang="en-US" altLang="zh-CN" sz="2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" name="Picture 2" descr="“redis logo”的图片搜索结果">
            <a:extLst>
              <a:ext uri="{FF2B5EF4-FFF2-40B4-BE49-F238E27FC236}">
                <a16:creationId xmlns:a16="http://schemas.microsoft.com/office/drawing/2014/main" id="{F669C5BB-287B-473B-9691-B1AEA2A35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483" y="1496973"/>
            <a:ext cx="2362752" cy="199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7F3D1C9-B26E-49AA-BCE6-DDEF41045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107" y="1609462"/>
            <a:ext cx="1883079" cy="18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65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9">
            <a:extLst>
              <a:ext uri="{FF2B5EF4-FFF2-40B4-BE49-F238E27FC236}">
                <a16:creationId xmlns:a16="http://schemas.microsoft.com/office/drawing/2014/main" id="{0BB66C18-BD04-40A8-A837-D36B8E5E1379}"/>
              </a:ext>
            </a:extLst>
          </p:cNvPr>
          <p:cNvSpPr txBox="1"/>
          <p:nvPr/>
        </p:nvSpPr>
        <p:spPr>
          <a:xfrm>
            <a:off x="462589" y="5291539"/>
            <a:ext cx="8218822" cy="744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核心是数据索引（一般是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hash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或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B+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树）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在索引基础上增加网络层，用于远程交互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B98C78-B415-4409-98AA-1A192A5F36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95" t="29287"/>
          <a:stretch/>
        </p:blipFill>
        <p:spPr>
          <a:xfrm>
            <a:off x="3450586" y="1252889"/>
            <a:ext cx="5230825" cy="403865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B673F13A-83C2-416C-9619-A4926A38EF04}"/>
              </a:ext>
            </a:extLst>
          </p:cNvPr>
          <p:cNvSpPr/>
          <p:nvPr/>
        </p:nvSpPr>
        <p:spPr>
          <a:xfrm>
            <a:off x="3450586" y="1371600"/>
            <a:ext cx="5230825" cy="3683050"/>
          </a:xfrm>
          <a:prstGeom prst="roundRect">
            <a:avLst/>
          </a:prstGeom>
          <a:noFill/>
          <a:ln w="28575">
            <a:solidFill>
              <a:srgbClr val="1A6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04F1AD7-D47A-4DFC-AA6C-F44030412045}"/>
              </a:ext>
            </a:extLst>
          </p:cNvPr>
          <p:cNvSpPr/>
          <p:nvPr/>
        </p:nvSpPr>
        <p:spPr>
          <a:xfrm>
            <a:off x="591015" y="1888775"/>
            <a:ext cx="1416205" cy="57986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Client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CCACD7F-E072-453D-B9A9-48AC02B165B9}"/>
              </a:ext>
            </a:extLst>
          </p:cNvPr>
          <p:cNvSpPr/>
          <p:nvPr/>
        </p:nvSpPr>
        <p:spPr>
          <a:xfrm>
            <a:off x="591014" y="2849136"/>
            <a:ext cx="1416205" cy="57986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Client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7F31E75-E890-4CAA-9C0E-CE638E53E89E}"/>
              </a:ext>
            </a:extLst>
          </p:cNvPr>
          <p:cNvSpPr/>
          <p:nvPr/>
        </p:nvSpPr>
        <p:spPr>
          <a:xfrm>
            <a:off x="591013" y="3838900"/>
            <a:ext cx="1416205" cy="57986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Client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16E2D12-12E7-4E91-A4D2-0C1A444A31B7}"/>
              </a:ext>
            </a:extLst>
          </p:cNvPr>
          <p:cNvCxnSpPr>
            <a:cxnSpLocks/>
          </p:cNvCxnSpPr>
          <p:nvPr/>
        </p:nvCxnSpPr>
        <p:spPr>
          <a:xfrm>
            <a:off x="2223552" y="2182926"/>
            <a:ext cx="108166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B4CB91A-2B9A-480E-8092-36761937AC1B}"/>
              </a:ext>
            </a:extLst>
          </p:cNvPr>
          <p:cNvCxnSpPr>
            <a:cxnSpLocks/>
          </p:cNvCxnSpPr>
          <p:nvPr/>
        </p:nvCxnSpPr>
        <p:spPr>
          <a:xfrm>
            <a:off x="2223552" y="3139068"/>
            <a:ext cx="108166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B45B63D-8664-48AF-AD84-A0C763A80310}"/>
              </a:ext>
            </a:extLst>
          </p:cNvPr>
          <p:cNvCxnSpPr>
            <a:cxnSpLocks/>
          </p:cNvCxnSpPr>
          <p:nvPr/>
        </p:nvCxnSpPr>
        <p:spPr>
          <a:xfrm>
            <a:off x="2223552" y="4128832"/>
            <a:ext cx="108166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266DBA9-7BAD-418B-AC87-4730445B17A5}"/>
              </a:ext>
            </a:extLst>
          </p:cNvPr>
          <p:cNvSpPr txBox="1"/>
          <p:nvPr/>
        </p:nvSpPr>
        <p:spPr>
          <a:xfrm>
            <a:off x="5754029" y="4619097"/>
            <a:ext cx="2096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网络层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2EBE3A2-B8E0-4F85-867B-747F6723FEB0}"/>
              </a:ext>
            </a:extLst>
          </p:cNvPr>
          <p:cNvSpPr txBox="1"/>
          <p:nvPr/>
        </p:nvSpPr>
        <p:spPr>
          <a:xfrm>
            <a:off x="900113" y="55433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内存键值对系统现状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412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9">
            <a:extLst>
              <a:ext uri="{FF2B5EF4-FFF2-40B4-BE49-F238E27FC236}">
                <a16:creationId xmlns:a16="http://schemas.microsoft.com/office/drawing/2014/main" id="{0BB66C18-BD04-40A8-A837-D36B8E5E1379}"/>
              </a:ext>
            </a:extLst>
          </p:cNvPr>
          <p:cNvSpPr txBox="1"/>
          <p:nvPr/>
        </p:nvSpPr>
        <p:spPr>
          <a:xfrm>
            <a:off x="5350788" y="2093102"/>
            <a:ext cx="37040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读写时间复杂度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O(1)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无序存储，不支持范围查询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Hash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冲突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开链法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线性探查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Cuckoo hash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2EBE3A2-B8E0-4F85-867B-747F6723FEB0}"/>
              </a:ext>
            </a:extLst>
          </p:cNvPr>
          <p:cNvSpPr txBox="1"/>
          <p:nvPr/>
        </p:nvSpPr>
        <p:spPr>
          <a:xfrm>
            <a:off x="900113" y="554335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索引数据结构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(hash table)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6568B5A-363B-4658-8138-CC9061E0BF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8795"/>
          <a:stretch/>
        </p:blipFill>
        <p:spPr>
          <a:xfrm>
            <a:off x="512088" y="1812203"/>
            <a:ext cx="4838700" cy="341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972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9">
            <a:extLst>
              <a:ext uri="{FF2B5EF4-FFF2-40B4-BE49-F238E27FC236}">
                <a16:creationId xmlns:a16="http://schemas.microsoft.com/office/drawing/2014/main" id="{0BB66C18-BD04-40A8-A837-D36B8E5E1379}"/>
              </a:ext>
            </a:extLst>
          </p:cNvPr>
          <p:cNvSpPr txBox="1"/>
          <p:nvPr/>
        </p:nvSpPr>
        <p:spPr>
          <a:xfrm>
            <a:off x="5072008" y="1456078"/>
            <a:ext cx="3704002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读写时间复杂度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O(log(n))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有序存储，支持范围查询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树合并、分裂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存储开销大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2EBE3A2-B8E0-4F85-867B-747F6723FEB0}"/>
              </a:ext>
            </a:extLst>
          </p:cNvPr>
          <p:cNvSpPr txBox="1"/>
          <p:nvPr/>
        </p:nvSpPr>
        <p:spPr>
          <a:xfrm>
            <a:off x="900113" y="554335"/>
            <a:ext cx="3416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索引数据结构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(B+ tree)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E6002C-0531-4E27-A64C-F21745DFB9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74"/>
          <a:stretch/>
        </p:blipFill>
        <p:spPr>
          <a:xfrm>
            <a:off x="187774" y="2878070"/>
            <a:ext cx="5352585" cy="217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529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9">
            <a:extLst>
              <a:ext uri="{FF2B5EF4-FFF2-40B4-BE49-F238E27FC236}">
                <a16:creationId xmlns:a16="http://schemas.microsoft.com/office/drawing/2014/main" id="{0BB66C18-BD04-40A8-A837-D36B8E5E1379}"/>
              </a:ext>
            </a:extLst>
          </p:cNvPr>
          <p:cNvSpPr txBox="1"/>
          <p:nvPr/>
        </p:nvSpPr>
        <p:spPr>
          <a:xfrm>
            <a:off x="1368006" y="4656478"/>
            <a:ext cx="6036404" cy="1083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Hash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在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put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get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update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等单</a:t>
            </a:r>
            <a:r>
              <a:rPr lang="en-US" altLang="zh-CN" sz="2000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kv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操作有明显优势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Hash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不支持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scan(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范围查询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Hash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冲突需要得到合理解决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2EBE3A2-B8E0-4F85-867B-747F6723FEB0}"/>
              </a:ext>
            </a:extLst>
          </p:cNvPr>
          <p:cNvSpPr txBox="1"/>
          <p:nvPr/>
        </p:nvSpPr>
        <p:spPr>
          <a:xfrm>
            <a:off x="900113" y="554335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索引数据结构性能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01F340D-0C63-4C5A-9B16-93B3DED5B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00" y="1378914"/>
            <a:ext cx="577215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52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96735" y="1214738"/>
            <a:ext cx="6401111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内存键值对延迟 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 </a:t>
            </a:r>
            <a:r>
              <a:rPr kumimoji="1"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网络延迟</a:t>
            </a:r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+ </a:t>
            </a:r>
            <a:r>
              <a:rPr kumimoji="1" lang="zh-CN" altLang="en-US" sz="2400" dirty="0">
                <a:solidFill>
                  <a:srgbClr val="308C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内存读写延迟</a:t>
            </a:r>
            <a:endParaRPr kumimoji="1" lang="en-US" altLang="zh-CN" sz="2400" dirty="0">
              <a:solidFill>
                <a:srgbClr val="308CF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优势：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读写速度快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内存性能无出其右</a:t>
            </a:r>
            <a:endParaRPr kumimoji="1"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劣势：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崩溃后恢复时间长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内存数据易失</a:t>
            </a:r>
            <a:endParaRPr kumimoji="1"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存储容量有限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内存价格昂贵</a:t>
            </a:r>
            <a:endParaRPr kumimoji="1"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81BD8B-005D-4616-B66C-83C19D24170A}"/>
              </a:ext>
            </a:extLst>
          </p:cNvPr>
          <p:cNvSpPr txBox="1"/>
          <p:nvPr/>
        </p:nvSpPr>
        <p:spPr>
          <a:xfrm>
            <a:off x="900113" y="55433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内存键值对系统现状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6312DC7-6B90-40E0-8352-162BDCDD6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664" y="4145309"/>
            <a:ext cx="4672117" cy="128746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2834D78-6DDD-40E2-B9CD-975FC9A32313}"/>
              </a:ext>
            </a:extLst>
          </p:cNvPr>
          <p:cNvSpPr txBox="1"/>
          <p:nvPr/>
        </p:nvSpPr>
        <p:spPr>
          <a:xfrm>
            <a:off x="1767468" y="5597912"/>
            <a:ext cx="5609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使用持久性内存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(Persistent memory)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替换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DRAM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26" name="Picture 2" descr="查看源图像">
            <a:extLst>
              <a:ext uri="{FF2B5EF4-FFF2-40B4-BE49-F238E27FC236}">
                <a16:creationId xmlns:a16="http://schemas.microsoft.com/office/drawing/2014/main" id="{D22A04C2-13AA-47D2-8D59-EB3158E257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08" b="15387"/>
          <a:stretch/>
        </p:blipFill>
        <p:spPr bwMode="auto">
          <a:xfrm>
            <a:off x="2377440" y="4130590"/>
            <a:ext cx="3818596" cy="198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590B49E-5A43-41AA-8F77-D97590FF0FEB}"/>
              </a:ext>
            </a:extLst>
          </p:cNvPr>
          <p:cNvSpPr txBox="1"/>
          <p:nvPr/>
        </p:nvSpPr>
        <p:spPr>
          <a:xfrm>
            <a:off x="1767467" y="5998022"/>
            <a:ext cx="5609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SSD/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磁盘扩容</a:t>
            </a:r>
          </a:p>
        </p:txBody>
      </p:sp>
    </p:spTree>
    <p:extLst>
      <p:ext uri="{BB962C8B-B14F-4D97-AF65-F5344CB8AC3E}">
        <p14:creationId xmlns:p14="http://schemas.microsoft.com/office/powerpoint/2010/main" val="196221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74693" y="2465408"/>
            <a:ext cx="5797348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内存键值对系统现状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SSD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扩容的内存键值对系统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面向异构内存的内存键值对系统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纯内存数据存储系统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77696" y="1450848"/>
            <a:ext cx="1757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Agenda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7168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62EBE3A2-B8E0-4F85-867B-747F6723FEB0}"/>
              </a:ext>
            </a:extLst>
          </p:cNvPr>
          <p:cNvSpPr txBox="1"/>
          <p:nvPr/>
        </p:nvSpPr>
        <p:spPr>
          <a:xfrm>
            <a:off x="900113" y="55433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SSD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In-mem KV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扩容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0B4BDC7-7A36-4063-9A62-8F11296D0F9D}"/>
              </a:ext>
            </a:extLst>
          </p:cNvPr>
          <p:cNvSpPr txBox="1">
            <a:spLocks/>
          </p:cNvSpPr>
          <p:nvPr/>
        </p:nvSpPr>
        <p:spPr>
          <a:xfrm>
            <a:off x="-509287" y="1425097"/>
            <a:ext cx="6268225" cy="4489567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Memcached is memory capacity bound[1]</a:t>
            </a:r>
          </a:p>
          <a:p>
            <a:pPr lvl="1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capacity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higher performance</a:t>
            </a:r>
          </a:p>
          <a:p>
            <a:pPr lvl="1" algn="l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l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         SSD is cheaper</a:t>
            </a:r>
          </a:p>
          <a:p>
            <a:pPr lvl="1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SSD only increase delays by a small fraction </a:t>
            </a:r>
          </a:p>
          <a:p>
            <a:pPr lvl="1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compared with DRAM due to network.</a:t>
            </a:r>
          </a:p>
          <a:p>
            <a:pPr lvl="1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69A6D2-834D-40B1-B135-B5DBFE493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548" y="2406123"/>
            <a:ext cx="5562653" cy="225409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D91EBAE-113F-446B-8E53-801B92685D03}"/>
              </a:ext>
            </a:extLst>
          </p:cNvPr>
          <p:cNvSpPr txBox="1"/>
          <p:nvPr/>
        </p:nvSpPr>
        <p:spPr>
          <a:xfrm>
            <a:off x="0" y="6046762"/>
            <a:ext cx="10554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[1] CIDON, A., RUSHTON, D., RUMBLE, S. M., AND STUTSMAN, R.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Memshare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dynamic multi-tenant key-value cache, in ATC’17</a:t>
            </a:r>
          </a:p>
        </p:txBody>
      </p:sp>
    </p:spTree>
    <p:extLst>
      <p:ext uri="{BB962C8B-B14F-4D97-AF65-F5344CB8AC3E}">
        <p14:creationId xmlns:p14="http://schemas.microsoft.com/office/powerpoint/2010/main" val="2983466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62EBE3A2-B8E0-4F85-867B-747F6723FEB0}"/>
              </a:ext>
            </a:extLst>
          </p:cNvPr>
          <p:cNvSpPr txBox="1"/>
          <p:nvPr/>
        </p:nvSpPr>
        <p:spPr>
          <a:xfrm>
            <a:off x="900113" y="55433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SSD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In-mem KV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扩容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06736E-572F-4492-94F8-6664F0EBA153}"/>
              </a:ext>
            </a:extLst>
          </p:cNvPr>
          <p:cNvSpPr/>
          <p:nvPr/>
        </p:nvSpPr>
        <p:spPr>
          <a:xfrm>
            <a:off x="411245" y="2873891"/>
            <a:ext cx="832150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How to solve write amplification</a:t>
            </a:r>
            <a:endParaRPr lang="zh-CN" altLang="en-US" sz="4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8208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62EBE3A2-B8E0-4F85-867B-747F6723FEB0}"/>
              </a:ext>
            </a:extLst>
          </p:cNvPr>
          <p:cNvSpPr txBox="1"/>
          <p:nvPr/>
        </p:nvSpPr>
        <p:spPr>
          <a:xfrm>
            <a:off x="900113" y="55433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SSD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In-mem KV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扩容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占位符 5">
            <a:extLst>
              <a:ext uri="{FF2B5EF4-FFF2-40B4-BE49-F238E27FC236}">
                <a16:creationId xmlns:a16="http://schemas.microsoft.com/office/drawing/2014/main" id="{83607BA9-D87E-4F4B-833C-576B62358D14}"/>
              </a:ext>
            </a:extLst>
          </p:cNvPr>
          <p:cNvSpPr txBox="1">
            <a:spLocks/>
          </p:cNvSpPr>
          <p:nvPr/>
        </p:nvSpPr>
        <p:spPr>
          <a:xfrm>
            <a:off x="-798576" y="1689420"/>
            <a:ext cx="10537794" cy="4598634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Flashield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Hybrid Key-value Cache that </a:t>
            </a:r>
          </a:p>
          <a:p>
            <a:pPr lvl="1">
              <a:lnSpc>
                <a:spcPct val="150000"/>
              </a:lnSpc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Flash Write Amplification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Assaf Eisenman</a:t>
            </a:r>
            <a:r>
              <a:rPr lang="en-US" altLang="zh-CN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Asaf Cidon</a:t>
            </a:r>
            <a:r>
              <a:rPr lang="en-US" altLang="zh-CN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Evgenya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Pergament</a:t>
            </a:r>
            <a:r>
              <a:rPr lang="en-US" altLang="zh-CN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Haimovich</a:t>
            </a:r>
            <a:r>
              <a:rPr lang="en-US" altLang="zh-CN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Ryan Stutsman</a:t>
            </a:r>
            <a:r>
              <a:rPr lang="en-US" altLang="zh-CN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Mohammad  Alizadeh</a:t>
            </a:r>
            <a:r>
              <a:rPr lang="en-US" altLang="zh-CN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Sachin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Katti</a:t>
            </a:r>
            <a:r>
              <a:rPr lang="en-US" altLang="zh-CN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lvl="1">
              <a:lnSpc>
                <a:spcPct val="150000"/>
              </a:lnSpc>
            </a:pPr>
            <a:r>
              <a:rPr lang="en-US" altLang="zh-CN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Stanford University, </a:t>
            </a:r>
            <a:r>
              <a:rPr lang="en-US" altLang="zh-CN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Barracuda Networks, </a:t>
            </a:r>
            <a:r>
              <a:rPr lang="en-US" altLang="zh-CN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Utah, </a:t>
            </a:r>
            <a:r>
              <a:rPr lang="en-US" altLang="zh-CN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CSAIL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proceeding of NSDI’19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602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62EBE3A2-B8E0-4F85-867B-747F6723FEB0}"/>
              </a:ext>
            </a:extLst>
          </p:cNvPr>
          <p:cNvSpPr txBox="1"/>
          <p:nvPr/>
        </p:nvSpPr>
        <p:spPr>
          <a:xfrm>
            <a:off x="900113" y="55433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写放大问题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占位符 5">
            <a:extLst>
              <a:ext uri="{FF2B5EF4-FFF2-40B4-BE49-F238E27FC236}">
                <a16:creationId xmlns:a16="http://schemas.microsoft.com/office/drawing/2014/main" id="{3DB4B9F7-B435-4CAB-AA8B-E2F07B65175F}"/>
              </a:ext>
            </a:extLst>
          </p:cNvPr>
          <p:cNvSpPr txBox="1">
            <a:spLocks/>
          </p:cNvSpPr>
          <p:nvPr/>
        </p:nvSpPr>
        <p:spPr>
          <a:xfrm>
            <a:off x="-399531" y="1613368"/>
            <a:ext cx="10537794" cy="4598634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Cache-level write amplification(CLWA)</a:t>
            </a:r>
            <a:b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     Evict WA                                                Update WA</a:t>
            </a:r>
          </a:p>
          <a:p>
            <a:pPr lvl="1" algn="l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01F5F1-984A-48B8-8076-5884865213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38"/>
          <a:stretch/>
        </p:blipFill>
        <p:spPr>
          <a:xfrm>
            <a:off x="35476" y="2613831"/>
            <a:ext cx="4201736" cy="38262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7377C51-D72A-4985-A265-CF564B48D1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23" b="8550"/>
          <a:stretch/>
        </p:blipFill>
        <p:spPr>
          <a:xfrm>
            <a:off x="3980734" y="2714192"/>
            <a:ext cx="5031240" cy="324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008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62EBE3A2-B8E0-4F85-867B-747F6723FEB0}"/>
              </a:ext>
            </a:extLst>
          </p:cNvPr>
          <p:cNvSpPr txBox="1"/>
          <p:nvPr/>
        </p:nvSpPr>
        <p:spPr>
          <a:xfrm>
            <a:off x="900113" y="554335"/>
            <a:ext cx="4053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DRAM-SSD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hybird</a:t>
            </a: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K-V cache</a:t>
            </a:r>
          </a:p>
        </p:txBody>
      </p:sp>
      <p:sp>
        <p:nvSpPr>
          <p:cNvPr id="4" name="文本占位符 5">
            <a:extLst>
              <a:ext uri="{FF2B5EF4-FFF2-40B4-BE49-F238E27FC236}">
                <a16:creationId xmlns:a16="http://schemas.microsoft.com/office/drawing/2014/main" id="{A3E047AD-A235-4C81-AB97-E2541770D351}"/>
              </a:ext>
            </a:extLst>
          </p:cNvPr>
          <p:cNvSpPr txBox="1">
            <a:spLocks/>
          </p:cNvSpPr>
          <p:nvPr/>
        </p:nvSpPr>
        <p:spPr>
          <a:xfrm>
            <a:off x="-187658" y="1228139"/>
            <a:ext cx="10537794" cy="4598634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Cache-level write amplification(CLWA)</a:t>
            </a:r>
            <a:b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Not every object is suitable to be stored in SSD</a:t>
            </a:r>
          </a:p>
          <a:p>
            <a:pPr lvl="1" algn="l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l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l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Unread writes and updates contribute to WA</a:t>
            </a:r>
          </a:p>
          <a:p>
            <a:pPr lvl="1" algn="l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pPr lvl="1" algn="l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l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CA2340E-DEE6-4E36-948A-69F9B13F4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32" y="2351968"/>
            <a:ext cx="6881038" cy="1077032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15E36E6-2F32-4888-B31D-AB492C872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437" y="3964115"/>
            <a:ext cx="5077748" cy="248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7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5">
            <a:extLst>
              <a:ext uri="{FF2B5EF4-FFF2-40B4-BE49-F238E27FC236}">
                <a16:creationId xmlns:a16="http://schemas.microsoft.com/office/drawing/2014/main" id="{56C8622B-DCB1-41DE-92D3-4CFC12D1A1BE}"/>
              </a:ext>
            </a:extLst>
          </p:cNvPr>
          <p:cNvSpPr txBox="1">
            <a:spLocks/>
          </p:cNvSpPr>
          <p:nvPr/>
        </p:nvSpPr>
        <p:spPr>
          <a:xfrm>
            <a:off x="0" y="1261327"/>
            <a:ext cx="10537794" cy="4598634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DRAM serves three purposes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As a filter to decide which objects should be inserted into SSD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Stores the metadata for looking up and evicting objects on flash. 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As a caching layer for objects before they are moved to SSD and for </a:t>
            </a:r>
          </a:p>
          <a:p>
            <a:pPr lvl="1" algn="l">
              <a:lnSpc>
                <a:spcPct val="150000"/>
              </a:lnSpc>
            </a:pP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objects that are not candidates for SSD.</a:t>
            </a:r>
          </a:p>
          <a:p>
            <a:pPr lvl="1" algn="l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9CD4F3-65E9-4394-9C20-76A1B4CDC90E}"/>
              </a:ext>
            </a:extLst>
          </p:cNvPr>
          <p:cNvSpPr txBox="1"/>
          <p:nvPr/>
        </p:nvSpPr>
        <p:spPr>
          <a:xfrm>
            <a:off x="900113" y="554335"/>
            <a:ext cx="4053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DRAM-SSD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hybird</a:t>
            </a: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K-V cache</a:t>
            </a:r>
          </a:p>
        </p:txBody>
      </p:sp>
    </p:spTree>
    <p:extLst>
      <p:ext uri="{BB962C8B-B14F-4D97-AF65-F5344CB8AC3E}">
        <p14:creationId xmlns:p14="http://schemas.microsoft.com/office/powerpoint/2010/main" val="2223415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7FE4F78-81F1-4233-B55A-DF36A61DEC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" t="4656" r="6082" b="18111"/>
          <a:stretch/>
        </p:blipFill>
        <p:spPr>
          <a:xfrm>
            <a:off x="3394579" y="904489"/>
            <a:ext cx="4656602" cy="3220548"/>
          </a:xfrm>
          <a:prstGeom prst="rect">
            <a:avLst/>
          </a:prstGeom>
        </p:spPr>
      </p:pic>
      <p:sp>
        <p:nvSpPr>
          <p:cNvPr id="4" name="文本占位符 5">
            <a:extLst>
              <a:ext uri="{FF2B5EF4-FFF2-40B4-BE49-F238E27FC236}">
                <a16:creationId xmlns:a16="http://schemas.microsoft.com/office/drawing/2014/main" id="{56C8622B-DCB1-41DE-92D3-4CFC12D1A1BE}"/>
              </a:ext>
            </a:extLst>
          </p:cNvPr>
          <p:cNvSpPr txBox="1">
            <a:spLocks/>
          </p:cNvSpPr>
          <p:nvPr/>
        </p:nvSpPr>
        <p:spPr>
          <a:xfrm>
            <a:off x="0" y="1129682"/>
            <a:ext cx="10537794" cy="5304571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>
              <a:lnSpc>
                <a:spcPct val="15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DRAM as</a:t>
            </a:r>
            <a:r>
              <a:rPr lang="en-US" altLang="zh-CN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filter</a:t>
            </a:r>
          </a:p>
          <a:p>
            <a:pPr lvl="1" algn="l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l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l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l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l">
              <a:lnSpc>
                <a:spcPct val="150000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l">
              <a:lnSpc>
                <a:spcPct val="150000"/>
              </a:lnSpc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l"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How to determine which objects are suitable for SSD?</a:t>
            </a:r>
          </a:p>
          <a:p>
            <a:pPr lvl="1" algn="l"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FIFO? LRU? LFU? </a:t>
            </a:r>
          </a:p>
          <a:p>
            <a:pPr lvl="1" algn="l"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Machine learning – SVM</a:t>
            </a:r>
          </a:p>
          <a:p>
            <a:pPr lvl="1" algn="l">
              <a:lnSpc>
                <a:spcPct val="150000"/>
              </a:lnSpc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Flashiness score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  1) this object will be accessed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times in the near future</a:t>
            </a:r>
          </a:p>
          <a:p>
            <a:pPr lvl="1" algn="l"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	         2) this object will be immutable in the near future</a:t>
            </a:r>
          </a:p>
          <a:p>
            <a:pPr lvl="1" algn="l">
              <a:lnSpc>
                <a:spcPct val="150000"/>
              </a:lnSpc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5A1C349-24BA-4ECD-BFAB-78ED8F7AB589}"/>
              </a:ext>
            </a:extLst>
          </p:cNvPr>
          <p:cNvSpPr/>
          <p:nvPr/>
        </p:nvSpPr>
        <p:spPr>
          <a:xfrm>
            <a:off x="4148470" y="1630570"/>
            <a:ext cx="1732830" cy="62879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9DDFF67-6A82-4767-ABBD-CF5D2BE6C7D0}"/>
              </a:ext>
            </a:extLst>
          </p:cNvPr>
          <p:cNvCxnSpPr/>
          <p:nvPr/>
        </p:nvCxnSpPr>
        <p:spPr>
          <a:xfrm>
            <a:off x="317323" y="4610758"/>
            <a:ext cx="24946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E6E7993-AEDE-406F-B0EE-20C3F0BEF44A}"/>
              </a:ext>
            </a:extLst>
          </p:cNvPr>
          <p:cNvSpPr txBox="1"/>
          <p:nvPr/>
        </p:nvSpPr>
        <p:spPr>
          <a:xfrm>
            <a:off x="900113" y="554335"/>
            <a:ext cx="4053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DRAM-SSD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hybird</a:t>
            </a: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K-V cache</a:t>
            </a:r>
          </a:p>
        </p:txBody>
      </p:sp>
    </p:spTree>
    <p:extLst>
      <p:ext uri="{BB962C8B-B14F-4D97-AF65-F5344CB8AC3E}">
        <p14:creationId xmlns:p14="http://schemas.microsoft.com/office/powerpoint/2010/main" val="259055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5">
            <a:extLst>
              <a:ext uri="{FF2B5EF4-FFF2-40B4-BE49-F238E27FC236}">
                <a16:creationId xmlns:a16="http://schemas.microsoft.com/office/drawing/2014/main" id="{4E561421-87B4-4342-A8D5-E2D10EB1C74C}"/>
              </a:ext>
            </a:extLst>
          </p:cNvPr>
          <p:cNvSpPr txBox="1">
            <a:spLocks/>
          </p:cNvSpPr>
          <p:nvPr/>
        </p:nvSpPr>
        <p:spPr>
          <a:xfrm>
            <a:off x="0" y="1285800"/>
            <a:ext cx="10537794" cy="4598634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Data processing overview: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l">
              <a:lnSpc>
                <a:spcPct val="150000"/>
              </a:lnSpc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Index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evict</a:t>
            </a:r>
          </a:p>
          <a:p>
            <a:pPr lvl="1" algn="l">
              <a:lnSpc>
                <a:spcPct val="150000"/>
              </a:lnSpc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59E671-2C27-4572-904F-135766B4E9BD}"/>
              </a:ext>
            </a:extLst>
          </p:cNvPr>
          <p:cNvSpPr/>
          <p:nvPr/>
        </p:nvSpPr>
        <p:spPr>
          <a:xfrm>
            <a:off x="0" y="1859293"/>
            <a:ext cx="9021337" cy="1046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Write object into DRAM  record read and update times </a:t>
            </a:r>
          </a:p>
          <a:p>
            <a:pPr lvl="1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SVM predicts if this object is suitable for SSD  store object in SSD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111017-09B1-4E35-B0F9-A87D713C6A69}"/>
              </a:ext>
            </a:extLst>
          </p:cNvPr>
          <p:cNvSpPr/>
          <p:nvPr/>
        </p:nvSpPr>
        <p:spPr>
          <a:xfrm>
            <a:off x="0" y="3711818"/>
            <a:ext cx="7248293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hash table + bloom filter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1538B0-3CC4-4A6E-B757-2DBFCCAB1F2D}"/>
              </a:ext>
            </a:extLst>
          </p:cNvPr>
          <p:cNvSpPr/>
          <p:nvPr/>
        </p:nvSpPr>
        <p:spPr>
          <a:xfrm>
            <a:off x="-1" y="4912432"/>
            <a:ext cx="7248293" cy="1047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Clock algorithm</a:t>
            </a:r>
          </a:p>
          <a:p>
            <a:pPr lvl="1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FIFO in SSD segments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CF00A9-CE3E-4702-98B2-B36C6484D058}"/>
              </a:ext>
            </a:extLst>
          </p:cNvPr>
          <p:cNvSpPr txBox="1"/>
          <p:nvPr/>
        </p:nvSpPr>
        <p:spPr>
          <a:xfrm>
            <a:off x="900113" y="554335"/>
            <a:ext cx="4053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DRAM-SSD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hybird</a:t>
            </a: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K-V cache</a:t>
            </a:r>
          </a:p>
        </p:txBody>
      </p:sp>
    </p:spTree>
    <p:extLst>
      <p:ext uri="{BB962C8B-B14F-4D97-AF65-F5344CB8AC3E}">
        <p14:creationId xmlns:p14="http://schemas.microsoft.com/office/powerpoint/2010/main" val="3079085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2A43FFD-16EF-4BF5-A730-8A1B65B32280}"/>
              </a:ext>
            </a:extLst>
          </p:cNvPr>
          <p:cNvSpPr txBox="1"/>
          <p:nvPr/>
        </p:nvSpPr>
        <p:spPr>
          <a:xfrm>
            <a:off x="900113" y="554335"/>
            <a:ext cx="4053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DRAM-SSD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hybird</a:t>
            </a: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K-V cache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EA4F3B-F1B8-4009-B1F8-778072CACA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487"/>
          <a:stretch/>
        </p:blipFill>
        <p:spPr>
          <a:xfrm>
            <a:off x="2151661" y="1532440"/>
            <a:ext cx="6111394" cy="170221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2728699-70E4-4B0D-B208-75C633623A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3394"/>
          <a:stretch/>
        </p:blipFill>
        <p:spPr>
          <a:xfrm>
            <a:off x="2056123" y="3751098"/>
            <a:ext cx="6574922" cy="2753532"/>
          </a:xfrm>
          <a:prstGeom prst="rect">
            <a:avLst/>
          </a:prstGeom>
        </p:spPr>
      </p:pic>
      <p:sp>
        <p:nvSpPr>
          <p:cNvPr id="8" name="文本占位符 5">
            <a:extLst>
              <a:ext uri="{FF2B5EF4-FFF2-40B4-BE49-F238E27FC236}">
                <a16:creationId xmlns:a16="http://schemas.microsoft.com/office/drawing/2014/main" id="{85BDF0BB-C57A-4302-AEFF-7AAC8F27ECE5}"/>
              </a:ext>
            </a:extLst>
          </p:cNvPr>
          <p:cNvSpPr txBox="1">
            <a:spLocks/>
          </p:cNvSpPr>
          <p:nvPr/>
        </p:nvSpPr>
        <p:spPr>
          <a:xfrm>
            <a:off x="-217656" y="1351420"/>
            <a:ext cx="10537794" cy="4598634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Performance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Write amplification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0704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74693" y="2465408"/>
            <a:ext cx="5797348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内存键值对系统现状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SSD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扩容的内存键值对系统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面向异构内存的内存键值对系统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纯内存数据存储系统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77696" y="1450848"/>
            <a:ext cx="1757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Agenda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4581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00113" y="3300016"/>
            <a:ext cx="489108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Challenges: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数据持久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维护数据崩溃一致性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持久性内存访问速度慢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保持高性能</a:t>
            </a:r>
            <a:endParaRPr kumimoji="1"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81BD8B-005D-4616-B66C-83C19D24170A}"/>
              </a:ext>
            </a:extLst>
          </p:cNvPr>
          <p:cNvSpPr txBox="1"/>
          <p:nvPr/>
        </p:nvSpPr>
        <p:spPr>
          <a:xfrm>
            <a:off x="900113" y="55433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内存键值对系统现状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6312DC7-6B90-40E0-8352-162BDCDD6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940" y="1255014"/>
            <a:ext cx="4672117" cy="128746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2834D78-6DDD-40E2-B9CD-975FC9A32313}"/>
              </a:ext>
            </a:extLst>
          </p:cNvPr>
          <p:cNvSpPr txBox="1"/>
          <p:nvPr/>
        </p:nvSpPr>
        <p:spPr>
          <a:xfrm>
            <a:off x="1767466" y="2587378"/>
            <a:ext cx="5609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使用持久性内存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(Persistent memory)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替换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DRAM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5A5CFF7-4035-45AE-A6ED-111CE25FE9BE}"/>
              </a:ext>
            </a:extLst>
          </p:cNvPr>
          <p:cNvSpPr/>
          <p:nvPr/>
        </p:nvSpPr>
        <p:spPr>
          <a:xfrm>
            <a:off x="2433812" y="4973444"/>
            <a:ext cx="4276369" cy="72482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使用</a:t>
            </a:r>
            <a:r>
              <a:rPr lang="en-US" altLang="zh-CN" sz="2000" dirty="0">
                <a:solidFill>
                  <a:schemeClr val="tx1"/>
                </a:solidFill>
              </a:rPr>
              <a:t>DRAM-PM</a:t>
            </a:r>
            <a:r>
              <a:rPr lang="zh-CN" altLang="en-US" sz="2000" dirty="0">
                <a:solidFill>
                  <a:schemeClr val="tx1"/>
                </a:solidFill>
              </a:rPr>
              <a:t>的异构内存系统</a:t>
            </a:r>
          </a:p>
        </p:txBody>
      </p:sp>
    </p:spTree>
    <p:extLst>
      <p:ext uri="{BB962C8B-B14F-4D97-AF65-F5344CB8AC3E}">
        <p14:creationId xmlns:p14="http://schemas.microsoft.com/office/powerpoint/2010/main" val="323275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/>
          <p:cNvSpPr txBox="1">
            <a:spLocks/>
          </p:cNvSpPr>
          <p:nvPr/>
        </p:nvSpPr>
        <p:spPr>
          <a:xfrm>
            <a:off x="1088679" y="3592984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02B1D0-E504-4499-A640-9C79A2184EF7}"/>
              </a:ext>
            </a:extLst>
          </p:cNvPr>
          <p:cNvSpPr txBox="1"/>
          <p:nvPr/>
        </p:nvSpPr>
        <p:spPr>
          <a:xfrm>
            <a:off x="671332" y="1794076"/>
            <a:ext cx="762771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HiKV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Hybrid Index Key-Value Store for DRAM-NVM Memory Systems</a:t>
            </a:r>
          </a:p>
          <a:p>
            <a:pPr algn="ctr"/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000" dirty="0"/>
              <a:t>Fei Xia, </a:t>
            </a:r>
            <a:r>
              <a:rPr lang="en-US" altLang="zh-CN" sz="2000" dirty="0" err="1"/>
              <a:t>Dejun</a:t>
            </a:r>
            <a:r>
              <a:rPr lang="en-US" altLang="zh-CN" sz="2000" dirty="0"/>
              <a:t> Jiang, </a:t>
            </a:r>
            <a:r>
              <a:rPr lang="en-US" altLang="zh-CN" sz="2000" dirty="0" err="1"/>
              <a:t>Jin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Xiong</a:t>
            </a:r>
            <a:r>
              <a:rPr lang="en-US" altLang="zh-CN" sz="2000" dirty="0"/>
              <a:t>, and </a:t>
            </a:r>
            <a:r>
              <a:rPr lang="en-US" altLang="zh-CN" sz="2000" dirty="0" err="1"/>
              <a:t>Ninghui</a:t>
            </a:r>
            <a:r>
              <a:rPr lang="en-US" altLang="zh-CN" sz="2000" dirty="0"/>
              <a:t> Sun</a:t>
            </a:r>
          </a:p>
          <a:p>
            <a:pPr algn="ctr"/>
            <a:endParaRPr lang="en-US" altLang="zh-CN" sz="2000" dirty="0"/>
          </a:p>
          <a:p>
            <a:pPr algn="ctr"/>
            <a:r>
              <a:rPr lang="en-US" altLang="zh-CN" sz="2000" dirty="0"/>
              <a:t>SKL Computer Architecture, ICT, CAS </a:t>
            </a:r>
          </a:p>
          <a:p>
            <a:pPr algn="ctr"/>
            <a:r>
              <a:rPr lang="en-US" altLang="zh-CN" sz="2000" dirty="0"/>
              <a:t>University of Chinese Academy of Sciences</a:t>
            </a:r>
          </a:p>
          <a:p>
            <a:pPr algn="ctr"/>
            <a:endParaRPr lang="en-US" altLang="zh-CN" sz="2000" dirty="0"/>
          </a:p>
          <a:p>
            <a:pPr algn="ctr"/>
            <a:r>
              <a:rPr lang="en-US" altLang="zh-CN" sz="2000" dirty="0"/>
              <a:t>In </a:t>
            </a:r>
            <a:r>
              <a:rPr lang="en-US" altLang="zh-CN" sz="2000" dirty="0" err="1"/>
              <a:t>Usenix</a:t>
            </a:r>
            <a:r>
              <a:rPr lang="en-US" altLang="zh-CN" sz="2000" dirty="0"/>
              <a:t> ATC</a:t>
            </a:r>
            <a:r>
              <a:rPr lang="zh-CN" altLang="en-US" sz="2000" dirty="0"/>
              <a:t>‘</a:t>
            </a:r>
            <a:r>
              <a:rPr lang="en-US" altLang="zh-CN" sz="2000" dirty="0"/>
              <a:t>17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92899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HiKV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4" y="1538868"/>
            <a:ext cx="74155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主要思想：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u="sng" dirty="0">
                <a:solidFill>
                  <a:srgbClr val="1A68F0"/>
                </a:solidFill>
              </a:rPr>
              <a:t>H</a:t>
            </a:r>
            <a:r>
              <a:rPr lang="en-US" altLang="zh-CN" sz="2400" dirty="0">
                <a:solidFill>
                  <a:srgbClr val="1A68F0"/>
                </a:solidFill>
              </a:rPr>
              <a:t>ybrid </a:t>
            </a:r>
            <a:r>
              <a:rPr lang="en-US" altLang="zh-CN" sz="2400" u="sng" dirty="0">
                <a:solidFill>
                  <a:srgbClr val="1A68F0"/>
                </a:solidFill>
              </a:rPr>
              <a:t>i</a:t>
            </a:r>
            <a:r>
              <a:rPr lang="en-US" altLang="zh-CN" sz="2400" dirty="0">
                <a:solidFill>
                  <a:srgbClr val="1A68F0"/>
                </a:solidFill>
              </a:rPr>
              <a:t>ndex </a:t>
            </a:r>
            <a:r>
              <a:rPr lang="en-US" altLang="zh-CN" sz="2400" u="sng" dirty="0">
                <a:solidFill>
                  <a:srgbClr val="1A68F0"/>
                </a:solidFill>
              </a:rPr>
              <a:t>K</a:t>
            </a:r>
            <a:r>
              <a:rPr lang="en-US" altLang="zh-CN" sz="2400" dirty="0">
                <a:solidFill>
                  <a:srgbClr val="1A68F0"/>
                </a:solidFill>
              </a:rPr>
              <a:t>ey-</a:t>
            </a:r>
            <a:r>
              <a:rPr lang="en-US" altLang="zh-CN" sz="2400" u="sng" dirty="0">
                <a:solidFill>
                  <a:srgbClr val="1A68F0"/>
                </a:solidFill>
              </a:rPr>
              <a:t>V</a:t>
            </a:r>
            <a:r>
              <a:rPr lang="en-US" altLang="zh-CN" sz="2400" dirty="0">
                <a:solidFill>
                  <a:srgbClr val="1A68F0"/>
                </a:solidFill>
              </a:rPr>
              <a:t>alue Store </a:t>
            </a:r>
            <a:endParaRPr lang="en-US" altLang="zh-CN" sz="2400" dirty="0">
              <a:solidFill>
                <a:srgbClr val="1A68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在异构内存上构建异构索引（</a:t>
            </a:r>
            <a:r>
              <a:rPr lang="en-US" altLang="zh-CN" sz="2000" dirty="0">
                <a:solidFill>
                  <a:srgbClr val="308C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hash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en-US" altLang="zh-CN" sz="20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B+Tree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0B7B0C-EDA2-4C90-9F02-CBF375A0F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412" y="2554531"/>
            <a:ext cx="5031176" cy="200250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413D8E5-C734-44B7-959B-5E2F2545B62D}"/>
              </a:ext>
            </a:extLst>
          </p:cNvPr>
          <p:cNvSpPr txBox="1"/>
          <p:nvPr/>
        </p:nvSpPr>
        <p:spPr>
          <a:xfrm>
            <a:off x="769433" y="4537720"/>
            <a:ext cx="74155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ea typeface="楷体" panose="02010609060101010101" pitchFamily="49" charset="-122"/>
              </a:rPr>
              <a:t>Challenges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延迟：如何减小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put/update/delete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的延迟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并发：如何控制混合索引的并发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一致性：如何在保证一致性的前提下减小性能损失</a:t>
            </a:r>
          </a:p>
        </p:txBody>
      </p:sp>
    </p:spTree>
    <p:extLst>
      <p:ext uri="{BB962C8B-B14F-4D97-AF65-F5344CB8AC3E}">
        <p14:creationId xmlns:p14="http://schemas.microsoft.com/office/powerpoint/2010/main" val="1414791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HiKV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602165" y="1210416"/>
            <a:ext cx="74155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解决方案：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异步的索引更新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混合索引采用不同的并发控制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顺序写保证一致性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崩溃重启后在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DRAM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重建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B+tree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2889C36-E2D6-4B69-B59C-19E2953B7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5" y="2756880"/>
            <a:ext cx="619125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3023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HiKV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213366"/>
            <a:ext cx="74155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异步索引更新</a:t>
            </a:r>
            <a:endParaRPr lang="en-US" altLang="zh-CN" sz="2000" dirty="0">
              <a:solidFill>
                <a:srgbClr val="1A68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索引存储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Hash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放置于慢速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NVM(PM)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B+tree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放置在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DRAM</a:t>
            </a: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索引更新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同步更新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KV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对和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hash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结构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异步后台更新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B+tree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DB396A-1A95-4959-AEF1-3C40ECFE57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46"/>
          <a:stretch/>
        </p:blipFill>
        <p:spPr>
          <a:xfrm>
            <a:off x="1836271" y="3134258"/>
            <a:ext cx="5383833" cy="316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28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HiKV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347181"/>
            <a:ext cx="74155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并发访问控制策略</a:t>
            </a:r>
            <a:endParaRPr lang="en-US" altLang="zh-CN" sz="2000" dirty="0">
              <a:solidFill>
                <a:srgbClr val="1A68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Hash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索引和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KV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对象：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Partition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方案，细粒度锁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B+tree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索引：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硬件事务内存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(HTM)</a:t>
            </a:r>
          </a:p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37186AE-2C3F-483F-AC26-09DBA4042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587" y="3428999"/>
            <a:ext cx="583882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099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HiKV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347181"/>
            <a:ext cx="74155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68F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顺序写一致性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1A68F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不保证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B+tree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的一致性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NVM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上的顺序写一致性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首先为新的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kv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对分配空间并更新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hash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索引中原子性地更新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entry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5BC5D2-0821-49EA-9438-4A3E26938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20" y="3596268"/>
            <a:ext cx="7313759" cy="221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869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HiKV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347181"/>
            <a:ext cx="74155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68F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顺序写一致性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1A68F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不保证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B+tree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的一致性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NVM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上的顺序写一致性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首先为新的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kv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对分配空间并更新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hash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索引中原子性地更新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entry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5BC5D2-0821-49EA-9438-4A3E26938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20" y="3596268"/>
            <a:ext cx="7313759" cy="221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445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HiKV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347181"/>
            <a:ext cx="74155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实验测试</a:t>
            </a:r>
            <a:endParaRPr lang="en-US" altLang="zh-CN" sz="2000" dirty="0">
              <a:solidFill>
                <a:srgbClr val="1A68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Workload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16B key,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256B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value, 50M key-value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延迟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CD1AA36-F308-4D69-818B-109B24AA1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363" y="2578952"/>
            <a:ext cx="6339273" cy="323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898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HiKV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347181"/>
            <a:ext cx="74155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实验测试</a:t>
            </a:r>
            <a:endParaRPr lang="en-US" altLang="zh-CN" sz="2000" dirty="0">
              <a:solidFill>
                <a:srgbClr val="1A68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Workload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16B key,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256B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value, 50M key-value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带宽与扩展性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D943AC-97BF-475E-9F7D-0EF23964BE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35"/>
          <a:stretch/>
        </p:blipFill>
        <p:spPr>
          <a:xfrm>
            <a:off x="691024" y="2581043"/>
            <a:ext cx="7493969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27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/>
          <p:cNvSpPr txBox="1">
            <a:spLocks/>
          </p:cNvSpPr>
          <p:nvPr/>
        </p:nvSpPr>
        <p:spPr>
          <a:xfrm>
            <a:off x="1088679" y="3592984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02B1D0-E504-4499-A640-9C79A2184EF7}"/>
              </a:ext>
            </a:extLst>
          </p:cNvPr>
          <p:cNvSpPr txBox="1"/>
          <p:nvPr/>
        </p:nvSpPr>
        <p:spPr>
          <a:xfrm>
            <a:off x="671332" y="1794076"/>
            <a:ext cx="762771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Closing the Performance Gap Between Volatile and Persistent Key-Value</a:t>
            </a:r>
          </a:p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Using Cross-Referencing Logs</a:t>
            </a:r>
          </a:p>
          <a:p>
            <a:pPr algn="ctr"/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000" dirty="0" err="1"/>
              <a:t>Yihe</a:t>
            </a:r>
            <a:r>
              <a:rPr lang="en-US" altLang="zh-CN" sz="2000" dirty="0"/>
              <a:t> Huang   Matej Pavlovic   Virendra J. </a:t>
            </a:r>
            <a:r>
              <a:rPr lang="en-US" altLang="zh-CN" sz="2000" dirty="0" err="1"/>
              <a:t>Marathe</a:t>
            </a:r>
            <a:r>
              <a:rPr lang="en-US" altLang="zh-CN" sz="2000" dirty="0"/>
              <a:t>   Margo Seltzer</a:t>
            </a:r>
          </a:p>
          <a:p>
            <a:pPr algn="ctr"/>
            <a:r>
              <a:rPr lang="en-US" altLang="zh-CN" sz="2000" dirty="0"/>
              <a:t>Tim Harris      Steve </a:t>
            </a:r>
            <a:r>
              <a:rPr lang="en-US" altLang="zh-CN" sz="2000" dirty="0" err="1"/>
              <a:t>Byan</a:t>
            </a:r>
            <a:endParaRPr lang="en-US" altLang="zh-CN" sz="2000" dirty="0"/>
          </a:p>
          <a:p>
            <a:pPr algn="ctr"/>
            <a:endParaRPr lang="en-US" altLang="zh-CN" sz="2000" dirty="0"/>
          </a:p>
          <a:p>
            <a:pPr algn="ctr"/>
            <a:r>
              <a:rPr lang="en-US" altLang="zh-CN" sz="2000" dirty="0"/>
              <a:t>Harvard University   EPFL   Oracle Labs</a:t>
            </a:r>
          </a:p>
          <a:p>
            <a:pPr algn="ctr"/>
            <a:endParaRPr lang="en-US" altLang="zh-CN" sz="2000" dirty="0"/>
          </a:p>
          <a:p>
            <a:pPr algn="ctr"/>
            <a:r>
              <a:rPr lang="en-US" altLang="zh-CN" sz="2000" dirty="0"/>
              <a:t>In </a:t>
            </a:r>
            <a:r>
              <a:rPr lang="en-US" altLang="zh-CN" sz="2000" dirty="0" err="1"/>
              <a:t>Usenix</a:t>
            </a:r>
            <a:r>
              <a:rPr lang="en-US" altLang="zh-CN" sz="2000" dirty="0"/>
              <a:t> ATC</a:t>
            </a:r>
            <a:r>
              <a:rPr lang="zh-CN" altLang="en-US" sz="2000" dirty="0"/>
              <a:t>‘</a:t>
            </a:r>
            <a:r>
              <a:rPr lang="en-US" altLang="zh-CN" sz="2000" dirty="0"/>
              <a:t>18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917192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4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Bullet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347181"/>
            <a:ext cx="74155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持久性</a:t>
            </a:r>
            <a:r>
              <a:rPr lang="en-US" altLang="zh-CN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KV</a:t>
            </a:r>
            <a:r>
              <a:rPr lang="zh-CN" altLang="en-US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en-US" altLang="zh-CN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DRAM KV</a:t>
            </a:r>
            <a:r>
              <a:rPr lang="zh-CN" altLang="en-US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的性能差距</a:t>
            </a:r>
            <a:endParaRPr lang="en-US" altLang="zh-CN" sz="2000" dirty="0">
              <a:solidFill>
                <a:srgbClr val="1A68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srgbClr val="1A68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NVM(PM)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读写性能均差于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DRAM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持久性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KV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的读延迟约为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DRAM KV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倍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当写操作增多时，性能差距进一步拉大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661230B-C55E-4831-B4CC-CE4877584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349" y="2983915"/>
            <a:ext cx="6389301" cy="302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8653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4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Bullet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347181"/>
            <a:ext cx="74155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朴素且有效的思想</a:t>
            </a:r>
            <a:r>
              <a:rPr lang="en-US" altLang="zh-CN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——Cache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Read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：读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DRAM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miss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则读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NVM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Write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：如何减小写代价？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前端向后端写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log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Cross-Referencing Logs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srgbClr val="1A68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A1E8DF-47A9-4A9D-90FD-78E407C725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25" t="7275" r="7804"/>
          <a:stretch/>
        </p:blipFill>
        <p:spPr>
          <a:xfrm>
            <a:off x="838628" y="3053817"/>
            <a:ext cx="7466743" cy="339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4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4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Bullet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347181"/>
            <a:ext cx="74155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整体架构</a:t>
            </a:r>
            <a:endParaRPr lang="en-US" altLang="zh-CN" sz="2000" dirty="0">
              <a:solidFill>
                <a:srgbClr val="1A68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Hash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索引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DRAM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作为读写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cache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前端写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hash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索引同时写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log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，后端异步回放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log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638DBE9-9C0C-4546-8528-34A62C9E4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11" y="2916044"/>
            <a:ext cx="7024777" cy="338762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5357675-20A1-452F-B3D9-626C1D0A7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11" y="2740974"/>
            <a:ext cx="7125382" cy="35626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9506600-0427-4AEF-9543-CC07157A33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305" y="2752994"/>
            <a:ext cx="7415561" cy="355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5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4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Bullet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347181"/>
            <a:ext cx="74155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Cross-Referencing Logs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持久性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日志存储在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NVM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低延迟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日志追加访问少量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NVM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扩展性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每个线程一个追加日志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一致性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交叉引用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0E2FAFA-07E6-4340-82D7-706517ED5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11" y="3266917"/>
            <a:ext cx="7777978" cy="301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262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4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Bullet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347181"/>
            <a:ext cx="7415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Cross-Referencing Logs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0E2FAFA-07E6-4340-82D7-706517ED5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80" y="2331512"/>
            <a:ext cx="8724451" cy="33801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807BF9A-AB45-481B-8532-9D3EA0C43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202" y="3429000"/>
            <a:ext cx="1560187" cy="59257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F5F0A93-B3AA-4336-8B4D-94BDEA05D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202" y="4236521"/>
            <a:ext cx="1560187" cy="5550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072D5A5-442B-4602-B149-8B62502B5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3015" y="3456699"/>
            <a:ext cx="1492187" cy="555065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41F2B9B-D9E5-4FD1-9808-C68E1D6F8F8D}"/>
              </a:ext>
            </a:extLst>
          </p:cNvPr>
          <p:cNvCxnSpPr/>
          <p:nvPr/>
        </p:nvCxnSpPr>
        <p:spPr>
          <a:xfrm>
            <a:off x="4672361" y="3833525"/>
            <a:ext cx="613317" cy="5575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87AC4D3A-E7B1-4CCC-B4BA-8D67814BB9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7959" y="4975306"/>
            <a:ext cx="3037430" cy="588364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F568443-ADCE-498B-98DE-06F89131BAEB}"/>
              </a:ext>
            </a:extLst>
          </p:cNvPr>
          <p:cNvCxnSpPr>
            <a:cxnSpLocks/>
          </p:cNvCxnSpPr>
          <p:nvPr/>
        </p:nvCxnSpPr>
        <p:spPr>
          <a:xfrm flipH="1" flipV="1">
            <a:off x="3780263" y="3725285"/>
            <a:ext cx="892098" cy="16437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81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4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Bullet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347181"/>
            <a:ext cx="7415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Cross-Referencing Logs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0E2FAFA-07E6-4340-82D7-706517ED5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80" y="2331512"/>
            <a:ext cx="8724451" cy="33801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807BF9A-AB45-481B-8532-9D3EA0C43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202" y="3429000"/>
            <a:ext cx="1560187" cy="59257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F5F0A93-B3AA-4336-8B4D-94BDEA05D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202" y="4236521"/>
            <a:ext cx="1560187" cy="5550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072D5A5-442B-4602-B149-8B62502B5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3015" y="3454204"/>
            <a:ext cx="1492187" cy="555065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41F2B9B-D9E5-4FD1-9808-C68E1D6F8F8D}"/>
              </a:ext>
            </a:extLst>
          </p:cNvPr>
          <p:cNvCxnSpPr>
            <a:cxnSpLocks/>
          </p:cNvCxnSpPr>
          <p:nvPr/>
        </p:nvCxnSpPr>
        <p:spPr>
          <a:xfrm>
            <a:off x="4672361" y="3833525"/>
            <a:ext cx="566983" cy="3705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87AC4D3A-E7B1-4CCC-B4BA-8D67814BB9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7959" y="4975306"/>
            <a:ext cx="3037430" cy="5883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68F6B94-1C7D-4031-BB9D-12532FFED8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5202" y="4979277"/>
            <a:ext cx="1560187" cy="61241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B259178-D446-47D9-A16B-10F205BA00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5203" y="5006537"/>
            <a:ext cx="1590408" cy="585150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F568443-ADCE-498B-98DE-06F89131BAEB}"/>
              </a:ext>
            </a:extLst>
          </p:cNvPr>
          <p:cNvCxnSpPr>
            <a:cxnSpLocks/>
          </p:cNvCxnSpPr>
          <p:nvPr/>
        </p:nvCxnSpPr>
        <p:spPr>
          <a:xfrm flipH="1" flipV="1">
            <a:off x="3780263" y="4068584"/>
            <a:ext cx="892098" cy="130043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2C46B67F-D467-41CC-88CF-E4F00D01253E}"/>
              </a:ext>
            </a:extLst>
          </p:cNvPr>
          <p:cNvSpPr/>
          <p:nvPr/>
        </p:nvSpPr>
        <p:spPr>
          <a:xfrm>
            <a:off x="3367958" y="3454204"/>
            <a:ext cx="1462587" cy="557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7561D72-D933-4B44-9CB7-9FA297B494BE}"/>
              </a:ext>
            </a:extLst>
          </p:cNvPr>
          <p:cNvSpPr/>
          <p:nvPr/>
        </p:nvSpPr>
        <p:spPr>
          <a:xfrm>
            <a:off x="3371464" y="4977930"/>
            <a:ext cx="1462587" cy="557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A1C258-B300-4A96-9B81-EA679AD06FD2}"/>
              </a:ext>
            </a:extLst>
          </p:cNvPr>
          <p:cNvSpPr/>
          <p:nvPr/>
        </p:nvSpPr>
        <p:spPr>
          <a:xfrm>
            <a:off x="4848699" y="4248036"/>
            <a:ext cx="1501269" cy="557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F3EE527-9215-4374-991D-7B4D377B32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1918" y="4202714"/>
            <a:ext cx="1626754" cy="62268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54B7875-319C-4938-B561-4443971770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8685" y="3302860"/>
            <a:ext cx="3629987" cy="233993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23A0FC1-2425-4CDE-8666-DE9F3FD60EA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83388" y="3352988"/>
            <a:ext cx="3680294" cy="228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38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4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Bullet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347181"/>
            <a:ext cx="7415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Cross-Referencing Logs</a:t>
            </a:r>
            <a:r>
              <a:rPr lang="zh-CN" altLang="en-US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optimization</a:t>
            </a:r>
            <a:r>
              <a:rPr lang="zh-CN" altLang="en-US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000" dirty="0">
              <a:solidFill>
                <a:srgbClr val="1A68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D6DF4C-D316-4B92-BB96-F97151562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68404"/>
            <a:ext cx="9144000" cy="374179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CF1E12B-E590-44D2-B449-53F5C879B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71" y="2230244"/>
            <a:ext cx="8414258" cy="387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4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934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Bullet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347181"/>
            <a:ext cx="7415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308C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实验测试</a:t>
            </a:r>
            <a:endParaRPr lang="en-US" altLang="zh-CN" sz="2000" dirty="0">
              <a:solidFill>
                <a:srgbClr val="308CF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16070C-FA61-4946-A8C0-693B480D4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78472"/>
            <a:ext cx="9144000" cy="406671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BAD0728-5DAE-4FFB-B257-ABE061EA2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29137"/>
            <a:ext cx="9144000" cy="39653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028CF20-D72D-4526-B8B4-970BB060AC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33516"/>
            <a:ext cx="9144000" cy="431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3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1380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en-US" altLang="zh-CN" sz="2400" noProof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Summary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347181"/>
            <a:ext cx="741556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修改索引结构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en-US" altLang="zh-CN" sz="2400" dirty="0" err="1">
                <a:latin typeface="楷体" panose="02010609060101010101" pitchFamily="49" charset="-122"/>
                <a:ea typeface="楷体" panose="02010609060101010101" pitchFamily="49" charset="-122"/>
              </a:rPr>
              <a:t>HiKV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数据无冗余读写、存储</a:t>
            </a:r>
            <a:endParaRPr lang="en-US" altLang="zh-CN" sz="2000" dirty="0">
              <a:solidFill>
                <a:srgbClr val="1A68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计算资源耗费少</a:t>
            </a:r>
            <a:endParaRPr lang="en-US" altLang="zh-CN" sz="2000" dirty="0">
              <a:solidFill>
                <a:srgbClr val="1A68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数据强持久性</a:t>
            </a:r>
            <a:endParaRPr lang="en-US" altLang="zh-CN" sz="2000" dirty="0">
              <a:solidFill>
                <a:srgbClr val="1A68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读写延迟高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两级内存结构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——Bullet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solidFill>
                  <a:srgbClr val="308C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读写延迟低</a:t>
            </a:r>
            <a:endParaRPr lang="en-US" altLang="zh-CN" sz="2000" dirty="0">
              <a:solidFill>
                <a:srgbClr val="308CF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solidFill>
                  <a:srgbClr val="308C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计算换</a:t>
            </a:r>
            <a:r>
              <a:rPr lang="en-US" altLang="zh-CN" sz="2000" dirty="0">
                <a:solidFill>
                  <a:srgbClr val="308C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数据部分丢失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读写、存储冗余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写性能差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7523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74693" y="2465408"/>
            <a:ext cx="5797348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内存键值对系统现状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SSD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扩容的内存键值对系统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面向异构内存的内存键值对系统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 typeface="Arial" charset="0"/>
              <a:buChar char="•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纯内存数据存储系统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77696" y="1450848"/>
            <a:ext cx="1757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Agenda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6905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zh-CN" altLang="en-US" sz="2400" noProof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存储的新时代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769432" y="1411084"/>
            <a:ext cx="7415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It was the best of times, it was the worst of times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2E38BD-3857-4C7F-AD74-C2BEEF08CCEC}"/>
              </a:ext>
            </a:extLst>
          </p:cNvPr>
          <p:cNvSpPr txBox="1"/>
          <p:nvPr/>
        </p:nvSpPr>
        <p:spPr>
          <a:xfrm>
            <a:off x="769431" y="2107789"/>
            <a:ext cx="74155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It was the best of times for disk, it was the worst of times for disk.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ED39D9-A1ED-4690-84A1-F291977AFB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16" r="12095"/>
          <a:stretch/>
        </p:blipFill>
        <p:spPr>
          <a:xfrm>
            <a:off x="651201" y="3329117"/>
            <a:ext cx="3826010" cy="25075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EF582AA-F263-44F2-9C57-214B30AD6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489" y="3329118"/>
            <a:ext cx="3189833" cy="2407678"/>
          </a:xfrm>
          <a:prstGeom prst="rect">
            <a:avLst/>
          </a:prstGeom>
        </p:spPr>
      </p:pic>
      <p:sp>
        <p:nvSpPr>
          <p:cNvPr id="7" name="对话气泡: 椭圆形 6">
            <a:extLst>
              <a:ext uri="{FF2B5EF4-FFF2-40B4-BE49-F238E27FC236}">
                <a16:creationId xmlns:a16="http://schemas.microsoft.com/office/drawing/2014/main" id="{165E59A4-D27E-45E9-9B05-6401CCE899C5}"/>
              </a:ext>
            </a:extLst>
          </p:cNvPr>
          <p:cNvSpPr/>
          <p:nvPr/>
        </p:nvSpPr>
        <p:spPr>
          <a:xfrm>
            <a:off x="6756151" y="3235380"/>
            <a:ext cx="1561171" cy="700999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我太慢了</a:t>
            </a:r>
          </a:p>
        </p:txBody>
      </p:sp>
      <p:sp>
        <p:nvSpPr>
          <p:cNvPr id="10" name="对话气泡: 椭圆形 9">
            <a:extLst>
              <a:ext uri="{FF2B5EF4-FFF2-40B4-BE49-F238E27FC236}">
                <a16:creationId xmlns:a16="http://schemas.microsoft.com/office/drawing/2014/main" id="{13068F6C-DE9D-4022-BDF0-662137BD5112}"/>
              </a:ext>
            </a:extLst>
          </p:cNvPr>
          <p:cNvSpPr/>
          <p:nvPr/>
        </p:nvSpPr>
        <p:spPr>
          <a:xfrm>
            <a:off x="3010829" y="3445605"/>
            <a:ext cx="1561171" cy="700999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我太多了</a:t>
            </a:r>
          </a:p>
        </p:txBody>
      </p:sp>
    </p:spTree>
    <p:extLst>
      <p:ext uri="{BB962C8B-B14F-4D97-AF65-F5344CB8AC3E}">
        <p14:creationId xmlns:p14="http://schemas.microsoft.com/office/powerpoint/2010/main" val="222941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zh-CN" altLang="en-US" sz="2400" noProof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存储的新时代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-306349" y="1540065"/>
            <a:ext cx="74155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800" dirty="0">
                <a:latin typeface="Times New Roman" panose="02020603050405020304" pitchFamily="18" charset="0"/>
              </a:rPr>
              <a:t>Memory is the new disk. </a:t>
            </a:r>
          </a:p>
          <a:p>
            <a:pPr lvl="0" algn="ctr">
              <a:defRPr/>
            </a:pPr>
            <a:r>
              <a:rPr lang="en-US" altLang="zh-CN" sz="2800" dirty="0">
                <a:latin typeface="Times New Roman" panose="02020603050405020304" pitchFamily="18" charset="0"/>
              </a:rPr>
              <a:t>Disk is the new tape.</a:t>
            </a: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		</a:t>
            </a:r>
          </a:p>
          <a:p>
            <a:pPr lvl="0" algn="ctr"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		——Jim Gray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2E34182-5D5C-4613-9896-922758652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742" y="554335"/>
            <a:ext cx="1795246" cy="251107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A5F4261-0C17-4CE2-B6E4-2C2DE3EF162C}"/>
              </a:ext>
            </a:extLst>
          </p:cNvPr>
          <p:cNvSpPr txBox="1"/>
          <p:nvPr/>
        </p:nvSpPr>
        <p:spPr>
          <a:xfrm>
            <a:off x="407540" y="3735050"/>
            <a:ext cx="74155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8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RAMCloud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全量数据存放在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DRAM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Disk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作为数据备份，用于崩溃恢复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1CEF7F1-367E-4E01-A5E9-A0EE23D57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742" y="3262392"/>
            <a:ext cx="1814890" cy="226861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22420B5-55EA-46D2-9F03-8BDCD878CB8A}"/>
              </a:ext>
            </a:extLst>
          </p:cNvPr>
          <p:cNvSpPr txBox="1"/>
          <p:nvPr/>
        </p:nvSpPr>
        <p:spPr>
          <a:xfrm>
            <a:off x="5809785" y="5767334"/>
            <a:ext cx="2241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John </a:t>
            </a:r>
            <a:r>
              <a:rPr lang="en-US" altLang="zh-CN" dirty="0" err="1"/>
              <a:t>Ousterhout</a:t>
            </a:r>
            <a:r>
              <a:rPr lang="en-US" altLang="zh-CN" dirty="0"/>
              <a:t> Stanford</a:t>
            </a:r>
            <a:r>
              <a:rPr lang="zh-CN" altLang="en-US" dirty="0"/>
              <a:t> </a:t>
            </a:r>
            <a:r>
              <a:rPr lang="en-US" altLang="zh-CN" dirty="0"/>
              <a:t>University</a:t>
            </a:r>
          </a:p>
        </p:txBody>
      </p:sp>
      <p:sp>
        <p:nvSpPr>
          <p:cNvPr id="14" name="AutoShape 2" descr="查看源图像">
            <a:extLst>
              <a:ext uri="{FF2B5EF4-FFF2-40B4-BE49-F238E27FC236}">
                <a16:creationId xmlns:a16="http://schemas.microsoft.com/office/drawing/2014/main" id="{5070E36F-F34B-43BB-967F-6BF1658BB8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4961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3081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RAMCloud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Movitation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652867" y="1160822"/>
            <a:ext cx="74155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内存价格逐渐降低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现有数据中心的二级存储资源过剩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数据无法塞满 传统机械硬盘容量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(2011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当今针对数据密集型应用仍有价值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现有架构的性能较低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采用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key value cache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提高性能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发生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cache miss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的尾延迟高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C83750-A333-41B2-9758-C99A902DB501}"/>
              </a:ext>
            </a:extLst>
          </p:cNvPr>
          <p:cNvSpPr txBox="1"/>
          <p:nvPr/>
        </p:nvSpPr>
        <p:spPr>
          <a:xfrm>
            <a:off x="652867" y="4373739"/>
            <a:ext cx="7415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大规模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的服务器组织为分布式集群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以集群全量内存为存储空间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(24GB*40 = 1TB)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以外存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(Disk)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为数据备份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184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2929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RAMCloud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Overview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666350" y="2148990"/>
            <a:ext cx="741556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传统数据备份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快速数据恢复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三副本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存储空间冗余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3x)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纠删码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存储空间冗余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1x-2x)</a:t>
            </a: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D071A1-B1E1-4593-8693-7E211C925147}"/>
              </a:ext>
            </a:extLst>
          </p:cNvPr>
          <p:cNvSpPr txBox="1"/>
          <p:nvPr/>
        </p:nvSpPr>
        <p:spPr>
          <a:xfrm>
            <a:off x="666349" y="3429000"/>
            <a:ext cx="7415561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4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RAMCloud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的特殊性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内存容量宝贵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磁盘为空闲资源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以磁盘为数据备份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A55AAD-413F-42C9-AC24-26EE5EA0C7E6}"/>
              </a:ext>
            </a:extLst>
          </p:cNvPr>
          <p:cNvSpPr txBox="1"/>
          <p:nvPr/>
        </p:nvSpPr>
        <p:spPr>
          <a:xfrm>
            <a:off x="666350" y="1089378"/>
            <a:ext cx="741556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altLang="zh-CN" sz="32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机器宕机怎么办？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 algn="ctr">
              <a:buFont typeface="Arial" panose="020B0604020202020204" pitchFamily="34" charset="0"/>
              <a:buChar char="•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5839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2929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RAMCloud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Overview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652867" y="964050"/>
            <a:ext cx="741556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大规模服务器，每台服务器包含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Master(RAM)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Backup(Disk)</a:t>
            </a: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数据保存在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RAM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，在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RAM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中没有冗余存储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Disk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RAM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保存相同数据用于恢复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A93D39C-D13E-4AFC-89D5-5F1FA8442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964598"/>
            <a:ext cx="63246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505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Log Structure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652867" y="828943"/>
            <a:ext cx="74155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Disk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的顺序写 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&gt;&gt; 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随机写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文件顺序写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 update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时将旧数据标记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Segment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为组织单位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52940A-C0CA-4AE6-9FF3-1FDC939263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163" b="20650"/>
          <a:stretch/>
        </p:blipFill>
        <p:spPr>
          <a:xfrm>
            <a:off x="864219" y="2413762"/>
            <a:ext cx="7415561" cy="106711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DCCD471-FD1E-4B11-A3BC-BA9A3CCDB873}"/>
              </a:ext>
            </a:extLst>
          </p:cNvPr>
          <p:cNvSpPr txBox="1"/>
          <p:nvPr/>
        </p:nvSpPr>
        <p:spPr>
          <a:xfrm>
            <a:off x="652866" y="3247426"/>
            <a:ext cx="741556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垃圾回收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没有剩余空间可供追加写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之前的空间有大量“垃圾”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Garbage Collection / Compaction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F97432-D855-44A6-94BB-4E059267029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293" b="19837"/>
          <a:stretch/>
        </p:blipFill>
        <p:spPr>
          <a:xfrm>
            <a:off x="735978" y="2413762"/>
            <a:ext cx="7672041" cy="413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63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2585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RAMCloud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Details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652867" y="828943"/>
            <a:ext cx="74155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RAM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Disk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都使用追加日志结构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(log structure)</a:t>
            </a: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数据写到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backup buffer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即返回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高性能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Buffer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为带电池的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RAM(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持久性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A15CAC-D7FF-49A4-9860-897878C0B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0" y="2567499"/>
            <a:ext cx="621030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30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26420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1"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RAMCloud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Details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498041" y="1505396"/>
            <a:ext cx="325110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采用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Hash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索引快速查找数据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RAM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Disk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segment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一一对应的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数据恢复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初版</a:t>
            </a:r>
            <a:r>
              <a:rPr lang="en-US" altLang="zh-CN" sz="2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RAMCloud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RAM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和磁盘的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compaction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紧耦合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Master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中的数据分散保存在多个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backup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中，最大利用磁盘带宽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A018C3-12D8-41FB-A210-DF61E7722D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805" t="41491" r="4268" b="9326"/>
          <a:stretch/>
        </p:blipFill>
        <p:spPr>
          <a:xfrm>
            <a:off x="3914000" y="4634879"/>
            <a:ext cx="4885031" cy="20105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117F0D5-B5C1-423F-8B72-9A118563B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466" y="1134752"/>
            <a:ext cx="537210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0843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194" y="554335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现有内存分配方案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/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498041" y="1016000"/>
            <a:ext cx="753083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No-copying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内存分配器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——malloc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D848EBD-005C-4354-B8E6-18BF3E88D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2152766"/>
            <a:ext cx="8020050" cy="17049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24E14F-A21D-42F9-BEB9-C2A53C996DF1}"/>
              </a:ext>
            </a:extLst>
          </p:cNvPr>
          <p:cNvSpPr txBox="1"/>
          <p:nvPr/>
        </p:nvSpPr>
        <p:spPr>
          <a:xfrm>
            <a:off x="498040" y="3577064"/>
            <a:ext cx="753083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Copying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内存分配器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——JVM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04EDA8D-30B5-41AD-ADF9-81306FE696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168" t="31" r="-1813" b="57759"/>
          <a:stretch/>
        </p:blipFill>
        <p:spPr>
          <a:xfrm>
            <a:off x="2045407" y="4469616"/>
            <a:ext cx="5091374" cy="154937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B5EC9BB-23A1-4EF3-AFAF-F5358CF537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8365"/>
          <a:stretch/>
        </p:blipFill>
        <p:spPr>
          <a:xfrm>
            <a:off x="1613345" y="5808214"/>
            <a:ext cx="6543675" cy="49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243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F24E14F-A21D-42F9-BEB9-C2A53C996DF1}"/>
              </a:ext>
            </a:extLst>
          </p:cNvPr>
          <p:cNvSpPr txBox="1"/>
          <p:nvPr/>
        </p:nvSpPr>
        <p:spPr>
          <a:xfrm>
            <a:off x="498040" y="3442091"/>
            <a:ext cx="75308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No copying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内存分配器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分配大下不断变化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jemalloc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1GB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数据分配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2.5GB)</a:t>
            </a: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Copying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内存分配器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碎片整理停机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(JVM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暂停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3-4s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整理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64GB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FF48BA-FFAE-4857-9377-832920A80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5332"/>
            <a:ext cx="9144000" cy="250303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41F26B1-1645-4092-878C-F5CD1D1A55F1}"/>
              </a:ext>
            </a:extLst>
          </p:cNvPr>
          <p:cNvSpPr txBox="1"/>
          <p:nvPr/>
        </p:nvSpPr>
        <p:spPr>
          <a:xfrm>
            <a:off x="2107580" y="5614290"/>
            <a:ext cx="5151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1A68F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现有方案不适合高利用率内存分配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7E9A83-F1E9-41F3-A7C5-6DD0E88EC8CD}"/>
              </a:ext>
            </a:extLst>
          </p:cNvPr>
          <p:cNvSpPr txBox="1"/>
          <p:nvPr/>
        </p:nvSpPr>
        <p:spPr>
          <a:xfrm>
            <a:off x="898194" y="554335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现有内存分配方案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/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240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498041" y="1120675"/>
            <a:ext cx="78207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占用率高时，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compaction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的效率降低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80%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占用率，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8MB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获得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2MB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的空间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6C40B3-3B2F-4846-8C15-14B05899A373}"/>
              </a:ext>
            </a:extLst>
          </p:cNvPr>
          <p:cNvSpPr txBox="1"/>
          <p:nvPr/>
        </p:nvSpPr>
        <p:spPr>
          <a:xfrm>
            <a:off x="898194" y="554335"/>
            <a:ext cx="33714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Log structure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的“两难”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/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866A64-7975-4D03-B229-27902E2C29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47" t="13373" r="5447" b="10315"/>
          <a:stretch/>
        </p:blipFill>
        <p:spPr>
          <a:xfrm>
            <a:off x="1007303" y="3429000"/>
            <a:ext cx="7129393" cy="30568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0A1DEDD-9426-4671-B7C3-D6654D95247C}"/>
              </a:ext>
            </a:extLst>
          </p:cNvPr>
          <p:cNvSpPr txBox="1"/>
          <p:nvPr/>
        </p:nvSpPr>
        <p:spPr>
          <a:xfrm>
            <a:off x="498040" y="1951660"/>
            <a:ext cx="78207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占用率低，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compaction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效率高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altLang="zh-CN" sz="2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RAMCloud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内外存紧耦合，内存资源宝贵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0225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442193" y="1120676"/>
            <a:ext cx="40294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segment compaction(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第一阶段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选取内存中一个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segment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Segment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变长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将选取的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segment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进行压缩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Seglet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变长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segment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空间分配退化为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malloc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多个</a:t>
            </a:r>
            <a:r>
              <a:rPr lang="en-US" altLang="zh-CN" sz="2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Seglet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组成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segment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altLang="zh-CN" sz="2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Kv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对可以跨</a:t>
            </a:r>
            <a:r>
              <a:rPr lang="en-US" altLang="zh-CN" sz="2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seglet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存储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combined cleaning(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第二阶段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选取内外存多个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segment</a:t>
            </a:r>
          </a:p>
          <a:p>
            <a:pPr lvl="1"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进行合并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2E047C-D0A5-4FC9-94A2-C592F7FAD0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87" t="10245" r="5402" b="4944"/>
          <a:stretch/>
        </p:blipFill>
        <p:spPr>
          <a:xfrm>
            <a:off x="4152066" y="785167"/>
            <a:ext cx="4657398" cy="581635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E6C40B3-3B2F-4846-8C15-14B05899A373}"/>
              </a:ext>
            </a:extLst>
          </p:cNvPr>
          <p:cNvSpPr txBox="1"/>
          <p:nvPr/>
        </p:nvSpPr>
        <p:spPr>
          <a:xfrm>
            <a:off x="898194" y="55433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两阶段垃圾回收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3637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8090F51-156D-4AF2-92A1-E85463F849E8}"/>
              </a:ext>
            </a:extLst>
          </p:cNvPr>
          <p:cNvSpPr txBox="1"/>
          <p:nvPr/>
        </p:nvSpPr>
        <p:spPr>
          <a:xfrm>
            <a:off x="442193" y="1120676"/>
            <a:ext cx="7319056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容量是系统性能的关键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使用容量大速度慢的二级存储介质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更高效的内存分配器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内存数据压缩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数据快速恢复是系统发展未来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系统缓存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存储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的热数据最为关键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数据编码、内存快照、操作日志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纯内存存储值得探索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持久性内存带来新的发展机遇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6C40B3-3B2F-4846-8C15-14B05899A373}"/>
              </a:ext>
            </a:extLst>
          </p:cNvPr>
          <p:cNvSpPr txBox="1"/>
          <p:nvPr/>
        </p:nvSpPr>
        <p:spPr>
          <a:xfrm>
            <a:off x="898194" y="554335"/>
            <a:ext cx="3044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内存存储系统的思考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596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charset="0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7024" y="2502877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参考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: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CF93DA-86F4-EF48-90EF-ECDB72D88FE3}"/>
              </a:ext>
            </a:extLst>
          </p:cNvPr>
          <p:cNvSpPr/>
          <p:nvPr/>
        </p:nvSpPr>
        <p:spPr>
          <a:xfrm>
            <a:off x="477443" y="3208960"/>
            <a:ext cx="818911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[1] 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《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深入理解计算机系统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》,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R.E Bryant, D.R </a:t>
            </a:r>
            <a:r>
              <a:rPr lang="en-US" altLang="zh-CN" sz="1200" dirty="0" err="1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O’Hallarom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， 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2010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[2]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《Operating Systems: Three Easy Pieces》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,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Remzi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 H.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Arpaci-Dusseau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 and Andrea C.,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Arpaci-Dusseau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,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Arpaci-Dusseau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 Books ,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March, 2015 (Version 0.80)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[3] 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Log-structured Memory for DRAM-based Storage. Stephen M. Rumble, Ankita Kejriwal, and John </a:t>
            </a:r>
            <a:r>
              <a:rPr lang="en-US" altLang="zh-CN" sz="1200" dirty="0" err="1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Ousterhout</a:t>
            </a:r>
            <a:r>
              <a:rPr lang="zh-CN" altLang="en-US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。 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FAST14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Microsoft YaHei" panose="020B0503020204020204" pitchFamily="34" charset="-122"/>
                <a:cs typeface="+mn-cs"/>
              </a:rPr>
              <a:t>[4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] OUSTERHOUT, J., AGRAWAL, P., ERICKSON, D., KOZYRAKIS, C., LEVERICH, J., MAZIERES ` , D., MITRA, S., NARAYANAN,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A., ONGARO, D., PARULKAR, G., ROSENBLUM, M., RUMBLE, S. M., STRATMANN, E., AND STUTSMAN, R. The case for </a:t>
            </a:r>
            <a:r>
              <a:rPr lang="en-US" altLang="zh-CN" sz="1200" dirty="0" err="1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ramcloud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. </a:t>
            </a:r>
            <a:r>
              <a:rPr lang="en-US" altLang="zh-CN" sz="1200" dirty="0" err="1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Commun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. ACM 54 (July 2011), </a:t>
            </a:r>
            <a:r>
              <a:rPr lang="en-US" altLang="zh-CN" sz="120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121–130.</a:t>
            </a:r>
            <a:endParaRPr lang="en-US" altLang="zh-CN" sz="1200" dirty="0">
              <a:solidFill>
                <a:srgbClr val="000000"/>
              </a:solidFill>
              <a:latin typeface="Candara" panose="020E0502030303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7E1C52-CE76-CF4D-BEB5-C75931393AFF}"/>
              </a:ext>
            </a:extLst>
          </p:cNvPr>
          <p:cNvSpPr txBox="1"/>
          <p:nvPr/>
        </p:nvSpPr>
        <p:spPr>
          <a:xfrm>
            <a:off x="2077720" y="1612128"/>
            <a:ext cx="4587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t>Thanks!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t>   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t>Questions?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20304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2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2" id="{E0D1F83F-22F0-D546-91D8-FF7C6B24B14B}" vid="{5AF26BE8-7839-1342-A4CE-8DF56C8D06F1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6443</TotalTime>
  <Words>1921</Words>
  <Application>Microsoft Office PowerPoint</Application>
  <PresentationFormat>全屏显示(4:3)</PresentationFormat>
  <Paragraphs>429</Paragraphs>
  <Slides>56</Slides>
  <Notes>54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56</vt:i4>
      </vt:variant>
    </vt:vector>
  </HeadingPairs>
  <TitlesOfParts>
    <vt:vector size="68" baseType="lpstr">
      <vt:lpstr>DengXian</vt:lpstr>
      <vt:lpstr>黑体</vt:lpstr>
      <vt:lpstr>楷体</vt:lpstr>
      <vt:lpstr>宋体</vt:lpstr>
      <vt:lpstr>Microsoft YaHei</vt:lpstr>
      <vt:lpstr>Arial</vt:lpstr>
      <vt:lpstr>Calibri</vt:lpstr>
      <vt:lpstr>Calibri Light</vt:lpstr>
      <vt:lpstr>Candara</vt:lpstr>
      <vt:lpstr>Times New Roman</vt:lpstr>
      <vt:lpstr>Office 主题</vt:lpstr>
      <vt:lpstr>主题2</vt:lpstr>
      <vt:lpstr>﻿内存键值对存储系统优化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Virtual Machine Image Management  for Persistent Memory</dc:title>
  <dc:creator>张 佳辰</dc:creator>
  <cp:lastModifiedBy>崔 立骁</cp:lastModifiedBy>
  <cp:revision>653</cp:revision>
  <dcterms:created xsi:type="dcterms:W3CDTF">2019-05-01T06:59:51Z</dcterms:created>
  <dcterms:modified xsi:type="dcterms:W3CDTF">2019-11-18T15:04:45Z</dcterms:modified>
</cp:coreProperties>
</file>