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tiff" ContentType="image/tif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37"/>
  </p:notesMasterIdLst>
  <p:sldIdLst>
    <p:sldId id="261" r:id="rId2"/>
    <p:sldId id="355" r:id="rId3"/>
    <p:sldId id="306" r:id="rId4"/>
    <p:sldId id="356" r:id="rId5"/>
    <p:sldId id="358" r:id="rId6"/>
    <p:sldId id="357" r:id="rId7"/>
    <p:sldId id="359" r:id="rId8"/>
    <p:sldId id="360" r:id="rId9"/>
    <p:sldId id="361" r:id="rId10"/>
    <p:sldId id="364" r:id="rId11"/>
    <p:sldId id="363" r:id="rId12"/>
    <p:sldId id="365" r:id="rId13"/>
    <p:sldId id="366" r:id="rId14"/>
    <p:sldId id="367" r:id="rId15"/>
    <p:sldId id="368" r:id="rId16"/>
    <p:sldId id="370" r:id="rId17"/>
    <p:sldId id="371" r:id="rId18"/>
    <p:sldId id="372" r:id="rId19"/>
    <p:sldId id="373" r:id="rId20"/>
    <p:sldId id="374" r:id="rId21"/>
    <p:sldId id="375" r:id="rId22"/>
    <p:sldId id="376" r:id="rId23"/>
    <p:sldId id="377" r:id="rId24"/>
    <p:sldId id="378" r:id="rId25"/>
    <p:sldId id="379" r:id="rId26"/>
    <p:sldId id="380" r:id="rId27"/>
    <p:sldId id="381" r:id="rId28"/>
    <p:sldId id="382" r:id="rId29"/>
    <p:sldId id="383" r:id="rId30"/>
    <p:sldId id="384" r:id="rId31"/>
    <p:sldId id="385" r:id="rId32"/>
    <p:sldId id="386" r:id="rId33"/>
    <p:sldId id="387" r:id="rId34"/>
    <p:sldId id="388" r:id="rId35"/>
    <p:sldId id="389" r:id="rId36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宋体" charset="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宋体" charset="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宋体" charset="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宋体" charset="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宋体" charset="0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charset="0"/>
        <a:ea typeface="宋体" charset="0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charset="0"/>
        <a:ea typeface="宋体" charset="0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charset="0"/>
        <a:ea typeface="宋体" charset="0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charset="0"/>
        <a:ea typeface="宋体" charset="0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630F6"/>
    <a:srgbClr val="66005C"/>
    <a:srgbClr val="FF7E79"/>
    <a:srgbClr val="EAEFF7"/>
    <a:srgbClr val="EBF0F7"/>
    <a:srgbClr val="E2E2E2"/>
    <a:srgbClr val="B330D4"/>
    <a:srgbClr val="BD31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FECB4D8-DB02-4DC6-A0A2-4F2EBAE1DC90}" styleName="中度样式 1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113A9D2-9D6B-4929-AA2D-F23B5EE8CBE7}" styleName="主题样式 2 - 个性色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75DCB02-9BB8-47FD-8907-85C794F793BA}" styleName="主题样式 1 - 个性色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F2DE63D5-997A-4646-A377-4702673A728D}" styleName="浅色样式 2 - 强调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浅色样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51"/>
    <p:restoredTop sz="81292"/>
  </p:normalViewPr>
  <p:slideViewPr>
    <p:cSldViewPr snapToGrid="0" snapToObjects="1">
      <p:cViewPr varScale="1">
        <p:scale>
          <a:sx n="90" d="100"/>
          <a:sy n="90" d="100"/>
        </p:scale>
        <p:origin x="364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kumimoji="1"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kumimoji="1" sz="1200"/>
            </a:lvl1pPr>
          </a:lstStyle>
          <a:p>
            <a:pPr>
              <a:defRPr/>
            </a:pPr>
            <a:fld id="{EFA51185-30DC-254A-9DD6-8F7A8C8C9CE7}" type="datetimeFigureOut">
              <a:rPr lang="zh-CN" altLang="en-US"/>
              <a:pPr>
                <a:defRPr/>
              </a:pPr>
              <a:t>2019/10/23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二级</a:t>
            </a:r>
          </a:p>
          <a:p>
            <a:pPr lvl="2"/>
            <a:r>
              <a:rPr lang="zh-CN" altLang="en-US" noProof="0"/>
              <a:t>三级</a:t>
            </a:r>
          </a:p>
          <a:p>
            <a:pPr lvl="3"/>
            <a:r>
              <a:rPr lang="zh-CN" altLang="en-US" noProof="0"/>
              <a:t>四级</a:t>
            </a:r>
          </a:p>
          <a:p>
            <a:pPr lvl="4"/>
            <a:r>
              <a:rPr lang="zh-CN" altLang="en-US" noProof="0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kumimoji="1"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kumimoji="1" sz="1200"/>
            </a:lvl1pPr>
          </a:lstStyle>
          <a:p>
            <a:pPr>
              <a:defRPr/>
            </a:pPr>
            <a:fld id="{0B5B9210-A5D6-DF4A-BCF1-E487EA4C0D1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215075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38554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94957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baseline="0" dirty="0"/>
              <a:t>1959</a:t>
            </a:r>
            <a:r>
              <a:rPr kumimoji="1" lang="zh-CN" altLang="en-US" baseline="0" dirty="0"/>
              <a:t>年工人正在搬磁盘。</a:t>
            </a:r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56075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baseline="0" dirty="0"/>
              <a:t>1959</a:t>
            </a:r>
            <a:r>
              <a:rPr kumimoji="1" lang="zh-CN" altLang="en-US" baseline="0" dirty="0"/>
              <a:t>年工人正在搬磁盘。</a:t>
            </a:r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19085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baseline="0" dirty="0"/>
              <a:t>1959</a:t>
            </a:r>
            <a:r>
              <a:rPr kumimoji="1" lang="zh-CN" altLang="en-US" baseline="0" dirty="0"/>
              <a:t>年工人正在搬磁盘。</a:t>
            </a:r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37089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baseline="0" dirty="0"/>
              <a:t>1959</a:t>
            </a:r>
            <a:r>
              <a:rPr kumimoji="1" lang="zh-CN" altLang="en-US" baseline="0" dirty="0"/>
              <a:t>年工人正在搬磁盘。</a:t>
            </a:r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93641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baseline="0" dirty="0"/>
              <a:t>1959</a:t>
            </a:r>
            <a:r>
              <a:rPr kumimoji="1" lang="zh-CN" altLang="en-US" baseline="0" dirty="0"/>
              <a:t>年工人正在搬磁盘。</a:t>
            </a:r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6690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baseline="0" dirty="0"/>
              <a:t>字节寻址意味着可以原地更新</a:t>
            </a:r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9209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baseline="0" dirty="0"/>
              <a:t>字节寻址意味着可以原地更新</a:t>
            </a:r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93682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baseline="0" dirty="0"/>
              <a:t>字节寻址意味着可以原地更新</a:t>
            </a:r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13532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baseline="0" dirty="0"/>
              <a:t>字节寻址意味着可以原地更新</a:t>
            </a:r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49938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baseline="0" dirty="0"/>
              <a:t>字节寻址意味着可以原地更新</a:t>
            </a:r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79772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baseline="0" dirty="0"/>
              <a:t>字节寻址意味着可以原地更新</a:t>
            </a:r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63397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baseline="0" dirty="0"/>
              <a:t>字节寻址意味着可以原地更新</a:t>
            </a:r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28029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baseline="0" dirty="0"/>
              <a:t>字节寻址意味着可以原地更新</a:t>
            </a:r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22136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baseline="0" dirty="0"/>
              <a:t>字节寻址意味着可以原地更新</a:t>
            </a:r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27280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baseline="0" dirty="0"/>
              <a:t>字节寻址意味着可以原地更新</a:t>
            </a:r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854635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baseline="0" dirty="0"/>
              <a:t>字节寻址意味着可以原地更新</a:t>
            </a:r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92786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baseline="0" dirty="0"/>
              <a:t>字节寻址意味着可以原地更新</a:t>
            </a:r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809662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baseline="0" dirty="0"/>
              <a:t>字节寻址意味着可以原地更新</a:t>
            </a:r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704359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baseline="0" dirty="0"/>
              <a:t>字节寻址意味着可以原地更新</a:t>
            </a:r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927872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baseline="0" dirty="0"/>
              <a:t>字节寻址意味着可以原地更新</a:t>
            </a:r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872249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baseline="0" dirty="0"/>
              <a:t>字节寻址意味着可以原地更新</a:t>
            </a:r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6692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baseline="0" dirty="0"/>
              <a:t>字节寻址意味着可以原地更新</a:t>
            </a:r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282341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baseline="0" dirty="0"/>
              <a:t>字节寻址意味着可以原地更新</a:t>
            </a:r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949378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baseline="0" dirty="0"/>
              <a:t>字节寻址意味着可以原地更新</a:t>
            </a:r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213585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baseline="0" dirty="0"/>
              <a:t>字节寻址意味着可以原地更新</a:t>
            </a:r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623464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baseline="0" dirty="0"/>
              <a:t>字节寻址意味着可以原地更新</a:t>
            </a:r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733320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baseline="0" dirty="0"/>
              <a:t>字节寻址意味着可以原地更新</a:t>
            </a:r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39946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baseline="0" dirty="0"/>
              <a:t>字节寻址意味着可以原地更新</a:t>
            </a:r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683133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baseline="0" dirty="0"/>
              <a:t>字节寻址意味着可以原地更新</a:t>
            </a:r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297841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baseline="0" dirty="0"/>
              <a:t>字节寻址意味着可以原地更新</a:t>
            </a:r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716402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baseline="0" dirty="0"/>
              <a:t>字节寻址意味着可以原地更新</a:t>
            </a:r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304838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baseline="0" dirty="0"/>
              <a:t>字节寻址意味着可以原地更新</a:t>
            </a:r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289361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baseline="0" dirty="0"/>
              <a:t>字节寻址意味着可以原地更新</a:t>
            </a:r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25474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238CC2-A0DA-0A42-9C3B-B99D8DFE8A35}" type="datetimeFigureOut">
              <a:rPr lang="zh-CN" altLang="en-US" smtClean="0"/>
              <a:pPr>
                <a:defRPr/>
              </a:pPr>
              <a:t>2019/10/23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21F175-A356-8641-8B8C-2BC1BAE79F14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D12BB8-9261-4D4B-98FD-C0F0AA2E9A14}" type="datetimeFigureOut">
              <a:rPr lang="zh-CN" altLang="en-US" smtClean="0"/>
              <a:pPr>
                <a:defRPr/>
              </a:pPr>
              <a:t>2019/10/23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A8BDDE-DE15-9A4E-B6F5-7D907F811531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C6D4EE-D3EF-4F4B-84A5-4EDA7B66ACC6}" type="datetimeFigureOut">
              <a:rPr lang="zh-CN" altLang="en-US" smtClean="0"/>
              <a:pPr>
                <a:defRPr/>
              </a:pPr>
              <a:t>2019/10/23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6DD28A-AA70-C249-93DE-44022C331C62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34650D-803F-3649-8BE6-A1B7A3B11F99}" type="datetimeFigureOut">
              <a:rPr lang="zh-CN" altLang="en-US" smtClean="0"/>
              <a:pPr>
                <a:defRPr/>
              </a:pPr>
              <a:t>2019/10/23</a:t>
            </a:fld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38A0D8-B9E1-5F47-ADDF-1F1E8F331A74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C8D43A-8F0F-5D46-A343-06333ADB0560}" type="datetimeFigureOut">
              <a:rPr lang="zh-CN" altLang="en-US" smtClean="0"/>
              <a:pPr>
                <a:defRPr/>
              </a:pPr>
              <a:t>2019/10/23</a:t>
            </a:fld>
            <a:endParaRPr lang="zh-CN" alt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C70463-E988-D144-BBEE-FC4623AD6C23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20C01F-CEF2-EA4C-85CA-CBF3E7F4DD65}" type="datetimeFigureOut">
              <a:rPr lang="zh-CN" altLang="en-US" smtClean="0"/>
              <a:pPr>
                <a:defRPr/>
              </a:pPr>
              <a:t>2019/10/23</a:t>
            </a:fld>
            <a:endParaRPr lang="zh-CN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95A4DD-1280-BB47-A602-2C4DAB99FF88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B2A7B1-2167-7F47-9127-07644A71B60F}" type="datetimeFigureOut">
              <a:rPr lang="zh-CN" altLang="en-US" smtClean="0"/>
              <a:pPr>
                <a:defRPr/>
              </a:pPr>
              <a:t>2019/10/23</a:t>
            </a:fld>
            <a:endParaRPr lang="zh-CN" alt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E65D7B-B108-694B-A9F0-6F3476ECBDBF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6C0D54-D0A2-8647-BDAD-39E60643A4AA}" type="datetimeFigureOut">
              <a:rPr lang="zh-CN" altLang="en-US" smtClean="0"/>
              <a:pPr>
                <a:defRPr/>
              </a:pPr>
              <a:t>2019/10/23</a:t>
            </a:fld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00DE58-F619-754F-BCBC-313BF1478D2F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将图片拖动到占位符，或单击添加图标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23163E-B686-3245-B20A-8F7674AE5CAC}" type="datetimeFigureOut">
              <a:rPr lang="zh-CN" altLang="en-US" smtClean="0"/>
              <a:pPr>
                <a:defRPr/>
              </a:pPr>
              <a:t>2019/10/23</a:t>
            </a:fld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D19B7D-6BEB-0641-9251-9FA303027C7A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03A3D3-B973-7244-9EC6-9D0618F24062}" type="datetimeFigureOut">
              <a:rPr lang="zh-CN" altLang="en-US" smtClean="0"/>
              <a:pPr>
                <a:defRPr/>
              </a:pPr>
              <a:t>2019/10/23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66548C-ABE1-4B4C-895C-8DD5E5C1168E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680492-F7A2-E24D-8177-01BCF1312587}" type="datetimeFigureOut">
              <a:rPr lang="zh-CN" altLang="en-US" smtClean="0"/>
              <a:pPr>
                <a:defRPr/>
              </a:pPr>
              <a:t>2019/10/23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9F4E41-E0E2-7A41-9508-905906144EC2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altLang="zh-C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kumimoji="1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94F0E8F8-0A90-2744-B08D-155929A4155E}" type="datetimeFigureOut">
              <a:rPr lang="zh-CN" altLang="en-US" smtClean="0"/>
              <a:pPr>
                <a:defRPr/>
              </a:pPr>
              <a:t>2019/10/23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kumimoji="1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kumimoji="1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FB58A7E-3A13-824A-A0CA-841E65082551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0106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 spd="med">
    <p:fade/>
  </p:transition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emf"/><Relationship Id="rId5" Type="http://schemas.openxmlformats.org/officeDocument/2006/relationships/image" Target="../media/image7.jp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tif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/>
          </a:p>
        </p:txBody>
      </p:sp>
      <p:sp>
        <p:nvSpPr>
          <p:cNvPr id="2" name="文本框 1"/>
          <p:cNvSpPr txBox="1"/>
          <p:nvPr/>
        </p:nvSpPr>
        <p:spPr>
          <a:xfrm>
            <a:off x="6801492" y="436651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030201" y="1554975"/>
            <a:ext cx="7109639" cy="17594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6520"/>
              </a:lnSpc>
            </a:pPr>
            <a:r>
              <a:rPr kumimoji="1" lang="zh-CN" altLang="en-US" sz="6000" dirty="0">
                <a:latin typeface="Microsoft YaHei" charset="-122"/>
                <a:ea typeface="Microsoft YaHei" charset="-122"/>
                <a:cs typeface="Microsoft YaHei" charset="-122"/>
              </a:rPr>
              <a:t>非易失性内存</a:t>
            </a:r>
            <a:endParaRPr kumimoji="1" lang="en-US" altLang="zh-CN" sz="6000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algn="ctr">
              <a:lnSpc>
                <a:spcPts val="6520"/>
              </a:lnSpc>
            </a:pPr>
            <a:r>
              <a:rPr kumimoji="1" lang="zh-CN" altLang="en-US" sz="6000" dirty="0">
                <a:latin typeface="Microsoft YaHei" charset="-122"/>
                <a:ea typeface="Microsoft YaHei" charset="-122"/>
                <a:cs typeface="Microsoft YaHei" charset="-122"/>
              </a:rPr>
              <a:t>及其用户态编程模式</a:t>
            </a:r>
            <a:endParaRPr kumimoji="1" lang="en-US" altLang="zh-CN" sz="60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223843" y="5219700"/>
            <a:ext cx="2682145" cy="8797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zh-CN" altLang="en-US" sz="2000" dirty="0">
                <a:latin typeface="Microsoft YaHei" charset="-122"/>
                <a:ea typeface="Microsoft YaHei" charset="-122"/>
                <a:cs typeface="Microsoft YaHei" charset="-122"/>
              </a:rPr>
              <a:t>何柯文</a:t>
            </a:r>
            <a:r>
              <a:rPr kumimoji="1" lang="en-US" altLang="zh-CN" sz="2000" dirty="0">
                <a:latin typeface="Microsoft YaHei" charset="-122"/>
                <a:ea typeface="Microsoft YaHei" charset="-122"/>
                <a:cs typeface="Microsoft YaHei" charset="-122"/>
              </a:rPr>
              <a:t>   2019.</a:t>
            </a:r>
            <a:r>
              <a:rPr kumimoji="1" lang="zh-CN" altLang="en-US" sz="2000" dirty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2000" dirty="0">
                <a:latin typeface="Microsoft YaHei" charset="-122"/>
                <a:ea typeface="Microsoft YaHei" charset="-122"/>
                <a:cs typeface="Microsoft YaHei" charset="-122"/>
              </a:rPr>
              <a:t>10.</a:t>
            </a:r>
            <a:r>
              <a:rPr kumimoji="1" lang="zh-CN" altLang="en-US" sz="2000" dirty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2000" dirty="0">
                <a:latin typeface="Microsoft YaHei" charset="-122"/>
                <a:ea typeface="Microsoft YaHei" charset="-122"/>
                <a:cs typeface="Microsoft YaHei" charset="-122"/>
              </a:rPr>
              <a:t>22</a:t>
            </a:r>
          </a:p>
          <a:p>
            <a:pPr algn="ctr">
              <a:lnSpc>
                <a:spcPct val="150000"/>
              </a:lnSpc>
            </a:pPr>
            <a:r>
              <a:rPr kumimoji="1" lang="en-US" altLang="zh-CN" sz="1600" dirty="0" err="1">
                <a:latin typeface="Microsoft YaHei" charset="-122"/>
                <a:ea typeface="Microsoft YaHei" charset="-122"/>
                <a:cs typeface="Microsoft YaHei" charset="-122"/>
              </a:rPr>
              <a:t>hekw@nbjl.nankai.edu.cn</a:t>
            </a:r>
            <a:endParaRPr kumimoji="1" lang="en-US" altLang="zh-CN" sz="16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/>
          </a:p>
        </p:txBody>
      </p:sp>
      <p:sp>
        <p:nvSpPr>
          <p:cNvPr id="2" name="文本框 1"/>
          <p:cNvSpPr txBox="1"/>
          <p:nvPr/>
        </p:nvSpPr>
        <p:spPr>
          <a:xfrm>
            <a:off x="6801492" y="436651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376717" y="1173975"/>
            <a:ext cx="11079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3600" dirty="0">
                <a:solidFill>
                  <a:schemeClr val="bg1">
                    <a:lumMod val="95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目录</a:t>
            </a:r>
            <a:endParaRPr kumimoji="1" lang="en-US" altLang="zh-CN" sz="3600" dirty="0">
              <a:solidFill>
                <a:schemeClr val="bg1">
                  <a:lumMod val="95000"/>
                </a:schemeClr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A34A6B7-109A-B149-BBD1-A8167221F80D}"/>
              </a:ext>
            </a:extLst>
          </p:cNvPr>
          <p:cNvSpPr/>
          <p:nvPr/>
        </p:nvSpPr>
        <p:spPr>
          <a:xfrm>
            <a:off x="2971799" y="1923544"/>
            <a:ext cx="5400675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bg1">
                  <a:lumMod val="95000"/>
                </a:schemeClr>
              </a:buClr>
              <a:buSzPct val="75000"/>
              <a:buFont typeface="Wingdings" charset="2"/>
              <a:buChar char="l"/>
            </a:pPr>
            <a:r>
              <a:rPr kumimoji="1" lang="zh-CN" altLang="en-US" sz="2000" dirty="0">
                <a:latin typeface="Microsoft YaHei" charset="-122"/>
                <a:ea typeface="Microsoft YaHei" charset="-122"/>
                <a:cs typeface="Microsoft YaHei" charset="-122"/>
              </a:rPr>
              <a:t> 持久性内存简介</a:t>
            </a:r>
            <a:endParaRPr kumimoji="1" lang="en-US" altLang="zh-CN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1200150" lvl="2" indent="-285750">
              <a:buSzPct val="50000"/>
              <a:buFont typeface="Wingdings" charset="2"/>
              <a:buChar char="l"/>
            </a:pPr>
            <a:r>
              <a:rPr kumimoji="1" lang="zh-CN" altLang="en-US" sz="1600" dirty="0">
                <a:latin typeface="Microsoft YaHei" charset="-122"/>
                <a:ea typeface="Microsoft YaHei" charset="-122"/>
                <a:cs typeface="Microsoft YaHei" charset="-122"/>
              </a:rPr>
              <a:t>内存、存储和持久性内存</a:t>
            </a:r>
            <a:endParaRPr kumimoji="1" lang="en-US" altLang="zh-CN" sz="1600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1200150" lvl="2" indent="-285750">
              <a:buSzPct val="50000"/>
              <a:buFont typeface="Wingdings" charset="2"/>
              <a:buChar char="l"/>
            </a:pPr>
            <a:r>
              <a:rPr kumimoji="1" lang="en-US" altLang="zh-CN" sz="1600" dirty="0">
                <a:latin typeface="Microsoft YaHei" charset="-122"/>
                <a:ea typeface="Microsoft YaHei" charset="-122"/>
                <a:cs typeface="Microsoft YaHei" charset="-122"/>
              </a:rPr>
              <a:t>PM</a:t>
            </a:r>
            <a:r>
              <a:rPr kumimoji="1" lang="zh-CN" altLang="en-US" sz="1600" dirty="0">
                <a:latin typeface="Microsoft YaHei" charset="-122"/>
                <a:ea typeface="Microsoft YaHei" charset="-122"/>
                <a:cs typeface="Microsoft YaHei" charset="-122"/>
              </a:rPr>
              <a:t>编程模型</a:t>
            </a:r>
            <a:endParaRPr kumimoji="1" lang="en-US" altLang="zh-CN" sz="1600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1200150" lvl="2" indent="-285750">
              <a:buSzPct val="50000"/>
              <a:buFont typeface="Wingdings" charset="2"/>
              <a:buChar char="l"/>
            </a:pPr>
            <a:r>
              <a:rPr kumimoji="1" lang="zh-CN" altLang="en-US" sz="1600" dirty="0">
                <a:latin typeface="Microsoft YaHei" charset="-122"/>
                <a:ea typeface="Microsoft YaHei" charset="-122"/>
                <a:cs typeface="Microsoft YaHei" charset="-122"/>
              </a:rPr>
              <a:t>持久性内存所带来的优势以及挑战</a:t>
            </a:r>
            <a:endParaRPr kumimoji="1" lang="en-US" altLang="zh-CN" sz="1600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1200150" lvl="2" indent="-285750">
              <a:buSzPct val="50000"/>
              <a:buFont typeface="Wingdings" charset="2"/>
              <a:buChar char="l"/>
            </a:pPr>
            <a:r>
              <a:rPr kumimoji="1" lang="zh-CN" altLang="en-US" sz="1600" dirty="0">
                <a:latin typeface="Microsoft YaHei" charset="-122"/>
                <a:ea typeface="Microsoft YaHei" charset="-122"/>
                <a:cs typeface="Microsoft YaHei" charset="-122"/>
              </a:rPr>
              <a:t>基于</a:t>
            </a:r>
            <a:r>
              <a:rPr kumimoji="1" lang="en-US" altLang="zh-CN" sz="1600" dirty="0">
                <a:latin typeface="Microsoft YaHei" charset="-122"/>
                <a:ea typeface="Microsoft YaHei" charset="-122"/>
                <a:cs typeface="Microsoft YaHei" charset="-122"/>
              </a:rPr>
              <a:t>PM</a:t>
            </a:r>
            <a:r>
              <a:rPr kumimoji="1" lang="zh-CN" altLang="en-US" sz="1600" dirty="0">
                <a:latin typeface="Microsoft YaHei" charset="-122"/>
                <a:ea typeface="Microsoft YaHei" charset="-122"/>
                <a:cs typeface="Microsoft YaHei" charset="-122"/>
              </a:rPr>
              <a:t>研究内容</a:t>
            </a:r>
            <a:endParaRPr kumimoji="1" lang="en-US" altLang="zh-CN" sz="1600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285750" indent="-285750">
              <a:lnSpc>
                <a:spcPct val="150000"/>
              </a:lnSpc>
              <a:buClr>
                <a:schemeClr val="bg1">
                  <a:lumMod val="95000"/>
                </a:schemeClr>
              </a:buClr>
              <a:buSzPct val="75000"/>
              <a:buFont typeface="Wingdings" charset="2"/>
              <a:buChar char="l"/>
            </a:pPr>
            <a:r>
              <a:rPr kumimoji="1" lang="zh-CN" altLang="en-US" sz="2000" dirty="0">
                <a:latin typeface="Microsoft YaHei" charset="-122"/>
                <a:ea typeface="Microsoft YaHei" charset="-122"/>
                <a:cs typeface="Microsoft YaHei" charset="-122"/>
              </a:rPr>
              <a:t>  </a:t>
            </a:r>
            <a:r>
              <a:rPr kumimoji="1" lang="en-US" altLang="zh-CN" sz="2000" dirty="0">
                <a:latin typeface="Microsoft YaHei" charset="-122"/>
                <a:ea typeface="Microsoft YaHei" charset="-122"/>
                <a:cs typeface="Microsoft YaHei" charset="-122"/>
              </a:rPr>
              <a:t>Intel </a:t>
            </a:r>
            <a:r>
              <a:rPr kumimoji="1" lang="en-US" altLang="zh-CN" sz="2000" dirty="0" err="1">
                <a:latin typeface="Microsoft YaHei" charset="-122"/>
                <a:ea typeface="Microsoft YaHei" charset="-122"/>
                <a:cs typeface="Microsoft YaHei" charset="-122"/>
              </a:rPr>
              <a:t>Optane</a:t>
            </a:r>
            <a:r>
              <a:rPr kumimoji="1" lang="en-US" altLang="zh-CN" sz="2000" dirty="0">
                <a:latin typeface="Microsoft YaHei" charset="-122"/>
                <a:ea typeface="Microsoft YaHei" charset="-122"/>
                <a:cs typeface="Microsoft YaHei" charset="-122"/>
              </a:rPr>
              <a:t> DC Persistent Memory</a:t>
            </a:r>
            <a:endParaRPr kumimoji="1" lang="en-US" altLang="zh-CN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1257300" lvl="2" indent="-342900">
              <a:buSzPct val="50000"/>
              <a:buFont typeface="Wingdings" charset="2"/>
              <a:buChar char="l"/>
            </a:pPr>
            <a:r>
              <a:rPr kumimoji="1" lang="zh-CN" altLang="en-US" sz="1600" dirty="0">
                <a:latin typeface="Microsoft YaHei" charset="-122"/>
                <a:ea typeface="Microsoft YaHei" charset="-122"/>
                <a:cs typeface="Microsoft YaHei" charset="-122"/>
              </a:rPr>
              <a:t>基本介绍</a:t>
            </a:r>
            <a:endParaRPr kumimoji="1" lang="en-US" altLang="zh-CN" sz="1600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1257300" lvl="2" indent="-342900">
              <a:buSzPct val="50000"/>
              <a:buFont typeface="Wingdings" charset="2"/>
              <a:buChar char="l"/>
            </a:pPr>
            <a:r>
              <a:rPr kumimoji="1" lang="en-US" altLang="zh-CN" sz="1600" dirty="0">
                <a:latin typeface="Microsoft YaHei" charset="-122"/>
                <a:ea typeface="Microsoft YaHei" charset="-122"/>
                <a:cs typeface="Microsoft YaHei" charset="-122"/>
              </a:rPr>
              <a:t>AEP</a:t>
            </a:r>
            <a:r>
              <a:rPr kumimoji="1" lang="zh-CN" altLang="en-US" sz="1600" dirty="0">
                <a:latin typeface="Microsoft YaHei" charset="-122"/>
                <a:ea typeface="Microsoft YaHei" charset="-122"/>
                <a:cs typeface="Microsoft YaHei" charset="-122"/>
              </a:rPr>
              <a:t>的两种模式</a:t>
            </a:r>
            <a:endParaRPr kumimoji="1" lang="en-US" altLang="zh-CN" sz="1600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1257300" lvl="2" indent="-342900">
              <a:buSzPct val="50000"/>
              <a:buFont typeface="Wingdings" charset="2"/>
              <a:buChar char="l"/>
            </a:pPr>
            <a:r>
              <a:rPr kumimoji="1" lang="en-US" altLang="zh-CN" sz="1600" dirty="0">
                <a:latin typeface="Microsoft YaHei" charset="-122"/>
                <a:ea typeface="Microsoft YaHei" charset="-122"/>
                <a:cs typeface="Microsoft YaHei" charset="-122"/>
              </a:rPr>
              <a:t>DAX </a:t>
            </a:r>
            <a:r>
              <a:rPr kumimoji="1" lang="zh-CN" altLang="en-US" sz="1600" dirty="0">
                <a:latin typeface="Microsoft YaHei" charset="-122"/>
                <a:ea typeface="Microsoft YaHei" charset="-122"/>
                <a:cs typeface="Microsoft YaHei" charset="-122"/>
              </a:rPr>
              <a:t>文件系统</a:t>
            </a:r>
            <a:endParaRPr kumimoji="1" lang="en-US" altLang="zh-CN" sz="1600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1257300" lvl="2" indent="-342900">
              <a:buSzPct val="50000"/>
              <a:buFont typeface="Wingdings" charset="2"/>
              <a:buChar char="l"/>
            </a:pPr>
            <a:r>
              <a:rPr kumimoji="1" lang="en-US" altLang="zh-CN" sz="1600" dirty="0">
                <a:latin typeface="Microsoft YaHei" charset="-122"/>
                <a:ea typeface="Microsoft YaHei" charset="-122"/>
                <a:cs typeface="Microsoft YaHei" charset="-122"/>
              </a:rPr>
              <a:t>PMDK</a:t>
            </a:r>
          </a:p>
          <a:p>
            <a:pPr marL="1257300" lvl="2" indent="-342900">
              <a:buSzPct val="50000"/>
              <a:buFont typeface="Wingdings" charset="2"/>
              <a:buChar char="l"/>
            </a:pPr>
            <a:r>
              <a:rPr kumimoji="1" lang="en-US" altLang="zh-CN" sz="1600" dirty="0">
                <a:latin typeface="Microsoft YaHei" charset="-122"/>
                <a:ea typeface="Microsoft YaHei" charset="-122"/>
                <a:cs typeface="Microsoft YaHei" charset="-122"/>
              </a:rPr>
              <a:t>AEP</a:t>
            </a:r>
            <a:r>
              <a:rPr kumimoji="1" lang="zh-CN" altLang="en-US" sz="1600" dirty="0">
                <a:latin typeface="Microsoft YaHei" charset="-122"/>
                <a:ea typeface="Microsoft YaHei" charset="-122"/>
                <a:cs typeface="Microsoft YaHei" charset="-122"/>
              </a:rPr>
              <a:t>的性能表现</a:t>
            </a:r>
            <a:endParaRPr kumimoji="1" lang="en-US" altLang="zh-CN" sz="16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01547455"/>
      </p:ext>
    </p:extLst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>
              <a:latin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2733C78-B3ED-B741-A882-3714B0B7F9E9}"/>
              </a:ext>
            </a:extLst>
          </p:cNvPr>
          <p:cNvSpPr txBox="1"/>
          <p:nvPr/>
        </p:nvSpPr>
        <p:spPr>
          <a:xfrm>
            <a:off x="654258" y="589775"/>
            <a:ext cx="52893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内存、存储和持久性内存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9CBB922-48A1-D84C-9092-9208F2BEBC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258" y="1569803"/>
            <a:ext cx="7841442" cy="4416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43182"/>
      </p:ext>
    </p:extLst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>
              <a:latin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2733C78-B3ED-B741-A882-3714B0B7F9E9}"/>
              </a:ext>
            </a:extLst>
          </p:cNvPr>
          <p:cNvSpPr txBox="1"/>
          <p:nvPr/>
        </p:nvSpPr>
        <p:spPr>
          <a:xfrm>
            <a:off x="654258" y="589775"/>
            <a:ext cx="52893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内存、存储和持久性内存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AAF6F9A-6E96-C047-B61E-1426226240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2449" y="2385459"/>
            <a:ext cx="1923570" cy="70072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E75E5E4-F31C-8D4C-A8A3-9675D6237C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1429" y="1851071"/>
            <a:ext cx="2610841" cy="146859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1DBAA3B0-160E-194E-AC33-A88E99DCEEF5}"/>
              </a:ext>
            </a:extLst>
          </p:cNvPr>
          <p:cNvSpPr txBox="1"/>
          <p:nvPr/>
        </p:nvSpPr>
        <p:spPr>
          <a:xfrm>
            <a:off x="2126973" y="1997765"/>
            <a:ext cx="15727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/>
              <a:t>Intel’s</a:t>
            </a:r>
            <a:r>
              <a:rPr kumimoji="1" lang="zh-CN" altLang="en-US" sz="1400" dirty="0"/>
              <a:t> </a:t>
            </a:r>
            <a:r>
              <a:rPr kumimoji="1" lang="en-US" altLang="zh-CN" sz="1400" dirty="0" err="1"/>
              <a:t>Optane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DC</a:t>
            </a:r>
          </a:p>
          <a:p>
            <a:r>
              <a:rPr kumimoji="1" lang="en-US" altLang="zh-CN" sz="1400" dirty="0"/>
              <a:t>Persistent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Memory</a:t>
            </a:r>
            <a:endParaRPr kumimoji="1" lang="zh-CN" altLang="en-US" sz="14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66418D4-2474-B945-9883-04B3613879B4}"/>
              </a:ext>
            </a:extLst>
          </p:cNvPr>
          <p:cNvSpPr txBox="1"/>
          <p:nvPr/>
        </p:nvSpPr>
        <p:spPr>
          <a:xfrm>
            <a:off x="4385917" y="1813891"/>
            <a:ext cx="20156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/>
              <a:t>Intel’s</a:t>
            </a:r>
            <a:r>
              <a:rPr kumimoji="1" lang="zh-CN" altLang="en-US" sz="1400" dirty="0"/>
              <a:t> </a:t>
            </a:r>
            <a:r>
              <a:rPr kumimoji="1" lang="en-US" altLang="zh-CN" sz="1400" dirty="0" err="1"/>
              <a:t>Optane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NVMe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SSD</a:t>
            </a:r>
            <a:endParaRPr kumimoji="1" lang="zh-CN" altLang="en-US" sz="1400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1367F933-9BCA-8B4C-8553-8BDAE0FCE36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9698" y="5280283"/>
            <a:ext cx="1241653" cy="1241653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D08C9449-2CC9-C84F-8A2A-185721F28A1C}"/>
              </a:ext>
            </a:extLst>
          </p:cNvPr>
          <p:cNvSpPr txBox="1"/>
          <p:nvPr/>
        </p:nvSpPr>
        <p:spPr>
          <a:xfrm>
            <a:off x="4681331" y="5665756"/>
            <a:ext cx="1102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3D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XPoint</a:t>
            </a:r>
            <a:endParaRPr kumimoji="1"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360B223-7091-5843-B933-B3BFF3AF1FA2}"/>
              </a:ext>
            </a:extLst>
          </p:cNvPr>
          <p:cNvSpPr txBox="1"/>
          <p:nvPr/>
        </p:nvSpPr>
        <p:spPr>
          <a:xfrm>
            <a:off x="3318081" y="4915752"/>
            <a:ext cx="1512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&amp;</a:t>
            </a:r>
            <a:r>
              <a:rPr kumimoji="1" lang="zh-CN" altLang="en-US" dirty="0"/>
              <a:t> </a:t>
            </a:r>
            <a:r>
              <a:rPr kumimoji="1" lang="en-US" altLang="zh-CN" dirty="0"/>
              <a:t>non-volatile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0B80B0C-83C8-4D44-ACEB-1A58279250F1}"/>
              </a:ext>
            </a:extLst>
          </p:cNvPr>
          <p:cNvSpPr txBox="1"/>
          <p:nvPr/>
        </p:nvSpPr>
        <p:spPr>
          <a:xfrm>
            <a:off x="1266927" y="4813319"/>
            <a:ext cx="1800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Byte-addressable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4BF42DB-F7D7-1442-A64C-3E452A6A6294}"/>
              </a:ext>
            </a:extLst>
          </p:cNvPr>
          <p:cNvSpPr txBox="1"/>
          <p:nvPr/>
        </p:nvSpPr>
        <p:spPr>
          <a:xfrm>
            <a:off x="3188166" y="4710886"/>
            <a:ext cx="1800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Byte-addressable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A39C92A-F4DD-8F43-B350-0F404C99561C}"/>
              </a:ext>
            </a:extLst>
          </p:cNvPr>
          <p:cNvSpPr txBox="1"/>
          <p:nvPr/>
        </p:nvSpPr>
        <p:spPr>
          <a:xfrm>
            <a:off x="6123740" y="4783339"/>
            <a:ext cx="13296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/>
              <a:t>Non-volatile</a:t>
            </a:r>
            <a:endParaRPr kumimoji="1" lang="en-US" altLang="zh-CN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D3E2458B-DE7D-EB48-B40B-9E6643BEE2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9400" y="2774950"/>
            <a:ext cx="8118208" cy="196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27806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>
              <a:latin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2733C78-B3ED-B741-A882-3714B0B7F9E9}"/>
              </a:ext>
            </a:extLst>
          </p:cNvPr>
          <p:cNvSpPr txBox="1"/>
          <p:nvPr/>
        </p:nvSpPr>
        <p:spPr>
          <a:xfrm>
            <a:off x="654258" y="589775"/>
            <a:ext cx="52893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内存、存储和持久性内存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8FEC063-D35D-EE4F-A0E8-DB3D29CFAA07}"/>
              </a:ext>
            </a:extLst>
          </p:cNvPr>
          <p:cNvSpPr txBox="1"/>
          <p:nvPr/>
        </p:nvSpPr>
        <p:spPr>
          <a:xfrm>
            <a:off x="1916949" y="1905000"/>
            <a:ext cx="6439583" cy="21698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/>
              <a:t>Non-Volatile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Memory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(NVM)</a:t>
            </a:r>
            <a:r>
              <a:rPr kumimoji="1" lang="zh-CN" altLang="en-US" sz="2000" dirty="0"/>
              <a:t>    </a:t>
            </a:r>
            <a:r>
              <a:rPr kumimoji="1" lang="zh-CN" altLang="en-US" sz="1600" dirty="0">
                <a:latin typeface="Microsoft YaHei" charset="-122"/>
                <a:ea typeface="Microsoft YaHei" charset="-122"/>
                <a:cs typeface="Microsoft YaHei" charset="-122"/>
              </a:rPr>
              <a:t>广义上指非易失存储介质；</a:t>
            </a:r>
            <a:endParaRPr kumimoji="1" lang="en-US" altLang="zh-CN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r>
              <a:rPr kumimoji="1" lang="en-US" altLang="zh-CN" sz="2000" dirty="0">
                <a:latin typeface="Microsoft YaHei" charset="-122"/>
                <a:ea typeface="Microsoft YaHei" charset="-122"/>
                <a:cs typeface="Microsoft YaHei" charset="-122"/>
              </a:rPr>
              <a:t>			</a:t>
            </a:r>
            <a:r>
              <a:rPr kumimoji="1" lang="zh-CN" altLang="en-US" sz="2000" dirty="0">
                <a:latin typeface="Microsoft YaHei" charset="-122"/>
                <a:ea typeface="Microsoft YaHei" charset="-122"/>
                <a:cs typeface="Microsoft YaHei" charset="-122"/>
              </a:rPr>
              <a:t>      </a:t>
            </a:r>
            <a:r>
              <a:rPr kumimoji="1" lang="zh-CN" altLang="en-US" sz="1600" dirty="0">
                <a:latin typeface="Microsoft YaHei" charset="-122"/>
                <a:ea typeface="Microsoft YaHei" charset="-122"/>
                <a:cs typeface="Microsoft YaHei" charset="-122"/>
              </a:rPr>
              <a:t>狭义上必须连接到</a:t>
            </a:r>
            <a:r>
              <a:rPr kumimoji="1" lang="en-US" altLang="zh-CN" sz="1600" dirty="0">
                <a:latin typeface="Microsoft YaHei" charset="-122"/>
                <a:ea typeface="Microsoft YaHei" charset="-122"/>
                <a:cs typeface="Microsoft YaHei" charset="-122"/>
              </a:rPr>
              <a:t>DIMM</a:t>
            </a:r>
            <a:r>
              <a:rPr kumimoji="1" lang="zh-CN" altLang="en-US" sz="1600" dirty="0">
                <a:latin typeface="Microsoft YaHei" charset="-122"/>
                <a:ea typeface="Microsoft YaHei" charset="-122"/>
                <a:cs typeface="Microsoft YaHei" charset="-122"/>
              </a:rPr>
              <a:t>接口。</a:t>
            </a:r>
            <a:endParaRPr kumimoji="1" lang="en-US" altLang="zh-CN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endParaRPr kumimoji="1" lang="en-US" altLang="zh-CN" sz="500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r>
              <a:rPr kumimoji="1" lang="en-US" altLang="zh-CN" sz="2000" dirty="0"/>
              <a:t>NVDIMM		</a:t>
            </a:r>
            <a:r>
              <a:rPr kumimoji="1" lang="zh-CN" altLang="en-US" sz="2000" dirty="0"/>
              <a:t>        </a:t>
            </a:r>
            <a:r>
              <a:rPr kumimoji="1" lang="zh-CN" altLang="en-US" sz="1600" dirty="0">
                <a:latin typeface="Microsoft YaHei" charset="-122"/>
                <a:ea typeface="Microsoft YaHei" charset="-122"/>
                <a:cs typeface="Microsoft YaHei" charset="-122"/>
              </a:rPr>
              <a:t>多指</a:t>
            </a:r>
            <a:r>
              <a:rPr kumimoji="1" lang="en-US" altLang="zh-CN" sz="1600" dirty="0">
                <a:latin typeface="Microsoft YaHei" charset="-122"/>
                <a:ea typeface="Microsoft YaHei" charset="-122"/>
                <a:cs typeface="Microsoft YaHei" charset="-122"/>
              </a:rPr>
              <a:t>DRAM+</a:t>
            </a:r>
            <a:r>
              <a:rPr kumimoji="1" lang="zh-CN" altLang="en-US" sz="1600" dirty="0">
                <a:latin typeface="Microsoft YaHei" charset="-122"/>
                <a:ea typeface="Microsoft YaHei" charset="-122"/>
                <a:cs typeface="Microsoft YaHei" charset="-122"/>
              </a:rPr>
              <a:t>电池</a:t>
            </a:r>
            <a:r>
              <a:rPr kumimoji="1" lang="en-US" altLang="zh-CN" sz="1600" dirty="0">
                <a:latin typeface="Microsoft YaHei" charset="-122"/>
                <a:ea typeface="Microsoft YaHei" charset="-122"/>
                <a:cs typeface="Microsoft YaHei" charset="-122"/>
              </a:rPr>
              <a:t>+Flash</a:t>
            </a:r>
            <a:r>
              <a:rPr kumimoji="1" lang="zh-CN" altLang="en-US" sz="1600" dirty="0">
                <a:latin typeface="Microsoft YaHei" charset="-122"/>
                <a:ea typeface="Microsoft YaHei" charset="-122"/>
                <a:cs typeface="Microsoft YaHei" charset="-122"/>
              </a:rPr>
              <a:t>。</a:t>
            </a:r>
            <a:endParaRPr kumimoji="1" lang="en-US" altLang="zh-CN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endParaRPr kumimoji="1" lang="en-US" altLang="zh-CN" sz="500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r>
              <a:rPr kumimoji="1" lang="en-US" altLang="zh-CN" sz="2000" dirty="0">
                <a:solidFill>
                  <a:srgbClr val="C00000"/>
                </a:solidFill>
              </a:rPr>
              <a:t>Persistent</a:t>
            </a:r>
            <a:r>
              <a:rPr kumimoji="1" lang="zh-CN" altLang="en-US" sz="2000" dirty="0">
                <a:solidFill>
                  <a:srgbClr val="C00000"/>
                </a:solidFill>
              </a:rPr>
              <a:t> </a:t>
            </a:r>
            <a:r>
              <a:rPr kumimoji="1" lang="en-US" altLang="zh-CN" sz="2000" dirty="0">
                <a:solidFill>
                  <a:srgbClr val="C00000"/>
                </a:solidFill>
              </a:rPr>
              <a:t>Memory</a:t>
            </a:r>
            <a:r>
              <a:rPr kumimoji="1" lang="zh-CN" altLang="en-US" sz="2000" dirty="0">
                <a:solidFill>
                  <a:srgbClr val="C00000"/>
                </a:solidFill>
              </a:rPr>
              <a:t> </a:t>
            </a:r>
            <a:r>
              <a:rPr kumimoji="1" lang="en-US" altLang="zh-CN" sz="2000" dirty="0">
                <a:solidFill>
                  <a:srgbClr val="C00000"/>
                </a:solidFill>
              </a:rPr>
              <a:t>(PM)</a:t>
            </a:r>
            <a:r>
              <a:rPr kumimoji="1" lang="zh-CN" altLang="en-US" sz="2000" dirty="0">
                <a:solidFill>
                  <a:srgbClr val="C00000"/>
                </a:solidFill>
              </a:rPr>
              <a:t> </a:t>
            </a:r>
            <a:r>
              <a:rPr kumimoji="1" lang="en-US" altLang="zh-CN" sz="2000" dirty="0"/>
              <a:t>	</a:t>
            </a:r>
            <a:r>
              <a:rPr kumimoji="1" lang="zh-CN" altLang="en-US" sz="2000" dirty="0"/>
              <a:t>        </a:t>
            </a:r>
            <a:r>
              <a:rPr kumimoji="1" lang="zh-CN" altLang="en-US" sz="1600" dirty="0">
                <a:latin typeface="Microsoft YaHei" charset="-122"/>
                <a:ea typeface="Microsoft YaHei" charset="-122"/>
                <a:cs typeface="Microsoft YaHei" charset="-122"/>
              </a:rPr>
              <a:t>一般指</a:t>
            </a:r>
            <a:r>
              <a:rPr kumimoji="1" lang="en-US" altLang="zh-CN" sz="1600" dirty="0">
                <a:latin typeface="Microsoft YaHei" charset="-122"/>
                <a:ea typeface="Microsoft YaHei" charset="-122"/>
                <a:cs typeface="Microsoft YaHei" charset="-122"/>
              </a:rPr>
              <a:t>DIMM</a:t>
            </a:r>
            <a:r>
              <a:rPr kumimoji="1" lang="zh-CN" altLang="en-US" sz="1600" dirty="0">
                <a:latin typeface="Microsoft YaHei" charset="-122"/>
                <a:ea typeface="Microsoft YaHei" charset="-122"/>
                <a:cs typeface="Microsoft YaHei" charset="-122"/>
              </a:rPr>
              <a:t>接口的</a:t>
            </a:r>
            <a:r>
              <a:rPr kumimoji="1" lang="en-US" altLang="zh-CN" sz="1600" dirty="0">
                <a:latin typeface="Microsoft YaHei" charset="-122"/>
                <a:ea typeface="Microsoft YaHei" charset="-122"/>
                <a:cs typeface="Microsoft YaHei" charset="-122"/>
              </a:rPr>
              <a:t>NVM</a:t>
            </a:r>
            <a:r>
              <a:rPr kumimoji="1" lang="zh-CN" altLang="en-US" sz="1600" dirty="0">
                <a:latin typeface="Microsoft YaHei" charset="-122"/>
                <a:ea typeface="Microsoft YaHei" charset="-122"/>
                <a:cs typeface="Microsoft YaHei" charset="-122"/>
              </a:rPr>
              <a:t>。</a:t>
            </a:r>
            <a:endParaRPr kumimoji="1" lang="en-US" altLang="zh-CN" sz="1600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endParaRPr kumimoji="1" lang="en-US" altLang="zh-CN" sz="500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r>
              <a:rPr kumimoji="1" lang="en-US" altLang="zh-CN" sz="2000" dirty="0"/>
              <a:t>Storage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Class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Memory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(SCM)</a:t>
            </a:r>
            <a:r>
              <a:rPr kumimoji="1" lang="zh-CN" altLang="en-US" sz="2000" dirty="0"/>
              <a:t>    </a:t>
            </a:r>
            <a:r>
              <a:rPr kumimoji="1" lang="zh-CN" altLang="en-US" sz="1600" dirty="0">
                <a:latin typeface="Microsoft YaHei" charset="-122"/>
                <a:ea typeface="Microsoft YaHei" charset="-122"/>
                <a:cs typeface="Microsoft YaHei" charset="-122"/>
              </a:rPr>
              <a:t>一般指</a:t>
            </a:r>
            <a:r>
              <a:rPr kumimoji="1" lang="en-US" altLang="zh-CN" sz="1600" dirty="0">
                <a:latin typeface="Microsoft YaHei" charset="-122"/>
                <a:ea typeface="Microsoft YaHei" charset="-122"/>
                <a:cs typeface="Microsoft YaHei" charset="-122"/>
              </a:rPr>
              <a:t>DIMM</a:t>
            </a:r>
            <a:r>
              <a:rPr kumimoji="1" lang="zh-CN" altLang="en-US" sz="1600" dirty="0">
                <a:latin typeface="Microsoft YaHei" charset="-122"/>
                <a:ea typeface="Microsoft YaHei" charset="-122"/>
                <a:cs typeface="Microsoft YaHei" charset="-122"/>
              </a:rPr>
              <a:t>接口的</a:t>
            </a:r>
            <a:r>
              <a:rPr kumimoji="1" lang="en-US" altLang="zh-CN" sz="1600" dirty="0">
                <a:latin typeface="Microsoft YaHei" charset="-122"/>
                <a:ea typeface="Microsoft YaHei" charset="-122"/>
                <a:cs typeface="Microsoft YaHei" charset="-122"/>
              </a:rPr>
              <a:t>NVM</a:t>
            </a:r>
            <a:r>
              <a:rPr kumimoji="1" lang="zh-CN" altLang="en-US" sz="1600" dirty="0">
                <a:latin typeface="Microsoft YaHei" charset="-122"/>
                <a:ea typeface="Microsoft YaHei" charset="-122"/>
                <a:cs typeface="Microsoft YaHei" charset="-122"/>
              </a:rPr>
              <a:t>。</a:t>
            </a:r>
            <a:endParaRPr kumimoji="1" lang="en-US" altLang="zh-CN" sz="1600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endParaRPr kumimoji="1" lang="zh-CN" altLang="en-US" sz="20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C55E90E-0F80-AE4B-9A75-7B6ED999B1F4}"/>
              </a:ext>
            </a:extLst>
          </p:cNvPr>
          <p:cNvSpPr txBox="1"/>
          <p:nvPr/>
        </p:nvSpPr>
        <p:spPr>
          <a:xfrm>
            <a:off x="850900" y="1384300"/>
            <a:ext cx="23775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charset="0"/>
              <a:buChar char="•"/>
            </a:pPr>
            <a:r>
              <a:rPr kumimoji="1" lang="zh-CN" altLang="en-US" sz="2400" dirty="0">
                <a:latin typeface="Microsoft YaHei" charset="-122"/>
                <a:ea typeface="Microsoft YaHei" charset="-122"/>
                <a:cs typeface="Microsoft YaHei" charset="-122"/>
              </a:rPr>
              <a:t>很多种别名：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65113F3-A91B-0B49-9FE0-5ED228821F2B}"/>
              </a:ext>
            </a:extLst>
          </p:cNvPr>
          <p:cNvSpPr txBox="1"/>
          <p:nvPr/>
        </p:nvSpPr>
        <p:spPr>
          <a:xfrm>
            <a:off x="774700" y="3911600"/>
            <a:ext cx="31373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charset="0"/>
              <a:buChar char="•"/>
            </a:pPr>
            <a:r>
              <a:rPr kumimoji="1" lang="zh-CN" altLang="en-US" sz="2400" dirty="0">
                <a:latin typeface="Microsoft YaHei" charset="-122"/>
                <a:ea typeface="Microsoft YaHei" charset="-122"/>
                <a:cs typeface="Microsoft YaHei" charset="-122"/>
              </a:rPr>
              <a:t>很多种</a:t>
            </a:r>
            <a:r>
              <a:rPr kumimoji="1" lang="en-US" altLang="zh-CN" sz="2400" dirty="0">
                <a:latin typeface="Microsoft YaHei" charset="-122"/>
                <a:ea typeface="Microsoft YaHei" charset="-122"/>
                <a:cs typeface="Microsoft YaHei" charset="-122"/>
              </a:rPr>
              <a:t>NVM</a:t>
            </a:r>
            <a:r>
              <a:rPr kumimoji="1" lang="zh-CN" altLang="en-US" sz="2400" dirty="0">
                <a:latin typeface="Microsoft YaHei" charset="-122"/>
                <a:ea typeface="Microsoft YaHei" charset="-122"/>
                <a:cs typeface="Microsoft YaHei" charset="-122"/>
              </a:rPr>
              <a:t>技术：</a:t>
            </a:r>
          </a:p>
        </p:txBody>
      </p:sp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7F6EC0BC-AC58-6444-8AE3-BEF0C7B0ED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1161723"/>
              </p:ext>
            </p:extLst>
          </p:nvPr>
        </p:nvGraphicFramePr>
        <p:xfrm>
          <a:off x="2019300" y="4457700"/>
          <a:ext cx="5308600" cy="1692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20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965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204"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+mn-lt"/>
                          <a:ea typeface="Microsoft YaHei" charset="-122"/>
                          <a:cs typeface="Microsoft YaHei" charset="-122"/>
                        </a:rPr>
                        <a:t>种类</a:t>
                      </a:r>
                    </a:p>
                  </a:txBody>
                  <a:tcPr marL="70325" marR="70325" marT="35162" marB="35162"/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+mn-lt"/>
                          <a:ea typeface="Microsoft YaHei" charset="-122"/>
                          <a:cs typeface="Microsoft YaHei" charset="-122"/>
                        </a:rPr>
                        <a:t>评价</a:t>
                      </a:r>
                    </a:p>
                  </a:txBody>
                  <a:tcPr marL="70325" marR="70325" marT="35162" marB="3516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18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+mn-lt"/>
                          <a:ea typeface="Microsoft YaHei" charset="-122"/>
                          <a:cs typeface="Microsoft YaHei" charset="-122"/>
                        </a:rPr>
                        <a:t>DRAM</a:t>
                      </a:r>
                      <a:r>
                        <a:rPr lang="zh-CN" altLang="en-US" sz="1800" dirty="0">
                          <a:latin typeface="+mn-lt"/>
                          <a:ea typeface="Microsoft YaHei" charset="-122"/>
                          <a:cs typeface="Microsoft YaHei" charset="-122"/>
                        </a:rPr>
                        <a:t> </a:t>
                      </a:r>
                      <a:r>
                        <a:rPr lang="en-US" altLang="zh-CN" sz="1800" dirty="0">
                          <a:latin typeface="+mn-lt"/>
                          <a:ea typeface="Microsoft YaHei" charset="-122"/>
                          <a:cs typeface="Microsoft YaHei" charset="-122"/>
                        </a:rPr>
                        <a:t>+</a:t>
                      </a:r>
                      <a:r>
                        <a:rPr lang="zh-CN" altLang="en-US" sz="1800" dirty="0">
                          <a:latin typeface="+mn-lt"/>
                          <a:ea typeface="Microsoft YaHei" charset="-122"/>
                          <a:cs typeface="Microsoft YaHei" charset="-122"/>
                        </a:rPr>
                        <a:t> </a:t>
                      </a:r>
                      <a:r>
                        <a:rPr lang="en-US" altLang="zh-CN" sz="1800" dirty="0">
                          <a:latin typeface="+mn-lt"/>
                          <a:ea typeface="Microsoft YaHei" charset="-122"/>
                          <a:cs typeface="Microsoft YaHei" charset="-122"/>
                        </a:rPr>
                        <a:t>Flash</a:t>
                      </a:r>
                      <a:r>
                        <a:rPr lang="zh-CN" altLang="en-US" sz="1800" dirty="0">
                          <a:latin typeface="+mn-lt"/>
                          <a:ea typeface="Microsoft YaHei" charset="-122"/>
                          <a:cs typeface="Microsoft YaHei" charset="-122"/>
                        </a:rPr>
                        <a:t> </a:t>
                      </a:r>
                      <a:r>
                        <a:rPr lang="en-US" altLang="zh-CN" sz="1800" dirty="0">
                          <a:latin typeface="+mn-lt"/>
                          <a:ea typeface="Microsoft YaHei" charset="-122"/>
                          <a:cs typeface="Microsoft YaHei" charset="-122"/>
                        </a:rPr>
                        <a:t>+</a:t>
                      </a:r>
                      <a:r>
                        <a:rPr lang="zh-CN" altLang="en-US" sz="1800" dirty="0">
                          <a:latin typeface="+mn-lt"/>
                          <a:ea typeface="Microsoft YaHei" charset="-122"/>
                          <a:cs typeface="Microsoft YaHei" charset="-122"/>
                        </a:rPr>
                        <a:t> 电池</a:t>
                      </a:r>
                    </a:p>
                  </a:txBody>
                  <a:tcPr marL="70325" marR="70325" marT="35162" marB="35162"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lt"/>
                          <a:ea typeface="Microsoft YaHei" charset="-122"/>
                          <a:cs typeface="Microsoft YaHei" charset="-122"/>
                        </a:rPr>
                        <a:t>速度和</a:t>
                      </a:r>
                      <a:r>
                        <a:rPr lang="en-US" altLang="zh-CN" sz="1400" dirty="0">
                          <a:latin typeface="+mn-lt"/>
                          <a:ea typeface="Microsoft YaHei" charset="-122"/>
                          <a:cs typeface="Microsoft YaHei" charset="-122"/>
                        </a:rPr>
                        <a:t>DRAM</a:t>
                      </a:r>
                      <a:r>
                        <a:rPr lang="zh-CN" altLang="en-US" sz="1400" dirty="0">
                          <a:latin typeface="+mn-lt"/>
                          <a:ea typeface="Microsoft YaHei" charset="-122"/>
                          <a:cs typeface="Microsoft YaHei" charset="-122"/>
                        </a:rPr>
                        <a:t>一样，昂贵，做不大。</a:t>
                      </a:r>
                    </a:p>
                  </a:txBody>
                  <a:tcPr marL="70325" marR="70325" marT="35162" marB="3516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18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+mn-lt"/>
                          <a:ea typeface="Microsoft YaHei" charset="-122"/>
                          <a:cs typeface="Microsoft YaHei" charset="-122"/>
                        </a:rPr>
                        <a:t>PCM</a:t>
                      </a:r>
                      <a:endParaRPr lang="zh-CN" altLang="en-US" sz="1800" dirty="0">
                        <a:latin typeface="+mn-lt"/>
                        <a:ea typeface="Microsoft YaHei" charset="-122"/>
                        <a:cs typeface="Microsoft YaHei" charset="-122"/>
                      </a:endParaRPr>
                    </a:p>
                  </a:txBody>
                  <a:tcPr marL="70325" marR="70325" marT="35162" marB="35162"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lt"/>
                          <a:ea typeface="Microsoft YaHei" charset="-122"/>
                          <a:cs typeface="Microsoft YaHei" charset="-122"/>
                        </a:rPr>
                        <a:t>基于相变的非易失介质，比</a:t>
                      </a:r>
                      <a:r>
                        <a:rPr lang="en-US" altLang="zh-CN" sz="1400" dirty="0">
                          <a:latin typeface="+mn-lt"/>
                          <a:ea typeface="Microsoft YaHei" charset="-122"/>
                          <a:cs typeface="Microsoft YaHei" charset="-122"/>
                        </a:rPr>
                        <a:t>DRAM</a:t>
                      </a:r>
                      <a:r>
                        <a:rPr lang="zh-CN" altLang="en-US" sz="1400" dirty="0">
                          <a:latin typeface="+mn-lt"/>
                          <a:ea typeface="Microsoft YaHei" charset="-122"/>
                          <a:cs typeface="Microsoft YaHei" charset="-122"/>
                        </a:rPr>
                        <a:t>稍慢。</a:t>
                      </a:r>
                    </a:p>
                  </a:txBody>
                  <a:tcPr marL="70325" marR="70325" marT="35162" marB="3516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18">
                <a:tc>
                  <a:txBody>
                    <a:bodyPr/>
                    <a:lstStyle/>
                    <a:p>
                      <a:r>
                        <a:rPr lang="en-US" altLang="zh-CN" sz="1800" dirty="0" err="1">
                          <a:latin typeface="+mn-lt"/>
                          <a:ea typeface="Microsoft YaHei" charset="-122"/>
                          <a:cs typeface="Microsoft YaHei" charset="-122"/>
                        </a:rPr>
                        <a:t>Memristor</a:t>
                      </a:r>
                      <a:endParaRPr lang="zh-CN" altLang="en-US" sz="1800" dirty="0">
                        <a:latin typeface="+mn-lt"/>
                        <a:ea typeface="Microsoft YaHei" charset="-122"/>
                        <a:cs typeface="Microsoft YaHei" charset="-122"/>
                      </a:endParaRPr>
                    </a:p>
                  </a:txBody>
                  <a:tcPr marL="70325" marR="70325" marT="35162" marB="35162"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lt"/>
                          <a:ea typeface="Microsoft YaHei" charset="-122"/>
                          <a:cs typeface="Microsoft YaHei" charset="-122"/>
                        </a:rPr>
                        <a:t>忆阻器，比</a:t>
                      </a:r>
                      <a:r>
                        <a:rPr lang="en-US" altLang="zh-CN" sz="1400" dirty="0">
                          <a:latin typeface="+mn-lt"/>
                          <a:ea typeface="Microsoft YaHei" charset="-122"/>
                          <a:cs typeface="Microsoft YaHei" charset="-122"/>
                        </a:rPr>
                        <a:t>DRAM</a:t>
                      </a:r>
                      <a:r>
                        <a:rPr lang="zh-CN" altLang="en-US" sz="1400" dirty="0">
                          <a:latin typeface="+mn-lt"/>
                          <a:ea typeface="Microsoft YaHei" charset="-122"/>
                          <a:cs typeface="Microsoft YaHei" charset="-122"/>
                        </a:rPr>
                        <a:t>稍慢。</a:t>
                      </a:r>
                    </a:p>
                  </a:txBody>
                  <a:tcPr marL="70325" marR="70325" marT="35162" marB="3516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0698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+mn-lt"/>
                          <a:ea typeface="Microsoft YaHei" charset="-122"/>
                          <a:cs typeface="Microsoft YaHei" charset="-122"/>
                        </a:rPr>
                        <a:t>3D</a:t>
                      </a:r>
                      <a:r>
                        <a:rPr lang="zh-CN" altLang="en-US" sz="1800" dirty="0">
                          <a:latin typeface="+mn-lt"/>
                          <a:ea typeface="Microsoft YaHei" charset="-122"/>
                          <a:cs typeface="Microsoft YaHei" charset="-122"/>
                        </a:rPr>
                        <a:t> </a:t>
                      </a:r>
                      <a:r>
                        <a:rPr lang="en-US" altLang="zh-CN" sz="1800" dirty="0" err="1">
                          <a:latin typeface="+mn-lt"/>
                          <a:ea typeface="Microsoft YaHei" charset="-122"/>
                          <a:cs typeface="Microsoft YaHei" charset="-122"/>
                        </a:rPr>
                        <a:t>XPoint</a:t>
                      </a:r>
                      <a:endParaRPr lang="zh-CN" altLang="en-US" sz="1800" dirty="0">
                        <a:latin typeface="+mn-lt"/>
                        <a:ea typeface="Microsoft YaHei" charset="-122"/>
                        <a:cs typeface="Microsoft YaHei" charset="-122"/>
                      </a:endParaRPr>
                    </a:p>
                  </a:txBody>
                  <a:tcPr marL="70325" marR="70325" marT="35162" marB="35162"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lt"/>
                          <a:ea typeface="Microsoft YaHei" charset="-122"/>
                          <a:cs typeface="Microsoft YaHei" charset="-122"/>
                        </a:rPr>
                        <a:t>最接近商用，有人怀疑就是</a:t>
                      </a:r>
                      <a:r>
                        <a:rPr lang="en-US" altLang="zh-CN" sz="1400" dirty="0">
                          <a:latin typeface="+mn-lt"/>
                          <a:ea typeface="Microsoft YaHei" charset="-122"/>
                          <a:cs typeface="Microsoft YaHei" charset="-122"/>
                        </a:rPr>
                        <a:t>PCM</a:t>
                      </a:r>
                      <a:r>
                        <a:rPr lang="zh-CN" altLang="en-US" sz="1400" dirty="0">
                          <a:latin typeface="+mn-lt"/>
                          <a:ea typeface="Microsoft YaHei" charset="-122"/>
                          <a:cs typeface="Microsoft YaHei" charset="-122"/>
                        </a:rPr>
                        <a:t>技术。</a:t>
                      </a:r>
                    </a:p>
                  </a:txBody>
                  <a:tcPr marL="70325" marR="70325" marT="35162" marB="35162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1409754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>
              <a:latin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2733C78-B3ED-B741-A882-3714B0B7F9E9}"/>
              </a:ext>
            </a:extLst>
          </p:cNvPr>
          <p:cNvSpPr txBox="1"/>
          <p:nvPr/>
        </p:nvSpPr>
        <p:spPr>
          <a:xfrm>
            <a:off x="654258" y="589775"/>
            <a:ext cx="52893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内存、存储和持久性内存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6A2C70CF-D1AD-3041-8A99-8EF636B18B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300" y="3873500"/>
            <a:ext cx="6832600" cy="2477076"/>
          </a:xfrm>
          <a:prstGeom prst="rect">
            <a:avLst/>
          </a:prstGeom>
        </p:spPr>
      </p:pic>
      <p:sp>
        <p:nvSpPr>
          <p:cNvPr id="18" name="圆角矩形 17">
            <a:extLst>
              <a:ext uri="{FF2B5EF4-FFF2-40B4-BE49-F238E27FC236}">
                <a16:creationId xmlns:a16="http://schemas.microsoft.com/office/drawing/2014/main" id="{725E544E-6951-5546-87F4-1460D51C52D5}"/>
              </a:ext>
            </a:extLst>
          </p:cNvPr>
          <p:cNvSpPr/>
          <p:nvPr/>
        </p:nvSpPr>
        <p:spPr>
          <a:xfrm>
            <a:off x="2260600" y="3949700"/>
            <a:ext cx="4267200" cy="355600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7927953E-A16B-B045-A78F-E2244B93834A}"/>
              </a:ext>
            </a:extLst>
          </p:cNvPr>
          <p:cNvSpPr/>
          <p:nvPr/>
        </p:nvSpPr>
        <p:spPr>
          <a:xfrm>
            <a:off x="6680200" y="3949700"/>
            <a:ext cx="965200" cy="355600"/>
          </a:xfrm>
          <a:prstGeom prst="roundRect">
            <a:avLst/>
          </a:prstGeom>
          <a:noFill/>
          <a:ln w="2857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CFF351A-B869-FC45-BFFC-7F9E7780D2A0}"/>
              </a:ext>
            </a:extLst>
          </p:cNvPr>
          <p:cNvSpPr txBox="1"/>
          <p:nvPr/>
        </p:nvSpPr>
        <p:spPr>
          <a:xfrm flipH="1">
            <a:off x="2166618" y="3606800"/>
            <a:ext cx="1389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</a:rPr>
              <a:t>Non-volatile</a:t>
            </a:r>
            <a:endParaRPr kumimoji="1" lang="zh-CN" altLang="en-US" dirty="0">
              <a:solidFill>
                <a:srgbClr val="C00000"/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0416625-2EE7-2F43-B9CF-D60914DD39B6}"/>
              </a:ext>
            </a:extLst>
          </p:cNvPr>
          <p:cNvSpPr txBox="1"/>
          <p:nvPr/>
        </p:nvSpPr>
        <p:spPr>
          <a:xfrm flipH="1">
            <a:off x="6802118" y="3632200"/>
            <a:ext cx="1389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chemeClr val="accent5">
                    <a:lumMod val="75000"/>
                  </a:schemeClr>
                </a:solidFill>
              </a:rPr>
              <a:t>Volatile</a:t>
            </a:r>
            <a:endParaRPr kumimoji="1" lang="zh-CN" alt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29AB3C44-4373-7140-A6E2-CAB4BD5817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1295400"/>
            <a:ext cx="5829300" cy="2185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40407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>
              <a:latin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2733C78-B3ED-B741-A882-3714B0B7F9E9}"/>
              </a:ext>
            </a:extLst>
          </p:cNvPr>
          <p:cNvSpPr txBox="1"/>
          <p:nvPr/>
        </p:nvSpPr>
        <p:spPr>
          <a:xfrm>
            <a:off x="654258" y="589775"/>
            <a:ext cx="52893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PM</a:t>
            </a:r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编程模型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A1C405E-85E0-954E-9B9D-409B32C391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597" y="1574375"/>
            <a:ext cx="7906805" cy="408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763400"/>
      </p:ext>
    </p:extLst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>
              <a:latin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2733C78-B3ED-B741-A882-3714B0B7F9E9}"/>
              </a:ext>
            </a:extLst>
          </p:cNvPr>
          <p:cNvSpPr txBox="1"/>
          <p:nvPr/>
        </p:nvSpPr>
        <p:spPr>
          <a:xfrm>
            <a:off x="654257" y="589775"/>
            <a:ext cx="5946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持久性内存所带来的优势以及挑战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0F32B83-E9B3-DF4F-BA46-CCE20ED42636}"/>
              </a:ext>
            </a:extLst>
          </p:cNvPr>
          <p:cNvSpPr txBox="1"/>
          <p:nvPr/>
        </p:nvSpPr>
        <p:spPr>
          <a:xfrm>
            <a:off x="1343026" y="1361360"/>
            <a:ext cx="682942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zh-CN" altLang="en-US" sz="2800" dirty="0"/>
              <a:t>优势：</a:t>
            </a:r>
            <a:br>
              <a:rPr kumimoji="1" lang="en-US" altLang="zh-CN" sz="2800" dirty="0"/>
            </a:br>
            <a:r>
              <a:rPr kumimoji="1" lang="en-US" altLang="zh-CN" sz="2800" dirty="0"/>
              <a:t>(1) </a:t>
            </a:r>
            <a:r>
              <a:rPr kumimoji="1" lang="zh-CN" altLang="en-US" sz="2800" dirty="0"/>
              <a:t>简化存储栈；</a:t>
            </a:r>
            <a:endParaRPr kumimoji="1" lang="en-US" altLang="zh-CN" sz="2800" dirty="0"/>
          </a:p>
          <a:p>
            <a:pPr marL="971550" lvl="1" indent="-514350">
              <a:buAutoNum type="arabicParenBoth" startAt="2"/>
            </a:pPr>
            <a:r>
              <a:rPr kumimoji="1" lang="en-US" altLang="zh-CN" sz="2800" dirty="0"/>
              <a:t>zero copy</a:t>
            </a:r>
            <a:r>
              <a:rPr kumimoji="1" lang="zh-CN" altLang="en-US" sz="2800" dirty="0"/>
              <a:t>；</a:t>
            </a:r>
            <a:endParaRPr kumimoji="1" lang="en-US" altLang="zh-CN" sz="2800" dirty="0"/>
          </a:p>
          <a:p>
            <a:pPr marL="971550" lvl="1" indent="-514350">
              <a:buAutoNum type="arabicParenBoth" startAt="2"/>
            </a:pPr>
            <a:r>
              <a:rPr kumimoji="1" lang="zh-CN" altLang="en-US" sz="2800" dirty="0"/>
              <a:t>字节寻址；</a:t>
            </a:r>
            <a:endParaRPr kumimoji="1" lang="en-US" altLang="zh-CN" sz="2800" dirty="0"/>
          </a:p>
          <a:p>
            <a:pPr marL="971550" lvl="1" indent="-514350">
              <a:buAutoNum type="arabicParenBoth" startAt="2"/>
            </a:pPr>
            <a:r>
              <a:rPr kumimoji="1" lang="zh-CN" altLang="en-US" sz="2800" dirty="0"/>
              <a:t>持久化；</a:t>
            </a:r>
            <a:endParaRPr kumimoji="1" lang="en-US" altLang="zh-CN" sz="2800" dirty="0"/>
          </a:p>
          <a:p>
            <a:pPr marL="971550" lvl="1" indent="-514350">
              <a:buAutoNum type="arabicParenBoth" startAt="2"/>
            </a:pPr>
            <a:r>
              <a:rPr kumimoji="1" lang="zh-CN" altLang="en-US" sz="2800" dirty="0"/>
              <a:t>性能差于</a:t>
            </a:r>
            <a:r>
              <a:rPr kumimoji="1" lang="en-US" altLang="zh-CN" sz="2800" dirty="0"/>
              <a:t>DRAM</a:t>
            </a:r>
            <a:r>
              <a:rPr kumimoji="1" lang="zh-CN" altLang="en-US" sz="2800" dirty="0"/>
              <a:t>，远优于</a:t>
            </a:r>
            <a:r>
              <a:rPr kumimoji="1" lang="en-US" altLang="zh-CN" sz="2800" dirty="0" err="1"/>
              <a:t>NVMe</a:t>
            </a:r>
            <a:r>
              <a:rPr kumimoji="1" lang="en-US" altLang="zh-CN" sz="2800" dirty="0"/>
              <a:t> SSD</a:t>
            </a:r>
            <a:r>
              <a:rPr kumimoji="1" lang="zh-CN" altLang="en-US" sz="2800" dirty="0"/>
              <a:t>。</a:t>
            </a:r>
            <a:endParaRPr kumimoji="1" lang="en-US" altLang="zh-CN" sz="28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966A78A-A323-634C-8C80-F81FD2502EAF}"/>
              </a:ext>
            </a:extLst>
          </p:cNvPr>
          <p:cNvSpPr txBox="1"/>
          <p:nvPr/>
        </p:nvSpPr>
        <p:spPr>
          <a:xfrm>
            <a:off x="1343026" y="4180344"/>
            <a:ext cx="682942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zh-CN" altLang="en-US" sz="2800" dirty="0"/>
              <a:t>挑战：</a:t>
            </a:r>
            <a:br>
              <a:rPr kumimoji="1" lang="en-US" altLang="zh-CN" sz="2800" dirty="0"/>
            </a:br>
            <a:r>
              <a:rPr kumimoji="1" lang="en-US" altLang="zh-CN" sz="2800" dirty="0"/>
              <a:t>(1) </a:t>
            </a:r>
            <a:r>
              <a:rPr kumimoji="1" lang="zh-CN" altLang="en-US" sz="2800" dirty="0"/>
              <a:t>持久化；</a:t>
            </a:r>
            <a:endParaRPr kumimoji="1" lang="en-US" altLang="zh-CN" sz="2800" dirty="0"/>
          </a:p>
          <a:p>
            <a:pPr marL="971550" lvl="1" indent="-514350">
              <a:buAutoNum type="arabicParenBoth" startAt="2"/>
            </a:pPr>
            <a:r>
              <a:rPr kumimoji="1" lang="zh-CN" altLang="en-US" sz="2800" dirty="0"/>
              <a:t>原子可见性；</a:t>
            </a:r>
            <a:endParaRPr kumimoji="1" lang="en-US" altLang="zh-CN" sz="2800" dirty="0"/>
          </a:p>
          <a:p>
            <a:pPr marL="971550" lvl="1" indent="-514350">
              <a:buAutoNum type="arabicParenBoth" startAt="2"/>
            </a:pPr>
            <a:r>
              <a:rPr kumimoji="1" lang="zh-CN" altLang="en-US" sz="2800" dirty="0"/>
              <a:t>崩溃一致性。</a:t>
            </a:r>
            <a:endParaRPr kumimoji="1"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3532951059"/>
      </p:ext>
    </p:extLst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>
              <a:latin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2733C78-B3ED-B741-A882-3714B0B7F9E9}"/>
              </a:ext>
            </a:extLst>
          </p:cNvPr>
          <p:cNvSpPr txBox="1"/>
          <p:nvPr/>
        </p:nvSpPr>
        <p:spPr>
          <a:xfrm>
            <a:off x="654257" y="589775"/>
            <a:ext cx="5946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持久化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B618FFE-1038-D840-9E64-3C75A5D64B50}"/>
              </a:ext>
            </a:extLst>
          </p:cNvPr>
          <p:cNvSpPr txBox="1"/>
          <p:nvPr/>
        </p:nvSpPr>
        <p:spPr>
          <a:xfrm>
            <a:off x="6801492" y="436651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792CDF0-17CE-024A-B940-DAE753AAC5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1365249"/>
            <a:ext cx="2159000" cy="3088743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DBDBF629-95FD-124C-AC8C-0050E421E841}"/>
              </a:ext>
            </a:extLst>
          </p:cNvPr>
          <p:cNvSpPr txBox="1"/>
          <p:nvPr/>
        </p:nvSpPr>
        <p:spPr>
          <a:xfrm>
            <a:off x="3741342" y="2298700"/>
            <a:ext cx="46953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Register</a:t>
            </a:r>
            <a:r>
              <a:rPr kumimoji="1" lang="zh-CN" altLang="en-US" dirty="0"/>
              <a:t> </a:t>
            </a:r>
            <a:r>
              <a:rPr kumimoji="1" lang="en-US" altLang="zh-CN" dirty="0"/>
              <a:t>--&gt;</a:t>
            </a:r>
            <a:r>
              <a:rPr kumimoji="1" lang="zh-CN" altLang="en-US" dirty="0"/>
              <a:t> </a:t>
            </a:r>
            <a:r>
              <a:rPr kumimoji="1" lang="en-US" altLang="zh-CN" dirty="0"/>
              <a:t>L1/L2/L3</a:t>
            </a:r>
            <a:r>
              <a:rPr kumimoji="1" lang="zh-CN" altLang="en-US" dirty="0"/>
              <a:t> </a:t>
            </a:r>
            <a:r>
              <a:rPr kumimoji="1" lang="en-US" altLang="zh-CN" dirty="0"/>
              <a:t>caches</a:t>
            </a:r>
            <a:r>
              <a:rPr kumimoji="1" lang="zh-CN" altLang="en-US" dirty="0"/>
              <a:t> </a:t>
            </a:r>
            <a:r>
              <a:rPr kumimoji="1" lang="en-US" altLang="zh-CN" dirty="0"/>
              <a:t>--&gt;</a:t>
            </a:r>
            <a:r>
              <a:rPr kumimoji="1" lang="zh-CN" altLang="en-US" dirty="0"/>
              <a:t> </a:t>
            </a:r>
            <a:r>
              <a:rPr kumimoji="1" lang="en-US" altLang="zh-CN" dirty="0"/>
              <a:t>memory</a:t>
            </a:r>
            <a:r>
              <a:rPr kumimoji="1" lang="zh-CN" altLang="en-US" dirty="0"/>
              <a:t> </a:t>
            </a:r>
            <a:r>
              <a:rPr kumimoji="1" lang="en-US" altLang="zh-CN" dirty="0"/>
              <a:t>--&gt;</a:t>
            </a:r>
            <a:r>
              <a:rPr kumimoji="1" lang="zh-CN" altLang="en-US" dirty="0"/>
              <a:t> </a:t>
            </a:r>
            <a:r>
              <a:rPr kumimoji="1" lang="en-US" altLang="zh-CN" dirty="0"/>
              <a:t>disk</a:t>
            </a:r>
            <a:endParaRPr kumimoji="1"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631B70D-2AFB-184B-87B9-6514DF26BE53}"/>
              </a:ext>
            </a:extLst>
          </p:cNvPr>
          <p:cNvSpPr txBox="1"/>
          <p:nvPr/>
        </p:nvSpPr>
        <p:spPr>
          <a:xfrm>
            <a:off x="3779442" y="3670300"/>
            <a:ext cx="4947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Register</a:t>
            </a:r>
            <a:r>
              <a:rPr kumimoji="1" lang="zh-CN" altLang="en-US" dirty="0"/>
              <a:t> </a:t>
            </a:r>
            <a:r>
              <a:rPr kumimoji="1" lang="en-US" altLang="zh-CN" dirty="0"/>
              <a:t>--&gt;</a:t>
            </a:r>
            <a:r>
              <a:rPr kumimoji="1" lang="zh-CN" altLang="en-US" dirty="0"/>
              <a:t> </a:t>
            </a:r>
            <a:r>
              <a:rPr kumimoji="1" lang="en-US" altLang="zh-CN" dirty="0"/>
              <a:t>L1/L2/L3</a:t>
            </a:r>
            <a:r>
              <a:rPr kumimoji="1" lang="zh-CN" altLang="en-US" dirty="0"/>
              <a:t> </a:t>
            </a:r>
            <a:r>
              <a:rPr kumimoji="1" lang="en-US" altLang="zh-CN" dirty="0"/>
              <a:t>caches</a:t>
            </a:r>
            <a:r>
              <a:rPr kumimoji="1" lang="zh-CN" altLang="en-US" dirty="0"/>
              <a:t> </a:t>
            </a:r>
            <a:r>
              <a:rPr kumimoji="1" lang="en-US" altLang="zh-CN" dirty="0"/>
              <a:t>--&gt;</a:t>
            </a:r>
            <a:r>
              <a:rPr kumimoji="1" lang="zh-CN" altLang="en-US" dirty="0"/>
              <a:t> </a:t>
            </a:r>
            <a:r>
              <a:rPr kumimoji="1" lang="en-US" altLang="zh-CN" dirty="0"/>
              <a:t>persistent</a:t>
            </a:r>
            <a:r>
              <a:rPr kumimoji="1" lang="zh-CN" altLang="en-US" dirty="0"/>
              <a:t> </a:t>
            </a:r>
            <a:r>
              <a:rPr kumimoji="1" lang="en-US" altLang="zh-CN" dirty="0"/>
              <a:t>memory</a:t>
            </a:r>
            <a:endParaRPr kumimoji="1" lang="zh-CN" altLang="en-US" dirty="0"/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839CC7B2-05D2-F341-93AF-8A038297463A}"/>
              </a:ext>
            </a:extLst>
          </p:cNvPr>
          <p:cNvSpPr/>
          <p:nvPr/>
        </p:nvSpPr>
        <p:spPr>
          <a:xfrm>
            <a:off x="3784600" y="2298700"/>
            <a:ext cx="3886200" cy="419100"/>
          </a:xfrm>
          <a:prstGeom prst="roundRect">
            <a:avLst/>
          </a:prstGeom>
          <a:noFill/>
          <a:ln w="19050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70C0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4AFFC87-C844-F242-912D-27BE21677687}"/>
              </a:ext>
            </a:extLst>
          </p:cNvPr>
          <p:cNvSpPr txBox="1"/>
          <p:nvPr/>
        </p:nvSpPr>
        <p:spPr>
          <a:xfrm>
            <a:off x="4051300" y="1968500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solidFill>
                  <a:srgbClr val="0070C0"/>
                </a:solidFill>
                <a:latin typeface="Microsoft YaHei" charset="-122"/>
                <a:ea typeface="Microsoft YaHei" charset="-122"/>
                <a:cs typeface="Microsoft YaHei" charset="-122"/>
              </a:rPr>
              <a:t>易失区</a:t>
            </a:r>
          </a:p>
        </p:txBody>
      </p:sp>
      <p:sp>
        <p:nvSpPr>
          <p:cNvPr id="14" name="上弧形箭头 13">
            <a:extLst>
              <a:ext uri="{FF2B5EF4-FFF2-40B4-BE49-F238E27FC236}">
                <a16:creationId xmlns:a16="http://schemas.microsoft.com/office/drawing/2014/main" id="{A6567DBF-DAC5-A045-A4FA-9FACF8705628}"/>
              </a:ext>
            </a:extLst>
          </p:cNvPr>
          <p:cNvSpPr/>
          <p:nvPr/>
        </p:nvSpPr>
        <p:spPr>
          <a:xfrm>
            <a:off x="6261100" y="2806700"/>
            <a:ext cx="1879600" cy="266700"/>
          </a:xfrm>
          <a:prstGeom prst="curvedUpArrow">
            <a:avLst>
              <a:gd name="adj1" fmla="val 0"/>
              <a:gd name="adj2" fmla="val 41168"/>
              <a:gd name="adj3" fmla="val 33571"/>
            </a:avLst>
          </a:prstGeom>
          <a:solidFill>
            <a:srgbClr val="0070C0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CB200898-D6D6-CD4F-B294-3BDB204828EA}"/>
              </a:ext>
            </a:extLst>
          </p:cNvPr>
          <p:cNvSpPr/>
          <p:nvPr/>
        </p:nvSpPr>
        <p:spPr>
          <a:xfrm>
            <a:off x="7747000" y="2286000"/>
            <a:ext cx="812800" cy="419100"/>
          </a:xfrm>
          <a:prstGeom prst="roundRect">
            <a:avLst/>
          </a:prstGeom>
          <a:noFill/>
          <a:ln w="190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9C04954-0B5A-1244-A089-E2848FCC716F}"/>
              </a:ext>
            </a:extLst>
          </p:cNvPr>
          <p:cNvSpPr txBox="1"/>
          <p:nvPr/>
        </p:nvSpPr>
        <p:spPr>
          <a:xfrm>
            <a:off x="7759700" y="1968500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solidFill>
                  <a:srgbClr val="C0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非易失区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5E602F7-5752-5C4C-B227-C5E8622E68C7}"/>
              </a:ext>
            </a:extLst>
          </p:cNvPr>
          <p:cNvSpPr txBox="1"/>
          <p:nvPr/>
        </p:nvSpPr>
        <p:spPr>
          <a:xfrm>
            <a:off x="6858000" y="3022600"/>
            <a:ext cx="876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/>
              <a:t>fsync</a:t>
            </a:r>
            <a:r>
              <a:rPr kumimoji="1" lang="en-US" altLang="zh-CN" dirty="0"/>
              <a:t>()</a:t>
            </a:r>
            <a:r>
              <a:rPr kumimoji="1" lang="zh-CN" altLang="en-US" dirty="0"/>
              <a:t> 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77C5375-407C-E64E-875D-EBFD7809E807}"/>
              </a:ext>
            </a:extLst>
          </p:cNvPr>
          <p:cNvSpPr txBox="1"/>
          <p:nvPr/>
        </p:nvSpPr>
        <p:spPr>
          <a:xfrm>
            <a:off x="2882900" y="1447800"/>
            <a:ext cx="30123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kumimoji="1"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传统存储设备的持久化：</a:t>
            </a:r>
            <a:endParaRPr kumimoji="1" lang="en-US" altLang="zh-CN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07C5D45B-CE60-3542-8FBA-228961BFEC31}"/>
              </a:ext>
            </a:extLst>
          </p:cNvPr>
          <p:cNvSpPr/>
          <p:nvPr/>
        </p:nvSpPr>
        <p:spPr>
          <a:xfrm>
            <a:off x="3810000" y="3683000"/>
            <a:ext cx="2755900" cy="419100"/>
          </a:xfrm>
          <a:prstGeom prst="roundRect">
            <a:avLst/>
          </a:prstGeom>
          <a:noFill/>
          <a:ln w="19050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70C0"/>
              </a:solidFill>
            </a:endParaRPr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D26D7D43-FFAA-4C4F-B1DF-FBBDCC6CB186}"/>
              </a:ext>
            </a:extLst>
          </p:cNvPr>
          <p:cNvSpPr/>
          <p:nvPr/>
        </p:nvSpPr>
        <p:spPr>
          <a:xfrm>
            <a:off x="6629400" y="3670300"/>
            <a:ext cx="2019300" cy="419100"/>
          </a:xfrm>
          <a:prstGeom prst="roundRect">
            <a:avLst/>
          </a:prstGeom>
          <a:noFill/>
          <a:ln w="190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上弧形箭头 20">
            <a:extLst>
              <a:ext uri="{FF2B5EF4-FFF2-40B4-BE49-F238E27FC236}">
                <a16:creationId xmlns:a16="http://schemas.microsoft.com/office/drawing/2014/main" id="{4F488AD0-5AA2-F941-95E4-163C6F529D92}"/>
              </a:ext>
            </a:extLst>
          </p:cNvPr>
          <p:cNvSpPr/>
          <p:nvPr/>
        </p:nvSpPr>
        <p:spPr>
          <a:xfrm>
            <a:off x="5943600" y="4152900"/>
            <a:ext cx="1879600" cy="279400"/>
          </a:xfrm>
          <a:prstGeom prst="curvedUpArrow">
            <a:avLst>
              <a:gd name="adj1" fmla="val 0"/>
              <a:gd name="adj2" fmla="val 41168"/>
              <a:gd name="adj3" fmla="val 33571"/>
            </a:avLst>
          </a:prstGeom>
          <a:solidFill>
            <a:srgbClr val="0070C0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757E2B0-76CB-6B4C-AB6B-69BED3E88075}"/>
              </a:ext>
            </a:extLst>
          </p:cNvPr>
          <p:cNvSpPr txBox="1"/>
          <p:nvPr/>
        </p:nvSpPr>
        <p:spPr>
          <a:xfrm>
            <a:off x="6134100" y="4432300"/>
            <a:ext cx="2260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 err="1">
                <a:latin typeface="Microsoft YaHei" charset="-122"/>
                <a:ea typeface="Microsoft YaHei" charset="-122"/>
                <a:cs typeface="Microsoft YaHei" charset="-122"/>
              </a:rPr>
              <a:t>Cacheline</a:t>
            </a:r>
            <a:r>
              <a:rPr kumimoji="1" lang="zh-CN" altLang="en-US" sz="1400" dirty="0">
                <a:latin typeface="Microsoft YaHei" charset="-122"/>
                <a:ea typeface="Microsoft YaHei" charset="-122"/>
                <a:cs typeface="Microsoft YaHei" charset="-122"/>
              </a:rPr>
              <a:t>刷新指令 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71EAE77-774B-064B-A41E-B112A7FC72B4}"/>
              </a:ext>
            </a:extLst>
          </p:cNvPr>
          <p:cNvSpPr txBox="1"/>
          <p:nvPr/>
        </p:nvSpPr>
        <p:spPr>
          <a:xfrm>
            <a:off x="2844800" y="3187700"/>
            <a:ext cx="24561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kumimoji="1" lang="en-US" altLang="zh-CN" dirty="0">
                <a:latin typeface="Microsoft YaHei" charset="-122"/>
                <a:ea typeface="Microsoft YaHei" charset="-122"/>
                <a:cs typeface="Microsoft YaHei" charset="-122"/>
              </a:rPr>
              <a:t>PM</a:t>
            </a:r>
            <a:r>
              <a:rPr kumimoji="1"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设备的持久化：</a:t>
            </a:r>
            <a:endParaRPr kumimoji="1" lang="en-US" altLang="zh-CN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1912565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1" grpId="0"/>
      <p:bldP spid="12" grpId="0" animBg="1"/>
      <p:bldP spid="13" grpId="0"/>
      <p:bldP spid="14" grpId="0" animBg="1"/>
      <p:bldP spid="15" grpId="0" animBg="1"/>
      <p:bldP spid="16" grpId="0"/>
      <p:bldP spid="17" grpId="0"/>
      <p:bldP spid="18" grpId="0"/>
      <p:bldP spid="19" grpId="0" animBg="1"/>
      <p:bldP spid="20" grpId="0" animBg="1"/>
      <p:bldP spid="21" grpId="0" animBg="1"/>
      <p:bldP spid="22" grpId="0"/>
      <p:bldP spid="2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>
              <a:latin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2733C78-B3ED-B741-A882-3714B0B7F9E9}"/>
              </a:ext>
            </a:extLst>
          </p:cNvPr>
          <p:cNvSpPr txBox="1"/>
          <p:nvPr/>
        </p:nvSpPr>
        <p:spPr>
          <a:xfrm>
            <a:off x="654257" y="589775"/>
            <a:ext cx="5946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 err="1">
                <a:latin typeface="Microsoft YaHei" charset="-122"/>
                <a:ea typeface="Microsoft YaHei" charset="-122"/>
                <a:cs typeface="Microsoft YaHei" charset="-122"/>
              </a:rPr>
              <a:t>CacheLine</a:t>
            </a:r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 flush</a:t>
            </a:r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与</a:t>
            </a:r>
            <a:r>
              <a:rPr kumimoji="1" lang="en-US" altLang="zh-CN" sz="2800" dirty="0" err="1">
                <a:latin typeface="Microsoft YaHei" charset="-122"/>
                <a:ea typeface="Microsoft YaHei" charset="-122"/>
                <a:cs typeface="Microsoft YaHei" charset="-122"/>
              </a:rPr>
              <a:t>sfence</a:t>
            </a:r>
            <a:endParaRPr kumimoji="1" lang="zh-CN" altLang="en-US" sz="28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A241AC9-2AF2-0940-A430-70721C72A6B3}"/>
              </a:ext>
            </a:extLst>
          </p:cNvPr>
          <p:cNvSpPr/>
          <p:nvPr/>
        </p:nvSpPr>
        <p:spPr>
          <a:xfrm>
            <a:off x="1076632" y="1362999"/>
            <a:ext cx="776256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b="1" dirty="0"/>
              <a:t>崩溃一致性：</a:t>
            </a:r>
            <a:r>
              <a:rPr kumimoji="1" lang="zh-CN" altLang="en-US" dirty="0"/>
              <a:t>如何保证写入的数据一定写入，掉电写入的数据不丢？</a:t>
            </a:r>
            <a:endParaRPr kumimoji="1" lang="en-US" altLang="zh-CN" dirty="0"/>
          </a:p>
          <a:p>
            <a:r>
              <a:rPr kumimoji="1" lang="zh-CN" altLang="en-US" b="1" dirty="0"/>
              <a:t>产生的原因：</a:t>
            </a:r>
            <a:endParaRPr kumimoji="1" lang="en-US" altLang="zh-CN" b="1" dirty="0"/>
          </a:p>
          <a:p>
            <a:r>
              <a:rPr kumimoji="1" lang="zh-CN" altLang="en-US" dirty="0"/>
              <a:t>（</a:t>
            </a:r>
            <a:r>
              <a:rPr kumimoji="1" lang="en-US" altLang="zh-CN" dirty="0"/>
              <a:t>1</a:t>
            </a:r>
            <a:r>
              <a:rPr kumimoji="1" lang="zh-CN" altLang="en-US" dirty="0"/>
              <a:t>）写</a:t>
            </a:r>
            <a:r>
              <a:rPr kumimoji="1" lang="en-US" altLang="zh-CN" dirty="0"/>
              <a:t>PM</a:t>
            </a:r>
            <a:r>
              <a:rPr kumimoji="1" lang="zh-CN" altLang="en-US" dirty="0"/>
              <a:t>操作先写入</a:t>
            </a:r>
            <a:r>
              <a:rPr kumimoji="1" lang="en-US" altLang="zh-CN" dirty="0"/>
              <a:t>CPU Cache</a:t>
            </a:r>
            <a:r>
              <a:rPr kumimoji="1" lang="zh-CN" altLang="en-US" dirty="0"/>
              <a:t>，并未真正写入</a:t>
            </a:r>
            <a:r>
              <a:rPr kumimoji="1" lang="en-US" altLang="zh-CN" dirty="0"/>
              <a:t>PM</a:t>
            </a:r>
            <a:r>
              <a:rPr kumimoji="1" lang="zh-CN" altLang="en-US" dirty="0"/>
              <a:t>；</a:t>
            </a:r>
            <a:endParaRPr kumimoji="1" lang="en-US" altLang="zh-CN" dirty="0"/>
          </a:p>
          <a:p>
            <a:r>
              <a:rPr kumimoji="1" lang="zh-CN" altLang="en-US" dirty="0"/>
              <a:t>（</a:t>
            </a:r>
            <a:r>
              <a:rPr kumimoji="1" lang="en-US" altLang="zh-CN" dirty="0"/>
              <a:t>2</a:t>
            </a:r>
            <a:r>
              <a:rPr kumimoji="1" lang="zh-CN" altLang="en-US" dirty="0"/>
              <a:t>）</a:t>
            </a:r>
            <a:r>
              <a:rPr kumimoji="1" lang="en-US" altLang="zh-CN" dirty="0"/>
              <a:t>CPU</a:t>
            </a:r>
            <a:r>
              <a:rPr kumimoji="1" lang="zh-CN" altLang="en-US" dirty="0"/>
              <a:t>指令乱序发射，断电之前的</a:t>
            </a:r>
            <a:r>
              <a:rPr kumimoji="1" lang="en-US" altLang="zh-CN" dirty="0" err="1"/>
              <a:t>Clflush</a:t>
            </a:r>
            <a:r>
              <a:rPr kumimoji="1" lang="zh-CN" altLang="en-US" dirty="0"/>
              <a:t>指令不一定执行。</a:t>
            </a:r>
            <a:endParaRPr kumimoji="1" lang="en-US" altLang="zh-CN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6184A5A-95B0-2C49-A4A0-F2710138925F}"/>
              </a:ext>
            </a:extLst>
          </p:cNvPr>
          <p:cNvSpPr txBox="1"/>
          <p:nvPr/>
        </p:nvSpPr>
        <p:spPr>
          <a:xfrm>
            <a:off x="936522" y="2563328"/>
            <a:ext cx="727095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" altLang="zh-CN" dirty="0" err="1"/>
              <a:t>CacheLine</a:t>
            </a:r>
            <a:r>
              <a:rPr kumimoji="1" lang="en" altLang="zh-CN" dirty="0"/>
              <a:t> flush</a:t>
            </a:r>
            <a:r>
              <a:rPr kumimoji="1" lang="zh-CN" altLang="en-US" dirty="0"/>
              <a:t>指令：刷</a:t>
            </a:r>
            <a:r>
              <a:rPr kumimoji="1" lang="en" altLang="zh-CN" dirty="0"/>
              <a:t>CPU </a:t>
            </a:r>
            <a:r>
              <a:rPr kumimoji="1" lang="en" altLang="zh-CN" dirty="0" err="1"/>
              <a:t>CacheLine</a:t>
            </a:r>
            <a:r>
              <a:rPr kumimoji="1" lang="en" altLang="zh-CN" dirty="0"/>
              <a:t> -&gt; AEP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en-US" altLang="zh-CN" dirty="0" err="1"/>
              <a:t>clflush</a:t>
            </a:r>
            <a:r>
              <a:rPr kumimoji="1" lang="zh-CN" altLang="en-US" dirty="0"/>
              <a:t>：每次保证一个</a:t>
            </a:r>
            <a:r>
              <a:rPr kumimoji="1" lang="en-US" altLang="zh-CN" dirty="0" err="1"/>
              <a:t>CacheLine</a:t>
            </a:r>
            <a:r>
              <a:rPr kumimoji="1" lang="en-US" altLang="zh-CN" dirty="0"/>
              <a:t>(64</a:t>
            </a:r>
            <a:r>
              <a:rPr kumimoji="1" lang="zh-CN" altLang="en-US" dirty="0"/>
              <a:t>字节</a:t>
            </a:r>
            <a:r>
              <a:rPr kumimoji="1" lang="en-US" altLang="zh-CN" dirty="0"/>
              <a:t>)</a:t>
            </a:r>
            <a:r>
              <a:rPr kumimoji="1" lang="zh-CN" altLang="en-US" dirty="0"/>
              <a:t>刷回到</a:t>
            </a:r>
            <a:r>
              <a:rPr kumimoji="1" lang="en-US" altLang="zh-CN" dirty="0"/>
              <a:t>AEP</a:t>
            </a:r>
            <a:r>
              <a:rPr kumimoji="1" lang="zh-CN" altLang="en-US" dirty="0"/>
              <a:t>上，不需要用</a:t>
            </a:r>
            <a:r>
              <a:rPr kumimoji="1" lang="en-US" altLang="zh-CN" dirty="0" err="1"/>
              <a:t>sfence</a:t>
            </a:r>
            <a:r>
              <a:rPr kumimoji="1" lang="zh-CN" altLang="en-US" dirty="0"/>
              <a:t>；性能最差，只能串行。</a:t>
            </a:r>
            <a:endParaRPr kumimoji="1"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en-US" altLang="zh-CN" dirty="0" err="1"/>
              <a:t>clflushopt</a:t>
            </a:r>
            <a:r>
              <a:rPr kumimoji="1" lang="zh-CN" altLang="en-US" dirty="0"/>
              <a:t>：</a:t>
            </a:r>
            <a:r>
              <a:rPr kumimoji="1" lang="en-US" altLang="zh-CN" dirty="0" err="1"/>
              <a:t>clflush</a:t>
            </a:r>
            <a:r>
              <a:rPr kumimoji="1" lang="zh-CN" altLang="en-US" dirty="0"/>
              <a:t>的可并行版，需要用 </a:t>
            </a:r>
            <a:r>
              <a:rPr kumimoji="1" lang="en-US" altLang="zh-CN" dirty="0" err="1"/>
              <a:t>sfence</a:t>
            </a:r>
            <a:r>
              <a:rPr kumimoji="1" lang="zh-CN" altLang="en-US" dirty="0"/>
              <a:t>；性能比</a:t>
            </a:r>
            <a:r>
              <a:rPr kumimoji="1" lang="en-US" altLang="zh-CN" dirty="0" err="1"/>
              <a:t>clflush</a:t>
            </a:r>
            <a:r>
              <a:rPr kumimoji="1" lang="zh-CN" altLang="en-US" dirty="0"/>
              <a:t>好，特殊的</a:t>
            </a:r>
            <a:r>
              <a:rPr kumimoji="1" lang="en-US" altLang="zh-CN" dirty="0"/>
              <a:t>CPU</a:t>
            </a:r>
            <a:r>
              <a:rPr kumimoji="1" lang="zh-CN" altLang="en-US" dirty="0"/>
              <a:t>支持</a:t>
            </a:r>
            <a:endParaRPr kumimoji="1"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en-US" altLang="zh-CN" dirty="0" err="1"/>
              <a:t>clwb</a:t>
            </a:r>
            <a:r>
              <a:rPr kumimoji="1" lang="zh-CN" altLang="en-US" dirty="0"/>
              <a:t>：作用与</a:t>
            </a:r>
            <a:r>
              <a:rPr kumimoji="1" lang="en-US" altLang="zh-CN" dirty="0" err="1"/>
              <a:t>clflushopt</a:t>
            </a:r>
            <a:r>
              <a:rPr kumimoji="1" lang="zh-CN" altLang="en-US" dirty="0"/>
              <a:t>相同，需要用</a:t>
            </a:r>
            <a:r>
              <a:rPr kumimoji="1" lang="en-US" altLang="zh-CN" dirty="0" err="1"/>
              <a:t>sfence</a:t>
            </a:r>
            <a:r>
              <a:rPr kumimoji="1" lang="zh-CN" altLang="en-US" dirty="0"/>
              <a:t>，但不将</a:t>
            </a:r>
            <a:r>
              <a:rPr kumimoji="1" lang="en-US" altLang="zh-CN" dirty="0"/>
              <a:t>CPU </a:t>
            </a:r>
            <a:r>
              <a:rPr kumimoji="1" lang="en-US" altLang="zh-CN" dirty="0" err="1"/>
              <a:t>CacheLine</a:t>
            </a:r>
            <a:r>
              <a:rPr kumimoji="1" lang="zh-CN" altLang="en-US" dirty="0"/>
              <a:t>进行</a:t>
            </a:r>
            <a:r>
              <a:rPr kumimoji="1" lang="en-US" altLang="zh-CN" dirty="0"/>
              <a:t>invalid</a:t>
            </a:r>
            <a:r>
              <a:rPr kumimoji="1" lang="zh-CN" altLang="en-US" dirty="0"/>
              <a:t>，对于读的局部性较好。性能最佳，特殊</a:t>
            </a:r>
            <a:r>
              <a:rPr kumimoji="1" lang="en-US" altLang="zh-CN" dirty="0"/>
              <a:t>CPU</a:t>
            </a:r>
            <a:r>
              <a:rPr kumimoji="1" lang="zh-CN" altLang="en-US" dirty="0"/>
              <a:t>支持，建议使用</a:t>
            </a:r>
            <a:r>
              <a:rPr kumimoji="1" lang="en-US" altLang="zh-CN" dirty="0" err="1"/>
              <a:t>clwb</a:t>
            </a:r>
            <a:r>
              <a:rPr kumimoji="1" lang="zh-CN" altLang="en-US" dirty="0"/>
              <a:t>。</a:t>
            </a:r>
            <a:endParaRPr kumimoji="1" lang="en-US" altLang="zh-CN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5346458-565D-1F4E-9D49-013D7AD645FD}"/>
              </a:ext>
            </a:extLst>
          </p:cNvPr>
          <p:cNvSpPr txBox="1"/>
          <p:nvPr/>
        </p:nvSpPr>
        <p:spPr>
          <a:xfrm>
            <a:off x="993058" y="4954588"/>
            <a:ext cx="73643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" altLang="zh-CN" dirty="0"/>
              <a:t>NT</a:t>
            </a:r>
            <a:r>
              <a:rPr kumimoji="1" lang="zh-CN" altLang="en-US" dirty="0"/>
              <a:t>指令：不通过</a:t>
            </a:r>
            <a:r>
              <a:rPr kumimoji="1" lang="en" altLang="zh-CN" dirty="0"/>
              <a:t>CPU Cache</a:t>
            </a:r>
            <a:r>
              <a:rPr kumimoji="1" lang="zh-CN" altLang="en" dirty="0"/>
              <a:t>，</a:t>
            </a:r>
            <a:r>
              <a:rPr kumimoji="1" lang="zh-CN" altLang="en-US" dirty="0"/>
              <a:t>不用考虑</a:t>
            </a:r>
            <a:r>
              <a:rPr kumimoji="1" lang="en" altLang="zh-CN" dirty="0" err="1"/>
              <a:t>CacheLine</a:t>
            </a:r>
            <a:r>
              <a:rPr kumimoji="1" lang="zh-CN" altLang="en-US" dirty="0"/>
              <a:t>刷回。</a:t>
            </a:r>
            <a:endParaRPr kumimoji="1"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" altLang="zh-CN" dirty="0" err="1"/>
              <a:t>sfence</a:t>
            </a:r>
            <a:r>
              <a:rPr kumimoji="1" lang="zh-CN" altLang="en-US" dirty="0"/>
              <a:t>指令：保证在</a:t>
            </a:r>
            <a:r>
              <a:rPr kumimoji="1" lang="en" altLang="zh-CN" dirty="0" err="1"/>
              <a:t>sfence</a:t>
            </a:r>
            <a:r>
              <a:rPr kumimoji="1" lang="zh-CN" altLang="en-US" dirty="0"/>
              <a:t>指令前后的</a:t>
            </a:r>
            <a:r>
              <a:rPr kumimoji="1" lang="en" altLang="zh-CN" dirty="0"/>
              <a:t>store</a:t>
            </a:r>
            <a:r>
              <a:rPr kumimoji="1" lang="zh-CN" altLang="en-US" dirty="0"/>
              <a:t>指令不会交叉</a:t>
            </a:r>
            <a:endParaRPr kumimoji="1"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使用建议：根据性能来排序，</a:t>
            </a:r>
            <a:r>
              <a:rPr kumimoji="1" lang="en-US" altLang="zh-CN" dirty="0"/>
              <a:t>NT</a:t>
            </a:r>
            <a:r>
              <a:rPr kumimoji="1" lang="zh-CN" altLang="en-US" dirty="0"/>
              <a:t>指令</a:t>
            </a:r>
            <a:r>
              <a:rPr kumimoji="1" lang="en-US" altLang="zh-CN" dirty="0"/>
              <a:t>+</a:t>
            </a:r>
            <a:r>
              <a:rPr kumimoji="1" lang="en-US" altLang="zh-CN" dirty="0" err="1"/>
              <a:t>sfence</a:t>
            </a:r>
            <a:r>
              <a:rPr kumimoji="1" lang="en-US" altLang="zh-CN" dirty="0"/>
              <a:t> -&gt; </a:t>
            </a:r>
            <a:r>
              <a:rPr kumimoji="1" lang="en-US" altLang="zh-CN" dirty="0" err="1"/>
              <a:t>clwb+sfence</a:t>
            </a:r>
            <a:r>
              <a:rPr kumimoji="1" lang="en-US" altLang="zh-CN" dirty="0"/>
              <a:t> -&gt; </a:t>
            </a:r>
            <a:r>
              <a:rPr kumimoji="1" lang="en-US" altLang="zh-CN" dirty="0" err="1"/>
              <a:t>clflushopt+sfence</a:t>
            </a:r>
            <a:r>
              <a:rPr kumimoji="1" lang="en-US" altLang="zh-CN" dirty="0"/>
              <a:t> -&gt; </a:t>
            </a:r>
            <a:r>
              <a:rPr kumimoji="1" lang="en-US" altLang="zh-CN" dirty="0" err="1"/>
              <a:t>clflush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76536778"/>
      </p:ext>
    </p:extLst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>
              <a:latin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2733C78-B3ED-B741-A882-3714B0B7F9E9}"/>
              </a:ext>
            </a:extLst>
          </p:cNvPr>
          <p:cNvSpPr txBox="1"/>
          <p:nvPr/>
        </p:nvSpPr>
        <p:spPr>
          <a:xfrm>
            <a:off x="654257" y="589775"/>
            <a:ext cx="5946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原子可见性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5359CD7-D300-7344-93E4-082477A0FC0A}"/>
              </a:ext>
            </a:extLst>
          </p:cNvPr>
          <p:cNvSpPr txBox="1"/>
          <p:nvPr/>
        </p:nvSpPr>
        <p:spPr>
          <a:xfrm>
            <a:off x="495300" y="1790700"/>
            <a:ext cx="78994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dirty="0">
                <a:latin typeface="+mn-lt"/>
                <a:ea typeface="Microsoft YaHei" charset="-122"/>
                <a:cs typeface="Microsoft YaHei" charset="-122"/>
              </a:rPr>
              <a:t>为保证某段内存在某个时间仅被一个线程访问，需要注意的是原子可见性的问题</a:t>
            </a:r>
            <a:r>
              <a:rPr kumimoji="1" lang="en-US" altLang="zh-CN" sz="2000" dirty="0">
                <a:latin typeface="+mn-lt"/>
                <a:ea typeface="Microsoft YaHei" charset="-122"/>
                <a:cs typeface="Microsoft YaHei" charset="-122"/>
              </a:rPr>
              <a:t>(Atomicity</a:t>
            </a:r>
            <a:r>
              <a:rPr kumimoji="1" lang="zh-CN" altLang="en-US" sz="2000" dirty="0">
                <a:latin typeface="+mn-lt"/>
                <a:ea typeface="Microsoft YaHei" charset="-122"/>
                <a:cs typeface="Microsoft YaHei" charset="-122"/>
              </a:rPr>
              <a:t>或</a:t>
            </a:r>
            <a:r>
              <a:rPr kumimoji="1" lang="en-US" altLang="zh-CN" sz="2000" dirty="0">
                <a:latin typeface="+mn-lt"/>
                <a:ea typeface="Microsoft YaHei" charset="-122"/>
                <a:cs typeface="Microsoft YaHei" charset="-122"/>
              </a:rPr>
              <a:t>Visibility)</a:t>
            </a:r>
            <a:r>
              <a:rPr kumimoji="1" lang="zh-CN" altLang="en-US" sz="2000" dirty="0">
                <a:latin typeface="+mn-lt"/>
                <a:ea typeface="Microsoft YaHei" charset="-122"/>
                <a:cs typeface="Microsoft YaHei" charset="-122"/>
              </a:rPr>
              <a:t>，当前</a:t>
            </a:r>
            <a:r>
              <a:rPr kumimoji="1" lang="en-US" altLang="zh-CN" sz="2000" dirty="0">
                <a:latin typeface="+mn-lt"/>
                <a:ea typeface="Microsoft YaHei" charset="-122"/>
                <a:cs typeface="Microsoft YaHei" charset="-122"/>
              </a:rPr>
              <a:t>x86</a:t>
            </a:r>
            <a:r>
              <a:rPr kumimoji="1" lang="zh-CN" altLang="en-US" sz="2000" dirty="0">
                <a:latin typeface="+mn-lt"/>
                <a:ea typeface="Microsoft YaHei" charset="-122"/>
                <a:cs typeface="Microsoft YaHei" charset="-122"/>
              </a:rPr>
              <a:t>平台可以实现以下粒度的原子可见性：</a:t>
            </a:r>
            <a:endParaRPr kumimoji="1" lang="en-US" altLang="zh-CN" sz="2000" dirty="0">
              <a:latin typeface="+mn-lt"/>
              <a:ea typeface="Microsoft YaHei" charset="-122"/>
              <a:cs typeface="Microsoft YaHei" charset="-122"/>
            </a:endParaRPr>
          </a:p>
          <a:p>
            <a:endParaRPr kumimoji="1" lang="en-US" altLang="zh-CN" b="1" dirty="0">
              <a:latin typeface="+mn-lt"/>
              <a:ea typeface="Microsoft YaHei" charset="-122"/>
              <a:cs typeface="Microsoft YaHei" charset="-122"/>
            </a:endParaRPr>
          </a:p>
          <a:p>
            <a:pPr lvl="1"/>
            <a:r>
              <a:rPr kumimoji="1" lang="en-US" altLang="zh-CN" b="1" dirty="0">
                <a:latin typeface="+mn-lt"/>
                <a:ea typeface="Microsoft YaHei" charset="-122"/>
                <a:cs typeface="Microsoft YaHei" charset="-122"/>
              </a:rPr>
              <a:t>8 </a:t>
            </a:r>
            <a:r>
              <a:rPr kumimoji="1" lang="zh-CN" altLang="en-US" b="1" dirty="0">
                <a:latin typeface="+mn-lt"/>
                <a:ea typeface="Microsoft YaHei" charset="-122"/>
                <a:cs typeface="Microsoft YaHei" charset="-122"/>
              </a:rPr>
              <a:t>字节原子更新 </a:t>
            </a:r>
            <a:r>
              <a:rPr kumimoji="1" lang="en-US" altLang="zh-CN" dirty="0">
                <a:latin typeface="+mn-lt"/>
                <a:ea typeface="Microsoft YaHei" charset="-122"/>
                <a:cs typeface="Microsoft YaHei" charset="-122"/>
              </a:rPr>
              <a:t>64 </a:t>
            </a:r>
            <a:r>
              <a:rPr kumimoji="1" lang="zh-CN" altLang="en-US" dirty="0">
                <a:latin typeface="+mn-lt"/>
                <a:ea typeface="Microsoft YaHei" charset="-122"/>
                <a:cs typeface="Microsoft YaHei" charset="-122"/>
              </a:rPr>
              <a:t>位处理器的 </a:t>
            </a:r>
            <a:r>
              <a:rPr kumimoji="1" lang="en-US" altLang="zh-CN" dirty="0">
                <a:latin typeface="+mn-lt"/>
                <a:ea typeface="Microsoft YaHei" charset="-122"/>
                <a:cs typeface="Microsoft YaHei" charset="-122"/>
              </a:rPr>
              <a:t>store </a:t>
            </a:r>
            <a:r>
              <a:rPr kumimoji="1" lang="zh-CN" altLang="en-US" dirty="0">
                <a:latin typeface="+mn-lt"/>
                <a:ea typeface="Microsoft YaHei" charset="-122"/>
                <a:cs typeface="Microsoft YaHei" charset="-122"/>
              </a:rPr>
              <a:t>命令都是 </a:t>
            </a:r>
            <a:r>
              <a:rPr kumimoji="1" lang="en-US" altLang="zh-CN" dirty="0">
                <a:latin typeface="+mn-lt"/>
                <a:ea typeface="Microsoft YaHei" charset="-122"/>
                <a:cs typeface="Microsoft YaHei" charset="-122"/>
              </a:rPr>
              <a:t>8 </a:t>
            </a:r>
            <a:r>
              <a:rPr kumimoji="1" lang="zh-CN" altLang="en-US" dirty="0">
                <a:latin typeface="+mn-lt"/>
                <a:ea typeface="Microsoft YaHei" charset="-122"/>
                <a:cs typeface="Microsoft YaHei" charset="-122"/>
              </a:rPr>
              <a:t>字节粒度的原⼦更新。</a:t>
            </a:r>
            <a:endParaRPr kumimoji="1" lang="en-US" altLang="zh-CN" dirty="0">
              <a:latin typeface="+mn-lt"/>
              <a:ea typeface="Microsoft YaHei" charset="-122"/>
              <a:cs typeface="Microsoft YaHei" charset="-122"/>
            </a:endParaRPr>
          </a:p>
          <a:p>
            <a:pPr lvl="1"/>
            <a:endParaRPr kumimoji="1" lang="en-US" altLang="zh-CN" dirty="0">
              <a:latin typeface="+mn-lt"/>
              <a:ea typeface="Microsoft YaHei" charset="-122"/>
              <a:cs typeface="Microsoft YaHei" charset="-122"/>
            </a:endParaRPr>
          </a:p>
          <a:p>
            <a:pPr lvl="1"/>
            <a:r>
              <a:rPr kumimoji="1" lang="en-US" altLang="zh-CN" b="1" dirty="0">
                <a:latin typeface="+mn-lt"/>
                <a:ea typeface="Microsoft YaHei" charset="-122"/>
                <a:cs typeface="Microsoft YaHei" charset="-122"/>
              </a:rPr>
              <a:t>16 </a:t>
            </a:r>
            <a:r>
              <a:rPr kumimoji="1" lang="zh-CN" altLang="en-US" b="1" dirty="0">
                <a:latin typeface="+mn-lt"/>
                <a:ea typeface="Microsoft YaHei" charset="-122"/>
                <a:cs typeface="Microsoft YaHei" charset="-122"/>
              </a:rPr>
              <a:t>字节原子更新 </a:t>
            </a:r>
            <a:r>
              <a:rPr kumimoji="1" lang="zh-CN" altLang="en-US" dirty="0">
                <a:latin typeface="+mn-lt"/>
                <a:ea typeface="Microsoft YaHei" charset="-122"/>
                <a:cs typeface="Microsoft YaHei" charset="-122"/>
              </a:rPr>
              <a:t>现代处理器可以使⽤加 </a:t>
            </a:r>
            <a:r>
              <a:rPr kumimoji="1" lang="en-US" altLang="zh-CN" dirty="0">
                <a:latin typeface="+mn-lt"/>
                <a:ea typeface="Microsoft YaHei" charset="-122"/>
                <a:cs typeface="Microsoft YaHei" charset="-122"/>
              </a:rPr>
              <a:t>LOCK </a:t>
            </a:r>
            <a:r>
              <a:rPr kumimoji="1" lang="zh-CN" altLang="en-US" dirty="0">
                <a:latin typeface="+mn-lt"/>
                <a:ea typeface="Microsoft YaHei" charset="-122"/>
                <a:cs typeface="Microsoft YaHei" charset="-122"/>
              </a:rPr>
              <a:t>前缀的 </a:t>
            </a:r>
            <a:r>
              <a:rPr kumimoji="1" lang="en-US" altLang="zh-CN" dirty="0">
                <a:latin typeface="+mn-lt"/>
                <a:ea typeface="Microsoft YaHei" charset="-122"/>
                <a:cs typeface="Microsoft YaHei" charset="-122"/>
              </a:rPr>
              <a:t>cmpxchg16b </a:t>
            </a:r>
            <a:r>
              <a:rPr kumimoji="1" lang="zh-CN" altLang="en-US" dirty="0">
                <a:latin typeface="+mn-lt"/>
                <a:ea typeface="Microsoft YaHei" charset="-122"/>
                <a:cs typeface="Microsoft YaHei" charset="-122"/>
              </a:rPr>
              <a:t>指令实现 </a:t>
            </a:r>
            <a:r>
              <a:rPr kumimoji="1" lang="en-US" altLang="zh-CN" dirty="0">
                <a:latin typeface="+mn-lt"/>
                <a:ea typeface="Microsoft YaHei" charset="-122"/>
                <a:cs typeface="Microsoft YaHei" charset="-122"/>
              </a:rPr>
              <a:t>16 </a:t>
            </a:r>
            <a:r>
              <a:rPr kumimoji="1" lang="zh-CN" altLang="en-US" dirty="0">
                <a:latin typeface="+mn-lt"/>
                <a:ea typeface="Microsoft YaHei" charset="-122"/>
                <a:cs typeface="Microsoft YaHei" charset="-122"/>
              </a:rPr>
              <a:t>字节的原⼦写。</a:t>
            </a:r>
            <a:endParaRPr kumimoji="1" lang="en-US" altLang="zh-CN" dirty="0">
              <a:latin typeface="+mn-lt"/>
              <a:ea typeface="Microsoft YaHei" charset="-122"/>
              <a:cs typeface="Microsoft YaHei" charset="-122"/>
            </a:endParaRPr>
          </a:p>
          <a:p>
            <a:pPr lvl="1"/>
            <a:endParaRPr kumimoji="1" lang="en-US" altLang="zh-CN" dirty="0">
              <a:latin typeface="+mn-lt"/>
              <a:ea typeface="Microsoft YaHei" charset="-122"/>
              <a:cs typeface="Microsoft YaHei" charset="-122"/>
            </a:endParaRPr>
          </a:p>
          <a:p>
            <a:pPr lvl="1"/>
            <a:r>
              <a:rPr kumimoji="1" lang="en-US" altLang="zh-CN" b="1" dirty="0">
                <a:latin typeface="+mn-lt"/>
                <a:ea typeface="Microsoft YaHei" charset="-122"/>
                <a:cs typeface="Microsoft YaHei" charset="-122"/>
              </a:rPr>
              <a:t>64 </a:t>
            </a:r>
            <a:r>
              <a:rPr kumimoji="1" lang="zh-CN" altLang="en-US" b="1" dirty="0">
                <a:latin typeface="+mn-lt"/>
                <a:ea typeface="Microsoft YaHei" charset="-122"/>
                <a:cs typeface="Microsoft YaHei" charset="-122"/>
              </a:rPr>
              <a:t>字节 </a:t>
            </a:r>
            <a:r>
              <a:rPr kumimoji="1" lang="en-US" altLang="zh-CN" b="1" dirty="0">
                <a:latin typeface="+mn-lt"/>
                <a:ea typeface="Microsoft YaHei" charset="-122"/>
                <a:cs typeface="Microsoft YaHei" charset="-122"/>
              </a:rPr>
              <a:t>(</a:t>
            </a:r>
            <a:r>
              <a:rPr kumimoji="1" lang="en-US" altLang="zh-CN" b="1" dirty="0" err="1">
                <a:latin typeface="+mn-lt"/>
                <a:ea typeface="Microsoft YaHei" charset="-122"/>
                <a:cs typeface="Microsoft YaHei" charset="-122"/>
              </a:rPr>
              <a:t>cacheline</a:t>
            </a:r>
            <a:r>
              <a:rPr kumimoji="1" lang="en-US" altLang="zh-CN" b="1" dirty="0">
                <a:latin typeface="+mn-lt"/>
                <a:ea typeface="Microsoft YaHei" charset="-122"/>
                <a:cs typeface="Microsoft YaHei" charset="-122"/>
              </a:rPr>
              <a:t> </a:t>
            </a:r>
            <a:r>
              <a:rPr kumimoji="1" lang="zh-CN" altLang="en-US" b="1" dirty="0">
                <a:latin typeface="+mn-lt"/>
                <a:ea typeface="Microsoft YaHei" charset="-122"/>
                <a:cs typeface="Microsoft YaHei" charset="-122"/>
              </a:rPr>
              <a:t>粒度</a:t>
            </a:r>
            <a:r>
              <a:rPr kumimoji="1" lang="en-US" altLang="zh-CN" b="1" dirty="0">
                <a:latin typeface="+mn-lt"/>
                <a:ea typeface="Microsoft YaHei" charset="-122"/>
                <a:cs typeface="Microsoft YaHei" charset="-122"/>
              </a:rPr>
              <a:t>) </a:t>
            </a:r>
            <a:r>
              <a:rPr kumimoji="1" lang="zh-CN" altLang="en-US" b="1" dirty="0">
                <a:latin typeface="+mn-lt"/>
                <a:ea typeface="Microsoft YaHei" charset="-122"/>
                <a:cs typeface="Microsoft YaHei" charset="-122"/>
              </a:rPr>
              <a:t>原子更新 </a:t>
            </a:r>
            <a:r>
              <a:rPr kumimoji="1" lang="zh-CN" altLang="en-US" dirty="0">
                <a:latin typeface="+mn-lt"/>
                <a:ea typeface="Microsoft YaHei" charset="-122"/>
                <a:cs typeface="Microsoft YaHei" charset="-122"/>
              </a:rPr>
              <a:t>利⽤硬件事务型内存 </a:t>
            </a:r>
            <a:r>
              <a:rPr kumimoji="1" lang="en-US" altLang="zh-CN" dirty="0">
                <a:latin typeface="+mn-lt"/>
                <a:ea typeface="Microsoft YaHei" charset="-122"/>
                <a:cs typeface="Microsoft YaHei" charset="-122"/>
              </a:rPr>
              <a:t>(hardware transactional memory, HTM) </a:t>
            </a:r>
            <a:r>
              <a:rPr kumimoji="1" lang="zh-CN" altLang="en-US" dirty="0">
                <a:latin typeface="+mn-lt"/>
                <a:ea typeface="Microsoft YaHei" charset="-122"/>
                <a:cs typeface="Microsoft YaHei" charset="-122"/>
              </a:rPr>
              <a:t>可以在事务内保证可以保证某个 </a:t>
            </a:r>
            <a:r>
              <a:rPr kumimoji="1" lang="en-US" altLang="zh-CN" dirty="0" err="1">
                <a:latin typeface="+mn-lt"/>
                <a:ea typeface="Microsoft YaHei" charset="-122"/>
                <a:cs typeface="Microsoft YaHei" charset="-122"/>
              </a:rPr>
              <a:t>cacheline</a:t>
            </a:r>
            <a:r>
              <a:rPr kumimoji="1" lang="en-US" altLang="zh-CN" dirty="0">
                <a:latin typeface="+mn-lt"/>
                <a:ea typeface="Microsoft YaHei" charset="-122"/>
                <a:cs typeface="Microsoft YaHei" charset="-122"/>
              </a:rPr>
              <a:t> </a:t>
            </a:r>
            <a:r>
              <a:rPr kumimoji="1" lang="zh-CN" altLang="en-US" dirty="0">
                <a:latin typeface="+mn-lt"/>
                <a:ea typeface="Microsoft YaHei" charset="-122"/>
                <a:cs typeface="Microsoft YaHei" charset="-122"/>
              </a:rPr>
              <a:t>的所有数据 不被刷⼊内存。</a:t>
            </a:r>
            <a:endParaRPr kumimoji="1" lang="en-US" altLang="zh-CN" dirty="0">
              <a:latin typeface="+mn-lt"/>
              <a:ea typeface="Microsoft YaHei" charset="-122"/>
              <a:cs typeface="Microsoft YaHei" charset="-122"/>
            </a:endParaRPr>
          </a:p>
          <a:p>
            <a:pPr lvl="1"/>
            <a:r>
              <a:rPr kumimoji="1" lang="en-US" altLang="zh-CN" sz="1400" dirty="0">
                <a:latin typeface="+mn-lt"/>
                <a:ea typeface="Microsoft YaHei" charset="-122"/>
                <a:cs typeface="Microsoft YaHei" charset="-122"/>
              </a:rPr>
              <a:t>(</a:t>
            </a:r>
            <a:r>
              <a:rPr kumimoji="1" lang="zh-CN" altLang="en-US" sz="1400" dirty="0">
                <a:latin typeface="+mn-lt"/>
                <a:ea typeface="Microsoft YaHei" charset="-122"/>
                <a:cs typeface="Microsoft YaHei" charset="-122"/>
              </a:rPr>
              <a:t>要原⼦地更新某个 </a:t>
            </a:r>
            <a:r>
              <a:rPr kumimoji="1" lang="en-US" altLang="zh-CN" sz="1400" dirty="0" err="1">
                <a:latin typeface="+mn-lt"/>
                <a:ea typeface="Microsoft YaHei" charset="-122"/>
                <a:cs typeface="Microsoft YaHei" charset="-122"/>
              </a:rPr>
              <a:t>cacheline</a:t>
            </a:r>
            <a:r>
              <a:rPr kumimoji="1" lang="zh-CN" altLang="en-US" sz="1400" dirty="0">
                <a:latin typeface="+mn-lt"/>
                <a:ea typeface="Microsoft YaHei" charset="-122"/>
                <a:cs typeface="Microsoft YaHei" charset="-122"/>
              </a:rPr>
              <a:t>，⾸先⽤ </a:t>
            </a:r>
            <a:r>
              <a:rPr kumimoji="1" lang="en-US" altLang="zh-CN" sz="1400" dirty="0">
                <a:latin typeface="+mn-lt"/>
                <a:ea typeface="Microsoft YaHei" charset="-122"/>
                <a:cs typeface="Microsoft YaHei" charset="-122"/>
              </a:rPr>
              <a:t>XBEGIN </a:t>
            </a:r>
            <a:r>
              <a:rPr kumimoji="1" lang="zh-CN" altLang="en-US" sz="1400" dirty="0">
                <a:latin typeface="+mn-lt"/>
                <a:ea typeface="Microsoft YaHei" charset="-122"/>
                <a:cs typeface="Microsoft YaHei" charset="-122"/>
              </a:rPr>
              <a:t>开始⼀个 </a:t>
            </a:r>
            <a:r>
              <a:rPr kumimoji="1" lang="en-US" altLang="zh-CN" sz="1400" dirty="0">
                <a:latin typeface="+mn-lt"/>
                <a:ea typeface="Microsoft YaHei" charset="-122"/>
                <a:cs typeface="Microsoft YaHei" charset="-122"/>
              </a:rPr>
              <a:t>RTM </a:t>
            </a:r>
            <a:r>
              <a:rPr kumimoji="1" lang="zh-CN" altLang="en-US" sz="1400" dirty="0">
                <a:latin typeface="+mn-lt"/>
                <a:ea typeface="Microsoft YaHei" charset="-122"/>
                <a:cs typeface="Microsoft YaHei" charset="-122"/>
              </a:rPr>
              <a:t>事务，然后在是事务内对⽬标 </a:t>
            </a:r>
            <a:r>
              <a:rPr kumimoji="1" lang="en-US" altLang="zh-CN" sz="1400" dirty="0" err="1">
                <a:latin typeface="+mn-lt"/>
                <a:ea typeface="Microsoft YaHei" charset="-122"/>
                <a:cs typeface="Microsoft YaHei" charset="-122"/>
              </a:rPr>
              <a:t>cacheline</a:t>
            </a:r>
            <a:r>
              <a:rPr kumimoji="1" lang="en-US" altLang="zh-CN" sz="1400" dirty="0">
                <a:latin typeface="+mn-lt"/>
                <a:ea typeface="Microsoft YaHei" charset="-122"/>
                <a:cs typeface="Microsoft YaHei" charset="-122"/>
              </a:rPr>
              <a:t> </a:t>
            </a:r>
            <a:r>
              <a:rPr kumimoji="1" lang="zh-CN" altLang="en-US" sz="1400" dirty="0">
                <a:latin typeface="+mn-lt"/>
                <a:ea typeface="Microsoft YaHei" charset="-122"/>
                <a:cs typeface="Microsoft YaHei" charset="-122"/>
              </a:rPr>
              <a:t>进⾏所需的修改，最后写 </a:t>
            </a:r>
            <a:r>
              <a:rPr kumimoji="1" lang="en-US" altLang="zh-CN" sz="1400" dirty="0">
                <a:latin typeface="+mn-lt"/>
                <a:ea typeface="Microsoft YaHei" charset="-122"/>
                <a:cs typeface="Microsoft YaHei" charset="-122"/>
              </a:rPr>
              <a:t>XEND </a:t>
            </a:r>
            <a:r>
              <a:rPr kumimoji="1" lang="zh-CN" altLang="en-US" sz="1400" dirty="0">
                <a:latin typeface="+mn-lt"/>
                <a:ea typeface="Microsoft YaHei" charset="-122"/>
                <a:cs typeface="Microsoft YaHei" charset="-122"/>
              </a:rPr>
              <a:t>结束这个 事务。在事务完成后，再进⾏ </a:t>
            </a:r>
            <a:r>
              <a:rPr kumimoji="1" lang="en-US" altLang="zh-CN" sz="1400" dirty="0" err="1">
                <a:latin typeface="+mn-lt"/>
                <a:ea typeface="Microsoft YaHei" charset="-122"/>
                <a:cs typeface="Microsoft YaHei" charset="-122"/>
              </a:rPr>
              <a:t>clflush</a:t>
            </a:r>
            <a:r>
              <a:rPr kumimoji="1" lang="en-US" altLang="zh-CN" sz="1400" dirty="0">
                <a:latin typeface="+mn-lt"/>
                <a:ea typeface="Microsoft YaHei" charset="-122"/>
                <a:cs typeface="Microsoft YaHei" charset="-122"/>
              </a:rPr>
              <a:t> </a:t>
            </a:r>
            <a:r>
              <a:rPr kumimoji="1" lang="zh-CN" altLang="en-US" sz="1400" dirty="0">
                <a:latin typeface="+mn-lt"/>
                <a:ea typeface="Microsoft YaHei" charset="-122"/>
                <a:cs typeface="Microsoft YaHei" charset="-122"/>
              </a:rPr>
              <a:t>等命令，保证被修 改过的 </a:t>
            </a:r>
            <a:r>
              <a:rPr kumimoji="1" lang="en-US" altLang="zh-CN" sz="1400" dirty="0" err="1">
                <a:latin typeface="+mn-lt"/>
                <a:ea typeface="Microsoft YaHei" charset="-122"/>
                <a:cs typeface="Microsoft YaHei" charset="-122"/>
              </a:rPr>
              <a:t>cacheline</a:t>
            </a:r>
            <a:r>
              <a:rPr kumimoji="1" lang="en-US" altLang="zh-CN" sz="1400" dirty="0">
                <a:latin typeface="+mn-lt"/>
                <a:ea typeface="Microsoft YaHei" charset="-122"/>
                <a:cs typeface="Microsoft YaHei" charset="-122"/>
              </a:rPr>
              <a:t> </a:t>
            </a:r>
            <a:r>
              <a:rPr kumimoji="1" lang="zh-CN" altLang="en-US" sz="1400" dirty="0">
                <a:latin typeface="+mn-lt"/>
                <a:ea typeface="Microsoft YaHei" charset="-122"/>
                <a:cs typeface="Microsoft YaHei" charset="-122"/>
              </a:rPr>
              <a:t>就被原⼦地写回 </a:t>
            </a:r>
            <a:r>
              <a:rPr kumimoji="1" lang="en-US" altLang="zh-CN" sz="1400" dirty="0">
                <a:latin typeface="+mn-lt"/>
                <a:ea typeface="Microsoft YaHei" charset="-122"/>
                <a:cs typeface="Microsoft YaHei" charset="-122"/>
              </a:rPr>
              <a:t>PM</a:t>
            </a:r>
            <a:r>
              <a:rPr kumimoji="1" lang="zh-CN" altLang="en-US" sz="1400" dirty="0">
                <a:latin typeface="+mn-lt"/>
                <a:ea typeface="Microsoft YaHei" charset="-122"/>
                <a:cs typeface="Microsoft YaHei" charset="-122"/>
              </a:rPr>
              <a:t>。</a:t>
            </a:r>
            <a:r>
              <a:rPr kumimoji="1" lang="en-US" altLang="zh-CN" sz="1400" dirty="0">
                <a:latin typeface="+mn-lt"/>
                <a:ea typeface="Microsoft YaHei" charset="-122"/>
                <a:cs typeface="Microsoft YaHei" charset="-122"/>
              </a:rPr>
              <a:t>)</a:t>
            </a:r>
            <a:endParaRPr kumimoji="1" lang="en-US" altLang="zh-CN" dirty="0">
              <a:latin typeface="+mn-lt"/>
              <a:ea typeface="Microsoft YaHei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78009499"/>
      </p:ext>
    </p:extLst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>
              <a:latin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2733C78-B3ED-B741-A882-3714B0B7F9E9}"/>
              </a:ext>
            </a:extLst>
          </p:cNvPr>
          <p:cNvSpPr txBox="1"/>
          <p:nvPr/>
        </p:nvSpPr>
        <p:spPr>
          <a:xfrm>
            <a:off x="654257" y="589775"/>
            <a:ext cx="5946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崩溃一致性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D246F65-6E29-7A47-876F-EC405050DC76}"/>
              </a:ext>
            </a:extLst>
          </p:cNvPr>
          <p:cNvSpPr txBox="1"/>
          <p:nvPr/>
        </p:nvSpPr>
        <p:spPr>
          <a:xfrm>
            <a:off x="546100" y="1663700"/>
            <a:ext cx="789940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>
                <a:ea typeface="Microsoft YaHei" charset="-122"/>
                <a:cs typeface="Microsoft YaHei" charset="-122"/>
              </a:rPr>
              <a:t>存储系统的崩溃一致性：</a:t>
            </a:r>
            <a:endParaRPr kumimoji="1" lang="en-US" altLang="zh-CN" sz="2400" dirty="0">
              <a:ea typeface="Microsoft YaHei" charset="-122"/>
              <a:cs typeface="Microsoft YaHei" charset="-122"/>
            </a:endParaRPr>
          </a:p>
          <a:p>
            <a:pPr lvl="1"/>
            <a:r>
              <a:rPr kumimoji="1" lang="zh-CN" altLang="en-US" dirty="0">
                <a:ea typeface="Microsoft YaHei" charset="-122"/>
                <a:cs typeface="Microsoft YaHei" charset="-122"/>
              </a:rPr>
              <a:t>崩溃原子性</a:t>
            </a:r>
            <a:r>
              <a:rPr kumimoji="1" lang="en-US" altLang="zh-CN" dirty="0">
                <a:ea typeface="Microsoft YaHei" charset="-122"/>
                <a:cs typeface="Microsoft YaHei" charset="-122"/>
              </a:rPr>
              <a:t>(Failure</a:t>
            </a:r>
            <a:r>
              <a:rPr kumimoji="1" lang="zh-CN" altLang="en-US" dirty="0"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dirty="0">
                <a:ea typeface="Microsoft YaHei" charset="-122"/>
                <a:cs typeface="Microsoft YaHei" charset="-122"/>
              </a:rPr>
              <a:t>Atomicity)</a:t>
            </a:r>
            <a:r>
              <a:rPr kumimoji="1" lang="zh-CN" altLang="en-US" dirty="0">
                <a:ea typeface="Microsoft YaHei" charset="-122"/>
                <a:cs typeface="Microsoft YaHei" charset="-122"/>
              </a:rPr>
              <a:t>问题，又可以称为</a:t>
            </a:r>
            <a:r>
              <a:rPr kumimoji="1" lang="zh-CN" altLang="en-US" dirty="0">
                <a:latin typeface="+mn-lt"/>
                <a:ea typeface="Microsoft YaHei" charset="-122"/>
                <a:cs typeface="Microsoft YaHei" charset="-122"/>
              </a:rPr>
              <a:t>崩溃一致性</a:t>
            </a:r>
            <a:r>
              <a:rPr kumimoji="1" lang="en-US" altLang="zh-CN" dirty="0">
                <a:latin typeface="+mn-lt"/>
                <a:ea typeface="Microsoft YaHei" charset="-122"/>
                <a:cs typeface="Microsoft YaHei" charset="-122"/>
              </a:rPr>
              <a:t>(Crash</a:t>
            </a:r>
            <a:r>
              <a:rPr kumimoji="1" lang="zh-CN" altLang="en-US" dirty="0">
                <a:latin typeface="+mn-lt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dirty="0">
                <a:latin typeface="+mn-lt"/>
                <a:ea typeface="Microsoft YaHei" charset="-122"/>
                <a:cs typeface="Microsoft YaHei" charset="-122"/>
              </a:rPr>
              <a:t>Consistency)</a:t>
            </a:r>
            <a:r>
              <a:rPr kumimoji="1" lang="zh-CN" altLang="en-US" dirty="0">
                <a:latin typeface="+mn-lt"/>
                <a:ea typeface="Microsoft YaHei" charset="-122"/>
                <a:cs typeface="Microsoft YaHei" charset="-122"/>
              </a:rPr>
              <a:t>问题。此问题是在设计存储系统中一定会遇到的问题。</a:t>
            </a:r>
            <a:endParaRPr kumimoji="1" lang="en-US" altLang="zh-CN" dirty="0">
              <a:latin typeface="+mn-lt"/>
              <a:ea typeface="Microsoft YaHei" charset="-122"/>
              <a:cs typeface="Microsoft YaHei" charset="-122"/>
            </a:endParaRPr>
          </a:p>
          <a:p>
            <a:pPr lvl="1"/>
            <a:r>
              <a:rPr kumimoji="1" lang="en-US" altLang="zh-CN" sz="1400" dirty="0">
                <a:latin typeface="+mn-lt"/>
                <a:ea typeface="Microsoft YaHei" charset="-122"/>
                <a:cs typeface="Microsoft YaHei" charset="-122"/>
              </a:rPr>
              <a:t>(</a:t>
            </a:r>
            <a:r>
              <a:rPr kumimoji="1" lang="zh-CN" altLang="en-US" sz="1400" dirty="0">
                <a:latin typeface="+mn-lt"/>
                <a:ea typeface="Microsoft YaHei" charset="-122"/>
                <a:cs typeface="Microsoft YaHei" charset="-122"/>
              </a:rPr>
              <a:t>举个例子：</a:t>
            </a:r>
            <a:r>
              <a:rPr kumimoji="1" lang="en-US" altLang="zh-CN" sz="1400" dirty="0">
                <a:latin typeface="+mn-lt"/>
                <a:ea typeface="Microsoft YaHei" charset="-122"/>
                <a:cs typeface="Microsoft YaHei" charset="-122"/>
              </a:rPr>
              <a:t>Linux</a:t>
            </a:r>
            <a:r>
              <a:rPr kumimoji="1" lang="zh-CN" altLang="en-US" sz="1400" dirty="0">
                <a:latin typeface="+mn-lt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1400" dirty="0">
                <a:latin typeface="+mn-lt"/>
                <a:ea typeface="Microsoft YaHei" charset="-122"/>
                <a:cs typeface="Microsoft YaHei" charset="-122"/>
              </a:rPr>
              <a:t>ext4</a:t>
            </a:r>
            <a:r>
              <a:rPr kumimoji="1" lang="zh-CN" altLang="en-US" sz="1400" dirty="0">
                <a:latin typeface="+mn-lt"/>
                <a:ea typeface="Microsoft YaHei" charset="-122"/>
                <a:cs typeface="Microsoft YaHei" charset="-122"/>
              </a:rPr>
              <a:t>等文件系统称为日志文件系统，因为它靠日志机制来保证崩溃一致性</a:t>
            </a:r>
            <a:r>
              <a:rPr kumimoji="1" lang="en-US" altLang="zh-CN" sz="1400" dirty="0">
                <a:latin typeface="+mn-lt"/>
                <a:ea typeface="Microsoft YaHei" charset="-122"/>
                <a:cs typeface="Microsoft YaHei" charset="-122"/>
              </a:rPr>
              <a:t>)</a:t>
            </a:r>
          </a:p>
          <a:p>
            <a:endParaRPr kumimoji="1" lang="en-US" altLang="zh-CN" dirty="0">
              <a:latin typeface="+mn-lt"/>
              <a:ea typeface="Microsoft YaHei" charset="-122"/>
              <a:cs typeface="Microsoft YaHei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AC08EB8-AC62-114F-A6CF-6B1697CEE834}"/>
              </a:ext>
            </a:extLst>
          </p:cNvPr>
          <p:cNvSpPr/>
          <p:nvPr/>
        </p:nvSpPr>
        <p:spPr>
          <a:xfrm>
            <a:off x="520700" y="2839810"/>
            <a:ext cx="7188200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kumimoji="1" lang="en-US" altLang="zh-CN" dirty="0">
              <a:ea typeface="Microsoft YaHei" charset="-122"/>
              <a:cs typeface="Microsoft YaHei" charset="-122"/>
            </a:endParaRPr>
          </a:p>
          <a:p>
            <a:r>
              <a:rPr kumimoji="1" lang="zh-CN" altLang="en-US" sz="2400" dirty="0">
                <a:ea typeface="Microsoft YaHei" charset="-122"/>
                <a:cs typeface="Microsoft YaHei" charset="-122"/>
              </a:rPr>
              <a:t>基于</a:t>
            </a:r>
            <a:r>
              <a:rPr kumimoji="1" lang="en-US" altLang="zh-CN" sz="2400" dirty="0">
                <a:ea typeface="Microsoft YaHei" charset="-122"/>
                <a:cs typeface="Microsoft YaHei" charset="-122"/>
              </a:rPr>
              <a:t>PM</a:t>
            </a:r>
            <a:r>
              <a:rPr kumimoji="1" lang="zh-CN" altLang="en-US" sz="2400" dirty="0">
                <a:ea typeface="Microsoft YaHei" charset="-122"/>
                <a:cs typeface="Microsoft YaHei" charset="-122"/>
              </a:rPr>
              <a:t>的存储系统的崩溃一致性：</a:t>
            </a:r>
            <a:endParaRPr kumimoji="1" lang="en-US" altLang="zh-CN" dirty="0">
              <a:ea typeface="Microsoft YaHei" charset="-122"/>
              <a:cs typeface="Microsoft YaHei" charset="-122"/>
            </a:endParaRPr>
          </a:p>
          <a:p>
            <a:pPr lvl="1"/>
            <a:r>
              <a:rPr kumimoji="1" lang="en-US" altLang="zh-CN" dirty="0">
                <a:ea typeface="Microsoft YaHei" charset="-122"/>
                <a:cs typeface="Microsoft YaHei" charset="-122"/>
              </a:rPr>
              <a:t>x86</a:t>
            </a:r>
            <a:r>
              <a:rPr kumimoji="1" lang="zh-CN" altLang="en-US" dirty="0">
                <a:ea typeface="Microsoft YaHei" charset="-122"/>
                <a:cs typeface="Microsoft YaHei" charset="-122"/>
              </a:rPr>
              <a:t>平台的</a:t>
            </a:r>
            <a:r>
              <a:rPr kumimoji="1" lang="en-US" altLang="zh-CN" dirty="0">
                <a:ea typeface="Microsoft YaHei" charset="-122"/>
                <a:cs typeface="Microsoft YaHei" charset="-122"/>
              </a:rPr>
              <a:t>Failure</a:t>
            </a:r>
            <a:r>
              <a:rPr kumimoji="1" lang="zh-CN" altLang="en-US" dirty="0"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dirty="0">
                <a:ea typeface="Microsoft YaHei" charset="-122"/>
                <a:cs typeface="Microsoft YaHei" charset="-122"/>
              </a:rPr>
              <a:t>atomicity</a:t>
            </a:r>
            <a:r>
              <a:rPr kumimoji="1" lang="zh-CN" altLang="en-US" dirty="0">
                <a:ea typeface="Microsoft YaHei" charset="-122"/>
                <a:cs typeface="Microsoft YaHei" charset="-122"/>
              </a:rPr>
              <a:t> 仅为</a:t>
            </a:r>
            <a:r>
              <a:rPr kumimoji="1" lang="en-US" altLang="zh-CN" dirty="0">
                <a:ea typeface="Microsoft YaHei" charset="-122"/>
                <a:cs typeface="Microsoft YaHei" charset="-122"/>
              </a:rPr>
              <a:t>8</a:t>
            </a:r>
            <a:r>
              <a:rPr kumimoji="1" lang="zh-CN" altLang="en-US" dirty="0">
                <a:ea typeface="Microsoft YaHei" charset="-122"/>
                <a:cs typeface="Microsoft YaHei" charset="-122"/>
              </a:rPr>
              <a:t>字节。注意：虽然</a:t>
            </a:r>
            <a:r>
              <a:rPr kumimoji="1" lang="en-US" altLang="zh-CN" dirty="0">
                <a:ea typeface="Microsoft YaHei" charset="-122"/>
                <a:cs typeface="Microsoft YaHei" charset="-122"/>
              </a:rPr>
              <a:t>cache</a:t>
            </a:r>
            <a:r>
              <a:rPr kumimoji="1" lang="zh-CN" altLang="en-US" dirty="0">
                <a:ea typeface="Microsoft YaHei" charset="-122"/>
                <a:cs typeface="Microsoft YaHei" charset="-122"/>
              </a:rPr>
              <a:t>以</a:t>
            </a:r>
            <a:r>
              <a:rPr kumimoji="1" lang="en-US" altLang="zh-CN" dirty="0">
                <a:ea typeface="Microsoft YaHei" charset="-122"/>
                <a:cs typeface="Microsoft YaHei" charset="-122"/>
              </a:rPr>
              <a:t>64</a:t>
            </a:r>
            <a:r>
              <a:rPr kumimoji="1" lang="zh-CN" altLang="en-US" dirty="0">
                <a:ea typeface="Microsoft YaHei" charset="-122"/>
                <a:cs typeface="Microsoft YaHei" charset="-122"/>
              </a:rPr>
              <a:t>字节的</a:t>
            </a:r>
            <a:r>
              <a:rPr kumimoji="1" lang="en-US" altLang="zh-CN" dirty="0" err="1">
                <a:ea typeface="Microsoft YaHei" charset="-122"/>
                <a:cs typeface="Microsoft YaHei" charset="-122"/>
              </a:rPr>
              <a:t>cacheline</a:t>
            </a:r>
            <a:r>
              <a:rPr kumimoji="1" lang="zh-CN" altLang="en-US" dirty="0">
                <a:ea typeface="Microsoft YaHei" charset="-122"/>
                <a:cs typeface="Microsoft YaHei" charset="-122"/>
              </a:rPr>
              <a:t>大小为粒度进行</a:t>
            </a:r>
            <a:r>
              <a:rPr kumimoji="1" lang="en-US" altLang="zh-CN" dirty="0">
                <a:ea typeface="Microsoft YaHei" charset="-122"/>
                <a:cs typeface="Microsoft YaHei" charset="-122"/>
              </a:rPr>
              <a:t>cache</a:t>
            </a:r>
            <a:r>
              <a:rPr kumimoji="1" lang="zh-CN" altLang="en-US" dirty="0">
                <a:ea typeface="Microsoft YaHei" charset="-122"/>
                <a:cs typeface="Microsoft YaHei" charset="-122"/>
              </a:rPr>
              <a:t>到内存的数据传输，但硬件上仍然分</a:t>
            </a:r>
            <a:r>
              <a:rPr kumimoji="1" lang="en-US" altLang="zh-CN" dirty="0">
                <a:ea typeface="Microsoft YaHei" charset="-122"/>
                <a:cs typeface="Microsoft YaHei" charset="-122"/>
              </a:rPr>
              <a:t>8</a:t>
            </a:r>
            <a:r>
              <a:rPr kumimoji="1" lang="zh-CN" altLang="en-US" dirty="0">
                <a:ea typeface="Microsoft YaHei" charset="-122"/>
                <a:cs typeface="Microsoft YaHei" charset="-122"/>
              </a:rPr>
              <a:t>次</a:t>
            </a:r>
            <a:r>
              <a:rPr kumimoji="1" lang="en-US" altLang="zh-CN" dirty="0">
                <a:ea typeface="Microsoft YaHei" charset="-122"/>
                <a:cs typeface="Microsoft YaHei" charset="-122"/>
              </a:rPr>
              <a:t>(</a:t>
            </a:r>
            <a:r>
              <a:rPr kumimoji="1" lang="zh-CN" altLang="en-US" dirty="0">
                <a:ea typeface="Microsoft YaHei" charset="-122"/>
                <a:cs typeface="Microsoft YaHei" charset="-122"/>
              </a:rPr>
              <a:t>每次</a:t>
            </a:r>
            <a:r>
              <a:rPr kumimoji="1" lang="en-US" altLang="zh-CN" dirty="0">
                <a:ea typeface="Microsoft YaHei" charset="-122"/>
                <a:cs typeface="Microsoft YaHei" charset="-122"/>
              </a:rPr>
              <a:t>8</a:t>
            </a:r>
            <a:r>
              <a:rPr kumimoji="1" lang="zh-CN" altLang="en-US" dirty="0">
                <a:ea typeface="Microsoft YaHei" charset="-122"/>
                <a:cs typeface="Microsoft YaHei" charset="-122"/>
              </a:rPr>
              <a:t>字节</a:t>
            </a:r>
            <a:r>
              <a:rPr kumimoji="1" lang="en-US" altLang="zh-CN" dirty="0">
                <a:ea typeface="Microsoft YaHei" charset="-122"/>
                <a:cs typeface="Microsoft YaHei" charset="-122"/>
              </a:rPr>
              <a:t>)</a:t>
            </a:r>
            <a:r>
              <a:rPr kumimoji="1" lang="zh-CN" altLang="en-US" dirty="0">
                <a:ea typeface="Microsoft YaHei" charset="-122"/>
                <a:cs typeface="Microsoft YaHei" charset="-122"/>
              </a:rPr>
              <a:t>进行传输，所以即使是同一</a:t>
            </a:r>
            <a:r>
              <a:rPr kumimoji="1" lang="en-US" altLang="zh-CN" dirty="0" err="1">
                <a:ea typeface="Microsoft YaHei" charset="-122"/>
                <a:cs typeface="Microsoft YaHei" charset="-122"/>
              </a:rPr>
              <a:t>cacheline</a:t>
            </a:r>
            <a:r>
              <a:rPr kumimoji="1" lang="zh-CN" altLang="en-US" dirty="0">
                <a:ea typeface="Microsoft YaHei" charset="-122"/>
                <a:cs typeface="Microsoft YaHei" charset="-122"/>
              </a:rPr>
              <a:t>，也会被系统崩溃或断电打断。</a:t>
            </a:r>
            <a:endParaRPr kumimoji="1" lang="en-US" altLang="zh-CN" dirty="0">
              <a:ea typeface="Microsoft YaHei" charset="-122"/>
              <a:cs typeface="Microsoft YaHei" charset="-122"/>
            </a:endParaRPr>
          </a:p>
          <a:p>
            <a:pPr lvl="1"/>
            <a:endParaRPr kumimoji="1" lang="en-US" altLang="zh-CN" dirty="0">
              <a:ea typeface="Microsoft YaHei" charset="-122"/>
              <a:cs typeface="Microsoft YaHei" charset="-122"/>
            </a:endParaRPr>
          </a:p>
          <a:p>
            <a:pPr lvl="1"/>
            <a:r>
              <a:rPr kumimoji="1" lang="zh-CN" altLang="en-US" dirty="0">
                <a:ea typeface="Microsoft YaHei" charset="-122"/>
                <a:cs typeface="Microsoft YaHei" charset="-122"/>
              </a:rPr>
              <a:t>因此，任何大于</a:t>
            </a:r>
            <a:r>
              <a:rPr kumimoji="1" lang="en-US" altLang="zh-CN" dirty="0">
                <a:ea typeface="Microsoft YaHei" charset="-122"/>
                <a:cs typeface="Microsoft YaHei" charset="-122"/>
              </a:rPr>
              <a:t>8</a:t>
            </a:r>
            <a:r>
              <a:rPr kumimoji="1" lang="zh-CN" altLang="en-US" dirty="0">
                <a:ea typeface="Microsoft YaHei" charset="-122"/>
                <a:cs typeface="Microsoft YaHei" charset="-122"/>
              </a:rPr>
              <a:t>字节的持久化操作，都要用额外的崩溃一致性机制保证整个存储一系统的一致性。</a:t>
            </a:r>
            <a:endParaRPr kumimoji="1" lang="en-US" altLang="zh-CN" dirty="0">
              <a:ea typeface="Microsoft YaHei" charset="-122"/>
              <a:cs typeface="Microsoft YaHei" charset="-122"/>
            </a:endParaRPr>
          </a:p>
          <a:p>
            <a:pPr lvl="1"/>
            <a:endParaRPr kumimoji="1" lang="en-US" altLang="zh-CN" dirty="0">
              <a:ea typeface="Microsoft YaHei" charset="-122"/>
              <a:cs typeface="Microsoft YaHei" charset="-122"/>
            </a:endParaRPr>
          </a:p>
          <a:p>
            <a:pPr lvl="1"/>
            <a:r>
              <a:rPr kumimoji="1" lang="zh-CN" altLang="en-US" dirty="0">
                <a:ea typeface="Microsoft YaHei" charset="-122"/>
                <a:cs typeface="Microsoft YaHei" charset="-122"/>
              </a:rPr>
              <a:t>常用的方法有顺序写、日志、日志结构等方法。</a:t>
            </a:r>
            <a:endParaRPr kumimoji="1" lang="en-US" altLang="zh-CN" dirty="0">
              <a:ea typeface="Microsoft YaHei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5134945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>
              <a:latin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2733C78-B3ED-B741-A882-3714B0B7F9E9}"/>
              </a:ext>
            </a:extLst>
          </p:cNvPr>
          <p:cNvSpPr txBox="1"/>
          <p:nvPr/>
        </p:nvSpPr>
        <p:spPr>
          <a:xfrm>
            <a:off x="654257" y="589775"/>
            <a:ext cx="5946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基于</a:t>
            </a:r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PM</a:t>
            </a:r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的研究：数据结构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B8D77D6-567A-6D42-BC9F-9E6905CD30D2}"/>
              </a:ext>
            </a:extLst>
          </p:cNvPr>
          <p:cNvSpPr txBox="1"/>
          <p:nvPr/>
        </p:nvSpPr>
        <p:spPr>
          <a:xfrm>
            <a:off x="1150373" y="1602658"/>
            <a:ext cx="779698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持久化数据结构的挑战：</a:t>
            </a:r>
            <a:endParaRPr kumimoji="1"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如何提供低开销的一致性保障？</a:t>
            </a:r>
            <a:endParaRPr kumimoji="1"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有的数据结构对延迟敏感， </a:t>
            </a:r>
            <a:r>
              <a:rPr kumimoji="1" lang="en-US" altLang="zh-CN" dirty="0"/>
              <a:t>NVM</a:t>
            </a:r>
            <a:r>
              <a:rPr kumimoji="1" lang="zh-CN" altLang="en-US" dirty="0"/>
              <a:t>延迟高于</a:t>
            </a:r>
            <a:r>
              <a:rPr kumimoji="1" lang="en-US" altLang="zh-CN" dirty="0"/>
              <a:t>DRAM</a:t>
            </a:r>
            <a:r>
              <a:rPr kumimoji="1" lang="zh-CN" altLang="en-US" dirty="0"/>
              <a:t>，如何保证其性能？</a:t>
            </a:r>
            <a:endParaRPr kumimoji="1"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如何应对</a:t>
            </a:r>
            <a:r>
              <a:rPr kumimoji="1" lang="en-US" altLang="zh-CN" dirty="0"/>
              <a:t>NVM</a:t>
            </a:r>
            <a:r>
              <a:rPr kumimoji="1" lang="zh-CN" altLang="en-US" dirty="0"/>
              <a:t>较差（学界假设</a:t>
            </a:r>
            <a:r>
              <a:rPr kumimoji="1" lang="en-US" altLang="zh-CN" dirty="0"/>
              <a:t>NVM</a:t>
            </a:r>
            <a:r>
              <a:rPr kumimoji="1" lang="zh-CN" altLang="en-US" dirty="0"/>
              <a:t>写延迟是</a:t>
            </a:r>
            <a:r>
              <a:rPr kumimoji="1" lang="en-US" altLang="zh-CN" dirty="0"/>
              <a:t>DRAM</a:t>
            </a:r>
            <a:r>
              <a:rPr kumimoji="1" lang="zh-CN" altLang="en-US" dirty="0"/>
              <a:t>的</a:t>
            </a:r>
            <a:r>
              <a:rPr kumimoji="1" lang="en-US" altLang="zh-CN" dirty="0"/>
              <a:t>4~8</a:t>
            </a:r>
            <a:r>
              <a:rPr kumimoji="1" lang="zh-CN" altLang="en-US" dirty="0"/>
              <a:t>倍，但实测来看， 应用层感知到的</a:t>
            </a:r>
            <a:r>
              <a:rPr kumimoji="1" lang="en-US" altLang="zh-CN" dirty="0"/>
              <a:t>NVM </a:t>
            </a:r>
            <a:r>
              <a:rPr kumimoji="1" lang="zh-CN" altLang="en-US" dirty="0"/>
              <a:t>写延迟与</a:t>
            </a:r>
            <a:r>
              <a:rPr kumimoji="1" lang="en-US" altLang="zh-CN" dirty="0"/>
              <a:t>DRAM</a:t>
            </a:r>
            <a:r>
              <a:rPr kumimoji="1" lang="zh-CN" altLang="en-US" dirty="0"/>
              <a:t>相近）的写性能？</a:t>
            </a:r>
            <a:endParaRPr kumimoji="1"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如何减少</a:t>
            </a:r>
            <a:r>
              <a:rPr kumimoji="1" lang="en-US" altLang="zh-CN" dirty="0"/>
              <a:t>NVM</a:t>
            </a:r>
            <a:r>
              <a:rPr kumimoji="1" lang="zh-CN" altLang="en-US" dirty="0"/>
              <a:t>的写磨损问题？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C2FF5C0-7E55-9F48-A007-7495EBA081C5}"/>
              </a:ext>
            </a:extLst>
          </p:cNvPr>
          <p:cNvSpPr txBox="1"/>
          <p:nvPr/>
        </p:nvSpPr>
        <p:spPr>
          <a:xfrm>
            <a:off x="1150373" y="3501017"/>
            <a:ext cx="779698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常见解决方案：</a:t>
            </a:r>
            <a:endParaRPr kumimoji="1"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区分数据结构中的</a:t>
            </a:r>
            <a:r>
              <a:rPr kumimoji="1" lang="en-US" altLang="zh-CN" dirty="0"/>
              <a:t>primary data</a:t>
            </a:r>
            <a:r>
              <a:rPr kumimoji="1" lang="zh-CN" altLang="en-US" dirty="0"/>
              <a:t>和</a:t>
            </a:r>
            <a:r>
              <a:rPr kumimoji="1" lang="en-US" altLang="zh-CN" dirty="0"/>
              <a:t>non-primary data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保存现有数据结构，采用</a:t>
            </a:r>
            <a:r>
              <a:rPr kumimoji="1" lang="en-US" altLang="zh-CN" dirty="0"/>
              <a:t>log</a:t>
            </a:r>
            <a:r>
              <a:rPr kumimoji="1" lang="zh-CN" altLang="en-US" dirty="0"/>
              <a:t>或事务保证各种操作的原子性</a:t>
            </a:r>
            <a:endParaRPr kumimoji="1"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对数据结构进行重新设计，进行</a:t>
            </a:r>
            <a:r>
              <a:rPr kumimoji="1" lang="en-US" altLang="zh-CN" dirty="0"/>
              <a:t>log-free</a:t>
            </a:r>
            <a:r>
              <a:rPr kumimoji="1" lang="zh-CN" altLang="en-US" dirty="0"/>
              <a:t>的一致性保障</a:t>
            </a:r>
            <a:endParaRPr kumimoji="1"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进行写操作的优化</a:t>
            </a:r>
          </a:p>
        </p:txBody>
      </p:sp>
    </p:spTree>
    <p:extLst>
      <p:ext uri="{BB962C8B-B14F-4D97-AF65-F5344CB8AC3E}">
        <p14:creationId xmlns:p14="http://schemas.microsoft.com/office/powerpoint/2010/main" val="3770798583"/>
      </p:ext>
    </p:extLst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>
              <a:latin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2733C78-B3ED-B741-A882-3714B0B7F9E9}"/>
              </a:ext>
            </a:extLst>
          </p:cNvPr>
          <p:cNvSpPr txBox="1"/>
          <p:nvPr/>
        </p:nvSpPr>
        <p:spPr>
          <a:xfrm>
            <a:off x="654257" y="589775"/>
            <a:ext cx="5946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基于</a:t>
            </a:r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PM</a:t>
            </a:r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的研究：数据结构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D79FF428-5AEF-5A47-AD9A-DC0155D4E0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9699976"/>
              </p:ext>
            </p:extLst>
          </p:nvPr>
        </p:nvGraphicFramePr>
        <p:xfrm>
          <a:off x="879987" y="1885745"/>
          <a:ext cx="7624917" cy="28402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0270">
                  <a:extLst>
                    <a:ext uri="{9D8B030D-6E8A-4147-A177-3AD203B41FA5}">
                      <a16:colId xmlns:a16="http://schemas.microsoft.com/office/drawing/2014/main" val="3923420964"/>
                    </a:ext>
                  </a:extLst>
                </a:gridCol>
                <a:gridCol w="2555201">
                  <a:extLst>
                    <a:ext uri="{9D8B030D-6E8A-4147-A177-3AD203B41FA5}">
                      <a16:colId xmlns:a16="http://schemas.microsoft.com/office/drawing/2014/main" val="2714436437"/>
                    </a:ext>
                  </a:extLst>
                </a:gridCol>
                <a:gridCol w="3549446">
                  <a:extLst>
                    <a:ext uri="{9D8B030D-6E8A-4147-A177-3AD203B41FA5}">
                      <a16:colId xmlns:a16="http://schemas.microsoft.com/office/drawing/2014/main" val="597781676"/>
                    </a:ext>
                  </a:extLst>
                </a:gridCol>
              </a:tblGrid>
              <a:tr h="552655">
                <a:tc>
                  <a:txBody>
                    <a:bodyPr/>
                    <a:lstStyle/>
                    <a:p>
                      <a:r>
                        <a:rPr lang="zh-CN" altLang="en-US" dirty="0"/>
                        <a:t>数据结构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论文简称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主要思想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2311044"/>
                  </a:ext>
                </a:extLst>
              </a:tr>
              <a:tr h="880471">
                <a:tc>
                  <a:txBody>
                    <a:bodyPr/>
                    <a:lstStyle/>
                    <a:p>
                      <a:r>
                        <a:rPr lang="en-US" altLang="zh-CN" dirty="0"/>
                        <a:t>B+</a:t>
                      </a:r>
                      <a:r>
                        <a:rPr lang="zh-CN" altLang="en-US" dirty="0"/>
                        <a:t>树结构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FP Tree</a:t>
                      </a:r>
                      <a:r>
                        <a:rPr lang="zh-CN" altLang="en-US" dirty="0"/>
                        <a:t>、</a:t>
                      </a:r>
                      <a:r>
                        <a:rPr lang="en-US" altLang="zh-CN" dirty="0"/>
                        <a:t>Fast Fair Tree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分离内存节点</a:t>
                      </a:r>
                      <a:r>
                        <a:rPr lang="en-US" altLang="zh-CN" dirty="0"/>
                        <a:t>(DRAM)</a:t>
                      </a:r>
                      <a:r>
                        <a:rPr lang="zh-CN" altLang="en-US" dirty="0"/>
                        <a:t>和叶子结点</a:t>
                      </a:r>
                      <a:r>
                        <a:rPr lang="en-US" altLang="zh-CN" dirty="0"/>
                        <a:t>(NVM)</a:t>
                      </a:r>
                      <a:r>
                        <a:rPr lang="zh-CN" altLang="en-US" dirty="0"/>
                        <a:t>，利用</a:t>
                      </a:r>
                      <a:r>
                        <a:rPr lang="en-US" altLang="zh-CN" dirty="0"/>
                        <a:t>B+</a:t>
                      </a:r>
                      <a:r>
                        <a:rPr lang="zh-CN" altLang="en-US" dirty="0"/>
                        <a:t>树的异常数据进行恢复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2549751"/>
                  </a:ext>
                </a:extLst>
              </a:tr>
              <a:tr h="686591">
                <a:tc>
                  <a:txBody>
                    <a:bodyPr/>
                    <a:lstStyle/>
                    <a:p>
                      <a:r>
                        <a:rPr lang="en-US" altLang="zh-CN" dirty="0"/>
                        <a:t>Radix Tree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WORT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讨论路径压缩和非路径压缩持久化</a:t>
                      </a:r>
                      <a:r>
                        <a:rPr lang="en-US" altLang="zh-CN" dirty="0"/>
                        <a:t>Radix Tree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2201479"/>
                  </a:ext>
                </a:extLst>
              </a:tr>
              <a:tr h="686591">
                <a:tc>
                  <a:txBody>
                    <a:bodyPr/>
                    <a:lstStyle/>
                    <a:p>
                      <a:r>
                        <a:rPr lang="en-US" altLang="zh-CN" dirty="0"/>
                        <a:t>Hash Table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Level Hash</a:t>
                      </a:r>
                      <a:r>
                        <a:rPr lang="zh-CN" altLang="en-US" dirty="0"/>
                        <a:t>、</a:t>
                      </a:r>
                      <a:r>
                        <a:rPr lang="en-US" altLang="zh-CN" dirty="0"/>
                        <a:t>CCEH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针对</a:t>
                      </a:r>
                      <a:r>
                        <a:rPr lang="en-US" altLang="zh-CN" dirty="0"/>
                        <a:t>hash table</a:t>
                      </a:r>
                      <a:r>
                        <a:rPr lang="zh-CN" altLang="en-US" dirty="0"/>
                        <a:t>装填因子低以及</a:t>
                      </a:r>
                      <a:r>
                        <a:rPr lang="en-US" altLang="zh-CN" dirty="0"/>
                        <a:t>resize</a:t>
                      </a:r>
                      <a:r>
                        <a:rPr lang="zh-CN" altLang="en-US" dirty="0"/>
                        <a:t>代价高的问题进行写优化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26047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5140305"/>
      </p:ext>
    </p:extLst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>
              <a:latin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2733C78-B3ED-B741-A882-3714B0B7F9E9}"/>
              </a:ext>
            </a:extLst>
          </p:cNvPr>
          <p:cNvSpPr txBox="1"/>
          <p:nvPr/>
        </p:nvSpPr>
        <p:spPr>
          <a:xfrm>
            <a:off x="654257" y="589775"/>
            <a:ext cx="5946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基于</a:t>
            </a:r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PM</a:t>
            </a:r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的研究：文件系统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2B31F7C-910B-774B-BDF1-4057BEBB5ED1}"/>
              </a:ext>
            </a:extLst>
          </p:cNvPr>
          <p:cNvSpPr/>
          <p:nvPr/>
        </p:nvSpPr>
        <p:spPr>
          <a:xfrm>
            <a:off x="1640140" y="1543353"/>
            <a:ext cx="698275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基于</a:t>
            </a:r>
            <a:r>
              <a:rPr kumimoji="1" lang="en-US" altLang="zh-CN" dirty="0"/>
              <a:t>PM</a:t>
            </a:r>
            <a:r>
              <a:rPr kumimoji="1" lang="zh-CN" altLang="en-US" dirty="0"/>
              <a:t>的文件系统研究的重点：</a:t>
            </a:r>
            <a:endParaRPr kumimoji="1"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en-US" altLang="zh-CN" dirty="0"/>
              <a:t>PM</a:t>
            </a:r>
            <a:r>
              <a:rPr kumimoji="1" lang="zh-CN" altLang="en-US" dirty="0"/>
              <a:t>访问速度与</a:t>
            </a:r>
            <a:r>
              <a:rPr kumimoji="1" lang="en-US" altLang="zh-CN" dirty="0"/>
              <a:t>DRAM</a:t>
            </a:r>
            <a:r>
              <a:rPr kumimoji="1" lang="zh-CN" altLang="en-US" dirty="0"/>
              <a:t>比肩，软件延迟尽可能少</a:t>
            </a:r>
            <a:endParaRPr kumimoji="1" lang="en-US" altLang="zh-CN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减少</a:t>
            </a:r>
            <a:r>
              <a:rPr kumimoji="1" lang="en-US" altLang="zh-CN" dirty="0"/>
              <a:t>I/O</a:t>
            </a:r>
            <a:r>
              <a:rPr kumimoji="1" lang="zh-CN" altLang="en-US" dirty="0"/>
              <a:t>访问栈以及文件系统元数据的访问；</a:t>
            </a:r>
            <a:endParaRPr kumimoji="1" lang="en-US" altLang="zh-CN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用户态文件系统，减少内核态的切换代价；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081078D-5567-F541-9C7C-C3C9108C946A}"/>
              </a:ext>
            </a:extLst>
          </p:cNvPr>
          <p:cNvSpPr/>
          <p:nvPr/>
        </p:nvSpPr>
        <p:spPr>
          <a:xfrm>
            <a:off x="2161250" y="2828835"/>
            <a:ext cx="698275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保证文件系统的崩溃一致性问题</a:t>
            </a:r>
            <a:endParaRPr kumimoji="1"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en-US" altLang="zh-CN" dirty="0"/>
              <a:t>Log Structure</a:t>
            </a:r>
            <a:r>
              <a:rPr kumimoji="1" lang="zh-CN" altLang="en-US" dirty="0"/>
              <a:t>文件系统</a:t>
            </a:r>
            <a:r>
              <a:rPr kumimoji="1" lang="en-US" altLang="zh-CN" dirty="0"/>
              <a:t>(</a:t>
            </a:r>
            <a:r>
              <a:rPr kumimoji="1" lang="zh-CN" altLang="en-US" dirty="0"/>
              <a:t>追加写结构</a:t>
            </a:r>
            <a:r>
              <a:rPr kumimoji="1" lang="en-US" altLang="zh-CN" dirty="0"/>
              <a:t>)</a:t>
            </a:r>
            <a:r>
              <a:rPr kumimoji="1" lang="zh-CN" altLang="en-US" dirty="0"/>
              <a:t>；</a:t>
            </a:r>
            <a:endParaRPr kumimoji="1"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崩溃一致性强弱与性能</a:t>
            </a:r>
            <a:r>
              <a:rPr kumimoji="1" lang="en-US" altLang="zh-CN" dirty="0"/>
              <a:t>tradeoff</a:t>
            </a:r>
            <a:r>
              <a:rPr kumimoji="1" lang="zh-CN" altLang="en-US" dirty="0"/>
              <a:t>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A83D8E8-7901-794F-B3D8-BB4C4EC2269A}"/>
              </a:ext>
            </a:extLst>
          </p:cNvPr>
          <p:cNvSpPr/>
          <p:nvPr/>
        </p:nvSpPr>
        <p:spPr>
          <a:xfrm>
            <a:off x="1640140" y="3837318"/>
            <a:ext cx="69827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论文：</a:t>
            </a:r>
            <a:r>
              <a:rPr kumimoji="1" lang="en-US" altLang="zh-CN" dirty="0"/>
              <a:t>NOVA</a:t>
            </a:r>
            <a:r>
              <a:rPr kumimoji="1" lang="zh-CN" altLang="en-US" dirty="0"/>
              <a:t>、</a:t>
            </a:r>
            <a:r>
              <a:rPr kumimoji="1" lang="en-US" altLang="zh-CN" dirty="0" err="1"/>
              <a:t>SplitFS</a:t>
            </a:r>
            <a:r>
              <a:rPr kumimoji="1" lang="zh-CN" altLang="en-US" dirty="0"/>
              <a:t>、</a:t>
            </a:r>
            <a:r>
              <a:rPr kumimoji="1" lang="en-US" altLang="zh-CN" dirty="0"/>
              <a:t>Octopus</a:t>
            </a:r>
            <a:r>
              <a:rPr kumimoji="1" lang="zh-CN" altLang="en-US" dirty="0"/>
              <a:t>、</a:t>
            </a:r>
            <a:r>
              <a:rPr kumimoji="1" lang="en-US" altLang="zh-CN" dirty="0"/>
              <a:t>PMFS</a:t>
            </a:r>
            <a:r>
              <a:rPr kumimoji="1" lang="zh-CN" altLang="en-US" dirty="0"/>
              <a:t>、</a:t>
            </a:r>
            <a:r>
              <a:rPr kumimoji="1" lang="en-US" altLang="zh-CN" dirty="0" err="1"/>
              <a:t>SplitFS</a:t>
            </a:r>
            <a:r>
              <a:rPr kumimoji="1" lang="zh-CN" altLang="en-US" dirty="0"/>
              <a:t>、</a:t>
            </a:r>
            <a:r>
              <a:rPr kumimoji="1" lang="en-US" altLang="zh-CN" dirty="0"/>
              <a:t>BPFS</a:t>
            </a:r>
            <a:r>
              <a:rPr kumimoji="1" lang="zh-CN" altLang="en-US" dirty="0"/>
              <a:t>、</a:t>
            </a:r>
            <a:r>
              <a:rPr kumimoji="1" lang="en-US" altLang="zh-CN" dirty="0"/>
              <a:t>Aerie</a:t>
            </a:r>
            <a:r>
              <a:rPr kumimoji="1" lang="zh-CN" altLang="en-US" dirty="0"/>
              <a:t>、</a:t>
            </a:r>
            <a:r>
              <a:rPr kumimoji="1" lang="en-US" altLang="zh-CN" dirty="0"/>
              <a:t>Strata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33313583"/>
      </p:ext>
    </p:extLst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>
              <a:latin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2733C78-B3ED-B741-A882-3714B0B7F9E9}"/>
              </a:ext>
            </a:extLst>
          </p:cNvPr>
          <p:cNvSpPr txBox="1"/>
          <p:nvPr/>
        </p:nvSpPr>
        <p:spPr>
          <a:xfrm>
            <a:off x="654257" y="589775"/>
            <a:ext cx="67396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Intel </a:t>
            </a:r>
            <a:r>
              <a:rPr kumimoji="1" lang="en-US" altLang="zh-CN" sz="2800" dirty="0" err="1">
                <a:latin typeface="Microsoft YaHei" charset="-122"/>
                <a:ea typeface="Microsoft YaHei" charset="-122"/>
                <a:cs typeface="Microsoft YaHei" charset="-122"/>
              </a:rPr>
              <a:t>Optane</a:t>
            </a:r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 DC Persistent Memory</a:t>
            </a:r>
            <a:endParaRPr kumimoji="1" lang="zh-CN" altLang="en-US" sz="28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FBD3936-83EC-9E48-B089-2E4AE557C6D9}"/>
              </a:ext>
            </a:extLst>
          </p:cNvPr>
          <p:cNvSpPr txBox="1"/>
          <p:nvPr/>
        </p:nvSpPr>
        <p:spPr>
          <a:xfrm>
            <a:off x="654257" y="1337188"/>
            <a:ext cx="11843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/>
              <a:t>简介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B43E973-D5DD-904E-96C1-AF811C105118}"/>
              </a:ext>
            </a:extLst>
          </p:cNvPr>
          <p:cNvSpPr txBox="1"/>
          <p:nvPr/>
        </p:nvSpPr>
        <p:spPr>
          <a:xfrm>
            <a:off x="867903" y="2084601"/>
            <a:ext cx="74081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Intel </a:t>
            </a:r>
            <a:r>
              <a:rPr kumimoji="1" lang="en-US" altLang="zh-CN" dirty="0" err="1"/>
              <a:t>Optane</a:t>
            </a:r>
            <a:r>
              <a:rPr kumimoji="1" lang="en-US" altLang="zh-CN" dirty="0"/>
              <a:t> DC Persistent Memory</a:t>
            </a:r>
            <a:r>
              <a:rPr kumimoji="1" lang="zh-CN" altLang="en-US" dirty="0"/>
              <a:t>是目前商业化的持久性内存设备，又称为</a:t>
            </a:r>
            <a:r>
              <a:rPr kumimoji="1" lang="en-US" altLang="zh-CN" dirty="0"/>
              <a:t>Apache Pass</a:t>
            </a:r>
            <a:endParaRPr kumimoji="1"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B0E6AB-BEAE-C645-88D5-BA0E2ADEA9DD}"/>
              </a:ext>
            </a:extLst>
          </p:cNvPr>
          <p:cNvSpPr txBox="1"/>
          <p:nvPr/>
        </p:nvSpPr>
        <p:spPr>
          <a:xfrm>
            <a:off x="654257" y="2955125"/>
            <a:ext cx="11843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/>
              <a:t>特性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1C1FA9A-5013-674A-8E59-1A147D569CBE}"/>
              </a:ext>
            </a:extLst>
          </p:cNvPr>
          <p:cNvSpPr txBox="1"/>
          <p:nvPr/>
        </p:nvSpPr>
        <p:spPr>
          <a:xfrm>
            <a:off x="1091380" y="3647768"/>
            <a:ext cx="644012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字节寻址</a:t>
            </a:r>
            <a:endParaRPr kumimoji="1"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持久化</a:t>
            </a:r>
            <a:endParaRPr kumimoji="1"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读带宽大概是是</a:t>
            </a:r>
            <a:r>
              <a:rPr kumimoji="1" lang="en-US" altLang="zh-CN" dirty="0"/>
              <a:t>DRAM</a:t>
            </a:r>
            <a:r>
              <a:rPr kumimoji="1" lang="zh-CN" altLang="en-US" dirty="0"/>
              <a:t>的</a:t>
            </a:r>
            <a:r>
              <a:rPr kumimoji="1" lang="en-US" altLang="zh-CN" dirty="0"/>
              <a:t>1/4</a:t>
            </a:r>
            <a:r>
              <a:rPr kumimoji="1" lang="zh-CN" altLang="en-US" dirty="0"/>
              <a:t>，读延迟大概是</a:t>
            </a:r>
            <a:r>
              <a:rPr kumimoji="1" lang="en-US" altLang="zh-CN" dirty="0"/>
              <a:t>DRAM</a:t>
            </a:r>
            <a:r>
              <a:rPr kumimoji="1" lang="zh-CN" altLang="en-US" dirty="0"/>
              <a:t>的</a:t>
            </a:r>
            <a:r>
              <a:rPr kumimoji="1" lang="en-US" altLang="zh-CN" dirty="0"/>
              <a:t>4</a:t>
            </a:r>
            <a:r>
              <a:rPr kumimoji="1" lang="zh-CN" altLang="en-US" dirty="0"/>
              <a:t>倍</a:t>
            </a:r>
            <a:endParaRPr kumimoji="1"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写带宽低于</a:t>
            </a:r>
            <a:r>
              <a:rPr kumimoji="1" lang="en-US" altLang="zh-CN" dirty="0"/>
              <a:t>DRAM</a:t>
            </a:r>
            <a:r>
              <a:rPr kumimoji="1" lang="zh-CN" altLang="en-US" dirty="0"/>
              <a:t>；写延迟高于</a:t>
            </a:r>
            <a:r>
              <a:rPr kumimoji="1" lang="en-US" altLang="zh-CN" dirty="0"/>
              <a:t>DRAM</a:t>
            </a:r>
            <a:r>
              <a:rPr kumimoji="1" lang="zh-CN" altLang="en-US" dirty="0"/>
              <a:t>，远低于</a:t>
            </a:r>
            <a:r>
              <a:rPr kumimoji="1" lang="en-US" altLang="zh-CN" dirty="0" err="1"/>
              <a:t>NVMe</a:t>
            </a:r>
            <a:r>
              <a:rPr kumimoji="1" lang="en-US" altLang="zh-CN" dirty="0"/>
              <a:t> SSD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性能有轻微的放大现象，</a:t>
            </a:r>
            <a:r>
              <a:rPr kumimoji="1" lang="en-US" altLang="zh-CN" dirty="0"/>
              <a:t>256</a:t>
            </a:r>
            <a:r>
              <a:rPr kumimoji="1" lang="zh-CN" altLang="en-US" dirty="0"/>
              <a:t>字节最优</a:t>
            </a:r>
          </a:p>
        </p:txBody>
      </p:sp>
    </p:spTree>
    <p:extLst>
      <p:ext uri="{BB962C8B-B14F-4D97-AF65-F5344CB8AC3E}">
        <p14:creationId xmlns:p14="http://schemas.microsoft.com/office/powerpoint/2010/main" val="546707662"/>
      </p:ext>
    </p:extLst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>
              <a:latin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2733C78-B3ED-B741-A882-3714B0B7F9E9}"/>
              </a:ext>
            </a:extLst>
          </p:cNvPr>
          <p:cNvSpPr txBox="1"/>
          <p:nvPr/>
        </p:nvSpPr>
        <p:spPr>
          <a:xfrm>
            <a:off x="654257" y="589775"/>
            <a:ext cx="67396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AEP</a:t>
            </a:r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的两种模式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AB5F27B-4D4B-F343-B3D7-394709323F12}"/>
              </a:ext>
            </a:extLst>
          </p:cNvPr>
          <p:cNvSpPr txBox="1"/>
          <p:nvPr/>
        </p:nvSpPr>
        <p:spPr>
          <a:xfrm>
            <a:off x="816077" y="1445342"/>
            <a:ext cx="805262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dirty="0"/>
              <a:t>Memory Mode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en-US" altLang="zh-CN" dirty="0"/>
              <a:t>DRAM</a:t>
            </a:r>
            <a:r>
              <a:rPr kumimoji="1" lang="zh-CN" altLang="en-US" dirty="0"/>
              <a:t>作为缓存，</a:t>
            </a:r>
            <a:r>
              <a:rPr kumimoji="1" lang="en-US" altLang="zh-CN" dirty="0"/>
              <a:t>AEP</a:t>
            </a:r>
            <a:r>
              <a:rPr kumimoji="1" lang="zh-CN" altLang="en-US" dirty="0"/>
              <a:t>作为实际存储；其缓存方案是最简单的</a:t>
            </a:r>
            <a:r>
              <a:rPr kumimoji="1" lang="en-US" altLang="zh-CN" dirty="0"/>
              <a:t>4</a:t>
            </a:r>
            <a:r>
              <a:rPr kumimoji="1" lang="zh-CN" altLang="en-US" dirty="0"/>
              <a:t>或者</a:t>
            </a:r>
            <a:r>
              <a:rPr kumimoji="1" lang="en-US" altLang="zh-CN" dirty="0"/>
              <a:t>8</a:t>
            </a:r>
            <a:r>
              <a:rPr kumimoji="1" lang="zh-CN" altLang="en-US" dirty="0"/>
              <a:t>个</a:t>
            </a:r>
            <a:r>
              <a:rPr kumimoji="1" lang="en-US" altLang="zh-CN" dirty="0"/>
              <a:t>AEP</a:t>
            </a:r>
            <a:r>
              <a:rPr kumimoji="1" lang="zh-CN" altLang="en-US" dirty="0"/>
              <a:t>页映射至</a:t>
            </a:r>
            <a:r>
              <a:rPr kumimoji="1" lang="en-US" altLang="zh-CN" dirty="0"/>
              <a:t>1</a:t>
            </a:r>
            <a:r>
              <a:rPr kumimoji="1" lang="zh-CN" altLang="en-US" dirty="0"/>
              <a:t>个</a:t>
            </a:r>
            <a:r>
              <a:rPr kumimoji="1" lang="en-US" altLang="zh-CN" dirty="0"/>
              <a:t>DRAM </a:t>
            </a:r>
            <a:r>
              <a:rPr kumimoji="1" lang="zh-CN" altLang="en-US" dirty="0"/>
              <a:t>页。</a:t>
            </a:r>
            <a:endParaRPr kumimoji="1"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一般</a:t>
            </a:r>
            <a:r>
              <a:rPr kumimoji="1" lang="en" altLang="zh-CN" dirty="0"/>
              <a:t>DRAM</a:t>
            </a:r>
            <a:r>
              <a:rPr kumimoji="1" lang="zh-CN" altLang="en-US" dirty="0"/>
              <a:t>和</a:t>
            </a:r>
            <a:r>
              <a:rPr kumimoji="1" lang="en" altLang="zh-CN" dirty="0"/>
              <a:t>AEP</a:t>
            </a:r>
            <a:r>
              <a:rPr kumimoji="1" lang="zh-CN" altLang="en-US" dirty="0"/>
              <a:t>的比例为</a:t>
            </a:r>
            <a:r>
              <a:rPr kumimoji="1" lang="en-US" altLang="zh-CN" dirty="0"/>
              <a:t>1:4</a:t>
            </a:r>
            <a:r>
              <a:rPr kumimoji="1" lang="zh-CN" altLang="en-US" dirty="0"/>
              <a:t>，</a:t>
            </a:r>
            <a:r>
              <a:rPr kumimoji="1" lang="en-US" altLang="zh-CN" dirty="0"/>
              <a:t>1:8</a:t>
            </a:r>
            <a:r>
              <a:rPr kumimoji="1" lang="zh-CN" altLang="en-US" dirty="0"/>
              <a:t>。</a:t>
            </a:r>
            <a:endParaRPr kumimoji="1"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优点：完全当做</a:t>
            </a:r>
            <a:r>
              <a:rPr kumimoji="1" lang="en-US" altLang="zh-CN" dirty="0"/>
              <a:t>DRAM</a:t>
            </a:r>
            <a:r>
              <a:rPr kumimoji="1" lang="zh-CN" altLang="en-US" dirty="0"/>
              <a:t>来使用，无需修改项目代码。</a:t>
            </a:r>
            <a:endParaRPr kumimoji="1"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性能表现：在占用内存较小的情况下，性能可以接近 </a:t>
            </a:r>
            <a:r>
              <a:rPr kumimoji="1" lang="en-US" altLang="zh-CN" dirty="0"/>
              <a:t>DRAM</a:t>
            </a:r>
            <a:r>
              <a:rPr kumimoji="1" lang="zh-CN" altLang="en-US" dirty="0"/>
              <a:t>；在内存占用率较高的情况，性能掉 到只有原来的</a:t>
            </a:r>
            <a:r>
              <a:rPr kumimoji="1" lang="en-US" altLang="zh-CN" dirty="0"/>
              <a:t>30%</a:t>
            </a:r>
            <a:r>
              <a:rPr kumimoji="1" lang="zh-CN" altLang="en-US" dirty="0"/>
              <a:t>～</a:t>
            </a:r>
            <a:r>
              <a:rPr kumimoji="1" lang="en-US" altLang="zh-CN" dirty="0"/>
              <a:t>20%</a:t>
            </a:r>
            <a:r>
              <a:rPr kumimoji="1" lang="zh-CN" altLang="en-US" dirty="0"/>
              <a:t>（高吞吐情况下）。</a:t>
            </a:r>
            <a:endParaRPr kumimoji="1" lang="en-US" altLang="zh-CN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4907958-D2A8-7D43-916D-A31621D6E03C}"/>
              </a:ext>
            </a:extLst>
          </p:cNvPr>
          <p:cNvSpPr txBox="1"/>
          <p:nvPr/>
        </p:nvSpPr>
        <p:spPr>
          <a:xfrm>
            <a:off x="816077" y="3809014"/>
            <a:ext cx="805262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dirty="0"/>
              <a:t>App Direct Mode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将</a:t>
            </a:r>
            <a:r>
              <a:rPr kumimoji="1" lang="en-US" altLang="zh-CN" dirty="0"/>
              <a:t>AEP</a:t>
            </a:r>
            <a:r>
              <a:rPr kumimoji="1" lang="zh-CN" altLang="en-US" dirty="0"/>
              <a:t>配置成字符设备或者块设备</a:t>
            </a:r>
            <a:endParaRPr kumimoji="1" lang="en-US" altLang="zh-CN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字符设备</a:t>
            </a:r>
            <a:r>
              <a:rPr kumimoji="1" lang="en-US" altLang="zh-CN" dirty="0"/>
              <a:t>/dev/dax0.0</a:t>
            </a:r>
            <a:r>
              <a:rPr kumimoji="1" lang="zh-CN" altLang="en-US" dirty="0"/>
              <a:t>，直接</a:t>
            </a:r>
            <a:r>
              <a:rPr kumimoji="1" lang="en-US" altLang="zh-CN" dirty="0" err="1"/>
              <a:t>mmap</a:t>
            </a:r>
            <a:endParaRPr kumimoji="1" lang="en-US" altLang="zh-CN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对于块设备</a:t>
            </a:r>
            <a:r>
              <a:rPr kumimoji="1" lang="en-US" altLang="zh-CN" dirty="0"/>
              <a:t>/dev/pmem0.1</a:t>
            </a:r>
            <a:r>
              <a:rPr kumimoji="1" lang="zh-CN" altLang="en-US" dirty="0"/>
              <a:t>，可刷文件系统并进行挂载，</a:t>
            </a:r>
            <a:r>
              <a:rPr kumimoji="1" lang="en-US" altLang="zh-CN" dirty="0"/>
              <a:t>ext4-dax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优点：可以根据自己的需求和 </a:t>
            </a:r>
            <a:r>
              <a:rPr kumimoji="1" lang="en-US" altLang="zh-CN" dirty="0"/>
              <a:t>DRAM</a:t>
            </a:r>
            <a:r>
              <a:rPr kumimoji="1" lang="zh-CN" altLang="en-US" dirty="0"/>
              <a:t>混合进行订制。</a:t>
            </a:r>
            <a:endParaRPr kumimoji="1"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性能表现：下面会进行具体介绍。</a:t>
            </a: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93956372"/>
      </p:ext>
    </p:extLst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>
              <a:latin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2733C78-B3ED-B741-A882-3714B0B7F9E9}"/>
              </a:ext>
            </a:extLst>
          </p:cNvPr>
          <p:cNvSpPr txBox="1"/>
          <p:nvPr/>
        </p:nvSpPr>
        <p:spPr>
          <a:xfrm>
            <a:off x="654257" y="589775"/>
            <a:ext cx="67396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DAX</a:t>
            </a:r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文件系统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5FBC1F3-4F0F-D147-AAD2-1B42B3D5B5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793" y="2012049"/>
            <a:ext cx="4573585" cy="3238377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C3E635A6-A679-DE41-BE65-1A2A48C66D7F}"/>
              </a:ext>
            </a:extLst>
          </p:cNvPr>
          <p:cNvSpPr txBox="1"/>
          <p:nvPr/>
        </p:nvSpPr>
        <p:spPr>
          <a:xfrm>
            <a:off x="4766655" y="1857989"/>
            <a:ext cx="437734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Ext4 DAX</a:t>
            </a:r>
          </a:p>
          <a:p>
            <a:r>
              <a:rPr kumimoji="1" lang="zh-CN" altLang="en-US" dirty="0"/>
              <a:t>特点：</a:t>
            </a:r>
            <a:r>
              <a:rPr kumimoji="1" lang="en-US" altLang="zh-CN" dirty="0"/>
              <a:t>bypass page cache</a:t>
            </a:r>
            <a:r>
              <a:rPr kumimoji="1" lang="zh-CN" altLang="en-US" dirty="0"/>
              <a:t>，</a:t>
            </a:r>
            <a:r>
              <a:rPr kumimoji="1" lang="en-US" altLang="zh-CN" dirty="0" err="1"/>
              <a:t>mmap</a:t>
            </a:r>
            <a:r>
              <a:rPr kumimoji="1" lang="en-US" altLang="zh-CN" dirty="0"/>
              <a:t>()</a:t>
            </a:r>
            <a:r>
              <a:rPr kumimoji="1" lang="zh-CN" altLang="en-US" dirty="0"/>
              <a:t>接口可以直接将存储设备直接映射到用户空间</a:t>
            </a:r>
            <a:endParaRPr kumimoji="1" lang="en-US" altLang="zh-CN" dirty="0"/>
          </a:p>
          <a:p>
            <a:r>
              <a:rPr kumimoji="1" lang="zh-CN" altLang="en-US" dirty="0"/>
              <a:t>优点：</a:t>
            </a:r>
            <a:endParaRPr kumimoji="1" lang="en-US" altLang="zh-CN" dirty="0"/>
          </a:p>
          <a:p>
            <a:r>
              <a:rPr kumimoji="1" lang="zh-CN" altLang="en-US" dirty="0"/>
              <a:t>（</a:t>
            </a:r>
            <a:r>
              <a:rPr kumimoji="1" lang="en-US" altLang="zh-CN" dirty="0"/>
              <a:t>1</a:t>
            </a:r>
            <a:r>
              <a:rPr kumimoji="1" lang="zh-CN" altLang="en-US" dirty="0"/>
              <a:t>）用户对于数据的读写访问无需进入内核态；</a:t>
            </a:r>
            <a:endParaRPr kumimoji="1" lang="en-US" altLang="zh-CN" dirty="0"/>
          </a:p>
          <a:p>
            <a:r>
              <a:rPr kumimoji="1" lang="zh-CN" altLang="en-US" dirty="0"/>
              <a:t>（</a:t>
            </a:r>
            <a:r>
              <a:rPr kumimoji="1" lang="en-US" altLang="zh-CN" dirty="0"/>
              <a:t>2</a:t>
            </a:r>
            <a:r>
              <a:rPr kumimoji="1" lang="zh-CN" altLang="en-US" dirty="0"/>
              <a:t>）并且减少了</a:t>
            </a:r>
            <a:r>
              <a:rPr kumimoji="1" lang="en-US" altLang="zh-CN" dirty="0"/>
              <a:t>page cache</a:t>
            </a:r>
            <a:r>
              <a:rPr kumimoji="1" lang="zh-CN" altLang="en-US" dirty="0"/>
              <a:t>的拷贝代价。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缺点：</a:t>
            </a:r>
            <a:endParaRPr kumimoji="1" lang="en-US" altLang="zh-CN" dirty="0"/>
          </a:p>
          <a:p>
            <a:r>
              <a:rPr kumimoji="1" lang="zh-CN" altLang="en-US" dirty="0"/>
              <a:t>（</a:t>
            </a:r>
            <a:r>
              <a:rPr kumimoji="1" lang="en-US" altLang="zh-CN" dirty="0"/>
              <a:t>1</a:t>
            </a:r>
            <a:r>
              <a:rPr kumimoji="1" lang="zh-CN" altLang="en-US" dirty="0"/>
              <a:t>）对于存储在文件系统中支持</a:t>
            </a:r>
            <a:r>
              <a:rPr kumimoji="1" lang="en-US" altLang="zh-CN" dirty="0"/>
              <a:t>DAX</a:t>
            </a:r>
            <a:r>
              <a:rPr kumimoji="1" lang="zh-CN" altLang="en-US" dirty="0"/>
              <a:t>的内核及其相关模块仍然要被拷贝进</a:t>
            </a:r>
            <a:r>
              <a:rPr kumimoji="1" lang="en-US" altLang="zh-CN" dirty="0"/>
              <a:t>RAM</a:t>
            </a:r>
            <a:r>
              <a:rPr kumimoji="1" lang="zh-CN" altLang="en-US" dirty="0"/>
              <a:t>；</a:t>
            </a:r>
            <a:endParaRPr kumimoji="1" lang="en-US" altLang="zh-CN" dirty="0"/>
          </a:p>
          <a:p>
            <a:r>
              <a:rPr kumimoji="1" lang="zh-CN" altLang="en-US" dirty="0"/>
              <a:t>（</a:t>
            </a:r>
            <a:r>
              <a:rPr kumimoji="1" lang="en-US" altLang="zh-CN" dirty="0"/>
              <a:t>2</a:t>
            </a:r>
            <a:r>
              <a:rPr kumimoji="1" lang="zh-CN" altLang="en-US" dirty="0"/>
              <a:t>）对于</a:t>
            </a:r>
            <a:r>
              <a:rPr kumimoji="1" lang="en-US" altLang="zh-CN" dirty="0"/>
              <a:t>ARM</a:t>
            </a:r>
            <a:r>
              <a:rPr kumimoji="1" lang="zh-CN" altLang="en-US" dirty="0"/>
              <a:t>、</a:t>
            </a:r>
            <a:r>
              <a:rPr kumimoji="1" lang="en-US" altLang="zh-CN" dirty="0"/>
              <a:t>MIPS</a:t>
            </a:r>
            <a:r>
              <a:rPr kumimoji="1" lang="zh-CN" altLang="en-US" dirty="0"/>
              <a:t>和</a:t>
            </a:r>
            <a:r>
              <a:rPr kumimoji="1" lang="en-US" altLang="zh-CN" dirty="0"/>
              <a:t>SPARC</a:t>
            </a:r>
            <a:r>
              <a:rPr kumimoji="1" lang="zh-CN" altLang="en-US" dirty="0"/>
              <a:t>这类有虚拟</a:t>
            </a:r>
            <a:r>
              <a:rPr kumimoji="1" lang="en-US" altLang="zh-CN" dirty="0" err="1"/>
              <a:t>mmaped</a:t>
            </a:r>
            <a:r>
              <a:rPr kumimoji="1" lang="en-US" altLang="zh-CN" dirty="0"/>
              <a:t> cache</a:t>
            </a:r>
            <a:r>
              <a:rPr kumimoji="1" lang="zh-CN" altLang="en-US" dirty="0"/>
              <a:t>的架构</a:t>
            </a:r>
            <a:r>
              <a:rPr kumimoji="1" lang="en-US" altLang="zh-CN" dirty="0"/>
              <a:t>DAX</a:t>
            </a:r>
            <a:r>
              <a:rPr kumimoji="1" lang="zh-CN" altLang="en-US" dirty="0"/>
              <a:t>无法工作；</a:t>
            </a:r>
            <a:endParaRPr kumimoji="1" lang="en-US" altLang="zh-CN" dirty="0"/>
          </a:p>
          <a:p>
            <a:r>
              <a:rPr kumimoji="1" lang="zh-CN" altLang="en-US" dirty="0"/>
              <a:t>（</a:t>
            </a:r>
            <a:r>
              <a:rPr kumimoji="1" lang="en-US" altLang="zh-CN" dirty="0"/>
              <a:t>3</a:t>
            </a:r>
            <a:r>
              <a:rPr kumimoji="1" lang="zh-CN" altLang="en-US" dirty="0"/>
              <a:t>）因为没有</a:t>
            </a:r>
            <a:r>
              <a:rPr kumimoji="1" lang="en-US" altLang="zh-CN" dirty="0"/>
              <a:t>struct page</a:t>
            </a:r>
            <a:r>
              <a:rPr kumimoji="1" lang="zh-CN" altLang="en-US" dirty="0"/>
              <a:t>的结构，对于</a:t>
            </a:r>
            <a:r>
              <a:rPr kumimoji="1" lang="en-US" altLang="zh-CN" dirty="0" err="1"/>
              <a:t>get_user_pages</a:t>
            </a:r>
            <a:r>
              <a:rPr kumimoji="1" lang="en-US" altLang="zh-CN" dirty="0"/>
              <a:t>()</a:t>
            </a:r>
            <a:r>
              <a:rPr kumimoji="1" lang="zh-CN" altLang="en-US" dirty="0"/>
              <a:t>等获取页表信息的函数无法工作</a:t>
            </a: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07860808"/>
      </p:ext>
    </p:extLst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>
              <a:latin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2733C78-B3ED-B741-A882-3714B0B7F9E9}"/>
              </a:ext>
            </a:extLst>
          </p:cNvPr>
          <p:cNvSpPr txBox="1"/>
          <p:nvPr/>
        </p:nvSpPr>
        <p:spPr>
          <a:xfrm>
            <a:off x="654257" y="589775"/>
            <a:ext cx="67396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PMDK</a:t>
            </a:r>
            <a:endParaRPr kumimoji="1" lang="zh-CN" altLang="en-US" sz="28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227CE99-C29D-354F-8E37-5043386AD643}"/>
              </a:ext>
            </a:extLst>
          </p:cNvPr>
          <p:cNvSpPr txBox="1"/>
          <p:nvPr/>
        </p:nvSpPr>
        <p:spPr>
          <a:xfrm>
            <a:off x="654257" y="1519881"/>
            <a:ext cx="75135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" altLang="zh-CN" dirty="0"/>
              <a:t>Persistent Memory Development Kit(PMDK)</a:t>
            </a:r>
            <a:r>
              <a:rPr kumimoji="1" lang="zh-CN" altLang="en-US" dirty="0"/>
              <a:t>是</a:t>
            </a:r>
            <a:r>
              <a:rPr kumimoji="1" lang="en" altLang="zh-CN" dirty="0"/>
              <a:t>Intel</a:t>
            </a:r>
            <a:r>
              <a:rPr kumimoji="1" lang="zh-CN" altLang="en-US" dirty="0"/>
              <a:t>开发维护的一套在持久化内存上进行开发的工具集</a:t>
            </a:r>
            <a:endParaRPr kumimoji="1"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集合各类库以及工具，以便捷开发人员管理和访问持久化内存设备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1DF0F75-69D5-6649-A276-622BA55273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886" y="2480284"/>
            <a:ext cx="8736227" cy="3869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555125"/>
      </p:ext>
    </p:extLst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>
              <a:latin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2733C78-B3ED-B741-A882-3714B0B7F9E9}"/>
              </a:ext>
            </a:extLst>
          </p:cNvPr>
          <p:cNvSpPr txBox="1"/>
          <p:nvPr/>
        </p:nvSpPr>
        <p:spPr>
          <a:xfrm>
            <a:off x="654257" y="589775"/>
            <a:ext cx="67396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PMDK</a:t>
            </a:r>
            <a:endParaRPr kumimoji="1" lang="zh-CN" altLang="en-US" sz="28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C71B3EE-6A03-754E-824B-F030F1485CE1}"/>
              </a:ext>
            </a:extLst>
          </p:cNvPr>
          <p:cNvSpPr txBox="1"/>
          <p:nvPr/>
        </p:nvSpPr>
        <p:spPr>
          <a:xfrm>
            <a:off x="902043" y="1507524"/>
            <a:ext cx="3323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dirty="0" err="1"/>
              <a:t>libpmem</a:t>
            </a:r>
            <a:endParaRPr kumimoji="1"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F0CF610-72F4-8A4C-9BF7-D8E3CED7A3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29" y="1963355"/>
            <a:ext cx="5104055" cy="369604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E99666D6-9B3F-DF46-989E-5AE4BE867E54}"/>
              </a:ext>
            </a:extLst>
          </p:cNvPr>
          <p:cNvSpPr txBox="1"/>
          <p:nvPr/>
        </p:nvSpPr>
        <p:spPr>
          <a:xfrm>
            <a:off x="5474043" y="2051222"/>
            <a:ext cx="32868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dirty="0" err="1"/>
              <a:t>libpmem</a:t>
            </a:r>
            <a:r>
              <a:rPr kumimoji="1" lang="zh-CN" altLang="en-US" dirty="0"/>
              <a:t>为操作</a:t>
            </a:r>
            <a:r>
              <a:rPr kumimoji="1" lang="en-US" altLang="zh-CN" dirty="0"/>
              <a:t>PM</a:t>
            </a:r>
            <a:r>
              <a:rPr kumimoji="1" lang="zh-CN" altLang="en-US" dirty="0"/>
              <a:t>的基础库</a:t>
            </a:r>
          </a:p>
        </p:txBody>
      </p:sp>
    </p:spTree>
    <p:extLst>
      <p:ext uri="{BB962C8B-B14F-4D97-AF65-F5344CB8AC3E}">
        <p14:creationId xmlns:p14="http://schemas.microsoft.com/office/powerpoint/2010/main" val="2441989234"/>
      </p:ext>
    </p:extLst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>
              <a:latin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2733C78-B3ED-B741-A882-3714B0B7F9E9}"/>
              </a:ext>
            </a:extLst>
          </p:cNvPr>
          <p:cNvSpPr txBox="1"/>
          <p:nvPr/>
        </p:nvSpPr>
        <p:spPr>
          <a:xfrm>
            <a:off x="654257" y="589775"/>
            <a:ext cx="67396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PMDK</a:t>
            </a:r>
            <a:endParaRPr kumimoji="1" lang="zh-CN" altLang="en-US" sz="28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C71B3EE-6A03-754E-824B-F030F1485CE1}"/>
              </a:ext>
            </a:extLst>
          </p:cNvPr>
          <p:cNvSpPr txBox="1"/>
          <p:nvPr/>
        </p:nvSpPr>
        <p:spPr>
          <a:xfrm>
            <a:off x="902043" y="1507524"/>
            <a:ext cx="3323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dirty="0" err="1"/>
              <a:t>libpmem</a:t>
            </a:r>
            <a:endParaRPr kumimoji="1"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3424BDD-4F80-0E45-A527-4FCB07998F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256" y="1976396"/>
            <a:ext cx="7451775" cy="4010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634261"/>
      </p:ext>
    </p:extLst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>
              <a:latin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2733C78-B3ED-B741-A882-3714B0B7F9E9}"/>
              </a:ext>
            </a:extLst>
          </p:cNvPr>
          <p:cNvSpPr txBox="1"/>
          <p:nvPr/>
        </p:nvSpPr>
        <p:spPr>
          <a:xfrm>
            <a:off x="654257" y="589775"/>
            <a:ext cx="67396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PMDK</a:t>
            </a:r>
            <a:endParaRPr kumimoji="1" lang="zh-CN" altLang="en-US" sz="28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C71B3EE-6A03-754E-824B-F030F1485CE1}"/>
              </a:ext>
            </a:extLst>
          </p:cNvPr>
          <p:cNvSpPr txBox="1"/>
          <p:nvPr/>
        </p:nvSpPr>
        <p:spPr>
          <a:xfrm>
            <a:off x="889686" y="1242666"/>
            <a:ext cx="3323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dirty="0" err="1"/>
              <a:t>libpmemobj</a:t>
            </a:r>
            <a:endParaRPr kumimoji="1"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30FC14C-1DCC-E74F-B878-1D3B641C3396}"/>
              </a:ext>
            </a:extLst>
          </p:cNvPr>
          <p:cNvSpPr txBox="1"/>
          <p:nvPr/>
        </p:nvSpPr>
        <p:spPr>
          <a:xfrm>
            <a:off x="654257" y="1746847"/>
            <a:ext cx="7735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申请</a:t>
            </a:r>
            <a:r>
              <a:rPr kumimoji="1" lang="en-US" altLang="zh-CN" dirty="0" err="1"/>
              <a:t>PMEMObj</a:t>
            </a:r>
            <a:r>
              <a:rPr kumimoji="1" lang="zh-CN" altLang="en-US" dirty="0"/>
              <a:t>对象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61A9128-C677-8941-8084-41F637781A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241" y="2245850"/>
            <a:ext cx="9020759" cy="2256312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0B2B626C-9E4A-644B-B66A-0DE113455E1D}"/>
              </a:ext>
            </a:extLst>
          </p:cNvPr>
          <p:cNvSpPr txBox="1"/>
          <p:nvPr/>
        </p:nvSpPr>
        <p:spPr>
          <a:xfrm>
            <a:off x="741406" y="4679869"/>
            <a:ext cx="6264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写操作有对应的写</a:t>
            </a:r>
            <a:r>
              <a:rPr kumimoji="1" lang="en-US" altLang="zh-CN" dirty="0"/>
              <a:t>Log</a:t>
            </a:r>
            <a:r>
              <a:rPr kumimoji="1" lang="zh-CN" altLang="en-US" dirty="0"/>
              <a:t>操作，一次写入相当于两次写入</a:t>
            </a:r>
          </a:p>
        </p:txBody>
      </p:sp>
    </p:spTree>
    <p:extLst>
      <p:ext uri="{BB962C8B-B14F-4D97-AF65-F5344CB8AC3E}">
        <p14:creationId xmlns:p14="http://schemas.microsoft.com/office/powerpoint/2010/main" val="3425668228"/>
      </p:ext>
    </p:extLst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>
              <a:latin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2733C78-B3ED-B741-A882-3714B0B7F9E9}"/>
              </a:ext>
            </a:extLst>
          </p:cNvPr>
          <p:cNvSpPr txBox="1"/>
          <p:nvPr/>
        </p:nvSpPr>
        <p:spPr>
          <a:xfrm>
            <a:off x="654257" y="589775"/>
            <a:ext cx="67396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PMDK</a:t>
            </a:r>
            <a:endParaRPr kumimoji="1" lang="zh-CN" altLang="en-US" sz="28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C71B3EE-6A03-754E-824B-F030F1485CE1}"/>
              </a:ext>
            </a:extLst>
          </p:cNvPr>
          <p:cNvSpPr txBox="1"/>
          <p:nvPr/>
        </p:nvSpPr>
        <p:spPr>
          <a:xfrm>
            <a:off x="889686" y="1242666"/>
            <a:ext cx="3323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dirty="0" err="1"/>
              <a:t>libpmemobj</a:t>
            </a:r>
            <a:endParaRPr kumimoji="1"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30FC14C-1DCC-E74F-B878-1D3B641C3396}"/>
              </a:ext>
            </a:extLst>
          </p:cNvPr>
          <p:cNvSpPr txBox="1"/>
          <p:nvPr/>
        </p:nvSpPr>
        <p:spPr>
          <a:xfrm>
            <a:off x="654257" y="1746847"/>
            <a:ext cx="7735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写入</a:t>
            </a:r>
            <a:r>
              <a:rPr kumimoji="1" lang="en-US" altLang="zh-CN" dirty="0" err="1"/>
              <a:t>PMEMObj</a:t>
            </a:r>
            <a:r>
              <a:rPr kumimoji="1" lang="zh-CN" altLang="en-US" dirty="0"/>
              <a:t>信息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DA75724-FFE5-0446-B48F-D761D4E24C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52294"/>
            <a:ext cx="9144000" cy="2209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221713"/>
      </p:ext>
    </p:extLst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>
              <a:latin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2733C78-B3ED-B741-A882-3714B0B7F9E9}"/>
              </a:ext>
            </a:extLst>
          </p:cNvPr>
          <p:cNvSpPr txBox="1"/>
          <p:nvPr/>
        </p:nvSpPr>
        <p:spPr>
          <a:xfrm>
            <a:off x="654257" y="589775"/>
            <a:ext cx="67396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AEP</a:t>
            </a:r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的性能表现（带宽）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D9F766E-A2AA-5C4B-AA4B-E085820B3ACF}"/>
              </a:ext>
            </a:extLst>
          </p:cNvPr>
          <p:cNvSpPr txBox="1"/>
          <p:nvPr/>
        </p:nvSpPr>
        <p:spPr>
          <a:xfrm>
            <a:off x="654257" y="1631092"/>
            <a:ext cx="724171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峰值单片读带宽：</a:t>
            </a:r>
            <a:r>
              <a:rPr kumimoji="1" lang="en-US" altLang="zh-CN" dirty="0"/>
              <a:t>6.5GB/s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达到峰值带宽的条件</a:t>
            </a:r>
            <a:endParaRPr kumimoji="1" lang="en-US" altLang="zh-CN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顺序读：（启用</a:t>
            </a:r>
            <a:r>
              <a:rPr kumimoji="1" lang="en-US" altLang="zh-CN" dirty="0"/>
              <a:t>CPU</a:t>
            </a:r>
            <a:r>
              <a:rPr kumimoji="1" lang="zh-CN" altLang="en-US" dirty="0"/>
              <a:t>预取 ）线程数大于</a:t>
            </a:r>
            <a:r>
              <a:rPr kumimoji="1" lang="en-US" altLang="zh-CN" dirty="0"/>
              <a:t>8</a:t>
            </a:r>
            <a:r>
              <a:rPr kumimoji="1" lang="zh-CN" altLang="en-US" dirty="0"/>
              <a:t>，读粒度大于</a:t>
            </a:r>
            <a:r>
              <a:rPr kumimoji="1" lang="en-US" altLang="zh-CN" dirty="0"/>
              <a:t>64Byte</a:t>
            </a:r>
            <a:r>
              <a:rPr kumimoji="1" lang="zh-CN" altLang="en-US" dirty="0"/>
              <a:t>。线程过多或粒度过大会引起 读带宽的小幅下降（</a:t>
            </a:r>
            <a:r>
              <a:rPr kumimoji="1" lang="en-US" altLang="zh-CN" dirty="0"/>
              <a:t>20%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随机读：（启用</a:t>
            </a:r>
            <a:r>
              <a:rPr kumimoji="1" lang="en-US" altLang="zh-CN" dirty="0"/>
              <a:t>CPU</a:t>
            </a:r>
            <a:r>
              <a:rPr kumimoji="1" lang="zh-CN" altLang="en-US" dirty="0"/>
              <a:t>预取）线程数大于</a:t>
            </a:r>
            <a:r>
              <a:rPr kumimoji="1" lang="en-US" altLang="zh-CN" dirty="0"/>
              <a:t>8</a:t>
            </a:r>
            <a:r>
              <a:rPr kumimoji="1" lang="zh-CN" altLang="en-US" dirty="0"/>
              <a:t>，读粒度大于</a:t>
            </a:r>
            <a:r>
              <a:rPr kumimoji="1" lang="en-US" altLang="zh-CN" dirty="0"/>
              <a:t>4KB</a:t>
            </a:r>
            <a:r>
              <a:rPr kumimoji="1" lang="zh-CN" altLang="en-US" dirty="0"/>
              <a:t>。线程过多或粒度过大会引起读宽的小幅下降（</a:t>
            </a:r>
            <a:r>
              <a:rPr kumimoji="1" lang="en-US" altLang="zh-CN" dirty="0"/>
              <a:t>20%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峰值单片写带宽：</a:t>
            </a:r>
            <a:r>
              <a:rPr kumimoji="1" lang="en-US" altLang="zh-CN" dirty="0"/>
              <a:t>2.0GB/s~2.2GB/s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达到峰值带宽的条件（关闭</a:t>
            </a:r>
            <a:r>
              <a:rPr kumimoji="1" lang="en-US" altLang="zh-CN" dirty="0"/>
              <a:t>CPU</a:t>
            </a:r>
            <a:r>
              <a:rPr kumimoji="1" lang="zh-CN" altLang="en-US" dirty="0"/>
              <a:t>预取，或使用</a:t>
            </a:r>
            <a:r>
              <a:rPr kumimoji="1" lang="en-US" altLang="zh-CN" dirty="0"/>
              <a:t>NT</a:t>
            </a:r>
            <a:r>
              <a:rPr kumimoji="1" lang="zh-CN" altLang="en-US" dirty="0"/>
              <a:t>指令）</a:t>
            </a:r>
            <a:endParaRPr kumimoji="1" lang="en-US" altLang="zh-CN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顺序写：线程数大于</a:t>
            </a:r>
            <a:r>
              <a:rPr kumimoji="1" lang="en-US" altLang="zh-CN" dirty="0"/>
              <a:t>4</a:t>
            </a:r>
            <a:r>
              <a:rPr kumimoji="1" lang="zh-CN" altLang="en-US" dirty="0"/>
              <a:t>小于</a:t>
            </a:r>
            <a:r>
              <a:rPr kumimoji="1" lang="en-US" altLang="zh-CN" dirty="0"/>
              <a:t>8</a:t>
            </a:r>
            <a:r>
              <a:rPr kumimoji="1" lang="zh-CN" altLang="en-US" dirty="0"/>
              <a:t>，写粒度大于</a:t>
            </a:r>
            <a:r>
              <a:rPr kumimoji="1" lang="en-US" altLang="zh-CN" dirty="0"/>
              <a:t>256Byte</a:t>
            </a:r>
            <a:r>
              <a:rPr kumimoji="1" lang="zh-CN" altLang="en-US" dirty="0"/>
              <a:t>。线程过多或粒度过大会引起写带宽下降 （</a:t>
            </a:r>
            <a:r>
              <a:rPr kumimoji="1" lang="en-US" altLang="zh-CN" dirty="0"/>
              <a:t>50%</a:t>
            </a:r>
            <a:r>
              <a:rPr kumimoji="1" lang="zh-CN" altLang="en-US" dirty="0"/>
              <a:t>）。</a:t>
            </a:r>
            <a:endParaRPr kumimoji="1" lang="en-US" altLang="zh-CN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随机写：同上。但写粒度 较大（大于</a:t>
            </a:r>
            <a:r>
              <a:rPr kumimoji="1" lang="en-US" altLang="zh-CN" dirty="0"/>
              <a:t>1KB</a:t>
            </a:r>
            <a:r>
              <a:rPr kumimoji="1" lang="zh-CN" altLang="en-US" dirty="0"/>
              <a:t>）时，应尽量控制写线程数小于等于</a:t>
            </a:r>
            <a:r>
              <a:rPr kumimoji="1" lang="en-US" altLang="zh-CN" dirty="0"/>
              <a:t>4</a:t>
            </a:r>
            <a:r>
              <a:rPr kumimoji="1" lang="zh-CN" altLang="en-US" dirty="0"/>
              <a:t>。</a:t>
            </a:r>
            <a:endParaRPr kumimoji="1"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推荐线程数：</a:t>
            </a:r>
            <a:endParaRPr kumimoji="1"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读：</a:t>
            </a:r>
            <a:r>
              <a:rPr kumimoji="1" lang="en-US" altLang="zh-CN" dirty="0"/>
              <a:t>16~20</a:t>
            </a:r>
            <a:r>
              <a:rPr kumimoji="1" lang="zh-CN" altLang="en-US" dirty="0"/>
              <a:t>线程</a:t>
            </a:r>
            <a:endParaRPr kumimoji="1"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写：</a:t>
            </a:r>
            <a:r>
              <a:rPr kumimoji="1" lang="en-US" altLang="zh-CN" dirty="0"/>
              <a:t>4</a:t>
            </a:r>
            <a:r>
              <a:rPr kumimoji="1" lang="zh-CN" altLang="en-US" dirty="0"/>
              <a:t>线程</a:t>
            </a: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583476698"/>
      </p:ext>
    </p:extLst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>
              <a:latin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2733C78-B3ED-B741-A882-3714B0B7F9E9}"/>
              </a:ext>
            </a:extLst>
          </p:cNvPr>
          <p:cNvSpPr txBox="1"/>
          <p:nvPr/>
        </p:nvSpPr>
        <p:spPr>
          <a:xfrm>
            <a:off x="654257" y="589775"/>
            <a:ext cx="67396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AEP</a:t>
            </a:r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的性能表现（延迟）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3781256-81C1-7944-B430-9931599A9450}"/>
              </a:ext>
            </a:extLst>
          </p:cNvPr>
          <p:cNvSpPr txBox="1"/>
          <p:nvPr/>
        </p:nvSpPr>
        <p:spPr>
          <a:xfrm>
            <a:off x="654257" y="1631092"/>
            <a:ext cx="724171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读延迟：</a:t>
            </a:r>
            <a:endParaRPr kumimoji="1"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小粒度（</a:t>
            </a:r>
            <a:r>
              <a:rPr kumimoji="1" lang="en-US" altLang="zh-CN" dirty="0"/>
              <a:t>512Byte</a:t>
            </a:r>
            <a:r>
              <a:rPr kumimoji="1" lang="zh-CN" altLang="en-US" dirty="0"/>
              <a:t>以内）少线程（</a:t>
            </a:r>
            <a:r>
              <a:rPr kumimoji="1" lang="en-US" altLang="zh-CN" dirty="0"/>
              <a:t>16~20</a:t>
            </a:r>
            <a:r>
              <a:rPr kumimoji="1" lang="zh-CN" altLang="en-US" dirty="0"/>
              <a:t>线程以内）情况下可低至 </a:t>
            </a:r>
            <a:r>
              <a:rPr kumimoji="1" lang="en-US" altLang="zh-CN" dirty="0"/>
              <a:t>150ns~200ns</a:t>
            </a:r>
            <a:r>
              <a:rPr kumimoji="1" lang="zh-CN" altLang="en-US" dirty="0"/>
              <a:t>。</a:t>
            </a:r>
            <a:endParaRPr kumimoji="1"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大粒度（</a:t>
            </a:r>
            <a:r>
              <a:rPr kumimoji="1" lang="en-US" altLang="zh-CN" dirty="0"/>
              <a:t>1KB</a:t>
            </a:r>
            <a:r>
              <a:rPr kumimoji="1" lang="zh-CN" altLang="en-US" dirty="0"/>
              <a:t>以上）多线程（</a:t>
            </a:r>
            <a:r>
              <a:rPr kumimoji="1" lang="en-US" altLang="zh-CN" dirty="0"/>
              <a:t>20</a:t>
            </a:r>
            <a:r>
              <a:rPr kumimoji="1" lang="zh-CN" altLang="en-US" dirty="0"/>
              <a:t>线程以上）情况下，延迟可升高至</a:t>
            </a:r>
            <a:r>
              <a:rPr kumimoji="1" lang="en-US" altLang="zh-CN" dirty="0"/>
              <a:t>us</a:t>
            </a:r>
            <a:r>
              <a:rPr kumimoji="1" lang="zh-CN" altLang="en-US" dirty="0"/>
              <a:t>级。</a:t>
            </a:r>
            <a:endParaRPr kumimoji="1"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写延迟：</a:t>
            </a:r>
            <a:endParaRPr kumimoji="1"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小粒度（</a:t>
            </a:r>
            <a:r>
              <a:rPr kumimoji="1" lang="en-US" altLang="zh-CN" dirty="0"/>
              <a:t>512Byte</a:t>
            </a:r>
            <a:r>
              <a:rPr kumimoji="1" lang="zh-CN" altLang="en-US" dirty="0"/>
              <a:t>以内）少线程（</a:t>
            </a:r>
            <a:r>
              <a:rPr kumimoji="1" lang="en-US" altLang="zh-CN" dirty="0"/>
              <a:t>4~8</a:t>
            </a:r>
            <a:r>
              <a:rPr kumimoji="1" lang="zh-CN" altLang="en-US" dirty="0"/>
              <a:t>线程以内）情况下可低至 </a:t>
            </a:r>
            <a:r>
              <a:rPr kumimoji="1" lang="en-US" altLang="zh-CN" dirty="0"/>
              <a:t>200ns~300ns</a:t>
            </a:r>
            <a:r>
              <a:rPr kumimoji="1" lang="zh-CN" altLang="en-US" dirty="0"/>
              <a:t>。</a:t>
            </a:r>
            <a:endParaRPr kumimoji="1"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大粒度（</a:t>
            </a:r>
            <a:r>
              <a:rPr kumimoji="1" lang="en-US" altLang="zh-CN" dirty="0"/>
              <a:t>1KB</a:t>
            </a:r>
            <a:r>
              <a:rPr kumimoji="1" lang="zh-CN" altLang="en-US" dirty="0"/>
              <a:t>以上）多线程（</a:t>
            </a:r>
            <a:r>
              <a:rPr kumimoji="1" lang="en-US" altLang="zh-CN" dirty="0"/>
              <a:t>20</a:t>
            </a:r>
            <a:r>
              <a:rPr kumimoji="1" lang="zh-CN" altLang="en-US" dirty="0"/>
              <a:t>线程以上）情况下，延迟可升高至</a:t>
            </a:r>
            <a:r>
              <a:rPr kumimoji="1" lang="en-US" altLang="zh-CN" dirty="0"/>
              <a:t>us</a:t>
            </a:r>
            <a:r>
              <a:rPr kumimoji="1" lang="zh-CN" altLang="en-US" dirty="0"/>
              <a:t>级。</a:t>
            </a:r>
            <a:endParaRPr kumimoji="1"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读写延迟都随访问粒度的增加或线程数的增加而升高</a:t>
            </a:r>
            <a:endParaRPr kumimoji="1"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推荐访问粒度：</a:t>
            </a:r>
            <a:r>
              <a:rPr kumimoji="1" lang="en-US" altLang="zh-CN" dirty="0"/>
              <a:t>256Byte</a:t>
            </a:r>
          </a:p>
        </p:txBody>
      </p:sp>
    </p:spTree>
    <p:extLst>
      <p:ext uri="{BB962C8B-B14F-4D97-AF65-F5344CB8AC3E}">
        <p14:creationId xmlns:p14="http://schemas.microsoft.com/office/powerpoint/2010/main" val="3964542971"/>
      </p:ext>
    </p:extLst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>
              <a:latin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2733C78-B3ED-B741-A882-3714B0B7F9E9}"/>
              </a:ext>
            </a:extLst>
          </p:cNvPr>
          <p:cNvSpPr txBox="1"/>
          <p:nvPr/>
        </p:nvSpPr>
        <p:spPr>
          <a:xfrm>
            <a:off x="654257" y="589775"/>
            <a:ext cx="67396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AEP</a:t>
            </a:r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的性能表现（读写延迟）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3781256-81C1-7944-B430-9931599A9450}"/>
              </a:ext>
            </a:extLst>
          </p:cNvPr>
          <p:cNvSpPr txBox="1"/>
          <p:nvPr/>
        </p:nvSpPr>
        <p:spPr>
          <a:xfrm>
            <a:off x="654257" y="1631092"/>
            <a:ext cx="724171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读延迟：</a:t>
            </a:r>
            <a:endParaRPr kumimoji="1"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en-US" altLang="zh-CN" dirty="0"/>
              <a:t>256Byte</a:t>
            </a:r>
            <a:r>
              <a:rPr kumimoji="1" lang="zh-CN" altLang="en-US" dirty="0"/>
              <a:t>以下：</a:t>
            </a:r>
            <a:r>
              <a:rPr kumimoji="1" lang="en-US" altLang="zh-CN" dirty="0"/>
              <a:t>40</a:t>
            </a:r>
            <a:r>
              <a:rPr kumimoji="1" lang="zh-CN" altLang="en-US" dirty="0"/>
              <a:t>线程以内延迟均在</a:t>
            </a:r>
            <a:r>
              <a:rPr kumimoji="1" lang="en-US" altLang="zh-CN" dirty="0"/>
              <a:t>ns</a:t>
            </a:r>
            <a:r>
              <a:rPr kumimoji="1" lang="zh-CN" altLang="en-US" dirty="0"/>
              <a:t>级，</a:t>
            </a:r>
            <a:r>
              <a:rPr kumimoji="1" lang="en-US" altLang="zh-CN" dirty="0"/>
              <a:t>40</a:t>
            </a:r>
            <a:r>
              <a:rPr kumimoji="1" lang="zh-CN" altLang="en-US" dirty="0"/>
              <a:t>线程时为</a:t>
            </a:r>
            <a:r>
              <a:rPr kumimoji="1" lang="en-US" altLang="zh-CN" dirty="0"/>
              <a:t>650ns</a:t>
            </a:r>
            <a:r>
              <a:rPr kumimoji="1" lang="zh-CN" altLang="en-US" dirty="0"/>
              <a:t>左右</a:t>
            </a:r>
            <a:endParaRPr kumimoji="1"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en-US" altLang="zh-CN" dirty="0"/>
              <a:t>512Byte</a:t>
            </a:r>
            <a:r>
              <a:rPr kumimoji="1" lang="zh-CN" altLang="en-US" dirty="0"/>
              <a:t>：</a:t>
            </a:r>
            <a:r>
              <a:rPr kumimoji="1" lang="en-US" altLang="zh-CN" dirty="0"/>
              <a:t>20</a:t>
            </a:r>
            <a:r>
              <a:rPr kumimoji="1" lang="zh-CN" altLang="en-US" dirty="0"/>
              <a:t>线程以内延迟均在</a:t>
            </a:r>
            <a:r>
              <a:rPr kumimoji="1" lang="en-US" altLang="zh-CN" dirty="0"/>
              <a:t>ns</a:t>
            </a:r>
            <a:r>
              <a:rPr kumimoji="1" lang="zh-CN" altLang="en-US" dirty="0"/>
              <a:t>级，</a:t>
            </a:r>
            <a:r>
              <a:rPr kumimoji="1" lang="en-US" altLang="zh-CN" dirty="0"/>
              <a:t>20</a:t>
            </a:r>
            <a:r>
              <a:rPr kumimoji="1" lang="zh-CN" altLang="en-US" dirty="0"/>
              <a:t>线程时为</a:t>
            </a:r>
            <a:r>
              <a:rPr kumimoji="1" lang="en-US" altLang="zh-CN" dirty="0"/>
              <a:t>880ns</a:t>
            </a:r>
            <a:r>
              <a:rPr kumimoji="1" lang="zh-CN" altLang="en-US" dirty="0"/>
              <a:t>左右</a:t>
            </a:r>
            <a:endParaRPr kumimoji="1"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en-US" altLang="zh-CN" dirty="0"/>
              <a:t>1KB</a:t>
            </a:r>
            <a:r>
              <a:rPr kumimoji="1" lang="zh-CN" altLang="en-US" dirty="0"/>
              <a:t>以上：</a:t>
            </a:r>
            <a:r>
              <a:rPr kumimoji="1" lang="en-US" altLang="zh-CN" dirty="0"/>
              <a:t>4</a:t>
            </a:r>
            <a:r>
              <a:rPr kumimoji="1" lang="zh-CN" altLang="en-US" dirty="0"/>
              <a:t>线程以内延迟均在</a:t>
            </a:r>
            <a:r>
              <a:rPr kumimoji="1" lang="en-US" altLang="zh-CN" dirty="0"/>
              <a:t>ns</a:t>
            </a:r>
            <a:r>
              <a:rPr kumimoji="1" lang="zh-CN" altLang="en-US" dirty="0"/>
              <a:t>级，</a:t>
            </a:r>
            <a:r>
              <a:rPr kumimoji="1" lang="en-US" altLang="zh-CN" dirty="0"/>
              <a:t>4</a:t>
            </a:r>
            <a:r>
              <a:rPr kumimoji="1" lang="zh-CN" altLang="en-US" dirty="0"/>
              <a:t>线程时为</a:t>
            </a:r>
            <a:r>
              <a:rPr kumimoji="1" lang="en-US" altLang="zh-CN" dirty="0"/>
              <a:t>700ns</a:t>
            </a:r>
            <a:r>
              <a:rPr kumimoji="1" lang="zh-CN" altLang="en-US" dirty="0"/>
              <a:t>左右</a:t>
            </a:r>
            <a:endParaRPr kumimoji="1"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其余情况，延迟均在</a:t>
            </a:r>
            <a:r>
              <a:rPr kumimoji="1" lang="en-US" altLang="zh-CN" dirty="0"/>
              <a:t>us</a:t>
            </a:r>
            <a:r>
              <a:rPr kumimoji="1" lang="zh-CN" altLang="en-US" dirty="0"/>
              <a:t>级及以上</a:t>
            </a:r>
            <a:endParaRPr kumimoji="1"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写延迟（</a:t>
            </a:r>
            <a:r>
              <a:rPr kumimoji="1" lang="en-US" altLang="zh-CN" dirty="0"/>
              <a:t>NT</a:t>
            </a:r>
            <a:r>
              <a:rPr kumimoji="1" lang="zh-CN" altLang="en-US" dirty="0"/>
              <a:t>写）：</a:t>
            </a:r>
            <a:endParaRPr kumimoji="1"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en-US" altLang="zh-CN" dirty="0"/>
              <a:t>512Byte</a:t>
            </a:r>
            <a:r>
              <a:rPr kumimoji="1" lang="zh-CN" altLang="en-US" dirty="0"/>
              <a:t>以下：</a:t>
            </a:r>
            <a:r>
              <a:rPr kumimoji="1" lang="en-US" altLang="zh-CN" dirty="0"/>
              <a:t>8</a:t>
            </a:r>
            <a:r>
              <a:rPr kumimoji="1" lang="zh-CN" altLang="en-US" dirty="0"/>
              <a:t>线程以内延迟均为</a:t>
            </a:r>
            <a:r>
              <a:rPr kumimoji="1" lang="en-US" altLang="zh-CN" dirty="0"/>
              <a:t>ns</a:t>
            </a:r>
            <a:r>
              <a:rPr kumimoji="1" lang="zh-CN" altLang="en-US" dirty="0"/>
              <a:t>级，</a:t>
            </a:r>
            <a:r>
              <a:rPr kumimoji="1" lang="en-US" altLang="zh-CN" dirty="0"/>
              <a:t>8</a:t>
            </a:r>
            <a:r>
              <a:rPr kumimoji="1" lang="zh-CN" altLang="en-US" dirty="0"/>
              <a:t>线程时为</a:t>
            </a:r>
            <a:r>
              <a:rPr kumimoji="1" lang="en-US" altLang="zh-CN" dirty="0"/>
              <a:t>680ns</a:t>
            </a:r>
            <a:r>
              <a:rPr kumimoji="1" lang="zh-CN" altLang="en-US" dirty="0"/>
              <a:t>左右</a:t>
            </a:r>
            <a:endParaRPr kumimoji="1"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en-US" altLang="zh-CN" dirty="0"/>
              <a:t>1KB</a:t>
            </a:r>
            <a:r>
              <a:rPr kumimoji="1" lang="zh-CN" altLang="en-US" dirty="0"/>
              <a:t>：</a:t>
            </a:r>
            <a:r>
              <a:rPr kumimoji="1" lang="en-US" altLang="zh-CN" dirty="0"/>
              <a:t>2</a:t>
            </a:r>
            <a:r>
              <a:rPr kumimoji="1" lang="zh-CN" altLang="en-US" dirty="0"/>
              <a:t>线程内延迟均为</a:t>
            </a:r>
            <a:r>
              <a:rPr kumimoji="1" lang="en-US" altLang="zh-CN" dirty="0"/>
              <a:t>ns</a:t>
            </a:r>
            <a:r>
              <a:rPr kumimoji="1" lang="zh-CN" altLang="en-US" dirty="0"/>
              <a:t>级，</a:t>
            </a:r>
            <a:r>
              <a:rPr kumimoji="1" lang="en-US" altLang="zh-CN" dirty="0"/>
              <a:t>2</a:t>
            </a:r>
            <a:r>
              <a:rPr kumimoji="1" lang="zh-CN" altLang="en-US" dirty="0"/>
              <a:t>线程时为</a:t>
            </a:r>
            <a:r>
              <a:rPr kumimoji="1" lang="en-US" altLang="zh-CN" dirty="0"/>
              <a:t>460ns</a:t>
            </a:r>
            <a:r>
              <a:rPr kumimoji="1" lang="zh-CN" altLang="en-US" dirty="0"/>
              <a:t>左右</a:t>
            </a:r>
            <a:endParaRPr kumimoji="1"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其余情况，延迟均在</a:t>
            </a:r>
            <a:r>
              <a:rPr kumimoji="1" lang="en-US" altLang="zh-CN" dirty="0"/>
              <a:t>us</a:t>
            </a:r>
            <a:r>
              <a:rPr kumimoji="1" lang="zh-CN" altLang="en-US" dirty="0"/>
              <a:t>级及以上</a:t>
            </a: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17195092"/>
      </p:ext>
    </p:extLst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>
              <a:latin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2733C78-B3ED-B741-A882-3714B0B7F9E9}"/>
              </a:ext>
            </a:extLst>
          </p:cNvPr>
          <p:cNvSpPr txBox="1"/>
          <p:nvPr/>
        </p:nvSpPr>
        <p:spPr>
          <a:xfrm>
            <a:off x="654257" y="589775"/>
            <a:ext cx="67396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AEP</a:t>
            </a:r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的性能表现（混合读写带宽）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3781256-81C1-7944-B430-9931599A9450}"/>
              </a:ext>
            </a:extLst>
          </p:cNvPr>
          <p:cNvSpPr txBox="1"/>
          <p:nvPr/>
        </p:nvSpPr>
        <p:spPr>
          <a:xfrm>
            <a:off x="654257" y="1631092"/>
            <a:ext cx="72417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读写混合时，读写均无法达到各自的峰值</a:t>
            </a:r>
            <a:endParaRPr kumimoji="1"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读带宽受写线程影响显著：</a:t>
            </a:r>
            <a:endParaRPr kumimoji="1" lang="en-US" altLang="zh-CN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3EF1EB8D-EA63-F144-80EB-D161D3DBB3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27625"/>
            <a:ext cx="9144000" cy="251190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C042591E-F9E3-0F4B-B5C6-AE6255188D40}"/>
              </a:ext>
            </a:extLst>
          </p:cNvPr>
          <p:cNvSpPr txBox="1"/>
          <p:nvPr/>
        </p:nvSpPr>
        <p:spPr>
          <a:xfrm>
            <a:off x="654256" y="5324475"/>
            <a:ext cx="7241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读写带宽受会受到读线程的影响，但是影响较小</a:t>
            </a: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12152495"/>
      </p:ext>
    </p:extLst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>
              <a:latin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2733C78-B3ED-B741-A882-3714B0B7F9E9}"/>
              </a:ext>
            </a:extLst>
          </p:cNvPr>
          <p:cNvSpPr txBox="1"/>
          <p:nvPr/>
        </p:nvSpPr>
        <p:spPr>
          <a:xfrm>
            <a:off x="654257" y="589775"/>
            <a:ext cx="67396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AEP</a:t>
            </a:r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的性能表现（混合读写）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3781256-81C1-7944-B430-9931599A9450}"/>
              </a:ext>
            </a:extLst>
          </p:cNvPr>
          <p:cNvSpPr txBox="1"/>
          <p:nvPr/>
        </p:nvSpPr>
        <p:spPr>
          <a:xfrm>
            <a:off x="654257" y="1631092"/>
            <a:ext cx="724171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固定读线程数增加写线程（或反之），读写带宽会各自稳定在某一个值附近，不再发生较大变化</a:t>
            </a:r>
            <a:endParaRPr kumimoji="1"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尽可能打满带宽条件下，读带宽下限：</a:t>
            </a:r>
            <a:r>
              <a:rPr kumimoji="1" lang="en-US" altLang="zh-CN" dirty="0"/>
              <a:t>1.5GB/s~2GB/s</a:t>
            </a:r>
            <a:r>
              <a:rPr kumimoji="1" lang="zh-CN" altLang="en-US" dirty="0"/>
              <a:t>，写带宽下限：</a:t>
            </a:r>
            <a:r>
              <a:rPr kumimoji="1" lang="en-US" altLang="zh-CN" dirty="0"/>
              <a:t>1GB/s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读写混合时，若线程数变化，读延迟较稳定，写延迟波动较大</a:t>
            </a:r>
            <a:endParaRPr kumimoji="1"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5D43F6E-B0F9-174C-BE2D-C88EDFA8D3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08420"/>
            <a:ext cx="9144000" cy="2975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718804"/>
      </p:ext>
    </p:extLst>
  </p:cSld>
  <p:clrMapOvr>
    <a:masterClrMapping/>
  </p:clrMapOvr>
  <p:transition spd="med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>
              <a:latin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366A441-0879-AE42-8298-927F45AD3A1B}"/>
              </a:ext>
            </a:extLst>
          </p:cNvPr>
          <p:cNvSpPr txBox="1"/>
          <p:nvPr/>
        </p:nvSpPr>
        <p:spPr>
          <a:xfrm>
            <a:off x="4096265" y="3429000"/>
            <a:ext cx="9514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/>
              <a:t>谢谢</a:t>
            </a:r>
          </a:p>
        </p:txBody>
      </p:sp>
    </p:spTree>
    <p:extLst>
      <p:ext uri="{BB962C8B-B14F-4D97-AF65-F5344CB8AC3E}">
        <p14:creationId xmlns:p14="http://schemas.microsoft.com/office/powerpoint/2010/main" val="53665943"/>
      </p:ext>
    </p:extLst>
  </p:cSld>
  <p:clrMapOvr>
    <a:masterClrMapping/>
  </p:clrMapOvr>
  <p:transition spd="med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>
              <a:latin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4A74B70-965A-694F-8028-6F0796EE68C1}"/>
              </a:ext>
            </a:extLst>
          </p:cNvPr>
          <p:cNvSpPr txBox="1"/>
          <p:nvPr/>
        </p:nvSpPr>
        <p:spPr>
          <a:xfrm>
            <a:off x="654257" y="589775"/>
            <a:ext cx="67396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AEP</a:t>
            </a:r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的性能表现（顺序读带宽）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A847FE6-F43B-C648-B71A-AEB3BD4EED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85196"/>
            <a:ext cx="9144000" cy="3639279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E83AF053-0D02-804F-A54F-73AAB8681B8C}"/>
              </a:ext>
            </a:extLst>
          </p:cNvPr>
          <p:cNvSpPr txBox="1"/>
          <p:nvPr/>
        </p:nvSpPr>
        <p:spPr>
          <a:xfrm>
            <a:off x="345989" y="1248032"/>
            <a:ext cx="1099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附录：</a:t>
            </a:r>
          </a:p>
        </p:txBody>
      </p:sp>
    </p:spTree>
    <p:extLst>
      <p:ext uri="{BB962C8B-B14F-4D97-AF65-F5344CB8AC3E}">
        <p14:creationId xmlns:p14="http://schemas.microsoft.com/office/powerpoint/2010/main" val="2010956516"/>
      </p:ext>
    </p:extLst>
  </p:cSld>
  <p:clrMapOvr>
    <a:masterClrMapping/>
  </p:clrMapOvr>
  <p:transition spd="med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>
              <a:latin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4A74B70-965A-694F-8028-6F0796EE68C1}"/>
              </a:ext>
            </a:extLst>
          </p:cNvPr>
          <p:cNvSpPr txBox="1"/>
          <p:nvPr/>
        </p:nvSpPr>
        <p:spPr>
          <a:xfrm>
            <a:off x="654257" y="589775"/>
            <a:ext cx="67396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AEP</a:t>
            </a:r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的性能表现（随机读带宽）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35BAEEBC-C1A1-7E47-BC69-F60D382195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98019"/>
            <a:ext cx="9144000" cy="3461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374901"/>
      </p:ext>
    </p:extLst>
  </p:cSld>
  <p:clrMapOvr>
    <a:masterClrMapping/>
  </p:clrMapOvr>
  <p:transition spd="med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>
              <a:latin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4A74B70-965A-694F-8028-6F0796EE68C1}"/>
              </a:ext>
            </a:extLst>
          </p:cNvPr>
          <p:cNvSpPr txBox="1"/>
          <p:nvPr/>
        </p:nvSpPr>
        <p:spPr>
          <a:xfrm>
            <a:off x="654257" y="589775"/>
            <a:ext cx="67396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AEP</a:t>
            </a:r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的性能表现（顺序写带宽）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68967DD-5633-AD4D-8324-2D0EF05B4B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59778"/>
            <a:ext cx="9144000" cy="4183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790956"/>
      </p:ext>
    </p:extLst>
  </p:cSld>
  <p:clrMapOvr>
    <a:masterClrMapping/>
  </p:clrMapOvr>
  <p:transition spd="med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>
              <a:latin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4A74B70-965A-694F-8028-6F0796EE68C1}"/>
              </a:ext>
            </a:extLst>
          </p:cNvPr>
          <p:cNvSpPr txBox="1"/>
          <p:nvPr/>
        </p:nvSpPr>
        <p:spPr>
          <a:xfrm>
            <a:off x="654257" y="589775"/>
            <a:ext cx="67396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AEP</a:t>
            </a:r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的性能表现（随机写带宽）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386A5D1-3844-FF45-B4AF-7BF26DC442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04980"/>
            <a:ext cx="9144000" cy="4764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169483"/>
      </p:ext>
    </p:extLst>
  </p:cSld>
  <p:clrMapOvr>
    <a:masterClrMapping/>
  </p:clrMapOvr>
  <p:transition spd="med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>
              <a:latin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4A74B70-965A-694F-8028-6F0796EE68C1}"/>
              </a:ext>
            </a:extLst>
          </p:cNvPr>
          <p:cNvSpPr txBox="1"/>
          <p:nvPr/>
        </p:nvSpPr>
        <p:spPr>
          <a:xfrm>
            <a:off x="654257" y="589775"/>
            <a:ext cx="67396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AEP</a:t>
            </a:r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的性能表现（随机读延迟）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4DE4255-802C-704B-BA0D-63470E7EA6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718" y="1349885"/>
            <a:ext cx="7871340" cy="4918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151697"/>
      </p:ext>
    </p:extLst>
  </p:cSld>
  <p:clrMapOvr>
    <a:masterClrMapping/>
  </p:clrMapOvr>
  <p:transition spd="med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>
              <a:latin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4A74B70-965A-694F-8028-6F0796EE68C1}"/>
              </a:ext>
            </a:extLst>
          </p:cNvPr>
          <p:cNvSpPr txBox="1"/>
          <p:nvPr/>
        </p:nvSpPr>
        <p:spPr>
          <a:xfrm>
            <a:off x="654257" y="589775"/>
            <a:ext cx="67396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latin typeface="Microsoft YaHei" charset="-122"/>
                <a:ea typeface="Microsoft YaHei" charset="-122"/>
                <a:cs typeface="Microsoft YaHei" charset="-122"/>
              </a:rPr>
              <a:t>AEP</a:t>
            </a:r>
            <a:r>
              <a:rPr kumimoji="1" lang="zh-CN" altLang="en-US" sz="2800" dirty="0">
                <a:latin typeface="Microsoft YaHei" charset="-122"/>
                <a:ea typeface="Microsoft YaHei" charset="-122"/>
                <a:cs typeface="Microsoft YaHei" charset="-122"/>
              </a:rPr>
              <a:t>的性能表现（随机写延迟）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D2DE8DE-7D84-F94F-B88A-8BB64AD139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718" y="1349885"/>
            <a:ext cx="7871340" cy="4918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591194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主题2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主题2" id="{E0D1F83F-22F0-D546-91D8-FF7C6B24B14B}" vid="{5AF26BE8-7839-1342-A4CE-8DF56C8D06F1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主题2</Template>
  <TotalTime>55631</TotalTime>
  <Words>2390</Words>
  <Application>Microsoft Office PowerPoint</Application>
  <PresentationFormat>全屏显示(4:3)</PresentationFormat>
  <Paragraphs>296</Paragraphs>
  <Slides>35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42" baseType="lpstr">
      <vt:lpstr>宋体</vt:lpstr>
      <vt:lpstr>Microsoft YaHei</vt:lpstr>
      <vt:lpstr>Arial</vt:lpstr>
      <vt:lpstr>Calibri</vt:lpstr>
      <vt:lpstr>Calibri Light</vt:lpstr>
      <vt:lpstr>Wingdings</vt:lpstr>
      <vt:lpstr>主题2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周会总结</dc:title>
  <dc:creator>Jaycee Zhang</dc:creator>
  <cp:lastModifiedBy>王 刚</cp:lastModifiedBy>
  <cp:revision>786</cp:revision>
  <cp:lastPrinted>2017-05-11T02:50:32Z</cp:lastPrinted>
  <dcterms:created xsi:type="dcterms:W3CDTF">2016-12-13T05:37:29Z</dcterms:created>
  <dcterms:modified xsi:type="dcterms:W3CDTF">2019-10-23T04:50:53Z</dcterms:modified>
</cp:coreProperties>
</file>