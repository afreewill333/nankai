
<file path=[Content_Types].xml><?xml version="1.0" encoding="utf-8"?>
<Types xmlns="http://schemas.openxmlformats.org/package/2006/content-types">
  <Default Extension="jpg" ContentType="image/pn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51"/>
  </p:notesMasterIdLst>
  <p:sldIdLst>
    <p:sldId id="261" r:id="rId2"/>
    <p:sldId id="402" r:id="rId3"/>
    <p:sldId id="371" r:id="rId4"/>
    <p:sldId id="372" r:id="rId5"/>
    <p:sldId id="373" r:id="rId6"/>
    <p:sldId id="377" r:id="rId7"/>
    <p:sldId id="374" r:id="rId8"/>
    <p:sldId id="380" r:id="rId9"/>
    <p:sldId id="376" r:id="rId10"/>
    <p:sldId id="375" r:id="rId11"/>
    <p:sldId id="378" r:id="rId12"/>
    <p:sldId id="355" r:id="rId13"/>
    <p:sldId id="306" r:id="rId14"/>
    <p:sldId id="356" r:id="rId15"/>
    <p:sldId id="357" r:id="rId16"/>
    <p:sldId id="360" r:id="rId17"/>
    <p:sldId id="358" r:id="rId18"/>
    <p:sldId id="359" r:id="rId19"/>
    <p:sldId id="361" r:id="rId20"/>
    <p:sldId id="362" r:id="rId21"/>
    <p:sldId id="363" r:id="rId22"/>
    <p:sldId id="365" r:id="rId23"/>
    <p:sldId id="364" r:id="rId24"/>
    <p:sldId id="366" r:id="rId25"/>
    <p:sldId id="367" r:id="rId26"/>
    <p:sldId id="368" r:id="rId27"/>
    <p:sldId id="369" r:id="rId28"/>
    <p:sldId id="382" r:id="rId29"/>
    <p:sldId id="379" r:id="rId30"/>
    <p:sldId id="383" r:id="rId31"/>
    <p:sldId id="384" r:id="rId32"/>
    <p:sldId id="385" r:id="rId33"/>
    <p:sldId id="386" r:id="rId34"/>
    <p:sldId id="387" r:id="rId35"/>
    <p:sldId id="389" r:id="rId36"/>
    <p:sldId id="388" r:id="rId37"/>
    <p:sldId id="390" r:id="rId38"/>
    <p:sldId id="391" r:id="rId39"/>
    <p:sldId id="392" r:id="rId40"/>
    <p:sldId id="393" r:id="rId41"/>
    <p:sldId id="394" r:id="rId42"/>
    <p:sldId id="395" r:id="rId43"/>
    <p:sldId id="396" r:id="rId44"/>
    <p:sldId id="397" r:id="rId45"/>
    <p:sldId id="398" r:id="rId46"/>
    <p:sldId id="399" r:id="rId47"/>
    <p:sldId id="401" r:id="rId48"/>
    <p:sldId id="400" r:id="rId49"/>
    <p:sldId id="328" r:id="rId50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宋体" charset="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宋体" charset="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宋体" charset="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宋体" charset="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宋体" charset="0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charset="0"/>
        <a:ea typeface="宋体" charset="0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charset="0"/>
        <a:ea typeface="宋体" charset="0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charset="0"/>
        <a:ea typeface="宋体" charset="0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charset="0"/>
        <a:ea typeface="宋体" charset="0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630F6"/>
    <a:srgbClr val="66005C"/>
    <a:srgbClr val="FF7E79"/>
    <a:srgbClr val="EAEFF7"/>
    <a:srgbClr val="EBF0F7"/>
    <a:srgbClr val="E2E2E2"/>
    <a:srgbClr val="B330D4"/>
    <a:srgbClr val="BD31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1FECB4D8-DB02-4DC6-A0A2-4F2EBAE1DC90}" styleName="中度样式 1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D113A9D2-9D6B-4929-AA2D-F23B5EE8CBE7}" styleName="主题样式 2 - 个性色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775DCB02-9BB8-47FD-8907-85C794F793BA}" styleName="主题样式 1 - 个性色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F2DE63D5-997A-4646-A377-4702673A728D}" styleName="浅色样式 2 - 强调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E9639D4-E3E2-4D34-9284-5A2195B3D0D7}" styleName="浅色样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2833802-FEF1-4C79-8D5D-14CF1EAF98D9}" styleName="浅色样式 2 - 强调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54" autoAdjust="0"/>
    <p:restoredTop sz="79836" autoAdjust="0"/>
  </p:normalViewPr>
  <p:slideViewPr>
    <p:cSldViewPr snapToGrid="0" snapToObjects="1">
      <p:cViewPr varScale="1">
        <p:scale>
          <a:sx n="88" d="100"/>
          <a:sy n="88" d="100"/>
        </p:scale>
        <p:origin x="5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-409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kumimoji="1"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kumimoji="1" sz="1200"/>
            </a:lvl1pPr>
          </a:lstStyle>
          <a:p>
            <a:pPr>
              <a:defRPr/>
            </a:pPr>
            <a:fld id="{EFA51185-30DC-254A-9DD6-8F7A8C8C9CE7}" type="datetimeFigureOut">
              <a:rPr lang="zh-CN" altLang="en-US"/>
              <a:pPr>
                <a:defRPr/>
              </a:pPr>
              <a:t>2019/11/23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二级</a:t>
            </a:r>
          </a:p>
          <a:p>
            <a:pPr lvl="2"/>
            <a:r>
              <a:rPr lang="zh-CN" altLang="en-US" noProof="0"/>
              <a:t>三级</a:t>
            </a:r>
          </a:p>
          <a:p>
            <a:pPr lvl="3"/>
            <a:r>
              <a:rPr lang="zh-CN" altLang="en-US" noProof="0"/>
              <a:t>四级</a:t>
            </a:r>
          </a:p>
          <a:p>
            <a:pPr lvl="4"/>
            <a:r>
              <a:rPr lang="zh-CN" altLang="en-US" noProof="0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kumimoji="1"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kumimoji="1" sz="1200"/>
            </a:lvl1pPr>
          </a:lstStyle>
          <a:p>
            <a:pPr>
              <a:defRPr/>
            </a:pPr>
            <a:fld id="{0B5B9210-A5D6-DF4A-BCF1-E487EA4C0D1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215075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38554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78681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46859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33989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69805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8201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71111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91800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34805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38441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52947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949573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560755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408471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391411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756278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430982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798385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138902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626364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362895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287746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423250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661042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00212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931013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934315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298726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646627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015790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035935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463275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baseline="0" dirty="0"/>
              <a:t>问题：假设第</a:t>
            </a:r>
            <a:r>
              <a:rPr kumimoji="1" lang="en-US" altLang="zh-CN" baseline="0" dirty="0"/>
              <a:t>0</a:t>
            </a:r>
            <a:r>
              <a:rPr kumimoji="1" lang="zh-CN" altLang="en-US" baseline="0" dirty="0"/>
              <a:t>和第</a:t>
            </a:r>
            <a:r>
              <a:rPr kumimoji="1" lang="en-US" altLang="zh-CN" baseline="0"/>
              <a:t>3</a:t>
            </a:r>
            <a:r>
              <a:rPr kumimoji="1" lang="zh-CN" altLang="en-US" baseline="0"/>
              <a:t>磁盘</a:t>
            </a:r>
            <a:r>
              <a:rPr kumimoji="1" lang="zh-CN" altLang="en-US" baseline="0" dirty="0"/>
              <a:t>失效，如何恢复丢失的数据？</a:t>
            </a:r>
            <a:endParaRPr kumimoji="1" lang="en-US" altLang="zh-CN" baseline="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615010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567173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239907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737356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783369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663052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185254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255605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922219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516429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682835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174122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7219138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7916776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2086446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5883853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45631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238CC2-A0DA-0A42-9C3B-B99D8DFE8A35}" type="datetimeFigureOut">
              <a:rPr lang="zh-CN" altLang="en-US" smtClean="0"/>
              <a:pPr>
                <a:defRPr/>
              </a:pPr>
              <a:t>2019/11/23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21F175-A356-8641-8B8C-2BC1BAE79F14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D12BB8-9261-4D4B-98FD-C0F0AA2E9A14}" type="datetimeFigureOut">
              <a:rPr lang="zh-CN" altLang="en-US" smtClean="0"/>
              <a:pPr>
                <a:defRPr/>
              </a:pPr>
              <a:t>2019/11/23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A8BDDE-DE15-9A4E-B6F5-7D907F811531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C6D4EE-D3EF-4F4B-84A5-4EDA7B66ACC6}" type="datetimeFigureOut">
              <a:rPr lang="zh-CN" altLang="en-US" smtClean="0"/>
              <a:pPr>
                <a:defRPr/>
              </a:pPr>
              <a:t>2019/11/23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6DD28A-AA70-C249-93DE-44022C331C62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34650D-803F-3649-8BE6-A1B7A3B11F99}" type="datetimeFigureOut">
              <a:rPr lang="zh-CN" altLang="en-US" smtClean="0"/>
              <a:pPr>
                <a:defRPr/>
              </a:pPr>
              <a:t>2019/11/23</a:t>
            </a:fld>
            <a:endParaRPr lang="zh-CN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38A0D8-B9E1-5F47-ADDF-1F1E8F331A74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C8D43A-8F0F-5D46-A343-06333ADB0560}" type="datetimeFigureOut">
              <a:rPr lang="zh-CN" altLang="en-US" smtClean="0"/>
              <a:pPr>
                <a:defRPr/>
              </a:pPr>
              <a:t>2019/11/23</a:t>
            </a:fld>
            <a:endParaRPr lang="zh-CN" alt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C70463-E988-D144-BBEE-FC4623AD6C23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20C01F-CEF2-EA4C-85CA-CBF3E7F4DD65}" type="datetimeFigureOut">
              <a:rPr lang="zh-CN" altLang="en-US" smtClean="0"/>
              <a:pPr>
                <a:defRPr/>
              </a:pPr>
              <a:t>2019/11/23</a:t>
            </a:fld>
            <a:endParaRPr lang="zh-CN" alt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95A4DD-1280-BB47-A602-2C4DAB99FF88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B2A7B1-2167-7F47-9127-07644A71B60F}" type="datetimeFigureOut">
              <a:rPr lang="zh-CN" altLang="en-US" smtClean="0"/>
              <a:pPr>
                <a:defRPr/>
              </a:pPr>
              <a:t>2019/11/23</a:t>
            </a:fld>
            <a:endParaRPr lang="zh-CN" alt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E65D7B-B108-694B-A9F0-6F3476ECBDBF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6C0D54-D0A2-8647-BDAD-39E60643A4AA}" type="datetimeFigureOut">
              <a:rPr lang="zh-CN" altLang="en-US" smtClean="0"/>
              <a:pPr>
                <a:defRPr/>
              </a:pPr>
              <a:t>2019/11/23</a:t>
            </a:fld>
            <a:endParaRPr lang="zh-CN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00DE58-F619-754F-BCBC-313BF1478D2F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将图片拖动到占位符，或单击添加图标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23163E-B686-3245-B20A-8F7674AE5CAC}" type="datetimeFigureOut">
              <a:rPr lang="zh-CN" altLang="en-US" smtClean="0"/>
              <a:pPr>
                <a:defRPr/>
              </a:pPr>
              <a:t>2019/11/23</a:t>
            </a:fld>
            <a:endParaRPr lang="zh-CN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D19B7D-6BEB-0641-9251-9FA303027C7A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03A3D3-B973-7244-9EC6-9D0618F24062}" type="datetimeFigureOut">
              <a:rPr lang="zh-CN" altLang="en-US" smtClean="0"/>
              <a:pPr>
                <a:defRPr/>
              </a:pPr>
              <a:t>2019/11/23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66548C-ABE1-4B4C-895C-8DD5E5C1168E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680492-F7A2-E24D-8177-01BCF1312587}" type="datetimeFigureOut">
              <a:rPr lang="zh-CN" altLang="en-US" smtClean="0"/>
              <a:pPr>
                <a:defRPr/>
              </a:pPr>
              <a:t>2019/11/23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9F4E41-E0E2-7A41-9508-905906144EC2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altLang="zh-C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kumimoji="1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94F0E8F8-0A90-2744-B08D-155929A4155E}" type="datetimeFigureOut">
              <a:rPr lang="zh-CN" altLang="en-US" smtClean="0"/>
              <a:pPr>
                <a:defRPr/>
              </a:pPr>
              <a:t>2019/11/23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kumimoji="1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kumimoji="1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FB58A7E-3A13-824A-A0CA-841E65082551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0106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ransition spd="med">
    <p:fade/>
  </p:transition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eaLnBrk="1" fontAlgn="base" hangingPunct="1">
        <a:lnSpc>
          <a:spcPct val="90000"/>
        </a:lnSpc>
        <a:spcBef>
          <a:spcPts val="1000"/>
        </a:spcBef>
        <a:spcAft>
          <a:spcPct val="0"/>
        </a:spcAft>
        <a:buFont typeface="Arial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8.png"/><Relationship Id="rId4" Type="http://schemas.openxmlformats.org/officeDocument/2006/relationships/image" Target="../media/image3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39.png"/><Relationship Id="rId4" Type="http://schemas.openxmlformats.org/officeDocument/2006/relationships/image" Target="../media/image4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7" Type="http://schemas.openxmlformats.org/officeDocument/2006/relationships/image" Target="../media/image6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9.png"/><Relationship Id="rId5" Type="http://schemas.openxmlformats.org/officeDocument/2006/relationships/image" Target="../media/image54.png"/><Relationship Id="rId4" Type="http://schemas.openxmlformats.org/officeDocument/2006/relationships/image" Target="../media/image5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4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6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9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4.png"/><Relationship Id="rId5" Type="http://schemas.openxmlformats.org/officeDocument/2006/relationships/image" Target="../media/image83.png"/><Relationship Id="rId4" Type="http://schemas.openxmlformats.org/officeDocument/2006/relationships/image" Target="../media/image81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6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hyperlink" Target="http://web.eecs.utk.edu/~jplank/plank/papers/FAST-2005.html" TargetMode="External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lacie.com/files/lacie-content/whitepaper/WP_RAID_zh.pdf" TargetMode="External"/><Relationship Id="rId4" Type="http://schemas.openxmlformats.org/officeDocument/2006/relationships/hyperlink" Target="http://web.eecs.utk.edu/~jplank/plank/papers/FAST-2013-Tutorial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/>
          </a:p>
        </p:txBody>
      </p:sp>
      <p:sp>
        <p:nvSpPr>
          <p:cNvPr id="2" name="文本框 1"/>
          <p:cNvSpPr txBox="1"/>
          <p:nvPr/>
        </p:nvSpPr>
        <p:spPr>
          <a:xfrm>
            <a:off x="6801492" y="436651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2184362" y="1554975"/>
            <a:ext cx="4801314" cy="9258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6520"/>
              </a:lnSpc>
              <a:spcBef>
                <a:spcPts val="0"/>
              </a:spcBef>
            </a:pPr>
            <a:r>
              <a:rPr kumimoji="1" lang="zh-CN" altLang="en-US" sz="6000" dirty="0">
                <a:latin typeface="Microsoft YaHei" charset="-122"/>
                <a:ea typeface="Microsoft YaHei" charset="-122"/>
                <a:cs typeface="Microsoft YaHei" charset="-122"/>
              </a:rPr>
              <a:t>存储容错编码</a:t>
            </a:r>
            <a:endParaRPr kumimoji="1" lang="en-US" altLang="zh-CN" sz="6000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124456" y="5219700"/>
            <a:ext cx="2880918" cy="8798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zh-CN" altLang="en-US" sz="2000" dirty="0">
                <a:latin typeface="Microsoft YaHei" charset="-122"/>
                <a:ea typeface="Microsoft YaHei" charset="-122"/>
                <a:cs typeface="Microsoft YaHei" charset="-122"/>
              </a:rPr>
              <a:t>衣丽萍</a:t>
            </a:r>
            <a:r>
              <a:rPr kumimoji="1" lang="en-US" altLang="zh-CN" sz="2000" dirty="0">
                <a:latin typeface="Microsoft YaHei" charset="-122"/>
                <a:ea typeface="Microsoft YaHei" charset="-122"/>
                <a:cs typeface="Microsoft YaHei" charset="-122"/>
              </a:rPr>
              <a:t>   2019.11.22</a:t>
            </a:r>
          </a:p>
          <a:p>
            <a:pPr algn="ctr">
              <a:lnSpc>
                <a:spcPct val="150000"/>
              </a:lnSpc>
            </a:pPr>
            <a:r>
              <a:rPr kumimoji="1" lang="en-US" altLang="zh-CN" sz="1600" dirty="0">
                <a:latin typeface="Microsoft YaHei" charset="-122"/>
                <a:ea typeface="Microsoft YaHei" charset="-122"/>
                <a:cs typeface="Microsoft YaHei" charset="-122"/>
              </a:rPr>
              <a:t>yiliping@nbjl.nankai.edu.cn</a:t>
            </a:r>
            <a:endParaRPr kumimoji="1" lang="zh-CN" altLang="en-US" sz="1600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/>
          </a:p>
        </p:txBody>
      </p:sp>
      <p:sp>
        <p:nvSpPr>
          <p:cNvPr id="2" name="文本框 1"/>
          <p:cNvSpPr txBox="1"/>
          <p:nvPr/>
        </p:nvSpPr>
        <p:spPr>
          <a:xfrm>
            <a:off x="6801492" y="436651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376717" y="1173975"/>
            <a:ext cx="11079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3600" dirty="0">
                <a:solidFill>
                  <a:schemeClr val="bg1">
                    <a:lumMod val="95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目录</a:t>
            </a:r>
            <a:endParaRPr kumimoji="1" lang="en-US" altLang="zh-CN" sz="3600" dirty="0">
              <a:solidFill>
                <a:schemeClr val="bg1">
                  <a:lumMod val="95000"/>
                </a:schemeClr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770166" y="2411366"/>
            <a:ext cx="6373834" cy="3247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chemeClr val="bg1">
                  <a:lumMod val="95000"/>
                </a:schemeClr>
              </a:buClr>
              <a:buSzPct val="75000"/>
              <a:buFont typeface="Wingdings" charset="2"/>
              <a:buChar char="l"/>
            </a:pPr>
            <a:r>
              <a:rPr kumimoji="1" lang="zh-CN" altLang="en-US" sz="2800" dirty="0">
                <a:latin typeface="Microsoft YaHei" charset="-122"/>
                <a:ea typeface="Microsoft YaHei" charset="-122"/>
              </a:rPr>
              <a:t>     </a:t>
            </a:r>
            <a:r>
              <a:rPr kumimoji="1" lang="en-US" altLang="zh-CN" sz="2800" dirty="0">
                <a:latin typeface="Microsoft YaHei" charset="-122"/>
                <a:ea typeface="Microsoft YaHei" charset="-122"/>
              </a:rPr>
              <a:t>RAID</a:t>
            </a:r>
          </a:p>
          <a:p>
            <a:pPr marL="285750" indent="-285750">
              <a:lnSpc>
                <a:spcPct val="150000"/>
              </a:lnSpc>
              <a:buClr>
                <a:schemeClr val="bg1">
                  <a:lumMod val="95000"/>
                </a:schemeClr>
              </a:buClr>
              <a:buSzPct val="75000"/>
              <a:buFont typeface="Wingdings" charset="2"/>
              <a:buChar char="l"/>
            </a:pPr>
            <a:r>
              <a:rPr kumimoji="1" lang="en-US" altLang="zh-CN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     </a:t>
            </a:r>
            <a:r>
              <a:rPr kumimoji="1" lang="en-US" altLang="zh-CN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charset="-122"/>
                <a:ea typeface="Microsoft YaHei" charset="-122"/>
              </a:rPr>
              <a:t>Erasure</a:t>
            </a:r>
            <a:r>
              <a:rPr kumimoji="1" lang="zh-CN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charset="-122"/>
                <a:ea typeface="Microsoft YaHei" charset="-122"/>
              </a:rPr>
              <a:t> </a:t>
            </a:r>
            <a:r>
              <a:rPr kumimoji="1" lang="en-US" altLang="zh-CN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charset="-122"/>
                <a:ea typeface="Microsoft YaHei" charset="-122"/>
              </a:rPr>
              <a:t>Codes</a:t>
            </a:r>
          </a:p>
          <a:p>
            <a:pPr marL="285750" indent="-285750">
              <a:lnSpc>
                <a:spcPct val="150000"/>
              </a:lnSpc>
              <a:buClr>
                <a:schemeClr val="bg1">
                  <a:lumMod val="95000"/>
                </a:schemeClr>
              </a:buClr>
              <a:buSzPct val="75000"/>
              <a:buFont typeface="Wingdings" charset="2"/>
              <a:buChar char="l"/>
            </a:pPr>
            <a:r>
              <a:rPr kumimoji="1" lang="en-US" altLang="zh-CN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     Reed-Solomon Codes</a:t>
            </a:r>
          </a:p>
          <a:p>
            <a:pPr marL="285750" indent="-285750">
              <a:lnSpc>
                <a:spcPct val="150000"/>
              </a:lnSpc>
              <a:buClr>
                <a:schemeClr val="bg1">
                  <a:lumMod val="95000"/>
                </a:schemeClr>
              </a:buClr>
              <a:buSzPct val="75000"/>
              <a:buFont typeface="Wingdings" charset="2"/>
              <a:buChar char="l"/>
            </a:pPr>
            <a:r>
              <a:rPr kumimoji="1" lang="en-US" altLang="zh-CN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     Array Codes</a:t>
            </a:r>
          </a:p>
          <a:p>
            <a:pPr marL="285750" indent="-285750">
              <a:lnSpc>
                <a:spcPct val="150000"/>
              </a:lnSpc>
              <a:buClr>
                <a:schemeClr val="bg1">
                  <a:lumMod val="95000"/>
                </a:schemeClr>
              </a:buClr>
              <a:buSzPct val="75000"/>
              <a:buFont typeface="Wingdings" charset="2"/>
              <a:buChar char="l"/>
            </a:pPr>
            <a:r>
              <a:rPr kumimoji="1" lang="en-US" altLang="zh-CN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     Latin Squares &amp; Erasure Codes</a:t>
            </a:r>
          </a:p>
        </p:txBody>
      </p:sp>
    </p:spTree>
    <p:extLst>
      <p:ext uri="{BB962C8B-B14F-4D97-AF65-F5344CB8AC3E}">
        <p14:creationId xmlns:p14="http://schemas.microsoft.com/office/powerpoint/2010/main" val="1797386664"/>
      </p:ext>
    </p:extLst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>
              <a:latin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2733C78-B3ED-B741-A882-3714B0B7F9E9}"/>
              </a:ext>
            </a:extLst>
          </p:cNvPr>
          <p:cNvSpPr txBox="1"/>
          <p:nvPr/>
        </p:nvSpPr>
        <p:spPr>
          <a:xfrm>
            <a:off x="142194" y="594334"/>
            <a:ext cx="52893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dirty="0">
                <a:latin typeface="Microsoft YaHei" charset="-122"/>
                <a:ea typeface="Microsoft YaHei" charset="-122"/>
                <a:cs typeface="Microsoft YaHei" charset="-122"/>
              </a:rPr>
              <a:t>RAID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66CF592-27D7-40E0-9FE6-4EADF84284FE}"/>
              </a:ext>
            </a:extLst>
          </p:cNvPr>
          <p:cNvSpPr txBox="1"/>
          <p:nvPr/>
        </p:nvSpPr>
        <p:spPr>
          <a:xfrm>
            <a:off x="226415" y="1533525"/>
            <a:ext cx="808740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RAID</a:t>
            </a:r>
            <a:r>
              <a:rPr lang="zh-CN" altLang="en-US" dirty="0"/>
              <a:t>（独立冗余磁盘阵列）是一项能提升外部存储解决方案性能的简单技术。</a:t>
            </a:r>
            <a:endParaRPr lang="en-US" altLang="zh-CN" dirty="0"/>
          </a:p>
          <a:p>
            <a:r>
              <a:rPr lang="zh-CN" altLang="en-US" dirty="0"/>
              <a:t>简单地说，</a:t>
            </a:r>
            <a:r>
              <a:rPr lang="en-US" altLang="zh-CN" dirty="0"/>
              <a:t>RAID </a:t>
            </a:r>
            <a:r>
              <a:rPr lang="zh-CN" altLang="en-US" dirty="0"/>
              <a:t>技术可以将一个硬盘上的任务分散或复制到多个（少则两个）磁盘上，借此来提高性能或建立数据冗余以防驱动器发生故障。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06ACFF8-54CC-4F9A-A968-ED777030512F}"/>
              </a:ext>
            </a:extLst>
          </p:cNvPr>
          <p:cNvSpPr txBox="1"/>
          <p:nvPr/>
        </p:nvSpPr>
        <p:spPr>
          <a:xfrm>
            <a:off x="455015" y="2831485"/>
            <a:ext cx="795505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相关术语：</a:t>
            </a:r>
            <a:endParaRPr lang="en-US" altLang="zh-CN" dirty="0"/>
          </a:p>
          <a:p>
            <a:endParaRPr lang="zh-CN" altLang="en-US" dirty="0"/>
          </a:p>
          <a:p>
            <a:r>
              <a:rPr lang="zh-CN" altLang="en-US" dirty="0"/>
              <a:t>✦条带化是指将数据分到多个驱动器上。条带 </a:t>
            </a:r>
            <a:r>
              <a:rPr lang="en-US" altLang="zh-CN" dirty="0"/>
              <a:t>RAID </a:t>
            </a:r>
            <a:r>
              <a:rPr lang="zh-CN" altLang="en-US" dirty="0"/>
              <a:t>阵列通常用于将最大的容量合并到单个卷中。</a:t>
            </a:r>
            <a:endParaRPr lang="en-US" altLang="zh-CN" dirty="0"/>
          </a:p>
          <a:p>
            <a:r>
              <a:rPr lang="zh-CN" altLang="en-US" dirty="0"/>
              <a:t>✦镜像是指将数据复制到多个磁盘上。镜像 </a:t>
            </a:r>
            <a:r>
              <a:rPr lang="en-US" altLang="zh-CN" dirty="0"/>
              <a:t>RAID </a:t>
            </a:r>
            <a:r>
              <a:rPr lang="zh-CN" altLang="en-US" dirty="0"/>
              <a:t>阵列通常能在阵列中有磁盘（至少一个）发生故障时确保数据不丢失，具体取决于阵列的 </a:t>
            </a:r>
            <a:r>
              <a:rPr lang="en-US" altLang="zh-CN" dirty="0"/>
              <a:t>RAID </a:t>
            </a:r>
            <a:r>
              <a:rPr lang="zh-CN" altLang="en-US" dirty="0"/>
              <a:t>级别。</a:t>
            </a:r>
          </a:p>
          <a:p>
            <a:r>
              <a:rPr lang="zh-CN" altLang="en-US" dirty="0"/>
              <a:t>✦容错可让 </a:t>
            </a:r>
            <a:r>
              <a:rPr lang="en-US" altLang="zh-CN" dirty="0"/>
              <a:t>RAID </a:t>
            </a:r>
            <a:r>
              <a:rPr lang="zh-CN" altLang="en-US" dirty="0"/>
              <a:t>阵列在磁盘发生故障时继续工作（即用户仍然可以使用阵列中存储的数据）。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9847936"/>
      </p:ext>
    </p:extLst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>
              <a:latin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2733C78-B3ED-B741-A882-3714B0B7F9E9}"/>
              </a:ext>
            </a:extLst>
          </p:cNvPr>
          <p:cNvSpPr txBox="1"/>
          <p:nvPr/>
        </p:nvSpPr>
        <p:spPr>
          <a:xfrm>
            <a:off x="142194" y="594334"/>
            <a:ext cx="52893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dirty="0">
                <a:latin typeface="Microsoft YaHei" charset="-122"/>
                <a:ea typeface="Microsoft YaHei" charset="-122"/>
                <a:cs typeface="Microsoft YaHei" charset="-122"/>
              </a:rPr>
              <a:t>RAID 0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7AF87C7-7909-4D51-8F36-9984316EBA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5539" y="2710948"/>
            <a:ext cx="3303040" cy="2285729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8FAEDA89-3716-4DDF-8FC0-30A630CD3DC2}"/>
              </a:ext>
            </a:extLst>
          </p:cNvPr>
          <p:cNvSpPr/>
          <p:nvPr/>
        </p:nvSpPr>
        <p:spPr>
          <a:xfrm>
            <a:off x="394857" y="1233620"/>
            <a:ext cx="7570048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RAID 0</a:t>
            </a:r>
            <a:r>
              <a:rPr lang="zh-CN" altLang="en-US" dirty="0"/>
              <a:t>是速度最快的一种 </a:t>
            </a:r>
            <a:r>
              <a:rPr lang="en-US" altLang="zh-CN" dirty="0"/>
              <a:t>RAID </a:t>
            </a:r>
            <a:r>
              <a:rPr lang="zh-CN" altLang="en-US" dirty="0"/>
              <a:t>模式。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它需要至少两个驱动器，并且会将数据分条到每个磁盘。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所有磁盘的可用容量合在一起，成为计算机上的一个逻辑卷。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一旦阵列中有一个物理磁盘发生故障，所有磁盘的数据都将不可访问，因为有部分数据已被写入所有磁盘。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08B2E48-D9AD-4C45-89F1-CECF01BA0962}"/>
              </a:ext>
            </a:extLst>
          </p:cNvPr>
          <p:cNvSpPr/>
          <p:nvPr/>
        </p:nvSpPr>
        <p:spPr>
          <a:xfrm>
            <a:off x="522827" y="4885716"/>
            <a:ext cx="8200068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应用：</a:t>
            </a:r>
          </a:p>
          <a:p>
            <a:r>
              <a:rPr lang="en-US" altLang="zh-CN" dirty="0"/>
              <a:t>RAID 0 </a:t>
            </a:r>
            <a:r>
              <a:rPr lang="zh-CN" altLang="en-US" dirty="0"/>
              <a:t>是要求最高速度和最大容量的用户的理想选择。要处理超大型文件的视频编缉人员可以使用 </a:t>
            </a:r>
            <a:r>
              <a:rPr lang="en-US" altLang="zh-CN" dirty="0"/>
              <a:t>RAID 0 </a:t>
            </a:r>
            <a:r>
              <a:rPr lang="zh-CN" altLang="en-US" dirty="0"/>
              <a:t>来编辑视频的多个流，以达到最佳播放效果。</a:t>
            </a:r>
            <a:r>
              <a:rPr lang="en-US" altLang="zh-CN" dirty="0"/>
              <a:t>RAID 0 </a:t>
            </a:r>
            <a:r>
              <a:rPr lang="zh-CN" altLang="en-US" dirty="0"/>
              <a:t>阵列更适于在频繁的文件处理（例如视频编辑）中使用，不宜用作唯一的存储备份解决方案，也不宜在关键任务系统中使用。</a:t>
            </a:r>
          </a:p>
        </p:txBody>
      </p:sp>
    </p:spTree>
    <p:extLst>
      <p:ext uri="{BB962C8B-B14F-4D97-AF65-F5344CB8AC3E}">
        <p14:creationId xmlns:p14="http://schemas.microsoft.com/office/powerpoint/2010/main" val="601741839"/>
      </p:ext>
    </p:extLst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>
              <a:latin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2733C78-B3ED-B741-A882-3714B0B7F9E9}"/>
              </a:ext>
            </a:extLst>
          </p:cNvPr>
          <p:cNvSpPr txBox="1"/>
          <p:nvPr/>
        </p:nvSpPr>
        <p:spPr>
          <a:xfrm>
            <a:off x="142194" y="594334"/>
            <a:ext cx="52893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dirty="0">
                <a:latin typeface="Microsoft YaHei" charset="-122"/>
                <a:ea typeface="Microsoft YaHei" charset="-122"/>
                <a:cs typeface="Microsoft YaHei" charset="-122"/>
              </a:rPr>
              <a:t>RAID 1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A4966A7-1E90-4777-B340-45EB2D55BA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7112" y="3030380"/>
            <a:ext cx="2324424" cy="2133898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BD0007AC-C88D-4938-BF13-0A417030A674}"/>
              </a:ext>
            </a:extLst>
          </p:cNvPr>
          <p:cNvSpPr/>
          <p:nvPr/>
        </p:nvSpPr>
        <p:spPr>
          <a:xfrm>
            <a:off x="334700" y="1236683"/>
            <a:ext cx="730535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RAID 1</a:t>
            </a:r>
            <a:r>
              <a:rPr lang="zh-CN" altLang="en-US" dirty="0"/>
              <a:t>是一种安全的 </a:t>
            </a:r>
            <a:r>
              <a:rPr lang="en-US" altLang="zh-CN" dirty="0"/>
              <a:t>RAID </a:t>
            </a:r>
            <a:r>
              <a:rPr lang="zh-CN" altLang="en-US" dirty="0"/>
              <a:t>模式。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它至少需要两个驱动器，并且驱动器成对工作。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计算机上将安装一个逻辑卷，两个驱动器合并后的可用容量限制为不超过最小磁盘的容量。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如果其中一个物理磁盘出现故障，可以立即从第二个磁盘上获取数据。即使一个磁盘出现故障，也不会丢失任何数据。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AF0312A-8C7D-4C0F-B51A-54EB23F9D1A0}"/>
              </a:ext>
            </a:extLst>
          </p:cNvPr>
          <p:cNvSpPr/>
          <p:nvPr/>
        </p:nvSpPr>
        <p:spPr>
          <a:xfrm>
            <a:off x="563300" y="5063337"/>
            <a:ext cx="838819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应用：</a:t>
            </a:r>
          </a:p>
          <a:p>
            <a:r>
              <a:rPr lang="zh-CN" altLang="en-US" dirty="0"/>
              <a:t>在一个磁盘出现故障时，</a:t>
            </a:r>
            <a:r>
              <a:rPr lang="en-US" altLang="zh-CN" dirty="0"/>
              <a:t>RAID 1 </a:t>
            </a:r>
            <a:r>
              <a:rPr lang="zh-CN" altLang="en-US" dirty="0"/>
              <a:t>可提供最高的数据安全性，但由于数据需写入两次，因此在写入时性能会略有下降。在更注重安全性而非速度的情况下，</a:t>
            </a:r>
            <a:r>
              <a:rPr lang="en-US" altLang="zh-CN" dirty="0"/>
              <a:t>RAID 1 </a:t>
            </a:r>
            <a:r>
              <a:rPr lang="zh-CN" altLang="en-US" dirty="0"/>
              <a:t>是理想选择。</a:t>
            </a:r>
          </a:p>
        </p:txBody>
      </p:sp>
    </p:spTree>
    <p:extLst>
      <p:ext uri="{BB962C8B-B14F-4D97-AF65-F5344CB8AC3E}">
        <p14:creationId xmlns:p14="http://schemas.microsoft.com/office/powerpoint/2010/main" val="772156210"/>
      </p:ext>
    </p:extLst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>
              <a:latin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2733C78-B3ED-B741-A882-3714B0B7F9E9}"/>
              </a:ext>
            </a:extLst>
          </p:cNvPr>
          <p:cNvSpPr txBox="1"/>
          <p:nvPr/>
        </p:nvSpPr>
        <p:spPr>
          <a:xfrm>
            <a:off x="142194" y="594334"/>
            <a:ext cx="52893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dirty="0">
                <a:latin typeface="Microsoft YaHei" charset="-122"/>
                <a:ea typeface="Microsoft YaHei" charset="-122"/>
                <a:cs typeface="Microsoft YaHei" charset="-122"/>
              </a:rPr>
              <a:t>RAID 01 &amp; 10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7B503A0-728E-4656-BAE2-0F6E5B0366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1536" y="1491415"/>
            <a:ext cx="2774001" cy="241181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7C35254-DDA7-4F8B-ADD6-1CAC055170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1852" y="4106543"/>
            <a:ext cx="2774001" cy="2258479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11812949-1B01-401C-93BB-64F22960B9F6}"/>
              </a:ext>
            </a:extLst>
          </p:cNvPr>
          <p:cNvSpPr/>
          <p:nvPr/>
        </p:nvSpPr>
        <p:spPr>
          <a:xfrm>
            <a:off x="382825" y="1858718"/>
            <a:ext cx="4572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dirty="0"/>
              <a:t>在 </a:t>
            </a:r>
            <a:r>
              <a:rPr lang="en-US" altLang="zh-CN" dirty="0"/>
              <a:t>RAID 0+1 </a:t>
            </a:r>
            <a:r>
              <a:rPr lang="zh-CN" altLang="en-US" dirty="0"/>
              <a:t>阵列中，最多允许两个磁盘出现故障而不会丢失数据，但故障磁盘必须属于同一 </a:t>
            </a:r>
            <a:r>
              <a:rPr lang="en-US" altLang="zh-CN" dirty="0"/>
              <a:t>RAID 0 </a:t>
            </a:r>
            <a:r>
              <a:rPr lang="zh-CN" altLang="en-US" dirty="0"/>
              <a:t>队列。在图中，也就是当磁盘 </a:t>
            </a:r>
            <a:r>
              <a:rPr lang="en-US" altLang="zh-CN" dirty="0"/>
              <a:t>1 </a:t>
            </a:r>
            <a:r>
              <a:rPr lang="zh-CN" altLang="en-US" dirty="0"/>
              <a:t>和磁盘 </a:t>
            </a:r>
            <a:r>
              <a:rPr lang="en-US" altLang="zh-CN" dirty="0"/>
              <a:t>2 </a:t>
            </a:r>
            <a:r>
              <a:rPr lang="zh-CN" altLang="en-US" dirty="0"/>
              <a:t>出现故障时，数据会保存到磁盘 </a:t>
            </a:r>
            <a:r>
              <a:rPr lang="en-US" altLang="zh-CN" dirty="0"/>
              <a:t>3 </a:t>
            </a:r>
            <a:r>
              <a:rPr lang="zh-CN" altLang="en-US" dirty="0"/>
              <a:t>和磁盘 </a:t>
            </a:r>
            <a:r>
              <a:rPr lang="en-US" altLang="zh-CN" dirty="0"/>
              <a:t>4</a:t>
            </a:r>
            <a:r>
              <a:rPr lang="zh-CN" altLang="en-US" dirty="0"/>
              <a:t>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493E9DA-10CD-4122-AF1C-C6E4951D76C4}"/>
              </a:ext>
            </a:extLst>
          </p:cNvPr>
          <p:cNvSpPr/>
          <p:nvPr/>
        </p:nvSpPr>
        <p:spPr>
          <a:xfrm>
            <a:off x="283247" y="4400866"/>
            <a:ext cx="4572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dirty="0"/>
              <a:t>在 </a:t>
            </a:r>
            <a:r>
              <a:rPr lang="en-US" altLang="zh-CN" dirty="0"/>
              <a:t>RAID 10 </a:t>
            </a:r>
            <a:r>
              <a:rPr lang="zh-CN" altLang="en-US" dirty="0"/>
              <a:t>阵列中，每个镜像对中可以有一个磁盘出现故障而不丢失数据。不过，故障磁盘所在阵列的工作磁盘会成为整个阵列中的弱点。如果镜像对中的另一个磁盘也发生故障，则会丢失整个阵列。</a:t>
            </a:r>
          </a:p>
        </p:txBody>
      </p:sp>
    </p:spTree>
    <p:extLst>
      <p:ext uri="{BB962C8B-B14F-4D97-AF65-F5344CB8AC3E}">
        <p14:creationId xmlns:p14="http://schemas.microsoft.com/office/powerpoint/2010/main" val="2796321273"/>
      </p:ext>
    </p:extLst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>
              <a:latin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2733C78-B3ED-B741-A882-3714B0B7F9E9}"/>
              </a:ext>
            </a:extLst>
          </p:cNvPr>
          <p:cNvSpPr txBox="1"/>
          <p:nvPr/>
        </p:nvSpPr>
        <p:spPr>
          <a:xfrm>
            <a:off x="142194" y="594334"/>
            <a:ext cx="52893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dirty="0">
                <a:latin typeface="Microsoft YaHei" charset="-122"/>
                <a:ea typeface="Microsoft YaHei" charset="-122"/>
                <a:cs typeface="Microsoft YaHei" charset="-122"/>
              </a:rPr>
              <a:t>RAID 2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5D6F7C17-1131-493C-AFF3-DF4C4D966CBE}"/>
              </a:ext>
            </a:extLst>
          </p:cNvPr>
          <p:cNvPicPr/>
          <p:nvPr/>
        </p:nvPicPr>
        <p:blipFill rotWithShape="1">
          <a:blip r:embed="rId3"/>
          <a:srcRect b="15479"/>
          <a:stretch/>
        </p:blipFill>
        <p:spPr>
          <a:xfrm>
            <a:off x="2089034" y="2626559"/>
            <a:ext cx="4768966" cy="2539643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603F4FDC-06D8-4DC6-8A05-DB7D272E2119}"/>
              </a:ext>
            </a:extLst>
          </p:cNvPr>
          <p:cNvSpPr/>
          <p:nvPr/>
        </p:nvSpPr>
        <p:spPr>
          <a:xfrm>
            <a:off x="286449" y="1535173"/>
            <a:ext cx="843644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RAID2</a:t>
            </a: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采用内存系统中常用的纠错码——海明码（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Hamming error correcting code</a:t>
            </a: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）进行数据保护。用户数据以位或字节为单位进行条纹化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85109865"/>
      </p:ext>
    </p:extLst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>
              <a:latin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2733C78-B3ED-B741-A882-3714B0B7F9E9}"/>
              </a:ext>
            </a:extLst>
          </p:cNvPr>
          <p:cNvSpPr txBox="1"/>
          <p:nvPr/>
        </p:nvSpPr>
        <p:spPr>
          <a:xfrm>
            <a:off x="142194" y="594334"/>
            <a:ext cx="52893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dirty="0">
                <a:latin typeface="Microsoft YaHei" charset="-122"/>
                <a:ea typeface="Microsoft YaHei" charset="-122"/>
                <a:cs typeface="Microsoft YaHei" charset="-122"/>
              </a:rPr>
              <a:t>RAID 3 &amp; 4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E6EF9FC-1237-498F-BE60-D86DDCD285F8}"/>
              </a:ext>
            </a:extLst>
          </p:cNvPr>
          <p:cNvSpPr/>
          <p:nvPr/>
        </p:nvSpPr>
        <p:spPr>
          <a:xfrm>
            <a:off x="224679" y="1129041"/>
            <a:ext cx="8536046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RAID 3 </a:t>
            </a:r>
            <a:r>
              <a:rPr lang="zh-CN" altLang="en-US" dirty="0"/>
              <a:t>使用位</a:t>
            </a:r>
            <a:r>
              <a:rPr lang="en-US" altLang="zh-CN" dirty="0"/>
              <a:t>/</a:t>
            </a:r>
            <a:r>
              <a:rPr lang="zh-CN" altLang="en-US" dirty="0"/>
              <a:t>字节级别的条带化技术，并采用专用的奇偶校验磁盘，</a:t>
            </a:r>
            <a:endParaRPr lang="en-US" altLang="zh-CN" dirty="0"/>
          </a:p>
          <a:p>
            <a:r>
              <a:rPr lang="en-US" altLang="zh-CN" dirty="0"/>
              <a:t>     </a:t>
            </a:r>
            <a:r>
              <a:rPr lang="zh-CN" altLang="en-US" dirty="0"/>
              <a:t>因此计算机上会安装一个卷。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RAID 3 </a:t>
            </a:r>
            <a:r>
              <a:rPr lang="zh-CN" altLang="en-US" dirty="0"/>
              <a:t>阵列能在一个磁盘出现故障的情况下确保数据不丢失。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如果一个物理磁盘出现故障，该磁盘上的数据可以重建到更换磁盘上。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如果数据尚未重建到更换驱动器上，而此时又有一个磁盘出现故障，那么阵列中的所有数据都将丢失。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547177C-CC48-41E3-9553-3416CAC0A9F6}"/>
              </a:ext>
            </a:extLst>
          </p:cNvPr>
          <p:cNvSpPr/>
          <p:nvPr/>
        </p:nvSpPr>
        <p:spPr>
          <a:xfrm>
            <a:off x="224679" y="4954588"/>
            <a:ext cx="8774942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应用：</a:t>
            </a:r>
          </a:p>
          <a:p>
            <a:r>
              <a:rPr lang="en-US" altLang="zh-CN" dirty="0"/>
              <a:t>RAID 3&amp;4 </a:t>
            </a:r>
            <a:r>
              <a:rPr lang="zh-CN" altLang="en-US" dirty="0"/>
              <a:t>在要读取连续的长文件的环境中可提供良好的数据安全性。由于数据是从奇偶校验块中读取，因此磁盘故障不会导致服务中断。</a:t>
            </a:r>
            <a:r>
              <a:rPr lang="en-US" altLang="zh-CN" dirty="0"/>
              <a:t>RAID 3&amp;4 </a:t>
            </a:r>
            <a:r>
              <a:rPr lang="zh-CN" altLang="en-US" dirty="0"/>
              <a:t>适用于那些追求性能并要求持续访问数据的用户。对于密集使用不连续文件的用户来说，</a:t>
            </a:r>
            <a:r>
              <a:rPr lang="en-US" altLang="zh-CN" dirty="0"/>
              <a:t>RAID 3&amp;4 </a:t>
            </a:r>
            <a:r>
              <a:rPr lang="zh-CN" altLang="en-US" dirty="0"/>
              <a:t>并非理想之选，因为专用的奇偶校验磁盘会影响随机读取性能。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591BF64-2081-4FC0-AFFF-C1BF5A2629C0}"/>
              </a:ext>
            </a:extLst>
          </p:cNvPr>
          <p:cNvPicPr/>
          <p:nvPr/>
        </p:nvPicPr>
        <p:blipFill rotWithShape="1">
          <a:blip r:embed="rId3"/>
          <a:srcRect b="16764"/>
          <a:stretch/>
        </p:blipFill>
        <p:spPr>
          <a:xfrm>
            <a:off x="941421" y="2797670"/>
            <a:ext cx="3822216" cy="2012539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4852BD29-5D3F-4E42-AB0B-C6272B622D26}"/>
              </a:ext>
            </a:extLst>
          </p:cNvPr>
          <p:cNvPicPr/>
          <p:nvPr/>
        </p:nvPicPr>
        <p:blipFill rotWithShape="1">
          <a:blip r:embed="rId4"/>
          <a:srcRect b="17422"/>
          <a:stretch/>
        </p:blipFill>
        <p:spPr>
          <a:xfrm>
            <a:off x="4763637" y="2797670"/>
            <a:ext cx="3643630" cy="2012539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2363BA35-0D42-4CEE-8A74-D21D5DC1DB4C}"/>
              </a:ext>
            </a:extLst>
          </p:cNvPr>
          <p:cNvSpPr txBox="1"/>
          <p:nvPr/>
        </p:nvSpPr>
        <p:spPr>
          <a:xfrm>
            <a:off x="1803262" y="4779808"/>
            <a:ext cx="19672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RAID 3</a:t>
            </a:r>
            <a:r>
              <a:rPr lang="zh-CN" altLang="en-US" dirty="0"/>
              <a:t>（细粒度）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3C765EE-8C07-41A3-BE96-75F975C2DCD3}"/>
              </a:ext>
            </a:extLst>
          </p:cNvPr>
          <p:cNvSpPr txBox="1"/>
          <p:nvPr/>
        </p:nvSpPr>
        <p:spPr>
          <a:xfrm>
            <a:off x="5756807" y="4747542"/>
            <a:ext cx="19672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RAID 4</a:t>
            </a:r>
            <a:r>
              <a:rPr lang="zh-CN" altLang="en-US" dirty="0"/>
              <a:t>（粗粒度）</a:t>
            </a:r>
          </a:p>
        </p:txBody>
      </p:sp>
    </p:spTree>
    <p:extLst>
      <p:ext uri="{BB962C8B-B14F-4D97-AF65-F5344CB8AC3E}">
        <p14:creationId xmlns:p14="http://schemas.microsoft.com/office/powerpoint/2010/main" val="3834874379"/>
      </p:ext>
    </p:extLst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>
              <a:latin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2733C78-B3ED-B741-A882-3714B0B7F9E9}"/>
              </a:ext>
            </a:extLst>
          </p:cNvPr>
          <p:cNvSpPr txBox="1"/>
          <p:nvPr/>
        </p:nvSpPr>
        <p:spPr>
          <a:xfrm>
            <a:off x="142194" y="594334"/>
            <a:ext cx="52893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dirty="0">
                <a:latin typeface="Microsoft YaHei" charset="-122"/>
                <a:ea typeface="Microsoft YaHei" charset="-122"/>
                <a:cs typeface="Microsoft YaHei" charset="-122"/>
              </a:rPr>
              <a:t>RAID 5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5EBF114-7759-4FC3-A204-37C09DFDF3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503" y="3972232"/>
            <a:ext cx="3212224" cy="2252917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706B228F-A5E8-48C2-8DAF-2F23AA938EF0}"/>
              </a:ext>
            </a:extLst>
          </p:cNvPr>
          <p:cNvSpPr/>
          <p:nvPr/>
        </p:nvSpPr>
        <p:spPr>
          <a:xfrm>
            <a:off x="209876" y="1296570"/>
            <a:ext cx="7922905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RAID 5 </a:t>
            </a:r>
            <a:r>
              <a:rPr lang="zh-CN" altLang="en-US" dirty="0"/>
              <a:t>综合了 </a:t>
            </a:r>
            <a:r>
              <a:rPr lang="en-US" altLang="zh-CN" dirty="0"/>
              <a:t>RAID 0 </a:t>
            </a:r>
            <a:r>
              <a:rPr lang="zh-CN" altLang="en-US" dirty="0"/>
              <a:t>的条带化技术以及阵列数据冗余技术（阵列最少包括三个磁盘）。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RAID 3 </a:t>
            </a:r>
            <a:r>
              <a:rPr lang="zh-CN" altLang="en-US" dirty="0"/>
              <a:t>和 </a:t>
            </a:r>
            <a:r>
              <a:rPr lang="en-US" altLang="zh-CN" dirty="0"/>
              <a:t>RAID 5 </a:t>
            </a:r>
            <a:r>
              <a:rPr lang="zh-CN" altLang="en-US" dirty="0"/>
              <a:t>之间的区别在于，</a:t>
            </a:r>
            <a:r>
              <a:rPr lang="en-US" altLang="zh-CN" dirty="0"/>
              <a:t>RAID 3 </a:t>
            </a:r>
            <a:r>
              <a:rPr lang="zh-CN" altLang="en-US" dirty="0"/>
              <a:t>配置提供的性能更高，但总容量略低。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数据会在所有磁盘之间分条，并且每个数据块的奇偶校验块 </a:t>
            </a:r>
            <a:r>
              <a:rPr lang="en-US" altLang="zh-CN" dirty="0"/>
              <a:t>(P) </a:t>
            </a:r>
            <a:r>
              <a:rPr lang="zh-CN" altLang="en-US" dirty="0"/>
              <a:t>写入到同一条带上。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如果一个物理磁盘出现故障，该磁盘上的数据可以重建到更换磁盘上。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单个磁盘出现故障时，数据不会丢失，但如果数据尚未重建到更换驱动器上，而此时又有一个磁盘出现故障，那么阵列中的所有数据都将丢失。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39BC116-8C3D-4E52-A90F-6BA3AE619697}"/>
              </a:ext>
            </a:extLst>
          </p:cNvPr>
          <p:cNvSpPr/>
          <p:nvPr/>
        </p:nvSpPr>
        <p:spPr>
          <a:xfrm>
            <a:off x="4002006" y="4176783"/>
            <a:ext cx="4572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dirty="0"/>
              <a:t>应用：</a:t>
            </a:r>
          </a:p>
          <a:p>
            <a:r>
              <a:rPr lang="en-US" altLang="zh-CN" dirty="0"/>
              <a:t>RAID 5 </a:t>
            </a:r>
            <a:r>
              <a:rPr lang="zh-CN" altLang="en-US" dirty="0"/>
              <a:t>综合考虑了数据安全和磁盘空间充分利用这两方面的因素。由于数据是从奇偶校验块中读取，因此磁盘故障不会导致服务中断。</a:t>
            </a:r>
            <a:r>
              <a:rPr lang="en-US" altLang="zh-CN" dirty="0"/>
              <a:t>RAID 5 </a:t>
            </a:r>
            <a:r>
              <a:rPr lang="zh-CN" altLang="en-US" dirty="0"/>
              <a:t>适用于归档，且适合那些追求性能并要求持续访问数据的用户（如视频编辑人员）使用。</a:t>
            </a:r>
          </a:p>
        </p:txBody>
      </p:sp>
    </p:spTree>
    <p:extLst>
      <p:ext uri="{BB962C8B-B14F-4D97-AF65-F5344CB8AC3E}">
        <p14:creationId xmlns:p14="http://schemas.microsoft.com/office/powerpoint/2010/main" val="3861775957"/>
      </p:ext>
    </p:extLst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>
              <a:latin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2733C78-B3ED-B741-A882-3714B0B7F9E9}"/>
              </a:ext>
            </a:extLst>
          </p:cNvPr>
          <p:cNvSpPr txBox="1"/>
          <p:nvPr/>
        </p:nvSpPr>
        <p:spPr>
          <a:xfrm>
            <a:off x="142194" y="594334"/>
            <a:ext cx="52893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dirty="0">
                <a:latin typeface="Microsoft YaHei" charset="-122"/>
                <a:ea typeface="Microsoft YaHei" charset="-122"/>
                <a:cs typeface="Microsoft YaHei" charset="-122"/>
              </a:rPr>
              <a:t>RAID 6 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89A6541-0A93-47D2-B7C2-0E32219916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2118" y="2898322"/>
            <a:ext cx="3782907" cy="2262673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3C73759B-7F05-45A2-8070-75426F99904E}"/>
              </a:ext>
            </a:extLst>
          </p:cNvPr>
          <p:cNvSpPr/>
          <p:nvPr/>
        </p:nvSpPr>
        <p:spPr>
          <a:xfrm>
            <a:off x="142194" y="1351014"/>
            <a:ext cx="8183659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在 </a:t>
            </a:r>
            <a:r>
              <a:rPr lang="en-US" altLang="zh-CN" dirty="0"/>
              <a:t>RAID 6 </a:t>
            </a:r>
            <a:r>
              <a:rPr lang="zh-CN" altLang="en-US" dirty="0"/>
              <a:t>中，数据会在所有磁盘（最少四个）间进行分条，并且每个数据块的两个奇偶校验块（如右图中的 </a:t>
            </a:r>
            <a:r>
              <a:rPr lang="en-US" altLang="zh-CN" dirty="0"/>
              <a:t>p </a:t>
            </a:r>
            <a:r>
              <a:rPr lang="zh-CN" altLang="en-US" dirty="0"/>
              <a:t>和 </a:t>
            </a:r>
            <a:r>
              <a:rPr lang="en-US" altLang="zh-CN" dirty="0"/>
              <a:t>q</a:t>
            </a:r>
            <a:r>
              <a:rPr lang="zh-CN" altLang="en-US" dirty="0"/>
              <a:t>）写入到同一条带上。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如果一个物理磁盘出现故障，该磁盘上的数据可以重建到更换磁盘上。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这种 </a:t>
            </a:r>
            <a:r>
              <a:rPr lang="en-US" altLang="zh-CN" dirty="0"/>
              <a:t>RAID </a:t>
            </a:r>
            <a:r>
              <a:rPr lang="zh-CN" altLang="en-US" dirty="0"/>
              <a:t>模式最多允许两个磁盘出故障而不丢失数据，而且它能更快地重建故障磁盘上的数据。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48BECC4-6D53-4639-BEB8-5C486C23DC8F}"/>
              </a:ext>
            </a:extLst>
          </p:cNvPr>
          <p:cNvSpPr/>
          <p:nvPr/>
        </p:nvSpPr>
        <p:spPr>
          <a:xfrm>
            <a:off x="500866" y="5160995"/>
            <a:ext cx="818365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应用：</a:t>
            </a:r>
          </a:p>
          <a:p>
            <a:r>
              <a:rPr lang="zh-CN" altLang="en-US" dirty="0"/>
              <a:t>在驱动器出现故障时，</a:t>
            </a:r>
            <a:r>
              <a:rPr lang="en-US" altLang="zh-CN" dirty="0"/>
              <a:t>RAID 6 </a:t>
            </a:r>
            <a:r>
              <a:rPr lang="zh-CN" altLang="en-US" dirty="0"/>
              <a:t>能进行有效的重建，确保了数据的可靠性。</a:t>
            </a:r>
            <a:endParaRPr lang="en-US" altLang="zh-CN" dirty="0"/>
          </a:p>
          <a:p>
            <a:r>
              <a:rPr lang="zh-CN" altLang="en-US" dirty="0"/>
              <a:t>为此，安全性要求较高，而性能要求不高的用户可以选择 </a:t>
            </a:r>
            <a:r>
              <a:rPr lang="en-US" altLang="zh-CN" dirty="0"/>
              <a:t>RAID 6</a:t>
            </a:r>
            <a:r>
              <a:rPr lang="zh-CN" altLang="en-US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170246839"/>
      </p:ext>
    </p:extLst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>
              <a:latin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2733C78-B3ED-B741-A882-3714B0B7F9E9}"/>
              </a:ext>
            </a:extLst>
          </p:cNvPr>
          <p:cNvSpPr txBox="1"/>
          <p:nvPr/>
        </p:nvSpPr>
        <p:spPr>
          <a:xfrm>
            <a:off x="142194" y="594334"/>
            <a:ext cx="52893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dirty="0">
                <a:latin typeface="Microsoft YaHei" charset="-122"/>
                <a:ea typeface="Microsoft YaHei" charset="-122"/>
                <a:cs typeface="Microsoft YaHei" charset="-122"/>
              </a:rPr>
              <a:t>Linux RAID 6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0C6E088-ECDC-4747-8488-E1FEA62664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247" y="1290895"/>
            <a:ext cx="6042038" cy="323309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48145CBC-B266-42F1-A51C-993D604AF3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738" y="4697326"/>
            <a:ext cx="7173326" cy="666843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C251992C-7469-4F2D-B56E-6B10B57946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2194" y="5304011"/>
            <a:ext cx="7297168" cy="914528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831FB120-57E1-42AB-9E3C-5393226FAFC5}"/>
              </a:ext>
            </a:extLst>
          </p:cNvPr>
          <p:cNvSpPr txBox="1"/>
          <p:nvPr/>
        </p:nvSpPr>
        <p:spPr>
          <a:xfrm>
            <a:off x="7404064" y="4816003"/>
            <a:ext cx="1457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计算校验块</a:t>
            </a:r>
            <a:r>
              <a:rPr lang="en-US" altLang="zh-CN" dirty="0"/>
              <a:t>P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330D7EB-3894-4B88-B8DA-C21969501066}"/>
              </a:ext>
            </a:extLst>
          </p:cNvPr>
          <p:cNvSpPr txBox="1"/>
          <p:nvPr/>
        </p:nvSpPr>
        <p:spPr>
          <a:xfrm>
            <a:off x="7465985" y="5588613"/>
            <a:ext cx="1494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计算校验块</a:t>
            </a:r>
            <a:r>
              <a:rPr lang="en-US" altLang="zh-CN" dirty="0"/>
              <a:t>Q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7B5C68F-6296-44F9-BA53-DB0DD5185BEE}"/>
              </a:ext>
            </a:extLst>
          </p:cNvPr>
          <p:cNvSpPr txBox="1"/>
          <p:nvPr/>
        </p:nvSpPr>
        <p:spPr>
          <a:xfrm>
            <a:off x="4710276" y="6254579"/>
            <a:ext cx="43428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利用</a:t>
            </a:r>
            <a:r>
              <a:rPr lang="en-US" altLang="zh-CN" dirty="0"/>
              <a:t>x2</a:t>
            </a:r>
            <a:r>
              <a:rPr lang="zh-CN" altLang="en-US" dirty="0"/>
              <a:t>的快速乘法计算</a:t>
            </a:r>
            <a:r>
              <a:rPr lang="en-US" altLang="zh-CN" dirty="0"/>
              <a:t>Q—&gt;</a:t>
            </a:r>
            <a:r>
              <a:rPr lang="zh-CN" altLang="en-US" dirty="0"/>
              <a:t>加快编码速度</a:t>
            </a:r>
          </a:p>
        </p:txBody>
      </p:sp>
    </p:spTree>
    <p:extLst>
      <p:ext uri="{BB962C8B-B14F-4D97-AF65-F5344CB8AC3E}">
        <p14:creationId xmlns:p14="http://schemas.microsoft.com/office/powerpoint/2010/main" val="343668059"/>
      </p:ext>
    </p:extLst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/>
          </a:p>
        </p:txBody>
      </p:sp>
      <p:sp>
        <p:nvSpPr>
          <p:cNvPr id="2" name="文本框 1"/>
          <p:cNvSpPr txBox="1"/>
          <p:nvPr/>
        </p:nvSpPr>
        <p:spPr>
          <a:xfrm>
            <a:off x="6801492" y="436651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376717" y="1173975"/>
            <a:ext cx="11079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3600" dirty="0">
                <a:solidFill>
                  <a:schemeClr val="bg1">
                    <a:lumMod val="95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目录</a:t>
            </a:r>
            <a:endParaRPr kumimoji="1" lang="en-US" altLang="zh-CN" sz="3600" dirty="0">
              <a:solidFill>
                <a:schemeClr val="bg1">
                  <a:lumMod val="95000"/>
                </a:schemeClr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770166" y="2411366"/>
            <a:ext cx="6373834" cy="3247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chemeClr val="bg1">
                  <a:lumMod val="95000"/>
                </a:schemeClr>
              </a:buClr>
              <a:buSzPct val="75000"/>
              <a:buFont typeface="Wingdings" charset="2"/>
              <a:buChar char="l"/>
            </a:pPr>
            <a:r>
              <a:rPr kumimoji="1" lang="zh-CN" altLang="en-US" sz="2800" dirty="0">
                <a:latin typeface="Microsoft YaHei" charset="-122"/>
                <a:ea typeface="Microsoft YaHei" charset="-122"/>
                <a:cs typeface="Microsoft YaHei" charset="-122"/>
              </a:rPr>
              <a:t>     </a:t>
            </a:r>
            <a:r>
              <a:rPr kumimoji="1" lang="en-US" altLang="zh-CN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RAID</a:t>
            </a:r>
          </a:p>
          <a:p>
            <a:pPr marL="285750" indent="-285750">
              <a:lnSpc>
                <a:spcPct val="150000"/>
              </a:lnSpc>
              <a:buClr>
                <a:schemeClr val="bg1">
                  <a:lumMod val="95000"/>
                </a:schemeClr>
              </a:buClr>
              <a:buSzPct val="75000"/>
              <a:buFont typeface="Wingdings" charset="2"/>
              <a:buChar char="l"/>
            </a:pPr>
            <a:r>
              <a:rPr kumimoji="1" lang="en-US" altLang="zh-CN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     </a:t>
            </a:r>
            <a:r>
              <a:rPr kumimoji="1" lang="en-US" altLang="zh-CN" sz="2800" dirty="0">
                <a:latin typeface="Microsoft YaHei" charset="-122"/>
                <a:ea typeface="Microsoft YaHei" charset="-122"/>
                <a:cs typeface="Microsoft YaHei" charset="-122"/>
              </a:rPr>
              <a:t>Erasure</a:t>
            </a:r>
            <a:r>
              <a:rPr kumimoji="1" lang="zh-CN" altLang="en-US" sz="2800" dirty="0">
                <a:latin typeface="Microsoft YaHei" charset="-122"/>
                <a:ea typeface="Microsoft YaHei" charset="-122"/>
                <a:cs typeface="Microsoft YaHei" charset="-122"/>
              </a:rPr>
              <a:t> </a:t>
            </a:r>
            <a:r>
              <a:rPr kumimoji="1" lang="en-US" altLang="zh-CN" sz="2800" dirty="0">
                <a:latin typeface="Microsoft YaHei" charset="-122"/>
                <a:ea typeface="Microsoft YaHei" charset="-122"/>
                <a:cs typeface="Microsoft YaHei" charset="-122"/>
              </a:rPr>
              <a:t>Codes</a:t>
            </a:r>
            <a:endParaRPr kumimoji="1" lang="en-US" altLang="zh-CN" sz="2800" dirty="0">
              <a:solidFill>
                <a:schemeClr val="tx1">
                  <a:lumMod val="50000"/>
                  <a:lumOff val="50000"/>
                </a:schemeClr>
              </a:solidFill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285750" indent="-285750">
              <a:lnSpc>
                <a:spcPct val="150000"/>
              </a:lnSpc>
              <a:buClr>
                <a:schemeClr val="bg1">
                  <a:lumMod val="95000"/>
                </a:schemeClr>
              </a:buClr>
              <a:buSzPct val="75000"/>
              <a:buFont typeface="Wingdings" charset="2"/>
              <a:buChar char="l"/>
            </a:pPr>
            <a:r>
              <a:rPr kumimoji="1" lang="en-US" altLang="zh-CN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     Reed-Solomon Codes</a:t>
            </a:r>
          </a:p>
          <a:p>
            <a:pPr marL="285750" indent="-285750">
              <a:lnSpc>
                <a:spcPct val="150000"/>
              </a:lnSpc>
              <a:buClr>
                <a:schemeClr val="bg1">
                  <a:lumMod val="95000"/>
                </a:schemeClr>
              </a:buClr>
              <a:buSzPct val="75000"/>
              <a:buFont typeface="Wingdings" charset="2"/>
              <a:buChar char="l"/>
            </a:pPr>
            <a:r>
              <a:rPr kumimoji="1" lang="en-US" altLang="zh-CN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     Array Codes</a:t>
            </a:r>
          </a:p>
          <a:p>
            <a:pPr marL="285750" indent="-285750">
              <a:lnSpc>
                <a:spcPct val="150000"/>
              </a:lnSpc>
              <a:buClr>
                <a:schemeClr val="bg1">
                  <a:lumMod val="95000"/>
                </a:schemeClr>
              </a:buClr>
              <a:buSzPct val="75000"/>
              <a:buFont typeface="Wingdings" charset="2"/>
              <a:buChar char="l"/>
            </a:pPr>
            <a:r>
              <a:rPr kumimoji="1" lang="en-US" altLang="zh-CN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     Latin Squares &amp; Erasure Codes</a:t>
            </a:r>
          </a:p>
        </p:txBody>
      </p:sp>
    </p:spTree>
    <p:extLst>
      <p:ext uri="{BB962C8B-B14F-4D97-AF65-F5344CB8AC3E}">
        <p14:creationId xmlns:p14="http://schemas.microsoft.com/office/powerpoint/2010/main" val="2401547455"/>
      </p:ext>
    </p:extLst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>
              <a:latin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2733C78-B3ED-B741-A882-3714B0B7F9E9}"/>
              </a:ext>
            </a:extLst>
          </p:cNvPr>
          <p:cNvSpPr txBox="1"/>
          <p:nvPr/>
        </p:nvSpPr>
        <p:spPr>
          <a:xfrm>
            <a:off x="154386" y="600136"/>
            <a:ext cx="52893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dirty="0">
                <a:latin typeface="Microsoft YaHei" charset="-122"/>
                <a:ea typeface="Microsoft YaHei" charset="-122"/>
                <a:cs typeface="Microsoft YaHei" charset="-122"/>
              </a:rPr>
              <a:t>Erasure</a:t>
            </a:r>
            <a:r>
              <a:rPr kumimoji="1" lang="zh-CN" altLang="en-US" sz="2800" dirty="0">
                <a:latin typeface="Microsoft YaHei" charset="-122"/>
                <a:ea typeface="Microsoft YaHei" charset="-122"/>
                <a:cs typeface="Microsoft YaHei" charset="-122"/>
              </a:rPr>
              <a:t> </a:t>
            </a:r>
            <a:r>
              <a:rPr kumimoji="1" lang="en-US" altLang="zh-CN" sz="2800" dirty="0">
                <a:latin typeface="Microsoft YaHei" charset="-122"/>
                <a:ea typeface="Microsoft YaHei" charset="-122"/>
                <a:cs typeface="Microsoft YaHei" charset="-122"/>
              </a:rPr>
              <a:t>Codes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09D7357-48E2-4B50-B28B-A30B8E3C7C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914" y="1773001"/>
            <a:ext cx="6005049" cy="1827624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347A7E48-8CB9-4331-83F4-2A47166B3E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258" y="3982279"/>
            <a:ext cx="6136686" cy="2275585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78EC7186-2764-4BE9-BA83-69F4F34B42B8}"/>
              </a:ext>
            </a:extLst>
          </p:cNvPr>
          <p:cNvSpPr txBox="1"/>
          <p:nvPr/>
        </p:nvSpPr>
        <p:spPr>
          <a:xfrm>
            <a:off x="1292352" y="1403669"/>
            <a:ext cx="620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Data</a:t>
            </a:r>
            <a:endParaRPr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A14DB5F-7F3C-42CB-8B53-784CF1145D23}"/>
              </a:ext>
            </a:extLst>
          </p:cNvPr>
          <p:cNvSpPr txBox="1"/>
          <p:nvPr/>
        </p:nvSpPr>
        <p:spPr>
          <a:xfrm>
            <a:off x="4572000" y="1403669"/>
            <a:ext cx="15190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Storage nodes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94E7C8F-F176-49B5-A69F-A3C8B95D2928}"/>
              </a:ext>
            </a:extLst>
          </p:cNvPr>
          <p:cNvSpPr txBox="1"/>
          <p:nvPr/>
        </p:nvSpPr>
        <p:spPr>
          <a:xfrm>
            <a:off x="6701176" y="2453604"/>
            <a:ext cx="21595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将数据存储到存储节点中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FEDEA86-AAEB-457B-B4E1-8C8C558EF2D4}"/>
              </a:ext>
            </a:extLst>
          </p:cNvPr>
          <p:cNvSpPr txBox="1"/>
          <p:nvPr/>
        </p:nvSpPr>
        <p:spPr>
          <a:xfrm>
            <a:off x="6701176" y="4525721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即使节点失效，仍能从剩余</a:t>
            </a:r>
            <a:endParaRPr lang="en-US" altLang="zh-CN" sz="1400" dirty="0"/>
          </a:p>
          <a:p>
            <a:r>
              <a:rPr lang="zh-CN" altLang="en-US" sz="1400" dirty="0"/>
              <a:t>节点中恢复出原始数据。</a:t>
            </a:r>
            <a:endParaRPr lang="en-US" altLang="zh-CN" sz="1400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264B51B-CFB7-4CBC-A5E2-4239D32D2902}"/>
              </a:ext>
            </a:extLst>
          </p:cNvPr>
          <p:cNvSpPr txBox="1"/>
          <p:nvPr/>
        </p:nvSpPr>
        <p:spPr>
          <a:xfrm>
            <a:off x="4389367" y="6116298"/>
            <a:ext cx="48031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如果磁盘失效，磁盘中的内容变为不可用状态，并被存储系统删掉。我们将这种失效（</a:t>
            </a:r>
            <a:r>
              <a:rPr lang="en-US" altLang="zh-CN" sz="1400" dirty="0"/>
              <a:t>failure</a:t>
            </a:r>
            <a:r>
              <a:rPr lang="zh-CN" altLang="en-US" sz="1400" dirty="0"/>
              <a:t>）模式称之为</a:t>
            </a:r>
            <a:r>
              <a:rPr lang="en-US" altLang="zh-CN" sz="1400" dirty="0">
                <a:solidFill>
                  <a:srgbClr val="FF0000"/>
                </a:solidFill>
              </a:rPr>
              <a:t>erasure</a:t>
            </a:r>
            <a:r>
              <a:rPr lang="zh-CN" altLang="en-US" sz="1400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82443182"/>
      </p:ext>
    </p:extLst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>
              <a:latin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2733C78-B3ED-B741-A882-3714B0B7F9E9}"/>
              </a:ext>
            </a:extLst>
          </p:cNvPr>
          <p:cNvSpPr txBox="1"/>
          <p:nvPr/>
        </p:nvSpPr>
        <p:spPr>
          <a:xfrm>
            <a:off x="104351" y="589775"/>
            <a:ext cx="52893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dirty="0">
                <a:latin typeface="Microsoft YaHei" charset="-122"/>
                <a:ea typeface="Microsoft YaHei" charset="-122"/>
                <a:cs typeface="Microsoft YaHei" charset="-122"/>
              </a:rPr>
              <a:t>Erasure</a:t>
            </a:r>
            <a:r>
              <a:rPr kumimoji="1" lang="zh-CN" altLang="en-US" sz="2800" dirty="0">
                <a:latin typeface="Microsoft YaHei" charset="-122"/>
                <a:ea typeface="Microsoft YaHei" charset="-122"/>
                <a:cs typeface="Microsoft YaHei" charset="-122"/>
              </a:rPr>
              <a:t> </a:t>
            </a:r>
            <a:r>
              <a:rPr kumimoji="1" lang="en-US" altLang="zh-CN" sz="2800" dirty="0">
                <a:latin typeface="Microsoft YaHei" charset="-122"/>
                <a:ea typeface="Microsoft YaHei" charset="-122"/>
                <a:cs typeface="Microsoft YaHei" charset="-122"/>
              </a:rPr>
              <a:t>Codes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8F1263C-7C64-4CA1-99CB-084F09A5D4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862" y="1633914"/>
            <a:ext cx="7199121" cy="226120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9D419229-5CF4-41A8-864B-FAB3DFB59950}"/>
              </a:ext>
            </a:extLst>
          </p:cNvPr>
          <p:cNvSpPr txBox="1"/>
          <p:nvPr/>
        </p:nvSpPr>
        <p:spPr>
          <a:xfrm>
            <a:off x="256032" y="1215628"/>
            <a:ext cx="70920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系统码（系统纠删码）：</a:t>
            </a:r>
            <a:r>
              <a:rPr lang="en-US" altLang="zh-CN" dirty="0"/>
              <a:t> k</a:t>
            </a:r>
            <a:r>
              <a:rPr lang="zh-CN" altLang="en-US" dirty="0"/>
              <a:t>个数据磁盘 </a:t>
            </a:r>
            <a:r>
              <a:rPr lang="en-US" altLang="zh-CN" dirty="0"/>
              <a:t>+ m</a:t>
            </a:r>
            <a:r>
              <a:rPr lang="zh-CN" altLang="en-US" dirty="0"/>
              <a:t>个校验磁盘 </a:t>
            </a:r>
            <a:r>
              <a:rPr lang="en-US" altLang="zh-CN" dirty="0"/>
              <a:t>= n</a:t>
            </a:r>
            <a:r>
              <a:rPr lang="zh-CN" altLang="en-US" dirty="0"/>
              <a:t>个总磁盘。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54AC7DA-AEBE-48F6-BC1C-98F2FF5B5D32}"/>
              </a:ext>
            </a:extLst>
          </p:cNvPr>
          <p:cNvSpPr txBox="1"/>
          <p:nvPr/>
        </p:nvSpPr>
        <p:spPr>
          <a:xfrm>
            <a:off x="335966" y="3997747"/>
            <a:ext cx="59041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非系统码（非系统纠删码）：只存储</a:t>
            </a:r>
            <a:r>
              <a:rPr lang="en-US" altLang="zh-CN" dirty="0"/>
              <a:t>n=</a:t>
            </a:r>
            <a:r>
              <a:rPr lang="en-US" altLang="zh-CN" dirty="0" err="1"/>
              <a:t>k+m</a:t>
            </a:r>
            <a:r>
              <a:rPr lang="zh-CN" altLang="en-US" dirty="0"/>
              <a:t>的校验信息。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AD8D7C81-400C-4CE6-A296-2CF36481B5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863" y="4367079"/>
            <a:ext cx="6706536" cy="1914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3287192"/>
      </p:ext>
    </p:extLst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>
              <a:latin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2733C78-B3ED-B741-A882-3714B0B7F9E9}"/>
              </a:ext>
            </a:extLst>
          </p:cNvPr>
          <p:cNvSpPr txBox="1"/>
          <p:nvPr/>
        </p:nvSpPr>
        <p:spPr>
          <a:xfrm>
            <a:off x="142194" y="594334"/>
            <a:ext cx="52893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dirty="0">
                <a:latin typeface="Microsoft YaHei" charset="-122"/>
                <a:ea typeface="Microsoft YaHei" charset="-122"/>
                <a:cs typeface="Microsoft YaHei" charset="-122"/>
              </a:rPr>
              <a:t>Erasure</a:t>
            </a:r>
            <a:r>
              <a:rPr kumimoji="1" lang="zh-CN" altLang="en-US" sz="2800" dirty="0">
                <a:latin typeface="Microsoft YaHei" charset="-122"/>
                <a:ea typeface="Microsoft YaHei" charset="-122"/>
                <a:cs typeface="Microsoft YaHei" charset="-122"/>
              </a:rPr>
              <a:t> </a:t>
            </a:r>
            <a:r>
              <a:rPr kumimoji="1" lang="en-US" altLang="zh-CN" sz="2800" dirty="0">
                <a:latin typeface="Microsoft YaHei" charset="-122"/>
                <a:ea typeface="Microsoft YaHei" charset="-122"/>
                <a:cs typeface="Microsoft YaHei" charset="-122"/>
              </a:rPr>
              <a:t>Codes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EBDD72D-6098-4BC0-8741-D04245DB9B46}"/>
              </a:ext>
            </a:extLst>
          </p:cNvPr>
          <p:cNvSpPr txBox="1"/>
          <p:nvPr/>
        </p:nvSpPr>
        <p:spPr>
          <a:xfrm>
            <a:off x="142194" y="1276588"/>
            <a:ext cx="79811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MDS</a:t>
            </a:r>
            <a:r>
              <a:rPr lang="zh-CN" altLang="en-US" dirty="0"/>
              <a:t>（</a:t>
            </a:r>
            <a:r>
              <a:rPr lang="en-US" altLang="zh-CN" dirty="0"/>
              <a:t>Maximum Distance Separable</a:t>
            </a:r>
            <a:r>
              <a:rPr lang="zh-CN" altLang="en-US" dirty="0"/>
              <a:t>）码：可以从任意</a:t>
            </a:r>
            <a:r>
              <a:rPr lang="en-US" altLang="zh-CN" dirty="0"/>
              <a:t>m</a:t>
            </a:r>
            <a:r>
              <a:rPr lang="zh-CN" altLang="en-US" dirty="0"/>
              <a:t>个</a:t>
            </a:r>
            <a:r>
              <a:rPr lang="en-US" altLang="zh-CN" dirty="0"/>
              <a:t>failures</a:t>
            </a:r>
            <a:r>
              <a:rPr lang="zh-CN" altLang="en-US" dirty="0"/>
              <a:t>中重构数据。</a:t>
            </a:r>
            <a:endParaRPr lang="en-US" altLang="zh-CN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91D35E9-F2C9-433F-8676-3FE9F8DED8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647" y="1612392"/>
            <a:ext cx="6849431" cy="196242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9E9D64C-DB95-4378-9F41-14317764B5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448" y="3933542"/>
            <a:ext cx="4214552" cy="115492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B0FD27E0-2A86-4304-B9C3-9F85061B11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9512" y="3953791"/>
            <a:ext cx="4214552" cy="1084090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0661A2F1-C976-4294-A6C9-F2F138F8D2AB}"/>
              </a:ext>
            </a:extLst>
          </p:cNvPr>
          <p:cNvSpPr txBox="1"/>
          <p:nvPr/>
        </p:nvSpPr>
        <p:spPr>
          <a:xfrm>
            <a:off x="1875066" y="5245608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水平码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6959688-A2CF-4870-A681-27DF97F87A7B}"/>
              </a:ext>
            </a:extLst>
          </p:cNvPr>
          <p:cNvSpPr txBox="1"/>
          <p:nvPr/>
        </p:nvSpPr>
        <p:spPr>
          <a:xfrm>
            <a:off x="6184938" y="5144365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垂直码</a:t>
            </a:r>
          </a:p>
        </p:txBody>
      </p:sp>
    </p:spTree>
    <p:extLst>
      <p:ext uri="{BB962C8B-B14F-4D97-AF65-F5344CB8AC3E}">
        <p14:creationId xmlns:p14="http://schemas.microsoft.com/office/powerpoint/2010/main" val="3922342059"/>
      </p:ext>
    </p:extLst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/>
          </a:p>
        </p:txBody>
      </p:sp>
      <p:sp>
        <p:nvSpPr>
          <p:cNvPr id="2" name="文本框 1"/>
          <p:cNvSpPr txBox="1"/>
          <p:nvPr/>
        </p:nvSpPr>
        <p:spPr>
          <a:xfrm>
            <a:off x="6801492" y="436651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376717" y="1173975"/>
            <a:ext cx="11079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3600" dirty="0">
                <a:solidFill>
                  <a:schemeClr val="bg1">
                    <a:lumMod val="95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目录</a:t>
            </a:r>
            <a:endParaRPr kumimoji="1" lang="en-US" altLang="zh-CN" sz="3600" dirty="0">
              <a:solidFill>
                <a:schemeClr val="bg1">
                  <a:lumMod val="95000"/>
                </a:schemeClr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DC372BE-439C-4BA6-8FC3-1E540E337AFB}"/>
              </a:ext>
            </a:extLst>
          </p:cNvPr>
          <p:cNvSpPr txBox="1"/>
          <p:nvPr/>
        </p:nvSpPr>
        <p:spPr>
          <a:xfrm>
            <a:off x="2770166" y="2411366"/>
            <a:ext cx="6373834" cy="3247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chemeClr val="bg1">
                  <a:lumMod val="95000"/>
                </a:schemeClr>
              </a:buClr>
              <a:buSzPct val="75000"/>
              <a:buFont typeface="Wingdings" charset="2"/>
              <a:buChar char="l"/>
            </a:pPr>
            <a:r>
              <a:rPr kumimoji="1" lang="zh-CN" altLang="en-US" sz="2800" dirty="0">
                <a:latin typeface="Microsoft YaHei" charset="-122"/>
                <a:ea typeface="Microsoft YaHei" charset="-122"/>
                <a:cs typeface="Microsoft YaHei" charset="-122"/>
              </a:rPr>
              <a:t>     </a:t>
            </a:r>
            <a:r>
              <a:rPr kumimoji="1" lang="en-US" altLang="zh-CN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RAID</a:t>
            </a:r>
          </a:p>
          <a:p>
            <a:pPr marL="285750" indent="-285750">
              <a:lnSpc>
                <a:spcPct val="150000"/>
              </a:lnSpc>
              <a:buClr>
                <a:schemeClr val="bg1">
                  <a:lumMod val="95000"/>
                </a:schemeClr>
              </a:buClr>
              <a:buSzPct val="75000"/>
              <a:buFont typeface="Wingdings" charset="2"/>
              <a:buChar char="l"/>
            </a:pPr>
            <a:r>
              <a:rPr kumimoji="1" lang="en-US" altLang="zh-CN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     </a:t>
            </a:r>
            <a:r>
              <a:rPr kumimoji="1" lang="en-US" altLang="zh-CN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charset="-122"/>
                <a:ea typeface="Microsoft YaHei" charset="-122"/>
              </a:rPr>
              <a:t>Erasure</a:t>
            </a:r>
            <a:r>
              <a:rPr kumimoji="1" lang="zh-CN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charset="-122"/>
                <a:ea typeface="Microsoft YaHei" charset="-122"/>
              </a:rPr>
              <a:t> </a:t>
            </a:r>
            <a:r>
              <a:rPr kumimoji="1" lang="en-US" altLang="zh-CN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charset="-122"/>
                <a:ea typeface="Microsoft YaHei" charset="-122"/>
              </a:rPr>
              <a:t>Codes</a:t>
            </a:r>
          </a:p>
          <a:p>
            <a:pPr marL="285750" indent="-285750">
              <a:lnSpc>
                <a:spcPct val="150000"/>
              </a:lnSpc>
              <a:buClr>
                <a:schemeClr val="bg1">
                  <a:lumMod val="95000"/>
                </a:schemeClr>
              </a:buClr>
              <a:buSzPct val="75000"/>
              <a:buFont typeface="Wingdings" charset="2"/>
              <a:buChar char="l"/>
            </a:pPr>
            <a:r>
              <a:rPr kumimoji="1" lang="en-US" altLang="zh-CN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     </a:t>
            </a:r>
            <a:r>
              <a:rPr kumimoji="1" lang="en-US" altLang="zh-CN" sz="2800" dirty="0">
                <a:latin typeface="Microsoft YaHei" charset="-122"/>
                <a:ea typeface="Microsoft YaHei" charset="-122"/>
              </a:rPr>
              <a:t>Reed-Solomon Codes</a:t>
            </a:r>
          </a:p>
          <a:p>
            <a:pPr marL="285750" indent="-285750">
              <a:lnSpc>
                <a:spcPct val="150000"/>
              </a:lnSpc>
              <a:buClr>
                <a:schemeClr val="bg1">
                  <a:lumMod val="95000"/>
                </a:schemeClr>
              </a:buClr>
              <a:buSzPct val="75000"/>
              <a:buFont typeface="Wingdings" charset="2"/>
              <a:buChar char="l"/>
            </a:pPr>
            <a:r>
              <a:rPr kumimoji="1" lang="en-US" altLang="zh-CN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     Array Codes</a:t>
            </a:r>
          </a:p>
          <a:p>
            <a:pPr marL="285750" indent="-285750">
              <a:lnSpc>
                <a:spcPct val="150000"/>
              </a:lnSpc>
              <a:buClr>
                <a:schemeClr val="bg1">
                  <a:lumMod val="95000"/>
                </a:schemeClr>
              </a:buClr>
              <a:buSzPct val="75000"/>
              <a:buFont typeface="Wingdings" charset="2"/>
              <a:buChar char="l"/>
            </a:pPr>
            <a:r>
              <a:rPr kumimoji="1" lang="en-US" altLang="zh-CN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     Latin Squares &amp; Erasure Codes</a:t>
            </a:r>
          </a:p>
        </p:txBody>
      </p:sp>
    </p:spTree>
    <p:extLst>
      <p:ext uri="{BB962C8B-B14F-4D97-AF65-F5344CB8AC3E}">
        <p14:creationId xmlns:p14="http://schemas.microsoft.com/office/powerpoint/2010/main" val="3381977378"/>
      </p:ext>
    </p:extLst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>
              <a:latin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2733C78-B3ED-B741-A882-3714B0B7F9E9}"/>
              </a:ext>
            </a:extLst>
          </p:cNvPr>
          <p:cNvSpPr txBox="1"/>
          <p:nvPr/>
        </p:nvSpPr>
        <p:spPr>
          <a:xfrm>
            <a:off x="142194" y="594334"/>
            <a:ext cx="52893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dirty="0">
                <a:latin typeface="Microsoft YaHei" charset="-122"/>
                <a:ea typeface="Microsoft YaHei" charset="-122"/>
                <a:cs typeface="Microsoft YaHei" charset="-122"/>
              </a:rPr>
              <a:t>Reed-Solomon</a:t>
            </a:r>
            <a:r>
              <a:rPr kumimoji="1" lang="zh-CN" altLang="en-US" sz="2800" dirty="0">
                <a:latin typeface="Microsoft YaHei" charset="-122"/>
                <a:ea typeface="Microsoft YaHei" charset="-122"/>
                <a:cs typeface="Microsoft YaHei" charset="-122"/>
              </a:rPr>
              <a:t> </a:t>
            </a:r>
            <a:r>
              <a:rPr kumimoji="1" lang="en-US" altLang="zh-CN" sz="2800" dirty="0">
                <a:latin typeface="Microsoft YaHei" charset="-122"/>
                <a:ea typeface="Microsoft YaHei" charset="-122"/>
                <a:cs typeface="Microsoft YaHei" charset="-122"/>
              </a:rPr>
              <a:t>Codes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C38FFAE6-BC9A-466C-8DB1-EE3D432A6B8F}"/>
                  </a:ext>
                </a:extLst>
              </p:cNvPr>
              <p:cNvSpPr txBox="1"/>
              <p:nvPr/>
            </p:nvSpPr>
            <p:spPr>
              <a:xfrm>
                <a:off x="142194" y="1278374"/>
                <a:ext cx="5167761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RS</a:t>
                </a:r>
                <a:r>
                  <a:rPr lang="zh-CN" altLang="en-US" dirty="0"/>
                  <a:t>码是唯一能够实现任意容错的</a:t>
                </a:r>
                <a:r>
                  <a:rPr lang="en-US" altLang="zh-CN" dirty="0"/>
                  <a:t>MDS</a:t>
                </a:r>
                <a:r>
                  <a:rPr lang="zh-CN" altLang="en-US" dirty="0"/>
                  <a:t>码。</a:t>
                </a:r>
                <a:endParaRPr lang="en-US" altLang="zh-CN" dirty="0"/>
              </a:p>
              <a:p>
                <a:endParaRPr lang="en-US" altLang="zh-CN" dirty="0"/>
              </a:p>
              <a:p>
                <a:r>
                  <a:rPr lang="zh-CN" altLang="en-US" dirty="0"/>
                  <a:t>对</a:t>
                </a:r>
                <a:r>
                  <a:rPr lang="en-US" altLang="zh-CN" dirty="0"/>
                  <a:t>w bits</a:t>
                </a:r>
                <a:r>
                  <a:rPr lang="zh-CN" altLang="en-US" dirty="0"/>
                  <a:t>的二进制字进行操作，其中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dirty="0"/>
                  <a:t>。</a:t>
                </a: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C38FFAE6-BC9A-466C-8DB1-EE3D432A6B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194" y="1278374"/>
                <a:ext cx="5167761" cy="923330"/>
              </a:xfrm>
              <a:prstGeom prst="rect">
                <a:avLst/>
              </a:prstGeom>
              <a:blipFill>
                <a:blip r:embed="rId3"/>
                <a:stretch>
                  <a:fillRect l="-943" t="-5960" r="-472" b="-105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FBC98774-C74E-4090-B719-7CF22DEA18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128" y="2513851"/>
            <a:ext cx="3637472" cy="215586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516413D4-3EB8-4A20-BD4A-746495B433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6242" y="2242709"/>
            <a:ext cx="4876269" cy="2698152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91F21CE0-6F18-42DC-BC03-B60D2961BA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36242" y="4954588"/>
            <a:ext cx="4807758" cy="946759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DA708D1E-5F15-4AEA-8EE6-711E14CDD6D3}"/>
              </a:ext>
            </a:extLst>
          </p:cNvPr>
          <p:cNvSpPr txBox="1"/>
          <p:nvPr/>
        </p:nvSpPr>
        <p:spPr>
          <a:xfrm>
            <a:off x="4336242" y="6079000"/>
            <a:ext cx="4916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只需关注</a:t>
            </a:r>
            <a:r>
              <a:rPr lang="en-US" altLang="zh-CN" dirty="0"/>
              <a:t>words</a:t>
            </a:r>
            <a:r>
              <a:rPr lang="zh-CN" altLang="en-US" dirty="0"/>
              <a:t>，而不需要关注全部的</a:t>
            </a:r>
            <a:r>
              <a:rPr lang="en-US" altLang="zh-CN" dirty="0"/>
              <a:t>devices</a:t>
            </a:r>
            <a:r>
              <a:rPr lang="zh-CN" altLang="en-US" dirty="0"/>
              <a:t>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1B4BE807-B685-424A-B35E-D932B723EEB7}"/>
                  </a:ext>
                </a:extLst>
              </p:cNvPr>
              <p:cNvSpPr txBox="1"/>
              <p:nvPr/>
            </p:nvSpPr>
            <p:spPr>
              <a:xfrm>
                <a:off x="142194" y="4862810"/>
                <a:ext cx="4536755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Word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size</a:t>
                </a:r>
                <a:r>
                  <a:rPr lang="zh-CN" altLang="en-US" dirty="0"/>
                  <a:t>的选取问题：</a:t>
                </a:r>
                <a:endParaRPr lang="en-US" altLang="zh-CN" dirty="0"/>
              </a:p>
              <a:p>
                <a:r>
                  <a:rPr lang="zh-CN" altLang="en-US" dirty="0"/>
                  <a:t>当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≤256</m:t>
                    </m:r>
                  </m:oMath>
                </a14:m>
                <a:r>
                  <a:rPr lang="zh-CN" altLang="en-US" dirty="0"/>
                  <a:t>时，一个字为一个</a:t>
                </a:r>
                <a:r>
                  <a:rPr lang="en-US" altLang="zh-CN" dirty="0"/>
                  <a:t>byte</a:t>
                </a:r>
                <a:r>
                  <a:rPr lang="zh-CN" altLang="en-US" dirty="0"/>
                  <a:t>；</a:t>
                </a:r>
                <a:endParaRPr lang="en-US" altLang="zh-CN" dirty="0"/>
              </a:p>
              <a:p>
                <a:r>
                  <a:rPr lang="zh-CN" altLang="en-US" dirty="0"/>
                  <a:t>当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65536</m:t>
                    </m:r>
                  </m:oMath>
                </a14:m>
                <a:r>
                  <a:rPr lang="zh-CN" altLang="en-US" dirty="0"/>
                  <a:t>时，一个字为一个</a:t>
                </a:r>
                <a:r>
                  <a:rPr lang="en-US" altLang="zh-CN" dirty="0"/>
                  <a:t>short</a:t>
                </a:r>
                <a:r>
                  <a:rPr lang="zh-CN" altLang="en-US" dirty="0"/>
                  <a:t>。</a:t>
                </a: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1B4BE807-B685-424A-B35E-D932B723EE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194" y="4862810"/>
                <a:ext cx="4536755" cy="923330"/>
              </a:xfrm>
              <a:prstGeom prst="rect">
                <a:avLst/>
              </a:prstGeom>
              <a:blipFill>
                <a:blip r:embed="rId7"/>
                <a:stretch>
                  <a:fillRect l="-1074" t="-5960" r="-537" b="-105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81041099"/>
      </p:ext>
    </p:extLst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>
              <a:latin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2733C78-B3ED-B741-A882-3714B0B7F9E9}"/>
              </a:ext>
            </a:extLst>
          </p:cNvPr>
          <p:cNvSpPr txBox="1"/>
          <p:nvPr/>
        </p:nvSpPr>
        <p:spPr>
          <a:xfrm>
            <a:off x="142194" y="594334"/>
            <a:ext cx="52893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dirty="0">
                <a:latin typeface="Microsoft YaHei" charset="-122"/>
                <a:ea typeface="Microsoft YaHei" charset="-122"/>
                <a:cs typeface="Microsoft YaHei" charset="-122"/>
              </a:rPr>
              <a:t>Reed-Solomon</a:t>
            </a:r>
            <a:r>
              <a:rPr kumimoji="1" lang="zh-CN" altLang="en-US" sz="2800" dirty="0">
                <a:latin typeface="Microsoft YaHei" charset="-122"/>
                <a:ea typeface="Microsoft YaHei" charset="-122"/>
                <a:cs typeface="Microsoft YaHei" charset="-122"/>
              </a:rPr>
              <a:t> </a:t>
            </a:r>
            <a:r>
              <a:rPr kumimoji="1" lang="en-US" altLang="zh-CN" sz="2800" dirty="0">
                <a:latin typeface="Microsoft YaHei" charset="-122"/>
                <a:ea typeface="Microsoft YaHei" charset="-122"/>
                <a:cs typeface="Microsoft YaHei" charset="-122"/>
              </a:rPr>
              <a:t>Codes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24096B5-B212-48E7-A953-4589D6653F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194" y="1619342"/>
            <a:ext cx="4772691" cy="3305636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1D6544CF-BEBB-457C-958B-4456184F9AFD}"/>
              </a:ext>
            </a:extLst>
          </p:cNvPr>
          <p:cNvSpPr txBox="1"/>
          <p:nvPr/>
        </p:nvSpPr>
        <p:spPr>
          <a:xfrm>
            <a:off x="243840" y="1250010"/>
            <a:ext cx="36441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RS</a:t>
            </a:r>
            <a:r>
              <a:rPr lang="zh-CN" altLang="en-US" dirty="0"/>
              <a:t>编码过程</a:t>
            </a:r>
            <a:r>
              <a:rPr lang="zh-CN" altLang="en-US" dirty="0">
                <a:sym typeface="Wingdings" panose="05000000000000000000" pitchFamily="2" charset="2"/>
              </a:rPr>
              <a:t>：（基于有限域运算）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2F6D5E1-CA16-4D35-9378-BBD444516443}"/>
              </a:ext>
            </a:extLst>
          </p:cNvPr>
          <p:cNvSpPr txBox="1"/>
          <p:nvPr/>
        </p:nvSpPr>
        <p:spPr>
          <a:xfrm>
            <a:off x="524256" y="5139531"/>
            <a:ext cx="549874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B</a:t>
            </a:r>
            <a:r>
              <a:rPr lang="zh-CN" altLang="en-US" dirty="0"/>
              <a:t>为“</a:t>
            </a:r>
            <a:r>
              <a:rPr lang="en-US" altLang="zh-CN" dirty="0"/>
              <a:t>Distribution Matrix</a:t>
            </a:r>
            <a:r>
              <a:rPr lang="zh-CN" altLang="en-US" dirty="0"/>
              <a:t>”，前</a:t>
            </a:r>
            <a:r>
              <a:rPr lang="en-US" altLang="zh-CN" dirty="0"/>
              <a:t>n</a:t>
            </a:r>
            <a:r>
              <a:rPr lang="zh-CN" altLang="en-US" dirty="0"/>
              <a:t>行是一个单位矩阵</a:t>
            </a:r>
            <a:r>
              <a:rPr lang="en-US" altLang="zh-CN" dirty="0"/>
              <a:t>I</a:t>
            </a:r>
            <a:r>
              <a:rPr lang="zh-CN" altLang="en-US" dirty="0"/>
              <a:t>；</a:t>
            </a:r>
            <a:endParaRPr lang="en-US" altLang="zh-CN" dirty="0"/>
          </a:p>
          <a:p>
            <a:r>
              <a:rPr lang="en-US" altLang="zh-CN" dirty="0"/>
              <a:t>D</a:t>
            </a:r>
            <a:r>
              <a:rPr lang="zh-CN" altLang="en-US" dirty="0"/>
              <a:t>为待编码的原始数据字；</a:t>
            </a:r>
            <a:endParaRPr lang="en-US" altLang="zh-CN" dirty="0"/>
          </a:p>
          <a:p>
            <a:r>
              <a:rPr lang="en-US" altLang="zh-CN" dirty="0"/>
              <a:t>D&amp;C</a:t>
            </a:r>
            <a:r>
              <a:rPr lang="zh-CN" altLang="en-US" dirty="0"/>
              <a:t>构成的列向量为经过</a:t>
            </a:r>
            <a:r>
              <a:rPr lang="en-US" altLang="zh-CN" dirty="0"/>
              <a:t>RS</a:t>
            </a:r>
            <a:r>
              <a:rPr lang="zh-CN" altLang="en-US" dirty="0"/>
              <a:t>编码后的结果。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2D2EB61-7127-4765-B2C9-6C9B26ED60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7581" y="2147708"/>
            <a:ext cx="3686689" cy="2562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473210"/>
      </p:ext>
    </p:extLst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>
              <a:latin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2733C78-B3ED-B741-A882-3714B0B7F9E9}"/>
              </a:ext>
            </a:extLst>
          </p:cNvPr>
          <p:cNvSpPr txBox="1"/>
          <p:nvPr/>
        </p:nvSpPr>
        <p:spPr>
          <a:xfrm>
            <a:off x="142194" y="594334"/>
            <a:ext cx="52893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dirty="0">
                <a:latin typeface="Microsoft YaHei" charset="-122"/>
                <a:ea typeface="Microsoft YaHei" charset="-122"/>
                <a:cs typeface="Microsoft YaHei" charset="-122"/>
              </a:rPr>
              <a:t>Reed-Solomon</a:t>
            </a:r>
            <a:r>
              <a:rPr kumimoji="1" lang="zh-CN" altLang="en-US" sz="2800" dirty="0">
                <a:latin typeface="Microsoft YaHei" charset="-122"/>
                <a:ea typeface="Microsoft YaHei" charset="-122"/>
                <a:cs typeface="Microsoft YaHei" charset="-122"/>
              </a:rPr>
              <a:t> </a:t>
            </a:r>
            <a:r>
              <a:rPr kumimoji="1" lang="en-US" altLang="zh-CN" sz="2800" dirty="0">
                <a:latin typeface="Microsoft YaHei" charset="-122"/>
                <a:ea typeface="Microsoft YaHei" charset="-122"/>
                <a:cs typeface="Microsoft YaHei" charset="-122"/>
              </a:rPr>
              <a:t>Codes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85EBDD4-95B3-445F-A140-E39D7DF922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694" y="2076712"/>
            <a:ext cx="2626650" cy="2146259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66B4FE38-96DC-4E06-B9C0-826C3020CD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6117" y="2315556"/>
            <a:ext cx="2809355" cy="145900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7F25C84-82A9-4E0C-9D60-35EE92C902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089" y="4736964"/>
            <a:ext cx="5072542" cy="1446214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6902F517-8683-48F8-8854-E07A4C5D1A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9208" y="4736964"/>
            <a:ext cx="2489871" cy="1387319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643FD7A8-12EF-42CE-948C-A3CF252262A5}"/>
              </a:ext>
            </a:extLst>
          </p:cNvPr>
          <p:cNvSpPr txBox="1"/>
          <p:nvPr/>
        </p:nvSpPr>
        <p:spPr>
          <a:xfrm>
            <a:off x="243840" y="1250010"/>
            <a:ext cx="45674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RS</a:t>
            </a:r>
            <a:r>
              <a:rPr lang="zh-CN" altLang="en-US" dirty="0"/>
              <a:t>重构（解码）过程</a:t>
            </a:r>
            <a:r>
              <a:rPr lang="zh-CN" altLang="en-US" dirty="0">
                <a:sym typeface="Wingdings" panose="05000000000000000000" pitchFamily="2" charset="2"/>
              </a:rPr>
              <a:t>：（基于有限域运算）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3E22D67-412E-4420-B6CD-8D292FAE6533}"/>
              </a:ext>
            </a:extLst>
          </p:cNvPr>
          <p:cNvSpPr txBox="1"/>
          <p:nvPr/>
        </p:nvSpPr>
        <p:spPr>
          <a:xfrm>
            <a:off x="462089" y="1707380"/>
            <a:ext cx="1805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假设</a:t>
            </a:r>
            <a:r>
              <a:rPr lang="en-US" altLang="zh-CN" dirty="0"/>
              <a:t>m</a:t>
            </a:r>
            <a:r>
              <a:rPr lang="zh-CN" altLang="en-US" dirty="0"/>
              <a:t>个节点</a:t>
            </a:r>
            <a:r>
              <a:rPr lang="en-US" altLang="zh-CN" dirty="0"/>
              <a:t>fail</a:t>
            </a:r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CC34D7F-C773-452A-ABF6-AE414CF92DDF}"/>
              </a:ext>
            </a:extLst>
          </p:cNvPr>
          <p:cNvSpPr txBox="1"/>
          <p:nvPr/>
        </p:nvSpPr>
        <p:spPr>
          <a:xfrm>
            <a:off x="3824962" y="1707380"/>
            <a:ext cx="48417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删掉</a:t>
            </a:r>
            <a:r>
              <a:rPr lang="en-US" altLang="zh-CN" dirty="0"/>
              <a:t>D</a:t>
            </a:r>
            <a:r>
              <a:rPr lang="zh-CN" altLang="en-US" dirty="0"/>
              <a:t>中</a:t>
            </a:r>
            <a:r>
              <a:rPr lang="en-US" altLang="zh-CN" dirty="0"/>
              <a:t>fail</a:t>
            </a:r>
            <a:r>
              <a:rPr lang="zh-CN" altLang="en-US" dirty="0"/>
              <a:t>的节点以及对应的</a:t>
            </a:r>
            <a:r>
              <a:rPr lang="en-US" altLang="zh-CN" dirty="0"/>
              <a:t>B</a:t>
            </a:r>
            <a:r>
              <a:rPr lang="zh-CN" altLang="en-US" dirty="0"/>
              <a:t>中的行，得到</a:t>
            </a:r>
            <a:r>
              <a:rPr lang="en-US" altLang="zh-CN" dirty="0"/>
              <a:t>B’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5695DB15-1CF0-4442-BFE3-4CDA0B270519}"/>
                  </a:ext>
                </a:extLst>
              </p:cNvPr>
              <p:cNvSpPr txBox="1"/>
              <p:nvPr/>
            </p:nvSpPr>
            <p:spPr>
              <a:xfrm>
                <a:off x="462089" y="4407637"/>
                <a:ext cx="201042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/>
                  <a:t>左右两边同乘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5695DB15-1CF0-4442-BFE3-4CDA0B2705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089" y="4407637"/>
                <a:ext cx="2010422" cy="369332"/>
              </a:xfrm>
              <a:prstGeom prst="rect">
                <a:avLst/>
              </a:prstGeom>
              <a:blipFill>
                <a:blip r:embed="rId7"/>
                <a:stretch>
                  <a:fillRect l="-2727" t="-13115" b="-1967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文本框 15">
            <a:extLst>
              <a:ext uri="{FF2B5EF4-FFF2-40B4-BE49-F238E27FC236}">
                <a16:creationId xmlns:a16="http://schemas.microsoft.com/office/drawing/2014/main" id="{8A01D5B4-3906-4673-8CF4-E1EA42FA8764}"/>
              </a:ext>
            </a:extLst>
          </p:cNvPr>
          <p:cNvSpPr txBox="1"/>
          <p:nvPr/>
        </p:nvSpPr>
        <p:spPr>
          <a:xfrm>
            <a:off x="5431536" y="4407637"/>
            <a:ext cx="32066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求得</a:t>
            </a:r>
            <a:r>
              <a:rPr lang="en-US" altLang="zh-CN" dirty="0"/>
              <a:t>D</a:t>
            </a:r>
            <a:r>
              <a:rPr lang="zh-CN" altLang="en-US" dirty="0"/>
              <a:t>，即恢复出</a:t>
            </a:r>
            <a:r>
              <a:rPr lang="en-US" altLang="zh-CN" dirty="0"/>
              <a:t>fail</a:t>
            </a:r>
            <a:r>
              <a:rPr lang="zh-CN" altLang="en-US" dirty="0"/>
              <a:t>的</a:t>
            </a:r>
            <a:r>
              <a:rPr lang="en-US" altLang="zh-CN" dirty="0"/>
              <a:t>D1</a:t>
            </a:r>
            <a:r>
              <a:rPr lang="zh-CN" altLang="en-US" dirty="0"/>
              <a:t>、</a:t>
            </a:r>
            <a:r>
              <a:rPr lang="en-US" altLang="zh-CN" dirty="0"/>
              <a:t>D4</a:t>
            </a:r>
            <a:endParaRPr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7484FA3-4F70-4FE7-B976-127DC0C4A204}"/>
              </a:ext>
            </a:extLst>
          </p:cNvPr>
          <p:cNvSpPr txBox="1"/>
          <p:nvPr/>
        </p:nvSpPr>
        <p:spPr>
          <a:xfrm>
            <a:off x="5755539" y="6195370"/>
            <a:ext cx="26706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C2</a:t>
            </a:r>
            <a:r>
              <a:rPr lang="zh-CN" altLang="en-US" dirty="0"/>
              <a:t>可以通过</a:t>
            </a:r>
            <a:r>
              <a:rPr lang="en-US" altLang="zh-CN" dirty="0"/>
              <a:t>encoding</a:t>
            </a:r>
            <a:r>
              <a:rPr lang="zh-CN" altLang="en-US" dirty="0"/>
              <a:t>恢复</a:t>
            </a:r>
          </a:p>
        </p:txBody>
      </p:sp>
    </p:spTree>
    <p:extLst>
      <p:ext uri="{BB962C8B-B14F-4D97-AF65-F5344CB8AC3E}">
        <p14:creationId xmlns:p14="http://schemas.microsoft.com/office/powerpoint/2010/main" val="1318518887"/>
      </p:ext>
    </p:extLst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>
              <a:latin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2733C78-B3ED-B741-A882-3714B0B7F9E9}"/>
              </a:ext>
            </a:extLst>
          </p:cNvPr>
          <p:cNvSpPr txBox="1"/>
          <p:nvPr/>
        </p:nvSpPr>
        <p:spPr>
          <a:xfrm>
            <a:off x="142194" y="594334"/>
            <a:ext cx="52893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dirty="0">
                <a:latin typeface="Microsoft YaHei" charset="-122"/>
                <a:ea typeface="Microsoft YaHei" charset="-122"/>
                <a:cs typeface="Microsoft YaHei" charset="-122"/>
              </a:rPr>
              <a:t>Reed-Solomon</a:t>
            </a:r>
            <a:r>
              <a:rPr kumimoji="1" lang="zh-CN" altLang="en-US" sz="2800" dirty="0">
                <a:latin typeface="Microsoft YaHei" charset="-122"/>
                <a:ea typeface="Microsoft YaHei" charset="-122"/>
                <a:cs typeface="Microsoft YaHei" charset="-122"/>
              </a:rPr>
              <a:t> </a:t>
            </a:r>
            <a:r>
              <a:rPr kumimoji="1" lang="en-US" altLang="zh-CN" sz="2800" dirty="0">
                <a:latin typeface="Microsoft YaHei" charset="-122"/>
                <a:ea typeface="Microsoft YaHei" charset="-122"/>
                <a:cs typeface="Microsoft YaHei" charset="-122"/>
              </a:rPr>
              <a:t>Codes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D8046BE5-F5A4-46E6-AB16-CBD32C01273E}"/>
                  </a:ext>
                </a:extLst>
              </p:cNvPr>
              <p:cNvSpPr txBox="1"/>
              <p:nvPr/>
            </p:nvSpPr>
            <p:spPr>
              <a:xfrm>
                <a:off x="231648" y="1253990"/>
                <a:ext cx="4665829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/>
                  <a:t>如何创建</a:t>
                </a:r>
                <a:r>
                  <a:rPr lang="en-US" altLang="zh-CN" dirty="0"/>
                  <a:t>B?</a:t>
                </a:r>
              </a:p>
              <a:p>
                <a:r>
                  <a:rPr lang="en-US" altLang="zh-CN" dirty="0"/>
                  <a:t>B</a:t>
                </a:r>
                <a:r>
                  <a:rPr lang="zh-CN" altLang="en-US" dirty="0"/>
                  <a:t>的限制：任意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zh-CN" alt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的</m:t>
                    </m:r>
                  </m:oMath>
                </a14:m>
                <a:r>
                  <a:rPr lang="en-US" altLang="zh-CN" dirty="0"/>
                  <a:t>B</a:t>
                </a:r>
                <a:r>
                  <a:rPr lang="zh-CN" altLang="en-US" dirty="0"/>
                  <a:t>的子矩阵必须可逆。</a:t>
                </a: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D8046BE5-F5A4-46E6-AB16-CBD32C0127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648" y="1253990"/>
                <a:ext cx="4665829" cy="646331"/>
              </a:xfrm>
              <a:prstGeom prst="rect">
                <a:avLst/>
              </a:prstGeom>
              <a:blipFill>
                <a:blip r:embed="rId3"/>
                <a:stretch>
                  <a:fillRect l="-1046" t="-8491" r="-523" b="-150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>
            <a:extLst>
              <a:ext uri="{FF2B5EF4-FFF2-40B4-BE49-F238E27FC236}">
                <a16:creationId xmlns:a16="http://schemas.microsoft.com/office/drawing/2014/main" id="{819CA774-A080-40C4-8926-6DC025421A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7877" y="2207985"/>
            <a:ext cx="2572109" cy="3829584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BDF4075B-4703-4C79-B40A-CE263D624062}"/>
              </a:ext>
            </a:extLst>
          </p:cNvPr>
          <p:cNvSpPr txBox="1"/>
          <p:nvPr/>
        </p:nvSpPr>
        <p:spPr>
          <a:xfrm>
            <a:off x="1882037" y="5965528"/>
            <a:ext cx="1423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n=6</a:t>
            </a:r>
            <a:r>
              <a:rPr lang="zh-CN" altLang="en-US" dirty="0"/>
              <a:t>，</a:t>
            </a:r>
            <a:r>
              <a:rPr lang="en-US" altLang="zh-CN" dirty="0" err="1"/>
              <a:t>n+m</a:t>
            </a:r>
            <a:r>
              <a:rPr lang="en-US" altLang="zh-CN" dirty="0"/>
              <a:t>=9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CABD8D5E-8FDC-424D-ACC1-FE78BDABDC46}"/>
                  </a:ext>
                </a:extLst>
              </p:cNvPr>
              <p:cNvSpPr txBox="1"/>
              <p:nvPr/>
            </p:nvSpPr>
            <p:spPr>
              <a:xfrm>
                <a:off x="4339717" y="2150209"/>
                <a:ext cx="3496406" cy="193399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/>
                  <a:t>前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dirty="0"/>
                  <a:t>子矩阵是一个单位矩阵。</a:t>
                </a:r>
                <a:endParaRPr lang="en-US" altLang="zh-CN" dirty="0"/>
              </a:p>
              <a:p>
                <a:r>
                  <a:rPr lang="zh-CN" altLang="en-US" dirty="0"/>
                  <a:t>下半部分子矩阵的确定：</a:t>
                </a:r>
                <a:endParaRPr lang="en-US" altLang="zh-CN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CN" altLang="en-US" dirty="0"/>
                  <a:t>创建两个集合</a:t>
                </a:r>
                <a:r>
                  <a:rPr lang="en-US" altLang="zh-CN" dirty="0"/>
                  <a:t>X</a:t>
                </a:r>
                <a:r>
                  <a:rPr lang="zh-CN" altLang="en-US" dirty="0"/>
                  <a:t>和</a:t>
                </a:r>
                <a:r>
                  <a:rPr lang="en-US" altLang="zh-CN" dirty="0"/>
                  <a:t>Y</a:t>
                </a:r>
                <a:r>
                  <a:rPr lang="zh-CN" altLang="en-US" dirty="0"/>
                  <a:t>。</a:t>
                </a:r>
                <a:endParaRPr lang="en-US" altLang="zh-CN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dirty="0"/>
                  <a:t>X</a:t>
                </a:r>
                <a:r>
                  <a:rPr lang="zh-CN" altLang="en-US" dirty="0"/>
                  <a:t>有</a:t>
                </a:r>
                <a:r>
                  <a:rPr lang="en-US" altLang="zh-CN" dirty="0"/>
                  <a:t>m</a:t>
                </a:r>
                <a:r>
                  <a:rPr lang="zh-CN" altLang="en-US" dirty="0"/>
                  <a:t>个元素，</a:t>
                </a:r>
                <a:r>
                  <a:rPr lang="en-US" altLang="zh-CN" dirty="0"/>
                  <a:t>Y</a:t>
                </a:r>
                <a:r>
                  <a:rPr lang="zh-CN" altLang="en-US" dirty="0"/>
                  <a:t>有</a:t>
                </a:r>
                <a:r>
                  <a:rPr lang="en-US" altLang="zh-CN" dirty="0"/>
                  <a:t>n</a:t>
                </a:r>
                <a:r>
                  <a:rPr lang="zh-CN" altLang="en-US" dirty="0"/>
                  <a:t>个元素。</a:t>
                </a:r>
                <a:endParaRPr lang="en-US" altLang="zh-CN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X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=∅</m:t>
                    </m:r>
                  </m:oMath>
                </a14:m>
                <a:r>
                  <a:rPr lang="zh-CN" altLang="en-US" dirty="0"/>
                  <a:t>。</a:t>
                </a:r>
                <a:endParaRPr lang="en-US" altLang="zh-CN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CN" altLang="en-US" dirty="0"/>
                  <a:t>在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</a:rPr>
                      <m:t>GF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p>
                    </m:sSup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上</m:t>
                    </m:r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，</m:t>
                    </m:r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den>
                    </m:f>
                  </m:oMath>
                </a14:m>
                <a:r>
                  <a:rPr lang="zh-CN" altLang="en-US" dirty="0"/>
                  <a:t>。</a:t>
                </a: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CABD8D5E-8FDC-424D-ACC1-FE78BDABDC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9717" y="2150209"/>
                <a:ext cx="3496406" cy="1933991"/>
              </a:xfrm>
              <a:prstGeom prst="rect">
                <a:avLst/>
              </a:prstGeom>
              <a:blipFill>
                <a:blip r:embed="rId5"/>
                <a:stretch>
                  <a:fillRect l="-1571" t="-2839" r="-1047" b="-6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图片 7">
            <a:extLst>
              <a:ext uri="{FF2B5EF4-FFF2-40B4-BE49-F238E27FC236}">
                <a16:creationId xmlns:a16="http://schemas.microsoft.com/office/drawing/2014/main" id="{6462326F-201E-4535-9653-ABE51C1803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3733" y="4216617"/>
            <a:ext cx="2848373" cy="1800476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94DB68A5-12DA-4265-87B4-EE9E1617467D}"/>
              </a:ext>
            </a:extLst>
          </p:cNvPr>
          <p:cNvSpPr txBox="1"/>
          <p:nvPr/>
        </p:nvSpPr>
        <p:spPr>
          <a:xfrm>
            <a:off x="233252" y="1864301"/>
            <a:ext cx="17974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对于系统</a:t>
            </a:r>
            <a:r>
              <a:rPr lang="en-US" altLang="zh-CN" dirty="0"/>
              <a:t>RS</a:t>
            </a:r>
            <a:r>
              <a:rPr lang="zh-CN" altLang="en-US" dirty="0"/>
              <a:t>码：</a:t>
            </a:r>
          </a:p>
        </p:txBody>
      </p:sp>
    </p:spTree>
    <p:extLst>
      <p:ext uri="{BB962C8B-B14F-4D97-AF65-F5344CB8AC3E}">
        <p14:creationId xmlns:p14="http://schemas.microsoft.com/office/powerpoint/2010/main" val="276637189"/>
      </p:ext>
    </p:extLst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>
              <a:latin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2733C78-B3ED-B741-A882-3714B0B7F9E9}"/>
              </a:ext>
            </a:extLst>
          </p:cNvPr>
          <p:cNvSpPr txBox="1"/>
          <p:nvPr/>
        </p:nvSpPr>
        <p:spPr>
          <a:xfrm>
            <a:off x="142194" y="594334"/>
            <a:ext cx="52893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dirty="0">
                <a:latin typeface="Microsoft YaHei" charset="-122"/>
                <a:ea typeface="Microsoft YaHei" charset="-122"/>
                <a:cs typeface="Microsoft YaHei" charset="-122"/>
              </a:rPr>
              <a:t>Reed-Solomon</a:t>
            </a:r>
            <a:r>
              <a:rPr kumimoji="1" lang="zh-CN" altLang="en-US" sz="2800" dirty="0">
                <a:latin typeface="Microsoft YaHei" charset="-122"/>
                <a:ea typeface="Microsoft YaHei" charset="-122"/>
                <a:cs typeface="Microsoft YaHei" charset="-122"/>
              </a:rPr>
              <a:t> </a:t>
            </a:r>
            <a:r>
              <a:rPr kumimoji="1" lang="en-US" altLang="zh-CN" sz="2800" dirty="0">
                <a:latin typeface="Microsoft YaHei" charset="-122"/>
                <a:ea typeface="Microsoft YaHei" charset="-122"/>
                <a:cs typeface="Microsoft YaHei" charset="-122"/>
              </a:rPr>
              <a:t>Codes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6DF1DB2E-CDA0-4580-B86C-11DA2199AD8D}"/>
                  </a:ext>
                </a:extLst>
              </p:cNvPr>
              <p:cNvSpPr txBox="1"/>
              <p:nvPr/>
            </p:nvSpPr>
            <p:spPr>
              <a:xfrm>
                <a:off x="409642" y="1243583"/>
                <a:ext cx="5046894" cy="20313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Galois Field Arithmetic: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𝐺𝐹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包含的元素为：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0,1,2,…,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zh-CN" altLang="en-US" i="1">
                        <a:latin typeface="Cambria Math" panose="02040503050406030204" pitchFamily="18" charset="0"/>
                      </a:rPr>
                      <m:t>。</m:t>
                    </m:r>
                  </m:oMath>
                </a14:m>
                <a:endParaRPr lang="en-US" altLang="zh-CN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CN" altLang="en-US" dirty="0"/>
                  <a:t>加法</a:t>
                </a:r>
                <a:r>
                  <a:rPr lang="en-US" altLang="zh-CN" dirty="0"/>
                  <a:t>=XOR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CN" altLang="en-US" dirty="0"/>
                  <a:t>乘法：（比较复杂）</a:t>
                </a:r>
                <a:endParaRPr lang="en-US" altLang="zh-CN" dirty="0"/>
              </a:p>
              <a:p>
                <a:pPr marL="742950" lvl="1" indent="-285750">
                  <a:buFont typeface="Wingdings" panose="05000000000000000000" pitchFamily="2" charset="2"/>
                  <a:buChar char="p"/>
                </a:pPr>
                <a:r>
                  <a:rPr lang="zh-CN" altLang="en-US" dirty="0"/>
                  <a:t>当</a:t>
                </a:r>
                <a:r>
                  <a:rPr lang="en-US" altLang="zh-CN" dirty="0"/>
                  <a:t>w</a:t>
                </a:r>
                <a:r>
                  <a:rPr lang="zh-CN" altLang="en-US" dirty="0"/>
                  <a:t>较小时（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lang="zh-CN" altLang="en-US" dirty="0"/>
                  <a:t>），可查乘法表。</a:t>
                </a:r>
                <a:endParaRPr lang="en-US" altLang="zh-CN" dirty="0"/>
              </a:p>
              <a:p>
                <a:pPr marL="742950" lvl="1" indent="-285750">
                  <a:buFont typeface="Wingdings" panose="05000000000000000000" pitchFamily="2" charset="2"/>
                  <a:buChar char="p"/>
                </a:pPr>
                <a:r>
                  <a:rPr lang="zh-CN" altLang="en-US" dirty="0"/>
                  <a:t>当</a:t>
                </a:r>
                <a:r>
                  <a:rPr lang="en-US" altLang="zh-CN" dirty="0"/>
                  <a:t>w</a:t>
                </a:r>
                <a:r>
                  <a:rPr lang="zh-CN" altLang="en-US" dirty="0"/>
                  <a:t>较大时（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lang="zh-CN" altLang="en-US" dirty="0"/>
                  <a:t>），用</a:t>
                </a:r>
                <a:r>
                  <a:rPr lang="en-US" altLang="zh-CN" dirty="0"/>
                  <a:t>log/anti-log</a:t>
                </a:r>
                <a:r>
                  <a:rPr lang="zh-CN" altLang="en-US" dirty="0"/>
                  <a:t>表。</a:t>
                </a:r>
                <a:endParaRPr lang="en-US" altLang="zh-CN" dirty="0"/>
              </a:p>
              <a:p>
                <a:pPr marL="742950" lvl="1" indent="-285750">
                  <a:buFont typeface="Wingdings" panose="05000000000000000000" pitchFamily="2" charset="2"/>
                  <a:buChar char="p"/>
                </a:pPr>
                <a:r>
                  <a:rPr lang="zh-CN" altLang="en-US" dirty="0"/>
                  <a:t>否则，用一个迭代处理方法。</a:t>
                </a: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6DF1DB2E-CDA0-4580-B86C-11DA2199AD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642" y="1243583"/>
                <a:ext cx="5046894" cy="2031325"/>
              </a:xfrm>
              <a:prstGeom prst="rect">
                <a:avLst/>
              </a:prstGeom>
              <a:blipFill>
                <a:blip r:embed="rId3"/>
                <a:stretch>
                  <a:fillRect l="-966" t="-1502" r="-483" b="-30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084DB3F9-9A42-42DE-B22E-46FDEC14B204}"/>
                  </a:ext>
                </a:extLst>
              </p:cNvPr>
              <p:cNvSpPr txBox="1"/>
              <p:nvPr/>
            </p:nvSpPr>
            <p:spPr>
              <a:xfrm>
                <a:off x="409642" y="3545161"/>
                <a:ext cx="2640466" cy="230832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/>
                  <a:t>例如，对于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𝐺𝐹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：</m:t>
                    </m:r>
                  </m:oMath>
                </a14:m>
                <a:endParaRPr lang="en-US" altLang="zh-CN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CN" altLang="en-US" dirty="0"/>
                  <a:t>加法</a:t>
                </a:r>
                <a:r>
                  <a:rPr lang="en-US" altLang="zh-CN" dirty="0"/>
                  <a:t>=XOR</a:t>
                </a:r>
                <a:r>
                  <a:rPr lang="zh-CN" altLang="en-US" dirty="0"/>
                  <a:t>：</a:t>
                </a:r>
                <a:endParaRPr lang="en-US" altLang="zh-CN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zh-CN" dirty="0"/>
                  <a:t>(3+2)=1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zh-CN" dirty="0"/>
                  <a:t>(5+5)=0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zh-CN" dirty="0"/>
                  <a:t>(7+3)=4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CN" altLang="en-US" dirty="0"/>
                  <a:t>乘法</a:t>
                </a:r>
                <a:r>
                  <a:rPr lang="en-US" altLang="zh-CN" dirty="0"/>
                  <a:t>/</a:t>
                </a:r>
                <a:r>
                  <a:rPr lang="zh-CN" altLang="en-US" dirty="0"/>
                  <a:t>除法：（查表）</a:t>
                </a:r>
                <a:endParaRPr lang="en-US" altLang="zh-CN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zh-CN" dirty="0"/>
                  <a:t>(3*4)=7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zh-CN" dirty="0"/>
                  <a:t>(7/3)=4</a:t>
                </a: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084DB3F9-9A42-42DE-B22E-46FDEC14B2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642" y="3545161"/>
                <a:ext cx="2640466" cy="2308324"/>
              </a:xfrm>
              <a:prstGeom prst="rect">
                <a:avLst/>
              </a:prstGeom>
              <a:blipFill>
                <a:blip r:embed="rId4"/>
                <a:stretch>
                  <a:fillRect l="-1848" t="-2381" r="-1848" b="-34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图片 6">
            <a:extLst>
              <a:ext uri="{FF2B5EF4-FFF2-40B4-BE49-F238E27FC236}">
                <a16:creationId xmlns:a16="http://schemas.microsoft.com/office/drawing/2014/main" id="{30646D93-245E-4683-92C5-94666DB0FF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5303" y="3550375"/>
            <a:ext cx="2000529" cy="2124371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D0904DDA-10C0-4C1C-9F1B-2CD173885F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3894" y="3574190"/>
            <a:ext cx="1895740" cy="2076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281329"/>
      </p:ext>
    </p:extLst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>
              <a:latin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2733C78-B3ED-B741-A882-3714B0B7F9E9}"/>
              </a:ext>
            </a:extLst>
          </p:cNvPr>
          <p:cNvSpPr txBox="1"/>
          <p:nvPr/>
        </p:nvSpPr>
        <p:spPr>
          <a:xfrm>
            <a:off x="142194" y="594334"/>
            <a:ext cx="52893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dirty="0">
                <a:latin typeface="Microsoft YaHei" charset="-122"/>
                <a:ea typeface="Microsoft YaHei" charset="-122"/>
                <a:cs typeface="Microsoft YaHei" charset="-122"/>
              </a:rPr>
              <a:t>Reed-Solomon</a:t>
            </a:r>
            <a:r>
              <a:rPr kumimoji="1" lang="zh-CN" altLang="en-US" sz="2800" dirty="0">
                <a:latin typeface="Microsoft YaHei" charset="-122"/>
                <a:ea typeface="Microsoft YaHei" charset="-122"/>
                <a:cs typeface="Microsoft YaHei" charset="-122"/>
              </a:rPr>
              <a:t> </a:t>
            </a:r>
            <a:r>
              <a:rPr kumimoji="1" lang="en-US" altLang="zh-CN" sz="2800" dirty="0">
                <a:latin typeface="Microsoft YaHei" charset="-122"/>
                <a:ea typeface="Microsoft YaHei" charset="-122"/>
                <a:cs typeface="Microsoft YaHei" charset="-122"/>
              </a:rPr>
              <a:t>Codes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D8046BE5-F5A4-46E6-AB16-CBD32C01273E}"/>
                  </a:ext>
                </a:extLst>
              </p:cNvPr>
              <p:cNvSpPr txBox="1"/>
              <p:nvPr/>
            </p:nvSpPr>
            <p:spPr>
              <a:xfrm>
                <a:off x="231648" y="1253990"/>
                <a:ext cx="4665829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/>
                  <a:t>如何创建</a:t>
                </a:r>
                <a:r>
                  <a:rPr lang="en-US" altLang="zh-CN" dirty="0"/>
                  <a:t>B?</a:t>
                </a:r>
              </a:p>
              <a:p>
                <a:r>
                  <a:rPr lang="en-US" altLang="zh-CN" dirty="0"/>
                  <a:t>B</a:t>
                </a:r>
                <a:r>
                  <a:rPr lang="zh-CN" altLang="en-US" dirty="0"/>
                  <a:t>的限制：任意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zh-CN" alt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的</m:t>
                    </m:r>
                  </m:oMath>
                </a14:m>
                <a:r>
                  <a:rPr lang="en-US" altLang="zh-CN" dirty="0"/>
                  <a:t>B</a:t>
                </a:r>
                <a:r>
                  <a:rPr lang="zh-CN" altLang="en-US" dirty="0"/>
                  <a:t>的子矩阵必须可逆。</a:t>
                </a: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D8046BE5-F5A4-46E6-AB16-CBD32C0127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648" y="1253990"/>
                <a:ext cx="4665829" cy="646331"/>
              </a:xfrm>
              <a:prstGeom prst="rect">
                <a:avLst/>
              </a:prstGeom>
              <a:blipFill>
                <a:blip r:embed="rId3"/>
                <a:stretch>
                  <a:fillRect l="-1046" t="-8491" r="-523" b="-150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>
            <a:extLst>
              <a:ext uri="{FF2B5EF4-FFF2-40B4-BE49-F238E27FC236}">
                <a16:creationId xmlns:a16="http://schemas.microsoft.com/office/drawing/2014/main" id="{BDF4075B-4703-4C79-B40A-CE263D624062}"/>
              </a:ext>
            </a:extLst>
          </p:cNvPr>
          <p:cNvSpPr txBox="1"/>
          <p:nvPr/>
        </p:nvSpPr>
        <p:spPr>
          <a:xfrm>
            <a:off x="1442974" y="6031800"/>
            <a:ext cx="28057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非系统</a:t>
            </a:r>
            <a:r>
              <a:rPr lang="en-US" altLang="zh-CN" dirty="0"/>
              <a:t>RS</a:t>
            </a:r>
            <a:r>
              <a:rPr lang="zh-CN" altLang="en-US" dirty="0"/>
              <a:t>码：</a:t>
            </a:r>
            <a:r>
              <a:rPr lang="en-US" altLang="zh-CN" dirty="0"/>
              <a:t>n=6</a:t>
            </a:r>
            <a:r>
              <a:rPr lang="zh-CN" altLang="en-US" dirty="0"/>
              <a:t>，</a:t>
            </a:r>
            <a:r>
              <a:rPr lang="en-US" altLang="zh-CN" dirty="0" err="1"/>
              <a:t>n+m</a:t>
            </a:r>
            <a:r>
              <a:rPr lang="en-US" altLang="zh-CN" dirty="0"/>
              <a:t>=9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4DB68A5-12DA-4265-87B4-EE9E1617467D}"/>
              </a:ext>
            </a:extLst>
          </p:cNvPr>
          <p:cNvSpPr txBox="1"/>
          <p:nvPr/>
        </p:nvSpPr>
        <p:spPr>
          <a:xfrm>
            <a:off x="233252" y="1864301"/>
            <a:ext cx="51028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对于非系统</a:t>
            </a:r>
            <a:r>
              <a:rPr lang="en-US" altLang="zh-CN" dirty="0"/>
              <a:t>RS</a:t>
            </a:r>
            <a:r>
              <a:rPr lang="zh-CN" altLang="en-US" dirty="0"/>
              <a:t>码：通过</a:t>
            </a:r>
            <a:r>
              <a:rPr lang="en-US" altLang="zh-CN" dirty="0" err="1"/>
              <a:t>Vandermonde</a:t>
            </a:r>
            <a:r>
              <a:rPr lang="zh-CN" altLang="en-US" dirty="0"/>
              <a:t>矩阵生成</a:t>
            </a:r>
            <a:r>
              <a:rPr lang="en-US" altLang="zh-CN" dirty="0"/>
              <a:t>B</a:t>
            </a:r>
            <a:r>
              <a:rPr lang="zh-CN" altLang="en-US" dirty="0"/>
              <a:t>。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7B7C8B9-6EDA-4DCE-BF14-BD8F0952C9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0810" y="2248873"/>
            <a:ext cx="2572109" cy="3791479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8B961E87-4642-4F50-8EF9-48CAE563AB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4564" y="2248873"/>
            <a:ext cx="2562583" cy="3810532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40A8A353-AF81-4703-92C5-08A6BB87A3FA}"/>
              </a:ext>
            </a:extLst>
          </p:cNvPr>
          <p:cNvSpPr txBox="1"/>
          <p:nvPr/>
        </p:nvSpPr>
        <p:spPr>
          <a:xfrm>
            <a:off x="4424564" y="6074645"/>
            <a:ext cx="2574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系统</a:t>
            </a:r>
            <a:r>
              <a:rPr lang="en-US" altLang="zh-CN" dirty="0"/>
              <a:t>RS</a:t>
            </a:r>
            <a:r>
              <a:rPr lang="zh-CN" altLang="en-US" dirty="0"/>
              <a:t>码：</a:t>
            </a:r>
            <a:r>
              <a:rPr lang="en-US" altLang="zh-CN" dirty="0"/>
              <a:t>n=6</a:t>
            </a:r>
            <a:r>
              <a:rPr lang="zh-CN" altLang="en-US" dirty="0"/>
              <a:t>，</a:t>
            </a:r>
            <a:r>
              <a:rPr lang="en-US" altLang="zh-CN" dirty="0" err="1"/>
              <a:t>n+m</a:t>
            </a:r>
            <a:r>
              <a:rPr lang="en-US" altLang="zh-CN" dirty="0"/>
              <a:t>=9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35092767"/>
      </p:ext>
    </p:extLst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>
              <a:latin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2733C78-B3ED-B741-A882-3714B0B7F9E9}"/>
              </a:ext>
            </a:extLst>
          </p:cNvPr>
          <p:cNvSpPr txBox="1"/>
          <p:nvPr/>
        </p:nvSpPr>
        <p:spPr>
          <a:xfrm>
            <a:off x="142194" y="594334"/>
            <a:ext cx="52893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dirty="0">
                <a:latin typeface="Microsoft YaHei" charset="-122"/>
                <a:ea typeface="Microsoft YaHei" charset="-122"/>
                <a:cs typeface="Microsoft YaHei" charset="-122"/>
              </a:rPr>
              <a:t>Reed-Solomon</a:t>
            </a:r>
            <a:r>
              <a:rPr kumimoji="1" lang="zh-CN" altLang="en-US" sz="2800" dirty="0">
                <a:latin typeface="Microsoft YaHei" charset="-122"/>
                <a:ea typeface="Microsoft YaHei" charset="-122"/>
                <a:cs typeface="Microsoft YaHei" charset="-122"/>
              </a:rPr>
              <a:t> </a:t>
            </a:r>
            <a:r>
              <a:rPr kumimoji="1" lang="en-US" altLang="zh-CN" sz="2800" dirty="0">
                <a:latin typeface="Microsoft YaHei" charset="-122"/>
                <a:ea typeface="Microsoft YaHei" charset="-122"/>
                <a:cs typeface="Microsoft YaHei" charset="-122"/>
              </a:rPr>
              <a:t>Codes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6C3F7DB-C827-4489-A68C-A3EAEDC8F3D4}"/>
              </a:ext>
            </a:extLst>
          </p:cNvPr>
          <p:cNvSpPr txBox="1"/>
          <p:nvPr/>
        </p:nvSpPr>
        <p:spPr>
          <a:xfrm>
            <a:off x="803346" y="1463040"/>
            <a:ext cx="462819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优点：</a:t>
            </a:r>
            <a:endParaRPr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/>
              <a:t>MDS</a:t>
            </a:r>
            <a:r>
              <a:rPr lang="zh-CN" altLang="en-US" dirty="0"/>
              <a:t>码，有最佳的存储效率；</a:t>
            </a:r>
            <a:endParaRPr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/>
              <a:t>能够满足任意容错。</a:t>
            </a:r>
            <a:endParaRPr lang="en-US" altLang="zh-CN" dirty="0"/>
          </a:p>
          <a:p>
            <a:r>
              <a:rPr lang="zh-CN" altLang="en-US" dirty="0"/>
              <a:t>缺点：</a:t>
            </a:r>
            <a:endParaRPr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基于有限域运算，计算复杂度较高。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133EE4F-5FEC-44B5-94B1-897BB5641AF1}"/>
              </a:ext>
            </a:extLst>
          </p:cNvPr>
          <p:cNvSpPr txBox="1"/>
          <p:nvPr/>
        </p:nvSpPr>
        <p:spPr>
          <a:xfrm>
            <a:off x="803346" y="3430262"/>
            <a:ext cx="61217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为了改善标准</a:t>
            </a:r>
            <a:r>
              <a:rPr lang="en-US" altLang="zh-CN" dirty="0"/>
              <a:t>RS</a:t>
            </a:r>
            <a:r>
              <a:rPr lang="zh-CN" altLang="en-US" dirty="0"/>
              <a:t>码计算复杂度高的缺点，</a:t>
            </a:r>
            <a:r>
              <a:rPr lang="en-US" altLang="zh-CN" dirty="0"/>
              <a:t>[</a:t>
            </a:r>
            <a:r>
              <a:rPr lang="en-US" altLang="zh-CN" dirty="0" err="1"/>
              <a:t>Blomer</a:t>
            </a:r>
            <a:r>
              <a:rPr lang="en-US" altLang="zh-CN" dirty="0"/>
              <a:t> et al:1995]</a:t>
            </a:r>
            <a:r>
              <a:rPr lang="zh-CN" altLang="en-US" dirty="0"/>
              <a:t>提出了</a:t>
            </a:r>
            <a:r>
              <a:rPr lang="en-US" altLang="zh-CN" dirty="0"/>
              <a:t>Cauchy Reed-Solomon</a:t>
            </a:r>
            <a:r>
              <a:rPr lang="zh-CN" altLang="en-US" dirty="0"/>
              <a:t>编码，主要有以下两点改进：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用一个</a:t>
            </a:r>
            <a:r>
              <a:rPr lang="en-US" altLang="zh-CN" dirty="0"/>
              <a:t>Cauchy matrix</a:t>
            </a:r>
            <a:r>
              <a:rPr lang="zh-CN" altLang="en-US" dirty="0"/>
              <a:t>代替</a:t>
            </a:r>
            <a:r>
              <a:rPr lang="en-US" altLang="zh-CN" dirty="0" err="1"/>
              <a:t>Vandermonde</a:t>
            </a:r>
            <a:r>
              <a:rPr lang="en-US" altLang="zh-CN" dirty="0"/>
              <a:t> matrix</a:t>
            </a:r>
            <a:r>
              <a:rPr lang="zh-CN" altLang="en-US" dirty="0"/>
              <a:t>。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将有限域乘映射为</a:t>
            </a:r>
            <a:r>
              <a:rPr lang="en-US" altLang="zh-CN" dirty="0"/>
              <a:t>XORs</a:t>
            </a:r>
            <a:r>
              <a:rPr lang="zh-CN" altLang="en-US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591983748"/>
      </p:ext>
    </p:extLst>
  </p:cSld>
  <p:clrMapOvr>
    <a:masterClrMapping/>
  </p:clrMapOvr>
  <p:transition spd="med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>
              <a:latin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2733C78-B3ED-B741-A882-3714B0B7F9E9}"/>
              </a:ext>
            </a:extLst>
          </p:cNvPr>
          <p:cNvSpPr txBox="1"/>
          <p:nvPr/>
        </p:nvSpPr>
        <p:spPr>
          <a:xfrm>
            <a:off x="142194" y="594334"/>
            <a:ext cx="52893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dirty="0">
                <a:latin typeface="Microsoft YaHei" charset="-122"/>
                <a:ea typeface="Microsoft YaHei" charset="-122"/>
                <a:cs typeface="Microsoft YaHei" charset="-122"/>
              </a:rPr>
              <a:t>Cauchy Reed-Solomon</a:t>
            </a:r>
            <a:r>
              <a:rPr kumimoji="1" lang="zh-CN" altLang="en-US" sz="2800" dirty="0">
                <a:latin typeface="Microsoft YaHei" charset="-122"/>
                <a:ea typeface="Microsoft YaHei" charset="-122"/>
                <a:cs typeface="Microsoft YaHei" charset="-122"/>
              </a:rPr>
              <a:t> </a:t>
            </a:r>
            <a:r>
              <a:rPr kumimoji="1" lang="en-US" altLang="zh-CN" sz="2800" dirty="0">
                <a:latin typeface="Microsoft YaHei" charset="-122"/>
                <a:ea typeface="Microsoft YaHei" charset="-122"/>
                <a:cs typeface="Microsoft YaHei" charset="-122"/>
              </a:rPr>
              <a:t>Codes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D6C9E32-6DB6-4280-8983-F759C575AB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090" y="1951022"/>
            <a:ext cx="6954220" cy="3858163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C259E05F-672E-4B5C-837B-35ECF2D7E8EC}"/>
              </a:ext>
            </a:extLst>
          </p:cNvPr>
          <p:cNvSpPr txBox="1"/>
          <p:nvPr/>
        </p:nvSpPr>
        <p:spPr>
          <a:xfrm>
            <a:off x="234754" y="1479424"/>
            <a:ext cx="86744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将标准</a:t>
            </a:r>
            <a:r>
              <a:rPr lang="en-US" altLang="zh-CN" dirty="0"/>
              <a:t>RS</a:t>
            </a:r>
            <a:r>
              <a:rPr lang="zh-CN" altLang="en-US" dirty="0"/>
              <a:t>码中的</a:t>
            </a:r>
            <a:r>
              <a:rPr lang="en-US" altLang="zh-CN" dirty="0"/>
              <a:t>distribution matrix</a:t>
            </a:r>
            <a:r>
              <a:rPr lang="zh-CN" altLang="en-US" dirty="0"/>
              <a:t>变为由</a:t>
            </a:r>
            <a:r>
              <a:rPr lang="en-US" altLang="zh-CN" dirty="0"/>
              <a:t>0</a:t>
            </a:r>
            <a:r>
              <a:rPr lang="zh-CN" altLang="en-US" dirty="0"/>
              <a:t>、</a:t>
            </a:r>
            <a:r>
              <a:rPr lang="en-US" altLang="zh-CN" dirty="0"/>
              <a:t>1</a:t>
            </a:r>
            <a:r>
              <a:rPr lang="zh-CN" altLang="en-US" dirty="0"/>
              <a:t>构成的二进制矩阵（</a:t>
            </a:r>
            <a:r>
              <a:rPr lang="en-US" altLang="zh-CN" dirty="0"/>
              <a:t> Cauchy matrix </a:t>
            </a:r>
            <a:r>
              <a:rPr lang="zh-CN" altLang="en-US" dirty="0"/>
              <a:t>）。</a:t>
            </a:r>
          </a:p>
        </p:txBody>
      </p:sp>
    </p:spTree>
    <p:extLst>
      <p:ext uri="{BB962C8B-B14F-4D97-AF65-F5344CB8AC3E}">
        <p14:creationId xmlns:p14="http://schemas.microsoft.com/office/powerpoint/2010/main" val="977013759"/>
      </p:ext>
    </p:extLst>
  </p:cSld>
  <p:clrMapOvr>
    <a:masterClrMapping/>
  </p:clrMapOvr>
  <p:transition spd="med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>
              <a:latin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2733C78-B3ED-B741-A882-3714B0B7F9E9}"/>
              </a:ext>
            </a:extLst>
          </p:cNvPr>
          <p:cNvSpPr txBox="1"/>
          <p:nvPr/>
        </p:nvSpPr>
        <p:spPr>
          <a:xfrm>
            <a:off x="142194" y="594334"/>
            <a:ext cx="52893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dirty="0">
                <a:latin typeface="Microsoft YaHei" charset="-122"/>
                <a:ea typeface="Microsoft YaHei" charset="-122"/>
                <a:cs typeface="Microsoft YaHei" charset="-122"/>
              </a:rPr>
              <a:t>Cauchy Reed-Solomon</a:t>
            </a:r>
            <a:r>
              <a:rPr kumimoji="1" lang="zh-CN" altLang="en-US" sz="2800" dirty="0">
                <a:latin typeface="Microsoft YaHei" charset="-122"/>
                <a:ea typeface="Microsoft YaHei" charset="-122"/>
                <a:cs typeface="Microsoft YaHei" charset="-122"/>
              </a:rPr>
              <a:t> </a:t>
            </a:r>
            <a:r>
              <a:rPr kumimoji="1" lang="en-US" altLang="zh-CN" sz="2800" dirty="0">
                <a:latin typeface="Microsoft YaHei" charset="-122"/>
                <a:ea typeface="Microsoft YaHei" charset="-122"/>
                <a:cs typeface="Microsoft YaHei" charset="-122"/>
              </a:rPr>
              <a:t>Codes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A52422B-956A-4534-9E14-3542CB229E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725" y="1693273"/>
            <a:ext cx="2029108" cy="218152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09834FF8-1986-4292-B164-37A3350E66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4729" y="1702462"/>
            <a:ext cx="3886567" cy="217234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78086ED3-50EB-4053-8FB5-18F8B8B856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9937" y="4133684"/>
            <a:ext cx="5792655" cy="2135935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F37CAC0C-3CD7-4722-80CD-6CCB9CCDA024}"/>
              </a:ext>
            </a:extLst>
          </p:cNvPr>
          <p:cNvSpPr txBox="1"/>
          <p:nvPr/>
        </p:nvSpPr>
        <p:spPr>
          <a:xfrm>
            <a:off x="309078" y="1323941"/>
            <a:ext cx="5234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将数据节点（</a:t>
            </a:r>
            <a:r>
              <a:rPr lang="en-US" altLang="zh-CN" dirty="0"/>
              <a:t>word</a:t>
            </a:r>
            <a:r>
              <a:rPr lang="zh-CN" altLang="en-US" dirty="0"/>
              <a:t>）分成大小为</a:t>
            </a:r>
            <a:r>
              <a:rPr lang="en-US" altLang="zh-CN" dirty="0"/>
              <a:t>w</a:t>
            </a:r>
            <a:r>
              <a:rPr lang="zh-CN" altLang="en-US" dirty="0"/>
              <a:t>的“</a:t>
            </a:r>
            <a:r>
              <a:rPr lang="en-US" altLang="zh-CN" dirty="0"/>
              <a:t>packets</a:t>
            </a:r>
            <a:r>
              <a:rPr lang="zh-CN" altLang="en-US" dirty="0"/>
              <a:t>”。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EA9CEED-0B9A-440E-8F1E-AEB4BA3B11C7}"/>
              </a:ext>
            </a:extLst>
          </p:cNvPr>
          <p:cNvSpPr txBox="1"/>
          <p:nvPr/>
        </p:nvSpPr>
        <p:spPr>
          <a:xfrm>
            <a:off x="7360211" y="2599371"/>
            <a:ext cx="17299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全部用</a:t>
            </a:r>
            <a:r>
              <a:rPr lang="en-US" altLang="zh-CN" dirty="0"/>
              <a:t>XOR</a:t>
            </a:r>
            <a:r>
              <a:rPr lang="zh-CN" altLang="en-US" dirty="0"/>
              <a:t>计算</a:t>
            </a:r>
          </a:p>
        </p:txBody>
      </p:sp>
    </p:spTree>
    <p:extLst>
      <p:ext uri="{BB962C8B-B14F-4D97-AF65-F5344CB8AC3E}">
        <p14:creationId xmlns:p14="http://schemas.microsoft.com/office/powerpoint/2010/main" val="1472846463"/>
      </p:ext>
    </p:extLst>
  </p:cSld>
  <p:clrMapOvr>
    <a:masterClrMapping/>
  </p:clrMapOvr>
  <p:transition spd="med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>
              <a:latin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2733C78-B3ED-B741-A882-3714B0B7F9E9}"/>
              </a:ext>
            </a:extLst>
          </p:cNvPr>
          <p:cNvSpPr txBox="1"/>
          <p:nvPr/>
        </p:nvSpPr>
        <p:spPr>
          <a:xfrm>
            <a:off x="142194" y="594334"/>
            <a:ext cx="52893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dirty="0">
                <a:latin typeface="Microsoft YaHei" charset="-122"/>
                <a:ea typeface="Microsoft YaHei" charset="-122"/>
                <a:cs typeface="Microsoft YaHei" charset="-122"/>
              </a:rPr>
              <a:t>Cauchy Reed-Solomon</a:t>
            </a:r>
            <a:r>
              <a:rPr kumimoji="1" lang="zh-CN" altLang="en-US" sz="2800" dirty="0">
                <a:latin typeface="Microsoft YaHei" charset="-122"/>
                <a:ea typeface="Microsoft YaHei" charset="-122"/>
                <a:cs typeface="Microsoft YaHei" charset="-122"/>
              </a:rPr>
              <a:t> </a:t>
            </a:r>
            <a:r>
              <a:rPr kumimoji="1" lang="en-US" altLang="zh-CN" sz="2800" dirty="0">
                <a:latin typeface="Microsoft YaHei" charset="-122"/>
                <a:ea typeface="Microsoft YaHei" charset="-122"/>
                <a:cs typeface="Microsoft YaHei" charset="-122"/>
              </a:rPr>
              <a:t>Codes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6591C25-D832-41A1-8E39-BD9AD1C6B0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4717" y="1921302"/>
            <a:ext cx="4753638" cy="4315427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87E6A671-9B2F-4B16-80C7-80F9C24507A9}"/>
              </a:ext>
            </a:extLst>
          </p:cNvPr>
          <p:cNvSpPr txBox="1"/>
          <p:nvPr/>
        </p:nvSpPr>
        <p:spPr>
          <a:xfrm>
            <a:off x="289854" y="1302758"/>
            <a:ext cx="3185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十进制数的二进制矩阵表示：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EC2A81A-B6BE-4E09-878D-29789BDC88EF}"/>
              </a:ext>
            </a:extLst>
          </p:cNvPr>
          <p:cNvSpPr txBox="1"/>
          <p:nvPr/>
        </p:nvSpPr>
        <p:spPr>
          <a:xfrm>
            <a:off x="1463040" y="259511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十进制数</a:t>
            </a:r>
            <a:endParaRPr lang="en-US" altLang="zh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340FE2F-7E97-4179-8D3C-8C75B67D0704}"/>
              </a:ext>
            </a:extLst>
          </p:cNvPr>
          <p:cNvSpPr txBox="1"/>
          <p:nvPr/>
        </p:nvSpPr>
        <p:spPr>
          <a:xfrm>
            <a:off x="1492453" y="3404616"/>
            <a:ext cx="14366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w bits</a:t>
            </a:r>
            <a:r>
              <a:rPr lang="zh-CN" altLang="en-US" dirty="0"/>
              <a:t>的向量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AD6DF2D-86D8-42B0-A456-79CE74677ABF}"/>
              </a:ext>
            </a:extLst>
          </p:cNvPr>
          <p:cNvSpPr txBox="1"/>
          <p:nvPr/>
        </p:nvSpPr>
        <p:spPr>
          <a:xfrm>
            <a:off x="1496277" y="4301990"/>
            <a:ext cx="15584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wxw</a:t>
            </a:r>
            <a:r>
              <a:rPr lang="zh-CN" altLang="en-US" dirty="0"/>
              <a:t>的</a:t>
            </a:r>
            <a:r>
              <a:rPr lang="en-US" altLang="zh-CN" dirty="0"/>
              <a:t>bit</a:t>
            </a:r>
            <a:r>
              <a:rPr lang="zh-CN" altLang="en-US" dirty="0"/>
              <a:t>矩阵</a:t>
            </a:r>
          </a:p>
        </p:txBody>
      </p:sp>
    </p:spTree>
    <p:extLst>
      <p:ext uri="{BB962C8B-B14F-4D97-AF65-F5344CB8AC3E}">
        <p14:creationId xmlns:p14="http://schemas.microsoft.com/office/powerpoint/2010/main" val="1726851762"/>
      </p:ext>
    </p:extLst>
  </p:cSld>
  <p:clrMapOvr>
    <a:masterClrMapping/>
  </p:clrMapOvr>
  <p:transition spd="med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>
              <a:latin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2733C78-B3ED-B741-A882-3714B0B7F9E9}"/>
              </a:ext>
            </a:extLst>
          </p:cNvPr>
          <p:cNvSpPr txBox="1"/>
          <p:nvPr/>
        </p:nvSpPr>
        <p:spPr>
          <a:xfrm>
            <a:off x="142194" y="594334"/>
            <a:ext cx="52893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dirty="0">
                <a:latin typeface="Microsoft YaHei" charset="-122"/>
                <a:ea typeface="Microsoft YaHei" charset="-122"/>
                <a:cs typeface="Microsoft YaHei" charset="-122"/>
              </a:rPr>
              <a:t>Cauchy Reed-Solomon</a:t>
            </a:r>
            <a:r>
              <a:rPr kumimoji="1" lang="zh-CN" altLang="en-US" sz="2800" dirty="0">
                <a:latin typeface="Microsoft YaHei" charset="-122"/>
                <a:ea typeface="Microsoft YaHei" charset="-122"/>
                <a:cs typeface="Microsoft YaHei" charset="-122"/>
              </a:rPr>
              <a:t> </a:t>
            </a:r>
            <a:r>
              <a:rPr kumimoji="1" lang="en-US" altLang="zh-CN" sz="2800" dirty="0">
                <a:latin typeface="Microsoft YaHei" charset="-122"/>
                <a:ea typeface="Microsoft YaHei" charset="-122"/>
                <a:cs typeface="Microsoft YaHei" charset="-122"/>
              </a:rPr>
              <a:t>Codes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08086CE9-9636-40DE-A544-A4F6A2411D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7199" y="1719082"/>
            <a:ext cx="4238625" cy="4029075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766CF592-27D7-40E0-9FE6-4EADF84284FE}"/>
              </a:ext>
            </a:extLst>
          </p:cNvPr>
          <p:cNvSpPr txBox="1"/>
          <p:nvPr/>
        </p:nvSpPr>
        <p:spPr>
          <a:xfrm>
            <a:off x="402336" y="1209171"/>
            <a:ext cx="6216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Cauchy RS</a:t>
            </a:r>
            <a:r>
              <a:rPr lang="zh-CN" altLang="en-US" dirty="0"/>
              <a:t>码相比标准</a:t>
            </a:r>
            <a:r>
              <a:rPr lang="en-US" altLang="zh-CN" dirty="0"/>
              <a:t>RS</a:t>
            </a:r>
            <a:r>
              <a:rPr lang="zh-CN" altLang="en-US" dirty="0"/>
              <a:t>码在计算复杂度上有了明显的改进。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5D77ED5-B08E-45C2-A253-896E62602980}"/>
              </a:ext>
            </a:extLst>
          </p:cNvPr>
          <p:cNvSpPr txBox="1"/>
          <p:nvPr/>
        </p:nvSpPr>
        <p:spPr>
          <a:xfrm>
            <a:off x="402336" y="5894334"/>
            <a:ext cx="79776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进一步降低</a:t>
            </a:r>
            <a:r>
              <a:rPr lang="en-US" altLang="zh-CN" dirty="0"/>
              <a:t>Cauchy RS</a:t>
            </a:r>
            <a:r>
              <a:rPr lang="zh-CN" altLang="en-US" dirty="0"/>
              <a:t>码的复杂度</a:t>
            </a:r>
            <a:r>
              <a:rPr lang="en-US" altLang="zh-CN" dirty="0"/>
              <a:t>—&gt;</a:t>
            </a:r>
            <a:r>
              <a:rPr lang="zh-CN" altLang="en-US" dirty="0"/>
              <a:t>构建含</a:t>
            </a:r>
            <a:r>
              <a:rPr lang="en-US" altLang="zh-CN" dirty="0"/>
              <a:t>1</a:t>
            </a:r>
            <a:r>
              <a:rPr lang="zh-CN" altLang="en-US" dirty="0"/>
              <a:t>数目最少的</a:t>
            </a:r>
            <a:r>
              <a:rPr lang="en-US" altLang="zh-CN" dirty="0"/>
              <a:t>distribution matrix(B)</a:t>
            </a:r>
            <a:r>
              <a:rPr lang="zh-CN" altLang="en-US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891312844"/>
      </p:ext>
    </p:extLst>
  </p:cSld>
  <p:clrMapOvr>
    <a:masterClrMapping/>
  </p:clrMapOvr>
  <p:transition spd="med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/>
          </a:p>
        </p:txBody>
      </p:sp>
      <p:sp>
        <p:nvSpPr>
          <p:cNvPr id="2" name="文本框 1"/>
          <p:cNvSpPr txBox="1"/>
          <p:nvPr/>
        </p:nvSpPr>
        <p:spPr>
          <a:xfrm>
            <a:off x="6801492" y="436651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376717" y="1173975"/>
            <a:ext cx="11079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3600" dirty="0">
                <a:solidFill>
                  <a:schemeClr val="bg1">
                    <a:lumMod val="95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目录</a:t>
            </a:r>
            <a:endParaRPr kumimoji="1" lang="en-US" altLang="zh-CN" sz="3600" dirty="0">
              <a:solidFill>
                <a:schemeClr val="bg1">
                  <a:lumMod val="95000"/>
                </a:schemeClr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7" name="文本框 2">
            <a:extLst>
              <a:ext uri="{FF2B5EF4-FFF2-40B4-BE49-F238E27FC236}">
                <a16:creationId xmlns:a16="http://schemas.microsoft.com/office/drawing/2014/main" id="{09BE5523-75D0-4F31-A82E-54FEE30BB8E1}"/>
              </a:ext>
            </a:extLst>
          </p:cNvPr>
          <p:cNvSpPr txBox="1"/>
          <p:nvPr/>
        </p:nvSpPr>
        <p:spPr>
          <a:xfrm>
            <a:off x="2770166" y="2551020"/>
            <a:ext cx="6373834" cy="3247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宋体" charset="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宋体" charset="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宋体" charset="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宋体" charset="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宋体" charset="0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宋体" charset="0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宋体" charset="0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宋体" charset="0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宋体" charset="0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Clr>
                <a:schemeClr val="bg1">
                  <a:lumMod val="95000"/>
                </a:schemeClr>
              </a:buClr>
              <a:buSzPct val="75000"/>
              <a:buFont typeface="Wingdings" charset="2"/>
              <a:buChar char="l"/>
            </a:pPr>
            <a:r>
              <a:rPr kumimoji="1" lang="zh-CN" altLang="en-US" sz="2800" dirty="0">
                <a:latin typeface="Microsoft YaHei" charset="-122"/>
                <a:ea typeface="Microsoft YaHei" charset="-122"/>
                <a:cs typeface="Microsoft YaHei" charset="-122"/>
              </a:rPr>
              <a:t>     </a:t>
            </a:r>
            <a:r>
              <a:rPr kumimoji="1" lang="en-US" altLang="zh-CN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RAID</a:t>
            </a:r>
          </a:p>
          <a:p>
            <a:pPr marL="285750" indent="-285750">
              <a:lnSpc>
                <a:spcPct val="150000"/>
              </a:lnSpc>
              <a:buClr>
                <a:schemeClr val="bg1">
                  <a:lumMod val="95000"/>
                </a:schemeClr>
              </a:buClr>
              <a:buSzPct val="75000"/>
              <a:buFont typeface="Wingdings" charset="2"/>
              <a:buChar char="l"/>
            </a:pPr>
            <a:r>
              <a:rPr kumimoji="1" lang="en-US" altLang="zh-CN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     </a:t>
            </a:r>
            <a:r>
              <a:rPr kumimoji="1" lang="en-US" altLang="zh-CN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charset="-122"/>
                <a:ea typeface="Microsoft YaHei" charset="-122"/>
              </a:rPr>
              <a:t>Erasure</a:t>
            </a:r>
            <a:r>
              <a:rPr kumimoji="1" lang="zh-CN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charset="-122"/>
                <a:ea typeface="Microsoft YaHei" charset="-122"/>
              </a:rPr>
              <a:t> </a:t>
            </a:r>
            <a:r>
              <a:rPr kumimoji="1" lang="en-US" altLang="zh-CN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charset="-122"/>
                <a:ea typeface="Microsoft YaHei" charset="-122"/>
              </a:rPr>
              <a:t>Codes</a:t>
            </a:r>
          </a:p>
          <a:p>
            <a:pPr marL="285750" indent="-285750">
              <a:lnSpc>
                <a:spcPct val="150000"/>
              </a:lnSpc>
              <a:buClr>
                <a:schemeClr val="bg1">
                  <a:lumMod val="95000"/>
                </a:schemeClr>
              </a:buClr>
              <a:buSzPct val="75000"/>
              <a:buFont typeface="Wingdings" charset="2"/>
              <a:buChar char="l"/>
            </a:pPr>
            <a:r>
              <a:rPr kumimoji="1" lang="en-US" altLang="zh-CN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     Reed-Solomon Codes</a:t>
            </a:r>
          </a:p>
          <a:p>
            <a:pPr marL="285750" indent="-285750">
              <a:lnSpc>
                <a:spcPct val="150000"/>
              </a:lnSpc>
              <a:buClr>
                <a:schemeClr val="bg1">
                  <a:lumMod val="95000"/>
                </a:schemeClr>
              </a:buClr>
              <a:buSzPct val="75000"/>
              <a:buFont typeface="Wingdings" charset="2"/>
              <a:buChar char="l"/>
            </a:pPr>
            <a:r>
              <a:rPr kumimoji="1" lang="en-US" altLang="zh-CN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     </a:t>
            </a:r>
            <a:r>
              <a:rPr kumimoji="1" lang="en-US" altLang="zh-CN" sz="2800" dirty="0">
                <a:latin typeface="Microsoft YaHei" charset="-122"/>
                <a:ea typeface="Microsoft YaHei" charset="-122"/>
              </a:rPr>
              <a:t>Array Codes</a:t>
            </a:r>
          </a:p>
          <a:p>
            <a:pPr marL="285750" indent="-285750">
              <a:lnSpc>
                <a:spcPct val="150000"/>
              </a:lnSpc>
              <a:buClr>
                <a:schemeClr val="bg1">
                  <a:lumMod val="95000"/>
                </a:schemeClr>
              </a:buClr>
              <a:buSzPct val="75000"/>
              <a:buFont typeface="Wingdings" charset="2"/>
              <a:buChar char="l"/>
            </a:pPr>
            <a:r>
              <a:rPr kumimoji="1" lang="en-US" altLang="zh-CN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     Latin Squares &amp; Erasure Codes</a:t>
            </a:r>
          </a:p>
        </p:txBody>
      </p:sp>
    </p:spTree>
    <p:extLst>
      <p:ext uri="{BB962C8B-B14F-4D97-AF65-F5344CB8AC3E}">
        <p14:creationId xmlns:p14="http://schemas.microsoft.com/office/powerpoint/2010/main" val="2301659369"/>
      </p:ext>
    </p:extLst>
  </p:cSld>
  <p:clrMapOvr>
    <a:masterClrMapping/>
  </p:clrMapOvr>
  <p:transition spd="med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>
              <a:latin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2733C78-B3ED-B741-A882-3714B0B7F9E9}"/>
              </a:ext>
            </a:extLst>
          </p:cNvPr>
          <p:cNvSpPr txBox="1"/>
          <p:nvPr/>
        </p:nvSpPr>
        <p:spPr>
          <a:xfrm>
            <a:off x="142194" y="594334"/>
            <a:ext cx="52893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dirty="0">
                <a:latin typeface="Microsoft YaHei" charset="-122"/>
                <a:ea typeface="Microsoft YaHei" charset="-122"/>
                <a:cs typeface="Microsoft YaHei" charset="-122"/>
              </a:rPr>
              <a:t>Array Codes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269A4E3-DD59-48AD-9477-ABC347F94B19}"/>
              </a:ext>
            </a:extLst>
          </p:cNvPr>
          <p:cNvSpPr txBox="1"/>
          <p:nvPr/>
        </p:nvSpPr>
        <p:spPr>
          <a:xfrm>
            <a:off x="576418" y="1872735"/>
            <a:ext cx="6803914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Array Codes</a:t>
            </a:r>
            <a:r>
              <a:rPr lang="zh-CN" altLang="en-US" dirty="0"/>
              <a:t>（阵列码），按照</a:t>
            </a:r>
            <a:r>
              <a:rPr lang="en-US" altLang="zh-CN" dirty="0"/>
              <a:t>data/parity</a:t>
            </a:r>
            <a:r>
              <a:rPr lang="zh-CN" altLang="en-US" dirty="0"/>
              <a:t>布局，可以分为三种：</a:t>
            </a:r>
            <a:endParaRPr lang="en-US" altLang="zh-CN" dirty="0"/>
          </a:p>
          <a:p>
            <a:r>
              <a:rPr lang="en-US" altLang="zh-CN" dirty="0"/>
              <a:t>     </a:t>
            </a:r>
            <a:r>
              <a:rPr lang="zh-CN" altLang="en-US" dirty="0"/>
              <a:t>水平阵列码、垂直阵列码、混合阵列码。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742950" lvl="1" indent="-285750">
              <a:buFont typeface="Wingdings" panose="05000000000000000000" pitchFamily="2" charset="2"/>
              <a:buChar char="p"/>
            </a:pPr>
            <a:r>
              <a:rPr lang="zh-CN" altLang="en-US" dirty="0"/>
              <a:t>水平码：</a:t>
            </a:r>
            <a:r>
              <a:rPr lang="en-US" altLang="zh-CN" dirty="0"/>
              <a:t>EVENODD</a:t>
            </a:r>
            <a:r>
              <a:rPr lang="zh-CN" altLang="en-US" dirty="0"/>
              <a:t>、</a:t>
            </a:r>
            <a:r>
              <a:rPr lang="en-US" altLang="zh-CN" dirty="0"/>
              <a:t>RDP</a:t>
            </a:r>
            <a:r>
              <a:rPr lang="zh-CN" altLang="en-US" dirty="0"/>
              <a:t>、</a:t>
            </a:r>
            <a:r>
              <a:rPr lang="en-US" altLang="zh-CN" dirty="0"/>
              <a:t>STAR</a:t>
            </a:r>
            <a:r>
              <a:rPr lang="zh-CN" altLang="en-US" dirty="0"/>
              <a:t>等。</a:t>
            </a:r>
            <a:endParaRPr lang="en-US" altLang="zh-CN" dirty="0"/>
          </a:p>
          <a:p>
            <a:pPr marL="742950" lvl="1" indent="-285750">
              <a:buFont typeface="Wingdings" panose="05000000000000000000" pitchFamily="2" charset="2"/>
              <a:buChar char="p"/>
            </a:pPr>
            <a:r>
              <a:rPr lang="zh-CN" altLang="en-US" dirty="0"/>
              <a:t>垂直码：</a:t>
            </a:r>
            <a:r>
              <a:rPr lang="en-US" altLang="zh-CN" dirty="0"/>
              <a:t>X-Code</a:t>
            </a:r>
            <a:r>
              <a:rPr lang="zh-CN" altLang="en-US" dirty="0"/>
              <a:t>、</a:t>
            </a:r>
            <a:r>
              <a:rPr lang="en-US" altLang="zh-CN" dirty="0"/>
              <a:t>Weaver</a:t>
            </a:r>
            <a:r>
              <a:rPr lang="zh-CN" altLang="en-US" dirty="0"/>
              <a:t>等。</a:t>
            </a:r>
            <a:endParaRPr lang="en-US" altLang="zh-CN" dirty="0"/>
          </a:p>
          <a:p>
            <a:pPr marL="742950" lvl="1" indent="-285750">
              <a:buFont typeface="Wingdings" panose="05000000000000000000" pitchFamily="2" charset="2"/>
              <a:buChar char="p"/>
            </a:pPr>
            <a:r>
              <a:rPr lang="zh-CN" altLang="en-US" dirty="0"/>
              <a:t>混合码：</a:t>
            </a:r>
            <a:r>
              <a:rPr lang="en-US" altLang="zh-CN" dirty="0"/>
              <a:t>HoVer</a:t>
            </a:r>
            <a:r>
              <a:rPr lang="zh-CN" altLang="en-US" dirty="0"/>
              <a:t>等。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仅基于</a:t>
            </a:r>
            <a:r>
              <a:rPr lang="en-US" altLang="zh-CN" dirty="0"/>
              <a:t>XOR</a:t>
            </a:r>
            <a:r>
              <a:rPr lang="zh-CN" altLang="en-US" dirty="0"/>
              <a:t>运算，计算复杂度较</a:t>
            </a:r>
            <a:r>
              <a:rPr lang="en-US" altLang="zh-CN" dirty="0"/>
              <a:t>RS</a:t>
            </a:r>
            <a:r>
              <a:rPr lang="zh-CN" altLang="en-US" dirty="0"/>
              <a:t>码低。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有最佳的</a:t>
            </a:r>
            <a:r>
              <a:rPr lang="en-US" altLang="zh-CN" dirty="0"/>
              <a:t>/</a:t>
            </a:r>
            <a:r>
              <a:rPr lang="zh-CN" altLang="en-US" dirty="0"/>
              <a:t>接近最佳的性能。</a:t>
            </a:r>
          </a:p>
        </p:txBody>
      </p:sp>
    </p:spTree>
    <p:extLst>
      <p:ext uri="{BB962C8B-B14F-4D97-AF65-F5344CB8AC3E}">
        <p14:creationId xmlns:p14="http://schemas.microsoft.com/office/powerpoint/2010/main" val="613181401"/>
      </p:ext>
    </p:extLst>
  </p:cSld>
  <p:clrMapOvr>
    <a:masterClrMapping/>
  </p:clrMapOvr>
  <p:transition spd="med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>
              <a:latin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2733C78-B3ED-B741-A882-3714B0B7F9E9}"/>
              </a:ext>
            </a:extLst>
          </p:cNvPr>
          <p:cNvSpPr txBox="1"/>
          <p:nvPr/>
        </p:nvSpPr>
        <p:spPr>
          <a:xfrm>
            <a:off x="142194" y="594334"/>
            <a:ext cx="52893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dirty="0">
                <a:latin typeface="Microsoft YaHei" charset="-122"/>
                <a:ea typeface="Microsoft YaHei" charset="-122"/>
                <a:cs typeface="Microsoft YaHei" charset="-122"/>
              </a:rPr>
              <a:t>EVENODD 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196B247-B8BB-4C31-94C0-CF2ED17C72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5824" y="1944460"/>
            <a:ext cx="4830614" cy="2071491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7D53DA4-87F7-48F7-A459-CDED72C69F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7168" y="4070593"/>
            <a:ext cx="4439270" cy="1924319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2579AFE8-B84B-4047-B436-06A156086BC5}"/>
              </a:ext>
            </a:extLst>
          </p:cNvPr>
          <p:cNvSpPr txBox="1"/>
          <p:nvPr/>
        </p:nvSpPr>
        <p:spPr>
          <a:xfrm>
            <a:off x="300789" y="1241896"/>
            <a:ext cx="577433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EVENODD</a:t>
            </a:r>
            <a:r>
              <a:rPr lang="zh-CN" altLang="en-US" dirty="0"/>
              <a:t>是</a:t>
            </a:r>
            <a:r>
              <a:rPr lang="en-US" altLang="zh-CN" dirty="0"/>
              <a:t>Parity array codes</a:t>
            </a:r>
            <a:r>
              <a:rPr lang="zh-CN" altLang="en-US" dirty="0"/>
              <a:t>的鼻祖</a:t>
            </a:r>
            <a:r>
              <a:rPr lang="en-US" altLang="zh-CN" dirty="0"/>
              <a:t>[</a:t>
            </a:r>
            <a:r>
              <a:rPr lang="en-US" altLang="zh-CN" dirty="0" err="1"/>
              <a:t>Blaum</a:t>
            </a:r>
            <a:r>
              <a:rPr lang="en-US" altLang="zh-CN" dirty="0"/>
              <a:t> et al:1995]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en-US" altLang="zh-CN" dirty="0"/>
              <a:t>m=2</a:t>
            </a:r>
            <a:r>
              <a:rPr lang="zh-CN" altLang="en-US" dirty="0"/>
              <a:t>；</a:t>
            </a:r>
            <a:r>
              <a:rPr lang="en-US" altLang="zh-CN" dirty="0"/>
              <a:t>n=p, p</a:t>
            </a:r>
            <a:r>
              <a:rPr lang="zh-CN" altLang="en-US" dirty="0"/>
              <a:t>是大于</a:t>
            </a:r>
            <a:r>
              <a:rPr lang="en-US" altLang="zh-CN" dirty="0"/>
              <a:t>2</a:t>
            </a:r>
            <a:r>
              <a:rPr lang="zh-CN" altLang="en-US" dirty="0"/>
              <a:t>的素数；待编码的数据块有</a:t>
            </a:r>
            <a:r>
              <a:rPr lang="en-US" altLang="zh-CN" dirty="0"/>
              <a:t>p-1</a:t>
            </a:r>
            <a:r>
              <a:rPr lang="zh-CN" altLang="en-US" dirty="0"/>
              <a:t>行。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02B2CBB-77CA-42CA-8108-D3E10E37D6B6}"/>
              </a:ext>
            </a:extLst>
          </p:cNvPr>
          <p:cNvSpPr txBox="1"/>
          <p:nvPr/>
        </p:nvSpPr>
        <p:spPr>
          <a:xfrm>
            <a:off x="2643721" y="6032736"/>
            <a:ext cx="35461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例：</a:t>
            </a:r>
            <a:r>
              <a:rPr lang="en-US" altLang="zh-CN" dirty="0"/>
              <a:t>n=p=5</a:t>
            </a:r>
            <a:r>
              <a:rPr lang="zh-CN" altLang="en-US" dirty="0"/>
              <a:t>，每一列表示一个设备</a:t>
            </a:r>
          </a:p>
        </p:txBody>
      </p:sp>
    </p:spTree>
    <p:extLst>
      <p:ext uri="{BB962C8B-B14F-4D97-AF65-F5344CB8AC3E}">
        <p14:creationId xmlns:p14="http://schemas.microsoft.com/office/powerpoint/2010/main" val="2911596601"/>
      </p:ext>
    </p:extLst>
  </p:cSld>
  <p:clrMapOvr>
    <a:masterClrMapping/>
  </p:clrMapOvr>
  <p:transition spd="med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>
              <a:latin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2733C78-B3ED-B741-A882-3714B0B7F9E9}"/>
              </a:ext>
            </a:extLst>
          </p:cNvPr>
          <p:cNvSpPr txBox="1"/>
          <p:nvPr/>
        </p:nvSpPr>
        <p:spPr>
          <a:xfrm>
            <a:off x="142194" y="594334"/>
            <a:ext cx="52893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dirty="0">
                <a:latin typeface="Microsoft YaHei" charset="-122"/>
                <a:ea typeface="Microsoft YaHei" charset="-122"/>
                <a:cs typeface="Microsoft YaHei" charset="-122"/>
              </a:rPr>
              <a:t>EVENODD 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9A7981A-B318-450C-B6BD-E88611E891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4608" y="2332788"/>
            <a:ext cx="5549698" cy="26218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1592A8EF-AF98-459B-A598-526A826E8F08}"/>
                  </a:ext>
                </a:extLst>
              </p:cNvPr>
              <p:cNvSpPr txBox="1"/>
              <p:nvPr/>
            </p:nvSpPr>
            <p:spPr>
              <a:xfrm>
                <a:off x="706551" y="1400701"/>
                <a:ext cx="66039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dirty="0"/>
                  <a:t>列</a:t>
                </a:r>
                <a:r>
                  <a:rPr lang="en-US" altLang="zh-CN" dirty="0"/>
                  <a:t>——</a:t>
                </a:r>
                <a:r>
                  <a:rPr lang="zh-CN" altLang="en-US" dirty="0"/>
                  <a:t>行校验列，可以直接由对应行的全部数据块异或得到。</a:t>
                </a:r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1592A8EF-AF98-459B-A598-526A826E8F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551" y="1400701"/>
                <a:ext cx="6603924" cy="369332"/>
              </a:xfrm>
              <a:prstGeom prst="rect">
                <a:avLst/>
              </a:prstGeom>
              <a:blipFill>
                <a:blip r:embed="rId4"/>
                <a:stretch>
                  <a:fillRect t="-15000" r="-92" b="-28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E8E90019-F69B-44EB-AC55-EED2A9C855E5}"/>
                  </a:ext>
                </a:extLst>
              </p:cNvPr>
              <p:cNvSpPr txBox="1"/>
              <p:nvPr/>
            </p:nvSpPr>
            <p:spPr>
              <a:xfrm>
                <a:off x="2311323" y="5312708"/>
                <a:ext cx="3504357" cy="2891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0,0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0,0</m:t>
                        </m:r>
                      </m:sub>
                    </m:sSub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⨁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0,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⨁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0,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⨁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0,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⨁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0,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E8E90019-F69B-44EB-AC55-EED2A9C855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1323" y="5312708"/>
                <a:ext cx="3504357" cy="289182"/>
              </a:xfrm>
              <a:prstGeom prst="rect">
                <a:avLst/>
              </a:prstGeom>
              <a:blipFill>
                <a:blip r:embed="rId5"/>
                <a:stretch>
                  <a:fillRect l="-2261" b="-170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04854313"/>
      </p:ext>
    </p:extLst>
  </p:cSld>
  <p:clrMapOvr>
    <a:masterClrMapping/>
  </p:clrMapOvr>
  <p:transition spd="med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>
              <a:latin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2733C78-B3ED-B741-A882-3714B0B7F9E9}"/>
              </a:ext>
            </a:extLst>
          </p:cNvPr>
          <p:cNvSpPr txBox="1"/>
          <p:nvPr/>
        </p:nvSpPr>
        <p:spPr>
          <a:xfrm>
            <a:off x="142194" y="594334"/>
            <a:ext cx="52893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dirty="0">
                <a:latin typeface="Microsoft YaHei" charset="-122"/>
                <a:ea typeface="Microsoft YaHei" charset="-122"/>
                <a:cs typeface="Microsoft YaHei" charset="-122"/>
              </a:rPr>
              <a:t>EVENODD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1592A8EF-AF98-459B-A598-526A826E8F08}"/>
                  </a:ext>
                </a:extLst>
              </p:cNvPr>
              <p:cNvSpPr txBox="1"/>
              <p:nvPr/>
            </p:nvSpPr>
            <p:spPr>
              <a:xfrm>
                <a:off x="238446" y="1253773"/>
                <a:ext cx="244361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dirty="0"/>
                  <a:t>列</a:t>
                </a:r>
                <a:r>
                  <a:rPr lang="en-US" altLang="zh-CN" dirty="0"/>
                  <a:t>——</a:t>
                </a:r>
                <a:r>
                  <a:rPr lang="zh-CN" altLang="en-US" dirty="0"/>
                  <a:t>对角校验列。</a:t>
                </a:r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1592A8EF-AF98-459B-A598-526A826E8F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446" y="1253773"/>
                <a:ext cx="2443618" cy="369332"/>
              </a:xfrm>
              <a:prstGeom prst="rect">
                <a:avLst/>
              </a:prstGeom>
              <a:blipFill>
                <a:blip r:embed="rId3"/>
                <a:stretch>
                  <a:fillRect t="-15000" r="-1995" b="-28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E8E90019-F69B-44EB-AC55-EED2A9C855E5}"/>
                  </a:ext>
                </a:extLst>
              </p:cNvPr>
              <p:cNvSpPr txBox="1"/>
              <p:nvPr/>
            </p:nvSpPr>
            <p:spPr>
              <a:xfrm>
                <a:off x="3267042" y="6294690"/>
                <a:ext cx="3238194" cy="2891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0,1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0,0</m:t>
                        </m:r>
                      </m:sub>
                    </m:sSub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⨁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⨁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⨁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⨁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E8E90019-F69B-44EB-AC55-EED2A9C855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7042" y="6294690"/>
                <a:ext cx="3238194" cy="289182"/>
              </a:xfrm>
              <a:prstGeom prst="rect">
                <a:avLst/>
              </a:prstGeom>
              <a:blipFill>
                <a:blip r:embed="rId4"/>
                <a:stretch>
                  <a:fillRect l="-2637" r="-188" b="-170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>
            <a:extLst>
              <a:ext uri="{FF2B5EF4-FFF2-40B4-BE49-F238E27FC236}">
                <a16:creationId xmlns:a16="http://schemas.microsoft.com/office/drawing/2014/main" id="{A726FA89-C3AB-43D8-BAA7-43A401D869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44445" y="2052977"/>
            <a:ext cx="3730714" cy="188608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4C3CAA77-9C3B-47EB-B7CB-981590F740C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86725" y="4048481"/>
            <a:ext cx="4108749" cy="2246209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74641086-BDB7-4CF7-A2F2-25950918DB3E}"/>
              </a:ext>
            </a:extLst>
          </p:cNvPr>
          <p:cNvSpPr txBox="1"/>
          <p:nvPr/>
        </p:nvSpPr>
        <p:spPr>
          <a:xfrm>
            <a:off x="562697" y="1762402"/>
            <a:ext cx="40093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首先计算“</a:t>
            </a:r>
            <a:r>
              <a:rPr lang="en-US" altLang="zh-CN" dirty="0"/>
              <a:t>Syndrome</a:t>
            </a:r>
            <a:r>
              <a:rPr lang="zh-CN" altLang="en-US" dirty="0"/>
              <a:t>”（校验和）</a:t>
            </a:r>
            <a:r>
              <a:rPr lang="en-US" altLang="zh-CN" dirty="0"/>
              <a:t>S</a:t>
            </a:r>
            <a:r>
              <a:rPr lang="zh-CN" altLang="en-US" dirty="0"/>
              <a:t>：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3A35AAD-847C-4A74-8189-38CA5A567768}"/>
              </a:ext>
            </a:extLst>
          </p:cNvPr>
          <p:cNvSpPr txBox="1"/>
          <p:nvPr/>
        </p:nvSpPr>
        <p:spPr>
          <a:xfrm>
            <a:off x="562696" y="435693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8DEF6390-FEB7-4C51-81DD-6248E024224F}"/>
                  </a:ext>
                </a:extLst>
              </p:cNvPr>
              <p:cNvSpPr txBox="1"/>
              <p:nvPr/>
            </p:nvSpPr>
            <p:spPr>
              <a:xfrm>
                <a:off x="562696" y="3898852"/>
                <a:ext cx="6055247" cy="38440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,1</m:t>
                        </m:r>
                      </m:sub>
                    </m:sSub>
                  </m:oMath>
                </a14:m>
                <a:r>
                  <a:rPr lang="zh-CN" altLang="en-US" dirty="0"/>
                  <a:t>由</a:t>
                </a:r>
                <a:r>
                  <a:rPr lang="en-US" altLang="zh-CN" dirty="0"/>
                  <a:t>S</a:t>
                </a:r>
                <a:r>
                  <a:rPr lang="zh-CN" altLang="en-US" dirty="0"/>
                  <a:t>和包含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,0</m:t>
                        </m:r>
                      </m:sub>
                    </m:sSub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的</m:t>
                    </m:r>
                  </m:oMath>
                </a14:m>
                <a:r>
                  <a:rPr lang="zh-CN" altLang="en-US" dirty="0"/>
                  <a:t>对角线上所在的全部元素的异或得到。</a:t>
                </a:r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8DEF6390-FEB7-4C51-81DD-6248E02422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696" y="3898852"/>
                <a:ext cx="6055247" cy="384401"/>
              </a:xfrm>
              <a:prstGeom prst="rect">
                <a:avLst/>
              </a:prstGeom>
              <a:blipFill>
                <a:blip r:embed="rId7"/>
                <a:stretch>
                  <a:fillRect t="-12698" r="-201" b="-238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30467500"/>
      </p:ext>
    </p:extLst>
  </p:cSld>
  <p:clrMapOvr>
    <a:masterClrMapping/>
  </p:clrMapOvr>
  <p:transition spd="med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>
              <a:latin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2733C78-B3ED-B741-A882-3714B0B7F9E9}"/>
              </a:ext>
            </a:extLst>
          </p:cNvPr>
          <p:cNvSpPr txBox="1"/>
          <p:nvPr/>
        </p:nvSpPr>
        <p:spPr>
          <a:xfrm>
            <a:off x="142194" y="594334"/>
            <a:ext cx="52893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dirty="0">
                <a:latin typeface="Microsoft YaHei" charset="-122"/>
                <a:ea typeface="Microsoft YaHei" charset="-122"/>
                <a:cs typeface="Microsoft YaHei" charset="-122"/>
              </a:rPr>
              <a:t>EVENODD 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592A8EF-AF98-459B-A598-526A826E8F08}"/>
              </a:ext>
            </a:extLst>
          </p:cNvPr>
          <p:cNvSpPr txBox="1"/>
          <p:nvPr/>
        </p:nvSpPr>
        <p:spPr>
          <a:xfrm>
            <a:off x="238446" y="1253773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完整的编码方式：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3A35AAD-847C-4A74-8189-38CA5A567768}"/>
              </a:ext>
            </a:extLst>
          </p:cNvPr>
          <p:cNvSpPr txBox="1"/>
          <p:nvPr/>
        </p:nvSpPr>
        <p:spPr>
          <a:xfrm>
            <a:off x="562696" y="435693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D1BFBE2-88AF-4A02-A0AE-FFE9D7B5A3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9181" y="1530725"/>
            <a:ext cx="4130988" cy="2145068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A4ED29AB-0CD4-46B0-A2B8-0FA4119B0E60}"/>
              </a:ext>
            </a:extLst>
          </p:cNvPr>
          <p:cNvSpPr txBox="1"/>
          <p:nvPr/>
        </p:nvSpPr>
        <p:spPr>
          <a:xfrm>
            <a:off x="238445" y="3901242"/>
            <a:ext cx="31274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假设</a:t>
            </a:r>
            <a:r>
              <a:rPr lang="en-US" altLang="zh-CN" dirty="0"/>
              <a:t>column 1</a:t>
            </a:r>
            <a:r>
              <a:rPr lang="zh-CN" altLang="en-US" dirty="0"/>
              <a:t>和</a:t>
            </a:r>
            <a:r>
              <a:rPr lang="en-US" altLang="zh-CN" dirty="0"/>
              <a:t>column3 fail</a:t>
            </a:r>
            <a:r>
              <a:rPr lang="zh-CN" altLang="en-US" dirty="0"/>
              <a:t>：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D781708A-AF49-4F9D-B243-945C9F5782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3402" y="4228989"/>
            <a:ext cx="4275367" cy="2291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8873817"/>
      </p:ext>
    </p:extLst>
  </p:cSld>
  <p:clrMapOvr>
    <a:masterClrMapping/>
  </p:clrMapOvr>
  <p:transition spd="med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>
              <a:latin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2733C78-B3ED-B741-A882-3714B0B7F9E9}"/>
              </a:ext>
            </a:extLst>
          </p:cNvPr>
          <p:cNvSpPr txBox="1"/>
          <p:nvPr/>
        </p:nvSpPr>
        <p:spPr>
          <a:xfrm>
            <a:off x="142194" y="594334"/>
            <a:ext cx="52893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dirty="0">
                <a:latin typeface="Microsoft YaHei" charset="-122"/>
                <a:ea typeface="Microsoft YaHei" charset="-122"/>
                <a:cs typeface="Microsoft YaHei" charset="-122"/>
              </a:rPr>
              <a:t>EVENODD 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3A35AAD-847C-4A74-8189-38CA5A567768}"/>
              </a:ext>
            </a:extLst>
          </p:cNvPr>
          <p:cNvSpPr txBox="1"/>
          <p:nvPr/>
        </p:nvSpPr>
        <p:spPr>
          <a:xfrm>
            <a:off x="562696" y="435693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B1A9F19-8960-4346-961B-59AF70456BB7}"/>
              </a:ext>
            </a:extLst>
          </p:cNvPr>
          <p:cNvSpPr txBox="1"/>
          <p:nvPr/>
        </p:nvSpPr>
        <p:spPr>
          <a:xfrm>
            <a:off x="142194" y="1540042"/>
            <a:ext cx="836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如果</a:t>
            </a:r>
            <a:r>
              <a:rPr lang="en-US" altLang="zh-CN" dirty="0"/>
              <a:t>n</a:t>
            </a:r>
            <a:r>
              <a:rPr lang="zh-CN" altLang="en-US" dirty="0"/>
              <a:t>不是素数，通过寻找比</a:t>
            </a:r>
            <a:r>
              <a:rPr lang="en-US" altLang="zh-CN" dirty="0"/>
              <a:t>n</a:t>
            </a:r>
            <a:r>
              <a:rPr lang="zh-CN" altLang="en-US" dirty="0"/>
              <a:t>大的最近的素数</a:t>
            </a:r>
            <a:r>
              <a:rPr lang="en-US" altLang="zh-CN" dirty="0"/>
              <a:t>p</a:t>
            </a:r>
            <a:r>
              <a:rPr lang="zh-CN" altLang="en-US" dirty="0"/>
              <a:t>，添加</a:t>
            </a:r>
            <a:r>
              <a:rPr lang="en-US" altLang="zh-CN" dirty="0"/>
              <a:t>p-n</a:t>
            </a:r>
            <a:r>
              <a:rPr lang="zh-CN" altLang="en-US" dirty="0"/>
              <a:t>列全</a:t>
            </a:r>
            <a:r>
              <a:rPr lang="en-US" altLang="zh-CN" dirty="0"/>
              <a:t>0</a:t>
            </a:r>
            <a:r>
              <a:rPr lang="zh-CN" altLang="en-US" dirty="0"/>
              <a:t>的“虚拟”设备。</a:t>
            </a:r>
            <a:endParaRPr lang="en-US" altLang="zh-CN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DF7E794-D28E-4E7B-AC00-B2336A4F7730}"/>
              </a:ext>
            </a:extLst>
          </p:cNvPr>
          <p:cNvSpPr txBox="1"/>
          <p:nvPr/>
        </p:nvSpPr>
        <p:spPr>
          <a:xfrm>
            <a:off x="142194" y="2131733"/>
            <a:ext cx="57438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例如，</a:t>
            </a:r>
            <a:r>
              <a:rPr lang="en-US" altLang="zh-CN" dirty="0"/>
              <a:t>n=8</a:t>
            </a:r>
            <a:r>
              <a:rPr lang="zh-CN" altLang="en-US" dirty="0"/>
              <a:t>（不是素数），</a:t>
            </a:r>
            <a:r>
              <a:rPr lang="en-US" altLang="zh-CN" dirty="0"/>
              <a:t>p=11</a:t>
            </a:r>
            <a:r>
              <a:rPr lang="zh-CN" altLang="en-US" dirty="0"/>
              <a:t>（比</a:t>
            </a:r>
            <a:r>
              <a:rPr lang="en-US" altLang="zh-CN" dirty="0"/>
              <a:t>8</a:t>
            </a:r>
            <a:r>
              <a:rPr lang="zh-CN" altLang="en-US" dirty="0"/>
              <a:t>大的最近素数）。</a:t>
            </a:r>
            <a:endParaRPr lang="en-US" altLang="zh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4A0E126-1F2D-4CE4-8599-597EA0FA10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8390" y="2699361"/>
            <a:ext cx="5687219" cy="3305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127047"/>
      </p:ext>
    </p:extLst>
  </p:cSld>
  <p:clrMapOvr>
    <a:masterClrMapping/>
  </p:clrMapOvr>
  <p:transition spd="med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>
              <a:latin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2733C78-B3ED-B741-A882-3714B0B7F9E9}"/>
              </a:ext>
            </a:extLst>
          </p:cNvPr>
          <p:cNvSpPr txBox="1"/>
          <p:nvPr/>
        </p:nvSpPr>
        <p:spPr>
          <a:xfrm>
            <a:off x="142194" y="594334"/>
            <a:ext cx="52893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dirty="0">
                <a:latin typeface="Microsoft YaHei" charset="-122"/>
                <a:ea typeface="Microsoft YaHei" charset="-122"/>
                <a:cs typeface="Microsoft YaHei" charset="-122"/>
              </a:rPr>
              <a:t>EVENODD 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592A8EF-AF98-459B-A598-526A826E8F08}"/>
              </a:ext>
            </a:extLst>
          </p:cNvPr>
          <p:cNvSpPr txBox="1"/>
          <p:nvPr/>
        </p:nvSpPr>
        <p:spPr>
          <a:xfrm>
            <a:off x="562696" y="1815267"/>
            <a:ext cx="808770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优点：</a:t>
            </a:r>
            <a:endParaRPr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基于</a:t>
            </a:r>
            <a:r>
              <a:rPr lang="en-US" altLang="zh-CN" dirty="0"/>
              <a:t>XOR</a:t>
            </a:r>
            <a:r>
              <a:rPr lang="zh-CN" altLang="en-US" dirty="0"/>
              <a:t>计算，相比标准</a:t>
            </a:r>
            <a:r>
              <a:rPr lang="en-US" altLang="zh-CN" dirty="0"/>
              <a:t>RS</a:t>
            </a:r>
            <a:r>
              <a:rPr lang="zh-CN" altLang="en-US" dirty="0"/>
              <a:t>码基于有限域运算，计算复杂度低。</a:t>
            </a:r>
            <a:endParaRPr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/>
              <a:t>不需要依靠</a:t>
            </a:r>
            <a:r>
              <a:rPr lang="en-US" altLang="zh-CN" dirty="0"/>
              <a:t>distribution matrix</a:t>
            </a:r>
            <a:r>
              <a:rPr lang="zh-CN" altLang="en-US" dirty="0"/>
              <a:t>进行编码。</a:t>
            </a:r>
            <a:endParaRPr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/>
              <a:t>从单一节点</a:t>
            </a:r>
            <a:r>
              <a:rPr lang="en-US" altLang="zh-CN" dirty="0"/>
              <a:t>fail</a:t>
            </a:r>
            <a:r>
              <a:rPr lang="zh-CN" altLang="en-US" dirty="0"/>
              <a:t>中恢复速度更快。</a:t>
            </a:r>
            <a:endParaRPr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/>
              <a:t>MDS</a:t>
            </a:r>
            <a:r>
              <a:rPr lang="zh-CN" altLang="en-US" dirty="0"/>
              <a:t>码，有最佳的存储效率。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缺点：</a:t>
            </a:r>
            <a:endParaRPr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只能支持双容错。</a:t>
            </a:r>
            <a:endParaRPr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/>
              <a:t>由于校验和</a:t>
            </a:r>
            <a:r>
              <a:rPr lang="en-US" altLang="zh-CN" dirty="0"/>
              <a:t>S</a:t>
            </a:r>
            <a:r>
              <a:rPr lang="zh-CN" altLang="en-US" dirty="0"/>
              <a:t>的存在，在数据块更新时，若被更新的数据块是计算校验和</a:t>
            </a:r>
            <a:r>
              <a:rPr lang="en-US" altLang="zh-CN" dirty="0"/>
              <a:t>S</a:t>
            </a:r>
            <a:r>
              <a:rPr lang="zh-CN" altLang="en-US" dirty="0"/>
              <a:t>所需的对角线上的数据块，则除该数据块及对应的行校验块需要被更新之外，全部对角校验块都需要被更新，更新代价较高。</a:t>
            </a:r>
            <a:endParaRPr lang="en-US" altLang="zh-CN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3A35AAD-847C-4A74-8189-38CA5A567768}"/>
              </a:ext>
            </a:extLst>
          </p:cNvPr>
          <p:cNvSpPr txBox="1"/>
          <p:nvPr/>
        </p:nvSpPr>
        <p:spPr>
          <a:xfrm>
            <a:off x="562696" y="435693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85180163"/>
      </p:ext>
    </p:extLst>
  </p:cSld>
  <p:clrMapOvr>
    <a:masterClrMapping/>
  </p:clrMapOvr>
  <p:transition spd="med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>
              <a:latin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2733C78-B3ED-B741-A882-3714B0B7F9E9}"/>
              </a:ext>
            </a:extLst>
          </p:cNvPr>
          <p:cNvSpPr txBox="1"/>
          <p:nvPr/>
        </p:nvSpPr>
        <p:spPr>
          <a:xfrm>
            <a:off x="142194" y="594334"/>
            <a:ext cx="52893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dirty="0">
                <a:latin typeface="Microsoft YaHei" charset="-122"/>
                <a:ea typeface="Microsoft YaHei" charset="-122"/>
                <a:cs typeface="Microsoft YaHei" charset="-122"/>
              </a:rPr>
              <a:t>RDP 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3A35AAD-847C-4A74-8189-38CA5A567768}"/>
              </a:ext>
            </a:extLst>
          </p:cNvPr>
          <p:cNvSpPr txBox="1"/>
          <p:nvPr/>
        </p:nvSpPr>
        <p:spPr>
          <a:xfrm>
            <a:off x="562696" y="435693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9D2E4B4-0413-48FE-9C07-9EC324D96505}"/>
              </a:ext>
            </a:extLst>
          </p:cNvPr>
          <p:cNvSpPr txBox="1"/>
          <p:nvPr/>
        </p:nvSpPr>
        <p:spPr>
          <a:xfrm>
            <a:off x="312821" y="1431758"/>
            <a:ext cx="85443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RDP</a:t>
            </a:r>
            <a:r>
              <a:rPr lang="zh-CN" altLang="en-US" dirty="0"/>
              <a:t>“</a:t>
            </a:r>
            <a:r>
              <a:rPr lang="en-US" altLang="zh-CN" dirty="0"/>
              <a:t>Row Diagonal Parity</a:t>
            </a:r>
            <a:r>
              <a:rPr lang="zh-CN" altLang="en-US" dirty="0"/>
              <a:t>”。</a:t>
            </a:r>
            <a:endParaRPr lang="en-US" altLang="zh-CN" dirty="0"/>
          </a:p>
          <a:p>
            <a:r>
              <a:rPr lang="zh-CN" altLang="en-US" dirty="0"/>
              <a:t>与</a:t>
            </a:r>
            <a:r>
              <a:rPr lang="en-US" altLang="zh-CN" dirty="0"/>
              <a:t>EVENODD</a:t>
            </a:r>
            <a:r>
              <a:rPr lang="zh-CN" altLang="en-US" dirty="0"/>
              <a:t>相比，</a:t>
            </a:r>
            <a:r>
              <a:rPr lang="en-US" altLang="zh-CN" dirty="0"/>
              <a:t>RDP</a:t>
            </a:r>
            <a:r>
              <a:rPr lang="zh-CN" altLang="en-US" dirty="0"/>
              <a:t>不需要提取校验和</a:t>
            </a:r>
            <a:r>
              <a:rPr lang="en-US" altLang="zh-CN" dirty="0"/>
              <a:t>S</a:t>
            </a:r>
            <a:r>
              <a:rPr lang="zh-CN" altLang="en-US" dirty="0"/>
              <a:t>，降低了计算的复杂度，加快编码速度。</a:t>
            </a:r>
            <a:endParaRPr lang="en-US" altLang="zh-CN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45B5653-0366-4F3B-BFA4-D2A4CBEFA3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696" y="2192200"/>
            <a:ext cx="3748826" cy="2349401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41EC5145-DC93-409D-AFFF-8C0263F305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5270" y="2338760"/>
            <a:ext cx="3283669" cy="218048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C5E99722-EF07-454B-B378-D4C4CB3439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061" y="4486448"/>
            <a:ext cx="3283670" cy="1879587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39570D3B-0B76-4568-ADFA-189EA1AB6501}"/>
              </a:ext>
            </a:extLst>
          </p:cNvPr>
          <p:cNvSpPr txBox="1"/>
          <p:nvPr/>
        </p:nvSpPr>
        <p:spPr>
          <a:xfrm>
            <a:off x="4138863" y="4806158"/>
            <a:ext cx="5109091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优点：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编码</a:t>
            </a:r>
            <a:r>
              <a:rPr lang="en-US" altLang="zh-CN" dirty="0"/>
              <a:t>/</a:t>
            </a:r>
            <a:r>
              <a:rPr lang="zh-CN" altLang="en-US" dirty="0"/>
              <a:t>解码所需的</a:t>
            </a:r>
            <a:r>
              <a:rPr lang="en-US" altLang="zh-CN" dirty="0"/>
              <a:t>XOR</a:t>
            </a:r>
            <a:r>
              <a:rPr lang="zh-CN" altLang="en-US" dirty="0"/>
              <a:t>次数达到了理论最小值。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不需要考虑校验和</a:t>
            </a:r>
            <a:r>
              <a:rPr lang="en-US" altLang="zh-CN" dirty="0"/>
              <a:t>S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缺点：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有与</a:t>
            </a:r>
            <a:r>
              <a:rPr lang="en-US" altLang="zh-CN" dirty="0"/>
              <a:t>EVENODD</a:t>
            </a:r>
            <a:r>
              <a:rPr lang="zh-CN" altLang="en-US" dirty="0"/>
              <a:t>相同的更新惩罚。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不能单独地编码</a:t>
            </a:r>
            <a:r>
              <a:rPr lang="en-US" altLang="zh-CN" dirty="0"/>
              <a:t>P</a:t>
            </a:r>
            <a:r>
              <a:rPr lang="zh-CN" altLang="en-US" dirty="0"/>
              <a:t>和</a:t>
            </a:r>
            <a:r>
              <a:rPr lang="en-US" altLang="zh-CN" dirty="0"/>
              <a:t>Q</a:t>
            </a:r>
            <a:r>
              <a:rPr lang="zh-CN" altLang="en-US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756559568"/>
      </p:ext>
    </p:extLst>
  </p:cSld>
  <p:clrMapOvr>
    <a:masterClrMapping/>
  </p:clrMapOvr>
  <p:transition spd="med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>
              <a:latin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2733C78-B3ED-B741-A882-3714B0B7F9E9}"/>
              </a:ext>
            </a:extLst>
          </p:cNvPr>
          <p:cNvSpPr txBox="1"/>
          <p:nvPr/>
        </p:nvSpPr>
        <p:spPr>
          <a:xfrm>
            <a:off x="142194" y="594334"/>
            <a:ext cx="52893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dirty="0">
                <a:latin typeface="Microsoft YaHei" charset="-122"/>
                <a:ea typeface="Microsoft YaHei" charset="-122"/>
                <a:cs typeface="Microsoft YaHei" charset="-122"/>
              </a:rPr>
              <a:t>X-Code 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3A35AAD-847C-4A74-8189-38CA5A567768}"/>
              </a:ext>
            </a:extLst>
          </p:cNvPr>
          <p:cNvSpPr txBox="1"/>
          <p:nvPr/>
        </p:nvSpPr>
        <p:spPr>
          <a:xfrm>
            <a:off x="562696" y="435693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9D2E4B4-0413-48FE-9C07-9EC324D96505}"/>
              </a:ext>
            </a:extLst>
          </p:cNvPr>
          <p:cNvSpPr txBox="1"/>
          <p:nvPr/>
        </p:nvSpPr>
        <p:spPr>
          <a:xfrm>
            <a:off x="562696" y="1470958"/>
            <a:ext cx="418922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有最佳性能的</a:t>
            </a:r>
            <a:r>
              <a:rPr lang="en-US" altLang="zh-CN" dirty="0"/>
              <a:t>MDS</a:t>
            </a:r>
            <a:r>
              <a:rPr lang="zh-CN" altLang="en-US" dirty="0"/>
              <a:t> </a:t>
            </a:r>
            <a:r>
              <a:rPr lang="en-US" altLang="zh-CN" dirty="0"/>
              <a:t>parity-array code</a:t>
            </a:r>
            <a:r>
              <a:rPr lang="zh-CN" altLang="en-US" dirty="0"/>
              <a:t>。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[Xu, Bruck:1999]</a:t>
            </a:r>
            <a:r>
              <a:rPr lang="zh-CN" altLang="en-US" dirty="0"/>
              <a:t>。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m=2, n=p-2, p</a:t>
            </a:r>
            <a:r>
              <a:rPr lang="zh-CN" altLang="en-US" dirty="0"/>
              <a:t>是素数。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n</a:t>
            </a:r>
            <a:r>
              <a:rPr lang="zh-CN" altLang="en-US" dirty="0"/>
              <a:t>行数据块，</a:t>
            </a:r>
            <a:r>
              <a:rPr lang="en-US" altLang="zh-CN" dirty="0"/>
              <a:t>2</a:t>
            </a:r>
            <a:r>
              <a:rPr lang="zh-CN" altLang="en-US" dirty="0"/>
              <a:t>行编码块，</a:t>
            </a:r>
            <a:r>
              <a:rPr lang="en-US" altLang="zh-CN" dirty="0"/>
              <a:t>n+2</a:t>
            </a:r>
            <a:r>
              <a:rPr lang="zh-CN" altLang="en-US" dirty="0"/>
              <a:t>列。</a:t>
            </a:r>
            <a:endParaRPr lang="en-US" altLang="zh-CN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AD803697-D411-4B8C-B783-BDA0A33ABC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6754" y="3429000"/>
            <a:ext cx="2876951" cy="2476846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B5D82DC7-56B8-469E-800A-FE7EB36920BE}"/>
              </a:ext>
            </a:extLst>
          </p:cNvPr>
          <p:cNvSpPr txBox="1"/>
          <p:nvPr/>
        </p:nvSpPr>
        <p:spPr>
          <a:xfrm>
            <a:off x="840978" y="3070457"/>
            <a:ext cx="14622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例如，</a:t>
            </a:r>
            <a:r>
              <a:rPr lang="en-US" altLang="zh-CN" dirty="0"/>
              <a:t>n=5</a:t>
            </a:r>
            <a:r>
              <a:rPr lang="zh-CN" altLang="en-US" dirty="0"/>
              <a:t>：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98721226"/>
      </p:ext>
    </p:extLst>
  </p:cSld>
  <p:clrMapOvr>
    <a:masterClrMapping/>
  </p:clrMapOvr>
  <p:transition spd="med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>
              <a:latin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2733C78-B3ED-B741-A882-3714B0B7F9E9}"/>
              </a:ext>
            </a:extLst>
          </p:cNvPr>
          <p:cNvSpPr txBox="1"/>
          <p:nvPr/>
        </p:nvSpPr>
        <p:spPr>
          <a:xfrm>
            <a:off x="142194" y="594334"/>
            <a:ext cx="52893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dirty="0">
                <a:latin typeface="Microsoft YaHei" charset="-122"/>
                <a:ea typeface="Microsoft YaHei" charset="-122"/>
                <a:cs typeface="Microsoft YaHei" charset="-122"/>
              </a:rPr>
              <a:t>X-Code 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3A35AAD-847C-4A74-8189-38CA5A567768}"/>
              </a:ext>
            </a:extLst>
          </p:cNvPr>
          <p:cNvSpPr txBox="1"/>
          <p:nvPr/>
        </p:nvSpPr>
        <p:spPr>
          <a:xfrm>
            <a:off x="562696" y="435693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9D2E4B4-0413-48FE-9C07-9EC324D96505}"/>
              </a:ext>
            </a:extLst>
          </p:cNvPr>
          <p:cNvSpPr txBox="1"/>
          <p:nvPr/>
        </p:nvSpPr>
        <p:spPr>
          <a:xfrm>
            <a:off x="456020" y="1402998"/>
            <a:ext cx="53992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与</a:t>
            </a:r>
            <a:r>
              <a:rPr lang="en-US" altLang="zh-CN" dirty="0"/>
              <a:t>RDP</a:t>
            </a:r>
            <a:r>
              <a:rPr lang="zh-CN" altLang="en-US" dirty="0"/>
              <a:t>相似，</a:t>
            </a:r>
            <a:r>
              <a:rPr lang="en-US" altLang="zh-CN" dirty="0"/>
              <a:t>X-Code</a:t>
            </a:r>
            <a:r>
              <a:rPr lang="zh-CN" altLang="en-US" dirty="0"/>
              <a:t>中每条对角线都绕过一个磁盘。</a:t>
            </a:r>
            <a:endParaRPr lang="en-US" altLang="zh-CN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CE02E00-AD8C-4F86-8DA7-4392101F11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3048" y="2232867"/>
            <a:ext cx="6144500" cy="2852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750244"/>
      </p:ext>
    </p:extLst>
  </p:cSld>
  <p:clrMapOvr>
    <a:masterClrMapping/>
  </p:clrMapOvr>
  <p:transition spd="med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>
              <a:latin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2733C78-B3ED-B741-A882-3714B0B7F9E9}"/>
              </a:ext>
            </a:extLst>
          </p:cNvPr>
          <p:cNvSpPr txBox="1"/>
          <p:nvPr/>
        </p:nvSpPr>
        <p:spPr>
          <a:xfrm>
            <a:off x="142194" y="594334"/>
            <a:ext cx="52893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dirty="0">
                <a:latin typeface="Microsoft YaHei" charset="-122"/>
                <a:ea typeface="Microsoft YaHei" charset="-122"/>
                <a:cs typeface="Microsoft YaHei" charset="-122"/>
              </a:rPr>
              <a:t>X-Code 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3A35AAD-847C-4A74-8189-38CA5A567768}"/>
              </a:ext>
            </a:extLst>
          </p:cNvPr>
          <p:cNvSpPr txBox="1"/>
          <p:nvPr/>
        </p:nvSpPr>
        <p:spPr>
          <a:xfrm>
            <a:off x="562696" y="435693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9D2E4B4-0413-48FE-9C07-9EC324D96505}"/>
              </a:ext>
            </a:extLst>
          </p:cNvPr>
          <p:cNvSpPr txBox="1"/>
          <p:nvPr/>
        </p:nvSpPr>
        <p:spPr>
          <a:xfrm>
            <a:off x="285969" y="1286292"/>
            <a:ext cx="23137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假设有两个磁盘</a:t>
            </a:r>
            <a:r>
              <a:rPr lang="en-US" altLang="zh-CN" dirty="0"/>
              <a:t>fail</a:t>
            </a:r>
            <a:r>
              <a:rPr lang="zh-CN" altLang="en-US" dirty="0"/>
              <a:t>：</a:t>
            </a:r>
            <a:endParaRPr lang="en-US" altLang="zh-CN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2AEFCFD-43E9-4EAE-8672-AF6F7DDF84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983" y="1746260"/>
            <a:ext cx="3947704" cy="178170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225C4D9F-05A7-4F4C-A74E-1C4B550B76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4779" y="1785134"/>
            <a:ext cx="3947704" cy="178102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D8A67C07-E153-46A3-9A34-9A9CD913C3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3983" y="3991970"/>
            <a:ext cx="3947705" cy="1836142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1A430AA8-8F82-4FF0-9B46-DF9464BC0F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4780" y="3998922"/>
            <a:ext cx="4090470" cy="1829190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166B9CA4-9D0A-4C0E-A325-4D79046BA20B}"/>
              </a:ext>
            </a:extLst>
          </p:cNvPr>
          <p:cNvSpPr txBox="1"/>
          <p:nvPr/>
        </p:nvSpPr>
        <p:spPr>
          <a:xfrm>
            <a:off x="464259" y="3527967"/>
            <a:ext cx="3847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a. </a:t>
            </a:r>
            <a:r>
              <a:rPr lang="zh-CN" altLang="en-US" dirty="0"/>
              <a:t>圆点处可以直接通过对角校验恢复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5DD89F8-B640-4048-92FD-3AE6667C3A55}"/>
              </a:ext>
            </a:extLst>
          </p:cNvPr>
          <p:cNvSpPr txBox="1"/>
          <p:nvPr/>
        </p:nvSpPr>
        <p:spPr>
          <a:xfrm>
            <a:off x="747427" y="5855939"/>
            <a:ext cx="28793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c.</a:t>
            </a:r>
            <a:r>
              <a:rPr lang="zh-CN" altLang="en-US" dirty="0"/>
              <a:t>第二轮通过对角校验恢复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7E22E10-EBBA-4D4B-9262-723D41CF0371}"/>
              </a:ext>
            </a:extLst>
          </p:cNvPr>
          <p:cNvSpPr txBox="1"/>
          <p:nvPr/>
        </p:nvSpPr>
        <p:spPr>
          <a:xfrm>
            <a:off x="6093340" y="3527967"/>
            <a:ext cx="18020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b. </a:t>
            </a:r>
            <a:r>
              <a:rPr lang="zh-CN" altLang="en-US" dirty="0"/>
              <a:t>第一轮恢复后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7E8B324-2432-4577-80A4-34AD0D2288A5}"/>
              </a:ext>
            </a:extLst>
          </p:cNvPr>
          <p:cNvSpPr txBox="1"/>
          <p:nvPr/>
        </p:nvSpPr>
        <p:spPr>
          <a:xfrm>
            <a:off x="5747733" y="5855939"/>
            <a:ext cx="24933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d.</a:t>
            </a:r>
            <a:r>
              <a:rPr lang="zh-CN" altLang="en-US" dirty="0"/>
              <a:t>迭代至全部</a:t>
            </a:r>
            <a:r>
              <a:rPr lang="en-US" altLang="zh-CN" dirty="0"/>
              <a:t>fail</a:t>
            </a:r>
            <a:r>
              <a:rPr lang="zh-CN" altLang="en-US" dirty="0"/>
              <a:t>块恢复</a:t>
            </a:r>
          </a:p>
        </p:txBody>
      </p:sp>
    </p:spTree>
    <p:extLst>
      <p:ext uri="{BB962C8B-B14F-4D97-AF65-F5344CB8AC3E}">
        <p14:creationId xmlns:p14="http://schemas.microsoft.com/office/powerpoint/2010/main" val="2915217535"/>
      </p:ext>
    </p:extLst>
  </p:cSld>
  <p:clrMapOvr>
    <a:masterClrMapping/>
  </p:clrMapOvr>
  <p:transition spd="med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>
              <a:latin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2733C78-B3ED-B741-A882-3714B0B7F9E9}"/>
              </a:ext>
            </a:extLst>
          </p:cNvPr>
          <p:cNvSpPr txBox="1"/>
          <p:nvPr/>
        </p:nvSpPr>
        <p:spPr>
          <a:xfrm>
            <a:off x="142194" y="594334"/>
            <a:ext cx="52893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dirty="0">
                <a:latin typeface="Microsoft YaHei" charset="-122"/>
                <a:ea typeface="Microsoft YaHei" charset="-122"/>
                <a:cs typeface="Microsoft YaHei" charset="-122"/>
              </a:rPr>
              <a:t>X-Code 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3A35AAD-847C-4A74-8189-38CA5A567768}"/>
              </a:ext>
            </a:extLst>
          </p:cNvPr>
          <p:cNvSpPr txBox="1"/>
          <p:nvPr/>
        </p:nvSpPr>
        <p:spPr>
          <a:xfrm>
            <a:off x="562696" y="435693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9D2E4B4-0413-48FE-9C07-9EC324D96505}"/>
              </a:ext>
            </a:extLst>
          </p:cNvPr>
          <p:cNvSpPr txBox="1"/>
          <p:nvPr/>
        </p:nvSpPr>
        <p:spPr>
          <a:xfrm>
            <a:off x="562697" y="1694416"/>
            <a:ext cx="751049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优点：</a:t>
            </a:r>
            <a:endParaRPr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/>
              <a:t>MDS</a:t>
            </a:r>
            <a:r>
              <a:rPr lang="zh-CN" altLang="en-US" dirty="0"/>
              <a:t>码，有最佳的存储效率。</a:t>
            </a:r>
            <a:endParaRPr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/>
              <a:t>有最佳的编码</a:t>
            </a:r>
            <a:r>
              <a:rPr lang="en-US" altLang="zh-CN" dirty="0"/>
              <a:t>/</a:t>
            </a:r>
            <a:r>
              <a:rPr lang="zh-CN" altLang="en-US" dirty="0"/>
              <a:t>解码</a:t>
            </a:r>
            <a:r>
              <a:rPr lang="en-US" altLang="zh-CN" dirty="0"/>
              <a:t>/</a:t>
            </a:r>
            <a:r>
              <a:rPr lang="zh-CN" altLang="en-US" dirty="0"/>
              <a:t>更新复杂度。</a:t>
            </a:r>
            <a:endParaRPr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/>
              <a:t>结构优雅。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缺点：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P</a:t>
            </a:r>
            <a:r>
              <a:rPr lang="zh-CN" altLang="en-US" dirty="0"/>
              <a:t>必须为素数，且不能采用类似</a:t>
            </a:r>
            <a:r>
              <a:rPr lang="en-US" altLang="zh-CN" dirty="0"/>
              <a:t>EVENODD</a:t>
            </a:r>
            <a:r>
              <a:rPr lang="zh-CN" altLang="en-US" dirty="0"/>
              <a:t>的简单</a:t>
            </a:r>
            <a:r>
              <a:rPr lang="en-US" altLang="zh-CN" dirty="0"/>
              <a:t>shorten</a:t>
            </a:r>
            <a:r>
              <a:rPr lang="zh-CN" altLang="en-US" dirty="0"/>
              <a:t>方式扩展</a:t>
            </a:r>
            <a:r>
              <a:rPr lang="en-US" altLang="zh-CN" dirty="0"/>
              <a:t>X-Code</a:t>
            </a:r>
            <a:r>
              <a:rPr lang="zh-CN" altLang="en-US" dirty="0"/>
              <a:t>（会破坏原阵列中对角线上元素的相对位置，破坏原来的校验块）。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实践中，没有系统使用</a:t>
            </a:r>
            <a:r>
              <a:rPr lang="en-US" altLang="zh-CN" dirty="0"/>
              <a:t>X-Code</a:t>
            </a:r>
            <a:r>
              <a:rPr lang="zh-CN" altLang="en-US" dirty="0"/>
              <a:t>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799529235"/>
      </p:ext>
    </p:extLst>
  </p:cSld>
  <p:clrMapOvr>
    <a:masterClrMapping/>
  </p:clrMapOvr>
  <p:transition spd="med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>
              <a:latin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2733C78-B3ED-B741-A882-3714B0B7F9E9}"/>
              </a:ext>
            </a:extLst>
          </p:cNvPr>
          <p:cNvSpPr txBox="1"/>
          <p:nvPr/>
        </p:nvSpPr>
        <p:spPr>
          <a:xfrm>
            <a:off x="142194" y="594334"/>
            <a:ext cx="52893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dirty="0">
                <a:latin typeface="Microsoft YaHei" charset="-122"/>
                <a:ea typeface="Microsoft YaHei" charset="-122"/>
                <a:cs typeface="Microsoft YaHei" charset="-122"/>
              </a:rPr>
              <a:t>WEAVER 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3A35AAD-847C-4A74-8189-38CA5A567768}"/>
              </a:ext>
            </a:extLst>
          </p:cNvPr>
          <p:cNvSpPr txBox="1"/>
          <p:nvPr/>
        </p:nvSpPr>
        <p:spPr>
          <a:xfrm>
            <a:off x="562696" y="435693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DAF0B6A-E0C2-49B6-B9BF-BF1398A2A3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2733" y="1582947"/>
            <a:ext cx="5315692" cy="2010056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5A258C30-F06F-40F6-AAF4-7324B93AF519}"/>
              </a:ext>
            </a:extLst>
          </p:cNvPr>
          <p:cNvSpPr txBox="1"/>
          <p:nvPr/>
        </p:nvSpPr>
        <p:spPr>
          <a:xfrm>
            <a:off x="1372733" y="4216201"/>
            <a:ext cx="53270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MDS</a:t>
            </a:r>
            <a:r>
              <a:rPr lang="zh-CN" altLang="en-US" dirty="0"/>
              <a:t>码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有最佳的编码</a:t>
            </a:r>
            <a:r>
              <a:rPr lang="en-US" altLang="zh-CN" dirty="0"/>
              <a:t>/</a:t>
            </a:r>
            <a:r>
              <a:rPr lang="zh-CN" altLang="en-US" dirty="0"/>
              <a:t>解码</a:t>
            </a:r>
            <a:r>
              <a:rPr lang="en-US" altLang="zh-CN" dirty="0"/>
              <a:t>/</a:t>
            </a:r>
            <a:r>
              <a:rPr lang="zh-CN" altLang="en-US" dirty="0"/>
              <a:t>更新复杂度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其他</a:t>
            </a:r>
            <a:r>
              <a:rPr lang="en-US" altLang="zh-CN" dirty="0"/>
              <a:t>WEAVER codes</a:t>
            </a:r>
            <a:r>
              <a:rPr lang="zh-CN" altLang="en-US" dirty="0"/>
              <a:t>容错可达</a:t>
            </a:r>
            <a:r>
              <a:rPr lang="en-US" altLang="zh-CN" dirty="0"/>
              <a:t>12</a:t>
            </a:r>
            <a:r>
              <a:rPr lang="zh-CN" altLang="en-US" dirty="0"/>
              <a:t>，但不是</a:t>
            </a:r>
            <a:r>
              <a:rPr lang="en-US" altLang="zh-CN" dirty="0"/>
              <a:t>MDS</a:t>
            </a:r>
            <a:r>
              <a:rPr lang="zh-CN" altLang="en-US" dirty="0"/>
              <a:t>码。</a:t>
            </a:r>
          </a:p>
        </p:txBody>
      </p:sp>
    </p:spTree>
    <p:extLst>
      <p:ext uri="{BB962C8B-B14F-4D97-AF65-F5344CB8AC3E}">
        <p14:creationId xmlns:p14="http://schemas.microsoft.com/office/powerpoint/2010/main" val="3461582614"/>
      </p:ext>
    </p:extLst>
  </p:cSld>
  <p:clrMapOvr>
    <a:masterClrMapping/>
  </p:clrMapOvr>
  <p:transition spd="med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>
              <a:latin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2733C78-B3ED-B741-A882-3714B0B7F9E9}"/>
              </a:ext>
            </a:extLst>
          </p:cNvPr>
          <p:cNvSpPr txBox="1"/>
          <p:nvPr/>
        </p:nvSpPr>
        <p:spPr>
          <a:xfrm>
            <a:off x="142194" y="594334"/>
            <a:ext cx="52893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dirty="0">
                <a:latin typeface="Microsoft YaHei" charset="-122"/>
                <a:ea typeface="Microsoft YaHei" charset="-122"/>
                <a:cs typeface="Microsoft YaHei" charset="-122"/>
              </a:rPr>
              <a:t>HoVer 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3A35AAD-847C-4A74-8189-38CA5A567768}"/>
              </a:ext>
            </a:extLst>
          </p:cNvPr>
          <p:cNvSpPr txBox="1"/>
          <p:nvPr/>
        </p:nvSpPr>
        <p:spPr>
          <a:xfrm>
            <a:off x="562696" y="435693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A258C30-F06F-40F6-AAF4-7324B93AF519}"/>
              </a:ext>
            </a:extLst>
          </p:cNvPr>
          <p:cNvSpPr txBox="1"/>
          <p:nvPr/>
        </p:nvSpPr>
        <p:spPr>
          <a:xfrm>
            <a:off x="385010" y="1541005"/>
            <a:ext cx="43396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融合了水平编码和垂直编码的通用框架。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F5F9F657-BF11-4317-9E49-51A81981E256}"/>
                  </a:ext>
                </a:extLst>
              </p:cNvPr>
              <p:cNvSpPr txBox="1"/>
              <p:nvPr/>
            </p:nvSpPr>
            <p:spPr>
              <a:xfrm>
                <a:off x="655061" y="2195197"/>
                <a:ext cx="1643399" cy="3072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𝐻𝑜𝑉𝑒𝑟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b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：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F5F9F657-BF11-4317-9E49-51A81981E2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061" y="2195197"/>
                <a:ext cx="1643399" cy="307264"/>
              </a:xfrm>
              <a:prstGeom prst="rect">
                <a:avLst/>
              </a:prstGeom>
              <a:blipFill>
                <a:blip r:embed="rId3"/>
                <a:stretch>
                  <a:fillRect l="-2593" r="-741" b="-274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图片 9">
            <a:extLst>
              <a:ext uri="{FF2B5EF4-FFF2-40B4-BE49-F238E27FC236}">
                <a16:creationId xmlns:a16="http://schemas.microsoft.com/office/drawing/2014/main" id="{B623E95E-0F09-4C88-94D0-220ABBF578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7633" y="2955763"/>
            <a:ext cx="5191850" cy="2629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3114705"/>
      </p:ext>
    </p:extLst>
  </p:cSld>
  <p:clrMapOvr>
    <a:masterClrMapping/>
  </p:clrMapOvr>
  <p:transition spd="med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>
              <a:latin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2733C78-B3ED-B741-A882-3714B0B7F9E9}"/>
              </a:ext>
            </a:extLst>
          </p:cNvPr>
          <p:cNvSpPr txBox="1"/>
          <p:nvPr/>
        </p:nvSpPr>
        <p:spPr>
          <a:xfrm>
            <a:off x="142194" y="594334"/>
            <a:ext cx="52893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dirty="0">
                <a:latin typeface="Microsoft YaHei" charset="-122"/>
                <a:ea typeface="Microsoft YaHei" charset="-122"/>
                <a:cs typeface="Microsoft YaHei" charset="-122"/>
              </a:rPr>
              <a:t>HoVer 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3A35AAD-847C-4A74-8189-38CA5A567768}"/>
              </a:ext>
            </a:extLst>
          </p:cNvPr>
          <p:cNvSpPr txBox="1"/>
          <p:nvPr/>
        </p:nvSpPr>
        <p:spPr>
          <a:xfrm>
            <a:off x="562696" y="435693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A258C30-F06F-40F6-AAF4-7324B93AF519}"/>
              </a:ext>
            </a:extLst>
          </p:cNvPr>
          <p:cNvSpPr txBox="1"/>
          <p:nvPr/>
        </p:nvSpPr>
        <p:spPr>
          <a:xfrm>
            <a:off x="385010" y="1541005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例如，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F5F9F657-BF11-4317-9E49-51A81981E256}"/>
                  </a:ext>
                </a:extLst>
              </p:cNvPr>
              <p:cNvSpPr txBox="1"/>
              <p:nvPr/>
            </p:nvSpPr>
            <p:spPr>
              <a:xfrm>
                <a:off x="1016006" y="1573257"/>
                <a:ext cx="1878912" cy="3048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𝐻𝑜𝑉𝑒𝑟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2,1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[26,29]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：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F5F9F657-BF11-4317-9E49-51A81981E2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006" y="1573257"/>
                <a:ext cx="1878912" cy="304827"/>
              </a:xfrm>
              <a:prstGeom prst="rect">
                <a:avLst/>
              </a:prstGeom>
              <a:blipFill>
                <a:blip r:embed="rId3"/>
                <a:stretch>
                  <a:fillRect l="-2597" r="-649" b="-3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>
            <a:extLst>
              <a:ext uri="{FF2B5EF4-FFF2-40B4-BE49-F238E27FC236}">
                <a16:creationId xmlns:a16="http://schemas.microsoft.com/office/drawing/2014/main" id="{B2C30526-7DDF-496F-9003-857C7F49B2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8038" y="2154006"/>
            <a:ext cx="6727923" cy="3618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3506712"/>
      </p:ext>
    </p:extLst>
  </p:cSld>
  <p:clrMapOvr>
    <a:masterClrMapping/>
  </p:clrMapOvr>
  <p:transition spd="med"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/>
          </a:p>
        </p:txBody>
      </p:sp>
      <p:sp>
        <p:nvSpPr>
          <p:cNvPr id="2" name="文本框 1"/>
          <p:cNvSpPr txBox="1"/>
          <p:nvPr/>
        </p:nvSpPr>
        <p:spPr>
          <a:xfrm>
            <a:off x="6801492" y="436651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376717" y="1173975"/>
            <a:ext cx="11079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3600" dirty="0">
                <a:solidFill>
                  <a:schemeClr val="bg1">
                    <a:lumMod val="95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目录</a:t>
            </a:r>
            <a:endParaRPr kumimoji="1" lang="en-US" altLang="zh-CN" sz="3600" dirty="0">
              <a:solidFill>
                <a:schemeClr val="bg1">
                  <a:lumMod val="95000"/>
                </a:schemeClr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6" name="文本框 2">
            <a:extLst>
              <a:ext uri="{FF2B5EF4-FFF2-40B4-BE49-F238E27FC236}">
                <a16:creationId xmlns:a16="http://schemas.microsoft.com/office/drawing/2014/main" id="{5A186AA0-C34C-48AA-85E1-31B25A778124}"/>
              </a:ext>
            </a:extLst>
          </p:cNvPr>
          <p:cNvSpPr txBox="1"/>
          <p:nvPr/>
        </p:nvSpPr>
        <p:spPr>
          <a:xfrm>
            <a:off x="2770166" y="2635241"/>
            <a:ext cx="6373834" cy="3247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宋体" charset="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宋体" charset="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宋体" charset="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宋体" charset="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宋体" charset="0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宋体" charset="0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宋体" charset="0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宋体" charset="0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宋体" charset="0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Clr>
                <a:schemeClr val="bg1">
                  <a:lumMod val="95000"/>
                </a:schemeClr>
              </a:buClr>
              <a:buSzPct val="75000"/>
              <a:buFont typeface="Wingdings" charset="2"/>
              <a:buChar char="l"/>
            </a:pPr>
            <a:r>
              <a:rPr kumimoji="1" lang="zh-CN" altLang="en-US" sz="2800" dirty="0">
                <a:latin typeface="Microsoft YaHei" charset="-122"/>
                <a:ea typeface="Microsoft YaHei" charset="-122"/>
                <a:cs typeface="Microsoft YaHei" charset="-122"/>
              </a:rPr>
              <a:t>     </a:t>
            </a:r>
            <a:r>
              <a:rPr kumimoji="1" lang="en-US" altLang="zh-CN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RAID</a:t>
            </a:r>
          </a:p>
          <a:p>
            <a:pPr marL="285750" indent="-285750">
              <a:lnSpc>
                <a:spcPct val="150000"/>
              </a:lnSpc>
              <a:buClr>
                <a:schemeClr val="bg1">
                  <a:lumMod val="95000"/>
                </a:schemeClr>
              </a:buClr>
              <a:buSzPct val="75000"/>
              <a:buFont typeface="Wingdings" charset="2"/>
              <a:buChar char="l"/>
            </a:pPr>
            <a:r>
              <a:rPr kumimoji="1" lang="en-US" altLang="zh-CN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     </a:t>
            </a:r>
            <a:r>
              <a:rPr kumimoji="1" lang="en-US" altLang="zh-CN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charset="-122"/>
                <a:ea typeface="Microsoft YaHei" charset="-122"/>
              </a:rPr>
              <a:t>Erasure</a:t>
            </a:r>
            <a:r>
              <a:rPr kumimoji="1" lang="zh-CN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charset="-122"/>
                <a:ea typeface="Microsoft YaHei" charset="-122"/>
              </a:rPr>
              <a:t> </a:t>
            </a:r>
            <a:r>
              <a:rPr kumimoji="1" lang="en-US" altLang="zh-CN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charset="-122"/>
                <a:ea typeface="Microsoft YaHei" charset="-122"/>
              </a:rPr>
              <a:t>Codes</a:t>
            </a:r>
          </a:p>
          <a:p>
            <a:pPr marL="285750" indent="-285750">
              <a:lnSpc>
                <a:spcPct val="150000"/>
              </a:lnSpc>
              <a:buClr>
                <a:schemeClr val="bg1">
                  <a:lumMod val="95000"/>
                </a:schemeClr>
              </a:buClr>
              <a:buSzPct val="75000"/>
              <a:buFont typeface="Wingdings" charset="2"/>
              <a:buChar char="l"/>
            </a:pPr>
            <a:r>
              <a:rPr kumimoji="1" lang="en-US" altLang="zh-CN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     Reed-Solomon Codes</a:t>
            </a:r>
          </a:p>
          <a:p>
            <a:pPr marL="285750" indent="-285750">
              <a:lnSpc>
                <a:spcPct val="150000"/>
              </a:lnSpc>
              <a:buClr>
                <a:schemeClr val="bg1">
                  <a:lumMod val="95000"/>
                </a:schemeClr>
              </a:buClr>
              <a:buSzPct val="75000"/>
              <a:buFont typeface="Wingdings" charset="2"/>
              <a:buChar char="l"/>
            </a:pPr>
            <a:r>
              <a:rPr kumimoji="1" lang="en-US" altLang="zh-CN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     Array Codes</a:t>
            </a:r>
          </a:p>
          <a:p>
            <a:pPr marL="285750" indent="-285750">
              <a:lnSpc>
                <a:spcPct val="150000"/>
              </a:lnSpc>
              <a:buClr>
                <a:schemeClr val="bg1">
                  <a:lumMod val="95000"/>
                </a:schemeClr>
              </a:buClr>
              <a:buSzPct val="75000"/>
              <a:buFont typeface="Wingdings" charset="2"/>
              <a:buChar char="l"/>
            </a:pPr>
            <a:r>
              <a:rPr kumimoji="1" lang="en-US" altLang="zh-CN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     </a:t>
            </a:r>
            <a:r>
              <a:rPr kumimoji="1" lang="en-US" altLang="zh-CN" sz="2800" dirty="0">
                <a:latin typeface="Microsoft YaHei" charset="-122"/>
                <a:ea typeface="Microsoft YaHei" charset="-122"/>
              </a:rPr>
              <a:t>Latin Squares &amp; Erasure Codes</a:t>
            </a:r>
          </a:p>
        </p:txBody>
      </p:sp>
    </p:spTree>
    <p:extLst>
      <p:ext uri="{BB962C8B-B14F-4D97-AF65-F5344CB8AC3E}">
        <p14:creationId xmlns:p14="http://schemas.microsoft.com/office/powerpoint/2010/main" val="766753825"/>
      </p:ext>
    </p:extLst>
  </p:cSld>
  <p:clrMapOvr>
    <a:masterClrMapping/>
  </p:clrMapOvr>
  <p:transition spd="med"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>
              <a:latin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2733C78-B3ED-B741-A882-3714B0B7F9E9}"/>
              </a:ext>
            </a:extLst>
          </p:cNvPr>
          <p:cNvSpPr txBox="1"/>
          <p:nvPr/>
        </p:nvSpPr>
        <p:spPr>
          <a:xfrm>
            <a:off x="142194" y="594334"/>
            <a:ext cx="52893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dirty="0">
                <a:latin typeface="Microsoft YaHei" charset="-122"/>
                <a:ea typeface="Microsoft YaHei" charset="-122"/>
                <a:cs typeface="Microsoft YaHei" charset="-122"/>
              </a:rPr>
              <a:t>Latin Squares 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3A35AAD-847C-4A74-8189-38CA5A567768}"/>
              </a:ext>
            </a:extLst>
          </p:cNvPr>
          <p:cNvSpPr txBox="1"/>
          <p:nvPr/>
        </p:nvSpPr>
        <p:spPr>
          <a:xfrm>
            <a:off x="562696" y="435693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C37AF4E-81CE-439A-B525-1A166B885C3E}"/>
              </a:ext>
            </a:extLst>
          </p:cNvPr>
          <p:cNvSpPr txBox="1"/>
          <p:nvPr/>
        </p:nvSpPr>
        <p:spPr>
          <a:xfrm>
            <a:off x="649705" y="1762401"/>
            <a:ext cx="705050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拉丁方（</a:t>
            </a:r>
            <a:r>
              <a:rPr lang="en-US" altLang="zh-CN" dirty="0"/>
              <a:t>Latin squares</a:t>
            </a:r>
            <a:r>
              <a:rPr lang="zh-CN" altLang="en-US" dirty="0"/>
              <a:t>）是阶数为𝑛的拉丁矩阵，矩阵大小为𝑛</a:t>
            </a:r>
            <a:r>
              <a:rPr lang="en-US" altLang="zh-CN" dirty="0"/>
              <a:t>×</a:t>
            </a:r>
            <a:r>
              <a:rPr lang="zh-CN" altLang="en-US" dirty="0"/>
              <a:t>𝑛，即𝑛阶拉丁方的行数列数都为𝑛，且拉丁方中的符号数也等于𝑛。一般选择</a:t>
            </a:r>
            <a:r>
              <a:rPr lang="en-US" altLang="zh-CN" dirty="0"/>
              <a:t>[</a:t>
            </a:r>
            <a:r>
              <a:rPr lang="zh-CN" altLang="en-US" dirty="0"/>
              <a:t>𝑛</a:t>
            </a:r>
            <a:r>
              <a:rPr lang="en-US" altLang="zh-CN" dirty="0"/>
              <a:t>]={1,2,...,</a:t>
            </a:r>
            <a:r>
              <a:rPr lang="zh-CN" altLang="en-US" dirty="0"/>
              <a:t>𝑛</a:t>
            </a:r>
            <a:r>
              <a:rPr lang="en-US" altLang="zh-CN" dirty="0"/>
              <a:t>}</a:t>
            </a:r>
            <a:r>
              <a:rPr lang="zh-CN" altLang="en-US" dirty="0"/>
              <a:t>或者</a:t>
            </a:r>
            <a:r>
              <a:rPr lang="en-US" altLang="zh-CN" dirty="0"/>
              <a:t>ℤ</a:t>
            </a:r>
            <a:r>
              <a:rPr lang="zh-CN" altLang="en-US" dirty="0"/>
              <a:t>𝑛</a:t>
            </a:r>
            <a:r>
              <a:rPr lang="en-US" altLang="zh-CN" dirty="0"/>
              <a:t>={0,1,…,</a:t>
            </a:r>
            <a:r>
              <a:rPr lang="zh-CN" altLang="en-US" dirty="0"/>
              <a:t>𝑛−</a:t>
            </a:r>
            <a:r>
              <a:rPr lang="en-US" altLang="zh-CN" dirty="0"/>
              <a:t>1}</a:t>
            </a:r>
            <a:r>
              <a:rPr lang="zh-CN" altLang="en-US" dirty="0"/>
              <a:t>表示拉丁方中的元素，也可以用其他符号来表示，下图列出了三种符号表示的拉丁方。</a:t>
            </a:r>
          </a:p>
          <a:p>
            <a:endParaRPr lang="zh-CN" altLang="en-US" dirty="0"/>
          </a:p>
        </p:txBody>
      </p:sp>
      <p:pic>
        <p:nvPicPr>
          <p:cNvPr id="11" name="图片 10" descr="1550564195(1)">
            <a:extLst>
              <a:ext uri="{FF2B5EF4-FFF2-40B4-BE49-F238E27FC236}">
                <a16:creationId xmlns:a16="http://schemas.microsoft.com/office/drawing/2014/main" id="{DE94DBC4-0EC1-4044-8FE0-64E76F4D7706}"/>
              </a:ext>
            </a:extLst>
          </p:cNvPr>
          <p:cNvPicPr/>
          <p:nvPr/>
        </p:nvPicPr>
        <p:blipFill>
          <a:blip r:embed="rId3"/>
          <a:srcRect r="375" b="11323"/>
          <a:stretch>
            <a:fillRect/>
          </a:stretch>
        </p:blipFill>
        <p:spPr>
          <a:xfrm>
            <a:off x="2430349" y="3633350"/>
            <a:ext cx="4283302" cy="1092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4298742"/>
      </p:ext>
    </p:extLst>
  </p:cSld>
  <p:clrMapOvr>
    <a:masterClrMapping/>
  </p:clrMapOvr>
  <p:transition spd="med"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>
              <a:latin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2733C78-B3ED-B741-A882-3714B0B7F9E9}"/>
              </a:ext>
            </a:extLst>
          </p:cNvPr>
          <p:cNvSpPr txBox="1"/>
          <p:nvPr/>
        </p:nvSpPr>
        <p:spPr>
          <a:xfrm>
            <a:off x="142194" y="594334"/>
            <a:ext cx="52893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dirty="0">
                <a:latin typeface="Microsoft YaHei" charset="-122"/>
                <a:ea typeface="Microsoft YaHei" charset="-122"/>
                <a:cs typeface="Microsoft YaHei" charset="-122"/>
              </a:rPr>
              <a:t>Latin Squares 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3A35AAD-847C-4A74-8189-38CA5A567768}"/>
              </a:ext>
            </a:extLst>
          </p:cNvPr>
          <p:cNvSpPr txBox="1"/>
          <p:nvPr/>
        </p:nvSpPr>
        <p:spPr>
          <a:xfrm>
            <a:off x="562696" y="435693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0207108-6CC2-4EC7-A0FC-9D24B9479CE4}"/>
              </a:ext>
            </a:extLst>
          </p:cNvPr>
          <p:cNvSpPr/>
          <p:nvPr/>
        </p:nvSpPr>
        <p:spPr>
          <a:xfrm>
            <a:off x="308735" y="1414333"/>
            <a:ext cx="783664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两种特殊拉丁方：（</a:t>
            </a:r>
            <a:r>
              <a:rPr lang="en-US" altLang="zh-CN" dirty="0"/>
              <a:t>1</a:t>
            </a:r>
            <a:r>
              <a:rPr lang="zh-CN" altLang="en-US" dirty="0"/>
              <a:t>）对角循环拉丁方</a:t>
            </a:r>
            <a:r>
              <a:rPr lang="en-US" altLang="zh-CN" dirty="0"/>
              <a:t>DCLS</a:t>
            </a:r>
            <a:r>
              <a:rPr lang="zh-CN" altLang="en-US" dirty="0"/>
              <a:t>，（</a:t>
            </a:r>
            <a:r>
              <a:rPr lang="en-US" altLang="zh-CN" dirty="0"/>
              <a:t>2</a:t>
            </a:r>
            <a:r>
              <a:rPr lang="zh-CN" altLang="en-US" dirty="0"/>
              <a:t>）列循环拉丁方</a:t>
            </a:r>
            <a:r>
              <a:rPr lang="en-US" altLang="zh-CN" dirty="0"/>
              <a:t>CHLS</a:t>
            </a:r>
            <a:r>
              <a:rPr lang="zh-CN" altLang="en-US" dirty="0"/>
              <a:t>。</a:t>
            </a:r>
            <a:endParaRPr lang="en-US" altLang="zh-CN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66F043D-D1DE-4462-8790-6B2A49BE5A40}"/>
              </a:ext>
            </a:extLst>
          </p:cNvPr>
          <p:cNvSpPr/>
          <p:nvPr/>
        </p:nvSpPr>
        <p:spPr>
          <a:xfrm>
            <a:off x="308736" y="1880969"/>
            <a:ext cx="783664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）对角循环拉丁方（</a:t>
            </a:r>
            <a:r>
              <a:rPr lang="en-US" altLang="zh-CN" dirty="0"/>
              <a:t>diagonally cyclic Latin squares</a:t>
            </a:r>
            <a:r>
              <a:rPr lang="zh-CN" altLang="en-US" dirty="0"/>
              <a:t>，</a:t>
            </a:r>
            <a:r>
              <a:rPr lang="en-US" altLang="zh-CN" dirty="0"/>
              <a:t>DCLS</a:t>
            </a:r>
            <a:r>
              <a:rPr lang="zh-CN" altLang="en-US" dirty="0"/>
              <a:t>）是一类特殊类型的拉丁方，该类拉丁方（</a:t>
            </a:r>
            <a:r>
              <a:rPr lang="en-US" altLang="zh-CN" dirty="0"/>
              <a:t>n</a:t>
            </a:r>
            <a:r>
              <a:rPr lang="zh-CN" altLang="en-US" dirty="0"/>
              <a:t>阶）有一个</a:t>
            </a:r>
            <a:r>
              <a:rPr lang="en-US" altLang="zh-CN" dirty="0"/>
              <a:t>n-</a:t>
            </a:r>
            <a:r>
              <a:rPr lang="zh-CN" altLang="en-US" dirty="0"/>
              <a:t>循环的自同构（</a:t>
            </a:r>
            <a:r>
              <a:rPr lang="en-US" altLang="zh-CN" dirty="0"/>
              <a:t>automorphism</a:t>
            </a:r>
            <a:r>
              <a:rPr lang="zh-CN" altLang="en-US" dirty="0"/>
              <a:t>），即经过</a:t>
            </a:r>
            <a:r>
              <a:rPr lang="en-US" altLang="zh-CN" dirty="0"/>
              <a:t>isomorphism</a:t>
            </a:r>
            <a:r>
              <a:rPr lang="zh-CN" altLang="en-US" dirty="0"/>
              <a:t>变换后的拉丁方与原拉丁方相同。例如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4BFD1E51-7E73-46FB-B102-3E5C7BB7566E}"/>
                  </a:ext>
                </a:extLst>
              </p:cNvPr>
              <p:cNvSpPr/>
              <p:nvPr/>
            </p:nvSpPr>
            <p:spPr>
              <a:xfrm>
                <a:off x="3015596" y="2804299"/>
                <a:ext cx="2402837" cy="136620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zh-CN" altLang="en-US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5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zh-CN" altLang="en-US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altLang="en-US" i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zh-CN" altLang="en-US" i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zh-CN" altLang="en-US" i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zh-CN" altLang="en-US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i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zh-CN" altLang="en-US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zh-CN" altLang="en-US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altLang="en-US" i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zh-CN" altLang="en-US" i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i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zh-CN" altLang="en-US" i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zh-CN" altLang="en-US" i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zh-CN" altLang="en-US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zh-CN" altLang="en-US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zh-CN" altLang="en-US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altLang="en-US" i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zh-CN" altLang="en-US" i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zh-CN" altLang="en-US" i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i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zh-CN" altLang="en-US" i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zh-CN" altLang="en-US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zh-CN" altLang="en-US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altLang="en-US" i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4BFD1E51-7E73-46FB-B102-3E5C7BB7566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5596" y="2804299"/>
                <a:ext cx="2402837" cy="136620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矩形 1">
            <a:extLst>
              <a:ext uri="{FF2B5EF4-FFF2-40B4-BE49-F238E27FC236}">
                <a16:creationId xmlns:a16="http://schemas.microsoft.com/office/drawing/2014/main" id="{ED3016CF-123C-48A2-B4C7-B53476DB142E}"/>
              </a:ext>
            </a:extLst>
          </p:cNvPr>
          <p:cNvSpPr/>
          <p:nvPr/>
        </p:nvSpPr>
        <p:spPr>
          <a:xfrm>
            <a:off x="655060" y="4158019"/>
            <a:ext cx="7165465" cy="3693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是一个</a:t>
            </a:r>
            <a:r>
              <a:rPr lang="en-US" altLang="zh-CN" dirty="0"/>
              <a:t>DCLS</a:t>
            </a:r>
            <a:r>
              <a:rPr lang="zh-CN" altLang="en-US" dirty="0"/>
              <a:t>，它的</a:t>
            </a:r>
            <a:r>
              <a:rPr lang="en-US" altLang="zh-CN" dirty="0"/>
              <a:t>automorphism</a:t>
            </a:r>
            <a:r>
              <a:rPr lang="zh-CN" altLang="en-US" dirty="0"/>
              <a:t>是</a:t>
            </a:r>
            <a:r>
              <a:rPr lang="en-US" altLang="zh-CN" dirty="0"/>
              <a:t>((01234),(01234),(01234))</a:t>
            </a:r>
            <a:r>
              <a:rPr lang="zh-CN" altLang="en-US" dirty="0"/>
              <a:t>。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8B11553-4DD7-48B2-BE66-080399FDF160}"/>
              </a:ext>
            </a:extLst>
          </p:cNvPr>
          <p:cNvSpPr/>
          <p:nvPr/>
        </p:nvSpPr>
        <p:spPr>
          <a:xfrm>
            <a:off x="308735" y="4632722"/>
            <a:ext cx="7566394" cy="6437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）列循环拉丁方（</a:t>
            </a:r>
            <a:r>
              <a:rPr lang="en-US" altLang="zh-CN" dirty="0"/>
              <a:t>column-Hamiltonian, CHLS</a:t>
            </a:r>
            <a:r>
              <a:rPr lang="zh-CN" altLang="en-US" dirty="0"/>
              <a:t>）是一种特殊的对角循环拉丁方，当</a:t>
            </a:r>
            <a:r>
              <a:rPr lang="en-US" altLang="zh-CN" dirty="0"/>
              <a:t>DCLS</a:t>
            </a:r>
            <a:r>
              <a:rPr lang="zh-CN" altLang="en-US" dirty="0"/>
              <a:t>阶数为素数时，</a:t>
            </a:r>
            <a:r>
              <a:rPr lang="en-US" altLang="zh-CN" dirty="0"/>
              <a:t>DCLS</a:t>
            </a:r>
            <a:r>
              <a:rPr lang="zh-CN" altLang="en-US" dirty="0"/>
              <a:t>是</a:t>
            </a:r>
            <a:r>
              <a:rPr lang="en-US" altLang="zh-CN" dirty="0"/>
              <a:t>CHLS</a:t>
            </a:r>
            <a:r>
              <a:rPr lang="zh-CN" altLang="en-US" dirty="0"/>
              <a:t>。例如，选取</a:t>
            </a:r>
            <a:r>
              <a:rPr lang="en-US" altLang="zh-CN" dirty="0"/>
              <a:t>CHLS</a:t>
            </a:r>
            <a:r>
              <a:rPr lang="zh-CN" altLang="en-US" dirty="0"/>
              <a:t>的两列</a:t>
            </a:r>
          </a:p>
        </p:txBody>
      </p:sp>
      <p:pic>
        <p:nvPicPr>
          <p:cNvPr id="14" name="图片 13" descr="1550642170(1)">
            <a:extLst>
              <a:ext uri="{FF2B5EF4-FFF2-40B4-BE49-F238E27FC236}">
                <a16:creationId xmlns:a16="http://schemas.microsoft.com/office/drawing/2014/main" id="{31FAEFF3-82EB-4A59-8C44-5D2383494645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4880736" y="5298147"/>
            <a:ext cx="1529075" cy="1246574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FE79C625-2A4A-4113-9DFA-2F4E7727D71B}"/>
              </a:ext>
            </a:extLst>
          </p:cNvPr>
          <p:cNvSpPr/>
          <p:nvPr/>
        </p:nvSpPr>
        <p:spPr>
          <a:xfrm>
            <a:off x="1073273" y="5607036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dirty="0"/>
              <a:t>这两列的排列是一个单一的循环：</a:t>
            </a:r>
            <a:r>
              <a:rPr lang="en-US" altLang="zh-CN" dirty="0"/>
              <a:t>0↦2↦4↦1↦3</a:t>
            </a:r>
            <a:r>
              <a:rPr lang="zh-CN" altLang="en-US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425746103"/>
      </p:ext>
    </p:extLst>
  </p:cSld>
  <p:clrMapOvr>
    <a:masterClrMapping/>
  </p:clrMapOvr>
  <p:transition spd="med"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82733C78-B3ED-B741-A882-3714B0B7F9E9}"/>
                  </a:ext>
                </a:extLst>
              </p:cNvPr>
              <p:cNvSpPr txBox="1"/>
              <p:nvPr/>
            </p:nvSpPr>
            <p:spPr>
              <a:xfrm>
                <a:off x="142193" y="594335"/>
                <a:ext cx="593375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800" dirty="0">
                    <a:latin typeface="Microsoft YaHei" charset="-122"/>
                    <a:ea typeface="Microsoft YaHei" charset="-122"/>
                    <a:cs typeface="Microsoft YaHei" charset="-122"/>
                  </a:rPr>
                  <a:t>Latin Squares </a:t>
                </a:r>
                <a14:m>
                  <m:oMath xmlns:m="http://schemas.openxmlformats.org/officeDocument/2006/math">
                    <m:r>
                      <a:rPr kumimoji="1" lang="en-US" altLang="zh-CN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Microsoft YaHei" charset="-122"/>
                      </a:rPr>
                      <m:t>→</m:t>
                    </m:r>
                  </m:oMath>
                </a14:m>
                <a:r>
                  <a:rPr kumimoji="1" lang="en-US" altLang="zh-CN" sz="2800" dirty="0">
                    <a:latin typeface="Microsoft YaHei" charset="-122"/>
                    <a:ea typeface="Microsoft YaHei" charset="-122"/>
                    <a:cs typeface="Microsoft YaHei" charset="-122"/>
                  </a:rPr>
                  <a:t> Erasure Codes   </a:t>
                </a: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82733C78-B3ED-B741-A882-3714B0B7F9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193" y="594335"/>
                <a:ext cx="5933753" cy="523220"/>
              </a:xfrm>
              <a:prstGeom prst="rect">
                <a:avLst/>
              </a:prstGeom>
              <a:blipFill>
                <a:blip r:embed="rId3"/>
                <a:stretch>
                  <a:fillRect l="-2053" t="-11628" b="-313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文本框 11">
            <a:extLst>
              <a:ext uri="{FF2B5EF4-FFF2-40B4-BE49-F238E27FC236}">
                <a16:creationId xmlns:a16="http://schemas.microsoft.com/office/drawing/2014/main" id="{A3A35AAD-847C-4A74-8189-38CA5A567768}"/>
              </a:ext>
            </a:extLst>
          </p:cNvPr>
          <p:cNvSpPr txBox="1"/>
          <p:nvPr/>
        </p:nvSpPr>
        <p:spPr>
          <a:xfrm>
            <a:off x="562696" y="435693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7685DF9-CAB3-48C0-BFD7-0CE32C0D9F13}"/>
              </a:ext>
            </a:extLst>
          </p:cNvPr>
          <p:cNvSpPr/>
          <p:nvPr/>
        </p:nvSpPr>
        <p:spPr>
          <a:xfrm>
            <a:off x="291866" y="1212404"/>
            <a:ext cx="35317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</a:rPr>
              <a:t>1</a:t>
            </a:r>
            <a:r>
              <a:rPr lang="zh-CN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对角循环拉丁方构建</a:t>
            </a:r>
            <a:r>
              <a:rPr lang="en-US" altLang="zh-CN" b="1" dirty="0">
                <a:latin typeface="Times New Roman" panose="02020603050405020304" pitchFamily="18" charset="0"/>
              </a:rPr>
              <a:t>EVENODD</a:t>
            </a:r>
            <a:endParaRPr lang="zh-CN" altLang="en-US" dirty="0"/>
          </a:p>
        </p:txBody>
      </p:sp>
      <p:pic>
        <p:nvPicPr>
          <p:cNvPr id="6" name="图片 5" descr="1550320634(1)">
            <a:extLst>
              <a:ext uri="{FF2B5EF4-FFF2-40B4-BE49-F238E27FC236}">
                <a16:creationId xmlns:a16="http://schemas.microsoft.com/office/drawing/2014/main" id="{311580FE-85E8-471C-94B3-84F367C1FE22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1484852" y="1819111"/>
            <a:ext cx="2732405" cy="114046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27354581-A3AA-4832-B82F-C74764AC224C}"/>
              </a:ext>
            </a:extLst>
          </p:cNvPr>
          <p:cNvSpPr/>
          <p:nvPr/>
        </p:nvSpPr>
        <p:spPr>
          <a:xfrm>
            <a:off x="107135" y="3176458"/>
            <a:ext cx="889248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66700" algn="just" fontAlgn="ctr">
              <a:spcAft>
                <a:spcPts val="0"/>
              </a:spcAft>
            </a:pPr>
            <a:r>
              <a:rPr lang="zh-CN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实际上，上述阵列可以用拉丁矩阵（对角循环拉丁方</a:t>
            </a:r>
            <a:r>
              <a:rPr lang="en-US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DCLS</a:t>
            </a:r>
            <a:r>
              <a:rPr lang="zh-CN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）去掉最后一行来代替</a:t>
            </a:r>
            <a:r>
              <a:rPr lang="zh-CN" altLang="en-US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zh-CN" altLang="zh-CN" sz="1400" kern="1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8" name="图片 7" descr="1550381494(1)">
            <a:extLst>
              <a:ext uri="{FF2B5EF4-FFF2-40B4-BE49-F238E27FC236}">
                <a16:creationId xmlns:a16="http://schemas.microsoft.com/office/drawing/2014/main" id="{1FB3F4DC-06FB-41B6-AC15-F795F29426FB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4802822" y="1936899"/>
            <a:ext cx="1511935" cy="984250"/>
          </a:xfrm>
          <a:prstGeom prst="rect">
            <a:avLst/>
          </a:prstGeom>
        </p:spPr>
      </p:pic>
      <p:pic>
        <p:nvPicPr>
          <p:cNvPr id="10" name="图片 9" descr="1550389900(1)">
            <a:extLst>
              <a:ext uri="{FF2B5EF4-FFF2-40B4-BE49-F238E27FC236}">
                <a16:creationId xmlns:a16="http://schemas.microsoft.com/office/drawing/2014/main" id="{0A5A9EFE-239A-4344-A794-93CE92847287}"/>
              </a:ext>
            </a:extLst>
          </p:cNvPr>
          <p:cNvPicPr/>
          <p:nvPr/>
        </p:nvPicPr>
        <p:blipFill>
          <a:blip r:embed="rId6"/>
          <a:stretch>
            <a:fillRect/>
          </a:stretch>
        </p:blipFill>
        <p:spPr>
          <a:xfrm>
            <a:off x="2851054" y="4781595"/>
            <a:ext cx="1256030" cy="1109980"/>
          </a:xfrm>
          <a:prstGeom prst="rect">
            <a:avLst/>
          </a:prstGeom>
        </p:spPr>
      </p:pic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AD997058-C5A0-49E6-9F11-D1BEDE6DDD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2727501"/>
              </p:ext>
            </p:extLst>
          </p:nvPr>
        </p:nvGraphicFramePr>
        <p:xfrm>
          <a:off x="4919093" y="4837792"/>
          <a:ext cx="1684019" cy="997585"/>
        </p:xfrm>
        <a:graphic>
          <a:graphicData uri="http://schemas.openxmlformats.org/drawingml/2006/table">
            <a:tbl>
              <a:tblPr firstRow="1" firstCol="1" bandRow="1"/>
              <a:tblGrid>
                <a:gridCol w="2404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09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04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042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042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4093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45745"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5745"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5745"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0350"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矩形 1">
            <a:extLst>
              <a:ext uri="{FF2B5EF4-FFF2-40B4-BE49-F238E27FC236}">
                <a16:creationId xmlns:a16="http://schemas.microsoft.com/office/drawing/2014/main" id="{796DFC05-8086-4B93-BF99-333631570D27}"/>
              </a:ext>
            </a:extLst>
          </p:cNvPr>
          <p:cNvSpPr/>
          <p:nvPr/>
        </p:nvSpPr>
        <p:spPr>
          <a:xfrm>
            <a:off x="402146" y="3500336"/>
            <a:ext cx="8453095" cy="12259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因此，若给出一组数据且需对其进行</a:t>
            </a:r>
            <a:r>
              <a:rPr lang="en-US" altLang="zh-CN" dirty="0"/>
              <a:t>EVENODD</a:t>
            </a:r>
            <a:r>
              <a:rPr lang="zh-CN" altLang="en-US" dirty="0"/>
              <a:t>编码，我们可以按照</a:t>
            </a:r>
            <a:r>
              <a:rPr lang="en-US" altLang="zh-CN" dirty="0"/>
              <a:t>DCLS</a:t>
            </a:r>
            <a:r>
              <a:rPr lang="zh-CN" altLang="en-US" dirty="0"/>
              <a:t>的对角线排列规则编码该组数据。例如以</a:t>
            </a:r>
            <a:r>
              <a:rPr lang="en-US" altLang="zh-CN" dirty="0"/>
              <a:t>5</a:t>
            </a:r>
            <a:r>
              <a:rPr lang="zh-CN" altLang="en-US" dirty="0"/>
              <a:t>阶拉丁方为例，假设所给数据为</a:t>
            </a:r>
            <a:r>
              <a:rPr lang="en-US" altLang="zh-CN" dirty="0"/>
              <a:t>03142314021420342013</a:t>
            </a:r>
            <a:r>
              <a:rPr lang="zh-CN" altLang="en-US" dirty="0"/>
              <a:t>，则可以用拉丁矩阵去拉丁方的最后一行对数据进行编码，编码后得到的阵列布局（只考虑对角校验）如下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1950309-AD73-40A8-B6CE-5E8D7685E1D0}"/>
              </a:ext>
            </a:extLst>
          </p:cNvPr>
          <p:cNvSpPr/>
          <p:nvPr/>
        </p:nvSpPr>
        <p:spPr>
          <a:xfrm>
            <a:off x="627821" y="5835377"/>
            <a:ext cx="822741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由此可见，</a:t>
            </a:r>
            <a:r>
              <a:rPr lang="en-US" altLang="zh-CN" dirty="0"/>
              <a:t>DCLS</a:t>
            </a:r>
            <a:r>
              <a:rPr lang="zh-CN" altLang="en-US" dirty="0"/>
              <a:t>特殊的对角线特性与</a:t>
            </a:r>
            <a:r>
              <a:rPr lang="en-US" altLang="zh-CN" dirty="0"/>
              <a:t>EVENODD</a:t>
            </a:r>
            <a:r>
              <a:rPr lang="zh-CN" altLang="en-US" dirty="0"/>
              <a:t>计算对角线校验相一致，因此可以用</a:t>
            </a:r>
            <a:r>
              <a:rPr lang="en-US" altLang="zh-CN" dirty="0"/>
              <a:t>DCLS</a:t>
            </a:r>
            <a:r>
              <a:rPr lang="zh-CN" altLang="en-US" dirty="0"/>
              <a:t>（对角循环拉丁方）构建</a:t>
            </a:r>
            <a:r>
              <a:rPr lang="en-US" altLang="zh-CN" dirty="0"/>
              <a:t>EVENODD</a:t>
            </a:r>
            <a:r>
              <a:rPr lang="zh-CN" altLang="en-US" dirty="0"/>
              <a:t>编码。</a:t>
            </a:r>
          </a:p>
        </p:txBody>
      </p:sp>
    </p:spTree>
    <p:extLst>
      <p:ext uri="{BB962C8B-B14F-4D97-AF65-F5344CB8AC3E}">
        <p14:creationId xmlns:p14="http://schemas.microsoft.com/office/powerpoint/2010/main" val="3389677151"/>
      </p:ext>
    </p:extLst>
  </p:cSld>
  <p:clrMapOvr>
    <a:masterClrMapping/>
  </p:clrMapOvr>
  <p:transition spd="med"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82733C78-B3ED-B741-A882-3714B0B7F9E9}"/>
                  </a:ext>
                </a:extLst>
              </p:cNvPr>
              <p:cNvSpPr txBox="1"/>
              <p:nvPr/>
            </p:nvSpPr>
            <p:spPr>
              <a:xfrm>
                <a:off x="142193" y="594335"/>
                <a:ext cx="593375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800" dirty="0">
                    <a:latin typeface="Microsoft YaHei" charset="-122"/>
                    <a:ea typeface="Microsoft YaHei" charset="-122"/>
                    <a:cs typeface="Microsoft YaHei" charset="-122"/>
                  </a:rPr>
                  <a:t>Latin Squares </a:t>
                </a:r>
                <a14:m>
                  <m:oMath xmlns:m="http://schemas.openxmlformats.org/officeDocument/2006/math">
                    <m:r>
                      <a:rPr kumimoji="1" lang="en-US" altLang="zh-CN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Microsoft YaHei" charset="-122"/>
                      </a:rPr>
                      <m:t>→</m:t>
                    </m:r>
                  </m:oMath>
                </a14:m>
                <a:r>
                  <a:rPr kumimoji="1" lang="en-US" altLang="zh-CN" sz="2800" dirty="0">
                    <a:latin typeface="Microsoft YaHei" charset="-122"/>
                    <a:ea typeface="Microsoft YaHei" charset="-122"/>
                    <a:cs typeface="Microsoft YaHei" charset="-122"/>
                  </a:rPr>
                  <a:t> Erasure Codes   </a:t>
                </a: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82733C78-B3ED-B741-A882-3714B0B7F9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193" y="594335"/>
                <a:ext cx="5933753" cy="523220"/>
              </a:xfrm>
              <a:prstGeom prst="rect">
                <a:avLst/>
              </a:prstGeom>
              <a:blipFill>
                <a:blip r:embed="rId3"/>
                <a:stretch>
                  <a:fillRect l="-2053" t="-11628" b="-313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文本框 11">
            <a:extLst>
              <a:ext uri="{FF2B5EF4-FFF2-40B4-BE49-F238E27FC236}">
                <a16:creationId xmlns:a16="http://schemas.microsoft.com/office/drawing/2014/main" id="{A3A35AAD-847C-4A74-8189-38CA5A567768}"/>
              </a:ext>
            </a:extLst>
          </p:cNvPr>
          <p:cNvSpPr txBox="1"/>
          <p:nvPr/>
        </p:nvSpPr>
        <p:spPr>
          <a:xfrm>
            <a:off x="562696" y="435693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dirty="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6DF9D49-95DF-405C-A4C9-251E1BE022B5}"/>
              </a:ext>
            </a:extLst>
          </p:cNvPr>
          <p:cNvSpPr/>
          <p:nvPr/>
        </p:nvSpPr>
        <p:spPr>
          <a:xfrm>
            <a:off x="235594" y="1170005"/>
            <a:ext cx="19287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</a:rPr>
              <a:t>2</a:t>
            </a:r>
            <a:r>
              <a:rPr lang="zh-CN" altLang="en-US" b="1" dirty="0">
                <a:latin typeface="Times New Roman" panose="02020603050405020304" pitchFamily="18" charset="0"/>
              </a:rPr>
              <a:t>拉丁方构建</a:t>
            </a:r>
            <a:r>
              <a:rPr lang="en-US" altLang="zh-CN" b="1" dirty="0">
                <a:latin typeface="Times New Roman" panose="02020603050405020304" pitchFamily="18" charset="0"/>
              </a:rPr>
              <a:t>RDP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A19573C6-329B-48C5-B8A5-4AF3466307B4}"/>
                  </a:ext>
                </a:extLst>
              </p:cNvPr>
              <p:cNvSpPr/>
              <p:nvPr/>
            </p:nvSpPr>
            <p:spPr>
              <a:xfrm>
                <a:off x="747427" y="3035421"/>
                <a:ext cx="1973297" cy="136620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5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zh-CN" altLang="en-US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altLang="en-US" i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zh-CN" altLang="en-US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zh-CN" altLang="en-US" i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zh-CN" altLang="en-US" i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i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zh-CN" altLang="en-US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zh-CN" altLang="en-US" i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zh-CN" altLang="en-US" i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zh-CN" altLang="en-US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zh-CN" altLang="en-US" i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zh-CN" altLang="en-US" i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zh-CN" altLang="en-US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altLang="en-US" i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i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zh-CN" altLang="en-US" i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zh-CN" altLang="en-US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altLang="en-US" i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zh-CN" altLang="en-US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i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zh-CN" altLang="en-US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altLang="en-US" i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zh-CN" altLang="en-US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zh-CN" altLang="en-US" i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A19573C6-329B-48C5-B8A5-4AF3466307B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427" y="3035421"/>
                <a:ext cx="1973297" cy="136620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0" name="表格 19">
            <a:extLst>
              <a:ext uri="{FF2B5EF4-FFF2-40B4-BE49-F238E27FC236}">
                <a16:creationId xmlns:a16="http://schemas.microsoft.com/office/drawing/2014/main" id="{86284A96-437C-4B97-AB20-48056F7F12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0967325"/>
              </p:ext>
            </p:extLst>
          </p:nvPr>
        </p:nvGraphicFramePr>
        <p:xfrm>
          <a:off x="3238619" y="3146072"/>
          <a:ext cx="2430782" cy="1144905"/>
        </p:xfrm>
        <a:graphic>
          <a:graphicData uri="http://schemas.openxmlformats.org/drawingml/2006/table">
            <a:tbl>
              <a:tblPr firstRow="1" firstCol="1" bandRow="1"/>
              <a:tblGrid>
                <a:gridCol w="4049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44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54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54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445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0597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Disk0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Disk1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Disk2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Disk3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Disk4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Disk5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9230"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200" kern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9230"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200" kern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9230"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200" kern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200" kern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1" name="表格 20">
            <a:extLst>
              <a:ext uri="{FF2B5EF4-FFF2-40B4-BE49-F238E27FC236}">
                <a16:creationId xmlns:a16="http://schemas.microsoft.com/office/drawing/2014/main" id="{0A60DA3F-EECC-4A1A-8338-12361A5D1F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025581"/>
              </p:ext>
            </p:extLst>
          </p:nvPr>
        </p:nvGraphicFramePr>
        <p:xfrm>
          <a:off x="6187296" y="3146072"/>
          <a:ext cx="2834640" cy="1144905"/>
        </p:xfrm>
        <a:graphic>
          <a:graphicData uri="http://schemas.openxmlformats.org/drawingml/2006/table">
            <a:tbl>
              <a:tblPr firstRow="1" firstCol="1" bandRow="1"/>
              <a:tblGrid>
                <a:gridCol w="4048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43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53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53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43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043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0589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Disk0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Disk1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Disk2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Disk3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Disk4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Disk5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Disk6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9230"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200" kern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9230"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200" kern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9230"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200" kern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200" kern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2" name="Rectangle 1">
            <a:extLst>
              <a:ext uri="{FF2B5EF4-FFF2-40B4-BE49-F238E27FC236}">
                <a16:creationId xmlns:a16="http://schemas.microsoft.com/office/drawing/2014/main" id="{BE8B8B5E-8FDB-4D2C-935B-EDFEC4DBF6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883" y="4811224"/>
            <a:ext cx="8661453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26670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图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所示为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阶对角循环拉丁方，将该拉丁方去掉最后一行可以构建出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EVENODD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RDP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的阵列。图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中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Disk5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表示水平校验磁盘，因此处关注的是对角线校验磁盘的生成，所以忽略该磁盘。通过对比图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和图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可以发现，两类编码阵列都可以由图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构建，只是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RDP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将水平校验磁盘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Disk4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（图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）作为计算对角线校验的一部分，而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EVENODD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则是用比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RDP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多的一个数据磁盘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Disk4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（图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）参与对角线校验的计算。</a:t>
            </a:r>
            <a:endParaRPr kumimoji="0" lang="zh-CN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EEE0FF8-5B58-4E65-8B66-7D1231F7FF6C}"/>
              </a:ext>
            </a:extLst>
          </p:cNvPr>
          <p:cNvSpPr txBox="1"/>
          <p:nvPr/>
        </p:nvSpPr>
        <p:spPr>
          <a:xfrm>
            <a:off x="1507090" y="4415278"/>
            <a:ext cx="4539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图</a:t>
            </a:r>
            <a:r>
              <a:rPr lang="en-US" altLang="zh-CN" sz="1400" dirty="0"/>
              <a:t>a</a:t>
            </a:r>
            <a:endParaRPr lang="zh-CN" altLang="en-US" sz="1400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D5DC099-A369-4D71-A8DE-5FFD0C5D8F9D}"/>
              </a:ext>
            </a:extLst>
          </p:cNvPr>
          <p:cNvSpPr txBox="1"/>
          <p:nvPr/>
        </p:nvSpPr>
        <p:spPr>
          <a:xfrm>
            <a:off x="4220613" y="4410073"/>
            <a:ext cx="4667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图</a:t>
            </a:r>
            <a:r>
              <a:rPr lang="en-US" altLang="zh-CN" sz="1400" dirty="0"/>
              <a:t>b</a:t>
            </a:r>
            <a:endParaRPr lang="zh-CN" altLang="en-US" sz="1400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C8621C1D-80EA-457D-B49B-881DA2989235}"/>
              </a:ext>
            </a:extLst>
          </p:cNvPr>
          <p:cNvSpPr txBox="1"/>
          <p:nvPr/>
        </p:nvSpPr>
        <p:spPr>
          <a:xfrm>
            <a:off x="7544872" y="4356935"/>
            <a:ext cx="4459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图</a:t>
            </a:r>
            <a:r>
              <a:rPr lang="en-US" altLang="zh-CN" sz="1400" dirty="0"/>
              <a:t>c</a:t>
            </a:r>
            <a:endParaRPr lang="zh-CN" altLang="en-US" sz="1400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FCF4321-88DA-4337-AA15-662C2BD7615A}"/>
              </a:ext>
            </a:extLst>
          </p:cNvPr>
          <p:cNvSpPr/>
          <p:nvPr/>
        </p:nvSpPr>
        <p:spPr>
          <a:xfrm>
            <a:off x="0" y="1497482"/>
            <a:ext cx="880711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6700" indent="266700" algn="just" fontAlgn="ctr">
              <a:spcAft>
                <a:spcPts val="0"/>
              </a:spcAft>
            </a:pPr>
            <a:r>
              <a:rPr lang="zh-CN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由于</a:t>
            </a:r>
            <a:r>
              <a:rPr lang="en-US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RDP</a:t>
            </a:r>
            <a:r>
              <a:rPr lang="zh-CN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编码是</a:t>
            </a:r>
            <a:r>
              <a:rPr lang="en-US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EVENODD</a:t>
            </a:r>
            <a:r>
              <a:rPr lang="zh-CN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的改进，二者生成对角线校验的原理相同，因此拉丁方构建</a:t>
            </a:r>
            <a:r>
              <a:rPr lang="en-US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RDP</a:t>
            </a:r>
            <a:r>
              <a:rPr lang="zh-CN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与其构建</a:t>
            </a:r>
            <a:r>
              <a:rPr lang="en-US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EVENODD</a:t>
            </a:r>
            <a:r>
              <a:rPr lang="zh-CN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相似。不同之处在于，</a:t>
            </a:r>
            <a:r>
              <a:rPr lang="en-US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RDP</a:t>
            </a:r>
            <a:r>
              <a:rPr lang="zh-CN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的水平校验元素也作为对角线校验组参与对角线校验元素的计算。</a:t>
            </a:r>
            <a:endParaRPr lang="zh-CN" altLang="zh-CN" sz="1400" kern="1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  <a:p>
            <a:pPr marL="266700" indent="266700" algn="just" fontAlgn="ctr">
              <a:spcAft>
                <a:spcPts val="0"/>
              </a:spcAft>
            </a:pPr>
            <a:r>
              <a:rPr lang="zh-CN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为了更加清晰地认识</a:t>
            </a:r>
            <a:r>
              <a:rPr lang="en-US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RDP</a:t>
            </a:r>
            <a:r>
              <a:rPr lang="zh-CN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EVENODD</a:t>
            </a:r>
            <a:r>
              <a:rPr lang="zh-CN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与拉丁方之间的联系，本文用具体的示例对其进行描述。</a:t>
            </a:r>
            <a:endParaRPr lang="zh-CN" altLang="zh-CN" sz="1400" kern="1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85667"/>
      </p:ext>
    </p:extLst>
  </p:cSld>
  <p:clrMapOvr>
    <a:masterClrMapping/>
  </p:clrMapOvr>
  <p:transition spd="med"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>
              <a:latin typeface="+mn-lt"/>
            </a:endParaRPr>
          </a:p>
        </p:txBody>
      </p:sp>
      <p:sp>
        <p:nvSpPr>
          <p:cNvPr id="4" name="文本框 1">
            <a:extLst>
              <a:ext uri="{FF2B5EF4-FFF2-40B4-BE49-F238E27FC236}">
                <a16:creationId xmlns:a16="http://schemas.microsoft.com/office/drawing/2014/main" id="{5097FF4B-D874-4607-A9A3-B70DF38E71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>
              <a:latin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293CE48-211E-4FF7-BAF6-1A4CBEA2459F}"/>
              </a:ext>
            </a:extLst>
          </p:cNvPr>
          <p:cNvSpPr txBox="1"/>
          <p:nvPr/>
        </p:nvSpPr>
        <p:spPr>
          <a:xfrm>
            <a:off x="591628" y="2208652"/>
            <a:ext cx="52893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dirty="0">
                <a:latin typeface="Microsoft YaHei" charset="-122"/>
                <a:ea typeface="Microsoft YaHei" charset="-122"/>
                <a:cs typeface="Microsoft YaHei" charset="-122"/>
              </a:rPr>
              <a:t>参考</a:t>
            </a:r>
            <a:r>
              <a:rPr kumimoji="1" lang="en-US" altLang="zh-CN" sz="2800" dirty="0">
                <a:latin typeface="Microsoft YaHei" charset="-122"/>
                <a:ea typeface="Microsoft YaHei" charset="-122"/>
                <a:cs typeface="Microsoft YaHei" charset="-122"/>
              </a:rPr>
              <a:t>: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AC362D2-091A-48B3-AF43-B39946C603FF}"/>
              </a:ext>
            </a:extLst>
          </p:cNvPr>
          <p:cNvSpPr/>
          <p:nvPr/>
        </p:nvSpPr>
        <p:spPr>
          <a:xfrm>
            <a:off x="678714" y="2708675"/>
            <a:ext cx="8189118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+mj-lt"/>
                <a:ea typeface="Microsoft YaHei" panose="020B0503020204020204" pitchFamily="34" charset="-122"/>
              </a:rPr>
              <a:t>[1]</a:t>
            </a:r>
            <a:r>
              <a:rPr lang="zh-CN" altLang="en-US" sz="1400" dirty="0">
                <a:latin typeface="+mj-lt"/>
                <a:ea typeface="Microsoft YaHei" panose="020B0503020204020204" pitchFamily="34" charset="-122"/>
              </a:rPr>
              <a:t> </a:t>
            </a:r>
            <a:r>
              <a:rPr lang="en-US" altLang="zh-CN" sz="1400" dirty="0"/>
              <a:t>James S. Plank ``</a:t>
            </a:r>
            <a:r>
              <a:rPr lang="en-US" altLang="zh-CN" sz="1400" dirty="0">
                <a:hlinkClick r:id="rId3"/>
              </a:rPr>
              <a:t>Erasure Codes for Storage Applications</a:t>
            </a:r>
            <a:r>
              <a:rPr lang="en-US" altLang="zh-CN" sz="1400" dirty="0"/>
              <a:t>,'' Tutorial, </a:t>
            </a:r>
            <a:r>
              <a:rPr lang="en-US" altLang="zh-CN" sz="1400" i="1" dirty="0"/>
              <a:t>FAST-2005: 4th </a:t>
            </a:r>
            <a:r>
              <a:rPr lang="en-US" altLang="zh-CN" sz="1400" i="1" dirty="0" err="1"/>
              <a:t>Usenix</a:t>
            </a:r>
            <a:r>
              <a:rPr lang="en-US" altLang="zh-CN" sz="1400" i="1" dirty="0"/>
              <a:t> Conference on File and Storage Technologies</a:t>
            </a:r>
            <a:r>
              <a:rPr lang="en-US" altLang="zh-CN" sz="1400" dirty="0"/>
              <a:t> San Francisco, CA, December, 2005.</a:t>
            </a:r>
          </a:p>
          <a:p>
            <a:r>
              <a:rPr lang="en-US" altLang="zh-CN" sz="1400" dirty="0">
                <a:latin typeface="+mj-lt"/>
                <a:ea typeface="Microsoft YaHei" panose="020B0503020204020204" pitchFamily="34" charset="-122"/>
              </a:rPr>
              <a:t>[2]</a:t>
            </a:r>
            <a:r>
              <a:rPr lang="zh-CN" altLang="en-US" sz="1400" dirty="0">
                <a:latin typeface="+mj-lt"/>
                <a:ea typeface="Microsoft YaHei" panose="020B0503020204020204" pitchFamily="34" charset="-122"/>
              </a:rPr>
              <a:t> </a:t>
            </a:r>
            <a:r>
              <a:rPr lang="en-US" altLang="zh-CN" sz="1400" dirty="0"/>
              <a:t>James S. Plank and Cheng Huang. ``</a:t>
            </a:r>
            <a:r>
              <a:rPr lang="en-US" altLang="zh-CN" sz="1400" dirty="0">
                <a:hlinkClick r:id="rId4"/>
              </a:rPr>
              <a:t>Tutorial: Erasure Coding for Storage Systems</a:t>
            </a:r>
            <a:r>
              <a:rPr lang="en-US" altLang="zh-CN" sz="1400" dirty="0"/>
              <a:t>,'' Slides presented as part of the Training Program for </a:t>
            </a:r>
            <a:r>
              <a:rPr lang="en-US" altLang="zh-CN" sz="1400" i="1" dirty="0"/>
              <a:t>FAST 2013: 11th USENIX Conference on File and Storage Technologies</a:t>
            </a:r>
            <a:r>
              <a:rPr lang="en-US" altLang="zh-CN" sz="1400" dirty="0"/>
              <a:t>, San Jose, CA, February, 12, 2013.</a:t>
            </a:r>
          </a:p>
          <a:p>
            <a:r>
              <a:rPr lang="en-US" altLang="zh-CN" sz="1400" dirty="0">
                <a:latin typeface="+mj-lt"/>
                <a:ea typeface="Microsoft YaHei" panose="020B0503020204020204" pitchFamily="34" charset="-122"/>
              </a:rPr>
              <a:t>[3]</a:t>
            </a:r>
            <a:r>
              <a:rPr lang="zh-CN" altLang="en-US" sz="1400" dirty="0">
                <a:latin typeface="+mj-lt"/>
                <a:ea typeface="Microsoft YaHei" panose="020B0503020204020204" pitchFamily="34" charset="-122"/>
              </a:rPr>
              <a:t> </a:t>
            </a:r>
            <a:r>
              <a:rPr lang="en-US" altLang="zh-CN" sz="1400" dirty="0">
                <a:latin typeface="+mj-lt"/>
                <a:ea typeface="Microsoft YaHei" panose="020B0503020204020204" pitchFamily="34" charset="-122"/>
              </a:rPr>
              <a:t>RAID</a:t>
            </a:r>
            <a:r>
              <a:rPr lang="zh-CN" altLang="en-US" sz="1400" dirty="0">
                <a:latin typeface="+mj-lt"/>
                <a:ea typeface="Microsoft YaHei" panose="020B0503020204020204" pitchFamily="34" charset="-122"/>
              </a:rPr>
              <a:t>技术白皮书</a:t>
            </a:r>
            <a:r>
              <a:rPr lang="en-US" altLang="zh-CN" sz="1400" dirty="0">
                <a:latin typeface="+mj-lt"/>
                <a:ea typeface="Microsoft YaHei" panose="020B0503020204020204" pitchFamily="34" charset="-122"/>
              </a:rPr>
              <a:t>,</a:t>
            </a:r>
            <a:r>
              <a:rPr lang="zh-CN" altLang="en-US" sz="1400" dirty="0">
                <a:latin typeface="+mj-lt"/>
                <a:ea typeface="Microsoft YaHei" panose="020B0503020204020204" pitchFamily="34" charset="-122"/>
              </a:rPr>
              <a:t> </a:t>
            </a:r>
            <a:r>
              <a:rPr lang="en-US" altLang="zh-CN" sz="1400" dirty="0">
                <a:hlinkClick r:id="rId5"/>
              </a:rPr>
              <a:t>https://www.lacie.com/files/lacie-content/whitepaper/WP_RAID_zh.pdf</a:t>
            </a:r>
            <a:r>
              <a:rPr lang="en-US" altLang="zh-CN" sz="1400" dirty="0"/>
              <a:t>.</a:t>
            </a:r>
            <a:endParaRPr lang="en-US" altLang="zh-CN" sz="1400" dirty="0">
              <a:latin typeface="+mj-lt"/>
              <a:ea typeface="Microsoft YaHei" panose="020B0503020204020204" pitchFamily="34" charset="-122"/>
            </a:endParaRPr>
          </a:p>
          <a:p>
            <a:r>
              <a:rPr lang="en-US" altLang="zh-CN" sz="1400" dirty="0">
                <a:latin typeface="+mj-lt"/>
                <a:ea typeface="Microsoft YaHei" panose="020B0503020204020204" pitchFamily="34" charset="-122"/>
              </a:rPr>
              <a:t>[4]</a:t>
            </a:r>
            <a:r>
              <a:rPr lang="en-US" altLang="zh-CN" sz="1400" dirty="0"/>
              <a:t> Gang Wang, Sheng Lin, Xiaoguang Liu, </a:t>
            </a:r>
            <a:r>
              <a:rPr lang="en-US" altLang="zh-CN" sz="1400" dirty="0" err="1"/>
              <a:t>Guangjun</a:t>
            </a:r>
            <a:r>
              <a:rPr lang="en-US" altLang="zh-CN" sz="1400" dirty="0"/>
              <a:t> </a:t>
            </a:r>
            <a:r>
              <a:rPr lang="en-US" altLang="zh-CN" sz="1400" dirty="0" err="1"/>
              <a:t>Xie</a:t>
            </a:r>
            <a:r>
              <a:rPr lang="en-US" altLang="zh-CN" sz="1400" dirty="0"/>
              <a:t>, Jing Liu, Generalizing RDP codes using the combinatorial method, In the 7th IEEE International Symposium on Networking Computing and Applications, NCA 2008, Cambridge, MA, USA, Jul 2008, pp. 93-100, EI: 083811577603.</a:t>
            </a:r>
          </a:p>
          <a:p>
            <a:r>
              <a:rPr lang="en-US" altLang="zh-CN" sz="1400" dirty="0"/>
              <a:t>[5] </a:t>
            </a:r>
            <a:r>
              <a:rPr lang="en-US" altLang="zh-CN" sz="1400" dirty="0" err="1"/>
              <a:t>Blaum</a:t>
            </a:r>
            <a:r>
              <a:rPr lang="en-US" altLang="zh-CN" sz="1400" dirty="0"/>
              <a:t>, M., Brady, J., Bruck, J., Menon, J.: EVENODD: an efficient scheme for tolerating double disk failures in RAID architectures. IEEE Trans. </a:t>
            </a:r>
            <a:r>
              <a:rPr lang="en-US" altLang="zh-CN" sz="1400" dirty="0" err="1"/>
              <a:t>Comput</a:t>
            </a:r>
            <a:r>
              <a:rPr lang="en-US" altLang="zh-CN" sz="1400" dirty="0"/>
              <a:t>. 44(2), 192–202 (1995).</a:t>
            </a:r>
          </a:p>
          <a:p>
            <a:r>
              <a:rPr lang="en-US" altLang="zh-CN" sz="1400" dirty="0"/>
              <a:t>[6] Corbett, P., et al.: Row-diagonal parity for double disk failure correction. In: Proceedings of the FAST, pp. 1–14 (2004).</a:t>
            </a:r>
          </a:p>
          <a:p>
            <a:r>
              <a:rPr lang="en-US" altLang="zh-CN" sz="1400" dirty="0"/>
              <a:t>[7] Xu, L., Bruck, J.: X-Code: MDS array codes with optimal encoding. IEEE Trans. Inform. Theory 45, 272–276 (1999).</a:t>
            </a:r>
          </a:p>
          <a:p>
            <a:r>
              <a:rPr lang="en-US" altLang="zh-CN" sz="1400" dirty="0"/>
              <a:t>[8] Hafner, J.L.: WEAVER codes: Highly fault tolerant erasure codes for storage systems. In: Proceedings of the FAST, vol. 5 (2005).</a:t>
            </a:r>
          </a:p>
          <a:p>
            <a:endParaRPr lang="en-US" altLang="zh-CN" sz="14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2B725F0-6C96-4C16-8BE9-1DF4434E24D1}"/>
              </a:ext>
            </a:extLst>
          </p:cNvPr>
          <p:cNvSpPr txBox="1"/>
          <p:nvPr/>
        </p:nvSpPr>
        <p:spPr>
          <a:xfrm>
            <a:off x="2278134" y="1456281"/>
            <a:ext cx="4587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4000" b="1" dirty="0"/>
              <a:t>Thanks!</a:t>
            </a:r>
            <a:r>
              <a:rPr kumimoji="1" lang="zh-CN" altLang="en-US" sz="4000" b="1" dirty="0"/>
              <a:t>   </a:t>
            </a:r>
            <a:r>
              <a:rPr kumimoji="1" lang="en-US" altLang="zh-CN" sz="4000" b="1" dirty="0"/>
              <a:t>Questions?</a:t>
            </a:r>
            <a:endParaRPr kumimoji="1" lang="zh-CN" alt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1273558207"/>
      </p:ext>
    </p:extLst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主题2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主题2" id="{E0D1F83F-22F0-D546-91D8-FF7C6B24B14B}" vid="{5AF26BE8-7839-1342-A4CE-8DF56C8D06F1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主题2</Template>
  <TotalTime>56744</TotalTime>
  <Words>3745</Words>
  <Application>Microsoft Office PowerPoint</Application>
  <PresentationFormat>全屏显示(4:3)</PresentationFormat>
  <Paragraphs>437</Paragraphs>
  <Slides>49</Slides>
  <Notes>49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49</vt:i4>
      </vt:variant>
    </vt:vector>
  </HeadingPairs>
  <TitlesOfParts>
    <vt:vector size="58" baseType="lpstr">
      <vt:lpstr>等线</vt:lpstr>
      <vt:lpstr>Microsoft YaHei</vt:lpstr>
      <vt:lpstr>Arial</vt:lpstr>
      <vt:lpstr>Calibri</vt:lpstr>
      <vt:lpstr>Calibri Light</vt:lpstr>
      <vt:lpstr>Cambria Math</vt:lpstr>
      <vt:lpstr>Times New Roman</vt:lpstr>
      <vt:lpstr>Wingdings</vt:lpstr>
      <vt:lpstr>主题2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周会总结</dc:title>
  <dc:creator>Jaycee Zhang</dc:creator>
  <cp:lastModifiedBy>Catherine</cp:lastModifiedBy>
  <cp:revision>972</cp:revision>
  <cp:lastPrinted>2017-05-11T02:50:32Z</cp:lastPrinted>
  <dcterms:created xsi:type="dcterms:W3CDTF">2016-12-13T05:37:29Z</dcterms:created>
  <dcterms:modified xsi:type="dcterms:W3CDTF">2019-11-23T06:46:16Z</dcterms:modified>
</cp:coreProperties>
</file>