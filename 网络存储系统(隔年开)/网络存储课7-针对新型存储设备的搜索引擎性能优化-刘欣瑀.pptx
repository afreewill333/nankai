
<file path=[Content_Types].xml><?xml version="1.0" encoding="utf-8"?>
<Types xmlns="http://schemas.openxmlformats.org/package/2006/content-types">
  <Default Extension="png" ContentType="image/png"/>
  <Default Extension="tmp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3.xml" ContentType="application/vnd.openxmlformats-officedocument.presentationml.tags+xml"/>
  <Override PartName="/ppt/notesSlides/notesSlide20.xml" ContentType="application/vnd.openxmlformats-officedocument.presentationml.notesSlide+xml"/>
  <Override PartName="/ppt/tags/tag4.xml" ContentType="application/vnd.openxmlformats-officedocument.presentationml.tags+xml"/>
  <Override PartName="/ppt/notesSlides/notesSlide21.xml" ContentType="application/vnd.openxmlformats-officedocument.presentationml.notesSlide+xml"/>
  <Override PartName="/ppt/tags/tag5.xml" ContentType="application/vnd.openxmlformats-officedocument.presentationml.tags+xml"/>
  <Override PartName="/ppt/notesSlides/notesSlide22.xml" ContentType="application/vnd.openxmlformats-officedocument.presentationml.notesSlide+xml"/>
  <Override PartName="/ppt/tags/tag6.xml" ContentType="application/vnd.openxmlformats-officedocument.presentationml.tags+xml"/>
  <Override PartName="/ppt/notesSlides/notesSlide23.xml" ContentType="application/vnd.openxmlformats-officedocument.presentationml.notesSlide+xml"/>
  <Override PartName="/ppt/tags/tag7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rts/chart2.xml" ContentType="application/vnd.openxmlformats-officedocument.drawingml.chart+xml"/>
  <Override PartName="/ppt/notesSlides/notesSlide43.xml" ContentType="application/vnd.openxmlformats-officedocument.presentationml.notesSlide+xml"/>
  <Override PartName="/ppt/charts/chart3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4.xml" ContentType="application/vnd.openxmlformats-officedocument.drawingml.chart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1.xml" ContentType="application/vnd.ms-office.chartstyle+xml"/>
  <Override PartName="/ppt/charts/colors1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294" r:id="rId2"/>
    <p:sldId id="256" r:id="rId3"/>
    <p:sldId id="257" r:id="rId4"/>
    <p:sldId id="259" r:id="rId5"/>
    <p:sldId id="301" r:id="rId6"/>
    <p:sldId id="302" r:id="rId7"/>
    <p:sldId id="303" r:id="rId8"/>
    <p:sldId id="307" r:id="rId9"/>
    <p:sldId id="308" r:id="rId10"/>
    <p:sldId id="309" r:id="rId11"/>
    <p:sldId id="460" r:id="rId12"/>
    <p:sldId id="461" r:id="rId13"/>
    <p:sldId id="311" r:id="rId14"/>
    <p:sldId id="260" r:id="rId15"/>
    <p:sldId id="457" r:id="rId16"/>
    <p:sldId id="462" r:id="rId17"/>
    <p:sldId id="325" r:id="rId18"/>
    <p:sldId id="332" r:id="rId19"/>
    <p:sldId id="516" r:id="rId20"/>
    <p:sldId id="489" r:id="rId21"/>
    <p:sldId id="490" r:id="rId22"/>
    <p:sldId id="493" r:id="rId23"/>
    <p:sldId id="491" r:id="rId24"/>
    <p:sldId id="492" r:id="rId25"/>
    <p:sldId id="518" r:id="rId26"/>
    <p:sldId id="520" r:id="rId27"/>
    <p:sldId id="494" r:id="rId28"/>
    <p:sldId id="495" r:id="rId29"/>
    <p:sldId id="496" r:id="rId30"/>
    <p:sldId id="519" r:id="rId31"/>
    <p:sldId id="497" r:id="rId32"/>
    <p:sldId id="498" r:id="rId33"/>
    <p:sldId id="499" r:id="rId34"/>
    <p:sldId id="500" r:id="rId35"/>
    <p:sldId id="501" r:id="rId36"/>
    <p:sldId id="502" r:id="rId37"/>
    <p:sldId id="503" r:id="rId38"/>
    <p:sldId id="504" r:id="rId39"/>
    <p:sldId id="505" r:id="rId40"/>
    <p:sldId id="506" r:id="rId41"/>
    <p:sldId id="507" r:id="rId42"/>
    <p:sldId id="508" r:id="rId43"/>
    <p:sldId id="515" r:id="rId44"/>
    <p:sldId id="509" r:id="rId45"/>
    <p:sldId id="510" r:id="rId46"/>
    <p:sldId id="511" r:id="rId47"/>
    <p:sldId id="512" r:id="rId48"/>
    <p:sldId id="448" r:id="rId49"/>
    <p:sldId id="449" r:id="rId50"/>
    <p:sldId id="450" r:id="rId51"/>
    <p:sldId id="451" r:id="rId52"/>
    <p:sldId id="517" r:id="rId53"/>
    <p:sldId id="452" r:id="rId54"/>
    <p:sldId id="453" r:id="rId55"/>
    <p:sldId id="454" r:id="rId56"/>
    <p:sldId id="455" r:id="rId57"/>
    <p:sldId id="456" r:id="rId58"/>
    <p:sldId id="299" r:id="rId59"/>
  </p:sldIdLst>
  <p:sldSz cx="12192000" cy="6858000"/>
  <p:notesSz cx="6858000" cy="9144000"/>
  <p:custDataLst>
    <p:tags r:id="rId62"/>
  </p:custDataLst>
  <p:defaultTextStyle>
    <a:defPPr>
      <a:defRPr lang="zh-CN"/>
    </a:defPPr>
    <a:lvl1pPr marL="0" algn="l" defTabSz="121863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316" algn="l" defTabSz="121863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633" algn="l" defTabSz="121863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7950" algn="l" defTabSz="121863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264" algn="l" defTabSz="121863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6582" algn="l" defTabSz="121863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5898" algn="l" defTabSz="121863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5213" algn="l" defTabSz="121863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4532" algn="l" defTabSz="121863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1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EEBF7"/>
    <a:srgbClr val="486AB6"/>
    <a:srgbClr val="5269B2"/>
    <a:srgbClr val="B5CCF9"/>
    <a:srgbClr val="00CC99"/>
    <a:srgbClr val="27B3C6"/>
    <a:srgbClr val="66FF66"/>
    <a:srgbClr val="15636D"/>
    <a:srgbClr val="1F8E9D"/>
    <a:srgbClr val="FD77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77" autoAdjust="0"/>
    <p:restoredTop sz="83026" autoAdjust="0"/>
  </p:normalViewPr>
  <p:slideViewPr>
    <p:cSldViewPr>
      <p:cViewPr varScale="1">
        <p:scale>
          <a:sx n="58" d="100"/>
          <a:sy n="58" d="100"/>
        </p:scale>
        <p:origin x="-1104" y="-636"/>
      </p:cViewPr>
      <p:guideLst>
        <p:guide orient="horz" pos="2161"/>
        <p:guide pos="3841"/>
      </p:guideLst>
    </p:cSldViewPr>
  </p:slideViewPr>
  <p:outlineViewPr>
    <p:cViewPr>
      <p:scale>
        <a:sx n="33" d="100"/>
        <a:sy n="33" d="100"/>
      </p:scale>
      <p:origin x="0" y="-15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283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___2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23454;&#39564;&#23460;\&#23398;&#38271;&#35770;&#25991;\poster\SIGIR-sp025-poster\&#21508;&#31181;&#22270;&#34920;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23454;&#39564;&#23460;\&#23398;&#38271;&#35770;&#25991;\poster\SIGIR-sp025-poster\&#21508;&#31181;&#22270;&#34920;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en-US" altLang="zh-CN" sz="20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2008</a:t>
            </a:r>
            <a:r>
              <a:rPr lang="zh-CN" altLang="en-US" sz="20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-2016</a:t>
            </a:r>
            <a:r>
              <a:rPr lang="zh-CN" altLang="en-US" sz="20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en-US" sz="20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公布的年均查询处理规模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年平均查询量(万亿)</c:v>
                </c:pt>
              </c:strCache>
            </c:strRef>
          </c:tx>
          <c:spPr>
            <a:solidFill>
              <a:srgbClr val="27B3C6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matte">
              <a:bevelT w="127000" h="63500"/>
            </a:sp3d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7.2999999999999995E-2</c:v>
                </c:pt>
                <c:pt idx="1">
                  <c:v>0.36499999999999999</c:v>
                </c:pt>
                <c:pt idx="2">
                  <c:v>0.374</c:v>
                </c:pt>
                <c:pt idx="3">
                  <c:v>0.40300000000000002</c:v>
                </c:pt>
                <c:pt idx="4">
                  <c:v>1.0189999999999999</c:v>
                </c:pt>
                <c:pt idx="5">
                  <c:v>1.1559999999999999</c:v>
                </c:pt>
                <c:pt idx="6">
                  <c:v>1.2949999999999999</c:v>
                </c:pt>
                <c:pt idx="7">
                  <c:v>1.405</c:v>
                </c:pt>
                <c:pt idx="8">
                  <c:v>2.0510000000000002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C54-4D7F-83E7-0A6BC6F36E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29050880"/>
        <c:axId val="12905305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每秒平均查询量(千)</c:v>
                </c:pt>
              </c:strCache>
            </c:strRef>
          </c:tx>
          <c:spPr>
            <a:ln w="2857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rgbClr val="C00000"/>
              </a:solidFill>
              <a:ln w="9525">
                <a:solidFill>
                  <a:schemeClr val="tx2">
                    <a:lumMod val="60000"/>
                    <a:lumOff val="40000"/>
                    <a:alpha val="90000"/>
                  </a:schemeClr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</c:marker>
          <c:cat>
            <c:numRef>
              <c:f>Sheet1!$A$2:$A$10</c:f>
              <c:numCache>
                <c:formatCode>General</c:formatCode>
                <c:ptCount val="9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2.2999999999999998</c:v>
                </c:pt>
                <c:pt idx="1">
                  <c:v>11.39</c:v>
                </c:pt>
                <c:pt idx="2">
                  <c:v>11.78</c:v>
                </c:pt>
                <c:pt idx="3">
                  <c:v>12.7</c:v>
                </c:pt>
                <c:pt idx="4">
                  <c:v>31.5</c:v>
                </c:pt>
                <c:pt idx="5">
                  <c:v>34.65</c:v>
                </c:pt>
                <c:pt idx="6">
                  <c:v>40.700000000000003</c:v>
                </c:pt>
                <c:pt idx="7">
                  <c:v>44.5</c:v>
                </c:pt>
                <c:pt idx="8">
                  <c:v>63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3C54-4D7F-83E7-0A6BC6F36E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9056128"/>
        <c:axId val="129054592"/>
      </c:lineChart>
      <c:catAx>
        <c:axId val="129050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053056"/>
        <c:crossesAt val="0"/>
        <c:auto val="1"/>
        <c:lblAlgn val="ctr"/>
        <c:lblOffset val="100"/>
        <c:noMultiLvlLbl val="0"/>
      </c:catAx>
      <c:valAx>
        <c:axId val="129053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050880"/>
        <c:crosses val="autoZero"/>
        <c:crossBetween val="between"/>
      </c:valAx>
      <c:valAx>
        <c:axId val="129054592"/>
        <c:scaling>
          <c:orientation val="minMax"/>
          <c:max val="2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056128"/>
        <c:crosses val="max"/>
        <c:crossBetween val="between"/>
        <c:majorUnit val="40"/>
      </c:valAx>
      <c:catAx>
        <c:axId val="129056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9054592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tx2">
              <a:lumMod val="40000"/>
              <a:lumOff val="60000"/>
            </a:schemeClr>
          </a:solidFill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'E:\实验室\学长论文\新修改\实验结果\[实验结果.xlsx]StaQTF(修改过)'!$C$16:$C$17</c:f>
              <c:strCache>
                <c:ptCount val="1"/>
                <c:pt idx="0">
                  <c:v>SC-MFU Csnip</c:v>
                </c:pt>
              </c:strCache>
            </c:strRef>
          </c:tx>
          <c:spPr>
            <a:solidFill>
              <a:schemeClr val="accent4">
                <a:shade val="86000"/>
              </a:schemeClr>
            </a:solidFill>
            <a:ln>
              <a:solidFill>
                <a:srgbClr val="5269B2"/>
              </a:solidFill>
            </a:ln>
            <a:effectLst/>
          </c:spPr>
          <c:invertIfNegative val="0"/>
          <c:cat>
            <c:numRef>
              <c:f>'[1]StaQTF(修改过)'!$A$18:$A$22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</c:numCache>
            </c:numRef>
          </c:cat>
          <c:val>
            <c:numRef>
              <c:f>'[1]StaQTF(修改过)'!$C$18:$C$22</c:f>
              <c:numCache>
                <c:formatCode>General</c:formatCode>
                <c:ptCount val="5"/>
                <c:pt idx="0">
                  <c:v>10.6827010119856</c:v>
                </c:pt>
                <c:pt idx="1">
                  <c:v>10.018556445486665</c:v>
                </c:pt>
                <c:pt idx="2">
                  <c:v>9.734628566445231</c:v>
                </c:pt>
                <c:pt idx="3">
                  <c:v>9.9064910733722176</c:v>
                </c:pt>
                <c:pt idx="4">
                  <c:v>9.5052360495398123</c:v>
                </c:pt>
              </c:numCache>
            </c:numRef>
          </c:val>
        </c:ser>
        <c:ser>
          <c:idx val="3"/>
          <c:order val="3"/>
          <c:tx>
            <c:strRef>
              <c:f>'E:\实验室\学长论文\新修改\实验结果\[实验结果.xlsx]StaQTF(修改过)'!$E$16:$E$17</c:f>
              <c:strCache>
                <c:ptCount val="1"/>
                <c:pt idx="0">
                  <c:v>FC-MFU Csnip</c:v>
                </c:pt>
              </c:strCache>
            </c:strRef>
          </c:tx>
          <c:spPr>
            <a:solidFill>
              <a:srgbClr val="486AB6"/>
            </a:solidFill>
            <a:ln>
              <a:solidFill>
                <a:srgbClr val="5269B2"/>
              </a:solidFill>
            </a:ln>
            <a:effectLst/>
          </c:spPr>
          <c:invertIfNegative val="0"/>
          <c:cat>
            <c:numRef>
              <c:f>'[1]StaQTF(修改过)'!$A$18:$A$22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</c:numCache>
            </c:numRef>
          </c:cat>
          <c:val>
            <c:numRef>
              <c:f>'[1]StaQTF(修改过)'!$E$18:$E$22</c:f>
              <c:numCache>
                <c:formatCode>General</c:formatCode>
                <c:ptCount val="5"/>
                <c:pt idx="0">
                  <c:v>9.993790869425931</c:v>
                </c:pt>
                <c:pt idx="1">
                  <c:v>9.9475675215996464</c:v>
                </c:pt>
                <c:pt idx="2">
                  <c:v>9.6252992967611881</c:v>
                </c:pt>
                <c:pt idx="3">
                  <c:v>8.0858589764444773</c:v>
                </c:pt>
                <c:pt idx="4">
                  <c:v>7.0875254383651178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8043904"/>
        <c:axId val="198910336"/>
      </c:barChart>
      <c:barChart>
        <c:barDir val="col"/>
        <c:grouping val="clustered"/>
        <c:varyColors val="0"/>
        <c:ser>
          <c:idx val="0"/>
          <c:order val="0"/>
          <c:tx>
            <c:strRef>
              <c:f>'E:\实验室\学长论文\新修改\实验结果\[实验结果.xlsx]StaQTF(修改过)'!$B$16:$B$17</c:f>
              <c:strCache>
                <c:ptCount val="1"/>
                <c:pt idx="0">
                  <c:v>SC-MFU Cdoc</c:v>
                </c:pt>
              </c:strCache>
            </c:strRef>
          </c:tx>
          <c:spPr>
            <a:solidFill>
              <a:schemeClr val="accent4">
                <a:shade val="58000"/>
              </a:schemeClr>
            </a:solidFill>
            <a:ln>
              <a:solidFill>
                <a:srgbClr val="5269B2"/>
              </a:solidFill>
            </a:ln>
            <a:effectLst/>
          </c:spPr>
          <c:invertIfNegative val="0"/>
          <c:cat>
            <c:numRef>
              <c:f>'[1]StaQTF(修改过)'!$A$18:$A$22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</c:numCache>
            </c:numRef>
          </c:cat>
          <c:val>
            <c:numRef>
              <c:f>'[1]StaQTF(修改过)'!$B$18:$B$22</c:f>
              <c:numCache>
                <c:formatCode>General</c:formatCode>
                <c:ptCount val="5"/>
                <c:pt idx="0">
                  <c:v>2.8194443078015134</c:v>
                </c:pt>
                <c:pt idx="1">
                  <c:v>2.459024298409819</c:v>
                </c:pt>
                <c:pt idx="2">
                  <c:v>2.3901662704975917</c:v>
                </c:pt>
                <c:pt idx="3">
                  <c:v>2.6599566426485928</c:v>
                </c:pt>
                <c:pt idx="4">
                  <c:v>2.3262054715515017</c:v>
                </c:pt>
              </c:numCache>
            </c:numRef>
          </c:val>
        </c:ser>
        <c:ser>
          <c:idx val="2"/>
          <c:order val="2"/>
          <c:tx>
            <c:strRef>
              <c:f>'E:\实验室\学长论文\新修改\实验结果\[实验结果.xlsx]StaQTF(修改过)'!$D$16:$D$17</c:f>
              <c:strCache>
                <c:ptCount val="1"/>
                <c:pt idx="0">
                  <c:v>FC-MFU Cdoc</c:v>
                </c:pt>
              </c:strCache>
            </c:strRef>
          </c:tx>
          <c:spPr>
            <a:solidFill>
              <a:schemeClr val="accent4">
                <a:tint val="86000"/>
              </a:schemeClr>
            </a:solidFill>
            <a:ln>
              <a:solidFill>
                <a:srgbClr val="5269B2"/>
              </a:solidFill>
            </a:ln>
            <a:effectLst/>
          </c:spPr>
          <c:invertIfNegative val="0"/>
          <c:cat>
            <c:numRef>
              <c:f>'[1]StaQTF(修改过)'!$A$18:$A$22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</c:numCache>
            </c:numRef>
          </c:cat>
          <c:val>
            <c:numRef>
              <c:f>'[1]StaQTF(修改过)'!$D$18:$D$22</c:f>
              <c:numCache>
                <c:formatCode>General</c:formatCode>
                <c:ptCount val="5"/>
                <c:pt idx="0">
                  <c:v>2.6684825306467066</c:v>
                </c:pt>
                <c:pt idx="1">
                  <c:v>2.9206935620320738</c:v>
                </c:pt>
                <c:pt idx="2">
                  <c:v>2.9138226639573084</c:v>
                </c:pt>
                <c:pt idx="3">
                  <c:v>3.1464484530830954</c:v>
                </c:pt>
                <c:pt idx="4">
                  <c:v>3.2728096609159096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8922240"/>
        <c:axId val="198912256"/>
      </c:barChart>
      <c:catAx>
        <c:axId val="1980439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9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zh-CN" sz="1800" b="0" i="0" baseline="0">
                    <a:effectLst/>
                  </a:rPr>
                  <a:t>Snippet/fragment cache size</a:t>
                </a:r>
                <a:endParaRPr lang="zh-CN" altLang="zh-CN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9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98910336"/>
        <c:crosses val="autoZero"/>
        <c:auto val="1"/>
        <c:lblAlgn val="ctr"/>
        <c:lblOffset val="100"/>
        <c:noMultiLvlLbl val="0"/>
      </c:catAx>
      <c:valAx>
        <c:axId val="198910336"/>
        <c:scaling>
          <c:orientation val="minMax"/>
          <c:max val="12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9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zh-CN" sz="1800" b="0" i="0" baseline="0">
                    <a:effectLst/>
                  </a:rPr>
                  <a:t>Avg. snippet generation time (ms)</a:t>
                </a:r>
                <a:endParaRPr lang="zh-CN" altLang="zh-CN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9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98043904"/>
        <c:crosses val="autoZero"/>
        <c:crossBetween val="between"/>
      </c:valAx>
      <c:valAx>
        <c:axId val="198912256"/>
        <c:scaling>
          <c:orientation val="minMax"/>
          <c:max val="12"/>
          <c:min val="0"/>
        </c:scaling>
        <c:delete val="1"/>
        <c:axPos val="r"/>
        <c:numFmt formatCode="General" sourceLinked="1"/>
        <c:majorTickMark val="out"/>
        <c:minorTickMark val="none"/>
        <c:tickLblPos val="nextTo"/>
        <c:crossAx val="198922240"/>
        <c:crosses val="max"/>
        <c:crossBetween val="between"/>
      </c:valAx>
      <c:catAx>
        <c:axId val="1989222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8912256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tx1"/>
          </a:solidFill>
        </a:ln>
        <a:effectLst/>
      </c:spPr>
    </c:plotArea>
    <c:legend>
      <c:legendPos val="tr"/>
      <c:layout>
        <c:manualLayout>
          <c:xMode val="edge"/>
          <c:yMode val="edge"/>
          <c:x val="0.28491722222222227"/>
          <c:y val="4.9976851851851849E-2"/>
          <c:w val="0.68686055555555547"/>
          <c:h val="0.11652314814814815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rgbClr val="FFFFFF"/>
    </a:solidFill>
    <a:ln w="9525" cap="flat" cmpd="sng" algn="ctr">
      <a:noFill/>
      <a:round/>
    </a:ln>
    <a:effectLst/>
  </c:spPr>
  <c:txPr>
    <a:bodyPr/>
    <a:lstStyle/>
    <a:p>
      <a:pPr>
        <a:defRPr sz="19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'E:\实验室\学长论文\新修改\实验结果\[实验结果.xlsx]LRU'!$Q$27:$Q$28</c:f>
              <c:strCache>
                <c:ptCount val="1"/>
                <c:pt idx="0">
                  <c:v>SC-LRU Csnip</c:v>
                </c:pt>
              </c:strCache>
            </c:strRef>
          </c:tx>
          <c:spPr>
            <a:solidFill>
              <a:schemeClr val="accent4">
                <a:shade val="86000"/>
              </a:schemeClr>
            </a:solidFill>
            <a:ln>
              <a:solidFill>
                <a:srgbClr val="5269B2"/>
              </a:solidFill>
            </a:ln>
            <a:effectLst/>
          </c:spPr>
          <c:invertIfNegative val="0"/>
          <c:cat>
            <c:numRef>
              <c:f>[1]LRU!$O$29:$O$33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</c:numCache>
            </c:numRef>
          </c:cat>
          <c:val>
            <c:numRef>
              <c:f>[1]LRU!$Q$29:$Q$33</c:f>
              <c:numCache>
                <c:formatCode>General</c:formatCode>
                <c:ptCount val="5"/>
                <c:pt idx="0">
                  <c:v>7.6196235441233968</c:v>
                </c:pt>
                <c:pt idx="1">
                  <c:v>6.6024233763897868</c:v>
                </c:pt>
                <c:pt idx="2">
                  <c:v>5.9314242153039851</c:v>
                </c:pt>
                <c:pt idx="3">
                  <c:v>5.6529619814575867</c:v>
                </c:pt>
                <c:pt idx="4">
                  <c:v>5.4704457205732107</c:v>
                </c:pt>
              </c:numCache>
            </c:numRef>
          </c:val>
        </c:ser>
        <c:ser>
          <c:idx val="3"/>
          <c:order val="3"/>
          <c:tx>
            <c:strRef>
              <c:f>'E:\实验室\学长论文\新修改\实验结果\[实验结果.xlsx]LRU'!$S$27:$S$28</c:f>
              <c:strCache>
                <c:ptCount val="1"/>
                <c:pt idx="0">
                  <c:v>FC-LRU Csnip</c:v>
                </c:pt>
              </c:strCache>
            </c:strRef>
          </c:tx>
          <c:spPr>
            <a:solidFill>
              <a:srgbClr val="5269B2"/>
            </a:solidFill>
            <a:ln>
              <a:solidFill>
                <a:srgbClr val="5269B2"/>
              </a:solidFill>
            </a:ln>
            <a:effectLst/>
          </c:spPr>
          <c:invertIfNegative val="0"/>
          <c:cat>
            <c:numRef>
              <c:f>[1]LRU!$O$29:$O$33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</c:numCache>
            </c:numRef>
          </c:cat>
          <c:val>
            <c:numRef>
              <c:f>[1]LRU!$S$29:$S$33</c:f>
              <c:numCache>
                <c:formatCode>General</c:formatCode>
                <c:ptCount val="5"/>
                <c:pt idx="0">
                  <c:v>5.5186906996316027</c:v>
                </c:pt>
                <c:pt idx="1">
                  <c:v>5.4220595598166952</c:v>
                </c:pt>
                <c:pt idx="2">
                  <c:v>5.3294796323837295</c:v>
                </c:pt>
                <c:pt idx="3">
                  <c:v>5.3683997125049192</c:v>
                </c:pt>
                <c:pt idx="4">
                  <c:v>5.4951749029875332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9141632"/>
        <c:axId val="199143808"/>
      </c:barChart>
      <c:barChart>
        <c:barDir val="col"/>
        <c:grouping val="clustered"/>
        <c:varyColors val="0"/>
        <c:ser>
          <c:idx val="0"/>
          <c:order val="0"/>
          <c:tx>
            <c:strRef>
              <c:f>'E:\实验室\学长论文\新修改\实验结果\[实验结果.xlsx]LRU'!$P$27:$P$28</c:f>
              <c:strCache>
                <c:ptCount val="1"/>
                <c:pt idx="0">
                  <c:v>SC-LRU Cdoc</c:v>
                </c:pt>
              </c:strCache>
            </c:strRef>
          </c:tx>
          <c:spPr>
            <a:solidFill>
              <a:schemeClr val="accent4">
                <a:shade val="58000"/>
              </a:schemeClr>
            </a:solidFill>
            <a:ln>
              <a:solidFill>
                <a:srgbClr val="5269B2"/>
              </a:solidFill>
            </a:ln>
            <a:effectLst/>
          </c:spPr>
          <c:invertIfNegative val="0"/>
          <c:cat>
            <c:numRef>
              <c:f>[1]LRU!$O$29:$O$33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</c:numCache>
            </c:numRef>
          </c:cat>
          <c:val>
            <c:numRef>
              <c:f>[1]LRU!$P$29:$P$33</c:f>
              <c:numCache>
                <c:formatCode>General</c:formatCode>
                <c:ptCount val="5"/>
                <c:pt idx="0">
                  <c:v>1.8027564701412491</c:v>
                </c:pt>
                <c:pt idx="1">
                  <c:v>1.825306675673309</c:v>
                </c:pt>
                <c:pt idx="2">
                  <c:v>1.6331838779965009</c:v>
                </c:pt>
                <c:pt idx="3">
                  <c:v>1.5474979648146301</c:v>
                </c:pt>
                <c:pt idx="4">
                  <c:v>1.4797564295424108</c:v>
                </c:pt>
              </c:numCache>
            </c:numRef>
          </c:val>
        </c:ser>
        <c:ser>
          <c:idx val="2"/>
          <c:order val="2"/>
          <c:tx>
            <c:strRef>
              <c:f>'E:\实验室\学长论文\新修改\实验结果\[实验结果.xlsx]LRU'!$R$27:$R$28</c:f>
              <c:strCache>
                <c:ptCount val="1"/>
                <c:pt idx="0">
                  <c:v>FC-LRU Cdoc</c:v>
                </c:pt>
              </c:strCache>
            </c:strRef>
          </c:tx>
          <c:spPr>
            <a:solidFill>
              <a:schemeClr val="accent4">
                <a:tint val="86000"/>
              </a:schemeClr>
            </a:solidFill>
            <a:ln>
              <a:solidFill>
                <a:srgbClr val="5269B2"/>
              </a:solidFill>
            </a:ln>
            <a:effectLst/>
          </c:spPr>
          <c:invertIfNegative val="0"/>
          <c:cat>
            <c:numRef>
              <c:f>[1]LRU!$O$29:$O$33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</c:numCache>
            </c:numRef>
          </c:cat>
          <c:val>
            <c:numRef>
              <c:f>[1]LRU!$R$29:$R$33</c:f>
              <c:numCache>
                <c:formatCode>General</c:formatCode>
                <c:ptCount val="5"/>
                <c:pt idx="0">
                  <c:v>1.6110867688860402</c:v>
                </c:pt>
                <c:pt idx="1">
                  <c:v>1.7459498407599379</c:v>
                </c:pt>
                <c:pt idx="2">
                  <c:v>1.817743149116076</c:v>
                </c:pt>
                <c:pt idx="3">
                  <c:v>1.9041850779206964</c:v>
                </c:pt>
                <c:pt idx="4">
                  <c:v>2.0132208834342169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9155712"/>
        <c:axId val="199145728"/>
      </c:barChart>
      <c:catAx>
        <c:axId val="199141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9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zh-CN" sz="1800" b="0" i="0" baseline="0">
                    <a:effectLst/>
                  </a:rPr>
                  <a:t>Snippet/fragment cache size</a:t>
                </a:r>
                <a:endParaRPr lang="zh-CN" altLang="zh-CN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9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99143808"/>
        <c:crosses val="autoZero"/>
        <c:auto val="1"/>
        <c:lblAlgn val="ctr"/>
        <c:lblOffset val="100"/>
        <c:noMultiLvlLbl val="0"/>
      </c:catAx>
      <c:valAx>
        <c:axId val="199143808"/>
        <c:scaling>
          <c:orientation val="minMax"/>
          <c:max val="8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9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zh-CN" sz="1800" b="0" i="0" baseline="0">
                    <a:effectLst/>
                  </a:rPr>
                  <a:t>Avg. snippet generation time (ms)</a:t>
                </a:r>
                <a:endParaRPr lang="zh-CN" altLang="zh-CN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9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99141632"/>
        <c:crosses val="autoZero"/>
        <c:crossBetween val="between"/>
      </c:valAx>
      <c:valAx>
        <c:axId val="199145728"/>
        <c:scaling>
          <c:orientation val="minMax"/>
          <c:max val="8"/>
        </c:scaling>
        <c:delete val="1"/>
        <c:axPos val="r"/>
        <c:numFmt formatCode="General" sourceLinked="1"/>
        <c:majorTickMark val="none"/>
        <c:minorTickMark val="none"/>
        <c:tickLblPos val="nextTo"/>
        <c:crossAx val="199155712"/>
        <c:crosses val="max"/>
        <c:crossBetween val="between"/>
      </c:valAx>
      <c:catAx>
        <c:axId val="1991557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9145728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tx1"/>
          </a:solidFill>
        </a:ln>
        <a:effectLst/>
      </c:spPr>
    </c:plotArea>
    <c:legend>
      <c:legendPos val="tr"/>
      <c:layout>
        <c:manualLayout>
          <c:xMode val="edge"/>
          <c:yMode val="edge"/>
          <c:x val="0.30431999999999998"/>
          <c:y val="5.8796296296296298E-2"/>
          <c:w val="0.66745777777777782"/>
          <c:h val="0.11652314814814815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rgbClr val="FFFFFF"/>
    </a:solidFill>
    <a:ln w="9525" cap="flat" cmpd="sng" algn="ctr">
      <a:noFill/>
      <a:round/>
    </a:ln>
    <a:effectLst/>
  </c:spPr>
  <c:txPr>
    <a:bodyPr/>
    <a:lstStyle/>
    <a:p>
      <a:pPr>
        <a:defRPr sz="19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'SDC-LRU'!$B$19</c:f>
              <c:strCache>
                <c:ptCount val="1"/>
                <c:pt idx="0">
                  <c:v>DC</c:v>
                </c:pt>
              </c:strCache>
            </c:strRef>
          </c:tx>
          <c:spPr>
            <a:ln>
              <a:solidFill>
                <a:schemeClr val="bg2"/>
              </a:solidFill>
            </a:ln>
          </c:spPr>
          <c:invertIfNegative val="0"/>
          <c:cat>
            <c:numRef>
              <c:f>'SDC-LRU'!$A$20:$A$25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'SDC-LRU'!$B$20:$B$25</c:f>
              <c:numCache>
                <c:formatCode>General</c:formatCode>
                <c:ptCount val="6"/>
                <c:pt idx="0">
                  <c:v>6.4313584506231196</c:v>
                </c:pt>
                <c:pt idx="1">
                  <c:v>6.7927167145243006</c:v>
                </c:pt>
                <c:pt idx="2">
                  <c:v>6.8776159858673003</c:v>
                </c:pt>
                <c:pt idx="3">
                  <c:v>7.0360686507023802</c:v>
                </c:pt>
                <c:pt idx="4">
                  <c:v>7.1952048227894201</c:v>
                </c:pt>
                <c:pt idx="5">
                  <c:v>7.6392443542427397</c:v>
                </c:pt>
              </c:numCache>
            </c:numRef>
          </c:val>
        </c:ser>
        <c:ser>
          <c:idx val="1"/>
          <c:order val="1"/>
          <c:tx>
            <c:strRef>
              <c:f>'SDC-LRU'!$C$19</c:f>
              <c:strCache>
                <c:ptCount val="1"/>
                <c:pt idx="0">
                  <c:v>DLC</c:v>
                </c:pt>
              </c:strCache>
            </c:strRef>
          </c:tx>
          <c:spPr>
            <a:solidFill>
              <a:schemeClr val="accent4">
                <a:tint val="77000"/>
              </a:schemeClr>
            </a:solidFill>
            <a:ln>
              <a:solidFill>
                <a:srgbClr val="5269B2"/>
              </a:solidFill>
            </a:ln>
            <a:effectLst/>
          </c:spPr>
          <c:invertIfNegative val="0"/>
          <c:cat>
            <c:numRef>
              <c:f>'SDC-LRU'!$A$20:$A$25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'SDC-LRU'!$C$20:$C$25</c:f>
              <c:numCache>
                <c:formatCode>General</c:formatCode>
                <c:ptCount val="6"/>
                <c:pt idx="0">
                  <c:v>7.6133993220067806</c:v>
                </c:pt>
                <c:pt idx="1">
                  <c:v>4.0362703002521396</c:v>
                </c:pt>
                <c:pt idx="2">
                  <c:v>4.5951471644066597</c:v>
                </c:pt>
                <c:pt idx="3">
                  <c:v>5.3704045367240196</c:v>
                </c:pt>
                <c:pt idx="4">
                  <c:v>5.9434284909058599</c:v>
                </c:pt>
                <c:pt idx="5">
                  <c:v>7.6392443542427397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75164928"/>
        <c:axId val="375166848"/>
      </c:barChart>
      <c:catAx>
        <c:axId val="3751649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defRPr>
                </a:pPr>
                <a:r>
                  <a:rPr lang="zh-CN" dirty="0"/>
                  <a:t>摘要缓存 </a:t>
                </a:r>
                <a:r>
                  <a:rPr lang="en-US" dirty="0" smtClean="0"/>
                  <a:t>(</a:t>
                </a:r>
                <a:r>
                  <a:rPr lang="en-US" altLang="zh-CN" dirty="0" smtClean="0"/>
                  <a:t>S</a:t>
                </a:r>
                <a:r>
                  <a:rPr lang="en-US" dirty="0" smtClean="0"/>
                  <a:t>C</a:t>
                </a:r>
                <a:r>
                  <a:rPr lang="en-US" dirty="0"/>
                  <a:t>)</a:t>
                </a:r>
                <a:r>
                  <a:rPr lang="zh-CN" dirty="0"/>
                  <a:t>大小 </a:t>
                </a:r>
                <a:r>
                  <a:rPr lang="en-US" dirty="0"/>
                  <a:t>(%)</a:t>
                </a:r>
                <a:endParaRPr lang="zh-CN" dirty="0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pPr>
            <a:endParaRPr lang="zh-CN"/>
          </a:p>
        </c:txPr>
        <c:crossAx val="375166848"/>
        <c:crosses val="autoZero"/>
        <c:auto val="1"/>
        <c:lblAlgn val="ctr"/>
        <c:lblOffset val="100"/>
        <c:noMultiLvlLbl val="0"/>
      </c:catAx>
      <c:valAx>
        <c:axId val="375166848"/>
        <c:scaling>
          <c:orientation val="minMax"/>
          <c:max val="9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defRPr>
                </a:pPr>
                <a:r>
                  <a:rPr lang="zh-CN"/>
                  <a:t>平均文档</a:t>
                </a:r>
                <a:r>
                  <a:rPr lang="en-US"/>
                  <a:t>I/O</a:t>
                </a:r>
                <a:r>
                  <a:rPr lang="zh-CN"/>
                  <a:t>时间 </a:t>
                </a:r>
                <a:r>
                  <a:rPr lang="en-US"/>
                  <a:t>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pPr>
            <a:endParaRPr lang="zh-CN"/>
          </a:p>
        </c:txPr>
        <c:crossAx val="375164928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1032917469756508"/>
          <c:y val="6.9308113345335959E-2"/>
          <c:w val="0.28031900599581017"/>
          <c:h val="7.8873842592592586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rgbClr val="FFFFFF"/>
    </a:solidFill>
    <a:ln w="9525" cap="flat" cmpd="sng" algn="ctr">
      <a:noFill/>
      <a:round/>
    </a:ln>
    <a:effectLst/>
  </c:spPr>
  <c:txPr>
    <a:bodyPr/>
    <a:lstStyle/>
    <a:p>
      <a:pPr>
        <a:defRPr sz="1600">
          <a:solidFill>
            <a:sysClr val="windowText" lastClr="000000"/>
          </a:solidFill>
          <a:latin typeface="微软雅黑" panose="020B0503020204020204" pitchFamily="34" charset="-122"/>
          <a:ea typeface="微软雅黑" panose="020B0503020204020204" pitchFamily="34" charset="-122"/>
          <a:cs typeface="Times New Roman" panose="02020603050405020304" pitchFamily="18" charset="0"/>
        </a:defRPr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73E43-A379-4BB5-A6E2-CF501D0C3336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010BF-E3ED-4022-8DD6-947213C3C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780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4E51A-69D8-425D-A366-AAC584F8F50F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15853-6D4D-4285-9BAE-B3F9C5535A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90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6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316" algn="l" defTabSz="12186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633" algn="l" defTabSz="12186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7950" algn="l" defTabSz="12186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264" algn="l" defTabSz="12186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6582" algn="l" defTabSz="12186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5898" algn="l" defTabSz="12186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5213" algn="l" defTabSz="12186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4532" algn="l" defTabSz="12186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83633-26CA-4EE3-A5AF-CD25BCB2EF3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100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435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83633-26CA-4EE3-A5AF-CD25BCB2EF3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457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516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41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096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226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83633-26CA-4EE3-A5AF-CD25BCB2EF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905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404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337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337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337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308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412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412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412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066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83633-26CA-4EE3-A5AF-CD25BCB2EF3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457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网络服务器（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 Servers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整个系统中直接与用户请求交互的最前端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担负着协调整个查询处理 过程的任务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查询结果缓存（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Query Result Cache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QRC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将一些过往的查询的结果放入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QRC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中，当下次再有用户发起同样的查询时，就可以省去在索引服务器和文档服务器上的一系列操作和计算，直接将该结果返回 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一次查询命中可以节省硬盘访问时间、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计算时间、服务器之间的网络传输时间。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索引服务器（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Index Servers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为给定的查询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计算出最相关的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个文档 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倒排索引缓存（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Posting List Cache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2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将某些频繁查询词对应的索引列表保存在服务器主存中，避免多次重复读取 。</a:t>
            </a:r>
          </a:p>
          <a:p>
            <a:pPr lvl="2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一次查询命中可以节省硬盘访问时间。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文档服务器（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Document Servers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针对查询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和文档生成结果摘要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摘要缓存（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Snippet Cache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保存一些之前生成过的、且该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&lt;q, d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请求频率足够高的摘要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(q, d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一次查询命中可以节省硬盘访问时间和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计算时间。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文档缓存（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Document Cache, DC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缓存被高频使用的文档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一次查询命中可以节省硬盘访问时间。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图为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不同长度的倒排索引在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HDD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上的获取时间对比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图为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不同长度的倒排索引在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HDD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上的获取时间对比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在整个搜索引擎的查询处理过程中，结果摘要的生成（文档服务器所负责的工作）是一个耗时相对较多的操作。</a:t>
            </a:r>
            <a:endParaRPr lang="en-US" altLang="zh-CN" sz="105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摘要生成的时间代价：</a:t>
            </a:r>
            <a:endParaRPr lang="en-US" altLang="zh-CN" sz="18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800" baseline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对文档进行获取的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代价（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 retrieval time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600" baseline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进行字符串匹配生成摘要及高亮的计算代价 （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Snippet generation time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1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</a:t>
            </a:r>
            <a:r>
              <a:rPr lang="en-US" altLang="zh-CN" sz="1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HDD</a:t>
            </a:r>
            <a:r>
              <a:rPr lang="zh-CN" altLang="en-US" sz="1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以后，</a:t>
            </a:r>
            <a:r>
              <a:rPr lang="en-US" altLang="zh-CN" sz="1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1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时间得到了大幅度地缩短，摘要生成的计算时间成了文档服务器的新的性能瓶颈。</a:t>
            </a:r>
            <a:endParaRPr lang="en-US" altLang="zh-CN" sz="18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所以我们在文档服务器上对基于</a:t>
            </a: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的搜索引擎系统进行优化：</a:t>
            </a: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Compact Snippet Caching for Flash-based Search Engines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105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5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优化的主要目的在于减少摘要生成计算操作的次数</a:t>
            </a:r>
            <a:endParaRPr lang="en-US" altLang="zh-CN" sz="105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05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希望通过提高</a:t>
            </a:r>
            <a:r>
              <a:rPr lang="en-US" altLang="zh-CN" sz="105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en-US" sz="105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的有效性（在有限的空间内，缓存更多的摘要计算结果）来使文档服务器获得更好的性能</a:t>
            </a:r>
            <a:endParaRPr lang="en-US" altLang="zh-CN" sz="105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05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优化的方法是利用字典压缩的思想，对摘要结果进行紧缩式的存储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>
                  <a:lnSpc>
                    <a:spcPct val="150000"/>
                  </a:lnSpc>
                </a:pPr>
                <a:r>
                  <a:rPr lang="zh-CN" altLang="en-US" sz="18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摘要的紧缩式缓存方法</a:t>
                </a:r>
                <a:endParaRPr lang="en-US" altLang="zh-CN" sz="18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采用一种相对位置（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relative location representation</a:t>
                </a: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）的表示方法。</a:t>
                </a:r>
                <a:endParaRPr lang="en-US" altLang="zh-CN" sz="1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不对整个摘要结果进行缓存，而只是存储摘要的一些元信息（摘要片段及高亮词在文档中的位置信息），我们将表示这种信息的数据结构称作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𝐹𝑟𝑎𝑔𝑚𝑒𝑛𝑡</m:t>
                    </m:r>
                  </m:oMath>
                </a14:m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，将对这种数据结构进行存储的缓存称为精简摘要缓存（</a:t>
                </a:r>
                <a:r>
                  <a:rPr lang="en-US" altLang="zh-CN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Fragment Cache</a:t>
                </a: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FC</a:t>
                </a: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）。</a:t>
                </a:r>
                <a:endParaRPr lang="en-US" altLang="zh-CN" sz="1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减少每条摘要结果在缓存中所占的空间，达到在有限的缓存空间中存储更多摘要结果的目的。</a:t>
                </a:r>
                <a:endParaRPr lang="en-US" altLang="zh-CN" sz="1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>
                  <a:lnSpc>
                    <a:spcPct val="150000"/>
                  </a:lnSpc>
                </a:pPr>
                <a:r>
                  <a:rPr lang="zh-CN" altLang="en-US" sz="18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摘要的紧缩式缓存方法</a:t>
                </a:r>
                <a:endParaRPr lang="en-US" altLang="zh-CN" sz="18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采用一种相对位置（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relative location representation</a:t>
                </a: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）的表示方法。</a:t>
                </a:r>
                <a:endParaRPr lang="en-US" altLang="zh-CN" sz="1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不对整个摘要结果进行缓存，而只是存储摘要的一些元信息（摘要片段及高亮词在文档中的位置信息），我们将表示这种信息的数据结构称作</a:t>
                </a:r>
                <a:r>
                  <a:rPr lang="en-US" altLang="zh-CN" sz="1600" i="0" dirty="0" smtClean="0">
                    <a:solidFill>
                      <a:prstClr val="black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𝐹𝑟𝑎𝑔𝑚𝑒𝑛𝑡</a:t>
                </a: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，将对这种数据结构进行存储的缓存称为精简摘要缓存（</a:t>
                </a:r>
                <a:r>
                  <a:rPr lang="en-US" altLang="zh-CN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Fragment Cache</a:t>
                </a: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FC</a:t>
                </a: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）。</a:t>
                </a:r>
                <a:endParaRPr lang="en-US" altLang="zh-CN" sz="1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减少每条摘要结果在缓存中所占的空间，达到在有限的缓存空间中存储更多摘要结果的目的。</a:t>
                </a:r>
                <a:endParaRPr lang="en-US" altLang="zh-CN" sz="1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Snippet Processing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原有的方法中，首先查询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和文档编号</a:t>
            </a:r>
            <a:r>
              <a:rPr lang="en-US" altLang="zh-CN" sz="20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DocID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中进行查询，若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命中，则直接将缓存命中结果返回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未命中才进行文档的获取及摘要的计算生成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的命中可以节省文档获取时间和摘要生成的计算时间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Fragment Processing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首先对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进行查询，若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命中，仍需进行文档获取，利用文档和缓存命中的精简摘要进行摘要恢复的操作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未命中，则进行文档获取和摘要生成计算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命中只能节省摘要生成计算时间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文档集合：</a:t>
            </a:r>
            <a:r>
              <a:rPr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搜狗实验室爬取的</a:t>
            </a:r>
            <a:r>
              <a:rPr lang="en-US" altLang="zh-CN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12M</a:t>
            </a:r>
            <a:r>
              <a:rPr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的网页集合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查询记录：</a:t>
            </a:r>
            <a:r>
              <a:rPr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搜狗搜索引擎的</a:t>
            </a:r>
            <a:r>
              <a:rPr lang="en-US" altLang="zh-CN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百万条的真实查询记录（其中前一百万条被用作训练集，对缓存进行填充和预热，另外一百万条被用作测试集，进行缓存性能测试）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/>
          </a:p>
          <a:p>
            <a:r>
              <a:rPr lang="zh-CN" altLang="en-US" dirty="0" smtClean="0"/>
              <a:t>我们将文档服务器响应时间分为</a:t>
            </a:r>
            <a:r>
              <a:rPr lang="en-US" altLang="zh-CN" dirty="0" err="1" smtClean="0"/>
              <a:t>Cdoc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Csnip</a:t>
            </a:r>
            <a:r>
              <a:rPr lang="zh-CN" altLang="en-US" dirty="0" smtClean="0"/>
              <a:t>两部分，其中</a:t>
            </a:r>
            <a:r>
              <a:rPr lang="en-US" altLang="zh-CN" dirty="0" err="1" smtClean="0"/>
              <a:t>Cdoc</a:t>
            </a:r>
            <a:r>
              <a:rPr lang="zh-CN" altLang="en-US" dirty="0" smtClean="0"/>
              <a:t>为获取文档时间，</a:t>
            </a:r>
            <a:r>
              <a:rPr lang="en-US" altLang="zh-CN" dirty="0" err="1" smtClean="0"/>
              <a:t>Csnip</a:t>
            </a:r>
            <a:r>
              <a:rPr lang="zh-CN" altLang="en-US" dirty="0" smtClean="0"/>
              <a:t>为计算生成摘要时间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文档集合：</a:t>
            </a:r>
            <a:r>
              <a:rPr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搜狗实验室爬取的</a:t>
            </a:r>
            <a:r>
              <a:rPr lang="en-US" altLang="zh-CN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12M</a:t>
            </a:r>
            <a:r>
              <a:rPr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的网页集合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查询记录：</a:t>
            </a:r>
            <a:r>
              <a:rPr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搜狗搜索引擎的</a:t>
            </a:r>
            <a:r>
              <a:rPr lang="en-US" altLang="zh-CN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百万条的真实查询记录（其中前一百万条被用作训练集，对缓存进行填充和预热，另外一百万条被用作测试集，进行缓存性能测试）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/>
          </a:p>
          <a:p>
            <a:r>
              <a:rPr lang="zh-CN" altLang="en-US" dirty="0" smtClean="0"/>
              <a:t>我们将文档服务器响应时间分为</a:t>
            </a:r>
            <a:r>
              <a:rPr lang="en-US" altLang="zh-CN" dirty="0" err="1" smtClean="0"/>
              <a:t>Cdoc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Csnip</a:t>
            </a:r>
            <a:r>
              <a:rPr lang="zh-CN" altLang="en-US" dirty="0" smtClean="0"/>
              <a:t>两部分，其中</a:t>
            </a:r>
            <a:r>
              <a:rPr lang="en-US" altLang="zh-CN" dirty="0" err="1" smtClean="0"/>
              <a:t>Cdoc</a:t>
            </a:r>
            <a:r>
              <a:rPr lang="zh-CN" altLang="en-US" dirty="0" smtClean="0"/>
              <a:t>为获取文档时间，</a:t>
            </a:r>
            <a:r>
              <a:rPr lang="en-US" altLang="zh-CN" dirty="0" err="1" smtClean="0"/>
              <a:t>Csnip</a:t>
            </a:r>
            <a:r>
              <a:rPr lang="zh-CN" altLang="en-US" dirty="0" smtClean="0"/>
              <a:t>为计算生成摘要时间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这里使用的是</a:t>
            </a:r>
            <a:r>
              <a:rPr lang="en-US" altLang="zh-CN" dirty="0" smtClean="0"/>
              <a:t>truncated document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231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83633-26CA-4EE3-A5AF-CD25BCB2EF3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5688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0648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48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48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48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48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482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48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48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15853-6D4D-4285-9BAE-B3F9C5535A65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482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83633-26CA-4EE3-A5AF-CD25BCB2EF3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91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91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453B8675-3972-4FBE-8991-0149DABF2795}"/>
              </a:ext>
            </a:extLst>
          </p:cNvPr>
          <p:cNvCxnSpPr/>
          <p:nvPr userDrawn="1"/>
        </p:nvCxnSpPr>
        <p:spPr>
          <a:xfrm>
            <a:off x="551384" y="692696"/>
            <a:ext cx="10513168" cy="0"/>
          </a:xfrm>
          <a:prstGeom prst="line">
            <a:avLst/>
          </a:prstGeom>
          <a:ln w="15875">
            <a:solidFill>
              <a:srgbClr val="27B3C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8">
            <a:extLst>
              <a:ext uri="{FF2B5EF4-FFF2-40B4-BE49-F238E27FC236}">
                <a16:creationId xmlns:a16="http://schemas.microsoft.com/office/drawing/2014/main" xmlns="" id="{73FB15AA-E6AD-4079-AD55-A4C6CCF6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67" y="188640"/>
            <a:ext cx="4583853" cy="720080"/>
          </a:xfrm>
          <a:prstGeom prst="rect">
            <a:avLst/>
          </a:prstGeom>
        </p:spPr>
        <p:txBody>
          <a:bodyPr/>
          <a:lstStyle>
            <a:lvl1pPr algn="l">
              <a:defRPr lang="zh-CN" altLang="en-US" sz="2400" kern="1200" dirty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B11237C1-3D16-4360-9879-10BAB551DA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73" r="5398"/>
          <a:stretch/>
        </p:blipFill>
        <p:spPr>
          <a:xfrm flipH="1">
            <a:off x="-773258" y="-1539552"/>
            <a:ext cx="1900706" cy="270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7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65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1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95FC270-55C9-4A20-A67A-3DE973D1FE95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5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1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8961FD41-A0E4-414C-A973-C8EC8DF1B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5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/>
          <a:srcRect l="7599" t="18020" r="9499" b="1530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66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43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</p:sldLayoutIdLst>
  <p:txStyles>
    <p:titleStyle>
      <a:lvl1pPr algn="ctr" defTabSz="1119912" rtl="0" eaLnBrk="1" latinLnBrk="0" hangingPunct="1">
        <a:spcBef>
          <a:spcPct val="0"/>
        </a:spcBef>
        <a:buNone/>
        <a:defRPr sz="5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9968" indent="-419968" algn="l" defTabSz="1119912" rtl="0" eaLnBrk="1" latinLnBrk="0" hangingPunct="1">
        <a:spcBef>
          <a:spcPct val="20000"/>
        </a:spcBef>
        <a:buFont typeface="Arial" pitchFamily="34" charset="0"/>
        <a:buChar char="•"/>
        <a:defRPr sz="3921" kern="1200">
          <a:solidFill>
            <a:schemeClr val="tx1"/>
          </a:solidFill>
          <a:latin typeface="+mn-lt"/>
          <a:ea typeface="+mn-ea"/>
          <a:cs typeface="+mn-cs"/>
        </a:defRPr>
      </a:lvl1pPr>
      <a:lvl2pPr marL="909928" indent="-349973" algn="l" defTabSz="1119912" rtl="0" eaLnBrk="1" latinLnBrk="0" hangingPunct="1">
        <a:spcBef>
          <a:spcPct val="20000"/>
        </a:spcBef>
        <a:buFont typeface="Arial" pitchFamily="34" charset="0"/>
        <a:buChar char="–"/>
        <a:defRPr sz="3429" kern="1200">
          <a:solidFill>
            <a:schemeClr val="tx1"/>
          </a:solidFill>
          <a:latin typeface="+mn-lt"/>
          <a:ea typeface="+mn-ea"/>
          <a:cs typeface="+mn-cs"/>
        </a:defRPr>
      </a:lvl2pPr>
      <a:lvl3pPr marL="1399892" indent="-279979" algn="l" defTabSz="1119912" rtl="0" eaLnBrk="1" latinLnBrk="0" hangingPunct="1">
        <a:spcBef>
          <a:spcPct val="20000"/>
        </a:spcBef>
        <a:buFont typeface="Arial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3pPr>
      <a:lvl4pPr marL="1959847" indent="-279979" algn="l" defTabSz="1119912" rtl="0" eaLnBrk="1" latinLnBrk="0" hangingPunct="1">
        <a:spcBef>
          <a:spcPct val="20000"/>
        </a:spcBef>
        <a:buFont typeface="Arial" pitchFamily="34" charset="0"/>
        <a:buChar char="–"/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519802" indent="-279979" algn="l" defTabSz="1119912" rtl="0" eaLnBrk="1" latinLnBrk="0" hangingPunct="1">
        <a:spcBef>
          <a:spcPct val="20000"/>
        </a:spcBef>
        <a:buFont typeface="Arial" pitchFamily="34" charset="0"/>
        <a:buChar char="»"/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079759" indent="-279979" algn="l" defTabSz="1119912" rtl="0" eaLnBrk="1" latinLnBrk="0" hangingPunct="1">
        <a:spcBef>
          <a:spcPct val="20000"/>
        </a:spcBef>
        <a:buFont typeface="Arial" pitchFamily="34" charset="0"/>
        <a:buChar char="•"/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639716" indent="-279979" algn="l" defTabSz="1119912" rtl="0" eaLnBrk="1" latinLnBrk="0" hangingPunct="1">
        <a:spcBef>
          <a:spcPct val="20000"/>
        </a:spcBef>
        <a:buFont typeface="Arial" pitchFamily="34" charset="0"/>
        <a:buChar char="•"/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199671" indent="-279979" algn="l" defTabSz="1119912" rtl="0" eaLnBrk="1" latinLnBrk="0" hangingPunct="1">
        <a:spcBef>
          <a:spcPct val="20000"/>
        </a:spcBef>
        <a:buFont typeface="Arial" pitchFamily="34" charset="0"/>
        <a:buChar char="•"/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759627" indent="-279979" algn="l" defTabSz="1119912" rtl="0" eaLnBrk="1" latinLnBrk="0" hangingPunct="1">
        <a:spcBef>
          <a:spcPct val="20000"/>
        </a:spcBef>
        <a:buFont typeface="Arial" pitchFamily="34" charset="0"/>
        <a:buChar char="•"/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9912" rtl="0" eaLnBrk="1" latinLnBrk="0" hangingPunct="1"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59957" algn="l" defTabSz="1119912" rtl="0" eaLnBrk="1" latinLnBrk="0" hangingPunct="1"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1119912" algn="l" defTabSz="1119912" rtl="0" eaLnBrk="1" latinLnBrk="0" hangingPunct="1"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679869" algn="l" defTabSz="1119912" rtl="0" eaLnBrk="1" latinLnBrk="0" hangingPunct="1">
        <a:defRPr sz="2205" kern="1200">
          <a:solidFill>
            <a:schemeClr val="tx1"/>
          </a:solidFill>
          <a:latin typeface="+mn-lt"/>
          <a:ea typeface="+mn-ea"/>
          <a:cs typeface="+mn-cs"/>
        </a:defRPr>
      </a:lvl4pPr>
      <a:lvl5pPr marL="2239824" algn="l" defTabSz="1119912" rtl="0" eaLnBrk="1" latinLnBrk="0" hangingPunct="1">
        <a:defRPr sz="2205" kern="1200">
          <a:solidFill>
            <a:schemeClr val="tx1"/>
          </a:solidFill>
          <a:latin typeface="+mn-lt"/>
          <a:ea typeface="+mn-ea"/>
          <a:cs typeface="+mn-cs"/>
        </a:defRPr>
      </a:lvl5pPr>
      <a:lvl6pPr marL="2799780" algn="l" defTabSz="1119912" rtl="0" eaLnBrk="1" latinLnBrk="0" hangingPunct="1">
        <a:defRPr sz="2205" kern="1200">
          <a:solidFill>
            <a:schemeClr val="tx1"/>
          </a:solidFill>
          <a:latin typeface="+mn-lt"/>
          <a:ea typeface="+mn-ea"/>
          <a:cs typeface="+mn-cs"/>
        </a:defRPr>
      </a:lvl6pPr>
      <a:lvl7pPr marL="3359737" algn="l" defTabSz="1119912" rtl="0" eaLnBrk="1" latinLnBrk="0" hangingPunct="1">
        <a:defRPr sz="2205" kern="1200">
          <a:solidFill>
            <a:schemeClr val="tx1"/>
          </a:solidFill>
          <a:latin typeface="+mn-lt"/>
          <a:ea typeface="+mn-ea"/>
          <a:cs typeface="+mn-cs"/>
        </a:defRPr>
      </a:lvl7pPr>
      <a:lvl8pPr marL="3919692" algn="l" defTabSz="1119912" rtl="0" eaLnBrk="1" latinLnBrk="0" hangingPunct="1">
        <a:defRPr sz="2205" kern="1200">
          <a:solidFill>
            <a:schemeClr val="tx1"/>
          </a:solidFill>
          <a:latin typeface="+mn-lt"/>
          <a:ea typeface="+mn-ea"/>
          <a:cs typeface="+mn-cs"/>
        </a:defRPr>
      </a:lvl8pPr>
      <a:lvl9pPr marL="4479649" algn="l" defTabSz="1119912" rtl="0" eaLnBrk="1" latinLnBrk="0" hangingPunct="1">
        <a:defRPr sz="2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Visio___1.vsd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tm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mp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mp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mp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tmp"/><Relationship Id="rId5" Type="http://schemas.openxmlformats.org/officeDocument/2006/relationships/image" Target="../media/image51.png"/><Relationship Id="rId4" Type="http://schemas.openxmlformats.org/officeDocument/2006/relationships/image" Target="../media/image50.tmp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mp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3.emf"/><Relationship Id="rId4" Type="http://schemas.openxmlformats.org/officeDocument/2006/relationships/package" Target="../embeddings/Microsoft_Visio___4.vsdx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mp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tmp"/><Relationship Id="rId4" Type="http://schemas.openxmlformats.org/officeDocument/2006/relationships/image" Target="../media/image55.tmp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矩形 693"/>
          <p:cNvSpPr/>
          <p:nvPr/>
        </p:nvSpPr>
        <p:spPr>
          <a:xfrm>
            <a:off x="1393372" y="1338939"/>
            <a:ext cx="2859314" cy="4033157"/>
          </a:xfrm>
          <a:prstGeom prst="rect">
            <a:avLst/>
          </a:prstGeom>
          <a:noFill/>
          <a:ln w="19050">
            <a:solidFill>
              <a:srgbClr val="28B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5" name="矩形 694"/>
          <p:cNvSpPr/>
          <p:nvPr/>
        </p:nvSpPr>
        <p:spPr>
          <a:xfrm>
            <a:off x="3865185" y="2853335"/>
            <a:ext cx="1248229" cy="2086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7" name="文本框 696"/>
          <p:cNvSpPr txBox="1"/>
          <p:nvPr/>
        </p:nvSpPr>
        <p:spPr>
          <a:xfrm>
            <a:off x="1391095" y="2900037"/>
            <a:ext cx="71787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基于新型存储设备的搜索引擎性能优化</a:t>
            </a:r>
            <a:endParaRPr lang="zh-CN" altLang="en-US" sz="4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03" name="图片 702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73" r="5398"/>
          <a:stretch/>
        </p:blipFill>
        <p:spPr>
          <a:xfrm>
            <a:off x="8122255" y="-1"/>
            <a:ext cx="4069745" cy="5800077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xmlns="" id="{837F4880-9226-4A21-8BA4-89D88282A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143" y="4492453"/>
            <a:ext cx="455315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刘欣瑀</a:t>
            </a:r>
            <a:endParaRPr lang="zh-CN" altLang="en-US" sz="1800" dirty="0">
              <a:solidFill>
                <a:schemeClr val="tx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388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392"/>
    </mc:Choice>
    <mc:Fallback xmlns="">
      <p:transition advTm="9392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xmlns="" id="{0D3C0C68-1AA1-491A-87C4-83E9F0EEC25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73" r="5398"/>
          <a:stretch/>
        </p:blipFill>
        <p:spPr>
          <a:xfrm flipH="1">
            <a:off x="-35863" y="-2089361"/>
            <a:ext cx="4069745" cy="5800077"/>
          </a:xfrm>
          <a:prstGeom prst="rect">
            <a:avLst/>
          </a:prstGeom>
        </p:spPr>
      </p:pic>
      <p:sp>
        <p:nvSpPr>
          <p:cNvPr id="42" name="任意多边形 41"/>
          <p:cNvSpPr/>
          <p:nvPr/>
        </p:nvSpPr>
        <p:spPr>
          <a:xfrm>
            <a:off x="6118403" y="1117482"/>
            <a:ext cx="5245449" cy="832457"/>
          </a:xfrm>
          <a:custGeom>
            <a:avLst/>
            <a:gdLst>
              <a:gd name="connsiteX0" fmla="*/ 4829221 w 5245449"/>
              <a:gd name="connsiteY0" fmla="*/ 0 h 832457"/>
              <a:gd name="connsiteX1" fmla="*/ 4906100 w 5245449"/>
              <a:gd name="connsiteY1" fmla="*/ 31843 h 832457"/>
              <a:gd name="connsiteX2" fmla="*/ 5213606 w 5245449"/>
              <a:gd name="connsiteY2" fmla="*/ 339349 h 832457"/>
              <a:gd name="connsiteX3" fmla="*/ 5213606 w 5245449"/>
              <a:gd name="connsiteY3" fmla="*/ 493107 h 832457"/>
              <a:gd name="connsiteX4" fmla="*/ 4906100 w 5245449"/>
              <a:gd name="connsiteY4" fmla="*/ 800613 h 832457"/>
              <a:gd name="connsiteX5" fmla="*/ 4829221 w 5245449"/>
              <a:gd name="connsiteY5" fmla="*/ 832457 h 832457"/>
              <a:gd name="connsiteX6" fmla="*/ 4824536 w 5245449"/>
              <a:gd name="connsiteY6" fmla="*/ 831545 h 832457"/>
              <a:gd name="connsiteX7" fmla="*/ 4824536 w 5245449"/>
              <a:gd name="connsiteY7" fmla="*/ 832028 h 832457"/>
              <a:gd name="connsiteX8" fmla="*/ 0 w 5245449"/>
              <a:gd name="connsiteY8" fmla="*/ 832028 h 832457"/>
              <a:gd name="connsiteX9" fmla="*/ 0 w 5245449"/>
              <a:gd name="connsiteY9" fmla="*/ 428 h 832457"/>
              <a:gd name="connsiteX10" fmla="*/ 4824536 w 5245449"/>
              <a:gd name="connsiteY10" fmla="*/ 428 h 832457"/>
              <a:gd name="connsiteX11" fmla="*/ 4824536 w 5245449"/>
              <a:gd name="connsiteY11" fmla="*/ 912 h 832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45449" h="832457">
                <a:moveTo>
                  <a:pt x="4829221" y="0"/>
                </a:moveTo>
                <a:cubicBezTo>
                  <a:pt x="4857045" y="0"/>
                  <a:pt x="4884869" y="10614"/>
                  <a:pt x="4906100" y="31843"/>
                </a:cubicBezTo>
                <a:lnTo>
                  <a:pt x="5213606" y="339349"/>
                </a:lnTo>
                <a:cubicBezTo>
                  <a:pt x="5256064" y="381809"/>
                  <a:pt x="5256064" y="450647"/>
                  <a:pt x="5213606" y="493107"/>
                </a:cubicBezTo>
                <a:lnTo>
                  <a:pt x="4906100" y="800613"/>
                </a:lnTo>
                <a:cubicBezTo>
                  <a:pt x="4884870" y="821842"/>
                  <a:pt x="4857046" y="832457"/>
                  <a:pt x="4829221" y="832457"/>
                </a:cubicBezTo>
                <a:lnTo>
                  <a:pt x="4824536" y="831545"/>
                </a:lnTo>
                <a:lnTo>
                  <a:pt x="4824536" y="832028"/>
                </a:lnTo>
                <a:lnTo>
                  <a:pt x="0" y="832028"/>
                </a:lnTo>
                <a:lnTo>
                  <a:pt x="0" y="428"/>
                </a:lnTo>
                <a:lnTo>
                  <a:pt x="4824536" y="428"/>
                </a:lnTo>
                <a:lnTo>
                  <a:pt x="4824536" y="912"/>
                </a:lnTo>
                <a:close/>
              </a:path>
            </a:pathLst>
          </a:custGeom>
          <a:solidFill>
            <a:srgbClr val="27B3C6"/>
          </a:solidFill>
          <a:ln w="12700">
            <a:solidFill>
              <a:srgbClr val="27B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任意多边形 43"/>
          <p:cNvSpPr/>
          <p:nvPr/>
        </p:nvSpPr>
        <p:spPr>
          <a:xfrm>
            <a:off x="6118403" y="3002337"/>
            <a:ext cx="5245449" cy="1139407"/>
          </a:xfrm>
          <a:custGeom>
            <a:avLst/>
            <a:gdLst>
              <a:gd name="connsiteX0" fmla="*/ 4829221 w 5245449"/>
              <a:gd name="connsiteY0" fmla="*/ 0 h 832457"/>
              <a:gd name="connsiteX1" fmla="*/ 4906100 w 5245449"/>
              <a:gd name="connsiteY1" fmla="*/ 31843 h 832457"/>
              <a:gd name="connsiteX2" fmla="*/ 5213606 w 5245449"/>
              <a:gd name="connsiteY2" fmla="*/ 339350 h 832457"/>
              <a:gd name="connsiteX3" fmla="*/ 5213606 w 5245449"/>
              <a:gd name="connsiteY3" fmla="*/ 493107 h 832457"/>
              <a:gd name="connsiteX4" fmla="*/ 4906100 w 5245449"/>
              <a:gd name="connsiteY4" fmla="*/ 800613 h 832457"/>
              <a:gd name="connsiteX5" fmla="*/ 4829221 w 5245449"/>
              <a:gd name="connsiteY5" fmla="*/ 832457 h 832457"/>
              <a:gd name="connsiteX6" fmla="*/ 4824536 w 5245449"/>
              <a:gd name="connsiteY6" fmla="*/ 831545 h 832457"/>
              <a:gd name="connsiteX7" fmla="*/ 4824536 w 5245449"/>
              <a:gd name="connsiteY7" fmla="*/ 832028 h 832457"/>
              <a:gd name="connsiteX8" fmla="*/ 0 w 5245449"/>
              <a:gd name="connsiteY8" fmla="*/ 832028 h 832457"/>
              <a:gd name="connsiteX9" fmla="*/ 0 w 5245449"/>
              <a:gd name="connsiteY9" fmla="*/ 428 h 832457"/>
              <a:gd name="connsiteX10" fmla="*/ 4824536 w 5245449"/>
              <a:gd name="connsiteY10" fmla="*/ 428 h 832457"/>
              <a:gd name="connsiteX11" fmla="*/ 4824536 w 5245449"/>
              <a:gd name="connsiteY11" fmla="*/ 912 h 832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45449" h="832457">
                <a:moveTo>
                  <a:pt x="4829221" y="0"/>
                </a:moveTo>
                <a:cubicBezTo>
                  <a:pt x="4857045" y="0"/>
                  <a:pt x="4884871" y="10614"/>
                  <a:pt x="4906100" y="31843"/>
                </a:cubicBezTo>
                <a:lnTo>
                  <a:pt x="5213606" y="339350"/>
                </a:lnTo>
                <a:cubicBezTo>
                  <a:pt x="5256064" y="381809"/>
                  <a:pt x="5256064" y="450647"/>
                  <a:pt x="5213606" y="493107"/>
                </a:cubicBezTo>
                <a:lnTo>
                  <a:pt x="4906100" y="800613"/>
                </a:lnTo>
                <a:cubicBezTo>
                  <a:pt x="4884870" y="821842"/>
                  <a:pt x="4857046" y="832457"/>
                  <a:pt x="4829221" y="832457"/>
                </a:cubicBezTo>
                <a:lnTo>
                  <a:pt x="4824536" y="831545"/>
                </a:lnTo>
                <a:lnTo>
                  <a:pt x="4824536" y="832028"/>
                </a:lnTo>
                <a:lnTo>
                  <a:pt x="0" y="832028"/>
                </a:lnTo>
                <a:lnTo>
                  <a:pt x="0" y="428"/>
                </a:lnTo>
                <a:lnTo>
                  <a:pt x="4824536" y="428"/>
                </a:lnTo>
                <a:lnTo>
                  <a:pt x="4824536" y="912"/>
                </a:lnTo>
                <a:close/>
              </a:path>
            </a:pathLst>
          </a:custGeom>
          <a:solidFill>
            <a:srgbClr val="27B3C6"/>
          </a:solidFill>
          <a:ln w="12700">
            <a:solidFill>
              <a:srgbClr val="27B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 50"/>
          <p:cNvSpPr/>
          <p:nvPr/>
        </p:nvSpPr>
        <p:spPr>
          <a:xfrm>
            <a:off x="6113718" y="4221498"/>
            <a:ext cx="5245449" cy="832457"/>
          </a:xfrm>
          <a:custGeom>
            <a:avLst/>
            <a:gdLst>
              <a:gd name="connsiteX0" fmla="*/ 4829221 w 5245449"/>
              <a:gd name="connsiteY0" fmla="*/ 0 h 832457"/>
              <a:gd name="connsiteX1" fmla="*/ 4906100 w 5245449"/>
              <a:gd name="connsiteY1" fmla="*/ 31844 h 832457"/>
              <a:gd name="connsiteX2" fmla="*/ 5213606 w 5245449"/>
              <a:gd name="connsiteY2" fmla="*/ 339350 h 832457"/>
              <a:gd name="connsiteX3" fmla="*/ 5213606 w 5245449"/>
              <a:gd name="connsiteY3" fmla="*/ 493107 h 832457"/>
              <a:gd name="connsiteX4" fmla="*/ 4906100 w 5245449"/>
              <a:gd name="connsiteY4" fmla="*/ 800613 h 832457"/>
              <a:gd name="connsiteX5" fmla="*/ 4829221 w 5245449"/>
              <a:gd name="connsiteY5" fmla="*/ 832457 h 832457"/>
              <a:gd name="connsiteX6" fmla="*/ 4824536 w 5245449"/>
              <a:gd name="connsiteY6" fmla="*/ 831545 h 832457"/>
              <a:gd name="connsiteX7" fmla="*/ 4824536 w 5245449"/>
              <a:gd name="connsiteY7" fmla="*/ 832028 h 832457"/>
              <a:gd name="connsiteX8" fmla="*/ 0 w 5245449"/>
              <a:gd name="connsiteY8" fmla="*/ 832028 h 832457"/>
              <a:gd name="connsiteX9" fmla="*/ 0 w 5245449"/>
              <a:gd name="connsiteY9" fmla="*/ 428 h 832457"/>
              <a:gd name="connsiteX10" fmla="*/ 4824536 w 5245449"/>
              <a:gd name="connsiteY10" fmla="*/ 428 h 832457"/>
              <a:gd name="connsiteX11" fmla="*/ 4824536 w 5245449"/>
              <a:gd name="connsiteY11" fmla="*/ 912 h 832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45449" h="832457">
                <a:moveTo>
                  <a:pt x="4829221" y="0"/>
                </a:moveTo>
                <a:cubicBezTo>
                  <a:pt x="4857045" y="0"/>
                  <a:pt x="4884869" y="10614"/>
                  <a:pt x="4906100" y="31844"/>
                </a:cubicBezTo>
                <a:lnTo>
                  <a:pt x="5213606" y="339350"/>
                </a:lnTo>
                <a:cubicBezTo>
                  <a:pt x="5256064" y="381809"/>
                  <a:pt x="5256064" y="450647"/>
                  <a:pt x="5213606" y="493107"/>
                </a:cubicBezTo>
                <a:lnTo>
                  <a:pt x="4906100" y="800613"/>
                </a:lnTo>
                <a:cubicBezTo>
                  <a:pt x="4884870" y="821842"/>
                  <a:pt x="4857046" y="832457"/>
                  <a:pt x="4829221" y="832457"/>
                </a:cubicBezTo>
                <a:lnTo>
                  <a:pt x="4824536" y="831545"/>
                </a:lnTo>
                <a:lnTo>
                  <a:pt x="4824536" y="832028"/>
                </a:lnTo>
                <a:lnTo>
                  <a:pt x="0" y="832028"/>
                </a:lnTo>
                <a:lnTo>
                  <a:pt x="0" y="428"/>
                </a:lnTo>
                <a:lnTo>
                  <a:pt x="4824536" y="428"/>
                </a:lnTo>
                <a:lnTo>
                  <a:pt x="4824536" y="912"/>
                </a:lnTo>
                <a:close/>
              </a:path>
            </a:pathLst>
          </a:custGeom>
          <a:solidFill>
            <a:srgbClr val="27B3C6"/>
          </a:solidFill>
          <a:ln w="12700">
            <a:solidFill>
              <a:srgbClr val="27B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 42"/>
          <p:cNvSpPr/>
          <p:nvPr/>
        </p:nvSpPr>
        <p:spPr>
          <a:xfrm>
            <a:off x="6118403" y="2059908"/>
            <a:ext cx="5245449" cy="832457"/>
          </a:xfrm>
          <a:custGeom>
            <a:avLst/>
            <a:gdLst>
              <a:gd name="connsiteX0" fmla="*/ 4829221 w 5245449"/>
              <a:gd name="connsiteY0" fmla="*/ 0 h 832457"/>
              <a:gd name="connsiteX1" fmla="*/ 4906100 w 5245449"/>
              <a:gd name="connsiteY1" fmla="*/ 31843 h 832457"/>
              <a:gd name="connsiteX2" fmla="*/ 5213606 w 5245449"/>
              <a:gd name="connsiteY2" fmla="*/ 339350 h 832457"/>
              <a:gd name="connsiteX3" fmla="*/ 5213606 w 5245449"/>
              <a:gd name="connsiteY3" fmla="*/ 493107 h 832457"/>
              <a:gd name="connsiteX4" fmla="*/ 4906100 w 5245449"/>
              <a:gd name="connsiteY4" fmla="*/ 800613 h 832457"/>
              <a:gd name="connsiteX5" fmla="*/ 4829221 w 5245449"/>
              <a:gd name="connsiteY5" fmla="*/ 832457 h 832457"/>
              <a:gd name="connsiteX6" fmla="*/ 4824536 w 5245449"/>
              <a:gd name="connsiteY6" fmla="*/ 831545 h 832457"/>
              <a:gd name="connsiteX7" fmla="*/ 4824536 w 5245449"/>
              <a:gd name="connsiteY7" fmla="*/ 832028 h 832457"/>
              <a:gd name="connsiteX8" fmla="*/ 0 w 5245449"/>
              <a:gd name="connsiteY8" fmla="*/ 832028 h 832457"/>
              <a:gd name="connsiteX9" fmla="*/ 0 w 5245449"/>
              <a:gd name="connsiteY9" fmla="*/ 428 h 832457"/>
              <a:gd name="connsiteX10" fmla="*/ 4824536 w 5245449"/>
              <a:gd name="connsiteY10" fmla="*/ 428 h 832457"/>
              <a:gd name="connsiteX11" fmla="*/ 4824536 w 5245449"/>
              <a:gd name="connsiteY11" fmla="*/ 912 h 832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45449" h="832457">
                <a:moveTo>
                  <a:pt x="4829221" y="0"/>
                </a:moveTo>
                <a:cubicBezTo>
                  <a:pt x="4857045" y="0"/>
                  <a:pt x="4884869" y="10614"/>
                  <a:pt x="4906100" y="31843"/>
                </a:cubicBezTo>
                <a:lnTo>
                  <a:pt x="5213606" y="339350"/>
                </a:lnTo>
                <a:cubicBezTo>
                  <a:pt x="5256064" y="381809"/>
                  <a:pt x="5256064" y="450647"/>
                  <a:pt x="5213606" y="493107"/>
                </a:cubicBezTo>
                <a:lnTo>
                  <a:pt x="4906100" y="800613"/>
                </a:lnTo>
                <a:cubicBezTo>
                  <a:pt x="4884870" y="821842"/>
                  <a:pt x="4857046" y="832457"/>
                  <a:pt x="4829221" y="832457"/>
                </a:cubicBezTo>
                <a:lnTo>
                  <a:pt x="4824536" y="831545"/>
                </a:lnTo>
                <a:lnTo>
                  <a:pt x="4824536" y="832028"/>
                </a:lnTo>
                <a:lnTo>
                  <a:pt x="0" y="832028"/>
                </a:lnTo>
                <a:lnTo>
                  <a:pt x="0" y="428"/>
                </a:lnTo>
                <a:lnTo>
                  <a:pt x="4824536" y="428"/>
                </a:lnTo>
                <a:lnTo>
                  <a:pt x="4824536" y="912"/>
                </a:lnTo>
                <a:close/>
              </a:path>
            </a:pathLst>
          </a:custGeom>
          <a:solidFill>
            <a:srgbClr val="27B3C6"/>
          </a:solidFill>
          <a:ln w="12700">
            <a:solidFill>
              <a:srgbClr val="27B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11"/>
          <p:cNvSpPr>
            <a:spLocks noChangeArrowheads="1"/>
          </p:cNvSpPr>
          <p:nvPr/>
        </p:nvSpPr>
        <p:spPr bwMode="gray">
          <a:xfrm>
            <a:off x="6950859" y="2204299"/>
            <a:ext cx="3753652" cy="54367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/>
          <a:p>
            <a:r>
              <a:rPr lang="zh-CN" altLang="en-US" sz="29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相关工作与背景简述</a:t>
            </a:r>
          </a:p>
        </p:txBody>
      </p:sp>
      <p:sp>
        <p:nvSpPr>
          <p:cNvPr id="31" name="Rectangle 11"/>
          <p:cNvSpPr>
            <a:spLocks noChangeArrowheads="1"/>
          </p:cNvSpPr>
          <p:nvPr/>
        </p:nvSpPr>
        <p:spPr bwMode="gray">
          <a:xfrm>
            <a:off x="6950858" y="3146728"/>
            <a:ext cx="3753654" cy="995016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/>
          <a:p>
            <a:r>
              <a:rPr lang="en-US" altLang="zh-CN" sz="29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9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平台上的搜索引擎架构优化</a:t>
            </a:r>
          </a:p>
        </p:txBody>
      </p:sp>
      <p:sp>
        <p:nvSpPr>
          <p:cNvPr id="33" name="Rectangle 11"/>
          <p:cNvSpPr>
            <a:spLocks noChangeArrowheads="1"/>
          </p:cNvSpPr>
          <p:nvPr/>
        </p:nvSpPr>
        <p:spPr bwMode="gray">
          <a:xfrm>
            <a:off x="6950860" y="1261873"/>
            <a:ext cx="3753652" cy="54367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/>
          <a:p>
            <a:r>
              <a:rPr lang="zh-CN" altLang="en-US" sz="29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研究背景与研究问题</a:t>
            </a:r>
          </a:p>
        </p:txBody>
      </p:sp>
      <p:sp>
        <p:nvSpPr>
          <p:cNvPr id="34" name="Rectangle 11"/>
          <p:cNvSpPr>
            <a:spLocks noChangeArrowheads="1"/>
          </p:cNvSpPr>
          <p:nvPr/>
        </p:nvSpPr>
        <p:spPr bwMode="gray">
          <a:xfrm>
            <a:off x="6946174" y="4365889"/>
            <a:ext cx="3681644" cy="54367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/>
          <a:p>
            <a:r>
              <a:rPr lang="zh-CN" altLang="en-US" sz="2933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流水线查询方案</a:t>
            </a:r>
            <a:endParaRPr lang="zh-CN" altLang="en-US" sz="2933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5697490" y="1117482"/>
            <a:ext cx="832456" cy="832456"/>
          </a:xfrm>
          <a:custGeom>
            <a:avLst/>
            <a:gdLst>
              <a:gd name="connsiteX0" fmla="*/ 289251 w 578502"/>
              <a:gd name="connsiteY0" fmla="*/ 0 h 578502"/>
              <a:gd name="connsiteX1" fmla="*/ 342677 w 578502"/>
              <a:gd name="connsiteY1" fmla="*/ 22129 h 578502"/>
              <a:gd name="connsiteX2" fmla="*/ 556373 w 578502"/>
              <a:gd name="connsiteY2" fmla="*/ 235825 h 578502"/>
              <a:gd name="connsiteX3" fmla="*/ 556373 w 578502"/>
              <a:gd name="connsiteY3" fmla="*/ 342677 h 578502"/>
              <a:gd name="connsiteX4" fmla="*/ 342677 w 578502"/>
              <a:gd name="connsiteY4" fmla="*/ 556373 h 578502"/>
              <a:gd name="connsiteX5" fmla="*/ 235826 w 578502"/>
              <a:gd name="connsiteY5" fmla="*/ 556373 h 578502"/>
              <a:gd name="connsiteX6" fmla="*/ 22129 w 578502"/>
              <a:gd name="connsiteY6" fmla="*/ 342677 h 578502"/>
              <a:gd name="connsiteX7" fmla="*/ 22129 w 578502"/>
              <a:gd name="connsiteY7" fmla="*/ 235825 h 578502"/>
              <a:gd name="connsiteX8" fmla="*/ 235826 w 578502"/>
              <a:gd name="connsiteY8" fmla="*/ 22129 h 578502"/>
              <a:gd name="connsiteX9" fmla="*/ 289251 w 578502"/>
              <a:gd name="connsiteY9" fmla="*/ 0 h 57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502" h="578502">
                <a:moveTo>
                  <a:pt x="289251" y="0"/>
                </a:moveTo>
                <a:cubicBezTo>
                  <a:pt x="308587" y="0"/>
                  <a:pt x="327923" y="7376"/>
                  <a:pt x="342677" y="22129"/>
                </a:cubicBezTo>
                <a:lnTo>
                  <a:pt x="556373" y="235825"/>
                </a:lnTo>
                <a:cubicBezTo>
                  <a:pt x="585879" y="265332"/>
                  <a:pt x="585879" y="313170"/>
                  <a:pt x="556373" y="342677"/>
                </a:cubicBezTo>
                <a:lnTo>
                  <a:pt x="342677" y="556373"/>
                </a:lnTo>
                <a:cubicBezTo>
                  <a:pt x="313170" y="585879"/>
                  <a:pt x="265332" y="585879"/>
                  <a:pt x="235826" y="556373"/>
                </a:cubicBezTo>
                <a:lnTo>
                  <a:pt x="22129" y="342677"/>
                </a:lnTo>
                <a:cubicBezTo>
                  <a:pt x="-7377" y="313170"/>
                  <a:pt x="-7377" y="265332"/>
                  <a:pt x="22129" y="235825"/>
                </a:cubicBezTo>
                <a:lnTo>
                  <a:pt x="235826" y="22129"/>
                </a:lnTo>
                <a:cubicBezTo>
                  <a:pt x="250579" y="7376"/>
                  <a:pt x="269915" y="0"/>
                  <a:pt x="289251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rgbClr val="27B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800" b="1" dirty="0">
                <a:solidFill>
                  <a:srgbClr val="27B3C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800" b="1" dirty="0">
              <a:solidFill>
                <a:srgbClr val="27B3C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任意多边形 35"/>
          <p:cNvSpPr/>
          <p:nvPr/>
        </p:nvSpPr>
        <p:spPr>
          <a:xfrm>
            <a:off x="5697490" y="2059908"/>
            <a:ext cx="832456" cy="832456"/>
          </a:xfrm>
          <a:custGeom>
            <a:avLst/>
            <a:gdLst>
              <a:gd name="connsiteX0" fmla="*/ 289251 w 578502"/>
              <a:gd name="connsiteY0" fmla="*/ 0 h 578502"/>
              <a:gd name="connsiteX1" fmla="*/ 342677 w 578502"/>
              <a:gd name="connsiteY1" fmla="*/ 22129 h 578502"/>
              <a:gd name="connsiteX2" fmla="*/ 556373 w 578502"/>
              <a:gd name="connsiteY2" fmla="*/ 235826 h 578502"/>
              <a:gd name="connsiteX3" fmla="*/ 556373 w 578502"/>
              <a:gd name="connsiteY3" fmla="*/ 342677 h 578502"/>
              <a:gd name="connsiteX4" fmla="*/ 342677 w 578502"/>
              <a:gd name="connsiteY4" fmla="*/ 556373 h 578502"/>
              <a:gd name="connsiteX5" fmla="*/ 235826 w 578502"/>
              <a:gd name="connsiteY5" fmla="*/ 556373 h 578502"/>
              <a:gd name="connsiteX6" fmla="*/ 22129 w 578502"/>
              <a:gd name="connsiteY6" fmla="*/ 342677 h 578502"/>
              <a:gd name="connsiteX7" fmla="*/ 22129 w 578502"/>
              <a:gd name="connsiteY7" fmla="*/ 235826 h 578502"/>
              <a:gd name="connsiteX8" fmla="*/ 235826 w 578502"/>
              <a:gd name="connsiteY8" fmla="*/ 22129 h 578502"/>
              <a:gd name="connsiteX9" fmla="*/ 289251 w 578502"/>
              <a:gd name="connsiteY9" fmla="*/ 0 h 57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502" h="578502">
                <a:moveTo>
                  <a:pt x="289251" y="0"/>
                </a:moveTo>
                <a:cubicBezTo>
                  <a:pt x="308587" y="0"/>
                  <a:pt x="327923" y="7376"/>
                  <a:pt x="342677" y="22129"/>
                </a:cubicBezTo>
                <a:lnTo>
                  <a:pt x="556373" y="235826"/>
                </a:lnTo>
                <a:cubicBezTo>
                  <a:pt x="585879" y="265332"/>
                  <a:pt x="585879" y="313170"/>
                  <a:pt x="556373" y="342677"/>
                </a:cubicBezTo>
                <a:lnTo>
                  <a:pt x="342677" y="556373"/>
                </a:lnTo>
                <a:cubicBezTo>
                  <a:pt x="313170" y="585879"/>
                  <a:pt x="265332" y="585879"/>
                  <a:pt x="235826" y="556373"/>
                </a:cubicBezTo>
                <a:lnTo>
                  <a:pt x="22129" y="342677"/>
                </a:lnTo>
                <a:cubicBezTo>
                  <a:pt x="-7377" y="313170"/>
                  <a:pt x="-7377" y="265332"/>
                  <a:pt x="22129" y="235826"/>
                </a:cubicBezTo>
                <a:lnTo>
                  <a:pt x="235826" y="22129"/>
                </a:lnTo>
                <a:cubicBezTo>
                  <a:pt x="250579" y="7376"/>
                  <a:pt x="269915" y="0"/>
                  <a:pt x="289251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rgbClr val="27B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800" b="1" dirty="0">
                <a:solidFill>
                  <a:srgbClr val="27B3C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800" b="1" dirty="0">
              <a:solidFill>
                <a:srgbClr val="27B3C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5591944" y="3002336"/>
            <a:ext cx="938002" cy="1139407"/>
          </a:xfrm>
          <a:custGeom>
            <a:avLst/>
            <a:gdLst>
              <a:gd name="connsiteX0" fmla="*/ 289251 w 578502"/>
              <a:gd name="connsiteY0" fmla="*/ 0 h 578502"/>
              <a:gd name="connsiteX1" fmla="*/ 342677 w 578502"/>
              <a:gd name="connsiteY1" fmla="*/ 22129 h 578502"/>
              <a:gd name="connsiteX2" fmla="*/ 556373 w 578502"/>
              <a:gd name="connsiteY2" fmla="*/ 235826 h 578502"/>
              <a:gd name="connsiteX3" fmla="*/ 556373 w 578502"/>
              <a:gd name="connsiteY3" fmla="*/ 342677 h 578502"/>
              <a:gd name="connsiteX4" fmla="*/ 342677 w 578502"/>
              <a:gd name="connsiteY4" fmla="*/ 556373 h 578502"/>
              <a:gd name="connsiteX5" fmla="*/ 235826 w 578502"/>
              <a:gd name="connsiteY5" fmla="*/ 556373 h 578502"/>
              <a:gd name="connsiteX6" fmla="*/ 22129 w 578502"/>
              <a:gd name="connsiteY6" fmla="*/ 342677 h 578502"/>
              <a:gd name="connsiteX7" fmla="*/ 22129 w 578502"/>
              <a:gd name="connsiteY7" fmla="*/ 235826 h 578502"/>
              <a:gd name="connsiteX8" fmla="*/ 235826 w 578502"/>
              <a:gd name="connsiteY8" fmla="*/ 22129 h 578502"/>
              <a:gd name="connsiteX9" fmla="*/ 289251 w 578502"/>
              <a:gd name="connsiteY9" fmla="*/ 0 h 57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502" h="578502">
                <a:moveTo>
                  <a:pt x="289251" y="0"/>
                </a:moveTo>
                <a:cubicBezTo>
                  <a:pt x="308587" y="0"/>
                  <a:pt x="327924" y="7376"/>
                  <a:pt x="342677" y="22129"/>
                </a:cubicBezTo>
                <a:lnTo>
                  <a:pt x="556373" y="235826"/>
                </a:lnTo>
                <a:cubicBezTo>
                  <a:pt x="585879" y="265332"/>
                  <a:pt x="585879" y="313170"/>
                  <a:pt x="556373" y="342677"/>
                </a:cubicBezTo>
                <a:lnTo>
                  <a:pt x="342677" y="556373"/>
                </a:lnTo>
                <a:cubicBezTo>
                  <a:pt x="313170" y="585879"/>
                  <a:pt x="265332" y="585879"/>
                  <a:pt x="235826" y="556373"/>
                </a:cubicBezTo>
                <a:lnTo>
                  <a:pt x="22129" y="342677"/>
                </a:lnTo>
                <a:cubicBezTo>
                  <a:pt x="-7377" y="313170"/>
                  <a:pt x="-7377" y="265332"/>
                  <a:pt x="22129" y="235826"/>
                </a:cubicBezTo>
                <a:lnTo>
                  <a:pt x="235826" y="22129"/>
                </a:lnTo>
                <a:cubicBezTo>
                  <a:pt x="250579" y="7376"/>
                  <a:pt x="269915" y="0"/>
                  <a:pt x="289251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rgbClr val="27B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800" b="1" dirty="0">
                <a:solidFill>
                  <a:srgbClr val="27B3C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800" b="1" dirty="0">
              <a:solidFill>
                <a:srgbClr val="27B3C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/>
        </p:nvSpPr>
        <p:spPr>
          <a:xfrm>
            <a:off x="5692805" y="4221498"/>
            <a:ext cx="832456" cy="832456"/>
          </a:xfrm>
          <a:custGeom>
            <a:avLst/>
            <a:gdLst>
              <a:gd name="connsiteX0" fmla="*/ 289251 w 578502"/>
              <a:gd name="connsiteY0" fmla="*/ 0 h 578502"/>
              <a:gd name="connsiteX1" fmla="*/ 342677 w 578502"/>
              <a:gd name="connsiteY1" fmla="*/ 22129 h 578502"/>
              <a:gd name="connsiteX2" fmla="*/ 556373 w 578502"/>
              <a:gd name="connsiteY2" fmla="*/ 235826 h 578502"/>
              <a:gd name="connsiteX3" fmla="*/ 556373 w 578502"/>
              <a:gd name="connsiteY3" fmla="*/ 342677 h 578502"/>
              <a:gd name="connsiteX4" fmla="*/ 342677 w 578502"/>
              <a:gd name="connsiteY4" fmla="*/ 556373 h 578502"/>
              <a:gd name="connsiteX5" fmla="*/ 235826 w 578502"/>
              <a:gd name="connsiteY5" fmla="*/ 556373 h 578502"/>
              <a:gd name="connsiteX6" fmla="*/ 22129 w 578502"/>
              <a:gd name="connsiteY6" fmla="*/ 342677 h 578502"/>
              <a:gd name="connsiteX7" fmla="*/ 22129 w 578502"/>
              <a:gd name="connsiteY7" fmla="*/ 235826 h 578502"/>
              <a:gd name="connsiteX8" fmla="*/ 235826 w 578502"/>
              <a:gd name="connsiteY8" fmla="*/ 22129 h 578502"/>
              <a:gd name="connsiteX9" fmla="*/ 289251 w 578502"/>
              <a:gd name="connsiteY9" fmla="*/ 0 h 57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502" h="578502">
                <a:moveTo>
                  <a:pt x="289251" y="0"/>
                </a:moveTo>
                <a:cubicBezTo>
                  <a:pt x="308587" y="0"/>
                  <a:pt x="327923" y="7376"/>
                  <a:pt x="342677" y="22129"/>
                </a:cubicBezTo>
                <a:lnTo>
                  <a:pt x="556373" y="235826"/>
                </a:lnTo>
                <a:cubicBezTo>
                  <a:pt x="585879" y="265332"/>
                  <a:pt x="585879" y="313170"/>
                  <a:pt x="556373" y="342677"/>
                </a:cubicBezTo>
                <a:lnTo>
                  <a:pt x="342677" y="556373"/>
                </a:lnTo>
                <a:cubicBezTo>
                  <a:pt x="313170" y="585879"/>
                  <a:pt x="265332" y="585879"/>
                  <a:pt x="235826" y="556373"/>
                </a:cubicBezTo>
                <a:lnTo>
                  <a:pt x="22129" y="342677"/>
                </a:lnTo>
                <a:cubicBezTo>
                  <a:pt x="-7377" y="313170"/>
                  <a:pt x="-7377" y="265332"/>
                  <a:pt x="22129" y="235826"/>
                </a:cubicBezTo>
                <a:lnTo>
                  <a:pt x="235826" y="22129"/>
                </a:lnTo>
                <a:cubicBezTo>
                  <a:pt x="250579" y="7376"/>
                  <a:pt x="269915" y="0"/>
                  <a:pt x="289251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rgbClr val="27B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800" b="1" dirty="0" smtClean="0">
                <a:solidFill>
                  <a:srgbClr val="27B3C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800" b="1" dirty="0">
              <a:solidFill>
                <a:srgbClr val="27B3C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20"/>
          <p:cNvSpPr txBox="1"/>
          <p:nvPr/>
        </p:nvSpPr>
        <p:spPr>
          <a:xfrm>
            <a:off x="796587" y="3278473"/>
            <a:ext cx="3876574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5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5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19"/>
          <p:cNvSpPr txBox="1"/>
          <p:nvPr/>
        </p:nvSpPr>
        <p:spPr>
          <a:xfrm>
            <a:off x="3222123" y="2496449"/>
            <a:ext cx="1451038" cy="759119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pPr algn="ctr"/>
            <a:r>
              <a:rPr lang="zh-CN" altLang="en-US" sz="4933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49628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4849"/>
    </mc:Choice>
    <mc:Fallback xmlns="">
      <p:transition advTm="34849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737428" y="1251857"/>
            <a:ext cx="5196073" cy="4033157"/>
            <a:chOff x="1393372" y="1135743"/>
            <a:chExt cx="5196073" cy="4033157"/>
          </a:xfrm>
        </p:grpSpPr>
        <p:sp>
          <p:nvSpPr>
            <p:cNvPr id="694" name="矩形 693"/>
            <p:cNvSpPr/>
            <p:nvPr/>
          </p:nvSpPr>
          <p:spPr>
            <a:xfrm>
              <a:off x="1393372" y="1135743"/>
              <a:ext cx="2213428" cy="4033157"/>
            </a:xfrm>
            <a:prstGeom prst="rect">
              <a:avLst/>
            </a:prstGeom>
            <a:noFill/>
            <a:ln w="19050">
              <a:solidFill>
                <a:srgbClr val="28B3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5" name="矩形 694"/>
            <p:cNvSpPr/>
            <p:nvPr/>
          </p:nvSpPr>
          <p:spPr>
            <a:xfrm>
              <a:off x="3157531" y="2844800"/>
              <a:ext cx="944569" cy="1892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6" name="文本框 695"/>
            <p:cNvSpPr txBox="1"/>
            <p:nvPr/>
          </p:nvSpPr>
          <p:spPr>
            <a:xfrm>
              <a:off x="1788131" y="1542143"/>
              <a:ext cx="122982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7" name="文本框 696"/>
            <p:cNvSpPr txBox="1"/>
            <p:nvPr/>
          </p:nvSpPr>
          <p:spPr>
            <a:xfrm>
              <a:off x="1788131" y="3181064"/>
              <a:ext cx="480131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b="1" dirty="0">
                  <a:solidFill>
                    <a:srgbClr val="28B3C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研究背景与研究问题</a:t>
              </a:r>
            </a:p>
          </p:txBody>
        </p:sp>
        <p:cxnSp>
          <p:nvCxnSpPr>
            <p:cNvPr id="699" name="直接连接符 698"/>
            <p:cNvCxnSpPr/>
            <p:nvPr/>
          </p:nvCxnSpPr>
          <p:spPr>
            <a:xfrm>
              <a:off x="1944915" y="2650139"/>
              <a:ext cx="39627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775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517"/>
    </mc:Choice>
    <mc:Fallback xmlns="">
      <p:transition advTm="151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"/>
          <p:cNvSpPr txBox="1"/>
          <p:nvPr/>
        </p:nvSpPr>
        <p:spPr>
          <a:xfrm>
            <a:off x="7081420" y="2256180"/>
            <a:ext cx="3385262" cy="213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1600"/>
              </a:lnSpc>
            </a:pP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向用户展示检索相关的信息</a:t>
            </a:r>
            <a:endParaRPr lang="en-US" altLang="zh-CN" sz="20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2" name="矩形 51"/>
          <p:cNvSpPr>
            <a:spLocks noChangeArrowheads="1"/>
          </p:cNvSpPr>
          <p:nvPr/>
        </p:nvSpPr>
        <p:spPr bwMode="auto">
          <a:xfrm>
            <a:off x="7087187" y="1752124"/>
            <a:ext cx="3240961" cy="2999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互联网的核心应用</a:t>
            </a:r>
          </a:p>
        </p:txBody>
      </p:sp>
      <p:sp>
        <p:nvSpPr>
          <p:cNvPr id="53" name="TextBox 5"/>
          <p:cNvSpPr txBox="1"/>
          <p:nvPr/>
        </p:nvSpPr>
        <p:spPr>
          <a:xfrm>
            <a:off x="7057970" y="4665568"/>
            <a:ext cx="3646542" cy="213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1600"/>
              </a:lnSpc>
            </a:pPr>
            <a:r>
              <a:rPr lang="zh-CN" altLang="en-US" sz="2000" u="heavy" dirty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华文细黑" panose="02010600040101010101" pitchFamily="2" charset="-122"/>
                <a:ea typeface="华文细黑" panose="02010600040101010101" pitchFamily="2" charset="-122"/>
              </a:rPr>
              <a:t>及时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并</a:t>
            </a:r>
            <a:r>
              <a:rPr lang="zh-CN" altLang="en-US" sz="2000" u="heavy" dirty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华文细黑" panose="02010600040101010101" pitchFamily="2" charset="-122"/>
                <a:ea typeface="华文细黑" panose="02010600040101010101" pitchFamily="2" charset="-122"/>
              </a:rPr>
              <a:t>准确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地反馈查询结果</a:t>
            </a:r>
            <a:endParaRPr lang="en-US" altLang="zh-CN" sz="20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7063739" y="4161512"/>
            <a:ext cx="2616338" cy="2999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提供检索服务</a:t>
            </a:r>
            <a:endParaRPr lang="en-US" altLang="zh-CN" sz="2800" b="1" cap="all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5" name="TextBox 5"/>
          <p:cNvSpPr txBox="1"/>
          <p:nvPr/>
        </p:nvSpPr>
        <p:spPr>
          <a:xfrm>
            <a:off x="7096080" y="3437376"/>
            <a:ext cx="3520101" cy="213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1600"/>
              </a:lnSpc>
            </a:pP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利用索引记录与组织信息集合</a:t>
            </a:r>
            <a:endParaRPr lang="en-US" altLang="zh-CN" sz="20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6" name="矩形 55"/>
          <p:cNvSpPr>
            <a:spLocks noChangeArrowheads="1"/>
          </p:cNvSpPr>
          <p:nvPr/>
        </p:nvSpPr>
        <p:spPr bwMode="auto">
          <a:xfrm>
            <a:off x="7101849" y="2933320"/>
            <a:ext cx="3226299" cy="2999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cap="all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构建和维护索引数据</a:t>
            </a:r>
            <a:endParaRPr lang="en-US" altLang="zh-CN" sz="2800" b="1" cap="all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8A8E41EF-CB11-4B0F-886E-70BCD4F5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1.1  </a:t>
            </a:r>
            <a:r>
              <a:rPr lang="zh-CN" altLang="en-US" dirty="0"/>
              <a:t>搜索引擎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xmlns="" id="{4AE90EE7-8610-4B4A-AF61-5763DB9368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263251"/>
              </p:ext>
            </p:extLst>
          </p:nvPr>
        </p:nvGraphicFramePr>
        <p:xfrm>
          <a:off x="479376" y="1056382"/>
          <a:ext cx="5758480" cy="497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" name="Visio" r:id="rId4" imgW="6372359" imgH="5505382" progId="Visio.Drawing.15">
                  <p:embed/>
                </p:oleObj>
              </mc:Choice>
              <mc:Fallback>
                <p:oleObj name="Visio" r:id="rId4" imgW="6372359" imgH="5505382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9376" y="1056382"/>
                        <a:ext cx="5758480" cy="4975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095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5603"/>
    </mc:Choice>
    <mc:Fallback xmlns="">
      <p:transition advTm="35603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xmlns="" id="{8A8E41EF-CB11-4B0F-886E-70BCD4F5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67" y="188640"/>
            <a:ext cx="5447949" cy="720080"/>
          </a:xfrm>
        </p:spPr>
        <p:txBody>
          <a:bodyPr/>
          <a:lstStyle/>
          <a:p>
            <a:r>
              <a:rPr lang="en-US" altLang="zh-CN" b="1" dirty="0"/>
              <a:t>1.2 </a:t>
            </a:r>
            <a:r>
              <a:rPr lang="en-US" altLang="zh-CN" dirty="0"/>
              <a:t> </a:t>
            </a:r>
            <a:r>
              <a:rPr lang="zh-CN" altLang="en-US" dirty="0"/>
              <a:t>搜索引擎面临的挑战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xmlns="" id="{B2976A4B-6D05-4F4A-82EA-367ED947DEC6}"/>
              </a:ext>
            </a:extLst>
          </p:cNvPr>
          <p:cNvSpPr txBox="1"/>
          <p:nvPr/>
        </p:nvSpPr>
        <p:spPr>
          <a:xfrm>
            <a:off x="921064" y="4968056"/>
            <a:ext cx="4738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2013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月，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Google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索引的网页数量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超过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万亿篇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EECA5946-DE02-4045-8CA9-7DD767D8E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908720"/>
            <a:ext cx="3893298" cy="38924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852BB06B-EBED-49A9-9BC5-AD9C50BF93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142" y="908720"/>
            <a:ext cx="3952187" cy="3892488"/>
          </a:xfrm>
          <a:prstGeom prst="rect">
            <a:avLst/>
          </a:prstGeom>
        </p:spPr>
      </p:pic>
      <p:sp>
        <p:nvSpPr>
          <p:cNvPr id="31" name="TextBox 13">
            <a:extLst>
              <a:ext uri="{FF2B5EF4-FFF2-40B4-BE49-F238E27FC236}">
                <a16:creationId xmlns:a16="http://schemas.microsoft.com/office/drawing/2014/main" xmlns="" id="{AB197520-E4BE-4314-9E26-4B658B2AAE4F}"/>
              </a:ext>
            </a:extLst>
          </p:cNvPr>
          <p:cNvSpPr txBox="1"/>
          <p:nvPr/>
        </p:nvSpPr>
        <p:spPr>
          <a:xfrm>
            <a:off x="6480511" y="4968056"/>
            <a:ext cx="4327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2016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月，网页规模超过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130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万亿篇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（索引占用空间超过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 PB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xmlns="" id="{F6DA19CA-5440-4C99-A722-4F452C020626}"/>
              </a:ext>
            </a:extLst>
          </p:cNvPr>
          <p:cNvSpPr txBox="1"/>
          <p:nvPr/>
        </p:nvSpPr>
        <p:spPr>
          <a:xfrm>
            <a:off x="625613" y="5929436"/>
            <a:ext cx="10940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第一项挑战：如何利用尽可能少的资源索引海量的网页数据？</a:t>
            </a:r>
          </a:p>
        </p:txBody>
      </p:sp>
    </p:spTree>
    <p:extLst>
      <p:ext uri="{BB962C8B-B14F-4D97-AF65-F5344CB8AC3E}">
        <p14:creationId xmlns:p14="http://schemas.microsoft.com/office/powerpoint/2010/main" val="84002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754"/>
    </mc:Choice>
    <mc:Fallback xmlns="">
      <p:transition advTm="2754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xmlns="" id="{8A8E41EF-CB11-4B0F-886E-70BCD4F5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67" y="188640"/>
            <a:ext cx="5447949" cy="720080"/>
          </a:xfrm>
        </p:spPr>
        <p:txBody>
          <a:bodyPr/>
          <a:lstStyle/>
          <a:p>
            <a:r>
              <a:rPr lang="en-US" altLang="zh-CN" b="1" dirty="0"/>
              <a:t>1.2  </a:t>
            </a:r>
            <a:r>
              <a:rPr lang="zh-CN" altLang="en-US" dirty="0"/>
              <a:t>搜索引擎面临的挑战</a:t>
            </a: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xmlns="" id="{F6DA19CA-5440-4C99-A722-4F452C020626}"/>
              </a:ext>
            </a:extLst>
          </p:cNvPr>
          <p:cNvSpPr txBox="1"/>
          <p:nvPr/>
        </p:nvSpPr>
        <p:spPr>
          <a:xfrm>
            <a:off x="625613" y="5949280"/>
            <a:ext cx="10940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第二项挑战：面对更大规模的用户查询请求，如何在限定时间内完成查询处理？</a:t>
            </a:r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xmlns="" id="{27F14C35-5D61-41D5-9194-1E558BA8E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8211441"/>
              </p:ext>
            </p:extLst>
          </p:nvPr>
        </p:nvGraphicFramePr>
        <p:xfrm>
          <a:off x="1919536" y="764704"/>
          <a:ext cx="8136904" cy="5184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xmlns="" id="{70B956A1-8A70-4162-95FD-C7C1326AA25D}"/>
              </a:ext>
            </a:extLst>
          </p:cNvPr>
          <p:cNvSpPr/>
          <p:nvPr/>
        </p:nvSpPr>
        <p:spPr>
          <a:xfrm>
            <a:off x="2495600" y="3717032"/>
            <a:ext cx="1512168" cy="720080"/>
          </a:xfrm>
          <a:prstGeom prst="wedgeRoundRectCallout">
            <a:avLst>
              <a:gd name="adj1" fmla="val -34670"/>
              <a:gd name="adj2" fmla="val 69114"/>
              <a:gd name="adj3" fmla="val 16667"/>
            </a:avLst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730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亿条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年，</a:t>
            </a:r>
            <a:endParaRPr lang="en-US" altLang="zh-CN" sz="1800" dirty="0">
              <a:solidFill>
                <a:srgbClr val="00206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约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2300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条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秒</a:t>
            </a:r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xmlns="" id="{61F33D9D-F272-4CD1-A58F-0238607EA3A5}"/>
              </a:ext>
            </a:extLst>
          </p:cNvPr>
          <p:cNvSpPr/>
          <p:nvPr/>
        </p:nvSpPr>
        <p:spPr>
          <a:xfrm>
            <a:off x="7248128" y="1628800"/>
            <a:ext cx="1584176" cy="720080"/>
          </a:xfrm>
          <a:prstGeom prst="wedgeRoundRectCallout">
            <a:avLst>
              <a:gd name="adj1" fmla="val 59121"/>
              <a:gd name="adj2" fmla="val 29430"/>
              <a:gd name="adj3" fmla="val 16667"/>
            </a:avLst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万亿条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年，</a:t>
            </a:r>
            <a:endParaRPr lang="en-US" altLang="zh-CN" sz="1800" dirty="0">
              <a:solidFill>
                <a:srgbClr val="00206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约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6.3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万条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秒</a:t>
            </a:r>
          </a:p>
        </p:txBody>
      </p:sp>
    </p:spTree>
    <p:extLst>
      <p:ext uri="{BB962C8B-B14F-4D97-AF65-F5344CB8AC3E}">
        <p14:creationId xmlns:p14="http://schemas.microsoft.com/office/powerpoint/2010/main" val="409760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28"/>
    </mc:Choice>
    <mc:Fallback xmlns="">
      <p:transition advTm="328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xmlns="" id="{8A8E41EF-CB11-4B0F-886E-70BCD4F5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67" y="188640"/>
            <a:ext cx="5447949" cy="720080"/>
          </a:xfrm>
        </p:spPr>
        <p:txBody>
          <a:bodyPr/>
          <a:lstStyle/>
          <a:p>
            <a:r>
              <a:rPr lang="en-US" altLang="zh-CN" b="1" dirty="0"/>
              <a:t>1.3  </a:t>
            </a:r>
            <a:r>
              <a:rPr lang="zh-CN" altLang="en-US" dirty="0"/>
              <a:t>核心问题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5B022373-89B9-490C-A57E-97D9FE529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088" y="2095897"/>
            <a:ext cx="4824536" cy="8115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3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核心问题：搜索引擎检索性能优化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EEB4360B-A4E5-4CCE-A9B1-F51024726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088" y="4181255"/>
            <a:ext cx="3264409" cy="389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3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3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3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文档召回</a:t>
            </a:r>
            <a:endParaRPr lang="en-US" altLang="zh-CN" sz="2300" b="1" cap="all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4F486BE1-D7F7-43D0-8B4B-34EE03D4E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088" y="2908274"/>
            <a:ext cx="4608512" cy="2999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300" b="1" cap="all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存储 </a:t>
            </a:r>
            <a:r>
              <a:rPr lang="en-US" altLang="zh-CN" sz="2300" b="1" cap="all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– </a:t>
            </a:r>
            <a:r>
              <a:rPr lang="zh-CN" altLang="en-US" sz="2300" b="1" cap="all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数据压缩，数据存储设备</a:t>
            </a:r>
            <a:endParaRPr lang="en-US" altLang="zh-CN" sz="2300" b="1" cap="all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B25F06FA-83B8-4CAA-A071-AAE03285B67C}"/>
              </a:ext>
            </a:extLst>
          </p:cNvPr>
          <p:cNvGrpSpPr/>
          <p:nvPr/>
        </p:nvGrpSpPr>
        <p:grpSpPr>
          <a:xfrm>
            <a:off x="316677" y="962067"/>
            <a:ext cx="6144651" cy="5266344"/>
            <a:chOff x="162704" y="970968"/>
            <a:chExt cx="6480720" cy="555437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xmlns="" id="{3D1B687C-2B96-4405-9AFB-593AC9151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704" y="970968"/>
              <a:ext cx="6480720" cy="5554376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xmlns="" id="{32BCC4DA-90C6-4CBF-99F1-2C8172A2DB51}"/>
                </a:ext>
              </a:extLst>
            </p:cNvPr>
            <p:cNvSpPr/>
            <p:nvPr/>
          </p:nvSpPr>
          <p:spPr>
            <a:xfrm>
              <a:off x="2207568" y="3258488"/>
              <a:ext cx="1857276" cy="746576"/>
            </a:xfrm>
            <a:prstGeom prst="rect">
              <a:avLst/>
            </a:prstGeom>
            <a:solidFill>
              <a:srgbClr val="B5CCF9"/>
            </a:solidFill>
            <a:ln>
              <a:solidFill>
                <a:srgbClr val="B5CCF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检索性能优化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xmlns="" id="{0EA3E653-B302-41BF-9735-97602808741A}"/>
                </a:ext>
              </a:extLst>
            </p:cNvPr>
            <p:cNvSpPr/>
            <p:nvPr/>
          </p:nvSpPr>
          <p:spPr>
            <a:xfrm>
              <a:off x="1775520" y="4664033"/>
              <a:ext cx="864096" cy="421151"/>
            </a:xfrm>
            <a:prstGeom prst="rect">
              <a:avLst/>
            </a:prstGeom>
            <a:solidFill>
              <a:srgbClr val="B5CCF9"/>
            </a:solidFill>
            <a:ln>
              <a:solidFill>
                <a:srgbClr val="B5CCF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xmlns="" id="{E9682252-8213-40C5-A079-E6E12C8EEA48}"/>
                </a:ext>
              </a:extLst>
            </p:cNvPr>
            <p:cNvSpPr/>
            <p:nvPr/>
          </p:nvSpPr>
          <p:spPr>
            <a:xfrm>
              <a:off x="2927648" y="4653136"/>
              <a:ext cx="864096" cy="421151"/>
            </a:xfrm>
            <a:prstGeom prst="rect">
              <a:avLst/>
            </a:prstGeom>
            <a:solidFill>
              <a:srgbClr val="B5CCF9"/>
            </a:solidFill>
            <a:ln>
              <a:solidFill>
                <a:srgbClr val="B5CCF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</a:t>
              </a:r>
            </a:p>
          </p:txBody>
        </p:sp>
      </p:grpSp>
      <p:sp>
        <p:nvSpPr>
          <p:cNvPr id="33" name="TextBox 5">
            <a:extLst>
              <a:ext uri="{FF2B5EF4-FFF2-40B4-BE49-F238E27FC236}">
                <a16:creationId xmlns:a16="http://schemas.microsoft.com/office/drawing/2014/main" xmlns="" id="{D2D82BFB-944C-4E8D-A54A-F56B3FEB0864}"/>
              </a:ext>
            </a:extLst>
          </p:cNvPr>
          <p:cNvSpPr txBox="1"/>
          <p:nvPr/>
        </p:nvSpPr>
        <p:spPr>
          <a:xfrm>
            <a:off x="6888088" y="4565170"/>
            <a:ext cx="3646542" cy="5920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华文细黑" panose="02010600040101010101" pitchFamily="2" charset="-122"/>
                <a:ea typeface="华文细黑" panose="02010600040101010101" pitchFamily="2" charset="-122"/>
              </a:rPr>
              <a:t>毫秒级时间内响应查询请求，</a:t>
            </a:r>
            <a:endParaRPr lang="en-US" altLang="zh-CN" sz="1800" dirty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华文细黑" panose="02010600040101010101" pitchFamily="2" charset="-122"/>
                <a:ea typeface="华文细黑" panose="02010600040101010101" pitchFamily="2" charset="-122"/>
              </a:rPr>
              <a:t>降低查询计算处理时间</a:t>
            </a:r>
            <a:endParaRPr lang="en-US" altLang="zh-CN" sz="18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xmlns="" id="{BC906368-9387-46AA-AD43-20E96D2738DB}"/>
              </a:ext>
            </a:extLst>
          </p:cNvPr>
          <p:cNvSpPr txBox="1"/>
          <p:nvPr/>
        </p:nvSpPr>
        <p:spPr>
          <a:xfrm>
            <a:off x="6888088" y="3309963"/>
            <a:ext cx="3520101" cy="5920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使更多的索引数据常驻内存，</a:t>
            </a:r>
            <a:endParaRPr lang="en-US" altLang="zh-CN" sz="18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减少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I/O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操作造成的性能损失</a:t>
            </a:r>
            <a:endParaRPr lang="en-US" altLang="zh-CN" sz="18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448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83"/>
    </mc:Choice>
    <mc:Fallback xmlns="">
      <p:transition advTm="283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737428" y="1251857"/>
            <a:ext cx="5170290" cy="4033157"/>
            <a:chOff x="1393372" y="1135743"/>
            <a:chExt cx="5170290" cy="4033157"/>
          </a:xfrm>
        </p:grpSpPr>
        <p:sp>
          <p:nvSpPr>
            <p:cNvPr id="694" name="矩形 693"/>
            <p:cNvSpPr/>
            <p:nvPr/>
          </p:nvSpPr>
          <p:spPr>
            <a:xfrm>
              <a:off x="1393372" y="1135743"/>
              <a:ext cx="2213428" cy="4033157"/>
            </a:xfrm>
            <a:prstGeom prst="rect">
              <a:avLst/>
            </a:prstGeom>
            <a:noFill/>
            <a:ln w="19050">
              <a:solidFill>
                <a:srgbClr val="28B3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5" name="矩形 694"/>
            <p:cNvSpPr/>
            <p:nvPr/>
          </p:nvSpPr>
          <p:spPr>
            <a:xfrm>
              <a:off x="3157531" y="2844800"/>
              <a:ext cx="944569" cy="1892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6" name="文本框 695"/>
            <p:cNvSpPr txBox="1"/>
            <p:nvPr/>
          </p:nvSpPr>
          <p:spPr>
            <a:xfrm>
              <a:off x="1788131" y="1542143"/>
              <a:ext cx="122982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7" name="文本框 696"/>
            <p:cNvSpPr txBox="1"/>
            <p:nvPr/>
          </p:nvSpPr>
          <p:spPr>
            <a:xfrm>
              <a:off x="1762348" y="3152321"/>
              <a:ext cx="480131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b="1" dirty="0">
                  <a:solidFill>
                    <a:srgbClr val="27B3C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相关工作与背景简述</a:t>
              </a:r>
            </a:p>
          </p:txBody>
        </p:sp>
        <p:cxnSp>
          <p:nvCxnSpPr>
            <p:cNvPr id="699" name="直接连接符 698"/>
            <p:cNvCxnSpPr/>
            <p:nvPr/>
          </p:nvCxnSpPr>
          <p:spPr>
            <a:xfrm>
              <a:off x="1944915" y="2650139"/>
              <a:ext cx="39627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836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97"/>
    </mc:Choice>
    <mc:Fallback xmlns="">
      <p:transition advTm="29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dirty="0"/>
              <a:t>相关工作与背景简述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24C7A004-80B6-4BB8-A14F-35F467A26708}"/>
              </a:ext>
            </a:extLst>
          </p:cNvPr>
          <p:cNvGrpSpPr/>
          <p:nvPr/>
        </p:nvGrpSpPr>
        <p:grpSpPr>
          <a:xfrm>
            <a:off x="583821" y="1210351"/>
            <a:ext cx="879680" cy="779656"/>
            <a:chOff x="708223" y="1757325"/>
            <a:chExt cx="1004978" cy="890708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xmlns="" id="{1DC18680-76FA-4742-A2F2-FEF743597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223" y="1757325"/>
              <a:ext cx="1004978" cy="89070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xmlns="" id="{B3D18C8D-219E-4F6D-A867-EB2B3EF23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660" y="1851660"/>
              <a:ext cx="792104" cy="70203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25400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xmlns="" id="{FB47DC48-BECC-46CC-BE6C-AD512AF4D918}"/>
                </a:ext>
              </a:extLst>
            </p:cNvPr>
            <p:cNvSpPr txBox="1"/>
            <p:nvPr/>
          </p:nvSpPr>
          <p:spPr>
            <a:xfrm>
              <a:off x="988594" y="1956809"/>
              <a:ext cx="482215" cy="492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14000" b="1">
                  <a:ln w="12700">
                    <a:gradFill flip="none" rotWithShape="1">
                      <a:gsLst>
                        <a:gs pos="20000">
                          <a:schemeClr val="bg1">
                            <a:alpha val="0"/>
                          </a:schemeClr>
                        </a:gs>
                        <a:gs pos="80000">
                          <a:schemeClr val="bg1"/>
                        </a:gs>
                      </a:gsLst>
                      <a:lin ang="8100000" scaled="1"/>
                      <a:tileRect/>
                    </a:gradFill>
                  </a:ln>
                  <a:solidFill>
                    <a:schemeClr val="bg2">
                      <a:lumMod val="50000"/>
                    </a:schemeClr>
                  </a:solidFill>
                  <a:effectLst>
                    <a:innerShdw blurRad="38100" dist="25400" dir="18900000">
                      <a:prstClr val="black">
                        <a:alpha val="50000"/>
                      </a:prstClr>
                    </a:innerShdw>
                  </a:effectLst>
                  <a:latin typeface="Agency FB" panose="020B0503020202020204" pitchFamily="34" charset="0"/>
                  <a:ea typeface="微软雅黑" pitchFamily="34" charset="-122"/>
                </a:defRPr>
              </a:lvl1pPr>
            </a:lstStyle>
            <a:p>
              <a:r>
                <a:rPr lang="en-US" altLang="zh-CN" sz="2800" b="0" dirty="0">
                  <a:ln w="1270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微软雅黑" panose="020B0503020204020204" pitchFamily="34" charset="-122"/>
                </a:rPr>
                <a:t>01</a:t>
              </a:r>
              <a:endParaRPr lang="zh-CN" altLang="en-US" sz="2800" b="0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DAA37A6B-1F4E-48E8-A545-D064BF550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841" y="1210351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索引结构</a:t>
            </a: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xmlns="" id="{464259B8-EDA2-4749-B07A-D31229CBBB9F}"/>
              </a:ext>
            </a:extLst>
          </p:cNvPr>
          <p:cNvSpPr txBox="1"/>
          <p:nvPr/>
        </p:nvSpPr>
        <p:spPr>
          <a:xfrm>
            <a:off x="1694510" y="2970653"/>
            <a:ext cx="7497834" cy="3100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600"/>
              </a:lnSpc>
            </a:pP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整数序列编码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/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基于文法的压缩方案</a:t>
            </a:r>
            <a:endParaRPr lang="en-US" altLang="zh-CN" sz="20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3EEA4E0A-FBD1-4E41-9265-9F1DEDFAC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4510" y="2505329"/>
            <a:ext cx="8889968" cy="4175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cap="all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经典索引压缩方案</a:t>
            </a:r>
            <a:endParaRPr lang="en-US" altLang="zh-CN" sz="2800" b="1" cap="all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xmlns="" id="{20D2DDBF-7250-4F66-B461-6121AE8838C4}"/>
              </a:ext>
            </a:extLst>
          </p:cNvPr>
          <p:cNvGrpSpPr/>
          <p:nvPr/>
        </p:nvGrpSpPr>
        <p:grpSpPr>
          <a:xfrm>
            <a:off x="565926" y="2577336"/>
            <a:ext cx="879680" cy="779656"/>
            <a:chOff x="708223" y="3333291"/>
            <a:chExt cx="1004978" cy="890708"/>
          </a:xfrm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xmlns="" id="{0FCF8D59-0726-4C7B-B2DB-05D311C12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223" y="3333291"/>
              <a:ext cx="1004978" cy="89070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xmlns="" id="{93D15EA0-0EA5-4EB6-BC78-E03D8D6DC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660" y="3427626"/>
              <a:ext cx="792104" cy="70203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25400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xmlns="" id="{7D1F10B9-261C-417D-98C1-56F22C1C6868}"/>
                </a:ext>
              </a:extLst>
            </p:cNvPr>
            <p:cNvSpPr txBox="1"/>
            <p:nvPr/>
          </p:nvSpPr>
          <p:spPr>
            <a:xfrm>
              <a:off x="950614" y="3549969"/>
              <a:ext cx="520196" cy="492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14000" b="1">
                  <a:ln w="12700">
                    <a:gradFill flip="none" rotWithShape="1">
                      <a:gsLst>
                        <a:gs pos="20000">
                          <a:schemeClr val="bg1">
                            <a:alpha val="0"/>
                          </a:schemeClr>
                        </a:gs>
                        <a:gs pos="80000">
                          <a:schemeClr val="bg1"/>
                        </a:gs>
                      </a:gsLst>
                      <a:lin ang="8100000" scaled="1"/>
                      <a:tileRect/>
                    </a:gradFill>
                  </a:ln>
                  <a:solidFill>
                    <a:schemeClr val="bg2">
                      <a:lumMod val="50000"/>
                    </a:schemeClr>
                  </a:solidFill>
                  <a:effectLst>
                    <a:innerShdw blurRad="38100" dist="25400" dir="18900000">
                      <a:prstClr val="black">
                        <a:alpha val="50000"/>
                      </a:prstClr>
                    </a:innerShdw>
                  </a:effectLst>
                  <a:latin typeface="Agency FB" panose="020B0503020202020204" pitchFamily="34" charset="0"/>
                  <a:ea typeface="微软雅黑" pitchFamily="34" charset="-122"/>
                </a:defRPr>
              </a:lvl1pPr>
            </a:lstStyle>
            <a:p>
              <a:r>
                <a:rPr lang="en-US" altLang="zh-CN" sz="2800" b="0" dirty="0">
                  <a:ln w="1270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微软雅黑" panose="020B0503020204020204" pitchFamily="34" charset="-122"/>
                </a:rPr>
                <a:t>02</a:t>
              </a:r>
              <a:endParaRPr lang="zh-CN" altLang="en-US" sz="2800" b="0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</a:endParaRPr>
            </a:p>
          </p:txBody>
        </p:sp>
      </p:grpSp>
      <p:sp>
        <p:nvSpPr>
          <p:cNvPr id="35" name="TextBox 5">
            <a:extLst>
              <a:ext uri="{FF2B5EF4-FFF2-40B4-BE49-F238E27FC236}">
                <a16:creationId xmlns:a16="http://schemas.microsoft.com/office/drawing/2014/main" xmlns="" id="{63359FDF-F68C-449A-B1CC-0882B2ADA701}"/>
              </a:ext>
            </a:extLst>
          </p:cNvPr>
          <p:cNvSpPr txBox="1"/>
          <p:nvPr/>
        </p:nvSpPr>
        <p:spPr>
          <a:xfrm>
            <a:off x="1711841" y="4319712"/>
            <a:ext cx="7840543" cy="3100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600"/>
              </a:lnSpc>
            </a:pP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布尔查询与算分查询</a:t>
            </a:r>
            <a:endParaRPr lang="en-US" altLang="zh-CN" sz="20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8234BC31-1079-47EC-94BC-13E729BB1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841" y="3854388"/>
            <a:ext cx="8889968" cy="4175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cap="all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文档召回计算</a:t>
            </a:r>
            <a:endParaRPr lang="en-US" altLang="zh-CN" sz="2800" b="1" cap="all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xmlns="" id="{F9D264A5-B98F-429B-AE39-DA85F8BC94A5}"/>
              </a:ext>
            </a:extLst>
          </p:cNvPr>
          <p:cNvGrpSpPr/>
          <p:nvPr/>
        </p:nvGrpSpPr>
        <p:grpSpPr>
          <a:xfrm>
            <a:off x="583257" y="3873480"/>
            <a:ext cx="879680" cy="779656"/>
            <a:chOff x="708223" y="3333291"/>
            <a:chExt cx="1004978" cy="890708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xmlns="" id="{16624953-A2AF-4475-9B20-83839AF8C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223" y="3333291"/>
              <a:ext cx="1004978" cy="89070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xmlns="" id="{29082633-85CD-42CA-BCBB-4FB68BC8D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660" y="3427626"/>
              <a:ext cx="792104" cy="70203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25400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Box 12">
              <a:extLst>
                <a:ext uri="{FF2B5EF4-FFF2-40B4-BE49-F238E27FC236}">
                  <a16:creationId xmlns:a16="http://schemas.microsoft.com/office/drawing/2014/main" xmlns="" id="{56ED16F3-8040-4A18-8998-0C6D76437625}"/>
                </a:ext>
              </a:extLst>
            </p:cNvPr>
            <p:cNvSpPr txBox="1"/>
            <p:nvPr/>
          </p:nvSpPr>
          <p:spPr>
            <a:xfrm>
              <a:off x="950614" y="3549969"/>
              <a:ext cx="520196" cy="492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14000" b="1">
                  <a:ln w="12700">
                    <a:gradFill flip="none" rotWithShape="1">
                      <a:gsLst>
                        <a:gs pos="20000">
                          <a:schemeClr val="bg1">
                            <a:alpha val="0"/>
                          </a:schemeClr>
                        </a:gs>
                        <a:gs pos="80000">
                          <a:schemeClr val="bg1"/>
                        </a:gs>
                      </a:gsLst>
                      <a:lin ang="8100000" scaled="1"/>
                      <a:tileRect/>
                    </a:gradFill>
                  </a:ln>
                  <a:solidFill>
                    <a:schemeClr val="bg2">
                      <a:lumMod val="50000"/>
                    </a:schemeClr>
                  </a:solidFill>
                  <a:effectLst>
                    <a:innerShdw blurRad="38100" dist="25400" dir="18900000">
                      <a:prstClr val="black">
                        <a:alpha val="50000"/>
                      </a:prstClr>
                    </a:innerShdw>
                  </a:effectLst>
                  <a:latin typeface="Agency FB" panose="020B0503020202020204" pitchFamily="34" charset="0"/>
                  <a:ea typeface="微软雅黑" pitchFamily="34" charset="-122"/>
                </a:defRPr>
              </a:lvl1pPr>
            </a:lstStyle>
            <a:p>
              <a:r>
                <a:rPr lang="en-US" altLang="zh-CN" sz="2800" b="0" dirty="0">
                  <a:ln w="1270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微软雅黑" panose="020B0503020204020204" pitchFamily="34" charset="-122"/>
                </a:rPr>
                <a:t>03</a:t>
              </a:r>
              <a:endParaRPr lang="zh-CN" altLang="en-US" sz="2800" b="0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</a:endParaRPr>
            </a:p>
          </p:txBody>
        </p:sp>
      </p:grpSp>
      <p:sp>
        <p:nvSpPr>
          <p:cNvPr id="52" name="TextBox 5">
            <a:extLst>
              <a:ext uri="{FF2B5EF4-FFF2-40B4-BE49-F238E27FC236}">
                <a16:creationId xmlns:a16="http://schemas.microsoft.com/office/drawing/2014/main" xmlns="" id="{FC5BE1DD-0AD3-469E-97B3-EE4EB6BC997F}"/>
              </a:ext>
            </a:extLst>
          </p:cNvPr>
          <p:cNvSpPr txBox="1"/>
          <p:nvPr/>
        </p:nvSpPr>
        <p:spPr>
          <a:xfrm>
            <a:off x="1711841" y="1660840"/>
            <a:ext cx="7497834" cy="3100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600"/>
              </a:lnSpc>
            </a:pP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倒排索引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/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签名文件</a:t>
            </a:r>
            <a:endParaRPr lang="en-US" altLang="zh-CN" sz="20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160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25"/>
    </mc:Choice>
    <mc:Fallback xmlns="">
      <p:transition advTm="425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6240037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2.1</a:t>
            </a:r>
            <a:r>
              <a:rPr lang="en-US" altLang="zh-CN" dirty="0"/>
              <a:t>  </a:t>
            </a:r>
            <a:r>
              <a:rPr lang="zh-CN" altLang="en-US" dirty="0"/>
              <a:t>索引结构（倒排索引）</a:t>
            </a:r>
          </a:p>
        </p:txBody>
      </p:sp>
      <p:sp>
        <p:nvSpPr>
          <p:cNvPr id="23" name="流程图: 文档 22">
            <a:extLst>
              <a:ext uri="{FF2B5EF4-FFF2-40B4-BE49-F238E27FC236}">
                <a16:creationId xmlns:a16="http://schemas.microsoft.com/office/drawing/2014/main" xmlns="" id="{07A4EE6A-AF58-4848-8257-D857320E94EA}"/>
              </a:ext>
            </a:extLst>
          </p:cNvPr>
          <p:cNvSpPr/>
          <p:nvPr/>
        </p:nvSpPr>
        <p:spPr>
          <a:xfrm>
            <a:off x="1921598" y="1865358"/>
            <a:ext cx="1695450" cy="1190625"/>
          </a:xfrm>
          <a:prstGeom prst="flowChartDocument">
            <a:avLst/>
          </a:prstGeom>
          <a:solidFill>
            <a:srgbClr val="DEEBF7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... the most important data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流程图: 文档 23">
            <a:extLst>
              <a:ext uri="{FF2B5EF4-FFF2-40B4-BE49-F238E27FC236}">
                <a16:creationId xmlns:a16="http://schemas.microsoft.com/office/drawing/2014/main" xmlns="" id="{82588294-2760-4542-9C25-57082964755B}"/>
              </a:ext>
            </a:extLst>
          </p:cNvPr>
          <p:cNvSpPr/>
          <p:nvPr/>
        </p:nvSpPr>
        <p:spPr>
          <a:xfrm>
            <a:off x="2357549" y="2671562"/>
            <a:ext cx="1695450" cy="1190625"/>
          </a:xfrm>
          <a:prstGeom prst="flowChartDocument">
            <a:avLst/>
          </a:prstGeom>
          <a:solidFill>
            <a:srgbClr val="DEEBF7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... the most of ... space of the data...</a:t>
            </a:r>
          </a:p>
        </p:txBody>
      </p:sp>
      <p:sp>
        <p:nvSpPr>
          <p:cNvPr id="25" name="流程图: 文档 24">
            <a:extLst>
              <a:ext uri="{FF2B5EF4-FFF2-40B4-BE49-F238E27FC236}">
                <a16:creationId xmlns:a16="http://schemas.microsoft.com/office/drawing/2014/main" xmlns="" id="{C308D72A-336E-429E-8D51-49248E951899}"/>
              </a:ext>
            </a:extLst>
          </p:cNvPr>
          <p:cNvSpPr/>
          <p:nvPr/>
        </p:nvSpPr>
        <p:spPr>
          <a:xfrm>
            <a:off x="2841126" y="3573016"/>
            <a:ext cx="1695450" cy="1190625"/>
          </a:xfrm>
          <a:prstGeom prst="flowChartDocument">
            <a:avLst/>
          </a:prstGeom>
          <a:solidFill>
            <a:srgbClr val="DEEBF7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... the important index ....</a:t>
            </a:r>
          </a:p>
        </p:txBody>
      </p:sp>
      <p:sp>
        <p:nvSpPr>
          <p:cNvPr id="26" name="右箭头 16">
            <a:extLst>
              <a:ext uri="{FF2B5EF4-FFF2-40B4-BE49-F238E27FC236}">
                <a16:creationId xmlns:a16="http://schemas.microsoft.com/office/drawing/2014/main" xmlns="" id="{D1910111-1081-42B1-BA94-5F429AA133D1}"/>
              </a:ext>
            </a:extLst>
          </p:cNvPr>
          <p:cNvSpPr/>
          <p:nvPr/>
        </p:nvSpPr>
        <p:spPr>
          <a:xfrm>
            <a:off x="5368155" y="3404322"/>
            <a:ext cx="277570" cy="204776"/>
          </a:xfrm>
          <a:prstGeom prst="rightArrow">
            <a:avLst/>
          </a:prstGeom>
          <a:solidFill>
            <a:srgbClr val="27B3C6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xmlns="" id="{25AFDEC3-5925-4212-B6F5-1B78680BD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779109"/>
              </p:ext>
            </p:extLst>
          </p:nvPr>
        </p:nvGraphicFramePr>
        <p:xfrm>
          <a:off x="6600056" y="2150350"/>
          <a:ext cx="4244744" cy="2712720"/>
        </p:xfrm>
        <a:graphic>
          <a:graphicData uri="http://schemas.openxmlformats.org/drawingml/2006/table">
            <a:tbl>
              <a:tblPr firstRow="1" bandRow="1"/>
              <a:tblGrid>
                <a:gridCol w="12575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8715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8981"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5B9BD5"/>
                      </a:solidFill>
                    </a:lnT>
                    <a:lnB w="12700" cmpd="sng">
                      <a:solidFill>
                        <a:srgbClr val="5B9BD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命中表  </a:t>
                      </a:r>
                      <a:r>
                        <a:rPr lang="en-US" altLang="zh-CN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docID</a:t>
                      </a:r>
                      <a:r>
                        <a:rPr lang="en-US" altLang="zh-CN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词频</a:t>
                      </a:r>
                      <a:r>
                        <a:rPr lang="en-US" altLang="zh-CN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rgbClr val="5B9BD5"/>
                      </a:solidFill>
                    </a:lnT>
                    <a:lnB w="12700" cmpd="sng">
                      <a:solidFill>
                        <a:srgbClr val="5B9BD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3272"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5B9BD5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(1, 1), (2, 1), (4, 1)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rgbClr val="5B9BD5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3272"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important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(1, 1), (3, 1)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3272"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index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(3, 1), (4, 1)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3272"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most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(1, 1), (2, 1)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3272"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(2, 2), (4,</a:t>
                      </a:r>
                      <a:r>
                        <a:rPr lang="en-US" altLang="zh-CN" sz="16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1)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3272"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space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(2, 1)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13272"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the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solidFill>
                        <a:srgbClr val="5B9BD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5995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1991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67986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239824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799780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359737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919692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479649" algn="l" defTabSz="1119912" rtl="0" eaLnBrk="1" latinLnBrk="0" hangingPunct="1">
                        <a:defRPr sz="220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(1, 1), (2, 2), (3, 1), (4, 1)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5B9BD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28" name="流程图: 文档 27">
            <a:extLst>
              <a:ext uri="{FF2B5EF4-FFF2-40B4-BE49-F238E27FC236}">
                <a16:creationId xmlns:a16="http://schemas.microsoft.com/office/drawing/2014/main" xmlns="" id="{0A24BE90-130E-4B3D-9955-FBCDB035D014}"/>
              </a:ext>
            </a:extLst>
          </p:cNvPr>
          <p:cNvSpPr/>
          <p:nvPr/>
        </p:nvSpPr>
        <p:spPr>
          <a:xfrm>
            <a:off x="3248422" y="4464945"/>
            <a:ext cx="1695450" cy="1190625"/>
          </a:xfrm>
          <a:prstGeom prst="flowChartDocument">
            <a:avLst/>
          </a:prstGeom>
          <a:solidFill>
            <a:srgbClr val="DEEBF7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Index of the data ....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2A82F371-642B-44EF-8A54-F2794CA7F265}"/>
              </a:ext>
            </a:extLst>
          </p:cNvPr>
          <p:cNvSpPr/>
          <p:nvPr/>
        </p:nvSpPr>
        <p:spPr>
          <a:xfrm>
            <a:off x="836044" y="222285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docID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= 1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373E0B02-1C3E-421D-A7BE-9F71E835D0A9}"/>
              </a:ext>
            </a:extLst>
          </p:cNvPr>
          <p:cNvSpPr/>
          <p:nvPr/>
        </p:nvSpPr>
        <p:spPr>
          <a:xfrm>
            <a:off x="1271995" y="3137378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docID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= 2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D87D1F34-C451-4B2F-B41C-29BDE5F0CCB1}"/>
              </a:ext>
            </a:extLst>
          </p:cNvPr>
          <p:cNvSpPr/>
          <p:nvPr/>
        </p:nvSpPr>
        <p:spPr>
          <a:xfrm>
            <a:off x="1755572" y="4012092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docID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= 3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69B5469C-4160-4A77-A07A-40700AE08B5B}"/>
              </a:ext>
            </a:extLst>
          </p:cNvPr>
          <p:cNvSpPr/>
          <p:nvPr/>
        </p:nvSpPr>
        <p:spPr>
          <a:xfrm>
            <a:off x="2162868" y="4980392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docID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= 4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FE04E88F-A53A-4252-ADA9-03BC4F29FFC0}"/>
              </a:ext>
            </a:extLst>
          </p:cNvPr>
          <p:cNvSpPr/>
          <p:nvPr/>
        </p:nvSpPr>
        <p:spPr>
          <a:xfrm>
            <a:off x="2087261" y="142575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文档集合</a:t>
            </a:r>
          </a:p>
        </p:txBody>
      </p:sp>
    </p:spTree>
    <p:extLst>
      <p:ext uri="{BB962C8B-B14F-4D97-AF65-F5344CB8AC3E}">
        <p14:creationId xmlns:p14="http://schemas.microsoft.com/office/powerpoint/2010/main" val="14341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64"/>
    </mc:Choice>
    <mc:Fallback xmlns="">
      <p:transition advTm="464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6240037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2.1</a:t>
            </a:r>
            <a:r>
              <a:rPr lang="en-US" altLang="zh-CN" dirty="0"/>
              <a:t>  </a:t>
            </a:r>
            <a:r>
              <a:rPr lang="zh-CN" altLang="en-US" dirty="0"/>
              <a:t>索引结构（倒排索引）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76367" y="1176708"/>
                <a:ext cx="102731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367" y="1176708"/>
                <a:ext cx="10273141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50435" y="1593289"/>
                <a:ext cx="1112500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倒排列表，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代表第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t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个词，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Cambria Math"/>
                          </a:rPr>
                          <m:t>docID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表示包含词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t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的文档编号（一般单增）</a:t>
                </a:r>
                <a:endParaRPr lang="en-US" altLang="zh-CN" dirty="0" smtClean="0">
                  <a:latin typeface="华文楷体" pitchFamily="2" charset="-122"/>
                  <a:ea typeface="华文楷体" pitchFamily="2" charset="-122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zh-CN" altLang="en-US" dirty="0">
                    <a:latin typeface="华文楷体" pitchFamily="2" charset="-122"/>
                    <a:ea typeface="华文楷体" pitchFamily="2" charset="-122"/>
                  </a:rPr>
                  <a:t>实际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中我们一般会对索引进行</a:t>
                </a:r>
                <a:r>
                  <a:rPr lang="en-US" altLang="zh-CN" dirty="0" smtClean="0">
                    <a:solidFill>
                      <a:srgbClr val="0070C0"/>
                    </a:solidFill>
                    <a:latin typeface="华文楷体" pitchFamily="2" charset="-122"/>
                    <a:ea typeface="华文楷体" pitchFamily="2" charset="-122"/>
                  </a:rPr>
                  <a:t>d-gap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，再进行压缩，即存储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  <a:ea typeface="华文楷体" pitchFamily="2" charset="-122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华文楷体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  <a:ea typeface="华文楷体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  <a:ea typeface="华文楷体" pitchFamily="2" charset="-122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华文楷体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  <a:ea typeface="华文楷体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i="1" smtClean="0">
                            <a:latin typeface="Cambria Math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  <a:ea typeface="华文楷体" pitchFamily="2" charset="-122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华文楷体" pitchFamily="2" charset="-12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/>
                            <a:ea typeface="华文楷体" pitchFamily="2" charset="-122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 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  <a:ea typeface="华文楷体" pitchFamily="2" charset="-122"/>
                      </a:rPr>
                      <m:t>𝑖</m:t>
                    </m:r>
                    <m:r>
                      <a:rPr lang="en-US" altLang="zh-CN" b="0" i="1" dirty="0" smtClean="0">
                        <a:latin typeface="Cambria Math"/>
                        <a:ea typeface="华文楷体" pitchFamily="2" charset="-122"/>
                      </a:rPr>
                      <m:t>&gt;1</m:t>
                    </m:r>
                  </m:oMath>
                </a14:m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,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例如</a:t>
                </a:r>
                <a:endParaRPr lang="en-US" altLang="zh-CN" dirty="0" smtClean="0">
                  <a:latin typeface="华文楷体" pitchFamily="2" charset="-122"/>
                  <a:ea typeface="华文楷体" pitchFamily="2" charset="-122"/>
                </a:endParaRPr>
              </a:p>
              <a:p>
                <a:endParaRPr lang="zh-CN" altLang="en-US" dirty="0">
                  <a:latin typeface="华文楷体" pitchFamily="2" charset="-122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35" y="1593289"/>
                <a:ext cx="11125005" cy="1569660"/>
              </a:xfrm>
              <a:prstGeom prst="rect">
                <a:avLst/>
              </a:prstGeom>
              <a:blipFill rotWithShape="1">
                <a:blip r:embed="rId4"/>
                <a:stretch>
                  <a:fillRect l="-877" t="-3101" r="-1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763109" y="2520957"/>
                <a:ext cx="26320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𝑙</m:t>
                      </m:r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→1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,3,6,10,15,22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109" y="2520957"/>
                <a:ext cx="2632003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7344139" y="2520957"/>
                <a:ext cx="21222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𝑙</m:t>
                      </m:r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→1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,2,3,4,5,7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139" y="2520957"/>
                <a:ext cx="2122248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282915" y="2329817"/>
            <a:ext cx="2064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d-gap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后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>
            <a:off x="5135894" y="2705623"/>
            <a:ext cx="1776197" cy="0"/>
          </a:xfrm>
          <a:prstGeom prst="straightConnector1">
            <a:avLst/>
          </a:prstGeom>
          <a:solidFill>
            <a:srgbClr val="00B8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</p:spPr>
      </p:cxnSp>
      <p:sp>
        <p:nvSpPr>
          <p:cNvPr id="20" name="TextBox 19"/>
          <p:cNvSpPr txBox="1"/>
          <p:nvPr/>
        </p:nvSpPr>
        <p:spPr>
          <a:xfrm>
            <a:off x="780929" y="3192933"/>
            <a:ext cx="10864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我们还会对</a:t>
            </a:r>
            <a:r>
              <a:rPr lang="zh-CN" altLang="en-US" dirty="0" smtClean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索引分块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，一般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128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个</a:t>
            </a:r>
            <a:r>
              <a:rPr lang="en-US" altLang="zh-CN" dirty="0" err="1" smtClean="0">
                <a:latin typeface="华文楷体" pitchFamily="2" charset="-122"/>
                <a:ea typeface="华文楷体" pitchFamily="2" charset="-122"/>
              </a:rPr>
              <a:t>docID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为一块，头信息存储每块最大值，在查询过程中进行跳块。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279567" y="3879312"/>
                <a:ext cx="102731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128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129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130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256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,……,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897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1000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567" y="3879312"/>
                <a:ext cx="10273141" cy="461665"/>
              </a:xfrm>
              <a:prstGeom prst="rect">
                <a:avLst/>
              </a:prstGeom>
              <a:blipFill rotWithShape="1"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左大括号 21"/>
          <p:cNvSpPr/>
          <p:nvPr/>
        </p:nvSpPr>
        <p:spPr bwMode="auto">
          <a:xfrm rot="16200000">
            <a:off x="4238680" y="3596158"/>
            <a:ext cx="360040" cy="1728429"/>
          </a:xfrm>
          <a:prstGeom prst="leftBrac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左大括号 32"/>
          <p:cNvSpPr/>
          <p:nvPr/>
        </p:nvSpPr>
        <p:spPr bwMode="auto">
          <a:xfrm rot="16200000">
            <a:off x="6379123" y="3367818"/>
            <a:ext cx="360040" cy="2146056"/>
          </a:xfrm>
          <a:prstGeom prst="leftBrac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左大括号 33"/>
          <p:cNvSpPr/>
          <p:nvPr/>
        </p:nvSpPr>
        <p:spPr bwMode="auto">
          <a:xfrm rot="16200000">
            <a:off x="9057969" y="3665925"/>
            <a:ext cx="360040" cy="1588896"/>
          </a:xfrm>
          <a:prstGeom prst="leftBrac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274744" y="4619400"/>
                <a:ext cx="2400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block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744" y="4619400"/>
                <a:ext cx="2400267" cy="46166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486115" y="4689723"/>
                <a:ext cx="2400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block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115" y="4689723"/>
                <a:ext cx="2400267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8037856" y="4640393"/>
                <a:ext cx="2400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block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856" y="4640393"/>
                <a:ext cx="2400267" cy="4616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176452" y="5070076"/>
                <a:ext cx="102731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128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256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384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1000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452" y="5070076"/>
                <a:ext cx="10273141" cy="461665"/>
              </a:xfrm>
              <a:prstGeom prst="rect">
                <a:avLst/>
              </a:prstGeom>
              <a:blipFill rotWithShape="1">
                <a:blip r:embed="rId11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箭头连接符 38"/>
          <p:cNvCxnSpPr/>
          <p:nvPr/>
        </p:nvCxnSpPr>
        <p:spPr bwMode="auto">
          <a:xfrm flipH="1">
            <a:off x="4474877" y="4260825"/>
            <a:ext cx="468995" cy="80925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</p:spPr>
      </p:cxnSp>
      <p:cxnSp>
        <p:nvCxnSpPr>
          <p:cNvPr id="40" name="直接箭头连接符 39"/>
          <p:cNvCxnSpPr/>
          <p:nvPr/>
        </p:nvCxnSpPr>
        <p:spPr bwMode="auto">
          <a:xfrm flipH="1">
            <a:off x="5903979" y="4280353"/>
            <a:ext cx="1411136" cy="78972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</p:spPr>
      </p:cxnSp>
      <p:cxnSp>
        <p:nvCxnSpPr>
          <p:cNvPr id="41" name="直接箭头连接符 40"/>
          <p:cNvCxnSpPr/>
          <p:nvPr/>
        </p:nvCxnSpPr>
        <p:spPr bwMode="auto">
          <a:xfrm flipH="1">
            <a:off x="8688288" y="4280353"/>
            <a:ext cx="1152128" cy="78972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</p:spPr>
      </p:cxnSp>
      <p:sp>
        <p:nvSpPr>
          <p:cNvPr id="42" name="TextBox 41"/>
          <p:cNvSpPr txBox="1"/>
          <p:nvPr/>
        </p:nvSpPr>
        <p:spPr>
          <a:xfrm>
            <a:off x="1560545" y="5045636"/>
            <a:ext cx="1839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头信息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0435" y="5483744"/>
            <a:ext cx="7711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倒排索引即由多个倒排列表构成。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8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683"/>
    </mc:Choice>
    <mc:Fallback xmlns="">
      <p:transition advTm="94683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6240037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2.1</a:t>
            </a:r>
            <a:r>
              <a:rPr lang="en-US" altLang="zh-CN" dirty="0"/>
              <a:t>  </a:t>
            </a:r>
            <a:r>
              <a:rPr lang="zh-CN" altLang="en-US" dirty="0"/>
              <a:t>索引结构（倒排索引）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14197" y="1000671"/>
                <a:ext cx="1086401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查询过程经常会用到函数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𝒍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𝒕</m:t>
                        </m:r>
                      </m:sub>
                    </m:sSub>
                    <m:r>
                      <a:rPr lang="en-US" altLang="zh-CN" b="1" i="0" smtClean="0">
                        <a:latin typeface="Cambria Math"/>
                      </a:rPr>
                      <m:t>.</m:t>
                    </m:r>
                    <m:r>
                      <a:rPr lang="en-US" altLang="zh-CN" b="1" i="0" smtClean="0">
                        <a:latin typeface="Cambria Math"/>
                        <a:ea typeface="华文楷体" pitchFamily="2" charset="-122"/>
                      </a:rPr>
                      <m:t>𝐧𝐞𝐱𝐭𝐄𝐪</m:t>
                    </m:r>
                    <m:d>
                      <m:dPr>
                        <m:ctrlPr>
                          <a:rPr lang="en-US" altLang="zh-CN" b="1" i="1" smtClean="0">
                            <a:latin typeface="Cambria Math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/>
                            <a:ea typeface="华文楷体" pitchFamily="2" charset="-122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,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该函数返回倒排列表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中大于等于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x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的</a:t>
                </a:r>
                <a:r>
                  <a:rPr lang="en-US" altLang="zh-CN" dirty="0" err="1" smtClean="0">
                    <a:latin typeface="华文楷体" pitchFamily="2" charset="-122"/>
                    <a:ea typeface="华文楷体" pitchFamily="2" charset="-122"/>
                  </a:rPr>
                  <a:t>docID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值，如果</a:t>
                </a:r>
                <a:r>
                  <a:rPr lang="en-US" altLang="zh-CN" dirty="0" err="1" smtClean="0">
                    <a:latin typeface="华文楷体" pitchFamily="2" charset="-122"/>
                    <a:ea typeface="华文楷体" pitchFamily="2" charset="-122"/>
                  </a:rPr>
                  <a:t>docID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==x,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说明文档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x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包含词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t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，若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d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x,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说明文档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x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不包含词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t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。</a:t>
                </a:r>
                <a:endParaRPr lang="en-US" altLang="zh-CN" dirty="0" smtClean="0">
                  <a:latin typeface="华文楷体" pitchFamily="2" charset="-122"/>
                  <a:ea typeface="华文楷体" pitchFamily="2" charset="-122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altLang="zh-CN" dirty="0">
                  <a:latin typeface="华文楷体" pitchFamily="2" charset="-122"/>
                  <a:ea typeface="华文楷体" pitchFamily="2" charset="-122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利用头信息可以根据块的最大文档编号快速定位到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x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可能出现的块，对该块进行解码，恢复</a:t>
                </a:r>
                <a:r>
                  <a:rPr lang="en-US" altLang="zh-CN" dirty="0" smtClean="0">
                    <a:latin typeface="华文楷体" pitchFamily="2" charset="-122"/>
                    <a:ea typeface="华文楷体" pitchFamily="2" charset="-122"/>
                  </a:rPr>
                  <a:t>d-gap</a:t>
                </a:r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，然后进行查找。</a:t>
                </a:r>
                <a:endParaRPr lang="en-US" altLang="zh-CN" dirty="0" smtClean="0">
                  <a:latin typeface="华文楷体" pitchFamily="2" charset="-122"/>
                  <a:ea typeface="华文楷体" pitchFamily="2" charset="-122"/>
                </a:endParaRPr>
              </a:p>
              <a:p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例如当调用函数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CN" b="0" i="0" smtClean="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  <a:ea typeface="华文楷体" pitchFamily="2" charset="-122"/>
                      </a:rPr>
                      <m:t>nextEq</m:t>
                    </m:r>
                    <m:d>
                      <m:dPr>
                        <m:ctrlPr>
                          <a:rPr lang="en-US" altLang="zh-CN" i="1" smtClean="0">
                            <a:latin typeface="Cambria Math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华文楷体" pitchFamily="2" charset="-122"/>
                          </a:rPr>
                          <m:t>x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华文楷体" pitchFamily="2" charset="-122"/>
                    <a:ea typeface="华文楷体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Cambria Math"/>
                          </a:rPr>
                          <m:t>docID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128</m:t>
                        </m:r>
                      </m:sub>
                    </m:sSub>
                    <m:r>
                      <a:rPr lang="en-US" altLang="zh-CN" b="0" i="0" dirty="0" smtClean="0">
                        <a:latin typeface="Cambria Math"/>
                        <a:ea typeface="华文楷体" pitchFamily="2" charset="-122"/>
                      </a:rPr>
                      <m:t>&lt;</m:t>
                    </m:r>
                    <m:r>
                      <a:rPr lang="en-US" altLang="zh-CN" b="0" i="1" dirty="0" smtClean="0">
                        <a:latin typeface="Cambria Math"/>
                        <a:ea typeface="华文楷体" pitchFamily="2" charset="-122"/>
                      </a:rPr>
                      <m:t>𝑥</m:t>
                    </m:r>
                    <m:r>
                      <a:rPr lang="en-US" altLang="zh-CN" b="0" i="1" dirty="0" smtClean="0">
                        <a:latin typeface="Cambria Math"/>
                        <a:ea typeface="华文楷体" pitchFamily="2" charset="-122"/>
                      </a:rPr>
                      <m:t>&lt;</m:t>
                    </m:r>
                    <m:sSub>
                      <m:sSubPr>
                        <m:ctrlPr>
                          <a:rPr lang="en-US" altLang="zh-CN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Cambria Math"/>
                          </a:rPr>
                          <m:t>docID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256</m:t>
                        </m:r>
                      </m:sub>
                    </m:sSub>
                  </m:oMath>
                </a14:m>
                <a:endParaRPr lang="en-US" altLang="zh-CN" dirty="0" smtClean="0">
                  <a:latin typeface="华文楷体" pitchFamily="2" charset="-122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97" y="1000671"/>
                <a:ext cx="10864016" cy="2308324"/>
              </a:xfrm>
              <a:prstGeom prst="rect">
                <a:avLst/>
              </a:prstGeom>
              <a:blipFill rotWithShape="1">
                <a:blip r:embed="rId3"/>
                <a:stretch>
                  <a:fillRect l="-842" t="-2111" b="-50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562918" y="3220601"/>
                <a:ext cx="102731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128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129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130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256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,……,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897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1000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918" y="3220601"/>
                <a:ext cx="10273141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左大括号 24"/>
          <p:cNvSpPr/>
          <p:nvPr/>
        </p:nvSpPr>
        <p:spPr bwMode="auto">
          <a:xfrm rot="16200000">
            <a:off x="5358639" y="2818907"/>
            <a:ext cx="360040" cy="1728429"/>
          </a:xfrm>
          <a:prstGeom prst="leftBrac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左大括号 25"/>
          <p:cNvSpPr/>
          <p:nvPr/>
        </p:nvSpPr>
        <p:spPr bwMode="auto">
          <a:xfrm rot="16200000">
            <a:off x="7499082" y="2590566"/>
            <a:ext cx="360040" cy="2146056"/>
          </a:xfrm>
          <a:prstGeom prst="leftBrac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左大括号 26"/>
          <p:cNvSpPr/>
          <p:nvPr/>
        </p:nvSpPr>
        <p:spPr bwMode="auto">
          <a:xfrm rot="16200000">
            <a:off x="10177928" y="2888673"/>
            <a:ext cx="360040" cy="1588896"/>
          </a:xfrm>
          <a:prstGeom prst="leftBrac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394703" y="3842148"/>
                <a:ext cx="2400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block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03" y="3842148"/>
                <a:ext cx="2400267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606074" y="3912471"/>
                <a:ext cx="2400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block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074" y="3912471"/>
                <a:ext cx="2400267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9157815" y="3863141"/>
                <a:ext cx="2400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block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815" y="3863141"/>
                <a:ext cx="2400267" cy="461665"/>
              </a:xfrm>
              <a:prstGeom prst="rect">
                <a:avLst/>
              </a:prstGeom>
              <a:blipFill rotWithShape="1">
                <a:blip r:embed="rId7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459803" y="4411365"/>
                <a:ext cx="102731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128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256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384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docID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1000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803" y="4411365"/>
                <a:ext cx="10273141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47163" y="4988570"/>
                <a:ext cx="102731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block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129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130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256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3" y="4988570"/>
                <a:ext cx="10273141" cy="461665"/>
              </a:xfrm>
              <a:prstGeom prst="rect">
                <a:avLst/>
              </a:prstGeom>
              <a:blipFill rotWithShape="1"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/>
              <p:cNvSpPr/>
              <p:nvPr/>
            </p:nvSpPr>
            <p:spPr>
              <a:xfrm>
                <a:off x="654867" y="3489349"/>
                <a:ext cx="364840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 smtClean="0">
                    <a:solidFill>
                      <a:srgbClr val="C00000"/>
                    </a:solidFill>
                    <a:latin typeface="华文楷体" pitchFamily="2" charset="-122"/>
                    <a:ea typeface="华文楷体" pitchFamily="2" charset="-122"/>
                  </a:rPr>
                  <a:t>1. </a:t>
                </a:r>
                <a:r>
                  <a:rPr lang="zh-CN" altLang="en-US" dirty="0" smtClean="0">
                    <a:solidFill>
                      <a:srgbClr val="C00000"/>
                    </a:solidFill>
                    <a:latin typeface="华文楷体" pitchFamily="2" charset="-122"/>
                    <a:ea typeface="华文楷体" pitchFamily="2" charset="-122"/>
                  </a:rPr>
                  <a:t>根据头信息确定</a:t>
                </a:r>
                <a:r>
                  <a:rPr lang="en-US" altLang="zh-CN" dirty="0" smtClean="0">
                    <a:solidFill>
                      <a:srgbClr val="C00000"/>
                    </a:solidFill>
                    <a:latin typeface="华文楷体" pitchFamily="2" charset="-122"/>
                    <a:ea typeface="华文楷体" pitchFamily="2" charset="-122"/>
                  </a:rPr>
                  <a:t>x</a:t>
                </a:r>
                <a:r>
                  <a:rPr lang="zh-CN" altLang="en-US" dirty="0" smtClean="0">
                    <a:solidFill>
                      <a:srgbClr val="C00000"/>
                    </a:solidFill>
                    <a:latin typeface="华文楷体" pitchFamily="2" charset="-122"/>
                    <a:ea typeface="华文楷体" pitchFamily="2" charset="-122"/>
                  </a:rPr>
                  <a:t>可能存在于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block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dirty="0">
                  <a:latin typeface="华文楷体" pitchFamily="2" charset="-122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44" name="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67" y="3489349"/>
                <a:ext cx="3648407" cy="830997"/>
              </a:xfrm>
              <a:prstGeom prst="rect">
                <a:avLst/>
              </a:prstGeom>
              <a:blipFill rotWithShape="1">
                <a:blip r:embed="rId10"/>
                <a:stretch>
                  <a:fillRect l="-2504" t="-5839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752091" y="4952880"/>
                <a:ext cx="19695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 smtClean="0">
                    <a:solidFill>
                      <a:srgbClr val="C00000"/>
                    </a:solidFill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block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rgbClr val="C00000"/>
                    </a:solidFill>
                    <a:latin typeface="华文楷体" pitchFamily="2" charset="-122"/>
                    <a:ea typeface="华文楷体" pitchFamily="2" charset="-122"/>
                  </a:rPr>
                  <a:t>解码</a:t>
                </a:r>
                <a:endParaRPr lang="en-US" altLang="zh-CN" dirty="0" smtClean="0">
                  <a:solidFill>
                    <a:srgbClr val="C00000"/>
                  </a:solidFill>
                  <a:latin typeface="华文楷体" pitchFamily="2" charset="-122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91" y="4952880"/>
                <a:ext cx="1969578" cy="461665"/>
              </a:xfrm>
              <a:prstGeom prst="rect">
                <a:avLst/>
              </a:prstGeom>
              <a:blipFill rotWithShape="1">
                <a:blip r:embed="rId11"/>
                <a:stretch>
                  <a:fillRect l="-4644" t="-11842" r="-4025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714198" y="5397824"/>
                <a:ext cx="26396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 smtClean="0">
                    <a:solidFill>
                      <a:srgbClr val="C00000"/>
                    </a:solidFill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block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rgbClr val="C00000"/>
                    </a:solidFill>
                    <a:latin typeface="华文楷体" pitchFamily="2" charset="-122"/>
                    <a:ea typeface="华文楷体" pitchFamily="2" charset="-122"/>
                  </a:rPr>
                  <a:t>恢复</a:t>
                </a:r>
                <a:r>
                  <a:rPr lang="en-US" altLang="zh-CN" dirty="0" smtClean="0">
                    <a:solidFill>
                      <a:srgbClr val="C00000"/>
                    </a:solidFill>
                    <a:latin typeface="华文楷体" pitchFamily="2" charset="-122"/>
                    <a:ea typeface="华文楷体" pitchFamily="2" charset="-122"/>
                  </a:rPr>
                  <a:t>d-gap</a:t>
                </a:r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98" y="5397824"/>
                <a:ext cx="2639633" cy="461665"/>
              </a:xfrm>
              <a:prstGeom prst="rect">
                <a:avLst/>
              </a:prstGeom>
              <a:blipFill rotWithShape="1">
                <a:blip r:embed="rId12"/>
                <a:stretch>
                  <a:fillRect l="-3464" t="-11842" r="-2771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658400" y="5397825"/>
                <a:ext cx="102731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block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/>
                              <a:ea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cID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129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/>
                              <a:ea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cID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130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/>
                              <a:ea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  <a:ea typeface="Cambria Math"/>
                            </a:rPr>
                            <m:t>cID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256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400" y="5397825"/>
                <a:ext cx="10273141" cy="461665"/>
              </a:xfrm>
              <a:prstGeom prst="rect">
                <a:avLst/>
              </a:prstGeom>
              <a:blipFill rotWithShape="1">
                <a:blip r:embed="rId1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矩形 47"/>
          <p:cNvSpPr/>
          <p:nvPr/>
        </p:nvSpPr>
        <p:spPr>
          <a:xfrm>
            <a:off x="714198" y="5817565"/>
            <a:ext cx="2781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4. </a:t>
            </a:r>
            <a:r>
              <a:rPr lang="zh-CN" altLang="en-US" dirty="0" smtClean="0">
                <a:solidFill>
                  <a:srgbClr val="C00000"/>
                </a:solidFill>
                <a:latin typeface="华文楷体" pitchFamily="2" charset="-122"/>
                <a:ea typeface="华文楷体" pitchFamily="2" charset="-122"/>
              </a:rPr>
              <a:t>块内对</a:t>
            </a:r>
            <a:r>
              <a:rPr lang="en-US" altLang="zh-CN" dirty="0" smtClean="0">
                <a:solidFill>
                  <a:srgbClr val="C00000"/>
                </a:solidFill>
                <a:latin typeface="华文楷体" pitchFamily="2" charset="-122"/>
                <a:ea typeface="华文楷体" pitchFamily="2" charset="-122"/>
              </a:rPr>
              <a:t>x</a:t>
            </a:r>
            <a:r>
              <a:rPr lang="zh-CN" altLang="en-US" dirty="0" smtClean="0">
                <a:solidFill>
                  <a:srgbClr val="C00000"/>
                </a:solidFill>
                <a:latin typeface="华文楷体" pitchFamily="2" charset="-122"/>
                <a:ea typeface="华文楷体" pitchFamily="2" charset="-122"/>
              </a:rPr>
              <a:t>进行查找</a:t>
            </a:r>
            <a:endParaRPr lang="zh-CN" altLang="en-US" dirty="0">
              <a:solidFill>
                <a:srgbClr val="C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189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00982"/>
    </mc:Choice>
    <mc:Fallback xmlns="">
      <p:transition advTm="100982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616301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2.1 </a:t>
            </a:r>
            <a:r>
              <a:rPr lang="en-US" altLang="zh-CN" dirty="0"/>
              <a:t> </a:t>
            </a:r>
            <a:r>
              <a:rPr lang="zh-CN" altLang="en-US" dirty="0"/>
              <a:t>索引结构（签名文件）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xmlns="" id="{1458DD6E-BEB3-4C34-8373-619560C13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461" y="1107067"/>
            <a:ext cx="3226300" cy="389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文档签名</a:t>
            </a:r>
          </a:p>
        </p:txBody>
      </p:sp>
      <p:sp>
        <p:nvSpPr>
          <p:cNvPr id="95" name="TextBox 5">
            <a:extLst>
              <a:ext uri="{FF2B5EF4-FFF2-40B4-BE49-F238E27FC236}">
                <a16:creationId xmlns:a16="http://schemas.microsoft.com/office/drawing/2014/main" xmlns="" id="{38619868-155D-47D6-861C-7D3642142039}"/>
              </a:ext>
            </a:extLst>
          </p:cNvPr>
          <p:cNvSpPr txBox="1"/>
          <p:nvPr/>
        </p:nvSpPr>
        <p:spPr>
          <a:xfrm>
            <a:off x="919461" y="1649541"/>
            <a:ext cx="658529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利用哈希函数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/</a:t>
            </a:r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重叠编码为每篇文档生成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0-1</a:t>
            </a:r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序列</a:t>
            </a:r>
            <a:endParaRPr lang="en-US" altLang="zh-CN" sz="24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C32C11D1-8B0D-4076-B2AD-845FC4BD1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46" y="854291"/>
            <a:ext cx="2085714" cy="4669900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xmlns="" id="{E40CFBEB-B3D2-40E0-8F8B-2B0A68158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72" y="2578749"/>
            <a:ext cx="3226300" cy="389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签名文件</a:t>
            </a:r>
          </a:p>
        </p:txBody>
      </p:sp>
      <p:sp>
        <p:nvSpPr>
          <p:cNvPr id="51" name="TextBox 5">
            <a:extLst>
              <a:ext uri="{FF2B5EF4-FFF2-40B4-BE49-F238E27FC236}">
                <a16:creationId xmlns:a16="http://schemas.microsoft.com/office/drawing/2014/main" xmlns="" id="{C3E1013B-612A-4120-B7E8-AD6A1FB649D5}"/>
              </a:ext>
            </a:extLst>
          </p:cNvPr>
          <p:cNvSpPr txBox="1"/>
          <p:nvPr/>
        </p:nvSpPr>
        <p:spPr>
          <a:xfrm>
            <a:off x="891572" y="3121223"/>
            <a:ext cx="60146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集合内所有文档签名组成签名文件</a:t>
            </a:r>
            <a:endParaRPr lang="en-US" altLang="zh-CN" sz="24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AC0AA93F-C1D4-49E8-A32A-1E2B63BA89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0" y="2166465"/>
            <a:ext cx="4117576" cy="4421642"/>
          </a:xfrm>
          <a:prstGeom prst="rect">
            <a:avLst/>
          </a:prstGeom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xmlns="" id="{486CF82E-9F70-4279-AB01-67AC7616F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627" y="3988178"/>
            <a:ext cx="3226300" cy="389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召回计算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xmlns="" id="{4B43998F-BF92-4885-BE92-183920288B2E}"/>
              </a:ext>
            </a:extLst>
          </p:cNvPr>
          <p:cNvSpPr/>
          <p:nvPr/>
        </p:nvSpPr>
        <p:spPr>
          <a:xfrm>
            <a:off x="7002421" y="2420888"/>
            <a:ext cx="4350164" cy="638082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xmlns="" id="{4E0CB3ED-35FE-4981-B9BA-184AA2DEC79A}"/>
              </a:ext>
            </a:extLst>
          </p:cNvPr>
          <p:cNvSpPr/>
          <p:nvPr/>
        </p:nvSpPr>
        <p:spPr>
          <a:xfrm>
            <a:off x="7107417" y="6159172"/>
            <a:ext cx="4350164" cy="428935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663C6AF9-A3D5-490C-8EA5-C7B16E97BE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465" y="3789092"/>
            <a:ext cx="5102120" cy="1790896"/>
          </a:xfrm>
          <a:prstGeom prst="rect">
            <a:avLst/>
          </a:prstGeom>
        </p:spPr>
      </p:pic>
      <p:sp>
        <p:nvSpPr>
          <p:cNvPr id="70" name="TextBox 5">
            <a:extLst>
              <a:ext uri="{FF2B5EF4-FFF2-40B4-BE49-F238E27FC236}">
                <a16:creationId xmlns:a16="http://schemas.microsoft.com/office/drawing/2014/main" xmlns="" id="{DD95C655-74F8-4E0C-B3BE-FBA65492F681}"/>
              </a:ext>
            </a:extLst>
          </p:cNvPr>
          <p:cNvSpPr txBox="1"/>
          <p:nvPr/>
        </p:nvSpPr>
        <p:spPr>
          <a:xfrm>
            <a:off x="877627" y="4530652"/>
            <a:ext cx="60146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通过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0-1</a:t>
            </a:r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行序列求交快速召回查询结果</a:t>
            </a:r>
            <a:endParaRPr lang="en-US" altLang="zh-CN" sz="24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xmlns="" id="{A51FD913-D967-43CF-8B41-8F8137F7A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5278369"/>
            <a:ext cx="3226300" cy="389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相比于倒排索引</a:t>
            </a:r>
          </a:p>
        </p:txBody>
      </p:sp>
      <p:sp>
        <p:nvSpPr>
          <p:cNvPr id="84" name="TextBox 5">
            <a:extLst>
              <a:ext uri="{FF2B5EF4-FFF2-40B4-BE49-F238E27FC236}">
                <a16:creationId xmlns:a16="http://schemas.microsoft.com/office/drawing/2014/main" xmlns="" id="{687D105D-6754-4A9B-A120-30085A6946EF}"/>
              </a:ext>
            </a:extLst>
          </p:cNvPr>
          <p:cNvSpPr txBox="1"/>
          <p:nvPr/>
        </p:nvSpPr>
        <p:spPr>
          <a:xfrm>
            <a:off x="839416" y="5820843"/>
            <a:ext cx="60146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明显浪费存储空间但加速召回过程</a:t>
            </a:r>
            <a:endParaRPr lang="en-US" altLang="zh-CN" sz="24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133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987"/>
    </mc:Choice>
    <mc:Fallback xmlns="">
      <p:transition advTm="79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1" grpId="1" animBg="1"/>
      <p:bldP spid="73" grpId="0" animBg="1"/>
      <p:bldP spid="7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2.2</a:t>
            </a:r>
            <a:r>
              <a:rPr lang="en-US" altLang="zh-CN" dirty="0"/>
              <a:t>  </a:t>
            </a:r>
            <a:r>
              <a:rPr lang="zh-CN" altLang="en-US" dirty="0"/>
              <a:t>经典压缩方案（编码压缩）</a:t>
            </a:r>
          </a:p>
        </p:txBody>
      </p:sp>
      <p:sp>
        <p:nvSpPr>
          <p:cNvPr id="31" name="任意多边形 30"/>
          <p:cNvSpPr/>
          <p:nvPr/>
        </p:nvSpPr>
        <p:spPr>
          <a:xfrm>
            <a:off x="0" y="3710692"/>
            <a:ext cx="12192000" cy="318696"/>
          </a:xfrm>
          <a:custGeom>
            <a:avLst/>
            <a:gdLst>
              <a:gd name="connsiteX0" fmla="*/ 11694872 w 11999724"/>
              <a:gd name="connsiteY0" fmla="*/ 0 h 318696"/>
              <a:gd name="connsiteX1" fmla="*/ 11999724 w 11999724"/>
              <a:gd name="connsiteY1" fmla="*/ 159349 h 318696"/>
              <a:gd name="connsiteX2" fmla="*/ 11694872 w 11999724"/>
              <a:gd name="connsiteY2" fmla="*/ 318696 h 318696"/>
              <a:gd name="connsiteX3" fmla="*/ 11694872 w 11999724"/>
              <a:gd name="connsiteY3" fmla="*/ 213348 h 318696"/>
              <a:gd name="connsiteX4" fmla="*/ 0 w 11999724"/>
              <a:gd name="connsiteY4" fmla="*/ 213348 h 318696"/>
              <a:gd name="connsiteX5" fmla="*/ 0 w 11999724"/>
              <a:gd name="connsiteY5" fmla="*/ 105348 h 318696"/>
              <a:gd name="connsiteX6" fmla="*/ 11694872 w 11999724"/>
              <a:gd name="connsiteY6" fmla="*/ 105348 h 31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99724" h="318696">
                <a:moveTo>
                  <a:pt x="11694872" y="0"/>
                </a:moveTo>
                <a:lnTo>
                  <a:pt x="11999724" y="159349"/>
                </a:lnTo>
                <a:lnTo>
                  <a:pt x="11694872" y="318696"/>
                </a:lnTo>
                <a:lnTo>
                  <a:pt x="11694872" y="213348"/>
                </a:lnTo>
                <a:lnTo>
                  <a:pt x="0" y="213348"/>
                </a:lnTo>
                <a:lnTo>
                  <a:pt x="0" y="105348"/>
                </a:lnTo>
                <a:lnTo>
                  <a:pt x="11694872" y="10534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136345" y="3573274"/>
            <a:ext cx="611399" cy="61189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8" name="TextBox 3"/>
          <p:cNvSpPr txBox="1"/>
          <p:nvPr/>
        </p:nvSpPr>
        <p:spPr>
          <a:xfrm>
            <a:off x="89876" y="3734121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1971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12"/>
          <p:cNvSpPr txBox="1"/>
          <p:nvPr/>
        </p:nvSpPr>
        <p:spPr>
          <a:xfrm>
            <a:off x="196295" y="2829147"/>
            <a:ext cx="551449" cy="243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Rice</a:t>
            </a:r>
          </a:p>
        </p:txBody>
      </p:sp>
      <p:sp>
        <p:nvSpPr>
          <p:cNvPr id="40" name="TextBox 13"/>
          <p:cNvSpPr txBox="1"/>
          <p:nvPr/>
        </p:nvSpPr>
        <p:spPr>
          <a:xfrm>
            <a:off x="3981794" y="1292897"/>
            <a:ext cx="4228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整数序列编码方案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19452" y="3196451"/>
            <a:ext cx="850242" cy="1100356"/>
            <a:chOff x="1305660" y="3303568"/>
            <a:chExt cx="1097577" cy="1479012"/>
          </a:xfrm>
        </p:grpSpPr>
        <p:cxnSp>
          <p:nvCxnSpPr>
            <p:cNvPr id="50" name="直接连接符 49"/>
            <p:cNvCxnSpPr/>
            <p:nvPr/>
          </p:nvCxnSpPr>
          <p:spPr>
            <a:xfrm flipV="1">
              <a:off x="1854448" y="3303568"/>
              <a:ext cx="0" cy="381435"/>
            </a:xfrm>
            <a:prstGeom prst="line">
              <a:avLst/>
            </a:prstGeom>
            <a:ln>
              <a:solidFill>
                <a:schemeClr val="tx2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弧形 50"/>
            <p:cNvSpPr/>
            <p:nvPr/>
          </p:nvSpPr>
          <p:spPr>
            <a:xfrm>
              <a:off x="1305660" y="368500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" name="椭圆 68">
            <a:extLst>
              <a:ext uri="{FF2B5EF4-FFF2-40B4-BE49-F238E27FC236}">
                <a16:creationId xmlns:a16="http://schemas.microsoft.com/office/drawing/2014/main" xmlns="" id="{E7DB87CC-E2FF-4313-9F92-979A1D480CD9}"/>
              </a:ext>
            </a:extLst>
          </p:cNvPr>
          <p:cNvSpPr/>
          <p:nvPr/>
        </p:nvSpPr>
        <p:spPr>
          <a:xfrm>
            <a:off x="891838" y="3577014"/>
            <a:ext cx="611890" cy="611890"/>
          </a:xfrm>
          <a:prstGeom prst="ellipse">
            <a:avLst/>
          </a:prstGeom>
          <a:solidFill>
            <a:srgbClr val="27B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1" name="TextBox 16"/>
          <p:cNvSpPr txBox="1"/>
          <p:nvPr/>
        </p:nvSpPr>
        <p:spPr>
          <a:xfrm>
            <a:off x="859017" y="3729070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1974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xmlns="" id="{F26FD583-F1F3-40DD-ADCE-FFEE34621BEA}"/>
              </a:ext>
            </a:extLst>
          </p:cNvPr>
          <p:cNvGrpSpPr/>
          <p:nvPr/>
        </p:nvGrpSpPr>
        <p:grpSpPr>
          <a:xfrm>
            <a:off x="767408" y="3409465"/>
            <a:ext cx="860747" cy="1162618"/>
            <a:chOff x="3021724" y="3681673"/>
            <a:chExt cx="1097577" cy="1482506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xmlns="" id="{3CC25EEE-C013-4401-9403-973B1481F3F9}"/>
                </a:ext>
              </a:extLst>
            </p:cNvPr>
            <p:cNvCxnSpPr/>
            <p:nvPr/>
          </p:nvCxnSpPr>
          <p:spPr>
            <a:xfrm>
              <a:off x="3570512" y="4782579"/>
              <a:ext cx="0" cy="381600"/>
            </a:xfrm>
            <a:prstGeom prst="line">
              <a:avLst/>
            </a:prstGeom>
            <a:ln>
              <a:solidFill>
                <a:srgbClr val="27B3C6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弧形 71">
              <a:extLst>
                <a:ext uri="{FF2B5EF4-FFF2-40B4-BE49-F238E27FC236}">
                  <a16:creationId xmlns:a16="http://schemas.microsoft.com/office/drawing/2014/main" xmlns="" id="{5514BCA3-56B4-4C58-8906-8218418289C5}"/>
                </a:ext>
              </a:extLst>
            </p:cNvPr>
            <p:cNvSpPr/>
            <p:nvPr/>
          </p:nvSpPr>
          <p:spPr>
            <a:xfrm rot="10800000">
              <a:off x="3021724" y="368167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rgbClr val="27B3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椭圆 72">
            <a:extLst>
              <a:ext uri="{FF2B5EF4-FFF2-40B4-BE49-F238E27FC236}">
                <a16:creationId xmlns:a16="http://schemas.microsoft.com/office/drawing/2014/main" xmlns="" id="{CE9AAC34-C393-4D9E-AC84-25C91912B7D4}"/>
              </a:ext>
            </a:extLst>
          </p:cNvPr>
          <p:cNvSpPr/>
          <p:nvPr/>
        </p:nvSpPr>
        <p:spPr>
          <a:xfrm>
            <a:off x="1753882" y="3569534"/>
            <a:ext cx="611399" cy="61189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74" name="TextBox 3">
            <a:extLst>
              <a:ext uri="{FF2B5EF4-FFF2-40B4-BE49-F238E27FC236}">
                <a16:creationId xmlns:a16="http://schemas.microsoft.com/office/drawing/2014/main" xmlns="" id="{2C07AF90-1DD8-413B-A37C-A9BC32AAD040}"/>
              </a:ext>
            </a:extLst>
          </p:cNvPr>
          <p:cNvSpPr txBox="1"/>
          <p:nvPr/>
        </p:nvSpPr>
        <p:spPr>
          <a:xfrm>
            <a:off x="1707413" y="3730381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1975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xmlns="" id="{857414F9-C27E-4239-A701-AF66CDE17ECC}"/>
              </a:ext>
            </a:extLst>
          </p:cNvPr>
          <p:cNvGrpSpPr/>
          <p:nvPr/>
        </p:nvGrpSpPr>
        <p:grpSpPr>
          <a:xfrm>
            <a:off x="1635797" y="3200191"/>
            <a:ext cx="850242" cy="1100356"/>
            <a:chOff x="1305660" y="3303568"/>
            <a:chExt cx="1097577" cy="1479012"/>
          </a:xfrm>
        </p:grpSpPr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xmlns="" id="{AED18C45-8456-427A-B639-E90B247700A2}"/>
                </a:ext>
              </a:extLst>
            </p:cNvPr>
            <p:cNvCxnSpPr/>
            <p:nvPr/>
          </p:nvCxnSpPr>
          <p:spPr>
            <a:xfrm flipV="1">
              <a:off x="1854448" y="3303568"/>
              <a:ext cx="0" cy="381435"/>
            </a:xfrm>
            <a:prstGeom prst="line">
              <a:avLst/>
            </a:prstGeom>
            <a:ln>
              <a:solidFill>
                <a:schemeClr val="tx2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弧形 76">
              <a:extLst>
                <a:ext uri="{FF2B5EF4-FFF2-40B4-BE49-F238E27FC236}">
                  <a16:creationId xmlns:a16="http://schemas.microsoft.com/office/drawing/2014/main" xmlns="" id="{9B6E1543-B9CD-4355-A8C6-A5B9D709161D}"/>
                </a:ext>
              </a:extLst>
            </p:cNvPr>
            <p:cNvSpPr/>
            <p:nvPr/>
          </p:nvSpPr>
          <p:spPr>
            <a:xfrm>
              <a:off x="1305660" y="368500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8" name="椭圆 77">
            <a:extLst>
              <a:ext uri="{FF2B5EF4-FFF2-40B4-BE49-F238E27FC236}">
                <a16:creationId xmlns:a16="http://schemas.microsoft.com/office/drawing/2014/main" xmlns="" id="{75DB8208-7F0A-43BE-A3A8-A72F83E02575}"/>
              </a:ext>
            </a:extLst>
          </p:cNvPr>
          <p:cNvSpPr/>
          <p:nvPr/>
        </p:nvSpPr>
        <p:spPr>
          <a:xfrm>
            <a:off x="2614777" y="3573274"/>
            <a:ext cx="611890" cy="611890"/>
          </a:xfrm>
          <a:prstGeom prst="ellipse">
            <a:avLst/>
          </a:prstGeom>
          <a:solidFill>
            <a:srgbClr val="27B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79" name="TextBox 16">
            <a:extLst>
              <a:ext uri="{FF2B5EF4-FFF2-40B4-BE49-F238E27FC236}">
                <a16:creationId xmlns:a16="http://schemas.microsoft.com/office/drawing/2014/main" xmlns="" id="{A58F4C52-C063-483A-B8BF-156801430D4F}"/>
              </a:ext>
            </a:extLst>
          </p:cNvPr>
          <p:cNvSpPr txBox="1"/>
          <p:nvPr/>
        </p:nvSpPr>
        <p:spPr>
          <a:xfrm>
            <a:off x="2581956" y="3725330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1990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xmlns="" id="{86A95AB4-1953-4D47-8982-2D9E4B322C50}"/>
              </a:ext>
            </a:extLst>
          </p:cNvPr>
          <p:cNvGrpSpPr/>
          <p:nvPr/>
        </p:nvGrpSpPr>
        <p:grpSpPr>
          <a:xfrm>
            <a:off x="2490347" y="3405725"/>
            <a:ext cx="860747" cy="1162618"/>
            <a:chOff x="3021724" y="3681673"/>
            <a:chExt cx="1097577" cy="1482506"/>
          </a:xfrm>
        </p:grpSpPr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xmlns="" id="{A29274E7-B14E-442E-B6D5-8F58B0C17F97}"/>
                </a:ext>
              </a:extLst>
            </p:cNvPr>
            <p:cNvCxnSpPr/>
            <p:nvPr/>
          </p:nvCxnSpPr>
          <p:spPr>
            <a:xfrm>
              <a:off x="3570512" y="4782579"/>
              <a:ext cx="0" cy="381600"/>
            </a:xfrm>
            <a:prstGeom prst="line">
              <a:avLst/>
            </a:prstGeom>
            <a:ln>
              <a:solidFill>
                <a:srgbClr val="27B3C6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弧形 81">
              <a:extLst>
                <a:ext uri="{FF2B5EF4-FFF2-40B4-BE49-F238E27FC236}">
                  <a16:creationId xmlns:a16="http://schemas.microsoft.com/office/drawing/2014/main" xmlns="" id="{182A47DF-FD01-492A-B627-77913BEBCDB9}"/>
                </a:ext>
              </a:extLst>
            </p:cNvPr>
            <p:cNvSpPr/>
            <p:nvPr/>
          </p:nvSpPr>
          <p:spPr>
            <a:xfrm rot="10800000">
              <a:off x="3021724" y="368167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rgbClr val="27B3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3" name="椭圆 82">
            <a:extLst>
              <a:ext uri="{FF2B5EF4-FFF2-40B4-BE49-F238E27FC236}">
                <a16:creationId xmlns:a16="http://schemas.microsoft.com/office/drawing/2014/main" xmlns="" id="{006D8169-BA35-411B-BFA0-8979B6250304}"/>
              </a:ext>
            </a:extLst>
          </p:cNvPr>
          <p:cNvSpPr/>
          <p:nvPr/>
        </p:nvSpPr>
        <p:spPr>
          <a:xfrm>
            <a:off x="3477781" y="3569534"/>
            <a:ext cx="611399" cy="61189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84" name="TextBox 3">
            <a:extLst>
              <a:ext uri="{FF2B5EF4-FFF2-40B4-BE49-F238E27FC236}">
                <a16:creationId xmlns:a16="http://schemas.microsoft.com/office/drawing/2014/main" xmlns="" id="{BBE145B7-27AA-4C9B-AD29-5F0181344D82}"/>
              </a:ext>
            </a:extLst>
          </p:cNvPr>
          <p:cNvSpPr txBox="1"/>
          <p:nvPr/>
        </p:nvSpPr>
        <p:spPr>
          <a:xfrm>
            <a:off x="3431312" y="3730381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1996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xmlns="" id="{3E5616B3-676A-4DA3-9F14-246F34BD7133}"/>
              </a:ext>
            </a:extLst>
          </p:cNvPr>
          <p:cNvGrpSpPr/>
          <p:nvPr/>
        </p:nvGrpSpPr>
        <p:grpSpPr>
          <a:xfrm>
            <a:off x="3359696" y="3200191"/>
            <a:ext cx="850242" cy="1100356"/>
            <a:chOff x="1305660" y="3303568"/>
            <a:chExt cx="1097577" cy="1479012"/>
          </a:xfrm>
        </p:grpSpPr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xmlns="" id="{ED93FDB0-D18B-4609-883C-465CC07A3D7A}"/>
                </a:ext>
              </a:extLst>
            </p:cNvPr>
            <p:cNvCxnSpPr/>
            <p:nvPr/>
          </p:nvCxnSpPr>
          <p:spPr>
            <a:xfrm flipV="1">
              <a:off x="1854448" y="3303568"/>
              <a:ext cx="0" cy="381435"/>
            </a:xfrm>
            <a:prstGeom prst="line">
              <a:avLst/>
            </a:prstGeom>
            <a:ln>
              <a:solidFill>
                <a:schemeClr val="tx2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弧形 86">
              <a:extLst>
                <a:ext uri="{FF2B5EF4-FFF2-40B4-BE49-F238E27FC236}">
                  <a16:creationId xmlns:a16="http://schemas.microsoft.com/office/drawing/2014/main" xmlns="" id="{A4341BAE-64E3-4C02-BB91-B988BC46D139}"/>
                </a:ext>
              </a:extLst>
            </p:cNvPr>
            <p:cNvSpPr/>
            <p:nvPr/>
          </p:nvSpPr>
          <p:spPr>
            <a:xfrm>
              <a:off x="1305660" y="368500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8" name="椭圆 87">
            <a:extLst>
              <a:ext uri="{FF2B5EF4-FFF2-40B4-BE49-F238E27FC236}">
                <a16:creationId xmlns:a16="http://schemas.microsoft.com/office/drawing/2014/main" xmlns="" id="{7DD44550-0B1B-436B-B914-E035904F2A73}"/>
              </a:ext>
            </a:extLst>
          </p:cNvPr>
          <p:cNvSpPr/>
          <p:nvPr/>
        </p:nvSpPr>
        <p:spPr>
          <a:xfrm>
            <a:off x="4401123" y="3573274"/>
            <a:ext cx="611890" cy="611890"/>
          </a:xfrm>
          <a:prstGeom prst="ellipse">
            <a:avLst/>
          </a:prstGeom>
          <a:solidFill>
            <a:srgbClr val="27B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89" name="TextBox 16">
            <a:extLst>
              <a:ext uri="{FF2B5EF4-FFF2-40B4-BE49-F238E27FC236}">
                <a16:creationId xmlns:a16="http://schemas.microsoft.com/office/drawing/2014/main" xmlns="" id="{5E10EFF4-B201-4C2A-B99B-79B0D79FA510}"/>
              </a:ext>
            </a:extLst>
          </p:cNvPr>
          <p:cNvSpPr txBox="1"/>
          <p:nvPr/>
        </p:nvSpPr>
        <p:spPr>
          <a:xfrm>
            <a:off x="4368302" y="3725330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2005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xmlns="" id="{BC5211A2-712A-4D27-BCBF-7A1BD6DE4E3D}"/>
              </a:ext>
            </a:extLst>
          </p:cNvPr>
          <p:cNvGrpSpPr/>
          <p:nvPr/>
        </p:nvGrpSpPr>
        <p:grpSpPr>
          <a:xfrm>
            <a:off x="4276693" y="3405725"/>
            <a:ext cx="860747" cy="1162618"/>
            <a:chOff x="3021724" y="3681673"/>
            <a:chExt cx="1097577" cy="1482506"/>
          </a:xfrm>
        </p:grpSpPr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xmlns="" id="{CD65D6E9-506A-4611-88AB-12EB5131C125}"/>
                </a:ext>
              </a:extLst>
            </p:cNvPr>
            <p:cNvCxnSpPr/>
            <p:nvPr/>
          </p:nvCxnSpPr>
          <p:spPr>
            <a:xfrm>
              <a:off x="3570512" y="4782579"/>
              <a:ext cx="0" cy="381600"/>
            </a:xfrm>
            <a:prstGeom prst="line">
              <a:avLst/>
            </a:prstGeom>
            <a:ln>
              <a:solidFill>
                <a:srgbClr val="27B3C6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弧形 91">
              <a:extLst>
                <a:ext uri="{FF2B5EF4-FFF2-40B4-BE49-F238E27FC236}">
                  <a16:creationId xmlns:a16="http://schemas.microsoft.com/office/drawing/2014/main" xmlns="" id="{93154DCC-D14A-49AC-AC1F-FE0604F8300D}"/>
                </a:ext>
              </a:extLst>
            </p:cNvPr>
            <p:cNvSpPr/>
            <p:nvPr/>
          </p:nvSpPr>
          <p:spPr>
            <a:xfrm rot="10800000">
              <a:off x="3021724" y="368167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rgbClr val="27B3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3" name="椭圆 92">
            <a:extLst>
              <a:ext uri="{FF2B5EF4-FFF2-40B4-BE49-F238E27FC236}">
                <a16:creationId xmlns:a16="http://schemas.microsoft.com/office/drawing/2014/main" xmlns="" id="{9D7DF535-133B-405F-884E-C77D4371E5F8}"/>
              </a:ext>
            </a:extLst>
          </p:cNvPr>
          <p:cNvSpPr/>
          <p:nvPr/>
        </p:nvSpPr>
        <p:spPr>
          <a:xfrm>
            <a:off x="5277981" y="3565794"/>
            <a:ext cx="611399" cy="61189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94" name="TextBox 3">
            <a:extLst>
              <a:ext uri="{FF2B5EF4-FFF2-40B4-BE49-F238E27FC236}">
                <a16:creationId xmlns:a16="http://schemas.microsoft.com/office/drawing/2014/main" xmlns="" id="{7FC3B4C1-18C2-4437-BCDB-EBF35645A6E3}"/>
              </a:ext>
            </a:extLst>
          </p:cNvPr>
          <p:cNvSpPr txBox="1"/>
          <p:nvPr/>
        </p:nvSpPr>
        <p:spPr>
          <a:xfrm>
            <a:off x="5231512" y="3726641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2006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xmlns="" id="{6DB9D3B4-777A-4145-94FE-06E0E0B3F5F5}"/>
              </a:ext>
            </a:extLst>
          </p:cNvPr>
          <p:cNvGrpSpPr/>
          <p:nvPr/>
        </p:nvGrpSpPr>
        <p:grpSpPr>
          <a:xfrm>
            <a:off x="5159896" y="3196451"/>
            <a:ext cx="850242" cy="1100356"/>
            <a:chOff x="1305660" y="3303568"/>
            <a:chExt cx="1097577" cy="1479012"/>
          </a:xfrm>
        </p:grpSpPr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xmlns="" id="{09B55D53-59DB-476D-AD7F-C673132E5C4D}"/>
                </a:ext>
              </a:extLst>
            </p:cNvPr>
            <p:cNvCxnSpPr/>
            <p:nvPr/>
          </p:nvCxnSpPr>
          <p:spPr>
            <a:xfrm flipV="1">
              <a:off x="1854448" y="3303568"/>
              <a:ext cx="0" cy="381435"/>
            </a:xfrm>
            <a:prstGeom prst="line">
              <a:avLst/>
            </a:prstGeom>
            <a:ln>
              <a:solidFill>
                <a:schemeClr val="tx2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弧形 96">
              <a:extLst>
                <a:ext uri="{FF2B5EF4-FFF2-40B4-BE49-F238E27FC236}">
                  <a16:creationId xmlns:a16="http://schemas.microsoft.com/office/drawing/2014/main" xmlns="" id="{AECAB06F-03DA-435E-984D-F192437D766B}"/>
                </a:ext>
              </a:extLst>
            </p:cNvPr>
            <p:cNvSpPr/>
            <p:nvPr/>
          </p:nvSpPr>
          <p:spPr>
            <a:xfrm>
              <a:off x="1305660" y="368500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8" name="椭圆 97">
            <a:extLst>
              <a:ext uri="{FF2B5EF4-FFF2-40B4-BE49-F238E27FC236}">
                <a16:creationId xmlns:a16="http://schemas.microsoft.com/office/drawing/2014/main" xmlns="" id="{520CA52A-616C-40DB-A933-A74D7098A7F9}"/>
              </a:ext>
            </a:extLst>
          </p:cNvPr>
          <p:cNvSpPr/>
          <p:nvPr/>
        </p:nvSpPr>
        <p:spPr>
          <a:xfrm>
            <a:off x="6118810" y="3569534"/>
            <a:ext cx="611890" cy="611890"/>
          </a:xfrm>
          <a:prstGeom prst="ellipse">
            <a:avLst/>
          </a:prstGeom>
          <a:solidFill>
            <a:srgbClr val="27B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99" name="TextBox 16">
            <a:extLst>
              <a:ext uri="{FF2B5EF4-FFF2-40B4-BE49-F238E27FC236}">
                <a16:creationId xmlns:a16="http://schemas.microsoft.com/office/drawing/2014/main" xmlns="" id="{B79BFD20-D4F6-4217-8240-4C6783A6822C}"/>
              </a:ext>
            </a:extLst>
          </p:cNvPr>
          <p:cNvSpPr txBox="1"/>
          <p:nvPr/>
        </p:nvSpPr>
        <p:spPr>
          <a:xfrm>
            <a:off x="6085989" y="3721590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2008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xmlns="" id="{38211FF8-948B-4257-A117-E3418B855A43}"/>
              </a:ext>
            </a:extLst>
          </p:cNvPr>
          <p:cNvGrpSpPr/>
          <p:nvPr/>
        </p:nvGrpSpPr>
        <p:grpSpPr>
          <a:xfrm>
            <a:off x="5994380" y="3401985"/>
            <a:ext cx="860747" cy="1162618"/>
            <a:chOff x="3021724" y="3681673"/>
            <a:chExt cx="1097577" cy="1482506"/>
          </a:xfrm>
        </p:grpSpPr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xmlns="" id="{178CD4D5-37BB-404F-8568-C8AC32A18E9D}"/>
                </a:ext>
              </a:extLst>
            </p:cNvPr>
            <p:cNvCxnSpPr/>
            <p:nvPr/>
          </p:nvCxnSpPr>
          <p:spPr>
            <a:xfrm>
              <a:off x="3570512" y="4782579"/>
              <a:ext cx="0" cy="381600"/>
            </a:xfrm>
            <a:prstGeom prst="line">
              <a:avLst/>
            </a:prstGeom>
            <a:ln>
              <a:solidFill>
                <a:srgbClr val="27B3C6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弧形 101">
              <a:extLst>
                <a:ext uri="{FF2B5EF4-FFF2-40B4-BE49-F238E27FC236}">
                  <a16:creationId xmlns:a16="http://schemas.microsoft.com/office/drawing/2014/main" xmlns="" id="{8BA4C678-C5CE-4BF1-B587-D733EABD319C}"/>
                </a:ext>
              </a:extLst>
            </p:cNvPr>
            <p:cNvSpPr/>
            <p:nvPr/>
          </p:nvSpPr>
          <p:spPr>
            <a:xfrm rot="10800000">
              <a:off x="3021724" y="368167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rgbClr val="27B3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xmlns="" id="{493A37C0-87F1-4866-A586-5F2E36C656F7}"/>
              </a:ext>
            </a:extLst>
          </p:cNvPr>
          <p:cNvSpPr/>
          <p:nvPr/>
        </p:nvSpPr>
        <p:spPr>
          <a:xfrm>
            <a:off x="6996060" y="3560058"/>
            <a:ext cx="611399" cy="61189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04" name="TextBox 3">
            <a:extLst>
              <a:ext uri="{FF2B5EF4-FFF2-40B4-BE49-F238E27FC236}">
                <a16:creationId xmlns:a16="http://schemas.microsoft.com/office/drawing/2014/main" xmlns="" id="{FF7B3523-785D-4B49-9061-ABDCA8DFB251}"/>
              </a:ext>
            </a:extLst>
          </p:cNvPr>
          <p:cNvSpPr txBox="1"/>
          <p:nvPr/>
        </p:nvSpPr>
        <p:spPr>
          <a:xfrm>
            <a:off x="6949591" y="3720905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2009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xmlns="" id="{6B14108B-829E-47D6-880A-9CB545CCA75C}"/>
              </a:ext>
            </a:extLst>
          </p:cNvPr>
          <p:cNvSpPr/>
          <p:nvPr/>
        </p:nvSpPr>
        <p:spPr>
          <a:xfrm>
            <a:off x="7847394" y="3563798"/>
            <a:ext cx="611890" cy="611890"/>
          </a:xfrm>
          <a:prstGeom prst="ellipse">
            <a:avLst/>
          </a:prstGeom>
          <a:solidFill>
            <a:srgbClr val="27B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06" name="TextBox 16">
            <a:extLst>
              <a:ext uri="{FF2B5EF4-FFF2-40B4-BE49-F238E27FC236}">
                <a16:creationId xmlns:a16="http://schemas.microsoft.com/office/drawing/2014/main" xmlns="" id="{7ACA2F5D-AC6B-4670-8824-100992F95C64}"/>
              </a:ext>
            </a:extLst>
          </p:cNvPr>
          <p:cNvSpPr txBox="1"/>
          <p:nvPr/>
        </p:nvSpPr>
        <p:spPr>
          <a:xfrm>
            <a:off x="7814573" y="3715854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2010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xmlns="" id="{4EE32E87-65DD-47EE-8B88-ABACFC53567F}"/>
              </a:ext>
            </a:extLst>
          </p:cNvPr>
          <p:cNvGrpSpPr/>
          <p:nvPr/>
        </p:nvGrpSpPr>
        <p:grpSpPr>
          <a:xfrm>
            <a:off x="7722964" y="3396249"/>
            <a:ext cx="860747" cy="1162618"/>
            <a:chOff x="3021724" y="3681673"/>
            <a:chExt cx="1097577" cy="1482506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xmlns="" id="{981AC052-8FAC-4208-AC79-7AEB346DC591}"/>
                </a:ext>
              </a:extLst>
            </p:cNvPr>
            <p:cNvCxnSpPr/>
            <p:nvPr/>
          </p:nvCxnSpPr>
          <p:spPr>
            <a:xfrm>
              <a:off x="3570512" y="4782579"/>
              <a:ext cx="0" cy="381600"/>
            </a:xfrm>
            <a:prstGeom prst="line">
              <a:avLst/>
            </a:prstGeom>
            <a:ln>
              <a:solidFill>
                <a:srgbClr val="27B3C6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弧形 108">
              <a:extLst>
                <a:ext uri="{FF2B5EF4-FFF2-40B4-BE49-F238E27FC236}">
                  <a16:creationId xmlns:a16="http://schemas.microsoft.com/office/drawing/2014/main" xmlns="" id="{3CD09599-D0D8-4314-9D64-EBE5AFE5B09D}"/>
                </a:ext>
              </a:extLst>
            </p:cNvPr>
            <p:cNvSpPr/>
            <p:nvPr/>
          </p:nvSpPr>
          <p:spPr>
            <a:xfrm rot="10800000">
              <a:off x="3021724" y="368167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rgbClr val="27B3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0" name="椭圆 109">
            <a:extLst>
              <a:ext uri="{FF2B5EF4-FFF2-40B4-BE49-F238E27FC236}">
                <a16:creationId xmlns:a16="http://schemas.microsoft.com/office/drawing/2014/main" xmlns="" id="{145F4DA7-47FC-46B8-B437-8DE284341D3F}"/>
              </a:ext>
            </a:extLst>
          </p:cNvPr>
          <p:cNvSpPr/>
          <p:nvPr/>
        </p:nvSpPr>
        <p:spPr>
          <a:xfrm>
            <a:off x="8723860" y="3556318"/>
            <a:ext cx="611399" cy="61189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11" name="TextBox 3">
            <a:extLst>
              <a:ext uri="{FF2B5EF4-FFF2-40B4-BE49-F238E27FC236}">
                <a16:creationId xmlns:a16="http://schemas.microsoft.com/office/drawing/2014/main" xmlns="" id="{529D897B-311F-4091-BA13-E510260771EC}"/>
              </a:ext>
            </a:extLst>
          </p:cNvPr>
          <p:cNvSpPr txBox="1"/>
          <p:nvPr/>
        </p:nvSpPr>
        <p:spPr>
          <a:xfrm>
            <a:off x="8677391" y="3717165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2013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xmlns="" id="{C3EC518C-060D-412C-A647-C0FF365DD49A}"/>
              </a:ext>
            </a:extLst>
          </p:cNvPr>
          <p:cNvGrpSpPr/>
          <p:nvPr/>
        </p:nvGrpSpPr>
        <p:grpSpPr>
          <a:xfrm>
            <a:off x="8605775" y="3186975"/>
            <a:ext cx="850242" cy="1100356"/>
            <a:chOff x="1305660" y="3303568"/>
            <a:chExt cx="1097577" cy="1479012"/>
          </a:xfrm>
        </p:grpSpPr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xmlns="" id="{69A615D2-3C6D-4432-A95C-E4F064598F5C}"/>
                </a:ext>
              </a:extLst>
            </p:cNvPr>
            <p:cNvCxnSpPr/>
            <p:nvPr/>
          </p:nvCxnSpPr>
          <p:spPr>
            <a:xfrm flipV="1">
              <a:off x="1854448" y="3303568"/>
              <a:ext cx="0" cy="381435"/>
            </a:xfrm>
            <a:prstGeom prst="line">
              <a:avLst/>
            </a:prstGeom>
            <a:ln>
              <a:solidFill>
                <a:schemeClr val="tx2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弧形 113">
              <a:extLst>
                <a:ext uri="{FF2B5EF4-FFF2-40B4-BE49-F238E27FC236}">
                  <a16:creationId xmlns:a16="http://schemas.microsoft.com/office/drawing/2014/main" xmlns="" id="{E330DDBA-1F8B-49B3-A141-9CE550BA4DC3}"/>
                </a:ext>
              </a:extLst>
            </p:cNvPr>
            <p:cNvSpPr/>
            <p:nvPr/>
          </p:nvSpPr>
          <p:spPr>
            <a:xfrm>
              <a:off x="1305660" y="368500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5" name="椭圆 114">
            <a:extLst>
              <a:ext uri="{FF2B5EF4-FFF2-40B4-BE49-F238E27FC236}">
                <a16:creationId xmlns:a16="http://schemas.microsoft.com/office/drawing/2014/main" xmlns="" id="{DCC50B26-909D-4E06-9300-0624B481BF90}"/>
              </a:ext>
            </a:extLst>
          </p:cNvPr>
          <p:cNvSpPr/>
          <p:nvPr/>
        </p:nvSpPr>
        <p:spPr>
          <a:xfrm>
            <a:off x="9575194" y="3560058"/>
            <a:ext cx="611890" cy="611890"/>
          </a:xfrm>
          <a:prstGeom prst="ellipse">
            <a:avLst/>
          </a:prstGeom>
          <a:solidFill>
            <a:srgbClr val="27B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16" name="TextBox 16">
            <a:extLst>
              <a:ext uri="{FF2B5EF4-FFF2-40B4-BE49-F238E27FC236}">
                <a16:creationId xmlns:a16="http://schemas.microsoft.com/office/drawing/2014/main" xmlns="" id="{E801CE02-9065-455D-BE8E-A759AD9A16EC}"/>
              </a:ext>
            </a:extLst>
          </p:cNvPr>
          <p:cNvSpPr txBox="1"/>
          <p:nvPr/>
        </p:nvSpPr>
        <p:spPr>
          <a:xfrm>
            <a:off x="9542373" y="3712114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2014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xmlns="" id="{163EEC79-BEB1-4033-A1DC-80E54F999A5E}"/>
              </a:ext>
            </a:extLst>
          </p:cNvPr>
          <p:cNvGrpSpPr/>
          <p:nvPr/>
        </p:nvGrpSpPr>
        <p:grpSpPr>
          <a:xfrm>
            <a:off x="9450764" y="3392509"/>
            <a:ext cx="860747" cy="1162618"/>
            <a:chOff x="3021724" y="3681673"/>
            <a:chExt cx="1097577" cy="1482506"/>
          </a:xfrm>
        </p:grpSpPr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xmlns="" id="{5A5046BE-7E0C-437A-97AE-EBE90BDF6ABE}"/>
                </a:ext>
              </a:extLst>
            </p:cNvPr>
            <p:cNvCxnSpPr/>
            <p:nvPr/>
          </p:nvCxnSpPr>
          <p:spPr>
            <a:xfrm>
              <a:off x="3570512" y="4782579"/>
              <a:ext cx="0" cy="381600"/>
            </a:xfrm>
            <a:prstGeom prst="line">
              <a:avLst/>
            </a:prstGeom>
            <a:ln>
              <a:solidFill>
                <a:srgbClr val="27B3C6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弧形 118">
              <a:extLst>
                <a:ext uri="{FF2B5EF4-FFF2-40B4-BE49-F238E27FC236}">
                  <a16:creationId xmlns:a16="http://schemas.microsoft.com/office/drawing/2014/main" xmlns="" id="{5F428293-41CC-4C26-B7A3-ABC85967FBEE}"/>
                </a:ext>
              </a:extLst>
            </p:cNvPr>
            <p:cNvSpPr/>
            <p:nvPr/>
          </p:nvSpPr>
          <p:spPr>
            <a:xfrm rot="10800000">
              <a:off x="3021724" y="368167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rgbClr val="27B3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0" name="椭圆 119">
            <a:extLst>
              <a:ext uri="{FF2B5EF4-FFF2-40B4-BE49-F238E27FC236}">
                <a16:creationId xmlns:a16="http://schemas.microsoft.com/office/drawing/2014/main" xmlns="" id="{EB874883-9CED-4CBE-B352-034AAD52960C}"/>
              </a:ext>
            </a:extLst>
          </p:cNvPr>
          <p:cNvSpPr/>
          <p:nvPr/>
        </p:nvSpPr>
        <p:spPr>
          <a:xfrm>
            <a:off x="10380044" y="3554896"/>
            <a:ext cx="611399" cy="61189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xmlns="" id="{82DFAD27-03D9-415D-B874-9708AB82961F}"/>
              </a:ext>
            </a:extLst>
          </p:cNvPr>
          <p:cNvSpPr txBox="1"/>
          <p:nvPr/>
        </p:nvSpPr>
        <p:spPr>
          <a:xfrm>
            <a:off x="10333575" y="3715743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2015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xmlns="" id="{CFC6A317-AAAF-4AE8-BB19-32D9CB9E2C89}"/>
              </a:ext>
            </a:extLst>
          </p:cNvPr>
          <p:cNvGrpSpPr/>
          <p:nvPr/>
        </p:nvGrpSpPr>
        <p:grpSpPr>
          <a:xfrm>
            <a:off x="10261959" y="3185553"/>
            <a:ext cx="850242" cy="1100356"/>
            <a:chOff x="1305660" y="3303568"/>
            <a:chExt cx="1097577" cy="1479012"/>
          </a:xfrm>
        </p:grpSpPr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xmlns="" id="{04EA7E67-FE4F-422F-883F-76E523BFF7D2}"/>
                </a:ext>
              </a:extLst>
            </p:cNvPr>
            <p:cNvCxnSpPr/>
            <p:nvPr/>
          </p:nvCxnSpPr>
          <p:spPr>
            <a:xfrm flipV="1">
              <a:off x="1854448" y="3303568"/>
              <a:ext cx="0" cy="381435"/>
            </a:xfrm>
            <a:prstGeom prst="line">
              <a:avLst/>
            </a:prstGeom>
            <a:ln>
              <a:solidFill>
                <a:schemeClr val="tx2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弧形 123">
              <a:extLst>
                <a:ext uri="{FF2B5EF4-FFF2-40B4-BE49-F238E27FC236}">
                  <a16:creationId xmlns:a16="http://schemas.microsoft.com/office/drawing/2014/main" xmlns="" id="{105F6AD4-0E0A-40D1-8A31-06B54DCBDA18}"/>
                </a:ext>
              </a:extLst>
            </p:cNvPr>
            <p:cNvSpPr/>
            <p:nvPr/>
          </p:nvSpPr>
          <p:spPr>
            <a:xfrm>
              <a:off x="1305660" y="368500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5" name="椭圆 124">
            <a:extLst>
              <a:ext uri="{FF2B5EF4-FFF2-40B4-BE49-F238E27FC236}">
                <a16:creationId xmlns:a16="http://schemas.microsoft.com/office/drawing/2014/main" xmlns="" id="{F91DC31A-2B44-4D02-8B7A-9DD96039D92C}"/>
              </a:ext>
            </a:extLst>
          </p:cNvPr>
          <p:cNvSpPr/>
          <p:nvPr/>
        </p:nvSpPr>
        <p:spPr>
          <a:xfrm>
            <a:off x="11178477" y="3558636"/>
            <a:ext cx="611890" cy="611890"/>
          </a:xfrm>
          <a:prstGeom prst="ellipse">
            <a:avLst/>
          </a:prstGeom>
          <a:solidFill>
            <a:srgbClr val="27B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26" name="TextBox 16">
            <a:extLst>
              <a:ext uri="{FF2B5EF4-FFF2-40B4-BE49-F238E27FC236}">
                <a16:creationId xmlns:a16="http://schemas.microsoft.com/office/drawing/2014/main" xmlns="" id="{9204EFEE-C570-4A97-996D-9986EC17638D}"/>
              </a:ext>
            </a:extLst>
          </p:cNvPr>
          <p:cNvSpPr txBox="1"/>
          <p:nvPr/>
        </p:nvSpPr>
        <p:spPr>
          <a:xfrm>
            <a:off x="11145656" y="3710692"/>
            <a:ext cx="67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2017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xmlns="" id="{4B2B86BB-9B7F-44E7-819C-8C3DB3C2F7FE}"/>
              </a:ext>
            </a:extLst>
          </p:cNvPr>
          <p:cNvGrpSpPr/>
          <p:nvPr/>
        </p:nvGrpSpPr>
        <p:grpSpPr>
          <a:xfrm>
            <a:off x="11054047" y="3391087"/>
            <a:ext cx="860747" cy="1162618"/>
            <a:chOff x="3021724" y="3681673"/>
            <a:chExt cx="1097577" cy="1482506"/>
          </a:xfrm>
        </p:grpSpPr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xmlns="" id="{F97781BA-6AF7-4C76-B6FA-2E6783E5E61E}"/>
                </a:ext>
              </a:extLst>
            </p:cNvPr>
            <p:cNvCxnSpPr/>
            <p:nvPr/>
          </p:nvCxnSpPr>
          <p:spPr>
            <a:xfrm>
              <a:off x="3570512" y="4782579"/>
              <a:ext cx="0" cy="381600"/>
            </a:xfrm>
            <a:prstGeom prst="line">
              <a:avLst/>
            </a:prstGeom>
            <a:ln>
              <a:solidFill>
                <a:srgbClr val="27B3C6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弧形 128">
              <a:extLst>
                <a:ext uri="{FF2B5EF4-FFF2-40B4-BE49-F238E27FC236}">
                  <a16:creationId xmlns:a16="http://schemas.microsoft.com/office/drawing/2014/main" xmlns="" id="{9B2F65A8-69F3-4684-AAF9-337C1ED3F250}"/>
                </a:ext>
              </a:extLst>
            </p:cNvPr>
            <p:cNvSpPr/>
            <p:nvPr/>
          </p:nvSpPr>
          <p:spPr>
            <a:xfrm rot="10800000">
              <a:off x="3021724" y="368167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rgbClr val="27B3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xmlns="" id="{F9489BEC-D5CF-4E29-A011-3C707601B834}"/>
              </a:ext>
            </a:extLst>
          </p:cNvPr>
          <p:cNvGrpSpPr/>
          <p:nvPr/>
        </p:nvGrpSpPr>
        <p:grpSpPr>
          <a:xfrm>
            <a:off x="6874098" y="3196451"/>
            <a:ext cx="850242" cy="1100356"/>
            <a:chOff x="1305660" y="3303568"/>
            <a:chExt cx="1097577" cy="1479012"/>
          </a:xfrm>
        </p:grpSpPr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xmlns="" id="{BDBC0FE8-69C3-470A-AC3E-67621C13638F}"/>
                </a:ext>
              </a:extLst>
            </p:cNvPr>
            <p:cNvCxnSpPr/>
            <p:nvPr/>
          </p:nvCxnSpPr>
          <p:spPr>
            <a:xfrm flipV="1">
              <a:off x="1854448" y="3303568"/>
              <a:ext cx="0" cy="381435"/>
            </a:xfrm>
            <a:prstGeom prst="line">
              <a:avLst/>
            </a:prstGeom>
            <a:ln>
              <a:solidFill>
                <a:schemeClr val="tx2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弧形 131">
              <a:extLst>
                <a:ext uri="{FF2B5EF4-FFF2-40B4-BE49-F238E27FC236}">
                  <a16:creationId xmlns:a16="http://schemas.microsoft.com/office/drawing/2014/main" xmlns="" id="{18A868C4-3E51-4760-8311-F52F45C8733C}"/>
                </a:ext>
              </a:extLst>
            </p:cNvPr>
            <p:cNvSpPr/>
            <p:nvPr/>
          </p:nvSpPr>
          <p:spPr>
            <a:xfrm>
              <a:off x="1305660" y="3685003"/>
              <a:ext cx="1097577" cy="1097577"/>
            </a:xfrm>
            <a:prstGeom prst="arc">
              <a:avLst>
                <a:gd name="adj1" fmla="val 13721040"/>
                <a:gd name="adj2" fmla="val 18689009"/>
              </a:avLst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3" name="TextBox 12">
            <a:extLst>
              <a:ext uri="{FF2B5EF4-FFF2-40B4-BE49-F238E27FC236}">
                <a16:creationId xmlns:a16="http://schemas.microsoft.com/office/drawing/2014/main" xmlns="" id="{4BC01EEE-175C-4D18-BE0E-E2C320B5DD4D}"/>
              </a:ext>
            </a:extLst>
          </p:cNvPr>
          <p:cNvSpPr txBox="1"/>
          <p:nvPr/>
        </p:nvSpPr>
        <p:spPr>
          <a:xfrm>
            <a:off x="952279" y="4716099"/>
            <a:ext cx="551449" cy="243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Fano</a:t>
            </a: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xmlns="" id="{98A25D37-0D22-41BB-81F4-DB1CF14DC077}"/>
              </a:ext>
            </a:extLst>
          </p:cNvPr>
          <p:cNvSpPr txBox="1"/>
          <p:nvPr/>
        </p:nvSpPr>
        <p:spPr>
          <a:xfrm>
            <a:off x="1704758" y="2587743"/>
            <a:ext cx="1023852" cy="487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Elias-Gamma</a:t>
            </a:r>
          </a:p>
        </p:txBody>
      </p:sp>
      <p:sp>
        <p:nvSpPr>
          <p:cNvPr id="135" name="TextBox 12">
            <a:extLst>
              <a:ext uri="{FF2B5EF4-FFF2-40B4-BE49-F238E27FC236}">
                <a16:creationId xmlns:a16="http://schemas.microsoft.com/office/drawing/2014/main" xmlns="" id="{A2A3E275-9BBE-4A59-863F-780A3707E079}"/>
              </a:ext>
            </a:extLst>
          </p:cNvPr>
          <p:cNvSpPr txBox="1"/>
          <p:nvPr/>
        </p:nvSpPr>
        <p:spPr>
          <a:xfrm>
            <a:off x="2363658" y="4716099"/>
            <a:ext cx="1114124" cy="487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delta-gap</a:t>
            </a:r>
          </a:p>
          <a:p>
            <a:pPr algn="ctr">
              <a:lnSpc>
                <a:spcPts val="1900"/>
              </a:lnSpc>
            </a:pP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VByte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TextBox 12">
            <a:extLst>
              <a:ext uri="{FF2B5EF4-FFF2-40B4-BE49-F238E27FC236}">
                <a16:creationId xmlns:a16="http://schemas.microsoft.com/office/drawing/2014/main" xmlns="" id="{8BA8A516-1038-456F-BFFD-AB8548F8AA48}"/>
              </a:ext>
            </a:extLst>
          </p:cNvPr>
          <p:cNvSpPr txBox="1"/>
          <p:nvPr/>
        </p:nvSpPr>
        <p:spPr>
          <a:xfrm>
            <a:off x="3259488" y="2750564"/>
            <a:ext cx="1114124" cy="243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Skipping</a:t>
            </a:r>
          </a:p>
        </p:txBody>
      </p:sp>
      <p:sp>
        <p:nvSpPr>
          <p:cNvPr id="137" name="TextBox 12">
            <a:extLst>
              <a:ext uri="{FF2B5EF4-FFF2-40B4-BE49-F238E27FC236}">
                <a16:creationId xmlns:a16="http://schemas.microsoft.com/office/drawing/2014/main" xmlns="" id="{F55F307C-3A96-4B33-8B22-F972400C5739}"/>
              </a:ext>
            </a:extLst>
          </p:cNvPr>
          <p:cNvSpPr txBox="1"/>
          <p:nvPr/>
        </p:nvSpPr>
        <p:spPr>
          <a:xfrm>
            <a:off x="4209938" y="4756223"/>
            <a:ext cx="1114124" cy="243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Simple-9</a:t>
            </a:r>
          </a:p>
        </p:txBody>
      </p:sp>
      <p:sp>
        <p:nvSpPr>
          <p:cNvPr id="138" name="TextBox 12">
            <a:extLst>
              <a:ext uri="{FF2B5EF4-FFF2-40B4-BE49-F238E27FC236}">
                <a16:creationId xmlns:a16="http://schemas.microsoft.com/office/drawing/2014/main" xmlns="" id="{C60CE298-1233-4470-8052-01992829F7D5}"/>
              </a:ext>
            </a:extLst>
          </p:cNvPr>
          <p:cNvSpPr txBox="1"/>
          <p:nvPr/>
        </p:nvSpPr>
        <p:spPr>
          <a:xfrm>
            <a:off x="5026618" y="2749612"/>
            <a:ext cx="1114124" cy="243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PForDelta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TextBox 12">
            <a:extLst>
              <a:ext uri="{FF2B5EF4-FFF2-40B4-BE49-F238E27FC236}">
                <a16:creationId xmlns:a16="http://schemas.microsoft.com/office/drawing/2014/main" xmlns="" id="{307F4CCD-051E-48FA-AA69-3AAC5CE81486}"/>
              </a:ext>
            </a:extLst>
          </p:cNvPr>
          <p:cNvSpPr txBox="1"/>
          <p:nvPr/>
        </p:nvSpPr>
        <p:spPr>
          <a:xfrm>
            <a:off x="5909044" y="4735548"/>
            <a:ext cx="1114124" cy="487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OptPFD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1900"/>
              </a:lnSpc>
            </a:pP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NewPFD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TextBox 12">
            <a:extLst>
              <a:ext uri="{FF2B5EF4-FFF2-40B4-BE49-F238E27FC236}">
                <a16:creationId xmlns:a16="http://schemas.microsoft.com/office/drawing/2014/main" xmlns="" id="{ECFFA8A6-7006-45F7-A454-576E2A468434}"/>
              </a:ext>
            </a:extLst>
          </p:cNvPr>
          <p:cNvSpPr txBox="1"/>
          <p:nvPr/>
        </p:nvSpPr>
        <p:spPr>
          <a:xfrm>
            <a:off x="6454541" y="2538057"/>
            <a:ext cx="1698796" cy="487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GroupByte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Simple-16</a:t>
            </a:r>
          </a:p>
        </p:txBody>
      </p:sp>
      <p:sp>
        <p:nvSpPr>
          <p:cNvPr id="141" name="TextBox 12">
            <a:extLst>
              <a:ext uri="{FF2B5EF4-FFF2-40B4-BE49-F238E27FC236}">
                <a16:creationId xmlns:a16="http://schemas.microsoft.com/office/drawing/2014/main" xmlns="" id="{C4BE332D-8A70-48DD-9295-69DD67CB0580}"/>
              </a:ext>
            </a:extLst>
          </p:cNvPr>
          <p:cNvSpPr txBox="1"/>
          <p:nvPr/>
        </p:nvSpPr>
        <p:spPr>
          <a:xfrm>
            <a:off x="7429285" y="4731702"/>
            <a:ext cx="1475026" cy="243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Simple-8b</a:t>
            </a:r>
          </a:p>
        </p:txBody>
      </p:sp>
      <p:sp>
        <p:nvSpPr>
          <p:cNvPr id="142" name="TextBox 12">
            <a:extLst>
              <a:ext uri="{FF2B5EF4-FFF2-40B4-BE49-F238E27FC236}">
                <a16:creationId xmlns:a16="http://schemas.microsoft.com/office/drawing/2014/main" xmlns="" id="{51A073D5-A224-497C-A7B6-115BFDEA3B37}"/>
              </a:ext>
            </a:extLst>
          </p:cNvPr>
          <p:cNvSpPr txBox="1"/>
          <p:nvPr/>
        </p:nvSpPr>
        <p:spPr>
          <a:xfrm>
            <a:off x="8292046" y="2510925"/>
            <a:ext cx="1475026" cy="487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Quasi-Succinct</a:t>
            </a:r>
          </a:p>
        </p:txBody>
      </p:sp>
      <p:sp>
        <p:nvSpPr>
          <p:cNvPr id="143" name="TextBox 12">
            <a:extLst>
              <a:ext uri="{FF2B5EF4-FFF2-40B4-BE49-F238E27FC236}">
                <a16:creationId xmlns:a16="http://schemas.microsoft.com/office/drawing/2014/main" xmlns="" id="{7B30C17D-2E0D-4CF3-8AD2-614853B1C67D}"/>
              </a:ext>
            </a:extLst>
          </p:cNvPr>
          <p:cNvSpPr txBox="1"/>
          <p:nvPr/>
        </p:nvSpPr>
        <p:spPr>
          <a:xfrm>
            <a:off x="9030896" y="4714710"/>
            <a:ext cx="1929010" cy="243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Partitioned EF</a:t>
            </a:r>
          </a:p>
        </p:txBody>
      </p:sp>
      <p:sp>
        <p:nvSpPr>
          <p:cNvPr id="144" name="TextBox 12">
            <a:extLst>
              <a:ext uri="{FF2B5EF4-FFF2-40B4-BE49-F238E27FC236}">
                <a16:creationId xmlns:a16="http://schemas.microsoft.com/office/drawing/2014/main" xmlns="" id="{36FAC47C-A47D-443F-B6E2-D6BF01A13C8D}"/>
              </a:ext>
            </a:extLst>
          </p:cNvPr>
          <p:cNvSpPr txBox="1"/>
          <p:nvPr/>
        </p:nvSpPr>
        <p:spPr>
          <a:xfrm>
            <a:off x="9767072" y="2492896"/>
            <a:ext cx="1929010" cy="487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SIMD-BP128</a:t>
            </a:r>
          </a:p>
          <a:p>
            <a:pPr algn="ctr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SIMD-</a:t>
            </a: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FastPFOR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TextBox 12">
            <a:extLst>
              <a:ext uri="{FF2B5EF4-FFF2-40B4-BE49-F238E27FC236}">
                <a16:creationId xmlns:a16="http://schemas.microsoft.com/office/drawing/2014/main" xmlns="" id="{A087ACFC-F543-4CE2-91AA-ED1348BFE7D7}"/>
              </a:ext>
            </a:extLst>
          </p:cNvPr>
          <p:cNvSpPr txBox="1"/>
          <p:nvPr/>
        </p:nvSpPr>
        <p:spPr>
          <a:xfrm>
            <a:off x="10939956" y="4724650"/>
            <a:ext cx="1088928" cy="243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MILC</a:t>
            </a:r>
          </a:p>
        </p:txBody>
      </p:sp>
      <p:sp>
        <p:nvSpPr>
          <p:cNvPr id="146" name="右大括号 145">
            <a:extLst>
              <a:ext uri="{FF2B5EF4-FFF2-40B4-BE49-F238E27FC236}">
                <a16:creationId xmlns:a16="http://schemas.microsoft.com/office/drawing/2014/main" xmlns="" id="{67EBFAC0-588A-476C-A645-F426B5BA8634}"/>
              </a:ext>
            </a:extLst>
          </p:cNvPr>
          <p:cNvSpPr/>
          <p:nvPr/>
        </p:nvSpPr>
        <p:spPr>
          <a:xfrm rot="5400000">
            <a:off x="1121986" y="4425324"/>
            <a:ext cx="275754" cy="2207589"/>
          </a:xfrm>
          <a:prstGeom prst="rightBrace">
            <a:avLst>
              <a:gd name="adj1" fmla="val 43279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xmlns="" id="{A2268237-03F9-4047-85B7-43057CD24B5B}"/>
              </a:ext>
            </a:extLst>
          </p:cNvPr>
          <p:cNvSpPr/>
          <p:nvPr/>
        </p:nvSpPr>
        <p:spPr>
          <a:xfrm>
            <a:off x="622710" y="573388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按位对齐</a:t>
            </a:r>
          </a:p>
        </p:txBody>
      </p:sp>
      <p:sp>
        <p:nvSpPr>
          <p:cNvPr id="148" name="右大括号 147">
            <a:extLst>
              <a:ext uri="{FF2B5EF4-FFF2-40B4-BE49-F238E27FC236}">
                <a16:creationId xmlns:a16="http://schemas.microsoft.com/office/drawing/2014/main" xmlns="" id="{5D2F1A9E-B92C-43FC-A742-1013700B3E25}"/>
              </a:ext>
            </a:extLst>
          </p:cNvPr>
          <p:cNvSpPr/>
          <p:nvPr/>
        </p:nvSpPr>
        <p:spPr>
          <a:xfrm rot="5400000">
            <a:off x="3242404" y="4658876"/>
            <a:ext cx="275754" cy="1792822"/>
          </a:xfrm>
          <a:prstGeom prst="rightBrace">
            <a:avLst>
              <a:gd name="adj1" fmla="val 43279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xmlns="" id="{AEFEF6E4-3091-42F8-8511-089C825D83F3}"/>
              </a:ext>
            </a:extLst>
          </p:cNvPr>
          <p:cNvSpPr/>
          <p:nvPr/>
        </p:nvSpPr>
        <p:spPr>
          <a:xfrm>
            <a:off x="2617560" y="5733881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按字节对齐</a:t>
            </a:r>
          </a:p>
        </p:txBody>
      </p:sp>
      <p:sp>
        <p:nvSpPr>
          <p:cNvPr id="150" name="右大括号 149">
            <a:extLst>
              <a:ext uri="{FF2B5EF4-FFF2-40B4-BE49-F238E27FC236}">
                <a16:creationId xmlns:a16="http://schemas.microsoft.com/office/drawing/2014/main" xmlns="" id="{5100C30A-B510-4545-8567-3317C29019FE}"/>
              </a:ext>
            </a:extLst>
          </p:cNvPr>
          <p:cNvSpPr/>
          <p:nvPr/>
        </p:nvSpPr>
        <p:spPr>
          <a:xfrm rot="5400000">
            <a:off x="6442754" y="3403658"/>
            <a:ext cx="243656" cy="4335357"/>
          </a:xfrm>
          <a:prstGeom prst="rightBrace">
            <a:avLst>
              <a:gd name="adj1" fmla="val 43279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xmlns="" id="{14508D28-502B-47E5-B680-366AF20260D0}"/>
              </a:ext>
            </a:extLst>
          </p:cNvPr>
          <p:cNvSpPr/>
          <p:nvPr/>
        </p:nvSpPr>
        <p:spPr>
          <a:xfrm>
            <a:off x="5319191" y="5733881"/>
            <a:ext cx="24929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按字对齐与按帧对齐</a:t>
            </a:r>
          </a:p>
        </p:txBody>
      </p:sp>
      <p:sp>
        <p:nvSpPr>
          <p:cNvPr id="152" name="右大括号 151">
            <a:extLst>
              <a:ext uri="{FF2B5EF4-FFF2-40B4-BE49-F238E27FC236}">
                <a16:creationId xmlns:a16="http://schemas.microsoft.com/office/drawing/2014/main" xmlns="" id="{4A1575BF-50A2-418E-B1FD-9C24601B3853}"/>
              </a:ext>
            </a:extLst>
          </p:cNvPr>
          <p:cNvSpPr/>
          <p:nvPr/>
        </p:nvSpPr>
        <p:spPr>
          <a:xfrm rot="5400000">
            <a:off x="10216002" y="4085980"/>
            <a:ext cx="243656" cy="2970716"/>
          </a:xfrm>
          <a:prstGeom prst="rightBrace">
            <a:avLst>
              <a:gd name="adj1" fmla="val 43279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xmlns="" id="{BB67E112-7499-48C2-B59A-0C40F4B1BBD8}"/>
              </a:ext>
            </a:extLst>
          </p:cNvPr>
          <p:cNvSpPr/>
          <p:nvPr/>
        </p:nvSpPr>
        <p:spPr>
          <a:xfrm>
            <a:off x="9252754" y="5733881"/>
            <a:ext cx="2392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混合方案（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SIMD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0320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172"/>
    </mc:Choice>
    <mc:Fallback xmlns="">
      <p:transition advTm="1172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2.2</a:t>
            </a:r>
            <a:r>
              <a:rPr lang="en-US" altLang="zh-CN" dirty="0"/>
              <a:t>  </a:t>
            </a:r>
            <a:r>
              <a:rPr lang="zh-CN" altLang="en-US" dirty="0"/>
              <a:t>经典压缩方案（编码压缩）</a:t>
            </a:r>
          </a:p>
        </p:txBody>
      </p:sp>
      <p:sp>
        <p:nvSpPr>
          <p:cNvPr id="154" name="TextBox 5">
            <a:extLst>
              <a:ext uri="{FF2B5EF4-FFF2-40B4-BE49-F238E27FC236}">
                <a16:creationId xmlns:a16="http://schemas.microsoft.com/office/drawing/2014/main" xmlns="" id="{C3E1013B-612A-4120-B7E8-AD6A1FB649D5}"/>
              </a:ext>
            </a:extLst>
          </p:cNvPr>
          <p:cNvSpPr txBox="1"/>
          <p:nvPr/>
        </p:nvSpPr>
        <p:spPr>
          <a:xfrm>
            <a:off x="974453" y="1700808"/>
            <a:ext cx="10018091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一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个整数用一个或多个字节存储，每个字节中有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7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个比特存储整数数据，一个比特为标志位，表示这个整数是否结束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结束为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</a:p>
          <a:p>
            <a:pPr>
              <a:lnSpc>
                <a:spcPts val="2400"/>
              </a:lnSpc>
            </a:pPr>
            <a:endParaRPr lang="en-US" altLang="zh-CN" sz="2000" dirty="0" smtClean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通过减少存储较小整数的二进制表示中的前导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达到压缩的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目的</a:t>
            </a:r>
            <a:endParaRPr lang="en-US" altLang="zh-CN" sz="2000" dirty="0" smtClean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000" dirty="0" smtClean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例如整数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15634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32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位整数二进制表示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为</a:t>
            </a:r>
            <a:endParaRPr lang="en-US" altLang="zh-CN" sz="2000" dirty="0" smtClean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00000000  00000000  00111101  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00010010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endParaRPr lang="en-US" altLang="zh-CN" sz="2000" dirty="0" smtClean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压缩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后变为 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11111010  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00010010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，仅用两个字节即可表示</a:t>
            </a:r>
            <a:endParaRPr lang="en-US" altLang="zh-CN" sz="20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xmlns="" id="{1458DD6E-BEB3-4C34-8373-619560C13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461" y="1107067"/>
            <a:ext cx="3226300" cy="389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en-US" altLang="zh-CN" sz="2800" b="1" dirty="0" err="1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VByte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5">
                <a:extLst>
                  <a:ext uri="{FF2B5EF4-FFF2-40B4-BE49-F238E27FC236}">
                    <a16:creationId xmlns:a16="http://schemas.microsoft.com/office/drawing/2014/main" xmlns="" id="{C3E1013B-612A-4120-B7E8-AD6A1FB649D5}"/>
                  </a:ext>
                </a:extLst>
              </p:cNvPr>
              <p:cNvSpPr txBox="1"/>
              <p:nvPr/>
            </p:nvSpPr>
            <p:spPr>
              <a:xfrm>
                <a:off x="884857" y="5118131"/>
                <a:ext cx="10018091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ts val="1300"/>
                  </a:lnSpc>
                  <a:defRPr sz="9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>
                  <a:lnSpc>
                    <a:spcPts val="2400"/>
                  </a:lnSpc>
                </a:pPr>
                <a:r>
                  <a:rPr lang="zh-CN" altLang="en-US" sz="2000" dirty="0" smtClean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对分块后的序列，选择</a:t>
                </a:r>
                <a:r>
                  <a:rPr lang="zh-CN" altLang="en-US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可存储块内</a:t>
                </a:r>
                <a:r>
                  <a:rPr lang="en-US" altLang="zh-CN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90%</a:t>
                </a:r>
                <a:r>
                  <a:rPr lang="zh-CN" altLang="en-US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的整数的最小比特数</a:t>
                </a:r>
                <a:r>
                  <a:rPr lang="en-US" altLang="zh-CN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b</a:t>
                </a:r>
                <a:r>
                  <a:rPr lang="zh-CN" altLang="en-US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，压缩后的块包含</a:t>
                </a:r>
                <a:r>
                  <a:rPr lang="en-US" altLang="zh-CN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128</a:t>
                </a:r>
                <a:r>
                  <a:rPr lang="zh-CN" altLang="en-US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个</a:t>
                </a:r>
                <a:r>
                  <a:rPr lang="en-US" altLang="zh-CN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b</a:t>
                </a:r>
                <a:r>
                  <a:rPr lang="zh-CN" altLang="en-US" sz="2000" dirty="0" smtClean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比特。</a:t>
                </a:r>
                <a:endParaRPr lang="en-US" altLang="zh-CN" sz="2000" dirty="0" smtClean="0">
                  <a:solidFill>
                    <a:schemeClr val="bg2">
                      <a:lumMod val="7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对于</a:t>
                </a:r>
                <a:r>
                  <a:rPr lang="zh-CN" altLang="en-US" sz="2000" dirty="0" smtClean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小于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/>
                            <a:ea typeface="华文细黑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/>
                            <a:ea typeface="华文细黑" panose="02010600040101010101" pitchFamily="2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/>
                            <a:ea typeface="华文细黑" panose="02010600040101010101" pitchFamily="2" charset="-122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的</a:t>
                </a:r>
                <a:r>
                  <a:rPr lang="zh-CN" altLang="en-US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整数，直接存储其</a:t>
                </a:r>
                <a:r>
                  <a:rPr lang="zh-CN" altLang="en-US" sz="2000" dirty="0" smtClean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数值</a:t>
                </a:r>
                <a:endParaRPr lang="en-US" altLang="zh-CN" sz="2000" dirty="0" smtClean="0">
                  <a:solidFill>
                    <a:schemeClr val="bg2">
                      <a:lumMod val="7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2000" dirty="0" smtClean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对于</a:t>
                </a:r>
                <a:r>
                  <a:rPr lang="zh-CN" altLang="en-US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大于等于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/>
                            <a:ea typeface="华文细黑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/>
                            <a:ea typeface="华文细黑" panose="02010600040101010101" pitchFamily="2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/>
                            <a:ea typeface="华文细黑" panose="02010600040101010101" pitchFamily="2" charset="-122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的整数，称其为异常值，保存的是到下一个异常值的偏移</a:t>
                </a:r>
                <a:r>
                  <a:rPr lang="zh-CN" altLang="en-US" sz="2000" dirty="0" smtClean="0">
                    <a:solidFill>
                      <a:schemeClr val="bg2">
                        <a:lumMod val="75000"/>
                      </a:schemeClr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量</a:t>
                </a:r>
                <a:endParaRPr lang="en-US" altLang="zh-CN" sz="2000" dirty="0">
                  <a:solidFill>
                    <a:schemeClr val="bg2">
                      <a:lumMod val="7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7" name="TextBox 5">
                <a:extLst>
                  <a:ext uri="{FF2B5EF4-FFF2-40B4-BE49-F238E27FC236}">
                    <a16:creationId xmlns="" xmlns:a16="http://schemas.microsoft.com/office/drawing/2014/main" id="{C3E1013B-612A-4120-B7E8-AD6A1FB64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57" y="5118131"/>
                <a:ext cx="10018091" cy="1231106"/>
              </a:xfrm>
              <a:prstGeom prst="rect">
                <a:avLst/>
              </a:prstGeom>
              <a:blipFill rotWithShape="1">
                <a:blip r:embed="rId3"/>
                <a:stretch>
                  <a:fillRect l="-1521" t="-6436" r="-1521" b="-11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矩形 157">
            <a:extLst>
              <a:ext uri="{FF2B5EF4-FFF2-40B4-BE49-F238E27FC236}">
                <a16:creationId xmlns:a16="http://schemas.microsoft.com/office/drawing/2014/main" xmlns="" id="{1458DD6E-BEB3-4C34-8373-619560C13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865" y="4524390"/>
            <a:ext cx="3226300" cy="389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en-US" altLang="zh-CN" sz="2800" b="1" dirty="0" err="1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PforDelta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925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10934"/>
    </mc:Choice>
    <mc:Fallback xmlns="">
      <p:transition advTm="310934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2.2</a:t>
            </a:r>
            <a:r>
              <a:rPr lang="en-US" altLang="zh-CN" dirty="0"/>
              <a:t>  </a:t>
            </a:r>
            <a:r>
              <a:rPr lang="zh-CN" altLang="en-US" dirty="0"/>
              <a:t>经典压缩方案（编码压缩）</a:t>
            </a:r>
          </a:p>
        </p:txBody>
      </p:sp>
      <p:sp>
        <p:nvSpPr>
          <p:cNvPr id="154" name="TextBox 5">
            <a:extLst>
              <a:ext uri="{FF2B5EF4-FFF2-40B4-BE49-F238E27FC236}">
                <a16:creationId xmlns:a16="http://schemas.microsoft.com/office/drawing/2014/main" xmlns="" id="{C3E1013B-612A-4120-B7E8-AD6A1FB649D5}"/>
              </a:ext>
            </a:extLst>
          </p:cNvPr>
          <p:cNvSpPr txBox="1"/>
          <p:nvPr/>
        </p:nvSpPr>
        <p:spPr>
          <a:xfrm>
            <a:off x="974453" y="1700808"/>
            <a:ext cx="1001809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一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个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32bit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数据中存储尽可能多的整数。</a:t>
            </a:r>
            <a:endParaRPr lang="en-US" altLang="zh-CN" sz="2000" dirty="0" smtClean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将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32bit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分成两部分：模式号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+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数据</a:t>
            </a:r>
            <a:endParaRPr lang="en-US" altLang="zh-CN" sz="2000" dirty="0" smtClean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模式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可表示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为：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28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*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1-bit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14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*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2-bit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9*3-bit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7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*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4-bit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5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*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5-bit…</a:t>
            </a:r>
            <a:endParaRPr lang="en-US" altLang="zh-CN" sz="20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xmlns="" id="{1458DD6E-BEB3-4C34-8373-619560C13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461" y="1107067"/>
            <a:ext cx="3226300" cy="389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en-US" altLang="zh-CN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Simple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7" name="TextBox 5">
            <a:extLst>
              <a:ext uri="{FF2B5EF4-FFF2-40B4-BE49-F238E27FC236}">
                <a16:creationId xmlns:a16="http://schemas.microsoft.com/office/drawing/2014/main" xmlns="" id="{C3E1013B-612A-4120-B7E8-AD6A1FB649D5}"/>
              </a:ext>
            </a:extLst>
          </p:cNvPr>
          <p:cNvSpPr txBox="1"/>
          <p:nvPr/>
        </p:nvSpPr>
        <p:spPr>
          <a:xfrm>
            <a:off x="884857" y="3899376"/>
            <a:ext cx="1001809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利用倒排列表间的集聚性动态划分倒排列表</a:t>
            </a:r>
            <a:endParaRPr lang="en-US" altLang="zh-CN" sz="2000" dirty="0" smtClean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每个块内采用</a:t>
            </a:r>
            <a:r>
              <a:rPr lang="en-US" altLang="zh-CN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EF</a:t>
            </a:r>
            <a:r>
              <a:rPr lang="zh-CN" altLang="en-US" sz="2000" dirty="0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编码进行随机访问</a:t>
            </a:r>
            <a:endParaRPr lang="en-US" altLang="zh-CN" sz="20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xmlns="" id="{1458DD6E-BEB3-4C34-8373-619560C13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865" y="3305635"/>
            <a:ext cx="3226300" cy="389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en-US" altLang="zh-CN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PEF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3392" y="5157192"/>
            <a:ext cx="11161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综述性论文：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An experimental study of bitmap compression vs. inverted index </a:t>
            </a:r>
            <a:r>
              <a:rPr lang="en-US" altLang="zh-CN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compression SIGMOD2017</a:t>
            </a:r>
            <a:endParaRPr lang="zh-CN" altLang="en-US" sz="1800" dirty="0">
              <a:solidFill>
                <a:schemeClr val="tx2">
                  <a:lumMod val="75000"/>
                </a:schemeClr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883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46655"/>
    </mc:Choice>
    <mc:Fallback xmlns="">
      <p:transition advTm="146655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2.2</a:t>
            </a:r>
            <a:r>
              <a:rPr lang="en-US" altLang="zh-CN" dirty="0"/>
              <a:t>  </a:t>
            </a:r>
            <a:r>
              <a:rPr lang="zh-CN" altLang="en-US" dirty="0"/>
              <a:t>经典压缩方案（文法压缩）</a:t>
            </a:r>
          </a:p>
        </p:txBody>
      </p:sp>
      <p:sp>
        <p:nvSpPr>
          <p:cNvPr id="40" name="TextBox 13"/>
          <p:cNvSpPr txBox="1"/>
          <p:nvPr/>
        </p:nvSpPr>
        <p:spPr>
          <a:xfrm>
            <a:off x="2763610" y="914844"/>
            <a:ext cx="6644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基于上下文无关文法的压缩方案</a:t>
            </a:r>
          </a:p>
        </p:txBody>
      </p:sp>
      <p:sp>
        <p:nvSpPr>
          <p:cNvPr id="160" name="TextBox 5">
            <a:extLst>
              <a:ext uri="{FF2B5EF4-FFF2-40B4-BE49-F238E27FC236}">
                <a16:creationId xmlns:a16="http://schemas.microsoft.com/office/drawing/2014/main" xmlns="" id="{67F09C58-D59B-4249-B1BB-A5BB77CAD553}"/>
              </a:ext>
            </a:extLst>
          </p:cNvPr>
          <p:cNvSpPr txBox="1"/>
          <p:nvPr/>
        </p:nvSpPr>
        <p:spPr>
          <a:xfrm>
            <a:off x="1409915" y="1700808"/>
            <a:ext cx="9352147" cy="33342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600"/>
              </a:lnSpc>
            </a:pPr>
            <a:r>
              <a:rPr lang="zh-CN" altLang="en-US" sz="22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对每条倒排列表进行遍历，递归地记录重复出现的最长子串存入字典，并将其用唯一整数序号代替，该整数也表示了子串在字典中的位置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600"/>
              </a:lnSpc>
            </a:pPr>
            <a:endParaRPr lang="en-US" altLang="zh-CN" sz="22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6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利用</a:t>
            </a:r>
            <a:r>
              <a:rPr lang="zh-CN" altLang="en-US" sz="22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上下文无关文法可以最大限度地发掘倒排列表中的冗余数据，使其只在字典中存储一次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600"/>
              </a:lnSpc>
            </a:pPr>
            <a:endParaRPr lang="en-US" altLang="zh-CN" sz="22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6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基于</a:t>
            </a:r>
            <a:r>
              <a:rPr lang="zh-CN" altLang="en-US" sz="22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字典的压缩优势在于可以发掘距离相隔较远的重复子串，减少了冗余数据从而实现好的压缩效果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600"/>
              </a:lnSpc>
            </a:pP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600"/>
              </a:lnSpc>
            </a:pPr>
            <a:endParaRPr lang="en-US" altLang="zh-CN" sz="2200" dirty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1464" y="6309320"/>
            <a:ext cx="1116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论文：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Leveraging Context-Free Grammar for Efficient Inverted Index Compression</a:t>
            </a:r>
            <a:r>
              <a:rPr lang="en-US" altLang="zh-CN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. SIGIR2016</a:t>
            </a:r>
            <a:endParaRPr lang="zh-CN" altLang="en-US" sz="1800" dirty="0">
              <a:solidFill>
                <a:schemeClr val="tx2">
                  <a:lumMod val="75000"/>
                </a:schemeClr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54114" y="4955572"/>
            <a:ext cx="623889" cy="303767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54115" y="5484366"/>
            <a:ext cx="623889" cy="303767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54115" y="4474282"/>
            <a:ext cx="623889" cy="303767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404439" y="4473001"/>
            <a:ext cx="1436807" cy="303767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036900" y="4951336"/>
            <a:ext cx="1449392" cy="303767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47" y="4473002"/>
            <a:ext cx="4189730" cy="1525062"/>
          </a:xfrm>
          <a:prstGeom prst="rect">
            <a:avLst/>
          </a:prstGeom>
        </p:spPr>
      </p:pic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185" y="4199594"/>
            <a:ext cx="3672408" cy="211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4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39513"/>
    </mc:Choice>
    <mc:Fallback xmlns="">
      <p:transition advTm="139513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2.3</a:t>
            </a:r>
            <a:r>
              <a:rPr lang="en-US" altLang="zh-CN" dirty="0"/>
              <a:t>  </a:t>
            </a:r>
            <a:r>
              <a:rPr lang="zh-CN" altLang="en-US" dirty="0"/>
              <a:t>文档召回计算</a:t>
            </a:r>
          </a:p>
        </p:txBody>
      </p:sp>
      <p:sp>
        <p:nvSpPr>
          <p:cNvPr id="40" name="TextBox 13"/>
          <p:cNvSpPr txBox="1"/>
          <p:nvPr/>
        </p:nvSpPr>
        <p:spPr>
          <a:xfrm>
            <a:off x="3971781" y="914844"/>
            <a:ext cx="4228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文档召回计算</a:t>
            </a:r>
          </a:p>
        </p:txBody>
      </p:sp>
      <p:sp>
        <p:nvSpPr>
          <p:cNvPr id="158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1877659" y="2352791"/>
            <a:ext cx="7407931" cy="2250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1600"/>
              </a:lnSpc>
            </a:pPr>
            <a:r>
              <a:rPr lang="en-US" altLang="zh-CN" sz="2200" dirty="0" err="1" smtClean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Maxscore,Wand,BlockMaxWand</a:t>
            </a:r>
            <a:endParaRPr lang="en-US" altLang="zh-CN" sz="22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7659" y="1772816"/>
            <a:ext cx="7242677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评价文档召回算法涉及计算效率和召回质量</a:t>
            </a:r>
          </a:p>
        </p:txBody>
      </p:sp>
      <p:sp>
        <p:nvSpPr>
          <p:cNvPr id="160" name="TextBox 5">
            <a:extLst>
              <a:ext uri="{FF2B5EF4-FFF2-40B4-BE49-F238E27FC236}">
                <a16:creationId xmlns:a16="http://schemas.microsoft.com/office/drawing/2014/main" xmlns="" id="{67F09C58-D59B-4249-B1BB-A5BB77CAD553}"/>
              </a:ext>
            </a:extLst>
          </p:cNvPr>
          <p:cNvSpPr txBox="1"/>
          <p:nvPr/>
        </p:nvSpPr>
        <p:spPr>
          <a:xfrm>
            <a:off x="1886552" y="3573016"/>
            <a:ext cx="935214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2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属于查询处理的耗时操作，是后续结果排名的前提</a:t>
            </a:r>
            <a:endParaRPr lang="en-US" altLang="zh-CN" sz="22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xmlns="" id="{3EC51B55-9308-48E0-9B00-132ABC0A7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6552" y="3077378"/>
            <a:ext cx="5601962" cy="4175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cap="all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召回计算效率直接影响用户体验</a:t>
            </a:r>
            <a:endParaRPr lang="en-US" altLang="zh-CN" sz="2800" b="1" cap="all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72" name="TextBox 5">
            <a:extLst>
              <a:ext uri="{FF2B5EF4-FFF2-40B4-BE49-F238E27FC236}">
                <a16:creationId xmlns:a16="http://schemas.microsoft.com/office/drawing/2014/main" xmlns="" id="{32DC958F-3A76-4F4E-9BCA-2E62481BA9B5}"/>
              </a:ext>
            </a:extLst>
          </p:cNvPr>
          <p:cNvSpPr txBox="1"/>
          <p:nvPr/>
        </p:nvSpPr>
        <p:spPr>
          <a:xfrm>
            <a:off x="1899939" y="4875956"/>
            <a:ext cx="935214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en-US" altLang="zh-CN" sz="2200" dirty="0" err="1" smtClean="0">
                <a:solidFill>
                  <a:schemeClr val="bg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And,RankAnd,Or,RankOr</a:t>
            </a:r>
            <a:endParaRPr lang="en-US" altLang="zh-CN" sz="2200" dirty="0">
              <a:solidFill>
                <a:schemeClr val="bg2">
                  <a:lumMod val="75000"/>
                </a:schemeClr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xmlns="" id="{71F55CC6-7509-4F83-9449-52BD1C681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939" y="4380318"/>
            <a:ext cx="5601962" cy="4175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cap="all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布尔查询与算分查询</a:t>
            </a:r>
            <a:endParaRPr lang="en-US" altLang="zh-CN" sz="2800" b="1" cap="all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31707" y="5484575"/>
            <a:ext cx="11161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论文：</a:t>
            </a:r>
            <a:r>
              <a:rPr lang="en-US" altLang="zh-CN" sz="1800" dirty="0" err="1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Maxscore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——Query Evaluation: Strategies </a:t>
            </a:r>
            <a:r>
              <a:rPr lang="en-US" altLang="zh-CN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and Optimizations</a:t>
            </a:r>
          </a:p>
          <a:p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Wand——Efficient Query Evaluation Using a Two-level Retrieval </a:t>
            </a:r>
            <a:r>
              <a:rPr lang="en-US" altLang="zh-CN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Process</a:t>
            </a:r>
          </a:p>
          <a:p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BMW——Faster Top-k Document Retrieval </a:t>
            </a:r>
            <a:r>
              <a:rPr lang="en-US" altLang="zh-CN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Using Block-max 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Indexes</a:t>
            </a:r>
            <a:endParaRPr lang="zh-CN" altLang="en-US" sz="1800" dirty="0">
              <a:solidFill>
                <a:schemeClr val="tx2">
                  <a:lumMod val="75000"/>
                </a:schemeClr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608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34380"/>
    </mc:Choice>
    <mc:Fallback xmlns="">
      <p:transition advTm="13438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737428" y="1251857"/>
            <a:ext cx="4878852" cy="4033157"/>
            <a:chOff x="1393372" y="1135743"/>
            <a:chExt cx="4878852" cy="4033157"/>
          </a:xfrm>
        </p:grpSpPr>
        <p:sp>
          <p:nvSpPr>
            <p:cNvPr id="694" name="矩形 693"/>
            <p:cNvSpPr/>
            <p:nvPr/>
          </p:nvSpPr>
          <p:spPr>
            <a:xfrm>
              <a:off x="1393372" y="1135743"/>
              <a:ext cx="2213428" cy="4033157"/>
            </a:xfrm>
            <a:prstGeom prst="rect">
              <a:avLst/>
            </a:prstGeom>
            <a:noFill/>
            <a:ln w="19050">
              <a:solidFill>
                <a:srgbClr val="28B3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5" name="矩形 694"/>
            <p:cNvSpPr/>
            <p:nvPr/>
          </p:nvSpPr>
          <p:spPr>
            <a:xfrm>
              <a:off x="3157531" y="2844800"/>
              <a:ext cx="944569" cy="1892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6" name="文本框 695"/>
            <p:cNvSpPr txBox="1"/>
            <p:nvPr/>
          </p:nvSpPr>
          <p:spPr>
            <a:xfrm>
              <a:off x="1788131" y="1542143"/>
              <a:ext cx="122982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7" name="文本框 696"/>
            <p:cNvSpPr txBox="1"/>
            <p:nvPr/>
          </p:nvSpPr>
          <p:spPr>
            <a:xfrm>
              <a:off x="1788131" y="3181064"/>
              <a:ext cx="448409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rgbClr val="28B3C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SSD</a:t>
              </a:r>
              <a:r>
                <a:rPr lang="zh-CN" altLang="en-US" sz="4000" b="1" dirty="0">
                  <a:solidFill>
                    <a:srgbClr val="28B3C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平台上的搜索引擎架构优化</a:t>
              </a:r>
            </a:p>
          </p:txBody>
        </p:sp>
        <p:cxnSp>
          <p:nvCxnSpPr>
            <p:cNvPr id="699" name="直接连接符 698"/>
            <p:cNvCxnSpPr/>
            <p:nvPr/>
          </p:nvCxnSpPr>
          <p:spPr>
            <a:xfrm>
              <a:off x="1944915" y="2650139"/>
              <a:ext cx="39627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24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2"/>
    </mc:Choice>
    <mc:Fallback xmlns="">
      <p:transition advTm="832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平台上的搜索引擎架构优化</a:t>
            </a:r>
            <a:endParaRPr lang="zh-CN" altLang="en-US" dirty="0"/>
          </a:p>
        </p:txBody>
      </p:sp>
      <p:sp>
        <p:nvSpPr>
          <p:cNvPr id="10" name="文本框 1"/>
          <p:cNvSpPr txBox="1"/>
          <p:nvPr/>
        </p:nvSpPr>
        <p:spPr>
          <a:xfrm>
            <a:off x="959345" y="2543130"/>
            <a:ext cx="1076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的特点及其对搜索引擎存储系统的影响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对基于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的搜索引擎系统的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微软雅黑" panose="020B0503020204020204" pitchFamily="34" charset="-122"/>
              <a:buChar char="−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缓存替换算法优化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微软雅黑" panose="020B0503020204020204" pitchFamily="34" charset="-122"/>
              <a:buChar char="−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缓存数据结构优化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842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65319"/>
    </mc:Choice>
    <mc:Fallback xmlns="">
      <p:transition advTm="653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平台上的搜索引擎架构优化</a:t>
            </a:r>
            <a:endParaRPr lang="zh-CN" altLang="en-US" dirty="0"/>
          </a:p>
        </p:txBody>
      </p:sp>
      <p:sp>
        <p:nvSpPr>
          <p:cNvPr id="10" name="文本框 1"/>
          <p:cNvSpPr txBox="1"/>
          <p:nvPr/>
        </p:nvSpPr>
        <p:spPr>
          <a:xfrm>
            <a:off x="959345" y="2543130"/>
            <a:ext cx="1076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的特点及其对搜索引擎存储系统的影响</a:t>
            </a:r>
            <a:endParaRPr lang="en-US" altLang="zh-CN" sz="24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对基于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的搜索引擎系统的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微软雅黑" panose="020B0503020204020204" pitchFamily="34" charset="-122"/>
              <a:buChar char="−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缓存替换算法优化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微软雅黑" panose="020B0503020204020204" pitchFamily="34" charset="-122"/>
              <a:buChar char="−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缓存数据结构优化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3392" y="5157192"/>
            <a:ext cx="1116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论文：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Cache Design of SSD-based Search Engine Architectures: </a:t>
            </a:r>
            <a:r>
              <a:rPr lang="en-US" altLang="zh-CN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An Experimental 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Study</a:t>
            </a:r>
            <a:endParaRPr lang="zh-CN" altLang="en-US" sz="1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083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238"/>
    </mc:Choice>
    <mc:Fallback xmlns="">
      <p:transition advTm="42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对搜索引擎存储系统的影响 </a:t>
            </a:r>
            <a:r>
              <a:rPr lang="en-US" altLang="zh-CN" b="1" dirty="0"/>
              <a:t>– </a:t>
            </a:r>
            <a:r>
              <a:rPr lang="zh-CN" altLang="en-US" b="1" dirty="0"/>
              <a:t>搜索引擎基本架构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560" y="980728"/>
            <a:ext cx="7919160" cy="50224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701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502"/>
    </mc:Choice>
    <mc:Fallback xmlns="">
      <p:transition advTm="55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5286881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的特点 </a:t>
            </a:r>
            <a:r>
              <a:rPr lang="en-US" altLang="zh-CN" b="1" dirty="0"/>
              <a:t>– SSD</a:t>
            </a:r>
            <a:r>
              <a:rPr lang="zh-CN" altLang="en-US" b="1" dirty="0"/>
              <a:t>与</a:t>
            </a:r>
            <a:r>
              <a:rPr lang="en-US" altLang="zh-CN" b="1" dirty="0"/>
              <a:t>HDD</a:t>
            </a:r>
            <a:r>
              <a:rPr lang="zh-CN" altLang="en-US" b="1" dirty="0"/>
              <a:t>的对比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18186" y="1124744"/>
            <a:ext cx="10972800" cy="476885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zh-CN" altLang="en-US" sz="2400" dirty="0" smtClean="0"/>
              <a:t>很多大规模系统已经开始用</a:t>
            </a:r>
            <a:r>
              <a:rPr lang="en-US" altLang="zh-CN" sz="2400" dirty="0" smtClean="0"/>
              <a:t>SSD</a:t>
            </a:r>
            <a:r>
              <a:rPr lang="zh-CN" altLang="en-US" sz="2400" dirty="0" smtClean="0"/>
              <a:t>代替</a:t>
            </a:r>
            <a:r>
              <a:rPr lang="en-US" altLang="zh-CN" sz="2400" dirty="0" smtClean="0"/>
              <a:t>HDD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t="14673"/>
          <a:stretch/>
        </p:blipFill>
        <p:spPr>
          <a:xfrm>
            <a:off x="2495600" y="1334291"/>
            <a:ext cx="6810375" cy="38930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876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2560"/>
    </mc:Choice>
    <mc:Fallback xmlns="">
      <p:transition advTm="325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5286881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的特点 </a:t>
            </a:r>
            <a:r>
              <a:rPr lang="en-US" altLang="zh-CN" b="1" dirty="0"/>
              <a:t>– SSD</a:t>
            </a:r>
            <a:r>
              <a:rPr lang="zh-CN" altLang="en-US" b="1" dirty="0"/>
              <a:t>与</a:t>
            </a:r>
            <a:r>
              <a:rPr lang="en-US" altLang="zh-CN" b="1" dirty="0"/>
              <a:t>HDD</a:t>
            </a:r>
            <a:r>
              <a:rPr lang="zh-CN" altLang="en-US" b="1" dirty="0"/>
              <a:t>的对比</a:t>
            </a:r>
          </a:p>
        </p:txBody>
      </p:sp>
      <p:sp>
        <p:nvSpPr>
          <p:cNvPr id="8" name="矩形 7"/>
          <p:cNvSpPr/>
          <p:nvPr/>
        </p:nvSpPr>
        <p:spPr>
          <a:xfrm>
            <a:off x="609600" y="1267490"/>
            <a:ext cx="1095586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的读取访问延迟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584" y="1821488"/>
            <a:ext cx="7820025" cy="4000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212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1056"/>
    </mc:Choice>
    <mc:Fallback xmlns="">
      <p:transition advTm="510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对搜索引擎存储系统的</a:t>
            </a:r>
            <a:r>
              <a:rPr lang="zh-CN" altLang="en-US" b="1" dirty="0" smtClean="0"/>
              <a:t>影响</a:t>
            </a:r>
            <a:r>
              <a:rPr lang="en-US" altLang="zh-CN" b="1" dirty="0" smtClean="0"/>
              <a:t>—Index server</a:t>
            </a:r>
            <a:endParaRPr lang="zh-CN" altLang="en-US" b="1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202568" y="608207"/>
            <a:ext cx="10972800" cy="559117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着重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考虑缓存项所占空间，致力于将命中率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最大化（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short popular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减少随机读取次数的缓存策略虽然仍可获得较高的命中率，但系统响应延时较长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16" y="2716547"/>
            <a:ext cx="8212008" cy="3130426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784" y="1671546"/>
            <a:ext cx="3696216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6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对搜索引擎存储系统的</a:t>
            </a:r>
            <a:r>
              <a:rPr lang="zh-CN" altLang="en-US" b="1" dirty="0" smtClean="0"/>
              <a:t>影响</a:t>
            </a:r>
            <a:r>
              <a:rPr lang="en-US" altLang="zh-CN" b="1" dirty="0" smtClean="0"/>
              <a:t>—Index server</a:t>
            </a:r>
            <a:endParaRPr lang="zh-CN" altLang="en-US" b="1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202568" y="608207"/>
            <a:ext cx="10972800" cy="559117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我们发现倒排列表求交，算分成为整个系统较大瓶颈，因此我们考虑加入：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full-term-ranking-cache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two-term-intersection-cache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728" y="2636912"/>
            <a:ext cx="7964002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6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对搜索引擎存储系统的</a:t>
            </a:r>
            <a:r>
              <a:rPr lang="zh-CN" altLang="en-US" b="1" dirty="0" smtClean="0"/>
              <a:t>影响</a:t>
            </a:r>
            <a:r>
              <a:rPr lang="en-US" altLang="zh-CN" b="1" dirty="0" smtClean="0"/>
              <a:t>—Doc sever</a:t>
            </a:r>
            <a:endParaRPr lang="zh-CN" altLang="en-US" b="1" dirty="0"/>
          </a:p>
        </p:txBody>
      </p:sp>
      <p:grpSp>
        <p:nvGrpSpPr>
          <p:cNvPr id="11" name="组合 10"/>
          <p:cNvGrpSpPr/>
          <p:nvPr/>
        </p:nvGrpSpPr>
        <p:grpSpPr>
          <a:xfrm>
            <a:off x="2157195" y="1278090"/>
            <a:ext cx="4093840" cy="4388454"/>
            <a:chOff x="457200" y="1912303"/>
            <a:chExt cx="3733800" cy="3970020"/>
          </a:xfrm>
        </p:grpSpPr>
        <p:pic>
          <p:nvPicPr>
            <p:cNvPr id="12" name="内容占位符 3"/>
            <p:cNvPicPr>
              <a:picLocks noChangeAspect="1"/>
            </p:cNvPicPr>
            <p:nvPr/>
          </p:nvPicPr>
          <p:blipFill rotWithShape="1">
            <a:blip r:embed="rId3"/>
            <a:srcRect l="2726" r="30494"/>
            <a:stretch/>
          </p:blipFill>
          <p:spPr bwMode="auto">
            <a:xfrm>
              <a:off x="457200" y="3177223"/>
              <a:ext cx="3733800" cy="270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内容占位符 3"/>
            <p:cNvPicPr>
              <a:picLocks noChangeAspect="1"/>
            </p:cNvPicPr>
            <p:nvPr/>
          </p:nvPicPr>
          <p:blipFill rotWithShape="1">
            <a:blip r:embed="rId3"/>
            <a:srcRect l="69499" t="25243" r="1881" b="27996"/>
            <a:stretch/>
          </p:blipFill>
          <p:spPr bwMode="auto">
            <a:xfrm>
              <a:off x="1524000" y="1912303"/>
              <a:ext cx="1600200" cy="1264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" name="组合 13"/>
          <p:cNvGrpSpPr/>
          <p:nvPr/>
        </p:nvGrpSpPr>
        <p:grpSpPr>
          <a:xfrm>
            <a:off x="5955806" y="1278090"/>
            <a:ext cx="4027003" cy="4430570"/>
            <a:chOff x="4572000" y="1858963"/>
            <a:chExt cx="3672841" cy="400812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/>
            <a:srcRect l="1067" r="30076"/>
            <a:stretch/>
          </p:blipFill>
          <p:spPr>
            <a:xfrm>
              <a:off x="4572000" y="3161983"/>
              <a:ext cx="3672841" cy="270510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4"/>
            <a:srcRect l="69923" t="24117" b="26306"/>
            <a:stretch/>
          </p:blipFill>
          <p:spPr>
            <a:xfrm>
              <a:off x="5606274" y="1858963"/>
              <a:ext cx="1604291" cy="13411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对搜索引擎存储系统的</a:t>
            </a:r>
            <a:r>
              <a:rPr lang="zh-CN" altLang="en-US" b="1" dirty="0" smtClean="0"/>
              <a:t>影响</a:t>
            </a:r>
            <a:r>
              <a:rPr lang="en-US" altLang="zh-CN" b="1" dirty="0"/>
              <a:t>— </a:t>
            </a:r>
            <a:r>
              <a:rPr lang="en-US" altLang="zh-CN" b="1" dirty="0" smtClean="0"/>
              <a:t>Doc </a:t>
            </a:r>
            <a:r>
              <a:rPr lang="en-US" altLang="zh-CN" b="1" dirty="0"/>
              <a:t>sever</a:t>
            </a:r>
            <a:endParaRPr lang="zh-CN" altLang="en-US" b="1" dirty="0"/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406400" y="1346200"/>
            <a:ext cx="10972800" cy="5010154"/>
          </a:xfrm>
          <a:prstGeom prst="rect">
            <a:avLst/>
          </a:prstGeom>
        </p:spPr>
        <p:txBody>
          <a:bodyPr numCol="2"/>
          <a:lstStyle>
            <a:lvl1pPr marL="342900" indent="-342900"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HDD-based Search Engine</a:t>
            </a:r>
          </a:p>
          <a:p>
            <a:pPr marL="685800" lvl="1">
              <a:lnSpc>
                <a:spcPct val="150000"/>
              </a:lnSpc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开销占整个查询响应时间的大部分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设计的主要目标是减少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开销</a:t>
            </a:r>
            <a:endParaRPr lang="en-US" altLang="zh-CN" sz="18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次磁盘访问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一次随机读取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一系列顺序读取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>
              <a:lnSpc>
                <a:spcPct val="150000"/>
              </a:lnSpc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HDD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随机读取时间远大于顺序读取时间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设计着重于减少随机访问磁盘的次数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（提升缓存命中率）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SSD-based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Search Engine</a:t>
            </a:r>
          </a:p>
          <a:p>
            <a:pPr marL="685800" lvl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Snippet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生成时间成为新的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瓶颈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设计的主要目标应转换为减少重复计算次数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随机读取时间与顺序读取时间相差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不大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>
              <a:lnSpc>
                <a:spcPct val="150000"/>
              </a:lnSpc>
            </a:pP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缓存命中率不再是一个合适的评价标准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328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对搜索引擎存储系统的</a:t>
            </a:r>
            <a:r>
              <a:rPr lang="zh-CN" altLang="en-US" b="1" dirty="0" smtClean="0"/>
              <a:t>影响</a:t>
            </a:r>
            <a:r>
              <a:rPr lang="en-US" altLang="zh-CN" b="1" dirty="0"/>
              <a:t>— Doc sever</a:t>
            </a:r>
            <a:endParaRPr lang="zh-CN" altLang="en-US" b="1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489397" y="1130300"/>
            <a:ext cx="10972800" cy="559117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优秀的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所能减少的查询响应时间的比例有所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减少，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在基于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的搜索引擎系统中似乎已经不那么有效了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摘要的计算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开销在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的搜索引擎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一个新的性能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瓶颈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，在基于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的搜索引擎系统中，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应着重减少重复计算。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392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b="1" dirty="0"/>
              <a:t>SSD</a:t>
            </a:r>
            <a:r>
              <a:rPr lang="zh-CN" altLang="en-US" b="1" dirty="0"/>
              <a:t>对搜索引擎存储系统的</a:t>
            </a:r>
            <a:r>
              <a:rPr lang="zh-CN" altLang="en-US" b="1" dirty="0" smtClean="0"/>
              <a:t>影响</a:t>
            </a:r>
            <a:r>
              <a:rPr lang="en-US" altLang="zh-CN" b="1" dirty="0"/>
              <a:t>— </a:t>
            </a:r>
            <a:r>
              <a:rPr lang="en-US" altLang="zh-CN" b="1" dirty="0" smtClean="0"/>
              <a:t>Web server</a:t>
            </a:r>
            <a:endParaRPr lang="zh-CN" altLang="en-US" b="1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489397" y="1130300"/>
            <a:ext cx="10972800" cy="559117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QRC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硬盘在网络服务器中只是作为一些暂时的存储的作用，使用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替代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对网络服务器及其中设置的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QRC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并没有太大影响。</a:t>
            </a:r>
          </a:p>
        </p:txBody>
      </p:sp>
    </p:spTree>
    <p:extLst>
      <p:ext uri="{BB962C8B-B14F-4D97-AF65-F5344CB8AC3E}">
        <p14:creationId xmlns:p14="http://schemas.microsoft.com/office/powerpoint/2010/main" val="376785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目录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959345" y="2543130"/>
            <a:ext cx="1076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的特点及其对搜索引擎存储系统的影响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对基于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的搜索引擎系统的</a:t>
            </a:r>
            <a:r>
              <a:rPr lang="zh-CN" altLang="en-US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altLang="zh-CN" sz="24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微软雅黑" panose="020B0503020204020204" pitchFamily="34" charset="-122"/>
              <a:buChar char="−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缓存替换算法优化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微软雅黑" panose="020B0503020204020204" pitchFamily="34" charset="-122"/>
              <a:buChar char="−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缓存数据结构优化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958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smtClean="0"/>
              <a:t>目录</a:t>
            </a:r>
            <a:endParaRPr lang="zh-CN" altLang="en-US" b="1" dirty="0"/>
          </a:p>
        </p:txBody>
      </p:sp>
      <p:sp>
        <p:nvSpPr>
          <p:cNvPr id="4" name="文本框 1"/>
          <p:cNvSpPr txBox="1"/>
          <p:nvPr/>
        </p:nvSpPr>
        <p:spPr>
          <a:xfrm>
            <a:off x="959345" y="2543130"/>
            <a:ext cx="1076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的特点及其对搜索引擎存储系统的影响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对基于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的搜索引擎系统的</a:t>
            </a:r>
            <a:r>
              <a:rPr lang="zh-CN" altLang="en-US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altLang="zh-CN" sz="24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微软雅黑" panose="020B0503020204020204" pitchFamily="34" charset="-122"/>
              <a:buChar char="−"/>
            </a:pPr>
            <a:r>
              <a:rPr lang="zh-CN" altLang="en-US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缓存替换算法优化</a:t>
            </a:r>
            <a:endParaRPr lang="en-US" altLang="zh-CN" sz="24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微软雅黑" panose="020B0503020204020204" pitchFamily="34" charset="-122"/>
              <a:buChar char="−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缓存数据结构优化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3392" y="5157192"/>
            <a:ext cx="1116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论文：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Latency-aware strategy for static list caching in flash-based web search </a:t>
            </a:r>
            <a:r>
              <a:rPr lang="en-US" altLang="zh-CN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engines</a:t>
            </a:r>
            <a:r>
              <a:rPr lang="en-US" altLang="zh-CN" sz="1800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zh-CN" altLang="en-US" sz="1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62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对基于</a:t>
            </a:r>
            <a:r>
              <a:rPr lang="en-US" altLang="zh-CN" b="1" dirty="0"/>
              <a:t>SSD</a:t>
            </a:r>
            <a:r>
              <a:rPr lang="zh-CN" altLang="en-US" b="1" dirty="0"/>
              <a:t>的搜索引擎系统的优化</a:t>
            </a:r>
            <a:r>
              <a:rPr lang="en-US" altLang="zh-CN" b="1" dirty="0"/>
              <a:t>-</a:t>
            </a:r>
            <a:r>
              <a:rPr lang="zh-CN" altLang="en-US" b="1" dirty="0"/>
              <a:t>缓存替换算法优化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89803" y="2198353"/>
            <a:ext cx="10972800" cy="36068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由于获取每个缓存项（计算或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）所需的时间代价不同，所以其缓存收益实际上也不尽相同。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的顺序读取与随机读取速度相差不大，这一问题尤为显著。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Latency-Aware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Strategy 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下箭头 6"/>
          <p:cNvSpPr/>
          <p:nvPr/>
        </p:nvSpPr>
        <p:spPr>
          <a:xfrm>
            <a:off x="5737059" y="4456090"/>
            <a:ext cx="609600" cy="5835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70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缓存替换算法优化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/>
              <p:cNvSpPr txBox="1">
                <a:spLocks/>
              </p:cNvSpPr>
              <p:nvPr/>
            </p:nvSpPr>
            <p:spPr>
              <a:xfrm>
                <a:off x="609600" y="1545466"/>
                <a:ext cx="10972800" cy="4623515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1" fontAlgn="auto" hangingPunct="1">
                  <a:spcBef>
                    <a:spcPct val="20000"/>
                  </a:spcBef>
                  <a:spcAft>
                    <a:spcPts val="0"/>
                  </a:spcAft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以倒排列表缓存为例，对于词</a:t>
                </a:r>
                <a:r>
                  <a:rPr lang="en-US" altLang="zh-CN" sz="2400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l(t</a:t>
                </a:r>
                <a:r>
                  <a:rPr lang="en-US" altLang="zh-CN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lang="zh-CN" altLang="en-US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词</a:t>
                </a:r>
                <a:r>
                  <a:rPr lang="en-US" altLang="zh-CN" sz="20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zh-CN" altLang="en-US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的倒排列表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|l(t)|</a:t>
                </a:r>
                <a:r>
                  <a:rPr lang="en-US" altLang="zh-CN" sz="2000" dirty="0">
                    <a:solidFill>
                      <a:srgbClr val="000000"/>
                    </a:solidFill>
                  </a:rPr>
                  <a:t>: </a:t>
                </a:r>
                <a:r>
                  <a:rPr lang="zh-CN" altLang="en-US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倒排列表长度</a:t>
                </a:r>
                <a:endParaRPr lang="en-US" altLang="zh-CN" sz="20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000" i="1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000" i="1" baseline="-25000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0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r>
                  <a:rPr lang="en-US" altLang="zh-CN" sz="2000" dirty="0" smtClean="0">
                    <a:solidFill>
                      <a:srgbClr val="000000"/>
                    </a:solidFill>
                    <a:cs typeface="Nirmala UI" panose="020B0502040204020203" pitchFamily="34" charset="0"/>
                  </a:rPr>
                  <a:t>: </a:t>
                </a:r>
                <a:r>
                  <a:rPr lang="zh-CN" altLang="en-US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词</a:t>
                </a: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irmala UI" panose="020B0502040204020203" pitchFamily="34" charset="0"/>
                  </a:rPr>
                  <a:t>访问频率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irmala UI" panose="020B0502040204020203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0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B(t</a:t>
                </a: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000" dirty="0">
                    <a:solidFill>
                      <a:srgbClr val="000000"/>
                    </a:solidFill>
                    <a:cs typeface="Nirmala UI" panose="020B0502040204020203" pitchFamily="34" charset="0"/>
                  </a:rPr>
                  <a:t>: </a:t>
                </a:r>
                <a:r>
                  <a:rPr lang="zh-CN" altLang="en-US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irmala UI" panose="020B0502040204020203" pitchFamily="34" charset="0"/>
                  </a:rPr>
                  <a:t>缓存命中可以节省的</a:t>
                </a:r>
                <a:r>
                  <a:rPr lang="en-US" altLang="zh-CN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irmala UI" panose="020B0502040204020203" pitchFamily="34" charset="0"/>
                  </a:rPr>
                  <a:t>I/O</a:t>
                </a:r>
                <a:r>
                  <a:rPr lang="zh-CN" altLang="en-US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irmala UI" panose="020B0502040204020203" pitchFamily="34" charset="0"/>
                  </a:rPr>
                  <a:t>代价（缓存收益）</a:t>
                </a:r>
                <a:endParaRPr lang="en-US" altLang="zh-CN" sz="20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irmala UI" panose="020B0502040204020203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zh-CN" sz="20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irmala UI" panose="020B0502040204020203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irmala UI" panose="020B0502040204020203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irmala UI" panose="020B0502040204020203" pitchFamily="34" charset="0"/>
                  </a:rPr>
                  <a:t> </a:t>
                </a:r>
                <a:r>
                  <a:rPr lang="zh-CN" altLang="en-US" sz="2000" dirty="0" smtClea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irmala UI" panose="020B0502040204020203" pitchFamily="34" charset="0"/>
                  </a:rPr>
                  <a:t>代价函数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irmala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45466"/>
                <a:ext cx="10972800" cy="4623515"/>
              </a:xfrm>
              <a:prstGeom prst="rect">
                <a:avLst/>
              </a:prstGeom>
              <a:blipFill rotWithShape="1">
                <a:blip r:embed="rId3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101792" y="4415044"/>
                <a:ext cx="5398264" cy="768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smtClean="0"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4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)|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792" y="4415044"/>
                <a:ext cx="5398264" cy="76899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69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缓存替换算法优化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8"/>
              <p:cNvSpPr txBox="1"/>
              <p:nvPr/>
            </p:nvSpPr>
            <p:spPr>
              <a:xfrm>
                <a:off x="772733" y="1147483"/>
                <a:ext cx="10560676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QTFDF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C(t) = 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QTF: C(t) = |l(t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)|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MECH: C(t) = T (t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800" b="0" dirty="0" smtClean="0">
                    <a:ea typeface="微软雅黑" panose="020B0503020204020204" pitchFamily="34" charset="-122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𝑇</m:t>
                    </m:r>
                    <m:r>
                      <a:rPr lang="en-US" altLang="zh-CN" sz="2800" b="0" i="1" baseline="-2500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h𝑑𝑑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𝑠𝑒𝑒𝑘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𝐷</m:t>
                    </m:r>
                    <m:r>
                      <m:rPr>
                        <m:sty m:val="p"/>
                      </m:rPr>
                      <a:rPr lang="en-US" altLang="zh-CN" sz="2800" i="1" baseline="-25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rota</m:t>
                    </m:r>
                    <m:r>
                      <a:rPr lang="en-US" altLang="zh-CN" sz="2800" b="0" i="1" baseline="-2500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𝐷</m:t>
                    </m:r>
                    <m:r>
                      <m:rPr>
                        <m:sty m:val="p"/>
                      </m:rPr>
                      <a:rPr lang="en-US" altLang="zh-CN" sz="2800" i="1" baseline="-25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read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)|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8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𝑏𝑙𝑜𝑐𝑘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b="0" dirty="0" smtClean="0">
                  <a:ea typeface="Cambria Math" panose="02040503050406030204" pitchFamily="18" charset="0"/>
                </a:endParaRPr>
              </a:p>
              <a:p>
                <a:r>
                  <a:rPr lang="en-US" altLang="zh-CN" sz="28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𝑇</m:t>
                    </m:r>
                    <m:r>
                      <a:rPr lang="en-US" altLang="zh-CN" sz="2800" b="0" i="1" baseline="-2500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𝑠𝑠𝑑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𝑆</m:t>
                    </m:r>
                    <m:r>
                      <m:rPr>
                        <m:sty m:val="p"/>
                      </m:rPr>
                      <a:rPr lang="en-US" altLang="zh-CN" sz="2800" i="1" baseline="-25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r</m:t>
                    </m:r>
                    <m:r>
                      <a:rPr lang="en-US" altLang="zh-CN" sz="2800" b="0" i="1" baseline="-2500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𝑒𝑎𝑑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)|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28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𝑝𝑎𝑔𝑒</m:t>
                        </m:r>
                      </m:den>
                    </m:f>
                  </m:oMath>
                </a14:m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BLOCK: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33" y="1147483"/>
                <a:ext cx="10560676" cy="3970318"/>
              </a:xfrm>
              <a:prstGeom prst="rect">
                <a:avLst/>
              </a:prstGeom>
              <a:blipFill rotWithShape="1">
                <a:blip r:embed="rId3"/>
                <a:stretch>
                  <a:fillRect l="-808" b="-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2013588" y="4434701"/>
            <a:ext cx="7392088" cy="2152841"/>
            <a:chOff x="1799967" y="2876726"/>
            <a:chExt cx="5544066" cy="21528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10"/>
                <p:cNvSpPr txBox="1"/>
                <p:nvPr/>
              </p:nvSpPr>
              <p:spPr>
                <a:xfrm>
                  <a:off x="1799967" y="3456120"/>
                  <a:ext cx="5544066" cy="8298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400" b="0" i="1" baseline="-25000" smtClean="0">
                            <a:latin typeface="Cambria Math" panose="02040503050406030204" pitchFamily="18" charset="0"/>
                          </a:rPr>
                          <m:t>𝑏𝑙𝑜𝑐𝑘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⌈"/>
                                <m:endChr m:val="⌉"/>
                                <m:ctrlPr>
                                  <a:rPr lang="en-US" altLang="zh-CN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2400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altLang="zh-CN" sz="2400" b="0" i="1" baseline="-2500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 −1 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 </m:t>
                        </m:r>
                        <m:r>
                          <m:rPr>
                            <m:sty m:val="p"/>
                          </m:rPr>
                          <a:rPr lang="el-GR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Υ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9967" y="3456120"/>
                  <a:ext cx="5544066" cy="96815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左大括号 9"/>
            <p:cNvSpPr/>
            <p:nvPr/>
          </p:nvSpPr>
          <p:spPr>
            <a:xfrm rot="16200000">
              <a:off x="5327387" y="3130436"/>
              <a:ext cx="320039" cy="2633865"/>
            </a:xfrm>
            <a:prstGeom prst="leftBrac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1" name="左大括号 10"/>
            <p:cNvSpPr/>
            <p:nvPr/>
          </p:nvSpPr>
          <p:spPr>
            <a:xfrm rot="16200000" flipH="1">
              <a:off x="5134541" y="2484067"/>
              <a:ext cx="194786" cy="1603640"/>
            </a:xfrm>
            <a:prstGeom prst="leftBrace">
              <a:avLst/>
            </a:prstGeom>
            <a:no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2" name="左大括号 11"/>
            <p:cNvSpPr/>
            <p:nvPr/>
          </p:nvSpPr>
          <p:spPr>
            <a:xfrm rot="16200000" flipH="1">
              <a:off x="3681816" y="3542052"/>
              <a:ext cx="194494" cy="204287"/>
            </a:xfrm>
            <a:prstGeom prst="leftBrace">
              <a:avLst/>
            </a:prstGeom>
            <a:no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" name="文本框 14"/>
            <p:cNvSpPr txBox="1"/>
            <p:nvPr/>
          </p:nvSpPr>
          <p:spPr>
            <a:xfrm>
              <a:off x="4188029" y="4691013"/>
              <a:ext cx="29323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/>
                <a:t># of equivalent random read</a:t>
              </a:r>
              <a:endParaRPr lang="zh-CN" altLang="en-US" sz="1600" dirty="0"/>
            </a:p>
          </p:txBody>
        </p:sp>
        <p:sp>
          <p:nvSpPr>
            <p:cNvPr id="14" name="文本框 15"/>
            <p:cNvSpPr txBox="1"/>
            <p:nvPr/>
          </p:nvSpPr>
          <p:spPr>
            <a:xfrm>
              <a:off x="4303990" y="2876726"/>
              <a:ext cx="20652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/>
                <a:t># of Sequential read</a:t>
              </a:r>
              <a:endParaRPr lang="zh-CN" altLang="en-US" sz="1600" dirty="0"/>
            </a:p>
          </p:txBody>
        </p:sp>
        <p:sp>
          <p:nvSpPr>
            <p:cNvPr id="15" name="文本框 16"/>
            <p:cNvSpPr txBox="1"/>
            <p:nvPr/>
          </p:nvSpPr>
          <p:spPr>
            <a:xfrm>
              <a:off x="2861443" y="3213008"/>
              <a:ext cx="15765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/>
                <a:t>1 random read</a:t>
              </a:r>
              <a:endParaRPr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1276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缓存替换算法优化</a:t>
            </a:r>
          </a:p>
        </p:txBody>
      </p:sp>
      <p:sp>
        <p:nvSpPr>
          <p:cNvPr id="17" name="内容占位符 3"/>
          <p:cNvSpPr txBox="1">
            <a:spLocks/>
          </p:cNvSpPr>
          <p:nvPr/>
        </p:nvSpPr>
        <p:spPr>
          <a:xfrm>
            <a:off x="609600" y="1118238"/>
            <a:ext cx="10972800" cy="4490083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+mn-cs"/>
              </a:defRPr>
            </a:lvl1pPr>
            <a:lvl2pPr marL="557213" indent="-214313" algn="l" rtl="0" eaLnBrk="1" fontAlgn="base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+mn-cs"/>
              </a:defRPr>
            </a:lvl2pPr>
            <a:lvl3pPr marL="857250" indent="-171450" algn="l" rtl="0" eaLnBrk="1" fontAlgn="base" hangingPunct="1">
              <a:spcBef>
                <a:spcPct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+mn-cs"/>
              </a:defRPr>
            </a:lvl3pPr>
            <a:lvl4pPr marL="1200150" indent="-171450" algn="l" rtl="0" eaLnBrk="1" fontAlgn="base" hangingPunct="1">
              <a:spcBef>
                <a:spcPct val="0"/>
              </a:spcBef>
              <a:spcAft>
                <a:spcPts val="45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+mn-cs"/>
              </a:defRPr>
            </a:lvl4pPr>
            <a:lvl5pPr marL="1543050" indent="-171450" algn="l" rtl="0" eaLnBrk="1" fontAlgn="base" hangingPunct="1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 smtClean="0">
                <a:latin typeface="微软雅黑" panose="020B0503020204020204" pitchFamily="34" charset="-122"/>
              </a:rPr>
              <a:t>使用</a:t>
            </a:r>
            <a:r>
              <a:rPr lang="en-US" altLang="zh-CN" sz="2400" dirty="0" smtClean="0">
                <a:latin typeface="微软雅黑" panose="020B0503020204020204" pitchFamily="34" charset="-122"/>
              </a:rPr>
              <a:t>SSD</a:t>
            </a:r>
            <a:r>
              <a:rPr lang="zh-CN" altLang="en-US" sz="2400" dirty="0" smtClean="0">
                <a:latin typeface="微软雅黑" panose="020B0503020204020204" pitchFamily="34" charset="-122"/>
              </a:rPr>
              <a:t>作为存储介质时的平均磁盘访问时间</a:t>
            </a:r>
            <a:r>
              <a:rPr lang="en-US" altLang="zh-CN" sz="2400" dirty="0" smtClean="0">
                <a:latin typeface="微软雅黑" panose="020B0503020204020204" pitchFamily="34" charset="-122"/>
              </a:rPr>
              <a:t>: </a:t>
            </a:r>
            <a:endParaRPr lang="zh-CN" altLang="en-US" sz="2400" dirty="0"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915" y="1772816"/>
            <a:ext cx="6120170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目录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959345" y="2543130"/>
            <a:ext cx="1076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的特点及其对搜索引擎存储系统的影响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对基于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的搜索引擎系统的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微软雅黑" panose="020B0503020204020204" pitchFamily="34" charset="-122"/>
              <a:buChar char="−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缓存替换算法优化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微软雅黑" panose="020B0503020204020204" pitchFamily="34" charset="-122"/>
              <a:buChar char="−"/>
            </a:pPr>
            <a:r>
              <a:rPr lang="zh-CN" altLang="en-US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缓存数据结构优化</a:t>
            </a:r>
            <a:endParaRPr lang="en-US" altLang="zh-CN" sz="24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3392" y="5157192"/>
            <a:ext cx="1116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论文：</a:t>
            </a:r>
            <a:r>
              <a:rPr lang="en-US" altLang="zh-CN" sz="1800" dirty="0">
                <a:solidFill>
                  <a:schemeClr val="tx2">
                    <a:lumMod val="75000"/>
                  </a:schemeClr>
                </a:solidFill>
                <a:latin typeface="华文细黑" pitchFamily="2" charset="-122"/>
                <a:ea typeface="华文细黑" pitchFamily="2" charset="-122"/>
              </a:rPr>
              <a:t>Compact Snippet Caching for Flash-based Search Engines.</a:t>
            </a:r>
            <a:endParaRPr lang="zh-CN" altLang="en-US" sz="1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63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缓存数据结构优化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09600" y="1837391"/>
            <a:ext cx="10972800" cy="38141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缓存项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" indent="0">
              <a:lnSpc>
                <a:spcPct val="150000"/>
              </a:lnSpc>
              <a:buNone/>
            </a:pP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" indent="0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搜索引擎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结果主要由三部分组成：主题（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），即图片中“南开大学 百度百科”部分；摘要（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Snippet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），即图中标题下描述性的文本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段，其中关键词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会经过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高亮处理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；网址（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），即图中绿字对应的网址。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2578100"/>
            <a:ext cx="76454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缓存数据结构优化</a:t>
            </a:r>
            <a:r>
              <a:rPr lang="en-US" altLang="zh-CN" b="1" dirty="0"/>
              <a:t>——</a:t>
            </a:r>
            <a:r>
              <a:rPr lang="zh-CN" altLang="en-US" b="1" dirty="0"/>
              <a:t>摘要的紧缩式缓存方法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/>
              <p:cNvSpPr txBox="1">
                <a:spLocks/>
              </p:cNvSpPr>
              <p:nvPr/>
            </p:nvSpPr>
            <p:spPr>
              <a:xfrm>
                <a:off x="609600" y="1714500"/>
                <a:ext cx="10972800" cy="450317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1" fontAlgn="auto" hangingPunct="1">
                  <a:spcBef>
                    <a:spcPct val="20000"/>
                  </a:spcBef>
                  <a:spcAft>
                    <a:spcPts val="0"/>
                  </a:spcAft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𝐹𝑟𝑎𝑔𝑚𝑒𝑛𝑡</m:t>
                    </m:r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对于每一个给定的摘要（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𝑆𝑛𝑖𝑝𝑝𝑒𝑡</m:t>
                    </m:r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），我们将它的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Fragment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定义为如下的数据结构：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𝑑𝑜𝑐𝐼𝐷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𝐹𝑟𝑎𝑔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𝐹𝑟𝑎𝑔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𝐻𝑖𝑔h𝑙𝑖𝑔h𝑡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𝐻𝑖𝑔h𝑙𝑖𝑔h𝑡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其中，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𝑑𝑜𝑐𝐼𝐷</m:t>
                    </m:r>
                  </m:oMath>
                </a14:m>
                <a:r>
                  <a:rPr lang="en-US" altLang="zh-CN" sz="2000" dirty="0"/>
                  <a:t> :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对应文档的文档编号</a:t>
                </a:r>
                <a:endParaRPr lang="en-US" altLang="zh-CN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𝐹𝑟𝑎𝑔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𝐹𝑟𝑎𝑔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sz="2000" dirty="0"/>
                  <a:t> :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摘要片段在相应文档中的起始位置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𝐻𝑖𝑔h𝑙𝑖𝑔h𝑡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𝐻𝑖𝑔h𝑙𝑖𝑔h𝑡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sz="2000" dirty="0"/>
                  <a:t> :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记录对应文档中高亮词位置的两个数组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714500"/>
                <a:ext cx="10972800" cy="4503177"/>
              </a:xfrm>
              <a:prstGeom prst="rect">
                <a:avLst/>
              </a:prstGeom>
              <a:blipFill rotWithShape="1">
                <a:blip r:embed="rId3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588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缓存数据结构优化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/>
              <p:cNvSpPr txBox="1">
                <a:spLocks/>
              </p:cNvSpPr>
              <p:nvPr/>
            </p:nvSpPr>
            <p:spPr>
              <a:xfrm>
                <a:off x="609600" y="1231900"/>
                <a:ext cx="10972800" cy="5219700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1" fontAlgn="auto" hangingPunct="1">
                  <a:spcBef>
                    <a:spcPct val="20000"/>
                  </a:spcBef>
                  <a:spcAft>
                    <a:spcPts val="0"/>
                  </a:spcAft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lvl="0" indent="-257175" fontAlgn="base">
                  <a:lnSpc>
                    <a:spcPct val="150000"/>
                  </a:lnSpc>
                  <a:spcBef>
                    <a:spcPct val="0"/>
                  </a:spcBef>
                  <a:spcAft>
                    <a:spcPts val="75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itchFamily="34" charset="-122"/>
                      </a:rPr>
                      <m:t>𝑓𝑟𝑎𝑔𝑚𝑒𝑛𝑡</m:t>
                    </m:r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itchFamily="34" charset="-122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rPr>
                  <a:t>记录摘要结果在对应文档中的相对位置</a:t>
                </a:r>
                <a:endParaRPr lang="en-US" altLang="zh-CN" sz="240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marL="257175" lvl="0" indent="-257175" fontAlgn="base">
                  <a:lnSpc>
                    <a:spcPct val="150000"/>
                  </a:lnSpc>
                  <a:spcBef>
                    <a:spcPct val="0"/>
                  </a:spcBef>
                  <a:spcAft>
                    <a:spcPts val="750"/>
                  </a:spcAft>
                </a:pPr>
                <a:endParaRPr lang="en-US" altLang="zh-CN" sz="240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marL="257175" lvl="0" indent="-257175" fontAlgn="base">
                  <a:lnSpc>
                    <a:spcPct val="150000"/>
                  </a:lnSpc>
                  <a:spcBef>
                    <a:spcPct val="0"/>
                  </a:spcBef>
                  <a:spcAft>
                    <a:spcPts val="750"/>
                  </a:spcAft>
                </a:pPr>
                <a:endParaRPr lang="en-US" altLang="zh-CN" sz="240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marL="257175" lvl="0" indent="-257175" fontAlgn="base">
                  <a:lnSpc>
                    <a:spcPct val="150000"/>
                  </a:lnSpc>
                  <a:spcBef>
                    <a:spcPct val="0"/>
                  </a:spcBef>
                  <a:spcAft>
                    <a:spcPts val="750"/>
                  </a:spcAft>
                </a:pPr>
                <a:endParaRPr lang="en-US" altLang="zh-CN" sz="240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marL="257175" lvl="0" indent="-257175" fontAlgn="base">
                  <a:lnSpc>
                    <a:spcPct val="150000"/>
                  </a:lnSpc>
                  <a:spcBef>
                    <a:spcPct val="0"/>
                  </a:spcBef>
                  <a:spcAft>
                    <a:spcPts val="750"/>
                  </a:spcAft>
                </a:pPr>
                <a:endParaRPr lang="en-US" altLang="zh-CN" sz="2000" dirty="0" smtClean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marL="257175" lvl="0" indent="-257175" fontAlgn="base">
                  <a:lnSpc>
                    <a:spcPct val="150000"/>
                  </a:lnSpc>
                  <a:spcBef>
                    <a:spcPct val="0"/>
                  </a:spcBef>
                  <a:spcAft>
                    <a:spcPts val="750"/>
                  </a:spcAft>
                </a:pPr>
                <a:endParaRPr lang="en-US" altLang="zh-CN" sz="2000" dirty="0" smtClean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marL="257175" lvl="0" indent="-257175" fontAlgn="base">
                  <a:lnSpc>
                    <a:spcPct val="150000"/>
                  </a:lnSpc>
                  <a:spcBef>
                    <a:spcPct val="0"/>
                  </a:spcBef>
                  <a:spcAft>
                    <a:spcPts val="750"/>
                  </a:spcAft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rPr>
                  <a:t>在上图中，我们有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𝐹𝑟𝑎𝑔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𝑜𝑓𝑓𝑠𝑒𝑡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𝐹𝑟𝑎𝑔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𝑜𝑓𝑓𝑠𝑒𝑡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𝑙𝑒𝑛𝑔𝑡h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h𝑖𝑔h𝑙𝑖𝑔h𝑡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𝑜𝑓𝑓𝑠𝑒𝑡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𝑜𝑓𝑓𝑠𝑒𝑡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rPr>
                  <a:t>, 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𝐻𝑖𝑔h𝑙𝑖𝑔h𝑡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𝑜𝑓𝑓𝑠𝑒𝑡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𝑙𝑒𝑛𝑔𝑡h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𝑜𝑓𝑓𝑠𝑒𝑡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𝑙𝑒𝑛𝑔𝑡h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231900"/>
                <a:ext cx="10972800" cy="5219700"/>
              </a:xfrm>
              <a:prstGeom prst="rect">
                <a:avLst/>
              </a:prstGeom>
              <a:blipFill rotWithShape="1">
                <a:blip r:embed="rId3"/>
                <a:stretch>
                  <a:fillRect l="-722" r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523" y="2065914"/>
            <a:ext cx="6708953" cy="263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6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缓存数据结构优化</a:t>
            </a:r>
          </a:p>
        </p:txBody>
      </p:sp>
      <p:pic>
        <p:nvPicPr>
          <p:cNvPr id="6" name="内容占位符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8" y="908720"/>
            <a:ext cx="8094133" cy="570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0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缓存数据结构优化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 bwMode="auto">
          <a:xfrm>
            <a:off x="609600" y="1117600"/>
            <a:ext cx="10972800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7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557213" indent="-214313">
              <a:spcAft>
                <a:spcPts val="600"/>
              </a:spcAft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857250" indent="-171450">
              <a:spcAft>
                <a:spcPts val="525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200150" indent="-171450">
              <a:spcAft>
                <a:spcPts val="450"/>
              </a:spcAft>
              <a:buFont typeface="Arial" panose="020B0604020202020204" pitchFamily="34" charset="0"/>
              <a:buChar char="–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1543050" indent="-171450"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0002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4574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29146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3718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zh-CN" altLang="en-US" sz="2200" dirty="0" smtClean="0">
                <a:latin typeface="微软雅黑" panose="020B0503020204020204" pitchFamily="34" charset="-122"/>
              </a:rPr>
              <a:t>使用静态缓存策略</a:t>
            </a:r>
            <a:r>
              <a:rPr lang="en-US" altLang="zh-CN" sz="2200" dirty="0">
                <a:latin typeface="微软雅黑" panose="020B0503020204020204" pitchFamily="34" charset="-122"/>
              </a:rPr>
              <a:t>(MFU, Most Frequently Used)</a:t>
            </a:r>
            <a:r>
              <a:rPr lang="zh-CN" altLang="en-US" sz="2200" dirty="0" smtClean="0">
                <a:latin typeface="微软雅黑" panose="020B0503020204020204" pitchFamily="34" charset="-122"/>
              </a:rPr>
              <a:t>时，文档服务器响应时间对比：</a:t>
            </a:r>
            <a:endParaRPr lang="zh-CN" altLang="en-US" sz="2200" dirty="0">
              <a:latin typeface="微软雅黑" panose="020B0503020204020204" pitchFamily="34" charset="-122"/>
            </a:endParaRPr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4227918"/>
              </p:ext>
            </p:extLst>
          </p:nvPr>
        </p:nvGraphicFramePr>
        <p:xfrm>
          <a:off x="1042000" y="2412000"/>
          <a:ext cx="9609067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内容占位符 3"/>
          <p:cNvSpPr txBox="1">
            <a:spLocks/>
          </p:cNvSpPr>
          <p:nvPr/>
        </p:nvSpPr>
        <p:spPr>
          <a:xfrm>
            <a:off x="609600" y="1781176"/>
            <a:ext cx="10972800" cy="38068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  <a:defRPr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我们的实验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中，我们发现，结果摘要（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Snippet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）的平均大小为</a:t>
            </a:r>
            <a:r>
              <a:rPr lang="en-US" altLang="zh-CN" sz="2400" dirty="0" smtClean="0">
                <a:latin typeface="微软雅黑" panose="020B0503020204020204" pitchFamily="34" charset="-122"/>
              </a:rPr>
              <a:t>937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字节，而精简摘要（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Fragment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）的平均长度仅为</a:t>
            </a:r>
            <a:r>
              <a:rPr lang="en-US" altLang="zh-CN" sz="2400" dirty="0" smtClean="0">
                <a:latin typeface="微软雅黑" panose="020B0503020204020204" pitchFamily="34" charset="-122"/>
              </a:rPr>
              <a:t>61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字节，这也就是说，在相同的内存空间中，我们的精简摘要方法可以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多存储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倍左右的摘要结果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623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AsOne/>
      </p:bldGraphic>
      <p:bldP spid="7" grpId="0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缓存数据结构优化</a:t>
            </a:r>
          </a:p>
        </p:txBody>
      </p:sp>
      <p:sp>
        <p:nvSpPr>
          <p:cNvPr id="6" name="内容占位符 3"/>
          <p:cNvSpPr txBox="1">
            <a:spLocks/>
          </p:cNvSpPr>
          <p:nvPr/>
        </p:nvSpPr>
        <p:spPr bwMode="auto">
          <a:xfrm>
            <a:off x="609600" y="1117600"/>
            <a:ext cx="10972800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7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557213" indent="-214313">
              <a:spcAft>
                <a:spcPts val="600"/>
              </a:spcAft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857250" indent="-171450">
              <a:spcAft>
                <a:spcPts val="525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200150" indent="-171450">
              <a:spcAft>
                <a:spcPts val="450"/>
              </a:spcAft>
              <a:buFont typeface="Arial" panose="020B0604020202020204" pitchFamily="34" charset="0"/>
              <a:buChar char="–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1543050" indent="-171450"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0002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4574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29146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3718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zh-CN" altLang="en-US" sz="2200" dirty="0" smtClean="0">
                <a:latin typeface="微软雅黑" panose="020B0503020204020204" pitchFamily="34" charset="-122"/>
              </a:rPr>
              <a:t>使用动态缓存策略</a:t>
            </a:r>
            <a:r>
              <a:rPr lang="en-US" altLang="zh-CN" sz="2200" dirty="0" smtClean="0">
                <a:latin typeface="微软雅黑" panose="020B0503020204020204" pitchFamily="34" charset="-122"/>
              </a:rPr>
              <a:t>(</a:t>
            </a:r>
            <a:r>
              <a:rPr lang="en-US" altLang="zh-CN" sz="2200" dirty="0">
                <a:latin typeface="微软雅黑" panose="020B0503020204020204" pitchFamily="34" charset="-122"/>
              </a:rPr>
              <a:t>LRU</a:t>
            </a:r>
            <a:r>
              <a:rPr lang="en-US" altLang="zh-CN" sz="2200" dirty="0" smtClean="0">
                <a:latin typeface="微软雅黑" panose="020B0503020204020204" pitchFamily="34" charset="-122"/>
              </a:rPr>
              <a:t>, </a:t>
            </a:r>
            <a:r>
              <a:rPr lang="en-US" altLang="zh-CN" sz="2200" dirty="0">
                <a:latin typeface="微软雅黑" panose="020B0503020204020204" pitchFamily="34" charset="-122"/>
              </a:rPr>
              <a:t>Least Recently Used</a:t>
            </a:r>
            <a:r>
              <a:rPr lang="en-US" altLang="zh-CN" sz="2200" dirty="0" smtClean="0">
                <a:latin typeface="微软雅黑" panose="020B0503020204020204" pitchFamily="34" charset="-122"/>
              </a:rPr>
              <a:t>)</a:t>
            </a:r>
            <a:r>
              <a:rPr lang="zh-CN" altLang="en-US" sz="2200" dirty="0" smtClean="0">
                <a:latin typeface="微软雅黑" panose="020B0503020204020204" pitchFamily="34" charset="-122"/>
              </a:rPr>
              <a:t>时，文档服务器响应时间对比：</a:t>
            </a:r>
            <a:endParaRPr lang="zh-CN" altLang="en-US" sz="2200" dirty="0">
              <a:latin typeface="微软雅黑" panose="020B0503020204020204" pitchFamily="34" charset="-122"/>
            </a:endParaRPr>
          </a:p>
        </p:txBody>
      </p:sp>
      <p:graphicFrame>
        <p:nvGraphicFramePr>
          <p:cNvPr id="8" name="图表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2627111"/>
              </p:ext>
            </p:extLst>
          </p:nvPr>
        </p:nvGraphicFramePr>
        <p:xfrm>
          <a:off x="1092800" y="2335800"/>
          <a:ext cx="9693733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458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Graphic spid="8" grpId="0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缓存数据结构优化</a:t>
            </a:r>
          </a:p>
        </p:txBody>
      </p:sp>
      <p:sp>
        <p:nvSpPr>
          <p:cNvPr id="6" name="内容占位符 3"/>
          <p:cNvSpPr txBox="1">
            <a:spLocks/>
          </p:cNvSpPr>
          <p:nvPr/>
        </p:nvSpPr>
        <p:spPr bwMode="auto">
          <a:xfrm>
            <a:off x="609600" y="1117600"/>
            <a:ext cx="10972800" cy="374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7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557213" indent="-214313">
              <a:spcAft>
                <a:spcPts val="600"/>
              </a:spcAft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857250" indent="-171450">
              <a:spcAft>
                <a:spcPts val="525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200150" indent="-171450">
              <a:spcAft>
                <a:spcPts val="450"/>
              </a:spcAft>
              <a:buFont typeface="Arial" panose="020B0604020202020204" pitchFamily="34" charset="0"/>
              <a:buChar char="–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1543050" indent="-171450"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0002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4574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29146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3718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</a:rPr>
              <a:t>使用静态缓存策略</a:t>
            </a:r>
            <a:r>
              <a:rPr lang="en-US" altLang="zh-CN" sz="2000" dirty="0">
                <a:latin typeface="微软雅黑" panose="020B0503020204020204" pitchFamily="34" charset="-122"/>
              </a:rPr>
              <a:t>(MFU, Most Frequently Used)</a:t>
            </a:r>
            <a:r>
              <a:rPr lang="zh-CN" altLang="en-US" sz="2000" dirty="0" smtClean="0">
                <a:latin typeface="微软雅黑" panose="020B0503020204020204" pitchFamily="34" charset="-122"/>
              </a:rPr>
              <a:t>时，摘要缓存（</a:t>
            </a:r>
            <a:r>
              <a:rPr lang="en-US" altLang="zh-CN" sz="2000" dirty="0" smtClean="0">
                <a:latin typeface="微软雅黑" panose="020B0503020204020204" pitchFamily="34" charset="-122"/>
              </a:rPr>
              <a:t>SC</a:t>
            </a:r>
            <a:r>
              <a:rPr lang="zh-CN" altLang="en-US" sz="2000" dirty="0" smtClean="0">
                <a:latin typeface="微软雅黑" panose="020B0503020204020204" pitchFamily="34" charset="-122"/>
              </a:rPr>
              <a:t>）与精简摘要缓存（</a:t>
            </a:r>
            <a:r>
              <a:rPr lang="en-US" altLang="zh-CN" sz="2000" dirty="0" smtClean="0">
                <a:latin typeface="微软雅黑" panose="020B0503020204020204" pitchFamily="34" charset="-122"/>
              </a:rPr>
              <a:t>FC</a:t>
            </a:r>
            <a:r>
              <a:rPr lang="zh-CN" altLang="en-US" sz="2000" dirty="0" smtClean="0">
                <a:latin typeface="微软雅黑" panose="020B0503020204020204" pitchFamily="34" charset="-122"/>
              </a:rPr>
              <a:t>）命中率对比：</a:t>
            </a:r>
            <a:endParaRPr lang="en-US" altLang="zh-CN" sz="2000" dirty="0" smtClean="0"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</a:pPr>
            <a:endParaRPr lang="en-US" altLang="zh-CN" sz="1400" dirty="0"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1400" dirty="0"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</a:pPr>
            <a:endParaRPr lang="en-US" altLang="zh-CN" sz="2000" dirty="0" smtClean="0"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</a:rPr>
              <a:t>使用</a:t>
            </a:r>
            <a:r>
              <a:rPr lang="zh-CN" altLang="en-US" sz="2000" dirty="0">
                <a:latin typeface="微软雅黑" panose="020B0503020204020204" pitchFamily="34" charset="-122"/>
              </a:rPr>
              <a:t>动态缓存策略</a:t>
            </a:r>
            <a:r>
              <a:rPr lang="en-US" altLang="zh-CN" sz="2000" dirty="0">
                <a:latin typeface="微软雅黑" panose="020B0503020204020204" pitchFamily="34" charset="-122"/>
              </a:rPr>
              <a:t>(LRU, Least Recently Used) </a:t>
            </a:r>
            <a:r>
              <a:rPr lang="zh-CN" altLang="en-US" sz="2000" dirty="0">
                <a:latin typeface="微软雅黑" panose="020B0503020204020204" pitchFamily="34" charset="-122"/>
              </a:rPr>
              <a:t>时，摘要缓存（</a:t>
            </a:r>
            <a:r>
              <a:rPr lang="en-US" altLang="zh-CN" sz="2000" dirty="0">
                <a:latin typeface="微软雅黑" panose="020B0503020204020204" pitchFamily="34" charset="-122"/>
              </a:rPr>
              <a:t>SC</a:t>
            </a:r>
            <a:r>
              <a:rPr lang="zh-CN" altLang="en-US" sz="2000" dirty="0">
                <a:latin typeface="微软雅黑" panose="020B0503020204020204" pitchFamily="34" charset="-122"/>
              </a:rPr>
              <a:t>）与精简摘要缓存（</a:t>
            </a:r>
            <a:r>
              <a:rPr lang="en-US" altLang="zh-CN" sz="2000" dirty="0">
                <a:latin typeface="微软雅黑" panose="020B0503020204020204" pitchFamily="34" charset="-122"/>
              </a:rPr>
              <a:t>FC</a:t>
            </a:r>
            <a:r>
              <a:rPr lang="zh-CN" altLang="en-US" sz="2000" dirty="0">
                <a:latin typeface="微软雅黑" panose="020B0503020204020204" pitchFamily="34" charset="-122"/>
              </a:rPr>
              <a:t>）命中率对比：</a:t>
            </a:r>
          </a:p>
          <a:p>
            <a:pPr marL="342900" indent="-342900">
              <a:lnSpc>
                <a:spcPct val="150000"/>
              </a:lnSpc>
            </a:pPr>
            <a:endParaRPr lang="en-US" altLang="zh-CN" sz="2000" dirty="0" smtClean="0"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</a:pPr>
            <a:endParaRPr lang="zh-CN" altLang="en-US" sz="2000" dirty="0">
              <a:latin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16982"/>
              </p:ext>
            </p:extLst>
          </p:nvPr>
        </p:nvGraphicFramePr>
        <p:xfrm>
          <a:off x="736600" y="2204043"/>
          <a:ext cx="11023599" cy="1161458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5203159"/>
                <a:gridCol w="1164088"/>
                <a:gridCol w="1164088"/>
                <a:gridCol w="1164088"/>
                <a:gridCol w="1164088"/>
                <a:gridCol w="1164088"/>
              </a:tblGrid>
              <a:tr h="424686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Snippet/fragment cache size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20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50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100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150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200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</a:tr>
              <a:tr h="368386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Snippet (%)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24.8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29.9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33.8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35.9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37.4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</a:tr>
              <a:tr h="368386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Fragment (%)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39.9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45.5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51.3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68.2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77.7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741453"/>
              </p:ext>
            </p:extLst>
          </p:nvPr>
        </p:nvGraphicFramePr>
        <p:xfrm>
          <a:off x="736604" y="4653558"/>
          <a:ext cx="11023595" cy="1349379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4039067"/>
                <a:gridCol w="1164088"/>
                <a:gridCol w="1164088"/>
                <a:gridCol w="1164088"/>
                <a:gridCol w="1164088"/>
                <a:gridCol w="1164088"/>
                <a:gridCol w="1164088"/>
              </a:tblGrid>
              <a:tr h="583611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Snippet/fragment cache size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150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200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550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</a:tr>
              <a:tr h="382884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Snippet (%)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38.5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52.8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59.8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62.9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64.8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70.7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</a:tr>
              <a:tr h="382884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Fragment (%)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67.5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72.2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75.9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77.5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77.7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77.7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95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缓存数据结构</a:t>
            </a:r>
            <a:r>
              <a:rPr lang="zh-CN" altLang="en-US" b="1" dirty="0" smtClean="0"/>
              <a:t>优化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文档的紧缩式缓存方法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/>
              <p:cNvSpPr txBox="1">
                <a:spLocks/>
              </p:cNvSpPr>
              <p:nvPr/>
            </p:nvSpPr>
            <p:spPr>
              <a:xfrm>
                <a:off x="644657" y="1196752"/>
                <a:ext cx="10972800" cy="4781066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1" fontAlgn="auto" hangingPunct="1">
                  <a:spcBef>
                    <a:spcPct val="20000"/>
                  </a:spcBef>
                  <a:spcAft>
                    <a:spcPts val="0"/>
                  </a:spcAft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𝐷𝑜𝑐𝑢𝑙𝑒</m:t>
                    </m:r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lvl="0" indent="0">
                  <a:lnSpc>
                    <a:spcPct val="150000"/>
                  </a:lnSpc>
                  <a:buNone/>
                </a:pP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7" y="1196752"/>
                <a:ext cx="10972800" cy="4781066"/>
              </a:xfrm>
              <a:prstGeom prst="rect">
                <a:avLst/>
              </a:prstGeom>
              <a:blipFill rotWithShape="1">
                <a:blip r:embed="rId3"/>
                <a:stretch>
                  <a:fillRect l="-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616" y="1356525"/>
            <a:ext cx="6573667" cy="446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5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缓存数据结构</a:t>
            </a:r>
            <a:r>
              <a:rPr lang="zh-CN" altLang="en-US" b="1" dirty="0" smtClean="0"/>
              <a:t>优化</a:t>
            </a:r>
            <a:endParaRPr lang="zh-CN" alt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" y="1622090"/>
            <a:ext cx="3990667" cy="3711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671" y="2426256"/>
            <a:ext cx="6519000" cy="337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6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067" y="188640"/>
            <a:ext cx="8904333" cy="720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缓存数据结构</a:t>
            </a:r>
            <a:r>
              <a:rPr lang="zh-CN" altLang="en-US" b="1" dirty="0" smtClean="0"/>
              <a:t>优化</a:t>
            </a:r>
            <a:endParaRPr lang="zh-CN" altLang="en-US" b="1" dirty="0"/>
          </a:p>
        </p:txBody>
      </p:sp>
      <p:sp>
        <p:nvSpPr>
          <p:cNvPr id="7" name="内容占位符 3"/>
          <p:cNvSpPr txBox="1">
            <a:spLocks/>
          </p:cNvSpPr>
          <p:nvPr/>
        </p:nvSpPr>
        <p:spPr bwMode="auto">
          <a:xfrm>
            <a:off x="609600" y="1244600"/>
            <a:ext cx="10972800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7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557213" indent="-214313">
              <a:spcAft>
                <a:spcPts val="600"/>
              </a:spcAft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857250" indent="-171450">
              <a:spcAft>
                <a:spcPts val="525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200150" indent="-171450">
              <a:spcAft>
                <a:spcPts val="450"/>
              </a:spcAft>
              <a:buFont typeface="Arial" panose="020B0604020202020204" pitchFamily="34" charset="0"/>
              <a:buChar char="–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1543050" indent="-171450"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0002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4574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29146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371850" indent="-171450" eaLnBrk="0" fontAlgn="base" hangingPunct="0">
              <a:spcBef>
                <a:spcPct val="0"/>
              </a:spcBef>
              <a:spcAft>
                <a:spcPts val="375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zh-CN" altLang="zh-CN" sz="2400" dirty="0"/>
              <a:t>两类缓存空间动态调整</a:t>
            </a:r>
            <a:r>
              <a:rPr lang="zh-CN" altLang="zh-CN" sz="2400" dirty="0" smtClean="0"/>
              <a:t>下</a:t>
            </a:r>
            <a:r>
              <a:rPr lang="en-US" altLang="zh-CN" sz="2400" dirty="0" smtClean="0"/>
              <a:t>DC</a:t>
            </a:r>
            <a:r>
              <a:rPr lang="zh-CN" altLang="en-US" sz="2400" dirty="0" smtClean="0"/>
              <a:t>与</a:t>
            </a:r>
            <a:r>
              <a:rPr lang="en-US" altLang="zh-CN" sz="2400" dirty="0" smtClean="0"/>
              <a:t>DLC</a:t>
            </a:r>
            <a:r>
              <a:rPr lang="zh-CN" altLang="en-US" sz="2400" dirty="0" smtClean="0"/>
              <a:t>的</a:t>
            </a:r>
            <a:r>
              <a:rPr lang="zh-CN" altLang="en-US" sz="2200" dirty="0" smtClean="0">
                <a:latin typeface="微软雅黑" panose="020B0503020204020204" pitchFamily="34" charset="-122"/>
              </a:rPr>
              <a:t>性能对比（</a:t>
            </a:r>
            <a:r>
              <a:rPr lang="en-US" altLang="zh-CN" sz="2200" dirty="0" smtClean="0">
                <a:latin typeface="微软雅黑" panose="020B0503020204020204" pitchFamily="34" charset="-122"/>
              </a:rPr>
              <a:t>LRU,SC</a:t>
            </a:r>
            <a:r>
              <a:rPr lang="zh-CN" altLang="en-US" sz="2200" dirty="0" smtClean="0">
                <a:latin typeface="微软雅黑" panose="020B0503020204020204" pitchFamily="34" charset="-122"/>
              </a:rPr>
              <a:t>与</a:t>
            </a:r>
            <a:r>
              <a:rPr lang="en-US" altLang="zh-CN" sz="2200" dirty="0" smtClean="0">
                <a:latin typeface="微软雅黑" panose="020B0503020204020204" pitchFamily="34" charset="-122"/>
              </a:rPr>
              <a:t>DC/DLC</a:t>
            </a:r>
            <a:r>
              <a:rPr lang="zh-CN" altLang="en-US" sz="2200" dirty="0" smtClean="0">
                <a:latin typeface="微软雅黑" panose="020B0503020204020204" pitchFamily="34" charset="-122"/>
              </a:rPr>
              <a:t>共享</a:t>
            </a:r>
            <a:r>
              <a:rPr lang="en-US" altLang="zh-CN" sz="2200" dirty="0" smtClean="0">
                <a:latin typeface="微软雅黑" panose="020B0503020204020204" pitchFamily="34" charset="-122"/>
              </a:rPr>
              <a:t>16M</a:t>
            </a:r>
            <a:r>
              <a:rPr lang="zh-CN" altLang="en-US" sz="2200" dirty="0" smtClean="0">
                <a:latin typeface="微软雅黑" panose="020B0503020204020204" pitchFamily="34" charset="-122"/>
              </a:rPr>
              <a:t>内存空间）：</a:t>
            </a:r>
            <a:endParaRPr lang="zh-CN" altLang="en-US" sz="2200" dirty="0">
              <a:latin typeface="微软雅黑" panose="020B0503020204020204" pitchFamily="34" charset="-122"/>
            </a:endParaRPr>
          </a:p>
        </p:txBody>
      </p: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817953802"/>
              </p:ext>
            </p:extLst>
          </p:nvPr>
        </p:nvGraphicFramePr>
        <p:xfrm>
          <a:off x="1667642" y="2435996"/>
          <a:ext cx="8856717" cy="3920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9089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8" grpId="0">
        <p:bldAsOne/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737428" y="1251857"/>
            <a:ext cx="4170152" cy="4033157"/>
            <a:chOff x="1393372" y="1135743"/>
            <a:chExt cx="4170152" cy="4033157"/>
          </a:xfrm>
        </p:grpSpPr>
        <p:sp>
          <p:nvSpPr>
            <p:cNvPr id="694" name="矩形 693"/>
            <p:cNvSpPr/>
            <p:nvPr/>
          </p:nvSpPr>
          <p:spPr>
            <a:xfrm>
              <a:off x="1393372" y="1135743"/>
              <a:ext cx="2213428" cy="4033157"/>
            </a:xfrm>
            <a:prstGeom prst="rect">
              <a:avLst/>
            </a:prstGeom>
            <a:noFill/>
            <a:ln w="19050">
              <a:solidFill>
                <a:srgbClr val="28B3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5" name="矩形 694"/>
            <p:cNvSpPr/>
            <p:nvPr/>
          </p:nvSpPr>
          <p:spPr>
            <a:xfrm>
              <a:off x="3157531" y="2844800"/>
              <a:ext cx="944569" cy="1892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6" name="文本框 695"/>
            <p:cNvSpPr txBox="1"/>
            <p:nvPr/>
          </p:nvSpPr>
          <p:spPr>
            <a:xfrm>
              <a:off x="1788131" y="1542143"/>
              <a:ext cx="122982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7" name="文本框 696"/>
            <p:cNvSpPr txBox="1"/>
            <p:nvPr/>
          </p:nvSpPr>
          <p:spPr>
            <a:xfrm>
              <a:off x="1788131" y="3152321"/>
              <a:ext cx="377539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b="1" dirty="0" smtClean="0">
                  <a:solidFill>
                    <a:srgbClr val="28B3C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流水线查询过程</a:t>
              </a:r>
              <a:endParaRPr lang="zh-CN" altLang="en-US" sz="4000" b="1" dirty="0">
                <a:solidFill>
                  <a:srgbClr val="28B3C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99" name="直接连接符 698"/>
            <p:cNvCxnSpPr/>
            <p:nvPr/>
          </p:nvCxnSpPr>
          <p:spPr>
            <a:xfrm>
              <a:off x="1944915" y="2650139"/>
              <a:ext cx="39627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725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 smtClean="0"/>
              <a:t>搜索引擎面临问题</a:t>
            </a:r>
            <a:endParaRPr lang="zh-CN" altLang="en-US" dirty="0"/>
          </a:p>
        </p:txBody>
      </p:sp>
      <p:sp>
        <p:nvSpPr>
          <p:cNvPr id="40" name="TextBox 13"/>
          <p:cNvSpPr txBox="1"/>
          <p:nvPr/>
        </p:nvSpPr>
        <p:spPr>
          <a:xfrm>
            <a:off x="2331562" y="914844"/>
            <a:ext cx="7508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搜索引擎面临问题</a:t>
            </a:r>
            <a:endParaRPr lang="zh-CN" altLang="en-US" sz="3200" b="1" dirty="0">
              <a:solidFill>
                <a:srgbClr val="27B3C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8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1041814" y="2216583"/>
            <a:ext cx="93109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倒排索引存储于内存：较大存储开销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200" dirty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存储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于慢速低价设备：查询性能损失</a:t>
            </a:r>
            <a:endParaRPr lang="en-US" altLang="zh-CN" sz="2200" dirty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814" y="1759218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存储开销</a:t>
            </a:r>
            <a:r>
              <a:rPr lang="en-US" altLang="zh-CN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查询性能损失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TextBox 5">
            <a:extLst>
              <a:ext uri="{FF2B5EF4-FFF2-40B4-BE49-F238E27FC236}">
                <a16:creationId xmlns:a16="http://schemas.microsoft.com/office/drawing/2014/main" xmlns="" id="{67F09C58-D59B-4249-B1BB-A5BB77CAD553}"/>
              </a:ext>
            </a:extLst>
          </p:cNvPr>
          <p:cNvSpPr txBox="1"/>
          <p:nvPr/>
        </p:nvSpPr>
        <p:spPr>
          <a:xfrm>
            <a:off x="1064333" y="4012902"/>
            <a:ext cx="9352147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600"/>
              </a:lnSpc>
            </a:pPr>
            <a:r>
              <a:rPr lang="zh-CN" altLang="en-US" sz="22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新型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存储设备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NVM </a:t>
            </a:r>
            <a:r>
              <a:rPr lang="en-US" altLang="zh-CN" sz="2200" dirty="0" err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Optane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 SSD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出现</a:t>
            </a:r>
            <a:endParaRPr lang="en-US" altLang="zh-CN" sz="22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24" y="1629077"/>
            <a:ext cx="5609001" cy="476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4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79" y="1559819"/>
            <a:ext cx="5747810" cy="315083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 smtClean="0"/>
              <a:t>直接</a:t>
            </a:r>
            <a:r>
              <a:rPr lang="zh-CN" altLang="en-US" b="1" dirty="0"/>
              <a:t>迁移的局限性</a:t>
            </a:r>
          </a:p>
        </p:txBody>
      </p:sp>
      <p:sp>
        <p:nvSpPr>
          <p:cNvPr id="40" name="TextBox 13"/>
          <p:cNvSpPr txBox="1"/>
          <p:nvPr/>
        </p:nvSpPr>
        <p:spPr>
          <a:xfrm>
            <a:off x="2331562" y="914844"/>
            <a:ext cx="7508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直接迁移的局限性</a:t>
            </a:r>
            <a:endParaRPr lang="zh-CN" altLang="en-US" sz="3200" b="1" dirty="0">
              <a:solidFill>
                <a:srgbClr val="27B3C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xmlns="" id="{27022A84-3746-4CD2-8C9E-B81E73321E83}"/>
              </a:ext>
            </a:extLst>
          </p:cNvPr>
          <p:cNvSpPr/>
          <p:nvPr/>
        </p:nvSpPr>
        <p:spPr>
          <a:xfrm>
            <a:off x="2567608" y="4184435"/>
            <a:ext cx="2592288" cy="828741"/>
          </a:xfrm>
          <a:prstGeom prst="wedgeRoundRectCallout">
            <a:avLst>
              <a:gd name="adj1" fmla="val -62742"/>
              <a:gd name="adj2" fmla="val -36922"/>
              <a:gd name="adj3" fmla="val 16667"/>
            </a:avLst>
          </a:prstGeom>
          <a:solidFill>
            <a:srgbClr val="00CC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2400"/>
              </a:lnSpc>
            </a:pPr>
            <a:r>
              <a:rPr lang="en-US" altLang="zh-CN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读取时间使得查询响应时间增加</a:t>
            </a:r>
            <a:r>
              <a:rPr lang="en-US" altLang="zh-CN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30%-60%</a:t>
            </a:r>
            <a:endParaRPr lang="zh-CN" altLang="en-US" sz="1800" b="1" dirty="0">
              <a:ln w="0"/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6312024" y="2673571"/>
            <a:ext cx="54006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对接收到的每条查询：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从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NVM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读取需要的倒排列表数据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然后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进行计算</a:t>
            </a:r>
            <a:endParaRPr lang="en-US" altLang="zh-CN" sz="2200" dirty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024" y="2090021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</a:p>
        </p:txBody>
      </p:sp>
      <p:sp>
        <p:nvSpPr>
          <p:cNvPr id="14" name="对话气泡: 圆角矩形 25">
            <a:extLst>
              <a:ext uri="{FF2B5EF4-FFF2-40B4-BE49-F238E27FC236}">
                <a16:creationId xmlns:a16="http://schemas.microsoft.com/office/drawing/2014/main" xmlns="" id="{8C5C1B8A-C229-4C75-B248-440E352EF2BE}"/>
              </a:ext>
            </a:extLst>
          </p:cNvPr>
          <p:cNvSpPr/>
          <p:nvPr/>
        </p:nvSpPr>
        <p:spPr>
          <a:xfrm>
            <a:off x="7614624" y="1832646"/>
            <a:ext cx="1919923" cy="712093"/>
          </a:xfrm>
          <a:prstGeom prst="wedgeRoundRectCallout">
            <a:avLst>
              <a:gd name="adj1" fmla="val 45858"/>
              <a:gd name="adj2" fmla="val 89436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2400"/>
              </a:lnSpc>
            </a:pPr>
            <a:r>
              <a:rPr lang="zh-CN" altLang="en-US" sz="1800" b="1" dirty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独立的</a:t>
            </a:r>
            <a:r>
              <a:rPr lang="en-US" altLang="zh-CN" sz="1800" b="1" dirty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sz="1800" b="1" dirty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读取和</a:t>
            </a:r>
            <a:r>
              <a:rPr lang="en-US" altLang="zh-CN" sz="1800" b="1" dirty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1800" b="1" dirty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</a:t>
            </a:r>
          </a:p>
        </p:txBody>
      </p:sp>
    </p:spTree>
    <p:extLst>
      <p:ext uri="{BB962C8B-B14F-4D97-AF65-F5344CB8AC3E}">
        <p14:creationId xmlns:p14="http://schemas.microsoft.com/office/powerpoint/2010/main" val="159047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 smtClean="0"/>
              <a:t>流水线</a:t>
            </a:r>
            <a:r>
              <a:rPr lang="zh-CN" altLang="en-US" b="1" dirty="0"/>
              <a:t>方案执行过程</a:t>
            </a:r>
          </a:p>
        </p:txBody>
      </p:sp>
      <p:sp>
        <p:nvSpPr>
          <p:cNvPr id="40" name="TextBox 13"/>
          <p:cNvSpPr txBox="1"/>
          <p:nvPr/>
        </p:nvSpPr>
        <p:spPr>
          <a:xfrm>
            <a:off x="2331562" y="914844"/>
            <a:ext cx="7508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流水线方案执行过程</a:t>
            </a:r>
            <a:endParaRPr lang="zh-CN" altLang="en-US" sz="3200" b="1" dirty="0">
              <a:solidFill>
                <a:srgbClr val="27B3C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168" y="1659134"/>
            <a:ext cx="6897141" cy="2992841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767408" y="2211906"/>
            <a:ext cx="5400600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对接收到的每条查询，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启动两个线程：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IO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线程和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IO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线程读取查询所需的倒排列表数据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线程进行查询操作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8" y="1659134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8" y="4221088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理想情况</a:t>
            </a:r>
            <a:endParaRPr lang="en-US" altLang="zh-CN" sz="2800" b="1" dirty="0" smtClean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767408" y="4797152"/>
            <a:ext cx="964907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若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IO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读取数据速度和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访问数据速度匹配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线程只需等待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IO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线程读取第一个块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13" name="对话气泡: 圆角矩形 9">
            <a:extLst>
              <a:ext uri="{FF2B5EF4-FFF2-40B4-BE49-F238E27FC236}">
                <a16:creationId xmlns:a16="http://schemas.microsoft.com/office/drawing/2014/main" xmlns="" id="{27022A84-3746-4CD2-8C9E-B81E73321E83}"/>
              </a:ext>
            </a:extLst>
          </p:cNvPr>
          <p:cNvSpPr/>
          <p:nvPr/>
        </p:nvSpPr>
        <p:spPr>
          <a:xfrm>
            <a:off x="8400256" y="5122097"/>
            <a:ext cx="2304256" cy="643225"/>
          </a:xfrm>
          <a:prstGeom prst="wedgeRoundRectCallout">
            <a:avLst>
              <a:gd name="adj1" fmla="val -62742"/>
              <a:gd name="adj2" fmla="val -36922"/>
              <a:gd name="adj3" fmla="val 16667"/>
            </a:avLst>
          </a:prstGeom>
          <a:solidFill>
            <a:srgbClr val="00CC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2400"/>
              </a:lnSpc>
            </a:pPr>
            <a:r>
              <a:rPr lang="en-US" altLang="zh-CN" sz="16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sz="1600" b="1" dirty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zh-CN" altLang="en-US" sz="16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次读取块大小：</a:t>
            </a:r>
            <a:endParaRPr lang="en-US" altLang="zh-CN" sz="1600" b="1" dirty="0" smtClean="0">
              <a:ln w="0"/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>
              <a:lnSpc>
                <a:spcPts val="2400"/>
              </a:lnSpc>
            </a:pPr>
            <a:r>
              <a:rPr lang="en-US" altLang="zh-CN" sz="16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128KB or 256KB</a:t>
            </a:r>
            <a:endParaRPr lang="zh-CN" altLang="en-US" sz="1600" b="1" dirty="0">
              <a:ln w="0"/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04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 smtClean="0"/>
              <a:t>流水线</a:t>
            </a:r>
            <a:r>
              <a:rPr lang="zh-CN" altLang="en-US" b="1" dirty="0"/>
              <a:t>方案执行过程</a:t>
            </a:r>
          </a:p>
        </p:txBody>
      </p:sp>
      <p:sp>
        <p:nvSpPr>
          <p:cNvPr id="40" name="TextBox 13"/>
          <p:cNvSpPr txBox="1"/>
          <p:nvPr/>
        </p:nvSpPr>
        <p:spPr>
          <a:xfrm>
            <a:off x="2331562" y="914844"/>
            <a:ext cx="7508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流水线方案</a:t>
            </a:r>
            <a:r>
              <a:rPr lang="zh-CN" altLang="en-US" sz="3200" b="1" dirty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建模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5">
                <a:extLst>
                  <a:ext uri="{FF2B5EF4-FFF2-40B4-BE49-F238E27FC236}">
                    <a16:creationId xmlns:a16="http://schemas.microsoft.com/office/drawing/2014/main" xmlns="" id="{B51DBB8D-5AB1-4CBD-BCF5-5EB7264A842F}"/>
                  </a:ext>
                </a:extLst>
              </p:cNvPr>
              <p:cNvSpPr txBox="1"/>
              <p:nvPr/>
            </p:nvSpPr>
            <p:spPr>
              <a:xfrm>
                <a:off x="781572" y="2066652"/>
                <a:ext cx="5400600" cy="2154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ts val="1300"/>
                  </a:lnSpc>
                  <a:defRPr sz="9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>
                  <a:lnSpc>
                    <a:spcPts val="24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𝑞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Cambria Math"/>
                          <a:ea typeface="华文细黑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𝑑𝑒𝑐𝑜𝑑𝑒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Cambria Math"/>
                          <a:ea typeface="华文细黑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𝑜𝑝𝑒𝑟𝑎𝑡𝑒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Cambria Math"/>
                          <a:ea typeface="华文细黑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𝑤𝑎𝑖𝑡</m:t>
                          </m:r>
                        </m:sub>
                      </m:sSub>
                    </m:oMath>
                  </m:oMathPara>
                </a14:m>
                <a:endParaRPr lang="en-US" altLang="zh-CN" sz="2400" dirty="0" smtClean="0">
                  <a:solidFill>
                    <a:schemeClr val="bg2">
                      <a:lumMod val="75000"/>
                    </a:schemeClr>
                  </a:solidFill>
                  <a:uFill>
                    <a:solidFill>
                      <a:srgbClr val="C00000"/>
                    </a:solidFill>
                  </a:uFill>
                  <a:latin typeface="Times New Roman" panose="02020603050405020304" pitchFamily="18" charset="0"/>
                  <a:ea typeface="华文细黑" panose="02010600040101010101" pitchFamily="2" charset="-122"/>
                </a:endParaRPr>
              </a:p>
              <a:p>
                <a:pPr>
                  <a:lnSpc>
                    <a:spcPts val="2400"/>
                  </a:lnSpc>
                </a:pPr>
                <a:endParaRPr lang="en-US" altLang="zh-CN" sz="2400" i="1" dirty="0" smtClean="0">
                  <a:solidFill>
                    <a:schemeClr val="bg2">
                      <a:lumMod val="75000"/>
                    </a:schemeClr>
                  </a:solidFill>
                  <a:uFill>
                    <a:solidFill>
                      <a:srgbClr val="C00000"/>
                    </a:solidFill>
                  </a:uFill>
                  <a:latin typeface="Cambria Math"/>
                  <a:ea typeface="华文细黑" panose="02010600040101010101" pitchFamily="2" charset="-122"/>
                </a:endParaRPr>
              </a:p>
              <a:p>
                <a:pPr>
                  <a:lnSpc>
                    <a:spcPts val="2400"/>
                  </a:lnSpc>
                </a:pPr>
                <a:endParaRPr lang="en-US" altLang="zh-CN" sz="2400" i="1" dirty="0" smtClean="0">
                  <a:solidFill>
                    <a:schemeClr val="bg2">
                      <a:lumMod val="75000"/>
                    </a:schemeClr>
                  </a:solidFill>
                  <a:uFill>
                    <a:solidFill>
                      <a:srgbClr val="C00000"/>
                    </a:solidFill>
                  </a:uFill>
                  <a:latin typeface="Cambria Math"/>
                  <a:ea typeface="华文细黑" panose="02010600040101010101" pitchFamily="2" charset="-122"/>
                </a:endParaRPr>
              </a:p>
              <a:p>
                <a:pPr>
                  <a:lnSpc>
                    <a:spcPts val="24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𝐶𝑃𝑈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Cambria Math"/>
                          <a:ea typeface="华文细黑" panose="020106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uFill>
                                    <a:solidFill>
                                      <a:srgbClr val="C00000"/>
                                    </a:solidFill>
                                  </a:uFill>
                                  <a:latin typeface="Cambria Math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uFill>
                                    <a:solidFill>
                                      <a:srgbClr val="C00000"/>
                                    </a:solidFill>
                                  </a:uFill>
                                  <a:latin typeface="Cambria Math"/>
                                  <a:ea typeface="华文细黑" panose="02010600040101010101" pitchFamily="2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uFill>
                                    <a:solidFill>
                                      <a:srgbClr val="C00000"/>
                                    </a:solidFill>
                                  </a:uFill>
                                  <a:latin typeface="Cambria Math"/>
                                  <a:ea typeface="华文细黑" panose="02010600040101010101" pitchFamily="2" charset="-122"/>
                                </a:rPr>
                                <m:t>access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uFill>
                                    <a:solidFill>
                                      <a:srgbClr val="C00000"/>
                                    </a:solidFill>
                                  </a:uFill>
                                  <a:latin typeface="Cambria Math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uFill>
                                    <a:solidFill>
                                      <a:srgbClr val="C00000"/>
                                    </a:solidFill>
                                  </a:uFill>
                                  <a:latin typeface="Cambria Math"/>
                                  <a:ea typeface="华文细黑" panose="02010600040101010101" pitchFamily="2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uFill>
                                    <a:solidFill>
                                      <a:srgbClr val="C00000"/>
                                    </a:solidFill>
                                  </a:uFill>
                                  <a:latin typeface="Cambria Math"/>
                                  <a:ea typeface="华文细黑" panose="02010600040101010101" pitchFamily="2" charset="-122"/>
                                </a:rPr>
                                <m:t>𝑑𝑒𝑐𝑜𝑑𝑒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uFill>
                                    <a:solidFill>
                                      <a:srgbClr val="C00000"/>
                                    </a:solidFill>
                                  </a:uFill>
                                  <a:latin typeface="Cambria Math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uFill>
                                    <a:solidFill>
                                      <a:srgbClr val="C00000"/>
                                    </a:solidFill>
                                  </a:uFill>
                                  <a:latin typeface="Cambria Math"/>
                                  <a:ea typeface="华文细黑" panose="02010600040101010101" pitchFamily="2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uFill>
                                    <a:solidFill>
                                      <a:srgbClr val="C00000"/>
                                    </a:solidFill>
                                  </a:uFill>
                                  <a:latin typeface="Cambria Math"/>
                                  <a:ea typeface="华文细黑" panose="02010600040101010101" pitchFamily="2" charset="-122"/>
                                </a:rPr>
                                <m:t>𝑜𝑝𝑒𝑟𝑎𝑡𝑒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 b="0" dirty="0" smtClean="0">
                  <a:solidFill>
                    <a:schemeClr val="bg2">
                      <a:lumMod val="75000"/>
                    </a:schemeClr>
                  </a:solidFill>
                  <a:uFill>
                    <a:solidFill>
                      <a:srgbClr val="C00000"/>
                    </a:solidFill>
                  </a:uFill>
                  <a:latin typeface="Times New Roman" panose="02020603050405020304" pitchFamily="18" charset="0"/>
                  <a:ea typeface="华文细黑" panose="02010600040101010101" pitchFamily="2" charset="-122"/>
                </a:endParaRPr>
              </a:p>
              <a:p>
                <a:pPr>
                  <a:lnSpc>
                    <a:spcPts val="2400"/>
                  </a:lnSpc>
                </a:pPr>
                <a:endParaRPr lang="en-US" altLang="zh-CN" sz="2400" dirty="0">
                  <a:solidFill>
                    <a:schemeClr val="bg2">
                      <a:lumMod val="75000"/>
                    </a:schemeClr>
                  </a:solidFill>
                  <a:uFill>
                    <a:solidFill>
                      <a:srgbClr val="C00000"/>
                    </a:solidFill>
                  </a:uFill>
                  <a:latin typeface="Times New Roman" panose="02020603050405020304" pitchFamily="18" charset="0"/>
                  <a:ea typeface="华文细黑" panose="02010600040101010101" pitchFamily="2" charset="-122"/>
                </a:endParaRPr>
              </a:p>
              <a:p>
                <a:pPr>
                  <a:lnSpc>
                    <a:spcPts val="24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𝐼𝑂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bg2">
                              <a:lumMod val="75000"/>
                            </a:schemeClr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Cambria Math"/>
                          <a:ea typeface="华文细黑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𝐵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Cambria Math"/>
                          <a:ea typeface="华文细黑" panose="02010600040101010101" pitchFamily="2" charset="-122"/>
                        </a:rPr>
                        <m:t>/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𝑙𝑎𝑡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uFill>
                                <a:solidFill>
                                  <a:srgbClr val="C00000"/>
                                </a:solidFill>
                              </a:uFill>
                              <a:latin typeface="Cambria Math"/>
                              <a:ea typeface="华文细黑" panose="02010600040101010101" pitchFamily="2" charset="-122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altLang="zh-CN" sz="2400" b="0" dirty="0" smtClean="0">
                  <a:solidFill>
                    <a:schemeClr val="bg2">
                      <a:lumMod val="75000"/>
                    </a:schemeClr>
                  </a:solidFill>
                  <a:uFill>
                    <a:solidFill>
                      <a:srgbClr val="C00000"/>
                    </a:solidFill>
                  </a:uFill>
                  <a:latin typeface="Times New Roman" panose="02020603050405020304" pitchFamily="18" charset="0"/>
                  <a:ea typeface="华文细黑" panose="02010600040101010101" pitchFamily="2" charset="-122"/>
                </a:endParaRPr>
              </a:p>
              <a:p>
                <a:pPr>
                  <a:lnSpc>
                    <a:spcPts val="2400"/>
                  </a:lnSpc>
                </a:pPr>
                <a:endParaRPr lang="en-US" altLang="zh-CN" sz="2200" dirty="0" smtClean="0">
                  <a:solidFill>
                    <a:schemeClr val="bg2">
                      <a:lumMod val="75000"/>
                    </a:schemeClr>
                  </a:solidFill>
                  <a:uFill>
                    <a:solidFill>
                      <a:srgbClr val="C00000"/>
                    </a:solidFill>
                  </a:uFill>
                  <a:latin typeface="Times New Roman" panose="02020603050405020304" pitchFamily="18" charset="0"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TextBox 5">
                <a:extLst>
                  <a:ext uri="{FF2B5EF4-FFF2-40B4-BE49-F238E27FC236}">
                    <a16:creationId xmlns="" xmlns:a16="http://schemas.microsoft.com/office/drawing/2014/main" id="{B51DBB8D-5AB1-4CBD-BCF5-5EB7264A8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72" y="2066652"/>
                <a:ext cx="5400600" cy="2154436"/>
              </a:xfrm>
              <a:prstGeom prst="rect">
                <a:avLst/>
              </a:prstGeom>
              <a:blipFill rotWithShape="1">
                <a:blip r:embed="rId3"/>
                <a:stretch>
                  <a:fillRect t="-1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420" y="1443690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en-US" altLang="zh-CN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的执行时间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8" y="4221088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en-US" altLang="zh-CN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等待时间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5122097"/>
            <a:ext cx="7700492" cy="1258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13525" y="1874576"/>
                <a:ext cx="55546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𝑙</m:t>
                      </m:r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/>
                            </a:rPr>
                            <m:t>tot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𝑎𝑙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/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𝑎𝑐𝑐𝑒𝑠𝑠</m:t>
                          </m:r>
                        </m:sub>
                      </m:sSub>
                    </m:oMath>
                  </m:oMathPara>
                </a14:m>
                <a:endParaRPr lang="en-US" altLang="zh-CN" dirty="0" smtClean="0"/>
              </a:p>
              <a:p>
                <a:endParaRPr lang="en-US" altLang="zh-CN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𝑘</m:t>
                      </m:r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𝐼𝑂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/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𝐶𝑃𝑈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525" y="1874576"/>
                <a:ext cx="5554627" cy="1200329"/>
              </a:xfrm>
              <a:prstGeom prst="rect">
                <a:avLst/>
              </a:prstGeom>
              <a:blipFill rotWithShape="1">
                <a:blip r:embed="rId5"/>
                <a:stretch>
                  <a:fillRect b="-66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2783632" y="5301208"/>
            <a:ext cx="432048" cy="45001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973602" y="4752765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128-docID</a:t>
            </a:r>
            <a:r>
              <a:rPr lang="zh-CN" altLang="en-US" sz="2000" dirty="0" smtClean="0"/>
              <a:t>块个数</a:t>
            </a:r>
            <a:endParaRPr lang="zh-CN" altLang="en-US" sz="2000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40" y="3109083"/>
            <a:ext cx="5513200" cy="227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4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 smtClean="0"/>
              <a:t>流水线</a:t>
            </a:r>
            <a:r>
              <a:rPr lang="zh-CN" altLang="en-US" b="1" dirty="0"/>
              <a:t>方案存在问题</a:t>
            </a:r>
          </a:p>
        </p:txBody>
      </p:sp>
      <p:sp>
        <p:nvSpPr>
          <p:cNvPr id="40" name="TextBox 13"/>
          <p:cNvSpPr txBox="1"/>
          <p:nvPr/>
        </p:nvSpPr>
        <p:spPr>
          <a:xfrm>
            <a:off x="2331562" y="914844"/>
            <a:ext cx="7508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流水线方案存在问题</a:t>
            </a:r>
            <a:endParaRPr lang="zh-CN" altLang="en-US" sz="3200" b="1" dirty="0">
              <a:solidFill>
                <a:srgbClr val="27B3C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8" y="1659134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8" y="4221088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767408" y="4797152"/>
            <a:ext cx="964907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457200" indent="-457200">
              <a:lnSpc>
                <a:spcPts val="2400"/>
              </a:lnSpc>
              <a:buFont typeface="+mj-lt"/>
              <a:buAutoNum type="arabicPeriod"/>
            </a:pP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IO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线程变长块读取倒排列表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 marL="457200" indent="-457200">
              <a:lnSpc>
                <a:spcPts val="2400"/>
              </a:lnSpc>
              <a:buFont typeface="+mj-lt"/>
              <a:buAutoNum type="arabicPeriod"/>
            </a:pPr>
            <a:r>
              <a:rPr lang="zh-CN" altLang="en-US" sz="2200" dirty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下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一查询数据预取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 marL="457200" indent="-457200">
              <a:lnSpc>
                <a:spcPts val="2400"/>
              </a:lnSpc>
              <a:buFont typeface="+mj-lt"/>
              <a:buAutoNum type="arabicPeriod"/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读取数据块跳过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767408" y="2276872"/>
            <a:ext cx="1008112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457200" indent="-457200">
              <a:lnSpc>
                <a:spcPts val="2400"/>
              </a:lnSpc>
              <a:buFont typeface="+mj-lt"/>
              <a:buAutoNum type="arabicPeriod"/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查询对应的倒排列表长度差异较大，造成无用数据的提前读取。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 marL="457200" indent="-457200">
              <a:lnSpc>
                <a:spcPts val="2400"/>
              </a:lnSpc>
              <a:buFont typeface="+mj-lt"/>
              <a:buAutoNum type="arabicPeriod"/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如果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IO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线程先于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线程结束，造成线程资源浪费。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 marL="457200" indent="-457200">
              <a:lnSpc>
                <a:spcPts val="2400"/>
              </a:lnSpc>
              <a:buFont typeface="+mj-lt"/>
              <a:buAutoNum type="arabicPeriod"/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查询过程不会访问所有倒排列表数据，顺序读取全部索引导致不必要的数据读取。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3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 smtClean="0"/>
              <a:t>变长读取块</a:t>
            </a:r>
            <a:endParaRPr lang="zh-CN" altLang="en-US" b="1" dirty="0"/>
          </a:p>
        </p:txBody>
      </p:sp>
      <p:sp>
        <p:nvSpPr>
          <p:cNvPr id="40" name="TextBox 13"/>
          <p:cNvSpPr txBox="1"/>
          <p:nvPr/>
        </p:nvSpPr>
        <p:spPr>
          <a:xfrm>
            <a:off x="2331562" y="914844"/>
            <a:ext cx="7508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优化</a:t>
            </a:r>
            <a:r>
              <a:rPr lang="en-US" altLang="zh-CN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1-</a:t>
            </a:r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变长读取块</a:t>
            </a:r>
            <a:endParaRPr lang="zh-CN" altLang="en-US" sz="3200" b="1" dirty="0">
              <a:solidFill>
                <a:srgbClr val="27B3C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8" y="1659134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6528048" y="4190001"/>
            <a:ext cx="41044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对于较长倒排列表以较大块读取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对于较短倒排列表以较小块读取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73" y="3429000"/>
            <a:ext cx="5477639" cy="2753109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767408" y="2276872"/>
            <a:ext cx="781286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查询中倒排列表长度差异大于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8MB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的占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22%</a:t>
            </a:r>
          </a:p>
          <a:p>
            <a:pPr>
              <a:lnSpc>
                <a:spcPts val="2400"/>
              </a:lnSpc>
            </a:pPr>
            <a:r>
              <a:rPr lang="zh-CN" altLang="en-US" sz="2200" dirty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同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一</a:t>
            </a:r>
            <a:r>
              <a:rPr lang="en-US" altLang="zh-CN" sz="2200" dirty="0" err="1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docID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大概率出现在倒排列表</a:t>
            </a:r>
            <a:r>
              <a:rPr lang="zh-CN" altLang="en-US" sz="2200" dirty="0" smtClean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近似分位点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而非绝对字节位置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051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 smtClean="0"/>
              <a:t>查询数据预取</a:t>
            </a:r>
            <a:endParaRPr lang="zh-CN" altLang="en-US" b="1" dirty="0"/>
          </a:p>
        </p:txBody>
      </p:sp>
      <p:sp>
        <p:nvSpPr>
          <p:cNvPr id="40" name="TextBox 13"/>
          <p:cNvSpPr txBox="1"/>
          <p:nvPr/>
        </p:nvSpPr>
        <p:spPr>
          <a:xfrm>
            <a:off x="2331562" y="914844"/>
            <a:ext cx="7508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优化</a:t>
            </a:r>
            <a:r>
              <a:rPr lang="en-US" altLang="zh-CN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2-</a:t>
            </a:r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查询数据预取</a:t>
            </a:r>
            <a:endParaRPr lang="zh-CN" altLang="en-US" sz="3200" b="1" dirty="0">
              <a:solidFill>
                <a:srgbClr val="27B3C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2179555" y="2305219"/>
            <a:ext cx="7812868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实际搜索引擎查询一般批量处理（容易得知下一条用户查询）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当查询有较大计算量时，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IO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线程先于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结束，此时可预取下一条查询数据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200" dirty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弥补下一条查询读取第一块的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等待时间，同时间接降低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等待的可能性。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2" y="3791964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993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 smtClean="0"/>
              <a:t>读取块跳过</a:t>
            </a:r>
            <a:endParaRPr lang="zh-CN" altLang="en-US" b="1" dirty="0"/>
          </a:p>
        </p:txBody>
      </p:sp>
      <p:sp>
        <p:nvSpPr>
          <p:cNvPr id="40" name="TextBox 13"/>
          <p:cNvSpPr txBox="1"/>
          <p:nvPr/>
        </p:nvSpPr>
        <p:spPr>
          <a:xfrm>
            <a:off x="2331562" y="914844"/>
            <a:ext cx="7508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优化</a:t>
            </a:r>
            <a:r>
              <a:rPr lang="en-US" altLang="zh-CN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3-</a:t>
            </a:r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读取块跳过</a:t>
            </a:r>
            <a:endParaRPr lang="zh-CN" altLang="en-US" sz="3200" b="1" dirty="0">
              <a:solidFill>
                <a:srgbClr val="27B3C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xmlns="" id="{B51DBB8D-5AB1-4CBD-BCF5-5EB7264A842F}"/>
              </a:ext>
            </a:extLst>
          </p:cNvPr>
          <p:cNvSpPr txBox="1"/>
          <p:nvPr/>
        </p:nvSpPr>
        <p:spPr>
          <a:xfrm>
            <a:off x="2179555" y="1916832"/>
            <a:ext cx="7812868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对于某些查询</a:t>
            </a:r>
            <a:r>
              <a:rPr lang="zh-CN" altLang="en-US" sz="2200" dirty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算法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2200" dirty="0" err="1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Maxscore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）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只会访问部分索引数据。若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IO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线程读取全部所需倒排列表，会造成无用数据的读取。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200" dirty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然而，在查询初始，我们无法得知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对索引的访问模式，所以提出了一种查询运行中跳过方案：即在每次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CPU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等待时，告知</a:t>
            </a:r>
            <a:r>
              <a:rPr lang="en-US" altLang="zh-CN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IO</a:t>
            </a:r>
            <a:r>
              <a:rPr lang="zh-CN" altLang="en-US" sz="2200" dirty="0" smtClean="0">
                <a:solidFill>
                  <a:schemeClr val="bg2">
                    <a:lumMod val="75000"/>
                  </a:schemeClr>
                </a:solidFill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华文细黑" panose="02010600040101010101" pitchFamily="2" charset="-122"/>
              </a:rPr>
              <a:t>线程下一次读取的初始位置。</a:t>
            </a: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200" dirty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200" dirty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>
              <a:lnSpc>
                <a:spcPts val="2400"/>
              </a:lnSpc>
            </a:pPr>
            <a:endParaRPr lang="en-US" altLang="zh-CN" sz="2200" dirty="0" smtClean="0">
              <a:solidFill>
                <a:schemeClr val="bg2">
                  <a:lumMod val="75000"/>
                </a:schemeClr>
              </a:solidFill>
              <a:uFill>
                <a:solidFill>
                  <a:srgbClr val="C00000"/>
                </a:solidFill>
              </a:u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887360"/>
              </p:ext>
            </p:extLst>
          </p:nvPr>
        </p:nvGraphicFramePr>
        <p:xfrm>
          <a:off x="1559496" y="4437112"/>
          <a:ext cx="8155867" cy="2164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" name="Visio" r:id="rId4" imgW="5172037" imgH="1371706" progId="Visio.Drawing.15">
                  <p:embed/>
                </p:oleObj>
              </mc:Choice>
              <mc:Fallback>
                <p:oleObj name="Visio" r:id="rId4" imgW="5172037" imgH="1371706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4437112"/>
                        <a:ext cx="8155867" cy="21648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371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 smtClean="0"/>
              <a:t>实验效果</a:t>
            </a:r>
            <a:endParaRPr lang="zh-CN" altLang="en-US" b="1" dirty="0"/>
          </a:p>
        </p:txBody>
      </p:sp>
      <p:sp>
        <p:nvSpPr>
          <p:cNvPr id="40" name="TextBox 13"/>
          <p:cNvSpPr txBox="1"/>
          <p:nvPr/>
        </p:nvSpPr>
        <p:spPr>
          <a:xfrm>
            <a:off x="2331562" y="914844"/>
            <a:ext cx="7508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27B3C6"/>
                </a:solidFill>
                <a:latin typeface="微软雅黑" pitchFamily="34" charset="-122"/>
                <a:ea typeface="微软雅黑" pitchFamily="34" charset="-122"/>
              </a:rPr>
              <a:t>实验效果</a:t>
            </a:r>
            <a:endParaRPr lang="zh-CN" altLang="en-US" sz="3200" b="1" dirty="0">
              <a:solidFill>
                <a:srgbClr val="27B3C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194" y="1625187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流水线及优化后查询吞吐率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989" y="1967929"/>
            <a:ext cx="5882906" cy="259228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21" y="1629961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</a:t>
            </a:r>
            <a:r>
              <a:rPr lang="en-US" altLang="zh-CN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69" y="2068860"/>
            <a:ext cx="5266722" cy="4082339"/>
          </a:xfrm>
          <a:prstGeom prst="rect">
            <a:avLst/>
          </a:prstGeom>
        </p:spPr>
      </p:pic>
      <p:sp>
        <p:nvSpPr>
          <p:cNvPr id="12" name="对话气泡: 圆角矩形 9">
            <a:extLst>
              <a:ext uri="{FF2B5EF4-FFF2-40B4-BE49-F238E27FC236}">
                <a16:creationId xmlns:a16="http://schemas.microsoft.com/office/drawing/2014/main" xmlns="" id="{27022A84-3746-4CD2-8C9E-B81E73321E83}"/>
              </a:ext>
            </a:extLst>
          </p:cNvPr>
          <p:cNvSpPr/>
          <p:nvPr/>
        </p:nvSpPr>
        <p:spPr>
          <a:xfrm>
            <a:off x="3794778" y="2170153"/>
            <a:ext cx="2304256" cy="643225"/>
          </a:xfrm>
          <a:prstGeom prst="wedgeRoundRectCallout">
            <a:avLst>
              <a:gd name="adj1" fmla="val -62742"/>
              <a:gd name="adj2" fmla="val -36922"/>
              <a:gd name="adj3" fmla="val 16667"/>
            </a:avLst>
          </a:prstGeom>
          <a:solidFill>
            <a:srgbClr val="00CC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2400"/>
              </a:lnSpc>
            </a:pPr>
            <a:r>
              <a:rPr lang="zh-CN" altLang="en-US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DRAM</a:t>
            </a:r>
            <a:r>
              <a:rPr lang="zh-CN" altLang="en-US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吞吐率只差</a:t>
            </a:r>
            <a:r>
              <a:rPr lang="en-US" altLang="zh-CN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6%</a:t>
            </a:r>
            <a:endParaRPr lang="zh-CN" altLang="en-US" sz="1800" b="1" dirty="0">
              <a:ln w="0"/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对话气泡: 圆角矩形 25">
            <a:extLst>
              <a:ext uri="{FF2B5EF4-FFF2-40B4-BE49-F238E27FC236}">
                <a16:creationId xmlns:a16="http://schemas.microsoft.com/office/drawing/2014/main" xmlns="" id="{8C5C1B8A-C229-4C75-B248-440E352EF2BE}"/>
              </a:ext>
            </a:extLst>
          </p:cNvPr>
          <p:cNvSpPr/>
          <p:nvPr/>
        </p:nvSpPr>
        <p:spPr>
          <a:xfrm>
            <a:off x="9251818" y="1510566"/>
            <a:ext cx="2940182" cy="895457"/>
          </a:xfrm>
          <a:prstGeom prst="wedgeRoundRectCallout">
            <a:avLst>
              <a:gd name="adj1" fmla="val 45858"/>
              <a:gd name="adj2" fmla="val 89436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2400"/>
              </a:lnSpc>
            </a:pPr>
            <a:r>
              <a:rPr lang="zh-CN" altLang="en-US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仅需最多</a:t>
            </a:r>
            <a:r>
              <a:rPr lang="en-US" altLang="zh-CN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3%</a:t>
            </a:r>
            <a:r>
              <a:rPr lang="zh-CN" altLang="en-US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的内存空间即可达到和</a:t>
            </a:r>
            <a:r>
              <a:rPr lang="en-US" altLang="zh-CN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DRAM</a:t>
            </a:r>
            <a:r>
              <a:rPr lang="zh-CN" altLang="en-US" sz="1800" b="1" dirty="0" smtClean="0">
                <a:ln w="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近似的查询吞吐</a:t>
            </a:r>
            <a:endParaRPr lang="zh-CN" altLang="en-US" sz="1800" b="1" dirty="0">
              <a:ln w="0"/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783" y="4560217"/>
            <a:ext cx="5277587" cy="215295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59711D3F-F934-4BFB-B6C2-9DFBD3B2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076" y="4344773"/>
            <a:ext cx="6450589" cy="430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2800" b="1" dirty="0" smtClean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跳块优化</a:t>
            </a:r>
            <a:endParaRPr lang="zh-CN" altLang="en-US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24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矩形 693"/>
          <p:cNvSpPr/>
          <p:nvPr/>
        </p:nvSpPr>
        <p:spPr>
          <a:xfrm>
            <a:off x="1393372" y="1338939"/>
            <a:ext cx="2859314" cy="4033157"/>
          </a:xfrm>
          <a:prstGeom prst="rect">
            <a:avLst/>
          </a:prstGeom>
          <a:noFill/>
          <a:ln w="19050">
            <a:solidFill>
              <a:srgbClr val="28B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5" name="矩形 694"/>
          <p:cNvSpPr/>
          <p:nvPr/>
        </p:nvSpPr>
        <p:spPr>
          <a:xfrm>
            <a:off x="3865185" y="2853335"/>
            <a:ext cx="1248229" cy="2086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7" name="文本框 696"/>
          <p:cNvSpPr txBox="1"/>
          <p:nvPr/>
        </p:nvSpPr>
        <p:spPr>
          <a:xfrm>
            <a:off x="1780494" y="2870325"/>
            <a:ext cx="1585690" cy="988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03" name="图片 702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73" r="5398"/>
          <a:stretch/>
        </p:blipFill>
        <p:spPr>
          <a:xfrm>
            <a:off x="8122255" y="-1"/>
            <a:ext cx="4069745" cy="580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8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24f2c14ba2825c3606aabbf10b2b640ad4d947"/>
  <p:tag name="ISPRING_ULTRA_SCORM_COURSE_ID" val="F71B2451-20C5-4A7A-A677-3702BEA1834A"/>
  <p:tag name="ISPRING_SCORM_RATE_SLIDES" val="1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Puiv0xaf7mZOgQAAOEOAAAdAAAAdW5pdmVyc2FsL2NvbW1vbl9tZXNzYWdlcy5sbmetV/9u2zYQ/r9A34EQUGADtrQd0KIYEge0xNhCZMmV6DjZDwiMxNhEKDGTKLfZX32aPtieZEfKbuymg6R0gG2YtO+7091335HHpx8LiTa8qoUqT5zXR68cxMtM5aJcnTgLevbzOwfVmpU5k6rkJ06pHHQ6ev7sWLJy1bAVh+/PnyF0XPC6hmU9MquHNRL5iTMfp240m+PwKg2iSZSO/YkzclVxx8p7FKiV+qP64Ze37z6+fvP2x+OXW8s+QMkMB8EhFLJIb171AAppHAUpoJEgDckldUbmc5hdtKCBHxJntP0yzHoekwtnZD477RZxTEKaJoHvkdRP0jCiNhcBocRzRleqQWu24UgrtBH8A9JrDpXUouKoliK3P2QKNsqGdznzohn2wzQmCY19l/pR6IwSVVX3P1lY1ui1qsBdjXJRs2vJc+sTOGN/v6t4Da6ZBk4heOm1gH+qgonyqNN1jJd+OElpFAVJSkJvt+OMSJkjr2LGzUCUGCckBoCK1bx6gm1qWWbNEZZyGMLUn0wDeFMTwlSs1hLeemgccwI1mPOyywo4QmJgV5Iso9gzSQNXiKE7VtcfVJUf8GO/UF3AfuhGQEGX7oFTg7EDhhoLUI6q4pnuApuRJMETko6jSyAy9F00xCI6h3Y7H2JxRRJoEZJ02YT4wp9gQ3jTYjv+7/orY4bO8h6xLAM7k76NUE0NOyal0AW20+phXhLyfgFV83HwjS5uASGxtl4rseEQQpV3swc0xSWe4c/7hf9beob9gHgpEMqLlim1YmecMZCHUmnEpFTmAcAvyzeszDi65hlrgPD38Ldc5PZvptg2kr8a8TdieistL7aqFHrk8sXRwNAOhOxxhEVTQ3ha8+JOd7neC/8pURhi/2cIfR59oP+kbdaxDx0wFqq/BQF5NoIEiir7W/nhGTiatz0PouCXNwN8htEWIFToqRgXkKqDEC4ghQPsl2Sc+BSG7ZJf10J3zjFb2bZA3y5qBgcHyTV/KOw1v1HQE5KzTTvOQNZspTsLujctD7SH+jSAkEMAXLUjESClKCD+vAfmYkZ2GWgl4+BJlqqRuW1RKW6tbEBum4I/nsM3lSrsrmT1jrytap1+TxTtw8Wt0/mAeZIQHLvT1MWhS8wRzjSN7GkEXDQxBTRJAzw25kDKgulsDVp5o5oy7wnUnsI8coYBbJvShLMqW//z6XNPjK8iaXfRdvfXQSDQYUaIyBew30Olef1nFwjF40M7u+hjtT217ux6HmKpD3T4X06HrNX0QhWwddTtF9i2LRqmFLvTGRAysfxTTZV1j959hBmOz0FU7PnKGc1YdQuKRJWSg1Bsqg0B9TDvDxeHRktR8iG236fp5oGpP0+x59lbFDSfFNltO7xyOCtm2+uUhOtUXzB3ikMQvK/weC70QEA7I3byAo3erh/afPN4ZHxZ1fYyevxy7276L1BLAwQUAAIACAD7or9MCf5wTAkDAAC1CgAAJwAAAHVuaXZlcnNhbC9mbGFzaF9wdWJsaXNoaW5nX3NldHRpbmdzLnhtbNVW3VIaMRS+5yky6XgpixarZRacjsDUUYER2uqVEzYHNmM22W6yIF71afpgfZKebARhtM6qdablBnJ+vvOdnxwSHt4kkswgM0KrJt2p1igBFWku1LRJv4y62weUGMsUZ1IraFKlKTlsVcI0H0th4iFYi6aGIIwyjdQ2aWxt2giC+XxeFSbNnFbL3CK+qUY6CdIMDCgLWZBKtsAvu0jB0FalQkjoRWea5xKI4EhBCceOya5kJqaBNxuz6Hqa6VzxIy11RrLpuEnf1YrP0sZDtUUCyiVnWih0YttgnAvHh8mhuAUSg5jGSHy/TslccBs36W7doaB18BClwPY5MIdypDEZZe/gE7CMM8v80cezcGPNUuBFfKFYIqIRaojLv0nbo6vPl4PO+elx7+Rq1O+fjo4HnkThE2zihMFmoBAJ6TyLYBUnZNayKEbe6DNh0kAYrIuWZhOtNsi5MxlribUvvHAekjHwHktgrRvDa6G6aLlDyQQTkYsm/ZQJJikRlkkRrZxNPjZW2KL/3XVLglg4Z0DOhvQ+vK9OFLPMwDqtpca4mketbzqXnCx0TqS4BmI1wfzzBH/FQNabQyaZTgopjo8lRgqMOBMwB35Y1PQO8E+BLjFEkqMnTm4qwfoI33NxS8Yw0RniApvhjKNcGI9ffRZwyoy5B2VLjlvD0+N25+q41+5cbLkEGZ8xFT0THBsOSWrfAp9h7kpjCCk1VnMNAisTsdxA0R8ueGFWJs3SsWM2K5ruGlmAYrsF8vGYqIhwNIXKoSxgxBTRSi4Ii/AKGTdCM6FzgxI/LB7avIigdyVCFVSneIMwWMYhK4NW29l9X9/7sH/wsVENfv34uf2k091aGUjmovm9cvTkYlktl4d3LgzcLnh8Ndgs/zc3w+C887VMXXudi1GpbnaGpeD6Zaz6J2Wszv0qG6ytsVIUcA9N/dLDTSRFIizwvzliLxiTV/2D+Bl7mzF5w5xfczX+m5T9afUY2Xh9hMGjzyOnSYQSCRbCbcTVm6q1V6/he+ZRVaWCaJtPzVblN1BLAwQUAAIACAD7or9MzZ5QkK4CAABVCgAAIQAAAHVuaXZlcnNhbC9mbGFzaF9za2luX3NldHRpbmdzLnhtbJVWbW/aMBD+vl+B2HfSaeuqSi5Sy6hUqVurteK7kxyJhWMj+0LHv5+d2MQGQlIspPq5e+7O90aJ3jAx/zKZkExyqd4AkYlCW8RjE5bfTdMaUYpZJgWCwJmQqqJ8Ov96f20PSRrNIZbcgTKcm0d7BjhrmkHn5vujPWMozsf1jT19hExWWyr2z7KQs5Rmm0LJWuSDoZX7LSjOxMZoXt3eLJa9DjjT+IRQxTHd2jOOslWgNdiQfi7tGWRxmgL3nq6az0hO5+ry649oO6YZNrT7b/b00ba0gDjJl6MzhTHWP01A+IfDqpzuQX3KuNzW208RlCxsQmPO5dIfOFzS3IzfYCkOBPsg62iwCi49P37ZEyi5P8O5J3ZcleSvNq9HC8EWPeUwR1UDSfytlelSfrzUaOYD5mvKtVEIoU7p1QT9SmvtzcRYp/cXPpjIQ1sO6VRWktcVLNqAA3Mx3ukvFg/NrgiNHrAgQgU7BwYhdmCn+cfk9UQzADvNN85yeBF8fxrBsagl+SI/UFfOy/k3UhDUXHMn9TcvtZ6e7ejqIFQHeJ1K5jDXNpx3VoGtG0karA0pOYmJCLpjBUUmxW+rl+6bx2iSHAlcr53vLIIMOZxruCZGs6bDdDX3uB+dNG7I9mehe1x7n6DZ4ndTikizsjI/S3o6cTwzJiYx0+Q8w+5Jow7qSaxlwGl895Eqqjag3qXkY90IiaDHmpftcPWpkyTIAUnOZ5k4I+fSL+oqBbU0VWOgfZZjsFUsWVFy88UVgw/Ijxg90paKpbEnKDv0ZQC4JgCqstJ3bXtpJVXNkXHYgR/+AGie3Pc2ok2X9jXcPT7DGsOWc8ionnS7ouuVeIcE+Bn9lQkrMnwkGdH2SFPdvCyafL+Gu1iixezXmW2+cJM1d9dLkWEjP82gAe2/k/8BUEsDBBQAAgAIAPuiv0x41iYJ3gIAAMYJAAAmAAAAdW5pdmVyc2FsL2h0bWxfcHVibGlzaGluZ19zZXR0aW5ncy54bWzNVsFOGzEQvecrLFccyQKlhUaboIoEgaAkImkLJzRZO1kLr721vQnh1K/ph/VLOl6TkAgaLQiq5pLseObNezPj2cQHt5kkE26s0KpJt+tblHCVaCbUuEm/Do429ymxDhQDqRVvUqUpOWjV4rwYSmHTPncOXS1BGGUbuWvS1Lm8EUXT6bQubG78qZaFQ3xbT3QW5YZbrhw3US5hhl9ulnNLW7UaIXEwfdGskJwIhhSU8OxAHrtM0ih4DSG5GRtdKHaopTbEjIdN+m6r/Mx9AlJbZFx5bbaFRm92DWBMeDog++KOk5SLcYq893YpmQrm0ibd2fUo6B09RimxgwTwKIcatSh3D59xBwwchMeQz/FbZ+eGYGIzBZlIBnhCvPwmbQ+uj696nYuzk/PT60G3ezY46QUSZUy0ihNHq4liJKQLk/BFnhicgyRF3hgzAml5HC2b5m4jrVbI+Wcy1BJLX0ZRMkKmctakn40ASYlwIEWyOHVgxtwdCYkafOx2faQcfQAMepMUjOXLieYn1lcxaX3XhWRkpgsixQ0nThNUVGT4K+VkudxkZHRWWiVYR6wUjJOJ4FPODsoq3QP+LdEVpsgKjMRRzCV3IcOPQtyRIR9pg7gcJji0aBc24NefBZyDtQ+gMOe40T87aXeuT87bncsNLxDYBFTyTHBsIc9y9xb4gNqVxhRSaqzmEgRWJoHC8rI/TLDSrYrMyrlTmJRN940sQbHdAvkETDxIcLSEKnhVwAQU0UrOCCR4KawfoYnQhUVLGJYAbV9EMIQSoUqqY1xQmMwwbqqgbW3vvN/98HFv/1OjHv3++WtzbdD9ouhJ8NnCpjhcuyoW6+LxnYsjf0OfvuzOFP/qrvcuOt+qVOq8czmo1J9OvxJct4pX97SK10VYTr2lxVSJAm6WcVhjuFukyITj7DWH5gWNX7/lw1i8UuPfUMXa8f1/RYSnxUt95S0eR0/+zaihffW/V6v2B1BLAwQUAAIACAD7or9MAHdzWY8BAAAfBgAAHwAAAHVuaXZlcnNhbC9odG1sX3NraW5fc2V0dGluZ3MuanONlFFPwjAQx9/5FEt9NQSjSPCNKCQmPJjIm/GhG8dY6Nql7SaT8N1th4yuuyq7l/W/X//Xu6V3GETmIQmJnqJD896s37rrRgOraVnCbVdnAT23OlEsW8Mqy4FlHIiHVOetrXy8EJgx4Y1pXL9bW+X4EWG/bChTLl4gFhLRFLa5QsAvRNtjm79bceDUdarJaXRcai34MBFcA9dDLmROG4bczMY23BI9WFQgT+hkYQNBNzSBjun9wkaIvDiOJzZcLhF5QXm9FKkYxjTZpVKUfB3Kv60LkOaX707AaDp5nnfsWKb0q4a8l3hqI0wWEpSC37yPcxsozGgMzPEdNc8faMe4X5BHV5nK9Jme3dlw6YKm0OtS/wimocbrWk7DXgcJRmuQ11iJoiyu4aRIbUd6aP8HtSgTdJ3xNNTClrOHtbah7l0KfXixQTpXSHhXaItdvzw0O3xQIaDujKVzXuXlXWJ2DBM5kkMgGjatKnyOaH+O2PVHRKjWNNnmZjyY4WjaQOUO5EoIZk7/+d85/VyD4w9QSwMEFAACAAgA+6K/TB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Puiv0yw7V1XbgAAAHYAAAAcAAAAdW5pdmVyc2FsL2xvY2FsX3NldHRpbmdzLnhtbA3MPQ7CMAxA4b2nsLyXn42haTc2EBLlAFZjUCTHRomF4PZ4e8OnNy3fKvDh1otpwuPugMC6WS76SvhYz+MJoTtpJjHlhGoIyzxMYhvJnd0DdngL/bitXCOcr1RD3hp3ViePM4xwieezcMb9PPwBUEsDBBQAAgAIAIOZ9U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Puiv0wXqeFBbwEAAPsCAAApAAAAdW5pdmVyc2FsL3NraW5fY3VzdG9taXphdGlvbl9zZXR0aW5ncy54bWyNUttq3DAQfc9XiPzAShrdDO6Cbi5+SUKykGd3rRbTRC6WQkvRx1dOsmy22dBqnmbOmTPM6LTp+xTtU8rz4/R7yNMc70LOU/yWthcItfv5YV5ulpBCTptj5X6K4/yzj1/ntVarKQ9xHJbRrmjaYtQ9P6SkVk7VjBlGkWSeeoWc57ZiDbgGbMUcJbbd/CXxoruEfYj5vGq7OUHfN/QxhSX3cQy/tnDKfgudbvB5Gcap8tJWsDXKYWpxbA3ECJfcF6oBQCDLHXG4SNlITZDHjGMoRlGggAjnpBGFSMqhZl0jqgrzjUBMMkZdoZ7WbqS1cdQWCQ0huk7zqrGl64zEGBFCgLnCBXQGo8qGqqFBrQcEBwZE0UYTBaiznelY8c4Ly5GiXmBcmDGA8fG4x+3enutY/e91Duf8h+DZLziLrt7anDFXu39alkrehccfD0MO6MuQQj9+ury59Xf+aqd3/fXV5as3n318YK6GrZt/6O8/UEsDBBQAAgAIAPyiv0xjf/ZOOgsAAGggAAAXAAAAdW5pdmVyc2FsL3VuaXZlcnNhbC5wbmftVvtXU1cWvigtpQ/iVDstQo0VSurSgaIihkCycHwxGiJaZVAgutA6ghgg5Z3kYqm12mq00SIQkrE+QCnERzVEHtFRDJCSWHlEHiZKgAghJCSQ181N5t746KxZa9aaPyA/3HvXPt/Z53xn332+vY9ujl//3tvz3wYA4L24DWu2AIA3GQBm57z1JjJSNi9CgXy86FvWrwbqZYFjiOG9L5YcCwDX2O84dr+B2L5ZG5LoAOB3D328JLSaPQCAhePWxH5RkKp7Es4O1sbe2r3RL3BV1q5gnw1Er0Ozvw56dufQKb/VqzfMKVkY7pc1axGwW+rrN+fEHK85C0+u9V60cLTairNWT0ga7R3T+1U3CDeKH0QR5BGPLpY319Y2Kvvr+urzrxS3GMZH1dUkeKxWz9QXC4i2YY6ixXA4DCEFNP1dEdhWjsGbFgmxJP4Km9Mi5i+ZjQC/rDIFKSTaOI7LIXf9FjALHcKbggU4Mst8gz/yHuq8vZkXhhf0XT6MGrWp8jLG9O/rRXMQY1ePix825h5XL3P7St9C3ldDg5D3nds/oIDWA3gAD+ABPIAH8AAewAN4AA/gATyAB/AAHsADeAAP4AH+D4A23RrGmupZj2VOj6vZJNZMHY2p7cHxGUYR/Zb2gKpPdqM5wg+Zax7kdfXaho8MHXBNZYjNGZQofYwwRpusVTDBz2RmkqkQfODDHNtILZrR0UBCpNk0fkDfNzkfg/gSWhwjYeBB0Ooiygr1/juP23pFnUfy4l0fafTT4WrQxx87fZzGCIo0mCYP5B/3sY40VHW6ljo5ORH+AEDJZZ11vo/bFCp2asU8dUvuwa3aFm+N3uwferbN+k9M7rpx1KmAJWce7hfREjlegCFE45OpcoxGmmzDG7ekibdpm4I1euty57n0Bz4965ifpUffMUF7k8+Npi8DAOVw8rlkeRC1Yj5Ut0NzEQ8qIsz5p6dib8Zij83HGBws/8QaUcW7QMkRruV2jeZkWMJx1/Y60yMuvVRugMnLiDUrn/81Qe3Fo37Mlp9bEACUZGouzg+zMTdN9hAbkL3XaPZGRTjzTyJLhr9YcryA4TfzGAAOFLfTGDvSsYNXclOvmDLOZGCjExCG3zLcDGvVU/jutNnAVW0GFdpBpDHa00nozOsC1kytCMtbqC5ND1K2gi4LCHaklTWzXy5diXUajvSppmPcZMhyOCCQJEinul3lTyMzv2RszrzfWNB1v63yp9dObXqHTN9kl4AOiQ8bjmRSaiRvAru6IEfRM9PspmLQXg3aTSNiFyR2Xd4L2spA2zhBZZPVkuznSUVaOBB0akCnCVpFVdXTuVCUVKaB9tK2QkNIpFbu2yn7iDZw8/i+QI0cfUaWkiA9g9mIZdPF1XxTyUDuZLO0paFJA1XuQbjdaWyomici+RZ1Xbe8jOsII8jBdlnZ0WYBSTxWvDpmJQAUy4qTuk2tkts8trIxxE9m6t3BcsAqF7xTr3GcNCwV8yCeb2lGlZrqHKGmWjJWDy1OB5EgKEf7JweOfr/8VPZAPZbx0w3Hps+qBPKzgime7+mueji7UdZsKtCs1I/HKFXB6tLxu6pW2K9g4jWXMkgN98K6g6SyogMAcIsxsoTarjlGyebRU3FGSflSUabiQrvuqKP8qdWC/BsFXDHRIOYXg5Z80GJfKUzM5uZSCHNxQiHzl36cML1KiB+gc6dSdOfiOBmFol68mjgXp7jwOzz88Cao+lWvbLUJE6DhvyB5tsCawv04S3tNqlyPJnxudOok27JTYbQnj1/zAh4bkxy3uCauyfkNfNuuZqRwQiRs1vR5hMCGGkiUm8LMJsTmkB92S/MWnDe3I7meKTMn14eLpRfas3USrdkCGQrq4zgmGoLuRH5EjKFxFeFp7x+Z1TSI1QvrR2ZE7qy8yMMRewplhfGT8nYom/wtd0mQzDjAsdMfgYOq0dv8HEJCVkpVTjO2I+JyluvHKskVZk5tb2HljZh9v+wbkFllZz7BkCsGG/nWhpBjJwaWJB6MQQL36qjTKcmEMePjvfrzD2ZHi6MWhFkkUF1GITPUfW8ua45ScmOwzfnNR8dyt4DkgsB9y5418dt1G8n1rHgn7Unq2hzyLa5csZEukybWj1C2QcPuTKyU5VHVRDXjH4+G87gSf4WO+aRlqWapOCUvfL9RLPNrmHFvaQqhuuwKKtzHh/u04uGdKngynwp3CBx/q5/t+Pm/2dh6hS1n5B/wh6I1Tc2Phis+akjGzSg+CFJ4/wv2vrufRpgSM0u7tRfxFvHu0cXpfHcS5gUqoKtcEl+uaBE5GY2p+LmhmjzFN106SJRcD0NJlAouGHCTolyEpOAhVWufl3BB4wSzu2BBTsg6RAmd2liSrZ2SqrrU+wax7oRECk+xtM48IX8jejd2smYSwQj+EmJrocx2aa4ZiuOoi5I6YZq88LejLt0HSzDNe0auvWYiTDwWSClfgU98nGzJJSR91bxizJjMCdGo1uk4QkRki57mZ+fdqZOEFmMjeMZKsa0Sn7BFlqkllri2StJEXz7XPhY7HZf0vmg4JmxWNdtkG0qr0nBpUbsFcRztxQhJxKmslvoyzaDKknu4PRu82bG1x4mKY2df/UBmC2ubIZu0P4fwQFo+Dw9pJr5XF/l2RUwuf/bVE8tUIMpkjY69HmViyM/WPZW6c1LebLpeWRFYyFHZ61RFyIFnEgUshxprOmS7i2EZxinOYUpBqcqpU8nSRhajGmd7s7AzWWF8pW7yD8XW1kSV0yw04dVpXM5MJDmVG1dCr4RUWfQQr3hxyFaZAiNK0W9alAxXbC5IvEk62BNFQyojC+SWjXFZKZ/m/ERNa8g/SDe32+zOkVUKeLAleKxfrCcc+grv+rNMfLQfy0aF30s/lLdl2Bn8nIxeXo2yEMOB4k6hosmawbgMGEGVQF/m6lQ5OmtJ1lJSGyeH6Er/uYRS+4I5h96usoUkSZWvRJ1q60g04tUbE90K+4g5U0vtZE5t8Md+EWA4VzM1CCFyXU0hf+cYEMMDYdw9/LziShBWgEz422UWofreZo43Y8fHSygJEjXdHQsF0gOclgdQr/djEE0qmwhQWddNHsEhIe//DrMWYazb05aA65PAuhZbJ21UZ3XUxs1CEu9Mdc2rMqXj1vbQJWVXzHfROhr1YWSTRJoTilIyopQa+e9e5kyonXkhZGJyRNyd6p5rxnm50cQjbhl19w4CS6TtYbe7aH5BdRrL6P9RDy2TVB5deQ+JIeRkkpuiNfe2vzzDlNRKGY9eh+Y91/LrHxX6faYugyqdEpf+gLly3La5u2CyJ+AuL/JCU/xVucIilQfcdSr1sLI6/r4tqzvYi79d0rGVq/hTb7gtyf5uau1bwJ13zNKCeHvhZncLsYI/JYpFmpyasogYc/VDVCDA3VuGM1mosPdQHa3UYV88nwZCQrCS4+3gk5xqEpp4POjHNrpKE45q9FPjlASrMbWXDTXN+vkBUzt4qZe5WKbKPg7F7GE8PBJFsJwuv6RnWRrx+Bf3i0IQ4BgnXBdkTNY6wTZv4Onh4jE9zXjWpCxjtHYuhz+PUJcS74N79NfVTgPG9TkuLvSFLIyyYpDWiyiWYQZTh+63p8mLqeP3f/fvcrsExCgoP/DvQY559kiWOjIVfr6eZD/sy0FbLBa8jLfDBwBK5ELMGNcczitSNhKduI7/0VAegJ6fZxd5ocM1CtOnKkhpyfkEta4gFgkeo9BfWwKnRQ2pXCwl6r2rsxyHxwpwZJmEDTrUTe5Zx5aTcpgOxqNhhkPucshrKURbcCK6S8FlGaOt/EObmJ0ocGK1uV3hySy/T9F14tbGr6lfvevrfwNQSwMEFAACAAgA/KK/TNIooFJKAAAAawAAABsAAAB1bml2ZXJzYWwvdW5pdmVyc2FsLnBuZy54bWyzsa/IzVEoSy0qzszPs1Uy1DNQsrfj5bIpKEoty0wtV6gAihnpGUCAkkIlKrc8M6UkAyhkYG6OEMxIzUzPKLFVsjCwgAvqA80EAFBLAQIAABQAAgAIAPuiv0xaf7mZOgQAAOEOAAAdAAAAAAAAAAEAAAAAAAAAAAB1bml2ZXJzYWwvY29tbW9uX21lc3NhZ2VzLmxuZ1BLAQIAABQAAgAIAPuiv0wJ/nBMCQMAALUKAAAnAAAAAAAAAAEAAAAAAHUEAAB1bml2ZXJzYWwvZmxhc2hfcHVibGlzaGluZ19zZXR0aW5ncy54bWxQSwECAAAUAAIACAD7or9MzZ5QkK4CAABVCgAAIQAAAAAAAAABAAAAAADDBwAAdW5pdmVyc2FsL2ZsYXNoX3NraW5fc2V0dGluZ3MueG1sUEsBAgAAFAACAAgA+6K/THjWJgneAgAAxgkAACYAAAAAAAAAAQAAAAAAsAoAAHVuaXZlcnNhbC9odG1sX3B1Ymxpc2hpbmdfc2V0dGluZ3MueG1sUEsBAgAAFAACAAgA+6K/TAB3c1mPAQAAHwYAAB8AAAAAAAAAAQAAAAAA0g0AAHVuaXZlcnNhbC9odG1sX3NraW5fc2V0dGluZ3MuanNQSwECAAAUAAIACAD7or9MGtrqO6oAAAAfAQAAGgAAAAAAAAABAAAAAACeDwAAdW5pdmVyc2FsL2kxOG5fcHJlc2V0cy54bWxQSwECAAAUAAIACAD7or9MsO1dV24AAAB2AAAAHAAAAAAAAAABAAAAAACAEAAAdW5pdmVyc2FsL2xvY2FsX3NldHRpbmdzLnhtbFBLAQIAABQAAgAIAIOZ9UTOggk37AIAAIgIAAAUAAAAAAAAAAEAAAAAACgRAAB1bml2ZXJzYWwvcGxheWVyLnhtbFBLAQIAABQAAgAIAPuiv0wXqeFBbwEAAPsCAAApAAAAAAAAAAEAAAAAAEYUAAB1bml2ZXJzYWwvc2tpbl9jdXN0b21pemF0aW9uX3NldHRpbmdzLnhtbFBLAQIAABQAAgAIAPyiv0xjf/ZOOgsAAGggAAAXAAAAAAAAAAAAAAAAAPwVAAB1bml2ZXJzYWwvdW5pdmVyc2FsLnBuZ1BLAQIAABQAAgAIAPyiv0zSKKBSSgAAAGsAAAAbAAAAAAAAAAEAAAAAAGshAAB1bml2ZXJzYWwvdW5pdmVyc2FsLnBuZy54bWxQSwUGAAAAAAsACwBJAwAA7iEAAAAA"/>
  <p:tag name="ISPRING_PRESENTATION_TITLE" val="2018工作总结-09（半年度）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0.6|0.5|0.9|0.6|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|0.3|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3|0.5|0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25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5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rgbClr val="000000"/>
      </a:dk1>
      <a:lt1>
        <a:sysClr val="window" lastClr="FFFFFF"/>
      </a:lt1>
      <a:dk2>
        <a:srgbClr val="5B5149"/>
      </a:dk2>
      <a:lt2>
        <a:srgbClr val="5269B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7713</TotalTime>
  <Words>4332</Words>
  <Application>Microsoft Office PowerPoint</Application>
  <PresentationFormat>自定义</PresentationFormat>
  <Paragraphs>595</Paragraphs>
  <Slides>58</Slides>
  <Notes>58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0" baseType="lpstr">
      <vt:lpstr>Office 主题​​</vt:lpstr>
      <vt:lpstr>Visio</vt:lpstr>
      <vt:lpstr>PowerPoint 演示文稿</vt:lpstr>
      <vt:lpstr>PowerPoint 演示文稿</vt:lpstr>
      <vt:lpstr>PowerPoint 演示文稿</vt:lpstr>
      <vt:lpstr>1.1  搜索引擎</vt:lpstr>
      <vt:lpstr>1.2  搜索引擎面临的挑战</vt:lpstr>
      <vt:lpstr>1.2  搜索引擎面临的挑战</vt:lpstr>
      <vt:lpstr>1.3  核心问题</vt:lpstr>
      <vt:lpstr>PowerPoint 演示文稿</vt:lpstr>
      <vt:lpstr>相关工作与背景简述</vt:lpstr>
      <vt:lpstr>2.1  索引结构（倒排索引）</vt:lpstr>
      <vt:lpstr>2.1  索引结构（倒排索引）</vt:lpstr>
      <vt:lpstr>2.1  索引结构（倒排索引）</vt:lpstr>
      <vt:lpstr>2.1  索引结构（签名文件）</vt:lpstr>
      <vt:lpstr>2.2  经典压缩方案（编码压缩）</vt:lpstr>
      <vt:lpstr>2.2  经典压缩方案（编码压缩）</vt:lpstr>
      <vt:lpstr>2.2  经典压缩方案（编码压缩）</vt:lpstr>
      <vt:lpstr>2.2  经典压缩方案（文法压缩）</vt:lpstr>
      <vt:lpstr>2.3  文档召回计算</vt:lpstr>
      <vt:lpstr>PowerPoint 演示文稿</vt:lpstr>
      <vt:lpstr>SSD平台上的搜索引擎架构优化</vt:lpstr>
      <vt:lpstr>SSD平台上的搜索引擎架构优化</vt:lpstr>
      <vt:lpstr>SSD对搜索引擎存储系统的影响 – 搜索引擎基本架构</vt:lpstr>
      <vt:lpstr>SSD的特点 – SSD与HDD的对比</vt:lpstr>
      <vt:lpstr>SSD的特点 – SSD与HDD的对比</vt:lpstr>
      <vt:lpstr>SSD对搜索引擎存储系统的影响—Index server</vt:lpstr>
      <vt:lpstr>SSD对搜索引擎存储系统的影响—Index server</vt:lpstr>
      <vt:lpstr>SSD对搜索引擎存储系统的影响—Doc sever</vt:lpstr>
      <vt:lpstr>SSD对搜索引擎存储系统的影响— Doc sever</vt:lpstr>
      <vt:lpstr>SSD对搜索引擎存储系统的影响— Doc sever</vt:lpstr>
      <vt:lpstr>SSD对搜索引擎存储系统的影响— Web server</vt:lpstr>
      <vt:lpstr>目录</vt:lpstr>
      <vt:lpstr>目录</vt:lpstr>
      <vt:lpstr>对基于SSD的搜索引擎系统的优化-缓存替换算法优化</vt:lpstr>
      <vt:lpstr>缓存替换算法优化</vt:lpstr>
      <vt:lpstr>缓存替换算法优化</vt:lpstr>
      <vt:lpstr>缓存替换算法优化</vt:lpstr>
      <vt:lpstr>目录</vt:lpstr>
      <vt:lpstr>缓存数据结构优化</vt:lpstr>
      <vt:lpstr>缓存数据结构优化——摘要的紧缩式缓存方法 </vt:lpstr>
      <vt:lpstr>缓存数据结构优化</vt:lpstr>
      <vt:lpstr>缓存数据结构优化</vt:lpstr>
      <vt:lpstr>缓存数据结构优化</vt:lpstr>
      <vt:lpstr>缓存数据结构优化</vt:lpstr>
      <vt:lpstr>缓存数据结构优化</vt:lpstr>
      <vt:lpstr>缓存数据结构优化——文档的紧缩式缓存方法</vt:lpstr>
      <vt:lpstr>缓存数据结构优化</vt:lpstr>
      <vt:lpstr>缓存数据结构优化</vt:lpstr>
      <vt:lpstr>PowerPoint 演示文稿</vt:lpstr>
      <vt:lpstr>搜索引擎面临问题</vt:lpstr>
      <vt:lpstr>直接迁移的局限性</vt:lpstr>
      <vt:lpstr>流水线方案执行过程</vt:lpstr>
      <vt:lpstr>流水线方案执行过程</vt:lpstr>
      <vt:lpstr>流水线方案存在问题</vt:lpstr>
      <vt:lpstr>变长读取块</vt:lpstr>
      <vt:lpstr>查询数据预取</vt:lpstr>
      <vt:lpstr>读取块跳过</vt:lpstr>
      <vt:lpstr>实验效果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2018工作总结-09（半年度）</dc:title>
  <dc:creator>Yume</dc:creator>
  <cp:lastModifiedBy>Dell</cp:lastModifiedBy>
  <cp:revision>705</cp:revision>
  <dcterms:created xsi:type="dcterms:W3CDTF">2015-01-11T03:03:37Z</dcterms:created>
  <dcterms:modified xsi:type="dcterms:W3CDTF">2019-10-30T02:43:55Z</dcterms:modified>
</cp:coreProperties>
</file>