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257" r:id="rId2"/>
    <p:sldId id="336" r:id="rId3"/>
    <p:sldId id="337" r:id="rId4"/>
    <p:sldId id="338" r:id="rId5"/>
    <p:sldId id="339" r:id="rId6"/>
    <p:sldId id="340" r:id="rId7"/>
    <p:sldId id="360" r:id="rId8"/>
    <p:sldId id="341" r:id="rId9"/>
    <p:sldId id="353" r:id="rId10"/>
    <p:sldId id="344" r:id="rId11"/>
    <p:sldId id="345" r:id="rId12"/>
    <p:sldId id="347" r:id="rId13"/>
    <p:sldId id="346" r:id="rId14"/>
    <p:sldId id="348" r:id="rId15"/>
    <p:sldId id="351" r:id="rId16"/>
    <p:sldId id="354" r:id="rId17"/>
    <p:sldId id="355" r:id="rId18"/>
    <p:sldId id="356" r:id="rId19"/>
    <p:sldId id="350" r:id="rId20"/>
    <p:sldId id="349" r:id="rId21"/>
    <p:sldId id="358" r:id="rId22"/>
    <p:sldId id="357" r:id="rId23"/>
    <p:sldId id="365" r:id="rId24"/>
    <p:sldId id="342" r:id="rId25"/>
    <p:sldId id="343" r:id="rId26"/>
    <p:sldId id="366" r:id="rId27"/>
    <p:sldId id="359" r:id="rId28"/>
    <p:sldId id="361" r:id="rId29"/>
    <p:sldId id="367" r:id="rId30"/>
    <p:sldId id="362" r:id="rId31"/>
    <p:sldId id="368" r:id="rId32"/>
    <p:sldId id="372" r:id="rId33"/>
    <p:sldId id="373" r:id="rId34"/>
    <p:sldId id="363" r:id="rId35"/>
    <p:sldId id="369" r:id="rId36"/>
    <p:sldId id="370" r:id="rId37"/>
    <p:sldId id="371" r:id="rId38"/>
    <p:sldId id="364" r:id="rId3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B865D58-E22B-4013-BB51-1C3DA57CB72A}">
          <p14:sldIdLst>
            <p14:sldId id="257"/>
            <p14:sldId id="336"/>
            <p14:sldId id="337"/>
            <p14:sldId id="338"/>
            <p14:sldId id="339"/>
            <p14:sldId id="340"/>
            <p14:sldId id="360"/>
            <p14:sldId id="341"/>
            <p14:sldId id="353"/>
            <p14:sldId id="344"/>
            <p14:sldId id="345"/>
            <p14:sldId id="347"/>
            <p14:sldId id="346"/>
            <p14:sldId id="348"/>
            <p14:sldId id="351"/>
            <p14:sldId id="354"/>
            <p14:sldId id="355"/>
            <p14:sldId id="356"/>
            <p14:sldId id="350"/>
            <p14:sldId id="349"/>
            <p14:sldId id="358"/>
            <p14:sldId id="357"/>
            <p14:sldId id="365"/>
            <p14:sldId id="342"/>
            <p14:sldId id="343"/>
            <p14:sldId id="366"/>
            <p14:sldId id="359"/>
            <p14:sldId id="361"/>
            <p14:sldId id="367"/>
            <p14:sldId id="362"/>
            <p14:sldId id="368"/>
            <p14:sldId id="372"/>
            <p14:sldId id="373"/>
            <p14:sldId id="363"/>
            <p14:sldId id="369"/>
            <p14:sldId id="370"/>
            <p14:sldId id="371"/>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A1DA"/>
    <a:srgbClr val="FF9900"/>
    <a:srgbClr val="CCFF33"/>
    <a:srgbClr val="FFFF66"/>
    <a:srgbClr val="FFFF99"/>
    <a:srgbClr val="FFBDEE"/>
    <a:srgbClr val="92D050"/>
    <a:srgbClr val="00CC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9" autoAdjust="0"/>
    <p:restoredTop sz="68015" autoAdjust="0"/>
  </p:normalViewPr>
  <p:slideViewPr>
    <p:cSldViewPr snapToGrid="0">
      <p:cViewPr>
        <p:scale>
          <a:sx n="57" d="100"/>
          <a:sy n="57" d="100"/>
        </p:scale>
        <p:origin x="1764" y="-126"/>
      </p:cViewPr>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3BEAB1-8DC0-4F2E-AF14-FEBD558D05A9}" type="datetimeFigureOut">
              <a:rPr lang="zh-CN" altLang="en-US" smtClean="0"/>
              <a:t>2018/10/7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D1A86A-BDC6-47C2-8B4C-E7F8713919F0}"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09818-BA30-406B-87BA-BE794D4C9257}" type="datetimeFigureOut">
              <a:rPr lang="zh-CN" altLang="en-US" smtClean="0"/>
              <a:t>2018/10/7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B2870-F9FE-472D-85DD-A20DBA6C0993}"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14:hiddenLine>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eaLnBrk="1" hangingPunct="1"/>
            <a:fld id="{5C2914B7-2629-43B4-B629-CA08FEEA3355}" type="slidenum">
              <a:rPr lang="en-US" altLang="zh-CN">
                <a:solidFill>
                  <a:srgbClr val="000000"/>
                </a:solidFill>
              </a:rPr>
              <a:t>1</a:t>
            </a:fld>
            <a:endParaRPr lang="en-US" altLang="zh-CN">
              <a:solidFill>
                <a:srgbClr val="000000"/>
              </a:solidFill>
            </a:endParaRPr>
          </a:p>
        </p:txBody>
      </p:sp>
      <p:sp>
        <p:nvSpPr>
          <p:cNvPr id="34819" name="Text Box 1"/>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r" defTabSz="457200" eaLnBrk="1" fontAlgn="base" hangingPunct="1">
              <a:spcBef>
                <a:spcPct val="0"/>
              </a:spcBef>
              <a:spcAft>
                <a:spcPct val="0"/>
              </a:spcAft>
              <a:buSzPct val="100000"/>
            </a:pPr>
            <a:fld id="{D8591A12-FA87-4748-BE66-B1F3FA81CC0C}" type="slidenum">
              <a:rPr lang="en-US" altLang="zh-CN" sz="1200">
                <a:solidFill>
                  <a:srgbClr val="000000"/>
                </a:solidFill>
              </a:rPr>
              <a:t>1</a:t>
            </a:fld>
            <a:endParaRPr lang="en-US" altLang="zh-CN" sz="1200">
              <a:solidFill>
                <a:srgbClr val="000000"/>
              </a:solidFill>
            </a:endParaRPr>
          </a:p>
        </p:txBody>
      </p:sp>
      <p:sp>
        <p:nvSpPr>
          <p:cNvPr id="34820" name="Rectangle 2"/>
          <p:cNvSpPr>
            <a:spLocks noGrp="1" noRot="1" noChangeAspect="1" noChangeArrowheads="1" noTextEdit="1"/>
          </p:cNvSpPr>
          <p:nvPr>
            <p:ph type="sldImg"/>
          </p:nvPr>
        </p:nvSpPr>
        <p:spPr>
          <a:xfrm>
            <a:off x="1143000" y="685800"/>
            <a:ext cx="4572000" cy="3429000"/>
          </a:xfrm>
          <a:solidFill>
            <a:srgbClr val="FFFFFF"/>
          </a:solidFill>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1"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57200" fontAlgn="base">
              <a:spcBef>
                <a:spcPct val="0"/>
              </a:spcBef>
              <a:spcAft>
                <a:spcPct val="0"/>
              </a:spcAft>
              <a:buClr>
                <a:srgbClr val="000000"/>
              </a:buClr>
              <a:buSzPct val="100000"/>
              <a:buFont typeface="Times New Roman" panose="02020603050405020304" pitchFamily="16" charset="0"/>
              <a:buNone/>
            </a:pPr>
            <a:endParaRPr lang="zh-CN" altLang="en-US">
              <a:solidFill>
                <a:srgbClr val="FFFFFF"/>
              </a:solidFill>
              <a:latin typeface="Arial" panose="020B0604020202020204" pitchFamily="34" charset="0"/>
            </a:endParaRPr>
          </a:p>
        </p:txBody>
      </p:sp>
      <p:sp>
        <p:nvSpPr>
          <p:cNvPr id="2" name="备注占位符 1"/>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要介绍的内容包括三部分，首先是分布式系统的相关概念，包括集中式和分布式系统的对比，</a:t>
            </a:r>
            <a:r>
              <a:rPr lang="en-US" altLang="zh-CN" dirty="0" smtClean="0"/>
              <a:t>CAP</a:t>
            </a:r>
            <a:r>
              <a:rPr lang="zh-CN" altLang="en-US" dirty="0" smtClean="0"/>
              <a:t>理论及共识机制，</a:t>
            </a:r>
            <a:endParaRPr lang="en-US" altLang="zh-CN" dirty="0" smtClean="0"/>
          </a:p>
          <a:p>
            <a:r>
              <a:rPr lang="zh-CN" altLang="en-US" dirty="0" smtClean="0"/>
              <a:t>然后详细介绍</a:t>
            </a:r>
            <a:r>
              <a:rPr lang="en-US" altLang="zh-CN" dirty="0" err="1" smtClean="0"/>
              <a:t>Paxos</a:t>
            </a:r>
            <a:r>
              <a:rPr lang="zh-CN" altLang="en-US" dirty="0" smtClean="0"/>
              <a:t>算法及其推导过程</a:t>
            </a:r>
            <a:endParaRPr lang="en-US" altLang="zh-CN" dirty="0" smtClean="0"/>
          </a:p>
          <a:p>
            <a:r>
              <a:rPr lang="zh-CN" altLang="en-US" dirty="0" smtClean="0"/>
              <a:t>最后介绍一下区块链中几种最典型的共识机制，</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a:t>
            </a:fld>
            <a:endParaRPr lang="zh-CN" altLang="en-US"/>
          </a:p>
        </p:txBody>
      </p:sp>
    </p:spTree>
    <p:extLst>
      <p:ext uri="{BB962C8B-B14F-4D97-AF65-F5344CB8AC3E}">
        <p14:creationId xmlns:p14="http://schemas.microsoft.com/office/powerpoint/2010/main" val="3265188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谓集中式系统是由一台或者多台主机组成中心节点，这个中心节点集中处理所有的业务单元，负责所有的数据存储、运算，为用户终端提供服务，而终端只负责数据的输入输出。集中式系统中的中心节点一般是大型主机，部署起来比较简单，容易备份，但是中央计算机的压力很大，当终端很多时，用户需求不同，响应速度会很慢，而且容易造成单点故障。</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a:t>
            </a:fld>
            <a:endParaRPr lang="zh-CN" altLang="en-US"/>
          </a:p>
        </p:txBody>
      </p:sp>
    </p:spTree>
    <p:extLst>
      <p:ext uri="{BB962C8B-B14F-4D97-AF65-F5344CB8AC3E}">
        <p14:creationId xmlns:p14="http://schemas.microsoft.com/office/powerpoint/2010/main" val="3601430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什么是分布式系统呢？</a:t>
            </a:r>
            <a:r>
              <a:rPr lang="en-US" altLang="zh-CN" dirty="0" smtClean="0"/>
              <a:t>《</a:t>
            </a:r>
            <a:r>
              <a:rPr lang="zh-CN" altLang="en-US" dirty="0" smtClean="0"/>
              <a:t>分布式系统概念与设计</a:t>
            </a:r>
            <a:r>
              <a:rPr lang="en-US" altLang="zh-CN" dirty="0" smtClean="0"/>
              <a:t>》</a:t>
            </a:r>
            <a:r>
              <a:rPr lang="zh-CN" altLang="en-US" dirty="0" smtClean="0"/>
              <a:t>第五版中给出了这样的定义，位于联网计算机上的硬件或软件组件，通过传递消息进行通信和协调系统行为。</a:t>
            </a:r>
            <a:endParaRPr lang="en-US" altLang="zh-CN" dirty="0" smtClean="0"/>
          </a:p>
          <a:p>
            <a:pPr marL="0" indent="0">
              <a:buFont typeface="+mj-lt"/>
              <a:buNone/>
            </a:pPr>
            <a:r>
              <a:rPr lang="zh-CN" altLang="en-US" dirty="0" smtClean="0"/>
              <a:t>一个分布式系统的数据存储，任务处理分布在网络中不同的计算机上，计算机在空间上任意部署，可能在不同的机房中，也可能在不同的城市中，通过网络进行消息传递。但是在用户看起来就像是一台计算机在为自己提供服务。</a:t>
            </a:r>
            <a:endParaRPr lang="en-US" altLang="zh-CN" dirty="0" smtClean="0"/>
          </a:p>
          <a:p>
            <a:pPr marL="0" indent="0">
              <a:buFont typeface="+mj-lt"/>
              <a:buNone/>
            </a:pPr>
            <a:r>
              <a:rPr lang="zh-CN" altLang="en-US" dirty="0" smtClean="0"/>
              <a:t>也就是说分布式系统在物理上是分散的，但在逻辑上是统一的。</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4</a:t>
            </a:fld>
            <a:endParaRPr lang="zh-CN" altLang="en-US"/>
          </a:p>
        </p:txBody>
      </p:sp>
    </p:spTree>
    <p:extLst>
      <p:ext uri="{BB962C8B-B14F-4D97-AF65-F5344CB8AC3E}">
        <p14:creationId xmlns:p14="http://schemas.microsoft.com/office/powerpoint/2010/main" val="1052925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CAP</a:t>
            </a:r>
            <a:r>
              <a:rPr lang="zh-CN" altLang="en-US" dirty="0" smtClean="0"/>
              <a:t>理论是分布式系统领域的一个重要原理，</a:t>
            </a:r>
            <a:endParaRPr lang="en-US" altLang="zh-CN" dirty="0" smtClean="0"/>
          </a:p>
          <a:p>
            <a:r>
              <a:rPr lang="en-US" altLang="zh-CN" dirty="0" smtClean="0"/>
              <a:t>C</a:t>
            </a:r>
            <a:r>
              <a:rPr lang="zh-CN" altLang="en-US" dirty="0" smtClean="0"/>
              <a:t>指的是一致性，即所有节点在同一时间看到的数据是一致的，比如往节点</a:t>
            </a:r>
            <a:r>
              <a:rPr lang="en-US" altLang="zh-CN" dirty="0" smtClean="0"/>
              <a:t>A</a:t>
            </a:r>
            <a:r>
              <a:rPr lang="zh-CN" altLang="en-US" dirty="0" smtClean="0"/>
              <a:t>完成数据写入以后，节点</a:t>
            </a:r>
            <a:r>
              <a:rPr lang="en-US" altLang="zh-CN" dirty="0" smtClean="0"/>
              <a:t>B</a:t>
            </a:r>
            <a:r>
              <a:rPr lang="zh-CN" altLang="en-US" dirty="0" smtClean="0"/>
              <a:t>则能够读取到最新数据。</a:t>
            </a:r>
            <a:endParaRPr lang="en-US" altLang="zh-CN" dirty="0" smtClean="0"/>
          </a:p>
          <a:p>
            <a:r>
              <a:rPr lang="en-US" altLang="zh-CN" dirty="0" smtClean="0"/>
              <a:t>A</a:t>
            </a:r>
            <a:r>
              <a:rPr lang="zh-CN" altLang="en-US" dirty="0" smtClean="0"/>
              <a:t>指的可用性，要求在有限的时间内，任意非失败的节点都能应答请求。</a:t>
            </a:r>
            <a:endParaRPr lang="en-US" altLang="zh-CN" dirty="0" smtClean="0"/>
          </a:p>
          <a:p>
            <a:r>
              <a:rPr lang="en-US" altLang="zh-CN" dirty="0" smtClean="0"/>
              <a:t>P</a:t>
            </a:r>
            <a:r>
              <a:rPr lang="zh-CN" altLang="en-US" dirty="0" smtClean="0"/>
              <a:t>是指分区容忍性，指的是出现信息丢失，网络或者节点失败的情况下，系统仍然可以运作。</a:t>
            </a:r>
            <a:endParaRPr lang="en-US" altLang="zh-CN" dirty="0" smtClean="0"/>
          </a:p>
          <a:p>
            <a:r>
              <a:rPr lang="en-US" altLang="zh-CN" dirty="0" smtClean="0"/>
              <a:t>CAP</a:t>
            </a:r>
            <a:r>
              <a:rPr lang="zh-CN" altLang="en-US" dirty="0" smtClean="0"/>
              <a:t>理论表明，同时达到</a:t>
            </a:r>
            <a:r>
              <a:rPr lang="en-US" altLang="zh-CN" dirty="0" smtClean="0"/>
              <a:t>3</a:t>
            </a:r>
            <a:r>
              <a:rPr lang="zh-CN" altLang="en-US" dirty="0" smtClean="0"/>
              <a:t>种要求的分布式系统是不存在的，</a:t>
            </a:r>
            <a:r>
              <a:rPr lang="en-US" altLang="zh-CN" dirty="0" smtClean="0"/>
              <a:t>CP</a:t>
            </a:r>
            <a:r>
              <a:rPr lang="zh-CN" altLang="en-US" dirty="0" smtClean="0"/>
              <a:t>系统中就应用了我们接下来要讲的</a:t>
            </a:r>
            <a:r>
              <a:rPr lang="en-US" altLang="zh-CN" dirty="0" err="1" smtClean="0"/>
              <a:t>Paxos</a:t>
            </a:r>
            <a:r>
              <a:rPr lang="zh-CN" altLang="en-US" dirty="0" smtClean="0"/>
              <a:t>算法</a:t>
            </a:r>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5</a:t>
            </a:fld>
            <a:endParaRPr lang="zh-CN" altLang="en-US"/>
          </a:p>
        </p:txBody>
      </p:sp>
    </p:spTree>
    <p:extLst>
      <p:ext uri="{BB962C8B-B14F-4D97-AF65-F5344CB8AC3E}">
        <p14:creationId xmlns:p14="http://schemas.microsoft.com/office/powerpoint/2010/main" val="3295941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简单的说，共识机制指的是多方（人或者系统）达成一致的过程</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共识机制分为拜占庭机制和非拜占庭机制。</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拜占庭问题最初描述的是， 一个强大的拜占庭帝国，</a:t>
            </a:r>
            <a:r>
              <a:rPr lang="zh-CN" altLang="en-US" sz="1200" b="0" i="0" kern="1200" dirty="0" smtClean="0">
                <a:solidFill>
                  <a:schemeClr val="tx1"/>
                </a:solidFill>
                <a:effectLst/>
                <a:latin typeface="+mn-lt"/>
                <a:ea typeface="+mn-ea"/>
                <a:cs typeface="+mn-cs"/>
              </a:rPr>
              <a:t>现在</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个</a:t>
            </a:r>
            <a:r>
              <a:rPr lang="zh-CN" altLang="en-US" sz="1200" b="0" i="0" kern="1200" dirty="0" smtClean="0">
                <a:solidFill>
                  <a:schemeClr val="tx1"/>
                </a:solidFill>
                <a:effectLst/>
                <a:latin typeface="+mn-lt"/>
                <a:ea typeface="+mn-ea"/>
                <a:cs typeface="+mn-cs"/>
              </a:rPr>
              <a:t>分隔在不同地方的将军达成共识想要一起去攻打它，但是</a:t>
            </a:r>
            <a:r>
              <a:rPr lang="zh-CN" altLang="en-US" sz="1200" b="0" i="0" kern="1200" dirty="0" smtClean="0">
                <a:solidFill>
                  <a:schemeClr val="tx1"/>
                </a:solidFill>
                <a:effectLst/>
                <a:latin typeface="+mn-lt"/>
                <a:ea typeface="+mn-ea"/>
                <a:cs typeface="+mn-cs"/>
              </a:rPr>
              <a:t>只有</a:t>
            </a:r>
            <a:r>
              <a:rPr lang="en-US" altLang="zh-CN" sz="1200" b="0" i="0" kern="1200" dirty="0" smtClean="0">
                <a:solidFill>
                  <a:schemeClr val="tx1"/>
                </a:solidFill>
                <a:effectLst/>
                <a:latin typeface="+mn-lt"/>
                <a:ea typeface="+mn-ea"/>
                <a:cs typeface="+mn-cs"/>
              </a:rPr>
              <a:t>6</a:t>
            </a:r>
            <a:r>
              <a:rPr lang="zh-CN" altLang="en-US" sz="1200" b="0" i="0" kern="1200" dirty="0" smtClean="0">
                <a:solidFill>
                  <a:schemeClr val="tx1"/>
                </a:solidFill>
                <a:effectLst/>
                <a:latin typeface="+mn-lt"/>
                <a:ea typeface="+mn-ea"/>
                <a:cs typeface="+mn-cs"/>
              </a:rPr>
              <a:t>个及以上</a:t>
            </a:r>
            <a:r>
              <a:rPr lang="zh-CN" altLang="en-US" sz="1200" b="0" i="0" kern="1200" dirty="0" smtClean="0">
                <a:solidFill>
                  <a:schemeClr val="tx1"/>
                </a:solidFill>
                <a:effectLst/>
                <a:latin typeface="+mn-lt"/>
                <a:ea typeface="+mn-ea"/>
                <a:cs typeface="+mn-cs"/>
              </a:rPr>
              <a:t>一起攻打才能获得成功。但是这些将军中可能会存在叛徒</a:t>
            </a:r>
            <a:r>
              <a:rPr lang="zh-CN" altLang="en-US" sz="1200" b="0" i="0" kern="1200" dirty="0" smtClean="0">
                <a:solidFill>
                  <a:schemeClr val="tx1"/>
                </a:solidFill>
                <a:effectLst/>
                <a:latin typeface="+mn-lt"/>
                <a:ea typeface="+mn-ea"/>
                <a:cs typeface="+mn-cs"/>
              </a:rPr>
              <a:t>，比如发送</a:t>
            </a:r>
            <a:r>
              <a:rPr lang="zh-CN" altLang="en-US" sz="1200" b="0" i="0" kern="1200" dirty="0" smtClean="0">
                <a:solidFill>
                  <a:schemeClr val="tx1"/>
                </a:solidFill>
                <a:effectLst/>
                <a:latin typeface="+mn-lt"/>
                <a:ea typeface="+mn-ea"/>
                <a:cs typeface="+mn-cs"/>
              </a:rPr>
              <a:t>一些错误的消息阻挠忠诚的将军达成一致，也就是分布式系统中可能存在作恶的节点，比如传递假消息</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之后我们会介绍一些区块链中解决拜占庭问题的几种主流算法</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非拜占庭问题指的是分布式系统中的每个节点都是忠诚的，只存在宕机的情况。著名的算法就是</a:t>
            </a:r>
            <a:r>
              <a:rPr lang="en-US" altLang="zh-CN" sz="1200" b="0" i="0" kern="1200" dirty="0" err="1" smtClean="0">
                <a:solidFill>
                  <a:schemeClr val="tx1"/>
                </a:solidFill>
                <a:effectLst/>
                <a:latin typeface="+mn-lt"/>
                <a:ea typeface="+mn-ea"/>
                <a:cs typeface="+mn-cs"/>
              </a:rPr>
              <a:t>Paxos</a:t>
            </a:r>
            <a:r>
              <a:rPr lang="zh-CN" altLang="en-US" sz="1200" b="0" i="0" kern="1200" dirty="0" smtClean="0">
                <a:solidFill>
                  <a:schemeClr val="tx1"/>
                </a:solidFill>
                <a:effectLst/>
                <a:latin typeface="+mn-lt"/>
                <a:ea typeface="+mn-ea"/>
                <a:cs typeface="+mn-cs"/>
              </a:rPr>
              <a:t>算法和</a:t>
            </a:r>
            <a:r>
              <a:rPr lang="en-US" altLang="zh-CN" sz="1200" b="0" i="0" kern="1200" dirty="0" smtClean="0">
                <a:solidFill>
                  <a:schemeClr val="tx1"/>
                </a:solidFill>
                <a:effectLst/>
                <a:latin typeface="+mn-lt"/>
                <a:ea typeface="+mn-ea"/>
                <a:cs typeface="+mn-cs"/>
              </a:rPr>
              <a:t>Raft</a:t>
            </a:r>
            <a:r>
              <a:rPr lang="zh-CN" altLang="en-US" sz="1200" b="0" i="0" kern="1200" dirty="0" smtClean="0">
                <a:solidFill>
                  <a:schemeClr val="tx1"/>
                </a:solidFill>
                <a:effectLst/>
                <a:latin typeface="+mn-lt"/>
                <a:ea typeface="+mn-ea"/>
                <a:cs typeface="+mn-cs"/>
              </a:rPr>
              <a:t>算法，下面我们将详细介绍一下</a:t>
            </a:r>
            <a:r>
              <a:rPr lang="en-US" altLang="zh-CN" sz="1200" b="0" i="0" kern="1200" dirty="0" err="1" smtClean="0">
                <a:solidFill>
                  <a:schemeClr val="tx1"/>
                </a:solidFill>
                <a:effectLst/>
                <a:latin typeface="+mn-lt"/>
                <a:ea typeface="+mn-ea"/>
                <a:cs typeface="+mn-cs"/>
              </a:rPr>
              <a:t>Paxos</a:t>
            </a:r>
            <a:r>
              <a:rPr lang="zh-CN" altLang="en-US" sz="1200" b="0" i="0" kern="1200" dirty="0" smtClean="0">
                <a:solidFill>
                  <a:schemeClr val="tx1"/>
                </a:solidFill>
                <a:effectLst/>
                <a:latin typeface="+mn-lt"/>
                <a:ea typeface="+mn-ea"/>
                <a:cs typeface="+mn-cs"/>
              </a:rPr>
              <a:t>算法。</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0CB2870-F9FE-472D-85DD-A20DBA6C0993}" type="slidenum">
              <a:rPr lang="zh-CN" altLang="en-US" smtClean="0"/>
              <a:t>6</a:t>
            </a:fld>
            <a:endParaRPr lang="zh-CN" altLang="en-US"/>
          </a:p>
        </p:txBody>
      </p:sp>
    </p:spTree>
    <p:extLst>
      <p:ext uri="{BB962C8B-B14F-4D97-AF65-F5344CB8AC3E}">
        <p14:creationId xmlns:p14="http://schemas.microsoft.com/office/powerpoint/2010/main" val="3021809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Paxos</a:t>
            </a:r>
            <a:r>
              <a:rPr lang="zh-CN" altLang="en-US" dirty="0" smtClean="0"/>
              <a:t>算法最开始是由莱斯利 兰伯特</a:t>
            </a:r>
            <a:r>
              <a:rPr lang="en-US" altLang="zh-CN" dirty="0" smtClean="0"/>
              <a:t>,</a:t>
            </a:r>
            <a:r>
              <a:rPr lang="zh-CN" altLang="en-US" dirty="0" smtClean="0"/>
              <a:t>也就是</a:t>
            </a:r>
            <a:r>
              <a:rPr lang="en-US" altLang="zh-CN" dirty="0" smtClean="0"/>
              <a:t>latex</a:t>
            </a:r>
            <a:r>
              <a:rPr lang="zh-CN" altLang="en-US" dirty="0" smtClean="0"/>
              <a:t>中的</a:t>
            </a:r>
            <a:r>
              <a:rPr lang="en-US" altLang="zh-CN" dirty="0" smtClean="0"/>
              <a:t>la, </a:t>
            </a:r>
            <a:r>
              <a:rPr lang="zh-CN" altLang="en-US" dirty="0" smtClean="0"/>
              <a:t>提出的一种基于消息传递并且具有高度容错特性的一致性算法。</a:t>
            </a:r>
            <a:endParaRPr lang="en-US" altLang="zh-CN" dirty="0" smtClean="0"/>
          </a:p>
          <a:p>
            <a:r>
              <a:rPr lang="zh-CN" altLang="en-US" dirty="0" smtClean="0"/>
              <a:t>他最开始写的文章是</a:t>
            </a:r>
            <a:r>
              <a:rPr lang="en-US" altLang="zh-CN" dirty="0" smtClean="0"/>
              <a:t>《The</a:t>
            </a:r>
            <a:r>
              <a:rPr lang="en-US" altLang="zh-CN" baseline="0" dirty="0" smtClean="0"/>
              <a:t> part-Time </a:t>
            </a:r>
            <a:r>
              <a:rPr lang="en-US" altLang="zh-CN" baseline="0" dirty="0" err="1" smtClean="0"/>
              <a:t>Parliment</a:t>
            </a:r>
            <a:r>
              <a:rPr lang="en-US" altLang="zh-CN" dirty="0" smtClean="0"/>
              <a:t>》</a:t>
            </a:r>
            <a:r>
              <a:rPr lang="zh-CN" altLang="en-US" dirty="0" smtClean="0"/>
              <a:t>，在这篇文章中虚拟了一个</a:t>
            </a:r>
            <a:r>
              <a:rPr lang="en-US" altLang="zh-CN" dirty="0" err="1" smtClean="0"/>
              <a:t>Paxos</a:t>
            </a:r>
            <a:r>
              <a:rPr lang="zh-CN" altLang="en-US" dirty="0" smtClean="0"/>
              <a:t>的希腊城邦，岛上的居民采用议会的形式制定法律，但是没人愿意将自己的全部精力都放在议会上。所以要保证在立法者不断进入</a:t>
            </a:r>
            <a:r>
              <a:rPr lang="en-US" altLang="zh-CN" dirty="0" smtClean="0"/>
              <a:t>/</a:t>
            </a:r>
            <a:r>
              <a:rPr lang="zh-CN" altLang="en-US" dirty="0" smtClean="0"/>
              <a:t>进出的情况下保证议会能正常运作。</a:t>
            </a:r>
            <a:endParaRPr lang="en-US" altLang="zh-CN" dirty="0" smtClean="0"/>
          </a:p>
          <a:p>
            <a:r>
              <a:rPr lang="zh-CN" altLang="en-US" sz="1200" b="0" i="0" kern="1200" dirty="0" smtClean="0">
                <a:solidFill>
                  <a:schemeClr val="tx1"/>
                </a:solidFill>
                <a:effectLst/>
                <a:latin typeface="+mn-lt"/>
                <a:ea typeface="+mn-ea"/>
                <a:cs typeface="+mn-cs"/>
              </a:rPr>
              <a:t>这种形式的议会对应于容错式分布系统，立法者代表进程，他们离开议会则对应进程的失败</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但大家都表示这个文章晦涩难懂，</a:t>
            </a:r>
            <a:r>
              <a:rPr lang="en-US" altLang="zh-CN" sz="1200" b="0" i="0" kern="1200" dirty="0" err="1" smtClean="0">
                <a:solidFill>
                  <a:schemeClr val="tx1"/>
                </a:solidFill>
                <a:effectLst/>
                <a:latin typeface="+mn-lt"/>
                <a:ea typeface="+mn-ea"/>
                <a:cs typeface="+mn-cs"/>
              </a:rPr>
              <a:t>Lamport</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觉得同行无法接受他的幽默感，于是用容易接受的方法重新表述了一遍，在</a:t>
            </a:r>
            <a:r>
              <a:rPr lang="en-US" altLang="zh-CN" sz="1200" b="0" i="0" kern="1200" dirty="0" smtClean="0">
                <a:solidFill>
                  <a:schemeClr val="tx1"/>
                </a:solidFill>
                <a:effectLst/>
                <a:latin typeface="+mn-lt"/>
                <a:ea typeface="+mn-ea"/>
                <a:cs typeface="+mn-cs"/>
              </a:rPr>
              <a:t>2001</a:t>
            </a:r>
            <a:r>
              <a:rPr lang="zh-CN" altLang="en-US" sz="1200" b="0" i="0" kern="1200" dirty="0" smtClean="0">
                <a:solidFill>
                  <a:schemeClr val="tx1"/>
                </a:solidFill>
                <a:effectLst/>
                <a:latin typeface="+mn-lt"/>
                <a:ea typeface="+mn-ea"/>
                <a:cs typeface="+mn-cs"/>
              </a:rPr>
              <a:t>年写了</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Paxos</a:t>
            </a:r>
            <a:r>
              <a:rPr lang="en-US" altLang="zh-CN" sz="1200" b="0" i="0" kern="1200" dirty="0" smtClean="0">
                <a:solidFill>
                  <a:schemeClr val="tx1"/>
                </a:solidFill>
                <a:effectLst/>
                <a:latin typeface="+mn-lt"/>
                <a:ea typeface="+mn-ea"/>
                <a:cs typeface="+mn-cs"/>
              </a:rPr>
              <a:t> Made Simple》</a:t>
            </a:r>
          </a:p>
          <a:p>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与其预测未来，不如限制未来</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这个是</a:t>
            </a:r>
            <a:r>
              <a:rPr lang="en-US" altLang="zh-CN" sz="1200" b="0" i="0" kern="1200" dirty="0" err="1" smtClean="0">
                <a:solidFill>
                  <a:schemeClr val="tx1"/>
                </a:solidFill>
                <a:effectLst/>
                <a:latin typeface="+mn-lt"/>
                <a:ea typeface="+mn-ea"/>
                <a:cs typeface="+mn-cs"/>
              </a:rPr>
              <a:t>paxos</a:t>
            </a:r>
            <a:r>
              <a:rPr lang="zh-CN" altLang="en-US" sz="1200" b="0" i="0" kern="1200" dirty="0" smtClean="0">
                <a:solidFill>
                  <a:schemeClr val="tx1"/>
                </a:solidFill>
                <a:effectLst/>
                <a:latin typeface="+mn-lt"/>
                <a:ea typeface="+mn-ea"/>
                <a:cs typeface="+mn-cs"/>
              </a:rPr>
              <a:t>算法的核心思想</a:t>
            </a:r>
            <a:r>
              <a:rPr lang="en-US" altLang="zh-CN" sz="1200" b="0" i="0" kern="1200" dirty="0" smtClean="0">
                <a:solidFill>
                  <a:schemeClr val="tx1"/>
                </a:solidFill>
                <a:effectLst/>
                <a:latin typeface="+mn-lt"/>
                <a:ea typeface="+mn-ea"/>
                <a:cs typeface="+mn-cs"/>
              </a:rPr>
              <a:t>, </a:t>
            </a:r>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7</a:t>
            </a:fld>
            <a:endParaRPr lang="zh-CN" altLang="en-US"/>
          </a:p>
        </p:txBody>
      </p:sp>
    </p:spTree>
    <p:extLst>
      <p:ext uri="{BB962C8B-B14F-4D97-AF65-F5344CB8AC3E}">
        <p14:creationId xmlns:p14="http://schemas.microsoft.com/office/powerpoint/2010/main" val="3463512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下面我们来具体看一下</a:t>
            </a:r>
            <a:r>
              <a:rPr lang="en-US" altLang="zh-CN" dirty="0" err="1" smtClean="0"/>
              <a:t>paxos</a:t>
            </a:r>
            <a:r>
              <a:rPr lang="zh-CN" altLang="en-US" dirty="0" smtClean="0"/>
              <a:t>算法。</a:t>
            </a:r>
            <a:endParaRPr lang="en-US" altLang="zh-CN" dirty="0" smtClean="0"/>
          </a:p>
          <a:p>
            <a:r>
              <a:rPr lang="zh-CN" altLang="en-US" dirty="0" smtClean="0"/>
              <a:t>在常见的分布式系统中</a:t>
            </a:r>
            <a:r>
              <a:rPr lang="zh-CN" altLang="en-US" dirty="0" smtClean="0"/>
              <a:t>，通常</a:t>
            </a:r>
            <a:r>
              <a:rPr lang="zh-CN" altLang="en-US" dirty="0" smtClean="0"/>
              <a:t>会发生机器宕机或者网络异常的问题，比如消息的延迟、重复、丢失、乱序和网络分区等。</a:t>
            </a:r>
            <a:endParaRPr lang="en-US" altLang="zh-CN" dirty="0" smtClean="0"/>
          </a:p>
          <a:p>
            <a:r>
              <a:rPr lang="zh-CN" altLang="en-US" dirty="0" smtClean="0"/>
              <a:t>节点中运行着进程，假设有一组可以提出</a:t>
            </a:r>
            <a:r>
              <a:rPr lang="en-US" altLang="zh-CN" dirty="0" smtClean="0"/>
              <a:t>value</a:t>
            </a:r>
            <a:r>
              <a:rPr lang="zh-CN" altLang="en-US" dirty="0" smtClean="0"/>
              <a:t>的进程集合。</a:t>
            </a:r>
            <a:endParaRPr lang="en-US" altLang="zh-CN" dirty="0" smtClean="0"/>
          </a:p>
          <a:p>
            <a:r>
              <a:rPr lang="zh-CN" altLang="en-US" dirty="0" smtClean="0"/>
              <a:t>一致性算法要解决的问题就是在这样一个可能发生异常的分布式系统中，有多个</a:t>
            </a:r>
            <a:r>
              <a:rPr lang="en-US" altLang="zh-CN" dirty="0" smtClean="0"/>
              <a:t>value</a:t>
            </a:r>
            <a:r>
              <a:rPr lang="zh-CN" altLang="en-US" dirty="0" smtClean="0"/>
              <a:t>被提出的情况下，只有一个</a:t>
            </a:r>
            <a:r>
              <a:rPr lang="en-US" altLang="zh-CN" dirty="0" smtClean="0"/>
              <a:t>value</a:t>
            </a:r>
            <a:r>
              <a:rPr lang="zh-CN" altLang="en-US" dirty="0" smtClean="0"/>
              <a:t>能被选定。</a:t>
            </a:r>
            <a:endParaRPr lang="en-US" altLang="zh-CN" dirty="0" smtClean="0"/>
          </a:p>
          <a:p>
            <a:r>
              <a:rPr lang="zh-CN" altLang="en-US" dirty="0" smtClean="0"/>
              <a:t>也就是说进程对这个</a:t>
            </a:r>
            <a:r>
              <a:rPr lang="en-US" altLang="zh-CN" dirty="0" smtClean="0"/>
              <a:t>value</a:t>
            </a:r>
            <a:r>
              <a:rPr lang="zh-CN" altLang="en-US" dirty="0" smtClean="0"/>
              <a:t>达成了一致，保证整个系统的一致性。</a:t>
            </a:r>
            <a:endParaRPr lang="en-US" altLang="zh-CN" dirty="0" smtClean="0"/>
          </a:p>
          <a:p>
            <a:r>
              <a:rPr lang="zh-CN" altLang="en-US" dirty="0" smtClean="0"/>
              <a:t>当然，根据应用场景不同，这里的</a:t>
            </a:r>
            <a:r>
              <a:rPr lang="en-US" altLang="zh-CN" dirty="0" smtClean="0"/>
              <a:t>value</a:t>
            </a:r>
            <a:r>
              <a:rPr lang="zh-CN" altLang="en-US" dirty="0" smtClean="0"/>
              <a:t>可以指某个数，也可以代表某个日志或者命令等</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8</a:t>
            </a:fld>
            <a:endParaRPr lang="zh-CN" altLang="en-US"/>
          </a:p>
        </p:txBody>
      </p:sp>
    </p:spTree>
    <p:extLst>
      <p:ext uri="{BB962C8B-B14F-4D97-AF65-F5344CB8AC3E}">
        <p14:creationId xmlns:p14="http://schemas.microsoft.com/office/powerpoint/2010/main" val="3920511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对于一致性算法的安全性要求有以下几点：</a:t>
            </a:r>
            <a:endParaRPr lang="en-US" altLang="zh-CN" dirty="0" smtClean="0"/>
          </a:p>
          <a:p>
            <a:r>
              <a:rPr lang="zh-CN" altLang="en-US" dirty="0" smtClean="0"/>
              <a:t>第一，只有被提出来的</a:t>
            </a:r>
            <a:r>
              <a:rPr lang="en-US" altLang="zh-CN" dirty="0" smtClean="0"/>
              <a:t>value</a:t>
            </a:r>
            <a:r>
              <a:rPr lang="zh-CN" altLang="en-US" dirty="0" smtClean="0"/>
              <a:t>才能被选定</a:t>
            </a:r>
            <a:endParaRPr lang="en-US" altLang="zh-CN" dirty="0" smtClean="0"/>
          </a:p>
          <a:p>
            <a:r>
              <a:rPr lang="zh-CN" altLang="en-US" dirty="0" smtClean="0"/>
              <a:t>第二，只有一个</a:t>
            </a:r>
            <a:r>
              <a:rPr lang="en-US" altLang="zh-CN" dirty="0" smtClean="0"/>
              <a:t>value</a:t>
            </a:r>
            <a:r>
              <a:rPr lang="zh-CN" altLang="en-US" dirty="0" smtClean="0"/>
              <a:t>被选定</a:t>
            </a:r>
            <a:endParaRPr lang="en-US" altLang="zh-CN" dirty="0" smtClean="0"/>
          </a:p>
          <a:p>
            <a:r>
              <a:rPr lang="zh-CN" altLang="en-US" dirty="0" smtClean="0"/>
              <a:t>第三，如果某个进程认为某个</a:t>
            </a:r>
            <a:r>
              <a:rPr lang="en-US" altLang="zh-CN" dirty="0" smtClean="0"/>
              <a:t>value</a:t>
            </a:r>
            <a:r>
              <a:rPr lang="zh-CN" altLang="en-US" dirty="0" smtClean="0"/>
              <a:t>被选定，那么它真的被选定了</a:t>
            </a:r>
            <a:endParaRPr lang="en-US" altLang="zh-CN" dirty="0" smtClean="0"/>
          </a:p>
          <a:p>
            <a:r>
              <a:rPr lang="zh-CN" altLang="en-US" dirty="0" smtClean="0"/>
              <a:t>在异步通信和非拜占庭模式下，</a:t>
            </a:r>
            <a:endParaRPr lang="en-US" altLang="zh-CN" dirty="0" smtClean="0"/>
          </a:p>
          <a:p>
            <a:r>
              <a:rPr lang="en-US" altLang="zh-CN" dirty="0" err="1" smtClean="0"/>
              <a:t>Paxos</a:t>
            </a:r>
            <a:r>
              <a:rPr lang="zh-CN" altLang="en-US" dirty="0" smtClean="0"/>
              <a:t>算法的目标：</a:t>
            </a:r>
            <a:r>
              <a:rPr lang="zh-CN" altLang="en-US" sz="1200" b="0" i="0" kern="1200" dirty="0" smtClean="0">
                <a:solidFill>
                  <a:schemeClr val="tx1"/>
                </a:solidFill>
                <a:effectLst/>
                <a:latin typeface="+mn-lt"/>
                <a:ea typeface="+mn-ea"/>
                <a:cs typeface="+mn-cs"/>
              </a:rPr>
              <a:t>保证最终有某个被提出的</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会被选定，并且当</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被选定后，进程最终也能获取到被选定的</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9</a:t>
            </a:fld>
            <a:endParaRPr lang="zh-CN" altLang="en-US"/>
          </a:p>
        </p:txBody>
      </p:sp>
    </p:spTree>
    <p:extLst>
      <p:ext uri="{BB962C8B-B14F-4D97-AF65-F5344CB8AC3E}">
        <p14:creationId xmlns:p14="http://schemas.microsoft.com/office/powerpoint/2010/main" val="254848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a:t>
            </a:r>
            <a:r>
              <a:rPr lang="en-US" altLang="zh-CN" dirty="0" err="1" smtClean="0"/>
              <a:t>Paxos</a:t>
            </a:r>
            <a:r>
              <a:rPr lang="zh-CN" altLang="en-US" dirty="0" smtClean="0"/>
              <a:t>算法中，有个概念</a:t>
            </a:r>
            <a:r>
              <a:rPr lang="en-US" altLang="zh-CN" dirty="0" smtClean="0"/>
              <a:t>—</a:t>
            </a:r>
            <a:r>
              <a:rPr lang="zh-CN" altLang="en-US" dirty="0" smtClean="0"/>
              <a:t>提案，暂且认为提案等于</a:t>
            </a:r>
            <a:r>
              <a:rPr lang="en-US" altLang="zh-CN" dirty="0" smtClean="0"/>
              <a:t>value, </a:t>
            </a:r>
          </a:p>
          <a:p>
            <a:r>
              <a:rPr lang="zh-CN" altLang="en-US" dirty="0" smtClean="0"/>
              <a:t>有三种角色，</a:t>
            </a:r>
            <a:r>
              <a:rPr lang="en-US" altLang="zh-CN" dirty="0" smtClean="0"/>
              <a:t>Proposer</a:t>
            </a:r>
            <a:r>
              <a:rPr lang="zh-CN" altLang="en-US" dirty="0" smtClean="0"/>
              <a:t> 能够提出提案，</a:t>
            </a:r>
            <a:r>
              <a:rPr lang="en-US" altLang="zh-CN" dirty="0" smtClean="0"/>
              <a:t>Acceptor </a:t>
            </a:r>
            <a:r>
              <a:rPr lang="zh-CN" altLang="en-US" dirty="0" smtClean="0"/>
              <a:t>参与决策，回应</a:t>
            </a:r>
            <a:r>
              <a:rPr lang="en-US" altLang="zh-CN" dirty="0" smtClean="0"/>
              <a:t>proposer</a:t>
            </a:r>
            <a:r>
              <a:rPr lang="zh-CN" altLang="en-US" dirty="0" smtClean="0"/>
              <a:t>的提案，可以选择接受或者拒绝。 </a:t>
            </a:r>
            <a:r>
              <a:rPr lang="en-US" altLang="zh-CN" dirty="0" smtClean="0"/>
              <a:t>Learner</a:t>
            </a:r>
            <a:r>
              <a:rPr lang="zh-CN" altLang="en-US" dirty="0" smtClean="0"/>
              <a:t>不参与决策，他们从</a:t>
            </a:r>
            <a:r>
              <a:rPr lang="en-US" altLang="zh-CN" dirty="0" smtClean="0"/>
              <a:t>proposer</a:t>
            </a:r>
            <a:r>
              <a:rPr lang="zh-CN" altLang="en-US" dirty="0" smtClean="0"/>
              <a:t>或者</a:t>
            </a:r>
            <a:r>
              <a:rPr lang="en-US" altLang="zh-CN" dirty="0" smtClean="0"/>
              <a:t>acceptor</a:t>
            </a:r>
            <a:r>
              <a:rPr lang="zh-CN" altLang="en-US" dirty="0" smtClean="0"/>
              <a:t>那里学习达成一致的提案，</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在实际中，一个进程有可能承担多种角色。</a:t>
            </a:r>
            <a:endParaRPr lang="en-US" altLang="zh-CN" dirty="0" smtClean="0"/>
          </a:p>
          <a:p>
            <a:r>
              <a:rPr lang="zh-CN" altLang="en-US" dirty="0" smtClean="0"/>
              <a:t>当他们三个都认为某个提案被选定的时候，就达到了一致性，</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10</a:t>
            </a:fld>
            <a:endParaRPr lang="zh-CN" altLang="en-US"/>
          </a:p>
        </p:txBody>
      </p:sp>
    </p:spTree>
    <p:extLst>
      <p:ext uri="{BB962C8B-B14F-4D97-AF65-F5344CB8AC3E}">
        <p14:creationId xmlns:p14="http://schemas.microsoft.com/office/powerpoint/2010/main" val="1786192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下面我们看一下具体的推导过程</a:t>
            </a:r>
            <a:endParaRPr lang="en-US" altLang="zh-CN" dirty="0" smtClean="0"/>
          </a:p>
          <a:p>
            <a:r>
              <a:rPr lang="zh-CN" altLang="en-US" dirty="0" smtClean="0"/>
              <a:t>最简单的方案是只有一个</a:t>
            </a:r>
            <a:r>
              <a:rPr lang="en-US" altLang="zh-CN" dirty="0" smtClean="0"/>
              <a:t>Acceptor, Proposer </a:t>
            </a:r>
            <a:r>
              <a:rPr lang="zh-CN" altLang="en-US" dirty="0" smtClean="0"/>
              <a:t>向</a:t>
            </a:r>
            <a:r>
              <a:rPr lang="en-US" altLang="zh-CN" dirty="0" smtClean="0"/>
              <a:t>acceptor</a:t>
            </a:r>
            <a:r>
              <a:rPr lang="zh-CN" altLang="en-US" dirty="0" smtClean="0"/>
              <a:t>发送提案，</a:t>
            </a:r>
            <a:r>
              <a:rPr lang="en-US" altLang="zh-CN" dirty="0" smtClean="0"/>
              <a:t>acceptor</a:t>
            </a:r>
            <a:r>
              <a:rPr lang="zh-CN" altLang="en-US" dirty="0" smtClean="0"/>
              <a:t>接受他收到的第一个提案，这样能够保证只有一个</a:t>
            </a:r>
            <a:r>
              <a:rPr lang="en-US" altLang="zh-CN" dirty="0" smtClean="0"/>
              <a:t>value</a:t>
            </a:r>
            <a:r>
              <a:rPr lang="zh-CN" altLang="en-US" dirty="0" smtClean="0"/>
              <a:t>被选定。这种方式虽然简单，但是当这个唯一的</a:t>
            </a:r>
            <a:r>
              <a:rPr lang="en-US" altLang="zh-CN" dirty="0" smtClean="0"/>
              <a:t>acceptor</a:t>
            </a:r>
            <a:r>
              <a:rPr lang="zh-CN" altLang="en-US" dirty="0" smtClean="0"/>
              <a:t>宕机的时候，整个系统就没有办法工作了。所以必须要有多个</a:t>
            </a:r>
            <a:r>
              <a:rPr lang="en-US" altLang="zh-CN" dirty="0" smtClean="0"/>
              <a:t>acceptor.</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11</a:t>
            </a:fld>
            <a:endParaRPr lang="zh-CN" altLang="en-US"/>
          </a:p>
        </p:txBody>
      </p:sp>
    </p:spTree>
    <p:extLst>
      <p:ext uri="{BB962C8B-B14F-4D97-AF65-F5344CB8AC3E}">
        <p14:creationId xmlns:p14="http://schemas.microsoft.com/office/powerpoint/2010/main" val="3551334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Proposer</a:t>
            </a:r>
            <a:r>
              <a:rPr lang="en-US" altLang="zh-CN" baseline="0" dirty="0" smtClean="0"/>
              <a:t> </a:t>
            </a:r>
            <a:r>
              <a:rPr lang="zh-CN" altLang="en-US" baseline="0" dirty="0" smtClean="0"/>
              <a:t>向一个</a:t>
            </a:r>
            <a:r>
              <a:rPr lang="en-US" altLang="zh-CN" baseline="0" dirty="0" smtClean="0"/>
              <a:t>acceptor</a:t>
            </a:r>
            <a:r>
              <a:rPr lang="zh-CN" altLang="en-US" baseline="0" dirty="0" smtClean="0"/>
              <a:t>集合发送提案，当这个集合中大多数</a:t>
            </a:r>
            <a:r>
              <a:rPr lang="en-US" altLang="zh-CN" baseline="0" dirty="0" smtClean="0"/>
              <a:t>acceptor</a:t>
            </a:r>
            <a:r>
              <a:rPr lang="zh-CN" altLang="en-US" baseline="0" dirty="0" smtClean="0"/>
              <a:t>接受的时候，认为这个</a:t>
            </a:r>
            <a:r>
              <a:rPr lang="en-US" altLang="zh-CN" baseline="0" dirty="0" smtClean="0"/>
              <a:t>value</a:t>
            </a:r>
            <a:r>
              <a:rPr lang="zh-CN" altLang="en-US" baseline="0" dirty="0" smtClean="0"/>
              <a:t>被选定了。</a:t>
            </a:r>
            <a:endParaRPr lang="en-US" altLang="zh-CN" baseline="0" dirty="0" smtClean="0"/>
          </a:p>
          <a:p>
            <a:r>
              <a:rPr lang="zh-CN" altLang="en-US" baseline="0" dirty="0" smtClean="0"/>
              <a:t>在有故障或者消息丢失的情况下，</a:t>
            </a:r>
            <a:endParaRPr lang="en-US" altLang="zh-CN" baseline="0" dirty="0" smtClean="0"/>
          </a:p>
          <a:p>
            <a:r>
              <a:rPr lang="zh-CN" altLang="en-US" baseline="0" dirty="0" smtClean="0"/>
              <a:t>我们希望当只有一个</a:t>
            </a:r>
            <a:r>
              <a:rPr lang="en-US" altLang="zh-CN" baseline="0" dirty="0" smtClean="0"/>
              <a:t>proposer</a:t>
            </a:r>
            <a:r>
              <a:rPr lang="zh-CN" altLang="en-US" baseline="0" dirty="0" smtClean="0"/>
              <a:t>提出一个</a:t>
            </a:r>
            <a:r>
              <a:rPr lang="en-US" altLang="zh-CN" baseline="0" dirty="0" smtClean="0"/>
              <a:t>value</a:t>
            </a:r>
            <a:r>
              <a:rPr lang="zh-CN" altLang="en-US" baseline="0" dirty="0" smtClean="0"/>
              <a:t>的时候，这个</a:t>
            </a:r>
            <a:r>
              <a:rPr lang="en-US" altLang="zh-CN" baseline="0" dirty="0" smtClean="0"/>
              <a:t>value</a:t>
            </a:r>
            <a:r>
              <a:rPr lang="zh-CN" altLang="en-US" baseline="0" dirty="0" smtClean="0"/>
              <a:t>可以被选定。</a:t>
            </a:r>
            <a:endParaRPr lang="en-US" altLang="zh-CN" baseline="0" dirty="0" smtClean="0"/>
          </a:p>
          <a:p>
            <a:r>
              <a:rPr lang="zh-CN" altLang="en-US" dirty="0" smtClean="0"/>
              <a:t>所以有约束</a:t>
            </a:r>
            <a:r>
              <a:rPr lang="en-US" altLang="zh-CN" dirty="0" smtClean="0"/>
              <a:t>P1</a:t>
            </a:r>
            <a:r>
              <a:rPr lang="zh-CN" altLang="en-US" dirty="0" smtClean="0"/>
              <a:t>，一个</a:t>
            </a:r>
            <a:r>
              <a:rPr lang="en-US" altLang="zh-CN" dirty="0" smtClean="0"/>
              <a:t>acceptor</a:t>
            </a:r>
            <a:r>
              <a:rPr lang="zh-CN" altLang="en-US" dirty="0" smtClean="0"/>
              <a:t>必须接受他收到的第一个提案</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12</a:t>
            </a:fld>
            <a:endParaRPr lang="zh-CN" altLang="en-US"/>
          </a:p>
        </p:txBody>
      </p:sp>
    </p:spTree>
    <p:extLst>
      <p:ext uri="{BB962C8B-B14F-4D97-AF65-F5344CB8AC3E}">
        <p14:creationId xmlns:p14="http://schemas.microsoft.com/office/powerpoint/2010/main" val="1148833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这样存在一个问题，不同的</a:t>
            </a:r>
            <a:r>
              <a:rPr lang="en-US" altLang="zh-CN" dirty="0" smtClean="0"/>
              <a:t>proposer</a:t>
            </a:r>
            <a:r>
              <a:rPr lang="zh-CN" altLang="en-US" dirty="0" smtClean="0"/>
              <a:t>同时提出不同的</a:t>
            </a:r>
            <a:r>
              <a:rPr lang="en-US" altLang="zh-CN" dirty="0" smtClean="0"/>
              <a:t>value</a:t>
            </a:r>
            <a:r>
              <a:rPr lang="zh-CN" altLang="en-US" dirty="0" smtClean="0"/>
              <a:t>值，</a:t>
            </a:r>
            <a:endParaRPr lang="en-US" altLang="zh-CN" dirty="0" smtClean="0"/>
          </a:p>
          <a:p>
            <a:r>
              <a:rPr lang="zh-CN" altLang="en-US" dirty="0" smtClean="0"/>
              <a:t>根据</a:t>
            </a:r>
            <a:r>
              <a:rPr lang="en-US" altLang="zh-CN" dirty="0" smtClean="0"/>
              <a:t>P1</a:t>
            </a:r>
            <a:r>
              <a:rPr lang="zh-CN" altLang="en-US" dirty="0" smtClean="0"/>
              <a:t>，每个</a:t>
            </a:r>
            <a:r>
              <a:rPr lang="en-US" altLang="zh-CN" dirty="0" smtClean="0"/>
              <a:t>acceptor</a:t>
            </a:r>
            <a:r>
              <a:rPr lang="zh-CN" altLang="en-US" dirty="0" smtClean="0"/>
              <a:t>接受一个</a:t>
            </a:r>
            <a:r>
              <a:rPr lang="en-US" altLang="zh-CN" dirty="0" smtClean="0"/>
              <a:t>value,</a:t>
            </a:r>
            <a:r>
              <a:rPr lang="zh-CN" altLang="en-US" dirty="0" smtClean="0"/>
              <a:t>但是没有一个</a:t>
            </a:r>
            <a:r>
              <a:rPr lang="en-US" altLang="zh-CN" dirty="0" smtClean="0"/>
              <a:t>value</a:t>
            </a:r>
            <a:r>
              <a:rPr lang="zh-CN" altLang="en-US" dirty="0" smtClean="0"/>
              <a:t>是被大多数</a:t>
            </a:r>
            <a:r>
              <a:rPr lang="en-US" altLang="zh-CN" dirty="0" smtClean="0"/>
              <a:t>acceptor</a:t>
            </a:r>
            <a:r>
              <a:rPr lang="zh-CN" altLang="en-US" dirty="0" smtClean="0"/>
              <a:t>接受的。</a:t>
            </a:r>
            <a:endParaRPr lang="en-US" altLang="zh-CN" dirty="0" smtClean="0"/>
          </a:p>
          <a:p>
            <a:endParaRPr lang="en-US" altLang="zh-CN" dirty="0" smtClean="0"/>
          </a:p>
          <a:p>
            <a:r>
              <a:rPr lang="en-US" altLang="zh-CN" dirty="0" smtClean="0"/>
              <a:t>P1</a:t>
            </a:r>
            <a:r>
              <a:rPr lang="zh-CN" altLang="en-US" dirty="0" smtClean="0"/>
              <a:t>要求</a:t>
            </a:r>
            <a:r>
              <a:rPr lang="en-US" altLang="zh-CN" dirty="0" smtClean="0"/>
              <a:t>acceptor</a:t>
            </a:r>
            <a:r>
              <a:rPr lang="zh-CN" altLang="en-US" dirty="0" smtClean="0"/>
              <a:t>接受他收到的第一个提案，但是一个提案只有被大多数</a:t>
            </a:r>
            <a:r>
              <a:rPr lang="en-US" altLang="zh-CN" dirty="0" smtClean="0"/>
              <a:t>acceptor</a:t>
            </a:r>
            <a:r>
              <a:rPr lang="zh-CN" altLang="en-US" dirty="0" smtClean="0"/>
              <a:t>接受才能被选定，</a:t>
            </a:r>
            <a:endParaRPr lang="en-US" altLang="zh-CN" dirty="0" smtClean="0"/>
          </a:p>
          <a:p>
            <a:r>
              <a:rPr lang="zh-CN" altLang="en-US" dirty="0" smtClean="0"/>
              <a:t>这暗示了一个</a:t>
            </a:r>
            <a:r>
              <a:rPr lang="en-US" altLang="zh-CN" dirty="0" smtClean="0"/>
              <a:t>acceptor</a:t>
            </a:r>
            <a:r>
              <a:rPr lang="zh-CN" altLang="en-US" dirty="0" smtClean="0"/>
              <a:t>可以接受多个提案</a:t>
            </a:r>
            <a:endParaRPr lang="en-US" altLang="zh-CN" dirty="0" smtClean="0"/>
          </a:p>
          <a:p>
            <a:r>
              <a:rPr lang="zh-CN" altLang="en-US" dirty="0" smtClean="0"/>
              <a:t>这个时候提案</a:t>
            </a:r>
            <a:r>
              <a:rPr lang="en-US" altLang="zh-CN" dirty="0" smtClean="0"/>
              <a:t>=value </a:t>
            </a:r>
            <a:r>
              <a:rPr lang="zh-CN" altLang="en-US" dirty="0" smtClean="0"/>
              <a:t>已经不能满足需求了，于是给每个提案加上一个提案编号，不同的提案编号不同，</a:t>
            </a:r>
            <a:endParaRPr lang="en-US" altLang="zh-CN" dirty="0" smtClean="0"/>
          </a:p>
          <a:p>
            <a:r>
              <a:rPr lang="zh-CN" altLang="en-US" dirty="0" smtClean="0"/>
              <a:t>这样当提案被大多数</a:t>
            </a:r>
            <a:r>
              <a:rPr lang="en-US" altLang="zh-CN" dirty="0" smtClean="0"/>
              <a:t>acceptor</a:t>
            </a:r>
            <a:r>
              <a:rPr lang="zh-CN" altLang="en-US" dirty="0" smtClean="0"/>
              <a:t>接受的时候，提案被选定，提案中的</a:t>
            </a:r>
            <a:r>
              <a:rPr lang="en-US" altLang="zh-CN" dirty="0" smtClean="0"/>
              <a:t>value</a:t>
            </a:r>
            <a:r>
              <a:rPr lang="zh-CN" altLang="en-US" dirty="0" smtClean="0"/>
              <a:t>被选定。</a:t>
            </a:r>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13</a:t>
            </a:fld>
            <a:endParaRPr lang="zh-CN" altLang="en-US"/>
          </a:p>
        </p:txBody>
      </p:sp>
    </p:spTree>
    <p:extLst>
      <p:ext uri="{BB962C8B-B14F-4D97-AF65-F5344CB8AC3E}">
        <p14:creationId xmlns:p14="http://schemas.microsoft.com/office/powerpoint/2010/main" val="361237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虽然允许多个提案被选定，但是我们必须保证这些被选定的提案值是一样的</a:t>
            </a:r>
            <a:endParaRPr lang="en-US" altLang="zh-CN" dirty="0" smtClean="0"/>
          </a:p>
          <a:p>
            <a:r>
              <a:rPr lang="zh-CN" altLang="en-US" dirty="0" smtClean="0"/>
              <a:t>提出约束</a:t>
            </a:r>
            <a:r>
              <a:rPr lang="en-US" altLang="zh-CN" dirty="0" smtClean="0"/>
              <a:t>P2</a:t>
            </a:r>
            <a:r>
              <a:rPr lang="zh-CN" altLang="en-US" dirty="0" smtClean="0"/>
              <a:t>，如果某个</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为</a:t>
            </a:r>
            <a:r>
              <a:rPr lang="en-US" altLang="zh-CN" sz="1200" b="0" i="0" kern="1200" dirty="0" smtClean="0">
                <a:solidFill>
                  <a:schemeClr val="tx1"/>
                </a:solidFill>
                <a:effectLst/>
                <a:latin typeface="+mn-lt"/>
                <a:ea typeface="+mn-ea"/>
                <a:cs typeface="+mn-cs"/>
              </a:rPr>
              <a:t>V</a:t>
            </a:r>
            <a:r>
              <a:rPr lang="zh-CN" altLang="en-US" sz="1200" b="0" i="0" kern="1200" dirty="0" smtClean="0">
                <a:solidFill>
                  <a:schemeClr val="tx1"/>
                </a:solidFill>
                <a:effectLst/>
                <a:latin typeface="+mn-lt"/>
                <a:ea typeface="+mn-ea"/>
                <a:cs typeface="+mn-cs"/>
              </a:rPr>
              <a:t>的提案被选定了，那么每个编号更高的被选定的提案的</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必须也是</a:t>
            </a:r>
            <a:r>
              <a:rPr lang="en-US" altLang="zh-CN" sz="1200" b="0" i="0" kern="1200" dirty="0" smtClean="0">
                <a:solidFill>
                  <a:schemeClr val="tx1"/>
                </a:solidFill>
                <a:effectLst/>
                <a:latin typeface="+mn-lt"/>
                <a:ea typeface="+mn-ea"/>
                <a:cs typeface="+mn-cs"/>
              </a:rPr>
              <a:t>v</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因为一个提案至少被一个</a:t>
            </a:r>
            <a:r>
              <a:rPr lang="en-US" altLang="zh-CN" sz="1200" b="0" i="0" kern="1200" dirty="0" smtClean="0">
                <a:solidFill>
                  <a:schemeClr val="tx1"/>
                </a:solidFill>
                <a:effectLst/>
                <a:latin typeface="+mn-lt"/>
                <a:ea typeface="+mn-ea"/>
                <a:cs typeface="+mn-cs"/>
              </a:rPr>
              <a:t>acceptor</a:t>
            </a:r>
            <a:r>
              <a:rPr lang="zh-CN" altLang="en-US" sz="1200" b="0" i="0" kern="1200" dirty="0" smtClean="0">
                <a:solidFill>
                  <a:schemeClr val="tx1"/>
                </a:solidFill>
                <a:effectLst/>
                <a:latin typeface="+mn-lt"/>
                <a:ea typeface="+mn-ea"/>
                <a:cs typeface="+mn-cs"/>
              </a:rPr>
              <a:t>接受才可能被选定，所以要想满足</a:t>
            </a:r>
            <a:r>
              <a:rPr lang="en-US" altLang="zh-CN" sz="1200" b="0" i="0" kern="1200" dirty="0" smtClean="0">
                <a:solidFill>
                  <a:schemeClr val="tx1"/>
                </a:solidFill>
                <a:effectLst/>
                <a:latin typeface="+mn-lt"/>
                <a:ea typeface="+mn-ea"/>
                <a:cs typeface="+mn-cs"/>
              </a:rPr>
              <a:t>P2</a:t>
            </a:r>
            <a:r>
              <a:rPr lang="zh-CN" altLang="en-US" sz="1200" b="0" i="0" kern="1200" dirty="0" smtClean="0">
                <a:solidFill>
                  <a:schemeClr val="tx1"/>
                </a:solidFill>
                <a:effectLst/>
                <a:latin typeface="+mn-lt"/>
                <a:ea typeface="+mn-ea"/>
                <a:cs typeface="+mn-cs"/>
              </a:rPr>
              <a:t>只需要满足</a:t>
            </a:r>
            <a:r>
              <a:rPr lang="en-US" altLang="zh-CN" sz="1200" b="0" i="0" kern="1200" dirty="0" smtClean="0">
                <a:solidFill>
                  <a:schemeClr val="tx1"/>
                </a:solidFill>
                <a:effectLst/>
                <a:latin typeface="+mn-lt"/>
                <a:ea typeface="+mn-ea"/>
                <a:cs typeface="+mn-cs"/>
              </a:rPr>
              <a:t>P2a</a:t>
            </a:r>
          </a:p>
          <a:p>
            <a:r>
              <a:rPr lang="zh-CN" altLang="en-US" sz="1200" b="0" i="0" kern="1200" dirty="0" smtClean="0">
                <a:solidFill>
                  <a:schemeClr val="tx1"/>
                </a:solidFill>
                <a:effectLst/>
                <a:latin typeface="+mn-lt"/>
                <a:ea typeface="+mn-ea"/>
                <a:cs typeface="+mn-cs"/>
              </a:rPr>
              <a:t>如果某个</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为</a:t>
            </a:r>
            <a:r>
              <a:rPr lang="en-US" altLang="zh-CN" sz="1200" b="0" i="0" kern="1200" dirty="0" smtClean="0">
                <a:solidFill>
                  <a:schemeClr val="tx1"/>
                </a:solidFill>
                <a:effectLst/>
                <a:latin typeface="+mn-lt"/>
                <a:ea typeface="+mn-ea"/>
                <a:cs typeface="+mn-cs"/>
              </a:rPr>
              <a:t>V</a:t>
            </a:r>
            <a:r>
              <a:rPr lang="zh-CN" altLang="en-US" sz="1200" b="0" i="0" kern="1200" dirty="0" smtClean="0">
                <a:solidFill>
                  <a:schemeClr val="tx1"/>
                </a:solidFill>
                <a:effectLst/>
                <a:latin typeface="+mn-lt"/>
                <a:ea typeface="+mn-ea"/>
                <a:cs typeface="+mn-cs"/>
              </a:rPr>
              <a:t>的提案被选定了，那么每个编号更高的被</a:t>
            </a:r>
            <a:r>
              <a:rPr lang="en-US" altLang="zh-CN" sz="1200" b="0" i="0" kern="1200" dirty="0" smtClean="0">
                <a:solidFill>
                  <a:schemeClr val="tx1"/>
                </a:solidFill>
                <a:effectLst/>
                <a:latin typeface="+mn-lt"/>
                <a:ea typeface="+mn-ea"/>
                <a:cs typeface="+mn-cs"/>
              </a:rPr>
              <a:t>Acceptor</a:t>
            </a:r>
            <a:r>
              <a:rPr lang="zh-CN" altLang="en-US" sz="1200" b="0" i="0" kern="1200" dirty="0" smtClean="0">
                <a:solidFill>
                  <a:schemeClr val="tx1"/>
                </a:solidFill>
                <a:effectLst/>
                <a:latin typeface="+mn-lt"/>
                <a:ea typeface="+mn-ea"/>
                <a:cs typeface="+mn-cs"/>
              </a:rPr>
              <a:t>接受的提案的</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必须也是</a:t>
            </a:r>
            <a:r>
              <a:rPr lang="en-US" altLang="zh-CN" sz="1200" b="0" i="0" kern="1200" dirty="0" smtClean="0">
                <a:solidFill>
                  <a:schemeClr val="tx1"/>
                </a:solidFill>
                <a:effectLst/>
                <a:latin typeface="+mn-lt"/>
                <a:ea typeface="+mn-ea"/>
                <a:cs typeface="+mn-cs"/>
              </a:rPr>
              <a:t>v</a:t>
            </a: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由于进程之间的交互是异步的，考虑这样一种情况，一共有</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Acceptor, Acceptor1 </a:t>
            </a:r>
            <a:r>
              <a:rPr lang="zh-CN" altLang="en-US" sz="1200" b="0" i="0" kern="1200" dirty="0" smtClean="0">
                <a:solidFill>
                  <a:schemeClr val="tx1"/>
                </a:solidFill>
                <a:effectLst/>
                <a:latin typeface="+mn-lt"/>
                <a:ea typeface="+mn-ea"/>
                <a:cs typeface="+mn-cs"/>
              </a:rPr>
              <a:t>因为某种原因宕机了，</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Proposer2</a:t>
            </a:r>
            <a:r>
              <a:rPr lang="zh-CN" altLang="en-US" sz="1200" b="0" i="0" kern="1200" dirty="0" smtClean="0">
                <a:solidFill>
                  <a:schemeClr val="tx1"/>
                </a:solidFill>
                <a:effectLst/>
                <a:latin typeface="+mn-lt"/>
                <a:ea typeface="+mn-ea"/>
                <a:cs typeface="+mn-cs"/>
              </a:rPr>
              <a:t>提出一个编号</a:t>
            </a:r>
            <a:r>
              <a:rPr lang="en-US" altLang="zh-CN" sz="1200" b="0" i="0" kern="1200" dirty="0" smtClean="0">
                <a:solidFill>
                  <a:schemeClr val="tx1"/>
                </a:solidFill>
                <a:effectLst/>
                <a:latin typeface="+mn-lt"/>
                <a:ea typeface="+mn-ea"/>
                <a:cs typeface="+mn-cs"/>
              </a:rPr>
              <a:t>N1,</a:t>
            </a:r>
            <a:r>
              <a:rPr lang="zh-CN" altLang="en-US" sz="1200" b="0" i="0" kern="1200" dirty="0" smtClean="0">
                <a:solidFill>
                  <a:schemeClr val="tx1"/>
                </a:solidFill>
                <a:effectLst/>
                <a:latin typeface="+mn-lt"/>
                <a:ea typeface="+mn-ea"/>
                <a:cs typeface="+mn-cs"/>
              </a:rPr>
              <a:t>值为</a:t>
            </a:r>
            <a:r>
              <a:rPr lang="en-US" altLang="zh-CN" sz="1200" b="0" i="0" kern="1200" dirty="0" smtClean="0">
                <a:solidFill>
                  <a:schemeClr val="tx1"/>
                </a:solidFill>
                <a:effectLst/>
                <a:latin typeface="+mn-lt"/>
                <a:ea typeface="+mn-ea"/>
                <a:cs typeface="+mn-cs"/>
              </a:rPr>
              <a:t>V1</a:t>
            </a:r>
            <a:r>
              <a:rPr lang="zh-CN" altLang="en-US" sz="1200" b="0" i="0" kern="1200" dirty="0" smtClean="0">
                <a:solidFill>
                  <a:schemeClr val="tx1"/>
                </a:solidFill>
                <a:effectLst/>
                <a:latin typeface="+mn-lt"/>
                <a:ea typeface="+mn-ea"/>
                <a:cs typeface="+mn-cs"/>
              </a:rPr>
              <a:t>的提案，并且</a:t>
            </a:r>
            <a:r>
              <a:rPr lang="en-US" altLang="zh-CN" sz="1200" b="0" i="0" kern="1200" dirty="0" smtClean="0">
                <a:solidFill>
                  <a:schemeClr val="tx1"/>
                </a:solidFill>
                <a:effectLst/>
                <a:latin typeface="+mn-lt"/>
                <a:ea typeface="+mn-ea"/>
                <a:cs typeface="+mn-cs"/>
              </a:rPr>
              <a:t>Acceptor2</a:t>
            </a:r>
            <a:r>
              <a:rPr lang="zh-CN" altLang="en-US" sz="1200" b="0" i="0" kern="1200" dirty="0" smtClean="0">
                <a:solidFill>
                  <a:schemeClr val="tx1"/>
                </a:solidFill>
                <a:effectLst/>
                <a:latin typeface="+mn-lt"/>
                <a:ea typeface="+mn-ea"/>
                <a:cs typeface="+mn-cs"/>
              </a:rPr>
              <a:t>到</a:t>
            </a:r>
            <a:r>
              <a:rPr lang="en-US" altLang="zh-CN" sz="1200" b="0" i="0" kern="1200" dirty="0" smtClean="0">
                <a:solidFill>
                  <a:schemeClr val="tx1"/>
                </a:solidFill>
                <a:effectLst/>
                <a:latin typeface="+mn-lt"/>
                <a:ea typeface="+mn-ea"/>
                <a:cs typeface="+mn-cs"/>
              </a:rPr>
              <a:t>5 </a:t>
            </a:r>
            <a:r>
              <a:rPr lang="zh-CN" altLang="en-US" sz="1200" b="0" i="0" kern="1200" dirty="0" smtClean="0">
                <a:solidFill>
                  <a:schemeClr val="tx1"/>
                </a:solidFill>
                <a:effectLst/>
                <a:latin typeface="+mn-lt"/>
                <a:ea typeface="+mn-ea"/>
                <a:cs typeface="+mn-cs"/>
              </a:rPr>
              <a:t>都接受了，达到了半数以上，那么这时候</a:t>
            </a:r>
            <a:r>
              <a:rPr lang="en-US" altLang="zh-CN" sz="1200" b="0" i="0" kern="1200" dirty="0" smtClean="0">
                <a:solidFill>
                  <a:schemeClr val="tx1"/>
                </a:solidFill>
                <a:effectLst/>
                <a:latin typeface="+mn-lt"/>
                <a:ea typeface="+mn-ea"/>
                <a:cs typeface="+mn-cs"/>
              </a:rPr>
              <a:t>Proposer2 </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Acceptor2</a:t>
            </a:r>
            <a:r>
              <a:rPr lang="zh-CN" altLang="en-US" sz="1200" b="0" i="0" kern="1200" dirty="0" smtClean="0">
                <a:solidFill>
                  <a:schemeClr val="tx1"/>
                </a:solidFill>
                <a:effectLst/>
                <a:latin typeface="+mn-lt"/>
                <a:ea typeface="+mn-ea"/>
                <a:cs typeface="+mn-cs"/>
              </a:rPr>
              <a:t>到</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都认为</a:t>
            </a:r>
            <a:r>
              <a:rPr lang="en-US" altLang="zh-CN" sz="1200" b="0" i="0" kern="1200" dirty="0" smtClean="0">
                <a:solidFill>
                  <a:schemeClr val="tx1"/>
                </a:solidFill>
                <a:effectLst/>
                <a:latin typeface="+mn-lt"/>
                <a:ea typeface="+mn-ea"/>
                <a:cs typeface="+mn-cs"/>
              </a:rPr>
              <a:t>V1</a:t>
            </a:r>
            <a:r>
              <a:rPr lang="zh-CN" altLang="en-US" sz="1200" b="0" i="0" kern="1200" dirty="0" smtClean="0">
                <a:solidFill>
                  <a:schemeClr val="tx1"/>
                </a:solidFill>
                <a:effectLst/>
                <a:latin typeface="+mn-lt"/>
                <a:ea typeface="+mn-ea"/>
                <a:cs typeface="+mn-cs"/>
              </a:rPr>
              <a:t>被选定了。现在，</a:t>
            </a:r>
            <a:r>
              <a:rPr lang="en-US" altLang="zh-CN" sz="1200" b="0" i="0" kern="1200" dirty="0" smtClean="0">
                <a:solidFill>
                  <a:schemeClr val="tx1"/>
                </a:solidFill>
                <a:effectLst/>
                <a:latin typeface="+mn-lt"/>
                <a:ea typeface="+mn-ea"/>
                <a:cs typeface="+mn-cs"/>
              </a:rPr>
              <a:t>Acceptor1</a:t>
            </a:r>
            <a:r>
              <a:rPr lang="zh-CN" altLang="en-US" sz="1200" b="0" i="0" kern="1200" dirty="0" smtClean="0">
                <a:solidFill>
                  <a:schemeClr val="tx1"/>
                </a:solidFill>
                <a:effectLst/>
                <a:latin typeface="+mn-lt"/>
                <a:ea typeface="+mn-ea"/>
                <a:cs typeface="+mn-cs"/>
              </a:rPr>
              <a:t>从宕机中恢复了，</a:t>
            </a:r>
            <a:r>
              <a:rPr lang="en-US" altLang="zh-CN" sz="1200" b="0" i="0" kern="1200" dirty="0" smtClean="0">
                <a:solidFill>
                  <a:schemeClr val="tx1"/>
                </a:solidFill>
                <a:effectLst/>
                <a:latin typeface="+mn-lt"/>
                <a:ea typeface="+mn-ea"/>
                <a:cs typeface="+mn-cs"/>
              </a:rPr>
              <a:t>Proposer1</a:t>
            </a:r>
            <a:r>
              <a:rPr lang="zh-CN" altLang="en-US" sz="1200" b="0" i="0" kern="1200" dirty="0" smtClean="0">
                <a:solidFill>
                  <a:schemeClr val="tx1"/>
                </a:solidFill>
                <a:effectLst/>
                <a:latin typeface="+mn-lt"/>
                <a:ea typeface="+mn-ea"/>
                <a:cs typeface="+mn-cs"/>
              </a:rPr>
              <a:t>提出了一个编号</a:t>
            </a:r>
            <a:r>
              <a:rPr lang="en-US" altLang="zh-CN" sz="1200" b="0" i="0" kern="1200" dirty="0" smtClean="0">
                <a:solidFill>
                  <a:schemeClr val="tx1"/>
                </a:solidFill>
                <a:effectLst/>
                <a:latin typeface="+mn-lt"/>
                <a:ea typeface="+mn-ea"/>
                <a:cs typeface="+mn-cs"/>
              </a:rPr>
              <a:t>N2</a:t>
            </a:r>
            <a:r>
              <a:rPr lang="zh-CN" altLang="en-US" sz="1200" b="0" i="0" kern="1200" dirty="0" smtClean="0">
                <a:solidFill>
                  <a:schemeClr val="tx1"/>
                </a:solidFill>
                <a:effectLst/>
                <a:latin typeface="+mn-lt"/>
                <a:ea typeface="+mn-ea"/>
                <a:cs typeface="+mn-cs"/>
              </a:rPr>
              <a:t>，值</a:t>
            </a:r>
            <a:r>
              <a:rPr lang="en-US" altLang="zh-CN" sz="1200" b="0" i="0" kern="1200" dirty="0" smtClean="0">
                <a:solidFill>
                  <a:schemeClr val="tx1"/>
                </a:solidFill>
                <a:effectLst/>
                <a:latin typeface="+mn-lt"/>
                <a:ea typeface="+mn-ea"/>
                <a:cs typeface="+mn-cs"/>
              </a:rPr>
              <a:t>V2</a:t>
            </a:r>
            <a:r>
              <a:rPr lang="zh-CN" altLang="en-US" sz="1200" b="0" i="0" kern="1200" dirty="0" smtClean="0">
                <a:solidFill>
                  <a:schemeClr val="tx1"/>
                </a:solidFill>
                <a:effectLst/>
                <a:latin typeface="+mn-lt"/>
                <a:ea typeface="+mn-ea"/>
                <a:cs typeface="+mn-cs"/>
              </a:rPr>
              <a:t>的提案，。</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由于这是</a:t>
            </a:r>
            <a:r>
              <a:rPr lang="en-US" altLang="zh-CN" sz="1200" b="0" i="0" kern="1200" dirty="0" smtClean="0">
                <a:solidFill>
                  <a:schemeClr val="tx1"/>
                </a:solidFill>
                <a:effectLst/>
                <a:latin typeface="+mn-lt"/>
                <a:ea typeface="+mn-ea"/>
                <a:cs typeface="+mn-cs"/>
              </a:rPr>
              <a:t>Acceptor1</a:t>
            </a:r>
            <a:r>
              <a:rPr lang="zh-CN" altLang="en-US" sz="1200" b="0" i="0" kern="1200" dirty="0" smtClean="0">
                <a:solidFill>
                  <a:schemeClr val="tx1"/>
                </a:solidFill>
                <a:effectLst/>
                <a:latin typeface="+mn-lt"/>
                <a:ea typeface="+mn-ea"/>
                <a:cs typeface="+mn-cs"/>
              </a:rPr>
              <a:t>醒来后收到的第一个提案，根据约束</a:t>
            </a:r>
            <a:r>
              <a:rPr lang="en-US" altLang="zh-CN" sz="1200" b="0" i="0" kern="1200" dirty="0" smtClean="0">
                <a:solidFill>
                  <a:schemeClr val="tx1"/>
                </a:solidFill>
                <a:effectLst/>
                <a:latin typeface="+mn-lt"/>
                <a:ea typeface="+mn-ea"/>
                <a:cs typeface="+mn-cs"/>
              </a:rPr>
              <a:t>P1</a:t>
            </a:r>
            <a:r>
              <a:rPr lang="zh-CN" altLang="en-US" sz="1200" b="0" i="0" kern="1200" dirty="0" smtClean="0">
                <a:solidFill>
                  <a:schemeClr val="tx1"/>
                </a:solidFill>
                <a:effectLst/>
                <a:latin typeface="+mn-lt"/>
                <a:ea typeface="+mn-ea"/>
                <a:cs typeface="+mn-cs"/>
              </a:rPr>
              <a:t>，他必须接受这提案，但是</a:t>
            </a:r>
            <a:r>
              <a:rPr lang="en-US" altLang="zh-CN" sz="1200" b="0" i="0" kern="1200" dirty="0" smtClean="0">
                <a:solidFill>
                  <a:schemeClr val="tx1"/>
                </a:solidFill>
                <a:effectLst/>
                <a:latin typeface="+mn-lt"/>
                <a:ea typeface="+mn-ea"/>
                <a:cs typeface="+mn-cs"/>
              </a:rPr>
              <a:t>N2</a:t>
            </a:r>
            <a:r>
              <a:rPr lang="zh-CN" altLang="en-US" sz="1200" b="0" i="0" kern="1200" dirty="0" smtClean="0">
                <a:solidFill>
                  <a:schemeClr val="tx1"/>
                </a:solidFill>
                <a:effectLst/>
                <a:latin typeface="+mn-lt"/>
                <a:ea typeface="+mn-ea"/>
                <a:cs typeface="+mn-cs"/>
              </a:rPr>
              <a:t>大于</a:t>
            </a:r>
            <a:r>
              <a:rPr lang="en-US" altLang="zh-CN" sz="1200" b="0" i="0" kern="1200" dirty="0" smtClean="0">
                <a:solidFill>
                  <a:schemeClr val="tx1"/>
                </a:solidFill>
                <a:effectLst/>
                <a:latin typeface="+mn-lt"/>
                <a:ea typeface="+mn-ea"/>
                <a:cs typeface="+mn-cs"/>
              </a:rPr>
              <a:t>N1</a:t>
            </a:r>
            <a:r>
              <a:rPr lang="zh-CN" altLang="en-US" sz="1200" b="0" i="0" kern="1200" dirty="0" smtClean="0">
                <a:solidFill>
                  <a:schemeClr val="tx1"/>
                </a:solidFill>
                <a:effectLst/>
                <a:latin typeface="+mn-lt"/>
                <a:ea typeface="+mn-ea"/>
                <a:cs typeface="+mn-cs"/>
              </a:rPr>
              <a:t>并且</a:t>
            </a:r>
            <a:r>
              <a:rPr lang="en-US" altLang="zh-CN" sz="1200" b="0" i="0" kern="1200" dirty="0" smtClean="0">
                <a:solidFill>
                  <a:schemeClr val="tx1"/>
                </a:solidFill>
                <a:effectLst/>
                <a:latin typeface="+mn-lt"/>
                <a:ea typeface="+mn-ea"/>
                <a:cs typeface="+mn-cs"/>
              </a:rPr>
              <a:t>V2</a:t>
            </a:r>
            <a:r>
              <a:rPr lang="zh-CN" altLang="en-US" sz="1200" b="0" i="0" kern="1200" dirty="0" smtClean="0">
                <a:solidFill>
                  <a:schemeClr val="tx1"/>
                </a:solidFill>
                <a:effectLst/>
                <a:latin typeface="+mn-lt"/>
                <a:ea typeface="+mn-ea"/>
                <a:cs typeface="+mn-cs"/>
              </a:rPr>
              <a:t>不等于</a:t>
            </a:r>
            <a:r>
              <a:rPr lang="en-US" altLang="zh-CN" sz="1200" b="0" i="0" kern="1200" dirty="0" smtClean="0">
                <a:solidFill>
                  <a:schemeClr val="tx1"/>
                </a:solidFill>
                <a:effectLst/>
                <a:latin typeface="+mn-lt"/>
                <a:ea typeface="+mn-ea"/>
                <a:cs typeface="+mn-cs"/>
              </a:rPr>
              <a:t>V1,</a:t>
            </a:r>
            <a:r>
              <a:rPr lang="zh-CN" altLang="en-US" sz="1200" b="0" i="0" kern="1200" dirty="0" smtClean="0">
                <a:solidFill>
                  <a:schemeClr val="tx1"/>
                </a:solidFill>
                <a:effectLst/>
                <a:latin typeface="+mn-lt"/>
                <a:ea typeface="+mn-ea"/>
                <a:cs typeface="+mn-cs"/>
              </a:rPr>
              <a:t>这和</a:t>
            </a:r>
            <a:r>
              <a:rPr lang="en-US" altLang="zh-CN" sz="1200" b="0" i="0" kern="1200" dirty="0" smtClean="0">
                <a:solidFill>
                  <a:schemeClr val="tx1"/>
                </a:solidFill>
                <a:effectLst/>
                <a:latin typeface="+mn-lt"/>
                <a:ea typeface="+mn-ea"/>
                <a:cs typeface="+mn-cs"/>
              </a:rPr>
              <a:t>P2a</a:t>
            </a:r>
            <a:r>
              <a:rPr lang="zh-CN" altLang="en-US" sz="1200" b="0" i="0" kern="1200" dirty="0" smtClean="0">
                <a:solidFill>
                  <a:schemeClr val="tx1"/>
                </a:solidFill>
                <a:effectLst/>
                <a:latin typeface="+mn-lt"/>
                <a:ea typeface="+mn-ea"/>
                <a:cs typeface="+mn-cs"/>
              </a:rPr>
              <a:t>是违背的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所以对约束进行加强</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14</a:t>
            </a:fld>
            <a:endParaRPr lang="zh-CN" altLang="en-US"/>
          </a:p>
        </p:txBody>
      </p:sp>
    </p:spTree>
    <p:extLst>
      <p:ext uri="{BB962C8B-B14F-4D97-AF65-F5344CB8AC3E}">
        <p14:creationId xmlns:p14="http://schemas.microsoft.com/office/powerpoint/2010/main" val="1487523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P2a</a:t>
            </a:r>
            <a:r>
              <a:rPr lang="zh-CN" altLang="en-US" dirty="0" smtClean="0"/>
              <a:t>是针对</a:t>
            </a:r>
            <a:r>
              <a:rPr lang="en-US" altLang="zh-CN" dirty="0" smtClean="0"/>
              <a:t>acceptor</a:t>
            </a:r>
            <a:r>
              <a:rPr lang="zh-CN" altLang="en-US" dirty="0" smtClean="0"/>
              <a:t>的约束，但是提案是</a:t>
            </a:r>
            <a:r>
              <a:rPr lang="en-US" altLang="zh-CN" dirty="0" smtClean="0"/>
              <a:t>proposer</a:t>
            </a:r>
            <a:r>
              <a:rPr lang="zh-CN" altLang="en-US" dirty="0" smtClean="0"/>
              <a:t>提出来的，所以强化后的约束</a:t>
            </a:r>
            <a:r>
              <a:rPr lang="en-US" altLang="zh-CN" dirty="0" smtClean="0"/>
              <a:t>P2b</a:t>
            </a:r>
            <a:r>
              <a:rPr lang="zh-CN" altLang="en-US" dirty="0" smtClean="0"/>
              <a:t>要求，</a:t>
            </a:r>
            <a:endParaRPr lang="en-US" altLang="zh-CN" dirty="0" smtClean="0"/>
          </a:p>
          <a:p>
            <a:r>
              <a:rPr lang="zh-CN" altLang="en-US" sz="1200" b="0" i="0" kern="1200" dirty="0" smtClean="0">
                <a:solidFill>
                  <a:schemeClr val="tx1"/>
                </a:solidFill>
                <a:effectLst/>
                <a:latin typeface="+mn-lt"/>
                <a:ea typeface="+mn-ea"/>
                <a:cs typeface="+mn-cs"/>
              </a:rPr>
              <a:t>如果某个</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为</a:t>
            </a:r>
            <a:r>
              <a:rPr lang="en-US" altLang="zh-CN" sz="1200" b="0" i="0" kern="1200" dirty="0" smtClean="0">
                <a:solidFill>
                  <a:schemeClr val="tx1"/>
                </a:solidFill>
                <a:effectLst/>
                <a:latin typeface="+mn-lt"/>
                <a:ea typeface="+mn-ea"/>
                <a:cs typeface="+mn-cs"/>
              </a:rPr>
              <a:t>v</a:t>
            </a:r>
            <a:r>
              <a:rPr lang="zh-CN" altLang="en-US" sz="1200" b="0" i="0" kern="1200" dirty="0" smtClean="0">
                <a:solidFill>
                  <a:schemeClr val="tx1"/>
                </a:solidFill>
                <a:effectLst/>
                <a:latin typeface="+mn-lt"/>
                <a:ea typeface="+mn-ea"/>
                <a:cs typeface="+mn-cs"/>
              </a:rPr>
              <a:t>的提案被选定了，那么之后任何</a:t>
            </a:r>
            <a:r>
              <a:rPr lang="en-US" altLang="zh-CN" sz="1200" b="0" i="0" kern="1200" dirty="0" smtClean="0">
                <a:solidFill>
                  <a:schemeClr val="tx1"/>
                </a:solidFill>
                <a:effectLst/>
                <a:latin typeface="+mn-lt"/>
                <a:ea typeface="+mn-ea"/>
                <a:cs typeface="+mn-cs"/>
              </a:rPr>
              <a:t>Proposer</a:t>
            </a:r>
            <a:r>
              <a:rPr lang="zh-CN" altLang="en-US" sz="1200" b="0" i="0" kern="1200" dirty="0" smtClean="0">
                <a:solidFill>
                  <a:schemeClr val="tx1"/>
                </a:solidFill>
                <a:effectLst/>
                <a:latin typeface="+mn-lt"/>
                <a:ea typeface="+mn-ea"/>
                <a:cs typeface="+mn-cs"/>
              </a:rPr>
              <a:t>提出的编号更高的提案的</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必须也是</a:t>
            </a:r>
            <a:r>
              <a:rPr lang="en-US" altLang="zh-CN" sz="1200" b="0" i="0" kern="1200" dirty="0" smtClean="0">
                <a:solidFill>
                  <a:schemeClr val="tx1"/>
                </a:solidFill>
                <a:effectLst/>
                <a:latin typeface="+mn-lt"/>
                <a:ea typeface="+mn-ea"/>
                <a:cs typeface="+mn-cs"/>
              </a:rPr>
              <a:t>v</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如何保证这样约束呢？只要满足</a:t>
            </a:r>
            <a:r>
              <a:rPr lang="en-US" altLang="zh-CN" sz="1200" b="0" i="0" kern="1200" dirty="0" smtClean="0">
                <a:solidFill>
                  <a:schemeClr val="tx1"/>
                </a:solidFill>
                <a:effectLst/>
                <a:latin typeface="+mn-lt"/>
                <a:ea typeface="+mn-ea"/>
                <a:cs typeface="+mn-cs"/>
              </a:rPr>
              <a:t>P2C</a:t>
            </a:r>
            <a:r>
              <a:rPr lang="zh-CN" altLang="en-US" sz="1200" b="0" i="0" kern="1200" dirty="0" smtClean="0">
                <a:solidFill>
                  <a:schemeClr val="tx1"/>
                </a:solidFill>
                <a:effectLst/>
                <a:latin typeface="+mn-lt"/>
                <a:ea typeface="+mn-ea"/>
                <a:cs typeface="+mn-cs"/>
              </a:rPr>
              <a:t>即可，也就是说，</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对于任何</a:t>
            </a:r>
            <a:r>
              <a:rPr lang="en-US" altLang="zh-CN" sz="1200" b="0" i="0" kern="1200" dirty="0" smtClean="0">
                <a:solidFill>
                  <a:schemeClr val="tx1"/>
                </a:solidFill>
                <a:effectLst/>
                <a:latin typeface="+mn-lt"/>
                <a:ea typeface="+mn-ea"/>
                <a:cs typeface="+mn-cs"/>
              </a:rPr>
              <a:t>N </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V</a:t>
            </a:r>
            <a:r>
              <a:rPr lang="zh-CN" altLang="en-US" sz="1200" b="0" i="0" kern="1200" dirty="0" smtClean="0">
                <a:solidFill>
                  <a:schemeClr val="tx1"/>
                </a:solidFill>
                <a:effectLst/>
                <a:latin typeface="+mn-lt"/>
                <a:ea typeface="+mn-ea"/>
                <a:cs typeface="+mn-cs"/>
              </a:rPr>
              <a:t>， 如果有一个提案</a:t>
            </a:r>
            <a:r>
              <a:rPr lang="en-US" altLang="zh-CN" sz="1200" b="0" i="0" kern="1200" dirty="0" smtClean="0">
                <a:solidFill>
                  <a:schemeClr val="tx1"/>
                </a:solidFill>
                <a:effectLst/>
                <a:latin typeface="+mn-lt"/>
                <a:ea typeface="+mn-ea"/>
                <a:cs typeface="+mn-cs"/>
              </a:rPr>
              <a:t>[N,V]</a:t>
            </a:r>
            <a:r>
              <a:rPr lang="zh-CN" altLang="en-US" sz="1200" b="0" i="0" kern="1200" dirty="0" smtClean="0">
                <a:solidFill>
                  <a:schemeClr val="tx1"/>
                </a:solidFill>
                <a:effectLst/>
                <a:latin typeface="+mn-lt"/>
                <a:ea typeface="+mn-ea"/>
                <a:cs typeface="+mn-cs"/>
              </a:rPr>
              <a:t>被提出，则有存在一个由大多数</a:t>
            </a:r>
            <a:r>
              <a:rPr lang="en-US" altLang="zh-CN" sz="1200" b="0" i="0" kern="1200" dirty="0" smtClean="0">
                <a:solidFill>
                  <a:schemeClr val="tx1"/>
                </a:solidFill>
                <a:effectLst/>
                <a:latin typeface="+mn-lt"/>
                <a:ea typeface="+mn-ea"/>
                <a:cs typeface="+mn-cs"/>
              </a:rPr>
              <a:t>Acceptor</a:t>
            </a:r>
            <a:r>
              <a:rPr lang="zh-CN" altLang="en-US" sz="1200" b="0" i="0" kern="1200" dirty="0" smtClean="0">
                <a:solidFill>
                  <a:schemeClr val="tx1"/>
                </a:solidFill>
                <a:effectLst/>
                <a:latin typeface="+mn-lt"/>
                <a:ea typeface="+mn-ea"/>
                <a:cs typeface="+mn-cs"/>
              </a:rPr>
              <a:t>组成的集合</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，满足以下任意的两个条件之一，</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中的</a:t>
            </a:r>
            <a:r>
              <a:rPr lang="en-US" altLang="zh-CN" sz="1200" b="0" i="0" kern="1200" dirty="0" smtClean="0">
                <a:solidFill>
                  <a:schemeClr val="tx1"/>
                </a:solidFill>
                <a:effectLst/>
                <a:latin typeface="+mn-lt"/>
                <a:ea typeface="+mn-ea"/>
                <a:cs typeface="+mn-cs"/>
              </a:rPr>
              <a:t>acceptor</a:t>
            </a:r>
            <a:r>
              <a:rPr lang="zh-CN" altLang="en-US" sz="1200" b="0" i="0" kern="1200" dirty="0" smtClean="0">
                <a:solidFill>
                  <a:schemeClr val="tx1"/>
                </a:solidFill>
                <a:effectLst/>
                <a:latin typeface="+mn-lt"/>
                <a:ea typeface="+mn-ea"/>
                <a:cs typeface="+mn-cs"/>
              </a:rPr>
              <a:t>没有接受过编号小于</a:t>
            </a:r>
            <a:r>
              <a:rPr lang="en-US" altLang="zh-CN" sz="1200" b="0" i="0" kern="1200" dirty="0" smtClean="0">
                <a:solidFill>
                  <a:schemeClr val="tx1"/>
                </a:solidFill>
                <a:effectLst/>
                <a:latin typeface="+mn-lt"/>
                <a:ea typeface="+mn-ea"/>
                <a:cs typeface="+mn-cs"/>
              </a:rPr>
              <a:t>N</a:t>
            </a:r>
            <a:r>
              <a:rPr lang="zh-CN" altLang="en-US" sz="1200" b="0" i="0" kern="1200" dirty="0" smtClean="0">
                <a:solidFill>
                  <a:schemeClr val="tx1"/>
                </a:solidFill>
                <a:effectLst/>
                <a:latin typeface="+mn-lt"/>
                <a:ea typeface="+mn-ea"/>
                <a:cs typeface="+mn-cs"/>
              </a:rPr>
              <a:t>的提案</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或者，</a:t>
            </a:r>
            <a:r>
              <a:rPr lang="en-US" altLang="zh-CN" sz="1200" b="0" i="0" kern="1200" dirty="0" smtClean="0">
                <a:solidFill>
                  <a:schemeClr val="tx1"/>
                </a:solidFill>
                <a:effectLst/>
                <a:latin typeface="+mn-lt"/>
                <a:ea typeface="+mn-ea"/>
                <a:cs typeface="+mn-cs"/>
              </a:rPr>
              <a:t>S</a:t>
            </a:r>
            <a:r>
              <a:rPr lang="zh-CN" altLang="en-US" sz="1200" b="0" i="0" kern="1200" dirty="0" smtClean="0">
                <a:solidFill>
                  <a:schemeClr val="tx1"/>
                </a:solidFill>
                <a:effectLst/>
                <a:latin typeface="+mn-lt"/>
                <a:ea typeface="+mn-ea"/>
                <a:cs typeface="+mn-cs"/>
              </a:rPr>
              <a:t>中的</a:t>
            </a:r>
            <a:r>
              <a:rPr lang="en-US" altLang="zh-CN" sz="1200" b="0" i="0" kern="1200" dirty="0" smtClean="0">
                <a:solidFill>
                  <a:schemeClr val="tx1"/>
                </a:solidFill>
                <a:effectLst/>
                <a:latin typeface="+mn-lt"/>
                <a:ea typeface="+mn-ea"/>
                <a:cs typeface="+mn-cs"/>
              </a:rPr>
              <a:t>acceptor</a:t>
            </a:r>
            <a:r>
              <a:rPr lang="zh-CN" altLang="en-US" sz="1200" b="0" i="0" kern="1200" dirty="0" smtClean="0">
                <a:solidFill>
                  <a:schemeClr val="tx1"/>
                </a:solidFill>
                <a:effectLst/>
                <a:latin typeface="+mn-lt"/>
                <a:ea typeface="+mn-ea"/>
                <a:cs typeface="+mn-cs"/>
              </a:rPr>
              <a:t>接受的编号小于</a:t>
            </a:r>
            <a:r>
              <a:rPr lang="en-US" altLang="zh-CN" sz="1200" b="0" i="0" kern="1200" dirty="0" smtClean="0">
                <a:solidFill>
                  <a:schemeClr val="tx1"/>
                </a:solidFill>
                <a:effectLst/>
                <a:latin typeface="+mn-lt"/>
                <a:ea typeface="+mn-ea"/>
                <a:cs typeface="+mn-cs"/>
              </a:rPr>
              <a:t>N</a:t>
            </a:r>
            <a:r>
              <a:rPr lang="zh-CN" altLang="en-US" sz="1200" b="0" i="0" kern="1200" dirty="0" smtClean="0">
                <a:solidFill>
                  <a:schemeClr val="tx1"/>
                </a:solidFill>
                <a:effectLst/>
                <a:latin typeface="+mn-lt"/>
                <a:ea typeface="+mn-ea"/>
                <a:cs typeface="+mn-cs"/>
              </a:rPr>
              <a:t>的提案中编号最大的提案</a:t>
            </a:r>
            <a:r>
              <a:rPr lang="en-US" altLang="zh-CN" sz="1200" b="0" i="0" kern="1200" dirty="0" smtClean="0">
                <a:solidFill>
                  <a:schemeClr val="tx1"/>
                </a:solidFill>
                <a:effectLst/>
                <a:latin typeface="+mn-lt"/>
                <a:ea typeface="+mn-ea"/>
                <a:cs typeface="+mn-cs"/>
              </a:rPr>
              <a:t>value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V</a:t>
            </a:r>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15</a:t>
            </a:fld>
            <a:endParaRPr lang="zh-CN" altLang="en-US"/>
          </a:p>
        </p:txBody>
      </p:sp>
    </p:spTree>
    <p:extLst>
      <p:ext uri="{BB962C8B-B14F-4D97-AF65-F5344CB8AC3E}">
        <p14:creationId xmlns:p14="http://schemas.microsoft.com/office/powerpoint/2010/main" val="1961317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要想保证</a:t>
            </a:r>
            <a:r>
              <a:rPr lang="en-US" altLang="zh-CN" dirty="0" smtClean="0"/>
              <a:t>P2C</a:t>
            </a:r>
            <a:r>
              <a:rPr lang="zh-CN" altLang="en-US" dirty="0" smtClean="0"/>
              <a:t>，一</a:t>
            </a:r>
            <a:r>
              <a:rPr lang="zh-CN" altLang="en-US" dirty="0" smtClean="0"/>
              <a:t>个</a:t>
            </a:r>
            <a:r>
              <a:rPr lang="en-US" altLang="zh-CN" dirty="0" smtClean="0"/>
              <a:t>proposer</a:t>
            </a:r>
            <a:r>
              <a:rPr lang="zh-CN" altLang="en-US" dirty="0" smtClean="0"/>
              <a:t>想提出一个编号</a:t>
            </a:r>
            <a:r>
              <a:rPr lang="en-US" altLang="zh-CN" dirty="0" smtClean="0"/>
              <a:t>N</a:t>
            </a:r>
            <a:r>
              <a:rPr lang="zh-CN" altLang="en-US" dirty="0" smtClean="0"/>
              <a:t>的提案之前，</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必须</a:t>
            </a:r>
            <a:r>
              <a:rPr lang="zh-CN" altLang="en-US" dirty="0" smtClean="0"/>
              <a:t>去向</a:t>
            </a:r>
            <a:r>
              <a:rPr lang="en-US" altLang="zh-CN" dirty="0" smtClean="0"/>
              <a:t>acceptor</a:t>
            </a:r>
            <a:r>
              <a:rPr lang="zh-CN" altLang="en-US" dirty="0" smtClean="0"/>
              <a:t>学习</a:t>
            </a:r>
            <a:r>
              <a:rPr lang="zh-CN" altLang="en-US" dirty="0" smtClean="0"/>
              <a:t>编号小于</a:t>
            </a:r>
            <a:r>
              <a:rPr lang="en-US" altLang="zh-CN" dirty="0" smtClean="0"/>
              <a:t>N</a:t>
            </a:r>
            <a:r>
              <a:rPr lang="zh-CN" altLang="en-US" dirty="0" smtClean="0"/>
              <a:t>的最大编号的提案。</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如果</a:t>
            </a:r>
            <a:r>
              <a:rPr lang="en-US" altLang="zh-CN" dirty="0" smtClean="0"/>
              <a:t>acceptor</a:t>
            </a:r>
            <a:r>
              <a:rPr lang="zh-CN" altLang="en-US" dirty="0" smtClean="0"/>
              <a:t>已经</a:t>
            </a:r>
            <a:r>
              <a:rPr lang="zh-CN" altLang="en-US" dirty="0" smtClean="0"/>
              <a:t>被接受过的</a:t>
            </a:r>
            <a:r>
              <a:rPr lang="zh-CN" altLang="en-US" dirty="0" smtClean="0"/>
              <a:t>提案，很</a:t>
            </a:r>
            <a:r>
              <a:rPr lang="zh-CN" altLang="en-US" dirty="0" smtClean="0"/>
              <a:t>容易学习</a:t>
            </a:r>
            <a:r>
              <a:rPr lang="zh-CN" altLang="en-US" dirty="0" smtClean="0"/>
              <a:t>，直接告诉就可以了，</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但是很难预测说</a:t>
            </a:r>
            <a:r>
              <a:rPr lang="en-US" altLang="zh-CN" dirty="0" smtClean="0"/>
              <a:t>acceptor</a:t>
            </a:r>
            <a:r>
              <a:rPr lang="zh-CN" altLang="en-US" dirty="0" smtClean="0"/>
              <a:t>将会接受什么提案，所以这就体现</a:t>
            </a:r>
            <a:r>
              <a:rPr lang="en-US" altLang="zh-CN" dirty="0" err="1" smtClean="0"/>
              <a:t>paxos</a:t>
            </a:r>
            <a:r>
              <a:rPr lang="zh-CN" altLang="en-US" dirty="0" smtClean="0"/>
              <a:t>的思想，与其预测未来，不如限制未来，</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所以</a:t>
            </a:r>
            <a:r>
              <a:rPr lang="en-US" altLang="zh-CN" dirty="0" smtClean="0"/>
              <a:t>proposer</a:t>
            </a:r>
            <a:r>
              <a:rPr lang="zh-CN" altLang="en-US" dirty="0" smtClean="0"/>
              <a:t>不预测，而是要求</a:t>
            </a:r>
            <a:r>
              <a:rPr lang="en-US" altLang="zh-CN" dirty="0" smtClean="0"/>
              <a:t>acceptor</a:t>
            </a:r>
            <a:r>
              <a:rPr lang="zh-CN" altLang="en-US" dirty="0" smtClean="0"/>
              <a:t>做出承诺不再接受小于</a:t>
            </a:r>
            <a:r>
              <a:rPr lang="en-US" altLang="zh-CN" dirty="0" smtClean="0"/>
              <a:t>N</a:t>
            </a:r>
            <a:r>
              <a:rPr lang="zh-CN" altLang="en-US" dirty="0" smtClean="0"/>
              <a:t>的提案</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Proposer</a:t>
            </a:r>
            <a:r>
              <a:rPr lang="zh-CN" altLang="en-US" dirty="0" smtClean="0"/>
              <a:t>选择一个新的提案编号</a:t>
            </a:r>
            <a:r>
              <a:rPr lang="en-US" altLang="zh-CN" dirty="0" smtClean="0"/>
              <a:t>N</a:t>
            </a:r>
            <a:r>
              <a:rPr lang="zh-CN" altLang="en-US" dirty="0" smtClean="0"/>
              <a:t>，向某个</a:t>
            </a:r>
            <a:r>
              <a:rPr lang="en-US" altLang="zh-CN" dirty="0" smtClean="0"/>
              <a:t>acceptor</a:t>
            </a:r>
            <a:r>
              <a:rPr lang="zh-CN" altLang="en-US" dirty="0" smtClean="0"/>
              <a:t>集合发送请求，成为</a:t>
            </a:r>
            <a:r>
              <a:rPr lang="en-US" altLang="zh-CN" dirty="0" err="1" smtClean="0"/>
              <a:t>prapare</a:t>
            </a:r>
            <a:r>
              <a:rPr lang="zh-CN" altLang="en-US" dirty="0" smtClean="0"/>
              <a:t>请求，要求这个集合中的每个</a:t>
            </a:r>
            <a:r>
              <a:rPr lang="en-US" altLang="zh-CN" dirty="0" smtClean="0"/>
              <a:t>acceptor</a:t>
            </a:r>
            <a:r>
              <a:rPr lang="zh-CN" altLang="en-US" dirty="0" smtClean="0"/>
              <a:t>做出响应，向</a:t>
            </a:r>
            <a:r>
              <a:rPr lang="en-US" altLang="zh-CN" dirty="0" smtClean="0"/>
              <a:t>proposer</a:t>
            </a:r>
            <a:r>
              <a:rPr lang="zh-CN" altLang="en-US" dirty="0" smtClean="0"/>
              <a:t>承诺保证不再接受任何编号小于</a:t>
            </a:r>
            <a:r>
              <a:rPr lang="en-US" altLang="zh-CN" dirty="0" smtClean="0"/>
              <a:t>N</a:t>
            </a:r>
            <a:r>
              <a:rPr lang="en-US" altLang="zh-CN" baseline="0" dirty="0" smtClean="0"/>
              <a:t> </a:t>
            </a:r>
            <a:r>
              <a:rPr lang="zh-CN" altLang="en-US" baseline="0" dirty="0" smtClean="0"/>
              <a:t>的提案，如果</a:t>
            </a:r>
            <a:r>
              <a:rPr lang="en-US" altLang="zh-CN" baseline="0" dirty="0" smtClean="0"/>
              <a:t>acceptor</a:t>
            </a:r>
            <a:r>
              <a:rPr lang="zh-CN" altLang="en-US" baseline="0" dirty="0" smtClean="0"/>
              <a:t>已经接受过提案，那么就回复给</a:t>
            </a:r>
            <a:r>
              <a:rPr lang="en-US" altLang="zh-CN" baseline="0" dirty="0" smtClean="0"/>
              <a:t>proposer</a:t>
            </a:r>
            <a:r>
              <a:rPr lang="zh-CN" altLang="en-US" baseline="0" dirty="0" smtClean="0"/>
              <a:t>已经接受过的编号小于</a:t>
            </a:r>
            <a:r>
              <a:rPr lang="en-US" altLang="zh-CN" baseline="0" dirty="0" smtClean="0"/>
              <a:t>N</a:t>
            </a:r>
            <a:r>
              <a:rPr lang="zh-CN" altLang="en-US" baseline="0" dirty="0" smtClean="0"/>
              <a:t>的最大编号的提案，</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如果</a:t>
            </a:r>
            <a:r>
              <a:rPr lang="en-US" altLang="zh-CN" dirty="0" smtClean="0"/>
              <a:t>proposer</a:t>
            </a:r>
            <a:r>
              <a:rPr lang="zh-CN" altLang="en-US" dirty="0" smtClean="0"/>
              <a:t>收到了半数以上的</a:t>
            </a:r>
            <a:r>
              <a:rPr lang="en-US" altLang="zh-CN" dirty="0" smtClean="0"/>
              <a:t>acceptor</a:t>
            </a:r>
            <a:r>
              <a:rPr lang="zh-CN" altLang="en-US" dirty="0" smtClean="0"/>
              <a:t>的响应，那么生成编号为</a:t>
            </a:r>
            <a:r>
              <a:rPr lang="en-US" altLang="zh-CN" dirty="0" smtClean="0"/>
              <a:t>N</a:t>
            </a:r>
            <a:r>
              <a:rPr lang="zh-CN" altLang="en-US" dirty="0" smtClean="0"/>
              <a:t>，值为</a:t>
            </a:r>
            <a:r>
              <a:rPr lang="en-US" altLang="zh-CN" dirty="0" smtClean="0"/>
              <a:t>V</a:t>
            </a:r>
            <a:r>
              <a:rPr lang="zh-CN" altLang="en-US" dirty="0" smtClean="0"/>
              <a:t>的提案</a:t>
            </a:r>
            <a:r>
              <a:rPr lang="en-US" altLang="zh-CN" dirty="0" smtClean="0"/>
              <a:t>【N,V】V</a:t>
            </a:r>
            <a:r>
              <a:rPr lang="zh-CN" altLang="en-US" dirty="0" smtClean="0"/>
              <a:t>是响应中最大编号的提案对应的</a:t>
            </a:r>
            <a:r>
              <a:rPr lang="en-US" altLang="zh-CN" dirty="0" smtClean="0"/>
              <a:t>value,</a:t>
            </a:r>
            <a:r>
              <a:rPr lang="zh-CN" altLang="en-US" dirty="0" smtClean="0"/>
              <a:t>如果响应中没有提案，则</a:t>
            </a:r>
            <a:r>
              <a:rPr lang="en-US" altLang="zh-CN" dirty="0" smtClean="0"/>
              <a:t>V</a:t>
            </a:r>
            <a:r>
              <a:rPr lang="zh-CN" altLang="en-US" dirty="0" smtClean="0"/>
              <a:t>由</a:t>
            </a:r>
            <a:r>
              <a:rPr lang="en-US" altLang="zh-CN" dirty="0" smtClean="0"/>
              <a:t>proposer</a:t>
            </a:r>
            <a:r>
              <a:rPr lang="zh-CN" altLang="en-US" dirty="0" smtClean="0"/>
              <a:t>自己选择</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这个请求称为</a:t>
            </a:r>
            <a:r>
              <a:rPr lang="en-US" altLang="zh-CN" dirty="0" smtClean="0"/>
              <a:t>Acceptor</a:t>
            </a:r>
            <a:r>
              <a:rPr lang="zh-CN" altLang="en-US" dirty="0" smtClean="0"/>
              <a:t>请求</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cs typeface="+mn-cs"/>
              </a:rPr>
              <a:t>注意：此时接受</a:t>
            </a:r>
            <a:r>
              <a:rPr lang="en-US" altLang="zh-CN" sz="1200" kern="1200" dirty="0" smtClean="0">
                <a:solidFill>
                  <a:schemeClr val="tx1"/>
                </a:solidFill>
                <a:latin typeface="+mn-lt"/>
                <a:ea typeface="+mn-ea"/>
                <a:cs typeface="+mn-cs"/>
              </a:rPr>
              <a:t>Accept</a:t>
            </a:r>
            <a:r>
              <a:rPr lang="zh-CN" altLang="en-US" sz="1200" kern="1200" dirty="0" smtClean="0">
                <a:solidFill>
                  <a:schemeClr val="tx1"/>
                </a:solidFill>
                <a:latin typeface="+mn-lt"/>
                <a:ea typeface="+mn-ea"/>
                <a:cs typeface="+mn-cs"/>
              </a:rPr>
              <a:t>请求的</a:t>
            </a:r>
            <a:r>
              <a:rPr lang="en-US" altLang="zh-CN" sz="1200" kern="1200" dirty="0" smtClean="0">
                <a:solidFill>
                  <a:schemeClr val="tx1"/>
                </a:solidFill>
                <a:latin typeface="+mn-lt"/>
                <a:ea typeface="+mn-ea"/>
                <a:cs typeface="+mn-cs"/>
              </a:rPr>
              <a:t>Acceptor</a:t>
            </a:r>
            <a:r>
              <a:rPr lang="zh-CN" altLang="en-US" sz="1200" kern="1200" dirty="0" smtClean="0">
                <a:solidFill>
                  <a:schemeClr val="tx1"/>
                </a:solidFill>
                <a:latin typeface="+mn-lt"/>
                <a:ea typeface="+mn-ea"/>
                <a:cs typeface="+mn-cs"/>
              </a:rPr>
              <a:t>集合不一定是之前响应</a:t>
            </a:r>
            <a:r>
              <a:rPr lang="en-US" altLang="zh-CN" sz="1200" kern="1200" dirty="0" smtClean="0">
                <a:solidFill>
                  <a:schemeClr val="tx1"/>
                </a:solidFill>
                <a:latin typeface="+mn-lt"/>
                <a:ea typeface="+mn-ea"/>
                <a:cs typeface="+mn-cs"/>
              </a:rPr>
              <a:t>Prepare</a:t>
            </a:r>
            <a:r>
              <a:rPr lang="zh-CN" altLang="en-US" sz="1200" kern="1200" dirty="0" smtClean="0">
                <a:solidFill>
                  <a:schemeClr val="tx1"/>
                </a:solidFill>
                <a:latin typeface="+mn-lt"/>
                <a:ea typeface="+mn-ea"/>
                <a:cs typeface="+mn-cs"/>
              </a:rPr>
              <a:t>请求的</a:t>
            </a:r>
            <a:r>
              <a:rPr lang="en-US" altLang="zh-CN" sz="1200" kern="1200" dirty="0" smtClean="0">
                <a:solidFill>
                  <a:schemeClr val="tx1"/>
                </a:solidFill>
                <a:latin typeface="+mn-lt"/>
                <a:ea typeface="+mn-ea"/>
                <a:cs typeface="+mn-cs"/>
              </a:rPr>
              <a:t>Acceptor</a:t>
            </a:r>
            <a:r>
              <a:rPr lang="zh-CN" altLang="en-US" sz="1200" kern="1200" dirty="0" smtClean="0">
                <a:solidFill>
                  <a:schemeClr val="tx1"/>
                </a:solidFill>
                <a:latin typeface="+mn-lt"/>
                <a:ea typeface="+mn-ea"/>
                <a:cs typeface="+mn-cs"/>
              </a:rPr>
              <a:t>集合</a:t>
            </a:r>
            <a:endParaRPr lang="en-US" altLang="zh-CN" sz="1200" kern="1200" dirty="0" smtClean="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16</a:t>
            </a:fld>
            <a:endParaRPr lang="zh-CN" altLang="en-US"/>
          </a:p>
        </p:txBody>
      </p:sp>
    </p:spTree>
    <p:extLst>
      <p:ext uri="{BB962C8B-B14F-4D97-AF65-F5344CB8AC3E}">
        <p14:creationId xmlns:p14="http://schemas.microsoft.com/office/powerpoint/2010/main" val="537710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a:t>
            </a:r>
            <a:r>
              <a:rPr lang="en-US" altLang="zh-CN" dirty="0" smtClean="0"/>
              <a:t>Acceptor</a:t>
            </a:r>
            <a:r>
              <a:rPr lang="zh-CN" altLang="en-US" dirty="0" smtClean="0"/>
              <a:t>是怎样的呢，它会收到两种请求，</a:t>
            </a:r>
            <a:r>
              <a:rPr lang="en-US" altLang="zh-CN" dirty="0" smtClean="0"/>
              <a:t>prepare request</a:t>
            </a:r>
            <a:r>
              <a:rPr lang="zh-CN" altLang="en-US" dirty="0" smtClean="0"/>
              <a:t>和</a:t>
            </a:r>
            <a:r>
              <a:rPr lang="en-US" altLang="zh-CN" dirty="0" smtClean="0"/>
              <a:t>accept request</a:t>
            </a:r>
          </a:p>
          <a:p>
            <a:r>
              <a:rPr lang="zh-CN" altLang="en-US" dirty="0" smtClean="0"/>
              <a:t>不用担心算法的安全性的情况下，</a:t>
            </a:r>
            <a:r>
              <a:rPr lang="en-US" altLang="zh-CN" dirty="0" smtClean="0"/>
              <a:t>acceptor</a:t>
            </a:r>
            <a:r>
              <a:rPr lang="zh-CN" altLang="en-US" dirty="0" smtClean="0"/>
              <a:t>可以忽略任何请求，</a:t>
            </a:r>
            <a:endParaRPr lang="en-US" altLang="zh-CN" dirty="0" smtClean="0"/>
          </a:p>
          <a:p>
            <a:r>
              <a:rPr lang="zh-CN" altLang="en-US" dirty="0" smtClean="0"/>
              <a:t>那么</a:t>
            </a:r>
            <a:r>
              <a:rPr lang="en-US" altLang="zh-CN" dirty="0" smtClean="0"/>
              <a:t>acceptor</a:t>
            </a:r>
            <a:r>
              <a:rPr lang="zh-CN" altLang="en-US" dirty="0" smtClean="0"/>
              <a:t>什么时候接受一个提案呢？</a:t>
            </a:r>
            <a:endParaRPr lang="en-US" altLang="zh-CN" dirty="0" smtClean="0"/>
          </a:p>
          <a:p>
            <a:r>
              <a:rPr lang="zh-CN" altLang="en-US" dirty="0" smtClean="0"/>
              <a:t>上面我们提到了，</a:t>
            </a:r>
            <a:r>
              <a:rPr lang="en-US" altLang="zh-CN" dirty="0" smtClean="0"/>
              <a:t>acceptor</a:t>
            </a:r>
            <a:r>
              <a:rPr lang="zh-CN" altLang="en-US" dirty="0" smtClean="0"/>
              <a:t>会做出承诺，</a:t>
            </a:r>
            <a:endParaRPr lang="en-US" altLang="zh-CN" dirty="0" smtClean="0"/>
          </a:p>
          <a:p>
            <a:r>
              <a:rPr lang="zh-CN" altLang="en-US" dirty="0" smtClean="0"/>
              <a:t>所以我们将约束</a:t>
            </a:r>
            <a:r>
              <a:rPr lang="en-US" altLang="zh-CN" dirty="0" smtClean="0"/>
              <a:t>P1</a:t>
            </a:r>
            <a:r>
              <a:rPr lang="zh-CN" altLang="en-US" dirty="0" smtClean="0"/>
              <a:t>做优化，</a:t>
            </a:r>
            <a:endParaRPr lang="en-US" altLang="zh-CN" dirty="0" smtClean="0"/>
          </a:p>
          <a:p>
            <a:r>
              <a:rPr lang="zh-CN" altLang="en-US" dirty="0" smtClean="0"/>
              <a:t>一个</a:t>
            </a:r>
            <a:r>
              <a:rPr lang="en-US" altLang="zh-CN" dirty="0" smtClean="0"/>
              <a:t>Acceptor</a:t>
            </a:r>
            <a:r>
              <a:rPr lang="zh-CN" altLang="en-US" dirty="0" smtClean="0"/>
              <a:t>只要没有响应过任何编号大于</a:t>
            </a:r>
            <a:r>
              <a:rPr lang="en-US" altLang="zh-CN" dirty="0" smtClean="0"/>
              <a:t>N</a:t>
            </a:r>
            <a:r>
              <a:rPr lang="zh-CN" altLang="en-US" dirty="0" smtClean="0"/>
              <a:t>的</a:t>
            </a:r>
            <a:r>
              <a:rPr lang="en-US" altLang="zh-CN" dirty="0" smtClean="0"/>
              <a:t>Prepare</a:t>
            </a:r>
            <a:r>
              <a:rPr lang="zh-CN" altLang="en-US" dirty="0" smtClean="0"/>
              <a:t>请求，那么他就可以接受这个编号为</a:t>
            </a:r>
            <a:r>
              <a:rPr lang="en-US" altLang="zh-CN" dirty="0" smtClean="0"/>
              <a:t>N</a:t>
            </a:r>
            <a:r>
              <a:rPr lang="zh-CN" altLang="en-US" dirty="0" smtClean="0"/>
              <a:t>的提案。</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17</a:t>
            </a:fld>
            <a:endParaRPr lang="zh-CN" altLang="en-US"/>
          </a:p>
        </p:txBody>
      </p:sp>
    </p:spTree>
    <p:extLst>
      <p:ext uri="{BB962C8B-B14F-4D97-AF65-F5344CB8AC3E}">
        <p14:creationId xmlns:p14="http://schemas.microsoft.com/office/powerpoint/2010/main" val="4051843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对于一个</a:t>
            </a:r>
            <a:r>
              <a:rPr lang="en-US" altLang="zh-CN" dirty="0" smtClean="0"/>
              <a:t>Acceptor</a:t>
            </a:r>
            <a:r>
              <a:rPr lang="zh-CN" altLang="en-US" dirty="0" smtClean="0"/>
              <a:t>，收到了编号为</a:t>
            </a:r>
            <a:r>
              <a:rPr lang="en-US" altLang="zh-CN" dirty="0" smtClean="0"/>
              <a:t>N</a:t>
            </a:r>
            <a:r>
              <a:rPr lang="zh-CN" altLang="en-US" dirty="0" smtClean="0"/>
              <a:t>的</a:t>
            </a:r>
            <a:r>
              <a:rPr lang="en-US" altLang="zh-CN" dirty="0" smtClean="0"/>
              <a:t>prepare </a:t>
            </a:r>
            <a:r>
              <a:rPr lang="zh-CN" altLang="en-US" dirty="0" smtClean="0"/>
              <a:t>请求，这时候如果他已经响应了一个编号大于</a:t>
            </a:r>
            <a:r>
              <a:rPr lang="en-US" altLang="zh-CN" dirty="0" smtClean="0"/>
              <a:t>N</a:t>
            </a:r>
            <a:r>
              <a:rPr lang="zh-CN" altLang="en-US" dirty="0" smtClean="0"/>
              <a:t>的</a:t>
            </a:r>
            <a:r>
              <a:rPr lang="en-US" altLang="zh-CN" dirty="0" smtClean="0"/>
              <a:t>prepare</a:t>
            </a:r>
            <a:r>
              <a:rPr lang="zh-CN" altLang="en-US" dirty="0" smtClean="0"/>
              <a:t>请求的话，他肯定不会接受这个编号为</a:t>
            </a:r>
            <a:r>
              <a:rPr lang="en-US" altLang="zh-CN" dirty="0" smtClean="0"/>
              <a:t>N</a:t>
            </a:r>
            <a:r>
              <a:rPr lang="zh-CN" altLang="en-US" dirty="0" smtClean="0"/>
              <a:t>的提案，所以可以直接忽略这个请求，</a:t>
            </a:r>
            <a:endParaRPr lang="en-US" altLang="zh-CN" dirty="0" smtClean="0"/>
          </a:p>
          <a:p>
            <a:r>
              <a:rPr lang="zh-CN" altLang="en-US" dirty="0" smtClean="0"/>
              <a:t>如果他已经接受了编号为</a:t>
            </a:r>
            <a:r>
              <a:rPr lang="en-US" altLang="zh-CN" dirty="0" smtClean="0"/>
              <a:t>N</a:t>
            </a:r>
            <a:r>
              <a:rPr lang="zh-CN" altLang="en-US" dirty="0" smtClean="0"/>
              <a:t>的提案也没有必要重新在接受一次，所以可以直接忽略。</a:t>
            </a:r>
            <a:endParaRPr lang="en-US" altLang="zh-CN" dirty="0" smtClean="0"/>
          </a:p>
          <a:p>
            <a:endParaRPr lang="en-US" altLang="zh-CN" dirty="0" smtClean="0"/>
          </a:p>
          <a:p>
            <a:r>
              <a:rPr lang="zh-CN" altLang="en-US" dirty="0" smtClean="0"/>
              <a:t>总的来说，每个</a:t>
            </a:r>
            <a:r>
              <a:rPr lang="en-US" altLang="zh-CN" dirty="0" smtClean="0"/>
              <a:t>Acceptor</a:t>
            </a:r>
            <a:r>
              <a:rPr lang="zh-CN" altLang="en-US" dirty="0" smtClean="0"/>
              <a:t>要保存的信息有两个，一个是已经响应的最大编号</a:t>
            </a:r>
            <a:r>
              <a:rPr lang="en-US" altLang="zh-CN" dirty="0" err="1" smtClean="0"/>
              <a:t>ResN</a:t>
            </a:r>
            <a:r>
              <a:rPr lang="zh-CN" altLang="en-US" dirty="0" smtClean="0"/>
              <a:t>，一个是已经接受的最大编号的提案，包括提案编号</a:t>
            </a:r>
            <a:r>
              <a:rPr lang="en-US" altLang="zh-CN" dirty="0" err="1" smtClean="0"/>
              <a:t>AcceptN</a:t>
            </a:r>
            <a:r>
              <a:rPr lang="zh-CN" altLang="en-US" dirty="0" smtClean="0"/>
              <a:t>和提案的值</a:t>
            </a:r>
            <a:r>
              <a:rPr lang="en-US" altLang="zh-CN" dirty="0" err="1" smtClean="0"/>
              <a:t>AcceptV</a:t>
            </a:r>
            <a:r>
              <a:rPr lang="en-US" altLang="zh-CN" dirty="0" smtClean="0"/>
              <a:t>.</a:t>
            </a:r>
          </a:p>
        </p:txBody>
      </p:sp>
      <p:sp>
        <p:nvSpPr>
          <p:cNvPr id="4" name="灯片编号占位符 3"/>
          <p:cNvSpPr>
            <a:spLocks noGrp="1"/>
          </p:cNvSpPr>
          <p:nvPr>
            <p:ph type="sldNum" sz="quarter" idx="10"/>
          </p:nvPr>
        </p:nvSpPr>
        <p:spPr/>
        <p:txBody>
          <a:bodyPr/>
          <a:lstStyle/>
          <a:p>
            <a:fld id="{D0CB2870-F9FE-472D-85DD-A20DBA6C0993}" type="slidenum">
              <a:rPr lang="zh-CN" altLang="en-US" smtClean="0"/>
              <a:t>18</a:t>
            </a:fld>
            <a:endParaRPr lang="zh-CN" altLang="en-US"/>
          </a:p>
        </p:txBody>
      </p:sp>
    </p:spTree>
    <p:extLst>
      <p:ext uri="{BB962C8B-B14F-4D97-AF65-F5344CB8AC3E}">
        <p14:creationId xmlns:p14="http://schemas.microsoft.com/office/powerpoint/2010/main" val="4208228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下面我们把</a:t>
            </a:r>
            <a:r>
              <a:rPr lang="en-US" altLang="zh-CN" dirty="0" smtClean="0"/>
              <a:t>proposer</a:t>
            </a:r>
            <a:r>
              <a:rPr lang="zh-CN" altLang="en-US" dirty="0" smtClean="0"/>
              <a:t>和</a:t>
            </a:r>
            <a:r>
              <a:rPr lang="en-US" altLang="zh-CN" dirty="0" smtClean="0"/>
              <a:t>acceptor</a:t>
            </a:r>
            <a:r>
              <a:rPr lang="zh-CN" altLang="en-US" dirty="0" smtClean="0"/>
              <a:t>两者结合起来，总结一下</a:t>
            </a:r>
            <a:r>
              <a:rPr lang="en-US" altLang="zh-CN" dirty="0" err="1" smtClean="0"/>
              <a:t>paxos</a:t>
            </a:r>
            <a:r>
              <a:rPr lang="zh-CN" altLang="en-US" dirty="0" smtClean="0"/>
              <a:t>算法的基本过程，</a:t>
            </a:r>
            <a:endParaRPr lang="en-US" altLang="zh-CN" dirty="0" smtClean="0"/>
          </a:p>
          <a:p>
            <a:r>
              <a:rPr lang="zh-CN" altLang="en-US" dirty="0" smtClean="0"/>
              <a:t>这个过程有点像</a:t>
            </a:r>
            <a:r>
              <a:rPr lang="en-US" altLang="zh-CN" dirty="0" smtClean="0"/>
              <a:t>TCP</a:t>
            </a:r>
            <a:r>
              <a:rPr lang="zh-CN" altLang="en-US" dirty="0" smtClean="0"/>
              <a:t>终止协议中的四次挥手，</a:t>
            </a:r>
            <a:endParaRPr lang="en-US" altLang="zh-CN" dirty="0" smtClean="0"/>
          </a:p>
          <a:p>
            <a:r>
              <a:rPr lang="zh-CN" altLang="en-US" dirty="0" smtClean="0"/>
              <a:t>首先，</a:t>
            </a:r>
            <a:r>
              <a:rPr lang="en-US" altLang="zh-CN" dirty="0" smtClean="0"/>
              <a:t>Proposer</a:t>
            </a:r>
            <a:r>
              <a:rPr lang="zh-CN" altLang="en-US" dirty="0" smtClean="0"/>
              <a:t>选择一个新的提案编号</a:t>
            </a:r>
            <a:r>
              <a:rPr lang="en-US" altLang="zh-CN" dirty="0" smtClean="0"/>
              <a:t>N,</a:t>
            </a:r>
            <a:r>
              <a:rPr lang="zh-CN" altLang="en-US" dirty="0" smtClean="0"/>
              <a:t>然后向</a:t>
            </a:r>
            <a:r>
              <a:rPr lang="en-US" altLang="zh-CN" dirty="0" smtClean="0"/>
              <a:t>Acceptor</a:t>
            </a:r>
            <a:r>
              <a:rPr lang="zh-CN" altLang="en-US" dirty="0" smtClean="0"/>
              <a:t>集合广播，发送准备请求 </a:t>
            </a:r>
            <a:r>
              <a:rPr lang="en-US" altLang="zh-CN" dirty="0" smtClean="0"/>
              <a:t>prepare request,</a:t>
            </a:r>
          </a:p>
          <a:p>
            <a:endParaRPr lang="en-US" altLang="zh-CN" dirty="0" smtClean="0"/>
          </a:p>
          <a:p>
            <a:r>
              <a:rPr lang="en-US" altLang="zh-CN" dirty="0" smtClean="0"/>
              <a:t>Acceptor</a:t>
            </a:r>
            <a:r>
              <a:rPr lang="zh-CN" altLang="en-US" dirty="0" smtClean="0"/>
              <a:t>集合中的每个</a:t>
            </a:r>
            <a:r>
              <a:rPr lang="en-US" altLang="zh-CN" dirty="0" smtClean="0"/>
              <a:t>Acceptor</a:t>
            </a:r>
            <a:r>
              <a:rPr lang="zh-CN" altLang="en-US" dirty="0" smtClean="0"/>
              <a:t>做出响应，如果</a:t>
            </a:r>
            <a:r>
              <a:rPr lang="en-US" altLang="zh-CN" dirty="0" smtClean="0"/>
              <a:t>N</a:t>
            </a:r>
            <a:r>
              <a:rPr lang="zh-CN" altLang="en-US" dirty="0" smtClean="0"/>
              <a:t>小于等于已经响应的最大编号，则拒绝，如果</a:t>
            </a:r>
            <a:r>
              <a:rPr lang="en-US" altLang="zh-CN" dirty="0" smtClean="0"/>
              <a:t>N</a:t>
            </a:r>
            <a:r>
              <a:rPr lang="zh-CN" altLang="en-US" dirty="0" smtClean="0"/>
              <a:t>大于已经响应的最大编号，表明这是个更大编号的新的提案，让</a:t>
            </a:r>
            <a:r>
              <a:rPr lang="en-US" altLang="zh-CN" dirty="0" err="1" smtClean="0"/>
              <a:t>ResN</a:t>
            </a:r>
            <a:r>
              <a:rPr lang="en-US" altLang="zh-CN" dirty="0" smtClean="0"/>
              <a:t>=N, </a:t>
            </a:r>
            <a:r>
              <a:rPr lang="zh-CN" altLang="en-US" dirty="0" smtClean="0"/>
              <a:t>返回</a:t>
            </a:r>
            <a:r>
              <a:rPr lang="en-US" altLang="zh-CN" dirty="0" err="1" smtClean="0"/>
              <a:t>Pok</a:t>
            </a:r>
            <a:r>
              <a:rPr lang="zh-CN" altLang="en-US" dirty="0" smtClean="0"/>
              <a:t>接受，并且如果之前接受过提案的话，返回接受过得最大编号的提案。</a:t>
            </a:r>
            <a:endParaRPr lang="en-US" altLang="zh-CN" dirty="0" smtClean="0"/>
          </a:p>
          <a:p>
            <a:endParaRPr lang="en-US" altLang="zh-CN" dirty="0" smtClean="0"/>
          </a:p>
          <a:p>
            <a:r>
              <a:rPr lang="zh-CN" altLang="en-US" dirty="0" smtClean="0"/>
              <a:t>如果</a:t>
            </a:r>
            <a:r>
              <a:rPr lang="en-US" altLang="zh-CN" dirty="0" smtClean="0"/>
              <a:t>Proposer</a:t>
            </a:r>
            <a:r>
              <a:rPr lang="zh-CN" altLang="en-US" dirty="0" smtClean="0"/>
              <a:t>收到了半数以上</a:t>
            </a:r>
            <a:r>
              <a:rPr lang="en-US" altLang="zh-CN" dirty="0" smtClean="0"/>
              <a:t>Acceptor</a:t>
            </a:r>
            <a:r>
              <a:rPr lang="zh-CN" altLang="en-US" dirty="0" smtClean="0"/>
              <a:t>的响应，那么他就可以生成编号</a:t>
            </a:r>
            <a:r>
              <a:rPr lang="en-US" altLang="zh-CN" dirty="0" smtClean="0"/>
              <a:t>N</a:t>
            </a:r>
            <a:r>
              <a:rPr lang="zh-CN" altLang="en-US" dirty="0" smtClean="0"/>
              <a:t>，值为</a:t>
            </a:r>
            <a:r>
              <a:rPr lang="en-US" altLang="zh-CN" dirty="0" smtClean="0"/>
              <a:t>V</a:t>
            </a:r>
            <a:r>
              <a:rPr lang="zh-CN" altLang="en-US" dirty="0" smtClean="0"/>
              <a:t>的提案</a:t>
            </a:r>
            <a:r>
              <a:rPr lang="en-US" altLang="zh-CN" dirty="0" smtClean="0"/>
              <a:t>【N,V】</a:t>
            </a:r>
            <a:r>
              <a:rPr lang="zh-CN" altLang="en-US" dirty="0" smtClean="0"/>
              <a:t>，如果响应中有提案的话</a:t>
            </a:r>
            <a:r>
              <a:rPr lang="en-US" altLang="zh-CN" dirty="0" smtClean="0"/>
              <a:t>V</a:t>
            </a:r>
            <a:r>
              <a:rPr lang="zh-CN" altLang="en-US" dirty="0" smtClean="0"/>
              <a:t>等于响应中最大编号的提案的</a:t>
            </a:r>
            <a:r>
              <a:rPr lang="en-US" altLang="zh-CN" dirty="0" smtClean="0"/>
              <a:t>V</a:t>
            </a:r>
            <a:r>
              <a:rPr lang="zh-CN" altLang="en-US" dirty="0" smtClean="0"/>
              <a:t>，响应中没有提案的话，</a:t>
            </a:r>
            <a:r>
              <a:rPr lang="en-US" altLang="zh-CN" dirty="0" smtClean="0"/>
              <a:t>V</a:t>
            </a:r>
            <a:r>
              <a:rPr lang="zh-CN" altLang="en-US" dirty="0" smtClean="0"/>
              <a:t>由</a:t>
            </a:r>
            <a:r>
              <a:rPr lang="en-US" altLang="zh-CN" dirty="0" smtClean="0"/>
              <a:t>proposer</a:t>
            </a:r>
            <a:r>
              <a:rPr lang="zh-CN" altLang="en-US" dirty="0" smtClean="0"/>
              <a:t>自己确定。然后把这个提案向</a:t>
            </a:r>
            <a:r>
              <a:rPr lang="en-US" altLang="zh-CN" dirty="0" smtClean="0"/>
              <a:t>Acceptor</a:t>
            </a:r>
            <a:r>
              <a:rPr lang="zh-CN" altLang="en-US" dirty="0" smtClean="0"/>
              <a:t>集合广播发送接受请求</a:t>
            </a:r>
            <a:r>
              <a:rPr lang="en-US" altLang="zh-CN" dirty="0" smtClean="0"/>
              <a:t>accept request</a:t>
            </a:r>
            <a:r>
              <a:rPr lang="zh-CN" altLang="en-US" dirty="0" smtClean="0"/>
              <a:t>， 如果响应没有超过半数则返回第一阶段重新开始。</a:t>
            </a:r>
            <a:endParaRPr lang="en-US" altLang="zh-CN" dirty="0" smtClean="0"/>
          </a:p>
          <a:p>
            <a:endParaRPr lang="en-US" altLang="zh-CN" dirty="0" smtClean="0"/>
          </a:p>
          <a:p>
            <a:r>
              <a:rPr lang="en-US" altLang="zh-CN" dirty="0" smtClean="0"/>
              <a:t>Acceptor</a:t>
            </a:r>
            <a:r>
              <a:rPr lang="zh-CN" altLang="en-US" dirty="0" smtClean="0"/>
              <a:t>集合接受到</a:t>
            </a:r>
            <a:r>
              <a:rPr lang="en-US" altLang="zh-CN" dirty="0" smtClean="0"/>
              <a:t>accept</a:t>
            </a:r>
            <a:r>
              <a:rPr lang="zh-CN" altLang="en-US" dirty="0" smtClean="0"/>
              <a:t>请求后，做出回应，如果提案的编号</a:t>
            </a:r>
            <a:r>
              <a:rPr lang="en-US" altLang="zh-CN" dirty="0" smtClean="0"/>
              <a:t>N</a:t>
            </a:r>
            <a:r>
              <a:rPr lang="zh-CN" altLang="en-US" dirty="0" smtClean="0"/>
              <a:t>大于等于目前保存的最大编号</a:t>
            </a:r>
            <a:r>
              <a:rPr lang="en-US" altLang="zh-CN" dirty="0" err="1" smtClean="0"/>
              <a:t>ResN</a:t>
            </a:r>
            <a:r>
              <a:rPr lang="en-US" altLang="zh-CN" dirty="0" smtClean="0"/>
              <a:t>,</a:t>
            </a:r>
            <a:r>
              <a:rPr lang="zh-CN" altLang="en-US" dirty="0" smtClean="0"/>
              <a:t>则接受这个提案，回复</a:t>
            </a:r>
            <a:r>
              <a:rPr lang="en-US" altLang="zh-CN" dirty="0" err="1" smtClean="0"/>
              <a:t>Aok</a:t>
            </a:r>
            <a:r>
              <a:rPr lang="zh-CN" altLang="en-US" dirty="0" smtClean="0"/>
              <a:t>，更新信息，把</a:t>
            </a:r>
            <a:r>
              <a:rPr lang="en-US" altLang="zh-CN" dirty="0" err="1" smtClean="0"/>
              <a:t>AcceptN</a:t>
            </a:r>
            <a:r>
              <a:rPr lang="zh-CN" altLang="en-US" dirty="0" smtClean="0"/>
              <a:t>和</a:t>
            </a:r>
            <a:r>
              <a:rPr lang="en-US" altLang="zh-CN" dirty="0" err="1" smtClean="0"/>
              <a:t>AcceptV</a:t>
            </a:r>
            <a:r>
              <a:rPr lang="zh-CN" altLang="en-US" dirty="0" smtClean="0"/>
              <a:t>更新成新提案的</a:t>
            </a:r>
            <a:r>
              <a:rPr lang="en-US" altLang="zh-CN" dirty="0" smtClean="0"/>
              <a:t>N </a:t>
            </a:r>
            <a:r>
              <a:rPr lang="zh-CN" altLang="en-US" dirty="0" smtClean="0"/>
              <a:t>和</a:t>
            </a:r>
            <a:r>
              <a:rPr lang="en-US" altLang="zh-CN" dirty="0" smtClean="0"/>
              <a:t>V</a:t>
            </a:r>
            <a:r>
              <a:rPr lang="zh-CN" altLang="en-US" dirty="0" smtClean="0"/>
              <a:t>，如果接收到的填编号小于</a:t>
            </a:r>
            <a:r>
              <a:rPr lang="en-US" altLang="zh-CN" dirty="0" err="1" smtClean="0"/>
              <a:t>ResN</a:t>
            </a:r>
            <a:r>
              <a:rPr lang="zh-CN" altLang="en-US" dirty="0" smtClean="0"/>
              <a:t>的话，直接选择拒绝。</a:t>
            </a:r>
            <a:endParaRPr lang="en-US" altLang="zh-CN" dirty="0" smtClean="0"/>
          </a:p>
          <a:p>
            <a:endParaRPr lang="en-US" altLang="zh-CN" dirty="0" smtClean="0"/>
          </a:p>
          <a:p>
            <a:r>
              <a:rPr lang="en-US" altLang="zh-CN" dirty="0" smtClean="0"/>
              <a:t>Proposer</a:t>
            </a:r>
            <a:r>
              <a:rPr lang="zh-CN" altLang="en-US" dirty="0" smtClean="0"/>
              <a:t>收到半数以上</a:t>
            </a:r>
            <a:r>
              <a:rPr lang="en-US" altLang="zh-CN" dirty="0" smtClean="0"/>
              <a:t>Acceptor</a:t>
            </a:r>
            <a:r>
              <a:rPr lang="zh-CN" altLang="en-US" dirty="0" smtClean="0"/>
              <a:t>的回应以后，则</a:t>
            </a:r>
            <a:r>
              <a:rPr lang="en-US" altLang="zh-CN" dirty="0" smtClean="0"/>
              <a:t>V</a:t>
            </a:r>
            <a:r>
              <a:rPr lang="zh-CN" altLang="en-US" dirty="0" smtClean="0"/>
              <a:t>被选定，否则返回到第一节点重新开始。</a:t>
            </a:r>
            <a:endParaRPr lang="en-US" altLang="zh-CN" dirty="0" smtClean="0"/>
          </a:p>
          <a:p>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19</a:t>
            </a:fld>
            <a:endParaRPr lang="zh-CN" altLang="en-US"/>
          </a:p>
        </p:txBody>
      </p:sp>
    </p:spTree>
    <p:extLst>
      <p:ext uri="{BB962C8B-B14F-4D97-AF65-F5344CB8AC3E}">
        <p14:creationId xmlns:p14="http://schemas.microsoft.com/office/powerpoint/2010/main" val="3243058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对于一个</a:t>
            </a:r>
            <a:r>
              <a:rPr lang="en-US" altLang="zh-CN" dirty="0" smtClean="0"/>
              <a:t>Learner </a:t>
            </a:r>
            <a:r>
              <a:rPr lang="zh-CN" altLang="en-US" dirty="0" smtClean="0"/>
              <a:t>想要学习</a:t>
            </a:r>
            <a:r>
              <a:rPr lang="en-US" altLang="zh-CN" dirty="0" smtClean="0"/>
              <a:t>Acceptor</a:t>
            </a:r>
          </a:p>
          <a:p>
            <a:r>
              <a:rPr lang="zh-CN" altLang="en-US" dirty="0" smtClean="0"/>
              <a:t>第一种方案是</a:t>
            </a:r>
            <a:r>
              <a:rPr lang="en-US" altLang="zh-CN" dirty="0" smtClean="0"/>
              <a:t>Acceptor</a:t>
            </a:r>
            <a:r>
              <a:rPr lang="zh-CN" altLang="en-US" dirty="0" smtClean="0"/>
              <a:t>每接受一个提案，就把提案发送给所有</a:t>
            </a:r>
            <a:r>
              <a:rPr lang="en-US" altLang="zh-CN" dirty="0" smtClean="0"/>
              <a:t>learner,</a:t>
            </a:r>
            <a:r>
              <a:rPr lang="zh-CN" altLang="en-US" dirty="0" smtClean="0"/>
              <a:t>这种方案的优点是</a:t>
            </a:r>
            <a:r>
              <a:rPr lang="en-US" altLang="zh-CN" dirty="0" smtClean="0"/>
              <a:t>learner</a:t>
            </a:r>
            <a:r>
              <a:rPr lang="zh-CN" altLang="en-US" dirty="0" smtClean="0"/>
              <a:t>能够快速学习到被选定的</a:t>
            </a:r>
            <a:r>
              <a:rPr lang="en-US" altLang="zh-CN" dirty="0" smtClean="0"/>
              <a:t>value</a:t>
            </a:r>
            <a:r>
              <a:rPr lang="zh-CN" altLang="en-US" dirty="0" smtClean="0"/>
              <a:t>，但是通信代价会很大，</a:t>
            </a:r>
            <a:r>
              <a:rPr lang="en-US" altLang="zh-CN" dirty="0" smtClean="0"/>
              <a:t>M</a:t>
            </a:r>
            <a:r>
              <a:rPr lang="zh-CN" altLang="en-US" dirty="0" smtClean="0"/>
              <a:t>个</a:t>
            </a:r>
            <a:r>
              <a:rPr lang="en-US" altLang="zh-CN" dirty="0" smtClean="0"/>
              <a:t>acceptor</a:t>
            </a:r>
            <a:r>
              <a:rPr lang="zh-CN" altLang="en-US" dirty="0" smtClean="0"/>
              <a:t>和</a:t>
            </a:r>
            <a:r>
              <a:rPr lang="en-US" altLang="zh-CN" dirty="0" smtClean="0"/>
              <a:t>N</a:t>
            </a:r>
            <a:r>
              <a:rPr lang="zh-CN" altLang="en-US" dirty="0" smtClean="0"/>
              <a:t>个</a:t>
            </a:r>
            <a:r>
              <a:rPr lang="en-US" altLang="zh-CN" dirty="0" smtClean="0"/>
              <a:t>learner</a:t>
            </a:r>
            <a:r>
              <a:rPr lang="zh-CN" altLang="en-US" dirty="0" smtClean="0"/>
              <a:t>的情况下，代价为</a:t>
            </a:r>
            <a:r>
              <a:rPr lang="en-US" altLang="zh-CN" dirty="0" smtClean="0"/>
              <a:t>M*N</a:t>
            </a:r>
          </a:p>
          <a:p>
            <a:r>
              <a:rPr lang="zh-CN" altLang="en-US" dirty="0" smtClean="0"/>
              <a:t>第二种方案是</a:t>
            </a:r>
            <a:r>
              <a:rPr lang="en-US" altLang="zh-CN" dirty="0" smtClean="0"/>
              <a:t>Acceptor</a:t>
            </a:r>
            <a:r>
              <a:rPr lang="zh-CN" altLang="en-US" dirty="0" smtClean="0"/>
              <a:t>接受了一个提案后，发给一个主</a:t>
            </a:r>
            <a:r>
              <a:rPr lang="en-US" altLang="zh-CN" dirty="0" smtClean="0"/>
              <a:t>Learner</a:t>
            </a:r>
            <a:r>
              <a:rPr lang="zh-CN" altLang="en-US" dirty="0" smtClean="0"/>
              <a:t>，然后这个主</a:t>
            </a:r>
            <a:r>
              <a:rPr lang="en-US" altLang="zh-CN" dirty="0" smtClean="0"/>
              <a:t>learner </a:t>
            </a:r>
            <a:r>
              <a:rPr lang="zh-CN" altLang="en-US" dirty="0" smtClean="0"/>
              <a:t>再将学到的提案分发给其他</a:t>
            </a:r>
            <a:r>
              <a:rPr lang="en-US" altLang="zh-CN" dirty="0" smtClean="0"/>
              <a:t>learner</a:t>
            </a:r>
            <a:r>
              <a:rPr lang="zh-CN" altLang="en-US" dirty="0" smtClean="0"/>
              <a:t>，这种方案的通信代价相比第一种降低了很多是</a:t>
            </a:r>
            <a:r>
              <a:rPr lang="en-US" altLang="zh-CN" dirty="0" smtClean="0"/>
              <a:t>M+N-1</a:t>
            </a:r>
            <a:r>
              <a:rPr lang="zh-CN" altLang="en-US" dirty="0" smtClean="0"/>
              <a:t>，但是多了一轮学习，并且可能出现单点故障，可靠性低。</a:t>
            </a:r>
            <a:endParaRPr lang="en-US" altLang="zh-CN" dirty="0" smtClean="0"/>
          </a:p>
          <a:p>
            <a:r>
              <a:rPr lang="zh-CN" altLang="en-US" dirty="0" smtClean="0"/>
              <a:t>第三种方案在第二种方案张进行了扩展，</a:t>
            </a:r>
            <a:r>
              <a:rPr lang="en-US" altLang="zh-CN" dirty="0" smtClean="0"/>
              <a:t>Acceptor</a:t>
            </a:r>
            <a:r>
              <a:rPr lang="zh-CN" altLang="en-US" dirty="0" smtClean="0"/>
              <a:t>接受提案后发给一个主</a:t>
            </a:r>
            <a:r>
              <a:rPr lang="en-US" altLang="zh-CN" dirty="0" smtClean="0"/>
              <a:t>learner</a:t>
            </a:r>
            <a:r>
              <a:rPr lang="zh-CN" altLang="en-US" dirty="0" smtClean="0"/>
              <a:t>的集合，这个主</a:t>
            </a:r>
            <a:r>
              <a:rPr lang="en-US" altLang="zh-CN" dirty="0" smtClean="0"/>
              <a:t>learner</a:t>
            </a:r>
            <a:r>
              <a:rPr lang="zh-CN" altLang="en-US" dirty="0" smtClean="0"/>
              <a:t>集合在通知给其他的</a:t>
            </a:r>
            <a:r>
              <a:rPr lang="en-US" altLang="zh-CN" dirty="0" smtClean="0"/>
              <a:t>learner</a:t>
            </a:r>
          </a:p>
          <a:p>
            <a:r>
              <a:rPr lang="zh-CN" altLang="en-US" dirty="0" smtClean="0"/>
              <a:t>这样可靠性比第二种方案强但是网络通信的复杂度会很高</a:t>
            </a:r>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20</a:t>
            </a:fld>
            <a:endParaRPr lang="zh-CN" altLang="en-US"/>
          </a:p>
        </p:txBody>
      </p:sp>
    </p:spTree>
    <p:extLst>
      <p:ext uri="{BB962C8B-B14F-4D97-AF65-F5344CB8AC3E}">
        <p14:creationId xmlns:p14="http://schemas.microsoft.com/office/powerpoint/2010/main" val="2195451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下面我们来看一个实例。</a:t>
            </a:r>
            <a:endParaRPr lang="en-US" altLang="zh-CN" dirty="0" smtClean="0"/>
          </a:p>
          <a:p>
            <a:r>
              <a:rPr lang="en-US" altLang="zh-CN" dirty="0" smtClean="0"/>
              <a:t>Proposer1</a:t>
            </a:r>
            <a:r>
              <a:rPr lang="en-US" altLang="zh-CN" baseline="0" dirty="0" smtClean="0"/>
              <a:t> </a:t>
            </a:r>
            <a:r>
              <a:rPr lang="zh-CN" altLang="en-US" baseline="0" dirty="0" smtClean="0"/>
              <a:t>发起提案编号为</a:t>
            </a:r>
            <a:r>
              <a:rPr lang="en-US" altLang="zh-CN" baseline="0" dirty="0" smtClean="0"/>
              <a:t>N1</a:t>
            </a:r>
            <a:r>
              <a:rPr lang="zh-CN" altLang="en-US" baseline="0" dirty="0" smtClean="0"/>
              <a:t>的</a:t>
            </a:r>
            <a:r>
              <a:rPr lang="en-US" altLang="zh-CN" baseline="0" dirty="0" smtClean="0"/>
              <a:t>prepare </a:t>
            </a:r>
            <a:r>
              <a:rPr lang="zh-CN" altLang="en-US" baseline="0" dirty="0" smtClean="0"/>
              <a:t>请求，广播给</a:t>
            </a:r>
            <a:r>
              <a:rPr lang="en-US" altLang="zh-CN" baseline="0" dirty="0" smtClean="0"/>
              <a:t>Acceptor</a:t>
            </a:r>
            <a:r>
              <a:rPr lang="zh-CN" altLang="en-US" baseline="0" dirty="0" smtClean="0"/>
              <a:t>集合，由于网络原因</a:t>
            </a:r>
            <a:r>
              <a:rPr lang="en-US" altLang="zh-CN" baseline="0" dirty="0" smtClean="0"/>
              <a:t>Acceptor3</a:t>
            </a:r>
            <a:r>
              <a:rPr lang="zh-CN" altLang="en-US" baseline="0" dirty="0" smtClean="0"/>
              <a:t>没有收到，</a:t>
            </a:r>
            <a:r>
              <a:rPr lang="en-US" altLang="zh-CN" baseline="0" dirty="0" smtClean="0"/>
              <a:t>Acceptor1</a:t>
            </a:r>
            <a:r>
              <a:rPr lang="zh-CN" altLang="en-US" baseline="0" dirty="0" smtClean="0"/>
              <a:t>和</a:t>
            </a:r>
            <a:r>
              <a:rPr lang="en-US" altLang="zh-CN" baseline="0" dirty="0" smtClean="0"/>
              <a:t>Acceptor2</a:t>
            </a:r>
            <a:r>
              <a:rPr lang="zh-CN" altLang="en-US" baseline="0" dirty="0" smtClean="0"/>
              <a:t>收到了以后做出响应，保存</a:t>
            </a:r>
            <a:r>
              <a:rPr lang="en-US" altLang="zh-CN" baseline="0" dirty="0" smtClean="0"/>
              <a:t>N1</a:t>
            </a:r>
            <a:r>
              <a:rPr lang="zh-CN" altLang="en-US" baseline="0" dirty="0" smtClean="0"/>
              <a:t>，他们之前都没接受过提案，所以回复</a:t>
            </a:r>
            <a:r>
              <a:rPr lang="en-US" altLang="zh-CN" baseline="0" dirty="0" err="1" smtClean="0"/>
              <a:t>Aok</a:t>
            </a:r>
            <a:r>
              <a:rPr lang="zh-CN" altLang="en-US" baseline="0" dirty="0" smtClean="0"/>
              <a:t>，表示可以接受。</a:t>
            </a:r>
            <a:endParaRPr lang="en-US" altLang="zh-CN" baseline="0" dirty="0" smtClean="0"/>
          </a:p>
          <a:p>
            <a:r>
              <a:rPr lang="zh-CN" altLang="en-US" baseline="0" dirty="0" smtClean="0"/>
              <a:t>之后，</a:t>
            </a:r>
            <a:r>
              <a:rPr lang="en-US" altLang="zh-CN" baseline="0" dirty="0" smtClean="0"/>
              <a:t>proposer2</a:t>
            </a:r>
            <a:r>
              <a:rPr lang="zh-CN" altLang="en-US" baseline="0" dirty="0" smtClean="0"/>
              <a:t>发起了编号</a:t>
            </a:r>
            <a:r>
              <a:rPr lang="en-US" altLang="zh-CN" baseline="0" dirty="0" smtClean="0"/>
              <a:t>N2</a:t>
            </a:r>
            <a:r>
              <a:rPr lang="zh-CN" altLang="en-US" baseline="0" dirty="0" smtClean="0"/>
              <a:t>的</a:t>
            </a:r>
            <a:r>
              <a:rPr lang="en-US" altLang="zh-CN" baseline="0" dirty="0" smtClean="0"/>
              <a:t>prepare</a:t>
            </a:r>
            <a:r>
              <a:rPr lang="zh-CN" altLang="en-US" baseline="0" dirty="0" smtClean="0"/>
              <a:t>请求，广播给</a:t>
            </a:r>
            <a:r>
              <a:rPr lang="en-US" altLang="zh-CN" baseline="0" dirty="0" smtClean="0"/>
              <a:t>Acceptor</a:t>
            </a:r>
            <a:r>
              <a:rPr lang="zh-CN" altLang="en-US" baseline="0" dirty="0" smtClean="0"/>
              <a:t>集合，由于网络原因</a:t>
            </a:r>
            <a:r>
              <a:rPr lang="en-US" altLang="zh-CN" baseline="0" dirty="0" smtClean="0"/>
              <a:t>Acceptor1</a:t>
            </a:r>
            <a:r>
              <a:rPr lang="zh-CN" altLang="en-US" baseline="0" dirty="0" smtClean="0"/>
              <a:t>灭有收到，</a:t>
            </a:r>
            <a:r>
              <a:rPr lang="en-US" altLang="zh-CN" baseline="0" dirty="0" smtClean="0"/>
              <a:t>Acceptor2 </a:t>
            </a:r>
            <a:r>
              <a:rPr lang="zh-CN" altLang="en-US" baseline="0" dirty="0" smtClean="0"/>
              <a:t>和</a:t>
            </a:r>
            <a:r>
              <a:rPr lang="en-US" altLang="zh-CN" baseline="0" dirty="0" smtClean="0"/>
              <a:t>Acceptor3</a:t>
            </a:r>
            <a:r>
              <a:rPr lang="zh-CN" altLang="en-US" baseline="0" dirty="0" smtClean="0"/>
              <a:t>收到做出响应，保存</a:t>
            </a:r>
            <a:r>
              <a:rPr lang="en-US" altLang="zh-CN" baseline="0" dirty="0" smtClean="0"/>
              <a:t>N2</a:t>
            </a:r>
            <a:r>
              <a:rPr lang="zh-CN" altLang="en-US" baseline="0" dirty="0" smtClean="0"/>
              <a:t>，回复</a:t>
            </a:r>
            <a:r>
              <a:rPr lang="en-US" altLang="zh-CN" baseline="0" dirty="0" err="1" smtClean="0"/>
              <a:t>Aok</a:t>
            </a:r>
            <a:r>
              <a:rPr lang="en-US" altLang="zh-CN" baseline="0" dirty="0" smtClean="0"/>
              <a:t>,</a:t>
            </a:r>
            <a:r>
              <a:rPr lang="zh-CN" altLang="en-US" baseline="0" dirty="0" smtClean="0"/>
              <a:t>表示接受。</a:t>
            </a:r>
            <a:endParaRPr lang="en-US" altLang="zh-CN" baseline="0" dirty="0" smtClean="0"/>
          </a:p>
          <a:p>
            <a:r>
              <a:rPr lang="en-US" altLang="zh-CN" baseline="0" dirty="0" smtClean="0"/>
              <a:t>Proposer1</a:t>
            </a:r>
            <a:r>
              <a:rPr lang="zh-CN" altLang="en-US" baseline="0" dirty="0" smtClean="0"/>
              <a:t>收到</a:t>
            </a:r>
            <a:r>
              <a:rPr lang="en-US" altLang="zh-CN" baseline="0" dirty="0" smtClean="0"/>
              <a:t>Acceptor1</a:t>
            </a:r>
            <a:r>
              <a:rPr lang="zh-CN" altLang="en-US" baseline="0" dirty="0" smtClean="0"/>
              <a:t>和</a:t>
            </a:r>
            <a:r>
              <a:rPr lang="en-US" altLang="zh-CN" baseline="0" dirty="0" smtClean="0"/>
              <a:t>2</a:t>
            </a:r>
            <a:r>
              <a:rPr lang="zh-CN" altLang="en-US" baseline="0" dirty="0" smtClean="0"/>
              <a:t>的回复后，已经超过了半数，所以提出提案</a:t>
            </a:r>
            <a:r>
              <a:rPr lang="en-US" altLang="zh-CN" baseline="0" dirty="0" smtClean="0"/>
              <a:t>【N1,V1】,</a:t>
            </a:r>
            <a:r>
              <a:rPr lang="zh-CN" altLang="en-US" baseline="0" dirty="0" smtClean="0"/>
              <a:t>发送</a:t>
            </a:r>
            <a:r>
              <a:rPr lang="en-US" altLang="zh-CN" baseline="0" dirty="0" smtClean="0"/>
              <a:t>accept</a:t>
            </a:r>
            <a:r>
              <a:rPr lang="zh-CN" altLang="en-US" baseline="0" dirty="0" smtClean="0"/>
              <a:t>请求，</a:t>
            </a:r>
            <a:r>
              <a:rPr lang="en-US" altLang="zh-CN" baseline="0" dirty="0" smtClean="0"/>
              <a:t>Acceptor1</a:t>
            </a:r>
            <a:r>
              <a:rPr lang="zh-CN" altLang="en-US" baseline="0" dirty="0" smtClean="0"/>
              <a:t>收到后，跟自己保存的编号相同都是</a:t>
            </a:r>
            <a:r>
              <a:rPr lang="en-US" altLang="zh-CN" baseline="0" dirty="0" smtClean="0"/>
              <a:t>N1</a:t>
            </a:r>
            <a:r>
              <a:rPr lang="zh-CN" altLang="en-US" baseline="0" dirty="0" smtClean="0"/>
              <a:t>，所以回复接受，</a:t>
            </a:r>
            <a:r>
              <a:rPr lang="en-US" altLang="zh-CN" baseline="0" dirty="0" smtClean="0"/>
              <a:t>Acceptor2</a:t>
            </a:r>
            <a:r>
              <a:rPr lang="zh-CN" altLang="en-US" baseline="0" dirty="0" smtClean="0"/>
              <a:t>发现小于自己保存的编号</a:t>
            </a:r>
            <a:r>
              <a:rPr lang="en-US" altLang="zh-CN" baseline="0" dirty="0" smtClean="0"/>
              <a:t>N2</a:t>
            </a:r>
            <a:r>
              <a:rPr lang="zh-CN" altLang="en-US" baseline="0" dirty="0" smtClean="0"/>
              <a:t>，所以拒绝接受，回复给</a:t>
            </a:r>
            <a:r>
              <a:rPr lang="en-US" altLang="zh-CN" baseline="0" dirty="0" smtClean="0"/>
              <a:t>proposer1[reject,N2],</a:t>
            </a:r>
            <a:r>
              <a:rPr lang="zh-CN" altLang="en-US" baseline="0" dirty="0" smtClean="0"/>
              <a:t>这时候，</a:t>
            </a:r>
            <a:r>
              <a:rPr lang="en-US" altLang="zh-CN" baseline="0" dirty="0" smtClean="0"/>
              <a:t>Proposer1</a:t>
            </a:r>
            <a:r>
              <a:rPr lang="zh-CN" altLang="en-US" baseline="0" dirty="0" smtClean="0"/>
              <a:t>的提案失败了。</a:t>
            </a:r>
            <a:endParaRPr lang="en-US" altLang="zh-CN" baseline="0" dirty="0" smtClean="0"/>
          </a:p>
          <a:p>
            <a:r>
              <a:rPr lang="en-US" altLang="zh-CN" baseline="0" dirty="0" smtClean="0"/>
              <a:t>Proposer2</a:t>
            </a:r>
            <a:r>
              <a:rPr lang="zh-CN" altLang="en-US" baseline="0" dirty="0" smtClean="0"/>
              <a:t>收到</a:t>
            </a:r>
            <a:r>
              <a:rPr lang="en-US" altLang="zh-CN" baseline="0" dirty="0" smtClean="0"/>
              <a:t>Acceptor2</a:t>
            </a:r>
            <a:r>
              <a:rPr lang="zh-CN" altLang="en-US" baseline="0" dirty="0" smtClean="0"/>
              <a:t>和</a:t>
            </a:r>
            <a:r>
              <a:rPr lang="en-US" altLang="zh-CN" baseline="0" dirty="0" smtClean="0"/>
              <a:t>3</a:t>
            </a:r>
            <a:r>
              <a:rPr lang="zh-CN" altLang="en-US" baseline="0" dirty="0" smtClean="0"/>
              <a:t>的回复后，也超过了半数响应，所以提出提案</a:t>
            </a:r>
            <a:r>
              <a:rPr lang="en-US" altLang="zh-CN" baseline="0" dirty="0" smtClean="0"/>
              <a:t>【N2,V2】</a:t>
            </a:r>
            <a:r>
              <a:rPr lang="zh-CN" altLang="en-US" baseline="0" dirty="0" smtClean="0"/>
              <a:t>，发送</a:t>
            </a:r>
            <a:r>
              <a:rPr lang="en-US" altLang="zh-CN" baseline="0" dirty="0" smtClean="0"/>
              <a:t>accept</a:t>
            </a:r>
            <a:r>
              <a:rPr lang="zh-CN" altLang="en-US" baseline="0" dirty="0" smtClean="0"/>
              <a:t>请求，</a:t>
            </a:r>
            <a:r>
              <a:rPr lang="en-US" altLang="zh-CN" baseline="0" dirty="0" smtClean="0"/>
              <a:t>Acceptor2</a:t>
            </a:r>
            <a:r>
              <a:rPr lang="zh-CN" altLang="en-US" baseline="0" dirty="0" smtClean="0"/>
              <a:t>和</a:t>
            </a:r>
            <a:r>
              <a:rPr lang="en-US" altLang="zh-CN" baseline="0" dirty="0" smtClean="0"/>
              <a:t>3 </a:t>
            </a:r>
            <a:r>
              <a:rPr lang="zh-CN" altLang="en-US" baseline="0" dirty="0" smtClean="0"/>
              <a:t>收到后，都跟自己保存的编号相同，都是</a:t>
            </a:r>
            <a:r>
              <a:rPr lang="en-US" altLang="zh-CN" baseline="0" dirty="0" smtClean="0"/>
              <a:t>N2</a:t>
            </a:r>
            <a:r>
              <a:rPr lang="zh-CN" altLang="en-US" baseline="0" dirty="0" smtClean="0"/>
              <a:t>，两者都回复接受。这时候</a:t>
            </a:r>
            <a:r>
              <a:rPr lang="en-US" altLang="zh-CN" baseline="0" dirty="0" smtClean="0"/>
              <a:t>Proposer2</a:t>
            </a:r>
            <a:r>
              <a:rPr lang="zh-CN" altLang="en-US" baseline="0" dirty="0" smtClean="0"/>
              <a:t>的提案成功了。</a:t>
            </a:r>
            <a:endParaRPr lang="en-US" altLang="zh-CN" baseline="0" dirty="0" smtClean="0"/>
          </a:p>
          <a:p>
            <a:r>
              <a:rPr lang="zh-CN" altLang="en-US" baseline="0" dirty="0" smtClean="0"/>
              <a:t>因为</a:t>
            </a:r>
            <a:r>
              <a:rPr lang="en-US" altLang="zh-CN" baseline="0" dirty="0" smtClean="0"/>
              <a:t>Proposer1</a:t>
            </a:r>
            <a:r>
              <a:rPr lang="zh-CN" altLang="en-US" baseline="0" dirty="0" smtClean="0"/>
              <a:t>的提案被拒绝了，所以它重新提出提案，首先发出编号</a:t>
            </a:r>
            <a:r>
              <a:rPr lang="en-US" altLang="zh-CN" baseline="0" dirty="0" smtClean="0"/>
              <a:t>N3</a:t>
            </a:r>
            <a:r>
              <a:rPr lang="zh-CN" altLang="en-US" baseline="0" dirty="0" smtClean="0"/>
              <a:t>的</a:t>
            </a:r>
            <a:r>
              <a:rPr lang="en-US" altLang="zh-CN" baseline="0" dirty="0" smtClean="0"/>
              <a:t>prepare</a:t>
            </a:r>
            <a:r>
              <a:rPr lang="zh-CN" altLang="en-US" baseline="0" dirty="0" smtClean="0"/>
              <a:t>请求，广播给</a:t>
            </a:r>
            <a:r>
              <a:rPr lang="en-US" altLang="zh-CN" baseline="0" dirty="0" smtClean="0"/>
              <a:t>Acceptor</a:t>
            </a:r>
            <a:r>
              <a:rPr lang="zh-CN" altLang="en-US" baseline="0" dirty="0" smtClean="0"/>
              <a:t>集合，只有</a:t>
            </a:r>
            <a:r>
              <a:rPr lang="en-US" altLang="zh-CN" baseline="0" dirty="0" smtClean="0"/>
              <a:t>Acceptor1</a:t>
            </a:r>
            <a:r>
              <a:rPr lang="zh-CN" altLang="en-US" baseline="0" dirty="0" smtClean="0"/>
              <a:t>和</a:t>
            </a:r>
            <a:r>
              <a:rPr lang="en-US" altLang="zh-CN" baseline="0" dirty="0" smtClean="0"/>
              <a:t>2</a:t>
            </a:r>
            <a:r>
              <a:rPr lang="zh-CN" altLang="en-US" baseline="0" dirty="0" smtClean="0"/>
              <a:t>收到了，</a:t>
            </a:r>
            <a:r>
              <a:rPr lang="en-US" altLang="zh-CN" baseline="0" dirty="0" smtClean="0"/>
              <a:t>N3</a:t>
            </a:r>
            <a:r>
              <a:rPr lang="zh-CN" altLang="en-US" baseline="0" dirty="0" smtClean="0"/>
              <a:t>大于</a:t>
            </a:r>
            <a:r>
              <a:rPr lang="en-US" altLang="zh-CN" baseline="0" dirty="0" smtClean="0"/>
              <a:t>Acceptor1</a:t>
            </a:r>
            <a:r>
              <a:rPr lang="zh-CN" altLang="en-US" baseline="0" dirty="0" smtClean="0"/>
              <a:t>之前保存的编号</a:t>
            </a:r>
            <a:r>
              <a:rPr lang="en-US" altLang="zh-CN" baseline="0" dirty="0" smtClean="0"/>
              <a:t>N1</a:t>
            </a:r>
            <a:r>
              <a:rPr lang="zh-CN" altLang="en-US" baseline="0" dirty="0" smtClean="0"/>
              <a:t>，返回接受过的提案</a:t>
            </a:r>
            <a:r>
              <a:rPr lang="en-US" altLang="zh-CN" baseline="0" dirty="0" smtClean="0"/>
              <a:t>【N1,V1】</a:t>
            </a:r>
            <a:r>
              <a:rPr lang="zh-CN" altLang="en-US" baseline="0" dirty="0" smtClean="0"/>
              <a:t>，</a:t>
            </a:r>
            <a:r>
              <a:rPr lang="en-US" altLang="zh-CN" baseline="0" dirty="0" smtClean="0"/>
              <a:t>N3</a:t>
            </a:r>
            <a:r>
              <a:rPr lang="zh-CN" altLang="en-US" baseline="0" dirty="0" smtClean="0"/>
              <a:t>大于</a:t>
            </a:r>
            <a:r>
              <a:rPr lang="en-US" altLang="zh-CN" baseline="0" dirty="0" smtClean="0"/>
              <a:t>Acceptor2</a:t>
            </a:r>
            <a:r>
              <a:rPr lang="zh-CN" altLang="en-US" baseline="0" dirty="0" smtClean="0"/>
              <a:t>接受的编号</a:t>
            </a:r>
            <a:r>
              <a:rPr lang="en-US" altLang="zh-CN" baseline="0" dirty="0" smtClean="0"/>
              <a:t>N2</a:t>
            </a:r>
            <a:r>
              <a:rPr lang="zh-CN" altLang="en-US" baseline="0" dirty="0" smtClean="0"/>
              <a:t>，所以返回它之前接受过的提案</a:t>
            </a:r>
            <a:r>
              <a:rPr lang="en-US" altLang="zh-CN" baseline="0" dirty="0" smtClean="0"/>
              <a:t>【N2,V2】</a:t>
            </a:r>
            <a:r>
              <a:rPr lang="zh-CN" altLang="en-US" baseline="0" dirty="0" smtClean="0"/>
              <a:t>，</a:t>
            </a:r>
            <a:endParaRPr lang="en-US" altLang="zh-CN" baseline="0" dirty="0" smtClean="0"/>
          </a:p>
          <a:p>
            <a:r>
              <a:rPr lang="en-US" altLang="zh-CN" baseline="0" dirty="0" smtClean="0"/>
              <a:t>Proposer1</a:t>
            </a:r>
            <a:r>
              <a:rPr lang="zh-CN" altLang="en-US" baseline="0" dirty="0" smtClean="0"/>
              <a:t>收到了半数以上的回复，提出提案，编号</a:t>
            </a:r>
            <a:r>
              <a:rPr lang="en-US" altLang="zh-CN" baseline="0" dirty="0" smtClean="0"/>
              <a:t>N3</a:t>
            </a:r>
            <a:r>
              <a:rPr lang="zh-CN" altLang="en-US" baseline="0" dirty="0" smtClean="0"/>
              <a:t>，这里的</a:t>
            </a:r>
            <a:r>
              <a:rPr lang="en-US" altLang="zh-CN" baseline="0" dirty="0" smtClean="0"/>
              <a:t>V3</a:t>
            </a:r>
            <a:r>
              <a:rPr lang="zh-CN" altLang="en-US" baseline="0" dirty="0" smtClean="0"/>
              <a:t>是收到的回复中编号最大的提案对应的</a:t>
            </a:r>
            <a:r>
              <a:rPr lang="en-US" altLang="zh-CN" baseline="0" dirty="0" smtClean="0"/>
              <a:t>Value</a:t>
            </a:r>
            <a:r>
              <a:rPr lang="zh-CN" altLang="en-US" baseline="0" dirty="0" smtClean="0"/>
              <a:t>，也就是</a:t>
            </a:r>
            <a:r>
              <a:rPr lang="en-US" altLang="zh-CN" baseline="0" dirty="0" smtClean="0"/>
              <a:t>V2</a:t>
            </a:r>
            <a:r>
              <a:rPr lang="zh-CN" altLang="en-US" baseline="0" dirty="0" smtClean="0"/>
              <a:t>，所以新的提案是</a:t>
            </a:r>
            <a:r>
              <a:rPr lang="en-US" altLang="zh-CN" baseline="0" dirty="0" smtClean="0"/>
              <a:t>【N3,V2】</a:t>
            </a:r>
            <a:r>
              <a:rPr lang="zh-CN" altLang="en-US" baseline="0" dirty="0" smtClean="0"/>
              <a:t>，将这个</a:t>
            </a:r>
            <a:r>
              <a:rPr lang="en-US" altLang="zh-CN" baseline="0" dirty="0" smtClean="0"/>
              <a:t>Accept</a:t>
            </a:r>
            <a:r>
              <a:rPr lang="zh-CN" altLang="en-US" baseline="0" dirty="0" smtClean="0"/>
              <a:t>请求广播出去，</a:t>
            </a:r>
            <a:endParaRPr lang="en-US" altLang="zh-CN" baseline="0" dirty="0" smtClean="0"/>
          </a:p>
          <a:p>
            <a:r>
              <a:rPr lang="en-US" altLang="zh-CN" baseline="0" dirty="0" smtClean="0"/>
              <a:t>Acceptor2</a:t>
            </a:r>
            <a:r>
              <a:rPr lang="zh-CN" altLang="en-US" baseline="0" dirty="0" smtClean="0"/>
              <a:t>和</a:t>
            </a:r>
            <a:r>
              <a:rPr lang="en-US" altLang="zh-CN" baseline="0" dirty="0" smtClean="0"/>
              <a:t>3</a:t>
            </a:r>
            <a:r>
              <a:rPr lang="zh-CN" altLang="en-US" baseline="0" dirty="0" smtClean="0"/>
              <a:t>都收到了新的提案，并且编号都等于自己目前现在保存的编号</a:t>
            </a:r>
            <a:r>
              <a:rPr lang="en-US" altLang="zh-CN" baseline="0" dirty="0" smtClean="0"/>
              <a:t>N3</a:t>
            </a:r>
            <a:r>
              <a:rPr lang="zh-CN" altLang="en-US" baseline="0" dirty="0" smtClean="0"/>
              <a:t>，所以接受这个提案，返回</a:t>
            </a:r>
            <a:r>
              <a:rPr lang="en-US" altLang="zh-CN" baseline="0" dirty="0" smtClean="0"/>
              <a:t>Accept</a:t>
            </a:r>
            <a:r>
              <a:rPr lang="zh-CN" altLang="en-US" baseline="0" dirty="0" smtClean="0"/>
              <a:t>，</a:t>
            </a:r>
            <a:r>
              <a:rPr lang="en-US" altLang="zh-CN" baseline="0" dirty="0" smtClean="0"/>
              <a:t>proposer1</a:t>
            </a:r>
            <a:r>
              <a:rPr lang="zh-CN" altLang="en-US" baseline="0" dirty="0" smtClean="0"/>
              <a:t>收到了半数以上的回复，确认提案被接受。</a:t>
            </a:r>
            <a:endParaRPr lang="en-US" altLang="zh-CN" baseline="0" dirty="0" smtClean="0"/>
          </a:p>
          <a:p>
            <a:r>
              <a:rPr lang="zh-CN" altLang="en-US" baseline="0" dirty="0" smtClean="0"/>
              <a:t>这时候所有的</a:t>
            </a:r>
            <a:r>
              <a:rPr lang="en-US" altLang="zh-CN" baseline="0" dirty="0" smtClean="0"/>
              <a:t>proposer</a:t>
            </a:r>
            <a:r>
              <a:rPr lang="zh-CN" altLang="en-US" baseline="0" dirty="0" smtClean="0"/>
              <a:t>和</a:t>
            </a:r>
            <a:r>
              <a:rPr lang="en-US" altLang="zh-CN" baseline="0" dirty="0" smtClean="0"/>
              <a:t>acceptor</a:t>
            </a:r>
            <a:r>
              <a:rPr lang="zh-CN" altLang="en-US" baseline="0" dirty="0" smtClean="0"/>
              <a:t>都对</a:t>
            </a:r>
            <a:r>
              <a:rPr lang="en-US" altLang="zh-CN" baseline="0" dirty="0" smtClean="0"/>
              <a:t>N2</a:t>
            </a:r>
            <a:r>
              <a:rPr lang="zh-CN" altLang="en-US" baseline="0" dirty="0" smtClean="0"/>
              <a:t>达成了一致，完成共识！</a:t>
            </a:r>
            <a:endParaRPr lang="en-US" altLang="zh-CN" baseline="0"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21</a:t>
            </a:fld>
            <a:endParaRPr lang="zh-CN" altLang="en-US"/>
          </a:p>
        </p:txBody>
      </p:sp>
    </p:spTree>
    <p:extLst>
      <p:ext uri="{BB962C8B-B14F-4D97-AF65-F5344CB8AC3E}">
        <p14:creationId xmlns:p14="http://schemas.microsoft.com/office/powerpoint/2010/main" val="1425762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下面看一下如何保证算法的活性。</a:t>
            </a:r>
            <a:endParaRPr lang="en-US" altLang="zh-CN" dirty="0" smtClean="0"/>
          </a:p>
          <a:p>
            <a:r>
              <a:rPr lang="zh-CN" altLang="en-US" dirty="0" smtClean="0"/>
              <a:t>试想一个这样的场景，两个</a:t>
            </a:r>
            <a:r>
              <a:rPr lang="en-US" altLang="zh-CN" dirty="0" smtClean="0"/>
              <a:t>Proposer</a:t>
            </a:r>
            <a:r>
              <a:rPr lang="zh-CN" altLang="en-US" dirty="0" smtClean="0"/>
              <a:t>依次递增地提出提案，最后会陷入一个死循环，没有</a:t>
            </a:r>
            <a:r>
              <a:rPr lang="en-US" altLang="zh-CN" dirty="0" smtClean="0"/>
              <a:t>value</a:t>
            </a:r>
            <a:r>
              <a:rPr lang="zh-CN" altLang="en-US" dirty="0" smtClean="0"/>
              <a:t>被选定。</a:t>
            </a:r>
            <a:endParaRPr lang="en-US" altLang="zh-CN" dirty="0" smtClean="0"/>
          </a:p>
          <a:p>
            <a:r>
              <a:rPr lang="en-US" altLang="zh-CN" dirty="0" smtClean="0"/>
              <a:t>Proposer</a:t>
            </a:r>
            <a:r>
              <a:rPr lang="en-US" altLang="zh-CN" baseline="0" dirty="0" smtClean="0"/>
              <a:t> P</a:t>
            </a:r>
            <a:r>
              <a:rPr lang="zh-CN" altLang="en-US" baseline="0" dirty="0" smtClean="0"/>
              <a:t>提出编号</a:t>
            </a:r>
            <a:r>
              <a:rPr lang="en-US" altLang="zh-CN" baseline="0" dirty="0" smtClean="0"/>
              <a:t>N1</a:t>
            </a:r>
            <a:r>
              <a:rPr lang="zh-CN" altLang="en-US" baseline="0" dirty="0" smtClean="0"/>
              <a:t>的</a:t>
            </a:r>
            <a:r>
              <a:rPr lang="en-US" altLang="zh-CN" baseline="0" dirty="0" smtClean="0"/>
              <a:t>prepare </a:t>
            </a:r>
            <a:r>
              <a:rPr lang="zh-CN" altLang="en-US" baseline="0" dirty="0" smtClean="0"/>
              <a:t>请求，收到过半响应，完成第一阶段。</a:t>
            </a:r>
            <a:endParaRPr lang="en-US" altLang="zh-CN" baseline="0" dirty="0" smtClean="0"/>
          </a:p>
          <a:p>
            <a:r>
              <a:rPr lang="zh-CN" altLang="en-US" baseline="0" dirty="0" smtClean="0"/>
              <a:t>然后</a:t>
            </a:r>
            <a:r>
              <a:rPr lang="en-US" altLang="zh-CN" baseline="0" dirty="0" smtClean="0"/>
              <a:t>Proposer Q </a:t>
            </a:r>
            <a:r>
              <a:rPr lang="zh-CN" altLang="en-US" baseline="0" dirty="0" smtClean="0"/>
              <a:t>提出编号</a:t>
            </a:r>
            <a:r>
              <a:rPr lang="en-US" altLang="zh-CN" baseline="0" dirty="0" smtClean="0"/>
              <a:t>N2</a:t>
            </a:r>
            <a:r>
              <a:rPr lang="zh-CN" altLang="en-US" baseline="0" dirty="0" smtClean="0"/>
              <a:t>的</a:t>
            </a:r>
            <a:r>
              <a:rPr lang="en-US" altLang="zh-CN" baseline="0" dirty="0" smtClean="0"/>
              <a:t>prepare</a:t>
            </a:r>
            <a:r>
              <a:rPr lang="zh-CN" altLang="en-US" baseline="0" dirty="0" smtClean="0"/>
              <a:t>请求，</a:t>
            </a:r>
            <a:r>
              <a:rPr lang="en-US" altLang="zh-CN" baseline="0" dirty="0" smtClean="0"/>
              <a:t>N2</a:t>
            </a:r>
            <a:r>
              <a:rPr lang="zh-CN" altLang="en-US" baseline="0" dirty="0" smtClean="0"/>
              <a:t>大于</a:t>
            </a:r>
            <a:r>
              <a:rPr lang="en-US" altLang="zh-CN" baseline="0" dirty="0" smtClean="0"/>
              <a:t>N1</a:t>
            </a:r>
            <a:r>
              <a:rPr lang="zh-CN" altLang="en-US" baseline="0" dirty="0" smtClean="0"/>
              <a:t>，收到过半响应，也完成了第一阶段，</a:t>
            </a:r>
            <a:endParaRPr lang="en-US" altLang="zh-CN" baseline="0" dirty="0" smtClean="0"/>
          </a:p>
          <a:p>
            <a:r>
              <a:rPr lang="zh-CN" altLang="en-US" baseline="0" dirty="0" smtClean="0"/>
              <a:t>这时候</a:t>
            </a:r>
            <a:r>
              <a:rPr lang="en-US" altLang="zh-CN" baseline="0" dirty="0" smtClean="0"/>
              <a:t>P</a:t>
            </a:r>
            <a:r>
              <a:rPr lang="zh-CN" altLang="en-US" baseline="0" dirty="0" smtClean="0"/>
              <a:t>进入第二阶段，发出编号</a:t>
            </a:r>
            <a:r>
              <a:rPr lang="en-US" altLang="zh-CN" baseline="0" dirty="0" smtClean="0"/>
              <a:t>N1</a:t>
            </a:r>
            <a:r>
              <a:rPr lang="zh-CN" altLang="en-US" baseline="0" dirty="0" smtClean="0"/>
              <a:t>的</a:t>
            </a:r>
            <a:r>
              <a:rPr lang="en-US" altLang="zh-CN" baseline="0" dirty="0" smtClean="0"/>
              <a:t>accept</a:t>
            </a:r>
            <a:r>
              <a:rPr lang="zh-CN" altLang="en-US" baseline="0" dirty="0" smtClean="0"/>
              <a:t>请求，由于</a:t>
            </a:r>
            <a:r>
              <a:rPr lang="en-US" altLang="zh-CN" baseline="0" dirty="0" smtClean="0"/>
              <a:t>acceptor</a:t>
            </a:r>
            <a:r>
              <a:rPr lang="zh-CN" altLang="en-US" baseline="0" dirty="0" smtClean="0"/>
              <a:t>已经接受了更大的编号</a:t>
            </a:r>
            <a:r>
              <a:rPr lang="en-US" altLang="zh-CN" baseline="0" dirty="0" smtClean="0"/>
              <a:t>N2</a:t>
            </a:r>
            <a:r>
              <a:rPr lang="zh-CN" altLang="en-US" baseline="0" dirty="0" smtClean="0"/>
              <a:t>，所以拒绝编号</a:t>
            </a:r>
            <a:r>
              <a:rPr lang="en-US" altLang="zh-CN" baseline="0" dirty="0" smtClean="0"/>
              <a:t>N1</a:t>
            </a:r>
            <a:r>
              <a:rPr lang="zh-CN" altLang="en-US" baseline="0" dirty="0" smtClean="0"/>
              <a:t>的提案，然后</a:t>
            </a:r>
            <a:r>
              <a:rPr lang="en-US" altLang="zh-CN" baseline="0" dirty="0" smtClean="0"/>
              <a:t>P</a:t>
            </a:r>
            <a:r>
              <a:rPr lang="zh-CN" altLang="en-US" baseline="0" dirty="0" smtClean="0"/>
              <a:t>返回第一阶段提出编号</a:t>
            </a:r>
            <a:r>
              <a:rPr lang="en-US" altLang="zh-CN" baseline="0" dirty="0" smtClean="0"/>
              <a:t>N3</a:t>
            </a:r>
            <a:r>
              <a:rPr lang="zh-CN" altLang="en-US" baseline="0" dirty="0" smtClean="0"/>
              <a:t>的</a:t>
            </a:r>
            <a:r>
              <a:rPr lang="en-US" altLang="zh-CN" baseline="0" dirty="0" smtClean="0"/>
              <a:t>prepare</a:t>
            </a:r>
            <a:r>
              <a:rPr lang="zh-CN" altLang="en-US" baseline="0" dirty="0" smtClean="0"/>
              <a:t>请求，</a:t>
            </a:r>
            <a:r>
              <a:rPr lang="en-US" altLang="zh-CN" baseline="0" dirty="0" smtClean="0"/>
              <a:t>N3</a:t>
            </a:r>
            <a:r>
              <a:rPr lang="zh-CN" altLang="en-US" baseline="0" dirty="0" smtClean="0"/>
              <a:t>被接受以后</a:t>
            </a:r>
            <a:endParaRPr lang="en-US" altLang="zh-CN" baseline="0" dirty="0" smtClean="0"/>
          </a:p>
          <a:p>
            <a:r>
              <a:rPr lang="zh-CN" altLang="en-US" baseline="0" dirty="0" smtClean="0"/>
              <a:t>这样导致</a:t>
            </a:r>
            <a:r>
              <a:rPr lang="en-US" altLang="zh-CN" baseline="0" dirty="0" smtClean="0"/>
              <a:t>Q</a:t>
            </a:r>
            <a:r>
              <a:rPr lang="zh-CN" altLang="en-US" baseline="0" dirty="0" smtClean="0"/>
              <a:t>进入第二阶段发出编号</a:t>
            </a:r>
            <a:r>
              <a:rPr lang="en-US" altLang="zh-CN" baseline="0" dirty="0" smtClean="0"/>
              <a:t>N2</a:t>
            </a:r>
            <a:r>
              <a:rPr lang="zh-CN" altLang="en-US" baseline="0" dirty="0" smtClean="0"/>
              <a:t>的</a:t>
            </a:r>
            <a:r>
              <a:rPr lang="en-US" altLang="zh-CN" baseline="0" dirty="0" smtClean="0"/>
              <a:t>accept</a:t>
            </a:r>
            <a:r>
              <a:rPr lang="zh-CN" altLang="en-US" baseline="0" dirty="0" smtClean="0"/>
              <a:t>请求的时候，又会被拒绝，</a:t>
            </a:r>
            <a:r>
              <a:rPr lang="en-US" altLang="zh-CN" baseline="0" dirty="0" smtClean="0"/>
              <a:t>Q</a:t>
            </a:r>
            <a:r>
              <a:rPr lang="zh-CN" altLang="en-US" baseline="0" dirty="0" smtClean="0"/>
              <a:t>又返回第一阶段提出编号</a:t>
            </a:r>
            <a:r>
              <a:rPr lang="en-US" altLang="zh-CN" baseline="0" dirty="0" smtClean="0"/>
              <a:t>N4</a:t>
            </a:r>
            <a:r>
              <a:rPr lang="zh-CN" altLang="en-US" baseline="0" dirty="0" smtClean="0"/>
              <a:t>的</a:t>
            </a:r>
            <a:r>
              <a:rPr lang="en-US" altLang="zh-CN" baseline="0" dirty="0" smtClean="0"/>
              <a:t>prepare</a:t>
            </a:r>
            <a:r>
              <a:rPr lang="zh-CN" altLang="en-US" baseline="0" dirty="0" smtClean="0"/>
              <a:t>请求，</a:t>
            </a:r>
            <a:r>
              <a:rPr lang="en-US" altLang="zh-CN" baseline="0" dirty="0" smtClean="0"/>
              <a:t>N4</a:t>
            </a:r>
            <a:r>
              <a:rPr lang="zh-CN" altLang="en-US" baseline="0" dirty="0" smtClean="0"/>
              <a:t>大于</a:t>
            </a:r>
            <a:r>
              <a:rPr lang="en-US" altLang="zh-CN" baseline="0" dirty="0" smtClean="0"/>
              <a:t>N3</a:t>
            </a:r>
          </a:p>
          <a:p>
            <a:r>
              <a:rPr lang="zh-CN" altLang="en-US" baseline="0" dirty="0" smtClean="0"/>
              <a:t>这样会一直陷入一个死循环，两个</a:t>
            </a:r>
            <a:r>
              <a:rPr lang="en-US" altLang="zh-CN" baseline="0" dirty="0" smtClean="0"/>
              <a:t>Proposer</a:t>
            </a:r>
            <a:r>
              <a:rPr lang="zh-CN" altLang="en-US" baseline="0" dirty="0" smtClean="0"/>
              <a:t>都没有办法完成阶段</a:t>
            </a:r>
            <a:r>
              <a:rPr lang="en-US" altLang="zh-CN" baseline="0" dirty="0" smtClean="0"/>
              <a:t>2</a:t>
            </a:r>
            <a:r>
              <a:rPr lang="zh-CN" altLang="en-US" baseline="0" dirty="0" smtClean="0"/>
              <a:t>，没有</a:t>
            </a:r>
            <a:r>
              <a:rPr lang="en-US" altLang="zh-CN" baseline="0" dirty="0" smtClean="0"/>
              <a:t>value</a:t>
            </a:r>
            <a:r>
              <a:rPr lang="zh-CN" altLang="en-US" baseline="0" dirty="0" smtClean="0"/>
              <a:t>最终被选定。</a:t>
            </a:r>
            <a:endParaRPr lang="en-US" altLang="zh-CN" baseline="0" dirty="0" smtClean="0"/>
          </a:p>
          <a:p>
            <a:r>
              <a:rPr lang="zh-CN" altLang="en-US" baseline="0" dirty="0" smtClean="0"/>
              <a:t>解决方案就是选取一个主</a:t>
            </a:r>
            <a:r>
              <a:rPr lang="en-US" altLang="zh-CN" baseline="0" dirty="0" smtClean="0"/>
              <a:t>proposer,</a:t>
            </a:r>
            <a:r>
              <a:rPr lang="zh-CN" altLang="en-US" baseline="0" dirty="0" smtClean="0"/>
              <a:t>只有主</a:t>
            </a:r>
            <a:r>
              <a:rPr lang="en-US" altLang="zh-CN" baseline="0" dirty="0" smtClean="0"/>
              <a:t>proposer</a:t>
            </a:r>
            <a:r>
              <a:rPr lang="zh-CN" altLang="en-US" baseline="0" dirty="0" smtClean="0"/>
              <a:t>才能提出提案</a:t>
            </a:r>
            <a:endParaRPr lang="en-US" altLang="zh-CN" baseline="0" dirty="0" smtClean="0"/>
          </a:p>
          <a:p>
            <a:endParaRPr lang="en-US" altLang="zh-CN" baseline="0"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22</a:t>
            </a:fld>
            <a:endParaRPr lang="zh-CN" altLang="en-US"/>
          </a:p>
        </p:txBody>
      </p:sp>
    </p:spTree>
    <p:extLst>
      <p:ext uri="{BB962C8B-B14F-4D97-AF65-F5344CB8AC3E}">
        <p14:creationId xmlns:p14="http://schemas.microsoft.com/office/powerpoint/2010/main" val="2285123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区块链是一个分布式账本，区块链中的共识目标可以理解成由谁来构造区块</a:t>
            </a:r>
            <a:r>
              <a:rPr lang="en-US" altLang="zh-CN" dirty="0" smtClean="0"/>
              <a:t>,</a:t>
            </a:r>
            <a:r>
              <a:rPr lang="zh-CN" altLang="en-US" dirty="0" smtClean="0"/>
              <a:t>让所有诚实的节点保存一个一致的区块链视图。</a:t>
            </a:r>
            <a:endParaRPr lang="en-US" altLang="zh-CN" dirty="0" smtClean="0"/>
          </a:p>
          <a:p>
            <a:r>
              <a:rPr lang="zh-CN" altLang="en-US" dirty="0" smtClean="0"/>
              <a:t>共识机制需要满足两个性质：一个是一致性，也就是说所有诚实节点保存的区块链前缀部分是完全相同的，另一个是有效性，就是某个诚实节点发布的信息最终能够被其他诚实的节点记录在自己的区块链上</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23</a:t>
            </a:fld>
            <a:endParaRPr lang="zh-CN" altLang="en-US"/>
          </a:p>
        </p:txBody>
      </p:sp>
    </p:spTree>
    <p:extLst>
      <p:ext uri="{BB962C8B-B14F-4D97-AF65-F5344CB8AC3E}">
        <p14:creationId xmlns:p14="http://schemas.microsoft.com/office/powerpoint/2010/main" val="764337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区块链中是有可能存在恶意节点的，所以区块链中的共识是一个拜占庭问题，</a:t>
            </a:r>
            <a:endParaRPr lang="en-US" altLang="zh-CN" dirty="0" smtClean="0"/>
          </a:p>
          <a:p>
            <a:r>
              <a:rPr lang="zh-CN" altLang="en-US" dirty="0" smtClean="0"/>
              <a:t>处理拜占庭问题有两种思路，一种是通过提高作恶节点的成本来降低作恶节点出现的概率，，这种思路下的共识有</a:t>
            </a:r>
            <a:r>
              <a:rPr lang="en-US" altLang="zh-CN" dirty="0" smtClean="0"/>
              <a:t>POW,POS</a:t>
            </a:r>
            <a:r>
              <a:rPr lang="zh-CN" altLang="en-US" dirty="0" smtClean="0"/>
              <a:t>，另一种就是在允许一定的作恶节点出现的前提下，依然能够让各个节点之间达成一致性。比如实用拜占庭容错算法</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24</a:t>
            </a:fld>
            <a:endParaRPr lang="zh-CN" altLang="en-US"/>
          </a:p>
        </p:txBody>
      </p:sp>
    </p:spTree>
    <p:extLst>
      <p:ext uri="{BB962C8B-B14F-4D97-AF65-F5344CB8AC3E}">
        <p14:creationId xmlns:p14="http://schemas.microsoft.com/office/powerpoint/2010/main" val="2282952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POW</a:t>
            </a:r>
            <a:r>
              <a:rPr lang="zh-CN" altLang="en-US" dirty="0" smtClean="0"/>
              <a:t>作为数字货币共识最初在</a:t>
            </a:r>
            <a:r>
              <a:rPr lang="en-US" altLang="zh-CN" dirty="0" smtClean="0"/>
              <a:t>1998</a:t>
            </a:r>
            <a:r>
              <a:rPr lang="zh-CN" altLang="en-US" dirty="0" smtClean="0"/>
              <a:t>年</a:t>
            </a:r>
            <a:r>
              <a:rPr lang="en-US" altLang="zh-CN" dirty="0" smtClean="0"/>
              <a:t>B-money</a:t>
            </a:r>
            <a:r>
              <a:rPr lang="zh-CN" altLang="en-US" dirty="0" smtClean="0"/>
              <a:t>中提出来，</a:t>
            </a:r>
            <a:r>
              <a:rPr lang="en-US" altLang="zh-CN" dirty="0" smtClean="0"/>
              <a:t>2008</a:t>
            </a:r>
            <a:r>
              <a:rPr lang="zh-CN" altLang="en-US" dirty="0" smtClean="0"/>
              <a:t>年中本聪发布比特币白皮书，比特币采用了</a:t>
            </a:r>
            <a:r>
              <a:rPr lang="en-US" altLang="zh-CN" dirty="0" smtClean="0"/>
              <a:t>POW</a:t>
            </a:r>
            <a:r>
              <a:rPr lang="zh-CN" altLang="en-US" dirty="0" smtClean="0"/>
              <a:t>共识</a:t>
            </a:r>
            <a:r>
              <a:rPr lang="en-US" altLang="zh-CN" dirty="0" smtClean="0"/>
              <a:t>.</a:t>
            </a:r>
          </a:p>
          <a:p>
            <a:r>
              <a:rPr lang="en-US" altLang="zh-CN" dirty="0" smtClean="0"/>
              <a:t>POW</a:t>
            </a:r>
            <a:r>
              <a:rPr lang="zh-CN" altLang="en-US" dirty="0" smtClean="0"/>
              <a:t>共识也就是工作量证明，随机选矿工，但是谁的算力强谁说了算</a:t>
            </a:r>
            <a:endParaRPr lang="en-US" altLang="zh-CN" dirty="0" smtClean="0"/>
          </a:p>
          <a:p>
            <a:r>
              <a:rPr lang="zh-CN" altLang="en-US" dirty="0" smtClean="0"/>
              <a:t>在比特币网络中，要想获得比特币就要利用自己服务器的算力抢夺记账权，也就是挖矿。区块链的结构如图所示，由区块互联而成，每个区块头中记录着上一个区块的</a:t>
            </a:r>
            <a:r>
              <a:rPr lang="en-US" altLang="zh-CN" dirty="0" smtClean="0"/>
              <a:t>Hash</a:t>
            </a:r>
            <a:r>
              <a:rPr lang="zh-CN" altLang="en-US" dirty="0" smtClean="0"/>
              <a:t>值，挖矿的过程就是 挖矿节点需要尝试数十亿甚至数万亿个不同的</a:t>
            </a:r>
            <a:r>
              <a:rPr lang="en-US" altLang="zh-CN" dirty="0" smtClean="0"/>
              <a:t>nonce </a:t>
            </a:r>
            <a:r>
              <a:rPr lang="zh-CN" altLang="en-US" dirty="0" smtClean="0"/>
              <a:t>取值，将</a:t>
            </a:r>
            <a:r>
              <a:rPr lang="en-US" altLang="zh-CN" dirty="0" err="1" smtClean="0"/>
              <a:t>prehash</a:t>
            </a:r>
            <a:r>
              <a:rPr lang="zh-CN" altLang="en-US" dirty="0" smtClean="0"/>
              <a:t>和</a:t>
            </a:r>
            <a:r>
              <a:rPr lang="en-US" altLang="zh-CN" dirty="0" smtClean="0"/>
              <a:t>nonce</a:t>
            </a:r>
            <a:r>
              <a:rPr lang="zh-CN" altLang="en-US" dirty="0" smtClean="0"/>
              <a:t>值做一个</a:t>
            </a:r>
            <a:r>
              <a:rPr lang="en-US" altLang="zh-CN" dirty="0" smtClean="0"/>
              <a:t>hash</a:t>
            </a:r>
            <a:r>
              <a:rPr lang="zh-CN" altLang="en-US" dirty="0" smtClean="0"/>
              <a:t>计算，直到找到一个满足条件的</a:t>
            </a:r>
            <a:r>
              <a:rPr lang="en-US" altLang="zh-CN" dirty="0" smtClean="0"/>
              <a:t>nonce </a:t>
            </a:r>
            <a:r>
              <a:rPr lang="zh-CN" altLang="en-US" dirty="0" smtClean="0"/>
              <a:t>值小于难度目标值，一般就是算出一个值前</a:t>
            </a:r>
            <a:r>
              <a:rPr lang="en-US" altLang="zh-CN" dirty="0" smtClean="0"/>
              <a:t>16</a:t>
            </a:r>
            <a:r>
              <a:rPr lang="zh-CN" altLang="en-US" dirty="0" smtClean="0"/>
              <a:t>位或者前多少位是</a:t>
            </a:r>
            <a:r>
              <a:rPr lang="en-US" altLang="zh-CN" dirty="0" smtClean="0"/>
              <a:t>0</a:t>
            </a:r>
            <a:r>
              <a:rPr lang="zh-CN" altLang="en-US" dirty="0" smtClean="0"/>
              <a:t>，这个难度值是可以调整的。这其实是一个暴力循环，矿工算出了符合要求的</a:t>
            </a:r>
            <a:r>
              <a:rPr lang="en-US" altLang="zh-CN" dirty="0" smtClean="0"/>
              <a:t>nonce</a:t>
            </a:r>
            <a:r>
              <a:rPr lang="zh-CN" altLang="en-US" dirty="0" smtClean="0"/>
              <a:t>值，说明在这个问题上付出了足够多的算力，投入了足够的工作量。</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25</a:t>
            </a:fld>
            <a:endParaRPr lang="zh-CN" altLang="en-US"/>
          </a:p>
        </p:txBody>
      </p:sp>
    </p:spTree>
    <p:extLst>
      <p:ext uri="{BB962C8B-B14F-4D97-AF65-F5344CB8AC3E}">
        <p14:creationId xmlns:p14="http://schemas.microsoft.com/office/powerpoint/2010/main" val="3662338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获得记账权以后，矿工就把过去十分钟发生的交易按照时间顺序记录在账本上，同步给这个网络的所有用户。矿工付出劳动抢夺记账权，打包交易这个劳动获得了全网的认可，也就形成了共识。</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26</a:t>
            </a:fld>
            <a:endParaRPr lang="zh-CN" altLang="en-US"/>
          </a:p>
        </p:txBody>
      </p:sp>
    </p:spTree>
    <p:extLst>
      <p:ext uri="{BB962C8B-B14F-4D97-AF65-F5344CB8AC3E}">
        <p14:creationId xmlns:p14="http://schemas.microsoft.com/office/powerpoint/2010/main" val="14252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POW</a:t>
            </a:r>
            <a:r>
              <a:rPr lang="zh-CN" altLang="en-US" dirty="0" smtClean="0"/>
              <a:t>的优点之一就是实现了完全去中心化，能够将记账权公平的分配给各个节点。你能够获得比特币的数量，完全取决于你付出了多少有效工作。</a:t>
            </a:r>
            <a:endParaRPr lang="en-US" altLang="zh-CN" dirty="0" smtClean="0"/>
          </a:p>
          <a:p>
            <a:r>
              <a:rPr lang="zh-CN" altLang="en-US" dirty="0" smtClean="0"/>
              <a:t>另一点就是安全性高，如果想作弊，那么你需要有压到大多数人的算力，依靠</a:t>
            </a:r>
            <a:r>
              <a:rPr lang="en-US" altLang="zh-CN" dirty="0" smtClean="0"/>
              <a:t>51%</a:t>
            </a:r>
            <a:r>
              <a:rPr lang="zh-CN" altLang="en-US" dirty="0" smtClean="0"/>
              <a:t>攻击去破坏区块链系统是不理智的，就算你破坏了，那最后大家也不会用了。</a:t>
            </a:r>
            <a:endParaRPr lang="en-US" altLang="zh-CN" dirty="0" smtClean="0"/>
          </a:p>
          <a:p>
            <a:endParaRPr lang="en-US" altLang="zh-CN" dirty="0" smtClean="0"/>
          </a:p>
          <a:p>
            <a:r>
              <a:rPr lang="zh-CN" altLang="en-US" dirty="0" smtClean="0"/>
              <a:t>他的最大缺点就是资源的浪费，所有节点都进行挖矿，最后只有一个节点的工作被承认，那么其他的节点都白忙活了，，他的耗电量是非常大的，据统计截止到</a:t>
            </a:r>
            <a:r>
              <a:rPr lang="en-US" altLang="zh-CN" dirty="0" smtClean="0"/>
              <a:t>2018</a:t>
            </a:r>
            <a:r>
              <a:rPr lang="zh-CN" altLang="en-US" dirty="0" smtClean="0"/>
              <a:t>年</a:t>
            </a:r>
            <a:r>
              <a:rPr lang="en-US" altLang="zh-CN" dirty="0" smtClean="0"/>
              <a:t>2</a:t>
            </a:r>
            <a:r>
              <a:rPr lang="zh-CN" altLang="en-US" dirty="0" smtClean="0"/>
              <a:t>月</a:t>
            </a:r>
            <a:r>
              <a:rPr lang="en-US" altLang="zh-CN" dirty="0" smtClean="0"/>
              <a:t>10</a:t>
            </a:r>
            <a:r>
              <a:rPr lang="zh-CN" altLang="en-US" dirty="0" smtClean="0"/>
              <a:t>日，比特币挖矿的年耗电量已经达到了</a:t>
            </a:r>
            <a:r>
              <a:rPr lang="en-US" altLang="zh-CN" dirty="0" smtClean="0"/>
              <a:t>48.37</a:t>
            </a:r>
            <a:r>
              <a:rPr lang="zh-CN" altLang="en-US" dirty="0" smtClean="0"/>
              <a:t>太瓦时，比伊拉克年耗电量还要高。但是耗费这么多电全用来做没有意义的随机</a:t>
            </a:r>
            <a:r>
              <a:rPr lang="en-US" altLang="zh-CN" dirty="0" smtClean="0"/>
              <a:t>hash</a:t>
            </a:r>
            <a:r>
              <a:rPr lang="zh-CN" altLang="en-US" dirty="0" smtClean="0"/>
              <a:t>运算。那么有些就提出将这个算力利用起来，比如质数币，用来计算孪生素数表，治疗币研究蛋白质的褶皱结构，还有比原链加如矩阵计算和卷积计算，让人工智能与其结合。</a:t>
            </a:r>
            <a:endParaRPr lang="en-US" altLang="zh-CN" dirty="0" smtClean="0"/>
          </a:p>
          <a:p>
            <a:r>
              <a:rPr lang="zh-CN" altLang="en-US" dirty="0" smtClean="0"/>
              <a:t>另一个缺点就是网络性能低，形成共识也就是产生一个区块的时间是</a:t>
            </a:r>
            <a:r>
              <a:rPr lang="en-US" altLang="zh-CN" dirty="0" smtClean="0"/>
              <a:t>10</a:t>
            </a:r>
            <a:r>
              <a:rPr lang="zh-CN" altLang="en-US" dirty="0" smtClean="0"/>
              <a:t>分钟，每秒能处理的交易</a:t>
            </a:r>
            <a:r>
              <a:rPr lang="en-US" altLang="zh-CN" dirty="0" smtClean="0"/>
              <a:t>7</a:t>
            </a:r>
            <a:r>
              <a:rPr lang="zh-CN" altLang="en-US" dirty="0" smtClean="0"/>
              <a:t>笔，很慢。支付宝这样中心化的平台上去年双</a:t>
            </a:r>
            <a:r>
              <a:rPr lang="en-US" altLang="zh-CN" dirty="0" smtClean="0"/>
              <a:t>11</a:t>
            </a:r>
            <a:r>
              <a:rPr lang="zh-CN" altLang="en-US" dirty="0" smtClean="0"/>
              <a:t>能处理的交易每秒达到</a:t>
            </a:r>
            <a:r>
              <a:rPr lang="en-US" altLang="zh-CN" dirty="0" smtClean="0"/>
              <a:t>12</a:t>
            </a:r>
            <a:r>
              <a:rPr lang="zh-CN" altLang="en-US" dirty="0" smtClean="0"/>
              <a:t>万笔</a:t>
            </a:r>
            <a:endParaRPr lang="en-US" altLang="zh-CN" dirty="0" smtClean="0"/>
          </a:p>
          <a:p>
            <a:r>
              <a:rPr lang="zh-CN" altLang="en-US" dirty="0" smtClean="0"/>
              <a:t>还有就是容易产生分叉，有可能同时两个节点同时挖矿成功，</a:t>
            </a:r>
            <a:r>
              <a:rPr lang="en-US" altLang="zh-CN" dirty="0" smtClean="0"/>
              <a:t>POW</a:t>
            </a:r>
            <a:r>
              <a:rPr lang="zh-CN" altLang="en-US" dirty="0" smtClean="0"/>
              <a:t>采用的是最长链原则，哪个链长选哪个作为主链</a:t>
            </a:r>
            <a:endParaRPr lang="en-US" altLang="zh-CN" dirty="0" smtClean="0"/>
          </a:p>
          <a:p>
            <a:r>
              <a:rPr lang="zh-CN" altLang="en-US" dirty="0" smtClean="0"/>
              <a:t>最后一个缺点就是算力集中化，从最开始</a:t>
            </a:r>
            <a:r>
              <a:rPr lang="en-US" altLang="zh-CN" dirty="0" smtClean="0"/>
              <a:t>CPU</a:t>
            </a:r>
            <a:r>
              <a:rPr lang="zh-CN" altLang="en-US" dirty="0" smtClean="0"/>
              <a:t>挖矿到</a:t>
            </a:r>
            <a:r>
              <a:rPr lang="en-US" altLang="zh-CN" dirty="0" smtClean="0"/>
              <a:t>GPU</a:t>
            </a:r>
            <a:r>
              <a:rPr lang="zh-CN" altLang="en-US" dirty="0" smtClean="0"/>
              <a:t>，再到</a:t>
            </a:r>
            <a:r>
              <a:rPr lang="en-US" altLang="zh-CN" dirty="0" smtClean="0"/>
              <a:t>FPGA, </a:t>
            </a:r>
            <a:r>
              <a:rPr lang="zh-CN" altLang="en-US" dirty="0" smtClean="0"/>
              <a:t>现在都是</a:t>
            </a:r>
            <a:r>
              <a:rPr lang="en-US" altLang="zh-CN" dirty="0" smtClean="0"/>
              <a:t>ASIC</a:t>
            </a:r>
            <a:r>
              <a:rPr lang="zh-CN" altLang="en-US" dirty="0" smtClean="0"/>
              <a:t>矿场在进行挖矿，普通人用自己的笔记本挖矿根本是不可能的，慢慢偏离了去中心化的轨道。</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27</a:t>
            </a:fld>
            <a:endParaRPr lang="zh-CN" altLang="en-US"/>
          </a:p>
        </p:txBody>
      </p:sp>
    </p:spTree>
    <p:extLst>
      <p:ext uri="{BB962C8B-B14F-4D97-AF65-F5344CB8AC3E}">
        <p14:creationId xmlns:p14="http://schemas.microsoft.com/office/powerpoint/2010/main" val="3365466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POS</a:t>
            </a:r>
            <a:r>
              <a:rPr lang="zh-CN" altLang="en-US" dirty="0" smtClean="0"/>
              <a:t>是</a:t>
            </a:r>
            <a:r>
              <a:rPr lang="en-US" altLang="zh-CN" dirty="0" smtClean="0"/>
              <a:t>Proof of stake,</a:t>
            </a:r>
            <a:r>
              <a:rPr lang="zh-CN" altLang="en-US" dirty="0" smtClean="0"/>
              <a:t>权益证明，也就是谁有钱谁说了算</a:t>
            </a:r>
            <a:r>
              <a:rPr lang="en-US" altLang="zh-CN" dirty="0" smtClean="0"/>
              <a:t>,</a:t>
            </a:r>
            <a:r>
              <a:rPr lang="zh-CN" altLang="en-US" dirty="0" smtClean="0"/>
              <a:t>最开始在</a:t>
            </a:r>
            <a:r>
              <a:rPr lang="en-US" altLang="zh-CN" dirty="0" smtClean="0"/>
              <a:t>2011</a:t>
            </a:r>
            <a:r>
              <a:rPr lang="zh-CN" altLang="en-US" dirty="0" smtClean="0"/>
              <a:t>年的时候在比特币论坛上提出，后来在最初在</a:t>
            </a:r>
            <a:r>
              <a:rPr lang="en-US" altLang="zh-CN" dirty="0" err="1" smtClean="0"/>
              <a:t>PeerCoin</a:t>
            </a:r>
            <a:r>
              <a:rPr lang="zh-CN" altLang="en-US" dirty="0" smtClean="0"/>
              <a:t>中实现</a:t>
            </a:r>
            <a:endParaRPr lang="en-US" altLang="zh-CN" dirty="0" smtClean="0"/>
          </a:p>
          <a:p>
            <a:r>
              <a:rPr lang="zh-CN" altLang="en-US" dirty="0" smtClean="0"/>
              <a:t>在</a:t>
            </a:r>
            <a:r>
              <a:rPr lang="en-US" altLang="zh-CN" dirty="0" smtClean="0"/>
              <a:t>POS</a:t>
            </a:r>
            <a:r>
              <a:rPr lang="zh-CN" altLang="en-US" dirty="0" smtClean="0"/>
              <a:t>中，节点拿出一定的</a:t>
            </a:r>
            <a:r>
              <a:rPr lang="en-US" altLang="zh-CN" dirty="0" smtClean="0"/>
              <a:t>token</a:t>
            </a:r>
            <a:r>
              <a:rPr lang="zh-CN" altLang="en-US" dirty="0" smtClean="0"/>
              <a:t>进行锁定，成为验证者，然后在这些验证者中随机选择区块的创建者。</a:t>
            </a:r>
            <a:endParaRPr lang="en-US" altLang="zh-CN" dirty="0" smtClean="0"/>
          </a:p>
          <a:p>
            <a:r>
              <a:rPr lang="en-US" altLang="zh-CN" dirty="0" smtClean="0"/>
              <a:t>Balance(A)</a:t>
            </a:r>
            <a:r>
              <a:rPr lang="zh-CN" altLang="en-US" dirty="0" smtClean="0"/>
              <a:t>可以认为是币龄，币龄越大，挖矿的难度越小，被选中的概率越大。</a:t>
            </a:r>
            <a:endParaRPr lang="en-US" altLang="zh-CN" dirty="0" smtClean="0"/>
          </a:p>
          <a:p>
            <a:r>
              <a:rPr lang="zh-CN" altLang="en-US" dirty="0" smtClean="0"/>
              <a:t>而且像在银行中一样，持币有利息，也就是根据持币数量和时间分你利息。</a:t>
            </a:r>
            <a:endParaRPr lang="en-US" altLang="zh-CN" dirty="0" smtClean="0"/>
          </a:p>
          <a:p>
            <a:r>
              <a:rPr lang="zh-CN" altLang="en-US" dirty="0" smtClean="0"/>
              <a:t>每个币每天产生</a:t>
            </a:r>
            <a:r>
              <a:rPr lang="en-US" altLang="zh-CN" dirty="0" smtClean="0"/>
              <a:t>1</a:t>
            </a:r>
            <a:r>
              <a:rPr lang="zh-CN" altLang="en-US" dirty="0" smtClean="0"/>
              <a:t>币龄，假设你拿出来</a:t>
            </a:r>
            <a:r>
              <a:rPr lang="en-US" altLang="zh-CN" dirty="0" smtClean="0"/>
              <a:t>100</a:t>
            </a:r>
            <a:r>
              <a:rPr lang="zh-CN" altLang="en-US" dirty="0" smtClean="0"/>
              <a:t>币，总共持有</a:t>
            </a:r>
            <a:r>
              <a:rPr lang="en-US" altLang="zh-CN" dirty="0" smtClean="0"/>
              <a:t>30</a:t>
            </a:r>
            <a:r>
              <a:rPr lang="zh-CN" altLang="en-US" dirty="0" smtClean="0"/>
              <a:t>天，那么你的币龄为</a:t>
            </a:r>
            <a:r>
              <a:rPr lang="en-US" altLang="zh-CN" dirty="0" smtClean="0"/>
              <a:t>3000</a:t>
            </a:r>
            <a:r>
              <a:rPr lang="zh-CN" altLang="en-US" dirty="0" smtClean="0"/>
              <a:t>，</a:t>
            </a:r>
            <a:endParaRPr lang="en-US" altLang="zh-CN" dirty="0" smtClean="0"/>
          </a:p>
          <a:p>
            <a:r>
              <a:rPr lang="zh-CN" altLang="en-US" dirty="0" smtClean="0"/>
              <a:t>现在的利率为</a:t>
            </a:r>
            <a:r>
              <a:rPr lang="en-US" altLang="zh-CN" dirty="0" smtClean="0"/>
              <a:t>5%</a:t>
            </a:r>
            <a:r>
              <a:rPr lang="zh-CN" altLang="en-US" dirty="0" smtClean="0"/>
              <a:t>，也就是说每</a:t>
            </a:r>
            <a:r>
              <a:rPr lang="en-US" altLang="zh-CN" dirty="0" smtClean="0"/>
              <a:t>365</a:t>
            </a:r>
            <a:r>
              <a:rPr lang="zh-CN" altLang="en-US" dirty="0" smtClean="0"/>
              <a:t>币龄可获得</a:t>
            </a:r>
            <a:r>
              <a:rPr lang="en-US" altLang="zh-CN" dirty="0" smtClean="0"/>
              <a:t>0.05</a:t>
            </a:r>
            <a:r>
              <a:rPr lang="zh-CN" altLang="en-US" dirty="0" smtClean="0"/>
              <a:t>币的利息，那么你现在的可以获得</a:t>
            </a:r>
            <a:r>
              <a:rPr lang="en-US" altLang="zh-CN" dirty="0" smtClean="0"/>
              <a:t>0.41</a:t>
            </a:r>
            <a:r>
              <a:rPr lang="zh-CN" altLang="en-US" dirty="0" smtClean="0"/>
              <a:t>个</a:t>
            </a:r>
            <a:r>
              <a:rPr lang="en-US" altLang="zh-CN" dirty="0" smtClean="0"/>
              <a:t>token</a:t>
            </a:r>
            <a:r>
              <a:rPr lang="zh-CN" altLang="en-US" dirty="0" smtClean="0"/>
              <a:t>作为利息</a:t>
            </a:r>
            <a:endParaRPr lang="en-US" altLang="zh-CN" dirty="0" smtClean="0"/>
          </a:p>
          <a:p>
            <a:r>
              <a:rPr lang="zh-CN" altLang="en-US" dirty="0" smtClean="0"/>
              <a:t>但是竞争成功后，这部分币用于签名一个区块了，那么币龄就会清零，这能够防止一些很老的或者非常大的权益去控制区块链</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28</a:t>
            </a:fld>
            <a:endParaRPr lang="zh-CN" altLang="en-US"/>
          </a:p>
        </p:txBody>
      </p:sp>
    </p:spTree>
    <p:extLst>
      <p:ext uri="{BB962C8B-B14F-4D97-AF65-F5344CB8AC3E}">
        <p14:creationId xmlns:p14="http://schemas.microsoft.com/office/powerpoint/2010/main" val="25765097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POS</a:t>
            </a:r>
            <a:r>
              <a:rPr lang="zh-CN" altLang="en-US" dirty="0" smtClean="0"/>
              <a:t>的好处能够缩短达成共识需要的时间，并且不会像</a:t>
            </a:r>
            <a:r>
              <a:rPr lang="en-US" altLang="zh-CN" dirty="0" smtClean="0"/>
              <a:t>POW</a:t>
            </a:r>
            <a:r>
              <a:rPr lang="zh-CN" altLang="en-US" dirty="0" smtClean="0"/>
              <a:t>一样消耗大量的能源</a:t>
            </a:r>
            <a:endParaRPr lang="en-US" altLang="zh-CN" dirty="0" smtClean="0"/>
          </a:p>
          <a:p>
            <a:r>
              <a:rPr lang="zh-CN" altLang="en-US" dirty="0" smtClean="0"/>
              <a:t>另外也很安全，虽然也可能会有</a:t>
            </a:r>
            <a:r>
              <a:rPr lang="en-US" altLang="zh-CN" dirty="0" smtClean="0"/>
              <a:t>51%</a:t>
            </a:r>
            <a:r>
              <a:rPr lang="zh-CN" altLang="en-US" dirty="0" smtClean="0"/>
              <a:t>攻击，但是持有</a:t>
            </a:r>
            <a:r>
              <a:rPr lang="en-US" altLang="zh-CN" dirty="0" smtClean="0"/>
              <a:t>51%</a:t>
            </a:r>
            <a:r>
              <a:rPr lang="zh-CN" altLang="en-US" dirty="0" smtClean="0"/>
              <a:t>的币比持有</a:t>
            </a:r>
            <a:r>
              <a:rPr lang="en-US" altLang="zh-CN" dirty="0" smtClean="0"/>
              <a:t>51%</a:t>
            </a:r>
            <a:r>
              <a:rPr lang="zh-CN" altLang="en-US" dirty="0" smtClean="0"/>
              <a:t>的算力要难得多</a:t>
            </a:r>
            <a:endParaRPr lang="en-US" altLang="zh-CN" dirty="0" smtClean="0"/>
          </a:p>
          <a:p>
            <a:r>
              <a:rPr lang="zh-CN" altLang="en-US" dirty="0" smtClean="0"/>
              <a:t>但是他也存在缺点，第一个仍然需要挖矿，并没有根本上解决商业应用的痛点</a:t>
            </a:r>
            <a:endParaRPr lang="en-US" altLang="zh-CN" dirty="0" smtClean="0"/>
          </a:p>
          <a:p>
            <a:r>
              <a:rPr lang="zh-CN" altLang="en-US" dirty="0" smtClean="0"/>
              <a:t>另外可能会导致中心化，越富有的人越有可能挖到矿，造成富者越富，系统中的贫富差距拉大，</a:t>
            </a:r>
            <a:endParaRPr lang="en-US" altLang="zh-CN" dirty="0" smtClean="0"/>
          </a:p>
          <a:p>
            <a:r>
              <a:rPr lang="zh-CN" altLang="en-US" dirty="0" smtClean="0"/>
              <a:t>贫穷的人没有说话权，对整个系统造不成威胁，但富者作恶怎么办？</a:t>
            </a:r>
            <a:r>
              <a:rPr lang="en-US" altLang="zh-CN" dirty="0" smtClean="0"/>
              <a:t>POS</a:t>
            </a:r>
            <a:r>
              <a:rPr lang="zh-CN" altLang="en-US" dirty="0" smtClean="0"/>
              <a:t>的安全更多的取决于有钱人。</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29</a:t>
            </a:fld>
            <a:endParaRPr lang="zh-CN" altLang="en-US"/>
          </a:p>
        </p:txBody>
      </p:sp>
    </p:spTree>
    <p:extLst>
      <p:ext uri="{BB962C8B-B14F-4D97-AF65-F5344CB8AC3E}">
        <p14:creationId xmlns:p14="http://schemas.microsoft.com/office/powerpoint/2010/main" val="2221903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DPOS,</a:t>
            </a:r>
            <a:r>
              <a:rPr lang="zh-CN" altLang="en-US" dirty="0" smtClean="0"/>
              <a:t>委任权益证明，可以说是升级版的</a:t>
            </a:r>
            <a:r>
              <a:rPr lang="en-US" altLang="zh-CN" dirty="0" smtClean="0"/>
              <a:t>POS</a:t>
            </a:r>
            <a:r>
              <a:rPr lang="zh-CN" altLang="en-US" dirty="0" smtClean="0"/>
              <a:t>，最初</a:t>
            </a:r>
            <a:endParaRPr lang="en-US" altLang="zh-CN" dirty="0" smtClean="0"/>
          </a:p>
          <a:p>
            <a:r>
              <a:rPr lang="en-US" altLang="zh-CN" dirty="0" smtClean="0"/>
              <a:t>DPOS</a:t>
            </a:r>
            <a:r>
              <a:rPr lang="zh-CN" altLang="en-US" dirty="0" smtClean="0"/>
              <a:t>共识下，有专门的记账人。每个持币者都可以投票选择记账人，得票最多的一般是前</a:t>
            </a:r>
            <a:r>
              <a:rPr lang="en-US" altLang="zh-CN" dirty="0" smtClean="0"/>
              <a:t>101</a:t>
            </a:r>
            <a:r>
              <a:rPr lang="zh-CN" altLang="en-US" dirty="0" smtClean="0"/>
              <a:t>个，这些地位完全平等的记账人之间再轮流进行交易的验证和记账。</a:t>
            </a:r>
            <a:r>
              <a:rPr lang="en-US" altLang="zh-CN" dirty="0" smtClean="0"/>
              <a:t>DPOS</a:t>
            </a:r>
            <a:r>
              <a:rPr lang="zh-CN" altLang="en-US" dirty="0" smtClean="0"/>
              <a:t>有点像人民代表大会制度，如果选出来的这个代表不能很好地旅行职责，轮到他们生成区块了但是没能完成的话，那么这个记账人将会被除名，网络会进行重新投票选出一个新的代表。</a:t>
            </a:r>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30</a:t>
            </a:fld>
            <a:endParaRPr lang="zh-CN" altLang="en-US"/>
          </a:p>
        </p:txBody>
      </p:sp>
    </p:spTree>
    <p:extLst>
      <p:ext uri="{BB962C8B-B14F-4D97-AF65-F5344CB8AC3E}">
        <p14:creationId xmlns:p14="http://schemas.microsoft.com/office/powerpoint/2010/main" val="2469785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优点就是参与验证和记账的节点数量大幅降低了，可以达到秒级的共识验证，更加去中心化了，效率更高</a:t>
            </a:r>
            <a:endParaRPr lang="en-US" altLang="zh-CN" dirty="0" smtClean="0"/>
          </a:p>
          <a:p>
            <a:r>
              <a:rPr lang="zh-CN" altLang="en-US" dirty="0" smtClean="0"/>
              <a:t>但是整个共识机制还是依赖于代币的，很多商业应用其实不一定需要代币的存在</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31</a:t>
            </a:fld>
            <a:endParaRPr lang="zh-CN" altLang="en-US"/>
          </a:p>
        </p:txBody>
      </p:sp>
    </p:spTree>
    <p:extLst>
      <p:ext uri="{BB962C8B-B14F-4D97-AF65-F5344CB8AC3E}">
        <p14:creationId xmlns:p14="http://schemas.microsoft.com/office/powerpoint/2010/main" val="8014466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DSC</a:t>
            </a:r>
            <a:r>
              <a:rPr lang="zh-CN" altLang="en-US" dirty="0" smtClean="0"/>
              <a:t>动态股权共识</a:t>
            </a:r>
            <a:endParaRPr lang="en-US" altLang="zh-CN" dirty="0" smtClean="0"/>
          </a:p>
          <a:p>
            <a:r>
              <a:rPr lang="zh-CN" altLang="en-US" dirty="0" smtClean="0"/>
              <a:t>首先从全网节点中进行投票选举，选出两种代表，一种持币较多的议员，一种是持币较少的观察员，</a:t>
            </a:r>
            <a:endParaRPr lang="en-US" altLang="zh-CN" dirty="0" smtClean="0"/>
          </a:p>
          <a:p>
            <a:r>
              <a:rPr lang="zh-CN" altLang="en-US" dirty="0" smtClean="0"/>
              <a:t>然后从这两种代表中使用散列抽签算法，随机挑选部分议员和观察员组成若干个共识组，</a:t>
            </a:r>
            <a:r>
              <a:rPr lang="zh-CN" altLang="en-US" dirty="0"/>
              <a:t>在</a:t>
            </a:r>
            <a:r>
              <a:rPr lang="zh-CN" altLang="en-US" dirty="0" smtClean="0"/>
              <a:t>每个共识组中进行</a:t>
            </a:r>
            <a:r>
              <a:rPr lang="en-US" altLang="zh-CN" dirty="0" smtClean="0"/>
              <a:t>BFT</a:t>
            </a:r>
            <a:r>
              <a:rPr lang="zh-CN" altLang="en-US" dirty="0" smtClean="0"/>
              <a:t>共识，（议员中选出议长，议长提议生成区块，其他议员和观察员进行验证，三分之二的节点验证通过后生成候选区块）</a:t>
            </a:r>
            <a:endParaRPr lang="en-US" altLang="zh-CN" dirty="0" smtClean="0"/>
          </a:p>
          <a:p>
            <a:r>
              <a:rPr lang="zh-CN" altLang="en-US" dirty="0" smtClean="0"/>
              <a:t>最后从所有的候选区块中通过散列抽签函数选出正式区块</a:t>
            </a:r>
            <a:endParaRPr lang="en-US" altLang="zh-CN" dirty="0" smtClean="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32</a:t>
            </a:fld>
            <a:endParaRPr lang="zh-CN" altLang="en-US"/>
          </a:p>
        </p:txBody>
      </p:sp>
    </p:spTree>
    <p:extLst>
      <p:ext uri="{BB962C8B-B14F-4D97-AF65-F5344CB8AC3E}">
        <p14:creationId xmlns:p14="http://schemas.microsoft.com/office/powerpoint/2010/main" val="30859778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考虑到了持币较少的人也能够有机会成为观察员，分得一部分奖励，</a:t>
            </a:r>
            <a:endParaRPr lang="en-US" altLang="zh-CN" dirty="0" smtClean="0"/>
          </a:p>
          <a:p>
            <a:r>
              <a:rPr lang="zh-CN" altLang="en-US" dirty="0" smtClean="0"/>
              <a:t>能够改善</a:t>
            </a:r>
            <a:r>
              <a:rPr lang="en-US" altLang="zh-CN" dirty="0" smtClean="0"/>
              <a:t>POS</a:t>
            </a:r>
            <a:r>
              <a:rPr lang="zh-CN" altLang="en-US" dirty="0" smtClean="0"/>
              <a:t>中权利被富有的人垄断的现象，并且共识组也是随机产生的和节点实力没有关系，另外基于散列抽签算法随机生成的共识小组相对来说更具有安全性</a:t>
            </a:r>
            <a:r>
              <a:rPr lang="en-US" altLang="zh-CN" dirty="0" smtClean="0"/>
              <a:t>,</a:t>
            </a:r>
            <a:r>
              <a:rPr lang="zh-CN" altLang="en-US" dirty="0" smtClean="0"/>
              <a:t>另外，在共识过程中如果有议员或者观察员作恶或者故意破坏系统，节点可以发现并举报使其遭到惩罚（扣除保证金或者禁止一段时间参与共识）</a:t>
            </a:r>
            <a:endParaRPr lang="en-US" altLang="zh-CN" dirty="0" smtClean="0"/>
          </a:p>
          <a:p>
            <a:r>
              <a:rPr lang="zh-CN" altLang="en-US" dirty="0" smtClean="0"/>
              <a:t>缺点是</a:t>
            </a:r>
            <a:r>
              <a:rPr lang="en-US" altLang="zh-CN" dirty="0" smtClean="0"/>
              <a:t>RSA</a:t>
            </a:r>
            <a:r>
              <a:rPr lang="zh-CN" altLang="en-US" dirty="0" smtClean="0"/>
              <a:t>算法是共识的关键，有许多技术难题需要攻克</a:t>
            </a:r>
            <a:endParaRPr lang="en-US" altLang="zh-CN" dirty="0" smtClean="0"/>
          </a:p>
          <a:p>
            <a:r>
              <a:rPr lang="zh-CN" altLang="en-US" dirty="0" smtClean="0"/>
              <a:t>另外，网络传输情况不好会导致可用性变差</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33</a:t>
            </a:fld>
            <a:endParaRPr lang="zh-CN" altLang="en-US"/>
          </a:p>
        </p:txBody>
      </p:sp>
    </p:spTree>
    <p:extLst>
      <p:ext uri="{BB962C8B-B14F-4D97-AF65-F5344CB8AC3E}">
        <p14:creationId xmlns:p14="http://schemas.microsoft.com/office/powerpoint/2010/main" val="20845135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PBFT</a:t>
            </a:r>
            <a:r>
              <a:rPr lang="zh-CN" altLang="en-US" dirty="0" smtClean="0"/>
              <a:t>意为实用拜占庭容错共识机制，区块链可以认为是一个单进程的状态机，</a:t>
            </a:r>
            <a:r>
              <a:rPr lang="en-US" altLang="zh-CN" dirty="0" smtClean="0"/>
              <a:t>PBFT</a:t>
            </a:r>
            <a:r>
              <a:rPr lang="zh-CN" altLang="en-US" dirty="0" smtClean="0"/>
              <a:t>是一种状态机副本复制算法，</a:t>
            </a:r>
            <a:endParaRPr lang="en-US" altLang="zh-CN" dirty="0" smtClean="0"/>
          </a:p>
          <a:p>
            <a:r>
              <a:rPr lang="zh-CN" altLang="en-US" dirty="0" smtClean="0"/>
              <a:t>假设网络中共有</a:t>
            </a:r>
            <a:r>
              <a:rPr lang="en-US" altLang="zh-CN" dirty="0" smtClean="0"/>
              <a:t>3f+1</a:t>
            </a:r>
            <a:r>
              <a:rPr lang="zh-CN" altLang="en-US" dirty="0" smtClean="0"/>
              <a:t>个节点，</a:t>
            </a:r>
            <a:r>
              <a:rPr lang="en-US" altLang="zh-CN" dirty="0" smtClean="0"/>
              <a:t>PBFT</a:t>
            </a:r>
            <a:r>
              <a:rPr lang="zh-CN" altLang="en-US" dirty="0" smtClean="0"/>
              <a:t>允许有</a:t>
            </a:r>
            <a:r>
              <a:rPr lang="en-US" altLang="zh-CN" dirty="0" smtClean="0"/>
              <a:t>f</a:t>
            </a:r>
            <a:r>
              <a:rPr lang="zh-CN" altLang="en-US" dirty="0" smtClean="0"/>
              <a:t>个故障节点，将近</a:t>
            </a:r>
            <a:r>
              <a:rPr lang="en-US" altLang="zh-CN" dirty="0" smtClean="0"/>
              <a:t>1/3</a:t>
            </a:r>
            <a:r>
              <a:rPr lang="zh-CN" altLang="en-US" dirty="0" smtClean="0"/>
              <a:t>的高容错率。</a:t>
            </a:r>
            <a:endParaRPr lang="en-US" altLang="zh-CN" dirty="0" smtClean="0"/>
          </a:p>
          <a:p>
            <a:r>
              <a:rPr lang="en-US" altLang="zh-CN" dirty="0" smtClean="0"/>
              <a:t>PBFT</a:t>
            </a:r>
            <a:r>
              <a:rPr lang="zh-CN" altLang="en-US" dirty="0" smtClean="0"/>
              <a:t>的过程大概如下：</a:t>
            </a:r>
            <a:r>
              <a:rPr lang="en-US" altLang="zh-CN" dirty="0" smtClean="0"/>
              <a:t>C</a:t>
            </a:r>
            <a:r>
              <a:rPr lang="zh-CN" altLang="en-US" dirty="0" smtClean="0"/>
              <a:t>代表客户端，</a:t>
            </a:r>
            <a:r>
              <a:rPr lang="en-US" altLang="zh-CN" dirty="0" smtClean="0"/>
              <a:t>0</a:t>
            </a:r>
            <a:r>
              <a:rPr lang="zh-CN" altLang="en-US" dirty="0" smtClean="0"/>
              <a:t>是主节点，</a:t>
            </a:r>
            <a:r>
              <a:rPr lang="en-US" altLang="zh-CN" dirty="0" smtClean="0"/>
              <a:t>123</a:t>
            </a:r>
            <a:r>
              <a:rPr lang="zh-CN" altLang="en-US" dirty="0" smtClean="0"/>
              <a:t>是副本节点，</a:t>
            </a:r>
            <a:r>
              <a:rPr lang="en-US" altLang="zh-CN" dirty="0" smtClean="0"/>
              <a:t>3</a:t>
            </a:r>
            <a:r>
              <a:rPr lang="zh-CN" altLang="en-US" dirty="0" smtClean="0"/>
              <a:t>打了叉号代表可能是故障节点或者恶意节点，表现为对其他节点的请求无响应。</a:t>
            </a:r>
            <a:endParaRPr lang="en-US" altLang="zh-CN" dirty="0" smtClean="0"/>
          </a:p>
          <a:p>
            <a:r>
              <a:rPr lang="zh-CN" altLang="en-US" dirty="0" smtClean="0"/>
              <a:t>首先是请求阶段，客户端</a:t>
            </a:r>
            <a:r>
              <a:rPr lang="en-US" altLang="zh-CN" dirty="0" smtClean="0"/>
              <a:t>C</a:t>
            </a:r>
            <a:r>
              <a:rPr lang="zh-CN" altLang="en-US" dirty="0" smtClean="0"/>
              <a:t>发交易给主节点</a:t>
            </a:r>
            <a:r>
              <a:rPr lang="en-US" altLang="zh-CN" dirty="0" smtClean="0"/>
              <a:t>0</a:t>
            </a:r>
            <a:r>
              <a:rPr lang="zh-CN" altLang="en-US" dirty="0" smtClean="0"/>
              <a:t>，</a:t>
            </a:r>
            <a:endParaRPr lang="en-US" altLang="zh-CN" dirty="0" smtClean="0"/>
          </a:p>
          <a:p>
            <a:r>
              <a:rPr lang="zh-CN" altLang="en-US" dirty="0" smtClean="0"/>
              <a:t>进入预准备阶段，主节点</a:t>
            </a:r>
            <a:r>
              <a:rPr lang="en-US" altLang="zh-CN" dirty="0" smtClean="0"/>
              <a:t>0</a:t>
            </a:r>
            <a:r>
              <a:rPr lang="zh-CN" altLang="en-US" dirty="0" smtClean="0"/>
              <a:t>从网络中收集到的多个交易排序存入列表，确认交易的执行顺序，并向副本节点</a:t>
            </a:r>
            <a:r>
              <a:rPr lang="en-US" altLang="zh-CN" dirty="0" smtClean="0"/>
              <a:t>123</a:t>
            </a:r>
            <a:r>
              <a:rPr lang="zh-CN" altLang="en-US" dirty="0" smtClean="0"/>
              <a:t>广播</a:t>
            </a:r>
            <a:endParaRPr lang="en-US" altLang="zh-CN" dirty="0" smtClean="0"/>
          </a:p>
          <a:p>
            <a:r>
              <a:rPr lang="zh-CN" altLang="en-US" dirty="0" smtClean="0"/>
              <a:t>然后进入准备阶段，各副本节点接受到交易列表后，在全网广播，将收到的</a:t>
            </a:r>
            <a:r>
              <a:rPr lang="en-US" altLang="zh-CN" dirty="0" smtClean="0"/>
              <a:t>f+1</a:t>
            </a:r>
            <a:r>
              <a:rPr lang="zh-CN" altLang="en-US" dirty="0" smtClean="0"/>
              <a:t>个相同的交易列表作为自己最终的交易执行顺序，</a:t>
            </a:r>
            <a:endParaRPr lang="en-US" altLang="zh-CN" dirty="0" smtClean="0"/>
          </a:p>
          <a:p>
            <a:r>
              <a:rPr lang="zh-CN" altLang="en-US" dirty="0" smtClean="0"/>
              <a:t>然后进入确认阶段，每个节点验证交易，也就是模拟执行这些交易，基于交易结果计算新区块的</a:t>
            </a:r>
            <a:r>
              <a:rPr lang="en-US" altLang="zh-CN" dirty="0" smtClean="0"/>
              <a:t>hash</a:t>
            </a:r>
            <a:r>
              <a:rPr lang="zh-CN" altLang="en-US" dirty="0" smtClean="0"/>
              <a:t>值并向全网广播，将收到的</a:t>
            </a:r>
            <a:r>
              <a:rPr lang="en-US" altLang="zh-CN" dirty="0" smtClean="0"/>
              <a:t>f+1</a:t>
            </a:r>
            <a:r>
              <a:rPr lang="zh-CN" altLang="en-US" dirty="0" smtClean="0"/>
              <a:t>个相同的区块提交到本地区块链和状态数据库</a:t>
            </a:r>
            <a:endParaRPr lang="en-US" altLang="zh-CN" dirty="0" smtClean="0"/>
          </a:p>
          <a:p>
            <a:r>
              <a:rPr lang="zh-CN" altLang="en-US" dirty="0" smtClean="0"/>
              <a:t>最后是回复阶段，每个节点返回一个区块给客户端，客户端将收到的</a:t>
            </a:r>
            <a:r>
              <a:rPr lang="en-US" altLang="zh-CN" dirty="0" smtClean="0"/>
              <a:t>f+1</a:t>
            </a:r>
            <a:r>
              <a:rPr lang="zh-CN" altLang="en-US" dirty="0" smtClean="0"/>
              <a:t>个相同的结果作为最终结果。</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34</a:t>
            </a:fld>
            <a:endParaRPr lang="zh-CN" altLang="en-US"/>
          </a:p>
        </p:txBody>
      </p:sp>
    </p:spTree>
    <p:extLst>
      <p:ext uri="{BB962C8B-B14F-4D97-AF65-F5344CB8AC3E}">
        <p14:creationId xmlns:p14="http://schemas.microsoft.com/office/powerpoint/2010/main" val="1296521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优点第一个是系统运转可以脱离币的存在，另一个就是共识效率高，共识的延迟大概在</a:t>
            </a:r>
            <a:r>
              <a:rPr lang="en-US" altLang="zh-CN" dirty="0" smtClean="0"/>
              <a:t>2-5</a:t>
            </a:r>
            <a:r>
              <a:rPr lang="zh-CN" altLang="en-US" dirty="0" smtClean="0"/>
              <a:t>秒，基本上能够进行商用，能够满足高频的交易量需求。</a:t>
            </a:r>
            <a:endParaRPr lang="en-US" altLang="zh-CN" dirty="0" smtClean="0"/>
          </a:p>
          <a:p>
            <a:r>
              <a:rPr lang="zh-CN" altLang="en-US" dirty="0" smtClean="0"/>
              <a:t>因为容错率在</a:t>
            </a:r>
            <a:r>
              <a:rPr lang="en-US" altLang="zh-CN" dirty="0" smtClean="0"/>
              <a:t>33%</a:t>
            </a:r>
            <a:r>
              <a:rPr lang="zh-CN" altLang="en-US" dirty="0" smtClean="0"/>
              <a:t>，当系统中有</a:t>
            </a:r>
            <a:r>
              <a:rPr lang="en-US" altLang="zh-CN" dirty="0" smtClean="0"/>
              <a:t>1/3</a:t>
            </a:r>
            <a:r>
              <a:rPr lang="zh-CN" altLang="en-US" dirty="0" smtClean="0"/>
              <a:t>及以上的记账人停止工作后，系统就没办法提供服务了，</a:t>
            </a:r>
            <a:endParaRPr lang="en-US" altLang="zh-CN" dirty="0" smtClean="0"/>
          </a:p>
          <a:p>
            <a:r>
              <a:rPr lang="zh-CN" altLang="en-US" dirty="0" smtClean="0"/>
              <a:t>同样的道理，当有</a:t>
            </a:r>
            <a:r>
              <a:rPr lang="en-US" altLang="zh-CN" dirty="0" smtClean="0"/>
              <a:t>1/3</a:t>
            </a:r>
            <a:r>
              <a:rPr lang="zh-CN" altLang="en-US" dirty="0" smtClean="0"/>
              <a:t>的及以上的记账人联合作恶，</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35</a:t>
            </a:fld>
            <a:endParaRPr lang="zh-CN" altLang="en-US"/>
          </a:p>
        </p:txBody>
      </p:sp>
    </p:spTree>
    <p:extLst>
      <p:ext uri="{BB962C8B-B14F-4D97-AF65-F5344CB8AC3E}">
        <p14:creationId xmlns:p14="http://schemas.microsoft.com/office/powerpoint/2010/main" val="33477855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授权拜占庭容错算法，权益选出记账人，记账人之间通过拜占庭容错算法达成共识</a:t>
            </a:r>
            <a:endParaRPr lang="en-US" altLang="zh-CN" dirty="0" smtClean="0"/>
          </a:p>
          <a:p>
            <a:r>
              <a:rPr lang="zh-CN" altLang="en-US" dirty="0" smtClean="0"/>
              <a:t>重要度证明共识算法，引入账户重要程度，根据其分配记账权</a:t>
            </a:r>
            <a:endParaRPr lang="en-US" altLang="zh-CN" dirty="0" smtClean="0"/>
          </a:p>
          <a:p>
            <a:r>
              <a:rPr lang="zh-CN" altLang="en-US" dirty="0" smtClean="0"/>
              <a:t>参与度证明共识算法，结合了</a:t>
            </a:r>
            <a:r>
              <a:rPr lang="en-US" altLang="zh-CN" dirty="0" smtClean="0"/>
              <a:t>POI</a:t>
            </a:r>
            <a:r>
              <a:rPr lang="zh-CN" altLang="en-US" dirty="0" smtClean="0"/>
              <a:t>和</a:t>
            </a:r>
            <a:r>
              <a:rPr lang="en-US" altLang="zh-CN" dirty="0" smtClean="0"/>
              <a:t>POS</a:t>
            </a:r>
          </a:p>
          <a:p>
            <a:r>
              <a:rPr lang="zh-CN" altLang="en-US" dirty="0" smtClean="0"/>
              <a:t>权威证明共识算法：使用一组权限，验证者必须具有验证身份才能进行区块的验证，</a:t>
            </a:r>
            <a:endParaRPr lang="en-US" altLang="zh-CN" dirty="0" smtClean="0"/>
          </a:p>
          <a:p>
            <a:r>
              <a:rPr lang="zh-CN" altLang="en-US" dirty="0" smtClean="0"/>
              <a:t>有向无环图：解决区块链效率问题，通过</a:t>
            </a:r>
            <a:r>
              <a:rPr lang="en-US" altLang="zh-CN" dirty="0" smtClean="0"/>
              <a:t>DAG</a:t>
            </a:r>
            <a:r>
              <a:rPr lang="zh-CN" altLang="en-US" dirty="0" smtClean="0"/>
              <a:t>拓扑图结构存储交易去</a:t>
            </a:r>
            <a:endParaRPr lang="en-US" altLang="zh-CN" dirty="0" smtClean="0"/>
          </a:p>
          <a:p>
            <a:r>
              <a:rPr lang="zh-CN" altLang="en-US" dirty="0" smtClean="0"/>
              <a:t>瑞波共识机制，有点类似于</a:t>
            </a:r>
            <a:r>
              <a:rPr lang="en-US" altLang="zh-CN" dirty="0" smtClean="0"/>
              <a:t>PBFT</a:t>
            </a:r>
            <a:r>
              <a:rPr lang="zh-CN" altLang="en-US" dirty="0" smtClean="0"/>
              <a:t>，节点投票，</a:t>
            </a:r>
            <a:endParaRPr lang="en-US" altLang="zh-CN" dirty="0" smtClean="0"/>
          </a:p>
          <a:p>
            <a:r>
              <a:rPr lang="zh-CN" altLang="en-US" dirty="0" smtClean="0"/>
              <a:t>随机工作量证明</a:t>
            </a:r>
            <a:r>
              <a:rPr lang="en-US" altLang="zh-CN" dirty="0" smtClean="0"/>
              <a:t>:</a:t>
            </a:r>
            <a:r>
              <a:rPr lang="zh-CN" altLang="en-US" dirty="0" smtClean="0"/>
              <a:t>每个矿工在打包下一个块的时候都会获得一个随机难度降低因子，降低矿池的算力集中度 </a:t>
            </a:r>
            <a:r>
              <a:rPr lang="en-US" altLang="zh-CN" dirty="0" err="1" smtClean="0"/>
              <a:t>usechain</a:t>
            </a:r>
            <a:r>
              <a:rPr lang="en-US" altLang="zh-CN" baseline="0" dirty="0" smtClean="0"/>
              <a:t> </a:t>
            </a:r>
            <a:r>
              <a:rPr lang="zh-CN" altLang="en-US" dirty="0" smtClean="0"/>
              <a:t>区块链上实名制，将链下真实世界的身份与链上镜像世界的账户相关联</a:t>
            </a:r>
            <a:endParaRPr lang="en-US" altLang="zh-CN" dirty="0" smtClean="0"/>
          </a:p>
          <a:p>
            <a:r>
              <a:rPr lang="zh-CN" altLang="en-US" dirty="0" smtClean="0"/>
              <a:t>价值证明共识算法，通过对系统给做的贡献分发</a:t>
            </a:r>
            <a:r>
              <a:rPr lang="en-US" altLang="zh-CN" dirty="0" smtClean="0"/>
              <a:t>token</a:t>
            </a:r>
          </a:p>
          <a:p>
            <a:r>
              <a:rPr lang="en-US" altLang="zh-CN" dirty="0" smtClean="0"/>
              <a:t>LTV</a:t>
            </a:r>
            <a:r>
              <a:rPr lang="zh-CN" altLang="en-US" dirty="0" smtClean="0"/>
              <a:t>共生币</a:t>
            </a:r>
            <a:endParaRPr lang="en-US" altLang="zh-CN" dirty="0" smtClean="0"/>
          </a:p>
          <a:p>
            <a:r>
              <a:rPr lang="en-US" altLang="zh-CN" dirty="0" smtClean="0"/>
              <a:t>Raft:</a:t>
            </a:r>
            <a:r>
              <a:rPr lang="zh-CN" altLang="en-US" dirty="0" smtClean="0"/>
              <a:t>简单的</a:t>
            </a:r>
            <a:r>
              <a:rPr lang="en-US" altLang="zh-CN" dirty="0" err="1" smtClean="0"/>
              <a:t>Paxos</a:t>
            </a:r>
            <a:r>
              <a:rPr lang="zh-CN" altLang="en-US" dirty="0" smtClean="0"/>
              <a:t>算法</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36</a:t>
            </a:fld>
            <a:endParaRPr lang="zh-CN" altLang="en-US"/>
          </a:p>
        </p:txBody>
      </p:sp>
    </p:spTree>
    <p:extLst>
      <p:ext uri="{BB962C8B-B14F-4D97-AF65-F5344CB8AC3E}">
        <p14:creationId xmlns:p14="http://schemas.microsoft.com/office/powerpoint/2010/main" val="25078440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一个共识机制是否是一个好的共识机制可以从以下几个角度进行评价</a:t>
            </a:r>
            <a:endParaRPr lang="en-US" altLang="zh-CN" dirty="0" smtClean="0"/>
          </a:p>
          <a:p>
            <a:r>
              <a:rPr lang="zh-CN" altLang="en-US" dirty="0" smtClean="0"/>
              <a:t>第一，安全性，能够防止二次支付，自私挖矿等共计，是否具有良好的容错能力。</a:t>
            </a:r>
            <a:endParaRPr lang="en-US" altLang="zh-CN" dirty="0" smtClean="0"/>
          </a:p>
          <a:p>
            <a:r>
              <a:rPr lang="zh-CN" altLang="en-US" dirty="0" smtClean="0"/>
              <a:t>第二，扩展性，这是区块链设计要考虑的关键因素之一，能够支持网络节点扩展。</a:t>
            </a:r>
            <a:endParaRPr lang="en-US" altLang="zh-CN" dirty="0" smtClean="0"/>
          </a:p>
          <a:p>
            <a:r>
              <a:rPr lang="zh-CN" altLang="en-US" dirty="0" smtClean="0"/>
              <a:t>第三是性能效率，可以认为是交易达成共识被记录在区块链的延迟，也可以认为是区块链每秒能够处理的交易数量。</a:t>
            </a:r>
            <a:endParaRPr lang="en-US" altLang="zh-CN" dirty="0" smtClean="0"/>
          </a:p>
          <a:p>
            <a:r>
              <a:rPr lang="zh-CN" altLang="en-US" dirty="0" smtClean="0"/>
              <a:t>最后是资源消耗，达成共识的过程中消耗的计算资源的多少，比如</a:t>
            </a:r>
            <a:r>
              <a:rPr lang="en-US" altLang="zh-CN" dirty="0" smtClean="0"/>
              <a:t>CPU,</a:t>
            </a:r>
            <a:r>
              <a:rPr lang="zh-CN" altLang="en-US" dirty="0" smtClean="0"/>
              <a:t>内存和网络通信等这些都要考虑在内。</a:t>
            </a:r>
            <a:endParaRPr lang="zh-CN" altLang="en-US" dirty="0"/>
          </a:p>
        </p:txBody>
      </p:sp>
      <p:sp>
        <p:nvSpPr>
          <p:cNvPr id="4" name="灯片编号占位符 3"/>
          <p:cNvSpPr>
            <a:spLocks noGrp="1"/>
          </p:cNvSpPr>
          <p:nvPr>
            <p:ph type="sldNum" sz="quarter" idx="10"/>
          </p:nvPr>
        </p:nvSpPr>
        <p:spPr/>
        <p:txBody>
          <a:bodyPr/>
          <a:lstStyle/>
          <a:p>
            <a:fld id="{D0CB2870-F9FE-472D-85DD-A20DBA6C0993}" type="slidenum">
              <a:rPr lang="zh-CN" altLang="en-US" smtClean="0"/>
              <a:t>37</a:t>
            </a:fld>
            <a:endParaRPr lang="zh-CN" altLang="en-US"/>
          </a:p>
        </p:txBody>
      </p:sp>
    </p:spTree>
    <p:extLst>
      <p:ext uri="{BB962C8B-B14F-4D97-AF65-F5344CB8AC3E}">
        <p14:creationId xmlns:p14="http://schemas.microsoft.com/office/powerpoint/2010/main" val="353637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1" y="1600200"/>
            <a:ext cx="4035425" cy="4521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5025" y="1600200"/>
            <a:ext cx="4037013" cy="4521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274638"/>
            <a:ext cx="2055813" cy="58467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274638"/>
            <a:ext cx="6016625" cy="58467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0" sy="100000" flip="none" algn="ctr"/>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1" y="274640"/>
            <a:ext cx="8224838"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lstStyle/>
          <a:p>
            <a:pPr lvl="0"/>
            <a:r>
              <a:rPr lang="en-GB" altLang="zh-CN" smtClean="0"/>
              <a:t>Click to edit the title text format</a:t>
            </a:r>
          </a:p>
        </p:txBody>
      </p:sp>
      <p:sp>
        <p:nvSpPr>
          <p:cNvPr id="1027" name="Rectangle 2"/>
          <p:cNvSpPr>
            <a:spLocks noGrp="1" noChangeArrowheads="1"/>
          </p:cNvSpPr>
          <p:nvPr>
            <p:ph type="body" idx="1"/>
          </p:nvPr>
        </p:nvSpPr>
        <p:spPr bwMode="auto">
          <a:xfrm>
            <a:off x="457201" y="1600200"/>
            <a:ext cx="8224838" cy="452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lstStyle/>
          <a:p>
            <a:pPr lvl="0"/>
            <a:r>
              <a:rPr lang="en-GB" altLang="zh-CN" smtClean="0"/>
              <a:t>Click to edit the outline text format</a:t>
            </a:r>
          </a:p>
          <a:p>
            <a:pPr lvl="1"/>
            <a:r>
              <a:rPr lang="en-GB" altLang="zh-CN" smtClean="0"/>
              <a:t>Second Outline Level</a:t>
            </a:r>
          </a:p>
          <a:p>
            <a:pPr lvl="2"/>
            <a:r>
              <a:rPr lang="en-GB" altLang="zh-CN" smtClean="0"/>
              <a:t>Third Outline Level</a:t>
            </a:r>
          </a:p>
          <a:p>
            <a:pPr lvl="3"/>
            <a:r>
              <a:rPr lang="en-GB" altLang="zh-CN" smtClean="0"/>
              <a:t>Fourth Outline Level</a:t>
            </a:r>
          </a:p>
          <a:p>
            <a:pPr lvl="4"/>
            <a:r>
              <a:rPr lang="en-GB" altLang="zh-CN" smtClean="0"/>
              <a:t>Fifth Outline Level</a:t>
            </a:r>
          </a:p>
          <a:p>
            <a:pPr lvl="4"/>
            <a:r>
              <a:rPr lang="en-GB" altLang="zh-CN" smtClean="0"/>
              <a:t>Sixth Outline Level</a:t>
            </a:r>
          </a:p>
          <a:p>
            <a:pPr lvl="4"/>
            <a:r>
              <a:rPr lang="en-GB" altLang="zh-CN" smtClean="0"/>
              <a:t>Seventh Outline Level</a:t>
            </a:r>
          </a:p>
        </p:txBody>
      </p:sp>
      <p:sp>
        <p:nvSpPr>
          <p:cNvPr id="1028" name="Text Box 3"/>
          <p:cNvSpPr txBox="1">
            <a:spLocks noChangeArrowheads="1"/>
          </p:cNvSpPr>
          <p:nvPr/>
        </p:nvSpPr>
        <p:spPr bwMode="auto">
          <a:xfrm>
            <a:off x="457200" y="6356352"/>
            <a:ext cx="2133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342900" fontAlgn="base">
              <a:spcBef>
                <a:spcPct val="0"/>
              </a:spcBef>
              <a:spcAft>
                <a:spcPct val="0"/>
              </a:spcAft>
              <a:buClr>
                <a:srgbClr val="000000"/>
              </a:buClr>
              <a:buSzPct val="100000"/>
              <a:buFont typeface="Times New Roman" panose="02020603050405020304" pitchFamily="16" charset="0"/>
              <a:buNone/>
            </a:pPr>
            <a:endParaRPr lang="zh-CN" altLang="en-US" sz="1350">
              <a:solidFill>
                <a:srgbClr val="FFFFFF"/>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mj-lt"/>
          <a:ea typeface="+mj-ea"/>
          <a:cs typeface="+mj-cs"/>
        </a:defRPr>
      </a:lvl1pPr>
      <a:lvl2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2pPr>
      <a:lvl3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3pPr>
      <a:lvl4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4pPr>
      <a:lvl5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5pPr>
      <a:lvl6pPr marL="18859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6pPr>
      <a:lvl7pPr marL="22288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7pPr>
      <a:lvl8pPr marL="25717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8pPr>
      <a:lvl9pPr marL="29146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9pPr>
    </p:titleStyle>
    <p:bodyStyle>
      <a:lvl1pPr marL="257175" indent="-257175" algn="l" defTabSz="342900" rtl="0" eaLnBrk="0" fontAlgn="base" hangingPunct="0">
        <a:spcBef>
          <a:spcPts val="600"/>
        </a:spcBef>
        <a:spcAft>
          <a:spcPct val="0"/>
        </a:spcAft>
        <a:buClr>
          <a:srgbClr val="000000"/>
        </a:buClr>
        <a:buSzPct val="100000"/>
        <a:buFont typeface="Times New Roman" panose="02020603050405020304" pitchFamily="16" charset="0"/>
        <a:defRPr sz="2400">
          <a:solidFill>
            <a:srgbClr val="000000"/>
          </a:solidFill>
          <a:latin typeface="+mn-lt"/>
          <a:ea typeface="+mn-ea"/>
          <a:cs typeface="+mn-cs"/>
        </a:defRPr>
      </a:lvl1pPr>
      <a:lvl2pPr marL="557530" indent="-214630" algn="l" defTabSz="342900" rtl="0" eaLnBrk="0" fontAlgn="base" hangingPunct="0">
        <a:spcBef>
          <a:spcPts val="525"/>
        </a:spcBef>
        <a:spcAft>
          <a:spcPct val="0"/>
        </a:spcAft>
        <a:buClr>
          <a:srgbClr val="000000"/>
        </a:buClr>
        <a:buSzPct val="100000"/>
        <a:buFont typeface="Times New Roman" panose="02020603050405020304" pitchFamily="16" charset="0"/>
        <a:defRPr sz="2100">
          <a:solidFill>
            <a:srgbClr val="000000"/>
          </a:solidFill>
          <a:latin typeface="+mn-lt"/>
          <a:ea typeface="+mn-ea"/>
        </a:defRPr>
      </a:lvl2pPr>
      <a:lvl3pPr marL="857250" indent="-171450" algn="l" defTabSz="342900" rtl="0" eaLnBrk="0" fontAlgn="base" hangingPunct="0">
        <a:spcBef>
          <a:spcPts val="450"/>
        </a:spcBef>
        <a:spcAft>
          <a:spcPct val="0"/>
        </a:spcAft>
        <a:buClr>
          <a:srgbClr val="000000"/>
        </a:buClr>
        <a:buSzPct val="100000"/>
        <a:buFont typeface="Times New Roman" panose="02020603050405020304" pitchFamily="16" charset="0"/>
        <a:defRPr sz="1800">
          <a:solidFill>
            <a:srgbClr val="000000"/>
          </a:solidFill>
          <a:latin typeface="+mn-lt"/>
          <a:ea typeface="+mn-ea"/>
        </a:defRPr>
      </a:lvl3pPr>
      <a:lvl4pPr marL="12001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4pPr>
      <a:lvl5pPr marL="15430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5pPr>
      <a:lvl6pPr marL="18859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6pPr>
      <a:lvl7pPr marL="22288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7pPr>
      <a:lvl8pPr marL="25717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8pPr>
      <a:lvl9pPr marL="29146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11.tmp"/><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3293229" y="3756116"/>
            <a:ext cx="261112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defTabSz="342900" eaLnBrk="1" fontAlgn="base" hangingPunct="1">
              <a:spcBef>
                <a:spcPct val="0"/>
              </a:spcBef>
              <a:spcAft>
                <a:spcPct val="0"/>
              </a:spcAft>
              <a:buSzPct val="100000"/>
            </a:pPr>
            <a:r>
              <a:rPr lang="zh-CN" altLang="en-US" sz="2000" dirty="0">
                <a:solidFill>
                  <a:srgbClr val="000000"/>
                </a:solidFill>
                <a:latin typeface="微软雅黑" panose="020B0503020204020204" pitchFamily="34" charset="-122"/>
                <a:ea typeface="微软雅黑" panose="020B0503020204020204" pitchFamily="34" charset="-122"/>
              </a:rPr>
              <a:t>于朝阳  </a:t>
            </a:r>
          </a:p>
          <a:p>
            <a:pPr algn="ctr" defTabSz="342900" eaLnBrk="1" fontAlgn="base" hangingPunct="1">
              <a:spcBef>
                <a:spcPct val="0"/>
              </a:spcBef>
              <a:spcAft>
                <a:spcPct val="0"/>
              </a:spcAft>
              <a:buSzPct val="100000"/>
            </a:pPr>
            <a:endParaRPr lang="zh-CN" altLang="en-US" sz="2000" dirty="0">
              <a:solidFill>
                <a:srgbClr val="000000"/>
              </a:solidFill>
              <a:latin typeface="微软雅黑" panose="020B0503020204020204" pitchFamily="34" charset="-122"/>
              <a:ea typeface="微软雅黑" panose="020B0503020204020204" pitchFamily="34" charset="-122"/>
            </a:endParaRPr>
          </a:p>
          <a:p>
            <a:pPr algn="ctr" defTabSz="342900" eaLnBrk="1" fontAlgn="base" hangingPunct="1">
              <a:spcBef>
                <a:spcPct val="0"/>
              </a:spcBef>
              <a:spcAft>
                <a:spcPct val="0"/>
              </a:spcAft>
              <a:buSzPct val="100000"/>
            </a:pPr>
            <a:r>
              <a:rPr lang="zh-CN" altLang="en-US" sz="2000" dirty="0">
                <a:solidFill>
                  <a:srgbClr val="000000"/>
                </a:solidFill>
                <a:latin typeface="微软雅黑" panose="020B0503020204020204" pitchFamily="34" charset="-122"/>
                <a:ea typeface="微软雅黑" panose="020B0503020204020204" pitchFamily="34" charset="-122"/>
              </a:rPr>
              <a:t>计算机科学与技术</a:t>
            </a:r>
          </a:p>
          <a:p>
            <a:pPr algn="ctr" defTabSz="342900" eaLnBrk="1" fontAlgn="base" hangingPunct="1">
              <a:spcBef>
                <a:spcPct val="0"/>
              </a:spcBef>
              <a:spcAft>
                <a:spcPct val="0"/>
              </a:spcAft>
              <a:buSzPct val="100000"/>
            </a:pPr>
            <a:endParaRPr lang="zh-CN" altLang="en-US" sz="1500" dirty="0">
              <a:solidFill>
                <a:srgbClr val="000000"/>
              </a:solidFill>
              <a:latin typeface="微软雅黑" panose="020B0503020204020204" pitchFamily="34" charset="-122"/>
              <a:ea typeface="微软雅黑" panose="020B0503020204020204" pitchFamily="34" charset="-122"/>
            </a:endParaRPr>
          </a:p>
        </p:txBody>
      </p:sp>
      <p:sp>
        <p:nvSpPr>
          <p:cNvPr id="2052" name="Text Box 3"/>
          <p:cNvSpPr txBox="1">
            <a:spLocks noChangeArrowheads="1"/>
          </p:cNvSpPr>
          <p:nvPr/>
        </p:nvSpPr>
        <p:spPr bwMode="auto">
          <a:xfrm>
            <a:off x="2195512" y="2187179"/>
            <a:ext cx="4806554" cy="6248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defTabSz="342900" eaLnBrk="1" fontAlgn="base" hangingPunct="1">
              <a:spcBef>
                <a:spcPct val="0"/>
              </a:spcBef>
              <a:spcAft>
                <a:spcPct val="0"/>
              </a:spcAft>
              <a:buSzPct val="100000"/>
              <a:defRPr/>
            </a:pPr>
            <a:r>
              <a:rPr lang="zh-CN" altLang="en-US" sz="3600" b="1" dirty="0" smtClean="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分布式操作系统</a:t>
            </a:r>
            <a:endParaRPr lang="en-US" altLang="zh-CN" sz="30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81150" y="422277"/>
            <a:ext cx="1676399" cy="625785"/>
          </a:xfrm>
        </p:spPr>
        <p:txBody>
          <a:bodyPr/>
          <a:lstStyle/>
          <a:p>
            <a:r>
              <a:rPr lang="en-US" altLang="zh-CN" sz="3600" b="1" dirty="0" smtClean="0"/>
              <a:t>Outline</a:t>
            </a:r>
            <a:endParaRPr lang="zh-CN" altLang="en-US" sz="3600" b="1" dirty="0"/>
          </a:p>
        </p:txBody>
      </p:sp>
      <p:sp>
        <p:nvSpPr>
          <p:cNvPr id="3" name="内容占位符 2"/>
          <p:cNvSpPr>
            <a:spLocks noGrp="1"/>
          </p:cNvSpPr>
          <p:nvPr>
            <p:ph sz="half" idx="1"/>
          </p:nvPr>
        </p:nvSpPr>
        <p:spPr>
          <a:xfrm>
            <a:off x="133349" y="1504950"/>
            <a:ext cx="5072743" cy="4724400"/>
          </a:xfrm>
        </p:spPr>
        <p:txBody>
          <a:bodyPr/>
          <a:lstStyle/>
          <a:p>
            <a:pPr marL="457200" indent="-457200">
              <a:buAutoNum type="arabicPeriod"/>
            </a:pPr>
            <a:r>
              <a:rPr lang="en-US" altLang="zh-CN" sz="2400" b="1" dirty="0" smtClean="0"/>
              <a:t>Basic Concepts </a:t>
            </a:r>
          </a:p>
          <a:p>
            <a:pPr marL="0" indent="0"/>
            <a:r>
              <a:rPr lang="en-US" altLang="zh-CN" dirty="0" smtClean="0"/>
              <a:t>       1.1  Centralized vs Distributed</a:t>
            </a:r>
          </a:p>
          <a:p>
            <a:pPr marL="0" indent="0"/>
            <a:r>
              <a:rPr lang="en-US" altLang="zh-CN" dirty="0"/>
              <a:t> </a:t>
            </a:r>
            <a:r>
              <a:rPr lang="en-US" altLang="zh-CN" dirty="0" smtClean="0"/>
              <a:t>      1.2  CAP Theorem</a:t>
            </a:r>
          </a:p>
          <a:p>
            <a:pPr marL="0" indent="0"/>
            <a:r>
              <a:rPr lang="en-US" altLang="zh-CN" dirty="0"/>
              <a:t> </a:t>
            </a:r>
            <a:r>
              <a:rPr lang="en-US" altLang="zh-CN" dirty="0" smtClean="0"/>
              <a:t>      </a:t>
            </a:r>
            <a:r>
              <a:rPr lang="en-US" altLang="zh-CN" dirty="0"/>
              <a:t>1.3  </a:t>
            </a:r>
            <a:r>
              <a:rPr lang="en-US" altLang="zh-CN" dirty="0" smtClean="0"/>
              <a:t>Consensus Mechanism</a:t>
            </a:r>
          </a:p>
          <a:p>
            <a:pPr marL="457200" indent="-457200">
              <a:buAutoNum type="arabicPeriod" startAt="2"/>
            </a:pPr>
            <a:r>
              <a:rPr lang="en-US" altLang="zh-CN" sz="2400" b="1" dirty="0" err="1" smtClean="0"/>
              <a:t>Paxos</a:t>
            </a:r>
            <a:r>
              <a:rPr lang="en-US" altLang="zh-CN" sz="2400" b="1" dirty="0" smtClean="0"/>
              <a:t> Algorithm</a:t>
            </a:r>
          </a:p>
          <a:p>
            <a:pPr marL="0" indent="0"/>
            <a:r>
              <a:rPr lang="en-US" altLang="zh-CN" dirty="0" smtClean="0"/>
              <a:t>        2.1 Problem &amp; Goal</a:t>
            </a:r>
          </a:p>
          <a:p>
            <a:pPr marL="0" indent="0"/>
            <a:r>
              <a:rPr lang="en-US" altLang="zh-CN" dirty="0" smtClean="0"/>
              <a:t>        2.2 Process</a:t>
            </a:r>
          </a:p>
          <a:p>
            <a:pPr marL="0" indent="0"/>
            <a:r>
              <a:rPr lang="en-US" altLang="zh-CN" dirty="0"/>
              <a:t> </a:t>
            </a:r>
            <a:r>
              <a:rPr lang="en-US" altLang="zh-CN" dirty="0" smtClean="0"/>
              <a:t>       2.3 Basic </a:t>
            </a:r>
            <a:r>
              <a:rPr lang="en-US" altLang="zh-CN" dirty="0" err="1" smtClean="0"/>
              <a:t>Paxos</a:t>
            </a:r>
            <a:endParaRPr lang="en-US" altLang="zh-CN" dirty="0" smtClean="0"/>
          </a:p>
          <a:p>
            <a:pPr marL="0" indent="0"/>
            <a:r>
              <a:rPr lang="en-US" altLang="zh-CN" dirty="0"/>
              <a:t> </a:t>
            </a:r>
            <a:r>
              <a:rPr lang="en-US" altLang="zh-CN" dirty="0" smtClean="0"/>
              <a:t>       2.4 Learning a chosen value</a:t>
            </a:r>
          </a:p>
          <a:p>
            <a:pPr marL="0" indent="0"/>
            <a:r>
              <a:rPr lang="en-US" altLang="zh-CN" dirty="0"/>
              <a:t> </a:t>
            </a:r>
            <a:r>
              <a:rPr lang="en-US" altLang="zh-CN" dirty="0" smtClean="0"/>
              <a:t>       2.5 An example</a:t>
            </a:r>
          </a:p>
          <a:p>
            <a:pPr marL="0" indent="0"/>
            <a:r>
              <a:rPr lang="en-US" altLang="zh-CN" dirty="0"/>
              <a:t> </a:t>
            </a:r>
            <a:r>
              <a:rPr lang="en-US" altLang="zh-CN" dirty="0" smtClean="0"/>
              <a:t>       2.6 Liveness</a:t>
            </a:r>
          </a:p>
          <a:p>
            <a:pPr marL="0" indent="0"/>
            <a:endParaRPr lang="en-US" altLang="zh-CN" dirty="0" smtClean="0"/>
          </a:p>
          <a:p>
            <a:pPr marL="0" indent="0"/>
            <a:r>
              <a:rPr lang="en-US" altLang="zh-CN" dirty="0"/>
              <a:t> </a:t>
            </a:r>
            <a:endParaRPr lang="en-US" altLang="zh-CN" dirty="0" smtClean="0"/>
          </a:p>
        </p:txBody>
      </p:sp>
      <p:sp>
        <p:nvSpPr>
          <p:cNvPr id="4" name="文本框 3"/>
          <p:cNvSpPr txBox="1"/>
          <p:nvPr/>
        </p:nvSpPr>
        <p:spPr>
          <a:xfrm>
            <a:off x="4324350" y="1504950"/>
            <a:ext cx="4648200" cy="3370153"/>
          </a:xfrm>
          <a:prstGeom prst="rect">
            <a:avLst/>
          </a:prstGeom>
          <a:noFill/>
        </p:spPr>
        <p:txBody>
          <a:bodyPr wrap="square" rtlCol="0">
            <a:spAutoFit/>
          </a:bodyPr>
          <a:lstStyle/>
          <a:p>
            <a:pPr marL="457200" indent="-457200">
              <a:buAutoNum type="arabicPeriod" startAt="3"/>
            </a:pPr>
            <a:r>
              <a:rPr lang="en-US" altLang="zh-CN" sz="2400" b="1" dirty="0"/>
              <a:t>Consensus Mechanism in </a:t>
            </a:r>
            <a:r>
              <a:rPr lang="en-US" altLang="zh-CN" sz="2400" b="1" dirty="0" err="1"/>
              <a:t>Blockchain</a:t>
            </a:r>
            <a:endParaRPr lang="en-US" altLang="zh-CN" sz="2400" b="1" dirty="0"/>
          </a:p>
          <a:p>
            <a:r>
              <a:rPr lang="en-US" altLang="zh-CN" sz="2100" dirty="0"/>
              <a:t>     </a:t>
            </a:r>
            <a:r>
              <a:rPr lang="en-US" altLang="zh-CN" sz="2100" dirty="0" smtClean="0"/>
              <a:t>   3.1 POW</a:t>
            </a:r>
            <a:endParaRPr lang="en-US" altLang="zh-CN" sz="2100" dirty="0"/>
          </a:p>
          <a:p>
            <a:r>
              <a:rPr lang="en-US" altLang="zh-CN" sz="2100" dirty="0"/>
              <a:t>        3.2 POS</a:t>
            </a:r>
          </a:p>
          <a:p>
            <a:r>
              <a:rPr lang="en-US" altLang="zh-CN" sz="2100" dirty="0"/>
              <a:t>        3.3 DPOS</a:t>
            </a:r>
          </a:p>
          <a:p>
            <a:r>
              <a:rPr lang="en-US" altLang="zh-CN" sz="2100" dirty="0"/>
              <a:t>        3.4 DSC</a:t>
            </a:r>
          </a:p>
          <a:p>
            <a:r>
              <a:rPr lang="en-US" altLang="zh-CN" sz="2100" dirty="0"/>
              <a:t>        3.5 PBFT</a:t>
            </a:r>
          </a:p>
          <a:p>
            <a:r>
              <a:rPr lang="en-US" altLang="zh-CN" sz="2100" dirty="0"/>
              <a:t>        3.6 </a:t>
            </a:r>
            <a:r>
              <a:rPr lang="en-US" altLang="zh-CN" sz="2100" dirty="0" smtClean="0"/>
              <a:t>other consensus </a:t>
            </a:r>
          </a:p>
          <a:p>
            <a:r>
              <a:rPr lang="en-US" altLang="zh-CN" sz="2100" dirty="0"/>
              <a:t>        3.7 Evaluation of Consensus</a:t>
            </a:r>
          </a:p>
          <a:p>
            <a:endParaRPr lang="zh-CN" altLang="en-US" dirty="0"/>
          </a:p>
        </p:txBody>
      </p:sp>
    </p:spTree>
    <p:extLst>
      <p:ext uri="{BB962C8B-B14F-4D97-AF65-F5344CB8AC3E}">
        <p14:creationId xmlns:p14="http://schemas.microsoft.com/office/powerpoint/2010/main" val="34542778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smtClean="0"/>
              <a:t>1.1 Centralized vs Distributed</a:t>
            </a:r>
            <a:endParaRPr lang="zh-CN" altLang="en-US" sz="3600" b="1" dirty="0"/>
          </a:p>
        </p:txBody>
      </p:sp>
      <p:sp>
        <p:nvSpPr>
          <p:cNvPr id="12" name="内容占位符 11"/>
          <p:cNvSpPr>
            <a:spLocks noGrp="1"/>
          </p:cNvSpPr>
          <p:nvPr>
            <p:ph sz="half" idx="1"/>
          </p:nvPr>
        </p:nvSpPr>
        <p:spPr>
          <a:xfrm>
            <a:off x="191483" y="1445189"/>
            <a:ext cx="2509225" cy="3507811"/>
          </a:xfrm>
        </p:spPr>
        <p:txBody>
          <a:bodyPr/>
          <a:lstStyle/>
          <a:p>
            <a:r>
              <a:rPr lang="en-US" altLang="zh-CN" sz="2800" b="1" dirty="0" smtClean="0"/>
              <a:t>Centralized</a:t>
            </a:r>
            <a:r>
              <a:rPr lang="zh-CN" altLang="en-US" sz="2800" b="1" dirty="0" smtClean="0"/>
              <a:t>：</a:t>
            </a:r>
            <a:endParaRPr lang="en-US" altLang="zh-CN" sz="2800" b="1" dirty="0" smtClean="0"/>
          </a:p>
          <a:p>
            <a:pPr marL="342900" indent="-342900">
              <a:buFont typeface="Wingdings" panose="05000000000000000000" pitchFamily="2" charset="2"/>
              <a:buChar char="l"/>
            </a:pPr>
            <a:r>
              <a:rPr lang="en-US" altLang="zh-CN" sz="2400" dirty="0"/>
              <a:t>Simple </a:t>
            </a:r>
            <a:r>
              <a:rPr lang="en-US" altLang="zh-CN" sz="2400" dirty="0" smtClean="0"/>
              <a:t>deployment</a:t>
            </a:r>
          </a:p>
          <a:p>
            <a:pPr marL="342900" indent="-342900">
              <a:buFont typeface="Wingdings" panose="05000000000000000000" pitchFamily="2" charset="2"/>
              <a:buChar char="l"/>
            </a:pPr>
            <a:r>
              <a:rPr lang="en-US" altLang="zh-CN" sz="2400" dirty="0" smtClean="0"/>
              <a:t>Easy to back up</a:t>
            </a:r>
          </a:p>
          <a:p>
            <a:pPr marL="0" indent="0"/>
            <a:endParaRPr lang="en-US" altLang="zh-CN" sz="2400" dirty="0" smtClean="0"/>
          </a:p>
          <a:p>
            <a:pPr marL="342900" indent="-342900">
              <a:buFont typeface="Wingdings" panose="05000000000000000000" pitchFamily="2" charset="2"/>
              <a:buChar char="u"/>
            </a:pPr>
            <a:r>
              <a:rPr lang="en-US" altLang="zh-CN" sz="2400" dirty="0" smtClean="0"/>
              <a:t>High pressure</a:t>
            </a:r>
          </a:p>
          <a:p>
            <a:pPr marL="342900" indent="-342900">
              <a:buFont typeface="Wingdings" panose="05000000000000000000" pitchFamily="2" charset="2"/>
              <a:buChar char="u"/>
            </a:pPr>
            <a:r>
              <a:rPr lang="en-US" altLang="zh-CN" dirty="0" smtClean="0"/>
              <a:t>SPOF (</a:t>
            </a:r>
            <a:r>
              <a:rPr lang="en-US" altLang="zh-CN" dirty="0"/>
              <a:t>s</a:t>
            </a:r>
            <a:r>
              <a:rPr lang="en-US" altLang="zh-CN" dirty="0" smtClean="0"/>
              <a:t>ingle </a:t>
            </a:r>
            <a:r>
              <a:rPr lang="en-US" altLang="zh-CN" dirty="0"/>
              <a:t>p</a:t>
            </a:r>
            <a:r>
              <a:rPr lang="en-US" altLang="zh-CN" dirty="0" smtClean="0"/>
              <a:t>oint </a:t>
            </a:r>
            <a:r>
              <a:rPr lang="en-US" altLang="zh-CN" dirty="0"/>
              <a:t>o</a:t>
            </a:r>
            <a:r>
              <a:rPr lang="en-US" altLang="zh-CN" dirty="0" smtClean="0"/>
              <a:t>f failure)</a:t>
            </a:r>
            <a:endParaRPr lang="en-US" altLang="zh-CN" sz="2400" dirty="0" smtClean="0"/>
          </a:p>
          <a:p>
            <a:pPr marL="342900" indent="-342900">
              <a:buFont typeface="Wingdings" panose="05000000000000000000" pitchFamily="2" charset="2"/>
              <a:buChar char="u"/>
            </a:pPr>
            <a:endParaRPr lang="en-US" altLang="zh-CN" sz="2400" dirty="0" smtClean="0"/>
          </a:p>
          <a:p>
            <a:endParaRPr lang="zh-CN" altLang="en-US" dirty="0"/>
          </a:p>
        </p:txBody>
      </p:sp>
      <p:pic>
        <p:nvPicPr>
          <p:cNvPr id="13" name="图片 1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0708" y="2117872"/>
            <a:ext cx="6443292" cy="4740128"/>
          </a:xfrm>
          <a:prstGeom prst="rect">
            <a:avLst/>
          </a:prstGeom>
        </p:spPr>
      </p:pic>
      <p:sp>
        <p:nvSpPr>
          <p:cNvPr id="3" name="乘号 2"/>
          <p:cNvSpPr/>
          <p:nvPr/>
        </p:nvSpPr>
        <p:spPr bwMode="auto">
          <a:xfrm>
            <a:off x="5007954" y="2117872"/>
            <a:ext cx="1570646" cy="1692128"/>
          </a:xfrm>
          <a:prstGeom prst="mathMultiply">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3685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5122" y="136754"/>
            <a:ext cx="2047313" cy="487360"/>
          </a:xfrm>
        </p:spPr>
        <p:txBody>
          <a:bodyPr/>
          <a:lstStyle/>
          <a:p>
            <a:r>
              <a:rPr lang="en-US" altLang="zh-CN" sz="2800" b="1" dirty="0" smtClean="0"/>
              <a:t>Distributed</a:t>
            </a:r>
            <a:endParaRPr lang="zh-CN" altLang="en-US" sz="2800" b="1" dirty="0"/>
          </a:p>
        </p:txBody>
      </p:sp>
      <p:sp>
        <p:nvSpPr>
          <p:cNvPr id="3" name="内容占位符 2"/>
          <p:cNvSpPr>
            <a:spLocks noGrp="1"/>
          </p:cNvSpPr>
          <p:nvPr>
            <p:ph sz="half" idx="1"/>
          </p:nvPr>
        </p:nvSpPr>
        <p:spPr>
          <a:xfrm>
            <a:off x="1020748" y="624114"/>
            <a:ext cx="8123252" cy="1348121"/>
          </a:xfrm>
        </p:spPr>
        <p:txBody>
          <a:bodyPr/>
          <a:lstStyle/>
          <a:p>
            <a:pPr marL="342900" indent="-342900">
              <a:buFont typeface="Wingdings" panose="05000000000000000000" pitchFamily="2" charset="2"/>
              <a:buChar char="l"/>
            </a:pPr>
            <a:r>
              <a:rPr lang="en-US" altLang="zh-CN" sz="2000" dirty="0" smtClean="0"/>
              <a:t>We </a:t>
            </a:r>
            <a:r>
              <a:rPr lang="en-US" altLang="zh-CN" sz="2000" dirty="0"/>
              <a:t>define a distributed system as one in which hardware or </a:t>
            </a:r>
            <a:r>
              <a:rPr lang="en-US" altLang="zh-CN" sz="2000" dirty="0" smtClean="0"/>
              <a:t>software components </a:t>
            </a:r>
            <a:r>
              <a:rPr lang="en-US" altLang="zh-CN" sz="2000" dirty="0" smtClean="0">
                <a:solidFill>
                  <a:srgbClr val="FF0000"/>
                </a:solidFill>
              </a:rPr>
              <a:t>located </a:t>
            </a:r>
            <a:r>
              <a:rPr lang="en-US" altLang="zh-CN" sz="2000" dirty="0">
                <a:solidFill>
                  <a:srgbClr val="FF0000"/>
                </a:solidFill>
              </a:rPr>
              <a:t>at networked computers </a:t>
            </a:r>
            <a:r>
              <a:rPr lang="en-US" altLang="zh-CN" sz="2000" dirty="0">
                <a:solidFill>
                  <a:schemeClr val="tx1"/>
                </a:solidFill>
              </a:rPr>
              <a:t>communicate and </a:t>
            </a:r>
            <a:r>
              <a:rPr lang="en-US" altLang="zh-CN" sz="2000" dirty="0" smtClean="0">
                <a:solidFill>
                  <a:schemeClr val="tx1"/>
                </a:solidFill>
              </a:rPr>
              <a:t>coordinate </a:t>
            </a:r>
            <a:r>
              <a:rPr lang="en-US" altLang="zh-CN" sz="2000" dirty="0">
                <a:solidFill>
                  <a:schemeClr val="tx1"/>
                </a:solidFill>
              </a:rPr>
              <a:t>their actions only </a:t>
            </a:r>
            <a:r>
              <a:rPr lang="en-US" altLang="zh-CN" sz="2000" dirty="0" smtClean="0">
                <a:solidFill>
                  <a:srgbClr val="FF0000"/>
                </a:solidFill>
              </a:rPr>
              <a:t>by passing </a:t>
            </a:r>
            <a:r>
              <a:rPr lang="en-US" altLang="zh-CN" sz="2000" dirty="0">
                <a:solidFill>
                  <a:srgbClr val="FF0000"/>
                </a:solidFill>
              </a:rPr>
              <a:t>messages</a:t>
            </a:r>
            <a:r>
              <a:rPr lang="en-US" altLang="zh-CN" sz="2000" dirty="0" smtClean="0">
                <a:solidFill>
                  <a:srgbClr val="FF0000"/>
                </a:solidFill>
              </a:rPr>
              <a:t>.</a:t>
            </a:r>
          </a:p>
          <a:p>
            <a:pPr marL="0" indent="0"/>
            <a:r>
              <a:rPr lang="en-US" altLang="zh-CN" sz="1600" dirty="0">
                <a:solidFill>
                  <a:srgbClr val="FF0000"/>
                </a:solidFill>
              </a:rPr>
              <a:t> </a:t>
            </a:r>
            <a:r>
              <a:rPr lang="en-US" altLang="zh-CN" sz="1600" dirty="0" smtClean="0">
                <a:solidFill>
                  <a:srgbClr val="FF0000"/>
                </a:solidFill>
              </a:rPr>
              <a:t>                                                         </a:t>
            </a:r>
            <a:r>
              <a:rPr lang="en-US" altLang="zh-CN" sz="1600" dirty="0" smtClean="0"/>
              <a:t>---《 </a:t>
            </a:r>
            <a:r>
              <a:rPr lang="en-US" altLang="zh-CN" sz="1600" dirty="0"/>
              <a:t>DISTRIBUTED SYSTEMS Concepts and Design 5th </a:t>
            </a:r>
            <a:r>
              <a:rPr lang="en-US" altLang="zh-CN" sz="1600" dirty="0" smtClean="0"/>
              <a:t>Edition》</a:t>
            </a:r>
          </a:p>
        </p:txBody>
      </p:sp>
      <p:pic>
        <p:nvPicPr>
          <p:cNvPr id="6" name="图片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581" y="1972235"/>
            <a:ext cx="5376900" cy="4847715"/>
          </a:xfrm>
          <a:prstGeom prst="rect">
            <a:avLst/>
          </a:prstGeom>
        </p:spPr>
      </p:pic>
    </p:spTree>
    <p:extLst>
      <p:ext uri="{BB962C8B-B14F-4D97-AF65-F5344CB8AC3E}">
        <p14:creationId xmlns:p14="http://schemas.microsoft.com/office/powerpoint/2010/main" val="390612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smtClean="0"/>
              <a:t>1.2 CAP </a:t>
            </a:r>
            <a:r>
              <a:rPr lang="en-US" altLang="zh-CN" sz="3600" b="1" dirty="0"/>
              <a:t>Theorem</a:t>
            </a:r>
          </a:p>
        </p:txBody>
      </p:sp>
      <p:pic>
        <p:nvPicPr>
          <p:cNvPr id="10" name="图片 9"/>
          <p:cNvPicPr>
            <a:picLocks noChangeAspect="1"/>
          </p:cNvPicPr>
          <p:nvPr/>
        </p:nvPicPr>
        <p:blipFill>
          <a:blip r:embed="rId3"/>
          <a:stretch>
            <a:fillRect/>
          </a:stretch>
        </p:blipFill>
        <p:spPr>
          <a:xfrm>
            <a:off x="149055" y="1764841"/>
            <a:ext cx="4794421" cy="4417789"/>
          </a:xfrm>
          <a:prstGeom prst="rect">
            <a:avLst/>
          </a:prstGeom>
        </p:spPr>
      </p:pic>
      <p:sp>
        <p:nvSpPr>
          <p:cNvPr id="11" name="文本框 10"/>
          <p:cNvSpPr txBox="1"/>
          <p:nvPr/>
        </p:nvSpPr>
        <p:spPr>
          <a:xfrm>
            <a:off x="4943476" y="2588741"/>
            <a:ext cx="3783985" cy="1384995"/>
          </a:xfrm>
          <a:prstGeom prst="rect">
            <a:avLst/>
          </a:prstGeom>
          <a:noFill/>
        </p:spPr>
        <p:txBody>
          <a:bodyPr wrap="none" rtlCol="0">
            <a:spAutoFit/>
          </a:bodyPr>
          <a:lstStyle/>
          <a:p>
            <a:pPr marL="285750" indent="-285750">
              <a:buFont typeface="Wingdings" panose="05000000000000000000" pitchFamily="2" charset="2"/>
              <a:buChar char="l"/>
            </a:pPr>
            <a:r>
              <a:rPr lang="en-US" altLang="zh-CN" sz="2800" b="1" dirty="0" smtClean="0"/>
              <a:t>C (Consistency)</a:t>
            </a:r>
          </a:p>
          <a:p>
            <a:pPr marL="285750" indent="-285750">
              <a:buFont typeface="Wingdings" panose="05000000000000000000" pitchFamily="2" charset="2"/>
              <a:buChar char="l"/>
            </a:pPr>
            <a:r>
              <a:rPr lang="en-US" altLang="zh-CN" sz="2800" b="1" dirty="0" smtClean="0"/>
              <a:t>A (</a:t>
            </a:r>
            <a:r>
              <a:rPr lang="en-US" altLang="zh-CN" sz="2800" b="1" dirty="0"/>
              <a:t>Availability</a:t>
            </a:r>
            <a:r>
              <a:rPr lang="en-US" altLang="zh-CN" sz="2800" b="1" dirty="0" smtClean="0"/>
              <a:t>)</a:t>
            </a:r>
          </a:p>
          <a:p>
            <a:pPr marL="285750" indent="-285750">
              <a:buFont typeface="Wingdings" panose="05000000000000000000" pitchFamily="2" charset="2"/>
              <a:buChar char="l"/>
            </a:pPr>
            <a:r>
              <a:rPr lang="en-US" altLang="zh-CN" sz="2800" b="1" dirty="0" smtClean="0"/>
              <a:t>P (</a:t>
            </a:r>
            <a:r>
              <a:rPr lang="en-US" altLang="zh-CN" sz="2800" b="1" dirty="0"/>
              <a:t>Partition Tolerance</a:t>
            </a:r>
            <a:r>
              <a:rPr lang="en-US" altLang="zh-CN" sz="2800" b="1" dirty="0" smtClean="0"/>
              <a:t>)</a:t>
            </a:r>
            <a:endParaRPr lang="zh-CN" altLang="en-US" sz="2800" b="1" dirty="0"/>
          </a:p>
        </p:txBody>
      </p:sp>
    </p:spTree>
    <p:extLst>
      <p:ext uri="{BB962C8B-B14F-4D97-AF65-F5344CB8AC3E}">
        <p14:creationId xmlns:p14="http://schemas.microsoft.com/office/powerpoint/2010/main" val="33237711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1.3 Consensus Mechanism</a:t>
            </a:r>
            <a:endParaRPr lang="zh-CN" altLang="en-US" dirty="0"/>
          </a:p>
        </p:txBody>
      </p:sp>
      <p:sp>
        <p:nvSpPr>
          <p:cNvPr id="5" name="内容占位符 4"/>
          <p:cNvSpPr>
            <a:spLocks noGrp="1"/>
          </p:cNvSpPr>
          <p:nvPr>
            <p:ph sz="half" idx="1"/>
          </p:nvPr>
        </p:nvSpPr>
        <p:spPr>
          <a:xfrm>
            <a:off x="4324864" y="1412877"/>
            <a:ext cx="4819135" cy="4610127"/>
          </a:xfrm>
        </p:spPr>
        <p:txBody>
          <a:bodyPr/>
          <a:lstStyle/>
          <a:p>
            <a:r>
              <a:rPr lang="en-US" altLang="zh-CN" sz="2800" b="1" dirty="0"/>
              <a:t>Consensus </a:t>
            </a:r>
            <a:r>
              <a:rPr lang="en-US" altLang="zh-CN" sz="2800" b="1" dirty="0" smtClean="0"/>
              <a:t>mechanism</a:t>
            </a:r>
          </a:p>
          <a:p>
            <a:r>
              <a:rPr lang="en-US" altLang="zh-CN" sz="2400" b="1" dirty="0" smtClean="0"/>
              <a:t> </a:t>
            </a:r>
            <a:r>
              <a:rPr lang="en-US" altLang="zh-CN" sz="2400" dirty="0"/>
              <a:t>refers to the process of multi-party (human or system) </a:t>
            </a:r>
            <a:r>
              <a:rPr lang="en-US" altLang="zh-CN" sz="2400" dirty="0" smtClean="0"/>
              <a:t>agreement </a:t>
            </a:r>
          </a:p>
          <a:p>
            <a:endParaRPr lang="en-US" altLang="zh-CN" dirty="0" smtClean="0"/>
          </a:p>
          <a:p>
            <a:pPr marL="342900" indent="-342900">
              <a:buFont typeface="Wingdings" panose="05000000000000000000" pitchFamily="2" charset="2"/>
              <a:buChar char="l"/>
            </a:pPr>
            <a:r>
              <a:rPr lang="en-US" altLang="zh-CN" sz="2800" b="1" dirty="0"/>
              <a:t>Byzantine </a:t>
            </a:r>
            <a:r>
              <a:rPr lang="en-US" altLang="zh-CN" sz="2800" b="1" dirty="0" smtClean="0"/>
              <a:t>problem</a:t>
            </a:r>
          </a:p>
          <a:p>
            <a:pPr marL="0" indent="0"/>
            <a:r>
              <a:rPr lang="en-US" altLang="zh-CN" sz="2400" dirty="0"/>
              <a:t> </a:t>
            </a:r>
            <a:r>
              <a:rPr lang="en-US" altLang="zh-CN" sz="2400" dirty="0" smtClean="0"/>
              <a:t>    (POW,POS,DPOS,PBFT, etc.)</a:t>
            </a:r>
          </a:p>
          <a:p>
            <a:pPr marL="342900" indent="-342900">
              <a:buFont typeface="Wingdings" panose="05000000000000000000" pitchFamily="2" charset="2"/>
              <a:buChar char="l"/>
            </a:pPr>
            <a:r>
              <a:rPr lang="en-US" altLang="zh-CN" sz="2800" b="1" dirty="0" smtClean="0"/>
              <a:t>Non-Byzantine problem</a:t>
            </a:r>
          </a:p>
          <a:p>
            <a:pPr marL="0" indent="0"/>
            <a:r>
              <a:rPr lang="zh-CN" altLang="en-US" sz="2400" dirty="0" smtClean="0"/>
              <a:t>（</a:t>
            </a:r>
            <a:r>
              <a:rPr lang="en-US" altLang="zh-CN" sz="2400" dirty="0" err="1" smtClean="0"/>
              <a:t>Paxos</a:t>
            </a:r>
            <a:r>
              <a:rPr lang="en-US" altLang="zh-CN" sz="2400" dirty="0" smtClean="0"/>
              <a:t> &amp; Raft Algorithm</a:t>
            </a:r>
            <a:r>
              <a:rPr lang="zh-CN" altLang="en-US" sz="2400" dirty="0" smtClean="0"/>
              <a:t>）</a:t>
            </a:r>
            <a:endParaRPr lang="en-US" altLang="zh-CN" sz="2400" dirty="0" smtClean="0"/>
          </a:p>
          <a:p>
            <a:endParaRPr lang="zh-CN" altLang="en-US" dirty="0"/>
          </a:p>
        </p:txBody>
      </p:sp>
      <p:pic>
        <p:nvPicPr>
          <p:cNvPr id="6" name="图片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352" y="1895584"/>
            <a:ext cx="4139511" cy="2879616"/>
          </a:xfrm>
          <a:prstGeom prst="rect">
            <a:avLst/>
          </a:prstGeom>
        </p:spPr>
      </p:pic>
    </p:spTree>
    <p:extLst>
      <p:ext uri="{BB962C8B-B14F-4D97-AF65-F5344CB8AC3E}">
        <p14:creationId xmlns:p14="http://schemas.microsoft.com/office/powerpoint/2010/main" val="36132020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a:t>2. </a:t>
            </a:r>
            <a:r>
              <a:rPr lang="en-US" altLang="zh-CN" sz="3600" b="1" dirty="0" err="1"/>
              <a:t>Paxos</a:t>
            </a:r>
            <a:r>
              <a:rPr lang="en-US" altLang="zh-CN" sz="3600" b="1" dirty="0"/>
              <a:t> </a:t>
            </a:r>
            <a:r>
              <a:rPr lang="en-US" altLang="zh-CN" sz="3600" b="1" dirty="0" smtClean="0"/>
              <a:t>Algorithm</a:t>
            </a:r>
            <a:endParaRPr lang="zh-CN" altLang="en-US" dirty="0"/>
          </a:p>
        </p:txBody>
      </p:sp>
      <p:sp>
        <p:nvSpPr>
          <p:cNvPr id="3" name="内容占位符 2"/>
          <p:cNvSpPr>
            <a:spLocks noGrp="1"/>
          </p:cNvSpPr>
          <p:nvPr>
            <p:ph sz="half" idx="1"/>
          </p:nvPr>
        </p:nvSpPr>
        <p:spPr>
          <a:xfrm>
            <a:off x="155275" y="1412877"/>
            <a:ext cx="8988725" cy="5445123"/>
          </a:xfrm>
        </p:spPr>
        <p:txBody>
          <a:bodyPr/>
          <a:lstStyle/>
          <a:p>
            <a:pPr marL="342900" indent="-342900">
              <a:buFont typeface="Wingdings" panose="05000000000000000000" pitchFamily="2" charset="2"/>
              <a:buChar char="l"/>
            </a:pPr>
            <a:r>
              <a:rPr lang="en-US" altLang="zh-CN" sz="2800" b="1" dirty="0" smtClean="0"/>
              <a:t>Proposed by Leslie </a:t>
            </a:r>
            <a:r>
              <a:rPr lang="en-US" altLang="zh-CN" sz="2800" b="1" dirty="0" err="1" smtClean="0"/>
              <a:t>Lamport</a:t>
            </a:r>
            <a:r>
              <a:rPr lang="en-US" altLang="zh-CN" sz="2800" b="1" dirty="0" smtClean="0"/>
              <a:t>, </a:t>
            </a:r>
            <a:r>
              <a:rPr lang="en-US" altLang="zh-CN" sz="2800" b="1" dirty="0" err="1" smtClean="0"/>
              <a:t>LaTeX</a:t>
            </a:r>
            <a:r>
              <a:rPr lang="en-US" altLang="zh-CN" sz="2800" b="1" dirty="0" smtClean="0"/>
              <a:t> </a:t>
            </a:r>
            <a:r>
              <a:rPr lang="zh-CN" altLang="en-US" sz="2800" b="1" dirty="0"/>
              <a:t>中的</a:t>
            </a:r>
            <a:r>
              <a:rPr lang="en-US" altLang="zh-CN" sz="2800" b="1" dirty="0"/>
              <a:t>"</a:t>
            </a:r>
            <a:r>
              <a:rPr lang="en-US" altLang="zh-CN" sz="2800" b="1" dirty="0" smtClean="0"/>
              <a:t>La“</a:t>
            </a:r>
          </a:p>
          <a:p>
            <a:pPr marL="342900" indent="-342900">
              <a:buFont typeface="Wingdings" panose="05000000000000000000" pitchFamily="2" charset="2"/>
              <a:buChar char="l"/>
            </a:pPr>
            <a:r>
              <a:rPr lang="en-US" altLang="zh-CN" sz="2800" b="1" dirty="0" smtClean="0"/>
              <a:t>《The Part-Time Parliament》1998</a:t>
            </a:r>
          </a:p>
          <a:p>
            <a:pPr marL="0" indent="0"/>
            <a:r>
              <a:rPr lang="en-US" altLang="zh-CN" dirty="0"/>
              <a:t> </a:t>
            </a:r>
            <a:r>
              <a:rPr lang="en-US" altLang="zh-CN" dirty="0" smtClean="0"/>
              <a:t>   1. Virtualized </a:t>
            </a:r>
            <a:r>
              <a:rPr lang="en-US" altLang="zh-CN" dirty="0"/>
              <a:t>a Greek city-state called </a:t>
            </a:r>
            <a:r>
              <a:rPr lang="en-US" altLang="zh-CN" dirty="0" err="1" smtClean="0"/>
              <a:t>Paxos</a:t>
            </a:r>
            <a:r>
              <a:rPr lang="en-US" altLang="zh-CN" dirty="0"/>
              <a:t> </a:t>
            </a:r>
            <a:r>
              <a:rPr lang="en-US" altLang="zh-CN" dirty="0" smtClean="0"/>
              <a:t>governing through parliamentary</a:t>
            </a:r>
          </a:p>
          <a:p>
            <a:r>
              <a:rPr lang="en-US" altLang="zh-CN" dirty="0"/>
              <a:t> </a:t>
            </a:r>
            <a:r>
              <a:rPr lang="en-US" altLang="zh-CN" dirty="0" smtClean="0"/>
              <a:t>   2. </a:t>
            </a:r>
            <a:r>
              <a:rPr lang="en-US" altLang="zh-CN" dirty="0"/>
              <a:t>no one in </a:t>
            </a:r>
            <a:r>
              <a:rPr lang="en-US" altLang="zh-CN" dirty="0" err="1"/>
              <a:t>Paxos</a:t>
            </a:r>
            <a:r>
              <a:rPr lang="en-US" altLang="zh-CN" dirty="0"/>
              <a:t> was willing to </a:t>
            </a:r>
            <a:r>
              <a:rPr lang="en-US" altLang="zh-CN" dirty="0" smtClean="0"/>
              <a:t>devote his </a:t>
            </a:r>
            <a:r>
              <a:rPr lang="en-US" altLang="zh-CN" dirty="0"/>
              <a:t>life to </a:t>
            </a:r>
            <a:r>
              <a:rPr lang="en-US" altLang="zh-CN" dirty="0" smtClean="0"/>
              <a:t>Parliament</a:t>
            </a:r>
          </a:p>
          <a:p>
            <a:r>
              <a:rPr lang="en-US" altLang="zh-CN" dirty="0"/>
              <a:t> </a:t>
            </a:r>
            <a:r>
              <a:rPr lang="en-US" altLang="zh-CN" dirty="0" smtClean="0"/>
              <a:t>   3. function </a:t>
            </a:r>
            <a:r>
              <a:rPr lang="en-US" altLang="zh-CN" dirty="0"/>
              <a:t>even </a:t>
            </a:r>
            <a:r>
              <a:rPr lang="en-US" altLang="zh-CN" dirty="0" smtClean="0"/>
              <a:t>though legislators </a:t>
            </a:r>
            <a:r>
              <a:rPr lang="en-US" altLang="zh-CN" dirty="0"/>
              <a:t>continually wandered in and out of the parliamentary </a:t>
            </a:r>
            <a:r>
              <a:rPr lang="en-US" altLang="zh-CN" dirty="0" smtClean="0"/>
              <a:t>Chamber</a:t>
            </a:r>
          </a:p>
          <a:p>
            <a:endParaRPr lang="en-US" altLang="zh-CN" dirty="0" smtClean="0"/>
          </a:p>
          <a:p>
            <a:endParaRPr lang="en-US" altLang="zh-CN" dirty="0"/>
          </a:p>
          <a:p>
            <a:endParaRPr lang="en-US" altLang="zh-CN" dirty="0" smtClean="0"/>
          </a:p>
          <a:p>
            <a:endParaRPr lang="en-US" altLang="zh-CN" dirty="0" smtClean="0"/>
          </a:p>
          <a:p>
            <a:pPr marL="342900" indent="-342900">
              <a:buFont typeface="Wingdings" panose="05000000000000000000" pitchFamily="2" charset="2"/>
              <a:buChar char="l"/>
            </a:pPr>
            <a:r>
              <a:rPr lang="en-US" altLang="zh-CN" sz="2800" b="1" dirty="0" smtClean="0"/>
              <a:t>《</a:t>
            </a:r>
            <a:r>
              <a:rPr lang="en-US" altLang="zh-CN" sz="2800" b="1" dirty="0" err="1" smtClean="0"/>
              <a:t>Paxos</a:t>
            </a:r>
            <a:r>
              <a:rPr lang="en-US" altLang="zh-CN" sz="2800" b="1" dirty="0" smtClean="0"/>
              <a:t> Made Simple》2001</a:t>
            </a:r>
          </a:p>
          <a:p>
            <a:pPr marL="0" indent="0"/>
            <a:r>
              <a:rPr lang="en-US" altLang="zh-CN" dirty="0" smtClean="0"/>
              <a:t> </a:t>
            </a:r>
            <a:r>
              <a:rPr lang="en-US" altLang="zh-CN" dirty="0"/>
              <a:t>Instead of predicting the future, it is better to limit the future.</a:t>
            </a:r>
            <a:endParaRPr lang="en-US" altLang="zh-CN" dirty="0" smtClean="0"/>
          </a:p>
          <a:p>
            <a:pPr marL="0" indent="0"/>
            <a:r>
              <a:rPr lang="en-US" altLang="zh-CN" dirty="0"/>
              <a:t> </a:t>
            </a:r>
            <a:r>
              <a:rPr lang="en-US" altLang="zh-CN" dirty="0" smtClean="0"/>
              <a:t>     </a:t>
            </a:r>
          </a:p>
          <a:p>
            <a:pPr marL="342900" indent="-342900">
              <a:buFont typeface="Wingdings" panose="05000000000000000000" pitchFamily="2" charset="2"/>
              <a:buChar char="l"/>
            </a:pPr>
            <a:endParaRPr lang="zh-CN" altLang="en-US" dirty="0"/>
          </a:p>
        </p:txBody>
      </p:sp>
      <p:sp>
        <p:nvSpPr>
          <p:cNvPr id="5" name="圆角矩形 4"/>
          <p:cNvSpPr/>
          <p:nvPr/>
        </p:nvSpPr>
        <p:spPr bwMode="auto">
          <a:xfrm>
            <a:off x="422696" y="4048888"/>
            <a:ext cx="3114134" cy="35058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defTabSz="457200" fontAlgn="base">
              <a:spcBef>
                <a:spcPct val="0"/>
              </a:spcBef>
              <a:spcAft>
                <a:spcPct val="0"/>
              </a:spcAft>
              <a:buClr>
                <a:srgbClr val="000000"/>
              </a:buClr>
              <a:buSzPct val="100000"/>
            </a:pPr>
            <a:r>
              <a:rPr lang="en-US" altLang="zh-CN" sz="2400" dirty="0"/>
              <a:t>a part-time parliament</a:t>
            </a:r>
            <a:endParaRPr kumimoji="0" lang="zh-CN" altLang="en-US" sz="2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1" name="圆角矩形 10"/>
          <p:cNvSpPr/>
          <p:nvPr/>
        </p:nvSpPr>
        <p:spPr bwMode="auto">
          <a:xfrm>
            <a:off x="4376468" y="4048888"/>
            <a:ext cx="4514490" cy="386527"/>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r>
              <a:rPr lang="en-US" altLang="zh-CN" sz="2400" dirty="0"/>
              <a:t>fault-tolerant distributed systems</a:t>
            </a:r>
          </a:p>
        </p:txBody>
      </p:sp>
      <p:sp>
        <p:nvSpPr>
          <p:cNvPr id="12" name="圆角矩形 11"/>
          <p:cNvSpPr/>
          <p:nvPr/>
        </p:nvSpPr>
        <p:spPr bwMode="auto">
          <a:xfrm>
            <a:off x="422696" y="4539039"/>
            <a:ext cx="3114134" cy="35058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r>
              <a:rPr lang="en-US" altLang="zh-CN" sz="2400" dirty="0" smtClean="0"/>
              <a:t>Legislators</a:t>
            </a:r>
            <a:endParaRPr lang="en-US" altLang="zh-CN" sz="2400" dirty="0"/>
          </a:p>
        </p:txBody>
      </p:sp>
      <p:sp>
        <p:nvSpPr>
          <p:cNvPr id="13" name="圆角矩形 12"/>
          <p:cNvSpPr/>
          <p:nvPr/>
        </p:nvSpPr>
        <p:spPr bwMode="auto">
          <a:xfrm>
            <a:off x="4376468" y="4539039"/>
            <a:ext cx="4514490" cy="35058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r>
              <a:rPr lang="en-US" altLang="zh-CN" sz="2400" dirty="0" smtClean="0"/>
              <a:t>processes</a:t>
            </a:r>
            <a:endParaRPr lang="en-US" altLang="zh-CN" sz="2400" dirty="0"/>
          </a:p>
        </p:txBody>
      </p:sp>
      <p:sp>
        <p:nvSpPr>
          <p:cNvPr id="14" name="圆角矩形 13"/>
          <p:cNvSpPr/>
          <p:nvPr/>
        </p:nvSpPr>
        <p:spPr bwMode="auto">
          <a:xfrm>
            <a:off x="422696" y="5029190"/>
            <a:ext cx="3114134" cy="35058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r>
              <a:rPr lang="en-US" altLang="zh-CN" sz="2400" dirty="0"/>
              <a:t>leaving the Chamber</a:t>
            </a:r>
          </a:p>
        </p:txBody>
      </p:sp>
      <p:sp>
        <p:nvSpPr>
          <p:cNvPr id="15" name="圆角矩形 14"/>
          <p:cNvSpPr/>
          <p:nvPr/>
        </p:nvSpPr>
        <p:spPr bwMode="auto">
          <a:xfrm>
            <a:off x="4376468" y="5029190"/>
            <a:ext cx="4514490" cy="350584"/>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r>
              <a:rPr lang="en-US" altLang="zh-CN" sz="2400" dirty="0" smtClean="0"/>
              <a:t>failure</a:t>
            </a:r>
            <a:endParaRPr lang="en-US" altLang="zh-CN" sz="2400" dirty="0"/>
          </a:p>
        </p:txBody>
      </p:sp>
      <p:cxnSp>
        <p:nvCxnSpPr>
          <p:cNvPr id="17" name="直接箭头连接符 16"/>
          <p:cNvCxnSpPr/>
          <p:nvPr/>
        </p:nvCxnSpPr>
        <p:spPr bwMode="auto">
          <a:xfrm>
            <a:off x="3536830" y="4244196"/>
            <a:ext cx="839638" cy="0"/>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9" name="直接箭头连接符 18"/>
          <p:cNvCxnSpPr>
            <a:stCxn id="12" idx="3"/>
            <a:endCxn id="13" idx="1"/>
          </p:cNvCxnSpPr>
          <p:nvPr/>
        </p:nvCxnSpPr>
        <p:spPr bwMode="auto">
          <a:xfrm>
            <a:off x="3536830" y="4714331"/>
            <a:ext cx="839638" cy="0"/>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2" name="直接箭头连接符 21"/>
          <p:cNvCxnSpPr>
            <a:stCxn id="14" idx="3"/>
            <a:endCxn id="15" idx="1"/>
          </p:cNvCxnSpPr>
          <p:nvPr/>
        </p:nvCxnSpPr>
        <p:spPr bwMode="auto">
          <a:xfrm>
            <a:off x="3536830" y="5204482"/>
            <a:ext cx="839638" cy="0"/>
          </a:xfrm>
          <a:prstGeom prst="straightConnector1">
            <a:avLst/>
          </a:prstGeom>
          <a:solidFill>
            <a:srgbClr val="00B8FF"/>
          </a:solidFill>
          <a:ln w="952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359589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353885" y="1382446"/>
            <a:ext cx="3091463" cy="527187"/>
          </a:xfrm>
        </p:spPr>
        <p:txBody>
          <a:bodyPr/>
          <a:lstStyle/>
          <a:p>
            <a:r>
              <a:rPr lang="en-US" altLang="zh-CN" sz="2400" b="1" dirty="0" smtClean="0"/>
              <a:t>2.1 Problem &amp; Goal:</a:t>
            </a:r>
          </a:p>
          <a:p>
            <a:endParaRPr lang="en-US" altLang="zh-CN" dirty="0" smtClean="0"/>
          </a:p>
        </p:txBody>
      </p:sp>
      <p:sp>
        <p:nvSpPr>
          <p:cNvPr id="4" name="椭圆 3"/>
          <p:cNvSpPr/>
          <p:nvPr/>
        </p:nvSpPr>
        <p:spPr bwMode="auto">
          <a:xfrm>
            <a:off x="1797298" y="2400269"/>
            <a:ext cx="1001485"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Node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5" name="椭圆 4"/>
          <p:cNvSpPr/>
          <p:nvPr/>
        </p:nvSpPr>
        <p:spPr bwMode="auto">
          <a:xfrm>
            <a:off x="353885" y="3357556"/>
            <a:ext cx="986972" cy="423637"/>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Node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7" name="椭圆 6"/>
          <p:cNvSpPr/>
          <p:nvPr/>
        </p:nvSpPr>
        <p:spPr bwMode="auto">
          <a:xfrm>
            <a:off x="119921" y="2208409"/>
            <a:ext cx="4407582" cy="2119085"/>
          </a:xfrm>
          <a:prstGeom prst="ellipse">
            <a:avLst/>
          </a:prstGeom>
          <a:noFill/>
          <a:ln>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cxnSp>
        <p:nvCxnSpPr>
          <p:cNvPr id="11" name="直接箭头连接符 10"/>
          <p:cNvCxnSpPr>
            <a:stCxn id="5" idx="0"/>
            <a:endCxn id="4" idx="3"/>
          </p:cNvCxnSpPr>
          <p:nvPr/>
        </p:nvCxnSpPr>
        <p:spPr bwMode="auto">
          <a:xfrm flipV="1">
            <a:off x="847371" y="2824003"/>
            <a:ext cx="1096591" cy="533553"/>
          </a:xfrm>
          <a:prstGeom prst="straightConnector1">
            <a:avLst/>
          </a:prstGeom>
          <a:ln w="9525"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接箭头连接符 13"/>
          <p:cNvCxnSpPr>
            <a:stCxn id="5" idx="6"/>
            <a:endCxn id="77" idx="2"/>
          </p:cNvCxnSpPr>
          <p:nvPr/>
        </p:nvCxnSpPr>
        <p:spPr bwMode="auto">
          <a:xfrm>
            <a:off x="1340857" y="3569375"/>
            <a:ext cx="1897448" cy="63676"/>
          </a:xfrm>
          <a:prstGeom prst="straightConnector1">
            <a:avLst/>
          </a:prstGeom>
          <a:ln w="9525"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接箭头连接符 16"/>
          <p:cNvCxnSpPr>
            <a:stCxn id="77" idx="0"/>
            <a:endCxn id="4" idx="5"/>
          </p:cNvCxnSpPr>
          <p:nvPr/>
        </p:nvCxnSpPr>
        <p:spPr bwMode="auto">
          <a:xfrm flipH="1" flipV="1">
            <a:off x="2652119" y="2824003"/>
            <a:ext cx="1086929" cy="560830"/>
          </a:xfrm>
          <a:prstGeom prst="straightConnector1">
            <a:avLst/>
          </a:prstGeom>
          <a:ln w="9525"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7" name="椭圆 46"/>
          <p:cNvSpPr/>
          <p:nvPr/>
        </p:nvSpPr>
        <p:spPr bwMode="auto">
          <a:xfrm>
            <a:off x="834643" y="5422576"/>
            <a:ext cx="1001485"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Node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48" name="椭圆 47"/>
          <p:cNvSpPr/>
          <p:nvPr/>
        </p:nvSpPr>
        <p:spPr bwMode="auto">
          <a:xfrm>
            <a:off x="2151376" y="5837165"/>
            <a:ext cx="1001485"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Node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49" name="直接箭头连接符 48"/>
          <p:cNvCxnSpPr>
            <a:stCxn id="48" idx="0"/>
            <a:endCxn id="77" idx="4"/>
          </p:cNvCxnSpPr>
          <p:nvPr/>
        </p:nvCxnSpPr>
        <p:spPr bwMode="auto">
          <a:xfrm flipV="1">
            <a:off x="2652119" y="3881268"/>
            <a:ext cx="1086929" cy="1955897"/>
          </a:xfrm>
          <a:prstGeom prst="straightConnector1">
            <a:avLst/>
          </a:prstGeom>
          <a:ln w="9525"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直接箭头连接符 51"/>
          <p:cNvCxnSpPr>
            <a:stCxn id="4" idx="4"/>
            <a:endCxn id="48" idx="0"/>
          </p:cNvCxnSpPr>
          <p:nvPr/>
        </p:nvCxnSpPr>
        <p:spPr bwMode="auto">
          <a:xfrm>
            <a:off x="2298041" y="2896704"/>
            <a:ext cx="354078" cy="2940461"/>
          </a:xfrm>
          <a:prstGeom prst="straightConnector1">
            <a:avLst/>
          </a:prstGeom>
          <a:ln w="9525"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直接箭头连接符 54"/>
          <p:cNvCxnSpPr>
            <a:stCxn id="5" idx="4"/>
            <a:endCxn id="47" idx="0"/>
          </p:cNvCxnSpPr>
          <p:nvPr/>
        </p:nvCxnSpPr>
        <p:spPr bwMode="auto">
          <a:xfrm>
            <a:off x="847371" y="3781193"/>
            <a:ext cx="488015" cy="1641383"/>
          </a:xfrm>
          <a:prstGeom prst="straightConnector1">
            <a:avLst/>
          </a:prstGeom>
          <a:ln w="9525" cap="flat" cmpd="sng" algn="ctr">
            <a:solidFill>
              <a:schemeClr val="tx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68" name="椭圆 67"/>
          <p:cNvSpPr/>
          <p:nvPr/>
        </p:nvSpPr>
        <p:spPr bwMode="auto">
          <a:xfrm>
            <a:off x="353885" y="5100719"/>
            <a:ext cx="3419495" cy="1599117"/>
          </a:xfrm>
          <a:prstGeom prst="ellipse">
            <a:avLst/>
          </a:prstGeom>
          <a:noFill/>
          <a:ln>
            <a:solidFill>
              <a:srgbClr val="00B05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77" name="椭圆 76"/>
          <p:cNvSpPr/>
          <p:nvPr/>
        </p:nvSpPr>
        <p:spPr bwMode="auto">
          <a:xfrm>
            <a:off x="3238305" y="3384833"/>
            <a:ext cx="1001485"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Node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83" name="椭圆 82"/>
          <p:cNvSpPr/>
          <p:nvPr/>
        </p:nvSpPr>
        <p:spPr bwMode="auto">
          <a:xfrm>
            <a:off x="4188837" y="1095229"/>
            <a:ext cx="1001485"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Node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86" name="直接箭头连接符 85"/>
          <p:cNvCxnSpPr>
            <a:stCxn id="83" idx="6"/>
            <a:endCxn id="87" idx="2"/>
          </p:cNvCxnSpPr>
          <p:nvPr/>
        </p:nvCxnSpPr>
        <p:spPr bwMode="auto">
          <a:xfrm>
            <a:off x="5190322" y="1343447"/>
            <a:ext cx="377370" cy="1"/>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87" name="椭圆 86"/>
          <p:cNvSpPr/>
          <p:nvPr/>
        </p:nvSpPr>
        <p:spPr bwMode="auto">
          <a:xfrm>
            <a:off x="5567692" y="1095230"/>
            <a:ext cx="1393372"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Process</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94" name="直接箭头连接符 93"/>
          <p:cNvCxnSpPr>
            <a:stCxn id="87" idx="6"/>
            <a:endCxn id="95" idx="2"/>
          </p:cNvCxnSpPr>
          <p:nvPr/>
        </p:nvCxnSpPr>
        <p:spPr bwMode="auto">
          <a:xfrm>
            <a:off x="6961064" y="1343448"/>
            <a:ext cx="537029" cy="0"/>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95" name="椭圆 94"/>
          <p:cNvSpPr/>
          <p:nvPr/>
        </p:nvSpPr>
        <p:spPr bwMode="auto">
          <a:xfrm>
            <a:off x="7498093" y="1095230"/>
            <a:ext cx="1161142" cy="496435"/>
          </a:xfrm>
          <a:prstGeom prst="ellipse">
            <a:avLst/>
          </a:prstGeom>
          <a:solidFill>
            <a:srgbClr val="00B0F0"/>
          </a:solid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Value</a:t>
            </a:r>
            <a:endPar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1" name="乘号 100"/>
          <p:cNvSpPr/>
          <p:nvPr/>
        </p:nvSpPr>
        <p:spPr bwMode="auto">
          <a:xfrm>
            <a:off x="720004" y="4282458"/>
            <a:ext cx="789581" cy="717707"/>
          </a:xfrm>
          <a:prstGeom prst="mathMultiply">
            <a:avLst/>
          </a:prstGeom>
          <a:solidFill>
            <a:srgbClr val="FF33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2" name="乘号 101"/>
          <p:cNvSpPr/>
          <p:nvPr/>
        </p:nvSpPr>
        <p:spPr bwMode="auto">
          <a:xfrm>
            <a:off x="2261583" y="5726528"/>
            <a:ext cx="789581" cy="717707"/>
          </a:xfrm>
          <a:prstGeom prst="mathMultiply">
            <a:avLst/>
          </a:prstGeom>
          <a:solidFill>
            <a:srgbClr val="FF33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3" name="流程图: 过程 102"/>
          <p:cNvSpPr/>
          <p:nvPr/>
        </p:nvSpPr>
        <p:spPr bwMode="auto">
          <a:xfrm>
            <a:off x="4915682" y="2475430"/>
            <a:ext cx="2228702" cy="423734"/>
          </a:xfrm>
          <a:prstGeom prst="flowChartProcess">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defTabSz="457200" fontAlgn="base">
              <a:spcBef>
                <a:spcPct val="0"/>
              </a:spcBef>
              <a:spcAft>
                <a:spcPct val="0"/>
              </a:spcAft>
              <a:buClr>
                <a:srgbClr val="000000"/>
              </a:buClr>
              <a:buSzPct val="100000"/>
            </a:pPr>
            <a:r>
              <a:rPr lang="en-US" altLang="zh-CN" b="1" dirty="0"/>
              <a:t>Machine Downtime</a:t>
            </a: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4" name="流程图: 过程 103"/>
          <p:cNvSpPr/>
          <p:nvPr/>
        </p:nvSpPr>
        <p:spPr bwMode="auto">
          <a:xfrm>
            <a:off x="4915681" y="3415204"/>
            <a:ext cx="3954012" cy="942415"/>
          </a:xfrm>
          <a:prstGeom prst="flowChartProcess">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en-US" altLang="zh-CN" b="1" dirty="0"/>
              <a:t>Network </a:t>
            </a:r>
            <a:r>
              <a:rPr lang="en-US" altLang="zh-CN" b="1" dirty="0" smtClean="0"/>
              <a:t>Abnormity</a:t>
            </a:r>
          </a:p>
          <a:p>
            <a:r>
              <a:rPr lang="en-US" altLang="zh-CN" dirty="0" smtClean="0"/>
              <a:t>   Delay</a:t>
            </a:r>
            <a:r>
              <a:rPr lang="zh-CN" altLang="en-US" dirty="0" smtClean="0"/>
              <a:t>、</a:t>
            </a:r>
            <a:r>
              <a:rPr lang="en-US" altLang="zh-CN" dirty="0" err="1"/>
              <a:t>R</a:t>
            </a:r>
            <a:r>
              <a:rPr lang="en-US" altLang="zh-CN" dirty="0" err="1" smtClean="0"/>
              <a:t>epeatition</a:t>
            </a:r>
            <a:r>
              <a:rPr lang="zh-CN" altLang="en-US" dirty="0" smtClean="0"/>
              <a:t>、</a:t>
            </a:r>
            <a:r>
              <a:rPr lang="en-US" altLang="zh-CN" dirty="0" smtClean="0"/>
              <a:t>Lost</a:t>
            </a:r>
            <a:r>
              <a:rPr lang="zh-CN" altLang="en-US" dirty="0" smtClean="0"/>
              <a:t>、</a:t>
            </a:r>
            <a:r>
              <a:rPr lang="en-US" altLang="zh-CN" dirty="0" smtClean="0"/>
              <a:t>Disorder</a:t>
            </a:r>
            <a:endParaRPr lang="en-US" altLang="zh-CN" dirty="0"/>
          </a:p>
          <a:p>
            <a:r>
              <a:rPr lang="en-US" altLang="zh-CN" dirty="0" smtClean="0"/>
              <a:t>   Network partition</a:t>
            </a:r>
            <a:endParaRPr lang="zh-CN" altLang="en-US" dirty="0"/>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5" name="左大括号 104"/>
          <p:cNvSpPr/>
          <p:nvPr/>
        </p:nvSpPr>
        <p:spPr bwMode="auto">
          <a:xfrm>
            <a:off x="4627969" y="2653231"/>
            <a:ext cx="268486" cy="1023143"/>
          </a:xfrm>
          <a:prstGeom prst="lef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6" name="左大括号 105"/>
          <p:cNvSpPr/>
          <p:nvPr/>
        </p:nvSpPr>
        <p:spPr bwMode="auto">
          <a:xfrm>
            <a:off x="4960127" y="3875426"/>
            <a:ext cx="131530" cy="278522"/>
          </a:xfrm>
          <a:prstGeom prst="lef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4" name="文本框 113"/>
          <p:cNvSpPr txBox="1"/>
          <p:nvPr/>
        </p:nvSpPr>
        <p:spPr>
          <a:xfrm>
            <a:off x="7597528" y="1746744"/>
            <a:ext cx="1337130" cy="923330"/>
          </a:xfrm>
          <a:prstGeom prst="rect">
            <a:avLst/>
          </a:prstGeom>
          <a:noFill/>
        </p:spPr>
        <p:txBody>
          <a:bodyPr wrap="square" rtlCol="0">
            <a:spAutoFit/>
          </a:bodyPr>
          <a:lstStyle/>
          <a:p>
            <a:r>
              <a:rPr lang="en-US" altLang="zh-CN" dirty="0" smtClean="0"/>
              <a:t>Number</a:t>
            </a:r>
            <a:r>
              <a:rPr lang="zh-CN" altLang="en-US" dirty="0" smtClean="0"/>
              <a:t>、</a:t>
            </a:r>
            <a:r>
              <a:rPr lang="en-US" altLang="zh-CN" dirty="0" smtClean="0"/>
              <a:t>Log</a:t>
            </a:r>
            <a:r>
              <a:rPr lang="zh-CN" altLang="en-US" dirty="0"/>
              <a:t>、</a:t>
            </a:r>
            <a:r>
              <a:rPr lang="en-US" altLang="zh-CN" dirty="0" smtClean="0"/>
              <a:t>Command…</a:t>
            </a:r>
            <a:endParaRPr lang="zh-CN" altLang="en-US" dirty="0"/>
          </a:p>
        </p:txBody>
      </p:sp>
      <p:sp>
        <p:nvSpPr>
          <p:cNvPr id="115" name="云形 114"/>
          <p:cNvSpPr/>
          <p:nvPr/>
        </p:nvSpPr>
        <p:spPr bwMode="auto">
          <a:xfrm>
            <a:off x="4069381" y="4702206"/>
            <a:ext cx="4686587" cy="2005202"/>
          </a:xfrm>
          <a:prstGeom prst="cloud">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defTabSz="457200" fontAlgn="base">
              <a:spcBef>
                <a:spcPct val="0"/>
              </a:spcBef>
              <a:spcAft>
                <a:spcPct val="0"/>
              </a:spcAft>
              <a:buClr>
                <a:srgbClr val="000000"/>
              </a:buClr>
              <a:buSzPct val="100000"/>
            </a:pPr>
            <a:r>
              <a:rPr lang="en-US" altLang="zh-CN" b="1" dirty="0">
                <a:solidFill>
                  <a:srgbClr val="FF0000"/>
                </a:solidFill>
                <a:latin typeface="Arial" panose="020B0604020202020204" pitchFamily="34" charset="0"/>
                <a:ea typeface="宋体" panose="02010600030101010101" pitchFamily="2" charset="-122"/>
              </a:rPr>
              <a:t>A consensus algorithm </a:t>
            </a:r>
            <a:r>
              <a:rPr lang="en-US" altLang="zh-CN" b="1" dirty="0">
                <a:latin typeface="Arial" panose="020B0604020202020204" pitchFamily="34" charset="0"/>
                <a:ea typeface="宋体" panose="02010600030101010101" pitchFamily="2" charset="-122"/>
              </a:rPr>
              <a:t>ensures that a single one among the proposed values is chosen.</a:t>
            </a:r>
            <a:endParaRPr lang="zh-CN" altLang="en-US" b="1" dirty="0">
              <a:latin typeface="Arial" panose="020B0604020202020204" pitchFamily="34" charset="0"/>
              <a:ea typeface="宋体" panose="02010600030101010101" pitchFamily="2" charset="-122"/>
            </a:endParaRP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 name="矩形 1"/>
          <p:cNvSpPr/>
          <p:nvPr/>
        </p:nvSpPr>
        <p:spPr>
          <a:xfrm>
            <a:off x="2063632" y="31843"/>
            <a:ext cx="4553362" cy="769441"/>
          </a:xfrm>
          <a:prstGeom prst="rect">
            <a:avLst/>
          </a:prstGeom>
        </p:spPr>
        <p:txBody>
          <a:bodyPr wrap="none">
            <a:spAutoFit/>
          </a:bodyPr>
          <a:lstStyle/>
          <a:p>
            <a:r>
              <a:rPr lang="en-US" altLang="zh-CN" sz="4400" b="1" dirty="0"/>
              <a:t>2. </a:t>
            </a:r>
            <a:r>
              <a:rPr lang="en-US" altLang="zh-CN" sz="4400" b="1" dirty="0" err="1"/>
              <a:t>Paxos</a:t>
            </a:r>
            <a:r>
              <a:rPr lang="en-US" altLang="zh-CN" sz="4400" b="1" dirty="0"/>
              <a:t> Algorithm</a:t>
            </a:r>
            <a:endParaRPr lang="zh-CN" altLang="en-US" sz="4400" dirty="0"/>
          </a:p>
        </p:txBody>
      </p:sp>
    </p:spTree>
    <p:extLst>
      <p:ext uri="{BB962C8B-B14F-4D97-AF65-F5344CB8AC3E}">
        <p14:creationId xmlns:p14="http://schemas.microsoft.com/office/powerpoint/2010/main" val="411343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 calcmode="lin" valueType="num">
                                      <p:cBhvr additive="base">
                                        <p:cTn id="7" dur="500" fill="hold"/>
                                        <p:tgtEl>
                                          <p:spTgt spid="102"/>
                                        </p:tgtEl>
                                        <p:attrNameLst>
                                          <p:attrName>ppt_x</p:attrName>
                                        </p:attrNameLst>
                                      </p:cBhvr>
                                      <p:tavLst>
                                        <p:tav tm="0">
                                          <p:val>
                                            <p:strVal val="#ppt_x"/>
                                          </p:val>
                                        </p:tav>
                                        <p:tav tm="100000">
                                          <p:val>
                                            <p:strVal val="#ppt_x"/>
                                          </p:val>
                                        </p:tav>
                                      </p:tavLst>
                                    </p:anim>
                                    <p:anim calcmode="lin" valueType="num">
                                      <p:cBhvr additive="base">
                                        <p:cTn id="8"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3"/>
                                        </p:tgtEl>
                                        <p:attrNameLst>
                                          <p:attrName>style.visibility</p:attrName>
                                        </p:attrNameLst>
                                      </p:cBhvr>
                                      <p:to>
                                        <p:strVal val="visible"/>
                                      </p:to>
                                    </p:set>
                                    <p:anim calcmode="lin" valueType="num">
                                      <p:cBhvr additive="base">
                                        <p:cTn id="17" dur="500" fill="hold"/>
                                        <p:tgtEl>
                                          <p:spTgt spid="103"/>
                                        </p:tgtEl>
                                        <p:attrNameLst>
                                          <p:attrName>ppt_x</p:attrName>
                                        </p:attrNameLst>
                                      </p:cBhvr>
                                      <p:tavLst>
                                        <p:tav tm="0">
                                          <p:val>
                                            <p:strVal val="#ppt_x"/>
                                          </p:val>
                                        </p:tav>
                                        <p:tav tm="100000">
                                          <p:val>
                                            <p:strVal val="#ppt_x"/>
                                          </p:val>
                                        </p:tav>
                                      </p:tavLst>
                                    </p:anim>
                                    <p:anim calcmode="lin" valueType="num">
                                      <p:cBhvr additive="base">
                                        <p:cTn id="18"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1"/>
                                        </p:tgtEl>
                                        <p:attrNameLst>
                                          <p:attrName>style.visibility</p:attrName>
                                        </p:attrNameLst>
                                      </p:cBhvr>
                                      <p:to>
                                        <p:strVal val="visible"/>
                                      </p:to>
                                    </p:set>
                                    <p:anim calcmode="lin" valueType="num">
                                      <p:cBhvr additive="base">
                                        <p:cTn id="23" dur="500" fill="hold"/>
                                        <p:tgtEl>
                                          <p:spTgt spid="101"/>
                                        </p:tgtEl>
                                        <p:attrNameLst>
                                          <p:attrName>ppt_x</p:attrName>
                                        </p:attrNameLst>
                                      </p:cBhvr>
                                      <p:tavLst>
                                        <p:tav tm="0">
                                          <p:val>
                                            <p:strVal val="#ppt_x"/>
                                          </p:val>
                                        </p:tav>
                                        <p:tav tm="100000">
                                          <p:val>
                                            <p:strVal val="#ppt_x"/>
                                          </p:val>
                                        </p:tav>
                                      </p:tavLst>
                                    </p:anim>
                                    <p:anim calcmode="lin" valueType="num">
                                      <p:cBhvr additive="base">
                                        <p:cTn id="24"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4"/>
                                        </p:tgtEl>
                                        <p:attrNameLst>
                                          <p:attrName>style.visibility</p:attrName>
                                        </p:attrNameLst>
                                      </p:cBhvr>
                                      <p:to>
                                        <p:strVal val="visible"/>
                                      </p:to>
                                    </p:set>
                                    <p:anim calcmode="lin" valueType="num">
                                      <p:cBhvr additive="base">
                                        <p:cTn id="29" dur="500" fill="hold"/>
                                        <p:tgtEl>
                                          <p:spTgt spid="104"/>
                                        </p:tgtEl>
                                        <p:attrNameLst>
                                          <p:attrName>ppt_x</p:attrName>
                                        </p:attrNameLst>
                                      </p:cBhvr>
                                      <p:tavLst>
                                        <p:tav tm="0">
                                          <p:val>
                                            <p:strVal val="#ppt_x"/>
                                          </p:val>
                                        </p:tav>
                                        <p:tav tm="100000">
                                          <p:val>
                                            <p:strVal val="#ppt_x"/>
                                          </p:val>
                                        </p:tav>
                                      </p:tavLst>
                                    </p:anim>
                                    <p:anim calcmode="lin" valueType="num">
                                      <p:cBhvr additive="base">
                                        <p:cTn id="30" dur="500" fill="hold"/>
                                        <p:tgtEl>
                                          <p:spTgt spid="10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anim calcmode="lin" valueType="num">
                                      <p:cBhvr additive="base">
                                        <p:cTn id="33" dur="500" fill="hold"/>
                                        <p:tgtEl>
                                          <p:spTgt spid="106"/>
                                        </p:tgtEl>
                                        <p:attrNameLst>
                                          <p:attrName>ppt_x</p:attrName>
                                        </p:attrNameLst>
                                      </p:cBhvr>
                                      <p:tavLst>
                                        <p:tav tm="0">
                                          <p:val>
                                            <p:strVal val="#ppt_x"/>
                                          </p:val>
                                        </p:tav>
                                        <p:tav tm="100000">
                                          <p:val>
                                            <p:strVal val="#ppt_x"/>
                                          </p:val>
                                        </p:tav>
                                      </p:tavLst>
                                    </p:anim>
                                    <p:anim calcmode="lin" valueType="num">
                                      <p:cBhvr additive="base">
                                        <p:cTn id="34"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14"/>
                                        </p:tgtEl>
                                        <p:attrNameLst>
                                          <p:attrName>style.visibility</p:attrName>
                                        </p:attrNameLst>
                                      </p:cBhvr>
                                      <p:to>
                                        <p:strVal val="visible"/>
                                      </p:to>
                                    </p:set>
                                    <p:animEffect transition="in" filter="fade">
                                      <p:cBhvr>
                                        <p:cTn id="55" dur="1000"/>
                                        <p:tgtEl>
                                          <p:spTgt spid="114"/>
                                        </p:tgtEl>
                                      </p:cBhvr>
                                    </p:animEffect>
                                    <p:anim calcmode="lin" valueType="num">
                                      <p:cBhvr>
                                        <p:cTn id="56" dur="1000" fill="hold"/>
                                        <p:tgtEl>
                                          <p:spTgt spid="114"/>
                                        </p:tgtEl>
                                        <p:attrNameLst>
                                          <p:attrName>ppt_x</p:attrName>
                                        </p:attrNameLst>
                                      </p:cBhvr>
                                      <p:tavLst>
                                        <p:tav tm="0">
                                          <p:val>
                                            <p:strVal val="#ppt_x"/>
                                          </p:val>
                                        </p:tav>
                                        <p:tav tm="100000">
                                          <p:val>
                                            <p:strVal val="#ppt_x"/>
                                          </p:val>
                                        </p:tav>
                                      </p:tavLst>
                                    </p:anim>
                                    <p:anim calcmode="lin" valueType="num">
                                      <p:cBhvr>
                                        <p:cTn id="57" dur="1000" fill="hold"/>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7" grpId="0" animBg="1"/>
      <p:bldP spid="95" grpId="0" animBg="1"/>
      <p:bldP spid="101" grpId="0" animBg="1"/>
      <p:bldP spid="102" grpId="0" animBg="1"/>
      <p:bldP spid="103" grpId="0" animBg="1"/>
      <p:bldP spid="104" grpId="0" animBg="1"/>
      <p:bldP spid="105" grpId="0" animBg="1"/>
      <p:bldP spid="106" grpId="0" animBg="1"/>
      <p:bldP spid="114" grpId="0"/>
      <p:bldP spid="1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510363" y="1255118"/>
            <a:ext cx="8140151" cy="2005452"/>
          </a:xfrm>
        </p:spPr>
        <p:txBody>
          <a:bodyPr/>
          <a:lstStyle/>
          <a:p>
            <a:r>
              <a:rPr lang="en-US" altLang="zh-CN" sz="2800" b="1" dirty="0" smtClean="0"/>
              <a:t>Safety requirements:</a:t>
            </a:r>
          </a:p>
          <a:p>
            <a:pPr marL="342900" indent="-342900">
              <a:buFont typeface="Wingdings" panose="05000000000000000000" pitchFamily="2" charset="2"/>
              <a:buChar char="l"/>
            </a:pPr>
            <a:r>
              <a:rPr lang="en-US" altLang="zh-CN" dirty="0" smtClean="0"/>
              <a:t>Only a value </a:t>
            </a:r>
            <a:r>
              <a:rPr lang="en-US" altLang="zh-CN" dirty="0" smtClean="0">
                <a:solidFill>
                  <a:srgbClr val="FF0000"/>
                </a:solidFill>
              </a:rPr>
              <a:t>that has been proposed </a:t>
            </a:r>
            <a:r>
              <a:rPr lang="en-US" altLang="zh-CN" dirty="0" smtClean="0"/>
              <a:t>may be chosen</a:t>
            </a:r>
          </a:p>
          <a:p>
            <a:pPr marL="342900" indent="-342900">
              <a:buFont typeface="Wingdings" panose="05000000000000000000" pitchFamily="2" charset="2"/>
              <a:buChar char="l"/>
            </a:pPr>
            <a:r>
              <a:rPr lang="en-US" altLang="zh-CN" dirty="0" smtClean="0"/>
              <a:t>Only </a:t>
            </a:r>
            <a:r>
              <a:rPr lang="en-US" altLang="zh-CN" dirty="0" smtClean="0">
                <a:solidFill>
                  <a:srgbClr val="FF0000"/>
                </a:solidFill>
              </a:rPr>
              <a:t>a single value </a:t>
            </a:r>
            <a:r>
              <a:rPr lang="en-US" altLang="zh-CN" dirty="0" smtClean="0"/>
              <a:t>is chosen, and</a:t>
            </a:r>
          </a:p>
          <a:p>
            <a:pPr marL="342900" indent="-342900">
              <a:buFont typeface="Wingdings" panose="05000000000000000000" pitchFamily="2" charset="2"/>
              <a:buChar char="l"/>
            </a:pPr>
            <a:r>
              <a:rPr lang="en-US" altLang="zh-CN" dirty="0" smtClean="0"/>
              <a:t>A process never learns that a value </a:t>
            </a:r>
            <a:r>
              <a:rPr lang="en-US" altLang="zh-CN" dirty="0" smtClean="0">
                <a:solidFill>
                  <a:srgbClr val="FF0000"/>
                </a:solidFill>
              </a:rPr>
              <a:t>has been chosen </a:t>
            </a:r>
            <a:r>
              <a:rPr lang="en-US" altLang="zh-CN" dirty="0" smtClean="0"/>
              <a:t>unless it actually has been</a:t>
            </a:r>
          </a:p>
          <a:p>
            <a:pPr marL="342900" indent="-342900">
              <a:buFont typeface="Wingdings" panose="05000000000000000000" pitchFamily="2" charset="2"/>
              <a:buChar char="l"/>
            </a:pPr>
            <a:endParaRPr lang="en-US" altLang="zh-CN" dirty="0" smtClean="0"/>
          </a:p>
          <a:p>
            <a:pPr marL="342900" indent="-342900">
              <a:buFont typeface="Wingdings" panose="05000000000000000000" pitchFamily="2" charset="2"/>
              <a:buChar char="l"/>
            </a:pPr>
            <a:endParaRPr lang="en-US" altLang="zh-CN" dirty="0"/>
          </a:p>
        </p:txBody>
      </p:sp>
      <p:sp>
        <p:nvSpPr>
          <p:cNvPr id="5" name="矩形 4"/>
          <p:cNvSpPr/>
          <p:nvPr/>
        </p:nvSpPr>
        <p:spPr bwMode="auto">
          <a:xfrm>
            <a:off x="0" y="5214551"/>
            <a:ext cx="986972" cy="947933"/>
          </a:xfrm>
          <a:prstGeom prst="rect">
            <a:avLst/>
          </a:prstGeom>
          <a:solidFill>
            <a:srgbClr val="FF0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Goal:</a:t>
            </a:r>
            <a:endParaRPr kumimoji="0" lang="zh-CN" altLang="en-US"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6" name="矩形 5"/>
          <p:cNvSpPr/>
          <p:nvPr/>
        </p:nvSpPr>
        <p:spPr bwMode="auto">
          <a:xfrm>
            <a:off x="986972" y="5214552"/>
            <a:ext cx="8157028" cy="947932"/>
          </a:xfrm>
          <a:prstGeom prst="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Ensure that </a:t>
            </a:r>
            <a:r>
              <a:rPr kumimoji="0" lang="en-US" altLang="zh-CN" sz="20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some</a:t>
            </a:r>
            <a:r>
              <a:rPr kumimoji="0" lang="en-US" altLang="zh-CN" sz="2000" b="1" i="0" u="none" strike="noStrike" cap="none" normalizeH="0" dirty="0" smtClean="0">
                <a:ln>
                  <a:noFill/>
                </a:ln>
                <a:solidFill>
                  <a:srgbClr val="FF0000"/>
                </a:solidFill>
                <a:effectLst/>
                <a:latin typeface="Arial" panose="020B0604020202020204" pitchFamily="34" charset="0"/>
                <a:ea typeface="宋体" panose="02010600030101010101" pitchFamily="2" charset="-122"/>
              </a:rPr>
              <a:t> proposed value </a:t>
            </a:r>
            <a:r>
              <a:rPr kumimoji="0" lang="en-US" altLang="zh-CN" sz="2000" b="1" i="0" u="none" strike="noStrike" cap="none" normalizeH="0" dirty="0" smtClean="0">
                <a:ln>
                  <a:noFill/>
                </a:ln>
                <a:effectLst/>
                <a:latin typeface="Arial" panose="020B0604020202020204" pitchFamily="34" charset="0"/>
                <a:ea typeface="宋体" panose="02010600030101010101" pitchFamily="2" charset="-122"/>
              </a:rPr>
              <a:t>is eventually </a:t>
            </a:r>
            <a:r>
              <a:rPr kumimoji="0" lang="en-US" altLang="zh-CN" sz="2000" b="1" i="0" u="none" strike="noStrike" cap="none" normalizeH="0" dirty="0" smtClean="0">
                <a:ln>
                  <a:noFill/>
                </a:ln>
                <a:solidFill>
                  <a:srgbClr val="FF0000"/>
                </a:solidFill>
                <a:effectLst/>
                <a:latin typeface="Arial" panose="020B0604020202020204" pitchFamily="34" charset="0"/>
                <a:ea typeface="宋体" panose="02010600030101010101" pitchFamily="2" charset="-122"/>
              </a:rPr>
              <a:t>chosen</a:t>
            </a:r>
            <a:r>
              <a:rPr kumimoji="0" lang="en-US" altLang="zh-CN" sz="2000" b="1" i="0" u="none" strike="noStrike" cap="none" normalizeH="0" dirty="0" smtClean="0">
                <a:ln>
                  <a:noFill/>
                </a:ln>
                <a:effectLst/>
                <a:latin typeface="Arial" panose="020B0604020202020204" pitchFamily="34" charset="0"/>
                <a:ea typeface="宋体" panose="02010600030101010101" pitchFamily="2" charset="-122"/>
              </a:rPr>
              <a:t> and,</a:t>
            </a: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000" b="1" baseline="0" dirty="0" smtClean="0">
                <a:latin typeface="Arial" panose="020B0604020202020204" pitchFamily="34" charset="0"/>
                <a:ea typeface="宋体" panose="02010600030101010101" pitchFamily="2" charset="-122"/>
              </a:rPr>
              <a:t>If</a:t>
            </a:r>
            <a:r>
              <a:rPr lang="en-US" altLang="zh-CN" sz="2000" b="1" dirty="0" smtClean="0">
                <a:latin typeface="Arial" panose="020B0604020202020204" pitchFamily="34" charset="0"/>
                <a:ea typeface="宋体" panose="02010600030101010101" pitchFamily="2" charset="-122"/>
              </a:rPr>
              <a:t> a value has been chosen, then a process van eventually </a:t>
            </a:r>
            <a:r>
              <a:rPr lang="en-US" altLang="zh-CN" sz="2000" b="1" dirty="0" smtClean="0">
                <a:solidFill>
                  <a:srgbClr val="FF0000"/>
                </a:solidFill>
                <a:latin typeface="Arial" panose="020B0604020202020204" pitchFamily="34" charset="0"/>
                <a:ea typeface="宋体" panose="02010600030101010101" pitchFamily="2" charset="-122"/>
              </a:rPr>
              <a:t>learn</a:t>
            </a:r>
            <a:r>
              <a:rPr lang="en-US" altLang="zh-CN" sz="2000" b="1" dirty="0" smtClean="0">
                <a:latin typeface="Arial" panose="020B0604020202020204" pitchFamily="34" charset="0"/>
                <a:ea typeface="宋体" panose="02010600030101010101" pitchFamily="2" charset="-122"/>
              </a:rPr>
              <a:t> the value</a:t>
            </a:r>
            <a:r>
              <a:rPr lang="en-US" altLang="zh-CN" b="1" dirty="0" smtClean="0">
                <a:solidFill>
                  <a:schemeClr val="bg1"/>
                </a:solidFill>
                <a:latin typeface="Arial" panose="020B0604020202020204" pitchFamily="34" charset="0"/>
                <a:ea typeface="宋体" panose="02010600030101010101" pitchFamily="2" charset="-122"/>
              </a:rPr>
              <a:t>.</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7" name="左大括号 6"/>
          <p:cNvSpPr/>
          <p:nvPr/>
        </p:nvSpPr>
        <p:spPr bwMode="auto">
          <a:xfrm>
            <a:off x="723014" y="3571876"/>
            <a:ext cx="263958" cy="1127051"/>
          </a:xfrm>
          <a:prstGeom prst="lef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8" name="流程图: 可选过程 7"/>
          <p:cNvSpPr/>
          <p:nvPr/>
        </p:nvSpPr>
        <p:spPr bwMode="auto">
          <a:xfrm>
            <a:off x="986971" y="3402419"/>
            <a:ext cx="3521234" cy="552893"/>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Customary asynchronous</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 name="流程图: 可选过程 8"/>
          <p:cNvSpPr/>
          <p:nvPr/>
        </p:nvSpPr>
        <p:spPr bwMode="auto">
          <a:xfrm>
            <a:off x="986971" y="4350352"/>
            <a:ext cx="3521234" cy="552893"/>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Non-</a:t>
            </a:r>
            <a:r>
              <a:rPr kumimoji="0" lang="en-US" altLang="zh-CN" sz="2000" b="1" i="0" u="none" strike="noStrike" cap="none" normalizeH="0" baseline="0" dirty="0" err="1" smtClean="0">
                <a:ln>
                  <a:noFill/>
                </a:ln>
                <a:effectLst/>
                <a:latin typeface="Arial" panose="020B0604020202020204" pitchFamily="34" charset="0"/>
                <a:ea typeface="宋体" panose="02010600030101010101" pitchFamily="2" charset="-122"/>
              </a:rPr>
              <a:t>Byzatine</a:t>
            </a: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 model</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 name="文本框 1"/>
          <p:cNvSpPr txBox="1"/>
          <p:nvPr/>
        </p:nvSpPr>
        <p:spPr>
          <a:xfrm>
            <a:off x="1873770" y="516453"/>
            <a:ext cx="3237876" cy="738664"/>
          </a:xfrm>
          <a:prstGeom prst="rect">
            <a:avLst/>
          </a:prstGeom>
          <a:noFill/>
        </p:spPr>
        <p:txBody>
          <a:bodyPr wrap="square" rtlCol="0">
            <a:spAutoFit/>
          </a:bodyPr>
          <a:lstStyle/>
          <a:p>
            <a:r>
              <a:rPr lang="en-US" altLang="zh-CN" sz="2400" b="1" dirty="0" smtClean="0">
                <a:latin typeface="Arial" panose="020B0604020202020204" pitchFamily="34" charset="0"/>
                <a:ea typeface="宋体" panose="02010600030101010101" pitchFamily="2" charset="-122"/>
              </a:rPr>
              <a:t>2.1 Problem &amp; Goal</a:t>
            </a:r>
            <a:r>
              <a:rPr lang="en-US" altLang="zh-CN"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endParaRPr lang="zh-CN" altLang="en-US" dirty="0"/>
          </a:p>
        </p:txBody>
      </p:sp>
    </p:spTree>
    <p:extLst>
      <p:ext uri="{BB962C8B-B14F-4D97-AF65-F5344CB8AC3E}">
        <p14:creationId xmlns:p14="http://schemas.microsoft.com/office/powerpoint/2010/main" val="207292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2410477" y="821411"/>
            <a:ext cx="1582057" cy="377371"/>
          </a:xfrm>
          <a:prstGeom prst="rect">
            <a:avLst/>
          </a:prstGeom>
          <a:solidFill>
            <a:schemeClr val="tx2">
              <a:lumMod val="65000"/>
              <a:lumOff val="3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b="1" dirty="0" smtClean="0">
                <a:solidFill>
                  <a:schemeClr val="bg1"/>
                </a:solidFill>
                <a:latin typeface="Arial" panose="020B0604020202020204" pitchFamily="34" charset="0"/>
                <a:ea typeface="宋体" panose="02010600030101010101" pitchFamily="2" charset="-122"/>
              </a:rPr>
              <a:t>Three roles</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2" name="云形 11"/>
          <p:cNvSpPr/>
          <p:nvPr/>
        </p:nvSpPr>
        <p:spPr bwMode="auto">
          <a:xfrm>
            <a:off x="701439" y="5420505"/>
            <a:ext cx="4784515" cy="1413882"/>
          </a:xfrm>
          <a:prstGeom prst="cloud">
            <a:avLst/>
          </a:prstGeom>
          <a:solidFill>
            <a:schemeClr val="accent6">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0" i="0" u="none" strike="noStrike" cap="none" normalizeH="0" baseline="0" dirty="0" smtClean="0">
                <a:ln>
                  <a:noFill/>
                </a:ln>
                <a:effectLst/>
                <a:latin typeface="Arial" panose="020B0604020202020204" pitchFamily="34" charset="0"/>
                <a:ea typeface="宋体" panose="02010600030101010101" pitchFamily="2" charset="-122"/>
              </a:rPr>
              <a:t>In an implementation, a single process may act as </a:t>
            </a:r>
            <a:r>
              <a:rPr kumimoji="0" lang="en-US" altLang="zh-CN" sz="20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more than one agent</a:t>
            </a:r>
            <a:r>
              <a:rPr kumimoji="0" lang="en-US" altLang="zh-CN" sz="2000" b="0" i="0" u="none" strike="noStrike" cap="none" normalizeH="0" baseline="0" dirty="0" smtClean="0">
                <a:ln>
                  <a:noFill/>
                </a:ln>
                <a:effectLst/>
                <a:latin typeface="Arial" panose="020B0604020202020204" pitchFamily="34" charset="0"/>
                <a:ea typeface="宋体" panose="02010600030101010101" pitchFamily="2" charset="-122"/>
              </a:rPr>
              <a:t>.</a:t>
            </a:r>
            <a:endParaRPr kumimoji="0" lang="zh-CN" altLang="en-US" sz="2000" b="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6" name="流程图: 可选过程 15"/>
          <p:cNvSpPr/>
          <p:nvPr/>
        </p:nvSpPr>
        <p:spPr bwMode="auto">
          <a:xfrm>
            <a:off x="4978400" y="348343"/>
            <a:ext cx="1407886" cy="537028"/>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Proposal</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7" name="文本框 16"/>
          <p:cNvSpPr txBox="1"/>
          <p:nvPr/>
        </p:nvSpPr>
        <p:spPr>
          <a:xfrm>
            <a:off x="6386286" y="232136"/>
            <a:ext cx="391885" cy="769441"/>
          </a:xfrm>
          <a:prstGeom prst="rect">
            <a:avLst/>
          </a:prstGeom>
          <a:noFill/>
        </p:spPr>
        <p:txBody>
          <a:bodyPr wrap="square" rtlCol="0">
            <a:spAutoFit/>
          </a:bodyPr>
          <a:lstStyle/>
          <a:p>
            <a:r>
              <a:rPr lang="en-US" altLang="zh-CN" sz="4400" dirty="0" smtClean="0"/>
              <a:t>=</a:t>
            </a:r>
            <a:endParaRPr lang="zh-CN" altLang="en-US" sz="4400" dirty="0"/>
          </a:p>
        </p:txBody>
      </p:sp>
      <p:sp>
        <p:nvSpPr>
          <p:cNvPr id="18" name="流程图: 可选过程 17"/>
          <p:cNvSpPr/>
          <p:nvPr/>
        </p:nvSpPr>
        <p:spPr bwMode="auto">
          <a:xfrm>
            <a:off x="6887028" y="348342"/>
            <a:ext cx="1052286" cy="537028"/>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Value</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9" name="流程图: 可选过程 18"/>
          <p:cNvSpPr/>
          <p:nvPr/>
        </p:nvSpPr>
        <p:spPr bwMode="auto">
          <a:xfrm>
            <a:off x="545138" y="4688889"/>
            <a:ext cx="1407886" cy="537028"/>
          </a:xfrm>
          <a:prstGeom prst="flowChartAlternateProcess">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effectLst/>
                <a:latin typeface="Arial" panose="020B0604020202020204" pitchFamily="34" charset="0"/>
                <a:ea typeface="宋体" panose="02010600030101010101" pitchFamily="2" charset="-122"/>
              </a:rPr>
              <a:t>propose</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3" name="流程图: 可选过程 22"/>
          <p:cNvSpPr/>
          <p:nvPr/>
        </p:nvSpPr>
        <p:spPr bwMode="auto">
          <a:xfrm>
            <a:off x="2584467" y="4736012"/>
            <a:ext cx="1407886" cy="537028"/>
          </a:xfrm>
          <a:prstGeom prst="flowChartAlternateProcess">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err="1" smtClean="0">
                <a:ln>
                  <a:noFill/>
                </a:ln>
                <a:effectLst/>
                <a:latin typeface="Arial" panose="020B0604020202020204" pitchFamily="34" charset="0"/>
                <a:ea typeface="宋体" panose="02010600030101010101" pitchFamily="2" charset="-122"/>
              </a:rPr>
              <a:t>accept</a:t>
            </a:r>
            <a:r>
              <a:rPr kumimoji="0" lang="en-US" altLang="zh-CN" sz="1800" b="1" i="0" u="none" strike="noStrike" cap="none" normalizeH="0" baseline="0" dirty="0" err="1" smtClean="0">
                <a:ln>
                  <a:noFill/>
                </a:ln>
                <a:solidFill>
                  <a:schemeClr val="bg1"/>
                </a:solidFill>
                <a:effectLst/>
                <a:latin typeface="Arial" panose="020B0604020202020204" pitchFamily="34" charset="0"/>
                <a:ea typeface="宋体" panose="02010600030101010101" pitchFamily="2" charset="-122"/>
              </a:rPr>
              <a:t>l</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8" name="流程图: 可选过程 27"/>
          <p:cNvSpPr/>
          <p:nvPr/>
        </p:nvSpPr>
        <p:spPr bwMode="auto">
          <a:xfrm>
            <a:off x="4782011" y="4672056"/>
            <a:ext cx="1407886" cy="537028"/>
          </a:xfrm>
          <a:prstGeom prst="flowChartAlternateProcess">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effectLst/>
                <a:latin typeface="Arial" panose="020B0604020202020204" pitchFamily="34" charset="0"/>
                <a:ea typeface="宋体" panose="02010600030101010101" pitchFamily="2" charset="-122"/>
              </a:rPr>
              <a:t>learn</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2" name="流程图: 可选过程 31"/>
          <p:cNvSpPr/>
          <p:nvPr/>
        </p:nvSpPr>
        <p:spPr bwMode="auto">
          <a:xfrm>
            <a:off x="6887028" y="1657324"/>
            <a:ext cx="1770406" cy="537028"/>
          </a:xfrm>
          <a:prstGeom prst="flowChartAlternateProcess">
            <a:avLst/>
          </a:prstGeom>
          <a:solidFill>
            <a:srgbClr val="00B0F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effectLst/>
                <a:latin typeface="Arial" panose="020B0604020202020204" pitchFamily="34" charset="0"/>
                <a:ea typeface="宋体" panose="02010600030101010101" pitchFamily="2" charset="-122"/>
              </a:rPr>
              <a:t>Be accepted</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3" name="流程图: 可选过程 32"/>
          <p:cNvSpPr/>
          <p:nvPr/>
        </p:nvSpPr>
        <p:spPr bwMode="auto">
          <a:xfrm>
            <a:off x="6887028" y="2699205"/>
            <a:ext cx="1770406" cy="537028"/>
          </a:xfrm>
          <a:prstGeom prst="flowChartAlternateProcess">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effectLst/>
                <a:latin typeface="Arial" panose="020B0604020202020204" pitchFamily="34" charset="0"/>
                <a:ea typeface="宋体" panose="02010600030101010101" pitchFamily="2" charset="-122"/>
              </a:rPr>
              <a:t>Accept</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4" name="流程图: 可选过程 33"/>
          <p:cNvSpPr/>
          <p:nvPr/>
        </p:nvSpPr>
        <p:spPr bwMode="auto">
          <a:xfrm>
            <a:off x="6887028" y="3854452"/>
            <a:ext cx="1770406" cy="537028"/>
          </a:xfrm>
          <a:prstGeom prst="flowChartAlternateProcess">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1" i="0" u="none" strike="noStrike" cap="none" normalizeH="0" baseline="0" dirty="0" smtClean="0">
                <a:ln>
                  <a:noFill/>
                </a:ln>
                <a:effectLst/>
                <a:latin typeface="Arial" panose="020B0604020202020204" pitchFamily="34" charset="0"/>
                <a:ea typeface="宋体" panose="02010600030101010101" pitchFamily="2" charset="-122"/>
              </a:rPr>
              <a:t>Be told by acceptor</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5" name="流程图: 过程 34"/>
          <p:cNvSpPr/>
          <p:nvPr/>
        </p:nvSpPr>
        <p:spPr bwMode="auto">
          <a:xfrm>
            <a:off x="6582228" y="1339702"/>
            <a:ext cx="2349121" cy="3557511"/>
          </a:xfrm>
          <a:prstGeom prst="flowChartProcess">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6" name="文本框 35"/>
          <p:cNvSpPr txBox="1"/>
          <p:nvPr/>
        </p:nvSpPr>
        <p:spPr>
          <a:xfrm>
            <a:off x="6887028" y="4897213"/>
            <a:ext cx="2131856" cy="523220"/>
          </a:xfrm>
          <a:prstGeom prst="rect">
            <a:avLst/>
          </a:prstGeom>
          <a:noFill/>
        </p:spPr>
        <p:txBody>
          <a:bodyPr wrap="square" rtlCol="0">
            <a:spAutoFit/>
          </a:bodyPr>
          <a:lstStyle/>
          <a:p>
            <a:r>
              <a:rPr lang="en-US" altLang="zh-CN" sz="2800" b="1" dirty="0" smtClean="0">
                <a:solidFill>
                  <a:srgbClr val="FF0000"/>
                </a:solidFill>
              </a:rPr>
              <a:t>consistency</a:t>
            </a:r>
            <a:endParaRPr lang="zh-CN" altLang="en-US" sz="2800" b="1" dirty="0">
              <a:solidFill>
                <a:srgbClr val="FF0000"/>
              </a:solidFill>
            </a:endParaRPr>
          </a:p>
        </p:txBody>
      </p:sp>
      <p:sp>
        <p:nvSpPr>
          <p:cNvPr id="2" name="文本框 1"/>
          <p:cNvSpPr txBox="1"/>
          <p:nvPr/>
        </p:nvSpPr>
        <p:spPr>
          <a:xfrm>
            <a:off x="1439056" y="232136"/>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
        <p:nvSpPr>
          <p:cNvPr id="25" name="椭圆 24"/>
          <p:cNvSpPr/>
          <p:nvPr/>
        </p:nvSpPr>
        <p:spPr bwMode="auto">
          <a:xfrm>
            <a:off x="639123" y="1673396"/>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7" name="椭圆 26"/>
          <p:cNvSpPr/>
          <p:nvPr/>
        </p:nvSpPr>
        <p:spPr bwMode="auto">
          <a:xfrm>
            <a:off x="634499" y="3147920"/>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r>
              <a:rPr lang="en-US" altLang="zh-CN" sz="1400" b="1" dirty="0">
                <a:solidFill>
                  <a:schemeClr val="bg1"/>
                </a:solidFill>
                <a:latin typeface="Arial" panose="020B0604020202020204" pitchFamily="34" charset="0"/>
                <a:ea typeface="宋体" panose="02010600030101010101" pitchFamily="2" charset="-122"/>
              </a:rPr>
              <a:t>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9" name="椭圆 28"/>
          <p:cNvSpPr/>
          <p:nvPr/>
        </p:nvSpPr>
        <p:spPr bwMode="auto">
          <a:xfrm>
            <a:off x="2724923" y="1355774"/>
            <a:ext cx="984250" cy="98075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0" name="椭圆 29"/>
          <p:cNvSpPr/>
          <p:nvPr/>
        </p:nvSpPr>
        <p:spPr bwMode="auto">
          <a:xfrm>
            <a:off x="2741307" y="2493416"/>
            <a:ext cx="984250" cy="98075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a:t>
            </a:r>
            <a:r>
              <a:rPr lang="en-US" altLang="zh-CN" sz="1400" b="1" dirty="0">
                <a:solidFill>
                  <a:schemeClr val="bg1"/>
                </a:solidFill>
                <a:latin typeface="Arial" panose="020B0604020202020204" pitchFamily="34" charset="0"/>
                <a:ea typeface="宋体" panose="02010600030101010101" pitchFamily="2" charset="-122"/>
              </a:rPr>
              <a:t>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1" name="椭圆 30"/>
          <p:cNvSpPr/>
          <p:nvPr/>
        </p:nvSpPr>
        <p:spPr bwMode="auto">
          <a:xfrm>
            <a:off x="2760220" y="3648663"/>
            <a:ext cx="984250" cy="98075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7" name="椭圆 36"/>
          <p:cNvSpPr/>
          <p:nvPr/>
        </p:nvSpPr>
        <p:spPr bwMode="auto">
          <a:xfrm>
            <a:off x="4910180" y="2210424"/>
            <a:ext cx="984250" cy="980750"/>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b="1" dirty="0" smtClean="0">
                <a:solidFill>
                  <a:schemeClr val="bg1"/>
                </a:solidFill>
                <a:latin typeface="Arial" panose="020B0604020202020204" pitchFamily="34" charset="0"/>
                <a:ea typeface="宋体" panose="02010600030101010101" pitchFamily="2" charset="-122"/>
              </a:rPr>
              <a:t>Learner</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4" name="直接箭头连接符 3"/>
          <p:cNvCxnSpPr>
            <a:stCxn id="25" idx="6"/>
            <a:endCxn id="29" idx="2"/>
          </p:cNvCxnSpPr>
          <p:nvPr/>
        </p:nvCxnSpPr>
        <p:spPr bwMode="auto">
          <a:xfrm flipV="1">
            <a:off x="1684151" y="1846149"/>
            <a:ext cx="1040772" cy="327990"/>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38" name="直接箭头连接符 37"/>
          <p:cNvCxnSpPr>
            <a:stCxn id="25" idx="6"/>
            <a:endCxn id="30" idx="2"/>
          </p:cNvCxnSpPr>
          <p:nvPr/>
        </p:nvCxnSpPr>
        <p:spPr bwMode="auto">
          <a:xfrm>
            <a:off x="1684151" y="2174139"/>
            <a:ext cx="1057156" cy="80965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39" name="直接箭头连接符 38"/>
          <p:cNvCxnSpPr>
            <a:stCxn id="25" idx="6"/>
            <a:endCxn id="31" idx="2"/>
          </p:cNvCxnSpPr>
          <p:nvPr/>
        </p:nvCxnSpPr>
        <p:spPr bwMode="auto">
          <a:xfrm>
            <a:off x="1684151" y="2174139"/>
            <a:ext cx="1076069" cy="1964899"/>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0" name="直接箭头连接符 39"/>
          <p:cNvCxnSpPr>
            <a:stCxn id="27" idx="6"/>
          </p:cNvCxnSpPr>
          <p:nvPr/>
        </p:nvCxnSpPr>
        <p:spPr bwMode="auto">
          <a:xfrm flipV="1">
            <a:off x="1679527" y="1963017"/>
            <a:ext cx="1057156" cy="1685646"/>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1" name="直接箭头连接符 40"/>
          <p:cNvCxnSpPr>
            <a:stCxn id="27" idx="6"/>
            <a:endCxn id="30" idx="2"/>
          </p:cNvCxnSpPr>
          <p:nvPr/>
        </p:nvCxnSpPr>
        <p:spPr bwMode="auto">
          <a:xfrm flipV="1">
            <a:off x="1679527" y="2983791"/>
            <a:ext cx="1061780" cy="66487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3" name="直接箭头连接符 42"/>
          <p:cNvCxnSpPr>
            <a:stCxn id="27" idx="6"/>
            <a:endCxn id="31" idx="2"/>
          </p:cNvCxnSpPr>
          <p:nvPr/>
        </p:nvCxnSpPr>
        <p:spPr bwMode="auto">
          <a:xfrm>
            <a:off x="1679527" y="3648663"/>
            <a:ext cx="1080693" cy="490375"/>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6" name="直接箭头连接符 45"/>
          <p:cNvCxnSpPr>
            <a:stCxn id="29" idx="6"/>
            <a:endCxn id="37" idx="2"/>
          </p:cNvCxnSpPr>
          <p:nvPr/>
        </p:nvCxnSpPr>
        <p:spPr bwMode="auto">
          <a:xfrm>
            <a:off x="3709173" y="1846149"/>
            <a:ext cx="1201007" cy="854650"/>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9" name="直接箭头连接符 48"/>
          <p:cNvCxnSpPr>
            <a:stCxn id="30" idx="6"/>
          </p:cNvCxnSpPr>
          <p:nvPr/>
        </p:nvCxnSpPr>
        <p:spPr bwMode="auto">
          <a:xfrm flipV="1">
            <a:off x="3725557" y="2791158"/>
            <a:ext cx="1181392" cy="192633"/>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52" name="直接箭头连接符 51"/>
          <p:cNvCxnSpPr>
            <a:stCxn id="31" idx="6"/>
          </p:cNvCxnSpPr>
          <p:nvPr/>
        </p:nvCxnSpPr>
        <p:spPr bwMode="auto">
          <a:xfrm flipV="1">
            <a:off x="3744470" y="2908562"/>
            <a:ext cx="1195934" cy="1230476"/>
          </a:xfrm>
          <a:prstGeom prst="straightConnector1">
            <a:avLst/>
          </a:prstGeom>
          <a:solidFill>
            <a:srgbClr val="00B8FF"/>
          </a:solidFill>
          <a:ln w="952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103703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arn(inVertical)">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arn(inVertical)">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barn(inVertical)">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p:bldP spid="18" grpId="0" animBg="1"/>
      <p:bldP spid="19" grpId="0" animBg="1"/>
      <p:bldP spid="23" grpId="0" animBg="1"/>
      <p:bldP spid="28" grpId="0" animBg="1"/>
      <p:bldP spid="32" grpId="0" animBg="1"/>
      <p:bldP spid="33" grpId="0" animBg="1"/>
      <p:bldP spid="34" grpId="0" animBg="1"/>
      <p:bldP spid="35" grpId="0" animBg="1"/>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bwMode="auto">
          <a:xfrm>
            <a:off x="681514" y="1992522"/>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2" name="直接箭头连接符 11"/>
          <p:cNvCxnSpPr>
            <a:stCxn id="5" idx="4"/>
          </p:cNvCxnSpPr>
          <p:nvPr/>
        </p:nvCxnSpPr>
        <p:spPr bwMode="auto">
          <a:xfrm>
            <a:off x="1204028" y="2994007"/>
            <a:ext cx="1215096" cy="1661368"/>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6" name="直接箭头连接符 15"/>
          <p:cNvCxnSpPr>
            <a:stCxn id="27" idx="4"/>
            <a:endCxn id="30" idx="0"/>
          </p:cNvCxnSpPr>
          <p:nvPr/>
        </p:nvCxnSpPr>
        <p:spPr bwMode="auto">
          <a:xfrm>
            <a:off x="2702795" y="2994007"/>
            <a:ext cx="0" cy="1661368"/>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20" name="直接箭头连接符 19"/>
          <p:cNvCxnSpPr/>
          <p:nvPr/>
        </p:nvCxnSpPr>
        <p:spPr bwMode="auto">
          <a:xfrm flipH="1">
            <a:off x="2956109" y="2994007"/>
            <a:ext cx="1174518" cy="1661368"/>
          </a:xfrm>
          <a:prstGeom prst="straightConnector1">
            <a:avLst/>
          </a:prstGeom>
          <a:solidFill>
            <a:srgbClr val="00B8FF"/>
          </a:solidFill>
          <a:ln w="9525" cap="flat" cmpd="sng" algn="ctr">
            <a:solidFill>
              <a:srgbClr val="00B0F0"/>
            </a:solidFill>
            <a:prstDash val="solid"/>
            <a:round/>
            <a:headEnd type="none" w="med" len="med"/>
            <a:tailEnd type="triangle"/>
          </a:ln>
        </p:spPr>
      </p:cxnSp>
      <p:sp>
        <p:nvSpPr>
          <p:cNvPr id="27" name="椭圆 26"/>
          <p:cNvSpPr/>
          <p:nvPr/>
        </p:nvSpPr>
        <p:spPr bwMode="auto">
          <a:xfrm>
            <a:off x="2180281" y="1992522"/>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8" name="椭圆 27"/>
          <p:cNvSpPr/>
          <p:nvPr/>
        </p:nvSpPr>
        <p:spPr bwMode="auto">
          <a:xfrm>
            <a:off x="3608112" y="1992522"/>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0" name="椭圆 29"/>
          <p:cNvSpPr/>
          <p:nvPr/>
        </p:nvSpPr>
        <p:spPr bwMode="auto">
          <a:xfrm>
            <a:off x="2180281" y="4655375"/>
            <a:ext cx="1045028" cy="10014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48" name="文本框 47"/>
          <p:cNvSpPr txBox="1"/>
          <p:nvPr/>
        </p:nvSpPr>
        <p:spPr>
          <a:xfrm>
            <a:off x="934828" y="3395640"/>
            <a:ext cx="1045028" cy="400110"/>
          </a:xfrm>
          <a:prstGeom prst="rect">
            <a:avLst/>
          </a:prstGeom>
          <a:noFill/>
        </p:spPr>
        <p:txBody>
          <a:bodyPr wrap="square" rtlCol="0">
            <a:spAutoFit/>
          </a:bodyPr>
          <a:lstStyle/>
          <a:p>
            <a:r>
              <a:rPr lang="en-US" altLang="zh-CN" sz="2000" b="1" dirty="0" smtClean="0"/>
              <a:t>Value 1</a:t>
            </a:r>
            <a:endParaRPr lang="zh-CN" altLang="en-US" sz="2000" b="1" dirty="0"/>
          </a:p>
        </p:txBody>
      </p:sp>
      <p:sp>
        <p:nvSpPr>
          <p:cNvPr id="49" name="文本框 48"/>
          <p:cNvSpPr txBox="1"/>
          <p:nvPr/>
        </p:nvSpPr>
        <p:spPr>
          <a:xfrm>
            <a:off x="2010213" y="3382951"/>
            <a:ext cx="1045028" cy="400110"/>
          </a:xfrm>
          <a:prstGeom prst="rect">
            <a:avLst/>
          </a:prstGeom>
          <a:noFill/>
        </p:spPr>
        <p:txBody>
          <a:bodyPr wrap="square" rtlCol="0">
            <a:spAutoFit/>
          </a:bodyPr>
          <a:lstStyle/>
          <a:p>
            <a:r>
              <a:rPr lang="en-US" altLang="zh-CN" sz="2000" b="1" dirty="0" smtClean="0"/>
              <a:t>Value 2</a:t>
            </a:r>
            <a:endParaRPr lang="zh-CN" altLang="en-US" sz="2000" b="1" dirty="0"/>
          </a:p>
        </p:txBody>
      </p:sp>
      <p:sp>
        <p:nvSpPr>
          <p:cNvPr id="50" name="文本框 49"/>
          <p:cNvSpPr txBox="1"/>
          <p:nvPr/>
        </p:nvSpPr>
        <p:spPr>
          <a:xfrm>
            <a:off x="3085598" y="3436387"/>
            <a:ext cx="1045028" cy="400110"/>
          </a:xfrm>
          <a:prstGeom prst="rect">
            <a:avLst/>
          </a:prstGeom>
          <a:noFill/>
        </p:spPr>
        <p:txBody>
          <a:bodyPr wrap="square" rtlCol="0">
            <a:spAutoFit/>
          </a:bodyPr>
          <a:lstStyle/>
          <a:p>
            <a:r>
              <a:rPr lang="en-US" altLang="zh-CN" sz="2000" b="1" dirty="0" smtClean="0"/>
              <a:t>Value 3</a:t>
            </a:r>
            <a:endParaRPr lang="zh-CN" altLang="en-US" sz="2000" b="1" dirty="0"/>
          </a:p>
        </p:txBody>
      </p:sp>
      <p:sp>
        <p:nvSpPr>
          <p:cNvPr id="3" name="文本框 2"/>
          <p:cNvSpPr txBox="1"/>
          <p:nvPr/>
        </p:nvSpPr>
        <p:spPr>
          <a:xfrm>
            <a:off x="1219284" y="926983"/>
            <a:ext cx="3433856" cy="584775"/>
          </a:xfrm>
          <a:prstGeom prst="rect">
            <a:avLst/>
          </a:prstGeom>
          <a:noFill/>
        </p:spPr>
        <p:txBody>
          <a:bodyPr wrap="square" rtlCol="0">
            <a:spAutoFit/>
          </a:bodyPr>
          <a:lstStyle/>
          <a:p>
            <a:r>
              <a:rPr lang="en-US" altLang="zh-CN" sz="3200" b="1" dirty="0" smtClean="0"/>
              <a:t>The easiest way:</a:t>
            </a:r>
            <a:endParaRPr lang="zh-CN" altLang="en-US" sz="3200" b="1" dirty="0"/>
          </a:p>
        </p:txBody>
      </p:sp>
      <p:sp>
        <p:nvSpPr>
          <p:cNvPr id="10" name="文本框 9"/>
          <p:cNvSpPr txBox="1"/>
          <p:nvPr/>
        </p:nvSpPr>
        <p:spPr>
          <a:xfrm>
            <a:off x="5436524" y="1793678"/>
            <a:ext cx="3391593" cy="1200329"/>
          </a:xfrm>
          <a:prstGeom prst="rect">
            <a:avLst/>
          </a:prstGeom>
          <a:noFill/>
        </p:spPr>
        <p:txBody>
          <a:bodyPr wrap="square" rtlCol="0">
            <a:spAutoFit/>
          </a:bodyPr>
          <a:lstStyle/>
          <a:p>
            <a:r>
              <a:rPr lang="en-US" altLang="zh-CN" sz="2400" dirty="0" smtClean="0"/>
              <a:t>Acceptor choose </a:t>
            </a:r>
            <a:r>
              <a:rPr lang="en-US" altLang="zh-CN" sz="2400" dirty="0" smtClean="0">
                <a:solidFill>
                  <a:srgbClr val="FF0000"/>
                </a:solidFill>
              </a:rPr>
              <a:t>the first proposed value </a:t>
            </a:r>
            <a:r>
              <a:rPr lang="en-US" altLang="zh-CN" sz="2400" dirty="0" smtClean="0"/>
              <a:t>that it receives.</a:t>
            </a:r>
            <a:endParaRPr lang="zh-CN" altLang="en-US" sz="2400" dirty="0"/>
          </a:p>
        </p:txBody>
      </p:sp>
      <p:sp>
        <p:nvSpPr>
          <p:cNvPr id="11" name="乘号 10"/>
          <p:cNvSpPr/>
          <p:nvPr/>
        </p:nvSpPr>
        <p:spPr bwMode="auto">
          <a:xfrm>
            <a:off x="1943164" y="4426800"/>
            <a:ext cx="1600204" cy="1458636"/>
          </a:xfrm>
          <a:prstGeom prst="mathMultiply">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3" name="圆角矩形 12"/>
          <p:cNvSpPr/>
          <p:nvPr/>
        </p:nvSpPr>
        <p:spPr bwMode="auto">
          <a:xfrm>
            <a:off x="5436524" y="3886007"/>
            <a:ext cx="2510444" cy="1163609"/>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32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Multiple</a:t>
            </a:r>
            <a:r>
              <a:rPr kumimoji="0" lang="en-US" altLang="zh-CN" sz="3200" b="0" i="0" u="none" strike="noStrike" cap="none" normalizeH="0" dirty="0" smtClean="0">
                <a:ln>
                  <a:noFill/>
                </a:ln>
                <a:solidFill>
                  <a:srgbClr val="FF0000"/>
                </a:solidFill>
                <a:effectLst/>
                <a:latin typeface="Arial" panose="020B0604020202020204" pitchFamily="34" charset="0"/>
                <a:ea typeface="宋体" panose="02010600030101010101" pitchFamily="2" charset="-122"/>
              </a:rPr>
              <a:t> acceptors</a:t>
            </a:r>
            <a:endParaRPr kumimoji="0" lang="zh-CN" altLang="en-US" sz="32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p:txBody>
      </p:sp>
      <p:cxnSp>
        <p:nvCxnSpPr>
          <p:cNvPr id="22" name="直接箭头连接符 21"/>
          <p:cNvCxnSpPr>
            <a:stCxn id="11" idx="0"/>
          </p:cNvCxnSpPr>
          <p:nvPr/>
        </p:nvCxnSpPr>
        <p:spPr bwMode="auto">
          <a:xfrm flipH="1" flipV="1">
            <a:off x="1048751" y="2994007"/>
            <a:ext cx="1278742" cy="1783121"/>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7" name="文本框 16"/>
          <p:cNvSpPr txBox="1"/>
          <p:nvPr/>
        </p:nvSpPr>
        <p:spPr>
          <a:xfrm>
            <a:off x="1439056" y="232136"/>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Tree>
    <p:extLst>
      <p:ext uri="{BB962C8B-B14F-4D97-AF65-F5344CB8AC3E}">
        <p14:creationId xmlns:p14="http://schemas.microsoft.com/office/powerpoint/2010/main" val="292473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10" grpId="0"/>
      <p:bldP spid="11"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bwMode="auto">
          <a:xfrm>
            <a:off x="2355810" y="1174366"/>
            <a:ext cx="984250" cy="980750"/>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3" name="椭圆 12"/>
          <p:cNvSpPr/>
          <p:nvPr/>
        </p:nvSpPr>
        <p:spPr bwMode="auto">
          <a:xfrm>
            <a:off x="3990955" y="1182015"/>
            <a:ext cx="984250" cy="980750"/>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4" name="椭圆 13"/>
          <p:cNvSpPr/>
          <p:nvPr/>
        </p:nvSpPr>
        <p:spPr bwMode="auto">
          <a:xfrm>
            <a:off x="5626101" y="1174365"/>
            <a:ext cx="984250" cy="980750"/>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8" name="椭圆 17"/>
          <p:cNvSpPr/>
          <p:nvPr/>
        </p:nvSpPr>
        <p:spPr bwMode="auto">
          <a:xfrm>
            <a:off x="2355810" y="3271680"/>
            <a:ext cx="984250" cy="98075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9" name="椭圆 18"/>
          <p:cNvSpPr/>
          <p:nvPr/>
        </p:nvSpPr>
        <p:spPr bwMode="auto">
          <a:xfrm>
            <a:off x="3956323" y="3279329"/>
            <a:ext cx="984250" cy="98075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0" name="椭圆 19"/>
          <p:cNvSpPr/>
          <p:nvPr/>
        </p:nvSpPr>
        <p:spPr bwMode="auto">
          <a:xfrm>
            <a:off x="5626101" y="3271679"/>
            <a:ext cx="984250" cy="98075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8" name="直接箭头连接符 7"/>
          <p:cNvCxnSpPr>
            <a:endCxn id="19" idx="0"/>
          </p:cNvCxnSpPr>
          <p:nvPr/>
        </p:nvCxnSpPr>
        <p:spPr bwMode="auto">
          <a:xfrm>
            <a:off x="2961735" y="2214633"/>
            <a:ext cx="1486713" cy="1064696"/>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1" name="直接箭头连接符 10"/>
          <p:cNvCxnSpPr>
            <a:stCxn id="13" idx="4"/>
            <a:endCxn id="19" idx="0"/>
          </p:cNvCxnSpPr>
          <p:nvPr/>
        </p:nvCxnSpPr>
        <p:spPr bwMode="auto">
          <a:xfrm flipH="1">
            <a:off x="4448448" y="2162765"/>
            <a:ext cx="34632" cy="1116564"/>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5" name="直接箭头连接符 14"/>
          <p:cNvCxnSpPr>
            <a:stCxn id="14" idx="4"/>
          </p:cNvCxnSpPr>
          <p:nvPr/>
        </p:nvCxnSpPr>
        <p:spPr bwMode="auto">
          <a:xfrm>
            <a:off x="6118226" y="2155115"/>
            <a:ext cx="5367" cy="1095829"/>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7" name="直接箭头连接符 16"/>
          <p:cNvCxnSpPr>
            <a:endCxn id="18" idx="0"/>
          </p:cNvCxnSpPr>
          <p:nvPr/>
        </p:nvCxnSpPr>
        <p:spPr bwMode="auto">
          <a:xfrm flipH="1">
            <a:off x="2847935" y="2162765"/>
            <a:ext cx="3275657" cy="1108915"/>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1" name="直接箭头连接符 20"/>
          <p:cNvCxnSpPr>
            <a:stCxn id="13" idx="4"/>
            <a:endCxn id="18" idx="0"/>
          </p:cNvCxnSpPr>
          <p:nvPr/>
        </p:nvCxnSpPr>
        <p:spPr bwMode="auto">
          <a:xfrm flipH="1">
            <a:off x="2847935" y="2162765"/>
            <a:ext cx="1635145" cy="1108915"/>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p:cNvCxnSpPr>
            <a:stCxn id="12" idx="4"/>
            <a:endCxn id="20" idx="0"/>
          </p:cNvCxnSpPr>
          <p:nvPr/>
        </p:nvCxnSpPr>
        <p:spPr bwMode="auto">
          <a:xfrm>
            <a:off x="2847935" y="2155116"/>
            <a:ext cx="3270291" cy="1116563"/>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9" name="直接箭头连接符 28"/>
          <p:cNvCxnSpPr/>
          <p:nvPr/>
        </p:nvCxnSpPr>
        <p:spPr bwMode="auto">
          <a:xfrm flipV="1">
            <a:off x="2765534" y="2170414"/>
            <a:ext cx="1509307" cy="1080532"/>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8" name="文本框 37"/>
          <p:cNvSpPr txBox="1"/>
          <p:nvPr/>
        </p:nvSpPr>
        <p:spPr>
          <a:xfrm>
            <a:off x="1536071" y="323775"/>
            <a:ext cx="7418060" cy="707886"/>
          </a:xfrm>
          <a:prstGeom prst="rect">
            <a:avLst/>
          </a:prstGeom>
          <a:noFill/>
        </p:spPr>
        <p:txBody>
          <a:bodyPr wrap="square" rtlCol="0">
            <a:spAutoFit/>
          </a:bodyPr>
          <a:lstStyle/>
          <a:p>
            <a:pPr marL="342900" indent="-342900">
              <a:buFont typeface="Wingdings" panose="05000000000000000000" pitchFamily="2" charset="2"/>
              <a:buChar char="l"/>
            </a:pPr>
            <a:r>
              <a:rPr lang="en-US" altLang="zh-CN" sz="2000" b="1" dirty="0" smtClean="0"/>
              <a:t>A proposer sends a proposed value to a </a:t>
            </a:r>
            <a:r>
              <a:rPr lang="en-US" altLang="zh-CN" sz="2000" b="1" dirty="0" smtClean="0">
                <a:solidFill>
                  <a:srgbClr val="FF0000"/>
                </a:solidFill>
              </a:rPr>
              <a:t>set</a:t>
            </a:r>
            <a:r>
              <a:rPr lang="en-US" altLang="zh-CN" sz="2000" b="1" dirty="0" smtClean="0"/>
              <a:t> of acceptors.</a:t>
            </a:r>
          </a:p>
          <a:p>
            <a:pPr marL="342900" indent="-342900">
              <a:buFont typeface="Wingdings" panose="05000000000000000000" pitchFamily="2" charset="2"/>
              <a:buChar char="l"/>
            </a:pPr>
            <a:r>
              <a:rPr lang="en-US" altLang="zh-CN" sz="2000" b="1" dirty="0" smtClean="0"/>
              <a:t>The value is chosen when </a:t>
            </a:r>
            <a:r>
              <a:rPr lang="en-US" altLang="zh-CN" sz="2000" b="1" dirty="0" smtClean="0">
                <a:solidFill>
                  <a:srgbClr val="FF0000"/>
                </a:solidFill>
              </a:rPr>
              <a:t>majority of acceptors </a:t>
            </a:r>
            <a:r>
              <a:rPr lang="en-US" altLang="zh-CN" sz="2000" b="1" dirty="0" smtClean="0"/>
              <a:t>have accepted it.</a:t>
            </a:r>
            <a:endParaRPr lang="zh-CN" altLang="en-US" sz="2000" b="1" dirty="0"/>
          </a:p>
        </p:txBody>
      </p:sp>
      <p:sp>
        <p:nvSpPr>
          <p:cNvPr id="47" name="流程图: 可选过程 46"/>
          <p:cNvSpPr/>
          <p:nvPr/>
        </p:nvSpPr>
        <p:spPr bwMode="auto">
          <a:xfrm>
            <a:off x="306226" y="5817129"/>
            <a:ext cx="8424291" cy="854816"/>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3300"/>
                </a:solidFill>
                <a:effectLst/>
                <a:latin typeface="Arial" panose="020B0604020202020204" pitchFamily="34" charset="0"/>
                <a:ea typeface="宋体" panose="02010600030101010101" pitchFamily="2" charset="-122"/>
              </a:rPr>
              <a:t>P1: </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An acceptor must accept the first proposal that it receives</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cxnSp>
        <p:nvCxnSpPr>
          <p:cNvPr id="69" name="直接箭头连接符 68"/>
          <p:cNvCxnSpPr/>
          <p:nvPr/>
        </p:nvCxnSpPr>
        <p:spPr bwMode="auto">
          <a:xfrm flipV="1">
            <a:off x="4574629" y="2162767"/>
            <a:ext cx="22251" cy="1088177"/>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74" name="流程图: 可选过程 73"/>
          <p:cNvSpPr/>
          <p:nvPr/>
        </p:nvSpPr>
        <p:spPr bwMode="auto">
          <a:xfrm>
            <a:off x="235643" y="4575391"/>
            <a:ext cx="8494874" cy="944715"/>
          </a:xfrm>
          <a:prstGeom prst="flowChartAlternateProcess">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3300"/>
                </a:solidFill>
                <a:effectLst/>
                <a:latin typeface="Arial" panose="020B0604020202020204" pitchFamily="34" charset="0"/>
                <a:ea typeface="宋体" panose="02010600030101010101" pitchFamily="2" charset="-122"/>
              </a:rPr>
              <a:t>We </a:t>
            </a:r>
            <a:r>
              <a:rPr lang="en-US" altLang="zh-CN" sz="2400" b="1" dirty="0" smtClean="0">
                <a:solidFill>
                  <a:srgbClr val="FF3300"/>
                </a:solidFill>
                <a:latin typeface="Arial" panose="020B0604020202020204" pitchFamily="34" charset="0"/>
                <a:ea typeface="宋体" panose="02010600030101010101" pitchFamily="2" charset="-122"/>
              </a:rPr>
              <a:t>want : </a:t>
            </a:r>
            <a:r>
              <a:rPr lang="en-US" altLang="zh-CN" sz="2400" b="1" dirty="0" smtClean="0">
                <a:latin typeface="Arial" panose="020B0604020202020204" pitchFamily="34" charset="0"/>
                <a:ea typeface="宋体" panose="02010600030101010101" pitchFamily="2" charset="-122"/>
              </a:rPr>
              <a:t>a value to be chosen even if only one value</a:t>
            </a:r>
            <a:r>
              <a:rPr lang="en-US" altLang="zh-CN" sz="2400" b="1" dirty="0" smtClean="0">
                <a:solidFill>
                  <a:srgbClr val="FF3300"/>
                </a:solidFill>
                <a:latin typeface="Arial" panose="020B0604020202020204" pitchFamily="34" charset="0"/>
                <a:ea typeface="宋体" panose="02010600030101010101" pitchFamily="2" charset="-122"/>
              </a:rPr>
              <a:t> </a:t>
            </a:r>
            <a:r>
              <a:rPr lang="en-US" altLang="zh-CN" sz="2400" b="1" dirty="0" smtClean="0">
                <a:latin typeface="Arial" panose="020B0604020202020204" pitchFamily="34" charset="0"/>
                <a:ea typeface="宋体" panose="02010600030101010101" pitchFamily="2" charset="-122"/>
              </a:rPr>
              <a:t>is proposed by a single proposer</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75" name="下箭头 74"/>
          <p:cNvSpPr/>
          <p:nvPr/>
        </p:nvSpPr>
        <p:spPr bwMode="auto">
          <a:xfrm>
            <a:off x="4256112" y="5520106"/>
            <a:ext cx="340768" cy="289804"/>
          </a:xfrm>
          <a:prstGeom prst="down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2" name="文本框 21"/>
          <p:cNvSpPr txBox="1"/>
          <p:nvPr/>
        </p:nvSpPr>
        <p:spPr>
          <a:xfrm>
            <a:off x="1136506" y="-52754"/>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
        <p:nvSpPr>
          <p:cNvPr id="3" name="文本框 2"/>
          <p:cNvSpPr txBox="1"/>
          <p:nvPr/>
        </p:nvSpPr>
        <p:spPr>
          <a:xfrm>
            <a:off x="2526744" y="2433815"/>
            <a:ext cx="984250" cy="369332"/>
          </a:xfrm>
          <a:prstGeom prst="rect">
            <a:avLst/>
          </a:prstGeom>
          <a:noFill/>
        </p:spPr>
        <p:txBody>
          <a:bodyPr wrap="square" rtlCol="0">
            <a:spAutoFit/>
          </a:bodyPr>
          <a:lstStyle/>
          <a:p>
            <a:r>
              <a:rPr lang="en-US" altLang="zh-CN" dirty="0" smtClean="0"/>
              <a:t>Value1</a:t>
            </a:r>
            <a:endParaRPr lang="zh-CN" altLang="en-US" dirty="0"/>
          </a:p>
        </p:txBody>
      </p:sp>
      <p:sp>
        <p:nvSpPr>
          <p:cNvPr id="26" name="文本框 25"/>
          <p:cNvSpPr txBox="1"/>
          <p:nvPr/>
        </p:nvSpPr>
        <p:spPr>
          <a:xfrm>
            <a:off x="4070123" y="2423372"/>
            <a:ext cx="984250" cy="369332"/>
          </a:xfrm>
          <a:prstGeom prst="rect">
            <a:avLst/>
          </a:prstGeom>
          <a:noFill/>
        </p:spPr>
        <p:txBody>
          <a:bodyPr wrap="square" rtlCol="0">
            <a:spAutoFit/>
          </a:bodyPr>
          <a:lstStyle/>
          <a:p>
            <a:r>
              <a:rPr lang="en-US" altLang="zh-CN" dirty="0" smtClean="0"/>
              <a:t>Value2</a:t>
            </a:r>
            <a:endParaRPr lang="zh-CN" altLang="en-US" dirty="0"/>
          </a:p>
        </p:txBody>
      </p:sp>
      <p:sp>
        <p:nvSpPr>
          <p:cNvPr id="27" name="文本框 26"/>
          <p:cNvSpPr txBox="1"/>
          <p:nvPr/>
        </p:nvSpPr>
        <p:spPr>
          <a:xfrm>
            <a:off x="5756951" y="2460823"/>
            <a:ext cx="984250" cy="369332"/>
          </a:xfrm>
          <a:prstGeom prst="rect">
            <a:avLst/>
          </a:prstGeom>
          <a:noFill/>
        </p:spPr>
        <p:txBody>
          <a:bodyPr wrap="square" rtlCol="0">
            <a:spAutoFit/>
          </a:bodyPr>
          <a:lstStyle/>
          <a:p>
            <a:r>
              <a:rPr lang="en-US" altLang="zh-CN" dirty="0" smtClean="0"/>
              <a:t>Value3</a:t>
            </a:r>
            <a:endParaRPr lang="zh-CN" altLang="en-US" dirty="0"/>
          </a:p>
        </p:txBody>
      </p:sp>
    </p:spTree>
    <p:extLst>
      <p:ext uri="{BB962C8B-B14F-4D97-AF65-F5344CB8AC3E}">
        <p14:creationId xmlns:p14="http://schemas.microsoft.com/office/powerpoint/2010/main" val="101134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1000"/>
                                        <p:tgtEl>
                                          <p:spTgt spid="29"/>
                                        </p:tgtEl>
                                      </p:cBhvr>
                                    </p:animEffect>
                                    <p:anim calcmode="lin" valueType="num">
                                      <p:cBhvr>
                                        <p:cTn id="28" dur="1000" fill="hold"/>
                                        <p:tgtEl>
                                          <p:spTgt spid="29"/>
                                        </p:tgtEl>
                                        <p:attrNameLst>
                                          <p:attrName>ppt_x</p:attrName>
                                        </p:attrNameLst>
                                      </p:cBhvr>
                                      <p:tavLst>
                                        <p:tav tm="0">
                                          <p:val>
                                            <p:strVal val="#ppt_x"/>
                                          </p:val>
                                        </p:tav>
                                        <p:tav tm="100000">
                                          <p:val>
                                            <p:strVal val="#ppt_x"/>
                                          </p:val>
                                        </p:tav>
                                      </p:tavLst>
                                    </p:anim>
                                    <p:anim calcmode="lin" valueType="num">
                                      <p:cBhvr>
                                        <p:cTn id="29" dur="1000" fill="hold"/>
                                        <p:tgtEl>
                                          <p:spTgt spid="2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1000"/>
                                        <p:tgtEl>
                                          <p:spTgt spid="69"/>
                                        </p:tgtEl>
                                      </p:cBhvr>
                                    </p:animEffect>
                                    <p:anim calcmode="lin" valueType="num">
                                      <p:cBhvr>
                                        <p:cTn id="33" dur="1000" fill="hold"/>
                                        <p:tgtEl>
                                          <p:spTgt spid="69"/>
                                        </p:tgtEl>
                                        <p:attrNameLst>
                                          <p:attrName>ppt_x</p:attrName>
                                        </p:attrNameLst>
                                      </p:cBhvr>
                                      <p:tavLst>
                                        <p:tav tm="0">
                                          <p:val>
                                            <p:strVal val="#ppt_x"/>
                                          </p:val>
                                        </p:tav>
                                        <p:tav tm="100000">
                                          <p:val>
                                            <p:strVal val="#ppt_x"/>
                                          </p:val>
                                        </p:tav>
                                      </p:tavLst>
                                    </p:anim>
                                    <p:anim calcmode="lin" valueType="num">
                                      <p:cBhvr>
                                        <p:cTn id="34"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75"/>
                                        </p:tgtEl>
                                        <p:attrNameLst>
                                          <p:attrName>style.visibility</p:attrName>
                                        </p:attrNameLst>
                                      </p:cBhvr>
                                      <p:to>
                                        <p:strVal val="visible"/>
                                      </p:to>
                                    </p:set>
                                    <p:animEffect transition="in" filter="fade">
                                      <p:cBhvr>
                                        <p:cTn id="43" dur="1000"/>
                                        <p:tgtEl>
                                          <p:spTgt spid="75"/>
                                        </p:tgtEl>
                                      </p:cBhvr>
                                    </p:animEffect>
                                    <p:anim calcmode="lin" valueType="num">
                                      <p:cBhvr>
                                        <p:cTn id="44" dur="1000" fill="hold"/>
                                        <p:tgtEl>
                                          <p:spTgt spid="75"/>
                                        </p:tgtEl>
                                        <p:attrNameLst>
                                          <p:attrName>ppt_x</p:attrName>
                                        </p:attrNameLst>
                                      </p:cBhvr>
                                      <p:tavLst>
                                        <p:tav tm="0">
                                          <p:val>
                                            <p:strVal val="#ppt_x"/>
                                          </p:val>
                                        </p:tav>
                                        <p:tav tm="100000">
                                          <p:val>
                                            <p:strVal val="#ppt_x"/>
                                          </p:val>
                                        </p:tav>
                                      </p:tavLst>
                                    </p:anim>
                                    <p:anim calcmode="lin" valueType="num">
                                      <p:cBhvr>
                                        <p:cTn id="45"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1000"/>
                                        <p:tgtEl>
                                          <p:spTgt spid="47"/>
                                        </p:tgtEl>
                                      </p:cBhvr>
                                    </p:animEffect>
                                    <p:anim calcmode="lin" valueType="num">
                                      <p:cBhvr>
                                        <p:cTn id="51" dur="1000" fill="hold"/>
                                        <p:tgtEl>
                                          <p:spTgt spid="47"/>
                                        </p:tgtEl>
                                        <p:attrNameLst>
                                          <p:attrName>ppt_x</p:attrName>
                                        </p:attrNameLst>
                                      </p:cBhvr>
                                      <p:tavLst>
                                        <p:tav tm="0">
                                          <p:val>
                                            <p:strVal val="#ppt_x"/>
                                          </p:val>
                                        </p:tav>
                                        <p:tav tm="100000">
                                          <p:val>
                                            <p:strVal val="#ppt_x"/>
                                          </p:val>
                                        </p:tav>
                                      </p:tavLst>
                                    </p:anim>
                                    <p:anim calcmode="lin" valueType="num">
                                      <p:cBhvr>
                                        <p:cTn id="5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74" grpId="0" animBg="1"/>
      <p:bldP spid="75" grpId="0" animBg="1"/>
      <p:bldP spid="3" grpId="0"/>
      <p:bldP spid="26"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bwMode="auto">
          <a:xfrm>
            <a:off x="1196856" y="935631"/>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3" name="椭圆 12"/>
          <p:cNvSpPr/>
          <p:nvPr/>
        </p:nvSpPr>
        <p:spPr bwMode="auto">
          <a:xfrm>
            <a:off x="2797369" y="943280"/>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4" name="椭圆 13"/>
          <p:cNvSpPr/>
          <p:nvPr/>
        </p:nvSpPr>
        <p:spPr bwMode="auto">
          <a:xfrm>
            <a:off x="4467147" y="935630"/>
            <a:ext cx="1045028" cy="100148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5" name="椭圆 14"/>
          <p:cNvSpPr/>
          <p:nvPr/>
        </p:nvSpPr>
        <p:spPr bwMode="auto">
          <a:xfrm>
            <a:off x="1196856" y="3032945"/>
            <a:ext cx="1045028" cy="10014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6" name="椭圆 15"/>
          <p:cNvSpPr/>
          <p:nvPr/>
        </p:nvSpPr>
        <p:spPr bwMode="auto">
          <a:xfrm>
            <a:off x="2797369" y="3040594"/>
            <a:ext cx="1045028" cy="10014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7" name="椭圆 16"/>
          <p:cNvSpPr/>
          <p:nvPr/>
        </p:nvSpPr>
        <p:spPr bwMode="auto">
          <a:xfrm>
            <a:off x="4467147" y="3032944"/>
            <a:ext cx="1045028" cy="10014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9" name="直接箭头连接符 8"/>
          <p:cNvCxnSpPr/>
          <p:nvPr/>
        </p:nvCxnSpPr>
        <p:spPr bwMode="auto">
          <a:xfrm>
            <a:off x="1676687" y="1937115"/>
            <a:ext cx="5367" cy="1095829"/>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0" name="直接箭头连接符 9"/>
          <p:cNvCxnSpPr/>
          <p:nvPr/>
        </p:nvCxnSpPr>
        <p:spPr bwMode="auto">
          <a:xfrm>
            <a:off x="3351832" y="1944765"/>
            <a:ext cx="5367" cy="1095829"/>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1" name="直接箭头连接符 10"/>
          <p:cNvCxnSpPr/>
          <p:nvPr/>
        </p:nvCxnSpPr>
        <p:spPr bwMode="auto">
          <a:xfrm>
            <a:off x="4984294" y="1937114"/>
            <a:ext cx="5367" cy="1095829"/>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 name="文本框 2"/>
          <p:cNvSpPr txBox="1"/>
          <p:nvPr/>
        </p:nvSpPr>
        <p:spPr>
          <a:xfrm>
            <a:off x="1205717" y="2261846"/>
            <a:ext cx="571500" cy="461665"/>
          </a:xfrm>
          <a:prstGeom prst="rect">
            <a:avLst/>
          </a:prstGeom>
          <a:noFill/>
        </p:spPr>
        <p:txBody>
          <a:bodyPr wrap="square" rtlCol="0">
            <a:spAutoFit/>
          </a:bodyPr>
          <a:lstStyle/>
          <a:p>
            <a:r>
              <a:rPr lang="en-US" altLang="zh-CN" sz="2400" b="1" dirty="0" smtClean="0"/>
              <a:t>v1</a:t>
            </a:r>
            <a:endParaRPr lang="zh-CN" altLang="en-US" sz="2400" b="1" dirty="0"/>
          </a:p>
        </p:txBody>
      </p:sp>
      <p:sp>
        <p:nvSpPr>
          <p:cNvPr id="18" name="文本框 17"/>
          <p:cNvSpPr txBox="1"/>
          <p:nvPr/>
        </p:nvSpPr>
        <p:spPr>
          <a:xfrm>
            <a:off x="2855376" y="2264957"/>
            <a:ext cx="571500" cy="461665"/>
          </a:xfrm>
          <a:prstGeom prst="rect">
            <a:avLst/>
          </a:prstGeom>
          <a:noFill/>
        </p:spPr>
        <p:txBody>
          <a:bodyPr wrap="square" rtlCol="0">
            <a:spAutoFit/>
          </a:bodyPr>
          <a:lstStyle/>
          <a:p>
            <a:r>
              <a:rPr lang="en-US" altLang="zh-CN" sz="2400" b="1" dirty="0" smtClean="0"/>
              <a:t>v2</a:t>
            </a:r>
            <a:endParaRPr lang="zh-CN" altLang="en-US" sz="2400" b="1" dirty="0"/>
          </a:p>
        </p:txBody>
      </p:sp>
      <p:sp>
        <p:nvSpPr>
          <p:cNvPr id="19" name="文本框 18"/>
          <p:cNvSpPr txBox="1"/>
          <p:nvPr/>
        </p:nvSpPr>
        <p:spPr>
          <a:xfrm>
            <a:off x="4429991" y="2262628"/>
            <a:ext cx="571500" cy="461665"/>
          </a:xfrm>
          <a:prstGeom prst="rect">
            <a:avLst/>
          </a:prstGeom>
          <a:noFill/>
        </p:spPr>
        <p:txBody>
          <a:bodyPr wrap="square" rtlCol="0">
            <a:spAutoFit/>
          </a:bodyPr>
          <a:lstStyle/>
          <a:p>
            <a:r>
              <a:rPr lang="en-US" altLang="zh-CN" sz="2400" b="1" dirty="0" smtClean="0"/>
              <a:t>v3</a:t>
            </a:r>
            <a:endParaRPr lang="zh-CN" altLang="en-US" sz="2400" b="1" dirty="0"/>
          </a:p>
        </p:txBody>
      </p:sp>
      <p:sp>
        <p:nvSpPr>
          <p:cNvPr id="4" name="流程图: 可选过程 3"/>
          <p:cNvSpPr/>
          <p:nvPr/>
        </p:nvSpPr>
        <p:spPr bwMode="auto">
          <a:xfrm>
            <a:off x="6685234" y="1657524"/>
            <a:ext cx="2104408" cy="1655007"/>
          </a:xfrm>
          <a:prstGeom prst="flowChartAlternateProcess">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No single</a:t>
            </a:r>
            <a:r>
              <a:rPr kumimoji="0" lang="en-US" altLang="zh-CN" sz="2000" b="1" i="0" u="none" strike="noStrike" cap="none" normalizeH="0" dirty="0" smtClean="0">
                <a:ln>
                  <a:noFill/>
                </a:ln>
                <a:effectLst/>
                <a:latin typeface="Arial" panose="020B0604020202020204" pitchFamily="34" charset="0"/>
                <a:ea typeface="宋体" panose="02010600030101010101" pitchFamily="2" charset="-122"/>
              </a:rPr>
              <a:t> value is accepted by a majority.</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cxnSp>
        <p:nvCxnSpPr>
          <p:cNvPr id="21" name="直接箭头连接符 20"/>
          <p:cNvCxnSpPr/>
          <p:nvPr/>
        </p:nvCxnSpPr>
        <p:spPr bwMode="auto">
          <a:xfrm flipH="1" flipV="1">
            <a:off x="1777218" y="1937115"/>
            <a:ext cx="17036" cy="1095828"/>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3" name="直接箭头连接符 22"/>
          <p:cNvCxnSpPr/>
          <p:nvPr/>
        </p:nvCxnSpPr>
        <p:spPr bwMode="auto">
          <a:xfrm flipH="1" flipV="1">
            <a:off x="3464032" y="1937114"/>
            <a:ext cx="17036" cy="1095828"/>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p:cNvCxnSpPr/>
          <p:nvPr/>
        </p:nvCxnSpPr>
        <p:spPr bwMode="auto">
          <a:xfrm flipH="1" flipV="1">
            <a:off x="5108163" y="1937114"/>
            <a:ext cx="17036" cy="1095828"/>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5" name="文本框 24"/>
          <p:cNvSpPr txBox="1"/>
          <p:nvPr/>
        </p:nvSpPr>
        <p:spPr>
          <a:xfrm>
            <a:off x="1245724" y="303554"/>
            <a:ext cx="2074159" cy="584775"/>
          </a:xfrm>
          <a:prstGeom prst="rect">
            <a:avLst/>
          </a:prstGeom>
          <a:noFill/>
        </p:spPr>
        <p:txBody>
          <a:bodyPr wrap="square" rtlCol="0">
            <a:spAutoFit/>
          </a:bodyPr>
          <a:lstStyle/>
          <a:p>
            <a:r>
              <a:rPr lang="en-US" altLang="zh-CN" sz="3200" b="1" dirty="0" smtClean="0"/>
              <a:t>One case:</a:t>
            </a:r>
            <a:endParaRPr lang="zh-CN" altLang="en-US" sz="3200" b="1" dirty="0"/>
          </a:p>
        </p:txBody>
      </p:sp>
      <p:sp>
        <p:nvSpPr>
          <p:cNvPr id="26" name="右箭头 25"/>
          <p:cNvSpPr/>
          <p:nvPr/>
        </p:nvSpPr>
        <p:spPr bwMode="auto">
          <a:xfrm>
            <a:off x="5748565" y="2254195"/>
            <a:ext cx="812800" cy="461666"/>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8" name="流程图: 可选过程 27"/>
          <p:cNvSpPr/>
          <p:nvPr/>
        </p:nvSpPr>
        <p:spPr bwMode="auto">
          <a:xfrm>
            <a:off x="365351" y="4408360"/>
            <a:ext cx="8424291" cy="854816"/>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An acceptor must be allowed to accept more than one proposal</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9" name="流程图: 可选过程 28"/>
          <p:cNvSpPr/>
          <p:nvPr/>
        </p:nvSpPr>
        <p:spPr bwMode="auto">
          <a:xfrm>
            <a:off x="365351" y="5821977"/>
            <a:ext cx="1584316" cy="665960"/>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Proposal</a:t>
            </a:r>
            <a:endParaRPr kumimoji="0" lang="zh-CN" altLang="en-US"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0" name="流程图: 可选过程 29"/>
          <p:cNvSpPr/>
          <p:nvPr/>
        </p:nvSpPr>
        <p:spPr bwMode="auto">
          <a:xfrm>
            <a:off x="5149414" y="5821975"/>
            <a:ext cx="1052286" cy="738649"/>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Value</a:t>
            </a:r>
            <a:endParaRPr kumimoji="0" lang="zh-CN" altLang="en-US"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1" name="文本框 30"/>
          <p:cNvSpPr txBox="1"/>
          <p:nvPr/>
        </p:nvSpPr>
        <p:spPr>
          <a:xfrm>
            <a:off x="1963938" y="5718497"/>
            <a:ext cx="391885" cy="769441"/>
          </a:xfrm>
          <a:prstGeom prst="rect">
            <a:avLst/>
          </a:prstGeom>
          <a:noFill/>
        </p:spPr>
        <p:txBody>
          <a:bodyPr wrap="square" rtlCol="0">
            <a:spAutoFit/>
          </a:bodyPr>
          <a:lstStyle/>
          <a:p>
            <a:r>
              <a:rPr lang="en-US" altLang="zh-CN" sz="4400" dirty="0" smtClean="0"/>
              <a:t>=</a:t>
            </a:r>
            <a:endParaRPr lang="zh-CN" altLang="en-US" sz="4400" dirty="0"/>
          </a:p>
        </p:txBody>
      </p:sp>
      <p:sp>
        <p:nvSpPr>
          <p:cNvPr id="32" name="流程图: 可选过程 31"/>
          <p:cNvSpPr/>
          <p:nvPr/>
        </p:nvSpPr>
        <p:spPr bwMode="auto">
          <a:xfrm>
            <a:off x="2450409" y="5821975"/>
            <a:ext cx="1979582" cy="738649"/>
          </a:xfrm>
          <a:prstGeom prst="flowChartAlternateProcess">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Proposal  number</a:t>
            </a:r>
            <a:endParaRPr kumimoji="0" lang="zh-CN" altLang="en-US"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3" name="文本框 32"/>
          <p:cNvSpPr txBox="1"/>
          <p:nvPr/>
        </p:nvSpPr>
        <p:spPr>
          <a:xfrm>
            <a:off x="4609606" y="5718496"/>
            <a:ext cx="391885" cy="769441"/>
          </a:xfrm>
          <a:prstGeom prst="rect">
            <a:avLst/>
          </a:prstGeom>
          <a:noFill/>
        </p:spPr>
        <p:txBody>
          <a:bodyPr wrap="square" rtlCol="0">
            <a:spAutoFit/>
          </a:bodyPr>
          <a:lstStyle/>
          <a:p>
            <a:r>
              <a:rPr lang="en-US" altLang="zh-CN" sz="4400" dirty="0" smtClean="0"/>
              <a:t>+</a:t>
            </a:r>
            <a:endParaRPr lang="zh-CN" altLang="en-US" sz="4400" dirty="0"/>
          </a:p>
        </p:txBody>
      </p:sp>
      <p:sp>
        <p:nvSpPr>
          <p:cNvPr id="27" name="文本框 26"/>
          <p:cNvSpPr txBox="1"/>
          <p:nvPr/>
        </p:nvSpPr>
        <p:spPr>
          <a:xfrm>
            <a:off x="1244194" y="-42910"/>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Tree>
    <p:extLst>
      <p:ext uri="{BB962C8B-B14F-4D97-AF65-F5344CB8AC3E}">
        <p14:creationId xmlns:p14="http://schemas.microsoft.com/office/powerpoint/2010/main" val="226045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anim calcmode="lin" valueType="num">
                                      <p:cBhvr>
                                        <p:cTn id="36" dur="1000" fill="hold"/>
                                        <p:tgtEl>
                                          <p:spTgt spid="24"/>
                                        </p:tgtEl>
                                        <p:attrNameLst>
                                          <p:attrName>ppt_x</p:attrName>
                                        </p:attrNameLst>
                                      </p:cBhvr>
                                      <p:tavLst>
                                        <p:tav tm="0">
                                          <p:val>
                                            <p:strVal val="#ppt_x"/>
                                          </p:val>
                                        </p:tav>
                                        <p:tav tm="100000">
                                          <p:val>
                                            <p:strVal val="#ppt_x"/>
                                          </p:val>
                                        </p:tav>
                                      </p:tavLst>
                                    </p:anim>
                                    <p:anim calcmode="lin" valueType="num">
                                      <p:cBhvr>
                                        <p:cTn id="3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1000"/>
                                        <p:tgtEl>
                                          <p:spTgt spid="29"/>
                                        </p:tgtEl>
                                      </p:cBhvr>
                                    </p:animEffect>
                                    <p:anim calcmode="lin" valueType="num">
                                      <p:cBhvr>
                                        <p:cTn id="55" dur="1000" fill="hold"/>
                                        <p:tgtEl>
                                          <p:spTgt spid="29"/>
                                        </p:tgtEl>
                                        <p:attrNameLst>
                                          <p:attrName>ppt_x</p:attrName>
                                        </p:attrNameLst>
                                      </p:cBhvr>
                                      <p:tavLst>
                                        <p:tav tm="0">
                                          <p:val>
                                            <p:strVal val="#ppt_x"/>
                                          </p:val>
                                        </p:tav>
                                        <p:tav tm="100000">
                                          <p:val>
                                            <p:strVal val="#ppt_x"/>
                                          </p:val>
                                        </p:tav>
                                      </p:tavLst>
                                    </p:anim>
                                    <p:anim calcmode="lin" valueType="num">
                                      <p:cBhvr>
                                        <p:cTn id="56" dur="1000" fill="hold"/>
                                        <p:tgtEl>
                                          <p:spTgt spid="29"/>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1000"/>
                                        <p:tgtEl>
                                          <p:spTgt spid="30"/>
                                        </p:tgtEl>
                                      </p:cBhvr>
                                    </p:animEffect>
                                    <p:anim calcmode="lin" valueType="num">
                                      <p:cBhvr>
                                        <p:cTn id="60" dur="1000" fill="hold"/>
                                        <p:tgtEl>
                                          <p:spTgt spid="30"/>
                                        </p:tgtEl>
                                        <p:attrNameLst>
                                          <p:attrName>ppt_x</p:attrName>
                                        </p:attrNameLst>
                                      </p:cBhvr>
                                      <p:tavLst>
                                        <p:tav tm="0">
                                          <p:val>
                                            <p:strVal val="#ppt_x"/>
                                          </p:val>
                                        </p:tav>
                                        <p:tav tm="100000">
                                          <p:val>
                                            <p:strVal val="#ppt_x"/>
                                          </p:val>
                                        </p:tav>
                                      </p:tavLst>
                                    </p:anim>
                                    <p:anim calcmode="lin" valueType="num">
                                      <p:cBhvr>
                                        <p:cTn id="61" dur="1000" fill="hold"/>
                                        <p:tgtEl>
                                          <p:spTgt spid="3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1000"/>
                                        <p:tgtEl>
                                          <p:spTgt spid="31"/>
                                        </p:tgtEl>
                                      </p:cBhvr>
                                    </p:animEffect>
                                    <p:anim calcmode="lin" valueType="num">
                                      <p:cBhvr>
                                        <p:cTn id="65" dur="1000" fill="hold"/>
                                        <p:tgtEl>
                                          <p:spTgt spid="31"/>
                                        </p:tgtEl>
                                        <p:attrNameLst>
                                          <p:attrName>ppt_x</p:attrName>
                                        </p:attrNameLst>
                                      </p:cBhvr>
                                      <p:tavLst>
                                        <p:tav tm="0">
                                          <p:val>
                                            <p:strVal val="#ppt_x"/>
                                          </p:val>
                                        </p:tav>
                                        <p:tav tm="100000">
                                          <p:val>
                                            <p:strVal val="#ppt_x"/>
                                          </p:val>
                                        </p:tav>
                                      </p:tavLst>
                                    </p:anim>
                                    <p:anim calcmode="lin" valueType="num">
                                      <p:cBhvr>
                                        <p:cTn id="66" dur="1000" fill="hold"/>
                                        <p:tgtEl>
                                          <p:spTgt spid="31"/>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1000"/>
                                        <p:tgtEl>
                                          <p:spTgt spid="32"/>
                                        </p:tgtEl>
                                      </p:cBhvr>
                                    </p:animEffect>
                                    <p:anim calcmode="lin" valueType="num">
                                      <p:cBhvr>
                                        <p:cTn id="70" dur="1000" fill="hold"/>
                                        <p:tgtEl>
                                          <p:spTgt spid="32"/>
                                        </p:tgtEl>
                                        <p:attrNameLst>
                                          <p:attrName>ppt_x</p:attrName>
                                        </p:attrNameLst>
                                      </p:cBhvr>
                                      <p:tavLst>
                                        <p:tav tm="0">
                                          <p:val>
                                            <p:strVal val="#ppt_x"/>
                                          </p:val>
                                        </p:tav>
                                        <p:tav tm="100000">
                                          <p:val>
                                            <p:strVal val="#ppt_x"/>
                                          </p:val>
                                        </p:tav>
                                      </p:tavLst>
                                    </p:anim>
                                    <p:anim calcmode="lin" valueType="num">
                                      <p:cBhvr>
                                        <p:cTn id="71" dur="1000" fill="hold"/>
                                        <p:tgtEl>
                                          <p:spTgt spid="32"/>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1000"/>
                                        <p:tgtEl>
                                          <p:spTgt spid="33"/>
                                        </p:tgtEl>
                                      </p:cBhvr>
                                    </p:animEffect>
                                    <p:anim calcmode="lin" valueType="num">
                                      <p:cBhvr>
                                        <p:cTn id="75" dur="1000" fill="hold"/>
                                        <p:tgtEl>
                                          <p:spTgt spid="33"/>
                                        </p:tgtEl>
                                        <p:attrNameLst>
                                          <p:attrName>ppt_x</p:attrName>
                                        </p:attrNameLst>
                                      </p:cBhvr>
                                      <p:tavLst>
                                        <p:tav tm="0">
                                          <p:val>
                                            <p:strVal val="#ppt_x"/>
                                          </p:val>
                                        </p:tav>
                                        <p:tav tm="100000">
                                          <p:val>
                                            <p:strVal val="#ppt_x"/>
                                          </p:val>
                                        </p:tav>
                                      </p:tavLst>
                                    </p:anim>
                                    <p:anim calcmode="lin" valueType="num">
                                      <p:cBhvr>
                                        <p:cTn id="76"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p:bldP spid="19" grpId="0"/>
      <p:bldP spid="4" grpId="0" animBg="1"/>
      <p:bldP spid="26" grpId="0" animBg="1"/>
      <p:bldP spid="28" grpId="0" animBg="1"/>
      <p:bldP spid="29" grpId="0" animBg="1"/>
      <p:bldP spid="30" grpId="0" animBg="1"/>
      <p:bldP spid="31" grpId="0"/>
      <p:bldP spid="32" grpId="0" animBg="1"/>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可选过程 8"/>
          <p:cNvSpPr/>
          <p:nvPr/>
        </p:nvSpPr>
        <p:spPr bwMode="auto">
          <a:xfrm>
            <a:off x="588721" y="382950"/>
            <a:ext cx="8322690" cy="854816"/>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P2</a:t>
            </a: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If</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 a proposal with value V is chosen, then every higher-numbered proposal </a:t>
            </a:r>
            <a:r>
              <a:rPr kumimoji="0" lang="en-US" altLang="zh-CN" sz="2400" b="1" i="0" u="none" strike="noStrike" cap="none" normalizeH="0" dirty="0" smtClean="0">
                <a:ln>
                  <a:noFill/>
                </a:ln>
                <a:solidFill>
                  <a:srgbClr val="FFFF00"/>
                </a:solidFill>
                <a:effectLst/>
                <a:latin typeface="Arial" panose="020B0604020202020204" pitchFamily="34" charset="0"/>
                <a:ea typeface="宋体" panose="02010600030101010101" pitchFamily="2" charset="-122"/>
              </a:rPr>
              <a:t>that is chosen </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has value V</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 name="流程图: 可选过程 9"/>
          <p:cNvSpPr/>
          <p:nvPr/>
        </p:nvSpPr>
        <p:spPr bwMode="auto">
          <a:xfrm>
            <a:off x="223024" y="1694985"/>
            <a:ext cx="8688387" cy="1244946"/>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P2</a:t>
            </a:r>
            <a:r>
              <a:rPr kumimoji="0" lang="en-US" altLang="zh-CN" sz="2400" b="1" i="0" u="none" strike="noStrike" cap="none" normalizeH="0" baseline="30000" dirty="0" smtClean="0">
                <a:ln>
                  <a:noFill/>
                </a:ln>
                <a:solidFill>
                  <a:srgbClr val="FF0000"/>
                </a:solidFill>
                <a:effectLst/>
                <a:latin typeface="Arial" panose="020B0604020202020204" pitchFamily="34" charset="0"/>
                <a:ea typeface="宋体" panose="02010600030101010101" pitchFamily="2" charset="-122"/>
              </a:rPr>
              <a:t>a</a:t>
            </a: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If</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 a proposal with value V is chosen, then every higher-numbered proposal </a:t>
            </a:r>
            <a:r>
              <a:rPr kumimoji="0" lang="en-US" altLang="zh-CN" sz="2400" b="1" i="0" u="none" strike="noStrike" cap="none" normalizeH="0" dirty="0" smtClean="0">
                <a:ln>
                  <a:noFill/>
                </a:ln>
                <a:solidFill>
                  <a:srgbClr val="FFFF00"/>
                </a:solidFill>
                <a:effectLst/>
                <a:latin typeface="Arial" panose="020B0604020202020204" pitchFamily="34" charset="0"/>
                <a:ea typeface="宋体" panose="02010600030101010101" pitchFamily="2" charset="-122"/>
              </a:rPr>
              <a:t>accepted by any acceptor </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has value V</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 name="下箭头 2"/>
          <p:cNvSpPr/>
          <p:nvPr/>
        </p:nvSpPr>
        <p:spPr bwMode="auto">
          <a:xfrm>
            <a:off x="4103649" y="1237766"/>
            <a:ext cx="401444" cy="457219"/>
          </a:xfrm>
          <a:prstGeom prst="down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2" name="椭圆 11"/>
          <p:cNvSpPr/>
          <p:nvPr/>
        </p:nvSpPr>
        <p:spPr bwMode="auto">
          <a:xfrm>
            <a:off x="2577178" y="3397150"/>
            <a:ext cx="1045028" cy="943643"/>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3" name="椭圆 12"/>
          <p:cNvSpPr/>
          <p:nvPr/>
        </p:nvSpPr>
        <p:spPr bwMode="auto">
          <a:xfrm>
            <a:off x="5462197" y="3397150"/>
            <a:ext cx="1045028" cy="943643"/>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0" name="椭圆 19"/>
          <p:cNvSpPr/>
          <p:nvPr/>
        </p:nvSpPr>
        <p:spPr bwMode="auto">
          <a:xfrm>
            <a:off x="588721" y="5392864"/>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1" name="椭圆 20"/>
          <p:cNvSpPr/>
          <p:nvPr/>
        </p:nvSpPr>
        <p:spPr bwMode="auto">
          <a:xfrm>
            <a:off x="2189234" y="5400513"/>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2" name="椭圆 21"/>
          <p:cNvSpPr/>
          <p:nvPr/>
        </p:nvSpPr>
        <p:spPr bwMode="auto">
          <a:xfrm>
            <a:off x="3859012" y="5392863"/>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3</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3" name="椭圆 22"/>
          <p:cNvSpPr/>
          <p:nvPr/>
        </p:nvSpPr>
        <p:spPr bwMode="auto">
          <a:xfrm>
            <a:off x="5473405" y="5385214"/>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a:t>
            </a:r>
            <a:r>
              <a:rPr lang="en-US" altLang="zh-CN" sz="1400" b="1" dirty="0" smtClean="0">
                <a:solidFill>
                  <a:schemeClr val="bg1"/>
                </a:solidFill>
                <a:latin typeface="Arial" panose="020B0604020202020204" pitchFamily="34" charset="0"/>
                <a:ea typeface="宋体" panose="02010600030101010101" pitchFamily="2" charset="-122"/>
              </a:rPr>
              <a:t>1</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4" name="椭圆 23"/>
          <p:cNvSpPr/>
          <p:nvPr/>
        </p:nvSpPr>
        <p:spPr bwMode="auto">
          <a:xfrm>
            <a:off x="7073918" y="5392863"/>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 2</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4" name="文本框 3"/>
          <p:cNvSpPr txBox="1"/>
          <p:nvPr/>
        </p:nvSpPr>
        <p:spPr>
          <a:xfrm>
            <a:off x="423746" y="3397150"/>
            <a:ext cx="1427356" cy="461665"/>
          </a:xfrm>
          <a:prstGeom prst="rect">
            <a:avLst/>
          </a:prstGeom>
          <a:noFill/>
        </p:spPr>
        <p:txBody>
          <a:bodyPr wrap="square" rtlCol="0">
            <a:spAutoFit/>
          </a:bodyPr>
          <a:lstStyle/>
          <a:p>
            <a:r>
              <a:rPr lang="en-US" altLang="zh-CN" sz="2400" b="1" dirty="0" smtClean="0"/>
              <a:t>One case</a:t>
            </a:r>
            <a:r>
              <a:rPr lang="en-US" altLang="zh-CN" sz="2400" dirty="0" smtClean="0"/>
              <a:t>:</a:t>
            </a:r>
            <a:endParaRPr lang="zh-CN" altLang="en-US" sz="2400" dirty="0"/>
          </a:p>
        </p:txBody>
      </p:sp>
      <p:cxnSp>
        <p:nvCxnSpPr>
          <p:cNvPr id="25" name="直接箭头连接符 24"/>
          <p:cNvCxnSpPr>
            <a:stCxn id="13" idx="4"/>
            <a:endCxn id="21" idx="0"/>
          </p:cNvCxnSpPr>
          <p:nvPr/>
        </p:nvCxnSpPr>
        <p:spPr bwMode="auto">
          <a:xfrm flipH="1">
            <a:off x="2711748" y="4340793"/>
            <a:ext cx="3272963" cy="1059720"/>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6" name="直接箭头连接符 25"/>
          <p:cNvCxnSpPr>
            <a:endCxn id="22" idx="0"/>
          </p:cNvCxnSpPr>
          <p:nvPr/>
        </p:nvCxnSpPr>
        <p:spPr bwMode="auto">
          <a:xfrm flipH="1">
            <a:off x="4381526" y="4340793"/>
            <a:ext cx="1737755" cy="1052070"/>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8" name="直接箭头连接符 27"/>
          <p:cNvCxnSpPr>
            <a:endCxn id="23" idx="0"/>
          </p:cNvCxnSpPr>
          <p:nvPr/>
        </p:nvCxnSpPr>
        <p:spPr bwMode="auto">
          <a:xfrm flipH="1">
            <a:off x="5995919" y="4340793"/>
            <a:ext cx="123363" cy="1044421"/>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32" name="直接箭头连接符 31"/>
          <p:cNvCxnSpPr>
            <a:stCxn id="13" idx="4"/>
            <a:endCxn id="24" idx="0"/>
          </p:cNvCxnSpPr>
          <p:nvPr/>
        </p:nvCxnSpPr>
        <p:spPr bwMode="auto">
          <a:xfrm>
            <a:off x="5984711" y="4340793"/>
            <a:ext cx="1611721" cy="1052070"/>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5" name="文本框 34"/>
          <p:cNvSpPr txBox="1"/>
          <p:nvPr/>
        </p:nvSpPr>
        <p:spPr>
          <a:xfrm>
            <a:off x="3545965" y="4660738"/>
            <a:ext cx="1347340" cy="523220"/>
          </a:xfrm>
          <a:prstGeom prst="rect">
            <a:avLst/>
          </a:prstGeom>
          <a:noFill/>
        </p:spPr>
        <p:txBody>
          <a:bodyPr wrap="square" rtlCol="0">
            <a:spAutoFit/>
          </a:bodyPr>
          <a:lstStyle/>
          <a:p>
            <a:r>
              <a:rPr lang="en-US" altLang="zh-CN" sz="2800" b="1" dirty="0" smtClean="0"/>
              <a:t>[N</a:t>
            </a:r>
            <a:r>
              <a:rPr lang="en-US" altLang="zh-CN" sz="2800" b="1" baseline="-25000" dirty="0" smtClean="0"/>
              <a:t>1</a:t>
            </a:r>
            <a:r>
              <a:rPr lang="en-US" altLang="zh-CN" sz="2800" b="1" dirty="0" smtClean="0"/>
              <a:t>,V</a:t>
            </a:r>
            <a:r>
              <a:rPr lang="en-US" altLang="zh-CN" sz="2800" b="1" baseline="-25000" dirty="0" smtClean="0"/>
              <a:t>1</a:t>
            </a:r>
            <a:r>
              <a:rPr lang="en-US" altLang="zh-CN" sz="2800" b="1" dirty="0" smtClean="0"/>
              <a:t>]</a:t>
            </a:r>
            <a:endParaRPr lang="zh-CN" altLang="en-US" sz="2800" b="1" dirty="0"/>
          </a:p>
        </p:txBody>
      </p:sp>
      <p:sp>
        <p:nvSpPr>
          <p:cNvPr id="36" name="文本框 35"/>
          <p:cNvSpPr txBox="1"/>
          <p:nvPr/>
        </p:nvSpPr>
        <p:spPr>
          <a:xfrm>
            <a:off x="6443064" y="4528350"/>
            <a:ext cx="1347340" cy="523220"/>
          </a:xfrm>
          <a:prstGeom prst="rect">
            <a:avLst/>
          </a:prstGeom>
          <a:noFill/>
        </p:spPr>
        <p:txBody>
          <a:bodyPr wrap="square" rtlCol="0">
            <a:spAutoFit/>
          </a:bodyPr>
          <a:lstStyle/>
          <a:p>
            <a:r>
              <a:rPr lang="en-US" altLang="zh-CN" sz="2800" b="1" dirty="0" smtClean="0"/>
              <a:t>[N</a:t>
            </a:r>
            <a:r>
              <a:rPr lang="en-US" altLang="zh-CN" sz="2800" b="1" baseline="-25000" dirty="0" smtClean="0"/>
              <a:t>1</a:t>
            </a:r>
            <a:r>
              <a:rPr lang="en-US" altLang="zh-CN" sz="2800" b="1" dirty="0" smtClean="0"/>
              <a:t>,V</a:t>
            </a:r>
            <a:r>
              <a:rPr lang="en-US" altLang="zh-CN" sz="2800" b="1" baseline="-25000" dirty="0" smtClean="0"/>
              <a:t>1</a:t>
            </a:r>
            <a:r>
              <a:rPr lang="en-US" altLang="zh-CN" sz="2800" b="1" dirty="0" smtClean="0"/>
              <a:t>]</a:t>
            </a:r>
            <a:endParaRPr lang="zh-CN" altLang="en-US" sz="2800" b="1" dirty="0"/>
          </a:p>
        </p:txBody>
      </p:sp>
      <p:sp>
        <p:nvSpPr>
          <p:cNvPr id="37" name="文本框 36"/>
          <p:cNvSpPr txBox="1"/>
          <p:nvPr/>
        </p:nvSpPr>
        <p:spPr>
          <a:xfrm>
            <a:off x="5487624" y="4715907"/>
            <a:ext cx="978982" cy="523220"/>
          </a:xfrm>
          <a:prstGeom prst="rect">
            <a:avLst/>
          </a:prstGeom>
          <a:noFill/>
        </p:spPr>
        <p:txBody>
          <a:bodyPr wrap="square" rtlCol="0">
            <a:spAutoFit/>
          </a:bodyPr>
          <a:lstStyle/>
          <a:p>
            <a:r>
              <a:rPr lang="en-US" altLang="zh-CN" sz="2800" b="1" dirty="0" smtClean="0"/>
              <a:t>……</a:t>
            </a:r>
            <a:endParaRPr lang="zh-CN" altLang="en-US" sz="2800" b="1" dirty="0"/>
          </a:p>
        </p:txBody>
      </p:sp>
      <p:cxnSp>
        <p:nvCxnSpPr>
          <p:cNvPr id="38" name="直接箭头连接符 37"/>
          <p:cNvCxnSpPr>
            <a:stCxn id="21" idx="7"/>
          </p:cNvCxnSpPr>
          <p:nvPr/>
        </p:nvCxnSpPr>
        <p:spPr bwMode="auto">
          <a:xfrm flipV="1">
            <a:off x="3081221" y="4344706"/>
            <a:ext cx="2732084" cy="1194000"/>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4" name="直接箭头连接符 43"/>
          <p:cNvCxnSpPr>
            <a:stCxn id="22" idx="7"/>
            <a:endCxn id="13" idx="4"/>
          </p:cNvCxnSpPr>
          <p:nvPr/>
        </p:nvCxnSpPr>
        <p:spPr bwMode="auto">
          <a:xfrm flipV="1">
            <a:off x="4750999" y="4340793"/>
            <a:ext cx="1233712" cy="1190263"/>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7" name="直接箭头连接符 46"/>
          <p:cNvCxnSpPr>
            <a:endCxn id="13" idx="4"/>
          </p:cNvCxnSpPr>
          <p:nvPr/>
        </p:nvCxnSpPr>
        <p:spPr bwMode="auto">
          <a:xfrm flipH="1" flipV="1">
            <a:off x="5984711" y="4340793"/>
            <a:ext cx="312964" cy="1059721"/>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0" name="直接箭头连接符 49"/>
          <p:cNvCxnSpPr>
            <a:stCxn id="24" idx="7"/>
            <a:endCxn id="13" idx="4"/>
          </p:cNvCxnSpPr>
          <p:nvPr/>
        </p:nvCxnSpPr>
        <p:spPr bwMode="auto">
          <a:xfrm flipH="1" flipV="1">
            <a:off x="5984711" y="4340793"/>
            <a:ext cx="1981194" cy="1190263"/>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5" name="直接箭头连接符 54"/>
          <p:cNvCxnSpPr>
            <a:stCxn id="12" idx="3"/>
          </p:cNvCxnSpPr>
          <p:nvPr/>
        </p:nvCxnSpPr>
        <p:spPr bwMode="auto">
          <a:xfrm flipH="1">
            <a:off x="1012850" y="4202600"/>
            <a:ext cx="1717369" cy="1197913"/>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63" name="文本框 62"/>
          <p:cNvSpPr txBox="1"/>
          <p:nvPr/>
        </p:nvSpPr>
        <p:spPr>
          <a:xfrm>
            <a:off x="501891" y="4456870"/>
            <a:ext cx="1347340" cy="523220"/>
          </a:xfrm>
          <a:prstGeom prst="rect">
            <a:avLst/>
          </a:prstGeom>
          <a:noFill/>
        </p:spPr>
        <p:txBody>
          <a:bodyPr wrap="square" rtlCol="0">
            <a:spAutoFit/>
          </a:bodyPr>
          <a:lstStyle/>
          <a:p>
            <a:r>
              <a:rPr lang="en-US" altLang="zh-CN" sz="2800" b="1" dirty="0" smtClean="0"/>
              <a:t>[N</a:t>
            </a:r>
            <a:r>
              <a:rPr lang="en-US" altLang="zh-CN" sz="2800" b="1" baseline="-25000" dirty="0" smtClean="0"/>
              <a:t>2</a:t>
            </a:r>
            <a:r>
              <a:rPr lang="en-US" altLang="zh-CN" sz="2800" b="1" dirty="0" smtClean="0"/>
              <a:t>,V</a:t>
            </a:r>
            <a:r>
              <a:rPr lang="en-US" altLang="zh-CN" sz="2800" b="1" baseline="-25000" dirty="0"/>
              <a:t>2</a:t>
            </a:r>
            <a:r>
              <a:rPr lang="en-US" altLang="zh-CN" sz="2800" b="1" dirty="0" smtClean="0"/>
              <a:t>]</a:t>
            </a:r>
            <a:endParaRPr lang="zh-CN" altLang="en-US" sz="2800" b="1" dirty="0"/>
          </a:p>
        </p:txBody>
      </p:sp>
      <p:cxnSp>
        <p:nvCxnSpPr>
          <p:cNvPr id="64" name="直接箭头连接符 63"/>
          <p:cNvCxnSpPr/>
          <p:nvPr/>
        </p:nvCxnSpPr>
        <p:spPr bwMode="auto">
          <a:xfrm flipV="1">
            <a:off x="1278421" y="4316034"/>
            <a:ext cx="1567155" cy="1088392"/>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68" name="圆角矩形 67"/>
          <p:cNvSpPr/>
          <p:nvPr/>
        </p:nvSpPr>
        <p:spPr bwMode="auto">
          <a:xfrm>
            <a:off x="7332107" y="3315192"/>
            <a:ext cx="1612613" cy="1087925"/>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defTabSz="457200" fontAlgn="base">
              <a:spcBef>
                <a:spcPct val="0"/>
              </a:spcBef>
              <a:spcAft>
                <a:spcPct val="0"/>
              </a:spcAft>
              <a:buClr>
                <a:srgbClr val="000000"/>
              </a:buClr>
              <a:buSzPct val="100000"/>
            </a:pPr>
            <a:r>
              <a:rPr lang="en-US" altLang="zh-CN" sz="3200" b="1" dirty="0" smtClean="0"/>
              <a:t>N</a:t>
            </a:r>
            <a:r>
              <a:rPr lang="en-US" altLang="zh-CN" sz="3200" b="1" baseline="-25000" dirty="0" smtClean="0"/>
              <a:t>2 </a:t>
            </a:r>
            <a:r>
              <a:rPr lang="en-US" altLang="zh-CN" sz="3200" b="1" dirty="0" smtClean="0"/>
              <a:t>&gt; N</a:t>
            </a:r>
            <a:r>
              <a:rPr lang="en-US" altLang="zh-CN" sz="3200" b="1" baseline="-25000" dirty="0" smtClean="0"/>
              <a:t>1</a:t>
            </a:r>
            <a:r>
              <a:rPr lang="en-US" altLang="zh-CN" sz="3200" b="1" dirty="0" smtClean="0"/>
              <a:t> V</a:t>
            </a:r>
            <a:r>
              <a:rPr lang="en-US" altLang="zh-CN" sz="3200" b="1" baseline="-25000" dirty="0" smtClean="0"/>
              <a:t>2</a:t>
            </a:r>
            <a:r>
              <a:rPr lang="en-US" altLang="zh-CN" sz="3200" b="1" dirty="0"/>
              <a:t> </a:t>
            </a:r>
            <a:r>
              <a:rPr lang="en-US" altLang="zh-CN" sz="3200" b="1" dirty="0" smtClean="0"/>
              <a:t>≠ V</a:t>
            </a:r>
            <a:r>
              <a:rPr lang="en-US" altLang="zh-CN" sz="3200" b="1" baseline="-25000" dirty="0" smtClean="0"/>
              <a:t>1</a:t>
            </a:r>
            <a:endParaRPr kumimoji="0" lang="zh-CN" altLang="en-US" sz="32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9" name="文本框 28"/>
          <p:cNvSpPr txBox="1"/>
          <p:nvPr/>
        </p:nvSpPr>
        <p:spPr>
          <a:xfrm>
            <a:off x="1111235" y="-74269"/>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Tree>
    <p:extLst>
      <p:ext uri="{BB962C8B-B14F-4D97-AF65-F5344CB8AC3E}">
        <p14:creationId xmlns:p14="http://schemas.microsoft.com/office/powerpoint/2010/main" val="115833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 grpId="0" animBg="1"/>
      <p:bldP spid="12" grpId="0" animBg="1"/>
      <p:bldP spid="13" grpId="0" animBg="1"/>
      <p:bldP spid="20" grpId="0" animBg="1"/>
      <p:bldP spid="21" grpId="0" animBg="1"/>
      <p:bldP spid="22" grpId="0" animBg="1"/>
      <p:bldP spid="23" grpId="0" animBg="1"/>
      <p:bldP spid="24" grpId="0" animBg="1"/>
      <p:bldP spid="4" grpId="0"/>
      <p:bldP spid="35" grpId="0"/>
      <p:bldP spid="36" grpId="0"/>
      <p:bldP spid="37" grpId="0"/>
      <p:bldP spid="63" grpId="0"/>
      <p:bldP spid="6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流程图: 可选过程 11"/>
          <p:cNvSpPr/>
          <p:nvPr/>
        </p:nvSpPr>
        <p:spPr bwMode="auto">
          <a:xfrm>
            <a:off x="269978" y="792606"/>
            <a:ext cx="8688387" cy="1244946"/>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P2</a:t>
            </a:r>
            <a:r>
              <a:rPr lang="en-US" altLang="zh-CN" sz="2400" b="1" baseline="30000" dirty="0">
                <a:solidFill>
                  <a:srgbClr val="FF0000"/>
                </a:solidFill>
                <a:latin typeface="Arial" panose="020B0604020202020204" pitchFamily="34" charset="0"/>
                <a:ea typeface="宋体" panose="02010600030101010101" pitchFamily="2" charset="-122"/>
              </a:rPr>
              <a:t>b</a:t>
            </a: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If</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 a proposal with value V is chosen, then every higher-numbered proposal </a:t>
            </a:r>
            <a:r>
              <a:rPr kumimoji="0" lang="en-US" altLang="zh-CN" sz="2400" b="1" i="0" u="none" strike="noStrike" cap="none" normalizeH="0" dirty="0" smtClean="0">
                <a:ln>
                  <a:noFill/>
                </a:ln>
                <a:solidFill>
                  <a:srgbClr val="FFFF00"/>
                </a:solidFill>
                <a:effectLst/>
                <a:latin typeface="Arial" panose="020B0604020202020204" pitchFamily="34" charset="0"/>
                <a:ea typeface="宋体" panose="02010600030101010101" pitchFamily="2" charset="-122"/>
              </a:rPr>
              <a:t>issued by any proposer </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has value V</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3" name="下箭头 12"/>
          <p:cNvSpPr/>
          <p:nvPr/>
        </p:nvSpPr>
        <p:spPr bwMode="auto">
          <a:xfrm>
            <a:off x="4021004" y="300761"/>
            <a:ext cx="401444" cy="457219"/>
          </a:xfrm>
          <a:prstGeom prst="down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4" name="下箭头 13"/>
          <p:cNvSpPr/>
          <p:nvPr/>
        </p:nvSpPr>
        <p:spPr bwMode="auto">
          <a:xfrm>
            <a:off x="4069315" y="2072178"/>
            <a:ext cx="401444" cy="457219"/>
          </a:xfrm>
          <a:prstGeom prst="down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5" name="流程图: 可选过程 14"/>
          <p:cNvSpPr/>
          <p:nvPr/>
        </p:nvSpPr>
        <p:spPr bwMode="auto">
          <a:xfrm>
            <a:off x="269978" y="2564023"/>
            <a:ext cx="8688387" cy="3227177"/>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P2</a:t>
            </a:r>
            <a:r>
              <a:rPr lang="en-US" altLang="zh-CN" sz="2400" b="1" baseline="30000" dirty="0" smtClean="0">
                <a:solidFill>
                  <a:srgbClr val="FF0000"/>
                </a:solidFill>
                <a:latin typeface="Arial" panose="020B0604020202020204" pitchFamily="34" charset="0"/>
                <a:ea typeface="宋体" panose="02010600030101010101" pitchFamily="2" charset="-122"/>
              </a:rPr>
              <a:t>c</a:t>
            </a:r>
            <a:r>
              <a:rPr kumimoji="0" lang="zh-CN" altLang="en-US"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For</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 any V and N, if a proposal with value V and number N is issued, then </a:t>
            </a:r>
            <a:r>
              <a:rPr lang="en-US" altLang="zh-CN" sz="2400" b="1" dirty="0" smtClean="0">
                <a:latin typeface="Arial" panose="020B0604020202020204" pitchFamily="34" charset="0"/>
                <a:ea typeface="宋体" panose="02010600030101010101" pitchFamily="2" charset="-122"/>
              </a:rPr>
              <a:t>there is a set S consisting of a majority of acceptors such that either</a:t>
            </a:r>
          </a:p>
          <a:p>
            <a:pPr marL="457200" marR="0" indent="-4572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AutoNum type="alphaLcParenBoth"/>
            </a:pP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No acceptor in S has accepted any proposal numbered less than N, or</a:t>
            </a:r>
          </a:p>
          <a:p>
            <a:pPr marL="457200" marR="0" indent="-4572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AutoNum type="alphaLcParenBoth"/>
            </a:pPr>
            <a:r>
              <a:rPr lang="en-US" altLang="zh-CN" sz="2400" b="1" dirty="0" smtClean="0">
                <a:latin typeface="Arial" panose="020B0604020202020204" pitchFamily="34" charset="0"/>
                <a:ea typeface="宋体" panose="02010600030101010101" pitchFamily="2" charset="-122"/>
              </a:rPr>
              <a:t>V is the value of the highest-numbered proposal among all proposals numbered less than N accepted by the acceptors in S.</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 </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6" name="文本框 5"/>
          <p:cNvSpPr txBox="1"/>
          <p:nvPr/>
        </p:nvSpPr>
        <p:spPr>
          <a:xfrm>
            <a:off x="1274165" y="81362"/>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Tree>
    <p:extLst>
      <p:ext uri="{BB962C8B-B14F-4D97-AF65-F5344CB8AC3E}">
        <p14:creationId xmlns:p14="http://schemas.microsoft.com/office/powerpoint/2010/main" val="39118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84223" y="15503"/>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
        <p:nvSpPr>
          <p:cNvPr id="3" name="文本框 2"/>
          <p:cNvSpPr txBox="1"/>
          <p:nvPr/>
        </p:nvSpPr>
        <p:spPr>
          <a:xfrm>
            <a:off x="1644373" y="538723"/>
            <a:ext cx="4389120" cy="584775"/>
          </a:xfrm>
          <a:prstGeom prst="rect">
            <a:avLst/>
          </a:prstGeom>
          <a:noFill/>
        </p:spPr>
        <p:txBody>
          <a:bodyPr wrap="square" rtlCol="0">
            <a:spAutoFit/>
          </a:bodyPr>
          <a:lstStyle/>
          <a:p>
            <a:r>
              <a:rPr lang="en-US" altLang="zh-CN" sz="3200" b="1" dirty="0" smtClean="0"/>
              <a:t>Issuing proposals</a:t>
            </a:r>
            <a:endParaRPr lang="zh-CN" altLang="en-US" sz="3200" b="1" dirty="0"/>
          </a:p>
        </p:txBody>
      </p:sp>
      <p:sp>
        <p:nvSpPr>
          <p:cNvPr id="4" name="圆角矩形 3"/>
          <p:cNvSpPr/>
          <p:nvPr/>
        </p:nvSpPr>
        <p:spPr bwMode="auto">
          <a:xfrm>
            <a:off x="1830993" y="1279935"/>
            <a:ext cx="2495679" cy="51295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Has been accepted</a:t>
            </a: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6" name="圆角矩形 5"/>
          <p:cNvSpPr/>
          <p:nvPr/>
        </p:nvSpPr>
        <p:spPr bwMode="auto">
          <a:xfrm>
            <a:off x="1830993" y="1949328"/>
            <a:ext cx="2495679" cy="51295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Wil be accepted</a:t>
            </a: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7" name="圆角矩形 6"/>
          <p:cNvSpPr/>
          <p:nvPr/>
        </p:nvSpPr>
        <p:spPr bwMode="auto">
          <a:xfrm>
            <a:off x="225219" y="1563063"/>
            <a:ext cx="1309836" cy="459655"/>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Proposal</a:t>
            </a: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9" name="直接箭头连接符 8"/>
          <p:cNvCxnSpPr>
            <a:stCxn id="4" idx="3"/>
          </p:cNvCxnSpPr>
          <p:nvPr/>
        </p:nvCxnSpPr>
        <p:spPr bwMode="auto">
          <a:xfrm>
            <a:off x="4326672" y="1536413"/>
            <a:ext cx="512957" cy="0"/>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10" name="圆角矩形 9"/>
          <p:cNvSpPr/>
          <p:nvPr/>
        </p:nvSpPr>
        <p:spPr bwMode="auto">
          <a:xfrm>
            <a:off x="4839629" y="1279935"/>
            <a:ext cx="1193864" cy="51295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easy</a:t>
            </a: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1" name="直接箭头连接符 10"/>
          <p:cNvCxnSpPr/>
          <p:nvPr/>
        </p:nvCxnSpPr>
        <p:spPr bwMode="auto">
          <a:xfrm>
            <a:off x="4326672" y="2268676"/>
            <a:ext cx="512957" cy="0"/>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12" name="圆角矩形 11"/>
          <p:cNvSpPr/>
          <p:nvPr/>
        </p:nvSpPr>
        <p:spPr bwMode="auto">
          <a:xfrm>
            <a:off x="4839628" y="1949328"/>
            <a:ext cx="4304372" cy="51295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Request response</a:t>
            </a:r>
            <a:r>
              <a:rPr kumimoji="0" lang="en-US" altLang="zh-CN" sz="1800" b="0" i="0" u="none" strike="noStrike" cap="none" normalizeH="0" dirty="0" smtClean="0">
                <a:ln>
                  <a:noFill/>
                </a:ln>
                <a:solidFill>
                  <a:schemeClr val="bg1"/>
                </a:solidFill>
                <a:effectLst/>
                <a:latin typeface="Arial" panose="020B0604020202020204" pitchFamily="34" charset="0"/>
                <a:ea typeface="宋体" panose="02010600030101010101" pitchFamily="2" charset="-122"/>
              </a:rPr>
              <a:t> </a:t>
            </a: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instead of </a:t>
            </a:r>
            <a:r>
              <a:rPr kumimoji="0" lang="en-US" altLang="zh-CN" sz="1800" b="0" i="0" u="none" strike="noStrike" cap="none" normalizeH="0" dirty="0" smtClean="0">
                <a:ln>
                  <a:noFill/>
                </a:ln>
                <a:solidFill>
                  <a:schemeClr val="bg1"/>
                </a:solidFill>
                <a:effectLst/>
                <a:latin typeface="Arial" panose="020B0604020202020204" pitchFamily="34" charset="0"/>
                <a:ea typeface="宋体" panose="02010600030101010101" pitchFamily="2" charset="-122"/>
              </a:rPr>
              <a:t> predicting</a:t>
            </a: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4" name="椭圆 13"/>
          <p:cNvSpPr/>
          <p:nvPr/>
        </p:nvSpPr>
        <p:spPr bwMode="auto">
          <a:xfrm>
            <a:off x="357623" y="3194546"/>
            <a:ext cx="1045028" cy="943643"/>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5" name="椭圆 14"/>
          <p:cNvSpPr/>
          <p:nvPr/>
        </p:nvSpPr>
        <p:spPr bwMode="auto">
          <a:xfrm>
            <a:off x="4060636" y="3194546"/>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7" name="直接箭头连接符 16"/>
          <p:cNvCxnSpPr>
            <a:stCxn id="14" idx="6"/>
            <a:endCxn id="15" idx="2"/>
          </p:cNvCxnSpPr>
          <p:nvPr/>
        </p:nvCxnSpPr>
        <p:spPr bwMode="auto">
          <a:xfrm>
            <a:off x="1402651" y="3666368"/>
            <a:ext cx="2657985" cy="0"/>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1" name="文本框 20"/>
          <p:cNvSpPr txBox="1"/>
          <p:nvPr/>
        </p:nvSpPr>
        <p:spPr>
          <a:xfrm>
            <a:off x="2075510" y="3194546"/>
            <a:ext cx="1210794" cy="369332"/>
          </a:xfrm>
          <a:prstGeom prst="rect">
            <a:avLst/>
          </a:prstGeom>
          <a:noFill/>
        </p:spPr>
        <p:txBody>
          <a:bodyPr wrap="square" rtlCol="0">
            <a:spAutoFit/>
          </a:bodyPr>
          <a:lstStyle/>
          <a:p>
            <a:r>
              <a:rPr lang="en-US" altLang="zh-CN" dirty="0" smtClean="0"/>
              <a:t>number N</a:t>
            </a:r>
            <a:endParaRPr lang="zh-CN" altLang="en-US" dirty="0"/>
          </a:p>
        </p:txBody>
      </p:sp>
      <p:cxnSp>
        <p:nvCxnSpPr>
          <p:cNvPr id="22" name="直接箭头连接符 21"/>
          <p:cNvCxnSpPr/>
          <p:nvPr/>
        </p:nvCxnSpPr>
        <p:spPr bwMode="auto">
          <a:xfrm flipH="1">
            <a:off x="1402651" y="3836020"/>
            <a:ext cx="2657985" cy="0"/>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7" name="文本框 26"/>
          <p:cNvSpPr txBox="1"/>
          <p:nvPr/>
        </p:nvSpPr>
        <p:spPr>
          <a:xfrm>
            <a:off x="2108151" y="3895491"/>
            <a:ext cx="1058219" cy="369332"/>
          </a:xfrm>
          <a:prstGeom prst="rect">
            <a:avLst/>
          </a:prstGeom>
          <a:noFill/>
        </p:spPr>
        <p:txBody>
          <a:bodyPr wrap="square" rtlCol="0">
            <a:spAutoFit/>
          </a:bodyPr>
          <a:lstStyle/>
          <a:p>
            <a:r>
              <a:rPr lang="en-US" altLang="zh-CN" dirty="0" smtClean="0"/>
              <a:t>response</a:t>
            </a:r>
            <a:endParaRPr lang="zh-CN" altLang="en-US" dirty="0"/>
          </a:p>
        </p:txBody>
      </p:sp>
      <p:sp>
        <p:nvSpPr>
          <p:cNvPr id="28" name="圆角矩形 27"/>
          <p:cNvSpPr/>
          <p:nvPr/>
        </p:nvSpPr>
        <p:spPr bwMode="auto">
          <a:xfrm>
            <a:off x="5594685" y="2897598"/>
            <a:ext cx="3138769" cy="1731756"/>
          </a:xfrm>
          <a:prstGeom prst="roundRect">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285750" marR="0" indent="-285750" algn="l" defTabSz="457200" rtl="0" eaLnBrk="1" fontAlgn="base" latinLnBrk="0" hangingPunct="1">
              <a:lnSpc>
                <a:spcPct val="100000"/>
              </a:lnSpc>
              <a:spcBef>
                <a:spcPct val="0"/>
              </a:spcBef>
              <a:spcAft>
                <a:spcPct val="0"/>
              </a:spcAft>
              <a:buClr>
                <a:srgbClr val="000000"/>
              </a:buClr>
              <a:buSzPct val="100000"/>
              <a:buFont typeface="Wingdings" panose="05000000000000000000" pitchFamily="2" charset="2"/>
              <a:buChar char="l"/>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Promise</a:t>
            </a:r>
            <a:r>
              <a:rPr kumimoji="0" lang="en-US" altLang="zh-CN" sz="1800" b="0" i="0" u="none" strike="noStrike" cap="none" normalizeH="0" dirty="0" smtClean="0">
                <a:ln>
                  <a:noFill/>
                </a:ln>
                <a:solidFill>
                  <a:schemeClr val="bg1"/>
                </a:solidFill>
                <a:effectLst/>
                <a:latin typeface="Arial" panose="020B0604020202020204" pitchFamily="34" charset="0"/>
                <a:ea typeface="宋体" panose="02010600030101010101" pitchFamily="2" charset="-122"/>
              </a:rPr>
              <a:t> never accept a proposal numbered less than N</a:t>
            </a:r>
          </a:p>
          <a:p>
            <a:pPr marL="285750" marR="0" indent="-285750" algn="l" defTabSz="457200" rtl="0" eaLnBrk="1" fontAlgn="base" latinLnBrk="0" hangingPunct="1">
              <a:lnSpc>
                <a:spcPct val="100000"/>
              </a:lnSpc>
              <a:spcBef>
                <a:spcPct val="0"/>
              </a:spcBef>
              <a:spcAft>
                <a:spcPct val="0"/>
              </a:spcAft>
              <a:buClr>
                <a:srgbClr val="000000"/>
              </a:buClr>
              <a:buSzPct val="100000"/>
              <a:buFont typeface="Wingdings" panose="05000000000000000000" pitchFamily="2" charset="2"/>
              <a:buChar char="l"/>
            </a:pPr>
            <a:r>
              <a:rPr lang="en-US" altLang="zh-CN" dirty="0" smtClean="0">
                <a:solidFill>
                  <a:schemeClr val="bg1"/>
                </a:solidFill>
                <a:latin typeface="Arial" panose="020B0604020202020204" pitchFamily="34" charset="0"/>
                <a:ea typeface="宋体" panose="02010600030101010101" pitchFamily="2" charset="-122"/>
              </a:rPr>
              <a:t>The highest-numbered  accepted proposal</a:t>
            </a:r>
            <a:endParaRPr kumimoji="0" lang="en-US" altLang="zh-CN" sz="1800" b="0" i="0" u="none" strike="noStrike" cap="none" normalizeH="0" dirty="0" smtClean="0">
              <a:ln>
                <a:noFill/>
              </a:ln>
              <a:solidFill>
                <a:schemeClr val="bg1"/>
              </a:solidFill>
              <a:effectLst/>
              <a:latin typeface="Arial" panose="020B0604020202020204" pitchFamily="34" charset="0"/>
              <a:ea typeface="宋体" panose="02010600030101010101" pitchFamily="2" charset="-122"/>
            </a:endParaRPr>
          </a:p>
          <a:p>
            <a:pPr marR="0" algn="l" defTabSz="457200" rtl="0" eaLnBrk="1" fontAlgn="base" latinLnBrk="0" hangingPunct="1">
              <a:lnSpc>
                <a:spcPct val="100000"/>
              </a:lnSpc>
              <a:spcBef>
                <a:spcPct val="0"/>
              </a:spcBef>
              <a:spcAft>
                <a:spcPct val="0"/>
              </a:spcAft>
              <a:buClr>
                <a:srgbClr val="000000"/>
              </a:buClr>
              <a:buSzPct val="100000"/>
            </a:pP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9" name="圆角矩形 28"/>
          <p:cNvSpPr/>
          <p:nvPr/>
        </p:nvSpPr>
        <p:spPr bwMode="auto">
          <a:xfrm>
            <a:off x="1402651" y="4264824"/>
            <a:ext cx="2124320" cy="516184"/>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effectLst/>
                <a:latin typeface="Arial" panose="020B0604020202020204" pitchFamily="34" charset="0"/>
                <a:ea typeface="宋体" panose="02010600030101010101" pitchFamily="2" charset="-122"/>
              </a:rPr>
              <a:t>Prepare request</a:t>
            </a:r>
            <a:endParaRPr kumimoji="0" lang="zh-CN" altLang="en-US" sz="1800" b="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1" name="椭圆 30"/>
          <p:cNvSpPr/>
          <p:nvPr/>
        </p:nvSpPr>
        <p:spPr bwMode="auto">
          <a:xfrm>
            <a:off x="268912" y="5307547"/>
            <a:ext cx="1045028" cy="943643"/>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2" name="椭圆 31"/>
          <p:cNvSpPr/>
          <p:nvPr/>
        </p:nvSpPr>
        <p:spPr bwMode="auto">
          <a:xfrm>
            <a:off x="3971925" y="5307547"/>
            <a:ext cx="1045028" cy="94364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Acceptor</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33" name="直接箭头连接符 32"/>
          <p:cNvCxnSpPr>
            <a:stCxn id="31" idx="6"/>
            <a:endCxn id="32" idx="2"/>
          </p:cNvCxnSpPr>
          <p:nvPr/>
        </p:nvCxnSpPr>
        <p:spPr bwMode="auto">
          <a:xfrm>
            <a:off x="1313940" y="5779369"/>
            <a:ext cx="2657985" cy="0"/>
          </a:xfrm>
          <a:prstGeom prst="straightConnector1">
            <a:avLst/>
          </a:prstGeom>
          <a:ln>
            <a:solidFill>
              <a:srgbClr val="00B0F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4" name="文本框 33"/>
          <p:cNvSpPr txBox="1"/>
          <p:nvPr/>
        </p:nvSpPr>
        <p:spPr>
          <a:xfrm>
            <a:off x="1555662" y="5307547"/>
            <a:ext cx="2258554" cy="369332"/>
          </a:xfrm>
          <a:prstGeom prst="rect">
            <a:avLst/>
          </a:prstGeom>
          <a:noFill/>
        </p:spPr>
        <p:txBody>
          <a:bodyPr wrap="square" rtlCol="0">
            <a:spAutoFit/>
          </a:bodyPr>
          <a:lstStyle/>
          <a:p>
            <a:r>
              <a:rPr lang="en-US" altLang="zh-CN" dirty="0" smtClean="0"/>
              <a:t>Proposal [N,V]</a:t>
            </a:r>
            <a:endParaRPr lang="zh-CN" altLang="en-US" dirty="0"/>
          </a:p>
        </p:txBody>
      </p:sp>
      <p:cxnSp>
        <p:nvCxnSpPr>
          <p:cNvPr id="35" name="直接箭头连接符 34"/>
          <p:cNvCxnSpPr/>
          <p:nvPr/>
        </p:nvCxnSpPr>
        <p:spPr bwMode="auto">
          <a:xfrm flipH="1">
            <a:off x="1313940" y="5949021"/>
            <a:ext cx="2657985" cy="0"/>
          </a:xfrm>
          <a:prstGeom prst="straightConnector1">
            <a:avLst/>
          </a:prstGeom>
          <a:ln>
            <a:solidFill>
              <a:srgbClr val="FF33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36" name="圆角矩形 35"/>
          <p:cNvSpPr/>
          <p:nvPr/>
        </p:nvSpPr>
        <p:spPr bwMode="auto">
          <a:xfrm>
            <a:off x="1501044" y="6286122"/>
            <a:ext cx="2124320" cy="549773"/>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effectLst/>
                <a:latin typeface="Arial" panose="020B0604020202020204" pitchFamily="34" charset="0"/>
                <a:ea typeface="宋体" panose="02010600030101010101" pitchFamily="2" charset="-122"/>
              </a:rPr>
              <a:t>Accept</a:t>
            </a:r>
            <a:r>
              <a:rPr kumimoji="0" lang="en-US" altLang="zh-CN" sz="1800" b="0" i="0" u="none" strike="noStrike" cap="none" normalizeH="0" dirty="0" smtClean="0">
                <a:ln>
                  <a:noFill/>
                </a:ln>
                <a:effectLst/>
                <a:latin typeface="Arial" panose="020B0604020202020204" pitchFamily="34" charset="0"/>
                <a:ea typeface="宋体" panose="02010600030101010101" pitchFamily="2" charset="-122"/>
              </a:rPr>
              <a:t> </a:t>
            </a:r>
            <a:r>
              <a:rPr kumimoji="0" lang="en-US" altLang="zh-CN" sz="1800" b="0" i="0" u="none" strike="noStrike" cap="none" normalizeH="0" baseline="0" dirty="0" smtClean="0">
                <a:ln>
                  <a:noFill/>
                </a:ln>
                <a:effectLst/>
                <a:latin typeface="Arial" panose="020B0604020202020204" pitchFamily="34" charset="0"/>
                <a:ea typeface="宋体" panose="02010600030101010101" pitchFamily="2" charset="-122"/>
              </a:rPr>
              <a:t>request</a:t>
            </a:r>
            <a:endParaRPr kumimoji="0" lang="zh-CN" altLang="en-US" sz="1800" b="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37" name="圆角矩形 36"/>
          <p:cNvSpPr/>
          <p:nvPr/>
        </p:nvSpPr>
        <p:spPr bwMode="auto">
          <a:xfrm>
            <a:off x="3696733" y="4469619"/>
            <a:ext cx="1897952" cy="516184"/>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May be different</a:t>
            </a: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39" name="直接箭头连接符 38"/>
          <p:cNvCxnSpPr>
            <a:stCxn id="15" idx="4"/>
            <a:endCxn id="37" idx="0"/>
          </p:cNvCxnSpPr>
          <p:nvPr/>
        </p:nvCxnSpPr>
        <p:spPr bwMode="auto">
          <a:xfrm>
            <a:off x="4583150" y="4138189"/>
            <a:ext cx="62559" cy="331430"/>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3" name="直接箭头连接符 42"/>
          <p:cNvCxnSpPr>
            <a:stCxn id="32" idx="0"/>
            <a:endCxn id="37" idx="2"/>
          </p:cNvCxnSpPr>
          <p:nvPr/>
        </p:nvCxnSpPr>
        <p:spPr bwMode="auto">
          <a:xfrm flipV="1">
            <a:off x="4494439" y="4985803"/>
            <a:ext cx="151270" cy="321744"/>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44" name="圆角矩形 43"/>
          <p:cNvSpPr/>
          <p:nvPr/>
        </p:nvSpPr>
        <p:spPr bwMode="auto">
          <a:xfrm>
            <a:off x="5520156" y="4985803"/>
            <a:ext cx="3287826" cy="1731756"/>
          </a:xfrm>
          <a:prstGeom prst="roundRect">
            <a:avLst/>
          </a:prstGeom>
          <a:solidFill>
            <a:srgbClr val="00B0F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285750" marR="0" indent="-285750" algn="l" defTabSz="457200" rtl="0" eaLnBrk="1" fontAlgn="base" latinLnBrk="0" hangingPunct="1">
              <a:lnSpc>
                <a:spcPct val="100000"/>
              </a:lnSpc>
              <a:spcBef>
                <a:spcPct val="0"/>
              </a:spcBef>
              <a:spcAft>
                <a:spcPct val="0"/>
              </a:spcAft>
              <a:buClr>
                <a:srgbClr val="000000"/>
              </a:buClr>
              <a:buSzPct val="100000"/>
              <a:buFont typeface="Wingdings" panose="05000000000000000000" pitchFamily="2" charset="2"/>
              <a:buChar char="l"/>
            </a:pPr>
            <a:r>
              <a:rPr lang="en-US" altLang="zh-CN" dirty="0" smtClean="0">
                <a:solidFill>
                  <a:schemeClr val="bg1"/>
                </a:solidFill>
                <a:latin typeface="Arial" panose="020B0604020202020204" pitchFamily="34" charset="0"/>
                <a:ea typeface="宋体" panose="02010600030101010101" pitchFamily="2" charset="-122"/>
              </a:rPr>
              <a:t>The value of the highest-numbered proposal in responses</a:t>
            </a:r>
          </a:p>
          <a:p>
            <a:pPr marL="285750" marR="0" indent="-285750" algn="l" defTabSz="457200" rtl="0" eaLnBrk="1" fontAlgn="base" latinLnBrk="0" hangingPunct="1">
              <a:lnSpc>
                <a:spcPct val="100000"/>
              </a:lnSpc>
              <a:spcBef>
                <a:spcPct val="0"/>
              </a:spcBef>
              <a:spcAft>
                <a:spcPct val="0"/>
              </a:spcAft>
              <a:buClr>
                <a:srgbClr val="000000"/>
              </a:buClr>
              <a:buSzPct val="100000"/>
              <a:buFont typeface="Wingdings" panose="05000000000000000000" pitchFamily="2" charset="2"/>
              <a:buChar char="l"/>
            </a:pPr>
            <a:r>
              <a:rPr lang="en-US" altLang="zh-CN" dirty="0" smtClean="0">
                <a:solidFill>
                  <a:schemeClr val="bg1"/>
                </a:solidFill>
                <a:latin typeface="Arial" panose="020B0604020202020204" pitchFamily="34" charset="0"/>
                <a:ea typeface="宋体" panose="02010600030101010101" pitchFamily="2" charset="-122"/>
              </a:rPr>
              <a:t>Any value of no proposal</a:t>
            </a:r>
            <a:endParaRPr kumimoji="0" lang="en-US" altLang="zh-CN" sz="1800" b="0" i="0" u="none" strike="noStrike" cap="none" normalizeH="0" dirty="0" smtClean="0">
              <a:ln>
                <a:noFill/>
              </a:ln>
              <a:solidFill>
                <a:schemeClr val="bg1"/>
              </a:solidFill>
              <a:effectLst/>
              <a:latin typeface="Arial" panose="020B0604020202020204" pitchFamily="34" charset="0"/>
              <a:ea typeface="宋体" panose="02010600030101010101" pitchFamily="2" charset="-122"/>
            </a:endParaRPr>
          </a:p>
          <a:p>
            <a:pPr marR="0" algn="l" defTabSz="457200" rtl="0" eaLnBrk="1" fontAlgn="base" latinLnBrk="0" hangingPunct="1">
              <a:lnSpc>
                <a:spcPct val="100000"/>
              </a:lnSpc>
              <a:spcBef>
                <a:spcPct val="0"/>
              </a:spcBef>
              <a:spcAft>
                <a:spcPct val="0"/>
              </a:spcAft>
              <a:buClr>
                <a:srgbClr val="000000"/>
              </a:buClr>
              <a:buSzPct val="100000"/>
            </a:pPr>
            <a:endParaRPr kumimoji="0" lang="zh-CN" altLang="en-US" sz="18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8" name="直接箭头连接符 7"/>
          <p:cNvCxnSpPr>
            <a:stCxn id="7" idx="3"/>
            <a:endCxn id="4" idx="1"/>
          </p:cNvCxnSpPr>
          <p:nvPr/>
        </p:nvCxnSpPr>
        <p:spPr bwMode="auto">
          <a:xfrm flipV="1">
            <a:off x="1535055" y="1536413"/>
            <a:ext cx="295938" cy="256478"/>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6" name="直接箭头连接符 15"/>
          <p:cNvCxnSpPr>
            <a:endCxn id="6" idx="1"/>
          </p:cNvCxnSpPr>
          <p:nvPr/>
        </p:nvCxnSpPr>
        <p:spPr bwMode="auto">
          <a:xfrm>
            <a:off x="1501044" y="1949328"/>
            <a:ext cx="329949" cy="256478"/>
          </a:xfrm>
          <a:prstGeom prst="straightConnector1">
            <a:avLst/>
          </a:prstGeom>
          <a:solidFill>
            <a:srgbClr val="00B8FF"/>
          </a:solidFill>
          <a:ln w="952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5441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7" grpId="0"/>
      <p:bldP spid="28" grpId="0" animBg="1"/>
      <p:bldP spid="29" grpId="0" animBg="1"/>
      <p:bldP spid="34" grpId="0"/>
      <p:bldP spid="36" grpId="0" animBg="1"/>
      <p:bldP spid="37"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可选过程 4"/>
          <p:cNvSpPr/>
          <p:nvPr/>
        </p:nvSpPr>
        <p:spPr bwMode="auto">
          <a:xfrm>
            <a:off x="389819" y="1646718"/>
            <a:ext cx="8424291" cy="854816"/>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3300"/>
                </a:solidFill>
                <a:effectLst/>
                <a:latin typeface="Arial" panose="020B0604020202020204" pitchFamily="34" charset="0"/>
                <a:ea typeface="宋体" panose="02010600030101010101" pitchFamily="2" charset="-122"/>
              </a:rPr>
              <a:t>P1: </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An acceptor must accept the first proposal that it receives</a:t>
            </a:r>
            <a:endParaRPr kumimoji="0" lang="zh-CN" altLang="en-US" sz="24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6" name="下箭头 5"/>
          <p:cNvSpPr/>
          <p:nvPr/>
        </p:nvSpPr>
        <p:spPr bwMode="auto">
          <a:xfrm>
            <a:off x="4112866" y="2501534"/>
            <a:ext cx="489098" cy="678905"/>
          </a:xfrm>
          <a:prstGeom prst="down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7" name="流程图: 可选过程 6"/>
          <p:cNvSpPr/>
          <p:nvPr/>
        </p:nvSpPr>
        <p:spPr bwMode="auto">
          <a:xfrm>
            <a:off x="389819" y="3180439"/>
            <a:ext cx="8424291" cy="1275907"/>
          </a:xfrm>
          <a:prstGeom prst="flowChartAlternateProcess">
            <a:avLst/>
          </a:prstGeom>
          <a:solidFill>
            <a:schemeClr val="bg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rgbClr val="FF3300"/>
                </a:solidFill>
                <a:effectLst/>
                <a:latin typeface="Arial" panose="020B0604020202020204" pitchFamily="34" charset="0"/>
                <a:ea typeface="宋体" panose="02010600030101010101" pitchFamily="2" charset="-122"/>
              </a:rPr>
              <a:t>P1</a:t>
            </a:r>
            <a:r>
              <a:rPr kumimoji="0" lang="en-US" altLang="zh-CN" sz="2400" b="1" i="0" u="none" strike="noStrike" cap="none" normalizeH="0" baseline="30000" dirty="0" smtClean="0">
                <a:ln>
                  <a:noFill/>
                </a:ln>
                <a:solidFill>
                  <a:srgbClr val="FF3300"/>
                </a:solidFill>
                <a:effectLst/>
                <a:latin typeface="Arial" panose="020B0604020202020204" pitchFamily="34" charset="0"/>
                <a:ea typeface="宋体" panose="02010600030101010101" pitchFamily="2" charset="-122"/>
              </a:rPr>
              <a:t>a</a:t>
            </a:r>
            <a:r>
              <a:rPr kumimoji="0" lang="en-US" altLang="zh-CN" sz="2400" b="1" i="0" u="none" strike="noStrike" cap="none" normalizeH="0" baseline="0" dirty="0" smtClean="0">
                <a:ln>
                  <a:noFill/>
                </a:ln>
                <a:solidFill>
                  <a:srgbClr val="FF3300"/>
                </a:solidFill>
                <a:effectLst/>
                <a:latin typeface="Arial" panose="020B0604020202020204" pitchFamily="34" charset="0"/>
                <a:ea typeface="宋体" panose="02010600030101010101" pitchFamily="2" charset="-122"/>
              </a:rPr>
              <a:t>: </a:t>
            </a:r>
            <a:r>
              <a:rPr kumimoji="0" lang="en-US" altLang="zh-CN" sz="2400" b="1" i="0" u="none" strike="noStrike" cap="none" normalizeH="0" baseline="0" dirty="0" smtClean="0">
                <a:ln>
                  <a:noFill/>
                </a:ln>
                <a:effectLst/>
                <a:latin typeface="Arial" panose="020B0604020202020204" pitchFamily="34" charset="0"/>
                <a:ea typeface="宋体" panose="02010600030101010101" pitchFamily="2" charset="-122"/>
              </a:rPr>
              <a:t>An acceptor</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 can accept a proposal numbered N if it has </a:t>
            </a:r>
            <a:r>
              <a:rPr kumimoji="0" lang="en-US" altLang="zh-CN" sz="2400" b="1" i="0" u="none" strike="noStrike" cap="none" normalizeH="0" dirty="0" smtClean="0">
                <a:ln>
                  <a:noFill/>
                </a:ln>
                <a:solidFill>
                  <a:srgbClr val="FFFF00"/>
                </a:solidFill>
                <a:effectLst/>
                <a:latin typeface="Arial" panose="020B0604020202020204" pitchFamily="34" charset="0"/>
                <a:ea typeface="宋体" panose="02010600030101010101" pitchFamily="2" charset="-122"/>
              </a:rPr>
              <a:t>not responded to a prepare request </a:t>
            </a:r>
            <a:r>
              <a:rPr kumimoji="0" lang="en-US" altLang="zh-CN" sz="2400" b="1" i="0" u="none" strike="noStrike" cap="none" normalizeH="0" dirty="0" smtClean="0">
                <a:ln>
                  <a:noFill/>
                </a:ln>
                <a:effectLst/>
                <a:latin typeface="Arial" panose="020B0604020202020204" pitchFamily="34" charset="0"/>
                <a:ea typeface="宋体" panose="02010600030101010101" pitchFamily="2" charset="-122"/>
              </a:rPr>
              <a:t>having a number </a:t>
            </a:r>
            <a:r>
              <a:rPr kumimoji="0" lang="en-US" altLang="zh-CN" sz="2400" b="1" i="0" u="none" strike="noStrike" cap="none" normalizeH="0" dirty="0" smtClean="0">
                <a:ln>
                  <a:noFill/>
                </a:ln>
                <a:solidFill>
                  <a:srgbClr val="FFFF00"/>
                </a:solidFill>
                <a:effectLst/>
                <a:latin typeface="Arial" panose="020B0604020202020204" pitchFamily="34" charset="0"/>
                <a:ea typeface="宋体" panose="02010600030101010101" pitchFamily="2" charset="-122"/>
              </a:rPr>
              <a:t>greater than N</a:t>
            </a:r>
            <a:endParaRPr kumimoji="0" lang="zh-CN" altLang="en-US" sz="24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endParaRPr>
          </a:p>
        </p:txBody>
      </p:sp>
      <p:sp>
        <p:nvSpPr>
          <p:cNvPr id="8" name="文本框 7"/>
          <p:cNvSpPr txBox="1"/>
          <p:nvPr/>
        </p:nvSpPr>
        <p:spPr>
          <a:xfrm>
            <a:off x="1346662" y="538723"/>
            <a:ext cx="4389120" cy="584775"/>
          </a:xfrm>
          <a:prstGeom prst="rect">
            <a:avLst/>
          </a:prstGeom>
          <a:noFill/>
        </p:spPr>
        <p:txBody>
          <a:bodyPr wrap="square" rtlCol="0">
            <a:spAutoFit/>
          </a:bodyPr>
          <a:lstStyle/>
          <a:p>
            <a:r>
              <a:rPr lang="en-US" altLang="zh-CN" sz="3200" b="1" dirty="0" smtClean="0"/>
              <a:t>Acceptor optimization</a:t>
            </a:r>
            <a:endParaRPr lang="zh-CN" altLang="en-US" sz="3200" b="1" dirty="0"/>
          </a:p>
        </p:txBody>
      </p:sp>
      <p:sp>
        <p:nvSpPr>
          <p:cNvPr id="11" name="文本框 10"/>
          <p:cNvSpPr txBox="1"/>
          <p:nvPr/>
        </p:nvSpPr>
        <p:spPr>
          <a:xfrm>
            <a:off x="1184223" y="15503"/>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Tree>
    <p:extLst>
      <p:ext uri="{BB962C8B-B14F-4D97-AF65-F5344CB8AC3E}">
        <p14:creationId xmlns:p14="http://schemas.microsoft.com/office/powerpoint/2010/main" val="4694207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bwMode="auto">
          <a:xfrm>
            <a:off x="3048002" y="897999"/>
            <a:ext cx="2944552" cy="800680"/>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Receive a prepare request numbered N</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6" name="圆角矩形 5"/>
          <p:cNvSpPr/>
          <p:nvPr/>
        </p:nvSpPr>
        <p:spPr bwMode="auto">
          <a:xfrm>
            <a:off x="677950" y="2039264"/>
            <a:ext cx="3467330" cy="1067600"/>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Already Re</a:t>
            </a:r>
            <a:r>
              <a:rPr lang="en-US" altLang="zh-CN" sz="2000" b="1" dirty="0" smtClean="0">
                <a:latin typeface="Arial" panose="020B0604020202020204" pitchFamily="34" charset="0"/>
                <a:ea typeface="宋体" panose="02010600030101010101" pitchFamily="2" charset="-122"/>
              </a:rPr>
              <a:t>sponded a prepare request numbered greater than N</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7" name="文本框 6"/>
          <p:cNvSpPr txBox="1"/>
          <p:nvPr/>
        </p:nvSpPr>
        <p:spPr>
          <a:xfrm>
            <a:off x="1451034" y="234492"/>
            <a:ext cx="4389120" cy="584775"/>
          </a:xfrm>
          <a:prstGeom prst="rect">
            <a:avLst/>
          </a:prstGeom>
          <a:noFill/>
        </p:spPr>
        <p:txBody>
          <a:bodyPr wrap="square" rtlCol="0">
            <a:spAutoFit/>
          </a:bodyPr>
          <a:lstStyle/>
          <a:p>
            <a:r>
              <a:rPr lang="en-US" altLang="zh-CN" sz="3200" b="1" dirty="0" smtClean="0"/>
              <a:t>Acceptor optimization</a:t>
            </a:r>
            <a:endParaRPr lang="zh-CN" altLang="en-US" sz="3200" b="1" dirty="0"/>
          </a:p>
        </p:txBody>
      </p:sp>
      <p:sp>
        <p:nvSpPr>
          <p:cNvPr id="8" name="圆角矩形 7"/>
          <p:cNvSpPr/>
          <p:nvPr/>
        </p:nvSpPr>
        <p:spPr bwMode="auto">
          <a:xfrm>
            <a:off x="677950" y="3420178"/>
            <a:ext cx="3467329" cy="879412"/>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Will not accept the proposal  numbered N</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 name="圆角矩形 9"/>
          <p:cNvSpPr/>
          <p:nvPr/>
        </p:nvSpPr>
        <p:spPr bwMode="auto">
          <a:xfrm>
            <a:off x="4672678" y="2039264"/>
            <a:ext cx="2639752" cy="1002153"/>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Already</a:t>
            </a:r>
            <a:r>
              <a:rPr kumimoji="0" lang="en-US" altLang="zh-CN" sz="2000" b="1" i="0" u="none" strike="noStrike" cap="none" normalizeH="0" dirty="0" smtClean="0">
                <a:ln>
                  <a:noFill/>
                </a:ln>
                <a:effectLst/>
                <a:latin typeface="Arial" panose="020B0604020202020204" pitchFamily="34" charset="0"/>
                <a:ea typeface="宋体" panose="02010600030101010101" pitchFamily="2" charset="-122"/>
              </a:rPr>
              <a:t> accepted the proposal </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1" name="圆角矩形 10"/>
          <p:cNvSpPr/>
          <p:nvPr/>
        </p:nvSpPr>
        <p:spPr bwMode="auto">
          <a:xfrm>
            <a:off x="3040256" y="4664603"/>
            <a:ext cx="3711169" cy="583036"/>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Ignore the prepare request</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2" name="圆角矩形 11"/>
          <p:cNvSpPr/>
          <p:nvPr/>
        </p:nvSpPr>
        <p:spPr bwMode="auto">
          <a:xfrm>
            <a:off x="419332" y="5566956"/>
            <a:ext cx="8506691" cy="1126745"/>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800" b="1" i="0" u="none" strike="noStrike" cap="none" normalizeH="0" baseline="0" dirty="0" smtClean="0">
                <a:ln>
                  <a:noFill/>
                </a:ln>
                <a:effectLst/>
                <a:latin typeface="Arial" panose="020B0604020202020204" pitchFamily="34" charset="0"/>
                <a:ea typeface="宋体" panose="02010600030101010101" pitchFamily="2" charset="-122"/>
              </a:rPr>
              <a:t>Acceptor need</a:t>
            </a:r>
            <a:r>
              <a:rPr kumimoji="0" lang="en-US" altLang="zh-CN" sz="2800" b="1" i="0" u="none" strike="noStrike" cap="none" normalizeH="0" dirty="0" smtClean="0">
                <a:ln>
                  <a:noFill/>
                </a:ln>
                <a:effectLst/>
                <a:latin typeface="Arial" panose="020B0604020202020204" pitchFamily="34" charset="0"/>
                <a:ea typeface="宋体" panose="02010600030101010101" pitchFamily="2" charset="-122"/>
              </a:rPr>
              <a:t> to remember on stable storage </a:t>
            </a:r>
            <a:r>
              <a:rPr kumimoji="0" lang="en-US" altLang="zh-CN" sz="3600" b="1" i="0" u="none" strike="noStrike" cap="none" normalizeH="0" dirty="0" smtClean="0">
                <a:ln>
                  <a:noFill/>
                </a:ln>
                <a:effectLst/>
                <a:latin typeface="Arial" panose="020B0604020202020204" pitchFamily="34" charset="0"/>
                <a:ea typeface="宋体" panose="02010600030101010101" pitchFamily="2" charset="-122"/>
              </a:rPr>
              <a:t>[</a:t>
            </a:r>
            <a:r>
              <a:rPr kumimoji="0" lang="en-US" altLang="zh-CN" sz="3600" b="1" i="0" u="none" strike="noStrike" cap="none" normalizeH="0" baseline="0" dirty="0" err="1" smtClean="0">
                <a:ln>
                  <a:noFill/>
                </a:ln>
                <a:effectLst/>
                <a:latin typeface="Arial" panose="020B0604020202020204" pitchFamily="34" charset="0"/>
                <a:ea typeface="宋体" panose="02010600030101010101" pitchFamily="2" charset="-122"/>
              </a:rPr>
              <a:t>ResN</a:t>
            </a:r>
            <a:r>
              <a:rPr kumimoji="0" lang="en-US" altLang="zh-CN" sz="3600" b="1" i="0" u="none" strike="noStrike" cap="none" normalizeH="0" baseline="0" dirty="0" smtClean="0">
                <a:ln>
                  <a:noFill/>
                </a:ln>
                <a:effectLst/>
                <a:latin typeface="Arial" panose="020B0604020202020204" pitchFamily="34" charset="0"/>
                <a:ea typeface="宋体" panose="02010600030101010101" pitchFamily="2" charset="-122"/>
              </a:rPr>
              <a:t>, </a:t>
            </a:r>
            <a:r>
              <a:rPr kumimoji="0" lang="en-US" altLang="zh-CN" sz="3600" b="1" i="0" u="none" strike="noStrike" cap="none" normalizeH="0" baseline="0" dirty="0" err="1" smtClean="0">
                <a:ln>
                  <a:noFill/>
                </a:ln>
                <a:effectLst/>
                <a:latin typeface="Arial" panose="020B0604020202020204" pitchFamily="34" charset="0"/>
                <a:ea typeface="宋体" panose="02010600030101010101" pitchFamily="2" charset="-122"/>
              </a:rPr>
              <a:t>AcceptN</a:t>
            </a:r>
            <a:r>
              <a:rPr kumimoji="0" lang="en-US" altLang="zh-CN" sz="3600" b="1" i="0" u="none" strike="noStrike" cap="none" normalizeH="0" baseline="0" dirty="0" smtClean="0">
                <a:ln>
                  <a:noFill/>
                </a:ln>
                <a:effectLst/>
                <a:latin typeface="Arial" panose="020B0604020202020204" pitchFamily="34" charset="0"/>
                <a:ea typeface="宋体" panose="02010600030101010101" pitchFamily="2" charset="-122"/>
              </a:rPr>
              <a:t>,</a:t>
            </a:r>
            <a:r>
              <a:rPr kumimoji="0" lang="en-US" altLang="zh-CN" sz="3600" b="1" i="0" u="none" strike="noStrike" cap="none" normalizeH="0" dirty="0" smtClean="0">
                <a:ln>
                  <a:noFill/>
                </a:ln>
                <a:effectLst/>
                <a:latin typeface="Arial" panose="020B0604020202020204" pitchFamily="34" charset="0"/>
                <a:ea typeface="宋体" panose="02010600030101010101" pitchFamily="2" charset="-122"/>
              </a:rPr>
              <a:t> </a:t>
            </a:r>
            <a:r>
              <a:rPr kumimoji="0" lang="en-US" altLang="zh-CN" sz="3600" b="1" i="0" u="none" strike="noStrike" cap="none" normalizeH="0" dirty="0" err="1" smtClean="0">
                <a:ln>
                  <a:noFill/>
                </a:ln>
                <a:effectLst/>
                <a:latin typeface="Arial" panose="020B0604020202020204" pitchFamily="34" charset="0"/>
                <a:ea typeface="宋体" panose="02010600030101010101" pitchFamily="2" charset="-122"/>
              </a:rPr>
              <a:t>AcceptV</a:t>
            </a:r>
            <a:r>
              <a:rPr kumimoji="0" lang="en-US" altLang="zh-CN" sz="3600" b="1" i="0" u="none" strike="noStrike" cap="none" normalizeH="0" dirty="0" smtClean="0">
                <a:ln>
                  <a:noFill/>
                </a:ln>
                <a:effectLst/>
                <a:latin typeface="Arial" panose="020B0604020202020204" pitchFamily="34" charset="0"/>
                <a:ea typeface="宋体" panose="02010600030101010101" pitchFamily="2" charset="-122"/>
              </a:rPr>
              <a:t>]</a:t>
            </a:r>
            <a:endParaRPr kumimoji="0" lang="zh-CN" altLang="en-US" sz="3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3" name="左大括号 12"/>
          <p:cNvSpPr/>
          <p:nvPr/>
        </p:nvSpPr>
        <p:spPr bwMode="auto">
          <a:xfrm rot="5400000">
            <a:off x="4246320" y="899047"/>
            <a:ext cx="325318" cy="1912579"/>
          </a:xfrm>
          <a:prstGeom prst="lef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cxnSp>
        <p:nvCxnSpPr>
          <p:cNvPr id="20" name="直接箭头连接符 19"/>
          <p:cNvCxnSpPr>
            <a:stCxn id="6" idx="2"/>
            <a:endCxn id="8" idx="0"/>
          </p:cNvCxnSpPr>
          <p:nvPr/>
        </p:nvCxnSpPr>
        <p:spPr bwMode="auto">
          <a:xfrm>
            <a:off x="2411615" y="3106864"/>
            <a:ext cx="0" cy="313314"/>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2" name="直接箭头连接符 21"/>
          <p:cNvCxnSpPr>
            <a:stCxn id="8" idx="2"/>
            <a:endCxn id="11" idx="0"/>
          </p:cNvCxnSpPr>
          <p:nvPr/>
        </p:nvCxnSpPr>
        <p:spPr bwMode="auto">
          <a:xfrm>
            <a:off x="2411615" y="4299590"/>
            <a:ext cx="2484226" cy="365013"/>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4" name="直接箭头连接符 23"/>
          <p:cNvCxnSpPr>
            <a:stCxn id="10" idx="2"/>
            <a:endCxn id="11" idx="0"/>
          </p:cNvCxnSpPr>
          <p:nvPr/>
        </p:nvCxnSpPr>
        <p:spPr bwMode="auto">
          <a:xfrm flipH="1">
            <a:off x="4895841" y="3041417"/>
            <a:ext cx="1096713" cy="1623186"/>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26" name="文本框 25"/>
          <p:cNvSpPr txBox="1"/>
          <p:nvPr/>
        </p:nvSpPr>
        <p:spPr>
          <a:xfrm>
            <a:off x="1249135" y="-37752"/>
            <a:ext cx="2203554" cy="523220"/>
          </a:xfrm>
          <a:prstGeom prst="rect">
            <a:avLst/>
          </a:prstGeom>
          <a:noFill/>
        </p:spPr>
        <p:txBody>
          <a:bodyPr wrap="square" rtlCol="0">
            <a:spAutoFit/>
          </a:bodyPr>
          <a:lstStyle/>
          <a:p>
            <a:r>
              <a:rPr lang="en-US" altLang="zh-CN" sz="2800" b="1" dirty="0" smtClean="0"/>
              <a:t>2.2 Process</a:t>
            </a:r>
            <a:endParaRPr lang="zh-CN" altLang="en-US" sz="2800" b="1" dirty="0"/>
          </a:p>
        </p:txBody>
      </p:sp>
    </p:spTree>
    <p:extLst>
      <p:ext uri="{BB962C8B-B14F-4D97-AF65-F5344CB8AC3E}">
        <p14:creationId xmlns:p14="http://schemas.microsoft.com/office/powerpoint/2010/main" val="281319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3495292" y="31361"/>
            <a:ext cx="2777577" cy="400034"/>
          </a:xfrm>
        </p:spPr>
        <p:txBody>
          <a:bodyPr/>
          <a:lstStyle/>
          <a:p>
            <a:r>
              <a:rPr lang="en-US" altLang="zh-CN" sz="3200" b="1" dirty="0" smtClean="0">
                <a:solidFill>
                  <a:schemeClr val="tx1"/>
                </a:solidFill>
              </a:rPr>
              <a:t>2.3 Basic </a:t>
            </a:r>
            <a:r>
              <a:rPr lang="en-US" altLang="zh-CN" sz="3200" b="1" dirty="0" err="1" smtClean="0">
                <a:solidFill>
                  <a:schemeClr val="tx1"/>
                </a:solidFill>
              </a:rPr>
              <a:t>Paxos</a:t>
            </a:r>
            <a:endParaRPr lang="zh-CN" altLang="en-US" sz="3200" b="1" dirty="0">
              <a:solidFill>
                <a:schemeClr val="tx1"/>
              </a:solidFill>
            </a:endParaRPr>
          </a:p>
        </p:txBody>
      </p:sp>
      <p:graphicFrame>
        <p:nvGraphicFramePr>
          <p:cNvPr id="6" name="表格 5"/>
          <p:cNvGraphicFramePr>
            <a:graphicFrameLocks noGrp="1"/>
          </p:cNvGraphicFramePr>
          <p:nvPr>
            <p:extLst>
              <p:ext uri="{D42A27DB-BD31-4B8C-83A1-F6EECF244321}">
                <p14:modId xmlns:p14="http://schemas.microsoft.com/office/powerpoint/2010/main" val="2101533569"/>
              </p:ext>
            </p:extLst>
          </p:nvPr>
        </p:nvGraphicFramePr>
        <p:xfrm>
          <a:off x="0" y="604683"/>
          <a:ext cx="9143999" cy="6194323"/>
        </p:xfrm>
        <a:graphic>
          <a:graphicData uri="http://schemas.openxmlformats.org/drawingml/2006/table">
            <a:tbl>
              <a:tblPr firstRow="1" bandRow="1">
                <a:tableStyleId>{5C22544A-7EE6-4342-B048-85BDC9FD1C3A}</a:tableStyleId>
              </a:tblPr>
              <a:tblGrid>
                <a:gridCol w="634181">
                  <a:extLst>
                    <a:ext uri="{9D8B030D-6E8A-4147-A177-3AD203B41FA5}">
                      <a16:colId xmlns:a16="http://schemas.microsoft.com/office/drawing/2014/main" val="1881839759"/>
                    </a:ext>
                  </a:extLst>
                </a:gridCol>
                <a:gridCol w="4601496">
                  <a:extLst>
                    <a:ext uri="{9D8B030D-6E8A-4147-A177-3AD203B41FA5}">
                      <a16:colId xmlns:a16="http://schemas.microsoft.com/office/drawing/2014/main" val="2112280152"/>
                    </a:ext>
                  </a:extLst>
                </a:gridCol>
                <a:gridCol w="3908322">
                  <a:extLst>
                    <a:ext uri="{9D8B030D-6E8A-4147-A177-3AD203B41FA5}">
                      <a16:colId xmlns:a16="http://schemas.microsoft.com/office/drawing/2014/main" val="3590637571"/>
                    </a:ext>
                  </a:extLst>
                </a:gridCol>
              </a:tblGrid>
              <a:tr h="972329">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2742209037"/>
                  </a:ext>
                </a:extLst>
              </a:tr>
              <a:tr h="2006846">
                <a:tc>
                  <a:txBody>
                    <a:bodyPr/>
                    <a:lstStyle/>
                    <a:p>
                      <a:pPr algn="ctr"/>
                      <a:endParaRPr lang="en-US" altLang="zh-CN" sz="1400" b="1" dirty="0" smtClean="0"/>
                    </a:p>
                    <a:p>
                      <a:pPr algn="ctr"/>
                      <a:endParaRPr lang="en-US" altLang="zh-CN" sz="1400" b="1" dirty="0" smtClean="0"/>
                    </a:p>
                    <a:p>
                      <a:pPr algn="ctr"/>
                      <a:endParaRPr lang="en-US" altLang="zh-CN" sz="1400" b="1" dirty="0" smtClean="0"/>
                    </a:p>
                    <a:p>
                      <a:pPr algn="ctr"/>
                      <a:endParaRPr lang="en-US" altLang="zh-CN" sz="1400" b="1" dirty="0" smtClean="0"/>
                    </a:p>
                    <a:p>
                      <a:pPr algn="ctr"/>
                      <a:r>
                        <a:rPr lang="en-US" altLang="zh-CN" sz="1400" b="1" dirty="0" smtClean="0"/>
                        <a:t>Phase 1</a:t>
                      </a:r>
                      <a:endParaRPr lang="zh-CN" altLang="en-US" sz="1400" b="1" dirty="0"/>
                    </a:p>
                  </a:txBody>
                  <a:tcPr/>
                </a:tc>
                <a:tc>
                  <a:txBody>
                    <a:bodyPr/>
                    <a:lstStyle/>
                    <a:p>
                      <a:pPr marL="342900" indent="-342900">
                        <a:buAutoNum type="arabicParenBoth"/>
                      </a:pPr>
                      <a:r>
                        <a:rPr lang="en-US" altLang="zh-CN" sz="1800" b="1" dirty="0" smtClean="0"/>
                        <a:t>Select a proposal number N (unique)</a:t>
                      </a:r>
                    </a:p>
                    <a:p>
                      <a:pPr marL="342900" indent="-342900">
                        <a:buAutoNum type="arabicParenBoth"/>
                      </a:pPr>
                      <a:r>
                        <a:rPr lang="en-US" altLang="zh-CN" sz="1800" b="1" dirty="0" smtClean="0"/>
                        <a:t>Sends </a:t>
                      </a:r>
                      <a:r>
                        <a:rPr lang="en-US" altLang="zh-CN" sz="1800" b="1" i="1" baseline="0" dirty="0" smtClean="0">
                          <a:solidFill>
                            <a:srgbClr val="FF3300"/>
                          </a:solidFill>
                        </a:rPr>
                        <a:t>Prepare(N)</a:t>
                      </a:r>
                      <a:r>
                        <a:rPr lang="en-US" altLang="zh-CN" sz="1800" b="1" baseline="0" dirty="0" smtClean="0"/>
                        <a:t> to acceptor sets</a:t>
                      </a:r>
                      <a:endParaRPr lang="zh-CN" altLang="en-US" sz="1800" b="1" dirty="0"/>
                    </a:p>
                  </a:txBody>
                  <a:tcPr/>
                </a:tc>
                <a:tc>
                  <a:txBody>
                    <a:bodyPr/>
                    <a:lstStyle/>
                    <a:p>
                      <a:endParaRPr lang="en-US" altLang="zh-CN" sz="1800" b="1" dirty="0" smtClean="0"/>
                    </a:p>
                    <a:p>
                      <a:endParaRPr lang="en-US" altLang="zh-CN" sz="1800" b="1" dirty="0" smtClean="0"/>
                    </a:p>
                    <a:p>
                      <a:endParaRPr lang="en-US" altLang="zh-CN" sz="1800" b="1" dirty="0" smtClean="0"/>
                    </a:p>
                    <a:p>
                      <a:pPr marL="0" indent="0">
                        <a:buFont typeface="Wingdings" panose="05000000000000000000" pitchFamily="2" charset="2"/>
                        <a:buNone/>
                      </a:pPr>
                      <a:endParaRPr lang="zh-CN" altLang="en-US" sz="1800" b="1" dirty="0"/>
                    </a:p>
                  </a:txBody>
                  <a:tcPr/>
                </a:tc>
                <a:extLst>
                  <a:ext uri="{0D108BD9-81ED-4DB2-BD59-A6C34878D82A}">
                    <a16:rowId xmlns:a16="http://schemas.microsoft.com/office/drawing/2014/main" val="3602263174"/>
                  </a:ext>
                </a:extLst>
              </a:tr>
              <a:tr h="3215148">
                <a:tc>
                  <a:txBody>
                    <a:bodyPr/>
                    <a:lstStyle/>
                    <a:p>
                      <a:pPr algn="ctr"/>
                      <a:endParaRPr lang="en-US" altLang="zh-CN" sz="1400" b="1" dirty="0" smtClean="0"/>
                    </a:p>
                    <a:p>
                      <a:pPr algn="ctr"/>
                      <a:endParaRPr lang="en-US" altLang="zh-CN" sz="1400" b="1" dirty="0" smtClean="0"/>
                    </a:p>
                    <a:p>
                      <a:pPr algn="ctr"/>
                      <a:endParaRPr lang="en-US" altLang="zh-CN" sz="1400" b="1" dirty="0" smtClean="0"/>
                    </a:p>
                    <a:p>
                      <a:pPr algn="ctr"/>
                      <a:endParaRPr lang="en-US" altLang="zh-CN" sz="1400" b="1" dirty="0" smtClean="0"/>
                    </a:p>
                    <a:p>
                      <a:pPr algn="ctr"/>
                      <a:endParaRPr lang="en-US" altLang="zh-CN" sz="1400" b="1" dirty="0" smtClean="0"/>
                    </a:p>
                    <a:p>
                      <a:pPr algn="ctr"/>
                      <a:endParaRPr lang="en-US" altLang="zh-CN" sz="1400" b="1" dirty="0" smtClean="0"/>
                    </a:p>
                    <a:p>
                      <a:pPr algn="ctr"/>
                      <a:r>
                        <a:rPr lang="en-US" altLang="zh-CN" sz="1400" b="1" dirty="0" smtClean="0"/>
                        <a:t>Phase 2</a:t>
                      </a:r>
                      <a:endParaRPr lang="zh-CN" altLang="en-US" sz="1400" b="1" dirty="0"/>
                    </a:p>
                  </a:txBody>
                  <a:tcPr/>
                </a:tc>
                <a:tc>
                  <a:txBody>
                    <a:bodyPr/>
                    <a:lstStyle/>
                    <a:p>
                      <a:pPr marL="0" indent="0">
                        <a:buFont typeface="Wingdings" panose="05000000000000000000" pitchFamily="2" charset="2"/>
                        <a:buNone/>
                      </a:pPr>
                      <a:r>
                        <a:rPr lang="en-US" altLang="zh-CN" sz="1800" b="1" dirty="0" smtClean="0"/>
                        <a:t>(4)</a:t>
                      </a:r>
                    </a:p>
                    <a:p>
                      <a:pPr marL="285750" indent="-285750">
                        <a:buFont typeface="Wingdings" panose="05000000000000000000" pitchFamily="2" charset="2"/>
                        <a:buChar char="l"/>
                      </a:pPr>
                      <a:r>
                        <a:rPr lang="en-US" altLang="zh-CN" sz="1800" b="1" dirty="0" smtClean="0"/>
                        <a:t>When</a:t>
                      </a:r>
                      <a:r>
                        <a:rPr lang="en-US" altLang="zh-CN" sz="1800" b="1" baseline="0" dirty="0" smtClean="0"/>
                        <a:t> responses&lt;</a:t>
                      </a:r>
                      <a:r>
                        <a:rPr lang="en-US" altLang="zh-CN" sz="1800" b="1" baseline="0" dirty="0" err="1" smtClean="0"/>
                        <a:t>Pok</a:t>
                      </a:r>
                      <a:r>
                        <a:rPr lang="en-US" altLang="zh-CN" sz="1800" b="1" baseline="0" dirty="0" smtClean="0"/>
                        <a:t>&gt; from majority,</a:t>
                      </a:r>
                    </a:p>
                    <a:p>
                      <a:pPr marL="171450" indent="-171450">
                        <a:buFont typeface="Wingdings" panose="05000000000000000000" pitchFamily="2" charset="2"/>
                        <a:buChar char="u"/>
                      </a:pPr>
                      <a:r>
                        <a:rPr lang="en-US" altLang="zh-CN" sz="1400" b="1" baseline="0" dirty="0" smtClean="0"/>
                        <a:t>   if any proposal, V = </a:t>
                      </a:r>
                      <a:r>
                        <a:rPr lang="en-US" altLang="zh-CN" sz="1400" b="1" baseline="0" dirty="0" err="1" smtClean="0"/>
                        <a:t>AcceptV</a:t>
                      </a:r>
                      <a:r>
                        <a:rPr lang="en-US" altLang="zh-CN" sz="1400" b="1" baseline="0" dirty="0" smtClean="0"/>
                        <a:t> of the highest </a:t>
                      </a:r>
                      <a:r>
                        <a:rPr lang="en-US" altLang="zh-CN" sz="1400" b="1" baseline="0" dirty="0" err="1" smtClean="0"/>
                        <a:t>AcceptN</a:t>
                      </a:r>
                      <a:r>
                        <a:rPr lang="en-US" altLang="zh-CN" sz="1400" b="1" baseline="0" dirty="0" smtClean="0"/>
                        <a:t>; </a:t>
                      </a:r>
                    </a:p>
                    <a:p>
                      <a:pPr marL="171450" indent="-171450">
                        <a:buFont typeface="Wingdings" panose="05000000000000000000" pitchFamily="2" charset="2"/>
                        <a:buChar char="u"/>
                      </a:pPr>
                      <a:r>
                        <a:rPr lang="en-US" altLang="zh-CN" sz="1400" b="1" baseline="0" dirty="0" smtClean="0"/>
                        <a:t>   if no proposal, V=any value decided by the proposer</a:t>
                      </a:r>
                    </a:p>
                    <a:p>
                      <a:pPr marL="0" indent="0">
                        <a:buFont typeface="Wingdings" panose="05000000000000000000" pitchFamily="2" charset="2"/>
                        <a:buNone/>
                      </a:pPr>
                      <a:r>
                        <a:rPr lang="en-US" altLang="zh-CN" sz="1800" b="1" baseline="0" dirty="0" smtClean="0"/>
                        <a:t>sends accept request </a:t>
                      </a:r>
                      <a:r>
                        <a:rPr lang="en-US" altLang="zh-CN" sz="1800" b="1" i="1" baseline="0" dirty="0" smtClean="0">
                          <a:solidFill>
                            <a:srgbClr val="FF3300"/>
                          </a:solidFill>
                        </a:rPr>
                        <a:t>Accept(N,V) </a:t>
                      </a:r>
                      <a:r>
                        <a:rPr lang="en-US" altLang="zh-CN" sz="1800" b="1" baseline="0" dirty="0" smtClean="0"/>
                        <a:t>to acceptor sets</a:t>
                      </a:r>
                    </a:p>
                    <a:p>
                      <a:pPr marL="285750" indent="-285750">
                        <a:buFont typeface="Wingdings" panose="05000000000000000000" pitchFamily="2" charset="2"/>
                        <a:buChar char="l"/>
                      </a:pPr>
                      <a:r>
                        <a:rPr lang="en-US" altLang="zh-CN" sz="1800" b="1" baseline="0" dirty="0" smtClean="0"/>
                        <a:t>&lt;</a:t>
                      </a:r>
                      <a:r>
                        <a:rPr lang="en-US" altLang="zh-CN" sz="1800" b="1" baseline="0" dirty="0" err="1" smtClean="0"/>
                        <a:t>Pok</a:t>
                      </a:r>
                      <a:r>
                        <a:rPr lang="en-US" altLang="zh-CN" sz="1800" b="1" baseline="0" dirty="0" smtClean="0"/>
                        <a:t>&gt; less than majority, back to Phase 1 </a:t>
                      </a:r>
                    </a:p>
                    <a:p>
                      <a:endParaRPr lang="en-US" altLang="zh-CN" sz="1800" b="1" baseline="0" dirty="0" smtClean="0"/>
                    </a:p>
                    <a:p>
                      <a:r>
                        <a:rPr lang="en-US" altLang="zh-CN" sz="1800" b="1" baseline="0" dirty="0" smtClean="0"/>
                        <a:t>(6)</a:t>
                      </a:r>
                    </a:p>
                    <a:p>
                      <a:pPr marL="285750" indent="-285750">
                        <a:buFont typeface="Wingdings" panose="05000000000000000000" pitchFamily="2" charset="2"/>
                        <a:buChar char="l"/>
                      </a:pPr>
                      <a:r>
                        <a:rPr lang="en-US" altLang="zh-CN" sz="1800" b="1" baseline="0" dirty="0" smtClean="0"/>
                        <a:t>If &lt;</a:t>
                      </a:r>
                      <a:r>
                        <a:rPr lang="en-US" altLang="zh-CN" sz="1800" b="1" baseline="0" dirty="0" err="1" smtClean="0"/>
                        <a:t>Aok</a:t>
                      </a:r>
                      <a:r>
                        <a:rPr lang="en-US" altLang="zh-CN" sz="1800" b="1" baseline="0" dirty="0" smtClean="0"/>
                        <a:t>&gt;greater than majority, V is chosen;</a:t>
                      </a:r>
                    </a:p>
                    <a:p>
                      <a:pPr marL="285750" indent="-285750">
                        <a:buFont typeface="Wingdings" panose="05000000000000000000" pitchFamily="2" charset="2"/>
                        <a:buChar char="l"/>
                      </a:pPr>
                      <a:r>
                        <a:rPr lang="en-US" altLang="zh-CN" sz="1800" b="1" baseline="0" dirty="0" smtClean="0"/>
                        <a:t>else , back to Phase 1</a:t>
                      </a:r>
                      <a:endParaRPr lang="zh-CN" altLang="en-US" sz="1800" b="1" dirty="0"/>
                    </a:p>
                  </a:txBody>
                  <a:tcPr/>
                </a:tc>
                <a:tc>
                  <a:txBody>
                    <a:bodyPr/>
                    <a:lstStyle/>
                    <a:p>
                      <a:endParaRPr lang="en-US" altLang="zh-CN" sz="1800" b="1" dirty="0" smtClean="0"/>
                    </a:p>
                    <a:p>
                      <a:endParaRPr lang="en-US" altLang="zh-CN" sz="1800" b="1" dirty="0" smtClean="0"/>
                    </a:p>
                    <a:p>
                      <a:endParaRPr lang="en-US" altLang="zh-CN" sz="1800" b="1" dirty="0" smtClean="0"/>
                    </a:p>
                    <a:p>
                      <a:endParaRPr lang="en-US" altLang="zh-CN" sz="1800" b="1" dirty="0" smtClean="0"/>
                    </a:p>
                    <a:p>
                      <a:endParaRPr lang="en-US" altLang="zh-CN" sz="1800" b="1" dirty="0" smtClean="0"/>
                    </a:p>
                    <a:p>
                      <a:endParaRPr lang="en-US" altLang="zh-CN" sz="1800" b="1" dirty="0" smtClean="0"/>
                    </a:p>
                  </a:txBody>
                  <a:tcPr/>
                </a:tc>
                <a:extLst>
                  <a:ext uri="{0D108BD9-81ED-4DB2-BD59-A6C34878D82A}">
                    <a16:rowId xmlns:a16="http://schemas.microsoft.com/office/drawing/2014/main" val="4095135092"/>
                  </a:ext>
                </a:extLst>
              </a:tr>
            </a:tbl>
          </a:graphicData>
        </a:graphic>
      </p:graphicFrame>
      <p:sp>
        <p:nvSpPr>
          <p:cNvPr id="5" name="圆角矩形 4"/>
          <p:cNvSpPr/>
          <p:nvPr/>
        </p:nvSpPr>
        <p:spPr bwMode="auto">
          <a:xfrm>
            <a:off x="5494610" y="753680"/>
            <a:ext cx="3568354" cy="720024"/>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Acceptor</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000" b="1" dirty="0" smtClean="0">
                <a:latin typeface="Arial" panose="020B0604020202020204" pitchFamily="34" charset="0"/>
                <a:ea typeface="宋体" panose="02010600030101010101" pitchFamily="2" charset="-122"/>
              </a:rPr>
              <a:t>[</a:t>
            </a:r>
            <a:r>
              <a:rPr lang="en-US" altLang="zh-CN" sz="2000" b="1" dirty="0" err="1" smtClean="0">
                <a:latin typeface="Arial" panose="020B0604020202020204" pitchFamily="34" charset="0"/>
                <a:ea typeface="宋体" panose="02010600030101010101" pitchFamily="2" charset="-122"/>
              </a:rPr>
              <a:t>ResN</a:t>
            </a:r>
            <a:r>
              <a:rPr lang="en-US" altLang="zh-CN" sz="2000" b="1" dirty="0" smtClean="0">
                <a:latin typeface="Arial" panose="020B0604020202020204" pitchFamily="34" charset="0"/>
                <a:ea typeface="宋体" panose="02010600030101010101" pitchFamily="2" charset="-122"/>
              </a:rPr>
              <a:t>, </a:t>
            </a:r>
            <a:r>
              <a:rPr lang="en-US" altLang="zh-CN" sz="2000" b="1" dirty="0" err="1" smtClean="0">
                <a:latin typeface="Arial" panose="020B0604020202020204" pitchFamily="34" charset="0"/>
                <a:ea typeface="宋体" panose="02010600030101010101" pitchFamily="2" charset="-122"/>
              </a:rPr>
              <a:t>AcceptN</a:t>
            </a:r>
            <a:r>
              <a:rPr lang="en-US" altLang="zh-CN" sz="2000" b="1" dirty="0" smtClean="0">
                <a:latin typeface="Arial" panose="020B0604020202020204" pitchFamily="34" charset="0"/>
                <a:ea typeface="宋体" panose="02010600030101010101" pitchFamily="2" charset="-122"/>
              </a:rPr>
              <a:t>, </a:t>
            </a:r>
            <a:r>
              <a:rPr lang="en-US" altLang="zh-CN" sz="2000" b="1" dirty="0" err="1" smtClean="0">
                <a:latin typeface="Arial" panose="020B0604020202020204" pitchFamily="34" charset="0"/>
                <a:ea typeface="宋体" panose="02010600030101010101" pitchFamily="2" charset="-122"/>
              </a:rPr>
              <a:t>AcceptV</a:t>
            </a:r>
            <a:r>
              <a:rPr lang="en-US" altLang="zh-CN" sz="2000" b="1" dirty="0" smtClean="0">
                <a:latin typeface="Arial" panose="020B0604020202020204" pitchFamily="34" charset="0"/>
                <a:ea typeface="宋体" panose="02010600030101010101" pitchFamily="2" charset="-122"/>
              </a:rPr>
              <a:t>]</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4" name="圆角矩形 3"/>
          <p:cNvSpPr/>
          <p:nvPr/>
        </p:nvSpPr>
        <p:spPr bwMode="auto">
          <a:xfrm>
            <a:off x="1275346" y="753680"/>
            <a:ext cx="3119673" cy="720024"/>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Proposer</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000" b="1" dirty="0" smtClean="0">
                <a:latin typeface="Arial" panose="020B0604020202020204" pitchFamily="34" charset="0"/>
                <a:ea typeface="宋体" panose="02010600030101010101" pitchFamily="2" charset="-122"/>
              </a:rPr>
              <a:t>[N,V]</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7" name="右箭头 6"/>
          <p:cNvSpPr/>
          <p:nvPr/>
        </p:nvSpPr>
        <p:spPr bwMode="auto">
          <a:xfrm rot="1348931">
            <a:off x="4321631" y="2327470"/>
            <a:ext cx="1311361" cy="278281"/>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8" name="右箭头 7"/>
          <p:cNvSpPr/>
          <p:nvPr/>
        </p:nvSpPr>
        <p:spPr bwMode="auto">
          <a:xfrm rot="8605146">
            <a:off x="4583880" y="3386712"/>
            <a:ext cx="1177854" cy="255311"/>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 name="右箭头 8"/>
          <p:cNvSpPr/>
          <p:nvPr/>
        </p:nvSpPr>
        <p:spPr bwMode="auto">
          <a:xfrm rot="1965755">
            <a:off x="5011724" y="5055573"/>
            <a:ext cx="1114600" cy="221078"/>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 name="右箭头 9"/>
          <p:cNvSpPr/>
          <p:nvPr/>
        </p:nvSpPr>
        <p:spPr bwMode="auto">
          <a:xfrm rot="9477449">
            <a:off x="5011492" y="5748924"/>
            <a:ext cx="959461" cy="223615"/>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 name="文本框 10"/>
          <p:cNvSpPr txBox="1"/>
          <p:nvPr/>
        </p:nvSpPr>
        <p:spPr>
          <a:xfrm rot="1367740">
            <a:off x="4363240" y="2163973"/>
            <a:ext cx="1681316" cy="307777"/>
          </a:xfrm>
          <a:prstGeom prst="rect">
            <a:avLst/>
          </a:prstGeom>
          <a:noFill/>
        </p:spPr>
        <p:txBody>
          <a:bodyPr wrap="square" rtlCol="0">
            <a:spAutoFit/>
          </a:bodyPr>
          <a:lstStyle/>
          <a:p>
            <a:r>
              <a:rPr lang="en-US" altLang="zh-CN" sz="1400" b="1" dirty="0"/>
              <a:t>prepare request </a:t>
            </a:r>
            <a:endParaRPr lang="zh-CN" altLang="en-US" sz="1400" b="1" dirty="0"/>
          </a:p>
        </p:txBody>
      </p:sp>
      <p:sp>
        <p:nvSpPr>
          <p:cNvPr id="12" name="文本框 11"/>
          <p:cNvSpPr txBox="1"/>
          <p:nvPr/>
        </p:nvSpPr>
        <p:spPr>
          <a:xfrm rot="1960859">
            <a:off x="4983829" y="4819988"/>
            <a:ext cx="1312149" cy="307777"/>
          </a:xfrm>
          <a:prstGeom prst="rect">
            <a:avLst/>
          </a:prstGeom>
          <a:noFill/>
        </p:spPr>
        <p:txBody>
          <a:bodyPr wrap="square" rtlCol="0">
            <a:spAutoFit/>
          </a:bodyPr>
          <a:lstStyle/>
          <a:p>
            <a:r>
              <a:rPr lang="en-US" altLang="zh-CN" sz="1400" b="1" dirty="0"/>
              <a:t>a</a:t>
            </a:r>
            <a:r>
              <a:rPr lang="en-US" altLang="zh-CN" sz="1400" b="1" dirty="0" smtClean="0"/>
              <a:t>ccept </a:t>
            </a:r>
            <a:r>
              <a:rPr lang="en-US" altLang="zh-CN" sz="1400" b="1" dirty="0"/>
              <a:t>request </a:t>
            </a:r>
            <a:endParaRPr lang="zh-CN" altLang="en-US" sz="1400" b="1" dirty="0"/>
          </a:p>
        </p:txBody>
      </p:sp>
      <p:sp>
        <p:nvSpPr>
          <p:cNvPr id="13" name="文本框 12"/>
          <p:cNvSpPr txBox="1"/>
          <p:nvPr/>
        </p:nvSpPr>
        <p:spPr>
          <a:xfrm rot="19486832">
            <a:off x="4826312" y="3357885"/>
            <a:ext cx="1174527" cy="369332"/>
          </a:xfrm>
          <a:prstGeom prst="rect">
            <a:avLst/>
          </a:prstGeom>
          <a:noFill/>
        </p:spPr>
        <p:txBody>
          <a:bodyPr wrap="square" rtlCol="0">
            <a:spAutoFit/>
          </a:bodyPr>
          <a:lstStyle/>
          <a:p>
            <a:r>
              <a:rPr lang="en-US" altLang="zh-CN" sz="1400" b="1" dirty="0" smtClean="0"/>
              <a:t>response</a:t>
            </a:r>
            <a:r>
              <a:rPr lang="en-US" altLang="zh-CN" b="1" dirty="0" smtClean="0"/>
              <a:t> </a:t>
            </a:r>
            <a:endParaRPr lang="zh-CN" altLang="en-US" b="1" dirty="0"/>
          </a:p>
        </p:txBody>
      </p:sp>
      <p:sp>
        <p:nvSpPr>
          <p:cNvPr id="14" name="文本框 13"/>
          <p:cNvSpPr txBox="1"/>
          <p:nvPr/>
        </p:nvSpPr>
        <p:spPr>
          <a:xfrm rot="20258968">
            <a:off x="5135309" y="5761768"/>
            <a:ext cx="1101203" cy="307777"/>
          </a:xfrm>
          <a:prstGeom prst="rect">
            <a:avLst/>
          </a:prstGeom>
          <a:noFill/>
        </p:spPr>
        <p:txBody>
          <a:bodyPr wrap="square" rtlCol="0">
            <a:spAutoFit/>
          </a:bodyPr>
          <a:lstStyle/>
          <a:p>
            <a:r>
              <a:rPr lang="en-US" altLang="zh-CN" sz="1400" b="1" dirty="0" smtClean="0"/>
              <a:t>response</a:t>
            </a:r>
            <a:endParaRPr lang="zh-CN" altLang="en-US" sz="1400" b="1" dirty="0"/>
          </a:p>
        </p:txBody>
      </p:sp>
      <p:sp>
        <p:nvSpPr>
          <p:cNvPr id="16" name="文本框 15"/>
          <p:cNvSpPr txBox="1"/>
          <p:nvPr/>
        </p:nvSpPr>
        <p:spPr>
          <a:xfrm>
            <a:off x="5636366" y="2084530"/>
            <a:ext cx="3284843" cy="1754326"/>
          </a:xfrm>
          <a:prstGeom prst="rect">
            <a:avLst/>
          </a:prstGeom>
          <a:noFill/>
        </p:spPr>
        <p:txBody>
          <a:bodyPr wrap="square" rtlCol="0">
            <a:spAutoFit/>
          </a:bodyPr>
          <a:lstStyle/>
          <a:p>
            <a:r>
              <a:rPr lang="en-US" altLang="zh-CN" b="1" dirty="0"/>
              <a:t>(3) Respond to Prepare(N);</a:t>
            </a:r>
          </a:p>
          <a:p>
            <a:pPr marL="285750" indent="-285750">
              <a:buFont typeface="Wingdings" panose="05000000000000000000" pitchFamily="2" charset="2"/>
              <a:buChar char="l"/>
            </a:pPr>
            <a:r>
              <a:rPr lang="en-US" altLang="zh-CN" b="1" dirty="0"/>
              <a:t>If N&lt;=</a:t>
            </a:r>
            <a:r>
              <a:rPr lang="en-US" altLang="zh-CN" b="1" dirty="0" err="1"/>
              <a:t>ResN</a:t>
            </a:r>
            <a:r>
              <a:rPr lang="en-US" altLang="zh-CN" b="1" dirty="0"/>
              <a:t>, </a:t>
            </a:r>
            <a:r>
              <a:rPr lang="en-US" altLang="zh-CN" b="1" dirty="0" err="1"/>
              <a:t>rejectioin</a:t>
            </a:r>
            <a:endParaRPr lang="en-US" altLang="zh-CN" b="1" dirty="0"/>
          </a:p>
          <a:p>
            <a:pPr marL="285750" indent="-285750">
              <a:buFont typeface="Wingdings" panose="05000000000000000000" pitchFamily="2" charset="2"/>
              <a:buChar char="l"/>
            </a:pPr>
            <a:r>
              <a:rPr lang="en-US" altLang="zh-CN" b="1" dirty="0"/>
              <a:t>If N&gt;</a:t>
            </a:r>
            <a:r>
              <a:rPr lang="en-US" altLang="zh-CN" b="1" dirty="0" err="1"/>
              <a:t>ResN</a:t>
            </a:r>
            <a:r>
              <a:rPr lang="en-US" altLang="zh-CN" b="1" dirty="0"/>
              <a:t>,   </a:t>
            </a:r>
            <a:r>
              <a:rPr lang="en-US" altLang="zh-CN" b="1" dirty="0" err="1"/>
              <a:t>ResN</a:t>
            </a:r>
            <a:r>
              <a:rPr lang="en-US" altLang="zh-CN" b="1" dirty="0"/>
              <a:t>=N; Return(</a:t>
            </a:r>
            <a:r>
              <a:rPr lang="en-US" altLang="zh-CN" b="1" dirty="0" err="1"/>
              <a:t>Pok,AcceptN,AcceptV</a:t>
            </a:r>
            <a:r>
              <a:rPr lang="en-US" altLang="zh-CN" b="1" dirty="0"/>
              <a:t>)</a:t>
            </a:r>
          </a:p>
          <a:p>
            <a:r>
              <a:rPr lang="en-US" altLang="zh-CN" b="1" dirty="0"/>
              <a:t>     /(</a:t>
            </a:r>
            <a:r>
              <a:rPr lang="en-US" altLang="zh-CN" b="1" dirty="0" err="1"/>
              <a:t>Pok,null,null</a:t>
            </a:r>
            <a:r>
              <a:rPr lang="en-US" altLang="zh-CN" b="1" dirty="0"/>
              <a:t>)</a:t>
            </a:r>
          </a:p>
          <a:p>
            <a:endParaRPr lang="zh-CN" altLang="en-US" dirty="0"/>
          </a:p>
        </p:txBody>
      </p:sp>
      <p:sp>
        <p:nvSpPr>
          <p:cNvPr id="18" name="文本框 17"/>
          <p:cNvSpPr txBox="1"/>
          <p:nvPr/>
        </p:nvSpPr>
        <p:spPr>
          <a:xfrm>
            <a:off x="5938934" y="4866578"/>
            <a:ext cx="2982275" cy="2031325"/>
          </a:xfrm>
          <a:prstGeom prst="rect">
            <a:avLst/>
          </a:prstGeom>
          <a:noFill/>
        </p:spPr>
        <p:txBody>
          <a:bodyPr wrap="square" rtlCol="0">
            <a:spAutoFit/>
          </a:bodyPr>
          <a:lstStyle/>
          <a:p>
            <a:r>
              <a:rPr lang="en-US" altLang="zh-CN" b="1" dirty="0"/>
              <a:t>(5) Respond to Accept(N,V)</a:t>
            </a:r>
          </a:p>
          <a:p>
            <a:r>
              <a:rPr lang="en-US" altLang="zh-CN" b="1" dirty="0"/>
              <a:t>      if N&gt;=</a:t>
            </a:r>
            <a:r>
              <a:rPr lang="en-US" altLang="zh-CN" b="1" dirty="0" err="1"/>
              <a:t>ResN</a:t>
            </a:r>
            <a:r>
              <a:rPr lang="en-US" altLang="zh-CN" b="1" dirty="0"/>
              <a:t>, </a:t>
            </a:r>
            <a:r>
              <a:rPr lang="en-US" altLang="zh-CN" b="1" dirty="0" smtClean="0"/>
              <a:t>  </a:t>
            </a:r>
          </a:p>
          <a:p>
            <a:r>
              <a:rPr lang="en-US" altLang="zh-CN" b="1" dirty="0"/>
              <a:t> </a:t>
            </a:r>
            <a:r>
              <a:rPr lang="en-US" altLang="zh-CN" b="1" dirty="0" smtClean="0"/>
              <a:t>                </a:t>
            </a:r>
            <a:r>
              <a:rPr lang="en-US" altLang="zh-CN" b="1" dirty="0" err="1" smtClean="0"/>
              <a:t>ResN</a:t>
            </a:r>
            <a:r>
              <a:rPr lang="en-US" altLang="zh-CN" b="1" dirty="0" smtClean="0"/>
              <a:t>=</a:t>
            </a:r>
            <a:r>
              <a:rPr lang="en-US" altLang="zh-CN" b="1" dirty="0" err="1" smtClean="0"/>
              <a:t>AcceptN</a:t>
            </a:r>
            <a:r>
              <a:rPr lang="en-US" altLang="zh-CN" b="1" dirty="0" smtClean="0"/>
              <a:t>=N</a:t>
            </a:r>
            <a:r>
              <a:rPr lang="en-US" altLang="zh-CN" b="1" dirty="0"/>
              <a:t>, </a:t>
            </a:r>
            <a:endParaRPr lang="en-US" altLang="zh-CN" b="1" dirty="0" smtClean="0"/>
          </a:p>
          <a:p>
            <a:r>
              <a:rPr lang="en-US" altLang="zh-CN" b="1" dirty="0" smtClean="0"/>
              <a:t>                 </a:t>
            </a:r>
            <a:r>
              <a:rPr lang="en-US" altLang="zh-CN" b="1" dirty="0" err="1" smtClean="0"/>
              <a:t>AcceptV</a:t>
            </a:r>
            <a:r>
              <a:rPr lang="en-US" altLang="zh-CN" b="1" dirty="0" smtClean="0"/>
              <a:t>=V</a:t>
            </a:r>
            <a:r>
              <a:rPr lang="en-US" altLang="zh-CN" b="1" dirty="0"/>
              <a:t>,</a:t>
            </a:r>
          </a:p>
          <a:p>
            <a:r>
              <a:rPr lang="en-US" altLang="zh-CN" b="1" dirty="0"/>
              <a:t>          </a:t>
            </a:r>
            <a:r>
              <a:rPr lang="en-US" altLang="zh-CN" b="1" dirty="0" smtClean="0"/>
              <a:t>      Return(</a:t>
            </a:r>
            <a:r>
              <a:rPr lang="en-US" altLang="zh-CN" b="1" dirty="0" err="1" smtClean="0"/>
              <a:t>Aok,ResN</a:t>
            </a:r>
            <a:r>
              <a:rPr lang="en-US" altLang="zh-CN" b="1" dirty="0"/>
              <a:t>)</a:t>
            </a:r>
          </a:p>
          <a:p>
            <a:r>
              <a:rPr lang="en-US" altLang="zh-CN" b="1" dirty="0"/>
              <a:t>      if N&lt;</a:t>
            </a:r>
            <a:r>
              <a:rPr lang="en-US" altLang="zh-CN" b="1" dirty="0" err="1"/>
              <a:t>ResN</a:t>
            </a:r>
            <a:r>
              <a:rPr lang="en-US" altLang="zh-CN" b="1" dirty="0"/>
              <a:t>, </a:t>
            </a:r>
            <a:r>
              <a:rPr lang="en-US" altLang="zh-CN" b="1" dirty="0" smtClean="0"/>
              <a:t> rejection</a:t>
            </a:r>
            <a:endParaRPr lang="zh-CN" altLang="en-US" b="1" dirty="0"/>
          </a:p>
          <a:p>
            <a:endParaRPr lang="zh-CN" altLang="en-US" dirty="0"/>
          </a:p>
        </p:txBody>
      </p:sp>
    </p:spTree>
    <p:extLst>
      <p:ext uri="{BB962C8B-B14F-4D97-AF65-F5344CB8AC3E}">
        <p14:creationId xmlns:p14="http://schemas.microsoft.com/office/powerpoint/2010/main" val="32064435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229531" y="744495"/>
            <a:ext cx="2166078" cy="419724"/>
          </a:xfrm>
        </p:spPr>
        <p:txBody>
          <a:bodyPr/>
          <a:lstStyle/>
          <a:p>
            <a:r>
              <a:rPr lang="en-US" altLang="zh-CN" sz="2400" b="1" dirty="0" smtClean="0">
                <a:solidFill>
                  <a:schemeClr val="tx1"/>
                </a:solidFill>
              </a:rPr>
              <a:t>Three designs:</a:t>
            </a:r>
            <a:endParaRPr lang="zh-CN" altLang="en-US" sz="2400" b="1" dirty="0">
              <a:solidFill>
                <a:schemeClr val="tx1"/>
              </a:solidFill>
            </a:endParaRPr>
          </a:p>
        </p:txBody>
      </p:sp>
      <p:sp>
        <p:nvSpPr>
          <p:cNvPr id="5" name="标题 4"/>
          <p:cNvSpPr txBox="1">
            <a:spLocks noGrp="1"/>
          </p:cNvSpPr>
          <p:nvPr>
            <p:ph type="title"/>
          </p:nvPr>
        </p:nvSpPr>
        <p:spPr>
          <a:xfrm>
            <a:off x="2016177" y="196909"/>
            <a:ext cx="4864307" cy="525401"/>
          </a:xfrm>
          <a:prstGeom prst="rect">
            <a:avLst/>
          </a:prstGeom>
          <a:noFill/>
        </p:spPr>
        <p:txBody>
          <a:bodyPr wrap="square" rtlCol="0">
            <a:spAutoFit/>
          </a:bodyPr>
          <a:lstStyle/>
          <a:p>
            <a:r>
              <a:rPr lang="en-US" altLang="zh-CN" sz="2800" b="1" dirty="0" smtClean="0"/>
              <a:t>2.4 Learning a Chosen Value</a:t>
            </a:r>
            <a:endParaRPr lang="zh-CN" altLang="en-US" sz="2800" b="1" dirty="0"/>
          </a:p>
        </p:txBody>
      </p:sp>
      <p:sp>
        <p:nvSpPr>
          <p:cNvPr id="6" name="矩形 5"/>
          <p:cNvSpPr/>
          <p:nvPr/>
        </p:nvSpPr>
        <p:spPr bwMode="auto">
          <a:xfrm>
            <a:off x="179882" y="1454046"/>
            <a:ext cx="2443627" cy="475188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7" name="矩形 6"/>
          <p:cNvSpPr/>
          <p:nvPr/>
        </p:nvSpPr>
        <p:spPr bwMode="auto">
          <a:xfrm>
            <a:off x="2754668" y="1454046"/>
            <a:ext cx="2738603" cy="475188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8" name="矩形 7"/>
          <p:cNvSpPr/>
          <p:nvPr/>
        </p:nvSpPr>
        <p:spPr bwMode="auto">
          <a:xfrm>
            <a:off x="5647509" y="1454046"/>
            <a:ext cx="3429036" cy="475188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 name="椭圆 8"/>
          <p:cNvSpPr/>
          <p:nvPr/>
        </p:nvSpPr>
        <p:spPr bwMode="auto">
          <a:xfrm>
            <a:off x="311042" y="1881378"/>
            <a:ext cx="726797" cy="740191"/>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err="1" smtClean="0">
                <a:ln>
                  <a:noFill/>
                </a:ln>
                <a:solidFill>
                  <a:schemeClr val="bg1"/>
                </a:solidFill>
                <a:effectLst/>
                <a:latin typeface="Arial" panose="020B0604020202020204" pitchFamily="34" charset="0"/>
                <a:ea typeface="宋体" panose="02010600030101010101" pitchFamily="2" charset="-122"/>
              </a:rPr>
              <a:t>Acc</a:t>
            </a: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 </a:t>
            </a:r>
            <a:r>
              <a:rPr lang="en-US" altLang="zh-CN" sz="1200" b="1" dirty="0" smtClean="0">
                <a:solidFill>
                  <a:schemeClr val="bg1"/>
                </a:solidFill>
                <a:latin typeface="Arial" panose="020B0604020202020204" pitchFamily="34" charset="0"/>
                <a:ea typeface="宋体" panose="02010600030101010101" pitchFamily="2" charset="-122"/>
              </a:rPr>
              <a:t>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 name="椭圆 9"/>
          <p:cNvSpPr/>
          <p:nvPr/>
        </p:nvSpPr>
        <p:spPr bwMode="auto">
          <a:xfrm>
            <a:off x="311041" y="3084041"/>
            <a:ext cx="726797" cy="720100"/>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err="1" smtClean="0">
                <a:ln>
                  <a:noFill/>
                </a:ln>
                <a:solidFill>
                  <a:schemeClr val="bg1"/>
                </a:solidFill>
                <a:effectLst/>
                <a:latin typeface="Arial" panose="020B0604020202020204" pitchFamily="34" charset="0"/>
                <a:ea typeface="宋体" panose="02010600030101010101" pitchFamily="2" charset="-122"/>
              </a:rPr>
              <a:t>Acc</a:t>
            </a: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 </a:t>
            </a:r>
            <a:r>
              <a:rPr lang="en-US" altLang="zh-CN" sz="1200" b="1" dirty="0">
                <a:solidFill>
                  <a:schemeClr val="bg1"/>
                </a:solidFill>
                <a:latin typeface="Arial" panose="020B0604020202020204" pitchFamily="34" charset="0"/>
                <a:ea typeface="宋体" panose="02010600030101010101" pitchFamily="2" charset="-122"/>
              </a:rPr>
              <a:t>2</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2" name="椭圆 11"/>
          <p:cNvSpPr/>
          <p:nvPr/>
        </p:nvSpPr>
        <p:spPr bwMode="auto">
          <a:xfrm>
            <a:off x="1692909" y="1647620"/>
            <a:ext cx="706672" cy="686577"/>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a:t>
            </a:r>
            <a:r>
              <a:rPr lang="en-US" altLang="zh-CN" sz="1200" b="1" dirty="0" smtClean="0">
                <a:solidFill>
                  <a:schemeClr val="bg1"/>
                </a:solidFill>
                <a:latin typeface="Arial" panose="020B0604020202020204" pitchFamily="34" charset="0"/>
                <a:ea typeface="宋体" panose="02010600030101010101" pitchFamily="2" charset="-122"/>
              </a:rPr>
              <a:t>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3" name="椭圆 12"/>
          <p:cNvSpPr/>
          <p:nvPr/>
        </p:nvSpPr>
        <p:spPr bwMode="auto">
          <a:xfrm>
            <a:off x="1670343" y="2694247"/>
            <a:ext cx="712517" cy="699946"/>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Learn2</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4" name="椭圆 13"/>
          <p:cNvSpPr/>
          <p:nvPr/>
        </p:nvSpPr>
        <p:spPr bwMode="auto">
          <a:xfrm>
            <a:off x="1640725" y="3673821"/>
            <a:ext cx="722171" cy="736987"/>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Learn3</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4" name="直接箭头连接符 3"/>
          <p:cNvCxnSpPr>
            <a:stCxn id="9" idx="6"/>
            <a:endCxn id="12" idx="2"/>
          </p:cNvCxnSpPr>
          <p:nvPr/>
        </p:nvCxnSpPr>
        <p:spPr bwMode="auto">
          <a:xfrm flipV="1">
            <a:off x="1037839" y="1990909"/>
            <a:ext cx="655070" cy="260565"/>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5" name="直接箭头连接符 14"/>
          <p:cNvCxnSpPr>
            <a:stCxn id="9" idx="6"/>
            <a:endCxn id="13" idx="2"/>
          </p:cNvCxnSpPr>
          <p:nvPr/>
        </p:nvCxnSpPr>
        <p:spPr bwMode="auto">
          <a:xfrm>
            <a:off x="1037839" y="2251474"/>
            <a:ext cx="632504" cy="792746"/>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8" name="直接箭头连接符 17"/>
          <p:cNvCxnSpPr>
            <a:stCxn id="9" idx="6"/>
            <a:endCxn id="14" idx="1"/>
          </p:cNvCxnSpPr>
          <p:nvPr/>
        </p:nvCxnSpPr>
        <p:spPr bwMode="auto">
          <a:xfrm>
            <a:off x="1037839" y="2251474"/>
            <a:ext cx="708645" cy="1530276"/>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1" name="直接箭头连接符 20"/>
          <p:cNvCxnSpPr>
            <a:stCxn id="10" idx="6"/>
            <a:endCxn id="12" idx="3"/>
          </p:cNvCxnSpPr>
          <p:nvPr/>
        </p:nvCxnSpPr>
        <p:spPr bwMode="auto">
          <a:xfrm flipV="1">
            <a:off x="1037838" y="2233650"/>
            <a:ext cx="758561" cy="1210441"/>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6" name="直接箭头连接符 25"/>
          <p:cNvCxnSpPr>
            <a:stCxn id="10" idx="6"/>
            <a:endCxn id="13" idx="3"/>
          </p:cNvCxnSpPr>
          <p:nvPr/>
        </p:nvCxnSpPr>
        <p:spPr bwMode="auto">
          <a:xfrm flipV="1">
            <a:off x="1037838" y="3291688"/>
            <a:ext cx="736851" cy="152403"/>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9" name="直接箭头连接符 28"/>
          <p:cNvCxnSpPr>
            <a:stCxn id="10" idx="6"/>
            <a:endCxn id="14" idx="2"/>
          </p:cNvCxnSpPr>
          <p:nvPr/>
        </p:nvCxnSpPr>
        <p:spPr bwMode="auto">
          <a:xfrm>
            <a:off x="1037838" y="3444091"/>
            <a:ext cx="602887" cy="598224"/>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34" name="文本框 33"/>
          <p:cNvSpPr txBox="1"/>
          <p:nvPr/>
        </p:nvSpPr>
        <p:spPr>
          <a:xfrm>
            <a:off x="279215" y="4664857"/>
            <a:ext cx="2231510" cy="923330"/>
          </a:xfrm>
          <a:prstGeom prst="rect">
            <a:avLst/>
          </a:prstGeom>
          <a:noFill/>
        </p:spPr>
        <p:txBody>
          <a:bodyPr wrap="square" rtlCol="0">
            <a:spAutoFit/>
          </a:bodyPr>
          <a:lstStyle/>
          <a:p>
            <a:r>
              <a:rPr lang="en-US" altLang="zh-CN" dirty="0"/>
              <a:t>A</a:t>
            </a:r>
            <a:r>
              <a:rPr lang="en-US" altLang="zh-CN" dirty="0" smtClean="0"/>
              <a:t>dvantage: fast</a:t>
            </a:r>
          </a:p>
          <a:p>
            <a:r>
              <a:rPr lang="en-US" altLang="zh-CN" dirty="0" smtClean="0"/>
              <a:t>Disadvantage: (M*N)</a:t>
            </a:r>
          </a:p>
          <a:p>
            <a:endParaRPr lang="zh-CN" altLang="en-US" dirty="0"/>
          </a:p>
        </p:txBody>
      </p:sp>
      <p:sp>
        <p:nvSpPr>
          <p:cNvPr id="35" name="椭圆 34"/>
          <p:cNvSpPr/>
          <p:nvPr/>
        </p:nvSpPr>
        <p:spPr bwMode="auto">
          <a:xfrm>
            <a:off x="2842652" y="1947798"/>
            <a:ext cx="647829" cy="673771"/>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Acc1</a:t>
            </a:r>
            <a:endParaRPr kumimoji="0" lang="zh-CN" altLang="en-US"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7" name="椭圆 36"/>
          <p:cNvSpPr/>
          <p:nvPr/>
        </p:nvSpPr>
        <p:spPr bwMode="auto">
          <a:xfrm>
            <a:off x="3613219" y="2578477"/>
            <a:ext cx="710795" cy="623473"/>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200" b="1" dirty="0" smtClean="0">
                <a:solidFill>
                  <a:schemeClr val="bg1"/>
                </a:solidFill>
                <a:latin typeface="Arial" panose="020B0604020202020204" pitchFamily="34" charset="0"/>
                <a:ea typeface="宋体" panose="02010600030101010101" pitchFamily="2" charset="-122"/>
              </a:rPr>
              <a:t>D_L</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8" name="椭圆 37"/>
          <p:cNvSpPr/>
          <p:nvPr/>
        </p:nvSpPr>
        <p:spPr bwMode="auto">
          <a:xfrm>
            <a:off x="2830983" y="3299141"/>
            <a:ext cx="707815" cy="673771"/>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Acc2</a:t>
            </a:r>
            <a:endParaRPr kumimoji="0" lang="zh-CN" altLang="en-US"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9" name="椭圆 38"/>
          <p:cNvSpPr/>
          <p:nvPr/>
        </p:nvSpPr>
        <p:spPr bwMode="auto">
          <a:xfrm>
            <a:off x="4521479" y="1797970"/>
            <a:ext cx="726695" cy="672832"/>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40" name="椭圆 39"/>
          <p:cNvSpPr/>
          <p:nvPr/>
        </p:nvSpPr>
        <p:spPr bwMode="auto">
          <a:xfrm>
            <a:off x="4602798" y="2594092"/>
            <a:ext cx="726695" cy="672832"/>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Learn2 </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41" name="椭圆 40"/>
          <p:cNvSpPr/>
          <p:nvPr/>
        </p:nvSpPr>
        <p:spPr bwMode="auto">
          <a:xfrm>
            <a:off x="4586178" y="3455786"/>
            <a:ext cx="726695" cy="672832"/>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Learn3 </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42" name="直接箭头连接符 41"/>
          <p:cNvCxnSpPr>
            <a:stCxn id="35" idx="5"/>
            <a:endCxn id="37" idx="1"/>
          </p:cNvCxnSpPr>
          <p:nvPr/>
        </p:nvCxnSpPr>
        <p:spPr bwMode="auto">
          <a:xfrm>
            <a:off x="3395609" y="2522898"/>
            <a:ext cx="321704" cy="146885"/>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4" name="直接箭头连接符 43"/>
          <p:cNvCxnSpPr>
            <a:stCxn id="38" idx="7"/>
            <a:endCxn id="37" idx="3"/>
          </p:cNvCxnSpPr>
          <p:nvPr/>
        </p:nvCxnSpPr>
        <p:spPr bwMode="auto">
          <a:xfrm flipV="1">
            <a:off x="3435141" y="3110644"/>
            <a:ext cx="282172" cy="287168"/>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48" name="直接箭头连接符 47"/>
          <p:cNvCxnSpPr>
            <a:stCxn id="37" idx="7"/>
            <a:endCxn id="39" idx="3"/>
          </p:cNvCxnSpPr>
          <p:nvPr/>
        </p:nvCxnSpPr>
        <p:spPr bwMode="auto">
          <a:xfrm flipV="1">
            <a:off x="4219920" y="2372268"/>
            <a:ext cx="407981" cy="297515"/>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51" name="直接箭头连接符 50"/>
          <p:cNvCxnSpPr>
            <a:stCxn id="37" idx="6"/>
            <a:endCxn id="40" idx="2"/>
          </p:cNvCxnSpPr>
          <p:nvPr/>
        </p:nvCxnSpPr>
        <p:spPr bwMode="auto">
          <a:xfrm>
            <a:off x="4324014" y="2890214"/>
            <a:ext cx="278784" cy="40294"/>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54" name="直接箭头连接符 53"/>
          <p:cNvCxnSpPr>
            <a:stCxn id="37" idx="5"/>
            <a:endCxn id="41" idx="1"/>
          </p:cNvCxnSpPr>
          <p:nvPr/>
        </p:nvCxnSpPr>
        <p:spPr bwMode="auto">
          <a:xfrm>
            <a:off x="4219920" y="3110644"/>
            <a:ext cx="472680" cy="443676"/>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58" name="文本框 57"/>
          <p:cNvSpPr txBox="1"/>
          <p:nvPr/>
        </p:nvSpPr>
        <p:spPr>
          <a:xfrm>
            <a:off x="2861171" y="4744221"/>
            <a:ext cx="2577245" cy="1200329"/>
          </a:xfrm>
          <a:prstGeom prst="rect">
            <a:avLst/>
          </a:prstGeom>
          <a:noFill/>
        </p:spPr>
        <p:txBody>
          <a:bodyPr wrap="square" rtlCol="0">
            <a:spAutoFit/>
          </a:bodyPr>
          <a:lstStyle/>
          <a:p>
            <a:r>
              <a:rPr lang="en-US" altLang="zh-CN" dirty="0"/>
              <a:t>A</a:t>
            </a:r>
            <a:r>
              <a:rPr lang="en-US" altLang="zh-CN" dirty="0" smtClean="0"/>
              <a:t>dvantage: (M+N-1)</a:t>
            </a:r>
          </a:p>
          <a:p>
            <a:r>
              <a:rPr lang="en-US" altLang="zh-CN" dirty="0" smtClean="0"/>
              <a:t>Disadvantage: </a:t>
            </a:r>
          </a:p>
          <a:p>
            <a:pPr marL="285750" indent="-285750">
              <a:buFont typeface="Wingdings" panose="05000000000000000000" pitchFamily="2" charset="2"/>
              <a:buChar char="l"/>
            </a:pPr>
            <a:r>
              <a:rPr lang="en-US" altLang="zh-CN" dirty="0" smtClean="0"/>
              <a:t> an </a:t>
            </a:r>
            <a:r>
              <a:rPr lang="en-US" altLang="zh-CN" dirty="0"/>
              <a:t>extra </a:t>
            </a:r>
            <a:r>
              <a:rPr lang="en-US" altLang="zh-CN" dirty="0" smtClean="0"/>
              <a:t>round</a:t>
            </a:r>
          </a:p>
          <a:p>
            <a:pPr marL="285750" indent="-285750">
              <a:buFont typeface="Wingdings" panose="05000000000000000000" pitchFamily="2" charset="2"/>
              <a:buChar char="l"/>
            </a:pPr>
            <a:r>
              <a:rPr lang="en-US" altLang="zh-CN" dirty="0" smtClean="0"/>
              <a:t>less </a:t>
            </a:r>
            <a:r>
              <a:rPr lang="en-US" altLang="zh-CN" dirty="0"/>
              <a:t>reliable</a:t>
            </a:r>
            <a:endParaRPr lang="zh-CN" altLang="en-US" dirty="0"/>
          </a:p>
        </p:txBody>
      </p:sp>
      <p:sp>
        <p:nvSpPr>
          <p:cNvPr id="59" name="乘号 58"/>
          <p:cNvSpPr/>
          <p:nvPr/>
        </p:nvSpPr>
        <p:spPr bwMode="auto">
          <a:xfrm>
            <a:off x="3537561" y="2405689"/>
            <a:ext cx="886349" cy="960783"/>
          </a:xfrm>
          <a:prstGeom prst="mathMultiply">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8" name="文本框 97"/>
          <p:cNvSpPr txBox="1"/>
          <p:nvPr/>
        </p:nvSpPr>
        <p:spPr>
          <a:xfrm>
            <a:off x="311041" y="1492896"/>
            <a:ext cx="666827" cy="369332"/>
          </a:xfrm>
          <a:prstGeom prst="rect">
            <a:avLst/>
          </a:prstGeom>
          <a:noFill/>
        </p:spPr>
        <p:txBody>
          <a:bodyPr wrap="square" rtlCol="0">
            <a:spAutoFit/>
          </a:bodyPr>
          <a:lstStyle/>
          <a:p>
            <a:r>
              <a:rPr lang="en-US" altLang="zh-CN" dirty="0" smtClean="0"/>
              <a:t>(1)</a:t>
            </a:r>
            <a:endParaRPr lang="zh-CN" altLang="en-US" dirty="0"/>
          </a:p>
        </p:txBody>
      </p:sp>
      <p:sp>
        <p:nvSpPr>
          <p:cNvPr id="99" name="文本框 98"/>
          <p:cNvSpPr txBox="1"/>
          <p:nvPr/>
        </p:nvSpPr>
        <p:spPr>
          <a:xfrm>
            <a:off x="2861171" y="1488946"/>
            <a:ext cx="666827" cy="369332"/>
          </a:xfrm>
          <a:prstGeom prst="rect">
            <a:avLst/>
          </a:prstGeom>
          <a:noFill/>
        </p:spPr>
        <p:txBody>
          <a:bodyPr wrap="square" rtlCol="0">
            <a:spAutoFit/>
          </a:bodyPr>
          <a:lstStyle/>
          <a:p>
            <a:r>
              <a:rPr lang="en-US" altLang="zh-CN" dirty="0" smtClean="0"/>
              <a:t>(2)</a:t>
            </a:r>
            <a:endParaRPr lang="zh-CN" altLang="en-US" dirty="0"/>
          </a:p>
        </p:txBody>
      </p:sp>
      <p:sp>
        <p:nvSpPr>
          <p:cNvPr id="107" name="椭圆 106"/>
          <p:cNvSpPr/>
          <p:nvPr/>
        </p:nvSpPr>
        <p:spPr bwMode="auto">
          <a:xfrm>
            <a:off x="5732194" y="1784304"/>
            <a:ext cx="695371" cy="69900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Acc1</a:t>
            </a:r>
            <a:endParaRPr kumimoji="0" lang="zh-CN" altLang="en-US"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8" name="椭圆 107"/>
          <p:cNvSpPr/>
          <p:nvPr/>
        </p:nvSpPr>
        <p:spPr bwMode="auto">
          <a:xfrm>
            <a:off x="5769571" y="3016612"/>
            <a:ext cx="695371" cy="699003"/>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Acc1</a:t>
            </a:r>
            <a:endParaRPr kumimoji="0" lang="zh-CN" altLang="en-US"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9" name="椭圆 108"/>
          <p:cNvSpPr/>
          <p:nvPr/>
        </p:nvSpPr>
        <p:spPr bwMode="auto">
          <a:xfrm>
            <a:off x="8236908" y="1647620"/>
            <a:ext cx="726695" cy="672832"/>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10" name="椭圆 109"/>
          <p:cNvSpPr/>
          <p:nvPr/>
        </p:nvSpPr>
        <p:spPr bwMode="auto">
          <a:xfrm>
            <a:off x="8236907" y="2529118"/>
            <a:ext cx="726695" cy="672832"/>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11" name="椭圆 110"/>
          <p:cNvSpPr/>
          <p:nvPr/>
        </p:nvSpPr>
        <p:spPr bwMode="auto">
          <a:xfrm>
            <a:off x="8236906" y="3435939"/>
            <a:ext cx="726695" cy="672832"/>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Learn1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12" name="椭圆 111"/>
          <p:cNvSpPr/>
          <p:nvPr/>
        </p:nvSpPr>
        <p:spPr bwMode="auto">
          <a:xfrm>
            <a:off x="6761596" y="2309626"/>
            <a:ext cx="1200862" cy="1111842"/>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cxnSp>
        <p:nvCxnSpPr>
          <p:cNvPr id="123" name="直接箭头连接符 122"/>
          <p:cNvCxnSpPr>
            <a:endCxn id="39" idx="3"/>
          </p:cNvCxnSpPr>
          <p:nvPr/>
        </p:nvCxnSpPr>
        <p:spPr bwMode="auto">
          <a:xfrm flipV="1">
            <a:off x="4228664" y="2372268"/>
            <a:ext cx="399237" cy="305782"/>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138" name="椭圆 137"/>
          <p:cNvSpPr/>
          <p:nvPr/>
        </p:nvSpPr>
        <p:spPr bwMode="auto">
          <a:xfrm>
            <a:off x="7037231" y="2413962"/>
            <a:ext cx="359745" cy="360260"/>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39" name="椭圆 138"/>
          <p:cNvSpPr/>
          <p:nvPr/>
        </p:nvSpPr>
        <p:spPr bwMode="auto">
          <a:xfrm>
            <a:off x="7491552" y="2625584"/>
            <a:ext cx="359745" cy="360260"/>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40" name="椭圆 139"/>
          <p:cNvSpPr/>
          <p:nvPr/>
        </p:nvSpPr>
        <p:spPr bwMode="auto">
          <a:xfrm>
            <a:off x="7037231" y="2952727"/>
            <a:ext cx="359745" cy="360260"/>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41" name="直接箭头连接符 140"/>
          <p:cNvCxnSpPr>
            <a:stCxn id="107" idx="6"/>
          </p:cNvCxnSpPr>
          <p:nvPr/>
        </p:nvCxnSpPr>
        <p:spPr bwMode="auto">
          <a:xfrm>
            <a:off x="6427565" y="2133806"/>
            <a:ext cx="355379" cy="640416"/>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43" name="直接箭头连接符 142"/>
          <p:cNvCxnSpPr>
            <a:stCxn id="108" idx="6"/>
            <a:endCxn id="112" idx="2"/>
          </p:cNvCxnSpPr>
          <p:nvPr/>
        </p:nvCxnSpPr>
        <p:spPr bwMode="auto">
          <a:xfrm flipV="1">
            <a:off x="6464942" y="2865547"/>
            <a:ext cx="296654" cy="50056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46" name="直接箭头连接符 145"/>
          <p:cNvCxnSpPr>
            <a:stCxn id="112" idx="7"/>
            <a:endCxn id="109" idx="2"/>
          </p:cNvCxnSpPr>
          <p:nvPr/>
        </p:nvCxnSpPr>
        <p:spPr bwMode="auto">
          <a:xfrm flipV="1">
            <a:off x="7786596" y="1984036"/>
            <a:ext cx="450312" cy="488415"/>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49" name="直接箭头连接符 148"/>
          <p:cNvCxnSpPr>
            <a:stCxn id="112" idx="6"/>
            <a:endCxn id="110" idx="2"/>
          </p:cNvCxnSpPr>
          <p:nvPr/>
        </p:nvCxnSpPr>
        <p:spPr bwMode="auto">
          <a:xfrm flipV="1">
            <a:off x="7962458" y="2865534"/>
            <a:ext cx="274449" cy="13"/>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52" name="直接箭头连接符 151"/>
          <p:cNvCxnSpPr>
            <a:stCxn id="112" idx="5"/>
            <a:endCxn id="111" idx="1"/>
          </p:cNvCxnSpPr>
          <p:nvPr/>
        </p:nvCxnSpPr>
        <p:spPr bwMode="auto">
          <a:xfrm>
            <a:off x="7786596" y="3258643"/>
            <a:ext cx="556732" cy="275830"/>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155" name="文本框 154"/>
          <p:cNvSpPr txBox="1"/>
          <p:nvPr/>
        </p:nvSpPr>
        <p:spPr>
          <a:xfrm>
            <a:off x="5732194" y="4840507"/>
            <a:ext cx="3101840" cy="646331"/>
          </a:xfrm>
          <a:prstGeom prst="rect">
            <a:avLst/>
          </a:prstGeom>
          <a:noFill/>
        </p:spPr>
        <p:txBody>
          <a:bodyPr wrap="square" rtlCol="0">
            <a:spAutoFit/>
          </a:bodyPr>
          <a:lstStyle/>
          <a:p>
            <a:r>
              <a:rPr lang="en-US" altLang="zh-CN" dirty="0"/>
              <a:t>A</a:t>
            </a:r>
            <a:r>
              <a:rPr lang="en-US" altLang="zh-CN" dirty="0" smtClean="0"/>
              <a:t>dvantage: </a:t>
            </a:r>
            <a:r>
              <a:rPr lang="en-US" altLang="zh-CN" dirty="0"/>
              <a:t>greater </a:t>
            </a:r>
            <a:r>
              <a:rPr lang="en-US" altLang="zh-CN" dirty="0" smtClean="0"/>
              <a:t>reliability</a:t>
            </a:r>
          </a:p>
          <a:p>
            <a:r>
              <a:rPr lang="en-US" altLang="zh-CN" dirty="0" smtClean="0"/>
              <a:t>Disadvantage: </a:t>
            </a:r>
            <a:r>
              <a:rPr lang="en-US" altLang="zh-CN" dirty="0"/>
              <a:t>complexity</a:t>
            </a:r>
            <a:endParaRPr lang="zh-CN" altLang="en-US" dirty="0"/>
          </a:p>
        </p:txBody>
      </p:sp>
      <p:sp>
        <p:nvSpPr>
          <p:cNvPr id="156" name="文本框 155"/>
          <p:cNvSpPr txBox="1"/>
          <p:nvPr/>
        </p:nvSpPr>
        <p:spPr>
          <a:xfrm>
            <a:off x="7083748" y="3587325"/>
            <a:ext cx="749365" cy="400110"/>
          </a:xfrm>
          <a:prstGeom prst="rect">
            <a:avLst/>
          </a:prstGeom>
          <a:noFill/>
        </p:spPr>
        <p:txBody>
          <a:bodyPr wrap="square" rtlCol="0">
            <a:spAutoFit/>
          </a:bodyPr>
          <a:lstStyle/>
          <a:p>
            <a:r>
              <a:rPr lang="en-US" altLang="zh-CN" sz="2000" b="1" dirty="0" smtClean="0"/>
              <a:t>Set</a:t>
            </a:r>
            <a:endParaRPr lang="zh-CN" altLang="en-US" sz="2000" b="1" dirty="0"/>
          </a:p>
        </p:txBody>
      </p:sp>
      <p:sp>
        <p:nvSpPr>
          <p:cNvPr id="157" name="文本框 156"/>
          <p:cNvSpPr txBox="1"/>
          <p:nvPr/>
        </p:nvSpPr>
        <p:spPr>
          <a:xfrm>
            <a:off x="5665285" y="1434509"/>
            <a:ext cx="666827" cy="369332"/>
          </a:xfrm>
          <a:prstGeom prst="rect">
            <a:avLst/>
          </a:prstGeom>
          <a:noFill/>
        </p:spPr>
        <p:txBody>
          <a:bodyPr wrap="square" rtlCol="0">
            <a:spAutoFit/>
          </a:bodyPr>
          <a:lstStyle/>
          <a:p>
            <a:r>
              <a:rPr lang="en-US" altLang="zh-CN" dirty="0" smtClean="0"/>
              <a:t>(3)</a:t>
            </a:r>
            <a:endParaRPr lang="zh-CN" altLang="en-US" dirty="0"/>
          </a:p>
        </p:txBody>
      </p:sp>
      <p:sp>
        <p:nvSpPr>
          <p:cNvPr id="158" name="文本框 157"/>
          <p:cNvSpPr txBox="1"/>
          <p:nvPr/>
        </p:nvSpPr>
        <p:spPr>
          <a:xfrm>
            <a:off x="3193189" y="4033269"/>
            <a:ext cx="1568948" cy="646331"/>
          </a:xfrm>
          <a:prstGeom prst="rect">
            <a:avLst/>
          </a:prstGeom>
          <a:noFill/>
        </p:spPr>
        <p:txBody>
          <a:bodyPr wrap="square" rtlCol="0">
            <a:spAutoFit/>
          </a:bodyPr>
          <a:lstStyle/>
          <a:p>
            <a:r>
              <a:rPr lang="en-US" altLang="zh-CN" b="1" dirty="0" smtClean="0"/>
              <a:t>Di</a:t>
            </a:r>
            <a:r>
              <a:rPr lang="en-US" altLang="zh-CN" b="1" dirty="0"/>
              <a:t>s</a:t>
            </a:r>
            <a:r>
              <a:rPr lang="en-US" altLang="zh-CN" b="1" dirty="0" smtClean="0"/>
              <a:t>tinguished learner</a:t>
            </a:r>
            <a:endParaRPr lang="zh-CN" altLang="en-US" b="1" dirty="0"/>
          </a:p>
        </p:txBody>
      </p:sp>
    </p:spTree>
    <p:extLst>
      <p:ext uri="{BB962C8B-B14F-4D97-AF65-F5344CB8AC3E}">
        <p14:creationId xmlns:p14="http://schemas.microsoft.com/office/powerpoint/2010/main" val="233296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0" name="直接箭头连接符 189"/>
          <p:cNvCxnSpPr/>
          <p:nvPr/>
        </p:nvCxnSpPr>
        <p:spPr bwMode="auto">
          <a:xfrm>
            <a:off x="7353050" y="2507486"/>
            <a:ext cx="966207" cy="2314342"/>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160" name="直接箭头连接符 159"/>
          <p:cNvCxnSpPr/>
          <p:nvPr/>
        </p:nvCxnSpPr>
        <p:spPr bwMode="auto">
          <a:xfrm>
            <a:off x="3962249" y="1404678"/>
            <a:ext cx="674612" cy="4464054"/>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168" name="直接箭头连接符 167"/>
          <p:cNvCxnSpPr>
            <a:endCxn id="167" idx="0"/>
          </p:cNvCxnSpPr>
          <p:nvPr/>
        </p:nvCxnSpPr>
        <p:spPr bwMode="auto">
          <a:xfrm>
            <a:off x="5303121" y="2532501"/>
            <a:ext cx="840322" cy="2340007"/>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119" name="直接箭头连接符 118"/>
          <p:cNvCxnSpPr/>
          <p:nvPr/>
        </p:nvCxnSpPr>
        <p:spPr bwMode="auto">
          <a:xfrm>
            <a:off x="2540382" y="2500303"/>
            <a:ext cx="549718" cy="2383243"/>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103" name="直接箭头连接符 102"/>
          <p:cNvCxnSpPr/>
          <p:nvPr/>
        </p:nvCxnSpPr>
        <p:spPr bwMode="auto">
          <a:xfrm>
            <a:off x="1311268" y="1451210"/>
            <a:ext cx="674612" cy="4464054"/>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27" name="直接箭头连接符 26"/>
          <p:cNvCxnSpPr/>
          <p:nvPr/>
        </p:nvCxnSpPr>
        <p:spPr bwMode="auto">
          <a:xfrm>
            <a:off x="586962" y="2532501"/>
            <a:ext cx="468017" cy="2332088"/>
          </a:xfrm>
          <a:prstGeom prst="straightConnector1">
            <a:avLst/>
          </a:prstGeom>
          <a:solidFill>
            <a:srgbClr val="00B8FF"/>
          </a:solidFill>
          <a:ln w="9525" cap="flat" cmpd="sng" algn="ctr">
            <a:solidFill>
              <a:srgbClr val="00B0F0"/>
            </a:solidFill>
            <a:prstDash val="solid"/>
            <a:round/>
            <a:headEnd type="none" w="med" len="med"/>
            <a:tailEnd type="triangle"/>
          </a:ln>
        </p:spPr>
      </p:cxnSp>
      <p:sp>
        <p:nvSpPr>
          <p:cNvPr id="2" name="标题 1"/>
          <p:cNvSpPr>
            <a:spLocks noGrp="1"/>
          </p:cNvSpPr>
          <p:nvPr>
            <p:ph type="title"/>
          </p:nvPr>
        </p:nvSpPr>
        <p:spPr>
          <a:xfrm>
            <a:off x="1413524" y="162672"/>
            <a:ext cx="3079102" cy="770389"/>
          </a:xfrm>
        </p:spPr>
        <p:txBody>
          <a:bodyPr/>
          <a:lstStyle/>
          <a:p>
            <a:r>
              <a:rPr lang="en-US" altLang="zh-CN" dirty="0" smtClean="0"/>
              <a:t>2.6 An example</a:t>
            </a:r>
            <a:endParaRPr lang="zh-CN" altLang="en-US" dirty="0"/>
          </a:p>
        </p:txBody>
      </p:sp>
      <p:cxnSp>
        <p:nvCxnSpPr>
          <p:cNvPr id="4" name="直接连接符 3"/>
          <p:cNvCxnSpPr>
            <a:stCxn id="10" idx="6"/>
          </p:cNvCxnSpPr>
          <p:nvPr/>
        </p:nvCxnSpPr>
        <p:spPr bwMode="auto">
          <a:xfrm flipV="1">
            <a:off x="508635" y="1426609"/>
            <a:ext cx="8543925" cy="2460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直接连接符 5"/>
          <p:cNvCxnSpPr>
            <a:stCxn id="72" idx="6"/>
          </p:cNvCxnSpPr>
          <p:nvPr/>
        </p:nvCxnSpPr>
        <p:spPr bwMode="auto">
          <a:xfrm flipV="1">
            <a:off x="502919" y="2507495"/>
            <a:ext cx="8641081" cy="1169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p:cNvCxnSpPr>
            <a:stCxn id="75" idx="6"/>
          </p:cNvCxnSpPr>
          <p:nvPr/>
        </p:nvCxnSpPr>
        <p:spPr bwMode="auto">
          <a:xfrm flipV="1">
            <a:off x="519817" y="3943626"/>
            <a:ext cx="8624183" cy="526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直接连接符 7"/>
          <p:cNvCxnSpPr>
            <a:stCxn id="76" idx="6"/>
          </p:cNvCxnSpPr>
          <p:nvPr/>
        </p:nvCxnSpPr>
        <p:spPr bwMode="auto">
          <a:xfrm flipV="1">
            <a:off x="519817" y="4967402"/>
            <a:ext cx="8532743" cy="9579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直接连接符 8"/>
          <p:cNvCxnSpPr>
            <a:stCxn id="77" idx="6"/>
          </p:cNvCxnSpPr>
          <p:nvPr/>
        </p:nvCxnSpPr>
        <p:spPr bwMode="auto">
          <a:xfrm>
            <a:off x="508635" y="6068399"/>
            <a:ext cx="8543925" cy="4199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椭圆 9"/>
          <p:cNvSpPr/>
          <p:nvPr/>
        </p:nvSpPr>
        <p:spPr bwMode="auto">
          <a:xfrm>
            <a:off x="0" y="1199061"/>
            <a:ext cx="508635" cy="504299"/>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P2</a:t>
            </a:r>
            <a:endParaRPr kumimoji="0" lang="zh-CN" altLang="en-US"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3" name="圆角矩形 22"/>
          <p:cNvSpPr/>
          <p:nvPr/>
        </p:nvSpPr>
        <p:spPr bwMode="auto">
          <a:xfrm>
            <a:off x="696307" y="3808805"/>
            <a:ext cx="415311" cy="294107"/>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a:t>
            </a:r>
            <a:r>
              <a:rPr kumimoji="0" lang="en-US" altLang="zh-CN"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rPr>
              <a:t>1</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25" name="圆角矩形 24"/>
          <p:cNvSpPr/>
          <p:nvPr/>
        </p:nvSpPr>
        <p:spPr bwMode="auto">
          <a:xfrm>
            <a:off x="899857" y="3052861"/>
            <a:ext cx="563290" cy="311755"/>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dirty="0" err="1" smtClean="0">
                <a:solidFill>
                  <a:schemeClr val="bg1"/>
                </a:solidFill>
                <a:latin typeface="Arial" panose="020B0604020202020204" pitchFamily="34" charset="0"/>
                <a:ea typeface="宋体" panose="02010600030101010101" pitchFamily="2" charset="-122"/>
              </a:rPr>
              <a:t>Pok</a:t>
            </a:r>
            <a:endParaRPr kumimoji="0" lang="zh-CN" altLang="en-US"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30" name="直接箭头连接符 29"/>
          <p:cNvCxnSpPr>
            <a:endCxn id="25" idx="2"/>
          </p:cNvCxnSpPr>
          <p:nvPr/>
        </p:nvCxnSpPr>
        <p:spPr bwMode="auto">
          <a:xfrm flipH="1" flipV="1">
            <a:off x="1181502" y="3364616"/>
            <a:ext cx="18862" cy="1499974"/>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39" name="直接箭头连接符 38"/>
          <p:cNvCxnSpPr/>
          <p:nvPr/>
        </p:nvCxnSpPr>
        <p:spPr bwMode="auto">
          <a:xfrm flipV="1">
            <a:off x="993014" y="3363918"/>
            <a:ext cx="7823" cy="447894"/>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58" name="直接箭头连接符 57"/>
          <p:cNvCxnSpPr/>
          <p:nvPr/>
        </p:nvCxnSpPr>
        <p:spPr bwMode="auto">
          <a:xfrm flipV="1">
            <a:off x="1000837" y="2519190"/>
            <a:ext cx="0" cy="520362"/>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59" name="直接箭头连接符 58"/>
          <p:cNvCxnSpPr>
            <a:stCxn id="25" idx="0"/>
          </p:cNvCxnSpPr>
          <p:nvPr/>
        </p:nvCxnSpPr>
        <p:spPr bwMode="auto">
          <a:xfrm flipV="1">
            <a:off x="1181502" y="2524054"/>
            <a:ext cx="3243" cy="528807"/>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72" name="椭圆 71"/>
          <p:cNvSpPr/>
          <p:nvPr/>
        </p:nvSpPr>
        <p:spPr bwMode="auto">
          <a:xfrm>
            <a:off x="-5716" y="2267041"/>
            <a:ext cx="508635" cy="504299"/>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P1</a:t>
            </a:r>
            <a:endParaRPr kumimoji="0" lang="zh-CN" altLang="en-US" sz="11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75" name="椭圆 74"/>
          <p:cNvSpPr/>
          <p:nvPr/>
        </p:nvSpPr>
        <p:spPr bwMode="auto">
          <a:xfrm>
            <a:off x="11182" y="3744116"/>
            <a:ext cx="508635" cy="504299"/>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050" b="1" dirty="0" smtClean="0">
                <a:solidFill>
                  <a:schemeClr val="bg1"/>
                </a:solidFill>
                <a:latin typeface="Arial" panose="020B0604020202020204" pitchFamily="34" charset="0"/>
                <a:ea typeface="宋体" panose="02010600030101010101" pitchFamily="2" charset="-122"/>
              </a:rPr>
              <a:t>A</a:t>
            </a:r>
            <a:r>
              <a:rPr kumimoji="0" lang="en-US" altLang="zh-CN" sz="105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1</a:t>
            </a:r>
            <a:endParaRPr kumimoji="0" lang="zh-CN" altLang="en-US" sz="105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76" name="椭圆 75"/>
          <p:cNvSpPr/>
          <p:nvPr/>
        </p:nvSpPr>
        <p:spPr bwMode="auto">
          <a:xfrm>
            <a:off x="11182" y="4811042"/>
            <a:ext cx="508635" cy="504299"/>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050" b="1" dirty="0" smtClean="0">
                <a:solidFill>
                  <a:schemeClr val="bg1"/>
                </a:solidFill>
                <a:latin typeface="Arial" panose="020B0604020202020204" pitchFamily="34" charset="0"/>
                <a:ea typeface="宋体" panose="02010600030101010101" pitchFamily="2" charset="-122"/>
              </a:rPr>
              <a:t>A2</a:t>
            </a:r>
            <a:endParaRPr kumimoji="0" lang="zh-CN" altLang="en-US" sz="105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77" name="椭圆 76"/>
          <p:cNvSpPr/>
          <p:nvPr/>
        </p:nvSpPr>
        <p:spPr bwMode="auto">
          <a:xfrm>
            <a:off x="0" y="5816249"/>
            <a:ext cx="508635" cy="504299"/>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050" b="1" dirty="0" smtClean="0">
                <a:solidFill>
                  <a:schemeClr val="bg1"/>
                </a:solidFill>
                <a:latin typeface="Arial" panose="020B0604020202020204" pitchFamily="34" charset="0"/>
                <a:ea typeface="宋体" panose="02010600030101010101" pitchFamily="2" charset="-122"/>
              </a:rPr>
              <a:t>A3</a:t>
            </a:r>
            <a:endParaRPr kumimoji="0" lang="zh-CN" altLang="en-US" sz="105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06" name="直接箭头连接符 105"/>
          <p:cNvCxnSpPr/>
          <p:nvPr/>
        </p:nvCxnSpPr>
        <p:spPr bwMode="auto">
          <a:xfrm flipV="1">
            <a:off x="2192177" y="3385981"/>
            <a:ext cx="0" cy="2514158"/>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08" name="直接箭头连接符 107"/>
          <p:cNvCxnSpPr/>
          <p:nvPr/>
        </p:nvCxnSpPr>
        <p:spPr bwMode="auto">
          <a:xfrm flipV="1">
            <a:off x="1985880" y="3383523"/>
            <a:ext cx="0" cy="1501756"/>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10" name="直接箭头连接符 109"/>
          <p:cNvCxnSpPr/>
          <p:nvPr/>
        </p:nvCxnSpPr>
        <p:spPr bwMode="auto">
          <a:xfrm flipH="1" flipV="1">
            <a:off x="2193103" y="1456095"/>
            <a:ext cx="6635" cy="1627185"/>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11" name="直接箭头连接符 110"/>
          <p:cNvCxnSpPr/>
          <p:nvPr/>
        </p:nvCxnSpPr>
        <p:spPr bwMode="auto">
          <a:xfrm flipH="1" flipV="1">
            <a:off x="1960942" y="1469457"/>
            <a:ext cx="2221" cy="1604017"/>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16" name="圆角矩形 115"/>
          <p:cNvSpPr/>
          <p:nvPr/>
        </p:nvSpPr>
        <p:spPr bwMode="auto">
          <a:xfrm>
            <a:off x="2645415" y="3793695"/>
            <a:ext cx="736741" cy="30618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smtClean="0">
                <a:solidFill>
                  <a:schemeClr val="bg1"/>
                </a:solidFill>
                <a:latin typeface="Arial" panose="020B0604020202020204" pitchFamily="34" charset="0"/>
                <a:ea typeface="宋体" panose="02010600030101010101" pitchFamily="2" charset="-122"/>
              </a:rPr>
              <a:t>1,</a:t>
            </a:r>
            <a:r>
              <a:rPr lang="en-US" altLang="zh-CN" sz="1400" dirty="0">
                <a:solidFill>
                  <a:schemeClr val="bg1"/>
                </a:solidFill>
                <a:latin typeface="Arial" panose="020B0604020202020204" pitchFamily="34" charset="0"/>
                <a:ea typeface="宋体" panose="02010600030101010101" pitchFamily="2" charset="-122"/>
              </a:rPr>
              <a:t> </a:t>
            </a:r>
            <a:r>
              <a:rPr lang="en-US" altLang="zh-CN" sz="1400" dirty="0" smtClean="0">
                <a:solidFill>
                  <a:schemeClr val="bg1"/>
                </a:solidFill>
                <a:latin typeface="Arial" panose="020B0604020202020204" pitchFamily="34" charset="0"/>
                <a:ea typeface="宋体" panose="02010600030101010101" pitchFamily="2" charset="-122"/>
              </a:rPr>
              <a:t>V</a:t>
            </a:r>
            <a:r>
              <a:rPr lang="en-US" altLang="zh-CN" sz="1400" baseline="-25000" dirty="0" smtClean="0">
                <a:solidFill>
                  <a:schemeClr val="bg1"/>
                </a:solidFill>
                <a:latin typeface="Arial" panose="020B0604020202020204" pitchFamily="34" charset="0"/>
                <a:ea typeface="宋体" panose="02010600030101010101" pitchFamily="2" charset="-122"/>
              </a:rPr>
              <a:t>1</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17" name="矩形 116"/>
          <p:cNvSpPr/>
          <p:nvPr/>
        </p:nvSpPr>
        <p:spPr>
          <a:xfrm>
            <a:off x="4353831" y="3244334"/>
            <a:ext cx="436338" cy="369332"/>
          </a:xfrm>
          <a:prstGeom prst="rect">
            <a:avLst/>
          </a:prstGeom>
        </p:spPr>
        <p:txBody>
          <a:bodyPr wrap="none">
            <a:spAutoFit/>
          </a:bodyPr>
          <a:lstStyle/>
          <a:p>
            <a:r>
              <a:rPr lang="en-US" altLang="zh-CN" dirty="0">
                <a:solidFill>
                  <a:schemeClr val="bg1"/>
                </a:solidFill>
                <a:latin typeface="Arial" panose="020B0604020202020204" pitchFamily="34" charset="0"/>
                <a:ea typeface="宋体" panose="02010600030101010101" pitchFamily="2" charset="-122"/>
              </a:rPr>
              <a:t>N</a:t>
            </a:r>
            <a:r>
              <a:rPr lang="en-US" altLang="zh-CN" baseline="-25000" dirty="0">
                <a:solidFill>
                  <a:schemeClr val="bg1"/>
                </a:solidFill>
                <a:latin typeface="Arial" panose="020B0604020202020204" pitchFamily="34" charset="0"/>
                <a:ea typeface="宋体" panose="02010600030101010101" pitchFamily="2" charset="-122"/>
              </a:rPr>
              <a:t>1</a:t>
            </a:r>
            <a:endParaRPr lang="zh-CN" altLang="en-US" dirty="0"/>
          </a:p>
        </p:txBody>
      </p:sp>
      <p:sp>
        <p:nvSpPr>
          <p:cNvPr id="120" name="圆角矩形 119"/>
          <p:cNvSpPr/>
          <p:nvPr/>
        </p:nvSpPr>
        <p:spPr bwMode="auto">
          <a:xfrm>
            <a:off x="2821386" y="3050821"/>
            <a:ext cx="582416" cy="313689"/>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dirty="0" err="1" smtClean="0">
                <a:solidFill>
                  <a:schemeClr val="bg1"/>
                </a:solidFill>
                <a:latin typeface="Arial" panose="020B0604020202020204" pitchFamily="34" charset="0"/>
                <a:ea typeface="宋体" panose="02010600030101010101" pitchFamily="2" charset="-122"/>
              </a:rPr>
              <a:t>Acc</a:t>
            </a:r>
            <a:endParaRPr kumimoji="0" lang="zh-CN" altLang="en-US"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21" name="圆角矩形 120"/>
          <p:cNvSpPr/>
          <p:nvPr/>
        </p:nvSpPr>
        <p:spPr bwMode="auto">
          <a:xfrm>
            <a:off x="3441746" y="2917209"/>
            <a:ext cx="558666" cy="502379"/>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sz="1400" dirty="0" err="1" smtClean="0">
                <a:solidFill>
                  <a:schemeClr val="bg1"/>
                </a:solidFill>
                <a:latin typeface="Arial" panose="020B0604020202020204" pitchFamily="34" charset="0"/>
                <a:ea typeface="宋体" panose="02010600030101010101" pitchFamily="2" charset="-122"/>
              </a:rPr>
              <a:t>Rej</a:t>
            </a:r>
            <a:r>
              <a:rPr lang="en-US" altLang="zh-CN" sz="1400" dirty="0">
                <a:solidFill>
                  <a:schemeClr val="bg1"/>
                </a:solidFill>
                <a:latin typeface="Arial" panose="020B0604020202020204" pitchFamily="34" charset="0"/>
                <a:ea typeface="宋体" panose="02010600030101010101" pitchFamily="2" charset="-122"/>
              </a:rPr>
              <a:t>,</a:t>
            </a:r>
            <a:endParaRPr lang="en-US" altLang="zh-CN" sz="1400" dirty="0" smtClean="0">
              <a:solidFill>
                <a:schemeClr val="bg1"/>
              </a:solidFill>
              <a:latin typeface="Arial" panose="020B0604020202020204" pitchFamily="34" charset="0"/>
              <a:ea typeface="宋体" panose="02010600030101010101" pitchFamily="2" charset="-122"/>
            </a:endParaRPr>
          </a:p>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 </a:t>
            </a:r>
            <a:r>
              <a:rPr lang="en-US" altLang="zh-CN" sz="1400" dirty="0">
                <a:solidFill>
                  <a:schemeClr val="bg1"/>
                </a:solidFill>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2</a:t>
            </a:r>
            <a:endParaRPr lang="zh-CN" altLang="en-US" sz="1400" baseline="-25000" dirty="0">
              <a:solidFill>
                <a:schemeClr val="bg1"/>
              </a:solidFill>
              <a:latin typeface="Arial" panose="020B0604020202020204" pitchFamily="34" charset="0"/>
              <a:ea typeface="宋体" panose="02010600030101010101" pitchFamily="2" charset="-122"/>
            </a:endParaRP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23" name="直接箭头连接符 122"/>
          <p:cNvCxnSpPr/>
          <p:nvPr/>
        </p:nvCxnSpPr>
        <p:spPr bwMode="auto">
          <a:xfrm flipH="1" flipV="1">
            <a:off x="3048775" y="3373981"/>
            <a:ext cx="1699" cy="434824"/>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24" name="直接箭头连接符 123"/>
          <p:cNvCxnSpPr/>
          <p:nvPr/>
        </p:nvCxnSpPr>
        <p:spPr bwMode="auto">
          <a:xfrm flipH="1" flipV="1">
            <a:off x="3050382" y="2516571"/>
            <a:ext cx="1" cy="554001"/>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27" name="直接箭头连接符 126"/>
          <p:cNvCxnSpPr/>
          <p:nvPr/>
        </p:nvCxnSpPr>
        <p:spPr bwMode="auto">
          <a:xfrm flipV="1">
            <a:off x="3571430" y="3419588"/>
            <a:ext cx="27063" cy="1440843"/>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32" name="直接箭头连接符 131"/>
          <p:cNvCxnSpPr/>
          <p:nvPr/>
        </p:nvCxnSpPr>
        <p:spPr bwMode="auto">
          <a:xfrm flipV="1">
            <a:off x="3608748" y="2507486"/>
            <a:ext cx="12985" cy="409723"/>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44" name="圆角矩形 143"/>
          <p:cNvSpPr/>
          <p:nvPr/>
        </p:nvSpPr>
        <p:spPr bwMode="auto">
          <a:xfrm>
            <a:off x="966701" y="4873895"/>
            <a:ext cx="415311" cy="294107"/>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a:t>
            </a:r>
            <a:r>
              <a:rPr kumimoji="0" lang="en-US" altLang="zh-CN"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rPr>
              <a:t>1</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45" name="圆角矩形 144"/>
          <p:cNvSpPr/>
          <p:nvPr/>
        </p:nvSpPr>
        <p:spPr bwMode="auto">
          <a:xfrm>
            <a:off x="1620366" y="4885279"/>
            <a:ext cx="415311" cy="294107"/>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2</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46" name="圆角矩形 145"/>
          <p:cNvSpPr/>
          <p:nvPr/>
        </p:nvSpPr>
        <p:spPr bwMode="auto">
          <a:xfrm>
            <a:off x="1862529" y="5900139"/>
            <a:ext cx="415311" cy="294107"/>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2</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47" name="圆角矩形 146"/>
          <p:cNvSpPr/>
          <p:nvPr/>
        </p:nvSpPr>
        <p:spPr bwMode="auto">
          <a:xfrm>
            <a:off x="1802996" y="3073850"/>
            <a:ext cx="563290" cy="311755"/>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dirty="0" err="1" smtClean="0">
                <a:solidFill>
                  <a:schemeClr val="bg1"/>
                </a:solidFill>
                <a:latin typeface="Arial" panose="020B0604020202020204" pitchFamily="34" charset="0"/>
                <a:ea typeface="宋体" panose="02010600030101010101" pitchFamily="2" charset="-122"/>
              </a:rPr>
              <a:t>Pok</a:t>
            </a:r>
            <a:endParaRPr kumimoji="0" lang="zh-CN" altLang="en-US"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49" name="圆角矩形 148"/>
          <p:cNvSpPr/>
          <p:nvPr/>
        </p:nvSpPr>
        <p:spPr bwMode="auto">
          <a:xfrm>
            <a:off x="2953075" y="4860429"/>
            <a:ext cx="736741" cy="30618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smtClean="0">
                <a:solidFill>
                  <a:schemeClr val="bg1"/>
                </a:solidFill>
                <a:latin typeface="Arial" panose="020B0604020202020204" pitchFamily="34" charset="0"/>
                <a:ea typeface="宋体" panose="02010600030101010101" pitchFamily="2" charset="-122"/>
              </a:rPr>
              <a:t>1,</a:t>
            </a:r>
            <a:r>
              <a:rPr lang="en-US" altLang="zh-CN" sz="1400" dirty="0">
                <a:solidFill>
                  <a:schemeClr val="bg1"/>
                </a:solidFill>
                <a:latin typeface="Arial" panose="020B0604020202020204" pitchFamily="34" charset="0"/>
                <a:ea typeface="宋体" panose="02010600030101010101" pitchFamily="2" charset="-122"/>
              </a:rPr>
              <a:t> </a:t>
            </a:r>
            <a:r>
              <a:rPr lang="en-US" altLang="zh-CN" sz="1400" dirty="0" smtClean="0">
                <a:solidFill>
                  <a:schemeClr val="bg1"/>
                </a:solidFill>
                <a:latin typeface="Arial" panose="020B0604020202020204" pitchFamily="34" charset="0"/>
                <a:ea typeface="宋体" panose="02010600030101010101" pitchFamily="2" charset="-122"/>
              </a:rPr>
              <a:t>V</a:t>
            </a:r>
            <a:r>
              <a:rPr lang="en-US" altLang="zh-CN" sz="1400" baseline="-25000" dirty="0" smtClean="0">
                <a:solidFill>
                  <a:schemeClr val="bg1"/>
                </a:solidFill>
                <a:latin typeface="Arial" panose="020B0604020202020204" pitchFamily="34" charset="0"/>
                <a:ea typeface="宋体" panose="02010600030101010101" pitchFamily="2" charset="-122"/>
              </a:rPr>
              <a:t>1</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58" name="圆角矩形 157"/>
          <p:cNvSpPr/>
          <p:nvPr/>
        </p:nvSpPr>
        <p:spPr bwMode="auto">
          <a:xfrm>
            <a:off x="4203629" y="4873895"/>
            <a:ext cx="736741" cy="30618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baseline="-25000" dirty="0" smtClean="0">
                <a:solidFill>
                  <a:schemeClr val="bg1"/>
                </a:solidFill>
                <a:latin typeface="Arial" panose="020B0604020202020204" pitchFamily="34" charset="0"/>
                <a:ea typeface="宋体" panose="02010600030101010101" pitchFamily="2" charset="-122"/>
              </a:rPr>
              <a:t>,</a:t>
            </a:r>
            <a:r>
              <a:rPr lang="en-US" altLang="zh-CN" sz="1400" dirty="0" smtClean="0">
                <a:solidFill>
                  <a:schemeClr val="bg1"/>
                </a:solidFill>
                <a:latin typeface="Arial" panose="020B0604020202020204" pitchFamily="34" charset="0"/>
                <a:ea typeface="宋体" panose="02010600030101010101" pitchFamily="2" charset="-122"/>
              </a:rPr>
              <a:t> V</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59" name="圆角矩形 158"/>
          <p:cNvSpPr/>
          <p:nvPr/>
        </p:nvSpPr>
        <p:spPr bwMode="auto">
          <a:xfrm>
            <a:off x="4492626" y="5847453"/>
            <a:ext cx="736741" cy="30618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baseline="-25000" dirty="0" smtClean="0">
                <a:solidFill>
                  <a:schemeClr val="bg1"/>
                </a:solidFill>
                <a:latin typeface="Arial" panose="020B0604020202020204" pitchFamily="34" charset="0"/>
                <a:ea typeface="宋体" panose="02010600030101010101" pitchFamily="2" charset="-122"/>
              </a:rPr>
              <a:t>,</a:t>
            </a:r>
            <a:r>
              <a:rPr lang="en-US" altLang="zh-CN" sz="1400" dirty="0" smtClean="0">
                <a:solidFill>
                  <a:schemeClr val="bg1"/>
                </a:solidFill>
                <a:latin typeface="Arial" panose="020B0604020202020204" pitchFamily="34" charset="0"/>
                <a:ea typeface="宋体" panose="02010600030101010101" pitchFamily="2" charset="-122"/>
              </a:rPr>
              <a:t> V</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61" name="直接箭头连接符 160"/>
          <p:cNvCxnSpPr/>
          <p:nvPr/>
        </p:nvCxnSpPr>
        <p:spPr bwMode="auto">
          <a:xfrm flipV="1">
            <a:off x="4989354" y="3371516"/>
            <a:ext cx="0" cy="2514158"/>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62" name="直接箭头连接符 161"/>
          <p:cNvCxnSpPr/>
          <p:nvPr/>
        </p:nvCxnSpPr>
        <p:spPr bwMode="auto">
          <a:xfrm flipV="1">
            <a:off x="4783057" y="3369058"/>
            <a:ext cx="0" cy="1501756"/>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63" name="直接箭头连接符 162"/>
          <p:cNvCxnSpPr/>
          <p:nvPr/>
        </p:nvCxnSpPr>
        <p:spPr bwMode="auto">
          <a:xfrm flipH="1" flipV="1">
            <a:off x="4990280" y="1441630"/>
            <a:ext cx="6635" cy="1627185"/>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64" name="直接箭头连接符 163"/>
          <p:cNvCxnSpPr/>
          <p:nvPr/>
        </p:nvCxnSpPr>
        <p:spPr bwMode="auto">
          <a:xfrm flipH="1" flipV="1">
            <a:off x="4758119" y="1454992"/>
            <a:ext cx="2221" cy="1604017"/>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65" name="圆角矩形 164"/>
          <p:cNvSpPr/>
          <p:nvPr/>
        </p:nvSpPr>
        <p:spPr bwMode="auto">
          <a:xfrm>
            <a:off x="4600173" y="3059385"/>
            <a:ext cx="563290" cy="311755"/>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dirty="0" err="1" smtClean="0">
                <a:solidFill>
                  <a:schemeClr val="bg1"/>
                </a:solidFill>
                <a:latin typeface="Arial" panose="020B0604020202020204" pitchFamily="34" charset="0"/>
                <a:ea typeface="宋体" panose="02010600030101010101" pitchFamily="2" charset="-122"/>
              </a:rPr>
              <a:t>Acc</a:t>
            </a:r>
            <a:endParaRPr kumimoji="0" lang="zh-CN" altLang="en-US"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66" name="圆角矩形 165"/>
          <p:cNvSpPr/>
          <p:nvPr/>
        </p:nvSpPr>
        <p:spPr bwMode="auto">
          <a:xfrm>
            <a:off x="5598687" y="3807543"/>
            <a:ext cx="415311" cy="294107"/>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3</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67" name="圆角矩形 166"/>
          <p:cNvSpPr/>
          <p:nvPr/>
        </p:nvSpPr>
        <p:spPr bwMode="auto">
          <a:xfrm>
            <a:off x="5935787" y="4872508"/>
            <a:ext cx="415311" cy="294107"/>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3</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70" name="圆角矩形 169"/>
          <p:cNvSpPr/>
          <p:nvPr/>
        </p:nvSpPr>
        <p:spPr bwMode="auto">
          <a:xfrm>
            <a:off x="5656806" y="3098191"/>
            <a:ext cx="736741" cy="306186"/>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smtClean="0">
                <a:solidFill>
                  <a:schemeClr val="bg1"/>
                </a:solidFill>
                <a:latin typeface="Arial" panose="020B0604020202020204" pitchFamily="34" charset="0"/>
                <a:ea typeface="宋体" panose="02010600030101010101" pitchFamily="2" charset="-122"/>
              </a:rPr>
              <a:t>1,</a:t>
            </a:r>
            <a:r>
              <a:rPr lang="en-US" altLang="zh-CN" sz="1400" dirty="0">
                <a:solidFill>
                  <a:schemeClr val="bg1"/>
                </a:solidFill>
                <a:latin typeface="Arial" panose="020B0604020202020204" pitchFamily="34" charset="0"/>
                <a:ea typeface="宋体" panose="02010600030101010101" pitchFamily="2" charset="-122"/>
              </a:rPr>
              <a:t> </a:t>
            </a:r>
            <a:r>
              <a:rPr lang="en-US" altLang="zh-CN" sz="1400" dirty="0" smtClean="0">
                <a:solidFill>
                  <a:schemeClr val="bg1"/>
                </a:solidFill>
                <a:latin typeface="Arial" panose="020B0604020202020204" pitchFamily="34" charset="0"/>
                <a:ea typeface="宋体" panose="02010600030101010101" pitchFamily="2" charset="-122"/>
              </a:rPr>
              <a:t>V</a:t>
            </a:r>
            <a:r>
              <a:rPr lang="en-US" altLang="zh-CN" sz="1400" baseline="-25000" dirty="0" smtClean="0">
                <a:solidFill>
                  <a:schemeClr val="bg1"/>
                </a:solidFill>
                <a:latin typeface="Arial" panose="020B0604020202020204" pitchFamily="34" charset="0"/>
                <a:ea typeface="宋体" panose="02010600030101010101" pitchFamily="2" charset="-122"/>
              </a:rPr>
              <a:t>1</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71" name="圆角矩形 170"/>
          <p:cNvSpPr/>
          <p:nvPr/>
        </p:nvSpPr>
        <p:spPr bwMode="auto">
          <a:xfrm>
            <a:off x="6446138" y="3119156"/>
            <a:ext cx="736741" cy="306186"/>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baseline="-25000" dirty="0" smtClean="0">
                <a:solidFill>
                  <a:schemeClr val="bg1"/>
                </a:solidFill>
                <a:latin typeface="Arial" panose="020B0604020202020204" pitchFamily="34" charset="0"/>
                <a:ea typeface="宋体" panose="02010600030101010101" pitchFamily="2" charset="-122"/>
              </a:rPr>
              <a:t>,</a:t>
            </a:r>
            <a:r>
              <a:rPr lang="en-US" altLang="zh-CN" sz="1400" dirty="0" smtClean="0">
                <a:solidFill>
                  <a:schemeClr val="bg1"/>
                </a:solidFill>
                <a:latin typeface="Arial" panose="020B0604020202020204" pitchFamily="34" charset="0"/>
                <a:ea typeface="宋体" panose="02010600030101010101" pitchFamily="2" charset="-122"/>
              </a:rPr>
              <a:t> V</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73" name="圆角矩形 172"/>
          <p:cNvSpPr/>
          <p:nvPr/>
        </p:nvSpPr>
        <p:spPr bwMode="auto">
          <a:xfrm>
            <a:off x="7470422" y="3807543"/>
            <a:ext cx="736741" cy="30618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smtClean="0">
                <a:solidFill>
                  <a:schemeClr val="bg1"/>
                </a:solidFill>
                <a:latin typeface="Arial" panose="020B0604020202020204" pitchFamily="34" charset="0"/>
                <a:ea typeface="宋体" panose="02010600030101010101" pitchFamily="2" charset="-122"/>
              </a:rPr>
              <a:t>3,</a:t>
            </a:r>
            <a:r>
              <a:rPr lang="en-US" altLang="zh-CN" sz="1400" dirty="0" smtClean="0">
                <a:solidFill>
                  <a:schemeClr val="bg1"/>
                </a:solidFill>
                <a:latin typeface="Arial" panose="020B0604020202020204" pitchFamily="34" charset="0"/>
                <a:ea typeface="宋体" panose="02010600030101010101" pitchFamily="2" charset="-122"/>
              </a:rPr>
              <a:t> V</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74" name="圆角矩形 173"/>
          <p:cNvSpPr/>
          <p:nvPr/>
        </p:nvSpPr>
        <p:spPr bwMode="auto">
          <a:xfrm>
            <a:off x="8066626" y="4836995"/>
            <a:ext cx="736741" cy="306186"/>
          </a:xfrm>
          <a:prstGeom prst="roundRect">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algn="ctr" defTabSz="457200" fontAlgn="base">
              <a:spcBef>
                <a:spcPct val="0"/>
              </a:spcBef>
              <a:spcAft>
                <a:spcPct val="0"/>
              </a:spcAft>
              <a:buClr>
                <a:srgbClr val="000000"/>
              </a:buClr>
              <a:buSzPct val="100000"/>
            </a:pPr>
            <a:r>
              <a:rPr lang="en-US" altLang="zh-CN" sz="1400" dirty="0" smtClean="0">
                <a:solidFill>
                  <a:schemeClr val="bg1"/>
                </a:solidFill>
                <a:latin typeface="Arial" panose="020B0604020202020204" pitchFamily="34" charset="0"/>
                <a:ea typeface="宋体" panose="02010600030101010101" pitchFamily="2" charset="-122"/>
              </a:rPr>
              <a:t>[N</a:t>
            </a:r>
            <a:r>
              <a:rPr lang="en-US" altLang="zh-CN" sz="1400" baseline="-25000" dirty="0" smtClean="0">
                <a:solidFill>
                  <a:schemeClr val="bg1"/>
                </a:solidFill>
                <a:latin typeface="Arial" panose="020B0604020202020204" pitchFamily="34" charset="0"/>
                <a:ea typeface="宋体" panose="02010600030101010101" pitchFamily="2" charset="-122"/>
              </a:rPr>
              <a:t>3,</a:t>
            </a:r>
            <a:r>
              <a:rPr lang="en-US" altLang="zh-CN" sz="1400" dirty="0" smtClean="0">
                <a:solidFill>
                  <a:schemeClr val="bg1"/>
                </a:solidFill>
                <a:latin typeface="Arial" panose="020B0604020202020204" pitchFamily="34" charset="0"/>
                <a:ea typeface="宋体" panose="02010600030101010101" pitchFamily="2" charset="-122"/>
              </a:rPr>
              <a:t> V</a:t>
            </a:r>
            <a:r>
              <a:rPr lang="en-US" altLang="zh-CN" sz="1400" baseline="-25000" dirty="0">
                <a:solidFill>
                  <a:schemeClr val="bg1"/>
                </a:solidFill>
                <a:latin typeface="Arial" panose="020B0604020202020204" pitchFamily="34" charset="0"/>
                <a:ea typeface="宋体" panose="02010600030101010101" pitchFamily="2" charset="-122"/>
              </a:rPr>
              <a:t>2</a:t>
            </a:r>
            <a:r>
              <a:rPr lang="en-US" altLang="zh-CN" sz="1400" dirty="0" smtClean="0">
                <a:solidFill>
                  <a:schemeClr val="bg1"/>
                </a:solidFill>
                <a:latin typeface="Arial" panose="020B0604020202020204" pitchFamily="34" charset="0"/>
                <a:ea typeface="宋体" panose="02010600030101010101" pitchFamily="2" charset="-122"/>
              </a:rPr>
              <a:t>]</a:t>
            </a:r>
            <a:endParaRPr kumimoji="0" lang="zh-CN" altLang="en-US" sz="1400" b="0" i="0" u="none" strike="noStrike" cap="none" normalizeH="0" baseline="-25000" dirty="0" smtClean="0">
              <a:ln>
                <a:noFill/>
              </a:ln>
              <a:solidFill>
                <a:schemeClr val="bg1"/>
              </a:solidFill>
              <a:effectLst/>
              <a:latin typeface="Arial" panose="020B0604020202020204" pitchFamily="34" charset="0"/>
              <a:ea typeface="宋体" panose="02010600030101010101" pitchFamily="2" charset="-122"/>
            </a:endParaRPr>
          </a:p>
        </p:txBody>
      </p:sp>
      <p:sp>
        <p:nvSpPr>
          <p:cNvPr id="175" name="圆角矩形 174"/>
          <p:cNvSpPr/>
          <p:nvPr/>
        </p:nvSpPr>
        <p:spPr bwMode="auto">
          <a:xfrm>
            <a:off x="7975885" y="3081684"/>
            <a:ext cx="582416" cy="313689"/>
          </a:xfrm>
          <a:prstGeom prst="roundRect">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dirty="0" err="1" smtClean="0">
                <a:solidFill>
                  <a:schemeClr val="bg1"/>
                </a:solidFill>
                <a:latin typeface="Arial" panose="020B0604020202020204" pitchFamily="34" charset="0"/>
                <a:ea typeface="宋体" panose="02010600030101010101" pitchFamily="2" charset="-122"/>
              </a:rPr>
              <a:t>Acc</a:t>
            </a:r>
            <a:endParaRPr kumimoji="0" lang="zh-CN" altLang="en-US" sz="14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77" name="直接箭头连接符 176"/>
          <p:cNvCxnSpPr/>
          <p:nvPr/>
        </p:nvCxnSpPr>
        <p:spPr bwMode="auto">
          <a:xfrm flipH="1" flipV="1">
            <a:off x="5890825" y="3395373"/>
            <a:ext cx="1" cy="410591"/>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79" name="直接箭头连接符 178"/>
          <p:cNvCxnSpPr/>
          <p:nvPr/>
        </p:nvCxnSpPr>
        <p:spPr bwMode="auto">
          <a:xfrm flipH="1" flipV="1">
            <a:off x="5876113" y="2522621"/>
            <a:ext cx="14712" cy="575570"/>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85" name="直接箭头连接符 184"/>
          <p:cNvCxnSpPr/>
          <p:nvPr/>
        </p:nvCxnSpPr>
        <p:spPr bwMode="auto">
          <a:xfrm flipV="1">
            <a:off x="6257581" y="3419588"/>
            <a:ext cx="302463" cy="1463959"/>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89" name="直接箭头连接符 188"/>
          <p:cNvCxnSpPr/>
          <p:nvPr/>
        </p:nvCxnSpPr>
        <p:spPr bwMode="auto">
          <a:xfrm flipH="1" flipV="1">
            <a:off x="6612854" y="2531388"/>
            <a:ext cx="14712" cy="575570"/>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92" name="直接箭头连接符 191"/>
          <p:cNvCxnSpPr/>
          <p:nvPr/>
        </p:nvCxnSpPr>
        <p:spPr bwMode="auto">
          <a:xfrm flipH="1" flipV="1">
            <a:off x="8089423" y="3382569"/>
            <a:ext cx="1" cy="410591"/>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93" name="直接箭头连接符 192"/>
          <p:cNvCxnSpPr/>
          <p:nvPr/>
        </p:nvCxnSpPr>
        <p:spPr bwMode="auto">
          <a:xfrm flipH="1" flipV="1">
            <a:off x="8095091" y="2520944"/>
            <a:ext cx="14712" cy="575570"/>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94" name="直接箭头连接符 193"/>
          <p:cNvCxnSpPr/>
          <p:nvPr/>
        </p:nvCxnSpPr>
        <p:spPr bwMode="auto">
          <a:xfrm flipH="1" flipV="1">
            <a:off x="8432795" y="3395373"/>
            <a:ext cx="43903" cy="1442853"/>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197" name="直接箭头连接符 196"/>
          <p:cNvCxnSpPr/>
          <p:nvPr/>
        </p:nvCxnSpPr>
        <p:spPr bwMode="auto">
          <a:xfrm flipH="1" flipV="1">
            <a:off x="8431107" y="2520944"/>
            <a:ext cx="14712" cy="575570"/>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98" name="文本框 197"/>
          <p:cNvSpPr txBox="1"/>
          <p:nvPr/>
        </p:nvSpPr>
        <p:spPr>
          <a:xfrm>
            <a:off x="2297293" y="2213108"/>
            <a:ext cx="655782" cy="276999"/>
          </a:xfrm>
          <a:prstGeom prst="rect">
            <a:avLst/>
          </a:prstGeom>
          <a:noFill/>
        </p:spPr>
        <p:txBody>
          <a:bodyPr wrap="square" rtlCol="0">
            <a:spAutoFit/>
          </a:bodyPr>
          <a:lstStyle/>
          <a:p>
            <a:pPr algn="ctr"/>
            <a:r>
              <a:rPr lang="en-US" altLang="zh-CN" sz="1200" dirty="0" smtClean="0"/>
              <a:t>accept</a:t>
            </a:r>
            <a:endParaRPr lang="zh-CN" altLang="en-US" sz="1200" dirty="0"/>
          </a:p>
        </p:txBody>
      </p:sp>
      <p:sp>
        <p:nvSpPr>
          <p:cNvPr id="199" name="文本框 198"/>
          <p:cNvSpPr txBox="1"/>
          <p:nvPr/>
        </p:nvSpPr>
        <p:spPr>
          <a:xfrm>
            <a:off x="948124" y="1119655"/>
            <a:ext cx="673704" cy="276999"/>
          </a:xfrm>
          <a:prstGeom prst="rect">
            <a:avLst/>
          </a:prstGeom>
          <a:noFill/>
        </p:spPr>
        <p:txBody>
          <a:bodyPr wrap="square" rtlCol="0">
            <a:spAutoFit/>
          </a:bodyPr>
          <a:lstStyle/>
          <a:p>
            <a:pPr algn="ctr"/>
            <a:r>
              <a:rPr lang="en-US" altLang="zh-CN" sz="1200" dirty="0" smtClean="0"/>
              <a:t>prepare</a:t>
            </a:r>
            <a:endParaRPr lang="zh-CN" altLang="en-US" sz="1200" dirty="0"/>
          </a:p>
        </p:txBody>
      </p:sp>
      <p:sp>
        <p:nvSpPr>
          <p:cNvPr id="200" name="文本框 199"/>
          <p:cNvSpPr txBox="1"/>
          <p:nvPr/>
        </p:nvSpPr>
        <p:spPr>
          <a:xfrm>
            <a:off x="5046938" y="2210910"/>
            <a:ext cx="673704" cy="276999"/>
          </a:xfrm>
          <a:prstGeom prst="rect">
            <a:avLst/>
          </a:prstGeom>
          <a:noFill/>
        </p:spPr>
        <p:txBody>
          <a:bodyPr wrap="square" rtlCol="0">
            <a:spAutoFit/>
          </a:bodyPr>
          <a:lstStyle/>
          <a:p>
            <a:pPr algn="ctr"/>
            <a:r>
              <a:rPr lang="en-US" altLang="zh-CN" sz="1200" dirty="0" smtClean="0"/>
              <a:t>prepare</a:t>
            </a:r>
            <a:endParaRPr lang="zh-CN" altLang="en-US" sz="1200" dirty="0"/>
          </a:p>
        </p:txBody>
      </p:sp>
      <p:sp>
        <p:nvSpPr>
          <p:cNvPr id="201" name="文本框 200"/>
          <p:cNvSpPr txBox="1"/>
          <p:nvPr/>
        </p:nvSpPr>
        <p:spPr>
          <a:xfrm>
            <a:off x="561569" y="2238085"/>
            <a:ext cx="673704" cy="276999"/>
          </a:xfrm>
          <a:prstGeom prst="rect">
            <a:avLst/>
          </a:prstGeom>
          <a:noFill/>
        </p:spPr>
        <p:txBody>
          <a:bodyPr wrap="square" rtlCol="0">
            <a:spAutoFit/>
          </a:bodyPr>
          <a:lstStyle/>
          <a:p>
            <a:pPr algn="ctr"/>
            <a:r>
              <a:rPr lang="en-US" altLang="zh-CN" sz="1200" dirty="0" smtClean="0"/>
              <a:t>prepare</a:t>
            </a:r>
            <a:endParaRPr lang="zh-CN" altLang="en-US" sz="1200" dirty="0"/>
          </a:p>
        </p:txBody>
      </p:sp>
      <p:sp>
        <p:nvSpPr>
          <p:cNvPr id="202" name="文本框 201"/>
          <p:cNvSpPr txBox="1"/>
          <p:nvPr/>
        </p:nvSpPr>
        <p:spPr>
          <a:xfrm>
            <a:off x="3617226" y="1119654"/>
            <a:ext cx="655782" cy="276999"/>
          </a:xfrm>
          <a:prstGeom prst="rect">
            <a:avLst/>
          </a:prstGeom>
          <a:noFill/>
        </p:spPr>
        <p:txBody>
          <a:bodyPr wrap="square" rtlCol="0">
            <a:spAutoFit/>
          </a:bodyPr>
          <a:lstStyle/>
          <a:p>
            <a:pPr algn="ctr"/>
            <a:r>
              <a:rPr lang="en-US" altLang="zh-CN" sz="1200" dirty="0" smtClean="0"/>
              <a:t>accept</a:t>
            </a:r>
            <a:endParaRPr lang="zh-CN" altLang="en-US" sz="1200" dirty="0"/>
          </a:p>
        </p:txBody>
      </p:sp>
      <p:sp>
        <p:nvSpPr>
          <p:cNvPr id="203" name="文本框 202"/>
          <p:cNvSpPr txBox="1"/>
          <p:nvPr/>
        </p:nvSpPr>
        <p:spPr>
          <a:xfrm>
            <a:off x="7025159" y="2199749"/>
            <a:ext cx="655782" cy="276999"/>
          </a:xfrm>
          <a:prstGeom prst="rect">
            <a:avLst/>
          </a:prstGeom>
          <a:noFill/>
        </p:spPr>
        <p:txBody>
          <a:bodyPr wrap="square" rtlCol="0">
            <a:spAutoFit/>
          </a:bodyPr>
          <a:lstStyle/>
          <a:p>
            <a:pPr algn="ctr"/>
            <a:r>
              <a:rPr lang="en-US" altLang="zh-CN" sz="1200" dirty="0" smtClean="0"/>
              <a:t>accept</a:t>
            </a:r>
            <a:endParaRPr lang="zh-CN" altLang="en-US" sz="1200" dirty="0"/>
          </a:p>
        </p:txBody>
      </p:sp>
      <p:sp>
        <p:nvSpPr>
          <p:cNvPr id="205" name="文本框 204"/>
          <p:cNvSpPr txBox="1"/>
          <p:nvPr/>
        </p:nvSpPr>
        <p:spPr>
          <a:xfrm>
            <a:off x="2801568" y="2054906"/>
            <a:ext cx="1161176" cy="461665"/>
          </a:xfrm>
          <a:prstGeom prst="rect">
            <a:avLst/>
          </a:prstGeom>
          <a:noFill/>
        </p:spPr>
        <p:txBody>
          <a:bodyPr wrap="square" rtlCol="0">
            <a:spAutoFit/>
          </a:bodyPr>
          <a:lstStyle/>
          <a:p>
            <a:pPr algn="ctr"/>
            <a:r>
              <a:rPr lang="en-US" altLang="zh-CN" sz="2400" b="1" dirty="0" smtClean="0">
                <a:solidFill>
                  <a:srgbClr val="FF3300"/>
                </a:solidFill>
              </a:rPr>
              <a:t>failure</a:t>
            </a:r>
            <a:endParaRPr lang="zh-CN" altLang="en-US" sz="2400" b="1" dirty="0">
              <a:solidFill>
                <a:srgbClr val="FF3300"/>
              </a:solidFill>
            </a:endParaRPr>
          </a:p>
        </p:txBody>
      </p:sp>
      <p:sp>
        <p:nvSpPr>
          <p:cNvPr id="207" name="文本框 206"/>
          <p:cNvSpPr txBox="1"/>
          <p:nvPr/>
        </p:nvSpPr>
        <p:spPr>
          <a:xfrm>
            <a:off x="4416655" y="1019947"/>
            <a:ext cx="1145397" cy="461665"/>
          </a:xfrm>
          <a:prstGeom prst="rect">
            <a:avLst/>
          </a:prstGeom>
          <a:noFill/>
        </p:spPr>
        <p:txBody>
          <a:bodyPr wrap="square" rtlCol="0">
            <a:spAutoFit/>
          </a:bodyPr>
          <a:lstStyle/>
          <a:p>
            <a:pPr algn="ctr"/>
            <a:r>
              <a:rPr lang="en-US" altLang="zh-CN" sz="2400" b="1" dirty="0" smtClean="0">
                <a:solidFill>
                  <a:srgbClr val="FF3300"/>
                </a:solidFill>
              </a:rPr>
              <a:t>Success</a:t>
            </a:r>
            <a:endParaRPr lang="zh-CN" altLang="en-US" sz="2400" b="1" dirty="0">
              <a:solidFill>
                <a:srgbClr val="FF3300"/>
              </a:solidFill>
            </a:endParaRPr>
          </a:p>
        </p:txBody>
      </p:sp>
      <p:sp>
        <p:nvSpPr>
          <p:cNvPr id="208" name="文本框 207"/>
          <p:cNvSpPr txBox="1"/>
          <p:nvPr/>
        </p:nvSpPr>
        <p:spPr>
          <a:xfrm>
            <a:off x="7694394" y="2019574"/>
            <a:ext cx="1145397" cy="461665"/>
          </a:xfrm>
          <a:prstGeom prst="rect">
            <a:avLst/>
          </a:prstGeom>
          <a:noFill/>
        </p:spPr>
        <p:txBody>
          <a:bodyPr wrap="square" rtlCol="0">
            <a:spAutoFit/>
          </a:bodyPr>
          <a:lstStyle/>
          <a:p>
            <a:pPr algn="ctr"/>
            <a:r>
              <a:rPr lang="en-US" altLang="zh-CN" sz="2400" b="1" dirty="0" smtClean="0">
                <a:solidFill>
                  <a:srgbClr val="FF3300"/>
                </a:solidFill>
              </a:rPr>
              <a:t>Success</a:t>
            </a:r>
            <a:endParaRPr lang="zh-CN" altLang="en-US" sz="2400" b="1" dirty="0">
              <a:solidFill>
                <a:srgbClr val="FF3300"/>
              </a:solidFill>
            </a:endParaRPr>
          </a:p>
        </p:txBody>
      </p:sp>
    </p:spTree>
    <p:extLst>
      <p:ext uri="{BB962C8B-B14F-4D97-AF65-F5344CB8AC3E}">
        <p14:creationId xmlns:p14="http://schemas.microsoft.com/office/powerpoint/2010/main" val="256573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0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6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6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6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6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0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6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6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7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70"/>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7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18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7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8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0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9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7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7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9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9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7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93"/>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9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116" grpId="0" animBg="1"/>
      <p:bldP spid="120" grpId="0" animBg="1"/>
      <p:bldP spid="121" grpId="0" animBg="1"/>
      <p:bldP spid="144" grpId="0" animBg="1"/>
      <p:bldP spid="145" grpId="0" animBg="1"/>
      <p:bldP spid="146" grpId="0" animBg="1"/>
      <p:bldP spid="147" grpId="0" animBg="1"/>
      <p:bldP spid="149" grpId="0" animBg="1"/>
      <p:bldP spid="158" grpId="0" animBg="1"/>
      <p:bldP spid="159" grpId="0" animBg="1"/>
      <p:bldP spid="165" grpId="0" animBg="1"/>
      <p:bldP spid="166" grpId="0" animBg="1"/>
      <p:bldP spid="167" grpId="0" animBg="1"/>
      <p:bldP spid="170" grpId="0" animBg="1"/>
      <p:bldP spid="171" grpId="0" animBg="1"/>
      <p:bldP spid="173" grpId="0" animBg="1"/>
      <p:bldP spid="174" grpId="0" animBg="1"/>
      <p:bldP spid="175" grpId="0" animBg="1"/>
      <p:bldP spid="198" grpId="0"/>
      <p:bldP spid="199" grpId="0"/>
      <p:bldP spid="200" grpId="0"/>
      <p:bldP spid="201" grpId="0"/>
      <p:bldP spid="202" grpId="0"/>
      <p:bldP spid="203" grpId="0"/>
      <p:bldP spid="205" grpId="0"/>
      <p:bldP spid="207" grpId="0"/>
      <p:bldP spid="20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63023" y="186163"/>
            <a:ext cx="3751891" cy="559570"/>
          </a:xfrm>
        </p:spPr>
        <p:txBody>
          <a:bodyPr/>
          <a:lstStyle/>
          <a:p>
            <a:r>
              <a:rPr lang="en-US" altLang="zh-CN" b="1" dirty="0" smtClean="0"/>
              <a:t>2.5 </a:t>
            </a:r>
            <a:r>
              <a:rPr lang="en-US" altLang="zh-CN" b="1" dirty="0"/>
              <a:t>L</a:t>
            </a:r>
            <a:r>
              <a:rPr lang="en-US" altLang="zh-CN" b="1" dirty="0" smtClean="0"/>
              <a:t>iveness</a:t>
            </a:r>
            <a:endParaRPr lang="zh-CN" altLang="en-US" b="1" dirty="0"/>
          </a:p>
        </p:txBody>
      </p:sp>
      <p:sp>
        <p:nvSpPr>
          <p:cNvPr id="5" name="文本框 4"/>
          <p:cNvSpPr txBox="1"/>
          <p:nvPr/>
        </p:nvSpPr>
        <p:spPr>
          <a:xfrm>
            <a:off x="899662" y="912933"/>
            <a:ext cx="7735824" cy="707886"/>
          </a:xfrm>
          <a:prstGeom prst="rect">
            <a:avLst/>
          </a:prstGeom>
          <a:noFill/>
        </p:spPr>
        <p:txBody>
          <a:bodyPr wrap="square" rtlCol="0">
            <a:spAutoFit/>
          </a:bodyPr>
          <a:lstStyle/>
          <a:p>
            <a:r>
              <a:rPr lang="en-US" altLang="zh-CN" sz="2000" b="1" dirty="0" smtClean="0"/>
              <a:t>A scenario </a:t>
            </a:r>
            <a:r>
              <a:rPr lang="en-US" altLang="zh-CN" sz="2000" dirty="0" smtClean="0"/>
              <a:t>: two proposers each keep issuing a sequence of proposals with increasing numbers, none of which are ever chosen.</a:t>
            </a:r>
            <a:endParaRPr lang="zh-CN" altLang="en-US" sz="2000" dirty="0"/>
          </a:p>
        </p:txBody>
      </p:sp>
      <p:sp>
        <p:nvSpPr>
          <p:cNvPr id="8" name="椭圆 7"/>
          <p:cNvSpPr/>
          <p:nvPr/>
        </p:nvSpPr>
        <p:spPr bwMode="auto">
          <a:xfrm>
            <a:off x="113743" y="5725941"/>
            <a:ext cx="3807714" cy="911838"/>
          </a:xfrm>
          <a:prstGeom prst="ellips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342900" indent="-342900" defTabSz="457200" fontAlgn="base">
              <a:spcBef>
                <a:spcPct val="0"/>
              </a:spcBef>
              <a:spcAft>
                <a:spcPct val="0"/>
              </a:spcAft>
              <a:buClr>
                <a:srgbClr val="000000"/>
              </a:buClr>
              <a:buSzPct val="100000"/>
              <a:buFont typeface="Wingdings" panose="05000000000000000000" pitchFamily="2" charset="2"/>
              <a:buChar char="l"/>
            </a:pPr>
            <a:r>
              <a:rPr lang="en-US" altLang="zh-CN" b="1" dirty="0">
                <a:latin typeface="Arial" panose="020B0604020202020204" pitchFamily="34" charset="0"/>
                <a:ea typeface="宋体" panose="02010600030101010101" pitchFamily="2" charset="-122"/>
              </a:rPr>
              <a:t> endless </a:t>
            </a:r>
            <a:r>
              <a:rPr lang="en-US" altLang="zh-CN" b="1" dirty="0" smtClean="0">
                <a:latin typeface="Arial" panose="020B0604020202020204" pitchFamily="34" charset="0"/>
                <a:ea typeface="宋体" panose="02010600030101010101" pitchFamily="2" charset="-122"/>
              </a:rPr>
              <a:t>loop </a:t>
            </a:r>
          </a:p>
          <a:p>
            <a:pPr marL="342900" indent="-342900" defTabSz="457200" fontAlgn="base">
              <a:spcBef>
                <a:spcPct val="0"/>
              </a:spcBef>
              <a:spcAft>
                <a:spcPct val="0"/>
              </a:spcAft>
              <a:buClr>
                <a:srgbClr val="000000"/>
              </a:buClr>
              <a:buSzPct val="100000"/>
              <a:buFont typeface="Wingdings" panose="05000000000000000000" pitchFamily="2" charset="2"/>
              <a:buChar char="l"/>
            </a:pPr>
            <a:r>
              <a:rPr lang="en-US" altLang="zh-CN" b="1" dirty="0" smtClean="0">
                <a:latin typeface="Arial" panose="020B0604020202020204" pitchFamily="34" charset="0"/>
                <a:ea typeface="宋体" panose="02010600030101010101" pitchFamily="2" charset="-122"/>
              </a:rPr>
              <a:t> no value is chosen</a:t>
            </a:r>
            <a:endParaRPr kumimoji="0" lang="zh-CN" altLang="en-US"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6" name="椭圆 5"/>
          <p:cNvSpPr/>
          <p:nvPr/>
        </p:nvSpPr>
        <p:spPr bwMode="auto">
          <a:xfrm>
            <a:off x="0" y="1826079"/>
            <a:ext cx="899662" cy="3590516"/>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lang="en-US" altLang="zh-CN" sz="1400" b="1" dirty="0" smtClean="0">
              <a:solidFill>
                <a:schemeClr val="bg1"/>
              </a:solidFill>
              <a:latin typeface="Arial" panose="020B0604020202020204" pitchFamily="34" charset="0"/>
              <a:ea typeface="宋体" panose="02010600030101010101" pitchFamily="2" charset="-122"/>
            </a:endParaRP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lang="en-US" altLang="zh-CN" sz="1400" b="1" dirty="0">
              <a:solidFill>
                <a:schemeClr val="bg1"/>
              </a:solidFill>
              <a:latin typeface="Arial" panose="020B0604020202020204" pitchFamily="34" charset="0"/>
              <a:ea typeface="宋体" panose="02010600030101010101" pitchFamily="2" charset="-122"/>
            </a:endParaRP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400" b="1" dirty="0" smtClean="0">
                <a:solidFill>
                  <a:schemeClr val="bg1"/>
                </a:solidFill>
                <a:latin typeface="Arial" panose="020B0604020202020204" pitchFamily="34" charset="0"/>
                <a:ea typeface="宋体" panose="02010600030101010101" pitchFamily="2" charset="-122"/>
              </a:rPr>
              <a:t>P</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9" name="椭圆 8"/>
          <p:cNvSpPr/>
          <p:nvPr/>
        </p:nvSpPr>
        <p:spPr bwMode="auto">
          <a:xfrm>
            <a:off x="7804041" y="1826079"/>
            <a:ext cx="986313" cy="3590516"/>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Proposer </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lang="en-US" altLang="zh-CN" sz="1400" b="1" dirty="0">
              <a:solidFill>
                <a:schemeClr val="bg1"/>
              </a:solidFill>
              <a:latin typeface="Arial" panose="020B0604020202020204" pitchFamily="34" charset="0"/>
              <a:ea typeface="宋体" panose="02010600030101010101" pitchFamily="2" charset="-122"/>
            </a:endParaRP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Q </a:t>
            </a:r>
            <a:endParaRPr kumimoji="0" lang="zh-CN" altLang="en-US" sz="1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0" name="椭圆 9"/>
          <p:cNvSpPr/>
          <p:nvPr/>
        </p:nvSpPr>
        <p:spPr bwMode="auto">
          <a:xfrm>
            <a:off x="4334350" y="2120385"/>
            <a:ext cx="552482" cy="5266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A1</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2" name="椭圆 11"/>
          <p:cNvSpPr/>
          <p:nvPr/>
        </p:nvSpPr>
        <p:spPr bwMode="auto">
          <a:xfrm>
            <a:off x="4075249" y="2756389"/>
            <a:ext cx="552482" cy="5266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A2</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3" name="椭圆 12"/>
          <p:cNvSpPr/>
          <p:nvPr/>
        </p:nvSpPr>
        <p:spPr bwMode="auto">
          <a:xfrm>
            <a:off x="4702136" y="2992865"/>
            <a:ext cx="552482" cy="5266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A4</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3" name="椭圆 2"/>
          <p:cNvSpPr/>
          <p:nvPr/>
        </p:nvSpPr>
        <p:spPr bwMode="auto">
          <a:xfrm>
            <a:off x="3921457" y="1826077"/>
            <a:ext cx="1412548" cy="3590517"/>
          </a:xfrm>
          <a:prstGeom prst="ellipse">
            <a:avLst/>
          </a:prstGeom>
          <a:noFill/>
          <a:ln w="9525" cap="flat" cmpd="sng" algn="ctr">
            <a:solidFill>
              <a:schemeClr val="tx1">
                <a:lumMod val="65000"/>
                <a:lumOff val="3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4" name="椭圆 13"/>
          <p:cNvSpPr/>
          <p:nvPr/>
        </p:nvSpPr>
        <p:spPr bwMode="auto">
          <a:xfrm>
            <a:off x="4006748" y="3553187"/>
            <a:ext cx="552482" cy="5266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A3</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5" name="椭圆 14"/>
          <p:cNvSpPr/>
          <p:nvPr/>
        </p:nvSpPr>
        <p:spPr bwMode="auto">
          <a:xfrm>
            <a:off x="4600209" y="3816530"/>
            <a:ext cx="552482" cy="5266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A5</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cxnSp>
        <p:nvCxnSpPr>
          <p:cNvPr id="16" name="直接箭头连接符 15"/>
          <p:cNvCxnSpPr/>
          <p:nvPr/>
        </p:nvCxnSpPr>
        <p:spPr bwMode="auto">
          <a:xfrm>
            <a:off x="602494" y="2028941"/>
            <a:ext cx="3680495" cy="27917"/>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18" name="直接箭头连接符 17"/>
          <p:cNvCxnSpPr/>
          <p:nvPr/>
        </p:nvCxnSpPr>
        <p:spPr bwMode="auto">
          <a:xfrm flipH="1">
            <a:off x="684090" y="2170932"/>
            <a:ext cx="3525002" cy="793"/>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9" name="文本框 18"/>
          <p:cNvSpPr txBox="1"/>
          <p:nvPr/>
        </p:nvSpPr>
        <p:spPr>
          <a:xfrm>
            <a:off x="1659741" y="1745717"/>
            <a:ext cx="1144549" cy="338554"/>
          </a:xfrm>
          <a:prstGeom prst="rect">
            <a:avLst/>
          </a:prstGeom>
          <a:noFill/>
        </p:spPr>
        <p:txBody>
          <a:bodyPr wrap="square" rtlCol="0">
            <a:spAutoFit/>
          </a:bodyPr>
          <a:lstStyle/>
          <a:p>
            <a:r>
              <a:rPr lang="en-US" altLang="zh-CN" sz="1600" dirty="0" smtClean="0"/>
              <a:t>Phase 1, N</a:t>
            </a:r>
            <a:r>
              <a:rPr lang="en-US" altLang="zh-CN" sz="1600" baseline="-25000" dirty="0" smtClean="0"/>
              <a:t>1</a:t>
            </a:r>
            <a:endParaRPr lang="zh-CN" altLang="en-US" sz="1600" baseline="-25000" dirty="0"/>
          </a:p>
        </p:txBody>
      </p:sp>
      <p:sp>
        <p:nvSpPr>
          <p:cNvPr id="20" name="文本框 19"/>
          <p:cNvSpPr txBox="1"/>
          <p:nvPr/>
        </p:nvSpPr>
        <p:spPr>
          <a:xfrm>
            <a:off x="1756895" y="2128099"/>
            <a:ext cx="764311" cy="338554"/>
          </a:xfrm>
          <a:prstGeom prst="rect">
            <a:avLst/>
          </a:prstGeom>
          <a:noFill/>
        </p:spPr>
        <p:txBody>
          <a:bodyPr wrap="square" rtlCol="0">
            <a:spAutoFit/>
          </a:bodyPr>
          <a:lstStyle/>
          <a:p>
            <a:r>
              <a:rPr lang="en-US" altLang="zh-CN" sz="1600" dirty="0" smtClean="0"/>
              <a:t>Accept</a:t>
            </a:r>
            <a:endParaRPr lang="zh-CN" altLang="en-US" sz="1600" baseline="-25000" dirty="0"/>
          </a:p>
        </p:txBody>
      </p:sp>
      <p:cxnSp>
        <p:nvCxnSpPr>
          <p:cNvPr id="21" name="直接箭头连接符 20"/>
          <p:cNvCxnSpPr/>
          <p:nvPr/>
        </p:nvCxnSpPr>
        <p:spPr bwMode="auto">
          <a:xfrm flipH="1">
            <a:off x="5213841" y="2710417"/>
            <a:ext cx="2633313" cy="16156"/>
          </a:xfrm>
          <a:prstGeom prst="straightConnector1">
            <a:avLst/>
          </a:prstGeom>
          <a:solidFill>
            <a:srgbClr val="00B8FF"/>
          </a:solidFill>
          <a:ln w="9525" cap="flat" cmpd="sng" algn="ctr">
            <a:solidFill>
              <a:srgbClr val="00B0F0"/>
            </a:solidFill>
            <a:prstDash val="solid"/>
            <a:round/>
            <a:headEnd type="none" w="med" len="med"/>
            <a:tailEnd type="triangle"/>
          </a:ln>
        </p:spPr>
      </p:cxnSp>
      <p:sp>
        <p:nvSpPr>
          <p:cNvPr id="48" name="文本框 47"/>
          <p:cNvSpPr txBox="1"/>
          <p:nvPr/>
        </p:nvSpPr>
        <p:spPr>
          <a:xfrm>
            <a:off x="5717677" y="2389149"/>
            <a:ext cx="1919688" cy="338554"/>
          </a:xfrm>
          <a:prstGeom prst="rect">
            <a:avLst/>
          </a:prstGeom>
          <a:noFill/>
        </p:spPr>
        <p:txBody>
          <a:bodyPr wrap="square" rtlCol="0">
            <a:spAutoFit/>
          </a:bodyPr>
          <a:lstStyle/>
          <a:p>
            <a:r>
              <a:rPr lang="en-US" altLang="zh-CN" sz="1600" dirty="0" smtClean="0"/>
              <a:t>Phase 1, N</a:t>
            </a:r>
            <a:r>
              <a:rPr lang="en-US" altLang="zh-CN" sz="1600" baseline="-25000" dirty="0" smtClean="0"/>
              <a:t>2</a:t>
            </a:r>
            <a:r>
              <a:rPr lang="en-US" altLang="zh-CN" sz="1600" dirty="0" smtClean="0"/>
              <a:t>, N</a:t>
            </a:r>
            <a:r>
              <a:rPr lang="en-US" altLang="zh-CN" sz="1600" baseline="-25000" dirty="0" smtClean="0"/>
              <a:t>2</a:t>
            </a:r>
            <a:r>
              <a:rPr lang="en-US" altLang="zh-CN" sz="1600" dirty="0" smtClean="0"/>
              <a:t> &gt;N</a:t>
            </a:r>
            <a:r>
              <a:rPr lang="en-US" altLang="zh-CN" sz="1600" baseline="-25000" dirty="0" smtClean="0"/>
              <a:t>1</a:t>
            </a:r>
            <a:r>
              <a:rPr lang="en-US" altLang="zh-CN" baseline="-25000" dirty="0" smtClean="0"/>
              <a:t>,</a:t>
            </a:r>
            <a:endParaRPr lang="zh-CN" altLang="en-US" baseline="-25000" dirty="0"/>
          </a:p>
        </p:txBody>
      </p:sp>
      <p:sp>
        <p:nvSpPr>
          <p:cNvPr id="49" name="文本框 48"/>
          <p:cNvSpPr txBox="1"/>
          <p:nvPr/>
        </p:nvSpPr>
        <p:spPr>
          <a:xfrm>
            <a:off x="6255822" y="2775572"/>
            <a:ext cx="760061" cy="350487"/>
          </a:xfrm>
          <a:prstGeom prst="rect">
            <a:avLst/>
          </a:prstGeom>
          <a:noFill/>
        </p:spPr>
        <p:txBody>
          <a:bodyPr wrap="square" rtlCol="0">
            <a:spAutoFit/>
          </a:bodyPr>
          <a:lstStyle/>
          <a:p>
            <a:r>
              <a:rPr lang="en-US" altLang="zh-CN" sz="1600" dirty="0" smtClean="0"/>
              <a:t>Accept</a:t>
            </a:r>
            <a:endParaRPr lang="zh-CN" altLang="en-US" sz="1600" baseline="-25000" dirty="0"/>
          </a:p>
        </p:txBody>
      </p:sp>
      <p:cxnSp>
        <p:nvCxnSpPr>
          <p:cNvPr id="50" name="直接箭头连接符 49"/>
          <p:cNvCxnSpPr/>
          <p:nvPr/>
        </p:nvCxnSpPr>
        <p:spPr bwMode="auto">
          <a:xfrm flipV="1">
            <a:off x="5273921" y="2858179"/>
            <a:ext cx="2573233" cy="11723"/>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58" name="直接箭头连接符 57"/>
          <p:cNvCxnSpPr>
            <a:stCxn id="6" idx="6"/>
            <a:endCxn id="3" idx="2"/>
          </p:cNvCxnSpPr>
          <p:nvPr/>
        </p:nvCxnSpPr>
        <p:spPr bwMode="auto">
          <a:xfrm flipV="1">
            <a:off x="899662" y="3621336"/>
            <a:ext cx="3021795" cy="1"/>
          </a:xfrm>
          <a:prstGeom prst="straightConnector1">
            <a:avLst/>
          </a:prstGeom>
          <a:solidFill>
            <a:srgbClr val="00B8FF"/>
          </a:solidFill>
          <a:ln w="9525" cap="flat" cmpd="sng" algn="ctr">
            <a:solidFill>
              <a:srgbClr val="00B0F0"/>
            </a:solidFill>
            <a:prstDash val="solid"/>
            <a:round/>
            <a:headEnd type="none" w="med" len="med"/>
            <a:tailEnd type="triangle"/>
          </a:ln>
        </p:spPr>
      </p:cxnSp>
      <p:sp>
        <p:nvSpPr>
          <p:cNvPr id="59" name="文本框 58"/>
          <p:cNvSpPr txBox="1"/>
          <p:nvPr/>
        </p:nvSpPr>
        <p:spPr>
          <a:xfrm>
            <a:off x="1579906" y="3321102"/>
            <a:ext cx="1118287" cy="338554"/>
          </a:xfrm>
          <a:prstGeom prst="rect">
            <a:avLst/>
          </a:prstGeom>
          <a:noFill/>
        </p:spPr>
        <p:txBody>
          <a:bodyPr wrap="square" rtlCol="0">
            <a:spAutoFit/>
          </a:bodyPr>
          <a:lstStyle/>
          <a:p>
            <a:r>
              <a:rPr lang="en-US" altLang="zh-CN" sz="1600" dirty="0" smtClean="0"/>
              <a:t>Phase 2, N</a:t>
            </a:r>
            <a:r>
              <a:rPr lang="en-US" altLang="zh-CN" sz="1600" baseline="-25000" dirty="0" smtClean="0"/>
              <a:t>1</a:t>
            </a:r>
            <a:endParaRPr lang="zh-CN" altLang="en-US" sz="1600" baseline="-25000" dirty="0"/>
          </a:p>
        </p:txBody>
      </p:sp>
      <p:cxnSp>
        <p:nvCxnSpPr>
          <p:cNvPr id="60" name="直接箭头连接符 59"/>
          <p:cNvCxnSpPr/>
          <p:nvPr/>
        </p:nvCxnSpPr>
        <p:spPr bwMode="auto">
          <a:xfrm flipH="1">
            <a:off x="899662" y="3737197"/>
            <a:ext cx="3021795" cy="6306"/>
          </a:xfrm>
          <a:prstGeom prst="straightConnector1">
            <a:avLst/>
          </a:prstGeom>
          <a:solidFill>
            <a:srgbClr val="00B8FF"/>
          </a:solidFill>
          <a:ln w="9525" cap="flat" cmpd="sng" algn="ctr">
            <a:solidFill>
              <a:srgbClr val="EC4C04"/>
            </a:solidFill>
            <a:prstDash val="solid"/>
            <a:round/>
            <a:headEnd type="none" w="med" len="med"/>
            <a:tailEnd type="triangle"/>
          </a:ln>
        </p:spPr>
      </p:cxnSp>
      <p:cxnSp>
        <p:nvCxnSpPr>
          <p:cNvPr id="71" name="直接箭头连接符 70"/>
          <p:cNvCxnSpPr/>
          <p:nvPr/>
        </p:nvCxnSpPr>
        <p:spPr bwMode="auto">
          <a:xfrm>
            <a:off x="888089" y="4178572"/>
            <a:ext cx="3060325" cy="26184"/>
          </a:xfrm>
          <a:prstGeom prst="straightConnector1">
            <a:avLst/>
          </a:prstGeom>
          <a:solidFill>
            <a:srgbClr val="00B8FF"/>
          </a:solidFill>
          <a:ln w="9525" cap="flat" cmpd="sng" algn="ctr">
            <a:solidFill>
              <a:srgbClr val="00B0F0"/>
            </a:solidFill>
            <a:prstDash val="solid"/>
            <a:round/>
            <a:headEnd type="none" w="med" len="med"/>
            <a:tailEnd type="triangle"/>
          </a:ln>
        </p:spPr>
      </p:cxnSp>
      <p:sp>
        <p:nvSpPr>
          <p:cNvPr id="72" name="文本框 71"/>
          <p:cNvSpPr txBox="1"/>
          <p:nvPr/>
        </p:nvSpPr>
        <p:spPr>
          <a:xfrm>
            <a:off x="1303477" y="3685756"/>
            <a:ext cx="2234308" cy="584775"/>
          </a:xfrm>
          <a:prstGeom prst="rect">
            <a:avLst/>
          </a:prstGeom>
          <a:noFill/>
        </p:spPr>
        <p:txBody>
          <a:bodyPr wrap="square" rtlCol="0">
            <a:spAutoFit/>
          </a:bodyPr>
          <a:lstStyle/>
          <a:p>
            <a:pPr algn="ctr"/>
            <a:r>
              <a:rPr lang="en-US" altLang="zh-CN" sz="1600" dirty="0" smtClean="0"/>
              <a:t>Reject</a:t>
            </a:r>
          </a:p>
          <a:p>
            <a:pPr algn="ctr"/>
            <a:r>
              <a:rPr lang="en-US" altLang="zh-CN" sz="1600" dirty="0" smtClean="0"/>
              <a:t>Phase 1, N</a:t>
            </a:r>
            <a:r>
              <a:rPr lang="en-US" altLang="zh-CN" sz="1600" baseline="-25000" dirty="0" smtClean="0"/>
              <a:t>3, </a:t>
            </a:r>
            <a:r>
              <a:rPr lang="en-US" altLang="zh-CN" sz="1600" dirty="0" smtClean="0"/>
              <a:t> N</a:t>
            </a:r>
            <a:r>
              <a:rPr lang="en-US" altLang="zh-CN" sz="1600" baseline="-25000" dirty="0" smtClean="0"/>
              <a:t>3  </a:t>
            </a:r>
            <a:r>
              <a:rPr lang="en-US" altLang="zh-CN" sz="1600" dirty="0" smtClean="0"/>
              <a:t>&gt; N</a:t>
            </a:r>
            <a:r>
              <a:rPr lang="en-US" altLang="zh-CN" sz="1600" baseline="-25000" dirty="0" smtClean="0"/>
              <a:t>2</a:t>
            </a:r>
            <a:endParaRPr lang="zh-CN" altLang="en-US" sz="1600" baseline="-25000" dirty="0"/>
          </a:p>
        </p:txBody>
      </p:sp>
      <p:cxnSp>
        <p:nvCxnSpPr>
          <p:cNvPr id="78" name="直接箭头连接符 77"/>
          <p:cNvCxnSpPr/>
          <p:nvPr/>
        </p:nvCxnSpPr>
        <p:spPr bwMode="auto">
          <a:xfrm flipH="1" flipV="1">
            <a:off x="867498" y="4263242"/>
            <a:ext cx="3080918" cy="33389"/>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15" name="文本框 114"/>
          <p:cNvSpPr txBox="1"/>
          <p:nvPr/>
        </p:nvSpPr>
        <p:spPr>
          <a:xfrm>
            <a:off x="1917757" y="4263242"/>
            <a:ext cx="764311" cy="338554"/>
          </a:xfrm>
          <a:prstGeom prst="rect">
            <a:avLst/>
          </a:prstGeom>
          <a:noFill/>
        </p:spPr>
        <p:txBody>
          <a:bodyPr wrap="square" rtlCol="0">
            <a:spAutoFit/>
          </a:bodyPr>
          <a:lstStyle/>
          <a:p>
            <a:r>
              <a:rPr lang="en-US" altLang="zh-CN" sz="1600" dirty="0" smtClean="0"/>
              <a:t>Accept</a:t>
            </a:r>
            <a:endParaRPr lang="zh-CN" altLang="en-US" sz="1600" baseline="-25000" dirty="0"/>
          </a:p>
        </p:txBody>
      </p:sp>
      <p:cxnSp>
        <p:nvCxnSpPr>
          <p:cNvPr id="125" name="直接箭头连接符 124"/>
          <p:cNvCxnSpPr/>
          <p:nvPr/>
        </p:nvCxnSpPr>
        <p:spPr bwMode="auto">
          <a:xfrm flipH="1">
            <a:off x="5273921" y="4433994"/>
            <a:ext cx="2640179" cy="9519"/>
          </a:xfrm>
          <a:prstGeom prst="straightConnector1">
            <a:avLst/>
          </a:prstGeom>
          <a:solidFill>
            <a:srgbClr val="00B8FF"/>
          </a:solidFill>
          <a:ln w="9525" cap="flat" cmpd="sng" algn="ctr">
            <a:solidFill>
              <a:srgbClr val="00B0F0"/>
            </a:solidFill>
            <a:prstDash val="solid"/>
            <a:round/>
            <a:headEnd type="none" w="med" len="med"/>
            <a:tailEnd type="triangle"/>
          </a:ln>
        </p:spPr>
      </p:cxnSp>
      <p:sp>
        <p:nvSpPr>
          <p:cNvPr id="126" name="文本框 125"/>
          <p:cNvSpPr txBox="1"/>
          <p:nvPr/>
        </p:nvSpPr>
        <p:spPr>
          <a:xfrm>
            <a:off x="5609179" y="4127354"/>
            <a:ext cx="1919688" cy="338554"/>
          </a:xfrm>
          <a:prstGeom prst="rect">
            <a:avLst/>
          </a:prstGeom>
          <a:noFill/>
        </p:spPr>
        <p:txBody>
          <a:bodyPr wrap="square" rtlCol="0">
            <a:spAutoFit/>
          </a:bodyPr>
          <a:lstStyle/>
          <a:p>
            <a:r>
              <a:rPr lang="en-US" altLang="zh-CN" sz="1600" dirty="0" smtClean="0"/>
              <a:t>Phase 2, N</a:t>
            </a:r>
            <a:r>
              <a:rPr lang="en-US" altLang="zh-CN" sz="1600" baseline="-25000" dirty="0" smtClean="0"/>
              <a:t>2</a:t>
            </a:r>
            <a:r>
              <a:rPr lang="en-US" altLang="zh-CN" sz="1600" dirty="0" smtClean="0"/>
              <a:t>, N</a:t>
            </a:r>
            <a:r>
              <a:rPr lang="en-US" altLang="zh-CN" sz="1600" baseline="-25000" dirty="0" smtClean="0"/>
              <a:t>2</a:t>
            </a:r>
            <a:endParaRPr lang="zh-CN" altLang="en-US" baseline="-25000" dirty="0"/>
          </a:p>
        </p:txBody>
      </p:sp>
      <p:cxnSp>
        <p:nvCxnSpPr>
          <p:cNvPr id="127" name="直接箭头连接符 126"/>
          <p:cNvCxnSpPr/>
          <p:nvPr/>
        </p:nvCxnSpPr>
        <p:spPr bwMode="auto">
          <a:xfrm flipV="1">
            <a:off x="5212225" y="4548630"/>
            <a:ext cx="2634929" cy="1"/>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54" name="椭圆 153"/>
          <p:cNvSpPr/>
          <p:nvPr/>
        </p:nvSpPr>
        <p:spPr bwMode="auto">
          <a:xfrm>
            <a:off x="4214662" y="4428633"/>
            <a:ext cx="552482" cy="526685"/>
          </a:xfrm>
          <a:prstGeom prst="ellipse">
            <a:avLst/>
          </a:prstGeom>
          <a:solidFill>
            <a:srgbClr val="EC4C0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A6</a:t>
            </a:r>
            <a:endParaRPr kumimoji="0" lang="zh-CN" altLang="en-US" sz="12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73" name="文本框 172"/>
          <p:cNvSpPr txBox="1"/>
          <p:nvPr/>
        </p:nvSpPr>
        <p:spPr>
          <a:xfrm>
            <a:off x="5500681" y="4492593"/>
            <a:ext cx="1843205" cy="584775"/>
          </a:xfrm>
          <a:prstGeom prst="rect">
            <a:avLst/>
          </a:prstGeom>
          <a:noFill/>
        </p:spPr>
        <p:txBody>
          <a:bodyPr wrap="square" rtlCol="0">
            <a:spAutoFit/>
          </a:bodyPr>
          <a:lstStyle/>
          <a:p>
            <a:pPr algn="ctr"/>
            <a:r>
              <a:rPr lang="en-US" altLang="zh-CN" sz="1600" dirty="0" smtClean="0"/>
              <a:t>Reject</a:t>
            </a:r>
          </a:p>
          <a:p>
            <a:pPr algn="ctr"/>
            <a:r>
              <a:rPr lang="en-US" altLang="zh-CN" sz="1600" dirty="0" smtClean="0"/>
              <a:t>Phase 1, N</a:t>
            </a:r>
            <a:r>
              <a:rPr lang="en-US" altLang="zh-CN" sz="1600" baseline="-25000" dirty="0"/>
              <a:t>4</a:t>
            </a:r>
            <a:r>
              <a:rPr lang="en-US" altLang="zh-CN" sz="1600" baseline="-25000" dirty="0" smtClean="0"/>
              <a:t>, </a:t>
            </a:r>
            <a:r>
              <a:rPr lang="en-US" altLang="zh-CN" sz="1600" dirty="0" smtClean="0"/>
              <a:t>N</a:t>
            </a:r>
            <a:r>
              <a:rPr lang="en-US" altLang="zh-CN" sz="1600" baseline="-25000" dirty="0"/>
              <a:t>4</a:t>
            </a:r>
            <a:r>
              <a:rPr lang="en-US" altLang="zh-CN" sz="1600" baseline="-25000" dirty="0" smtClean="0"/>
              <a:t>  </a:t>
            </a:r>
            <a:r>
              <a:rPr lang="en-US" altLang="zh-CN" sz="1600" dirty="0" smtClean="0"/>
              <a:t>&gt; N</a:t>
            </a:r>
            <a:r>
              <a:rPr lang="en-US" altLang="zh-CN" sz="1600" baseline="-25000" dirty="0"/>
              <a:t>3</a:t>
            </a:r>
            <a:endParaRPr lang="zh-CN" altLang="en-US" sz="1600" baseline="-25000" dirty="0"/>
          </a:p>
        </p:txBody>
      </p:sp>
      <p:cxnSp>
        <p:nvCxnSpPr>
          <p:cNvPr id="174" name="直接箭头连接符 173"/>
          <p:cNvCxnSpPr/>
          <p:nvPr/>
        </p:nvCxnSpPr>
        <p:spPr bwMode="auto">
          <a:xfrm flipH="1" flipV="1">
            <a:off x="5026276" y="5075714"/>
            <a:ext cx="2993978" cy="1654"/>
          </a:xfrm>
          <a:prstGeom prst="straightConnector1">
            <a:avLst/>
          </a:prstGeom>
          <a:solidFill>
            <a:srgbClr val="00B8FF"/>
          </a:solidFill>
          <a:ln w="9525" cap="flat" cmpd="sng" algn="ctr">
            <a:solidFill>
              <a:srgbClr val="00B0F0"/>
            </a:solidFill>
            <a:prstDash val="solid"/>
            <a:round/>
            <a:headEnd type="none" w="med" len="med"/>
            <a:tailEnd type="triangle"/>
          </a:ln>
        </p:spPr>
      </p:cxnSp>
      <p:cxnSp>
        <p:nvCxnSpPr>
          <p:cNvPr id="177" name="直接箭头连接符 176"/>
          <p:cNvCxnSpPr/>
          <p:nvPr/>
        </p:nvCxnSpPr>
        <p:spPr bwMode="auto">
          <a:xfrm flipV="1">
            <a:off x="5002436" y="5160090"/>
            <a:ext cx="3017818" cy="1"/>
          </a:xfrm>
          <a:prstGeom prst="straightConnector1">
            <a:avLst/>
          </a:prstGeom>
          <a:solidFill>
            <a:srgbClr val="00B8FF"/>
          </a:solidFill>
          <a:ln w="9525" cap="flat" cmpd="sng" algn="ctr">
            <a:solidFill>
              <a:srgbClr val="EC4C04"/>
            </a:solidFill>
            <a:prstDash val="solid"/>
            <a:round/>
            <a:headEnd type="none" w="med" len="med"/>
            <a:tailEnd type="triangle"/>
          </a:ln>
        </p:spPr>
      </p:cxnSp>
      <p:sp>
        <p:nvSpPr>
          <p:cNvPr id="179" name="文本框 178"/>
          <p:cNvSpPr txBox="1"/>
          <p:nvPr/>
        </p:nvSpPr>
        <p:spPr>
          <a:xfrm>
            <a:off x="6069016" y="5207384"/>
            <a:ext cx="764311" cy="338554"/>
          </a:xfrm>
          <a:prstGeom prst="rect">
            <a:avLst/>
          </a:prstGeom>
          <a:noFill/>
        </p:spPr>
        <p:txBody>
          <a:bodyPr wrap="square" rtlCol="0">
            <a:spAutoFit/>
          </a:bodyPr>
          <a:lstStyle/>
          <a:p>
            <a:r>
              <a:rPr lang="en-US" altLang="zh-CN" sz="1600" dirty="0" smtClean="0"/>
              <a:t>Accept</a:t>
            </a:r>
            <a:endParaRPr lang="zh-CN" altLang="en-US" sz="1600" baseline="-25000" dirty="0"/>
          </a:p>
        </p:txBody>
      </p:sp>
      <p:sp>
        <p:nvSpPr>
          <p:cNvPr id="36" name="椭圆 35"/>
          <p:cNvSpPr/>
          <p:nvPr/>
        </p:nvSpPr>
        <p:spPr bwMode="auto">
          <a:xfrm>
            <a:off x="4538969" y="5742721"/>
            <a:ext cx="3807714" cy="911838"/>
          </a:xfrm>
          <a:prstGeom prst="ellipse">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A</a:t>
            </a:r>
            <a:r>
              <a:rPr kumimoji="0" lang="en-US" altLang="zh-CN" sz="2000" b="1" i="0" u="none" strike="noStrike" cap="none" normalizeH="0" dirty="0" smtClean="0">
                <a:ln>
                  <a:noFill/>
                </a:ln>
                <a:effectLst/>
                <a:latin typeface="Arial" panose="020B0604020202020204" pitchFamily="34" charset="0"/>
                <a:ea typeface="宋体" panose="02010600030101010101" pitchFamily="2" charset="-122"/>
              </a:rPr>
              <a:t> distinguished Proposer</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cxnSp>
        <p:nvCxnSpPr>
          <p:cNvPr id="7" name="直接箭头连接符 6"/>
          <p:cNvCxnSpPr>
            <a:stCxn id="8" idx="6"/>
            <a:endCxn id="36" idx="2"/>
          </p:cNvCxnSpPr>
          <p:nvPr/>
        </p:nvCxnSpPr>
        <p:spPr bwMode="auto">
          <a:xfrm>
            <a:off x="3921457" y="6181860"/>
            <a:ext cx="617512" cy="16780"/>
          </a:xfrm>
          <a:prstGeom prst="straightConnector1">
            <a:avLst/>
          </a:prstGeom>
          <a:solidFill>
            <a:srgbClr val="00B8FF"/>
          </a:solidFill>
          <a:ln w="9525"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222393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2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7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7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8"/>
                                        </p:tgtEl>
                                        <p:attrNameLst>
                                          <p:attrName>style.visibility</p:attrName>
                                        </p:attrNameLst>
                                      </p:cBhvr>
                                      <p:to>
                                        <p:strVal val="visible"/>
                                      </p:to>
                                    </p:set>
                                    <p:animEffect transition="in" filter="fade">
                                      <p:cBhvr>
                                        <p:cTn id="91" dur="1000"/>
                                        <p:tgtEl>
                                          <p:spTgt spid="8"/>
                                        </p:tgtEl>
                                      </p:cBhvr>
                                    </p:animEffect>
                                    <p:anim calcmode="lin" valueType="num">
                                      <p:cBhvr>
                                        <p:cTn id="92" dur="1000" fill="hold"/>
                                        <p:tgtEl>
                                          <p:spTgt spid="8"/>
                                        </p:tgtEl>
                                        <p:attrNameLst>
                                          <p:attrName>ppt_x</p:attrName>
                                        </p:attrNameLst>
                                      </p:cBhvr>
                                      <p:tavLst>
                                        <p:tav tm="0">
                                          <p:val>
                                            <p:strVal val="#ppt_x"/>
                                          </p:val>
                                        </p:tav>
                                        <p:tav tm="100000">
                                          <p:val>
                                            <p:strVal val="#ppt_x"/>
                                          </p:val>
                                        </p:tav>
                                      </p:tavLst>
                                    </p:anim>
                                    <p:anim calcmode="lin" valueType="num">
                                      <p:cBhvr>
                                        <p:cTn id="9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7"/>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P spid="9" grpId="0" animBg="1"/>
      <p:bldP spid="10" grpId="0" animBg="1"/>
      <p:bldP spid="12" grpId="0" animBg="1"/>
      <p:bldP spid="13" grpId="0" animBg="1"/>
      <p:bldP spid="3" grpId="0" animBg="1"/>
      <p:bldP spid="14" grpId="0" animBg="1"/>
      <p:bldP spid="15" grpId="0" animBg="1"/>
      <p:bldP spid="19" grpId="0"/>
      <p:bldP spid="20" grpId="0"/>
      <p:bldP spid="48" grpId="0"/>
      <p:bldP spid="49" grpId="0"/>
      <p:bldP spid="59" grpId="0"/>
      <p:bldP spid="72" grpId="0"/>
      <p:bldP spid="115" grpId="0"/>
      <p:bldP spid="126" grpId="0"/>
      <p:bldP spid="154" grpId="0" animBg="1"/>
      <p:bldP spid="173" grpId="0"/>
      <p:bldP spid="179" grpId="0"/>
      <p:bldP spid="3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b="1" dirty="0"/>
              <a:t>3. Consensus in </a:t>
            </a:r>
            <a:r>
              <a:rPr lang="en-US" altLang="zh-CN" sz="3200" b="1" dirty="0" err="1"/>
              <a:t>Blockchain</a:t>
            </a:r>
            <a:endParaRPr lang="zh-CN" altLang="en-US" sz="3200" dirty="0"/>
          </a:p>
        </p:txBody>
      </p:sp>
      <p:pic>
        <p:nvPicPr>
          <p:cNvPr id="1026" name="Picture 2" descr="https://gss2.bdstatic.com/-fo3dSag_xI4khGkpoWK1HF6hhy/baike/c0%3Dbaike80%2C5%2C5%2C80%2C26/sign=7a2aa0c2eacd7b89fd6132d16e4d29c2/1b4c510fd9f9d72ace74b015d82a2834349bbba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48" y="1412877"/>
            <a:ext cx="4005595" cy="299752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4181443" y="1418985"/>
            <a:ext cx="4962557" cy="2923877"/>
          </a:xfrm>
          <a:prstGeom prst="rect">
            <a:avLst/>
          </a:prstGeom>
          <a:noFill/>
        </p:spPr>
        <p:txBody>
          <a:bodyPr wrap="square" rtlCol="0">
            <a:spAutoFit/>
          </a:bodyPr>
          <a:lstStyle/>
          <a:p>
            <a:r>
              <a:rPr lang="en-US" altLang="zh-CN" sz="2800" b="1" dirty="0" err="1" smtClean="0"/>
              <a:t>Bolckchain</a:t>
            </a:r>
            <a:r>
              <a:rPr lang="en-US" altLang="zh-CN" sz="2800" b="1" dirty="0" smtClean="0"/>
              <a:t> = Distributed ledger</a:t>
            </a:r>
          </a:p>
          <a:p>
            <a:endParaRPr lang="en-US" altLang="zh-CN" sz="2800" b="1" dirty="0" smtClean="0"/>
          </a:p>
          <a:p>
            <a:endParaRPr lang="en-US" altLang="zh-CN" sz="2800" b="1" dirty="0" smtClean="0"/>
          </a:p>
          <a:p>
            <a:r>
              <a:rPr lang="en-US" altLang="zh-CN" sz="2800" b="1" dirty="0" smtClean="0">
                <a:solidFill>
                  <a:srgbClr val="FF0000"/>
                </a:solidFill>
              </a:rPr>
              <a:t>Goal of consensus</a:t>
            </a:r>
            <a:r>
              <a:rPr lang="zh-CN" altLang="en-US" sz="2800" b="1" dirty="0" smtClean="0">
                <a:solidFill>
                  <a:srgbClr val="FF0000"/>
                </a:solidFill>
              </a:rPr>
              <a:t>：</a:t>
            </a:r>
            <a:endParaRPr lang="en-US" altLang="zh-CN" sz="2800" b="1" dirty="0" smtClean="0">
              <a:solidFill>
                <a:srgbClr val="FF0000"/>
              </a:solidFill>
            </a:endParaRPr>
          </a:p>
          <a:p>
            <a:r>
              <a:rPr lang="en-US" altLang="zh-CN" sz="2400" b="1" dirty="0" smtClean="0"/>
              <a:t>1. Who constructs the block</a:t>
            </a:r>
          </a:p>
          <a:p>
            <a:r>
              <a:rPr lang="en-US" altLang="zh-CN" sz="2400" b="1" dirty="0" smtClean="0"/>
              <a:t>2. All the honest nodes save a </a:t>
            </a:r>
            <a:r>
              <a:rPr lang="en-US" altLang="zh-CN" sz="2400" b="1" dirty="0" err="1" smtClean="0"/>
              <a:t>consistant</a:t>
            </a:r>
            <a:r>
              <a:rPr lang="en-US" altLang="zh-CN" sz="2400" b="1" dirty="0" smtClean="0"/>
              <a:t> </a:t>
            </a:r>
            <a:r>
              <a:rPr lang="en-US" altLang="zh-CN" sz="2400" b="1" dirty="0" err="1" smtClean="0"/>
              <a:t>blockchain</a:t>
            </a:r>
            <a:r>
              <a:rPr lang="en-US" altLang="zh-CN" sz="2400" b="1" dirty="0" smtClean="0"/>
              <a:t> view</a:t>
            </a:r>
            <a:endParaRPr lang="zh-CN" altLang="en-US" sz="2400" b="1" dirty="0"/>
          </a:p>
        </p:txBody>
      </p:sp>
      <p:sp>
        <p:nvSpPr>
          <p:cNvPr id="6" name="文本框 5"/>
          <p:cNvSpPr txBox="1"/>
          <p:nvPr/>
        </p:nvSpPr>
        <p:spPr>
          <a:xfrm>
            <a:off x="0" y="4410398"/>
            <a:ext cx="9132275" cy="2062103"/>
          </a:xfrm>
          <a:prstGeom prst="rect">
            <a:avLst/>
          </a:prstGeom>
          <a:noFill/>
        </p:spPr>
        <p:txBody>
          <a:bodyPr wrap="square" rtlCol="0">
            <a:spAutoFit/>
          </a:bodyPr>
          <a:lstStyle/>
          <a:p>
            <a:r>
              <a:rPr lang="en-US" altLang="zh-CN" sz="3200" b="1" dirty="0" smtClean="0"/>
              <a:t>Two properties:</a:t>
            </a:r>
          </a:p>
          <a:p>
            <a:r>
              <a:rPr lang="en-US" altLang="zh-CN" sz="2400" b="1" dirty="0" smtClean="0">
                <a:solidFill>
                  <a:srgbClr val="FF0000"/>
                </a:solidFill>
              </a:rPr>
              <a:t>1.Consistency, </a:t>
            </a:r>
            <a:r>
              <a:rPr lang="en-US" altLang="zh-CN" sz="2400" b="1" dirty="0" smtClean="0"/>
              <a:t>all honest nodes save exactly the same </a:t>
            </a:r>
            <a:r>
              <a:rPr lang="en-US" altLang="zh-CN" sz="2400" b="1" dirty="0" err="1" smtClean="0"/>
              <a:t>blockchain</a:t>
            </a:r>
            <a:r>
              <a:rPr lang="en-US" altLang="zh-CN" sz="2400" b="1" dirty="0" smtClean="0"/>
              <a:t> prefix</a:t>
            </a:r>
          </a:p>
          <a:p>
            <a:r>
              <a:rPr lang="en-US" altLang="zh-CN" sz="2400" b="1" dirty="0" smtClean="0">
                <a:solidFill>
                  <a:srgbClr val="FF0000"/>
                </a:solidFill>
              </a:rPr>
              <a:t>2.Validity, </a:t>
            </a:r>
            <a:r>
              <a:rPr lang="en-US" altLang="zh-CN" sz="2400" b="1" dirty="0" smtClean="0"/>
              <a:t>information published by an honest node will eventually be recorded in its own </a:t>
            </a:r>
            <a:r>
              <a:rPr lang="en-US" altLang="zh-CN" sz="2400" b="1" dirty="0" err="1" smtClean="0"/>
              <a:t>blockchain</a:t>
            </a:r>
            <a:r>
              <a:rPr lang="en-US" altLang="zh-CN" sz="2400" b="1" dirty="0" smtClean="0"/>
              <a:t> by all other honest nodes</a:t>
            </a:r>
            <a:endParaRPr lang="zh-CN" altLang="en-US" sz="2400" b="1" dirty="0"/>
          </a:p>
        </p:txBody>
      </p:sp>
    </p:spTree>
    <p:extLst>
      <p:ext uri="{BB962C8B-B14F-4D97-AF65-F5344CB8AC3E}">
        <p14:creationId xmlns:p14="http://schemas.microsoft.com/office/powerpoint/2010/main" val="3783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0209" y="205352"/>
            <a:ext cx="8224838" cy="1138237"/>
          </a:xfrm>
        </p:spPr>
        <p:txBody>
          <a:bodyPr/>
          <a:lstStyle/>
          <a:p>
            <a:r>
              <a:rPr lang="en-US" altLang="zh-CN" b="1" dirty="0" smtClean="0"/>
              <a:t>3. Consensus in </a:t>
            </a:r>
            <a:r>
              <a:rPr lang="en-US" altLang="zh-CN" b="1" dirty="0" err="1" smtClean="0"/>
              <a:t>Blockchain</a:t>
            </a:r>
            <a:endParaRPr lang="zh-CN" altLang="en-US" dirty="0"/>
          </a:p>
        </p:txBody>
      </p:sp>
      <p:sp>
        <p:nvSpPr>
          <p:cNvPr id="4" name="椭圆 3"/>
          <p:cNvSpPr/>
          <p:nvPr/>
        </p:nvSpPr>
        <p:spPr bwMode="auto">
          <a:xfrm>
            <a:off x="222739" y="3148180"/>
            <a:ext cx="2244436" cy="748145"/>
          </a:xfrm>
          <a:prstGeom prst="ellipse">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rPr>
              <a:t>Thoughts</a:t>
            </a:r>
            <a:endParaRPr kumimoji="0" lang="zh-CN" altLang="en-US" sz="24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5" name="直角上箭头 4"/>
          <p:cNvSpPr/>
          <p:nvPr/>
        </p:nvSpPr>
        <p:spPr bwMode="auto">
          <a:xfrm rot="5400000">
            <a:off x="1476428" y="3557035"/>
            <a:ext cx="1080944" cy="1759525"/>
          </a:xfrm>
          <a:prstGeom prst="bentUpArrow">
            <a:avLst/>
          </a:prstGeom>
          <a:solidFill>
            <a:schemeClr val="bg1">
              <a:lumMod val="7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7" name="圆角右箭头 6"/>
          <p:cNvSpPr/>
          <p:nvPr/>
        </p:nvSpPr>
        <p:spPr bwMode="auto">
          <a:xfrm>
            <a:off x="1137138" y="2233781"/>
            <a:ext cx="1759526" cy="914400"/>
          </a:xfrm>
          <a:prstGeom prst="bentArrow">
            <a:avLst/>
          </a:prstGeom>
          <a:solidFill>
            <a:schemeClr val="bg1">
              <a:lumMod val="75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 name="圆角矩形 9"/>
          <p:cNvSpPr/>
          <p:nvPr/>
        </p:nvSpPr>
        <p:spPr bwMode="auto">
          <a:xfrm>
            <a:off x="2896664" y="1568761"/>
            <a:ext cx="5550913" cy="1953491"/>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rPr>
              <a:t>Increase</a:t>
            </a:r>
            <a:r>
              <a:rPr kumimoji="0" lang="en-US" altLang="zh-CN" sz="2400" b="0" i="0" u="none" strike="noStrike" cap="none" normalizeH="0" dirty="0" smtClean="0">
                <a:ln>
                  <a:noFill/>
                </a:ln>
                <a:effectLst/>
                <a:latin typeface="Arial" panose="020B0604020202020204" pitchFamily="34" charset="0"/>
                <a:ea typeface="宋体" panose="02010600030101010101" pitchFamily="2" charset="-122"/>
              </a:rPr>
              <a:t> the cost of evil nodes to reduce the probability of evil nodes(POW,POS)</a:t>
            </a:r>
            <a:endParaRPr kumimoji="0" lang="zh-CN" altLang="en-US" sz="2400" b="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1" name="圆角矩形 10"/>
          <p:cNvSpPr/>
          <p:nvPr/>
        </p:nvSpPr>
        <p:spPr bwMode="auto">
          <a:xfrm>
            <a:off x="2896663" y="4000523"/>
            <a:ext cx="5550913" cy="1953491"/>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rPr>
              <a:t>Under the premise</a:t>
            </a:r>
            <a:r>
              <a:rPr kumimoji="0" lang="en-US" altLang="zh-CN" sz="2400" b="0" i="0" u="none" strike="noStrike" cap="none" normalizeH="0" dirty="0" smtClean="0">
                <a:ln>
                  <a:noFill/>
                </a:ln>
                <a:effectLst/>
                <a:latin typeface="Arial" panose="020B0604020202020204" pitchFamily="34" charset="0"/>
                <a:ea typeface="宋体" panose="02010600030101010101" pitchFamily="2" charset="-122"/>
              </a:rPr>
              <a:t> of allowing certain evil nodes to appear, achieve the consistency between nodes(PBFT)</a:t>
            </a:r>
            <a:endParaRPr kumimoji="0" lang="zh-CN" altLang="en-US" sz="2400" b="0" i="0" u="none" strike="noStrike" cap="none" normalizeH="0" baseline="0" dirty="0" smtClean="0">
              <a:ln>
                <a:noFill/>
              </a:ln>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97168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7102" y="-12652"/>
            <a:ext cx="5704708" cy="1199729"/>
          </a:xfrm>
        </p:spPr>
        <p:txBody>
          <a:bodyPr/>
          <a:lstStyle/>
          <a:p>
            <a:r>
              <a:rPr lang="en-US" altLang="zh-CN" b="1" dirty="0" smtClean="0"/>
              <a:t>3.1 POW (Proof-Of-Work)</a:t>
            </a:r>
            <a:br>
              <a:rPr lang="en-US" altLang="zh-CN" b="1" dirty="0" smtClean="0"/>
            </a:br>
            <a:r>
              <a:rPr lang="en-US" altLang="zh-CN" b="1" dirty="0" err="1" smtClean="0"/>
              <a:t>eg</a:t>
            </a:r>
            <a:r>
              <a:rPr lang="en-US" altLang="zh-CN" b="1" dirty="0" smtClean="0"/>
              <a:t>. Bitcoin</a:t>
            </a:r>
            <a:endParaRPr lang="zh-CN" altLang="en-US" b="1" dirty="0"/>
          </a:p>
        </p:txBody>
      </p:sp>
      <p:grpSp>
        <p:nvGrpSpPr>
          <p:cNvPr id="92" name="组合 91"/>
          <p:cNvGrpSpPr/>
          <p:nvPr/>
        </p:nvGrpSpPr>
        <p:grpSpPr>
          <a:xfrm>
            <a:off x="260539" y="1456773"/>
            <a:ext cx="4045167" cy="4303110"/>
            <a:chOff x="248173" y="1693773"/>
            <a:chExt cx="4125432" cy="5124894"/>
          </a:xfrm>
        </p:grpSpPr>
        <p:sp>
          <p:nvSpPr>
            <p:cNvPr id="93" name="矩形 92"/>
            <p:cNvSpPr/>
            <p:nvPr/>
          </p:nvSpPr>
          <p:spPr bwMode="auto">
            <a:xfrm>
              <a:off x="248173" y="1693773"/>
              <a:ext cx="4125432" cy="5124894"/>
            </a:xfrm>
            <a:prstGeom prst="rect">
              <a:avLst/>
            </a:prstGeom>
            <a:solidFill>
              <a:srgbClr val="FFFF9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4" name="圆角矩形 93"/>
            <p:cNvSpPr/>
            <p:nvPr/>
          </p:nvSpPr>
          <p:spPr bwMode="auto">
            <a:xfrm>
              <a:off x="457201" y="5564524"/>
              <a:ext cx="818706" cy="319949"/>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hash0</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5" name="圆角矩形 94"/>
            <p:cNvSpPr/>
            <p:nvPr/>
          </p:nvSpPr>
          <p:spPr bwMode="auto">
            <a:xfrm>
              <a:off x="762723" y="4717622"/>
              <a:ext cx="1026368" cy="319905"/>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b="1" dirty="0" smtClean="0">
                  <a:latin typeface="Arial" panose="020B0604020202020204" pitchFamily="34" charset="0"/>
                  <a:ea typeface="宋体" panose="02010600030101010101" pitchFamily="2" charset="-122"/>
                </a:rPr>
                <a:t>hash01</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6" name="圆角矩形 95"/>
            <p:cNvSpPr/>
            <p:nvPr/>
          </p:nvSpPr>
          <p:spPr bwMode="auto">
            <a:xfrm>
              <a:off x="487794" y="6192785"/>
              <a:ext cx="776828" cy="361507"/>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Tran0</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7" name="圆角矩形 96"/>
            <p:cNvSpPr/>
            <p:nvPr/>
          </p:nvSpPr>
          <p:spPr bwMode="auto">
            <a:xfrm>
              <a:off x="1436341" y="6197615"/>
              <a:ext cx="776828" cy="351846"/>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Tran1</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8" name="圆角矩形 97"/>
            <p:cNvSpPr/>
            <p:nvPr/>
          </p:nvSpPr>
          <p:spPr bwMode="auto">
            <a:xfrm>
              <a:off x="2529661" y="6171214"/>
              <a:ext cx="776828" cy="361507"/>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Tran2</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9" name="圆角矩形 98"/>
            <p:cNvSpPr/>
            <p:nvPr/>
          </p:nvSpPr>
          <p:spPr bwMode="auto">
            <a:xfrm>
              <a:off x="3490226" y="6172063"/>
              <a:ext cx="776828" cy="361507"/>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Tran3</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0" name="圆角矩形 99"/>
            <p:cNvSpPr/>
            <p:nvPr/>
          </p:nvSpPr>
          <p:spPr bwMode="auto">
            <a:xfrm>
              <a:off x="1419448" y="5564524"/>
              <a:ext cx="818706" cy="319949"/>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hash1</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1" name="圆角矩形 100"/>
            <p:cNvSpPr/>
            <p:nvPr/>
          </p:nvSpPr>
          <p:spPr bwMode="auto">
            <a:xfrm>
              <a:off x="2496136" y="5565408"/>
              <a:ext cx="818706" cy="344758"/>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hash2</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2" name="圆角矩形 101"/>
            <p:cNvSpPr/>
            <p:nvPr/>
          </p:nvSpPr>
          <p:spPr bwMode="auto">
            <a:xfrm>
              <a:off x="3448348" y="5590217"/>
              <a:ext cx="818706" cy="319949"/>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hash3</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3" name="圆角矩形 102"/>
            <p:cNvSpPr/>
            <p:nvPr/>
          </p:nvSpPr>
          <p:spPr bwMode="auto">
            <a:xfrm>
              <a:off x="2780178" y="4744389"/>
              <a:ext cx="1026368" cy="319905"/>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b="1" dirty="0" smtClean="0">
                  <a:latin typeface="Arial" panose="020B0604020202020204" pitchFamily="34" charset="0"/>
                  <a:ea typeface="宋体" panose="02010600030101010101" pitchFamily="2" charset="-122"/>
                </a:rPr>
                <a:t>hash23</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cxnSp>
          <p:nvCxnSpPr>
            <p:cNvPr id="104" name="直接箭头连接符 103"/>
            <p:cNvCxnSpPr>
              <a:stCxn id="96" idx="0"/>
              <a:endCxn id="94" idx="2"/>
            </p:cNvCxnSpPr>
            <p:nvPr/>
          </p:nvCxnSpPr>
          <p:spPr bwMode="auto">
            <a:xfrm flipH="1" flipV="1">
              <a:off x="866554" y="5884473"/>
              <a:ext cx="9654" cy="30831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05" name="直接箭头连接符 104"/>
            <p:cNvCxnSpPr>
              <a:stCxn id="97" idx="0"/>
              <a:endCxn id="100" idx="2"/>
            </p:cNvCxnSpPr>
            <p:nvPr/>
          </p:nvCxnSpPr>
          <p:spPr bwMode="auto">
            <a:xfrm flipV="1">
              <a:off x="1824755" y="5884473"/>
              <a:ext cx="4046" cy="31314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06" name="直接箭头连接符 105"/>
            <p:cNvCxnSpPr>
              <a:stCxn id="98" idx="0"/>
              <a:endCxn id="101" idx="2"/>
            </p:cNvCxnSpPr>
            <p:nvPr/>
          </p:nvCxnSpPr>
          <p:spPr bwMode="auto">
            <a:xfrm flipH="1" flipV="1">
              <a:off x="2905489" y="5910166"/>
              <a:ext cx="12586" cy="261048"/>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07" name="直接箭头连接符 106"/>
            <p:cNvCxnSpPr>
              <a:stCxn id="99" idx="0"/>
              <a:endCxn id="102" idx="2"/>
            </p:cNvCxnSpPr>
            <p:nvPr/>
          </p:nvCxnSpPr>
          <p:spPr bwMode="auto">
            <a:xfrm flipH="1" flipV="1">
              <a:off x="3857701" y="5910166"/>
              <a:ext cx="20939" cy="26189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08" name="直接箭头连接符 107"/>
            <p:cNvCxnSpPr>
              <a:stCxn id="94" idx="0"/>
              <a:endCxn id="95" idx="2"/>
            </p:cNvCxnSpPr>
            <p:nvPr/>
          </p:nvCxnSpPr>
          <p:spPr bwMode="auto">
            <a:xfrm flipV="1">
              <a:off x="866554" y="5037527"/>
              <a:ext cx="409353" cy="52699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09" name="直接箭头连接符 108"/>
            <p:cNvCxnSpPr>
              <a:stCxn id="100" idx="0"/>
              <a:endCxn id="95" idx="2"/>
            </p:cNvCxnSpPr>
            <p:nvPr/>
          </p:nvCxnSpPr>
          <p:spPr bwMode="auto">
            <a:xfrm flipH="1" flipV="1">
              <a:off x="1275907" y="5037527"/>
              <a:ext cx="552894" cy="52699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10" name="直接箭头连接符 109"/>
            <p:cNvCxnSpPr>
              <a:stCxn id="101" idx="0"/>
              <a:endCxn id="103" idx="2"/>
            </p:cNvCxnSpPr>
            <p:nvPr/>
          </p:nvCxnSpPr>
          <p:spPr bwMode="auto">
            <a:xfrm flipV="1">
              <a:off x="2905489" y="5064294"/>
              <a:ext cx="387873" cy="501114"/>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11" name="直接箭头连接符 110"/>
            <p:cNvCxnSpPr>
              <a:stCxn id="102" idx="0"/>
              <a:endCxn id="103" idx="2"/>
            </p:cNvCxnSpPr>
            <p:nvPr/>
          </p:nvCxnSpPr>
          <p:spPr bwMode="auto">
            <a:xfrm flipH="1" flipV="1">
              <a:off x="3293362" y="5064294"/>
              <a:ext cx="564339" cy="525923"/>
            </a:xfrm>
            <a:prstGeom prst="straightConnector1">
              <a:avLst/>
            </a:prstGeom>
            <a:solidFill>
              <a:srgbClr val="00B8FF"/>
            </a:solidFill>
            <a:ln w="9525" cap="flat" cmpd="sng" algn="ctr">
              <a:solidFill>
                <a:schemeClr val="tx1"/>
              </a:solidFill>
              <a:prstDash val="solid"/>
              <a:round/>
              <a:headEnd type="none" w="med" len="med"/>
              <a:tailEnd type="triangle"/>
            </a:ln>
          </p:spPr>
        </p:cxnSp>
        <p:grpSp>
          <p:nvGrpSpPr>
            <p:cNvPr id="112" name="组合 111"/>
            <p:cNvGrpSpPr/>
            <p:nvPr/>
          </p:nvGrpSpPr>
          <p:grpSpPr>
            <a:xfrm>
              <a:off x="457201" y="1921822"/>
              <a:ext cx="3561906" cy="2334398"/>
              <a:chOff x="457201" y="1921822"/>
              <a:chExt cx="3561906" cy="2334398"/>
            </a:xfrm>
            <a:solidFill>
              <a:srgbClr val="92D050"/>
            </a:solidFill>
          </p:grpSpPr>
          <p:sp>
            <p:nvSpPr>
              <p:cNvPr id="115" name="矩形 114"/>
              <p:cNvSpPr/>
              <p:nvPr/>
            </p:nvSpPr>
            <p:spPr bwMode="auto">
              <a:xfrm>
                <a:off x="457201" y="1921822"/>
                <a:ext cx="3561906" cy="2334398"/>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6" name="矩形 115"/>
              <p:cNvSpPr/>
              <p:nvPr/>
            </p:nvSpPr>
            <p:spPr bwMode="auto">
              <a:xfrm>
                <a:off x="554140" y="2951361"/>
                <a:ext cx="1477797" cy="432919"/>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i="0" u="none" strike="noStrike" cap="none" normalizeH="0" baseline="0" dirty="0" err="1" smtClean="0">
                    <a:ln>
                      <a:noFill/>
                    </a:ln>
                    <a:effectLst/>
                    <a:latin typeface="Arial" panose="020B0604020202020204" pitchFamily="34" charset="0"/>
                    <a:ea typeface="宋体" panose="02010600030101010101" pitchFamily="2" charset="-122"/>
                  </a:rPr>
                  <a:t>PreHash</a:t>
                </a:r>
                <a:endParaRPr kumimoji="0" lang="zh-CN" altLang="en-US" sz="200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17" name="矩形 116"/>
              <p:cNvSpPr/>
              <p:nvPr/>
            </p:nvSpPr>
            <p:spPr bwMode="auto">
              <a:xfrm>
                <a:off x="2167426" y="2975173"/>
                <a:ext cx="1617543" cy="433963"/>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i="0" u="none" strike="noStrike" cap="none" normalizeH="0" baseline="0" dirty="0" smtClean="0">
                    <a:ln>
                      <a:noFill/>
                    </a:ln>
                    <a:effectLst/>
                    <a:latin typeface="Arial" panose="020B0604020202020204" pitchFamily="34" charset="0"/>
                    <a:ea typeface="宋体" panose="02010600030101010101" pitchFamily="2" charset="-122"/>
                  </a:rPr>
                  <a:t>Nonce</a:t>
                </a:r>
                <a:endParaRPr kumimoji="0" lang="zh-CN" altLang="en-US" sz="200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18" name="矩形 117"/>
              <p:cNvSpPr/>
              <p:nvPr/>
            </p:nvSpPr>
            <p:spPr bwMode="auto">
              <a:xfrm>
                <a:off x="2167426" y="2453759"/>
                <a:ext cx="1617543" cy="435509"/>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i="0" u="none" strike="noStrike" cap="none" normalizeH="0" baseline="0" dirty="0" err="1" smtClean="0">
                    <a:ln>
                      <a:noFill/>
                    </a:ln>
                    <a:effectLst/>
                    <a:latin typeface="Arial" panose="020B0604020202020204" pitchFamily="34" charset="0"/>
                    <a:ea typeface="宋体" panose="02010600030101010101" pitchFamily="2" charset="-122"/>
                  </a:rPr>
                  <a:t>TimeStamp</a:t>
                </a:r>
                <a:endParaRPr kumimoji="0" lang="zh-CN" altLang="en-US"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19" name="矩形 118"/>
              <p:cNvSpPr/>
              <p:nvPr/>
            </p:nvSpPr>
            <p:spPr bwMode="auto">
              <a:xfrm>
                <a:off x="554140" y="3515361"/>
                <a:ext cx="1548555" cy="558982"/>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sz="1600" dirty="0" err="1" smtClean="0"/>
                  <a:t>Merkle</a:t>
                </a:r>
                <a:endParaRPr lang="en-US" altLang="zh-CN" sz="1600" dirty="0" smtClean="0"/>
              </a:p>
              <a:p>
                <a:pPr algn="ctr" defTabSz="457200" fontAlgn="base">
                  <a:spcBef>
                    <a:spcPct val="0"/>
                  </a:spcBef>
                  <a:spcAft>
                    <a:spcPct val="0"/>
                  </a:spcAft>
                  <a:buClr>
                    <a:srgbClr val="000000"/>
                  </a:buClr>
                  <a:buSzPct val="100000"/>
                </a:pPr>
                <a:r>
                  <a:rPr lang="en-US" altLang="zh-CN" sz="1600" dirty="0" smtClean="0"/>
                  <a:t>Root</a:t>
                </a:r>
                <a:endParaRPr kumimoji="0" lang="zh-CN" altLang="en-US" sz="160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120" name="矩形 119"/>
              <p:cNvSpPr/>
              <p:nvPr/>
            </p:nvSpPr>
            <p:spPr bwMode="auto">
              <a:xfrm>
                <a:off x="2139677" y="3489768"/>
                <a:ext cx="1673040" cy="635195"/>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dirty="0" smtClean="0">
                    <a:latin typeface="Arial" panose="020B0604020202020204" pitchFamily="34" charset="0"/>
                    <a:ea typeface="宋体" panose="02010600030101010101" pitchFamily="2" charset="-122"/>
                  </a:rPr>
                  <a:t>Difficulty</a:t>
                </a:r>
              </a:p>
              <a:p>
                <a:pPr algn="ctr" defTabSz="457200" fontAlgn="base">
                  <a:spcBef>
                    <a:spcPct val="0"/>
                  </a:spcBef>
                  <a:spcAft>
                    <a:spcPct val="0"/>
                  </a:spcAft>
                  <a:buClr>
                    <a:srgbClr val="000000"/>
                  </a:buClr>
                  <a:buSzPct val="100000"/>
                </a:pPr>
                <a:r>
                  <a:rPr lang="en-US" altLang="zh-CN" dirty="0" smtClean="0">
                    <a:latin typeface="Arial" panose="020B0604020202020204" pitchFamily="34" charset="0"/>
                    <a:ea typeface="宋体" panose="02010600030101010101" pitchFamily="2" charset="-122"/>
                  </a:rPr>
                  <a:t>Target</a:t>
                </a:r>
                <a:endParaRPr kumimoji="0" lang="zh-CN" altLang="en-US"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21" name="矩形 120"/>
              <p:cNvSpPr/>
              <p:nvPr/>
            </p:nvSpPr>
            <p:spPr bwMode="auto">
              <a:xfrm>
                <a:off x="554140" y="2453759"/>
                <a:ext cx="1477797" cy="403524"/>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sz="2000" dirty="0">
                    <a:latin typeface="Arial" panose="020B0604020202020204" pitchFamily="34" charset="0"/>
                    <a:ea typeface="宋体" panose="02010600030101010101" pitchFamily="2" charset="-122"/>
                  </a:rPr>
                  <a:t>version</a:t>
                </a:r>
                <a:endParaRPr kumimoji="0" lang="zh-CN" altLang="en-US" sz="200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22" name="文本框 121"/>
              <p:cNvSpPr txBox="1"/>
              <p:nvPr/>
            </p:nvSpPr>
            <p:spPr>
              <a:xfrm>
                <a:off x="570737" y="1959591"/>
                <a:ext cx="1673040" cy="370695"/>
              </a:xfrm>
              <a:prstGeom prst="rect">
                <a:avLst/>
              </a:prstGeom>
              <a:grpFill/>
            </p:spPr>
            <p:txBody>
              <a:bodyPr wrap="square" rtlCol="0">
                <a:spAutoFit/>
              </a:bodyPr>
              <a:lstStyle/>
              <a:p>
                <a:r>
                  <a:rPr lang="en-US" altLang="zh-CN" sz="2000" b="1" dirty="0" smtClean="0"/>
                  <a:t>Block Header</a:t>
                </a:r>
                <a:endParaRPr lang="zh-CN" altLang="en-US" sz="2000" b="1" dirty="0"/>
              </a:p>
            </p:txBody>
          </p:sp>
        </p:grpSp>
        <p:cxnSp>
          <p:nvCxnSpPr>
            <p:cNvPr id="113" name="直接箭头连接符 112"/>
            <p:cNvCxnSpPr>
              <a:stCxn id="95" idx="0"/>
            </p:cNvCxnSpPr>
            <p:nvPr/>
          </p:nvCxnSpPr>
          <p:spPr bwMode="auto">
            <a:xfrm flipH="1" flipV="1">
              <a:off x="1264622" y="4114800"/>
              <a:ext cx="11285" cy="60282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14" name="直接箭头连接符 113"/>
            <p:cNvCxnSpPr>
              <a:stCxn id="103" idx="0"/>
            </p:cNvCxnSpPr>
            <p:nvPr/>
          </p:nvCxnSpPr>
          <p:spPr bwMode="auto">
            <a:xfrm flipH="1" flipV="1">
              <a:off x="1328417" y="4124965"/>
              <a:ext cx="1964945" cy="619424"/>
            </a:xfrm>
            <a:prstGeom prst="straightConnector1">
              <a:avLst/>
            </a:prstGeom>
            <a:solidFill>
              <a:srgbClr val="00B8FF"/>
            </a:solidFill>
            <a:ln w="9525" cap="flat" cmpd="sng" algn="ctr">
              <a:solidFill>
                <a:schemeClr val="tx1"/>
              </a:solidFill>
              <a:prstDash val="solid"/>
              <a:round/>
              <a:headEnd type="none" w="med" len="med"/>
              <a:tailEnd type="triangle"/>
            </a:ln>
          </p:spPr>
        </p:cxnSp>
      </p:grpSp>
      <p:grpSp>
        <p:nvGrpSpPr>
          <p:cNvPr id="185" name="组合 184"/>
          <p:cNvGrpSpPr/>
          <p:nvPr/>
        </p:nvGrpSpPr>
        <p:grpSpPr>
          <a:xfrm>
            <a:off x="5001890" y="1456773"/>
            <a:ext cx="4045167" cy="4303110"/>
            <a:chOff x="248173" y="1693773"/>
            <a:chExt cx="4125432" cy="5124894"/>
          </a:xfrm>
        </p:grpSpPr>
        <p:sp>
          <p:nvSpPr>
            <p:cNvPr id="186" name="矩形 185"/>
            <p:cNvSpPr/>
            <p:nvPr/>
          </p:nvSpPr>
          <p:spPr bwMode="auto">
            <a:xfrm>
              <a:off x="248173" y="1693773"/>
              <a:ext cx="4125432" cy="5124894"/>
            </a:xfrm>
            <a:prstGeom prst="rect">
              <a:avLst/>
            </a:prstGeom>
            <a:solidFill>
              <a:srgbClr val="FFFF99"/>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87" name="圆角矩形 186"/>
            <p:cNvSpPr/>
            <p:nvPr/>
          </p:nvSpPr>
          <p:spPr bwMode="auto">
            <a:xfrm>
              <a:off x="457201" y="5564524"/>
              <a:ext cx="818706" cy="319949"/>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hash0</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88" name="圆角矩形 187"/>
            <p:cNvSpPr/>
            <p:nvPr/>
          </p:nvSpPr>
          <p:spPr bwMode="auto">
            <a:xfrm>
              <a:off x="762723" y="4717622"/>
              <a:ext cx="1026368" cy="319905"/>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b="1" dirty="0" smtClean="0">
                  <a:latin typeface="Arial" panose="020B0604020202020204" pitchFamily="34" charset="0"/>
                  <a:ea typeface="宋体" panose="02010600030101010101" pitchFamily="2" charset="-122"/>
                </a:rPr>
                <a:t>hash01</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89" name="圆角矩形 188"/>
            <p:cNvSpPr/>
            <p:nvPr/>
          </p:nvSpPr>
          <p:spPr bwMode="auto">
            <a:xfrm>
              <a:off x="487794" y="6192785"/>
              <a:ext cx="776828" cy="361507"/>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Tran0</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0" name="圆角矩形 189"/>
            <p:cNvSpPr/>
            <p:nvPr/>
          </p:nvSpPr>
          <p:spPr bwMode="auto">
            <a:xfrm>
              <a:off x="1436341" y="6197615"/>
              <a:ext cx="776828" cy="351846"/>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Tran1</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1" name="圆角矩形 190"/>
            <p:cNvSpPr/>
            <p:nvPr/>
          </p:nvSpPr>
          <p:spPr bwMode="auto">
            <a:xfrm>
              <a:off x="2529661" y="6171214"/>
              <a:ext cx="776828" cy="361507"/>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Tran2</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2" name="圆角矩形 191"/>
            <p:cNvSpPr/>
            <p:nvPr/>
          </p:nvSpPr>
          <p:spPr bwMode="auto">
            <a:xfrm>
              <a:off x="3490226" y="6172063"/>
              <a:ext cx="776828" cy="361507"/>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Tran3</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3" name="圆角矩形 192"/>
            <p:cNvSpPr/>
            <p:nvPr/>
          </p:nvSpPr>
          <p:spPr bwMode="auto">
            <a:xfrm>
              <a:off x="1419448" y="5564524"/>
              <a:ext cx="818706" cy="319949"/>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hash1</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4" name="圆角矩形 193"/>
            <p:cNvSpPr/>
            <p:nvPr/>
          </p:nvSpPr>
          <p:spPr bwMode="auto">
            <a:xfrm>
              <a:off x="2496136" y="5565408"/>
              <a:ext cx="818706" cy="344758"/>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hash2</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5" name="圆角矩形 194"/>
            <p:cNvSpPr/>
            <p:nvPr/>
          </p:nvSpPr>
          <p:spPr bwMode="auto">
            <a:xfrm>
              <a:off x="3448348" y="5590217"/>
              <a:ext cx="818706" cy="319949"/>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1600" b="1" dirty="0" smtClean="0">
                  <a:latin typeface="Arial" panose="020B0604020202020204" pitchFamily="34" charset="0"/>
                  <a:ea typeface="宋体" panose="02010600030101010101" pitchFamily="2" charset="-122"/>
                </a:rPr>
                <a:t>hash3</a:t>
              </a:r>
              <a:endParaRPr kumimoji="0" lang="zh-CN" altLang="en-US" sz="16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96" name="圆角矩形 195"/>
            <p:cNvSpPr/>
            <p:nvPr/>
          </p:nvSpPr>
          <p:spPr bwMode="auto">
            <a:xfrm>
              <a:off x="2780178" y="4744389"/>
              <a:ext cx="1026368" cy="319905"/>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b="1" dirty="0" smtClean="0">
                  <a:latin typeface="Arial" panose="020B0604020202020204" pitchFamily="34" charset="0"/>
                  <a:ea typeface="宋体" panose="02010600030101010101" pitchFamily="2" charset="-122"/>
                </a:rPr>
                <a:t>hash23</a:t>
              </a:r>
              <a:endParaRPr kumimoji="0" lang="zh-CN" altLang="en-US" sz="1800" b="1" i="0" u="none" strike="noStrike" cap="none" normalizeH="0" baseline="0" dirty="0" smtClean="0">
                <a:ln>
                  <a:noFill/>
                </a:ln>
                <a:effectLst/>
                <a:latin typeface="Arial" panose="020B0604020202020204" pitchFamily="34" charset="0"/>
                <a:ea typeface="宋体" panose="02010600030101010101" pitchFamily="2" charset="-122"/>
              </a:endParaRPr>
            </a:p>
          </p:txBody>
        </p:sp>
        <p:cxnSp>
          <p:nvCxnSpPr>
            <p:cNvPr id="197" name="直接箭头连接符 196"/>
            <p:cNvCxnSpPr>
              <a:stCxn id="189" idx="0"/>
              <a:endCxn id="187" idx="2"/>
            </p:cNvCxnSpPr>
            <p:nvPr/>
          </p:nvCxnSpPr>
          <p:spPr bwMode="auto">
            <a:xfrm flipH="1" flipV="1">
              <a:off x="866554" y="5884473"/>
              <a:ext cx="9654" cy="30831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98" name="直接箭头连接符 197"/>
            <p:cNvCxnSpPr>
              <a:stCxn id="190" idx="0"/>
              <a:endCxn id="193" idx="2"/>
            </p:cNvCxnSpPr>
            <p:nvPr/>
          </p:nvCxnSpPr>
          <p:spPr bwMode="auto">
            <a:xfrm flipV="1">
              <a:off x="1824755" y="5884473"/>
              <a:ext cx="4046" cy="31314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99" name="直接箭头连接符 198"/>
            <p:cNvCxnSpPr>
              <a:stCxn id="191" idx="0"/>
              <a:endCxn id="194" idx="2"/>
            </p:cNvCxnSpPr>
            <p:nvPr/>
          </p:nvCxnSpPr>
          <p:spPr bwMode="auto">
            <a:xfrm flipH="1" flipV="1">
              <a:off x="2905489" y="5910166"/>
              <a:ext cx="12586" cy="261048"/>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00" name="直接箭头连接符 199"/>
            <p:cNvCxnSpPr>
              <a:stCxn id="192" idx="0"/>
              <a:endCxn id="195" idx="2"/>
            </p:cNvCxnSpPr>
            <p:nvPr/>
          </p:nvCxnSpPr>
          <p:spPr bwMode="auto">
            <a:xfrm flipH="1" flipV="1">
              <a:off x="3857701" y="5910166"/>
              <a:ext cx="20939" cy="26189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01" name="直接箭头连接符 200"/>
            <p:cNvCxnSpPr>
              <a:stCxn id="187" idx="0"/>
              <a:endCxn id="188" idx="2"/>
            </p:cNvCxnSpPr>
            <p:nvPr/>
          </p:nvCxnSpPr>
          <p:spPr bwMode="auto">
            <a:xfrm flipV="1">
              <a:off x="866554" y="5037527"/>
              <a:ext cx="409353" cy="52699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02" name="直接箭头连接符 201"/>
            <p:cNvCxnSpPr>
              <a:stCxn id="193" idx="0"/>
              <a:endCxn id="188" idx="2"/>
            </p:cNvCxnSpPr>
            <p:nvPr/>
          </p:nvCxnSpPr>
          <p:spPr bwMode="auto">
            <a:xfrm flipH="1" flipV="1">
              <a:off x="1275907" y="5037527"/>
              <a:ext cx="552894" cy="52699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03" name="直接箭头连接符 202"/>
            <p:cNvCxnSpPr>
              <a:stCxn id="194" idx="0"/>
              <a:endCxn id="196" idx="2"/>
            </p:cNvCxnSpPr>
            <p:nvPr/>
          </p:nvCxnSpPr>
          <p:spPr bwMode="auto">
            <a:xfrm flipV="1">
              <a:off x="2905489" y="5064294"/>
              <a:ext cx="387873" cy="501114"/>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04" name="直接箭头连接符 203"/>
            <p:cNvCxnSpPr>
              <a:stCxn id="195" idx="0"/>
              <a:endCxn id="196" idx="2"/>
            </p:cNvCxnSpPr>
            <p:nvPr/>
          </p:nvCxnSpPr>
          <p:spPr bwMode="auto">
            <a:xfrm flipH="1" flipV="1">
              <a:off x="3293362" y="5064294"/>
              <a:ext cx="564339" cy="525923"/>
            </a:xfrm>
            <a:prstGeom prst="straightConnector1">
              <a:avLst/>
            </a:prstGeom>
            <a:solidFill>
              <a:srgbClr val="00B8FF"/>
            </a:solidFill>
            <a:ln w="9525" cap="flat" cmpd="sng" algn="ctr">
              <a:solidFill>
                <a:schemeClr val="tx1"/>
              </a:solidFill>
              <a:prstDash val="solid"/>
              <a:round/>
              <a:headEnd type="none" w="med" len="med"/>
              <a:tailEnd type="triangle"/>
            </a:ln>
          </p:spPr>
        </p:cxnSp>
        <p:grpSp>
          <p:nvGrpSpPr>
            <p:cNvPr id="205" name="组合 204"/>
            <p:cNvGrpSpPr/>
            <p:nvPr/>
          </p:nvGrpSpPr>
          <p:grpSpPr>
            <a:xfrm>
              <a:off x="457201" y="1921822"/>
              <a:ext cx="3561906" cy="2334398"/>
              <a:chOff x="457201" y="1921822"/>
              <a:chExt cx="3561906" cy="2334398"/>
            </a:xfrm>
            <a:solidFill>
              <a:srgbClr val="92D050"/>
            </a:solidFill>
          </p:grpSpPr>
          <p:sp>
            <p:nvSpPr>
              <p:cNvPr id="208" name="矩形 207"/>
              <p:cNvSpPr/>
              <p:nvPr/>
            </p:nvSpPr>
            <p:spPr bwMode="auto">
              <a:xfrm>
                <a:off x="457201" y="1921822"/>
                <a:ext cx="3561906" cy="2334398"/>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09" name="矩形 208"/>
              <p:cNvSpPr/>
              <p:nvPr/>
            </p:nvSpPr>
            <p:spPr bwMode="auto">
              <a:xfrm>
                <a:off x="554140" y="2951361"/>
                <a:ext cx="1477797" cy="432919"/>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i="0" u="none" strike="noStrike" cap="none" normalizeH="0" baseline="0" dirty="0" err="1" smtClean="0">
                    <a:ln>
                      <a:noFill/>
                    </a:ln>
                    <a:effectLst/>
                    <a:latin typeface="Arial" panose="020B0604020202020204" pitchFamily="34" charset="0"/>
                    <a:ea typeface="宋体" panose="02010600030101010101" pitchFamily="2" charset="-122"/>
                  </a:rPr>
                  <a:t>PreHash</a:t>
                </a:r>
                <a:endParaRPr kumimoji="0" lang="zh-CN" altLang="en-US" sz="200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10" name="矩形 209"/>
              <p:cNvSpPr/>
              <p:nvPr/>
            </p:nvSpPr>
            <p:spPr bwMode="auto">
              <a:xfrm>
                <a:off x="2167426" y="2975173"/>
                <a:ext cx="1617543" cy="433963"/>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i="0" u="none" strike="noStrike" cap="none" normalizeH="0" baseline="0" dirty="0" smtClean="0">
                    <a:ln>
                      <a:noFill/>
                    </a:ln>
                    <a:effectLst/>
                    <a:latin typeface="Arial" panose="020B0604020202020204" pitchFamily="34" charset="0"/>
                    <a:ea typeface="宋体" panose="02010600030101010101" pitchFamily="2" charset="-122"/>
                  </a:rPr>
                  <a:t>Nonce</a:t>
                </a:r>
                <a:endParaRPr kumimoji="0" lang="zh-CN" altLang="en-US" sz="200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11" name="矩形 210"/>
              <p:cNvSpPr/>
              <p:nvPr/>
            </p:nvSpPr>
            <p:spPr bwMode="auto">
              <a:xfrm>
                <a:off x="2167426" y="2453759"/>
                <a:ext cx="1617543" cy="435509"/>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i="0" u="none" strike="noStrike" cap="none" normalizeH="0" baseline="0" dirty="0" err="1" smtClean="0">
                    <a:ln>
                      <a:noFill/>
                    </a:ln>
                    <a:effectLst/>
                    <a:latin typeface="Arial" panose="020B0604020202020204" pitchFamily="34" charset="0"/>
                    <a:ea typeface="宋体" panose="02010600030101010101" pitchFamily="2" charset="-122"/>
                  </a:rPr>
                  <a:t>TimeStamp</a:t>
                </a:r>
                <a:endParaRPr kumimoji="0" lang="zh-CN" altLang="en-US"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12" name="矩形 211"/>
              <p:cNvSpPr/>
              <p:nvPr/>
            </p:nvSpPr>
            <p:spPr bwMode="auto">
              <a:xfrm>
                <a:off x="554140" y="3515361"/>
                <a:ext cx="1548555" cy="558982"/>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sz="1600" dirty="0" err="1" smtClean="0"/>
                  <a:t>Merkle</a:t>
                </a:r>
                <a:endParaRPr lang="en-US" altLang="zh-CN" sz="1600" dirty="0" smtClean="0"/>
              </a:p>
              <a:p>
                <a:pPr algn="ctr" defTabSz="457200" fontAlgn="base">
                  <a:spcBef>
                    <a:spcPct val="0"/>
                  </a:spcBef>
                  <a:spcAft>
                    <a:spcPct val="0"/>
                  </a:spcAft>
                  <a:buClr>
                    <a:srgbClr val="000000"/>
                  </a:buClr>
                  <a:buSzPct val="100000"/>
                </a:pPr>
                <a:r>
                  <a:rPr lang="en-US" altLang="zh-CN" sz="1600" dirty="0" smtClean="0"/>
                  <a:t>Root</a:t>
                </a:r>
                <a:endParaRPr kumimoji="0" lang="zh-CN" altLang="en-US" sz="160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p:txBody>
          </p:sp>
          <p:sp>
            <p:nvSpPr>
              <p:cNvPr id="213" name="矩形 212"/>
              <p:cNvSpPr/>
              <p:nvPr/>
            </p:nvSpPr>
            <p:spPr bwMode="auto">
              <a:xfrm>
                <a:off x="2139677" y="3489768"/>
                <a:ext cx="1673040" cy="635195"/>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dirty="0" smtClean="0">
                    <a:latin typeface="Arial" panose="020B0604020202020204" pitchFamily="34" charset="0"/>
                    <a:ea typeface="宋体" panose="02010600030101010101" pitchFamily="2" charset="-122"/>
                  </a:rPr>
                  <a:t>Difficulty</a:t>
                </a:r>
              </a:p>
              <a:p>
                <a:pPr algn="ctr" defTabSz="457200" fontAlgn="base">
                  <a:spcBef>
                    <a:spcPct val="0"/>
                  </a:spcBef>
                  <a:spcAft>
                    <a:spcPct val="0"/>
                  </a:spcAft>
                  <a:buClr>
                    <a:srgbClr val="000000"/>
                  </a:buClr>
                  <a:buSzPct val="100000"/>
                </a:pPr>
                <a:r>
                  <a:rPr lang="en-US" altLang="zh-CN" dirty="0" smtClean="0">
                    <a:latin typeface="Arial" panose="020B0604020202020204" pitchFamily="34" charset="0"/>
                    <a:ea typeface="宋体" panose="02010600030101010101" pitchFamily="2" charset="-122"/>
                  </a:rPr>
                  <a:t>Target</a:t>
                </a:r>
                <a:endParaRPr kumimoji="0" lang="zh-CN" altLang="en-US"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14" name="矩形 213"/>
              <p:cNvSpPr/>
              <p:nvPr/>
            </p:nvSpPr>
            <p:spPr bwMode="auto">
              <a:xfrm>
                <a:off x="554140" y="2453759"/>
                <a:ext cx="1477797" cy="403524"/>
              </a:xfrm>
              <a:prstGeom prst="rect">
                <a:avLst/>
              </a:prstGeom>
              <a:grp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defTabSz="457200" fontAlgn="base">
                  <a:spcBef>
                    <a:spcPct val="0"/>
                  </a:spcBef>
                  <a:spcAft>
                    <a:spcPct val="0"/>
                  </a:spcAft>
                  <a:buClr>
                    <a:srgbClr val="000000"/>
                  </a:buClr>
                  <a:buSzPct val="100000"/>
                </a:pPr>
                <a:r>
                  <a:rPr lang="en-US" altLang="zh-CN" sz="2000" dirty="0">
                    <a:latin typeface="Arial" panose="020B0604020202020204" pitchFamily="34" charset="0"/>
                    <a:ea typeface="宋体" panose="02010600030101010101" pitchFamily="2" charset="-122"/>
                  </a:rPr>
                  <a:t>version</a:t>
                </a:r>
                <a:endParaRPr kumimoji="0" lang="zh-CN" altLang="en-US" sz="2000"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215" name="文本框 214"/>
              <p:cNvSpPr txBox="1"/>
              <p:nvPr/>
            </p:nvSpPr>
            <p:spPr>
              <a:xfrm>
                <a:off x="570737" y="1959591"/>
                <a:ext cx="1673040" cy="370695"/>
              </a:xfrm>
              <a:prstGeom prst="rect">
                <a:avLst/>
              </a:prstGeom>
              <a:grpFill/>
            </p:spPr>
            <p:txBody>
              <a:bodyPr wrap="square" rtlCol="0">
                <a:spAutoFit/>
              </a:bodyPr>
              <a:lstStyle/>
              <a:p>
                <a:r>
                  <a:rPr lang="en-US" altLang="zh-CN" sz="2000" b="1" dirty="0" smtClean="0"/>
                  <a:t>Block Header</a:t>
                </a:r>
                <a:endParaRPr lang="zh-CN" altLang="en-US" sz="2000" b="1" dirty="0"/>
              </a:p>
            </p:txBody>
          </p:sp>
        </p:grpSp>
        <p:cxnSp>
          <p:nvCxnSpPr>
            <p:cNvPr id="206" name="直接箭头连接符 205"/>
            <p:cNvCxnSpPr>
              <a:stCxn id="188" idx="0"/>
            </p:cNvCxnSpPr>
            <p:nvPr/>
          </p:nvCxnSpPr>
          <p:spPr bwMode="auto">
            <a:xfrm flipH="1" flipV="1">
              <a:off x="1264622" y="4114800"/>
              <a:ext cx="11285" cy="60282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207" name="直接箭头连接符 206"/>
            <p:cNvCxnSpPr>
              <a:stCxn id="196" idx="0"/>
            </p:cNvCxnSpPr>
            <p:nvPr/>
          </p:nvCxnSpPr>
          <p:spPr bwMode="auto">
            <a:xfrm flipH="1" flipV="1">
              <a:off x="1328417" y="4124965"/>
              <a:ext cx="1964945" cy="619424"/>
            </a:xfrm>
            <a:prstGeom prst="straightConnector1">
              <a:avLst/>
            </a:prstGeom>
            <a:solidFill>
              <a:srgbClr val="00B8FF"/>
            </a:solidFill>
            <a:ln w="9525" cap="flat" cmpd="sng" algn="ctr">
              <a:solidFill>
                <a:schemeClr val="tx1"/>
              </a:solidFill>
              <a:prstDash val="solid"/>
              <a:round/>
              <a:headEnd type="none" w="med" len="med"/>
              <a:tailEnd type="triangle"/>
            </a:ln>
          </p:spPr>
        </p:cxnSp>
      </p:grpSp>
      <p:cxnSp>
        <p:nvCxnSpPr>
          <p:cNvPr id="217" name="直接箭头连接符 216"/>
          <p:cNvCxnSpPr/>
          <p:nvPr/>
        </p:nvCxnSpPr>
        <p:spPr bwMode="auto">
          <a:xfrm flipH="1">
            <a:off x="3958105" y="2694455"/>
            <a:ext cx="1248746" cy="0"/>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223" name="文本框 222"/>
          <p:cNvSpPr txBox="1"/>
          <p:nvPr/>
        </p:nvSpPr>
        <p:spPr>
          <a:xfrm>
            <a:off x="260539" y="5877385"/>
            <a:ext cx="7753159" cy="584775"/>
          </a:xfrm>
          <a:prstGeom prst="rect">
            <a:avLst/>
          </a:prstGeom>
          <a:noFill/>
        </p:spPr>
        <p:txBody>
          <a:bodyPr wrap="square" rtlCol="0">
            <a:spAutoFit/>
          </a:bodyPr>
          <a:lstStyle/>
          <a:p>
            <a:r>
              <a:rPr lang="en-US" altLang="zh-CN" sz="3200" b="1" dirty="0" smtClean="0"/>
              <a:t>Hash (</a:t>
            </a:r>
            <a:r>
              <a:rPr lang="en-US" altLang="zh-CN" sz="3200" b="1" dirty="0" err="1" smtClean="0"/>
              <a:t>PreHash</a:t>
            </a:r>
            <a:r>
              <a:rPr lang="en-US" altLang="zh-CN" sz="3200" b="1" dirty="0" smtClean="0"/>
              <a:t> + Nonce) &lt; Difficulty Target</a:t>
            </a:r>
            <a:endParaRPr lang="zh-CN" altLang="en-US" sz="3200" b="1" dirty="0"/>
          </a:p>
        </p:txBody>
      </p:sp>
    </p:spTree>
    <p:extLst>
      <p:ext uri="{BB962C8B-B14F-4D97-AF65-F5344CB8AC3E}">
        <p14:creationId xmlns:p14="http://schemas.microsoft.com/office/powerpoint/2010/main" val="6954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anim calcmode="lin" valueType="num">
                                      <p:cBhvr>
                                        <p:cTn id="8" dur="1000" fill="hold"/>
                                        <p:tgtEl>
                                          <p:spTgt spid="223"/>
                                        </p:tgtEl>
                                        <p:attrNameLst>
                                          <p:attrName>ppt_x</p:attrName>
                                        </p:attrNameLst>
                                      </p:cBhvr>
                                      <p:tavLst>
                                        <p:tav tm="0">
                                          <p:val>
                                            <p:strVal val="#ppt_x"/>
                                          </p:val>
                                        </p:tav>
                                        <p:tav tm="100000">
                                          <p:val>
                                            <p:strVal val="#ppt_x"/>
                                          </p:val>
                                        </p:tav>
                                      </p:tavLst>
                                    </p:anim>
                                    <p:anim calcmode="lin" valueType="num">
                                      <p:cBhvr>
                                        <p:cTn id="9" dur="1000" fill="hold"/>
                                        <p:tgtEl>
                                          <p:spTgt spid="2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9851" y="1795352"/>
            <a:ext cx="5533981" cy="3864016"/>
          </a:xfrm>
          <a:prstGeom prst="rect">
            <a:avLst/>
          </a:prstGeom>
        </p:spPr>
      </p:pic>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9119" t="773" r="24903" b="4123"/>
          <a:stretch/>
        </p:blipFill>
        <p:spPr>
          <a:xfrm>
            <a:off x="245650" y="2321324"/>
            <a:ext cx="3124201" cy="2343150"/>
          </a:xfrm>
          <a:prstGeom prst="rect">
            <a:avLst/>
          </a:prstGeom>
        </p:spPr>
      </p:pic>
      <p:sp>
        <p:nvSpPr>
          <p:cNvPr id="4" name="标题 1"/>
          <p:cNvSpPr>
            <a:spLocks noGrp="1"/>
          </p:cNvSpPr>
          <p:nvPr>
            <p:ph type="title"/>
          </p:nvPr>
        </p:nvSpPr>
        <p:spPr>
          <a:xfrm>
            <a:off x="1603994" y="211852"/>
            <a:ext cx="5704708" cy="1199729"/>
          </a:xfrm>
        </p:spPr>
        <p:txBody>
          <a:bodyPr/>
          <a:lstStyle/>
          <a:p>
            <a:r>
              <a:rPr lang="en-US" altLang="zh-CN" b="1" dirty="0" smtClean="0"/>
              <a:t>3.1 POW (Proof-Of-Work)</a:t>
            </a:r>
            <a:endParaRPr lang="zh-CN" altLang="en-US" b="1" dirty="0"/>
          </a:p>
        </p:txBody>
      </p:sp>
    </p:spTree>
    <p:extLst>
      <p:ext uri="{BB962C8B-B14F-4D97-AF65-F5344CB8AC3E}">
        <p14:creationId xmlns:p14="http://schemas.microsoft.com/office/powerpoint/2010/main" val="37136225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bwMode="auto">
          <a:xfrm>
            <a:off x="2806263" y="2381693"/>
            <a:ext cx="1935858" cy="1874997"/>
          </a:xfrm>
          <a:prstGeom prst="ellipse">
            <a:avLst/>
          </a:prstGeom>
          <a:solidFill>
            <a:srgbClr val="00A1DA">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7" name="椭圆 6"/>
          <p:cNvSpPr/>
          <p:nvPr/>
        </p:nvSpPr>
        <p:spPr bwMode="auto">
          <a:xfrm>
            <a:off x="4150241" y="2381693"/>
            <a:ext cx="1840656" cy="1874997"/>
          </a:xfrm>
          <a:prstGeom prst="ellipse">
            <a:avLst/>
          </a:prstGeom>
          <a:solidFill>
            <a:srgbClr val="FFFF00">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 name="文本框 8"/>
          <p:cNvSpPr txBox="1"/>
          <p:nvPr/>
        </p:nvSpPr>
        <p:spPr>
          <a:xfrm>
            <a:off x="2887411" y="3076813"/>
            <a:ext cx="1371600" cy="400110"/>
          </a:xfrm>
          <a:prstGeom prst="rect">
            <a:avLst/>
          </a:prstGeom>
          <a:noFill/>
        </p:spPr>
        <p:txBody>
          <a:bodyPr wrap="square" rtlCol="0">
            <a:spAutoFit/>
          </a:bodyPr>
          <a:lstStyle/>
          <a:p>
            <a:r>
              <a:rPr lang="en-US" altLang="zh-CN" sz="2000" b="1" dirty="0" smtClean="0"/>
              <a:t>Advantage</a:t>
            </a:r>
            <a:endParaRPr lang="zh-CN" altLang="en-US" sz="2000" b="1" dirty="0"/>
          </a:p>
        </p:txBody>
      </p:sp>
      <p:sp>
        <p:nvSpPr>
          <p:cNvPr id="10" name="文本框 9"/>
          <p:cNvSpPr txBox="1"/>
          <p:nvPr/>
        </p:nvSpPr>
        <p:spPr>
          <a:xfrm>
            <a:off x="4611083" y="3104935"/>
            <a:ext cx="1717811" cy="369332"/>
          </a:xfrm>
          <a:prstGeom prst="rect">
            <a:avLst/>
          </a:prstGeom>
          <a:noFill/>
        </p:spPr>
        <p:txBody>
          <a:bodyPr wrap="square" rtlCol="0">
            <a:spAutoFit/>
          </a:bodyPr>
          <a:lstStyle/>
          <a:p>
            <a:r>
              <a:rPr lang="en-US" altLang="zh-CN" b="1" dirty="0" smtClean="0"/>
              <a:t>Disadvantage</a:t>
            </a:r>
            <a:endParaRPr lang="zh-CN" altLang="en-US" b="1" dirty="0"/>
          </a:p>
        </p:txBody>
      </p:sp>
      <p:cxnSp>
        <p:nvCxnSpPr>
          <p:cNvPr id="12" name="直接箭头连接符 11"/>
          <p:cNvCxnSpPr/>
          <p:nvPr/>
        </p:nvCxnSpPr>
        <p:spPr bwMode="auto">
          <a:xfrm flipH="1" flipV="1">
            <a:off x="1720486" y="2298531"/>
            <a:ext cx="1103587" cy="677918"/>
          </a:xfrm>
          <a:prstGeom prst="straightConnector1">
            <a:avLst/>
          </a:prstGeom>
          <a:ln>
            <a:solidFill>
              <a:srgbClr val="00A1DA"/>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3" name="文本框 12"/>
          <p:cNvSpPr txBox="1"/>
          <p:nvPr/>
        </p:nvSpPr>
        <p:spPr>
          <a:xfrm>
            <a:off x="18566" y="1645108"/>
            <a:ext cx="3554645" cy="523220"/>
          </a:xfrm>
          <a:prstGeom prst="rect">
            <a:avLst/>
          </a:prstGeom>
          <a:noFill/>
        </p:spPr>
        <p:txBody>
          <a:bodyPr wrap="square" rtlCol="0">
            <a:spAutoFit/>
          </a:bodyPr>
          <a:lstStyle/>
          <a:p>
            <a:r>
              <a:rPr lang="en-US" altLang="zh-CN" sz="2800" b="1" dirty="0" smtClean="0"/>
              <a:t>1.Distributed and fair  </a:t>
            </a:r>
            <a:endParaRPr lang="zh-CN" altLang="en-US" sz="2800" b="1" dirty="0"/>
          </a:p>
        </p:txBody>
      </p:sp>
      <p:sp>
        <p:nvSpPr>
          <p:cNvPr id="14" name="文本框 13"/>
          <p:cNvSpPr txBox="1"/>
          <p:nvPr/>
        </p:nvSpPr>
        <p:spPr>
          <a:xfrm>
            <a:off x="101906" y="4569873"/>
            <a:ext cx="3067948" cy="523220"/>
          </a:xfrm>
          <a:prstGeom prst="rect">
            <a:avLst/>
          </a:prstGeom>
          <a:noFill/>
        </p:spPr>
        <p:txBody>
          <a:bodyPr wrap="square" rtlCol="0">
            <a:spAutoFit/>
          </a:bodyPr>
          <a:lstStyle/>
          <a:p>
            <a:r>
              <a:rPr lang="en-US" altLang="zh-CN" sz="2800" b="1" dirty="0" smtClean="0"/>
              <a:t>2.Safe,51% attack</a:t>
            </a:r>
            <a:endParaRPr lang="zh-CN" altLang="en-US" sz="2800" b="1" dirty="0"/>
          </a:p>
        </p:txBody>
      </p:sp>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717" y="281592"/>
            <a:ext cx="4032992" cy="4332966"/>
          </a:xfrm>
          <a:prstGeom prst="rect">
            <a:avLst/>
          </a:prstGeom>
        </p:spPr>
      </p:pic>
      <p:sp>
        <p:nvSpPr>
          <p:cNvPr id="16" name="文本框 15"/>
          <p:cNvSpPr txBox="1"/>
          <p:nvPr/>
        </p:nvSpPr>
        <p:spPr>
          <a:xfrm>
            <a:off x="4742121" y="305429"/>
            <a:ext cx="4239720" cy="954107"/>
          </a:xfrm>
          <a:prstGeom prst="rect">
            <a:avLst/>
          </a:prstGeom>
          <a:noFill/>
        </p:spPr>
        <p:txBody>
          <a:bodyPr wrap="square" rtlCol="0">
            <a:spAutoFit/>
          </a:bodyPr>
          <a:lstStyle/>
          <a:p>
            <a:pPr marL="342900" indent="-342900">
              <a:buAutoNum type="arabicPeriod"/>
            </a:pPr>
            <a:r>
              <a:rPr lang="en-US" altLang="zh-CN" sz="2800" b="1" dirty="0" smtClean="0"/>
              <a:t>Waste of energy</a:t>
            </a:r>
          </a:p>
          <a:p>
            <a:r>
              <a:rPr lang="en-US" altLang="zh-CN" sz="2800" b="1" dirty="0" smtClean="0"/>
              <a:t>(</a:t>
            </a:r>
            <a:r>
              <a:rPr lang="en-US" altLang="zh-CN" sz="2800" b="1" dirty="0" err="1" smtClean="0"/>
              <a:t>Primecoin,Curecoin,bytom</a:t>
            </a:r>
            <a:r>
              <a:rPr lang="en-US" altLang="zh-CN" sz="2800" b="1" dirty="0" smtClean="0"/>
              <a:t>) </a:t>
            </a:r>
            <a:endParaRPr lang="zh-CN" altLang="en-US" sz="2800" b="1" dirty="0"/>
          </a:p>
        </p:txBody>
      </p:sp>
      <p:sp>
        <p:nvSpPr>
          <p:cNvPr id="17" name="文本框 16"/>
          <p:cNvSpPr txBox="1"/>
          <p:nvPr/>
        </p:nvSpPr>
        <p:spPr>
          <a:xfrm>
            <a:off x="6068246" y="3639247"/>
            <a:ext cx="3075754" cy="954107"/>
          </a:xfrm>
          <a:prstGeom prst="rect">
            <a:avLst/>
          </a:prstGeom>
          <a:noFill/>
        </p:spPr>
        <p:txBody>
          <a:bodyPr wrap="square" rtlCol="0">
            <a:spAutoFit/>
          </a:bodyPr>
          <a:lstStyle/>
          <a:p>
            <a:r>
              <a:rPr lang="en-US" altLang="zh-CN" sz="2800" b="1" dirty="0"/>
              <a:t>3. Centralization of computing power</a:t>
            </a:r>
            <a:endParaRPr lang="zh-CN" altLang="en-US" sz="2800" b="1" dirty="0"/>
          </a:p>
        </p:txBody>
      </p:sp>
      <p:sp>
        <p:nvSpPr>
          <p:cNvPr id="18" name="文本框 17"/>
          <p:cNvSpPr txBox="1"/>
          <p:nvPr/>
        </p:nvSpPr>
        <p:spPr>
          <a:xfrm>
            <a:off x="5948694" y="1551850"/>
            <a:ext cx="2997006" cy="954107"/>
          </a:xfrm>
          <a:prstGeom prst="rect">
            <a:avLst/>
          </a:prstGeom>
          <a:noFill/>
        </p:spPr>
        <p:txBody>
          <a:bodyPr wrap="square" rtlCol="0">
            <a:spAutoFit/>
          </a:bodyPr>
          <a:lstStyle/>
          <a:p>
            <a:r>
              <a:rPr lang="en-US" altLang="zh-CN" sz="2800" b="1" dirty="0"/>
              <a:t>2. Low </a:t>
            </a:r>
            <a:r>
              <a:rPr lang="en-US" altLang="zh-CN" sz="2800" b="1" dirty="0" smtClean="0"/>
              <a:t>network performance</a:t>
            </a:r>
            <a:endParaRPr lang="zh-CN" altLang="en-US" sz="2800" b="1" dirty="0"/>
          </a:p>
        </p:txBody>
      </p:sp>
      <p:sp>
        <p:nvSpPr>
          <p:cNvPr id="19" name="文本框 18"/>
          <p:cNvSpPr txBox="1"/>
          <p:nvPr/>
        </p:nvSpPr>
        <p:spPr>
          <a:xfrm>
            <a:off x="6068246" y="5093093"/>
            <a:ext cx="2368546" cy="523220"/>
          </a:xfrm>
          <a:prstGeom prst="rect">
            <a:avLst/>
          </a:prstGeom>
          <a:noFill/>
        </p:spPr>
        <p:txBody>
          <a:bodyPr wrap="square" rtlCol="0">
            <a:spAutoFit/>
          </a:bodyPr>
          <a:lstStyle/>
          <a:p>
            <a:r>
              <a:rPr lang="en-US" altLang="zh-CN" sz="2800" b="1" dirty="0" smtClean="0"/>
              <a:t>4.Easy to fork</a:t>
            </a:r>
            <a:endParaRPr lang="zh-CN" altLang="en-US" sz="2800" b="1" dirty="0"/>
          </a:p>
        </p:txBody>
      </p:sp>
      <p:cxnSp>
        <p:nvCxnSpPr>
          <p:cNvPr id="20" name="直接箭头连接符 19"/>
          <p:cNvCxnSpPr/>
          <p:nvPr/>
        </p:nvCxnSpPr>
        <p:spPr bwMode="auto">
          <a:xfrm flipH="1">
            <a:off x="1635880" y="3926399"/>
            <a:ext cx="1317315" cy="622415"/>
          </a:xfrm>
          <a:prstGeom prst="straightConnector1">
            <a:avLst/>
          </a:prstGeom>
          <a:ln>
            <a:solidFill>
              <a:srgbClr val="00A1DA"/>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1" name="直接箭头连接符 20"/>
          <p:cNvCxnSpPr/>
          <p:nvPr/>
        </p:nvCxnSpPr>
        <p:spPr bwMode="auto">
          <a:xfrm flipV="1">
            <a:off x="5199556" y="1259536"/>
            <a:ext cx="48254" cy="1170734"/>
          </a:xfrm>
          <a:prstGeom prst="straightConnector1">
            <a:avLst/>
          </a:prstGeom>
          <a:ln>
            <a:solidFill>
              <a:srgbClr val="FFFF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p:cNvCxnSpPr>
            <a:endCxn id="17" idx="1"/>
          </p:cNvCxnSpPr>
          <p:nvPr/>
        </p:nvCxnSpPr>
        <p:spPr bwMode="auto">
          <a:xfrm>
            <a:off x="5864263" y="3838972"/>
            <a:ext cx="203983" cy="277329"/>
          </a:xfrm>
          <a:prstGeom prst="straightConnector1">
            <a:avLst/>
          </a:prstGeom>
          <a:ln>
            <a:solidFill>
              <a:srgbClr val="FFFF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30" name="直接箭头连接符 29"/>
          <p:cNvCxnSpPr>
            <a:endCxn id="19" idx="1"/>
          </p:cNvCxnSpPr>
          <p:nvPr/>
        </p:nvCxnSpPr>
        <p:spPr bwMode="auto">
          <a:xfrm>
            <a:off x="5530733" y="4196080"/>
            <a:ext cx="537513" cy="1158623"/>
          </a:xfrm>
          <a:prstGeom prst="straightConnector1">
            <a:avLst/>
          </a:prstGeom>
          <a:ln>
            <a:solidFill>
              <a:srgbClr val="FFFF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33" name="直接箭头连接符 32"/>
          <p:cNvCxnSpPr/>
          <p:nvPr/>
        </p:nvCxnSpPr>
        <p:spPr bwMode="auto">
          <a:xfrm flipV="1">
            <a:off x="5864263" y="2437918"/>
            <a:ext cx="203983" cy="444554"/>
          </a:xfrm>
          <a:prstGeom prst="straightConnector1">
            <a:avLst/>
          </a:prstGeom>
          <a:ln>
            <a:solidFill>
              <a:srgbClr val="FFFF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4479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3.2 POS (Proof-Of-Stake)</a:t>
            </a:r>
            <a:br>
              <a:rPr lang="en-US" altLang="zh-CN" b="1" dirty="0" smtClean="0"/>
            </a:br>
            <a:r>
              <a:rPr lang="en-US" altLang="zh-CN" b="1" dirty="0" err="1" smtClean="0"/>
              <a:t>eg.Peercoin</a:t>
            </a:r>
            <a:r>
              <a:rPr lang="en-US" altLang="zh-CN" b="1" dirty="0" smtClean="0"/>
              <a:t>, NXT</a:t>
            </a:r>
            <a:endParaRPr lang="zh-CN" altLang="en-US" b="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9840" y="2699395"/>
            <a:ext cx="1054260" cy="1054260"/>
          </a:xfrm>
          <a:prstGeom prst="rect">
            <a:avLst/>
          </a:prstGeom>
        </p:spPr>
      </p:pic>
      <mc:AlternateContent xmlns:mc="http://schemas.openxmlformats.org/markup-compatibility/2006" xmlns:a14="http://schemas.microsoft.com/office/drawing/2010/main">
        <mc:Choice Requires="a14">
          <p:sp>
            <p:nvSpPr>
              <p:cNvPr id="6" name="圆角矩形 5"/>
              <p:cNvSpPr/>
              <p:nvPr/>
            </p:nvSpPr>
            <p:spPr bwMode="auto">
              <a:xfrm>
                <a:off x="153263" y="2545507"/>
                <a:ext cx="4865777" cy="3448893"/>
              </a:xfrm>
              <a:prstGeom prst="round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400" dirty="0" smtClean="0">
                    <a:latin typeface="Arial" panose="020B0604020202020204" pitchFamily="34" charset="0"/>
                    <a:ea typeface="宋体" panose="02010600030101010101" pitchFamily="2" charset="-122"/>
                  </a:rPr>
                  <a:t>1coinage=1token*1day</a:t>
                </a: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400" dirty="0" smtClean="0">
                    <a:latin typeface="Arial" panose="020B0604020202020204" pitchFamily="34" charset="0"/>
                    <a:ea typeface="宋体" panose="02010600030101010101" pitchFamily="2" charset="-122"/>
                  </a:rPr>
                  <a:t>Token:100</a:t>
                </a: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rPr>
                  <a:t>Day</a:t>
                </a:r>
                <a:r>
                  <a:rPr kumimoji="0" lang="zh-CN" altLang="en-US" sz="2400" b="0" i="0" u="none" strike="noStrike" cap="none" normalizeH="0" baseline="0" dirty="0" smtClean="0">
                    <a:ln>
                      <a:noFill/>
                    </a:ln>
                    <a:effectLst/>
                    <a:latin typeface="Arial" panose="020B0604020202020204" pitchFamily="34" charset="0"/>
                    <a:ea typeface="宋体" panose="02010600030101010101" pitchFamily="2" charset="-122"/>
                  </a:rPr>
                  <a:t>：</a:t>
                </a:r>
                <a:r>
                  <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rPr>
                  <a:t>30 days</a:t>
                </a: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400" dirty="0" smtClean="0">
                    <a:latin typeface="Arial" panose="020B0604020202020204" pitchFamily="34" charset="0"/>
                    <a:ea typeface="宋体" panose="02010600030101010101" pitchFamily="2" charset="-122"/>
                  </a:rPr>
                  <a:t>Rate: 5% = 0.05 token/365 coinage</a:t>
                </a:r>
                <a:endPar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endParaRP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400" dirty="0" smtClean="0">
                    <a:latin typeface="Arial" panose="020B0604020202020204" pitchFamily="34" charset="0"/>
                    <a:ea typeface="宋体" panose="02010600030101010101" pitchFamily="2" charset="-122"/>
                  </a:rPr>
                  <a:t>Coinage:100*30=3000</a:t>
                </a:r>
              </a:p>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rPr>
                  <a:t>Rate:</a:t>
                </a:r>
                <a14:m>
                  <m:oMath xmlns:m="http://schemas.openxmlformats.org/officeDocument/2006/math">
                    <m:f>
                      <m:fPr>
                        <m:ctrlPr>
                          <a:rPr kumimoji="0" lang="en-US" altLang="zh-CN" sz="2400" b="0" i="1" u="none" strike="noStrike" cap="none" normalizeH="0" baseline="0" smtClean="0">
                            <a:ln>
                              <a:noFill/>
                            </a:ln>
                            <a:effectLst/>
                            <a:latin typeface="Cambria Math" panose="02040503050406030204" pitchFamily="18" charset="0"/>
                            <a:ea typeface="宋体" panose="02010600030101010101" pitchFamily="2" charset="-122"/>
                          </a:rPr>
                        </m:ctrlPr>
                      </m:fPr>
                      <m:num>
                        <m:r>
                          <a:rPr kumimoji="0" lang="en-US" altLang="zh-CN" sz="2400" b="0" i="1" u="none" strike="noStrike" cap="none" normalizeH="0" baseline="0" smtClean="0">
                            <a:ln>
                              <a:noFill/>
                            </a:ln>
                            <a:effectLst/>
                            <a:latin typeface="Cambria Math" panose="02040503050406030204" pitchFamily="18" charset="0"/>
                            <a:ea typeface="宋体" panose="02010600030101010101" pitchFamily="2" charset="-122"/>
                          </a:rPr>
                          <m:t>3000</m:t>
                        </m:r>
                      </m:num>
                      <m:den>
                        <m:r>
                          <a:rPr kumimoji="0" lang="en-US" altLang="zh-CN" sz="2400" b="0" i="1" u="none" strike="noStrike" cap="none" normalizeH="0" baseline="0" smtClean="0">
                            <a:ln>
                              <a:noFill/>
                            </a:ln>
                            <a:effectLst/>
                            <a:latin typeface="Cambria Math" panose="02040503050406030204" pitchFamily="18" charset="0"/>
                            <a:ea typeface="宋体" panose="02010600030101010101" pitchFamily="2" charset="-122"/>
                          </a:rPr>
                          <m:t>365</m:t>
                        </m:r>
                      </m:den>
                    </m:f>
                    <m:r>
                      <a:rPr kumimoji="0" lang="en-US" altLang="zh-CN" sz="2400" b="0" i="1" u="none" strike="noStrike" cap="none" normalizeH="0" baseline="0" smtClean="0">
                        <a:ln>
                          <a:noFill/>
                        </a:ln>
                        <a:effectLst/>
                        <a:latin typeface="Cambria Math" panose="02040503050406030204" pitchFamily="18" charset="0"/>
                        <a:ea typeface="宋体" panose="02010600030101010101" pitchFamily="2" charset="-122"/>
                      </a:rPr>
                      <m:t>∗5%</m:t>
                    </m:r>
                  </m:oMath>
                </a14:m>
                <a:r>
                  <a:rPr kumimoji="0" lang="en-US" altLang="zh-CN" sz="2400" b="0" i="0" u="none" strike="noStrike" cap="none" normalizeH="0" baseline="0" dirty="0" smtClean="0">
                    <a:ln>
                      <a:noFill/>
                    </a:ln>
                    <a:effectLst/>
                    <a:latin typeface="Arial" panose="020B0604020202020204" pitchFamily="34" charset="0"/>
                    <a:ea typeface="宋体" panose="02010600030101010101" pitchFamily="2" charset="-122"/>
                  </a:rPr>
                  <a:t>=0.41 token</a:t>
                </a:r>
                <a:endParaRPr kumimoji="0" lang="zh-CN" altLang="en-US" sz="2400" b="0" i="0" u="none" strike="noStrike" cap="none" normalizeH="0" baseline="0" dirty="0" smtClean="0">
                  <a:ln>
                    <a:noFill/>
                  </a:ln>
                  <a:effectLst/>
                  <a:latin typeface="Arial" panose="020B0604020202020204" pitchFamily="34" charset="0"/>
                  <a:ea typeface="宋体" panose="02010600030101010101" pitchFamily="2" charset="-122"/>
                </a:endParaRPr>
              </a:p>
            </p:txBody>
          </p:sp>
        </mc:Choice>
        <mc:Fallback xmlns="">
          <p:sp>
            <p:nvSpPr>
              <p:cNvPr id="6" name="圆角矩形 5"/>
              <p:cNvSpPr>
                <a:spLocks noRot="1" noChangeAspect="1" noMove="1" noResize="1" noEditPoints="1" noAdjustHandles="1" noChangeArrowheads="1" noChangeShapeType="1" noTextEdit="1"/>
              </p:cNvSpPr>
              <p:nvPr/>
            </p:nvSpPr>
            <p:spPr bwMode="auto">
              <a:xfrm>
                <a:off x="153263" y="2545507"/>
                <a:ext cx="4865777" cy="3448893"/>
              </a:xfrm>
              <a:prstGeom prst="roundRect">
                <a:avLst/>
              </a:prstGeom>
              <a:blipFill>
                <a:blip r:embed="rId4"/>
                <a:stretch>
                  <a:fillRect/>
                </a:stretch>
              </a:blipFill>
              <a:ln w="9525" cap="flat" cmpd="sng" algn="ctr">
                <a:solidFill>
                  <a:schemeClr val="tx1"/>
                </a:solidFill>
                <a:prstDash val="solid"/>
                <a:round/>
                <a:headEnd type="none" w="med" len="med"/>
                <a:tailEnd type="none" w="med" len="med"/>
              </a:ln>
            </p:spPr>
            <p:txBody>
              <a:bodyPr/>
              <a:lstStyle/>
              <a:p>
                <a:r>
                  <a:rPr lang="zh-CN" altLang="en-US">
                    <a:noFill/>
                  </a:rPr>
                  <a:t> </a:t>
                </a:r>
              </a:p>
            </p:txBody>
          </p:sp>
        </mc:Fallback>
      </mc:AlternateContent>
      <p:pic>
        <p:nvPicPr>
          <p:cNvPr id="7" name="图片 6"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77726" y="2442507"/>
            <a:ext cx="3692219" cy="3225576"/>
          </a:xfrm>
          <a:prstGeom prst="rect">
            <a:avLst/>
          </a:prstGeom>
        </p:spPr>
      </p:pic>
      <p:sp>
        <p:nvSpPr>
          <p:cNvPr id="8" name="矩形 7"/>
          <p:cNvSpPr/>
          <p:nvPr/>
        </p:nvSpPr>
        <p:spPr>
          <a:xfrm>
            <a:off x="153262" y="1794526"/>
            <a:ext cx="8990737" cy="523220"/>
          </a:xfrm>
          <a:prstGeom prst="rect">
            <a:avLst/>
          </a:prstGeom>
        </p:spPr>
        <p:txBody>
          <a:bodyPr wrap="square">
            <a:spAutoFit/>
          </a:bodyPr>
          <a:lstStyle/>
          <a:p>
            <a:r>
              <a:rPr lang="en-US" altLang="zh-CN" sz="2800" b="1" dirty="0"/>
              <a:t>Hash (</a:t>
            </a:r>
            <a:r>
              <a:rPr lang="en-US" altLang="zh-CN" sz="2800" b="1" dirty="0" err="1"/>
              <a:t>PreHash</a:t>
            </a:r>
            <a:r>
              <a:rPr lang="en-US" altLang="zh-CN" sz="2800" b="1" dirty="0"/>
              <a:t> + </a:t>
            </a:r>
            <a:r>
              <a:rPr lang="en-US" altLang="zh-CN" sz="2800" b="1" dirty="0" smtClean="0"/>
              <a:t>Nonce, A ) </a:t>
            </a:r>
            <a:r>
              <a:rPr lang="en-US" altLang="zh-CN" sz="2800" b="1" dirty="0"/>
              <a:t>&lt; </a:t>
            </a:r>
            <a:r>
              <a:rPr lang="en-US" altLang="zh-CN" sz="2800" b="1" dirty="0" smtClean="0"/>
              <a:t>Balance(A)*Difficulty </a:t>
            </a:r>
            <a:r>
              <a:rPr lang="en-US" altLang="zh-CN" sz="2800" b="1" dirty="0"/>
              <a:t>Target</a:t>
            </a:r>
            <a:endParaRPr lang="zh-CN" altLang="en-US" sz="2800" b="1" dirty="0"/>
          </a:p>
        </p:txBody>
      </p:sp>
    </p:spTree>
    <p:extLst>
      <p:ext uri="{BB962C8B-B14F-4D97-AF65-F5344CB8AC3E}">
        <p14:creationId xmlns:p14="http://schemas.microsoft.com/office/powerpoint/2010/main" val="6650098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18166" y="356652"/>
            <a:ext cx="5127949" cy="770477"/>
          </a:xfrm>
        </p:spPr>
        <p:txBody>
          <a:bodyPr/>
          <a:lstStyle/>
          <a:p>
            <a:r>
              <a:rPr lang="en-US" altLang="zh-CN" b="1" dirty="0" smtClean="0"/>
              <a:t>3.2 POS </a:t>
            </a:r>
            <a:r>
              <a:rPr lang="en-US" altLang="zh-CN" b="1" dirty="0"/>
              <a:t>(Proof-Of-Stake</a:t>
            </a:r>
            <a:r>
              <a:rPr lang="en-US" altLang="zh-CN" b="1" dirty="0" smtClean="0"/>
              <a:t>)</a:t>
            </a:r>
            <a:endParaRPr lang="zh-CN" altLang="en-US" dirty="0"/>
          </a:p>
        </p:txBody>
      </p:sp>
      <p:sp>
        <p:nvSpPr>
          <p:cNvPr id="9" name="椭圆 8"/>
          <p:cNvSpPr/>
          <p:nvPr/>
        </p:nvSpPr>
        <p:spPr bwMode="auto">
          <a:xfrm>
            <a:off x="2806263" y="2381693"/>
            <a:ext cx="1935858" cy="1874997"/>
          </a:xfrm>
          <a:prstGeom prst="ellipse">
            <a:avLst/>
          </a:prstGeom>
          <a:solidFill>
            <a:srgbClr val="00A1DA">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0" name="椭圆 9"/>
          <p:cNvSpPr/>
          <p:nvPr/>
        </p:nvSpPr>
        <p:spPr bwMode="auto">
          <a:xfrm>
            <a:off x="4150241" y="2381693"/>
            <a:ext cx="1840656" cy="1874997"/>
          </a:xfrm>
          <a:prstGeom prst="ellipse">
            <a:avLst/>
          </a:prstGeom>
          <a:solidFill>
            <a:srgbClr val="FFFF00">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 name="文本框 10"/>
          <p:cNvSpPr txBox="1"/>
          <p:nvPr/>
        </p:nvSpPr>
        <p:spPr>
          <a:xfrm>
            <a:off x="2925052" y="3149914"/>
            <a:ext cx="1371600" cy="400110"/>
          </a:xfrm>
          <a:prstGeom prst="rect">
            <a:avLst/>
          </a:prstGeom>
          <a:noFill/>
        </p:spPr>
        <p:txBody>
          <a:bodyPr wrap="square" rtlCol="0">
            <a:spAutoFit/>
          </a:bodyPr>
          <a:lstStyle/>
          <a:p>
            <a:r>
              <a:rPr lang="en-US" altLang="zh-CN" sz="2000" b="1" dirty="0" smtClean="0"/>
              <a:t>Advantage</a:t>
            </a:r>
            <a:endParaRPr lang="zh-CN" altLang="en-US" sz="2000" b="1" dirty="0"/>
          </a:p>
        </p:txBody>
      </p:sp>
      <p:sp>
        <p:nvSpPr>
          <p:cNvPr id="12" name="文本框 11"/>
          <p:cNvSpPr txBox="1"/>
          <p:nvPr/>
        </p:nvSpPr>
        <p:spPr>
          <a:xfrm>
            <a:off x="4571040" y="3149914"/>
            <a:ext cx="1670658" cy="369332"/>
          </a:xfrm>
          <a:prstGeom prst="rect">
            <a:avLst/>
          </a:prstGeom>
          <a:noFill/>
        </p:spPr>
        <p:txBody>
          <a:bodyPr wrap="square" rtlCol="0">
            <a:spAutoFit/>
          </a:bodyPr>
          <a:lstStyle/>
          <a:p>
            <a:r>
              <a:rPr lang="en-US" altLang="zh-CN" b="1" dirty="0" smtClean="0"/>
              <a:t>Disadvantage</a:t>
            </a:r>
            <a:endParaRPr lang="zh-CN" altLang="en-US" b="1" dirty="0"/>
          </a:p>
        </p:txBody>
      </p:sp>
      <p:sp>
        <p:nvSpPr>
          <p:cNvPr id="13" name="文本框 12"/>
          <p:cNvSpPr txBox="1"/>
          <p:nvPr/>
        </p:nvSpPr>
        <p:spPr>
          <a:xfrm>
            <a:off x="0" y="1589945"/>
            <a:ext cx="4053229" cy="523220"/>
          </a:xfrm>
          <a:prstGeom prst="rect">
            <a:avLst/>
          </a:prstGeom>
          <a:noFill/>
        </p:spPr>
        <p:txBody>
          <a:bodyPr wrap="square" rtlCol="0">
            <a:spAutoFit/>
          </a:bodyPr>
          <a:lstStyle/>
          <a:p>
            <a:r>
              <a:rPr lang="en-US" altLang="zh-CN" sz="2800" b="1" dirty="0" smtClean="0"/>
              <a:t>1.Shorten consensus time</a:t>
            </a:r>
            <a:endParaRPr lang="zh-CN" altLang="en-US" sz="2800" b="1" dirty="0"/>
          </a:p>
        </p:txBody>
      </p:sp>
      <p:sp>
        <p:nvSpPr>
          <p:cNvPr id="14" name="文本框 13"/>
          <p:cNvSpPr txBox="1"/>
          <p:nvPr/>
        </p:nvSpPr>
        <p:spPr>
          <a:xfrm>
            <a:off x="124391" y="3042192"/>
            <a:ext cx="2717138" cy="954107"/>
          </a:xfrm>
          <a:prstGeom prst="rect">
            <a:avLst/>
          </a:prstGeom>
          <a:noFill/>
        </p:spPr>
        <p:txBody>
          <a:bodyPr wrap="square" rtlCol="0">
            <a:spAutoFit/>
          </a:bodyPr>
          <a:lstStyle/>
          <a:p>
            <a:r>
              <a:rPr lang="en-US" altLang="zh-CN" sz="2800" b="1" dirty="0"/>
              <a:t>2. Reduce energy consumption</a:t>
            </a:r>
            <a:endParaRPr lang="zh-CN" altLang="en-US" sz="2800" b="1" dirty="0"/>
          </a:p>
        </p:txBody>
      </p:sp>
      <p:sp>
        <p:nvSpPr>
          <p:cNvPr id="15" name="文本框 14"/>
          <p:cNvSpPr txBox="1"/>
          <p:nvPr/>
        </p:nvSpPr>
        <p:spPr>
          <a:xfrm>
            <a:off x="6502546" y="3704730"/>
            <a:ext cx="2552376" cy="954107"/>
          </a:xfrm>
          <a:prstGeom prst="rect">
            <a:avLst/>
          </a:prstGeom>
          <a:noFill/>
        </p:spPr>
        <p:txBody>
          <a:bodyPr wrap="square" rtlCol="0">
            <a:spAutoFit/>
          </a:bodyPr>
          <a:lstStyle/>
          <a:p>
            <a:r>
              <a:rPr lang="en-US" altLang="zh-CN" sz="2800" b="1" dirty="0" smtClean="0"/>
              <a:t>2.Centralization Evil richest </a:t>
            </a:r>
            <a:endParaRPr lang="zh-CN" altLang="en-US" sz="2800" b="1" dirty="0"/>
          </a:p>
        </p:txBody>
      </p:sp>
      <p:sp>
        <p:nvSpPr>
          <p:cNvPr id="16" name="文本框 15"/>
          <p:cNvSpPr txBox="1"/>
          <p:nvPr/>
        </p:nvSpPr>
        <p:spPr>
          <a:xfrm>
            <a:off x="6502546" y="2381693"/>
            <a:ext cx="2651501" cy="523220"/>
          </a:xfrm>
          <a:prstGeom prst="rect">
            <a:avLst/>
          </a:prstGeom>
          <a:noFill/>
        </p:spPr>
        <p:txBody>
          <a:bodyPr wrap="square" rtlCol="0">
            <a:spAutoFit/>
          </a:bodyPr>
          <a:lstStyle/>
          <a:p>
            <a:r>
              <a:rPr lang="en-US" altLang="zh-CN" sz="2800" b="1" dirty="0" smtClean="0"/>
              <a:t>1.Still mining </a:t>
            </a:r>
            <a:endParaRPr lang="zh-CN" altLang="en-US" sz="2800" b="1" dirty="0"/>
          </a:p>
        </p:txBody>
      </p:sp>
      <p:sp>
        <p:nvSpPr>
          <p:cNvPr id="17" name="文本框 16"/>
          <p:cNvSpPr txBox="1"/>
          <p:nvPr/>
        </p:nvSpPr>
        <p:spPr>
          <a:xfrm>
            <a:off x="124391" y="4917189"/>
            <a:ext cx="3251200" cy="523220"/>
          </a:xfrm>
          <a:prstGeom prst="rect">
            <a:avLst/>
          </a:prstGeom>
          <a:noFill/>
        </p:spPr>
        <p:txBody>
          <a:bodyPr wrap="square" rtlCol="0">
            <a:spAutoFit/>
          </a:bodyPr>
          <a:lstStyle/>
          <a:p>
            <a:r>
              <a:rPr lang="en-US" altLang="zh-CN" sz="2800" b="1" dirty="0" smtClean="0"/>
              <a:t>3.Safe ,51%attack</a:t>
            </a:r>
            <a:endParaRPr lang="zh-CN" altLang="en-US" sz="2800" b="1" dirty="0"/>
          </a:p>
        </p:txBody>
      </p:sp>
      <p:cxnSp>
        <p:nvCxnSpPr>
          <p:cNvPr id="4" name="直接箭头连接符 3"/>
          <p:cNvCxnSpPr/>
          <p:nvPr/>
        </p:nvCxnSpPr>
        <p:spPr bwMode="auto">
          <a:xfrm flipH="1" flipV="1">
            <a:off x="2318166" y="2197026"/>
            <a:ext cx="523363" cy="586814"/>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18" name="直接箭头连接符 17"/>
          <p:cNvCxnSpPr/>
          <p:nvPr/>
        </p:nvCxnSpPr>
        <p:spPr bwMode="auto">
          <a:xfrm flipH="1">
            <a:off x="2371980" y="3670570"/>
            <a:ext cx="469549" cy="34160"/>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19" name="直接箭头连接符 18"/>
          <p:cNvCxnSpPr/>
          <p:nvPr/>
        </p:nvCxnSpPr>
        <p:spPr bwMode="auto">
          <a:xfrm flipH="1">
            <a:off x="2621610" y="4111716"/>
            <a:ext cx="507670" cy="805473"/>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23" name="直接箭头连接符 22"/>
          <p:cNvCxnSpPr>
            <a:endCxn id="16" idx="1"/>
          </p:cNvCxnSpPr>
          <p:nvPr/>
        </p:nvCxnSpPr>
        <p:spPr bwMode="auto">
          <a:xfrm flipV="1">
            <a:off x="5967310" y="2643303"/>
            <a:ext cx="535236" cy="398889"/>
          </a:xfrm>
          <a:prstGeom prst="straightConnector1">
            <a:avLst/>
          </a:prstGeom>
          <a:solidFill>
            <a:srgbClr val="00B8FF"/>
          </a:solidFill>
          <a:ln w="9525" cap="flat" cmpd="sng" algn="ctr">
            <a:solidFill>
              <a:srgbClr val="FFFF00"/>
            </a:solidFill>
            <a:prstDash val="solid"/>
            <a:round/>
            <a:headEnd type="none" w="med" len="med"/>
            <a:tailEnd type="triangle"/>
          </a:ln>
        </p:spPr>
      </p:cxnSp>
      <p:cxnSp>
        <p:nvCxnSpPr>
          <p:cNvPr id="24" name="直接箭头连接符 23"/>
          <p:cNvCxnSpPr>
            <a:endCxn id="15" idx="1"/>
          </p:cNvCxnSpPr>
          <p:nvPr/>
        </p:nvCxnSpPr>
        <p:spPr bwMode="auto">
          <a:xfrm>
            <a:off x="5967310" y="3810413"/>
            <a:ext cx="535236" cy="371371"/>
          </a:xfrm>
          <a:prstGeom prst="straightConnector1">
            <a:avLst/>
          </a:prstGeom>
          <a:solidFill>
            <a:srgbClr val="00B8FF"/>
          </a:solidFill>
          <a:ln w="9525" cap="flat" cmpd="sng" algn="ctr">
            <a:solidFill>
              <a:srgbClr val="FFFF00"/>
            </a:solidFill>
            <a:prstDash val="solid"/>
            <a:round/>
            <a:headEnd type="none" w="med" len="med"/>
            <a:tailEnd type="triangle"/>
          </a:ln>
        </p:spPr>
      </p:cxnSp>
    </p:spTree>
    <p:extLst>
      <p:ext uri="{BB962C8B-B14F-4D97-AF65-F5344CB8AC3E}">
        <p14:creationId xmlns:p14="http://schemas.microsoft.com/office/powerpoint/2010/main" val="42203334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3.3 DPOS (Delegated Proof-of-Stake)</a:t>
            </a:r>
            <a:br>
              <a:rPr lang="en-US" altLang="zh-CN" b="1" dirty="0" smtClean="0"/>
            </a:br>
            <a:r>
              <a:rPr lang="en-US" altLang="zh-CN" b="1" dirty="0" err="1" smtClean="0"/>
              <a:t>eg</a:t>
            </a:r>
            <a:r>
              <a:rPr lang="en-US" altLang="zh-CN" b="1" dirty="0" smtClean="0"/>
              <a:t>. </a:t>
            </a:r>
            <a:r>
              <a:rPr lang="en-US" altLang="zh-CN" b="1" dirty="0" err="1" smtClean="0"/>
              <a:t>Bitshares</a:t>
            </a:r>
            <a:r>
              <a:rPr lang="en-US" altLang="zh-CN" b="1" dirty="0" smtClean="0"/>
              <a:t>, </a:t>
            </a:r>
            <a:r>
              <a:rPr lang="en-US" altLang="zh-CN" b="1" dirty="0" err="1" smtClean="0"/>
              <a:t>Steem</a:t>
            </a:r>
            <a:r>
              <a:rPr lang="en-US" altLang="zh-CN" b="1" dirty="0" smtClean="0"/>
              <a:t>, EOS</a:t>
            </a:r>
            <a:endParaRPr lang="zh-CN" altLang="en-US" b="1"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503" y="1910200"/>
            <a:ext cx="7822233" cy="4395350"/>
          </a:xfrm>
          <a:prstGeom prst="rect">
            <a:avLst/>
          </a:prstGeom>
        </p:spPr>
      </p:pic>
    </p:spTree>
    <p:extLst>
      <p:ext uri="{BB962C8B-B14F-4D97-AF65-F5344CB8AC3E}">
        <p14:creationId xmlns:p14="http://schemas.microsoft.com/office/powerpoint/2010/main" val="13074128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3.3 DPOS </a:t>
            </a:r>
            <a:r>
              <a:rPr lang="en-US" altLang="zh-CN" b="1" dirty="0"/>
              <a:t>(Delegated Proof-of-Stake</a:t>
            </a:r>
            <a:r>
              <a:rPr lang="en-US" altLang="zh-CN" b="1" dirty="0" smtClean="0"/>
              <a:t>)</a:t>
            </a:r>
            <a:endParaRPr lang="zh-CN" altLang="en-US" dirty="0"/>
          </a:p>
        </p:txBody>
      </p:sp>
      <p:sp>
        <p:nvSpPr>
          <p:cNvPr id="8" name="椭圆 7"/>
          <p:cNvSpPr/>
          <p:nvPr/>
        </p:nvSpPr>
        <p:spPr bwMode="auto">
          <a:xfrm>
            <a:off x="2830275" y="2849053"/>
            <a:ext cx="1935858" cy="1874997"/>
          </a:xfrm>
          <a:prstGeom prst="ellipse">
            <a:avLst/>
          </a:prstGeom>
          <a:solidFill>
            <a:srgbClr val="00A1DA">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 name="椭圆 8"/>
          <p:cNvSpPr/>
          <p:nvPr/>
        </p:nvSpPr>
        <p:spPr bwMode="auto">
          <a:xfrm>
            <a:off x="4174253" y="2849053"/>
            <a:ext cx="1840656" cy="1874997"/>
          </a:xfrm>
          <a:prstGeom prst="ellipse">
            <a:avLst/>
          </a:prstGeom>
          <a:solidFill>
            <a:srgbClr val="FFFF00">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 name="文本框 9"/>
          <p:cNvSpPr txBox="1"/>
          <p:nvPr/>
        </p:nvSpPr>
        <p:spPr>
          <a:xfrm>
            <a:off x="2949064" y="3617274"/>
            <a:ext cx="1371600" cy="400110"/>
          </a:xfrm>
          <a:prstGeom prst="rect">
            <a:avLst/>
          </a:prstGeom>
          <a:noFill/>
        </p:spPr>
        <p:txBody>
          <a:bodyPr wrap="square" rtlCol="0">
            <a:spAutoFit/>
          </a:bodyPr>
          <a:lstStyle/>
          <a:p>
            <a:r>
              <a:rPr lang="en-US" altLang="zh-CN" sz="2000" b="1" dirty="0" smtClean="0"/>
              <a:t>Advantage</a:t>
            </a:r>
            <a:endParaRPr lang="zh-CN" altLang="en-US" sz="2000" b="1" dirty="0"/>
          </a:p>
        </p:txBody>
      </p:sp>
      <p:sp>
        <p:nvSpPr>
          <p:cNvPr id="11" name="文本框 10"/>
          <p:cNvSpPr txBox="1"/>
          <p:nvPr/>
        </p:nvSpPr>
        <p:spPr>
          <a:xfrm>
            <a:off x="4656292" y="3632663"/>
            <a:ext cx="1574032" cy="369332"/>
          </a:xfrm>
          <a:prstGeom prst="rect">
            <a:avLst/>
          </a:prstGeom>
          <a:noFill/>
        </p:spPr>
        <p:txBody>
          <a:bodyPr wrap="square" rtlCol="0">
            <a:spAutoFit/>
          </a:bodyPr>
          <a:lstStyle/>
          <a:p>
            <a:r>
              <a:rPr lang="en-US" altLang="zh-CN" b="1" dirty="0" smtClean="0"/>
              <a:t>Disadvantage</a:t>
            </a:r>
            <a:endParaRPr lang="zh-CN" altLang="en-US" b="1" dirty="0"/>
          </a:p>
        </p:txBody>
      </p:sp>
      <p:sp>
        <p:nvSpPr>
          <p:cNvPr id="12" name="文本框 11"/>
          <p:cNvSpPr txBox="1"/>
          <p:nvPr/>
        </p:nvSpPr>
        <p:spPr>
          <a:xfrm>
            <a:off x="59683" y="1453517"/>
            <a:ext cx="3442581" cy="1815882"/>
          </a:xfrm>
          <a:prstGeom prst="rect">
            <a:avLst/>
          </a:prstGeom>
          <a:noFill/>
        </p:spPr>
        <p:txBody>
          <a:bodyPr wrap="square" rtlCol="0">
            <a:spAutoFit/>
          </a:bodyPr>
          <a:lstStyle/>
          <a:p>
            <a:r>
              <a:rPr lang="en-US" altLang="zh-CN" sz="2800" b="1" dirty="0" smtClean="0"/>
              <a:t>1.Reduce </a:t>
            </a:r>
            <a:r>
              <a:rPr lang="en-US" altLang="zh-CN" sz="2800" b="1" dirty="0"/>
              <a:t>the number of participating verification and accounting nodes</a:t>
            </a:r>
            <a:endParaRPr lang="zh-CN" altLang="en-US" sz="2800" b="1" dirty="0"/>
          </a:p>
        </p:txBody>
      </p:sp>
      <p:sp>
        <p:nvSpPr>
          <p:cNvPr id="13" name="文本框 12"/>
          <p:cNvSpPr txBox="1"/>
          <p:nvPr/>
        </p:nvSpPr>
        <p:spPr>
          <a:xfrm>
            <a:off x="171470" y="4973761"/>
            <a:ext cx="2349062" cy="954107"/>
          </a:xfrm>
          <a:prstGeom prst="rect">
            <a:avLst/>
          </a:prstGeom>
          <a:noFill/>
        </p:spPr>
        <p:txBody>
          <a:bodyPr wrap="square" rtlCol="0">
            <a:spAutoFit/>
          </a:bodyPr>
          <a:lstStyle/>
          <a:p>
            <a:r>
              <a:rPr lang="en-US" altLang="zh-CN" sz="2800" b="1" dirty="0" smtClean="0"/>
              <a:t>2.Decentralized &amp; efficient</a:t>
            </a:r>
            <a:endParaRPr lang="zh-CN" altLang="en-US" sz="2800" b="1" dirty="0"/>
          </a:p>
        </p:txBody>
      </p:sp>
      <p:sp>
        <p:nvSpPr>
          <p:cNvPr id="14" name="文本框 13"/>
          <p:cNvSpPr txBox="1"/>
          <p:nvPr/>
        </p:nvSpPr>
        <p:spPr>
          <a:xfrm>
            <a:off x="6206312" y="2702249"/>
            <a:ext cx="2937688" cy="523220"/>
          </a:xfrm>
          <a:prstGeom prst="rect">
            <a:avLst/>
          </a:prstGeom>
          <a:noFill/>
        </p:spPr>
        <p:txBody>
          <a:bodyPr wrap="square" rtlCol="0">
            <a:spAutoFit/>
          </a:bodyPr>
          <a:lstStyle/>
          <a:p>
            <a:r>
              <a:rPr lang="en-US" altLang="zh-CN" sz="2800" b="1" dirty="0" smtClean="0"/>
              <a:t>Depends on token </a:t>
            </a:r>
            <a:endParaRPr lang="zh-CN" altLang="en-US" sz="2800" b="1" dirty="0"/>
          </a:p>
        </p:txBody>
      </p:sp>
      <p:cxnSp>
        <p:nvCxnSpPr>
          <p:cNvPr id="4" name="直接箭头连接符 3"/>
          <p:cNvCxnSpPr>
            <a:stCxn id="8" idx="2"/>
          </p:cNvCxnSpPr>
          <p:nvPr/>
        </p:nvCxnSpPr>
        <p:spPr bwMode="auto">
          <a:xfrm flipH="1" flipV="1">
            <a:off x="2092815" y="3269399"/>
            <a:ext cx="737460" cy="517153"/>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6" name="直接箭头连接符 5"/>
          <p:cNvCxnSpPr/>
          <p:nvPr/>
        </p:nvCxnSpPr>
        <p:spPr bwMode="auto">
          <a:xfrm flipH="1">
            <a:off x="2092815" y="4450080"/>
            <a:ext cx="856249" cy="447040"/>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15" name="直接箭头连接符 14"/>
          <p:cNvCxnSpPr/>
          <p:nvPr/>
        </p:nvCxnSpPr>
        <p:spPr bwMode="auto">
          <a:xfrm flipV="1">
            <a:off x="6014909" y="3225469"/>
            <a:ext cx="551043" cy="391805"/>
          </a:xfrm>
          <a:prstGeom prst="straightConnector1">
            <a:avLst/>
          </a:prstGeom>
          <a:solidFill>
            <a:srgbClr val="00B8FF"/>
          </a:solidFill>
          <a:ln w="9525" cap="flat" cmpd="sng" algn="ctr">
            <a:solidFill>
              <a:srgbClr val="FFFF00"/>
            </a:solidFill>
            <a:prstDash val="solid"/>
            <a:round/>
            <a:headEnd type="none" w="med" len="med"/>
            <a:tailEnd type="triangle"/>
          </a:ln>
        </p:spPr>
      </p:cxnSp>
    </p:spTree>
    <p:extLst>
      <p:ext uri="{BB962C8B-B14F-4D97-AF65-F5344CB8AC3E}">
        <p14:creationId xmlns:p14="http://schemas.microsoft.com/office/powerpoint/2010/main" val="8689944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2395" y="73017"/>
            <a:ext cx="8224838" cy="991587"/>
          </a:xfrm>
        </p:spPr>
        <p:txBody>
          <a:bodyPr/>
          <a:lstStyle/>
          <a:p>
            <a:r>
              <a:rPr lang="en-US" altLang="zh-CN" b="1" dirty="0" smtClean="0"/>
              <a:t>3.4 DSC (Dynamic </a:t>
            </a:r>
            <a:r>
              <a:rPr lang="en-US" altLang="zh-CN" b="1" dirty="0"/>
              <a:t>Stake Consensus</a:t>
            </a:r>
            <a:r>
              <a:rPr lang="en-US" altLang="zh-CN" b="1" dirty="0" smtClean="0"/>
              <a:t>)</a:t>
            </a:r>
            <a:br>
              <a:rPr lang="en-US" altLang="zh-CN" b="1" dirty="0" smtClean="0"/>
            </a:br>
            <a:r>
              <a:rPr lang="en-US" altLang="zh-CN" b="1" dirty="0" err="1" smtClean="0"/>
              <a:t>eg.penta</a:t>
            </a:r>
            <a:endParaRPr lang="zh-CN" altLang="en-US" b="1" dirty="0"/>
          </a:p>
        </p:txBody>
      </p:sp>
      <p:grpSp>
        <p:nvGrpSpPr>
          <p:cNvPr id="29" name="组合 28"/>
          <p:cNvGrpSpPr/>
          <p:nvPr/>
        </p:nvGrpSpPr>
        <p:grpSpPr>
          <a:xfrm>
            <a:off x="341191" y="5700284"/>
            <a:ext cx="5336686" cy="1103252"/>
            <a:chOff x="405016" y="5511235"/>
            <a:chExt cx="5336686" cy="1103252"/>
          </a:xfrm>
        </p:grpSpPr>
        <p:sp>
          <p:nvSpPr>
            <p:cNvPr id="5" name="椭圆 4"/>
            <p:cNvSpPr/>
            <p:nvPr/>
          </p:nvSpPr>
          <p:spPr bwMode="auto">
            <a:xfrm>
              <a:off x="496962" y="5685179"/>
              <a:ext cx="5168348" cy="775255"/>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6" name="流程图: 接点 5"/>
            <p:cNvSpPr/>
            <p:nvPr/>
          </p:nvSpPr>
          <p:spPr bwMode="auto">
            <a:xfrm>
              <a:off x="860945" y="5646665"/>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7" name="流程图: 接点 6"/>
            <p:cNvSpPr/>
            <p:nvPr/>
          </p:nvSpPr>
          <p:spPr bwMode="auto">
            <a:xfrm>
              <a:off x="1376587" y="5595703"/>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8" name="流程图: 接点 7"/>
            <p:cNvSpPr/>
            <p:nvPr/>
          </p:nvSpPr>
          <p:spPr bwMode="auto">
            <a:xfrm>
              <a:off x="405016" y="5861600"/>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 name="流程图: 接点 8"/>
            <p:cNvSpPr/>
            <p:nvPr/>
          </p:nvSpPr>
          <p:spPr bwMode="auto">
            <a:xfrm>
              <a:off x="860945" y="6107591"/>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 name="流程图: 接点 9"/>
            <p:cNvSpPr/>
            <p:nvPr/>
          </p:nvSpPr>
          <p:spPr bwMode="auto">
            <a:xfrm>
              <a:off x="1376587" y="6199531"/>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 name="流程图: 接点 10"/>
            <p:cNvSpPr/>
            <p:nvPr/>
          </p:nvSpPr>
          <p:spPr bwMode="auto">
            <a:xfrm>
              <a:off x="1868577" y="5518687"/>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2" name="流程图: 接点 11"/>
            <p:cNvSpPr/>
            <p:nvPr/>
          </p:nvSpPr>
          <p:spPr bwMode="auto">
            <a:xfrm>
              <a:off x="2417796" y="5511235"/>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3" name="流程图: 接点 12"/>
            <p:cNvSpPr/>
            <p:nvPr/>
          </p:nvSpPr>
          <p:spPr bwMode="auto">
            <a:xfrm>
              <a:off x="1904291" y="6239284"/>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4" name="流程图: 接点 13"/>
            <p:cNvSpPr/>
            <p:nvPr/>
          </p:nvSpPr>
          <p:spPr bwMode="auto">
            <a:xfrm>
              <a:off x="2979260" y="6271577"/>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5" name="流程图: 接点 14"/>
            <p:cNvSpPr/>
            <p:nvPr/>
          </p:nvSpPr>
          <p:spPr bwMode="auto">
            <a:xfrm>
              <a:off x="3519799" y="5516198"/>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6" name="流程图: 接点 15"/>
            <p:cNvSpPr/>
            <p:nvPr/>
          </p:nvSpPr>
          <p:spPr bwMode="auto">
            <a:xfrm>
              <a:off x="3499501" y="6276556"/>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7" name="流程图: 接点 16"/>
            <p:cNvSpPr/>
            <p:nvPr/>
          </p:nvSpPr>
          <p:spPr bwMode="auto">
            <a:xfrm>
              <a:off x="4540203" y="5613108"/>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8" name="流程图: 接点 17"/>
            <p:cNvSpPr/>
            <p:nvPr/>
          </p:nvSpPr>
          <p:spPr bwMode="auto">
            <a:xfrm>
              <a:off x="4552632" y="6231824"/>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9" name="流程图: 接点 18"/>
            <p:cNvSpPr/>
            <p:nvPr/>
          </p:nvSpPr>
          <p:spPr bwMode="auto">
            <a:xfrm>
              <a:off x="5403772" y="5861600"/>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1" name="流程图: 接点 20"/>
            <p:cNvSpPr/>
            <p:nvPr/>
          </p:nvSpPr>
          <p:spPr bwMode="auto">
            <a:xfrm>
              <a:off x="2459019" y="6276556"/>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2" name="流程图: 接点 21"/>
            <p:cNvSpPr/>
            <p:nvPr/>
          </p:nvSpPr>
          <p:spPr bwMode="auto">
            <a:xfrm>
              <a:off x="2970580" y="5511235"/>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3" name="流程图: 接点 22"/>
            <p:cNvSpPr/>
            <p:nvPr/>
          </p:nvSpPr>
          <p:spPr bwMode="auto">
            <a:xfrm>
              <a:off x="4045438" y="5538569"/>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4" name="流程图: 接点 23"/>
            <p:cNvSpPr/>
            <p:nvPr/>
          </p:nvSpPr>
          <p:spPr bwMode="auto">
            <a:xfrm>
              <a:off x="3990908" y="6234310"/>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7" name="流程图: 接点 26"/>
            <p:cNvSpPr/>
            <p:nvPr/>
          </p:nvSpPr>
          <p:spPr bwMode="auto">
            <a:xfrm>
              <a:off x="5002056" y="5687652"/>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28" name="流程图: 接点 27"/>
            <p:cNvSpPr/>
            <p:nvPr/>
          </p:nvSpPr>
          <p:spPr bwMode="auto">
            <a:xfrm>
              <a:off x="5002056" y="6161017"/>
              <a:ext cx="337930" cy="337931"/>
            </a:xfrm>
            <a:prstGeom prst="flowChartConnector">
              <a:avLst/>
            </a:prstGeom>
            <a:solidFill>
              <a:schemeClr val="tx1">
                <a:lumMod val="50000"/>
                <a:lumOff val="5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grpSp>
      <p:grpSp>
        <p:nvGrpSpPr>
          <p:cNvPr id="57" name="组合 56"/>
          <p:cNvGrpSpPr/>
          <p:nvPr/>
        </p:nvGrpSpPr>
        <p:grpSpPr>
          <a:xfrm>
            <a:off x="154465" y="4050885"/>
            <a:ext cx="5504580" cy="1348000"/>
            <a:chOff x="223900" y="3901097"/>
            <a:chExt cx="5504580" cy="1348000"/>
          </a:xfrm>
        </p:grpSpPr>
        <p:sp>
          <p:nvSpPr>
            <p:cNvPr id="26" name="椭圆 25"/>
            <p:cNvSpPr/>
            <p:nvPr/>
          </p:nvSpPr>
          <p:spPr bwMode="auto">
            <a:xfrm>
              <a:off x="327996" y="4114800"/>
              <a:ext cx="5302527" cy="965333"/>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0" name="椭圆 29"/>
            <p:cNvSpPr/>
            <p:nvPr/>
          </p:nvSpPr>
          <p:spPr bwMode="auto">
            <a:xfrm>
              <a:off x="1163786" y="4403665"/>
              <a:ext cx="3526851" cy="387602"/>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1" name="流程图: 接点 30"/>
            <p:cNvSpPr/>
            <p:nvPr/>
          </p:nvSpPr>
          <p:spPr bwMode="auto">
            <a:xfrm>
              <a:off x="745858" y="4122239"/>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2" name="流程图: 接点 31"/>
            <p:cNvSpPr/>
            <p:nvPr/>
          </p:nvSpPr>
          <p:spPr bwMode="auto">
            <a:xfrm>
              <a:off x="1410880" y="4863338"/>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3" name="流程图: 接点 32"/>
            <p:cNvSpPr/>
            <p:nvPr/>
          </p:nvSpPr>
          <p:spPr bwMode="auto">
            <a:xfrm>
              <a:off x="2029835" y="4909603"/>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4" name="流程图: 接点 33"/>
            <p:cNvSpPr/>
            <p:nvPr/>
          </p:nvSpPr>
          <p:spPr bwMode="auto">
            <a:xfrm>
              <a:off x="1492134" y="3955772"/>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5" name="流程图: 接点 34"/>
            <p:cNvSpPr/>
            <p:nvPr/>
          </p:nvSpPr>
          <p:spPr bwMode="auto">
            <a:xfrm>
              <a:off x="2579100" y="4252101"/>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6" name="流程图: 接点 35"/>
            <p:cNvSpPr/>
            <p:nvPr/>
          </p:nvSpPr>
          <p:spPr bwMode="auto">
            <a:xfrm>
              <a:off x="2209972" y="3939011"/>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7" name="流程图: 接点 36"/>
            <p:cNvSpPr/>
            <p:nvPr/>
          </p:nvSpPr>
          <p:spPr bwMode="auto">
            <a:xfrm>
              <a:off x="2907448" y="3914467"/>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8" name="流程图: 接点 37"/>
            <p:cNvSpPr/>
            <p:nvPr/>
          </p:nvSpPr>
          <p:spPr bwMode="auto">
            <a:xfrm>
              <a:off x="3571509" y="3901097"/>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39" name="流程图: 接点 38"/>
            <p:cNvSpPr/>
            <p:nvPr/>
          </p:nvSpPr>
          <p:spPr bwMode="auto">
            <a:xfrm>
              <a:off x="2648790" y="4911166"/>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0" name="流程图: 接点 39"/>
            <p:cNvSpPr/>
            <p:nvPr/>
          </p:nvSpPr>
          <p:spPr bwMode="auto">
            <a:xfrm>
              <a:off x="3367690" y="4870781"/>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1" name="流程图: 接点 40"/>
            <p:cNvSpPr/>
            <p:nvPr/>
          </p:nvSpPr>
          <p:spPr bwMode="auto">
            <a:xfrm>
              <a:off x="4048799" y="4870781"/>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2" name="流程图: 接点 41"/>
            <p:cNvSpPr/>
            <p:nvPr/>
          </p:nvSpPr>
          <p:spPr bwMode="auto">
            <a:xfrm>
              <a:off x="4791551" y="4791267"/>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3" name="流程图: 接点 42"/>
            <p:cNvSpPr/>
            <p:nvPr/>
          </p:nvSpPr>
          <p:spPr bwMode="auto">
            <a:xfrm>
              <a:off x="4202273" y="3977839"/>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4" name="流程图: 接点 43"/>
            <p:cNvSpPr/>
            <p:nvPr/>
          </p:nvSpPr>
          <p:spPr bwMode="auto">
            <a:xfrm>
              <a:off x="4833091" y="4107966"/>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5" name="流程图: 接点 44"/>
            <p:cNvSpPr/>
            <p:nvPr/>
          </p:nvSpPr>
          <p:spPr bwMode="auto">
            <a:xfrm>
              <a:off x="5390550" y="4391542"/>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6" name="流程图: 接点 45"/>
            <p:cNvSpPr/>
            <p:nvPr/>
          </p:nvSpPr>
          <p:spPr bwMode="auto">
            <a:xfrm>
              <a:off x="223900" y="4460170"/>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7" name="流程图: 接点 46"/>
            <p:cNvSpPr/>
            <p:nvPr/>
          </p:nvSpPr>
          <p:spPr bwMode="auto">
            <a:xfrm>
              <a:off x="724942" y="4727285"/>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8" name="流程图: 接点 47"/>
            <p:cNvSpPr/>
            <p:nvPr/>
          </p:nvSpPr>
          <p:spPr bwMode="auto">
            <a:xfrm>
              <a:off x="2014059" y="4267004"/>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49" name="流程图: 接点 48"/>
            <p:cNvSpPr/>
            <p:nvPr/>
          </p:nvSpPr>
          <p:spPr bwMode="auto">
            <a:xfrm>
              <a:off x="3226512" y="4245862"/>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0" name="流程图: 接点 49"/>
            <p:cNvSpPr/>
            <p:nvPr/>
          </p:nvSpPr>
          <p:spPr bwMode="auto">
            <a:xfrm>
              <a:off x="3805376" y="4284371"/>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1" name="流程图: 接点 50"/>
            <p:cNvSpPr/>
            <p:nvPr/>
          </p:nvSpPr>
          <p:spPr bwMode="auto">
            <a:xfrm>
              <a:off x="3646997" y="4622961"/>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2" name="流程图: 接点 51"/>
            <p:cNvSpPr/>
            <p:nvPr/>
          </p:nvSpPr>
          <p:spPr bwMode="auto">
            <a:xfrm>
              <a:off x="2394536" y="4602757"/>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3" name="流程图: 接点 52"/>
            <p:cNvSpPr/>
            <p:nvPr/>
          </p:nvSpPr>
          <p:spPr bwMode="auto">
            <a:xfrm>
              <a:off x="1677870" y="4522607"/>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4" name="流程图: 接点 53"/>
            <p:cNvSpPr/>
            <p:nvPr/>
          </p:nvSpPr>
          <p:spPr bwMode="auto">
            <a:xfrm>
              <a:off x="1099006" y="4424761"/>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5" name="流程图: 接点 54"/>
            <p:cNvSpPr/>
            <p:nvPr/>
          </p:nvSpPr>
          <p:spPr bwMode="auto">
            <a:xfrm>
              <a:off x="3009534" y="4583793"/>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56" name="流程图: 接点 55"/>
            <p:cNvSpPr/>
            <p:nvPr/>
          </p:nvSpPr>
          <p:spPr bwMode="auto">
            <a:xfrm>
              <a:off x="4222653" y="4504614"/>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grpSp>
      <p:grpSp>
        <p:nvGrpSpPr>
          <p:cNvPr id="95" name="组合 94"/>
          <p:cNvGrpSpPr/>
          <p:nvPr/>
        </p:nvGrpSpPr>
        <p:grpSpPr>
          <a:xfrm>
            <a:off x="3901777" y="2844518"/>
            <a:ext cx="1218303" cy="813132"/>
            <a:chOff x="327996" y="2663687"/>
            <a:chExt cx="1218303" cy="813132"/>
          </a:xfrm>
        </p:grpSpPr>
        <p:sp>
          <p:nvSpPr>
            <p:cNvPr id="58" name="流程图: 磁盘 57"/>
            <p:cNvSpPr/>
            <p:nvPr/>
          </p:nvSpPr>
          <p:spPr bwMode="auto">
            <a:xfrm>
              <a:off x="327996" y="2663687"/>
              <a:ext cx="1217556" cy="636104"/>
            </a:xfrm>
            <a:prstGeom prst="flowChartMagneticDisk">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61" name="流程图: 接点 60"/>
            <p:cNvSpPr/>
            <p:nvPr/>
          </p:nvSpPr>
          <p:spPr bwMode="auto">
            <a:xfrm>
              <a:off x="405925" y="3102876"/>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62" name="流程图: 接点 61"/>
            <p:cNvSpPr/>
            <p:nvPr/>
          </p:nvSpPr>
          <p:spPr bwMode="auto">
            <a:xfrm>
              <a:off x="821784" y="3138888"/>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63" name="流程图: 接点 62"/>
            <p:cNvSpPr/>
            <p:nvPr/>
          </p:nvSpPr>
          <p:spPr bwMode="auto">
            <a:xfrm>
              <a:off x="1208369" y="3102271"/>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3" name="流程图: 接点 92"/>
            <p:cNvSpPr/>
            <p:nvPr/>
          </p:nvSpPr>
          <p:spPr bwMode="auto">
            <a:xfrm>
              <a:off x="523015" y="2709018"/>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4" name="流程图: 接点 93"/>
            <p:cNvSpPr/>
            <p:nvPr/>
          </p:nvSpPr>
          <p:spPr bwMode="auto">
            <a:xfrm>
              <a:off x="990749" y="2709018"/>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grpSp>
      <p:grpSp>
        <p:nvGrpSpPr>
          <p:cNvPr id="96" name="组合 95"/>
          <p:cNvGrpSpPr/>
          <p:nvPr/>
        </p:nvGrpSpPr>
        <p:grpSpPr>
          <a:xfrm>
            <a:off x="2208603" y="2858545"/>
            <a:ext cx="1218303" cy="813132"/>
            <a:chOff x="327996" y="2663687"/>
            <a:chExt cx="1218303" cy="813132"/>
          </a:xfrm>
        </p:grpSpPr>
        <p:sp>
          <p:nvSpPr>
            <p:cNvPr id="97" name="流程图: 磁盘 96"/>
            <p:cNvSpPr/>
            <p:nvPr/>
          </p:nvSpPr>
          <p:spPr bwMode="auto">
            <a:xfrm>
              <a:off x="327996" y="2663687"/>
              <a:ext cx="1217556" cy="636104"/>
            </a:xfrm>
            <a:prstGeom prst="flowChartMagneticDisk">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8" name="流程图: 接点 97"/>
            <p:cNvSpPr/>
            <p:nvPr/>
          </p:nvSpPr>
          <p:spPr bwMode="auto">
            <a:xfrm>
              <a:off x="405925" y="3102876"/>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99" name="流程图: 接点 98"/>
            <p:cNvSpPr/>
            <p:nvPr/>
          </p:nvSpPr>
          <p:spPr bwMode="auto">
            <a:xfrm>
              <a:off x="821784" y="3138888"/>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0" name="流程图: 接点 99"/>
            <p:cNvSpPr/>
            <p:nvPr/>
          </p:nvSpPr>
          <p:spPr bwMode="auto">
            <a:xfrm>
              <a:off x="1208369" y="3102271"/>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1" name="流程图: 接点 100"/>
            <p:cNvSpPr/>
            <p:nvPr/>
          </p:nvSpPr>
          <p:spPr bwMode="auto">
            <a:xfrm>
              <a:off x="523015" y="2709018"/>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2" name="流程图: 接点 101"/>
            <p:cNvSpPr/>
            <p:nvPr/>
          </p:nvSpPr>
          <p:spPr bwMode="auto">
            <a:xfrm>
              <a:off x="990749" y="2709018"/>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grpSp>
      <p:grpSp>
        <p:nvGrpSpPr>
          <p:cNvPr id="103" name="组合 102"/>
          <p:cNvGrpSpPr/>
          <p:nvPr/>
        </p:nvGrpSpPr>
        <p:grpSpPr>
          <a:xfrm>
            <a:off x="480396" y="2816087"/>
            <a:ext cx="1218303" cy="813132"/>
            <a:chOff x="327996" y="2663687"/>
            <a:chExt cx="1218303" cy="813132"/>
          </a:xfrm>
        </p:grpSpPr>
        <p:sp>
          <p:nvSpPr>
            <p:cNvPr id="104" name="流程图: 磁盘 103"/>
            <p:cNvSpPr/>
            <p:nvPr/>
          </p:nvSpPr>
          <p:spPr bwMode="auto">
            <a:xfrm>
              <a:off x="327996" y="2663687"/>
              <a:ext cx="1217556" cy="636104"/>
            </a:xfrm>
            <a:prstGeom prst="flowChartMagneticDisk">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5" name="流程图: 接点 104"/>
            <p:cNvSpPr/>
            <p:nvPr/>
          </p:nvSpPr>
          <p:spPr bwMode="auto">
            <a:xfrm>
              <a:off x="405925" y="3102876"/>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6" name="流程图: 接点 105"/>
            <p:cNvSpPr/>
            <p:nvPr/>
          </p:nvSpPr>
          <p:spPr bwMode="auto">
            <a:xfrm>
              <a:off x="821784" y="3138888"/>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7" name="流程图: 接点 106"/>
            <p:cNvSpPr/>
            <p:nvPr/>
          </p:nvSpPr>
          <p:spPr bwMode="auto">
            <a:xfrm>
              <a:off x="1208369" y="3102271"/>
              <a:ext cx="337930" cy="337931"/>
            </a:xfrm>
            <a:prstGeom prst="flowChartConnector">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8" name="流程图: 接点 107"/>
            <p:cNvSpPr/>
            <p:nvPr/>
          </p:nvSpPr>
          <p:spPr bwMode="auto">
            <a:xfrm>
              <a:off x="523015" y="2709018"/>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9" name="流程图: 接点 108"/>
            <p:cNvSpPr/>
            <p:nvPr/>
          </p:nvSpPr>
          <p:spPr bwMode="auto">
            <a:xfrm>
              <a:off x="990749" y="2709018"/>
              <a:ext cx="337930" cy="337931"/>
            </a:xfrm>
            <a:prstGeom prst="flowChartConnector">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grpSp>
      <p:sp>
        <p:nvSpPr>
          <p:cNvPr id="110" name="立方体 109"/>
          <p:cNvSpPr/>
          <p:nvPr/>
        </p:nvSpPr>
        <p:spPr bwMode="auto">
          <a:xfrm>
            <a:off x="2503884" y="646527"/>
            <a:ext cx="626994" cy="526785"/>
          </a:xfrm>
          <a:prstGeom prst="cube">
            <a:avLst/>
          </a:prstGeom>
          <a:solidFill>
            <a:srgbClr val="92D05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1" name="立方体 110"/>
          <p:cNvSpPr/>
          <p:nvPr/>
        </p:nvSpPr>
        <p:spPr bwMode="auto">
          <a:xfrm>
            <a:off x="4136662" y="1797159"/>
            <a:ext cx="626994" cy="526785"/>
          </a:xfrm>
          <a:prstGeom prst="cub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2" name="立方体 111"/>
          <p:cNvSpPr/>
          <p:nvPr/>
        </p:nvSpPr>
        <p:spPr bwMode="auto">
          <a:xfrm>
            <a:off x="714451" y="1777297"/>
            <a:ext cx="626994" cy="526785"/>
          </a:xfrm>
          <a:prstGeom prst="cub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13" name="文本框 112"/>
          <p:cNvSpPr txBox="1"/>
          <p:nvPr/>
        </p:nvSpPr>
        <p:spPr>
          <a:xfrm>
            <a:off x="5924519" y="6063250"/>
            <a:ext cx="1113182" cy="584775"/>
          </a:xfrm>
          <a:prstGeom prst="rect">
            <a:avLst/>
          </a:prstGeom>
          <a:noFill/>
        </p:spPr>
        <p:txBody>
          <a:bodyPr wrap="square" rtlCol="0">
            <a:spAutoFit/>
          </a:bodyPr>
          <a:lstStyle/>
          <a:p>
            <a:r>
              <a:rPr lang="en-US" altLang="zh-CN" sz="3200" b="1" dirty="0"/>
              <a:t>N</a:t>
            </a:r>
            <a:r>
              <a:rPr lang="en-US" altLang="zh-CN" sz="3200" b="1" dirty="0" smtClean="0"/>
              <a:t>ode</a:t>
            </a:r>
            <a:endParaRPr lang="zh-CN" altLang="en-US" sz="3200" b="1" dirty="0"/>
          </a:p>
        </p:txBody>
      </p:sp>
      <p:cxnSp>
        <p:nvCxnSpPr>
          <p:cNvPr id="115" name="直接箭头连接符 114"/>
          <p:cNvCxnSpPr/>
          <p:nvPr/>
        </p:nvCxnSpPr>
        <p:spPr bwMode="auto">
          <a:xfrm flipH="1" flipV="1">
            <a:off x="2748331" y="5356644"/>
            <a:ext cx="12616" cy="824168"/>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118" name="文本框 117"/>
          <p:cNvSpPr txBox="1"/>
          <p:nvPr/>
        </p:nvSpPr>
        <p:spPr>
          <a:xfrm>
            <a:off x="2955534" y="5317387"/>
            <a:ext cx="1039265" cy="461665"/>
          </a:xfrm>
          <a:prstGeom prst="rect">
            <a:avLst/>
          </a:prstGeom>
          <a:noFill/>
        </p:spPr>
        <p:txBody>
          <a:bodyPr wrap="square" rtlCol="0">
            <a:spAutoFit/>
          </a:bodyPr>
          <a:lstStyle/>
          <a:p>
            <a:r>
              <a:rPr lang="en-US" altLang="zh-CN" sz="2400" b="1" dirty="0" smtClean="0"/>
              <a:t>RSA</a:t>
            </a:r>
            <a:endParaRPr lang="zh-CN" altLang="en-US" sz="2400" b="1" dirty="0"/>
          </a:p>
        </p:txBody>
      </p:sp>
      <p:sp>
        <p:nvSpPr>
          <p:cNvPr id="119" name="文本框 118"/>
          <p:cNvSpPr txBox="1"/>
          <p:nvPr/>
        </p:nvSpPr>
        <p:spPr>
          <a:xfrm>
            <a:off x="5460660" y="5180648"/>
            <a:ext cx="2622752" cy="461665"/>
          </a:xfrm>
          <a:prstGeom prst="rect">
            <a:avLst/>
          </a:prstGeom>
          <a:noFill/>
        </p:spPr>
        <p:txBody>
          <a:bodyPr wrap="square" rtlCol="0">
            <a:spAutoFit/>
          </a:bodyPr>
          <a:lstStyle/>
          <a:p>
            <a:r>
              <a:rPr lang="en-US" altLang="zh-CN" sz="2400" b="1" dirty="0"/>
              <a:t>parliamentarian</a:t>
            </a:r>
            <a:endParaRPr lang="zh-CN" altLang="en-US" sz="2400" b="1" dirty="0"/>
          </a:p>
        </p:txBody>
      </p:sp>
      <p:sp>
        <p:nvSpPr>
          <p:cNvPr id="120" name="文本框 119"/>
          <p:cNvSpPr txBox="1"/>
          <p:nvPr/>
        </p:nvSpPr>
        <p:spPr>
          <a:xfrm>
            <a:off x="6098264" y="4264588"/>
            <a:ext cx="1985148" cy="461665"/>
          </a:xfrm>
          <a:prstGeom prst="rect">
            <a:avLst/>
          </a:prstGeom>
          <a:noFill/>
        </p:spPr>
        <p:txBody>
          <a:bodyPr wrap="square" rtlCol="0">
            <a:spAutoFit/>
          </a:bodyPr>
          <a:lstStyle/>
          <a:p>
            <a:r>
              <a:rPr lang="en-US" altLang="zh-CN" sz="2400" b="1" dirty="0" smtClean="0"/>
              <a:t>observe</a:t>
            </a:r>
            <a:r>
              <a:rPr lang="en-US" altLang="zh-CN" sz="2400" dirty="0" smtClean="0"/>
              <a:t>r</a:t>
            </a:r>
            <a:endParaRPr lang="zh-CN" altLang="en-US" sz="2400" dirty="0"/>
          </a:p>
        </p:txBody>
      </p:sp>
      <p:cxnSp>
        <p:nvCxnSpPr>
          <p:cNvPr id="121" name="直接箭头连接符 120"/>
          <p:cNvCxnSpPr>
            <a:endCxn id="119" idx="1"/>
          </p:cNvCxnSpPr>
          <p:nvPr/>
        </p:nvCxnSpPr>
        <p:spPr bwMode="auto">
          <a:xfrm>
            <a:off x="4510555" y="4937929"/>
            <a:ext cx="950105" cy="473552"/>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24" name="直接箭头连接符 123"/>
          <p:cNvCxnSpPr>
            <a:stCxn id="45" idx="6"/>
          </p:cNvCxnSpPr>
          <p:nvPr/>
        </p:nvCxnSpPr>
        <p:spPr bwMode="auto">
          <a:xfrm flipV="1">
            <a:off x="5659045" y="4541330"/>
            <a:ext cx="439219" cy="168966"/>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28" name="直接箭头连接符 127"/>
          <p:cNvCxnSpPr/>
          <p:nvPr/>
        </p:nvCxnSpPr>
        <p:spPr bwMode="auto">
          <a:xfrm flipH="1" flipV="1">
            <a:off x="1158177" y="3736011"/>
            <a:ext cx="9396" cy="459586"/>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29" name="直接箭头连接符 128"/>
          <p:cNvCxnSpPr/>
          <p:nvPr/>
        </p:nvCxnSpPr>
        <p:spPr bwMode="auto">
          <a:xfrm flipH="1" flipV="1">
            <a:off x="2881887" y="3671355"/>
            <a:ext cx="6271" cy="484525"/>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30" name="直接箭头连接符 129"/>
          <p:cNvCxnSpPr/>
          <p:nvPr/>
        </p:nvCxnSpPr>
        <p:spPr bwMode="auto">
          <a:xfrm flipH="1" flipV="1">
            <a:off x="4651470" y="3697363"/>
            <a:ext cx="6302" cy="530057"/>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31" name="直接箭头连接符 130"/>
          <p:cNvCxnSpPr/>
          <p:nvPr/>
        </p:nvCxnSpPr>
        <p:spPr bwMode="auto">
          <a:xfrm flipV="1">
            <a:off x="974184" y="2309047"/>
            <a:ext cx="12945" cy="511878"/>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32" name="直接箭头连接符 131"/>
          <p:cNvCxnSpPr/>
          <p:nvPr/>
        </p:nvCxnSpPr>
        <p:spPr bwMode="auto">
          <a:xfrm flipV="1">
            <a:off x="2788983" y="2335107"/>
            <a:ext cx="12005" cy="491369"/>
          </a:xfrm>
          <a:prstGeom prst="straightConnector1">
            <a:avLst/>
          </a:prstGeom>
          <a:solidFill>
            <a:srgbClr val="00B8FF"/>
          </a:solidFill>
          <a:ln w="9525" cap="flat" cmpd="sng" algn="ctr">
            <a:solidFill>
              <a:schemeClr val="tx1"/>
            </a:solidFill>
            <a:prstDash val="solid"/>
            <a:round/>
            <a:headEnd type="none" w="med" len="med"/>
            <a:tailEnd type="triangle"/>
          </a:ln>
        </p:spPr>
      </p:cxnSp>
      <p:cxnSp>
        <p:nvCxnSpPr>
          <p:cNvPr id="133" name="直接箭头连接符 132"/>
          <p:cNvCxnSpPr/>
          <p:nvPr/>
        </p:nvCxnSpPr>
        <p:spPr bwMode="auto">
          <a:xfrm flipV="1">
            <a:off x="4474932" y="2340950"/>
            <a:ext cx="2168" cy="602275"/>
          </a:xfrm>
          <a:prstGeom prst="straightConnector1">
            <a:avLst/>
          </a:prstGeom>
          <a:solidFill>
            <a:srgbClr val="00B8FF"/>
          </a:solidFill>
          <a:ln w="9525" cap="flat" cmpd="sng" algn="ctr">
            <a:solidFill>
              <a:schemeClr val="tx1"/>
            </a:solidFill>
            <a:prstDash val="solid"/>
            <a:round/>
            <a:headEnd type="none" w="med" len="med"/>
            <a:tailEnd type="triangle"/>
          </a:ln>
        </p:spPr>
      </p:cxnSp>
      <p:sp>
        <p:nvSpPr>
          <p:cNvPr id="135" name="右大括号 134"/>
          <p:cNvSpPr/>
          <p:nvPr/>
        </p:nvSpPr>
        <p:spPr bwMode="auto">
          <a:xfrm rot="16200000">
            <a:off x="2526438" y="-333163"/>
            <a:ext cx="459446" cy="3697305"/>
          </a:xfrm>
          <a:prstGeom prst="righ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39" name="文本框 138"/>
          <p:cNvSpPr txBox="1"/>
          <p:nvPr/>
        </p:nvSpPr>
        <p:spPr>
          <a:xfrm>
            <a:off x="5537248" y="2984332"/>
            <a:ext cx="2838579" cy="461665"/>
          </a:xfrm>
          <a:prstGeom prst="rect">
            <a:avLst/>
          </a:prstGeom>
          <a:noFill/>
        </p:spPr>
        <p:txBody>
          <a:bodyPr wrap="square" rtlCol="0">
            <a:spAutoFit/>
          </a:bodyPr>
          <a:lstStyle/>
          <a:p>
            <a:r>
              <a:rPr lang="en-US" altLang="zh-CN" sz="2400" b="1" dirty="0" smtClean="0"/>
              <a:t>Consensus groups</a:t>
            </a:r>
          </a:p>
        </p:txBody>
      </p:sp>
      <p:sp>
        <p:nvSpPr>
          <p:cNvPr id="140" name="文本框 139"/>
          <p:cNvSpPr txBox="1"/>
          <p:nvPr/>
        </p:nvSpPr>
        <p:spPr>
          <a:xfrm>
            <a:off x="5407545" y="1774048"/>
            <a:ext cx="2399495" cy="738664"/>
          </a:xfrm>
          <a:prstGeom prst="rect">
            <a:avLst/>
          </a:prstGeom>
          <a:noFill/>
        </p:spPr>
        <p:txBody>
          <a:bodyPr wrap="square" rtlCol="0">
            <a:spAutoFit/>
          </a:bodyPr>
          <a:lstStyle/>
          <a:p>
            <a:r>
              <a:rPr lang="en-US" altLang="zh-CN" sz="2400" b="1" dirty="0"/>
              <a:t>Candidate block</a:t>
            </a:r>
          </a:p>
          <a:p>
            <a:endParaRPr lang="zh-CN" altLang="en-US" dirty="0"/>
          </a:p>
        </p:txBody>
      </p:sp>
      <p:sp>
        <p:nvSpPr>
          <p:cNvPr id="144" name="立方体 143"/>
          <p:cNvSpPr/>
          <p:nvPr/>
        </p:nvSpPr>
        <p:spPr bwMode="auto">
          <a:xfrm>
            <a:off x="2478467" y="1770153"/>
            <a:ext cx="626994" cy="526785"/>
          </a:xfrm>
          <a:prstGeom prst="cub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45" name="文本框 144"/>
          <p:cNvSpPr txBox="1"/>
          <p:nvPr/>
        </p:nvSpPr>
        <p:spPr>
          <a:xfrm>
            <a:off x="1039883" y="2277050"/>
            <a:ext cx="941053" cy="461665"/>
          </a:xfrm>
          <a:prstGeom prst="rect">
            <a:avLst/>
          </a:prstGeom>
          <a:noFill/>
        </p:spPr>
        <p:txBody>
          <a:bodyPr wrap="square" rtlCol="0">
            <a:spAutoFit/>
          </a:bodyPr>
          <a:lstStyle/>
          <a:p>
            <a:r>
              <a:rPr lang="en-US" altLang="zh-CN" sz="2400" b="1" dirty="0" smtClean="0"/>
              <a:t>BFT</a:t>
            </a:r>
            <a:endParaRPr lang="zh-CN" altLang="en-US" sz="2400" b="1" dirty="0"/>
          </a:p>
        </p:txBody>
      </p:sp>
      <p:sp>
        <p:nvSpPr>
          <p:cNvPr id="146" name="文本框 145"/>
          <p:cNvSpPr txBox="1"/>
          <p:nvPr/>
        </p:nvSpPr>
        <p:spPr>
          <a:xfrm>
            <a:off x="2889990" y="2358280"/>
            <a:ext cx="941053" cy="461665"/>
          </a:xfrm>
          <a:prstGeom prst="rect">
            <a:avLst/>
          </a:prstGeom>
          <a:noFill/>
        </p:spPr>
        <p:txBody>
          <a:bodyPr wrap="square" rtlCol="0">
            <a:spAutoFit/>
          </a:bodyPr>
          <a:lstStyle/>
          <a:p>
            <a:r>
              <a:rPr lang="en-US" altLang="zh-CN" sz="2400" b="1" dirty="0" smtClean="0"/>
              <a:t>BFT</a:t>
            </a:r>
            <a:endParaRPr lang="zh-CN" altLang="en-US" sz="2400" b="1" dirty="0"/>
          </a:p>
        </p:txBody>
      </p:sp>
      <p:sp>
        <p:nvSpPr>
          <p:cNvPr id="147" name="文本框 146"/>
          <p:cNvSpPr txBox="1"/>
          <p:nvPr/>
        </p:nvSpPr>
        <p:spPr>
          <a:xfrm>
            <a:off x="4494331" y="2339185"/>
            <a:ext cx="941053" cy="461665"/>
          </a:xfrm>
          <a:prstGeom prst="rect">
            <a:avLst/>
          </a:prstGeom>
          <a:noFill/>
        </p:spPr>
        <p:txBody>
          <a:bodyPr wrap="square" rtlCol="0">
            <a:spAutoFit/>
          </a:bodyPr>
          <a:lstStyle/>
          <a:p>
            <a:r>
              <a:rPr lang="en-US" altLang="zh-CN" sz="2400" b="1" dirty="0" smtClean="0"/>
              <a:t>BFT</a:t>
            </a:r>
            <a:endParaRPr lang="zh-CN" altLang="en-US" sz="2400" b="1" dirty="0"/>
          </a:p>
        </p:txBody>
      </p:sp>
      <p:sp>
        <p:nvSpPr>
          <p:cNvPr id="149" name="文本框 148"/>
          <p:cNvSpPr txBox="1"/>
          <p:nvPr/>
        </p:nvSpPr>
        <p:spPr>
          <a:xfrm>
            <a:off x="2988253" y="1081006"/>
            <a:ext cx="1039265" cy="461665"/>
          </a:xfrm>
          <a:prstGeom prst="rect">
            <a:avLst/>
          </a:prstGeom>
          <a:noFill/>
        </p:spPr>
        <p:txBody>
          <a:bodyPr wrap="square" rtlCol="0">
            <a:spAutoFit/>
          </a:bodyPr>
          <a:lstStyle/>
          <a:p>
            <a:r>
              <a:rPr lang="en-US" altLang="zh-CN" sz="2400" b="1" dirty="0" smtClean="0"/>
              <a:t>RSA</a:t>
            </a:r>
            <a:endParaRPr lang="zh-CN" altLang="en-US" sz="2400" b="1" dirty="0"/>
          </a:p>
        </p:txBody>
      </p:sp>
    </p:spTree>
    <p:extLst>
      <p:ext uri="{BB962C8B-B14F-4D97-AF65-F5344CB8AC3E}">
        <p14:creationId xmlns:p14="http://schemas.microsoft.com/office/powerpoint/2010/main" val="14760105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3.4 DSC </a:t>
            </a:r>
            <a:r>
              <a:rPr lang="en-US" altLang="zh-CN" b="1" dirty="0"/>
              <a:t>(Dynamic Stake Consensus)</a:t>
            </a:r>
            <a:endParaRPr lang="zh-CN" altLang="en-US" dirty="0"/>
          </a:p>
        </p:txBody>
      </p:sp>
      <p:sp>
        <p:nvSpPr>
          <p:cNvPr id="5" name="椭圆 4"/>
          <p:cNvSpPr/>
          <p:nvPr/>
        </p:nvSpPr>
        <p:spPr bwMode="auto">
          <a:xfrm>
            <a:off x="2806263" y="2381693"/>
            <a:ext cx="1935858" cy="1874997"/>
          </a:xfrm>
          <a:prstGeom prst="ellipse">
            <a:avLst/>
          </a:prstGeom>
          <a:solidFill>
            <a:srgbClr val="00A1DA">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6" name="椭圆 5"/>
          <p:cNvSpPr/>
          <p:nvPr/>
        </p:nvSpPr>
        <p:spPr bwMode="auto">
          <a:xfrm>
            <a:off x="4150241" y="2381693"/>
            <a:ext cx="1840656" cy="1874997"/>
          </a:xfrm>
          <a:prstGeom prst="ellipse">
            <a:avLst/>
          </a:prstGeom>
          <a:solidFill>
            <a:srgbClr val="FFFF00">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7" name="文本框 6"/>
          <p:cNvSpPr txBox="1"/>
          <p:nvPr/>
        </p:nvSpPr>
        <p:spPr>
          <a:xfrm>
            <a:off x="2925052" y="3149914"/>
            <a:ext cx="1371600" cy="400110"/>
          </a:xfrm>
          <a:prstGeom prst="rect">
            <a:avLst/>
          </a:prstGeom>
          <a:noFill/>
        </p:spPr>
        <p:txBody>
          <a:bodyPr wrap="square" rtlCol="0">
            <a:spAutoFit/>
          </a:bodyPr>
          <a:lstStyle/>
          <a:p>
            <a:r>
              <a:rPr lang="en-US" altLang="zh-CN" sz="2000" b="1" dirty="0" smtClean="0"/>
              <a:t>Advantage</a:t>
            </a:r>
            <a:endParaRPr lang="zh-CN" altLang="en-US" sz="2000" b="1" dirty="0"/>
          </a:p>
        </p:txBody>
      </p:sp>
      <p:sp>
        <p:nvSpPr>
          <p:cNvPr id="8" name="文本框 7"/>
          <p:cNvSpPr txBox="1"/>
          <p:nvPr/>
        </p:nvSpPr>
        <p:spPr>
          <a:xfrm>
            <a:off x="4572000" y="3149914"/>
            <a:ext cx="1514099" cy="369332"/>
          </a:xfrm>
          <a:prstGeom prst="rect">
            <a:avLst/>
          </a:prstGeom>
          <a:noFill/>
        </p:spPr>
        <p:txBody>
          <a:bodyPr wrap="square" rtlCol="0">
            <a:spAutoFit/>
          </a:bodyPr>
          <a:lstStyle/>
          <a:p>
            <a:r>
              <a:rPr lang="en-US" altLang="zh-CN" b="1" dirty="0" smtClean="0"/>
              <a:t>Disadvantage</a:t>
            </a:r>
            <a:endParaRPr lang="zh-CN" altLang="en-US" b="1" dirty="0"/>
          </a:p>
        </p:txBody>
      </p:sp>
      <p:sp>
        <p:nvSpPr>
          <p:cNvPr id="10" name="文本框 9"/>
          <p:cNvSpPr txBox="1"/>
          <p:nvPr/>
        </p:nvSpPr>
        <p:spPr>
          <a:xfrm>
            <a:off x="181853" y="1811696"/>
            <a:ext cx="2349062" cy="523220"/>
          </a:xfrm>
          <a:prstGeom prst="rect">
            <a:avLst/>
          </a:prstGeom>
          <a:noFill/>
        </p:spPr>
        <p:txBody>
          <a:bodyPr wrap="square" rtlCol="0">
            <a:spAutoFit/>
          </a:bodyPr>
          <a:lstStyle/>
          <a:p>
            <a:r>
              <a:rPr lang="en-US" altLang="zh-CN" sz="2800" b="1" dirty="0" smtClean="0"/>
              <a:t>1.Fair</a:t>
            </a:r>
            <a:endParaRPr lang="zh-CN" altLang="en-US" sz="2800" b="1" dirty="0"/>
          </a:p>
        </p:txBody>
      </p:sp>
      <p:sp>
        <p:nvSpPr>
          <p:cNvPr id="11" name="文本框 10"/>
          <p:cNvSpPr txBox="1"/>
          <p:nvPr/>
        </p:nvSpPr>
        <p:spPr>
          <a:xfrm>
            <a:off x="6266244" y="1955024"/>
            <a:ext cx="2349062" cy="523220"/>
          </a:xfrm>
          <a:prstGeom prst="rect">
            <a:avLst/>
          </a:prstGeom>
          <a:noFill/>
        </p:spPr>
        <p:txBody>
          <a:bodyPr wrap="square" rtlCol="0">
            <a:spAutoFit/>
          </a:bodyPr>
          <a:lstStyle/>
          <a:p>
            <a:r>
              <a:rPr lang="en-US" altLang="zh-CN" sz="2800" b="1" dirty="0" smtClean="0"/>
              <a:t>1.RSA</a:t>
            </a:r>
            <a:endParaRPr lang="zh-CN" altLang="en-US" sz="2800" b="1" dirty="0"/>
          </a:p>
        </p:txBody>
      </p:sp>
      <p:sp>
        <p:nvSpPr>
          <p:cNvPr id="12" name="文本框 11"/>
          <p:cNvSpPr txBox="1"/>
          <p:nvPr/>
        </p:nvSpPr>
        <p:spPr>
          <a:xfrm>
            <a:off x="6266244" y="3020391"/>
            <a:ext cx="2877755" cy="1384995"/>
          </a:xfrm>
          <a:prstGeom prst="rect">
            <a:avLst/>
          </a:prstGeom>
          <a:noFill/>
        </p:spPr>
        <p:txBody>
          <a:bodyPr wrap="square" rtlCol="0">
            <a:spAutoFit/>
          </a:bodyPr>
          <a:lstStyle/>
          <a:p>
            <a:r>
              <a:rPr lang="en-US" altLang="zh-CN" sz="2800" b="1" dirty="0" smtClean="0"/>
              <a:t>2. Network </a:t>
            </a:r>
            <a:r>
              <a:rPr lang="en-US" altLang="zh-CN" sz="2800" b="1" dirty="0"/>
              <a:t>transmission affects availability</a:t>
            </a:r>
            <a:endParaRPr lang="zh-CN" altLang="en-US" sz="2800" b="1" dirty="0"/>
          </a:p>
        </p:txBody>
      </p:sp>
      <p:sp>
        <p:nvSpPr>
          <p:cNvPr id="13" name="文本框 12"/>
          <p:cNvSpPr txBox="1"/>
          <p:nvPr/>
        </p:nvSpPr>
        <p:spPr>
          <a:xfrm>
            <a:off x="181853" y="3149914"/>
            <a:ext cx="2349062" cy="523220"/>
          </a:xfrm>
          <a:prstGeom prst="rect">
            <a:avLst/>
          </a:prstGeom>
          <a:noFill/>
        </p:spPr>
        <p:txBody>
          <a:bodyPr wrap="square" rtlCol="0">
            <a:spAutoFit/>
          </a:bodyPr>
          <a:lstStyle/>
          <a:p>
            <a:r>
              <a:rPr lang="en-US" altLang="zh-CN" sz="2800" b="1" dirty="0" smtClean="0"/>
              <a:t>2.Safe (RSA)</a:t>
            </a:r>
            <a:endParaRPr lang="zh-CN" altLang="en-US" sz="2800" b="1" dirty="0"/>
          </a:p>
        </p:txBody>
      </p:sp>
      <p:sp>
        <p:nvSpPr>
          <p:cNvPr id="14" name="文本框 13"/>
          <p:cNvSpPr txBox="1"/>
          <p:nvPr/>
        </p:nvSpPr>
        <p:spPr>
          <a:xfrm>
            <a:off x="181853" y="4488132"/>
            <a:ext cx="2349062" cy="523220"/>
          </a:xfrm>
          <a:prstGeom prst="rect">
            <a:avLst/>
          </a:prstGeom>
          <a:noFill/>
        </p:spPr>
        <p:txBody>
          <a:bodyPr wrap="square" rtlCol="0">
            <a:spAutoFit/>
          </a:bodyPr>
          <a:lstStyle/>
          <a:p>
            <a:r>
              <a:rPr lang="en-US" altLang="zh-CN" sz="2800" b="1" dirty="0" smtClean="0"/>
              <a:t>3.Prevent evil</a:t>
            </a:r>
            <a:endParaRPr lang="zh-CN" altLang="en-US" sz="2800" b="1" dirty="0"/>
          </a:p>
        </p:txBody>
      </p:sp>
      <p:cxnSp>
        <p:nvCxnSpPr>
          <p:cNvPr id="4" name="直接箭头连接符 3"/>
          <p:cNvCxnSpPr/>
          <p:nvPr/>
        </p:nvCxnSpPr>
        <p:spPr bwMode="auto">
          <a:xfrm flipH="1" flipV="1">
            <a:off x="1564640" y="2073306"/>
            <a:ext cx="1241623" cy="831607"/>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16" name="直接箭头连接符 15"/>
          <p:cNvCxnSpPr>
            <a:stCxn id="5" idx="2"/>
          </p:cNvCxnSpPr>
          <p:nvPr/>
        </p:nvCxnSpPr>
        <p:spPr bwMode="auto">
          <a:xfrm flipH="1">
            <a:off x="2185451" y="3319192"/>
            <a:ext cx="620812" cy="15388"/>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19" name="直接箭头连接符 18"/>
          <p:cNvCxnSpPr/>
          <p:nvPr/>
        </p:nvCxnSpPr>
        <p:spPr bwMode="auto">
          <a:xfrm flipH="1">
            <a:off x="2185451" y="3673134"/>
            <a:ext cx="739601" cy="814998"/>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21" name="直接箭头连接符 20"/>
          <p:cNvCxnSpPr>
            <a:stCxn id="6" idx="7"/>
            <a:endCxn id="11" idx="1"/>
          </p:cNvCxnSpPr>
          <p:nvPr/>
        </p:nvCxnSpPr>
        <p:spPr bwMode="auto">
          <a:xfrm flipV="1">
            <a:off x="5721339" y="2216634"/>
            <a:ext cx="544905" cy="439646"/>
          </a:xfrm>
          <a:prstGeom prst="straightConnector1">
            <a:avLst/>
          </a:prstGeom>
          <a:solidFill>
            <a:srgbClr val="00B8FF"/>
          </a:solidFill>
          <a:ln w="9525" cap="flat" cmpd="sng" algn="ctr">
            <a:solidFill>
              <a:srgbClr val="FFFF00"/>
            </a:solidFill>
            <a:prstDash val="solid"/>
            <a:round/>
            <a:headEnd type="none" w="med" len="med"/>
            <a:tailEnd type="triangle"/>
          </a:ln>
        </p:spPr>
      </p:cxnSp>
      <p:cxnSp>
        <p:nvCxnSpPr>
          <p:cNvPr id="24" name="直接箭头连接符 23"/>
          <p:cNvCxnSpPr>
            <a:endCxn id="12" idx="1"/>
          </p:cNvCxnSpPr>
          <p:nvPr/>
        </p:nvCxnSpPr>
        <p:spPr bwMode="auto">
          <a:xfrm>
            <a:off x="5967310" y="3334580"/>
            <a:ext cx="298934" cy="378309"/>
          </a:xfrm>
          <a:prstGeom prst="straightConnector1">
            <a:avLst/>
          </a:prstGeom>
          <a:solidFill>
            <a:srgbClr val="00B8FF"/>
          </a:solidFill>
          <a:ln w="9525" cap="flat" cmpd="sng" algn="ctr">
            <a:solidFill>
              <a:srgbClr val="FFFF00"/>
            </a:solidFill>
            <a:prstDash val="solid"/>
            <a:round/>
            <a:headEnd type="none" w="med" len="med"/>
            <a:tailEnd type="triangle"/>
          </a:ln>
        </p:spPr>
      </p:cxnSp>
    </p:spTree>
    <p:extLst>
      <p:ext uri="{BB962C8B-B14F-4D97-AF65-F5344CB8AC3E}">
        <p14:creationId xmlns:p14="http://schemas.microsoft.com/office/powerpoint/2010/main" val="9879361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9162" y="269578"/>
            <a:ext cx="8224838" cy="1525585"/>
          </a:xfrm>
        </p:spPr>
        <p:txBody>
          <a:bodyPr/>
          <a:lstStyle/>
          <a:p>
            <a:r>
              <a:rPr lang="en-US" altLang="zh-CN" b="1" dirty="0" smtClean="0"/>
              <a:t>3.5 PBFT (Practical Byzantine Fault Tolerance)</a:t>
            </a:r>
            <a:br>
              <a:rPr lang="en-US" altLang="zh-CN" b="1" dirty="0" smtClean="0"/>
            </a:br>
            <a:r>
              <a:rPr lang="en-US" altLang="zh-CN" b="1" dirty="0" err="1" smtClean="0"/>
              <a:t>eg.bumeng,Hyperledger</a:t>
            </a:r>
            <a:r>
              <a:rPr lang="en-US" altLang="zh-CN" b="1" dirty="0" smtClean="0"/>
              <a:t>(IBM)</a:t>
            </a:r>
            <a:endParaRPr lang="zh-CN" altLang="en-US" b="1"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1" y="2735970"/>
            <a:ext cx="8145012" cy="3715268"/>
          </a:xfrm>
          <a:prstGeom prst="rect">
            <a:avLst/>
          </a:prstGeom>
        </p:spPr>
      </p:pic>
      <p:sp>
        <p:nvSpPr>
          <p:cNvPr id="4" name="文本框 3"/>
          <p:cNvSpPr txBox="1"/>
          <p:nvPr/>
        </p:nvSpPr>
        <p:spPr>
          <a:xfrm>
            <a:off x="457201" y="1973179"/>
            <a:ext cx="7170820" cy="584775"/>
          </a:xfrm>
          <a:prstGeom prst="rect">
            <a:avLst/>
          </a:prstGeom>
          <a:noFill/>
        </p:spPr>
        <p:txBody>
          <a:bodyPr wrap="square" rtlCol="0">
            <a:spAutoFit/>
          </a:bodyPr>
          <a:lstStyle/>
          <a:p>
            <a:r>
              <a:rPr lang="en-US" altLang="zh-CN" sz="3200" b="1" dirty="0" smtClean="0"/>
              <a:t>3f+1 nodes,  f failures ; 1/3 failure rate</a:t>
            </a:r>
            <a:endParaRPr lang="zh-CN" altLang="en-US" sz="3200" b="1" dirty="0"/>
          </a:p>
        </p:txBody>
      </p:sp>
    </p:spTree>
    <p:extLst>
      <p:ext uri="{BB962C8B-B14F-4D97-AF65-F5344CB8AC3E}">
        <p14:creationId xmlns:p14="http://schemas.microsoft.com/office/powerpoint/2010/main" val="34768078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8150" y="290227"/>
            <a:ext cx="8224838" cy="1138237"/>
          </a:xfrm>
        </p:spPr>
        <p:txBody>
          <a:bodyPr/>
          <a:lstStyle/>
          <a:p>
            <a:r>
              <a:rPr lang="en-US" altLang="zh-CN" b="1" dirty="0" smtClean="0"/>
              <a:t>3.5 PBFT </a:t>
            </a:r>
            <a:r>
              <a:rPr lang="en-US" altLang="zh-CN" b="1" dirty="0"/>
              <a:t>(Practical Byzantine Fault Tolerance</a:t>
            </a:r>
            <a:r>
              <a:rPr lang="en-US" altLang="zh-CN" b="1" dirty="0" smtClean="0"/>
              <a:t>)</a:t>
            </a:r>
            <a:endParaRPr lang="zh-CN" altLang="en-US" dirty="0"/>
          </a:p>
        </p:txBody>
      </p:sp>
      <p:sp>
        <p:nvSpPr>
          <p:cNvPr id="8" name="椭圆 7"/>
          <p:cNvSpPr/>
          <p:nvPr/>
        </p:nvSpPr>
        <p:spPr bwMode="auto">
          <a:xfrm>
            <a:off x="2806263" y="2381693"/>
            <a:ext cx="1935858" cy="1874997"/>
          </a:xfrm>
          <a:prstGeom prst="ellipse">
            <a:avLst/>
          </a:prstGeom>
          <a:solidFill>
            <a:srgbClr val="00A1DA">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 name="椭圆 8"/>
          <p:cNvSpPr/>
          <p:nvPr/>
        </p:nvSpPr>
        <p:spPr bwMode="auto">
          <a:xfrm>
            <a:off x="4150241" y="2381693"/>
            <a:ext cx="1840656" cy="1874997"/>
          </a:xfrm>
          <a:prstGeom prst="ellipse">
            <a:avLst/>
          </a:prstGeom>
          <a:solidFill>
            <a:srgbClr val="FFFF00">
              <a:alpha val="74000"/>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 name="文本框 9"/>
          <p:cNvSpPr txBox="1"/>
          <p:nvPr/>
        </p:nvSpPr>
        <p:spPr>
          <a:xfrm>
            <a:off x="2925052" y="3149914"/>
            <a:ext cx="1371600" cy="400110"/>
          </a:xfrm>
          <a:prstGeom prst="rect">
            <a:avLst/>
          </a:prstGeom>
          <a:noFill/>
        </p:spPr>
        <p:txBody>
          <a:bodyPr wrap="square" rtlCol="0">
            <a:spAutoFit/>
          </a:bodyPr>
          <a:lstStyle/>
          <a:p>
            <a:r>
              <a:rPr lang="en-US" altLang="zh-CN" sz="2000" b="1" dirty="0" smtClean="0"/>
              <a:t>Advantage</a:t>
            </a:r>
            <a:endParaRPr lang="zh-CN" altLang="en-US" sz="2000" b="1" dirty="0"/>
          </a:p>
        </p:txBody>
      </p:sp>
      <p:sp>
        <p:nvSpPr>
          <p:cNvPr id="11" name="文本框 10"/>
          <p:cNvSpPr txBox="1"/>
          <p:nvPr/>
        </p:nvSpPr>
        <p:spPr>
          <a:xfrm>
            <a:off x="4563490" y="3149914"/>
            <a:ext cx="1670658" cy="369332"/>
          </a:xfrm>
          <a:prstGeom prst="rect">
            <a:avLst/>
          </a:prstGeom>
          <a:noFill/>
        </p:spPr>
        <p:txBody>
          <a:bodyPr wrap="square" rtlCol="0">
            <a:spAutoFit/>
          </a:bodyPr>
          <a:lstStyle/>
          <a:p>
            <a:r>
              <a:rPr lang="en-US" altLang="zh-CN" b="1" dirty="0" smtClean="0"/>
              <a:t>Disadvantage</a:t>
            </a:r>
            <a:endParaRPr lang="zh-CN" altLang="en-US" b="1" dirty="0"/>
          </a:p>
        </p:txBody>
      </p:sp>
      <p:sp>
        <p:nvSpPr>
          <p:cNvPr id="12" name="文本框 11"/>
          <p:cNvSpPr txBox="1"/>
          <p:nvPr/>
        </p:nvSpPr>
        <p:spPr>
          <a:xfrm>
            <a:off x="180351" y="4488249"/>
            <a:ext cx="2597442" cy="954107"/>
          </a:xfrm>
          <a:prstGeom prst="rect">
            <a:avLst/>
          </a:prstGeom>
          <a:noFill/>
        </p:spPr>
        <p:txBody>
          <a:bodyPr wrap="square" rtlCol="0">
            <a:spAutoFit/>
          </a:bodyPr>
          <a:lstStyle/>
          <a:p>
            <a:r>
              <a:rPr lang="en-US" altLang="zh-CN" sz="2800" b="1" dirty="0" smtClean="0"/>
              <a:t>2.high </a:t>
            </a:r>
            <a:r>
              <a:rPr lang="en-US" altLang="zh-CN" sz="2800" b="1" dirty="0"/>
              <a:t>efficiency</a:t>
            </a:r>
          </a:p>
          <a:p>
            <a:r>
              <a:rPr lang="en-US" altLang="zh-CN" sz="2800" b="1" dirty="0"/>
              <a:t>Low latency</a:t>
            </a:r>
            <a:endParaRPr lang="zh-CN" altLang="en-US" sz="2800" b="1" dirty="0"/>
          </a:p>
        </p:txBody>
      </p:sp>
      <p:sp>
        <p:nvSpPr>
          <p:cNvPr id="13" name="文本框 12"/>
          <p:cNvSpPr txBox="1"/>
          <p:nvPr/>
        </p:nvSpPr>
        <p:spPr>
          <a:xfrm>
            <a:off x="180351" y="1812135"/>
            <a:ext cx="2140259" cy="954107"/>
          </a:xfrm>
          <a:prstGeom prst="rect">
            <a:avLst/>
          </a:prstGeom>
          <a:noFill/>
        </p:spPr>
        <p:txBody>
          <a:bodyPr wrap="square" rtlCol="0">
            <a:spAutoFit/>
          </a:bodyPr>
          <a:lstStyle/>
          <a:p>
            <a:r>
              <a:rPr lang="en-US" altLang="zh-CN" sz="2800" b="1" dirty="0" smtClean="0"/>
              <a:t>1.Operate out of token</a:t>
            </a:r>
            <a:endParaRPr lang="zh-CN" altLang="en-US" sz="2800" b="1" dirty="0"/>
          </a:p>
        </p:txBody>
      </p:sp>
      <p:sp>
        <p:nvSpPr>
          <p:cNvPr id="14" name="文本框 13"/>
          <p:cNvSpPr txBox="1"/>
          <p:nvPr/>
        </p:nvSpPr>
        <p:spPr>
          <a:xfrm>
            <a:off x="6404315" y="1312608"/>
            <a:ext cx="2739685" cy="2246769"/>
          </a:xfrm>
          <a:prstGeom prst="rect">
            <a:avLst/>
          </a:prstGeom>
          <a:noFill/>
        </p:spPr>
        <p:txBody>
          <a:bodyPr wrap="square" rtlCol="0">
            <a:spAutoFit/>
          </a:bodyPr>
          <a:lstStyle/>
          <a:p>
            <a:r>
              <a:rPr lang="en-US" altLang="zh-CN" sz="2800" b="1" dirty="0" smtClean="0"/>
              <a:t>1. 1/3 or more nodes stop keeping accounts, the system will not work</a:t>
            </a:r>
            <a:endParaRPr lang="zh-CN" altLang="en-US" sz="2800" b="1" dirty="0"/>
          </a:p>
        </p:txBody>
      </p:sp>
      <p:sp>
        <p:nvSpPr>
          <p:cNvPr id="15" name="文本框 14"/>
          <p:cNvSpPr txBox="1"/>
          <p:nvPr/>
        </p:nvSpPr>
        <p:spPr>
          <a:xfrm>
            <a:off x="5915285" y="4488249"/>
            <a:ext cx="3228715" cy="1384995"/>
          </a:xfrm>
          <a:prstGeom prst="rect">
            <a:avLst/>
          </a:prstGeom>
          <a:noFill/>
        </p:spPr>
        <p:txBody>
          <a:bodyPr wrap="square" rtlCol="0">
            <a:spAutoFit/>
          </a:bodyPr>
          <a:lstStyle/>
          <a:p>
            <a:r>
              <a:rPr lang="en-US" altLang="zh-CN" sz="2800" b="1" dirty="0" smtClean="0"/>
              <a:t>2.1/3 evil nodes do harm to the system jointly</a:t>
            </a:r>
            <a:endParaRPr lang="zh-CN" altLang="en-US" sz="2800" b="1" dirty="0"/>
          </a:p>
        </p:txBody>
      </p:sp>
      <p:cxnSp>
        <p:nvCxnSpPr>
          <p:cNvPr id="4" name="直接箭头连接符 3"/>
          <p:cNvCxnSpPr/>
          <p:nvPr/>
        </p:nvCxnSpPr>
        <p:spPr bwMode="auto">
          <a:xfrm flipH="1" flipV="1">
            <a:off x="2153920" y="2766242"/>
            <a:ext cx="623873" cy="383672"/>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6" name="直接箭头连接符 5"/>
          <p:cNvCxnSpPr/>
          <p:nvPr/>
        </p:nvCxnSpPr>
        <p:spPr bwMode="auto">
          <a:xfrm flipH="1">
            <a:off x="2153920" y="3840480"/>
            <a:ext cx="652343" cy="647769"/>
          </a:xfrm>
          <a:prstGeom prst="straightConnector1">
            <a:avLst/>
          </a:prstGeom>
          <a:solidFill>
            <a:srgbClr val="00B8FF"/>
          </a:solidFill>
          <a:ln w="9525" cap="flat" cmpd="sng" algn="ctr">
            <a:solidFill>
              <a:srgbClr val="00A1DA"/>
            </a:solidFill>
            <a:prstDash val="solid"/>
            <a:round/>
            <a:headEnd type="none" w="med" len="med"/>
            <a:tailEnd type="triangle"/>
          </a:ln>
        </p:spPr>
      </p:cxnSp>
      <p:cxnSp>
        <p:nvCxnSpPr>
          <p:cNvPr id="16" name="直接箭头连接符 15"/>
          <p:cNvCxnSpPr/>
          <p:nvPr/>
        </p:nvCxnSpPr>
        <p:spPr bwMode="auto">
          <a:xfrm flipV="1">
            <a:off x="5648960" y="1991360"/>
            <a:ext cx="755355" cy="444632"/>
          </a:xfrm>
          <a:prstGeom prst="straightConnector1">
            <a:avLst/>
          </a:prstGeom>
          <a:solidFill>
            <a:srgbClr val="00B8FF"/>
          </a:solidFill>
          <a:ln w="9525" cap="flat" cmpd="sng" algn="ctr">
            <a:solidFill>
              <a:srgbClr val="FFFF00"/>
            </a:solidFill>
            <a:prstDash val="solid"/>
            <a:round/>
            <a:headEnd type="none" w="med" len="med"/>
            <a:tailEnd type="triangle"/>
          </a:ln>
        </p:spPr>
      </p:cxnSp>
      <p:cxnSp>
        <p:nvCxnSpPr>
          <p:cNvPr id="18" name="直接箭头连接符 17"/>
          <p:cNvCxnSpPr>
            <a:stCxn id="9" idx="5"/>
          </p:cNvCxnSpPr>
          <p:nvPr/>
        </p:nvCxnSpPr>
        <p:spPr bwMode="auto">
          <a:xfrm>
            <a:off x="5721339" y="3982103"/>
            <a:ext cx="512809" cy="506146"/>
          </a:xfrm>
          <a:prstGeom prst="straightConnector1">
            <a:avLst/>
          </a:prstGeom>
          <a:solidFill>
            <a:srgbClr val="00B8FF"/>
          </a:solidFill>
          <a:ln w="9525" cap="flat" cmpd="sng" algn="ctr">
            <a:solidFill>
              <a:srgbClr val="FFFF00"/>
            </a:solidFill>
            <a:prstDash val="solid"/>
            <a:round/>
            <a:headEnd type="none" w="med" len="med"/>
            <a:tailEnd type="triangle"/>
          </a:ln>
        </p:spPr>
      </p:cxnSp>
    </p:spTree>
    <p:extLst>
      <p:ext uri="{BB962C8B-B14F-4D97-AF65-F5344CB8AC3E}">
        <p14:creationId xmlns:p14="http://schemas.microsoft.com/office/powerpoint/2010/main" val="42762263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3.6 Other Consensus</a:t>
            </a:r>
            <a:endParaRPr lang="zh-CN" altLang="en-US" b="1" dirty="0"/>
          </a:p>
        </p:txBody>
      </p:sp>
      <p:sp>
        <p:nvSpPr>
          <p:cNvPr id="3" name="内容占位符 2"/>
          <p:cNvSpPr>
            <a:spLocks noGrp="1"/>
          </p:cNvSpPr>
          <p:nvPr>
            <p:ph sz="half" idx="1"/>
          </p:nvPr>
        </p:nvSpPr>
        <p:spPr>
          <a:xfrm>
            <a:off x="457200" y="1600200"/>
            <a:ext cx="7609839" cy="4521200"/>
          </a:xfrm>
        </p:spPr>
        <p:txBody>
          <a:bodyPr/>
          <a:lstStyle/>
          <a:p>
            <a:r>
              <a:rPr lang="en-US" altLang="zh-CN" sz="2400" b="1" dirty="0" smtClean="0"/>
              <a:t>DBFT </a:t>
            </a:r>
            <a:r>
              <a:rPr lang="en-US" altLang="zh-CN" sz="2400" dirty="0" smtClean="0"/>
              <a:t>(Delegated BFT) : NEO</a:t>
            </a:r>
          </a:p>
          <a:p>
            <a:r>
              <a:rPr lang="en-US" altLang="zh-CN" sz="2400" b="1" dirty="0" smtClean="0"/>
              <a:t>POI </a:t>
            </a:r>
            <a:r>
              <a:rPr lang="en-US" altLang="zh-CN" sz="2400" dirty="0" smtClean="0"/>
              <a:t>(Proof-Of-Importance):  XEM</a:t>
            </a:r>
          </a:p>
          <a:p>
            <a:r>
              <a:rPr lang="en-US" altLang="zh-CN" sz="2400" b="1" dirty="0" smtClean="0"/>
              <a:t>POP </a:t>
            </a:r>
            <a:r>
              <a:rPr lang="en-US" altLang="zh-CN" sz="2400" dirty="0" smtClean="0"/>
              <a:t>(Proof-Of-Participation): CZR</a:t>
            </a:r>
          </a:p>
          <a:p>
            <a:r>
              <a:rPr lang="en-US" altLang="zh-CN" sz="2400" b="1" dirty="0" smtClean="0"/>
              <a:t>POA </a:t>
            </a:r>
            <a:r>
              <a:rPr lang="en-US" altLang="zh-CN" sz="2400" dirty="0" smtClean="0"/>
              <a:t>(Proof-Of-</a:t>
            </a:r>
            <a:r>
              <a:rPr lang="en-US" altLang="zh-CN" sz="2400" dirty="0"/>
              <a:t>Proof of Authority</a:t>
            </a:r>
            <a:r>
              <a:rPr lang="en-US" altLang="zh-CN" sz="2400" dirty="0" smtClean="0"/>
              <a:t>): </a:t>
            </a:r>
            <a:r>
              <a:rPr lang="en-US" altLang="zh-CN" sz="2400" dirty="0" err="1" smtClean="0"/>
              <a:t>TomoChain</a:t>
            </a:r>
            <a:r>
              <a:rPr lang="en-US" altLang="zh-CN" sz="2400" dirty="0" smtClean="0"/>
              <a:t>, </a:t>
            </a:r>
            <a:r>
              <a:rPr lang="en-US" altLang="zh-CN" sz="2400" dirty="0" err="1" smtClean="0"/>
              <a:t>Vechain</a:t>
            </a:r>
            <a:endParaRPr lang="en-US" altLang="zh-CN" sz="2400" dirty="0" smtClean="0"/>
          </a:p>
          <a:p>
            <a:r>
              <a:rPr lang="en-US" altLang="zh-CN" sz="2400" b="1" dirty="0" smtClean="0"/>
              <a:t>DAG </a:t>
            </a:r>
            <a:r>
              <a:rPr lang="en-US" altLang="zh-CN" sz="2400" dirty="0" smtClean="0"/>
              <a:t>(Directed Acyclic Graph): IOTA, </a:t>
            </a:r>
            <a:r>
              <a:rPr lang="en-US" altLang="zh-CN" sz="2400" dirty="0" err="1" smtClean="0"/>
              <a:t>Byteball</a:t>
            </a:r>
            <a:endParaRPr lang="en-US" altLang="zh-CN" sz="2400" dirty="0" smtClean="0"/>
          </a:p>
          <a:p>
            <a:r>
              <a:rPr lang="en-US" altLang="zh-CN" sz="2400" b="1" dirty="0" smtClean="0"/>
              <a:t>RPCA </a:t>
            </a:r>
            <a:r>
              <a:rPr lang="en-US" altLang="zh-CN" sz="2400" dirty="0" smtClean="0"/>
              <a:t>(Ripple Protocol Consensus Algorithm): Ripple</a:t>
            </a:r>
          </a:p>
          <a:p>
            <a:r>
              <a:rPr lang="en-US" altLang="zh-CN" sz="2400" b="1" dirty="0" smtClean="0"/>
              <a:t>RPOW </a:t>
            </a:r>
            <a:r>
              <a:rPr lang="en-US" altLang="zh-CN" sz="2400" dirty="0" smtClean="0"/>
              <a:t>(Randomized Proof of Work): </a:t>
            </a:r>
            <a:r>
              <a:rPr lang="en-US" altLang="zh-CN" sz="2400" dirty="0" err="1" smtClean="0"/>
              <a:t>Usechain</a:t>
            </a:r>
            <a:endParaRPr lang="en-US" altLang="zh-CN" sz="2400" dirty="0" smtClean="0"/>
          </a:p>
          <a:p>
            <a:r>
              <a:rPr lang="en-US" altLang="zh-CN" sz="2400" b="1" dirty="0" smtClean="0"/>
              <a:t>POV </a:t>
            </a:r>
            <a:r>
              <a:rPr lang="en-US" altLang="zh-CN" sz="2400" dirty="0" smtClean="0"/>
              <a:t>(Proof Of Value):</a:t>
            </a:r>
            <a:r>
              <a:rPr lang="en-US" altLang="zh-CN" sz="2400" dirty="0"/>
              <a:t>LVT</a:t>
            </a:r>
            <a:endParaRPr lang="en-US" altLang="zh-CN" sz="2400" dirty="0" smtClean="0"/>
          </a:p>
          <a:p>
            <a:r>
              <a:rPr lang="en-US" altLang="zh-CN" sz="2400" b="1" dirty="0" smtClean="0"/>
              <a:t>Raft</a:t>
            </a:r>
            <a:endParaRPr lang="zh-CN" altLang="en-US" sz="2400" b="1" dirty="0"/>
          </a:p>
        </p:txBody>
      </p:sp>
    </p:spTree>
    <p:extLst>
      <p:ext uri="{BB962C8B-B14F-4D97-AF65-F5344CB8AC3E}">
        <p14:creationId xmlns:p14="http://schemas.microsoft.com/office/powerpoint/2010/main" val="36301352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70235" y="223576"/>
            <a:ext cx="5202620" cy="707570"/>
          </a:xfrm>
        </p:spPr>
        <p:txBody>
          <a:bodyPr/>
          <a:lstStyle/>
          <a:p>
            <a:r>
              <a:rPr lang="en-US" altLang="zh-CN" b="1" dirty="0" smtClean="0"/>
              <a:t>3.7 Evaluation of Consensus</a:t>
            </a:r>
            <a:endParaRPr lang="zh-CN" altLang="en-US" b="1" dirty="0"/>
          </a:p>
        </p:txBody>
      </p:sp>
      <p:sp>
        <p:nvSpPr>
          <p:cNvPr id="5" name="椭圆 4"/>
          <p:cNvSpPr/>
          <p:nvPr/>
        </p:nvSpPr>
        <p:spPr bwMode="auto">
          <a:xfrm>
            <a:off x="3408279" y="3256907"/>
            <a:ext cx="2081718" cy="1194583"/>
          </a:xfrm>
          <a:prstGeom prst="ellipse">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b="1" i="0" u="none" strike="noStrike" cap="none" normalizeH="0" baseline="0" dirty="0" smtClean="0">
                <a:ln>
                  <a:noFill/>
                </a:ln>
                <a:effectLst/>
                <a:latin typeface="Arial" panose="020B0604020202020204" pitchFamily="34" charset="0"/>
                <a:ea typeface="宋体" panose="02010600030101010101" pitchFamily="2" charset="-122"/>
              </a:rPr>
              <a:t>Evaluation</a:t>
            </a:r>
            <a:endParaRPr kumimoji="0" lang="zh-CN" altLang="en-US"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9" name="右箭头 8"/>
          <p:cNvSpPr/>
          <p:nvPr/>
        </p:nvSpPr>
        <p:spPr bwMode="auto">
          <a:xfrm rot="5400000">
            <a:off x="4098971" y="4638864"/>
            <a:ext cx="740150" cy="363376"/>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0" name="椭圆 9"/>
          <p:cNvSpPr/>
          <p:nvPr/>
        </p:nvSpPr>
        <p:spPr bwMode="auto">
          <a:xfrm>
            <a:off x="471817" y="3380566"/>
            <a:ext cx="2081719" cy="961071"/>
          </a:xfrm>
          <a:prstGeom prst="ellipse">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Safety</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1" name="椭圆 10"/>
          <p:cNvSpPr/>
          <p:nvPr/>
        </p:nvSpPr>
        <p:spPr bwMode="auto">
          <a:xfrm>
            <a:off x="6329543" y="3416048"/>
            <a:ext cx="2081718" cy="961071"/>
          </a:xfrm>
          <a:prstGeom prst="ellipse">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Scalability</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2" name="椭圆 11"/>
          <p:cNvSpPr/>
          <p:nvPr/>
        </p:nvSpPr>
        <p:spPr bwMode="auto">
          <a:xfrm>
            <a:off x="3127265" y="5228065"/>
            <a:ext cx="2683561" cy="1156132"/>
          </a:xfrm>
          <a:prstGeom prst="ellipse">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Performance</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000" b="1" dirty="0" smtClean="0">
                <a:latin typeface="Arial" panose="020B0604020202020204" pitchFamily="34" charset="0"/>
                <a:ea typeface="宋体" panose="02010600030101010101" pitchFamily="2" charset="-122"/>
              </a:rPr>
              <a:t>Efficiency</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3" name="椭圆 12"/>
          <p:cNvSpPr/>
          <p:nvPr/>
        </p:nvSpPr>
        <p:spPr bwMode="auto">
          <a:xfrm>
            <a:off x="3168393" y="1282581"/>
            <a:ext cx="2683561" cy="1156132"/>
          </a:xfrm>
          <a:prstGeom prst="ellipse">
            <a:avLst/>
          </a:prstGeom>
          <a:solidFill>
            <a:srgbClr val="00A1D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kumimoji="0" lang="en-US" altLang="zh-CN" sz="2000" b="1" i="0" u="none" strike="noStrike" cap="none" normalizeH="0" baseline="0" dirty="0" smtClean="0">
                <a:ln>
                  <a:noFill/>
                </a:ln>
                <a:effectLst/>
                <a:latin typeface="Arial" panose="020B0604020202020204" pitchFamily="34" charset="0"/>
                <a:ea typeface="宋体" panose="02010600030101010101" pitchFamily="2" charset="-122"/>
              </a:rPr>
              <a:t>Recourse</a:t>
            </a:r>
          </a:p>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r>
              <a:rPr lang="en-US" altLang="zh-CN" sz="2000" b="1" dirty="0" smtClean="0">
                <a:latin typeface="Arial" panose="020B0604020202020204" pitchFamily="34" charset="0"/>
                <a:ea typeface="宋体" panose="02010600030101010101" pitchFamily="2" charset="-122"/>
              </a:rPr>
              <a:t>Consumption</a:t>
            </a:r>
            <a:endParaRPr kumimoji="0" lang="zh-CN" altLang="en-US" sz="2000" b="1" i="0" u="none" strike="noStrike" cap="none" normalizeH="0" baseline="0" dirty="0" smtClean="0">
              <a:ln>
                <a:noFill/>
              </a:ln>
              <a:effectLst/>
              <a:latin typeface="Arial" panose="020B0604020202020204" pitchFamily="34" charset="0"/>
              <a:ea typeface="宋体" panose="02010600030101010101" pitchFamily="2" charset="-122"/>
            </a:endParaRPr>
          </a:p>
        </p:txBody>
      </p:sp>
      <p:sp>
        <p:nvSpPr>
          <p:cNvPr id="14" name="右箭头 13"/>
          <p:cNvSpPr/>
          <p:nvPr/>
        </p:nvSpPr>
        <p:spPr bwMode="auto">
          <a:xfrm>
            <a:off x="5524499" y="3714896"/>
            <a:ext cx="740150" cy="363376"/>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5" name="右箭头 14"/>
          <p:cNvSpPr/>
          <p:nvPr/>
        </p:nvSpPr>
        <p:spPr bwMode="auto">
          <a:xfrm rot="10800000">
            <a:off x="2618431" y="3679414"/>
            <a:ext cx="740150" cy="363376"/>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
        <p:nvSpPr>
          <p:cNvPr id="16" name="右箭头 15"/>
          <p:cNvSpPr/>
          <p:nvPr/>
        </p:nvSpPr>
        <p:spPr bwMode="auto">
          <a:xfrm rot="16200000">
            <a:off x="4098971" y="2664537"/>
            <a:ext cx="740150" cy="363376"/>
          </a:xfrm>
          <a:prstGeom prst="rightArrow">
            <a:avLst/>
          </a:prstGeom>
          <a:solidFill>
            <a:srgbClr val="00B8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pPr>
            <a:endParaRPr kumimoji="0" lang="zh-CN" altLang="en-US"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0185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199" y="1123950"/>
            <a:ext cx="8321039" cy="4521200"/>
          </a:xfrm>
        </p:spPr>
        <p:txBody>
          <a:bodyPr/>
          <a:lstStyle/>
          <a:p>
            <a:pPr algn="ctr"/>
            <a:r>
              <a:rPr lang="en-US" altLang="zh-CN" sz="4800" b="1" dirty="0" smtClean="0">
                <a:solidFill>
                  <a:schemeClr val="tx1"/>
                </a:solidFill>
              </a:rPr>
              <a:t>Thank you !</a:t>
            </a:r>
            <a:endParaRPr lang="zh-CN" altLang="en-US" sz="4800" b="1" dirty="0">
              <a:solidFill>
                <a:schemeClr val="tx1"/>
              </a:solidFill>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8318" y="1888300"/>
            <a:ext cx="5638800" cy="3756850"/>
          </a:xfrm>
          <a:prstGeom prst="rect">
            <a:avLst/>
          </a:prstGeom>
        </p:spPr>
      </p:pic>
    </p:spTree>
    <p:extLst>
      <p:ext uri="{BB962C8B-B14F-4D97-AF65-F5344CB8AC3E}">
        <p14:creationId xmlns:p14="http://schemas.microsoft.com/office/powerpoint/2010/main" val="2573981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8626</TotalTime>
  <Words>7176</Words>
  <Application>Microsoft Office PowerPoint</Application>
  <PresentationFormat>全屏显示(4:3)</PresentationFormat>
  <Paragraphs>715</Paragraphs>
  <Slides>38</Slides>
  <Notes>37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黑体</vt:lpstr>
      <vt:lpstr>宋体</vt:lpstr>
      <vt:lpstr>微软雅黑</vt:lpstr>
      <vt:lpstr>Arial</vt:lpstr>
      <vt:lpstr>Calibri</vt:lpstr>
      <vt:lpstr>Cambria Math</vt:lpstr>
      <vt:lpstr>Times New Roman</vt:lpstr>
      <vt:lpstr>Wingdings</vt:lpstr>
      <vt:lpstr>Office 主题​​</vt:lpstr>
      <vt:lpstr>PowerPoint 演示文稿</vt:lpstr>
      <vt:lpstr>Outline</vt:lpstr>
      <vt:lpstr>1.1 Centralized vs Distributed</vt:lpstr>
      <vt:lpstr>Distributed</vt:lpstr>
      <vt:lpstr>1.2 CAP Theorem</vt:lpstr>
      <vt:lpstr>1.3 Consensus Mechanism</vt:lpstr>
      <vt:lpstr>2. Paxos Algorithm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Learning a Chosen Value</vt:lpstr>
      <vt:lpstr>2.6 An example</vt:lpstr>
      <vt:lpstr>2.5 Liveness</vt:lpstr>
      <vt:lpstr>3. Consensus in Blockchain</vt:lpstr>
      <vt:lpstr>3. Consensus in Blockchain</vt:lpstr>
      <vt:lpstr>3.1 POW (Proof-Of-Work) eg. Bitcoin</vt:lpstr>
      <vt:lpstr>3.1 POW (Proof-Of-Work)</vt:lpstr>
      <vt:lpstr>PowerPoint 演示文稿</vt:lpstr>
      <vt:lpstr>3.2 POS (Proof-Of-Stake) eg.Peercoin, NXT</vt:lpstr>
      <vt:lpstr>3.2 POS (Proof-Of-Stake)</vt:lpstr>
      <vt:lpstr>3.3 DPOS (Delegated Proof-of-Stake) eg. Bitshares, Steem, EOS</vt:lpstr>
      <vt:lpstr>3.3 DPOS (Delegated Proof-of-Stake)</vt:lpstr>
      <vt:lpstr>3.4 DSC (Dynamic Stake Consensus) eg.penta</vt:lpstr>
      <vt:lpstr>3.4 DSC (Dynamic Stake Consensus)</vt:lpstr>
      <vt:lpstr>3.5 PBFT (Practical Byzantine Fault Tolerance) eg.bumeng,Hyperledger(IBM)</vt:lpstr>
      <vt:lpstr>3.5 PBFT (Practical Byzantine Fault Tolerance)</vt:lpstr>
      <vt:lpstr>3.6 Other Consensus</vt:lpstr>
      <vt:lpstr>3.7 Evaluation of Consensus</vt:lpstr>
      <vt:lpstr>PowerPoint 演示文稿</vt:lpstr>
    </vt:vector>
  </TitlesOfParts>
  <Company>NKU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Mr.Ren</dc:creator>
  <cp:lastModifiedBy>Windows 用户</cp:lastModifiedBy>
  <cp:revision>536</cp:revision>
  <dcterms:created xsi:type="dcterms:W3CDTF">2015-09-20T07:16:00Z</dcterms:created>
  <dcterms:modified xsi:type="dcterms:W3CDTF">2018-10-07T16:01:39Z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