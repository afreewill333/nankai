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Default Extension="emf" ContentType="image/x-e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42"/>
  </p:notesMasterIdLst>
  <p:sldIdLst>
    <p:sldId id="261" r:id="rId2"/>
    <p:sldId id="302" r:id="rId3"/>
    <p:sldId id="304" r:id="rId4"/>
    <p:sldId id="267" r:id="rId5"/>
    <p:sldId id="263" r:id="rId6"/>
    <p:sldId id="268" r:id="rId7"/>
    <p:sldId id="271" r:id="rId8"/>
    <p:sldId id="273" r:id="rId9"/>
    <p:sldId id="274" r:id="rId10"/>
    <p:sldId id="282" r:id="rId11"/>
    <p:sldId id="283" r:id="rId12"/>
    <p:sldId id="284" r:id="rId13"/>
    <p:sldId id="269" r:id="rId14"/>
    <p:sldId id="270" r:id="rId15"/>
    <p:sldId id="285" r:id="rId16"/>
    <p:sldId id="286" r:id="rId17"/>
    <p:sldId id="287" r:id="rId18"/>
    <p:sldId id="276" r:id="rId19"/>
    <p:sldId id="292" r:id="rId20"/>
    <p:sldId id="293" r:id="rId21"/>
    <p:sldId id="278" r:id="rId22"/>
    <p:sldId id="264" r:id="rId23"/>
    <p:sldId id="265" r:id="rId24"/>
    <p:sldId id="298" r:id="rId25"/>
    <p:sldId id="294" r:id="rId26"/>
    <p:sldId id="295" r:id="rId27"/>
    <p:sldId id="266" r:id="rId28"/>
    <p:sldId id="303" r:id="rId29"/>
    <p:sldId id="279" r:id="rId30"/>
    <p:sldId id="291" r:id="rId31"/>
    <p:sldId id="290" r:id="rId32"/>
    <p:sldId id="301" r:id="rId33"/>
    <p:sldId id="299" r:id="rId34"/>
    <p:sldId id="272" r:id="rId35"/>
    <p:sldId id="289" r:id="rId36"/>
    <p:sldId id="297" r:id="rId37"/>
    <p:sldId id="288" r:id="rId38"/>
    <p:sldId id="300" r:id="rId39"/>
    <p:sldId id="296" r:id="rId40"/>
    <p:sldId id="258" r:id="rId4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5C"/>
    <a:srgbClr val="FF7E79"/>
    <a:srgbClr val="1630F6"/>
    <a:srgbClr val="EAEFF7"/>
    <a:srgbClr val="EBF0F7"/>
    <a:srgbClr val="E2E2E2"/>
    <a:srgbClr val="B330D4"/>
    <a:srgbClr val="BD31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主题样式 2 - 个性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主题样式 1 - 个性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98"/>
    <p:restoredTop sz="81321"/>
  </p:normalViewPr>
  <p:slideViewPr>
    <p:cSldViewPr snapToGrid="0" snapToObjects="1">
      <p:cViewPr>
        <p:scale>
          <a:sx n="100" d="100"/>
          <a:sy n="100" d="100"/>
        </p:scale>
        <p:origin x="1736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kumimoji="1"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kumimoji="1" sz="1200"/>
            </a:lvl1pPr>
          </a:lstStyle>
          <a:p>
            <a:pPr>
              <a:defRPr/>
            </a:pPr>
            <a:fld id="{EFA51185-30DC-254A-9DD6-8F7A8C8C9CE7}" type="datetimeFigureOut">
              <a:rPr lang="zh-CN" altLang="en-US"/>
              <a:pPr>
                <a:defRPr/>
              </a:pPr>
              <a:t>2018/12/15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二级</a:t>
            </a:r>
          </a:p>
          <a:p>
            <a:pPr lvl="2"/>
            <a:r>
              <a:rPr lang="zh-CN" altLang="en-US" noProof="0" smtClean="0"/>
              <a:t>三级</a:t>
            </a:r>
          </a:p>
          <a:p>
            <a:pPr lvl="3"/>
            <a:r>
              <a:rPr lang="zh-CN" altLang="en-US" noProof="0" smtClean="0"/>
              <a:t>四级</a:t>
            </a:r>
          </a:p>
          <a:p>
            <a:pPr lvl="4"/>
            <a:r>
              <a:rPr lang="zh-CN" altLang="en-US" noProof="0" smtClean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kumimoji="1"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kumimoji="1" sz="1200"/>
            </a:lvl1pPr>
          </a:lstStyle>
          <a:p>
            <a:pPr>
              <a:defRPr/>
            </a:pPr>
            <a:fld id="{0B5B9210-A5D6-DF4A-BCF1-E487EA4C0D1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21507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855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38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5714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733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234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1159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9234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1123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1383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 smtClean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7494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 smtClean="0"/>
          </a:p>
          <a:p>
            <a:endParaRPr kumimoji="1" lang="en-US" altLang="zh-CN" baseline="0" dirty="0" smtClean="0"/>
          </a:p>
          <a:p>
            <a:endParaRPr kumimoji="1" lang="en-US" altLang="zh-CN" baseline="0" dirty="0" smtClean="0"/>
          </a:p>
          <a:p>
            <a:endParaRPr kumimoji="1" lang="en-US" altLang="zh-CN" baseline="0" dirty="0" smtClean="0"/>
          </a:p>
          <a:p>
            <a:endParaRPr kumimoji="1" lang="en-US" altLang="zh-CN" baseline="0" dirty="0" smtClean="0"/>
          </a:p>
          <a:p>
            <a:endParaRPr kumimoji="1" lang="en-US" altLang="zh-CN" baseline="0" dirty="0" smtClean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3605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 smtClean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1133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538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5714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不只有</a:t>
            </a:r>
            <a:r>
              <a:rPr kumimoji="1" lang="en-US" altLang="zh-CN" dirty="0" smtClean="0"/>
              <a:t>SPDK</a:t>
            </a:r>
            <a:r>
              <a:rPr kumimoji="1" lang="zh-CN" altLang="en-US" dirty="0" smtClean="0"/>
              <a:t>，还有很多工作也是在用户态做</a:t>
            </a:r>
            <a:r>
              <a:rPr kumimoji="1" lang="en-US" altLang="zh-CN" dirty="0" smtClean="0"/>
              <a:t>NVMe</a:t>
            </a:r>
            <a:r>
              <a:rPr kumimoji="1" lang="zh-CN" altLang="en-US" dirty="0" smtClean="0"/>
              <a:t>驱动，比如</a:t>
            </a:r>
            <a:r>
              <a:rPr kumimoji="1" lang="en-US" altLang="zh-CN" dirty="0" err="1" smtClean="0"/>
              <a:t>NVMeDirect</a:t>
            </a:r>
            <a:r>
              <a:rPr kumimoji="1" lang="zh-CN" altLang="en-US" dirty="0" smtClean="0"/>
              <a:t>。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792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78336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5878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389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baseline="0" dirty="0" smtClean="0"/>
              <a:t>PM</a:t>
            </a:r>
            <a:r>
              <a:rPr kumimoji="1" lang="zh-CN" altLang="en-US" baseline="0" dirty="0" smtClean="0"/>
              <a:t>有很多别名，很多情况下它们都是一回事。。。</a:t>
            </a:r>
            <a:endParaRPr kumimoji="1" lang="en-US" altLang="zh-CN" baseline="0" dirty="0" smtClean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0856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baseline="0" dirty="0" smtClean="0"/>
              <a:t>PM</a:t>
            </a:r>
            <a:r>
              <a:rPr kumimoji="1" lang="zh-CN" altLang="en-US" baseline="0" dirty="0" smtClean="0"/>
              <a:t>有很多别名，很多情况下它们都是一回事。。。</a:t>
            </a:r>
            <a:endParaRPr kumimoji="1" lang="en-US" altLang="zh-CN" baseline="0" dirty="0" smtClean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5063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 smtClean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8861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8254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4132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393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00650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2900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201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2596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425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7515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9559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831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0760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2998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57008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87678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50038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10665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27971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5B9210-A5D6-DF4A-BCF1-E487EA4C0D19}" type="slidenum">
              <a:rPr lang="zh-CN" altLang="en-US" smtClean="0"/>
              <a:pPr>
                <a:defRPr/>
              </a:pPr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028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38CC2-A0DA-0A42-9C3B-B99D8DFE8A35}" type="datetimeFigureOut">
              <a:rPr lang="zh-CN" altLang="en-US" smtClean="0"/>
              <a:pPr>
                <a:defRPr/>
              </a:pPr>
              <a:t>2018/12/15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F175-A356-8641-8B8C-2BC1BAE79F1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/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D12BB8-9261-4D4B-98FD-C0F0AA2E9A14}" type="datetimeFigureOut">
              <a:rPr lang="zh-CN" altLang="en-US" smtClean="0"/>
              <a:pPr>
                <a:defRPr/>
              </a:pPr>
              <a:t>2018/12/15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A8BDDE-DE15-9A4E-B6F5-7D907F811531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/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C6D4EE-D3EF-4F4B-84A5-4EDA7B66ACC6}" type="datetimeFigureOut">
              <a:rPr lang="zh-CN" altLang="en-US" smtClean="0"/>
              <a:pPr>
                <a:defRPr/>
              </a:pPr>
              <a:t>2018/12/15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6DD28A-AA70-C249-93DE-44022C331C62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/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34650D-803F-3649-8BE6-A1B7A3B11F99}" type="datetimeFigureOut">
              <a:rPr lang="zh-CN" altLang="en-US" smtClean="0"/>
              <a:pPr>
                <a:defRPr/>
              </a:pPr>
              <a:t>2018/12/15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38A0D8-B9E1-5F47-ADDF-1F1E8F331A7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/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8D43A-8F0F-5D46-A343-06333ADB0560}" type="datetimeFigureOut">
              <a:rPr lang="zh-CN" altLang="en-US" smtClean="0"/>
              <a:pPr>
                <a:defRPr/>
              </a:pPr>
              <a:t>2018/12/15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70463-E988-D144-BBEE-FC4623AD6C2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/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20C01F-CEF2-EA4C-85CA-CBF3E7F4DD65}" type="datetimeFigureOut">
              <a:rPr lang="zh-CN" altLang="en-US" smtClean="0"/>
              <a:pPr>
                <a:defRPr/>
              </a:pPr>
              <a:t>2018/12/15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95A4DD-1280-BB47-A602-2C4DAB99FF88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/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B2A7B1-2167-7F47-9127-07644A71B60F}" type="datetimeFigureOut">
              <a:rPr lang="zh-CN" altLang="en-US" smtClean="0"/>
              <a:pPr>
                <a:defRPr/>
              </a:pPr>
              <a:t>2018/12/15</a:t>
            </a:fld>
            <a:endParaRPr lang="zh-CN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E65D7B-B108-694B-A9F0-6F3476ECBDB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/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C0D54-D0A2-8647-BDAD-39E60643A4AA}" type="datetimeFigureOut">
              <a:rPr lang="zh-CN" altLang="en-US" smtClean="0"/>
              <a:pPr>
                <a:defRPr/>
              </a:pPr>
              <a:t>2018/12/15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00DE58-F619-754F-BCBC-313BF1478D2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/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将图片拖动到占位符，或单击添加图标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23163E-B686-3245-B20A-8F7674AE5CAC}" type="datetimeFigureOut">
              <a:rPr lang="zh-CN" altLang="en-US" smtClean="0"/>
              <a:pPr>
                <a:defRPr/>
              </a:pPr>
              <a:t>2018/12/15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D19B7D-6BEB-0641-9251-9FA303027C7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/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03A3D3-B973-7244-9EC6-9D0618F24062}" type="datetimeFigureOut">
              <a:rPr lang="zh-CN" altLang="en-US" smtClean="0"/>
              <a:pPr>
                <a:defRPr/>
              </a:pPr>
              <a:t>2018/12/15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66548C-ABE1-4B4C-895C-8DD5E5C1168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/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680492-F7A2-E24D-8177-01BCF1312587}" type="datetimeFigureOut">
              <a:rPr lang="zh-CN" altLang="en-US" smtClean="0"/>
              <a:pPr>
                <a:defRPr/>
              </a:pPr>
              <a:t>2018/12/15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9F4E41-E0E2-7A41-9508-905906144EC2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/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4F0E8F8-0A90-2744-B08D-155929A4155E}" type="datetimeFigureOut">
              <a:rPr lang="zh-CN" altLang="en-US" smtClean="0"/>
              <a:pPr>
                <a:defRPr/>
              </a:pPr>
              <a:t>2018/12/15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FB58A7E-3A13-824A-A0CA-841E65082551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106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med">
    <p:fade/>
  </p:transition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5" Type="http://schemas.openxmlformats.org/officeDocument/2006/relationships/image" Target="../media/image11.emf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9.emf"/><Relationship Id="rId6" Type="http://schemas.openxmlformats.org/officeDocument/2006/relationships/image" Target="../media/image10.emf"/><Relationship Id="rId7" Type="http://schemas.openxmlformats.org/officeDocument/2006/relationships/image" Target="../media/image5.png"/><Relationship Id="rId8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5" Type="http://schemas.openxmlformats.org/officeDocument/2006/relationships/image" Target="../media/image14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5.png"/><Relationship Id="rId5" Type="http://schemas.openxmlformats.org/officeDocument/2006/relationships/image" Target="../media/image22.jpg"/><Relationship Id="rId6" Type="http://schemas.openxmlformats.org/officeDocument/2006/relationships/image" Target="../media/image23.emf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iff"/><Relationship Id="rId4" Type="http://schemas.openxmlformats.org/officeDocument/2006/relationships/image" Target="../media/image29.tiff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3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5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107139" y="1554975"/>
            <a:ext cx="6955750" cy="17594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6520"/>
              </a:lnSpc>
              <a:spcBef>
                <a:spcPts val="0"/>
              </a:spcBef>
            </a:pPr>
            <a:r>
              <a:rPr kumimoji="1" lang="zh-CN" altLang="en-US" sz="6000" dirty="0" smtClean="0">
                <a:latin typeface="Microsoft YaHei" charset="-122"/>
                <a:ea typeface="Microsoft YaHei" charset="-122"/>
                <a:cs typeface="Microsoft YaHei" charset="-122"/>
              </a:rPr>
              <a:t>新型存储技术</a:t>
            </a:r>
            <a:endParaRPr kumimoji="1" lang="en-US" altLang="zh-CN" sz="6000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algn="ctr">
              <a:lnSpc>
                <a:spcPts val="6520"/>
              </a:lnSpc>
              <a:spcBef>
                <a:spcPts val="0"/>
              </a:spcBef>
            </a:pPr>
            <a:r>
              <a:rPr kumimoji="1" lang="zh-CN" altLang="en-US" sz="4400" dirty="0" smtClean="0">
                <a:latin typeface="Microsoft YaHei" charset="-122"/>
                <a:ea typeface="Microsoft YaHei" charset="-122"/>
                <a:cs typeface="Microsoft YaHei" charset="-122"/>
              </a:rPr>
              <a:t>及其在分布式系统中的应用</a:t>
            </a:r>
            <a:endParaRPr kumimoji="1" lang="en-US" altLang="zh-CN" sz="4400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04420" y="5219700"/>
            <a:ext cx="29209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张佳辰</a:t>
            </a:r>
            <a:endParaRPr kumimoji="1" lang="en-US" altLang="zh-CN" sz="2000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1600" dirty="0" err="1" smtClean="0">
                <a:latin typeface="Microsoft YaHei" charset="-122"/>
                <a:ea typeface="Microsoft YaHei" charset="-122"/>
                <a:cs typeface="Microsoft YaHei" charset="-122"/>
              </a:rPr>
              <a:t>jczhang@nbjl.nankai.edu.cn</a:t>
            </a:r>
            <a:endParaRPr kumimoji="1" lang="zh-CN" altLang="en-US" sz="16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376717" y="1173975"/>
            <a:ext cx="1107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dirty="0" smtClean="0">
                <a:solidFill>
                  <a:schemeClr val="bg1">
                    <a:lumMod val="9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  <a:endParaRPr kumimoji="1" lang="en-US" altLang="zh-CN" sz="3600" dirty="0" smtClean="0">
              <a:solidFill>
                <a:schemeClr val="bg1">
                  <a:lumMod val="9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82900" y="1574800"/>
            <a:ext cx="558800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    连接</a:t>
            </a:r>
            <a:r>
              <a:rPr kumimoji="1"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更高速</a:t>
            </a:r>
            <a:r>
              <a:rPr kumimoji="1" lang="en-US" altLang="zh-CN" sz="2000" dirty="0" smtClean="0">
                <a:latin typeface="Microsoft YaHei" charset="-122"/>
                <a:ea typeface="Microsoft YaHei" charset="-122"/>
                <a:cs typeface="Microsoft YaHei" charset="-122"/>
              </a:rPr>
              <a:t>SSD</a:t>
            </a:r>
            <a:r>
              <a:rPr kumimoji="1"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000" dirty="0" smtClean="0">
                <a:latin typeface="Microsoft YaHei" charset="-122"/>
                <a:ea typeface="Microsoft YaHei" charset="-122"/>
                <a:cs typeface="Microsoft YaHei" charset="-122"/>
              </a:rPr>
              <a:t>—</a:t>
            </a:r>
            <a:r>
              <a:rPr kumimoji="1"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endParaRPr kumimoji="1" lang="en-US" altLang="zh-CN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SzPct val="50000"/>
              <a:buFont typeface="Wingdings" charset="2"/>
              <a:buChar char="l"/>
            </a:pP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 性能</a:t>
            </a:r>
            <a:endParaRPr kumimoji="1"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SzPct val="50000"/>
              <a:buFont typeface="Wingdings" charset="2"/>
              <a:buChar char="l"/>
            </a:pP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 协议</a:t>
            </a:r>
            <a:endParaRPr kumimoji="1"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SzPct val="50000"/>
              <a:buFont typeface="Wingdings" charset="2"/>
              <a:buChar char="l"/>
            </a:pP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高性能给存储系统带来的挑战</a:t>
            </a:r>
            <a:endParaRPr kumimoji="1"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SzPct val="50000"/>
              <a:buFont typeface="Wingdings" charset="2"/>
              <a:buChar char="l"/>
            </a:pP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用户态</a:t>
            </a: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驱动</a:t>
            </a:r>
            <a:endParaRPr kumimoji="1"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    横跨内存与存储的 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Persistent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Memory</a:t>
            </a:r>
          </a:p>
          <a:p>
            <a:pPr marL="1257300" lvl="2" indent="-342900">
              <a:buSzPct val="50000"/>
              <a:buFont typeface="Wingdings" charset="2"/>
              <a:buChar char="l"/>
            </a:pP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内存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、存储与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</a:p>
          <a:p>
            <a:pPr marL="1257300" lvl="2" indent="-342900">
              <a:buSzPct val="50000"/>
              <a:buFont typeface="Wingdings" charset="2"/>
              <a:buChar char="l"/>
            </a:pP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编程模型</a:t>
            </a:r>
            <a:endParaRPr kumimoji="1" lang="en-US" altLang="zh-CN" sz="1600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57300" lvl="2" indent="-342900">
              <a:buSzPct val="50000"/>
              <a:buFont typeface="Wingdings" charset="2"/>
              <a:buChar char="l"/>
            </a:pP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基于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的存储系统设计</a:t>
            </a:r>
            <a:endParaRPr kumimoji="1" lang="en-US" altLang="zh-CN" sz="1600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57300" lvl="2" indent="-342900">
              <a:buSzPct val="50000"/>
              <a:buFont typeface="Wingdings" charset="2"/>
              <a:buChar char="l"/>
            </a:pP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PMDK</a:t>
            </a:r>
            <a:endParaRPr kumimoji="1" lang="en-US" altLang="zh-CN" sz="1600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    新型分布式存储系统</a:t>
            </a:r>
            <a:endParaRPr kumimoji="1" lang="en-US" altLang="zh-CN" sz="2000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SzPct val="100000"/>
              <a:buFont typeface="Arial" charset="0"/>
              <a:buChar char="•"/>
            </a:pP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RDMA</a:t>
            </a:r>
          </a:p>
          <a:p>
            <a:pPr marL="1200150" lvl="2" indent="-285750">
              <a:buFont typeface="Arial" charset="0"/>
              <a:buChar char="•"/>
            </a:pP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over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Fabrics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(NVMe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+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RDMA)</a:t>
            </a:r>
            <a:endParaRPr kumimoji="1" lang="en-US" altLang="zh-CN" sz="1600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Font typeface="Arial" charset="0"/>
              <a:buChar char="•"/>
            </a:pP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分布式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文件系统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Octopus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(PM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+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RDMA)</a:t>
            </a:r>
            <a:endParaRPr kumimoji="1" lang="en-US" altLang="zh-CN" sz="1600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391782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376717" y="1173975"/>
            <a:ext cx="1107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dirty="0" smtClean="0">
                <a:solidFill>
                  <a:schemeClr val="bg1">
                    <a:lumMod val="9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  <a:endParaRPr kumimoji="1" lang="en-US" altLang="zh-CN" sz="3600" dirty="0" smtClean="0">
              <a:solidFill>
                <a:schemeClr val="bg1">
                  <a:lumMod val="9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82900" y="1574800"/>
            <a:ext cx="558800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    连接</a:t>
            </a:r>
            <a:r>
              <a:rPr kumimoji="1"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更高速</a:t>
            </a:r>
            <a:r>
              <a:rPr kumimoji="1" lang="en-US" altLang="zh-CN" sz="2000" dirty="0" smtClean="0">
                <a:latin typeface="Microsoft YaHei" charset="-122"/>
                <a:ea typeface="Microsoft YaHei" charset="-122"/>
                <a:cs typeface="Microsoft YaHei" charset="-122"/>
              </a:rPr>
              <a:t>SSD</a:t>
            </a:r>
            <a:r>
              <a:rPr kumimoji="1"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000" dirty="0" smtClean="0">
                <a:latin typeface="Microsoft YaHei" charset="-122"/>
                <a:ea typeface="Microsoft YaHei" charset="-122"/>
                <a:cs typeface="Microsoft YaHei" charset="-122"/>
              </a:rPr>
              <a:t>—</a:t>
            </a:r>
            <a:r>
              <a:rPr kumimoji="1"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endParaRPr kumimoji="1" lang="en-US" altLang="zh-CN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SzPct val="50000"/>
              <a:buFont typeface="Wingdings" charset="2"/>
              <a:buChar char="l"/>
            </a:pP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 性能</a:t>
            </a:r>
            <a:endParaRPr kumimoji="1"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SzPct val="50000"/>
              <a:buFont typeface="Wingdings" charset="2"/>
              <a:buChar char="l"/>
            </a:pP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 协议</a:t>
            </a:r>
            <a:endParaRPr kumimoji="1"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SzPct val="50000"/>
              <a:buFont typeface="Wingdings" charset="2"/>
              <a:buChar char="l"/>
            </a:pP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高性能给存储系统带来的挑战</a:t>
            </a:r>
            <a:endParaRPr kumimoji="1"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SzPct val="50000"/>
              <a:buFont typeface="Wingdings" charset="2"/>
              <a:buChar char="l"/>
            </a:pP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用户态</a:t>
            </a: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驱动</a:t>
            </a:r>
            <a:endParaRPr kumimoji="1"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    </a:t>
            </a:r>
            <a:r>
              <a:rPr kumimoji="1" lang="zh-CN" altLang="en-US" sz="20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横跨内存与存储的 </a:t>
            </a:r>
            <a:r>
              <a:rPr kumimoji="1" lang="en-US" altLang="zh-CN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Persistent</a:t>
            </a:r>
            <a:r>
              <a:rPr kumimoji="1" lang="zh-CN" altLang="en-US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Memory</a:t>
            </a:r>
          </a:p>
          <a:p>
            <a:pPr marL="1257300" lvl="2" indent="-342900">
              <a:buSzPct val="50000"/>
              <a:buFont typeface="Wingdings" charset="2"/>
              <a:buChar char="l"/>
            </a:pPr>
            <a:r>
              <a:rPr kumimoji="1" lang="zh-CN" altLang="en-US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内存</a:t>
            </a:r>
            <a:r>
              <a:rPr kumimoji="1" lang="zh-CN" altLang="en-US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、存储与</a:t>
            </a:r>
            <a:r>
              <a:rPr kumimoji="1" lang="en-US" altLang="zh-CN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</a:p>
          <a:p>
            <a:pPr marL="1257300" lvl="2" indent="-342900">
              <a:buSzPct val="50000"/>
              <a:buFont typeface="Wingdings" charset="2"/>
              <a:buChar char="l"/>
            </a:pPr>
            <a:r>
              <a:rPr kumimoji="1" lang="en-US" altLang="zh-CN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编程模型</a:t>
            </a:r>
            <a:endParaRPr kumimoji="1" lang="en-US" altLang="zh-CN" sz="1600" dirty="0" smtClean="0">
              <a:solidFill>
                <a:schemeClr val="bg2">
                  <a:lumMod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57300" lvl="2" indent="-342900">
              <a:buSzPct val="50000"/>
              <a:buFont typeface="Wingdings" charset="2"/>
              <a:buChar char="l"/>
            </a:pPr>
            <a:r>
              <a:rPr kumimoji="1" lang="zh-CN" altLang="en-US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基于</a:t>
            </a:r>
            <a:r>
              <a:rPr kumimoji="1" lang="en-US" altLang="zh-CN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的存储系统设计</a:t>
            </a:r>
            <a:endParaRPr kumimoji="1" lang="en-US" altLang="zh-CN" sz="1600" dirty="0" smtClean="0">
              <a:solidFill>
                <a:schemeClr val="bg2">
                  <a:lumMod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57300" lvl="2" indent="-342900">
              <a:buSzPct val="50000"/>
              <a:buFont typeface="Wingdings" charset="2"/>
              <a:buChar char="l"/>
            </a:pPr>
            <a:r>
              <a:rPr kumimoji="1" lang="en-US" altLang="zh-CN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PMDK</a:t>
            </a:r>
            <a:endParaRPr kumimoji="1" lang="en-US" altLang="zh-CN" sz="1600" dirty="0" smtClean="0">
              <a:solidFill>
                <a:schemeClr val="bg2">
                  <a:lumMod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0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新型分布式存储系统</a:t>
            </a:r>
            <a:endParaRPr kumimoji="1" lang="en-US" altLang="zh-CN" sz="2000" dirty="0" smtClean="0">
              <a:solidFill>
                <a:schemeClr val="bg2">
                  <a:lumMod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SzPct val="100000"/>
              <a:buFont typeface="Arial" charset="0"/>
              <a:buChar char="•"/>
            </a:pPr>
            <a:r>
              <a:rPr kumimoji="1" lang="en-US" altLang="zh-CN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RDMA</a:t>
            </a:r>
          </a:p>
          <a:p>
            <a:pPr marL="1200150" lvl="2" indent="-285750">
              <a:buFont typeface="Arial" charset="0"/>
              <a:buChar char="•"/>
            </a:pPr>
            <a:r>
              <a:rPr kumimoji="1" lang="en-US" altLang="zh-CN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over</a:t>
            </a:r>
            <a:r>
              <a:rPr kumimoji="1" lang="zh-CN" altLang="en-US" sz="1600" dirty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Fabrics</a:t>
            </a:r>
            <a:r>
              <a:rPr kumimoji="1" lang="zh-CN" altLang="en-US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(NVMe</a:t>
            </a:r>
            <a:r>
              <a:rPr kumimoji="1" lang="zh-CN" altLang="en-US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+</a:t>
            </a:r>
            <a:r>
              <a:rPr kumimoji="1" lang="zh-CN" altLang="en-US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RDMA)</a:t>
            </a:r>
            <a:endParaRPr kumimoji="1" lang="en-US" altLang="zh-CN" sz="1600" dirty="0" smtClean="0">
              <a:solidFill>
                <a:schemeClr val="bg2">
                  <a:lumMod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Font typeface="Arial" charset="0"/>
              <a:buChar char="•"/>
            </a:pPr>
            <a:r>
              <a:rPr kumimoji="1" lang="zh-CN" altLang="en-US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分布式</a:t>
            </a:r>
            <a:r>
              <a:rPr kumimoji="1" lang="en-US" altLang="zh-CN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文件系统</a:t>
            </a:r>
            <a:r>
              <a:rPr kumimoji="1" lang="en-US" altLang="zh-CN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Octopus</a:t>
            </a:r>
            <a:r>
              <a:rPr kumimoji="1" lang="zh-CN" altLang="en-US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(PM</a:t>
            </a:r>
            <a:r>
              <a:rPr kumimoji="1" lang="zh-CN" altLang="en-US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+</a:t>
            </a:r>
            <a:r>
              <a:rPr kumimoji="1" lang="zh-CN" altLang="en-US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RDMA)</a:t>
            </a:r>
            <a:endParaRPr kumimoji="1" lang="en-US" altLang="zh-CN" sz="1600" dirty="0" smtClean="0">
              <a:solidFill>
                <a:schemeClr val="bg2">
                  <a:lumMod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69345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936494"/>
              </p:ext>
            </p:extLst>
          </p:nvPr>
        </p:nvGraphicFramePr>
        <p:xfrm>
          <a:off x="1054101" y="4076700"/>
          <a:ext cx="7242584" cy="14096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905"/>
                <a:gridCol w="960253"/>
                <a:gridCol w="2417343"/>
                <a:gridCol w="2807083"/>
              </a:tblGrid>
              <a:tr h="487153">
                <a:tc>
                  <a:txBody>
                    <a:bodyPr/>
                    <a:lstStyle/>
                    <a:p>
                      <a:r>
                        <a:rPr lang="zh-CN" altLang="en-US" sz="2300" b="0" dirty="0" smtClean="0"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协议</a:t>
                      </a:r>
                      <a:endParaRPr lang="zh-CN" altLang="en-US" sz="2300" b="0" dirty="0"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 marL="129396" marR="129396" marT="64698" marB="64698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300" b="0" dirty="0" smtClean="0"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接口</a:t>
                      </a:r>
                    </a:p>
                  </a:txBody>
                  <a:tcPr marL="129396" marR="129396" marT="64698" marB="64698"/>
                </a:tc>
                <a:tc>
                  <a:txBody>
                    <a:bodyPr/>
                    <a:lstStyle/>
                    <a:p>
                      <a:r>
                        <a:rPr lang="zh-CN" altLang="en-US" sz="2300" b="0" dirty="0" smtClean="0"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接口速度</a:t>
                      </a:r>
                      <a:endParaRPr lang="zh-CN" altLang="en-US" sz="2300" b="0" dirty="0"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 marL="129396" marR="129396" marT="64698" marB="64698"/>
                </a:tc>
                <a:tc>
                  <a:txBody>
                    <a:bodyPr/>
                    <a:lstStyle/>
                    <a:p>
                      <a:r>
                        <a:rPr lang="zh-CN" altLang="en-US" sz="2300" b="0" dirty="0" smtClean="0"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存储介质</a:t>
                      </a:r>
                      <a:endParaRPr lang="zh-CN" altLang="en-US" sz="2300" b="0" dirty="0"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 marL="129396" marR="129396" marT="64698" marB="64698"/>
                </a:tc>
              </a:tr>
              <a:tr h="461273">
                <a:tc>
                  <a:txBody>
                    <a:bodyPr/>
                    <a:lstStyle/>
                    <a:p>
                      <a:r>
                        <a:rPr lang="en-US" altLang="zh-CN" sz="2000" b="0" dirty="0" err="1" smtClean="0"/>
                        <a:t>NVMe</a:t>
                      </a:r>
                      <a:endParaRPr lang="zh-CN" altLang="en-US" sz="2000" b="0" dirty="0"/>
                    </a:p>
                  </a:txBody>
                  <a:tcPr marL="129396" marR="129396" marT="64698" marB="64698"/>
                </a:tc>
                <a:tc>
                  <a:txBody>
                    <a:bodyPr/>
                    <a:lstStyle/>
                    <a:p>
                      <a:r>
                        <a:rPr lang="en-US" altLang="zh-CN" sz="2000" b="0" dirty="0" err="1" smtClean="0"/>
                        <a:t>PCIe</a:t>
                      </a:r>
                      <a:endParaRPr lang="zh-CN" altLang="en-US" sz="2000" b="0" dirty="0"/>
                    </a:p>
                  </a:txBody>
                  <a:tcPr marL="129396" marR="129396" marT="64698" marB="64698"/>
                </a:tc>
                <a:tc>
                  <a:txBody>
                    <a:bodyPr/>
                    <a:lstStyle/>
                    <a:p>
                      <a:r>
                        <a:rPr lang="en-US" altLang="zh-CN" sz="2000" b="0" dirty="0" smtClean="0"/>
                        <a:t>3.94</a:t>
                      </a:r>
                      <a:r>
                        <a:rPr lang="zh-CN" altLang="en-US" sz="2000" b="0" baseline="0" dirty="0" smtClean="0"/>
                        <a:t> </a:t>
                      </a:r>
                      <a:r>
                        <a:rPr lang="en-US" altLang="zh-CN" sz="2000" b="0" baseline="0" dirty="0" smtClean="0"/>
                        <a:t>GB/s</a:t>
                      </a:r>
                      <a:r>
                        <a:rPr lang="zh-CN" altLang="en-US" sz="2000" b="0" baseline="0" dirty="0" smtClean="0"/>
                        <a:t> </a:t>
                      </a:r>
                      <a:r>
                        <a:rPr lang="en-US" altLang="zh-CN" sz="2000" b="0" dirty="0" smtClean="0"/>
                        <a:t>(x</a:t>
                      </a:r>
                      <a:r>
                        <a:rPr lang="zh-CN" altLang="en-US" sz="2000" b="0" dirty="0" smtClean="0"/>
                        <a:t> </a:t>
                      </a:r>
                      <a:r>
                        <a:rPr lang="en-US" altLang="zh-CN" sz="2000" b="0" dirty="0" smtClean="0"/>
                        <a:t>4</a:t>
                      </a:r>
                      <a:r>
                        <a:rPr lang="zh-CN" altLang="en-US" sz="2000" b="0" dirty="0" smtClean="0"/>
                        <a:t>形式</a:t>
                      </a:r>
                      <a:r>
                        <a:rPr lang="en-US" altLang="zh-CN" sz="2000" b="0" dirty="0" smtClean="0"/>
                        <a:t>)</a:t>
                      </a:r>
                      <a:endParaRPr lang="zh-CN" altLang="en-US" sz="2000" b="0" dirty="0"/>
                    </a:p>
                  </a:txBody>
                  <a:tcPr marL="129396" marR="129396" marT="64698" marB="64698"/>
                </a:tc>
                <a:tc>
                  <a:txBody>
                    <a:bodyPr/>
                    <a:lstStyle/>
                    <a:p>
                      <a:r>
                        <a:rPr lang="en-US" altLang="zh-CN" sz="2000" b="0" dirty="0" smtClean="0"/>
                        <a:t>NAND</a:t>
                      </a:r>
                      <a:r>
                        <a:rPr lang="zh-CN" altLang="en-US" sz="2000" b="0" dirty="0" smtClean="0"/>
                        <a:t> </a:t>
                      </a:r>
                      <a:r>
                        <a:rPr lang="en-US" altLang="zh-CN" sz="2000" b="0" dirty="0" smtClean="0"/>
                        <a:t>Flash</a:t>
                      </a:r>
                      <a:endParaRPr lang="zh-CN" altLang="en-US" sz="2000" b="0" dirty="0"/>
                    </a:p>
                  </a:txBody>
                  <a:tcPr marL="129396" marR="129396" marT="64698" marB="64698"/>
                </a:tc>
              </a:tr>
              <a:tr h="461273">
                <a:tc>
                  <a:txBody>
                    <a:bodyPr/>
                    <a:lstStyle/>
                    <a:p>
                      <a:r>
                        <a:rPr lang="en-US" altLang="zh-CN" sz="2000" b="0" dirty="0" smtClean="0"/>
                        <a:t>AHCI</a:t>
                      </a:r>
                      <a:endParaRPr lang="zh-CN" altLang="en-US" sz="2000" b="0" dirty="0"/>
                    </a:p>
                  </a:txBody>
                  <a:tcPr marL="129396" marR="129396" marT="64698" marB="64698"/>
                </a:tc>
                <a:tc>
                  <a:txBody>
                    <a:bodyPr/>
                    <a:lstStyle/>
                    <a:p>
                      <a:r>
                        <a:rPr lang="en-US" altLang="zh-CN" sz="2000" b="0" dirty="0" smtClean="0"/>
                        <a:t>SATA</a:t>
                      </a:r>
                      <a:endParaRPr lang="zh-CN" altLang="en-US" sz="2000" b="0" dirty="0"/>
                    </a:p>
                  </a:txBody>
                  <a:tcPr marL="129396" marR="129396" marT="64698" marB="64698"/>
                </a:tc>
                <a:tc>
                  <a:txBody>
                    <a:bodyPr/>
                    <a:lstStyle/>
                    <a:p>
                      <a:r>
                        <a:rPr lang="en-US" altLang="zh-CN" sz="2000" b="0" dirty="0" smtClean="0"/>
                        <a:t>600</a:t>
                      </a:r>
                      <a:r>
                        <a:rPr lang="zh-CN" altLang="en-US" sz="2000" b="0" baseline="0" dirty="0" smtClean="0"/>
                        <a:t> </a:t>
                      </a:r>
                      <a:r>
                        <a:rPr lang="en-US" altLang="zh-CN" sz="2000" b="0" baseline="0" dirty="0" smtClean="0"/>
                        <a:t>MB/s</a:t>
                      </a:r>
                      <a:endParaRPr lang="zh-CN" altLang="en-US" sz="2000" b="0" dirty="0"/>
                    </a:p>
                  </a:txBody>
                  <a:tcPr marL="129396" marR="129396" marT="64698" marB="64698"/>
                </a:tc>
                <a:tc>
                  <a:txBody>
                    <a:bodyPr/>
                    <a:lstStyle/>
                    <a:p>
                      <a:r>
                        <a:rPr lang="en-US" altLang="zh-CN" sz="2000" b="0" dirty="0" smtClean="0"/>
                        <a:t>NAND</a:t>
                      </a:r>
                      <a:r>
                        <a:rPr lang="zh-CN" altLang="en-US" sz="2000" b="0" dirty="0" smtClean="0"/>
                        <a:t> </a:t>
                      </a:r>
                      <a:r>
                        <a:rPr lang="en-US" altLang="zh-CN" sz="2000" b="0" dirty="0" smtClean="0"/>
                        <a:t>Flash</a:t>
                      </a:r>
                      <a:r>
                        <a:rPr lang="zh-CN" altLang="en-US" sz="2000" b="0" dirty="0" smtClean="0"/>
                        <a:t> </a:t>
                      </a:r>
                      <a:r>
                        <a:rPr lang="en-US" altLang="zh-CN" sz="2000" b="0" dirty="0" smtClean="0"/>
                        <a:t>/</a:t>
                      </a:r>
                      <a:r>
                        <a:rPr lang="zh-CN" altLang="en-US" sz="2000" b="0" dirty="0" smtClean="0"/>
                        <a:t> </a:t>
                      </a:r>
                      <a:r>
                        <a:rPr lang="en-US" altLang="zh-CN" sz="2000" b="0" dirty="0" smtClean="0"/>
                        <a:t>3D</a:t>
                      </a:r>
                      <a:r>
                        <a:rPr lang="zh-CN" altLang="en-US" sz="2000" b="0" baseline="0" dirty="0" smtClean="0"/>
                        <a:t> </a:t>
                      </a:r>
                      <a:r>
                        <a:rPr lang="en-US" altLang="zh-CN" sz="2000" b="0" baseline="0" dirty="0" err="1" smtClean="0"/>
                        <a:t>XPoint</a:t>
                      </a:r>
                      <a:endParaRPr lang="zh-CN" altLang="en-US" sz="2000" b="0" dirty="0"/>
                    </a:p>
                  </a:txBody>
                  <a:tcPr marL="129396" marR="129396" marT="64698" marB="64698"/>
                </a:tc>
              </a:tr>
            </a:tbl>
          </a:graphicData>
        </a:graphic>
      </p:graphicFrame>
      <p:grpSp>
        <p:nvGrpSpPr>
          <p:cNvPr id="6" name="组 5"/>
          <p:cNvGrpSpPr/>
          <p:nvPr/>
        </p:nvGrpSpPr>
        <p:grpSpPr>
          <a:xfrm>
            <a:off x="2001635" y="1961822"/>
            <a:ext cx="1528965" cy="1620610"/>
            <a:chOff x="2001635" y="1530022"/>
            <a:chExt cx="1528965" cy="1620610"/>
          </a:xfrm>
        </p:grpSpPr>
        <p:sp>
          <p:nvSpPr>
            <p:cNvPr id="5" name="文本框 4"/>
            <p:cNvSpPr txBox="1"/>
            <p:nvPr/>
          </p:nvSpPr>
          <p:spPr>
            <a:xfrm>
              <a:off x="2235200" y="2781300"/>
              <a:ext cx="1295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 smtClean="0"/>
                <a:t>SATA</a:t>
              </a:r>
              <a:r>
                <a:rPr kumimoji="1" lang="zh-CN" altLang="en-US" dirty="0" smtClean="0"/>
                <a:t> </a:t>
              </a:r>
              <a:r>
                <a:rPr kumimoji="1" lang="en-US" altLang="zh-CN" dirty="0" smtClean="0"/>
                <a:t>SSD</a:t>
              </a:r>
              <a:endParaRPr kumimoji="1" lang="zh-CN" altLang="en-US" dirty="0"/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1635" y="1530022"/>
              <a:ext cx="1410048" cy="1410048"/>
            </a:xfrm>
            <a:prstGeom prst="rect">
              <a:avLst/>
            </a:prstGeom>
          </p:spPr>
        </p:pic>
      </p:grpSp>
      <p:grpSp>
        <p:nvGrpSpPr>
          <p:cNvPr id="7" name="组 6"/>
          <p:cNvGrpSpPr/>
          <p:nvPr/>
        </p:nvGrpSpPr>
        <p:grpSpPr>
          <a:xfrm>
            <a:off x="4622800" y="1995682"/>
            <a:ext cx="2353502" cy="1561350"/>
            <a:chOff x="4428298" y="1576582"/>
            <a:chExt cx="2353502" cy="1561350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28298" y="1576582"/>
              <a:ext cx="2233810" cy="1256518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5054600" y="2768600"/>
              <a:ext cx="172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 err="1" smtClean="0"/>
                <a:t>PCIe</a:t>
              </a:r>
              <a:r>
                <a:rPr kumimoji="1" lang="zh-CN" altLang="en-US" dirty="0" smtClean="0"/>
                <a:t> </a:t>
              </a:r>
              <a:r>
                <a:rPr kumimoji="1" lang="en-US" altLang="zh-CN" dirty="0" smtClean="0"/>
                <a:t>SSD</a:t>
              </a:r>
              <a:endParaRPr kumimoji="1" lang="zh-CN" altLang="en-US" dirty="0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654258" y="589775"/>
            <a:ext cx="431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性能 </a:t>
            </a:r>
            <a:r>
              <a:rPr kumimoji="1" lang="mr-IN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–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高带宽</a:t>
            </a:r>
            <a:endParaRPr kumimoji="1" lang="en-US" altLang="zh-CN" sz="2400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809995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4258" y="589775"/>
            <a:ext cx="3689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性能 </a:t>
            </a:r>
            <a:r>
              <a:rPr kumimoji="1" lang="mr-IN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–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低延迟</a:t>
            </a:r>
            <a:endParaRPr kumimoji="1" lang="en-US" altLang="zh-CN" sz="2400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29000" y="6350001"/>
            <a:ext cx="462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 smtClean="0"/>
              <a:t>图摘自</a:t>
            </a:r>
            <a:r>
              <a:rPr kumimoji="1" lang="en-US" altLang="zh-CN" sz="1200" dirty="0" smtClean="0"/>
              <a:t>《</a:t>
            </a:r>
            <a:r>
              <a:rPr kumimoji="1" lang="zh-CN" altLang="en-US" sz="1200" dirty="0" smtClean="0"/>
              <a:t>深入浅出</a:t>
            </a:r>
            <a:r>
              <a:rPr kumimoji="1" lang="en-US" altLang="zh-CN" sz="1200" dirty="0" smtClean="0"/>
              <a:t>SSD</a:t>
            </a:r>
            <a:r>
              <a:rPr kumimoji="1" lang="zh-CN" altLang="en-US" sz="1200" dirty="0" smtClean="0"/>
              <a:t>：固态存储核心技术、原理与实战</a:t>
            </a:r>
            <a:r>
              <a:rPr kumimoji="1" lang="en-US" altLang="zh-CN" sz="1200" dirty="0" smtClean="0"/>
              <a:t>》</a:t>
            </a:r>
            <a:endParaRPr kumimoji="1" lang="zh-CN" altLang="en-US" sz="12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460499"/>
            <a:ext cx="6910110" cy="467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57744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4258" y="589775"/>
            <a:ext cx="3219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性能 </a:t>
            </a:r>
            <a:r>
              <a:rPr kumimoji="1" lang="mr-IN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–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高并发</a:t>
            </a:r>
            <a:endParaRPr kumimoji="1" lang="en-US" altLang="zh-CN" sz="2400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374" y="1390649"/>
            <a:ext cx="5153026" cy="408688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66800" y="5473700"/>
            <a:ext cx="7586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/>
              <a:t>NAND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SATA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SSD</a:t>
            </a:r>
            <a:r>
              <a:rPr kumimoji="1" lang="zh-CN" altLang="en-US" dirty="0" smtClean="0"/>
              <a:t> 、</a:t>
            </a:r>
            <a:r>
              <a:rPr kumimoji="1" lang="en-US" altLang="zh-CN" dirty="0" smtClean="0"/>
              <a:t>3D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XPoint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NVMe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SSD</a:t>
            </a:r>
            <a:r>
              <a:rPr kumimoji="1" lang="zh-CN" altLang="en-US" dirty="0" smtClean="0"/>
              <a:t>和内存模拟盘的</a:t>
            </a:r>
            <a:r>
              <a:rPr kumimoji="1" lang="en-US" altLang="zh-CN" dirty="0" smtClean="0"/>
              <a:t>4K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IOPS</a:t>
            </a:r>
            <a:r>
              <a:rPr kumimoji="1" lang="zh-CN" altLang="en-US" dirty="0" smtClean="0"/>
              <a:t>性能对比。</a:t>
            </a:r>
            <a:r>
              <a:rPr kumimoji="1" lang="en-US" altLang="zh-CN" baseline="30000" dirty="0" smtClean="0"/>
              <a:t>[1]</a:t>
            </a:r>
            <a:endParaRPr kumimoji="1" lang="zh-CN" altLang="en-US" baseline="30000" dirty="0"/>
          </a:p>
        </p:txBody>
      </p:sp>
      <p:sp>
        <p:nvSpPr>
          <p:cNvPr id="9" name="矩形 8"/>
          <p:cNvSpPr/>
          <p:nvPr/>
        </p:nvSpPr>
        <p:spPr>
          <a:xfrm>
            <a:off x="3086100" y="6196737"/>
            <a:ext cx="58293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6400" indent="-406400"/>
            <a:r>
              <a:rPr lang="zh-CN" altLang="en-US" sz="1100" dirty="0" smtClean="0"/>
              <a:t>图</a:t>
            </a:r>
            <a:r>
              <a:rPr lang="zh-CN" altLang="en-US" sz="1100" smtClean="0"/>
              <a:t>来自：</a:t>
            </a:r>
            <a:r>
              <a:rPr lang="en-US" altLang="zh-CN" sz="1100" dirty="0" smtClean="0"/>
              <a:t>J</a:t>
            </a:r>
            <a:r>
              <a:rPr lang="en-US" altLang="zh-CN" sz="1100" dirty="0" smtClean="0"/>
              <a:t>.</a:t>
            </a:r>
            <a:r>
              <a:rPr lang="zh-CN" altLang="en-US" sz="1100" dirty="0" smtClean="0"/>
              <a:t> </a:t>
            </a:r>
            <a:r>
              <a:rPr lang="en-US" altLang="zh-CN" sz="1100" dirty="0" smtClean="0"/>
              <a:t>Zhang</a:t>
            </a:r>
            <a:r>
              <a:rPr lang="zh-CN" altLang="en-US" sz="1100" dirty="0" smtClean="0"/>
              <a:t> </a:t>
            </a:r>
            <a:r>
              <a:rPr lang="en-US" altLang="zh-CN" sz="1100" dirty="0" smtClean="0"/>
              <a:t>et</a:t>
            </a:r>
            <a:r>
              <a:rPr lang="zh-CN" altLang="en-US" sz="1100" dirty="0" smtClean="0"/>
              <a:t> </a:t>
            </a:r>
            <a:r>
              <a:rPr lang="en-US" altLang="zh-CN" sz="1100" dirty="0" smtClean="0"/>
              <a:t>al.</a:t>
            </a:r>
            <a:r>
              <a:rPr lang="zh-CN" altLang="en-US" sz="1100" dirty="0" smtClean="0"/>
              <a:t> </a:t>
            </a:r>
            <a:r>
              <a:rPr lang="en-US" altLang="zh-CN" sz="1100" dirty="0"/>
              <a:t> </a:t>
            </a:r>
            <a:r>
              <a:rPr lang="en-US" altLang="zh-CN" sz="1100" dirty="0" smtClean="0"/>
              <a:t>“Performance </a:t>
            </a:r>
            <a:r>
              <a:rPr lang="en-US" altLang="zh-CN" sz="1100" dirty="0"/>
              <a:t>Analysis of 3D </a:t>
            </a:r>
            <a:r>
              <a:rPr lang="en-US" altLang="zh-CN" sz="1100" dirty="0" err="1"/>
              <a:t>XPoint</a:t>
            </a:r>
            <a:r>
              <a:rPr lang="en-US" altLang="zh-CN" sz="1100" dirty="0"/>
              <a:t> SSDs in Virtualized and </a:t>
            </a:r>
            <a:r>
              <a:rPr lang="en-US" altLang="zh-CN" sz="1100" dirty="0" smtClean="0"/>
              <a:t>non-Virtualized</a:t>
            </a:r>
            <a:r>
              <a:rPr lang="zh-CN" altLang="en-US" sz="1100" dirty="0"/>
              <a:t> </a:t>
            </a:r>
            <a:r>
              <a:rPr lang="en-US" altLang="zh-CN" sz="1100" dirty="0" smtClean="0"/>
              <a:t>Environments</a:t>
            </a:r>
            <a:r>
              <a:rPr lang="en-US" altLang="zh-CN" sz="1100" dirty="0"/>
              <a:t>,” </a:t>
            </a:r>
            <a:r>
              <a:rPr lang="en-US" altLang="zh-CN" sz="1100" i="1" dirty="0" smtClean="0"/>
              <a:t>2018 </a:t>
            </a:r>
            <a:r>
              <a:rPr lang="en-US" altLang="zh-CN" sz="1100" i="1" dirty="0"/>
              <a:t>IEEE </a:t>
            </a:r>
            <a:r>
              <a:rPr lang="en-US" altLang="zh-CN" sz="1100" i="1" dirty="0" smtClean="0"/>
              <a:t>24th </a:t>
            </a:r>
            <a:r>
              <a:rPr lang="en-US" altLang="zh-CN" sz="1100" i="1" dirty="0"/>
              <a:t>Int. Conf. Parallel </a:t>
            </a:r>
            <a:r>
              <a:rPr lang="en-US" altLang="zh-CN" sz="1100" i="1" dirty="0" err="1"/>
              <a:t>Distrib</a:t>
            </a:r>
            <a:r>
              <a:rPr lang="en-US" altLang="zh-CN" sz="1100" i="1" dirty="0"/>
              <a:t>. Syst.</a:t>
            </a:r>
            <a:r>
              <a:rPr lang="en-US" altLang="zh-CN" sz="1100" dirty="0"/>
              <a:t>, pp</a:t>
            </a:r>
            <a:r>
              <a:rPr lang="en-US" altLang="zh-CN" sz="1100" dirty="0" smtClean="0"/>
              <a:t>.</a:t>
            </a:r>
            <a:r>
              <a:rPr lang="zh-CN" altLang="en-US" sz="1100" dirty="0" smtClean="0"/>
              <a:t> </a:t>
            </a:r>
            <a:r>
              <a:rPr lang="en-US" altLang="zh-CN" sz="1100" dirty="0" smtClean="0"/>
              <a:t>51-60, 2018.</a:t>
            </a:r>
            <a:endParaRPr lang="en-US" altLang="zh-CN" sz="11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1987861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4258" y="589775"/>
            <a:ext cx="4781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24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协议 </a:t>
            </a:r>
            <a:r>
              <a:rPr kumimoji="1" lang="mr-IN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–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多队列</a:t>
            </a:r>
            <a:endParaRPr kumimoji="1" lang="en-US" altLang="zh-CN" sz="2400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51903"/>
              </p:ext>
            </p:extLst>
          </p:nvPr>
        </p:nvGraphicFramePr>
        <p:xfrm>
          <a:off x="2286000" y="2159001"/>
          <a:ext cx="4787900" cy="1150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259"/>
                <a:gridCol w="1688841"/>
                <a:gridCol w="1828800"/>
              </a:tblGrid>
              <a:tr h="320954">
                <a:tc>
                  <a:txBody>
                    <a:bodyPr/>
                    <a:lstStyle/>
                    <a:p>
                      <a:r>
                        <a:rPr lang="zh-CN" altLang="en-US" sz="1800" b="0" dirty="0" smtClean="0"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协议</a:t>
                      </a:r>
                      <a:endParaRPr lang="zh-CN" altLang="en-US" sz="1800" b="0" dirty="0"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 marL="129396" marR="129396" marT="64698" marB="64698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dirty="0" smtClean="0"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最大队列个数</a:t>
                      </a:r>
                      <a:endParaRPr lang="zh-CN" altLang="en-US" sz="1800" b="0" dirty="0" smtClean="0"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 marL="129396" marR="129396" marT="64698" marB="64698"/>
                </a:tc>
                <a:tc>
                  <a:txBody>
                    <a:bodyPr/>
                    <a:lstStyle/>
                    <a:p>
                      <a:r>
                        <a:rPr lang="zh-CN" altLang="en-US" sz="1800" b="0" dirty="0" smtClean="0"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最大队列深度</a:t>
                      </a:r>
                      <a:endParaRPr lang="zh-CN" altLang="en-US" sz="1800" b="0" dirty="0"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 marL="129396" marR="129396" marT="64698" marB="64698"/>
                </a:tc>
              </a:tr>
              <a:tr h="296722">
                <a:tc>
                  <a:txBody>
                    <a:bodyPr/>
                    <a:lstStyle/>
                    <a:p>
                      <a:r>
                        <a:rPr lang="en-US" altLang="zh-CN" sz="1600" b="0" dirty="0" err="1" smtClean="0"/>
                        <a:t>NVMe</a:t>
                      </a:r>
                      <a:endParaRPr lang="zh-CN" altLang="en-US" sz="1600" b="0" dirty="0"/>
                    </a:p>
                  </a:txBody>
                  <a:tcPr marL="129396" marR="129396" marT="64698" marB="64698"/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 smtClean="0"/>
                        <a:t>65536</a:t>
                      </a:r>
                      <a:endParaRPr lang="zh-CN" altLang="en-US" sz="1600" b="0" dirty="0"/>
                    </a:p>
                  </a:txBody>
                  <a:tcPr marL="129396" marR="129396" marT="64698" marB="64698"/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 smtClean="0"/>
                        <a:t>65536</a:t>
                      </a:r>
                      <a:endParaRPr lang="zh-CN" altLang="en-US" sz="1600" b="0" dirty="0"/>
                    </a:p>
                  </a:txBody>
                  <a:tcPr marL="129396" marR="129396" marT="64698" marB="64698"/>
                </a:tc>
              </a:tr>
              <a:tr h="296722">
                <a:tc>
                  <a:txBody>
                    <a:bodyPr/>
                    <a:lstStyle/>
                    <a:p>
                      <a:r>
                        <a:rPr lang="en-US" altLang="zh-CN" sz="1600" b="0" dirty="0" smtClean="0"/>
                        <a:t>AHCI</a:t>
                      </a:r>
                      <a:endParaRPr lang="zh-CN" altLang="en-US" sz="1600" b="0" dirty="0"/>
                    </a:p>
                  </a:txBody>
                  <a:tcPr marL="129396" marR="129396" marT="64698" marB="64698"/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 smtClean="0"/>
                        <a:t>1</a:t>
                      </a:r>
                      <a:endParaRPr lang="zh-CN" altLang="en-US" sz="1600" b="0" dirty="0"/>
                    </a:p>
                  </a:txBody>
                  <a:tcPr marL="129396" marR="129396" marT="64698" marB="64698"/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 smtClean="0"/>
                        <a:t>32</a:t>
                      </a:r>
                      <a:endParaRPr lang="zh-CN" altLang="en-US" sz="1600" b="0" dirty="0"/>
                    </a:p>
                  </a:txBody>
                  <a:tcPr marL="129396" marR="129396" marT="64698" marB="64698"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35000" y="1447800"/>
            <a:ext cx="4573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 比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AHCI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的完成队列更多、更深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：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85800" y="3721100"/>
            <a:ext cx="43307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 的队列分为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4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种：</a:t>
            </a:r>
            <a:r>
              <a:rPr kumimoji="1"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endParaRPr kumimoji="1" lang="en-US" altLang="zh-CN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	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I/O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SQ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(Submission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Queue)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endParaRPr kumimoji="1" lang="en-US" altLang="zh-CN" sz="1600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	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I/O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CQ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(Completion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Queue)</a:t>
            </a:r>
          </a:p>
          <a:p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	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Admin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SQ</a:t>
            </a:r>
          </a:p>
          <a:p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	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Admin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CQ</a:t>
            </a:r>
          </a:p>
        </p:txBody>
      </p:sp>
    </p:spTree>
    <p:extLst>
      <p:ext uri="{BB962C8B-B14F-4D97-AF65-F5344CB8AC3E}">
        <p14:creationId xmlns:p14="http://schemas.microsoft.com/office/powerpoint/2010/main" val="174044937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4258" y="589775"/>
            <a:ext cx="4781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24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协议 </a:t>
            </a:r>
            <a:r>
              <a:rPr kumimoji="1" lang="mr-IN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–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多队列</a:t>
            </a:r>
            <a:endParaRPr kumimoji="1" lang="en-US" altLang="zh-CN" sz="2400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429000" y="6350001"/>
            <a:ext cx="462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 smtClean="0"/>
              <a:t>图摘自</a:t>
            </a:r>
            <a:r>
              <a:rPr kumimoji="1" lang="en-US" altLang="zh-CN" sz="1200" dirty="0" smtClean="0"/>
              <a:t>《</a:t>
            </a:r>
            <a:r>
              <a:rPr kumimoji="1" lang="zh-CN" altLang="en-US" sz="1200" dirty="0" smtClean="0"/>
              <a:t>深入浅出</a:t>
            </a:r>
            <a:r>
              <a:rPr kumimoji="1" lang="en-US" altLang="zh-CN" sz="1200" dirty="0" smtClean="0"/>
              <a:t>SSD</a:t>
            </a:r>
            <a:r>
              <a:rPr kumimoji="1" lang="zh-CN" altLang="en-US" sz="1200" dirty="0" smtClean="0"/>
              <a:t>：固态存储核心技术、原理与实战</a:t>
            </a:r>
            <a:r>
              <a:rPr kumimoji="1" lang="en-US" altLang="zh-CN" sz="1200" dirty="0" smtClean="0"/>
              <a:t>》</a:t>
            </a:r>
            <a:endParaRPr kumimoji="1" lang="zh-CN" altLang="en-US" sz="1200" dirty="0"/>
          </a:p>
        </p:txBody>
      </p:sp>
      <p:sp>
        <p:nvSpPr>
          <p:cNvPr id="10" name="文本框 9"/>
          <p:cNvSpPr txBox="1"/>
          <p:nvPr/>
        </p:nvSpPr>
        <p:spPr>
          <a:xfrm>
            <a:off x="673100" y="4483100"/>
            <a:ext cx="6994222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Admin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SQ/CQ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 每个系统只有一对。</a:t>
            </a:r>
            <a:endParaRPr kumimoji="1" lang="en-US" altLang="zh-CN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I/O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SQ/CQ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可以最多有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65535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对：</a:t>
            </a:r>
            <a:endParaRPr kumimoji="1" lang="en-US" altLang="zh-CN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	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每个物理核最多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1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个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CQ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；</a:t>
            </a:r>
            <a:endParaRPr kumimoji="1" lang="en-US" altLang="zh-CN" sz="1600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      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	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 但每个核可以有多个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SQ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，因此可以实现线程粒度的不同优先级。</a:t>
            </a:r>
            <a:endParaRPr kumimoji="1" lang="en-US" altLang="zh-CN" sz="1600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1" y="1435100"/>
            <a:ext cx="6633778" cy="28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0793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4258" y="589775"/>
            <a:ext cx="4781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24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协议 </a:t>
            </a:r>
            <a:r>
              <a:rPr kumimoji="1" lang="mr-IN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–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命令处理流程</a:t>
            </a:r>
            <a:endParaRPr kumimoji="1" lang="en-US" altLang="zh-CN" sz="2400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429000" y="6350001"/>
            <a:ext cx="462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 smtClean="0"/>
              <a:t>摘自</a:t>
            </a:r>
            <a:r>
              <a:rPr kumimoji="1" lang="en-US" altLang="zh-CN" sz="1200" dirty="0" smtClean="0"/>
              <a:t>《</a:t>
            </a:r>
            <a:r>
              <a:rPr kumimoji="1" lang="zh-CN" altLang="en-US" sz="1200" dirty="0" smtClean="0"/>
              <a:t>深入浅出</a:t>
            </a:r>
            <a:r>
              <a:rPr kumimoji="1" lang="en-US" altLang="zh-CN" sz="1200" dirty="0" smtClean="0"/>
              <a:t>SSD</a:t>
            </a:r>
            <a:r>
              <a:rPr kumimoji="1" lang="zh-CN" altLang="en-US" sz="1200" dirty="0" smtClean="0"/>
              <a:t>：固态存储核心技术、原理与实战</a:t>
            </a:r>
            <a:r>
              <a:rPr kumimoji="1" lang="en-US" altLang="zh-CN" sz="1200" dirty="0" smtClean="0"/>
              <a:t>》</a:t>
            </a:r>
            <a:endParaRPr kumimoji="1" lang="zh-CN" altLang="en-US" sz="1200" dirty="0"/>
          </a:p>
        </p:txBody>
      </p:sp>
      <p:sp>
        <p:nvSpPr>
          <p:cNvPr id="10" name="文本框 9"/>
          <p:cNvSpPr txBox="1"/>
          <p:nvPr/>
        </p:nvSpPr>
        <p:spPr>
          <a:xfrm>
            <a:off x="1181101" y="4356100"/>
            <a:ext cx="68452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主机写命令到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SQ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； </a:t>
            </a:r>
            <a:endParaRPr kumimoji="1" lang="en-US" altLang="zh-CN" sz="1400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主机写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SQ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的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DB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，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通知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SSD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取指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； </a:t>
            </a:r>
            <a:endParaRPr kumimoji="1" lang="en-US" altLang="zh-CN" sz="1400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SSD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收到通知后，到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SQ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中取指；</a:t>
            </a:r>
            <a:endParaRPr kumimoji="1" lang="en-US" altLang="zh-CN" sz="1400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SSD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执行指令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； </a:t>
            </a:r>
            <a:endParaRPr kumimoji="1" lang="en-US" altLang="zh-CN" sz="1400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指令执行完成，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SSD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往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CQ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中写指令执行结果；</a:t>
            </a:r>
            <a:endParaRPr kumimoji="1" lang="en-US" altLang="zh-CN" sz="1400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然后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SSD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发中断通知主机指令完成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； </a:t>
            </a:r>
            <a:endParaRPr kumimoji="1" lang="en-US" altLang="zh-CN" sz="1400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收到中断，主机处理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CQ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，查看指令完成状态</a:t>
            </a:r>
            <a:r>
              <a:rPr kumimoji="1" lang="zh-CN" altLang="en-US" sz="1400" dirty="0">
                <a:latin typeface="Microsoft YaHei" charset="-122"/>
                <a:ea typeface="Microsoft YaHei" charset="-122"/>
                <a:cs typeface="Microsoft YaHei" charset="-122"/>
              </a:rPr>
              <a:t>； </a:t>
            </a:r>
            <a:endParaRPr kumimoji="1" lang="en-US" altLang="zh-CN" sz="1400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主机处理完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CQ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中的指令执行结果，通过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DB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回复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SSD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：指令执行已完！</a:t>
            </a:r>
            <a:endParaRPr kumimoji="1" lang="en-US" altLang="zh-CN" sz="1400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1" y="1435100"/>
            <a:ext cx="6633778" cy="28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6216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785" y="1478643"/>
            <a:ext cx="2438400" cy="4749800"/>
          </a:xfrm>
          <a:prstGeom prst="rect">
            <a:avLst/>
          </a:prstGeom>
        </p:spPr>
      </p:pic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786" y="1480054"/>
            <a:ext cx="2438400" cy="6477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522" y="2162267"/>
            <a:ext cx="2445026" cy="2040341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3661138" y="1587137"/>
            <a:ext cx="51399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dirty="0" smtClean="0">
                <a:latin typeface="+mn-lt"/>
                <a:ea typeface="Microsoft YaHei" charset="-122"/>
                <a:cs typeface="Microsoft YaHei" charset="-122"/>
              </a:rPr>
              <a:t>操作系统的存储</a:t>
            </a:r>
            <a:r>
              <a:rPr kumimoji="1" lang="en-US" altLang="zh-CN" sz="2000" dirty="0" smtClean="0">
                <a:latin typeface="+mn-lt"/>
                <a:ea typeface="Microsoft YaHei" charset="-122"/>
                <a:cs typeface="Microsoft YaHei" charset="-122"/>
              </a:rPr>
              <a:t>IO</a:t>
            </a:r>
            <a:r>
              <a:rPr kumimoji="1" lang="zh-CN" altLang="en-US" sz="2000" dirty="0" smtClean="0">
                <a:latin typeface="+mn-lt"/>
                <a:ea typeface="Microsoft YaHei" charset="-122"/>
                <a:cs typeface="Microsoft YaHei" charset="-122"/>
              </a:rPr>
              <a:t>栈本身就很复杂：</a:t>
            </a:r>
            <a:endParaRPr kumimoji="1" lang="en-US" altLang="zh-CN" sz="2000" dirty="0" smtClean="0">
              <a:latin typeface="+mn-lt"/>
              <a:ea typeface="Microsoft YaHei" charset="-122"/>
              <a:cs typeface="Microsoft YaHei" charset="-122"/>
            </a:endParaRPr>
          </a:p>
          <a:p>
            <a:pPr marL="742950" lvl="1" indent="-285750">
              <a:buFont typeface="Arial" charset="0"/>
              <a:buChar char="•"/>
            </a:pPr>
            <a:r>
              <a:rPr kumimoji="1" lang="en-US" altLang="zh-CN" dirty="0" smtClean="0">
                <a:latin typeface="+mn-lt"/>
                <a:ea typeface="Microsoft YaHei" charset="-122"/>
                <a:cs typeface="Microsoft YaHei" charset="-122"/>
              </a:rPr>
              <a:t>I/O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</a:rPr>
              <a:t>请求会经过：</a:t>
            </a:r>
            <a:r>
              <a:rPr kumimoji="1" lang="en-US" altLang="zh-CN" dirty="0" smtClean="0">
                <a:latin typeface="+mn-lt"/>
                <a:ea typeface="Microsoft YaHei" charset="-122"/>
                <a:cs typeface="Microsoft YaHei" charset="-122"/>
              </a:rPr>
              <a:t>application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 smtClean="0">
                <a:latin typeface="+mn-lt"/>
                <a:ea typeface="Microsoft YaHei" charset="-122"/>
                <a:cs typeface="Microsoft YaHei" charset="-122"/>
              </a:rPr>
              <a:t>layer,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 smtClean="0">
                <a:latin typeface="+mn-lt"/>
                <a:ea typeface="Microsoft YaHei" charset="-122"/>
                <a:cs typeface="Microsoft YaHei" charset="-122"/>
              </a:rPr>
              <a:t>file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 smtClean="0">
                <a:latin typeface="+mn-lt"/>
                <a:ea typeface="Microsoft YaHei" charset="-122"/>
                <a:cs typeface="Microsoft YaHei" charset="-122"/>
              </a:rPr>
              <a:t>system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 smtClean="0">
                <a:latin typeface="+mn-lt"/>
                <a:ea typeface="Microsoft YaHei" charset="-122"/>
                <a:cs typeface="Microsoft YaHei" charset="-122"/>
              </a:rPr>
              <a:t>layers,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 smtClean="0">
                <a:latin typeface="+mn-lt"/>
                <a:ea typeface="Microsoft YaHei" charset="-122"/>
                <a:cs typeface="Microsoft YaHei" charset="-122"/>
              </a:rPr>
              <a:t>block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 smtClean="0">
                <a:latin typeface="+mn-lt"/>
                <a:ea typeface="Microsoft YaHei" charset="-122"/>
                <a:cs typeface="Microsoft YaHei" charset="-122"/>
              </a:rPr>
              <a:t>I/O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 smtClean="0">
                <a:latin typeface="+mn-lt"/>
                <a:ea typeface="Microsoft YaHei" charset="-122"/>
                <a:cs typeface="Microsoft YaHei" charset="-122"/>
              </a:rPr>
              <a:t>layers,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 smtClean="0">
                <a:latin typeface="+mn-lt"/>
                <a:ea typeface="Microsoft YaHei" charset="-122"/>
                <a:cs typeface="Microsoft YaHei" charset="-122"/>
              </a:rPr>
              <a:t>device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 smtClean="0">
                <a:latin typeface="+mn-lt"/>
                <a:ea typeface="Microsoft YaHei" charset="-122"/>
                <a:cs typeface="Microsoft YaHei" charset="-122"/>
              </a:rPr>
              <a:t>driver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</a:rPr>
              <a:t>最终到达硬件。 </a:t>
            </a:r>
            <a:endParaRPr kumimoji="1" lang="en-US" altLang="zh-CN" dirty="0">
              <a:latin typeface="+mn-lt"/>
              <a:ea typeface="Microsoft YaHei" charset="-122"/>
              <a:cs typeface="Microsoft YaHei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652601" y="3451748"/>
            <a:ext cx="507229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dirty="0" smtClean="0">
                <a:latin typeface="Microsoft YaHei" charset="-122"/>
                <a:ea typeface="Microsoft YaHei" charset="-122"/>
                <a:cs typeface="Microsoft YaHei" charset="-122"/>
              </a:rPr>
              <a:t>IO</a:t>
            </a:r>
            <a:r>
              <a:rPr kumimoji="1"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路径在虚拟化环境中基本上翻倍了：</a:t>
            </a:r>
            <a:endParaRPr kumimoji="1" lang="en-US" altLang="zh-CN" sz="2000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742950" lvl="1" indent="-285750">
              <a:buFont typeface="Arial" charset="0"/>
              <a:buChar char="•"/>
            </a:pP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首先，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QEMU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等虚拟化管理器引入了很多层次用于模拟磁盘设备或管理镜像文件；</a:t>
            </a:r>
            <a:endParaRPr kumimoji="1" lang="en-US" altLang="zh-CN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742950" lvl="1" indent="-285750">
              <a:buFont typeface="Arial" charset="0"/>
              <a:buChar char="•"/>
            </a:pP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其次，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Guest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OS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有引入了额外的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block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layers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和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file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system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layers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。</a:t>
            </a:r>
            <a:endParaRPr kumimoji="1" lang="en-US" altLang="zh-CN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2" name="左大括号 21"/>
          <p:cNvSpPr/>
          <p:nvPr/>
        </p:nvSpPr>
        <p:spPr>
          <a:xfrm>
            <a:off x="731521" y="2529528"/>
            <a:ext cx="115503" cy="1436080"/>
          </a:xfrm>
          <a:prstGeom prst="leftBrace">
            <a:avLst>
              <a:gd name="adj1" fmla="val 28333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2000"/>
          </a:p>
        </p:txBody>
      </p:sp>
      <p:sp>
        <p:nvSpPr>
          <p:cNvPr id="18" name="文本框 17"/>
          <p:cNvSpPr txBox="1"/>
          <p:nvPr/>
        </p:nvSpPr>
        <p:spPr>
          <a:xfrm>
            <a:off x="0" y="3074288"/>
            <a:ext cx="87075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00" b="1" dirty="0" smtClean="0"/>
              <a:t>I/O</a:t>
            </a:r>
            <a:r>
              <a:rPr kumimoji="1" lang="zh-CN" altLang="en-US" sz="900" b="1" dirty="0" smtClean="0"/>
              <a:t> </a:t>
            </a:r>
            <a:r>
              <a:rPr kumimoji="1" lang="en-US" altLang="zh-CN" sz="900" b="1" dirty="0" smtClean="0"/>
              <a:t>Layers</a:t>
            </a:r>
          </a:p>
          <a:p>
            <a:r>
              <a:rPr kumimoji="1" lang="en-US" altLang="zh-CN" sz="900" b="1" dirty="0" smtClean="0"/>
              <a:t>Introduced</a:t>
            </a:r>
            <a:r>
              <a:rPr kumimoji="1" lang="zh-CN" altLang="en-US" sz="900" b="1" dirty="0" smtClean="0"/>
              <a:t> </a:t>
            </a:r>
            <a:r>
              <a:rPr kumimoji="1" lang="en-US" altLang="zh-CN" sz="900" b="1" dirty="0" smtClean="0"/>
              <a:t>by</a:t>
            </a:r>
          </a:p>
          <a:p>
            <a:r>
              <a:rPr kumimoji="1" lang="en-US" altLang="zh-CN" sz="900" b="1" dirty="0" smtClean="0"/>
              <a:t>virtualization</a:t>
            </a:r>
            <a:endParaRPr kumimoji="1" lang="zh-CN" altLang="en-US" sz="9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654258" y="589775"/>
            <a:ext cx="4781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Microsoft YaHei" charset="-122"/>
                <a:ea typeface="Microsoft YaHei" charset="-122"/>
                <a:cs typeface="Microsoft YaHei" charset="-122"/>
              </a:rPr>
              <a:t>高性能给存储系统带来的挑战</a:t>
            </a:r>
          </a:p>
        </p:txBody>
      </p:sp>
    </p:spTree>
    <p:extLst>
      <p:ext uri="{BB962C8B-B14F-4D97-AF65-F5344CB8AC3E}">
        <p14:creationId xmlns:p14="http://schemas.microsoft.com/office/powerpoint/2010/main" val="34498227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0.00301 L 0.00018 0.2990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09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22" grpId="0" animBg="1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658" y="3601682"/>
            <a:ext cx="4341195" cy="119224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3560" y="2246906"/>
            <a:ext cx="4229636" cy="1037932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785" y="1478643"/>
            <a:ext cx="2438400" cy="4749800"/>
          </a:xfrm>
          <a:prstGeom prst="rect">
            <a:avLst/>
          </a:prstGeom>
        </p:spPr>
      </p:pic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786" y="1480054"/>
            <a:ext cx="2438400" cy="6477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375" y="1900486"/>
            <a:ext cx="906221" cy="50974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683" y="3273629"/>
            <a:ext cx="531589" cy="531589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507030" y="1519038"/>
            <a:ext cx="5013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Latency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breakdown:</a:t>
            </a:r>
            <a:r>
              <a:rPr kumimoji="1" lang="zh-CN" altLang="en-US" dirty="0" smtClean="0"/>
              <a:t> </a:t>
            </a:r>
            <a:r>
              <a:rPr kumimoji="1" lang="en-US" altLang="zh-CN" sz="1100" dirty="0" smtClean="0"/>
              <a:t>(Test</a:t>
            </a:r>
            <a:r>
              <a:rPr kumimoji="1" lang="zh-CN" altLang="en-US" sz="1100" dirty="0" smtClean="0"/>
              <a:t> </a:t>
            </a:r>
            <a:r>
              <a:rPr kumimoji="1" lang="en-US" altLang="zh-CN" sz="1100" dirty="0" err="1" smtClean="0"/>
              <a:t>env</a:t>
            </a:r>
            <a:r>
              <a:rPr kumimoji="1" lang="en-US" altLang="zh-CN" sz="1100" dirty="0" smtClean="0"/>
              <a:t>.</a:t>
            </a:r>
            <a:r>
              <a:rPr kumimoji="1" lang="zh-CN" altLang="en-US" sz="1100" dirty="0" smtClean="0"/>
              <a:t> </a:t>
            </a:r>
            <a:r>
              <a:rPr kumimoji="1" lang="en-US" altLang="zh-CN" sz="1100" dirty="0" smtClean="0"/>
              <a:t>:</a:t>
            </a:r>
            <a:r>
              <a:rPr kumimoji="1" lang="zh-CN" altLang="en-US" sz="1100" dirty="0" smtClean="0"/>
              <a:t> </a:t>
            </a:r>
            <a:r>
              <a:rPr kumimoji="1" lang="en-US" altLang="zh-CN" sz="1100" dirty="0" err="1" smtClean="0"/>
              <a:t>Fio</a:t>
            </a:r>
            <a:r>
              <a:rPr kumimoji="1" lang="zh-CN" altLang="en-US" sz="1100" dirty="0" smtClean="0"/>
              <a:t> </a:t>
            </a:r>
            <a:r>
              <a:rPr kumimoji="1" lang="en-US" altLang="zh-CN" sz="1100" dirty="0" smtClean="0"/>
              <a:t>4K</a:t>
            </a:r>
            <a:r>
              <a:rPr kumimoji="1" lang="zh-CN" altLang="en-US" sz="1100" dirty="0" smtClean="0"/>
              <a:t> </a:t>
            </a:r>
            <a:r>
              <a:rPr kumimoji="1" lang="en-US" altLang="zh-CN" sz="1100" dirty="0" smtClean="0"/>
              <a:t>read,</a:t>
            </a:r>
            <a:r>
              <a:rPr kumimoji="1" lang="zh-CN" altLang="en-US" sz="1100" dirty="0" smtClean="0"/>
              <a:t>  </a:t>
            </a:r>
            <a:r>
              <a:rPr kumimoji="1" lang="en-US" altLang="zh-CN" sz="1100" dirty="0" smtClean="0"/>
              <a:t>ext4,</a:t>
            </a:r>
            <a:r>
              <a:rPr kumimoji="1" lang="zh-CN" altLang="en-US" sz="1100" dirty="0" smtClean="0"/>
              <a:t> </a:t>
            </a:r>
            <a:r>
              <a:rPr kumimoji="1" lang="en-US" altLang="zh-CN" sz="1100" dirty="0" smtClean="0"/>
              <a:t>Linux,</a:t>
            </a:r>
            <a:r>
              <a:rPr kumimoji="1" lang="zh-CN" altLang="en-US" sz="1100" dirty="0" smtClean="0"/>
              <a:t> </a:t>
            </a:r>
            <a:r>
              <a:rPr kumimoji="1" lang="en-US" altLang="zh-CN" sz="1100" dirty="0" smtClean="0"/>
              <a:t>QEMU)</a:t>
            </a:r>
          </a:p>
        </p:txBody>
      </p:sp>
      <p:sp>
        <p:nvSpPr>
          <p:cNvPr id="22" name="左大括号 21"/>
          <p:cNvSpPr/>
          <p:nvPr/>
        </p:nvSpPr>
        <p:spPr>
          <a:xfrm>
            <a:off x="731521" y="2529528"/>
            <a:ext cx="115503" cy="1436080"/>
          </a:xfrm>
          <a:prstGeom prst="leftBrace">
            <a:avLst>
              <a:gd name="adj1" fmla="val 28333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2000"/>
          </a:p>
        </p:txBody>
      </p:sp>
      <p:sp>
        <p:nvSpPr>
          <p:cNvPr id="18" name="文本框 17"/>
          <p:cNvSpPr txBox="1"/>
          <p:nvPr/>
        </p:nvSpPr>
        <p:spPr>
          <a:xfrm>
            <a:off x="0" y="3022334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00" b="1" smtClean="0"/>
              <a:t>Virtualization</a:t>
            </a:r>
            <a:endParaRPr kumimoji="1" lang="en-US" altLang="zh-CN" sz="900" b="1" dirty="0" smtClean="0"/>
          </a:p>
          <a:p>
            <a:r>
              <a:rPr kumimoji="1" lang="en-US" altLang="zh-CN" sz="900" b="1" dirty="0" smtClean="0"/>
              <a:t>I/O</a:t>
            </a:r>
            <a:r>
              <a:rPr kumimoji="1" lang="zh-CN" altLang="en-US" sz="900" b="1" dirty="0" smtClean="0"/>
              <a:t> </a:t>
            </a:r>
            <a:r>
              <a:rPr kumimoji="1" lang="en-US" altLang="zh-CN" sz="900" b="1" dirty="0" smtClean="0"/>
              <a:t>layers</a:t>
            </a:r>
            <a:endParaRPr kumimoji="1" lang="zh-CN" altLang="en-US" sz="9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3696675" y="4977245"/>
            <a:ext cx="4990149" cy="10994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 smtClean="0">
                <a:latin typeface="+mn-lt"/>
                <a:ea typeface="Microsoft YaHei" charset="-122"/>
                <a:cs typeface="Microsoft YaHei" charset="-122"/>
              </a:rPr>
              <a:t>对于</a:t>
            </a:r>
            <a:r>
              <a:rPr kumimoji="1" lang="en-US" altLang="zh-CN" sz="2000" dirty="0" smtClean="0">
                <a:latin typeface="+mn-lt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2000" dirty="0" smtClean="0">
                <a:latin typeface="+mn-lt"/>
                <a:ea typeface="Microsoft YaHei" charset="-122"/>
                <a:cs typeface="Microsoft YaHei" charset="-122"/>
              </a:rPr>
              <a:t>接口的 </a:t>
            </a:r>
            <a:r>
              <a:rPr kumimoji="1" lang="en-US" altLang="zh-CN" sz="2000" dirty="0" err="1" smtClean="0">
                <a:latin typeface="+mn-lt"/>
                <a:ea typeface="Microsoft YaHei" charset="-122"/>
                <a:cs typeface="Microsoft YaHei" charset="-122"/>
              </a:rPr>
              <a:t>Optane</a:t>
            </a:r>
            <a:r>
              <a:rPr kumimoji="1" lang="zh-CN" altLang="en-US" sz="2000" dirty="0" smtClean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000" dirty="0" smtClean="0">
                <a:latin typeface="+mn-lt"/>
                <a:ea typeface="Microsoft YaHei" charset="-122"/>
                <a:cs typeface="Microsoft YaHei" charset="-122"/>
              </a:rPr>
              <a:t>SSD</a:t>
            </a:r>
            <a:r>
              <a:rPr kumimoji="1" lang="zh-CN" altLang="en-US" sz="2000" dirty="0" smtClean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000" dirty="0" smtClean="0">
                <a:latin typeface="+mn-lt"/>
                <a:ea typeface="Microsoft YaHei" charset="-122"/>
                <a:cs typeface="Microsoft YaHei" charset="-122"/>
              </a:rPr>
              <a:t>(</a:t>
            </a:r>
            <a:r>
              <a:rPr kumimoji="1" lang="zh-CN" altLang="en-US" sz="2000" dirty="0" smtClean="0">
                <a:latin typeface="+mn-lt"/>
                <a:ea typeface="Microsoft YaHei" charset="-122"/>
                <a:cs typeface="Microsoft YaHei" charset="-122"/>
              </a:rPr>
              <a:t>上图</a:t>
            </a:r>
            <a:r>
              <a:rPr kumimoji="1" lang="en-US" altLang="zh-CN" sz="2000" dirty="0" smtClean="0">
                <a:latin typeface="+mn-lt"/>
                <a:ea typeface="Microsoft YaHei" charset="-122"/>
                <a:cs typeface="Microsoft YaHei" charset="-122"/>
              </a:rPr>
              <a:t>):</a:t>
            </a:r>
            <a:endParaRPr kumimoji="1" lang="en-US" altLang="zh-CN" sz="2000" dirty="0" smtClean="0">
              <a:latin typeface="+mn-lt"/>
              <a:ea typeface="Microsoft YaHei" charset="-122"/>
              <a:cs typeface="Microsoft YaHei" charset="-122"/>
            </a:endParaRP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kumimoji="1" lang="zh-CN" altLang="en-US" sz="1600" dirty="0" smtClean="0">
                <a:latin typeface="+mn-lt"/>
                <a:ea typeface="Microsoft YaHei" charset="-122"/>
                <a:cs typeface="Microsoft YaHei" charset="-122"/>
              </a:rPr>
              <a:t>硬件</a:t>
            </a:r>
            <a:r>
              <a:rPr kumimoji="1" lang="zh-CN" altLang="en-US" sz="1600" dirty="0" smtClean="0">
                <a:latin typeface="+mn-lt"/>
                <a:ea typeface="Microsoft YaHei" charset="-122"/>
                <a:cs typeface="Microsoft YaHei" charset="-122"/>
              </a:rPr>
              <a:t>部分占了更小部分延迟； </a:t>
            </a:r>
            <a:r>
              <a:rPr kumimoji="1" lang="en-US" altLang="zh-CN" sz="1600" dirty="0" smtClean="0">
                <a:latin typeface="+mn-lt"/>
                <a:ea typeface="Microsoft YaHei" charset="-122"/>
                <a:cs typeface="Microsoft YaHei" charset="-122"/>
              </a:rPr>
              <a:t>(</a:t>
            </a:r>
            <a:r>
              <a:rPr kumimoji="1" lang="zh-CN" altLang="en-US" sz="1600" dirty="0" smtClean="0">
                <a:latin typeface="+mn-lt"/>
                <a:ea typeface="Microsoft YaHei" charset="-122"/>
                <a:cs typeface="Microsoft YaHei" charset="-122"/>
              </a:rPr>
              <a:t>蓝色部分</a:t>
            </a:r>
            <a:r>
              <a:rPr kumimoji="1" lang="en-US" altLang="zh-CN" sz="1600" dirty="0" smtClean="0">
                <a:latin typeface="+mn-lt"/>
                <a:ea typeface="Microsoft YaHei" charset="-122"/>
                <a:cs typeface="Microsoft YaHei" charset="-122"/>
              </a:rPr>
              <a:t>)</a:t>
            </a:r>
            <a:endParaRPr kumimoji="1" lang="en-US" altLang="zh-CN" sz="1600" dirty="0" smtClean="0">
              <a:latin typeface="+mn-lt"/>
              <a:ea typeface="Microsoft YaHei" charset="-122"/>
              <a:cs typeface="Microsoft YaHei" charset="-122"/>
            </a:endParaRP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kumimoji="1" lang="en-US" altLang="zh-CN" sz="1600" dirty="0" smtClean="0">
                <a:latin typeface="+mn-lt"/>
                <a:ea typeface="Microsoft YaHei" charset="-122"/>
                <a:cs typeface="Microsoft YaHei" charset="-122"/>
              </a:rPr>
              <a:t>Virtualization</a:t>
            </a:r>
            <a:r>
              <a:rPr kumimoji="1" lang="zh-CN" altLang="en-US" sz="1600" dirty="0" smtClean="0">
                <a:latin typeface="+mn-lt"/>
                <a:ea typeface="Microsoft YaHei" charset="-122"/>
                <a:cs typeface="Microsoft YaHei" charset="-122"/>
              </a:rPr>
              <a:t>引入的层次占得比例最大</a:t>
            </a:r>
            <a:r>
              <a:rPr kumimoji="1" lang="zh-CN" altLang="en-US" sz="1600" dirty="0">
                <a:latin typeface="+mn-lt"/>
                <a:ea typeface="Microsoft YaHei" charset="-122"/>
                <a:cs typeface="Microsoft YaHei" charset="-122"/>
              </a:rPr>
              <a:t>。</a:t>
            </a:r>
            <a:r>
              <a:rPr kumimoji="1" lang="en-US" altLang="zh-CN" sz="1600" dirty="0" smtClean="0">
                <a:latin typeface="+mn-lt"/>
                <a:ea typeface="Microsoft YaHei" charset="-122"/>
                <a:cs typeface="Microsoft YaHei" charset="-122"/>
              </a:rPr>
              <a:t>(</a:t>
            </a:r>
            <a:r>
              <a:rPr kumimoji="1" lang="zh-CN" altLang="en-US" sz="1600" dirty="0" smtClean="0">
                <a:latin typeface="+mn-lt"/>
                <a:ea typeface="Microsoft YaHei" charset="-122"/>
                <a:cs typeface="Microsoft YaHei" charset="-122"/>
              </a:rPr>
              <a:t>虚线框中</a:t>
            </a:r>
            <a:r>
              <a:rPr kumimoji="1" lang="en-US" altLang="zh-CN" sz="1600" dirty="0" smtClean="0">
                <a:latin typeface="+mn-lt"/>
                <a:ea typeface="Microsoft YaHei" charset="-122"/>
                <a:cs typeface="Microsoft YaHei" charset="-122"/>
              </a:rPr>
              <a:t>)</a:t>
            </a:r>
            <a:endParaRPr kumimoji="1" lang="en-US" altLang="zh-CN" sz="1600" dirty="0">
              <a:latin typeface="+mn-lt"/>
              <a:ea typeface="Microsoft YaHei" charset="-122"/>
              <a:cs typeface="Microsoft YaHei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54258" y="589775"/>
            <a:ext cx="4781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>
                <a:latin typeface="Microsoft YaHei" charset="-122"/>
                <a:ea typeface="Microsoft YaHei" charset="-122"/>
                <a:cs typeface="Microsoft YaHei" charset="-122"/>
              </a:rPr>
              <a:t>高性能给存储系统带来的挑战</a:t>
            </a:r>
            <a:endParaRPr kumimoji="1" lang="zh-CN" altLang="en-US" sz="24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597308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785" y="1478643"/>
            <a:ext cx="2438400" cy="4749800"/>
          </a:xfrm>
          <a:prstGeom prst="rect">
            <a:avLst/>
          </a:prstGeom>
        </p:spPr>
      </p:pic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786" y="1480054"/>
            <a:ext cx="2438400" cy="6477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4076658" y="5581373"/>
            <a:ext cx="40330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smtClean="0"/>
              <a:t>Stop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sleeping,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hardware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catching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up</a:t>
            </a:r>
            <a:r>
              <a:rPr kumimoji="1" lang="en-US" altLang="zh-CN" dirty="0" smtClean="0"/>
              <a:t>!</a:t>
            </a:r>
          </a:p>
          <a:p>
            <a:endParaRPr kumimoji="1" lang="en-US" altLang="zh-CN" dirty="0"/>
          </a:p>
          <a:p>
            <a:pPr algn="ctr"/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(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存储系统的软件优化更为重要！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)</a:t>
            </a:r>
            <a:endParaRPr kumimoji="1" lang="en-US" altLang="zh-CN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2" name="左大括号 21"/>
          <p:cNvSpPr/>
          <p:nvPr/>
        </p:nvSpPr>
        <p:spPr>
          <a:xfrm>
            <a:off x="731521" y="2529528"/>
            <a:ext cx="115503" cy="1436080"/>
          </a:xfrm>
          <a:prstGeom prst="leftBrace">
            <a:avLst>
              <a:gd name="adj1" fmla="val 28333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2000"/>
          </a:p>
        </p:txBody>
      </p:sp>
      <p:sp>
        <p:nvSpPr>
          <p:cNvPr id="18" name="文本框 17"/>
          <p:cNvSpPr txBox="1"/>
          <p:nvPr/>
        </p:nvSpPr>
        <p:spPr>
          <a:xfrm>
            <a:off x="0" y="3022334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900" b="1" smtClean="0"/>
              <a:t>Virtualization</a:t>
            </a:r>
            <a:endParaRPr kumimoji="1" lang="en-US" altLang="zh-CN" sz="900" b="1" dirty="0" smtClean="0"/>
          </a:p>
          <a:p>
            <a:r>
              <a:rPr kumimoji="1" lang="en-US" altLang="zh-CN" sz="900" b="1" dirty="0" smtClean="0"/>
              <a:t>I/O</a:t>
            </a:r>
            <a:r>
              <a:rPr kumimoji="1" lang="zh-CN" altLang="en-US" sz="900" b="1" dirty="0" smtClean="0"/>
              <a:t> </a:t>
            </a:r>
            <a:r>
              <a:rPr kumimoji="1" lang="en-US" altLang="zh-CN" sz="900" b="1" dirty="0" smtClean="0"/>
              <a:t>layers</a:t>
            </a:r>
            <a:endParaRPr kumimoji="1" lang="zh-CN" altLang="en-US" sz="9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833" y="1717624"/>
            <a:ext cx="4538687" cy="349425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721903" y="2038661"/>
            <a:ext cx="3072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 smtClean="0">
                <a:solidFill>
                  <a:srgbClr val="244287"/>
                </a:solidFill>
              </a:rPr>
              <a:t>Hardware</a:t>
            </a:r>
            <a:r>
              <a:rPr kumimoji="1" lang="zh-CN" altLang="en-US" sz="2000" dirty="0" smtClean="0">
                <a:solidFill>
                  <a:srgbClr val="244287"/>
                </a:solidFill>
              </a:rPr>
              <a:t> </a:t>
            </a:r>
            <a:r>
              <a:rPr kumimoji="1" lang="en-US" altLang="zh-CN" sz="2000" dirty="0" smtClean="0">
                <a:solidFill>
                  <a:srgbClr val="244287"/>
                </a:solidFill>
              </a:rPr>
              <a:t>Storage</a:t>
            </a:r>
            <a:r>
              <a:rPr kumimoji="1" lang="zh-CN" altLang="en-US" sz="2000" dirty="0" smtClean="0">
                <a:solidFill>
                  <a:srgbClr val="244287"/>
                </a:solidFill>
              </a:rPr>
              <a:t> </a:t>
            </a:r>
            <a:r>
              <a:rPr kumimoji="1" lang="en-US" altLang="zh-CN" sz="2000" dirty="0" smtClean="0">
                <a:solidFill>
                  <a:srgbClr val="244287"/>
                </a:solidFill>
              </a:rPr>
              <a:t>Devices</a:t>
            </a:r>
            <a:endParaRPr kumimoji="1" lang="zh-CN" altLang="en-US" sz="2000" dirty="0">
              <a:solidFill>
                <a:srgbClr val="244287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133476" y="4934262"/>
            <a:ext cx="2580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 smtClean="0">
                <a:solidFill>
                  <a:srgbClr val="C00000"/>
                </a:solidFill>
              </a:rPr>
              <a:t>Software</a:t>
            </a:r>
            <a:r>
              <a:rPr kumimoji="1" lang="zh-CN" altLang="en-US" sz="2000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sz="2000" dirty="0" smtClean="0">
                <a:solidFill>
                  <a:srgbClr val="C00000"/>
                </a:solidFill>
              </a:rPr>
              <a:t>Storage</a:t>
            </a:r>
            <a:r>
              <a:rPr kumimoji="1" lang="zh-CN" altLang="en-US" sz="2000" dirty="0" smtClean="0">
                <a:solidFill>
                  <a:srgbClr val="C00000"/>
                </a:solidFill>
              </a:rPr>
              <a:t> </a:t>
            </a:r>
            <a:r>
              <a:rPr kumimoji="1" lang="en-US" altLang="zh-CN" sz="2000" dirty="0" smtClean="0">
                <a:solidFill>
                  <a:srgbClr val="C00000"/>
                </a:solidFill>
              </a:rPr>
              <a:t>Stack</a:t>
            </a:r>
            <a:endParaRPr kumimoji="1"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54258" y="589775"/>
            <a:ext cx="4781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>
                <a:latin typeface="Microsoft YaHei" charset="-122"/>
                <a:ea typeface="Microsoft YaHei" charset="-122"/>
                <a:cs typeface="Microsoft YaHei" charset="-122"/>
              </a:rPr>
              <a:t>高性能给存储系统带来的挑战</a:t>
            </a:r>
            <a:endParaRPr kumimoji="1" lang="zh-CN" altLang="en-US" sz="24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609820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4258" y="589775"/>
            <a:ext cx="5289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Microsoft YaHei" charset="-122"/>
                <a:ea typeface="Microsoft YaHei" charset="-122"/>
                <a:cs typeface="Microsoft YaHei" charset="-122"/>
              </a:rPr>
              <a:t>高性能的用户态</a:t>
            </a:r>
            <a:r>
              <a:rPr kumimoji="1" lang="en-US" altLang="zh-CN" sz="2400" dirty="0" err="1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2400" dirty="0">
                <a:latin typeface="Microsoft YaHei" charset="-122"/>
                <a:ea typeface="Microsoft YaHei" charset="-122"/>
                <a:cs typeface="Microsoft YaHei" charset="-122"/>
              </a:rPr>
              <a:t>驱动 </a:t>
            </a:r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—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SPDK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429000" y="6350001"/>
            <a:ext cx="462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 smtClean="0"/>
              <a:t>图摘自</a:t>
            </a:r>
            <a:r>
              <a:rPr kumimoji="1" lang="en-US" altLang="zh-CN" sz="1200" dirty="0" smtClean="0"/>
              <a:t>《</a:t>
            </a:r>
            <a:r>
              <a:rPr kumimoji="1" lang="zh-CN" altLang="en-US" sz="1200" dirty="0" smtClean="0"/>
              <a:t>深入浅出</a:t>
            </a:r>
            <a:r>
              <a:rPr kumimoji="1" lang="en-US" altLang="zh-CN" sz="1200" dirty="0" smtClean="0"/>
              <a:t>SSD</a:t>
            </a:r>
            <a:r>
              <a:rPr kumimoji="1" lang="zh-CN" altLang="en-US" sz="1200" dirty="0" smtClean="0"/>
              <a:t>：固态存储核心技术、原理与实战</a:t>
            </a:r>
            <a:r>
              <a:rPr kumimoji="1" lang="en-US" altLang="zh-CN" sz="1200" dirty="0" smtClean="0"/>
              <a:t>》</a:t>
            </a:r>
            <a:endParaRPr kumimoji="1" lang="zh-CN" altLang="en-US" sz="1200" dirty="0"/>
          </a:p>
        </p:txBody>
      </p:sp>
      <p:sp>
        <p:nvSpPr>
          <p:cNvPr id="4" name="文本框 3"/>
          <p:cNvSpPr txBox="1"/>
          <p:nvPr/>
        </p:nvSpPr>
        <p:spPr>
          <a:xfrm>
            <a:off x="533400" y="1828800"/>
            <a:ext cx="883920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 smtClean="0">
                <a:latin typeface="+mn-lt"/>
              </a:rPr>
              <a:t>SPDK(Storage</a:t>
            </a:r>
            <a:r>
              <a:rPr kumimoji="1" lang="zh-CN" altLang="en-US" dirty="0" smtClean="0">
                <a:latin typeface="+mn-lt"/>
              </a:rPr>
              <a:t> </a:t>
            </a:r>
            <a:r>
              <a:rPr kumimoji="1" lang="en-US" altLang="zh-CN" dirty="0" smtClean="0">
                <a:latin typeface="+mn-lt"/>
              </a:rPr>
              <a:t>Performance</a:t>
            </a:r>
            <a:r>
              <a:rPr kumimoji="1" lang="zh-CN" altLang="en-US" dirty="0" smtClean="0">
                <a:latin typeface="+mn-lt"/>
              </a:rPr>
              <a:t> </a:t>
            </a:r>
            <a:r>
              <a:rPr kumimoji="1" lang="en-US" altLang="zh-CN" dirty="0" smtClean="0">
                <a:latin typeface="+mn-lt"/>
              </a:rPr>
              <a:t>Development</a:t>
            </a:r>
            <a:r>
              <a:rPr kumimoji="1" lang="zh-CN" altLang="en-US" dirty="0" smtClean="0">
                <a:latin typeface="+mn-lt"/>
              </a:rPr>
              <a:t> </a:t>
            </a:r>
            <a:r>
              <a:rPr kumimoji="1" lang="en-US" altLang="zh-CN" dirty="0" smtClean="0">
                <a:latin typeface="+mn-lt"/>
              </a:rPr>
              <a:t>Kit)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</a:rPr>
              <a:t>基于</a:t>
            </a:r>
            <a:r>
              <a:rPr kumimoji="1" lang="en-US" altLang="zh-CN" dirty="0" smtClean="0">
                <a:latin typeface="+mn-lt"/>
              </a:rPr>
              <a:t>DPDK(Data</a:t>
            </a:r>
            <a:r>
              <a:rPr kumimoji="1" lang="zh-CN" altLang="en-US" dirty="0" smtClean="0">
                <a:latin typeface="+mn-lt"/>
              </a:rPr>
              <a:t> </a:t>
            </a:r>
            <a:r>
              <a:rPr kumimoji="1" lang="en-US" altLang="zh-CN" dirty="0" smtClean="0">
                <a:latin typeface="+mn-lt"/>
              </a:rPr>
              <a:t>Plane</a:t>
            </a:r>
            <a:r>
              <a:rPr kumimoji="1" lang="zh-CN" altLang="en-US" dirty="0" smtClean="0">
                <a:latin typeface="+mn-lt"/>
              </a:rPr>
              <a:t> </a:t>
            </a:r>
            <a:r>
              <a:rPr kumimoji="1" lang="en-US" altLang="zh-CN" dirty="0" smtClean="0">
                <a:latin typeface="+mn-lt"/>
              </a:rPr>
              <a:t>Development</a:t>
            </a:r>
            <a:r>
              <a:rPr kumimoji="1" lang="zh-CN" altLang="en-US" dirty="0" smtClean="0">
                <a:latin typeface="+mn-lt"/>
              </a:rPr>
              <a:t> </a:t>
            </a:r>
            <a:r>
              <a:rPr kumimoji="1" lang="en-US" altLang="zh-CN" dirty="0" smtClean="0">
                <a:latin typeface="+mn-lt"/>
              </a:rPr>
              <a:t>Kit)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</a:rPr>
              <a:t>。</a:t>
            </a:r>
            <a:endParaRPr kumimoji="1" lang="en-US" altLang="zh-CN" dirty="0">
              <a:latin typeface="+mn-lt"/>
              <a:ea typeface="Microsoft YaHei" charset="-122"/>
              <a:cs typeface="Microsoft YaHei" charset="-122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400" dirty="0" smtClean="0">
                <a:latin typeface="+mn-lt"/>
                <a:ea typeface="Microsoft YaHei" charset="-122"/>
                <a:cs typeface="Microsoft YaHei" charset="-122"/>
              </a:rPr>
              <a:t>(DPDK</a:t>
            </a:r>
            <a:r>
              <a:rPr kumimoji="1" lang="zh-CN" altLang="en-US" sz="1400" dirty="0" smtClean="0">
                <a:latin typeface="+mn-lt"/>
                <a:ea typeface="Microsoft YaHei" charset="-122"/>
                <a:cs typeface="Microsoft YaHei" charset="-122"/>
              </a:rPr>
              <a:t>基于</a:t>
            </a:r>
            <a:r>
              <a:rPr kumimoji="1" lang="en-US" altLang="zh-CN" sz="1400" dirty="0" smtClean="0">
                <a:latin typeface="+mn-lt"/>
                <a:ea typeface="Microsoft YaHei" charset="-122"/>
                <a:cs typeface="Microsoft YaHei" charset="-122"/>
              </a:rPr>
              <a:t>UIO</a:t>
            </a:r>
            <a:r>
              <a:rPr kumimoji="1" lang="zh-CN" altLang="en-US" sz="1400" dirty="0" smtClean="0">
                <a:latin typeface="+mn-lt"/>
                <a:ea typeface="Microsoft YaHei" charset="-122"/>
                <a:cs typeface="Microsoft YaHei" charset="-122"/>
              </a:rPr>
              <a:t>或者</a:t>
            </a:r>
            <a:r>
              <a:rPr kumimoji="1" lang="en-US" altLang="zh-CN" sz="1400" dirty="0" smtClean="0">
                <a:latin typeface="+mn-lt"/>
                <a:ea typeface="Microsoft YaHei" charset="-122"/>
                <a:cs typeface="Microsoft YaHei" charset="-122"/>
              </a:rPr>
              <a:t>VFIO</a:t>
            </a:r>
            <a:r>
              <a:rPr kumimoji="1" lang="zh-CN" altLang="en-US" sz="1400" dirty="0" smtClean="0">
                <a:latin typeface="+mn-lt"/>
                <a:ea typeface="Microsoft YaHei" charset="-122"/>
                <a:cs typeface="Microsoft YaHei" charset="-122"/>
              </a:rPr>
              <a:t>。</a:t>
            </a:r>
            <a:r>
              <a:rPr kumimoji="1" lang="en-US" altLang="zh-CN" sz="1400" dirty="0" smtClean="0">
                <a:latin typeface="+mn-lt"/>
                <a:ea typeface="Microsoft YaHei" charset="-122"/>
                <a:cs typeface="Microsoft YaHei" charset="-122"/>
              </a:rPr>
              <a:t>UIO</a:t>
            </a:r>
            <a:r>
              <a:rPr kumimoji="1" lang="zh-CN" altLang="en-US" sz="1400" dirty="0" smtClean="0">
                <a:latin typeface="+mn-lt"/>
                <a:ea typeface="Microsoft YaHei" charset="-122"/>
                <a:cs typeface="Microsoft YaHei" charset="-122"/>
              </a:rPr>
              <a:t>和</a:t>
            </a:r>
            <a:r>
              <a:rPr kumimoji="1" lang="en-US" altLang="zh-CN" sz="1400" dirty="0" smtClean="0">
                <a:latin typeface="+mn-lt"/>
                <a:ea typeface="Microsoft YaHei" charset="-122"/>
                <a:cs typeface="Microsoft YaHei" charset="-122"/>
              </a:rPr>
              <a:t>VFIO</a:t>
            </a:r>
            <a:r>
              <a:rPr kumimoji="1" lang="zh-CN" altLang="en-US" sz="1400" dirty="0" smtClean="0">
                <a:latin typeface="+mn-lt"/>
                <a:ea typeface="Microsoft YaHei" charset="-122"/>
                <a:cs typeface="Microsoft YaHei" charset="-122"/>
              </a:rPr>
              <a:t>都支持在用户态开发</a:t>
            </a:r>
            <a:r>
              <a:rPr kumimoji="1" lang="en-US" altLang="zh-CN" sz="1400" dirty="0" smtClean="0">
                <a:latin typeface="+mn-lt"/>
                <a:ea typeface="Microsoft YaHei" charset="-122"/>
                <a:cs typeface="Microsoft YaHei" charset="-122"/>
              </a:rPr>
              <a:t>IO</a:t>
            </a:r>
            <a:r>
              <a:rPr kumimoji="1" lang="zh-CN" altLang="en-US" sz="1400" dirty="0" smtClean="0">
                <a:latin typeface="+mn-lt"/>
                <a:ea typeface="Microsoft YaHei" charset="-122"/>
                <a:cs typeface="Microsoft YaHei" charset="-122"/>
              </a:rPr>
              <a:t>设备驱动程序。</a:t>
            </a:r>
            <a:r>
              <a:rPr kumimoji="1" lang="en-US" altLang="zh-CN" sz="1400" dirty="0" smtClean="0">
                <a:latin typeface="+mn-lt"/>
                <a:ea typeface="Microsoft YaHei" charset="-122"/>
                <a:cs typeface="Microsoft YaHei" charset="-122"/>
              </a:rPr>
              <a:t>)</a:t>
            </a:r>
          </a:p>
          <a:p>
            <a:endParaRPr kumimoji="1" lang="en-US" altLang="zh-CN" dirty="0" smtClean="0">
              <a:latin typeface="+mn-lt"/>
              <a:ea typeface="Microsoft YaHei" charset="-122"/>
              <a:cs typeface="Microsoft YaHei" charset="-122"/>
            </a:endParaRPr>
          </a:p>
          <a:p>
            <a:endParaRPr kumimoji="1" lang="en-US" altLang="zh-CN" dirty="0">
              <a:latin typeface="+mn-lt"/>
              <a:ea typeface="Microsoft YaHei" charset="-122"/>
              <a:cs typeface="Microsoft YaHei" charset="-122"/>
            </a:endParaRPr>
          </a:p>
          <a:p>
            <a:r>
              <a:rPr kumimoji="1" lang="en-US" altLang="zh-CN" dirty="0" smtClean="0">
                <a:latin typeface="+mn-lt"/>
                <a:ea typeface="Microsoft YaHei" charset="-122"/>
                <a:cs typeface="Microsoft YaHei" charset="-122"/>
              </a:rPr>
              <a:t>SPDK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</a:rPr>
              <a:t>的核心就是一套用户态的</a:t>
            </a:r>
            <a:r>
              <a:rPr kumimoji="1" lang="en-US" altLang="zh-CN" dirty="0" smtClean="0">
                <a:latin typeface="+mn-lt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</a:rPr>
              <a:t>驱动，利用一下手段减少延迟：</a:t>
            </a:r>
            <a:endParaRPr kumimoji="1" lang="en-US" altLang="zh-CN" dirty="0" smtClean="0">
              <a:latin typeface="+mn-lt"/>
              <a:ea typeface="Microsoft YaHei" charset="-122"/>
              <a:cs typeface="Microsoft YaHei" charset="-122"/>
            </a:endParaRPr>
          </a:p>
          <a:p>
            <a:pPr marL="742950" lvl="1" indent="-285750">
              <a:lnSpc>
                <a:spcPct val="150000"/>
              </a:lnSpc>
              <a:buFont typeface="Arial" charset="0"/>
              <a:buChar char="•"/>
            </a:pPr>
            <a:r>
              <a:rPr kumimoji="1" lang="zh-CN" altLang="en-US" sz="1600" dirty="0" smtClean="0">
                <a:latin typeface="+mn-lt"/>
                <a:ea typeface="Microsoft YaHei" charset="-122"/>
                <a:cs typeface="Microsoft YaHei" charset="-122"/>
              </a:rPr>
              <a:t>减少了内核存储栈层次；</a:t>
            </a:r>
            <a:endParaRPr kumimoji="1" lang="en-US" altLang="zh-CN" sz="1600" dirty="0" smtClean="0">
              <a:latin typeface="+mn-lt"/>
              <a:ea typeface="Microsoft YaHei" charset="-122"/>
              <a:cs typeface="Microsoft YaHei" charset="-122"/>
            </a:endParaRPr>
          </a:p>
          <a:p>
            <a:pPr marL="742950" lvl="1" indent="-285750">
              <a:lnSpc>
                <a:spcPct val="150000"/>
              </a:lnSpc>
              <a:buFont typeface="Arial" charset="0"/>
              <a:buChar char="•"/>
            </a:pPr>
            <a:r>
              <a:rPr kumimoji="1" lang="zh-CN" altLang="en-US" sz="1600" dirty="0" smtClean="0">
                <a:latin typeface="+mn-lt"/>
                <a:ea typeface="Microsoft YaHei" charset="-122"/>
                <a:cs typeface="Microsoft YaHei" charset="-122"/>
              </a:rPr>
              <a:t>为每个进程创建一个</a:t>
            </a:r>
            <a:r>
              <a:rPr kumimoji="1" lang="en-US" altLang="zh-CN" sz="1600" dirty="0" smtClean="0">
                <a:latin typeface="+mn-lt"/>
                <a:ea typeface="Microsoft YaHei" charset="-122"/>
                <a:cs typeface="Microsoft YaHei" charset="-122"/>
              </a:rPr>
              <a:t>SQ</a:t>
            </a:r>
            <a:r>
              <a:rPr kumimoji="1" lang="zh-CN" altLang="en-US" sz="1600" dirty="0" smtClean="0">
                <a:latin typeface="+mn-lt"/>
                <a:ea typeface="Microsoft YaHei" charset="-122"/>
                <a:cs typeface="Microsoft YaHei" charset="-122"/>
              </a:rPr>
              <a:t>而不是每个核，减少锁竞争；</a:t>
            </a:r>
            <a:endParaRPr kumimoji="1" lang="en-US" altLang="zh-CN" sz="1600" dirty="0" smtClean="0">
              <a:latin typeface="+mn-lt"/>
              <a:ea typeface="Microsoft YaHei" charset="-122"/>
              <a:cs typeface="Microsoft YaHei" charset="-122"/>
            </a:endParaRPr>
          </a:p>
          <a:p>
            <a:pPr marL="742950" lvl="1" indent="-285750">
              <a:lnSpc>
                <a:spcPct val="150000"/>
              </a:lnSpc>
              <a:buFont typeface="Arial" charset="0"/>
              <a:buChar char="•"/>
            </a:pPr>
            <a:r>
              <a:rPr kumimoji="1" lang="en-US" altLang="zh-CN" sz="1600" dirty="0" smtClean="0">
                <a:latin typeface="+mn-lt"/>
                <a:ea typeface="Microsoft YaHei" charset="-122"/>
                <a:cs typeface="Microsoft YaHei" charset="-122"/>
              </a:rPr>
              <a:t>Polling</a:t>
            </a:r>
            <a:r>
              <a:rPr kumimoji="1" lang="zh-CN" altLang="en-US" sz="1600" dirty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kumimoji="1" lang="zh-CN" altLang="en-US" sz="1600" dirty="0" smtClean="0">
                <a:latin typeface="+mn-lt"/>
                <a:ea typeface="Microsoft YaHei" charset="-122"/>
                <a:cs typeface="Microsoft YaHei" charset="-122"/>
              </a:rPr>
              <a:t>而非 </a:t>
            </a:r>
            <a:r>
              <a:rPr kumimoji="1" lang="en-US" altLang="zh-CN" sz="1600" dirty="0" smtClean="0">
                <a:latin typeface="+mn-lt"/>
                <a:ea typeface="Microsoft YaHei" charset="-122"/>
                <a:cs typeface="Microsoft YaHei" charset="-122"/>
              </a:rPr>
              <a:t>interrupt</a:t>
            </a:r>
            <a:r>
              <a:rPr kumimoji="1" lang="zh-CN" altLang="en-US" sz="1600" dirty="0" smtClean="0">
                <a:latin typeface="+mn-lt"/>
                <a:ea typeface="Microsoft YaHei" charset="-122"/>
                <a:cs typeface="Microsoft YaHei" charset="-122"/>
              </a:rPr>
              <a:t>，降低延迟。</a:t>
            </a:r>
            <a:endParaRPr kumimoji="1" lang="en-US" altLang="zh-CN" sz="1600" dirty="0" smtClean="0">
              <a:latin typeface="+mn-lt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142324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4258" y="589775"/>
            <a:ext cx="4095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err="1" smtClean="0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用户态驱动 </a:t>
            </a:r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--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SPDK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1441450"/>
            <a:ext cx="8291723" cy="3740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594100" y="5384800"/>
            <a:ext cx="1648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/>
              <a:t>SPDK</a:t>
            </a:r>
            <a:r>
              <a:rPr kumimoji="1" lang="zh-CN" altLang="en-US" dirty="0" smtClean="0"/>
              <a:t> 整体架构</a:t>
            </a:r>
            <a:endParaRPr kumimoji="1" lang="zh-CN" alt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41405870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4258" y="589775"/>
            <a:ext cx="5429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err="1" smtClean="0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用户态驱动 </a:t>
            </a:r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--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400" dirty="0" err="1" smtClean="0">
                <a:latin typeface="Microsoft YaHei" charset="-122"/>
                <a:ea typeface="Microsoft YaHei" charset="-122"/>
                <a:cs typeface="Microsoft YaHei" charset="-122"/>
              </a:rPr>
              <a:t>NVMeDirect</a:t>
            </a:r>
            <a:endParaRPr kumimoji="1" lang="en-US" altLang="zh-CN" sz="2400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92250"/>
            <a:ext cx="3975100" cy="425315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098800" y="6331635"/>
            <a:ext cx="58928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smtClean="0"/>
              <a:t>﻿图来自：NVMeDirect </a:t>
            </a:r>
            <a:r>
              <a:rPr lang="zh-CN" altLang="en-US" sz="1200" dirty="0" smtClean="0"/>
              <a:t>2.0: An Enhanced User-space I/O Framework for NVMe SSDs</a:t>
            </a:r>
            <a:endParaRPr lang="zh-CN" altLang="en-US" sz="1200" dirty="0"/>
          </a:p>
        </p:txBody>
      </p:sp>
      <p:sp>
        <p:nvSpPr>
          <p:cNvPr id="9" name="文本框 8"/>
          <p:cNvSpPr txBox="1"/>
          <p:nvPr/>
        </p:nvSpPr>
        <p:spPr>
          <a:xfrm>
            <a:off x="4901941" y="2222500"/>
            <a:ext cx="42420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 smtClean="0"/>
              <a:t>NVMeDirect</a:t>
            </a:r>
            <a:r>
              <a:rPr kumimoji="1" lang="zh-CN" altLang="en-US" dirty="0" smtClean="0"/>
              <a:t>也是一种</a:t>
            </a:r>
            <a:r>
              <a:rPr kumimoji="1" lang="en-US" altLang="zh-CN" dirty="0" smtClean="0"/>
              <a:t>NVMe</a:t>
            </a:r>
            <a:r>
              <a:rPr kumimoji="1" lang="zh-CN" altLang="en-US" dirty="0" smtClean="0"/>
              <a:t>用户态驱动。</a:t>
            </a:r>
            <a:endParaRPr kumimoji="1" lang="en-US" altLang="zh-CN" dirty="0" smtClean="0"/>
          </a:p>
          <a:p>
            <a:endParaRPr kumimoji="1" lang="en-US" altLang="zh-CN" dirty="0"/>
          </a:p>
          <a:p>
            <a:r>
              <a:rPr kumimoji="1" lang="zh-CN" altLang="en-US" dirty="0" smtClean="0"/>
              <a:t>将内核中的</a:t>
            </a:r>
            <a:r>
              <a:rPr kumimoji="1" lang="en-US" altLang="zh-CN" dirty="0" smtClean="0"/>
              <a:t>Queue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Pairs</a:t>
            </a:r>
            <a:r>
              <a:rPr kumimoji="1" lang="zh-CN" altLang="en-US" dirty="0" smtClean="0"/>
              <a:t>映射到用户态的</a:t>
            </a:r>
            <a:endParaRPr kumimoji="1" lang="en-US" altLang="zh-CN" dirty="0" smtClean="0"/>
          </a:p>
          <a:p>
            <a:r>
              <a:rPr kumimoji="1" lang="en-US" altLang="zh-CN" dirty="0" err="1" smtClean="0"/>
              <a:t>NVMeDirect</a:t>
            </a:r>
            <a:r>
              <a:rPr kumimoji="1" lang="zh-CN" altLang="en-US" dirty="0" smtClean="0"/>
              <a:t>库中。</a:t>
            </a:r>
            <a:endParaRPr kumimoji="1"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92982846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4258" y="589775"/>
            <a:ext cx="5429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err="1" smtClean="0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用户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态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驱动</a:t>
            </a:r>
            <a:endParaRPr kumimoji="1" lang="en-US" altLang="zh-CN" sz="2400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" y="1773267"/>
            <a:ext cx="8838776" cy="3814733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251200" y="6344335"/>
            <a:ext cx="52324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 smtClean="0"/>
              <a:t>﻿NVMeDirect 2.0: An Enhanced User-space I/O Framework for NVMe SSDs</a:t>
            </a:r>
            <a:endParaRPr lang="zh-CN" altLang="en-US" sz="1200" dirty="0"/>
          </a:p>
        </p:txBody>
      </p:sp>
      <p:sp>
        <p:nvSpPr>
          <p:cNvPr id="4" name="文本框 3"/>
          <p:cNvSpPr txBox="1"/>
          <p:nvPr/>
        </p:nvSpPr>
        <p:spPr>
          <a:xfrm>
            <a:off x="2971800" y="5638800"/>
            <a:ext cx="433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两种用户态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驱动的对比</a:t>
            </a:r>
            <a:endParaRPr kumimoji="1" lang="zh-CN" altLang="en-US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252153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4258" y="589775"/>
            <a:ext cx="5429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err="1" smtClean="0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用户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态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驱动</a:t>
            </a:r>
            <a:endParaRPr kumimoji="1" lang="en-US" altLang="zh-CN" sz="2400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2460333"/>
            <a:ext cx="8674357" cy="2175167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187700" y="6166535"/>
            <a:ext cx="533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/>
              <a:t>[</a:t>
            </a:r>
            <a:r>
              <a:rPr lang="en-US" altLang="zh-CN" sz="1200" smtClean="0"/>
              <a:t>1]H</a:t>
            </a:r>
            <a:r>
              <a:rPr lang="en-US" altLang="zh-CN" sz="1200" dirty="0"/>
              <a:t>. Kim, Y.-S. Lee, and J.-S. Kim, “</a:t>
            </a:r>
            <a:r>
              <a:rPr lang="en-US" altLang="zh-CN" sz="1200" dirty="0" err="1"/>
              <a:t>NVMeDirect</a:t>
            </a:r>
            <a:r>
              <a:rPr lang="en-US" altLang="zh-CN" sz="1200" dirty="0"/>
              <a:t>: A User-space I/O Framework for Application-specific Optimization on NVMe SSDs,” </a:t>
            </a:r>
            <a:r>
              <a:rPr lang="en-US" altLang="zh-CN" sz="1200" i="1" dirty="0" err="1"/>
              <a:t>Hotstorage</a:t>
            </a:r>
            <a:r>
              <a:rPr lang="en-US" altLang="zh-CN" sz="1200" dirty="0"/>
              <a:t>, 2016.</a:t>
            </a:r>
            <a:endParaRPr lang="en-US" altLang="zh-CN" sz="1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6070306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376717" y="1173975"/>
            <a:ext cx="1107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dirty="0" smtClean="0">
                <a:solidFill>
                  <a:schemeClr val="bg1">
                    <a:lumMod val="9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  <a:endParaRPr kumimoji="1" lang="en-US" altLang="zh-CN" sz="3600" dirty="0" smtClean="0">
              <a:solidFill>
                <a:schemeClr val="bg1">
                  <a:lumMod val="9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82900" y="1574800"/>
            <a:ext cx="558800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0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连接</a:t>
            </a:r>
            <a:r>
              <a:rPr kumimoji="1" lang="zh-CN" altLang="en-US" sz="20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更高速</a:t>
            </a:r>
            <a:r>
              <a:rPr kumimoji="1" lang="en-US" altLang="zh-CN" sz="20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SSD</a:t>
            </a:r>
            <a:r>
              <a:rPr kumimoji="1" lang="zh-CN" altLang="en-US" sz="20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0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—</a:t>
            </a:r>
            <a:r>
              <a:rPr kumimoji="1" lang="zh-CN" altLang="en-US" sz="20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endParaRPr kumimoji="1" lang="en-US" altLang="zh-CN" dirty="0" smtClean="0">
              <a:solidFill>
                <a:schemeClr val="bg2">
                  <a:lumMod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SzPct val="50000"/>
              <a:buFont typeface="Wingdings" charset="2"/>
              <a:buChar char="l"/>
            </a:pPr>
            <a:r>
              <a:rPr kumimoji="1" lang="en-US" altLang="zh-CN" sz="1600" dirty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1600" dirty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性能</a:t>
            </a:r>
            <a:endParaRPr kumimoji="1" lang="en-US" altLang="zh-CN" sz="1600" dirty="0">
              <a:solidFill>
                <a:schemeClr val="bg2">
                  <a:lumMod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SzPct val="50000"/>
              <a:buFont typeface="Wingdings" charset="2"/>
              <a:buChar char="l"/>
            </a:pPr>
            <a:r>
              <a:rPr kumimoji="1" lang="en-US" altLang="zh-CN" sz="1600" dirty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1600" dirty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协议</a:t>
            </a:r>
            <a:endParaRPr kumimoji="1" lang="en-US" altLang="zh-CN" sz="1600" dirty="0">
              <a:solidFill>
                <a:schemeClr val="bg2">
                  <a:lumMod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SzPct val="50000"/>
              <a:buFont typeface="Wingdings" charset="2"/>
              <a:buChar char="l"/>
            </a:pPr>
            <a:r>
              <a:rPr kumimoji="1" lang="zh-CN" altLang="en-US" sz="1600" dirty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高性能给存储系统带来的挑战</a:t>
            </a:r>
            <a:endParaRPr kumimoji="1" lang="en-US" altLang="zh-CN" sz="1600" dirty="0">
              <a:solidFill>
                <a:schemeClr val="bg2">
                  <a:lumMod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SzPct val="50000"/>
              <a:buFont typeface="Wingdings" charset="2"/>
              <a:buChar char="l"/>
            </a:pPr>
            <a:r>
              <a:rPr kumimoji="1" lang="zh-CN" altLang="en-US" sz="1600" dirty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用户态</a:t>
            </a:r>
            <a:r>
              <a:rPr kumimoji="1" lang="en-US" altLang="zh-CN" sz="1600" dirty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1600" dirty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驱动</a:t>
            </a:r>
            <a:endParaRPr kumimoji="1" lang="en-US" altLang="zh-CN" sz="1600" dirty="0">
              <a:solidFill>
                <a:schemeClr val="bg2">
                  <a:lumMod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    横跨内存与存储的 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Persistent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Memory</a:t>
            </a:r>
          </a:p>
          <a:p>
            <a:pPr marL="1257300" lvl="2" indent="-342900">
              <a:buSzPct val="50000"/>
              <a:buFont typeface="Wingdings" charset="2"/>
              <a:buChar char="l"/>
            </a:pP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内存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、存储与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</a:p>
          <a:p>
            <a:pPr marL="1257300" lvl="2" indent="-342900">
              <a:buSzPct val="50000"/>
              <a:buFont typeface="Wingdings" charset="2"/>
              <a:buChar char="l"/>
            </a:pP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编程模型</a:t>
            </a:r>
            <a:endParaRPr kumimoji="1" lang="en-US" altLang="zh-CN" sz="1600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57300" lvl="2" indent="-342900">
              <a:buSzPct val="50000"/>
              <a:buFont typeface="Wingdings" charset="2"/>
              <a:buChar char="l"/>
            </a:pP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基于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的存储系统设计</a:t>
            </a:r>
            <a:endParaRPr kumimoji="1" lang="en-US" altLang="zh-CN" sz="1600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57300" lvl="2" indent="-342900">
              <a:buSzPct val="50000"/>
              <a:buFont typeface="Wingdings" charset="2"/>
              <a:buChar char="l"/>
            </a:pP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PMDK</a:t>
            </a:r>
            <a:endParaRPr kumimoji="1" lang="en-US" altLang="zh-CN" sz="1600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   </a:t>
            </a:r>
            <a:r>
              <a:rPr kumimoji="1" lang="zh-CN" altLang="en-US" sz="20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新型分布式存储系统</a:t>
            </a:r>
            <a:endParaRPr kumimoji="1" lang="en-US" altLang="zh-CN" sz="2000" dirty="0" smtClean="0">
              <a:solidFill>
                <a:schemeClr val="bg2">
                  <a:lumMod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SzPct val="100000"/>
              <a:buFont typeface="Arial" charset="0"/>
              <a:buChar char="•"/>
            </a:pPr>
            <a:r>
              <a:rPr kumimoji="1" lang="en-US" altLang="zh-CN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RDMA</a:t>
            </a:r>
          </a:p>
          <a:p>
            <a:pPr marL="1200150" lvl="2" indent="-285750">
              <a:buFont typeface="Arial" charset="0"/>
              <a:buChar char="•"/>
            </a:pPr>
            <a:r>
              <a:rPr kumimoji="1" lang="en-US" altLang="zh-CN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over</a:t>
            </a:r>
            <a:r>
              <a:rPr kumimoji="1" lang="zh-CN" altLang="en-US" sz="1600" dirty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Fabrics</a:t>
            </a:r>
            <a:r>
              <a:rPr kumimoji="1" lang="zh-CN" altLang="en-US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(NVMe</a:t>
            </a:r>
            <a:r>
              <a:rPr kumimoji="1" lang="zh-CN" altLang="en-US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+</a:t>
            </a:r>
            <a:r>
              <a:rPr kumimoji="1" lang="zh-CN" altLang="en-US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RDMA)</a:t>
            </a:r>
            <a:endParaRPr kumimoji="1" lang="en-US" altLang="zh-CN" sz="1600" dirty="0" smtClean="0">
              <a:solidFill>
                <a:schemeClr val="bg2">
                  <a:lumMod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Font typeface="Arial" charset="0"/>
              <a:buChar char="•"/>
            </a:pPr>
            <a:r>
              <a:rPr kumimoji="1" lang="zh-CN" altLang="en-US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分布式</a:t>
            </a:r>
            <a:r>
              <a:rPr kumimoji="1" lang="en-US" altLang="zh-CN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文件系统</a:t>
            </a:r>
            <a:r>
              <a:rPr kumimoji="1" lang="en-US" altLang="zh-CN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Octopus</a:t>
            </a:r>
            <a:r>
              <a:rPr kumimoji="1" lang="zh-CN" altLang="en-US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(PM</a:t>
            </a:r>
            <a:r>
              <a:rPr kumimoji="1" lang="zh-CN" altLang="en-US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+</a:t>
            </a:r>
            <a:r>
              <a:rPr kumimoji="1" lang="zh-CN" altLang="en-US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RDMA)</a:t>
            </a:r>
            <a:endParaRPr kumimoji="1" lang="en-US" altLang="zh-CN" sz="1600" dirty="0" smtClean="0">
              <a:solidFill>
                <a:schemeClr val="bg2">
                  <a:lumMod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286464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54258" y="589775"/>
            <a:ext cx="5289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Persistent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Memory</a:t>
            </a:r>
            <a:endParaRPr kumimoji="1" lang="en-US" altLang="zh-CN" sz="2400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916949" y="1905000"/>
            <a:ext cx="319626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Persistent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Memory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(PM</a:t>
            </a:r>
            <a:r>
              <a:rPr kumimoji="1" lang="en-US" altLang="zh-CN" sz="2000" dirty="0" smtClean="0"/>
              <a:t>)</a:t>
            </a:r>
          </a:p>
          <a:p>
            <a:r>
              <a:rPr kumimoji="1" lang="en-US" altLang="zh-CN" sz="2000" dirty="0" smtClean="0"/>
              <a:t>Non-Volatile</a:t>
            </a:r>
            <a:r>
              <a:rPr kumimoji="1" lang="zh-CN" altLang="en-US" sz="2000" dirty="0" smtClean="0"/>
              <a:t> </a:t>
            </a:r>
            <a:r>
              <a:rPr kumimoji="1" lang="en-US" altLang="zh-CN" sz="2000" dirty="0"/>
              <a:t>Memory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(NVM</a:t>
            </a:r>
            <a:r>
              <a:rPr kumimoji="1" lang="en-US" altLang="zh-CN" sz="2000" dirty="0" smtClean="0"/>
              <a:t>)</a:t>
            </a:r>
          </a:p>
          <a:p>
            <a:r>
              <a:rPr kumimoji="1" lang="en-US" altLang="zh-CN" sz="2000" dirty="0" smtClean="0"/>
              <a:t>Storage</a:t>
            </a:r>
            <a:r>
              <a:rPr kumimoji="1" lang="zh-CN" altLang="en-US" sz="2000" dirty="0" smtClean="0"/>
              <a:t> </a:t>
            </a:r>
            <a:r>
              <a:rPr kumimoji="1" lang="en-US" altLang="zh-CN" sz="2000" dirty="0" smtClean="0"/>
              <a:t>Class</a:t>
            </a:r>
            <a:r>
              <a:rPr kumimoji="1" lang="zh-CN" altLang="en-US" sz="2000" dirty="0" smtClean="0"/>
              <a:t> </a:t>
            </a:r>
            <a:r>
              <a:rPr kumimoji="1" lang="en-US" altLang="zh-CN" sz="2000" dirty="0" smtClean="0"/>
              <a:t>Memory</a:t>
            </a:r>
            <a:r>
              <a:rPr kumimoji="1" lang="zh-CN" altLang="en-US" sz="2000" dirty="0" smtClean="0"/>
              <a:t> </a:t>
            </a:r>
            <a:r>
              <a:rPr kumimoji="1" lang="en-US" altLang="zh-CN" sz="2000" dirty="0" smtClean="0"/>
              <a:t>(SCM)</a:t>
            </a:r>
          </a:p>
          <a:p>
            <a:r>
              <a:rPr kumimoji="1" lang="en-US" altLang="zh-CN" sz="2000" dirty="0" smtClean="0"/>
              <a:t>NVDIMM</a:t>
            </a:r>
            <a:endParaRPr kumimoji="1" lang="zh-CN" altLang="en-US" sz="2000" dirty="0"/>
          </a:p>
        </p:txBody>
      </p:sp>
      <p:sp>
        <p:nvSpPr>
          <p:cNvPr id="6" name="文本框 5"/>
          <p:cNvSpPr txBox="1"/>
          <p:nvPr/>
        </p:nvSpPr>
        <p:spPr>
          <a:xfrm>
            <a:off x="850900" y="1384300"/>
            <a:ext cx="2377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很多种别名：</a:t>
            </a:r>
            <a:endParaRPr kumimoji="1" lang="zh-CN" altLang="en-US" sz="24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00100" y="3683000"/>
            <a:ext cx="2377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很多种技术：</a:t>
            </a:r>
            <a:endParaRPr kumimoji="1" lang="zh-CN" altLang="en-US" sz="24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764970"/>
              </p:ext>
            </p:extLst>
          </p:nvPr>
        </p:nvGraphicFramePr>
        <p:xfrm>
          <a:off x="152400" y="4470400"/>
          <a:ext cx="4864100" cy="1439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180"/>
                <a:gridCol w="2928920"/>
              </a:tblGrid>
              <a:tr h="285204"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latin typeface="+mn-lt"/>
                          <a:ea typeface="Microsoft YaHei" charset="-122"/>
                          <a:cs typeface="Microsoft YaHei" charset="-122"/>
                        </a:rPr>
                        <a:t>种类</a:t>
                      </a:r>
                      <a:endParaRPr lang="zh-CN" altLang="en-US" sz="1200" dirty="0">
                        <a:latin typeface="+mn-lt"/>
                        <a:ea typeface="Microsoft YaHei" charset="-122"/>
                        <a:cs typeface="Microsoft YaHei" charset="-122"/>
                      </a:endParaRPr>
                    </a:p>
                  </a:txBody>
                  <a:tcPr marL="70325" marR="70325" marT="35162" marB="35162"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>
                          <a:latin typeface="+mn-lt"/>
                          <a:ea typeface="Microsoft YaHei" charset="-122"/>
                          <a:cs typeface="Microsoft YaHei" charset="-122"/>
                        </a:rPr>
                        <a:t>评价</a:t>
                      </a:r>
                      <a:endParaRPr lang="zh-CN" altLang="en-US" sz="1200" dirty="0">
                        <a:latin typeface="+mn-lt"/>
                        <a:ea typeface="Microsoft YaHei" charset="-122"/>
                        <a:cs typeface="Microsoft YaHei" charset="-122"/>
                      </a:endParaRPr>
                    </a:p>
                  </a:txBody>
                  <a:tcPr marL="70325" marR="70325" marT="35162" marB="35162"/>
                </a:tc>
              </a:tr>
              <a:tr h="288018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+mn-lt"/>
                          <a:ea typeface="Microsoft YaHei" charset="-122"/>
                          <a:cs typeface="Microsoft YaHei" charset="-122"/>
                        </a:rPr>
                        <a:t>DRAM</a:t>
                      </a:r>
                      <a:r>
                        <a:rPr lang="zh-CN" altLang="en-US" sz="1400" dirty="0" smtClean="0">
                          <a:latin typeface="+mn-lt"/>
                          <a:ea typeface="Microsoft YaHei" charset="-122"/>
                          <a:cs typeface="Microsoft YaHei" charset="-122"/>
                        </a:rPr>
                        <a:t> </a:t>
                      </a:r>
                      <a:r>
                        <a:rPr lang="en-US" altLang="zh-CN" sz="1400" dirty="0" smtClean="0">
                          <a:latin typeface="+mn-lt"/>
                          <a:ea typeface="Microsoft YaHei" charset="-122"/>
                          <a:cs typeface="Microsoft YaHei" charset="-122"/>
                        </a:rPr>
                        <a:t>+</a:t>
                      </a:r>
                      <a:r>
                        <a:rPr lang="zh-CN" altLang="en-US" sz="1400" dirty="0" smtClean="0">
                          <a:latin typeface="+mn-lt"/>
                          <a:ea typeface="Microsoft YaHei" charset="-122"/>
                          <a:cs typeface="Microsoft YaHei" charset="-122"/>
                        </a:rPr>
                        <a:t> </a:t>
                      </a:r>
                      <a:r>
                        <a:rPr lang="en-US" altLang="zh-CN" sz="1400" dirty="0" smtClean="0">
                          <a:latin typeface="+mn-lt"/>
                          <a:ea typeface="Microsoft YaHei" charset="-122"/>
                          <a:cs typeface="Microsoft YaHei" charset="-122"/>
                        </a:rPr>
                        <a:t>Flash</a:t>
                      </a:r>
                      <a:r>
                        <a:rPr lang="zh-CN" altLang="en-US" sz="1400" dirty="0" smtClean="0">
                          <a:latin typeface="+mn-lt"/>
                          <a:ea typeface="Microsoft YaHei" charset="-122"/>
                          <a:cs typeface="Microsoft YaHei" charset="-122"/>
                        </a:rPr>
                        <a:t> </a:t>
                      </a:r>
                      <a:r>
                        <a:rPr lang="en-US" altLang="zh-CN" sz="1400" dirty="0" smtClean="0">
                          <a:latin typeface="+mn-lt"/>
                          <a:ea typeface="Microsoft YaHei" charset="-122"/>
                          <a:cs typeface="Microsoft YaHei" charset="-122"/>
                        </a:rPr>
                        <a:t>+</a:t>
                      </a:r>
                      <a:r>
                        <a:rPr lang="zh-CN" altLang="en-US" sz="1400" dirty="0" smtClean="0">
                          <a:latin typeface="+mn-lt"/>
                          <a:ea typeface="Microsoft YaHei" charset="-122"/>
                          <a:cs typeface="Microsoft YaHei" charset="-122"/>
                        </a:rPr>
                        <a:t> 电池</a:t>
                      </a:r>
                      <a:endParaRPr lang="zh-CN" altLang="en-US" sz="1400" dirty="0">
                        <a:latin typeface="+mn-lt"/>
                        <a:ea typeface="Microsoft YaHei" charset="-122"/>
                        <a:cs typeface="Microsoft YaHei" charset="-122"/>
                      </a:endParaRPr>
                    </a:p>
                  </a:txBody>
                  <a:tcPr marL="70325" marR="70325" marT="35162" marB="35162"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latin typeface="+mn-lt"/>
                          <a:ea typeface="Microsoft YaHei" charset="-122"/>
                          <a:cs typeface="Microsoft YaHei" charset="-122"/>
                        </a:rPr>
                        <a:t>速度和</a:t>
                      </a:r>
                      <a:r>
                        <a:rPr lang="en-US" altLang="zh-CN" sz="1100" dirty="0" smtClean="0">
                          <a:latin typeface="+mn-lt"/>
                          <a:ea typeface="Microsoft YaHei" charset="-122"/>
                          <a:cs typeface="Microsoft YaHei" charset="-122"/>
                        </a:rPr>
                        <a:t>DRAM</a:t>
                      </a:r>
                      <a:r>
                        <a:rPr lang="zh-CN" altLang="en-US" sz="1100" dirty="0" smtClean="0">
                          <a:latin typeface="+mn-lt"/>
                          <a:ea typeface="Microsoft YaHei" charset="-122"/>
                          <a:cs typeface="Microsoft YaHei" charset="-122"/>
                        </a:rPr>
                        <a:t>一样，昂贵，做不大。</a:t>
                      </a:r>
                      <a:endParaRPr lang="zh-CN" altLang="en-US" sz="1100" dirty="0">
                        <a:latin typeface="+mn-lt"/>
                        <a:ea typeface="Microsoft YaHei" charset="-122"/>
                        <a:cs typeface="Microsoft YaHei" charset="-122"/>
                      </a:endParaRPr>
                    </a:p>
                  </a:txBody>
                  <a:tcPr marL="70325" marR="70325" marT="35162" marB="35162"/>
                </a:tc>
              </a:tr>
              <a:tr h="288018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+mn-lt"/>
                          <a:ea typeface="Microsoft YaHei" charset="-122"/>
                          <a:cs typeface="Microsoft YaHei" charset="-122"/>
                        </a:rPr>
                        <a:t>PCM</a:t>
                      </a:r>
                      <a:endParaRPr lang="zh-CN" altLang="en-US" sz="1400" dirty="0">
                        <a:latin typeface="+mn-lt"/>
                        <a:ea typeface="Microsoft YaHei" charset="-122"/>
                        <a:cs typeface="Microsoft YaHei" charset="-122"/>
                      </a:endParaRPr>
                    </a:p>
                  </a:txBody>
                  <a:tcPr marL="70325" marR="70325" marT="35162" marB="35162"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latin typeface="+mn-lt"/>
                          <a:ea typeface="Microsoft YaHei" charset="-122"/>
                          <a:cs typeface="Microsoft YaHei" charset="-122"/>
                        </a:rPr>
                        <a:t>基于相变的非易失介质，比</a:t>
                      </a:r>
                      <a:r>
                        <a:rPr lang="en-US" altLang="zh-CN" sz="1100" dirty="0" smtClean="0">
                          <a:latin typeface="+mn-lt"/>
                          <a:ea typeface="Microsoft YaHei" charset="-122"/>
                          <a:cs typeface="Microsoft YaHei" charset="-122"/>
                        </a:rPr>
                        <a:t>DRAM</a:t>
                      </a:r>
                      <a:r>
                        <a:rPr lang="zh-CN" altLang="en-US" sz="1100" dirty="0" smtClean="0">
                          <a:latin typeface="+mn-lt"/>
                          <a:ea typeface="Microsoft YaHei" charset="-122"/>
                          <a:cs typeface="Microsoft YaHei" charset="-122"/>
                        </a:rPr>
                        <a:t>稍慢。</a:t>
                      </a:r>
                      <a:endParaRPr lang="zh-CN" altLang="en-US" sz="1100" dirty="0">
                        <a:latin typeface="+mn-lt"/>
                        <a:ea typeface="Microsoft YaHei" charset="-122"/>
                        <a:cs typeface="Microsoft YaHei" charset="-122"/>
                      </a:endParaRPr>
                    </a:p>
                  </a:txBody>
                  <a:tcPr marL="70325" marR="70325" marT="35162" marB="35162"/>
                </a:tc>
              </a:tr>
              <a:tr h="288018">
                <a:tc>
                  <a:txBody>
                    <a:bodyPr/>
                    <a:lstStyle/>
                    <a:p>
                      <a:r>
                        <a:rPr lang="en-US" altLang="zh-CN" sz="1400" dirty="0" err="1" smtClean="0">
                          <a:latin typeface="+mn-lt"/>
                          <a:ea typeface="Microsoft YaHei" charset="-122"/>
                          <a:cs typeface="Microsoft YaHei" charset="-122"/>
                        </a:rPr>
                        <a:t>Memristor</a:t>
                      </a:r>
                      <a:endParaRPr lang="zh-CN" altLang="en-US" sz="1400" dirty="0">
                        <a:latin typeface="+mn-lt"/>
                        <a:ea typeface="Microsoft YaHei" charset="-122"/>
                        <a:cs typeface="Microsoft YaHei" charset="-122"/>
                      </a:endParaRPr>
                    </a:p>
                  </a:txBody>
                  <a:tcPr marL="70325" marR="70325" marT="35162" marB="35162"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latin typeface="+mn-lt"/>
                          <a:ea typeface="Microsoft YaHei" charset="-122"/>
                          <a:cs typeface="Microsoft YaHei" charset="-122"/>
                        </a:rPr>
                        <a:t>忆阻器，比</a:t>
                      </a:r>
                      <a:r>
                        <a:rPr lang="en-US" altLang="zh-CN" sz="1100" dirty="0" smtClean="0">
                          <a:latin typeface="+mn-lt"/>
                          <a:ea typeface="Microsoft YaHei" charset="-122"/>
                          <a:cs typeface="Microsoft YaHei" charset="-122"/>
                        </a:rPr>
                        <a:t>DRAM</a:t>
                      </a:r>
                      <a:r>
                        <a:rPr lang="zh-CN" altLang="en-US" sz="1100" dirty="0" smtClean="0">
                          <a:latin typeface="+mn-lt"/>
                          <a:ea typeface="Microsoft YaHei" charset="-122"/>
                          <a:cs typeface="Microsoft YaHei" charset="-122"/>
                        </a:rPr>
                        <a:t>稍慢。</a:t>
                      </a:r>
                      <a:endParaRPr lang="zh-CN" altLang="en-US" sz="1100" dirty="0">
                        <a:latin typeface="+mn-lt"/>
                        <a:ea typeface="Microsoft YaHei" charset="-122"/>
                        <a:cs typeface="Microsoft YaHei" charset="-122"/>
                      </a:endParaRPr>
                    </a:p>
                  </a:txBody>
                  <a:tcPr marL="70325" marR="70325" marT="35162" marB="35162"/>
                </a:tc>
              </a:tr>
              <a:tr h="290698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latin typeface="+mn-lt"/>
                          <a:ea typeface="Microsoft YaHei" charset="-122"/>
                          <a:cs typeface="Microsoft YaHei" charset="-122"/>
                        </a:rPr>
                        <a:t>3D</a:t>
                      </a:r>
                      <a:r>
                        <a:rPr lang="zh-CN" altLang="en-US" sz="1400" dirty="0" smtClean="0">
                          <a:latin typeface="+mn-lt"/>
                          <a:ea typeface="Microsoft YaHei" charset="-122"/>
                          <a:cs typeface="Microsoft YaHei" charset="-122"/>
                        </a:rPr>
                        <a:t> </a:t>
                      </a:r>
                      <a:r>
                        <a:rPr lang="en-US" altLang="zh-CN" sz="1400" dirty="0" err="1" smtClean="0">
                          <a:latin typeface="+mn-lt"/>
                          <a:ea typeface="Microsoft YaHei" charset="-122"/>
                          <a:cs typeface="Microsoft YaHei" charset="-122"/>
                        </a:rPr>
                        <a:t>XPoint</a:t>
                      </a:r>
                      <a:endParaRPr lang="zh-CN" altLang="en-US" sz="1400" dirty="0">
                        <a:latin typeface="+mn-lt"/>
                        <a:ea typeface="Microsoft YaHei" charset="-122"/>
                        <a:cs typeface="Microsoft YaHei" charset="-122"/>
                      </a:endParaRPr>
                    </a:p>
                  </a:txBody>
                  <a:tcPr marL="70325" marR="70325" marT="35162" marB="35162"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latin typeface="+mn-lt"/>
                          <a:ea typeface="Microsoft YaHei" charset="-122"/>
                          <a:cs typeface="Microsoft YaHei" charset="-122"/>
                        </a:rPr>
                        <a:t>最接近商用，有人怀疑就是</a:t>
                      </a:r>
                      <a:r>
                        <a:rPr lang="en-US" altLang="zh-CN" sz="1100" dirty="0" smtClean="0">
                          <a:latin typeface="+mn-lt"/>
                          <a:ea typeface="Microsoft YaHei" charset="-122"/>
                          <a:cs typeface="Microsoft YaHei" charset="-122"/>
                        </a:rPr>
                        <a:t>PCM</a:t>
                      </a:r>
                      <a:r>
                        <a:rPr lang="zh-CN" altLang="en-US" sz="1100" dirty="0" smtClean="0">
                          <a:latin typeface="+mn-lt"/>
                          <a:ea typeface="Microsoft YaHei" charset="-122"/>
                          <a:cs typeface="Microsoft YaHei" charset="-122"/>
                        </a:rPr>
                        <a:t>技术。</a:t>
                      </a:r>
                      <a:endParaRPr lang="zh-CN" altLang="en-US" sz="1100" dirty="0">
                        <a:latin typeface="+mn-lt"/>
                        <a:ea typeface="Microsoft YaHei" charset="-122"/>
                        <a:cs typeface="Microsoft YaHei" charset="-122"/>
                      </a:endParaRPr>
                    </a:p>
                  </a:txBody>
                  <a:tcPr marL="70325" marR="70325" marT="35162" marB="35162"/>
                </a:tc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3149600" y="6219736"/>
            <a:ext cx="58547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 smtClean="0"/>
              <a:t>右表来自：</a:t>
            </a:r>
            <a:r>
              <a:rPr lang="en-US" altLang="zh-CN" sz="1100" dirty="0" smtClean="0"/>
              <a:t> F. Chen, M. P. </a:t>
            </a:r>
            <a:r>
              <a:rPr lang="en-US" altLang="zh-CN" sz="1100" dirty="0" err="1" smtClean="0"/>
              <a:t>Mesnier</a:t>
            </a:r>
            <a:r>
              <a:rPr lang="en-US" altLang="zh-CN" sz="1100" dirty="0" smtClean="0"/>
              <a:t>, and S. Hahn, “A protected block device for persistent memory,” </a:t>
            </a:r>
            <a:r>
              <a:rPr lang="en-US" altLang="zh-CN" sz="1100" i="1" dirty="0" smtClean="0"/>
              <a:t>IEEE </a:t>
            </a:r>
            <a:r>
              <a:rPr lang="en-US" altLang="zh-CN" sz="1100" i="1" dirty="0" err="1" smtClean="0"/>
              <a:t>Symp</a:t>
            </a:r>
            <a:r>
              <a:rPr lang="en-US" altLang="zh-CN" sz="1100" i="1" dirty="0" smtClean="0"/>
              <a:t>. Mass Storage </a:t>
            </a:r>
            <a:r>
              <a:rPr lang="en-US" altLang="zh-CN" sz="1100" i="1" dirty="0"/>
              <a:t>Syst. Technol.</a:t>
            </a:r>
            <a:r>
              <a:rPr lang="en-US" altLang="zh-CN" sz="1100" dirty="0"/>
              <a:t>, 2014.</a:t>
            </a:r>
          </a:p>
          <a:p>
            <a:endParaRPr kumimoji="1" lang="zh-CN" altLang="en-US" sz="1100" dirty="0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049" y="4413250"/>
            <a:ext cx="4147355" cy="175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73229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pic>
        <p:nvPicPr>
          <p:cNvPr id="27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9" y="2029083"/>
            <a:ext cx="8885505" cy="355891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54258" y="589775"/>
            <a:ext cx="5289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内存、存储和</a:t>
            </a:r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Persistent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400" dirty="0">
                <a:latin typeface="Microsoft YaHei" charset="-122"/>
                <a:ea typeface="Microsoft YaHei" charset="-122"/>
                <a:cs typeface="Microsoft YaHei" charset="-122"/>
              </a:rPr>
              <a:t>Memory</a:t>
            </a:r>
            <a:endParaRPr kumimoji="1" lang="en-US" altLang="zh-CN" sz="2400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784022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>
              <a:latin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449" y="2385459"/>
            <a:ext cx="1923570" cy="70072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1429" y="1851071"/>
            <a:ext cx="2610841" cy="146859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126973" y="1997765"/>
            <a:ext cx="15727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smtClean="0"/>
              <a:t>Intel’s</a:t>
            </a:r>
            <a:r>
              <a:rPr kumimoji="1" lang="zh-CN" altLang="en-US" sz="1400" dirty="0" smtClean="0"/>
              <a:t> </a:t>
            </a:r>
            <a:r>
              <a:rPr kumimoji="1" lang="en-US" altLang="zh-CN" sz="1400" dirty="0" err="1" smtClean="0"/>
              <a:t>Optane</a:t>
            </a:r>
            <a:r>
              <a:rPr kumimoji="1" lang="zh-CN" altLang="en-US" sz="1400" dirty="0" smtClean="0"/>
              <a:t> </a:t>
            </a:r>
            <a:r>
              <a:rPr kumimoji="1" lang="en-US" altLang="zh-CN" sz="1400" dirty="0" smtClean="0"/>
              <a:t>DC</a:t>
            </a:r>
            <a:endParaRPr kumimoji="1" lang="en-US" altLang="zh-CN" sz="1400" dirty="0"/>
          </a:p>
          <a:p>
            <a:r>
              <a:rPr kumimoji="1" lang="en-US" altLang="zh-CN" sz="1400" dirty="0" smtClean="0"/>
              <a:t>Persistent</a:t>
            </a:r>
            <a:r>
              <a:rPr kumimoji="1" lang="zh-CN" altLang="en-US" sz="1400" dirty="0" smtClean="0"/>
              <a:t> </a:t>
            </a:r>
            <a:r>
              <a:rPr kumimoji="1" lang="en-US" altLang="zh-CN" sz="1400" dirty="0" smtClean="0"/>
              <a:t>Memory</a:t>
            </a:r>
            <a:endParaRPr kumimoji="1" lang="zh-CN" altLang="en-US" sz="1400" dirty="0"/>
          </a:p>
        </p:txBody>
      </p:sp>
      <p:sp>
        <p:nvSpPr>
          <p:cNvPr id="10" name="文本框 9"/>
          <p:cNvSpPr txBox="1"/>
          <p:nvPr/>
        </p:nvSpPr>
        <p:spPr>
          <a:xfrm>
            <a:off x="4385917" y="1813891"/>
            <a:ext cx="20156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smtClean="0"/>
              <a:t>Intel’s</a:t>
            </a:r>
            <a:r>
              <a:rPr kumimoji="1" lang="zh-CN" altLang="en-US" sz="1400" dirty="0" smtClean="0"/>
              <a:t> </a:t>
            </a:r>
            <a:r>
              <a:rPr kumimoji="1" lang="en-US" altLang="zh-CN" sz="1400" dirty="0" err="1" smtClean="0"/>
              <a:t>Optane</a:t>
            </a:r>
            <a:r>
              <a:rPr kumimoji="1" lang="zh-CN" altLang="en-US" sz="1400" dirty="0" smtClean="0"/>
              <a:t> </a:t>
            </a:r>
            <a:r>
              <a:rPr kumimoji="1" lang="en-US" altLang="zh-CN" sz="1400" dirty="0" smtClean="0"/>
              <a:t>NVMe</a:t>
            </a:r>
            <a:r>
              <a:rPr kumimoji="1" lang="zh-CN" altLang="en-US" sz="1400" dirty="0" smtClean="0"/>
              <a:t> </a:t>
            </a:r>
            <a:r>
              <a:rPr kumimoji="1" lang="en-US" altLang="zh-CN" sz="1400" dirty="0" smtClean="0"/>
              <a:t>SSD</a:t>
            </a:r>
            <a:endParaRPr kumimoji="1" lang="zh-CN" altLang="en-US" sz="14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698" y="5280283"/>
            <a:ext cx="1241653" cy="1241653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681331" y="5665756"/>
            <a:ext cx="1102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/>
              <a:t>3D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XPoint</a:t>
            </a:r>
            <a:endParaRPr kumimoji="1"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3318081" y="4915752"/>
            <a:ext cx="1512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/>
              <a:t>&amp;</a:t>
            </a:r>
            <a:r>
              <a:rPr kumimoji="1" lang="zh-CN" altLang="en-US" dirty="0" smtClean="0"/>
              <a:t> </a:t>
            </a:r>
            <a:r>
              <a:rPr kumimoji="1" lang="en-US" altLang="zh-CN" dirty="0"/>
              <a:t>n</a:t>
            </a:r>
            <a:r>
              <a:rPr kumimoji="1" lang="en-US" altLang="zh-CN" dirty="0" smtClean="0"/>
              <a:t>on-volatile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266927" y="4813319"/>
            <a:ext cx="1800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/>
              <a:t>Byte-addressable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188166" y="4710886"/>
            <a:ext cx="1800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/>
              <a:t>Byte-addressable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123740" y="4783339"/>
            <a:ext cx="1329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mtClean="0"/>
              <a:t>Non-volatile</a:t>
            </a:r>
            <a:endParaRPr kumimoji="1" lang="en-US" altLang="zh-CN" dirty="0" smtClean="0"/>
          </a:p>
        </p:txBody>
      </p:sp>
      <p:sp>
        <p:nvSpPr>
          <p:cNvPr id="23" name="文本框 22"/>
          <p:cNvSpPr txBox="1"/>
          <p:nvPr/>
        </p:nvSpPr>
        <p:spPr>
          <a:xfrm>
            <a:off x="654258" y="589775"/>
            <a:ext cx="5289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内存、存储和</a:t>
            </a:r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Persistent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400" dirty="0">
                <a:latin typeface="Microsoft YaHei" charset="-122"/>
                <a:ea typeface="Microsoft YaHei" charset="-122"/>
                <a:cs typeface="Microsoft YaHei" charset="-122"/>
              </a:rPr>
              <a:t>Memory</a:t>
            </a:r>
            <a:endParaRPr kumimoji="1" lang="en-US" altLang="zh-CN" sz="2400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400" y="2774950"/>
            <a:ext cx="8118208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76990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4258" y="589775"/>
            <a:ext cx="5289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编程模型 </a:t>
            </a:r>
            <a:r>
              <a:rPr kumimoji="1" lang="mr-IN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–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与块设备</a:t>
            </a:r>
            <a:endParaRPr kumimoji="1" lang="en-US" altLang="zh-CN" sz="2400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357178"/>
            <a:ext cx="8432800" cy="4688065"/>
          </a:xfrm>
          <a:prstGeom prst="rect">
            <a:avLst/>
          </a:prstGeom>
        </p:spPr>
      </p:pic>
      <p:sp>
        <p:nvSpPr>
          <p:cNvPr id="10" name="椭圆 9"/>
          <p:cNvSpPr/>
          <p:nvPr/>
        </p:nvSpPr>
        <p:spPr>
          <a:xfrm>
            <a:off x="5473700" y="3632200"/>
            <a:ext cx="1625600" cy="95250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200400" y="6375401"/>
            <a:ext cx="558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00" dirty="0" smtClean="0"/>
              <a:t>摘自 </a:t>
            </a:r>
            <a:r>
              <a:rPr kumimoji="1" lang="en-US" altLang="zh-CN" sz="1000" dirty="0" smtClean="0"/>
              <a:t>Paul</a:t>
            </a:r>
            <a:r>
              <a:rPr kumimoji="1" lang="zh-CN" altLang="en-US" sz="1000" dirty="0" smtClean="0"/>
              <a:t> </a:t>
            </a:r>
            <a:r>
              <a:rPr kumimoji="1" lang="en-US" altLang="zh-CN" sz="1000" dirty="0" err="1" smtClean="0"/>
              <a:t>Luse</a:t>
            </a:r>
            <a:r>
              <a:rPr kumimoji="1" lang="zh-CN" altLang="en-US" sz="1000" dirty="0" smtClean="0"/>
              <a:t> </a:t>
            </a:r>
            <a:r>
              <a:rPr kumimoji="1" lang="en-US" altLang="zh-CN" sz="1000" dirty="0" smtClean="0"/>
              <a:t>《SPDK</a:t>
            </a:r>
            <a:r>
              <a:rPr kumimoji="1" lang="zh-CN" altLang="en-US" sz="1000" dirty="0" smtClean="0"/>
              <a:t> </a:t>
            </a:r>
            <a:r>
              <a:rPr kumimoji="1" lang="en-US" altLang="zh-CN" sz="1000" dirty="0" smtClean="0"/>
              <a:t>&amp;</a:t>
            </a:r>
            <a:r>
              <a:rPr kumimoji="1" lang="zh-CN" altLang="en-US" sz="1000" dirty="0" smtClean="0"/>
              <a:t> </a:t>
            </a:r>
            <a:r>
              <a:rPr kumimoji="1" lang="en-US" altLang="zh-CN" sz="1000" dirty="0" smtClean="0"/>
              <a:t>PMDK:</a:t>
            </a:r>
            <a:r>
              <a:rPr kumimoji="1" lang="zh-CN" altLang="en-US" sz="1000" dirty="0" smtClean="0"/>
              <a:t> </a:t>
            </a:r>
            <a:r>
              <a:rPr kumimoji="1" lang="en-US" altLang="zh-CN" sz="1000" dirty="0" smtClean="0"/>
              <a:t>Two</a:t>
            </a:r>
            <a:r>
              <a:rPr kumimoji="1" lang="zh-CN" altLang="en-US" sz="1000" dirty="0" smtClean="0"/>
              <a:t> </a:t>
            </a:r>
            <a:r>
              <a:rPr kumimoji="1" lang="en-US" altLang="zh-CN" sz="1000" dirty="0" smtClean="0"/>
              <a:t>Open</a:t>
            </a:r>
            <a:r>
              <a:rPr kumimoji="1" lang="zh-CN" altLang="en-US" sz="1000" dirty="0" smtClean="0"/>
              <a:t> </a:t>
            </a:r>
            <a:r>
              <a:rPr kumimoji="1" lang="en-US" altLang="zh-CN" sz="1000" dirty="0" smtClean="0"/>
              <a:t>Source</a:t>
            </a:r>
            <a:r>
              <a:rPr kumimoji="1" lang="zh-CN" altLang="en-US" sz="1000" dirty="0" smtClean="0"/>
              <a:t> </a:t>
            </a:r>
            <a:r>
              <a:rPr kumimoji="1" lang="en-US" altLang="zh-CN" sz="1000" dirty="0" smtClean="0"/>
              <a:t>Development</a:t>
            </a:r>
            <a:r>
              <a:rPr kumimoji="1" lang="zh-CN" altLang="en-US" sz="1000" dirty="0" smtClean="0"/>
              <a:t> </a:t>
            </a:r>
            <a:r>
              <a:rPr kumimoji="1" lang="en-US" altLang="zh-CN" sz="1000" dirty="0" smtClean="0"/>
              <a:t>Kits</a:t>
            </a:r>
            <a:r>
              <a:rPr kumimoji="1" lang="zh-CN" altLang="en-US" sz="1000" dirty="0" smtClean="0"/>
              <a:t> </a:t>
            </a:r>
            <a:r>
              <a:rPr kumimoji="1" lang="en-US" altLang="zh-CN" sz="1000" dirty="0" smtClean="0"/>
              <a:t>for</a:t>
            </a:r>
            <a:r>
              <a:rPr kumimoji="1" lang="zh-CN" altLang="en-US" sz="1000" dirty="0" smtClean="0"/>
              <a:t> </a:t>
            </a:r>
            <a:r>
              <a:rPr kumimoji="1" lang="en-US" altLang="zh-CN" sz="1000" dirty="0" smtClean="0"/>
              <a:t>the</a:t>
            </a:r>
            <a:r>
              <a:rPr kumimoji="1" lang="zh-CN" altLang="en-US" sz="1000" dirty="0"/>
              <a:t> </a:t>
            </a:r>
            <a:r>
              <a:rPr kumimoji="1" lang="en-US" altLang="zh-CN" sz="1000" dirty="0" smtClean="0"/>
              <a:t>Evolving</a:t>
            </a:r>
            <a:r>
              <a:rPr kumimoji="1" lang="zh-CN" altLang="en-US" sz="1000" dirty="0" smtClean="0"/>
              <a:t> </a:t>
            </a:r>
            <a:r>
              <a:rPr kumimoji="1" lang="en-US" altLang="zh-CN" sz="1000" dirty="0" smtClean="0"/>
              <a:t>NVM</a:t>
            </a:r>
            <a:r>
              <a:rPr kumimoji="1" lang="zh-CN" altLang="en-US" sz="1000" dirty="0" smtClean="0"/>
              <a:t> </a:t>
            </a:r>
            <a:r>
              <a:rPr kumimoji="1" lang="en-US" altLang="zh-CN" sz="1000" dirty="0" smtClean="0"/>
              <a:t>Landscape》</a:t>
            </a:r>
            <a:endParaRPr kumimoji="1"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84373465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" y="1183994"/>
            <a:ext cx="6375400" cy="3932754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527588" y="6381234"/>
            <a:ext cx="40094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 smtClean="0"/>
              <a:t>图摘自舒继武</a:t>
            </a:r>
            <a:r>
              <a:rPr lang="en-US" altLang="zh-CN" sz="1200" dirty="0" smtClean="0"/>
              <a:t>《</a:t>
            </a:r>
            <a:r>
              <a:rPr lang="zh-CN" altLang="en-US" sz="1200" dirty="0" smtClean="0"/>
              <a:t>大数据时代的存储系统若干变化的思考</a:t>
            </a:r>
            <a:r>
              <a:rPr lang="en-US" altLang="zh-CN" sz="1200" dirty="0" smtClean="0"/>
              <a:t>》</a:t>
            </a:r>
            <a:endParaRPr lang="zh-CN" altLang="en-US" sz="1200" dirty="0"/>
          </a:p>
        </p:txBody>
      </p:sp>
      <p:sp>
        <p:nvSpPr>
          <p:cNvPr id="7" name="文本框 6"/>
          <p:cNvSpPr txBox="1"/>
          <p:nvPr/>
        </p:nvSpPr>
        <p:spPr>
          <a:xfrm>
            <a:off x="654258" y="589775"/>
            <a:ext cx="5289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编程模型 </a:t>
            </a:r>
            <a:r>
              <a:rPr kumimoji="1" lang="mr-IN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–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PM-aware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文件系统</a:t>
            </a:r>
            <a:endParaRPr kumimoji="1" lang="en-US" altLang="zh-CN" sz="2400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16000" y="5194300"/>
            <a:ext cx="68580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kumimoji="1" lang="zh-CN" altLang="en-US" sz="1600" dirty="0" smtClean="0">
                <a:latin typeface="+mn-lt"/>
                <a:ea typeface="Microsoft YaHei" charset="-122"/>
                <a:cs typeface="Microsoft YaHei" charset="-122"/>
              </a:rPr>
              <a:t>普通文件系统我们常用的文件接口：</a:t>
            </a:r>
            <a:endParaRPr kumimoji="1" lang="en-US" altLang="zh-CN" sz="1600" dirty="0" smtClean="0">
              <a:latin typeface="+mn-lt"/>
              <a:ea typeface="Microsoft YaHei" charset="-122"/>
              <a:cs typeface="Microsoft YaHei" charset="-122"/>
            </a:endParaRPr>
          </a:p>
          <a:p>
            <a:r>
              <a:rPr kumimoji="1" lang="en-US" altLang="zh-CN" dirty="0" smtClean="0">
                <a:latin typeface="+mn-lt"/>
                <a:ea typeface="Microsoft YaHei" charset="-122"/>
                <a:cs typeface="Microsoft YaHei" charset="-122"/>
              </a:rPr>
              <a:t>	open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</a:rPr>
              <a:t>         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  <a:sym typeface="Wingdings"/>
              </a:rPr>
              <a:t>           </a:t>
            </a:r>
            <a:r>
              <a:rPr kumimoji="1" lang="en-US" altLang="zh-CN" dirty="0" smtClean="0">
                <a:latin typeface="+mn-lt"/>
                <a:ea typeface="Microsoft YaHei" charset="-122"/>
                <a:cs typeface="Microsoft YaHei" charset="-122"/>
              </a:rPr>
              <a:t>read/write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  <a:sym typeface="Wingdings"/>
              </a:rPr>
              <a:t> </a:t>
            </a:r>
            <a:r>
              <a:rPr kumimoji="1" lang="en-US" altLang="zh-CN" dirty="0" err="1" smtClean="0">
                <a:latin typeface="+mn-lt"/>
                <a:ea typeface="Microsoft YaHei" charset="-122"/>
                <a:cs typeface="Microsoft YaHei" charset="-122"/>
              </a:rPr>
              <a:t>fsync</a:t>
            </a:r>
            <a:endParaRPr kumimoji="1" lang="en-US" altLang="zh-CN" dirty="0" smtClean="0">
              <a:latin typeface="+mn-lt"/>
              <a:ea typeface="Microsoft YaHei" charset="-122"/>
              <a:cs typeface="Microsoft YaHei" charset="-122"/>
            </a:endParaRPr>
          </a:p>
          <a:p>
            <a:pPr marL="285750" indent="-285750">
              <a:buFont typeface="Arial" charset="0"/>
              <a:buChar char="•"/>
            </a:pPr>
            <a:r>
              <a:rPr kumimoji="1" lang="en-US" altLang="zh-CN" sz="1600" dirty="0" smtClean="0">
                <a:latin typeface="+mn-lt"/>
                <a:ea typeface="Microsoft YaHei" charset="-122"/>
                <a:cs typeface="Microsoft YaHei" charset="-122"/>
              </a:rPr>
              <a:t>PM-aware(DAX)</a:t>
            </a:r>
            <a:r>
              <a:rPr kumimoji="1" lang="zh-CN" altLang="en-US" sz="1600" dirty="0" smtClean="0">
                <a:latin typeface="+mn-lt"/>
                <a:ea typeface="Microsoft YaHei" charset="-122"/>
                <a:cs typeface="Microsoft YaHei" charset="-122"/>
              </a:rPr>
              <a:t>文件系统的接口：</a:t>
            </a:r>
            <a:endParaRPr kumimoji="1" lang="en-US" altLang="zh-CN" sz="1600" dirty="0" smtClean="0">
              <a:latin typeface="+mn-lt"/>
              <a:ea typeface="Microsoft YaHei" charset="-122"/>
              <a:cs typeface="Microsoft YaHei" charset="-122"/>
            </a:endParaRPr>
          </a:p>
          <a:p>
            <a:r>
              <a:rPr kumimoji="1" lang="en-US" altLang="zh-CN" dirty="0" smtClean="0">
                <a:latin typeface="+mn-lt"/>
                <a:ea typeface="Microsoft YaHei" charset="-122"/>
                <a:cs typeface="Microsoft YaHei" charset="-122"/>
              </a:rPr>
              <a:t>	open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  <a:sym typeface="Wingdings"/>
              </a:rPr>
              <a:t> </a:t>
            </a:r>
            <a:r>
              <a:rPr kumimoji="1" lang="en-US" altLang="zh-CN" dirty="0" err="1" smtClean="0">
                <a:latin typeface="+mn-lt"/>
                <a:ea typeface="Microsoft YaHei" charset="-122"/>
                <a:cs typeface="Microsoft YaHei" charset="-122"/>
                <a:sym typeface="Wingdings"/>
              </a:rPr>
              <a:t>mmap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  <a:sym typeface="Wingdings"/>
              </a:rPr>
              <a:t>    </a:t>
            </a:r>
            <a:r>
              <a:rPr kumimoji="1" lang="en-US" altLang="zh-CN" dirty="0" err="1" smtClean="0">
                <a:latin typeface="+mn-lt"/>
                <a:ea typeface="Microsoft YaHei" charset="-122"/>
                <a:cs typeface="Microsoft YaHei" charset="-122"/>
                <a:sym typeface="Wingdings"/>
              </a:rPr>
              <a:t>memcpy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  <a:sym typeface="Wingdings"/>
              </a:rPr>
              <a:t>    </a:t>
            </a:r>
            <a:r>
              <a:rPr kumimoji="1" lang="en-US" altLang="zh-CN" dirty="0" err="1" smtClean="0">
                <a:latin typeface="+mn-lt"/>
                <a:ea typeface="Microsoft YaHei" charset="-122"/>
                <a:cs typeface="Microsoft YaHei" charset="-122"/>
                <a:sym typeface="Wingdings"/>
              </a:rPr>
              <a:t>msync</a:t>
            </a:r>
            <a:endParaRPr kumimoji="1" lang="en-US" altLang="zh-CN" dirty="0" smtClean="0">
              <a:latin typeface="+mn-lt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901988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910383"/>
            <a:ext cx="5727506" cy="352521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54258" y="589775"/>
            <a:ext cx="5289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编程模型 </a:t>
            </a:r>
            <a:r>
              <a:rPr kumimoji="1" lang="mr-IN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–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PM-aware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文件系统</a:t>
            </a:r>
            <a:endParaRPr kumimoji="1" lang="en-US" altLang="zh-CN" sz="2400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023336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4258" y="615175"/>
            <a:ext cx="5289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存储系统设计问题 </a:t>
            </a:r>
            <a:r>
              <a:rPr kumimoji="1" lang="mr-IN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–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原子可见性</a:t>
            </a:r>
            <a:endParaRPr kumimoji="1" lang="en-US" altLang="zh-CN" sz="2400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5300" y="1790700"/>
            <a:ext cx="78994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 smtClean="0">
                <a:latin typeface="+mn-lt"/>
                <a:ea typeface="Microsoft YaHei" charset="-122"/>
                <a:cs typeface="Microsoft YaHei" charset="-122"/>
              </a:rPr>
              <a:t>为保证某段内存在某个时间仅被一个线程访问，需要注意的是原子可见性的问题</a:t>
            </a:r>
            <a:r>
              <a:rPr kumimoji="1" lang="en-US" altLang="zh-CN" sz="2000" dirty="0" smtClean="0">
                <a:latin typeface="+mn-lt"/>
                <a:ea typeface="Microsoft YaHei" charset="-122"/>
                <a:cs typeface="Microsoft YaHei" charset="-122"/>
              </a:rPr>
              <a:t>(Atomicity</a:t>
            </a:r>
            <a:r>
              <a:rPr kumimoji="1" lang="zh-CN" altLang="en-US" sz="2000" dirty="0" smtClean="0">
                <a:latin typeface="+mn-lt"/>
                <a:ea typeface="Microsoft YaHei" charset="-122"/>
                <a:cs typeface="Microsoft YaHei" charset="-122"/>
              </a:rPr>
              <a:t>或</a:t>
            </a:r>
            <a:r>
              <a:rPr kumimoji="1" lang="en-US" altLang="zh-CN" sz="2000" dirty="0" smtClean="0">
                <a:latin typeface="+mn-lt"/>
                <a:ea typeface="Microsoft YaHei" charset="-122"/>
                <a:cs typeface="Microsoft YaHei" charset="-122"/>
              </a:rPr>
              <a:t>Visibility)</a:t>
            </a:r>
            <a:r>
              <a:rPr kumimoji="1" lang="zh-CN" altLang="en-US" sz="2000" dirty="0" smtClean="0">
                <a:latin typeface="+mn-lt"/>
                <a:ea typeface="Microsoft YaHei" charset="-122"/>
                <a:cs typeface="Microsoft YaHei" charset="-122"/>
              </a:rPr>
              <a:t>，当前</a:t>
            </a:r>
            <a:r>
              <a:rPr kumimoji="1" lang="en-US" altLang="zh-CN" sz="2000" dirty="0" smtClean="0">
                <a:latin typeface="+mn-lt"/>
                <a:ea typeface="Microsoft YaHei" charset="-122"/>
                <a:cs typeface="Microsoft YaHei" charset="-122"/>
              </a:rPr>
              <a:t>x86</a:t>
            </a:r>
            <a:r>
              <a:rPr kumimoji="1" lang="zh-CN" altLang="en-US" sz="2000" dirty="0" smtClean="0">
                <a:latin typeface="+mn-lt"/>
                <a:ea typeface="Microsoft YaHei" charset="-122"/>
                <a:cs typeface="Microsoft YaHei" charset="-122"/>
              </a:rPr>
              <a:t>平台可以实现以下粒度的原子可见性：</a:t>
            </a:r>
            <a:endParaRPr kumimoji="1" lang="en-US" altLang="zh-CN" sz="2000" dirty="0">
              <a:latin typeface="+mn-lt"/>
              <a:ea typeface="Microsoft YaHei" charset="-122"/>
              <a:cs typeface="Microsoft YaHei" charset="-122"/>
            </a:endParaRPr>
          </a:p>
          <a:p>
            <a:endParaRPr kumimoji="1" lang="en-US" altLang="zh-CN" b="1" dirty="0" smtClean="0">
              <a:latin typeface="+mn-lt"/>
              <a:ea typeface="Microsoft YaHei" charset="-122"/>
              <a:cs typeface="Microsoft YaHei" charset="-122"/>
            </a:endParaRPr>
          </a:p>
          <a:p>
            <a:pPr lvl="1"/>
            <a:r>
              <a:rPr kumimoji="1" lang="en-US" altLang="zh-CN" b="1" dirty="0" smtClean="0">
                <a:latin typeface="+mn-lt"/>
                <a:ea typeface="Microsoft YaHei" charset="-122"/>
                <a:cs typeface="Microsoft YaHei" charset="-122"/>
              </a:rPr>
              <a:t>8 </a:t>
            </a:r>
            <a:r>
              <a:rPr kumimoji="1" lang="zh-CN" altLang="en-US" b="1" dirty="0">
                <a:latin typeface="+mn-lt"/>
                <a:ea typeface="Microsoft YaHei" charset="-122"/>
                <a:cs typeface="Microsoft YaHei" charset="-122"/>
              </a:rPr>
              <a:t>字节原子更新 </a:t>
            </a:r>
            <a:r>
              <a:rPr kumimoji="1" lang="en-US" altLang="zh-CN" dirty="0">
                <a:latin typeface="+mn-lt"/>
                <a:ea typeface="Microsoft YaHei" charset="-122"/>
                <a:cs typeface="Microsoft YaHei" charset="-122"/>
              </a:rPr>
              <a:t>64 </a:t>
            </a:r>
            <a:r>
              <a:rPr kumimoji="1" lang="zh-CN" altLang="en-US" dirty="0">
                <a:latin typeface="+mn-lt"/>
                <a:ea typeface="Microsoft YaHei" charset="-122"/>
                <a:cs typeface="Microsoft YaHei" charset="-122"/>
              </a:rPr>
              <a:t>位处理器的 </a:t>
            </a:r>
            <a:r>
              <a:rPr kumimoji="1" lang="en-US" altLang="zh-CN" dirty="0">
                <a:latin typeface="+mn-lt"/>
                <a:ea typeface="Microsoft YaHei" charset="-122"/>
                <a:cs typeface="Microsoft YaHei" charset="-122"/>
              </a:rPr>
              <a:t>store </a:t>
            </a:r>
            <a:r>
              <a:rPr kumimoji="1" lang="zh-CN" altLang="en-US" dirty="0">
                <a:latin typeface="+mn-lt"/>
                <a:ea typeface="Microsoft YaHei" charset="-122"/>
                <a:cs typeface="Microsoft YaHei" charset="-122"/>
              </a:rPr>
              <a:t>命令都是 </a:t>
            </a:r>
            <a:r>
              <a:rPr kumimoji="1" lang="en-US" altLang="zh-CN" dirty="0">
                <a:latin typeface="+mn-lt"/>
                <a:ea typeface="Microsoft YaHei" charset="-122"/>
                <a:cs typeface="Microsoft YaHei" charset="-122"/>
              </a:rPr>
              <a:t>8 </a:t>
            </a:r>
            <a:r>
              <a:rPr kumimoji="1" lang="zh-CN" altLang="en-US" dirty="0">
                <a:latin typeface="+mn-lt"/>
                <a:ea typeface="Microsoft YaHei" charset="-122"/>
                <a:cs typeface="Microsoft YaHei" charset="-122"/>
              </a:rPr>
              <a:t>字节粒度的原⼦更新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</a:rPr>
              <a:t>。</a:t>
            </a:r>
            <a:endParaRPr kumimoji="1" lang="en-US" altLang="zh-CN" dirty="0" smtClean="0">
              <a:latin typeface="+mn-lt"/>
              <a:ea typeface="Microsoft YaHei" charset="-122"/>
              <a:cs typeface="Microsoft YaHei" charset="-122"/>
            </a:endParaRPr>
          </a:p>
          <a:p>
            <a:pPr lvl="1"/>
            <a:endParaRPr kumimoji="1" lang="en-US" altLang="zh-CN" dirty="0" smtClean="0">
              <a:latin typeface="+mn-lt"/>
              <a:ea typeface="Microsoft YaHei" charset="-122"/>
              <a:cs typeface="Microsoft YaHei" charset="-122"/>
            </a:endParaRPr>
          </a:p>
          <a:p>
            <a:pPr lvl="1"/>
            <a:r>
              <a:rPr kumimoji="1" lang="en-US" altLang="zh-CN" b="1" dirty="0" smtClean="0">
                <a:latin typeface="+mn-lt"/>
                <a:ea typeface="Microsoft YaHei" charset="-122"/>
                <a:cs typeface="Microsoft YaHei" charset="-122"/>
              </a:rPr>
              <a:t>16 </a:t>
            </a:r>
            <a:r>
              <a:rPr kumimoji="1" lang="zh-CN" altLang="en-US" b="1" dirty="0">
                <a:latin typeface="+mn-lt"/>
                <a:ea typeface="Microsoft YaHei" charset="-122"/>
                <a:cs typeface="Microsoft YaHei" charset="-122"/>
              </a:rPr>
              <a:t>字节原子</a:t>
            </a:r>
            <a:r>
              <a:rPr kumimoji="1" lang="zh-CN" altLang="en-US" b="1" dirty="0" smtClean="0">
                <a:latin typeface="+mn-lt"/>
                <a:ea typeface="Microsoft YaHei" charset="-122"/>
                <a:cs typeface="Microsoft YaHei" charset="-122"/>
              </a:rPr>
              <a:t>更新 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</a:rPr>
              <a:t>现代</a:t>
            </a:r>
            <a:r>
              <a:rPr kumimoji="1" lang="zh-CN" altLang="en-US" dirty="0">
                <a:latin typeface="+mn-lt"/>
                <a:ea typeface="Microsoft YaHei" charset="-122"/>
                <a:cs typeface="Microsoft YaHei" charset="-122"/>
              </a:rPr>
              <a:t>处理器可以使⽤加 </a:t>
            </a:r>
            <a:r>
              <a:rPr kumimoji="1" lang="en-US" altLang="zh-CN" dirty="0">
                <a:latin typeface="+mn-lt"/>
                <a:ea typeface="Microsoft YaHei" charset="-122"/>
                <a:cs typeface="Microsoft YaHei" charset="-122"/>
              </a:rPr>
              <a:t>LOCK </a:t>
            </a:r>
            <a:r>
              <a:rPr kumimoji="1" lang="zh-CN" altLang="en-US" dirty="0">
                <a:latin typeface="+mn-lt"/>
                <a:ea typeface="Microsoft YaHei" charset="-122"/>
                <a:cs typeface="Microsoft YaHei" charset="-122"/>
              </a:rPr>
              <a:t>前缀的 </a:t>
            </a:r>
            <a:r>
              <a:rPr kumimoji="1" lang="en-US" altLang="zh-CN" dirty="0">
                <a:latin typeface="+mn-lt"/>
                <a:ea typeface="Microsoft YaHei" charset="-122"/>
                <a:cs typeface="Microsoft YaHei" charset="-122"/>
              </a:rPr>
              <a:t>cmpxchg16b </a:t>
            </a:r>
            <a:r>
              <a:rPr kumimoji="1" lang="zh-CN" altLang="en-US" dirty="0">
                <a:latin typeface="+mn-lt"/>
                <a:ea typeface="Microsoft YaHei" charset="-122"/>
                <a:cs typeface="Microsoft YaHei" charset="-122"/>
              </a:rPr>
              <a:t>指令实现 </a:t>
            </a:r>
            <a:r>
              <a:rPr kumimoji="1" lang="en-US" altLang="zh-CN" dirty="0">
                <a:latin typeface="+mn-lt"/>
                <a:ea typeface="Microsoft YaHei" charset="-122"/>
                <a:cs typeface="Microsoft YaHei" charset="-122"/>
              </a:rPr>
              <a:t>16 </a:t>
            </a:r>
            <a:r>
              <a:rPr kumimoji="1" lang="zh-CN" altLang="en-US" dirty="0">
                <a:latin typeface="+mn-lt"/>
                <a:ea typeface="Microsoft YaHei" charset="-122"/>
                <a:cs typeface="Microsoft YaHei" charset="-122"/>
              </a:rPr>
              <a:t>字节的原⼦写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</a:rPr>
              <a:t>。</a:t>
            </a:r>
            <a:endParaRPr kumimoji="1" lang="en-US" altLang="zh-CN" dirty="0" smtClean="0">
              <a:latin typeface="+mn-lt"/>
              <a:ea typeface="Microsoft YaHei" charset="-122"/>
              <a:cs typeface="Microsoft YaHei" charset="-122"/>
            </a:endParaRPr>
          </a:p>
          <a:p>
            <a:pPr lvl="1"/>
            <a:endParaRPr kumimoji="1" lang="en-US" altLang="zh-CN" dirty="0" smtClean="0">
              <a:latin typeface="+mn-lt"/>
              <a:ea typeface="Microsoft YaHei" charset="-122"/>
              <a:cs typeface="Microsoft YaHei" charset="-122"/>
            </a:endParaRPr>
          </a:p>
          <a:p>
            <a:pPr lvl="1"/>
            <a:r>
              <a:rPr kumimoji="1" lang="en-US" altLang="zh-CN" b="1" dirty="0" smtClean="0">
                <a:latin typeface="+mn-lt"/>
                <a:ea typeface="Microsoft YaHei" charset="-122"/>
                <a:cs typeface="Microsoft YaHei" charset="-122"/>
              </a:rPr>
              <a:t>64 </a:t>
            </a:r>
            <a:r>
              <a:rPr kumimoji="1" lang="zh-CN" altLang="en-US" b="1" dirty="0">
                <a:latin typeface="+mn-lt"/>
                <a:ea typeface="Microsoft YaHei" charset="-122"/>
                <a:cs typeface="Microsoft YaHei" charset="-122"/>
              </a:rPr>
              <a:t>字节 </a:t>
            </a:r>
            <a:r>
              <a:rPr kumimoji="1" lang="en-US" altLang="zh-CN" b="1" dirty="0">
                <a:latin typeface="+mn-lt"/>
                <a:ea typeface="Microsoft YaHei" charset="-122"/>
                <a:cs typeface="Microsoft YaHei" charset="-122"/>
              </a:rPr>
              <a:t>(</a:t>
            </a:r>
            <a:r>
              <a:rPr kumimoji="1" lang="en-US" altLang="zh-CN" b="1" dirty="0" err="1">
                <a:latin typeface="+mn-lt"/>
                <a:ea typeface="Microsoft YaHei" charset="-122"/>
                <a:cs typeface="Microsoft YaHei" charset="-122"/>
              </a:rPr>
              <a:t>cacheline</a:t>
            </a:r>
            <a:r>
              <a:rPr kumimoji="1" lang="en-US" altLang="zh-CN" b="1" dirty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kumimoji="1" lang="zh-CN" altLang="en-US" b="1" dirty="0">
                <a:latin typeface="+mn-lt"/>
                <a:ea typeface="Microsoft YaHei" charset="-122"/>
                <a:cs typeface="Microsoft YaHei" charset="-122"/>
              </a:rPr>
              <a:t>粒度</a:t>
            </a:r>
            <a:r>
              <a:rPr kumimoji="1" lang="en-US" altLang="zh-CN" b="1" dirty="0">
                <a:latin typeface="+mn-lt"/>
                <a:ea typeface="Microsoft YaHei" charset="-122"/>
                <a:cs typeface="Microsoft YaHei" charset="-122"/>
              </a:rPr>
              <a:t>) </a:t>
            </a:r>
            <a:r>
              <a:rPr kumimoji="1" lang="zh-CN" altLang="en-US" b="1" dirty="0">
                <a:latin typeface="+mn-lt"/>
                <a:ea typeface="Microsoft YaHei" charset="-122"/>
                <a:cs typeface="Microsoft YaHei" charset="-122"/>
              </a:rPr>
              <a:t>原子</a:t>
            </a:r>
            <a:r>
              <a:rPr kumimoji="1" lang="zh-CN" altLang="en-US" b="1" dirty="0" smtClean="0">
                <a:latin typeface="+mn-lt"/>
                <a:ea typeface="Microsoft YaHei" charset="-122"/>
                <a:cs typeface="Microsoft YaHei" charset="-122"/>
              </a:rPr>
              <a:t>更新 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</a:rPr>
              <a:t>利</a:t>
            </a:r>
            <a:r>
              <a:rPr kumimoji="1" lang="zh-CN" altLang="en-US" dirty="0">
                <a:latin typeface="+mn-lt"/>
                <a:ea typeface="Microsoft YaHei" charset="-122"/>
                <a:cs typeface="Microsoft YaHei" charset="-122"/>
              </a:rPr>
              <a:t>⽤硬件事务型内存 </a:t>
            </a:r>
            <a:r>
              <a:rPr kumimoji="1" lang="en-US" altLang="zh-CN" dirty="0">
                <a:latin typeface="+mn-lt"/>
                <a:ea typeface="Microsoft YaHei" charset="-122"/>
                <a:cs typeface="Microsoft YaHei" charset="-122"/>
              </a:rPr>
              <a:t>(hardware transactional memory, HTM) 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</a:rPr>
              <a:t>可以</a:t>
            </a:r>
            <a:r>
              <a:rPr kumimoji="1" lang="zh-CN" altLang="en-US" dirty="0">
                <a:latin typeface="+mn-lt"/>
                <a:ea typeface="Microsoft YaHei" charset="-122"/>
                <a:cs typeface="Microsoft YaHei" charset="-122"/>
              </a:rPr>
              <a:t>在事务内保证可以保证某个 </a:t>
            </a:r>
            <a:r>
              <a:rPr kumimoji="1" lang="en-US" altLang="zh-CN" dirty="0" err="1">
                <a:latin typeface="+mn-lt"/>
                <a:ea typeface="Microsoft YaHei" charset="-122"/>
                <a:cs typeface="Microsoft YaHei" charset="-122"/>
              </a:rPr>
              <a:t>cacheline</a:t>
            </a:r>
            <a:r>
              <a:rPr kumimoji="1" lang="en-US" altLang="zh-CN" dirty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kumimoji="1" lang="zh-CN" altLang="en-US" dirty="0">
                <a:latin typeface="+mn-lt"/>
                <a:ea typeface="Microsoft YaHei" charset="-122"/>
                <a:cs typeface="Microsoft YaHei" charset="-122"/>
              </a:rPr>
              <a:t>的所有数据 不被刷⼊内存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</a:rPr>
              <a:t>。</a:t>
            </a:r>
            <a:endParaRPr kumimoji="1" lang="en-US" altLang="zh-CN" dirty="0" smtClean="0">
              <a:latin typeface="+mn-lt"/>
              <a:ea typeface="Microsoft YaHei" charset="-122"/>
              <a:cs typeface="Microsoft YaHei" charset="-122"/>
            </a:endParaRPr>
          </a:p>
          <a:p>
            <a:pPr lvl="1"/>
            <a:r>
              <a:rPr kumimoji="1" lang="en-US" altLang="zh-CN" sz="1400" dirty="0">
                <a:latin typeface="+mn-lt"/>
                <a:ea typeface="Microsoft YaHei" charset="-122"/>
                <a:cs typeface="Microsoft YaHei" charset="-122"/>
              </a:rPr>
              <a:t>(</a:t>
            </a:r>
            <a:r>
              <a:rPr kumimoji="1" lang="zh-CN" altLang="en-US" sz="1400" dirty="0" smtClean="0">
                <a:latin typeface="+mn-lt"/>
                <a:ea typeface="Microsoft YaHei" charset="-122"/>
                <a:cs typeface="Microsoft YaHei" charset="-122"/>
              </a:rPr>
              <a:t>要</a:t>
            </a:r>
            <a:r>
              <a:rPr kumimoji="1" lang="zh-CN" altLang="en-US" sz="1400" dirty="0">
                <a:latin typeface="+mn-lt"/>
                <a:ea typeface="Microsoft YaHei" charset="-122"/>
                <a:cs typeface="Microsoft YaHei" charset="-122"/>
              </a:rPr>
              <a:t>原⼦地更新某个 </a:t>
            </a:r>
            <a:r>
              <a:rPr kumimoji="1" lang="en-US" altLang="zh-CN" sz="1400" dirty="0" err="1">
                <a:latin typeface="+mn-lt"/>
                <a:ea typeface="Microsoft YaHei" charset="-122"/>
                <a:cs typeface="Microsoft YaHei" charset="-122"/>
              </a:rPr>
              <a:t>cacheline</a:t>
            </a:r>
            <a:r>
              <a:rPr kumimoji="1" lang="zh-CN" altLang="en-US" sz="1400" dirty="0">
                <a:latin typeface="+mn-lt"/>
                <a:ea typeface="Microsoft YaHei" charset="-122"/>
                <a:cs typeface="Microsoft YaHei" charset="-122"/>
              </a:rPr>
              <a:t>，⾸先⽤ </a:t>
            </a:r>
            <a:r>
              <a:rPr kumimoji="1" lang="en-US" altLang="zh-CN" sz="1400" dirty="0">
                <a:latin typeface="+mn-lt"/>
                <a:ea typeface="Microsoft YaHei" charset="-122"/>
                <a:cs typeface="Microsoft YaHei" charset="-122"/>
              </a:rPr>
              <a:t>XBEGIN </a:t>
            </a:r>
            <a:r>
              <a:rPr kumimoji="1" lang="zh-CN" altLang="en-US" sz="1400" dirty="0">
                <a:latin typeface="+mn-lt"/>
                <a:ea typeface="Microsoft YaHei" charset="-122"/>
                <a:cs typeface="Microsoft YaHei" charset="-122"/>
              </a:rPr>
              <a:t>开始⼀个 </a:t>
            </a:r>
            <a:r>
              <a:rPr kumimoji="1" lang="en-US" altLang="zh-CN" sz="1400" dirty="0">
                <a:latin typeface="+mn-lt"/>
                <a:ea typeface="Microsoft YaHei" charset="-122"/>
                <a:cs typeface="Microsoft YaHei" charset="-122"/>
              </a:rPr>
              <a:t>RTM </a:t>
            </a:r>
            <a:r>
              <a:rPr kumimoji="1" lang="zh-CN" altLang="en-US" sz="1400" dirty="0">
                <a:latin typeface="+mn-lt"/>
                <a:ea typeface="Microsoft YaHei" charset="-122"/>
                <a:cs typeface="Microsoft YaHei" charset="-122"/>
              </a:rPr>
              <a:t>事务，然后在是事务内对</a:t>
            </a:r>
            <a:r>
              <a:rPr kumimoji="1" lang="zh-CN" altLang="en-US" sz="1400" dirty="0" smtClean="0">
                <a:latin typeface="+mn-lt"/>
                <a:ea typeface="Microsoft YaHei" charset="-122"/>
                <a:cs typeface="Microsoft YaHei" charset="-122"/>
              </a:rPr>
              <a:t>⽬标 </a:t>
            </a:r>
            <a:r>
              <a:rPr kumimoji="1" lang="en-US" altLang="zh-CN" sz="1400" dirty="0" err="1">
                <a:latin typeface="+mn-lt"/>
                <a:ea typeface="Microsoft YaHei" charset="-122"/>
                <a:cs typeface="Microsoft YaHei" charset="-122"/>
              </a:rPr>
              <a:t>cacheline</a:t>
            </a:r>
            <a:r>
              <a:rPr kumimoji="1" lang="en-US" altLang="zh-CN" sz="1400" dirty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kumimoji="1" lang="zh-CN" altLang="en-US" sz="1400" dirty="0">
                <a:latin typeface="+mn-lt"/>
                <a:ea typeface="Microsoft YaHei" charset="-122"/>
                <a:cs typeface="Microsoft YaHei" charset="-122"/>
              </a:rPr>
              <a:t>进⾏所需的修改，最后写 </a:t>
            </a:r>
            <a:r>
              <a:rPr kumimoji="1" lang="en-US" altLang="zh-CN" sz="1400" dirty="0">
                <a:latin typeface="+mn-lt"/>
                <a:ea typeface="Microsoft YaHei" charset="-122"/>
                <a:cs typeface="Microsoft YaHei" charset="-122"/>
              </a:rPr>
              <a:t>XEND </a:t>
            </a:r>
            <a:r>
              <a:rPr kumimoji="1" lang="zh-CN" altLang="en-US" sz="1400" dirty="0">
                <a:latin typeface="+mn-lt"/>
                <a:ea typeface="Microsoft YaHei" charset="-122"/>
                <a:cs typeface="Microsoft YaHei" charset="-122"/>
              </a:rPr>
              <a:t>结束这个 事务。在事务完成后，再进⾏ </a:t>
            </a:r>
            <a:r>
              <a:rPr kumimoji="1" lang="en-US" altLang="zh-CN" sz="1400" dirty="0" err="1">
                <a:latin typeface="+mn-lt"/>
                <a:ea typeface="Microsoft YaHei" charset="-122"/>
                <a:cs typeface="Microsoft YaHei" charset="-122"/>
              </a:rPr>
              <a:t>clflush</a:t>
            </a:r>
            <a:r>
              <a:rPr kumimoji="1" lang="en-US" altLang="zh-CN" sz="1400" dirty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kumimoji="1" lang="zh-CN" altLang="en-US" sz="1400" dirty="0">
                <a:latin typeface="+mn-lt"/>
                <a:ea typeface="Microsoft YaHei" charset="-122"/>
                <a:cs typeface="Microsoft YaHei" charset="-122"/>
              </a:rPr>
              <a:t>等命令，保证被修 改过的 </a:t>
            </a:r>
            <a:r>
              <a:rPr kumimoji="1" lang="en-US" altLang="zh-CN" sz="1400" dirty="0" err="1">
                <a:latin typeface="+mn-lt"/>
                <a:ea typeface="Microsoft YaHei" charset="-122"/>
                <a:cs typeface="Microsoft YaHei" charset="-122"/>
              </a:rPr>
              <a:t>cacheline</a:t>
            </a:r>
            <a:r>
              <a:rPr kumimoji="1" lang="en-US" altLang="zh-CN" sz="1400" dirty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kumimoji="1" lang="zh-CN" altLang="en-US" sz="1400" dirty="0">
                <a:latin typeface="+mn-lt"/>
                <a:ea typeface="Microsoft YaHei" charset="-122"/>
                <a:cs typeface="Microsoft YaHei" charset="-122"/>
              </a:rPr>
              <a:t>就被原⼦地写回 </a:t>
            </a:r>
            <a:r>
              <a:rPr kumimoji="1" lang="en-US" altLang="zh-CN" sz="1400" dirty="0">
                <a:latin typeface="+mn-lt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1400" dirty="0" smtClean="0">
                <a:latin typeface="+mn-lt"/>
                <a:ea typeface="Microsoft YaHei" charset="-122"/>
                <a:cs typeface="Microsoft YaHei" charset="-122"/>
              </a:rPr>
              <a:t>。</a:t>
            </a:r>
            <a:r>
              <a:rPr kumimoji="1" lang="en-US" altLang="zh-CN" sz="1400" dirty="0" smtClean="0">
                <a:latin typeface="+mn-lt"/>
                <a:ea typeface="Microsoft YaHei" charset="-122"/>
                <a:cs typeface="Microsoft YaHei" charset="-122"/>
              </a:rPr>
              <a:t>)</a:t>
            </a:r>
            <a:endParaRPr kumimoji="1" lang="en-US" altLang="zh-CN" dirty="0" smtClean="0">
              <a:latin typeface="+mn-lt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19432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41558" y="615175"/>
            <a:ext cx="5289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存储系统设计问题 </a:t>
            </a:r>
            <a:r>
              <a:rPr kumimoji="1" lang="mr-IN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–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崩溃原子性</a:t>
            </a:r>
            <a:endParaRPr kumimoji="1" lang="en-US" altLang="zh-CN" sz="2400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6100" y="1663700"/>
            <a:ext cx="78994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 smtClean="0">
                <a:ea typeface="Microsoft YaHei" charset="-122"/>
                <a:cs typeface="Microsoft YaHei" charset="-122"/>
              </a:rPr>
              <a:t>存储系统的崩溃一致性：</a:t>
            </a:r>
            <a:endParaRPr kumimoji="1" lang="en-US" altLang="zh-CN" sz="2400" dirty="0" smtClean="0">
              <a:ea typeface="Microsoft YaHei" charset="-122"/>
              <a:cs typeface="Microsoft YaHei" charset="-122"/>
            </a:endParaRPr>
          </a:p>
          <a:p>
            <a:pPr lvl="1"/>
            <a:r>
              <a:rPr kumimoji="1" lang="zh-CN" altLang="en-US" dirty="0" smtClean="0">
                <a:ea typeface="Microsoft YaHei" charset="-122"/>
                <a:cs typeface="Microsoft YaHei" charset="-122"/>
              </a:rPr>
              <a:t>崩溃原子性</a:t>
            </a:r>
            <a:r>
              <a:rPr kumimoji="1" lang="en-US" altLang="zh-CN" dirty="0" smtClean="0">
                <a:ea typeface="Microsoft YaHei" charset="-122"/>
                <a:cs typeface="Microsoft YaHei" charset="-122"/>
              </a:rPr>
              <a:t>(Failure</a:t>
            </a:r>
            <a:r>
              <a:rPr kumimoji="1" lang="zh-CN" altLang="en-US" dirty="0" smtClean="0"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 smtClean="0">
                <a:ea typeface="Microsoft YaHei" charset="-122"/>
                <a:cs typeface="Microsoft YaHei" charset="-122"/>
              </a:rPr>
              <a:t>Atomicity)</a:t>
            </a:r>
            <a:r>
              <a:rPr kumimoji="1" lang="zh-CN" altLang="en-US" dirty="0" smtClean="0">
                <a:ea typeface="Microsoft YaHei" charset="-122"/>
                <a:cs typeface="Microsoft YaHei" charset="-122"/>
              </a:rPr>
              <a:t>问题，又可以称为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</a:rPr>
              <a:t>崩溃一致性</a:t>
            </a:r>
            <a:r>
              <a:rPr kumimoji="1" lang="en-US" altLang="zh-CN" dirty="0" smtClean="0">
                <a:latin typeface="+mn-lt"/>
                <a:ea typeface="Microsoft YaHei" charset="-122"/>
                <a:cs typeface="Microsoft YaHei" charset="-122"/>
              </a:rPr>
              <a:t>(Crash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 smtClean="0">
                <a:latin typeface="+mn-lt"/>
                <a:ea typeface="Microsoft YaHei" charset="-122"/>
                <a:cs typeface="Microsoft YaHei" charset="-122"/>
              </a:rPr>
              <a:t>Consistency)</a:t>
            </a:r>
            <a:r>
              <a:rPr kumimoji="1" lang="zh-CN" altLang="en-US" dirty="0" smtClean="0">
                <a:latin typeface="+mn-lt"/>
                <a:ea typeface="Microsoft YaHei" charset="-122"/>
                <a:cs typeface="Microsoft YaHei" charset="-122"/>
              </a:rPr>
              <a:t>问题。此问题是在设计存储系统中一定会遇到的问题。</a:t>
            </a:r>
            <a:endParaRPr kumimoji="1" lang="en-US" altLang="zh-CN" dirty="0" smtClean="0">
              <a:latin typeface="+mn-lt"/>
              <a:ea typeface="Microsoft YaHei" charset="-122"/>
              <a:cs typeface="Microsoft YaHei" charset="-122"/>
            </a:endParaRPr>
          </a:p>
          <a:p>
            <a:pPr lvl="1"/>
            <a:r>
              <a:rPr kumimoji="1" lang="en-US" altLang="zh-CN" sz="1400" dirty="0" smtClean="0">
                <a:latin typeface="+mn-lt"/>
                <a:ea typeface="Microsoft YaHei" charset="-122"/>
                <a:cs typeface="Microsoft YaHei" charset="-122"/>
              </a:rPr>
              <a:t>(</a:t>
            </a:r>
            <a:r>
              <a:rPr kumimoji="1" lang="zh-CN" altLang="en-US" sz="1400" dirty="0" smtClean="0">
                <a:latin typeface="+mn-lt"/>
                <a:ea typeface="Microsoft YaHei" charset="-122"/>
                <a:cs typeface="Microsoft YaHei" charset="-122"/>
              </a:rPr>
              <a:t>举个例子：</a:t>
            </a:r>
            <a:r>
              <a:rPr kumimoji="1" lang="en-US" altLang="zh-CN" sz="1400" dirty="0" smtClean="0">
                <a:latin typeface="+mn-lt"/>
                <a:ea typeface="Microsoft YaHei" charset="-122"/>
                <a:cs typeface="Microsoft YaHei" charset="-122"/>
              </a:rPr>
              <a:t>Linux</a:t>
            </a:r>
            <a:r>
              <a:rPr kumimoji="1" lang="zh-CN" altLang="en-US" sz="1400" dirty="0" smtClean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400" dirty="0" smtClean="0">
                <a:latin typeface="+mn-lt"/>
                <a:ea typeface="Microsoft YaHei" charset="-122"/>
                <a:cs typeface="Microsoft YaHei" charset="-122"/>
              </a:rPr>
              <a:t>ext4</a:t>
            </a:r>
            <a:r>
              <a:rPr kumimoji="1" lang="zh-CN" altLang="en-US" sz="1400" dirty="0" smtClean="0">
                <a:latin typeface="+mn-lt"/>
                <a:ea typeface="Microsoft YaHei" charset="-122"/>
                <a:cs typeface="Microsoft YaHei" charset="-122"/>
              </a:rPr>
              <a:t>等文件系统称为日志文件系统，因为它靠日志机制来保证崩溃一致性</a:t>
            </a:r>
            <a:r>
              <a:rPr kumimoji="1" lang="en-US" altLang="zh-CN" sz="1400" dirty="0" smtClean="0">
                <a:latin typeface="+mn-lt"/>
                <a:ea typeface="Microsoft YaHei" charset="-122"/>
                <a:cs typeface="Microsoft YaHei" charset="-122"/>
              </a:rPr>
              <a:t>)</a:t>
            </a:r>
          </a:p>
          <a:p>
            <a:endParaRPr kumimoji="1" lang="en-US" altLang="zh-CN" dirty="0" smtClean="0">
              <a:latin typeface="+mn-lt"/>
              <a:ea typeface="Microsoft YaHei" charset="-122"/>
              <a:cs typeface="Microsoft YaHei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20700" y="2839810"/>
            <a:ext cx="71882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kumimoji="1" lang="en-US" altLang="zh-CN" dirty="0">
              <a:ea typeface="Microsoft YaHei" charset="-122"/>
              <a:cs typeface="Microsoft YaHei" charset="-122"/>
            </a:endParaRPr>
          </a:p>
          <a:p>
            <a:r>
              <a:rPr kumimoji="1" lang="zh-CN" altLang="en-US" sz="2400" dirty="0">
                <a:ea typeface="Microsoft YaHei" charset="-122"/>
                <a:cs typeface="Microsoft YaHei" charset="-122"/>
              </a:rPr>
              <a:t>基于</a:t>
            </a:r>
            <a:r>
              <a:rPr kumimoji="1" lang="en-US" altLang="zh-CN" sz="2400" dirty="0"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2400" dirty="0">
                <a:ea typeface="Microsoft YaHei" charset="-122"/>
                <a:cs typeface="Microsoft YaHei" charset="-122"/>
              </a:rPr>
              <a:t>的存储系统的崩溃一致性：</a:t>
            </a:r>
            <a:endParaRPr kumimoji="1" lang="en-US" altLang="zh-CN" dirty="0">
              <a:ea typeface="Microsoft YaHei" charset="-122"/>
              <a:cs typeface="Microsoft YaHei" charset="-122"/>
            </a:endParaRPr>
          </a:p>
          <a:p>
            <a:pPr lvl="1"/>
            <a:r>
              <a:rPr kumimoji="1" lang="en-US" altLang="zh-CN" dirty="0">
                <a:ea typeface="Microsoft YaHei" charset="-122"/>
                <a:cs typeface="Microsoft YaHei" charset="-122"/>
              </a:rPr>
              <a:t>x86</a:t>
            </a:r>
            <a:r>
              <a:rPr kumimoji="1" lang="zh-CN" altLang="en-US" dirty="0">
                <a:ea typeface="Microsoft YaHei" charset="-122"/>
                <a:cs typeface="Microsoft YaHei" charset="-122"/>
              </a:rPr>
              <a:t>平台的</a:t>
            </a:r>
            <a:r>
              <a:rPr kumimoji="1" lang="en-US" altLang="zh-CN" dirty="0">
                <a:ea typeface="Microsoft YaHei" charset="-122"/>
                <a:cs typeface="Microsoft YaHei" charset="-122"/>
              </a:rPr>
              <a:t>Failure</a:t>
            </a:r>
            <a:r>
              <a:rPr kumimoji="1" lang="zh-CN" altLang="en-US" dirty="0"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>
                <a:ea typeface="Microsoft YaHei" charset="-122"/>
                <a:cs typeface="Microsoft YaHei" charset="-122"/>
              </a:rPr>
              <a:t>atomicity</a:t>
            </a:r>
            <a:r>
              <a:rPr kumimoji="1" lang="zh-CN" altLang="en-US" dirty="0">
                <a:ea typeface="Microsoft YaHei" charset="-122"/>
                <a:cs typeface="Microsoft YaHei" charset="-122"/>
              </a:rPr>
              <a:t> 仅为</a:t>
            </a:r>
            <a:r>
              <a:rPr kumimoji="1" lang="en-US" altLang="zh-CN" dirty="0">
                <a:ea typeface="Microsoft YaHei" charset="-122"/>
                <a:cs typeface="Microsoft YaHei" charset="-122"/>
              </a:rPr>
              <a:t>8</a:t>
            </a:r>
            <a:r>
              <a:rPr kumimoji="1" lang="zh-CN" altLang="en-US" dirty="0">
                <a:ea typeface="Microsoft YaHei" charset="-122"/>
                <a:cs typeface="Microsoft YaHei" charset="-122"/>
              </a:rPr>
              <a:t>字节。注意：虽然</a:t>
            </a:r>
            <a:r>
              <a:rPr kumimoji="1" lang="en-US" altLang="zh-CN" dirty="0">
                <a:ea typeface="Microsoft YaHei" charset="-122"/>
                <a:cs typeface="Microsoft YaHei" charset="-122"/>
              </a:rPr>
              <a:t>cache</a:t>
            </a:r>
            <a:r>
              <a:rPr kumimoji="1" lang="zh-CN" altLang="en-US" dirty="0">
                <a:ea typeface="Microsoft YaHei" charset="-122"/>
                <a:cs typeface="Microsoft YaHei" charset="-122"/>
              </a:rPr>
              <a:t>以</a:t>
            </a:r>
            <a:r>
              <a:rPr kumimoji="1" lang="en-US" altLang="zh-CN" dirty="0">
                <a:ea typeface="Microsoft YaHei" charset="-122"/>
                <a:cs typeface="Microsoft YaHei" charset="-122"/>
              </a:rPr>
              <a:t>64</a:t>
            </a:r>
            <a:r>
              <a:rPr kumimoji="1" lang="zh-CN" altLang="en-US" dirty="0">
                <a:ea typeface="Microsoft YaHei" charset="-122"/>
                <a:cs typeface="Microsoft YaHei" charset="-122"/>
              </a:rPr>
              <a:t>字节的</a:t>
            </a:r>
            <a:r>
              <a:rPr kumimoji="1" lang="en-US" altLang="zh-CN" dirty="0" err="1">
                <a:ea typeface="Microsoft YaHei" charset="-122"/>
                <a:cs typeface="Microsoft YaHei" charset="-122"/>
              </a:rPr>
              <a:t>cacheline</a:t>
            </a:r>
            <a:r>
              <a:rPr kumimoji="1" lang="zh-CN" altLang="en-US" dirty="0">
                <a:ea typeface="Microsoft YaHei" charset="-122"/>
                <a:cs typeface="Microsoft YaHei" charset="-122"/>
              </a:rPr>
              <a:t>大小为粒度进行</a:t>
            </a:r>
            <a:r>
              <a:rPr kumimoji="1" lang="en-US" altLang="zh-CN" dirty="0">
                <a:ea typeface="Microsoft YaHei" charset="-122"/>
                <a:cs typeface="Microsoft YaHei" charset="-122"/>
              </a:rPr>
              <a:t>cache</a:t>
            </a:r>
            <a:r>
              <a:rPr kumimoji="1" lang="zh-CN" altLang="en-US" dirty="0">
                <a:ea typeface="Microsoft YaHei" charset="-122"/>
                <a:cs typeface="Microsoft YaHei" charset="-122"/>
              </a:rPr>
              <a:t>到内存的数据传输，但硬件上仍然分</a:t>
            </a:r>
            <a:r>
              <a:rPr kumimoji="1" lang="en-US" altLang="zh-CN" dirty="0">
                <a:ea typeface="Microsoft YaHei" charset="-122"/>
                <a:cs typeface="Microsoft YaHei" charset="-122"/>
              </a:rPr>
              <a:t>8</a:t>
            </a:r>
            <a:r>
              <a:rPr kumimoji="1" lang="zh-CN" altLang="en-US" dirty="0">
                <a:ea typeface="Microsoft YaHei" charset="-122"/>
                <a:cs typeface="Microsoft YaHei" charset="-122"/>
              </a:rPr>
              <a:t>次</a:t>
            </a:r>
            <a:r>
              <a:rPr kumimoji="1" lang="en-US" altLang="zh-CN" dirty="0">
                <a:ea typeface="Microsoft YaHei" charset="-122"/>
                <a:cs typeface="Microsoft YaHei" charset="-122"/>
              </a:rPr>
              <a:t>(</a:t>
            </a:r>
            <a:r>
              <a:rPr kumimoji="1" lang="zh-CN" altLang="en-US" dirty="0">
                <a:ea typeface="Microsoft YaHei" charset="-122"/>
                <a:cs typeface="Microsoft YaHei" charset="-122"/>
              </a:rPr>
              <a:t>每次</a:t>
            </a:r>
            <a:r>
              <a:rPr kumimoji="1" lang="en-US" altLang="zh-CN" dirty="0">
                <a:ea typeface="Microsoft YaHei" charset="-122"/>
                <a:cs typeface="Microsoft YaHei" charset="-122"/>
              </a:rPr>
              <a:t>8</a:t>
            </a:r>
            <a:r>
              <a:rPr kumimoji="1" lang="zh-CN" altLang="en-US" dirty="0">
                <a:ea typeface="Microsoft YaHei" charset="-122"/>
                <a:cs typeface="Microsoft YaHei" charset="-122"/>
              </a:rPr>
              <a:t>字节</a:t>
            </a:r>
            <a:r>
              <a:rPr kumimoji="1" lang="en-US" altLang="zh-CN" dirty="0">
                <a:ea typeface="Microsoft YaHei" charset="-122"/>
                <a:cs typeface="Microsoft YaHei" charset="-122"/>
              </a:rPr>
              <a:t>)</a:t>
            </a:r>
            <a:r>
              <a:rPr kumimoji="1" lang="zh-CN" altLang="en-US" dirty="0">
                <a:ea typeface="Microsoft YaHei" charset="-122"/>
                <a:cs typeface="Microsoft YaHei" charset="-122"/>
              </a:rPr>
              <a:t>进行传输，所以即使是同一</a:t>
            </a:r>
            <a:r>
              <a:rPr kumimoji="1" lang="en-US" altLang="zh-CN" dirty="0" err="1">
                <a:ea typeface="Microsoft YaHei" charset="-122"/>
                <a:cs typeface="Microsoft YaHei" charset="-122"/>
              </a:rPr>
              <a:t>cacheline</a:t>
            </a:r>
            <a:r>
              <a:rPr kumimoji="1" lang="zh-CN" altLang="en-US" dirty="0">
                <a:ea typeface="Microsoft YaHei" charset="-122"/>
                <a:cs typeface="Microsoft YaHei" charset="-122"/>
              </a:rPr>
              <a:t>，也会被系统崩溃或断电打断。</a:t>
            </a:r>
            <a:endParaRPr kumimoji="1" lang="en-US" altLang="zh-CN" dirty="0">
              <a:ea typeface="Microsoft YaHei" charset="-122"/>
              <a:cs typeface="Microsoft YaHei" charset="-122"/>
            </a:endParaRPr>
          </a:p>
          <a:p>
            <a:pPr lvl="1"/>
            <a:endParaRPr kumimoji="1" lang="en-US" altLang="zh-CN" dirty="0">
              <a:ea typeface="Microsoft YaHei" charset="-122"/>
              <a:cs typeface="Microsoft YaHei" charset="-122"/>
            </a:endParaRPr>
          </a:p>
          <a:p>
            <a:pPr lvl="1"/>
            <a:r>
              <a:rPr kumimoji="1" lang="zh-CN" altLang="en-US" dirty="0">
                <a:ea typeface="Microsoft YaHei" charset="-122"/>
                <a:cs typeface="Microsoft YaHei" charset="-122"/>
              </a:rPr>
              <a:t>因此，任何大于</a:t>
            </a:r>
            <a:r>
              <a:rPr kumimoji="1" lang="en-US" altLang="zh-CN" dirty="0">
                <a:ea typeface="Microsoft YaHei" charset="-122"/>
                <a:cs typeface="Microsoft YaHei" charset="-122"/>
              </a:rPr>
              <a:t>8</a:t>
            </a:r>
            <a:r>
              <a:rPr kumimoji="1" lang="zh-CN" altLang="en-US" dirty="0">
                <a:ea typeface="Microsoft YaHei" charset="-122"/>
                <a:cs typeface="Microsoft YaHei" charset="-122"/>
              </a:rPr>
              <a:t>字节的持久化操作，都要用额外的崩溃一致性机制保证整个存储一系统的一致性。</a:t>
            </a:r>
            <a:endParaRPr kumimoji="1" lang="en-US" altLang="zh-CN" dirty="0">
              <a:ea typeface="Microsoft YaHei" charset="-122"/>
              <a:cs typeface="Microsoft YaHei" charset="-122"/>
            </a:endParaRPr>
          </a:p>
          <a:p>
            <a:pPr lvl="1"/>
            <a:endParaRPr kumimoji="1" lang="en-US" altLang="zh-CN" dirty="0">
              <a:ea typeface="Microsoft YaHei" charset="-122"/>
              <a:cs typeface="Microsoft YaHei" charset="-122"/>
            </a:endParaRPr>
          </a:p>
          <a:p>
            <a:pPr lvl="1"/>
            <a:r>
              <a:rPr kumimoji="1" lang="zh-CN" altLang="en-US" dirty="0">
                <a:ea typeface="Microsoft YaHei" charset="-122"/>
                <a:cs typeface="Microsoft YaHei" charset="-122"/>
              </a:rPr>
              <a:t>常用的方法有顺序写、日志、日志结构等方法。</a:t>
            </a:r>
            <a:endParaRPr kumimoji="1" lang="en-US" altLang="zh-CN" dirty="0"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373676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54258" y="589775"/>
            <a:ext cx="5289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PMDK</a:t>
            </a:r>
            <a:endParaRPr kumimoji="1" lang="en-US" altLang="zh-CN" sz="2400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1565120"/>
            <a:ext cx="8128000" cy="44198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200400" y="6375401"/>
            <a:ext cx="558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00" dirty="0" smtClean="0"/>
              <a:t>摘自 </a:t>
            </a:r>
            <a:r>
              <a:rPr kumimoji="1" lang="en-US" altLang="zh-CN" sz="1000" dirty="0" smtClean="0"/>
              <a:t>Paul</a:t>
            </a:r>
            <a:r>
              <a:rPr kumimoji="1" lang="zh-CN" altLang="en-US" sz="1000" dirty="0" smtClean="0"/>
              <a:t> </a:t>
            </a:r>
            <a:r>
              <a:rPr kumimoji="1" lang="en-US" altLang="zh-CN" sz="1000" dirty="0" err="1" smtClean="0"/>
              <a:t>Luse</a:t>
            </a:r>
            <a:r>
              <a:rPr kumimoji="1" lang="zh-CN" altLang="en-US" sz="1000" dirty="0" smtClean="0"/>
              <a:t> </a:t>
            </a:r>
            <a:r>
              <a:rPr kumimoji="1" lang="en-US" altLang="zh-CN" sz="1000" dirty="0" smtClean="0"/>
              <a:t>《SPDK</a:t>
            </a:r>
            <a:r>
              <a:rPr kumimoji="1" lang="zh-CN" altLang="en-US" sz="1000" dirty="0" smtClean="0"/>
              <a:t> </a:t>
            </a:r>
            <a:r>
              <a:rPr kumimoji="1" lang="en-US" altLang="zh-CN" sz="1000" dirty="0" smtClean="0"/>
              <a:t>&amp;</a:t>
            </a:r>
            <a:r>
              <a:rPr kumimoji="1" lang="zh-CN" altLang="en-US" sz="1000" dirty="0" smtClean="0"/>
              <a:t> </a:t>
            </a:r>
            <a:r>
              <a:rPr kumimoji="1" lang="en-US" altLang="zh-CN" sz="1000" dirty="0" smtClean="0"/>
              <a:t>PMDK:</a:t>
            </a:r>
            <a:r>
              <a:rPr kumimoji="1" lang="zh-CN" altLang="en-US" sz="1000" dirty="0" smtClean="0"/>
              <a:t> </a:t>
            </a:r>
            <a:r>
              <a:rPr kumimoji="1" lang="en-US" altLang="zh-CN" sz="1000" dirty="0" smtClean="0"/>
              <a:t>Two</a:t>
            </a:r>
            <a:r>
              <a:rPr kumimoji="1" lang="zh-CN" altLang="en-US" sz="1000" dirty="0" smtClean="0"/>
              <a:t> </a:t>
            </a:r>
            <a:r>
              <a:rPr kumimoji="1" lang="en-US" altLang="zh-CN" sz="1000" dirty="0" smtClean="0"/>
              <a:t>Open</a:t>
            </a:r>
            <a:r>
              <a:rPr kumimoji="1" lang="zh-CN" altLang="en-US" sz="1000" dirty="0" smtClean="0"/>
              <a:t> </a:t>
            </a:r>
            <a:r>
              <a:rPr kumimoji="1" lang="en-US" altLang="zh-CN" sz="1000" dirty="0" smtClean="0"/>
              <a:t>Source</a:t>
            </a:r>
            <a:r>
              <a:rPr kumimoji="1" lang="zh-CN" altLang="en-US" sz="1000" dirty="0" smtClean="0"/>
              <a:t> </a:t>
            </a:r>
            <a:r>
              <a:rPr kumimoji="1" lang="en-US" altLang="zh-CN" sz="1000" dirty="0" smtClean="0"/>
              <a:t>Development</a:t>
            </a:r>
            <a:r>
              <a:rPr kumimoji="1" lang="zh-CN" altLang="en-US" sz="1000" dirty="0" smtClean="0"/>
              <a:t> </a:t>
            </a:r>
            <a:r>
              <a:rPr kumimoji="1" lang="en-US" altLang="zh-CN" sz="1000" dirty="0" smtClean="0"/>
              <a:t>Kits</a:t>
            </a:r>
            <a:r>
              <a:rPr kumimoji="1" lang="zh-CN" altLang="en-US" sz="1000" dirty="0" smtClean="0"/>
              <a:t> </a:t>
            </a:r>
            <a:r>
              <a:rPr kumimoji="1" lang="en-US" altLang="zh-CN" sz="1000" dirty="0" smtClean="0"/>
              <a:t>for</a:t>
            </a:r>
            <a:r>
              <a:rPr kumimoji="1" lang="zh-CN" altLang="en-US" sz="1000" dirty="0" smtClean="0"/>
              <a:t> </a:t>
            </a:r>
            <a:r>
              <a:rPr kumimoji="1" lang="en-US" altLang="zh-CN" sz="1000" dirty="0" smtClean="0"/>
              <a:t>the</a:t>
            </a:r>
            <a:r>
              <a:rPr kumimoji="1" lang="zh-CN" altLang="en-US" sz="1000" dirty="0"/>
              <a:t> </a:t>
            </a:r>
            <a:r>
              <a:rPr kumimoji="1" lang="en-US" altLang="zh-CN" sz="1000" dirty="0" smtClean="0"/>
              <a:t>Evolving</a:t>
            </a:r>
            <a:r>
              <a:rPr kumimoji="1" lang="zh-CN" altLang="en-US" sz="1000" dirty="0" smtClean="0"/>
              <a:t> </a:t>
            </a:r>
            <a:r>
              <a:rPr kumimoji="1" lang="en-US" altLang="zh-CN" sz="1000" dirty="0" smtClean="0"/>
              <a:t>NVM</a:t>
            </a:r>
            <a:r>
              <a:rPr kumimoji="1" lang="zh-CN" altLang="en-US" sz="1000" dirty="0" smtClean="0"/>
              <a:t> </a:t>
            </a:r>
            <a:r>
              <a:rPr kumimoji="1" lang="en-US" altLang="zh-CN" sz="1000" dirty="0" smtClean="0"/>
              <a:t>Landscape》</a:t>
            </a:r>
            <a:endParaRPr kumimoji="1"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0138157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376717" y="1173975"/>
            <a:ext cx="1107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dirty="0" smtClean="0">
                <a:solidFill>
                  <a:schemeClr val="bg1">
                    <a:lumMod val="95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  <a:endParaRPr kumimoji="1" lang="en-US" altLang="zh-CN" sz="3600" dirty="0" smtClean="0">
              <a:solidFill>
                <a:schemeClr val="bg1">
                  <a:lumMod val="9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82900" y="1574800"/>
            <a:ext cx="558800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0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连接</a:t>
            </a:r>
            <a:r>
              <a:rPr kumimoji="1" lang="zh-CN" altLang="en-US" sz="20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更高速</a:t>
            </a:r>
            <a:r>
              <a:rPr kumimoji="1" lang="en-US" altLang="zh-CN" sz="20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SSD</a:t>
            </a:r>
            <a:r>
              <a:rPr kumimoji="1" lang="zh-CN" altLang="en-US" sz="20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0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—</a:t>
            </a:r>
            <a:r>
              <a:rPr kumimoji="1" lang="zh-CN" altLang="en-US" sz="20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endParaRPr kumimoji="1" lang="en-US" altLang="zh-CN" dirty="0" smtClean="0">
              <a:solidFill>
                <a:schemeClr val="bg2">
                  <a:lumMod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SzPct val="50000"/>
              <a:buFont typeface="Wingdings" charset="2"/>
              <a:buChar char="l"/>
            </a:pPr>
            <a:r>
              <a:rPr kumimoji="1" lang="en-US" altLang="zh-CN" sz="1600" dirty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1600" dirty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性能</a:t>
            </a:r>
            <a:endParaRPr kumimoji="1" lang="en-US" altLang="zh-CN" sz="1600" dirty="0">
              <a:solidFill>
                <a:schemeClr val="bg2">
                  <a:lumMod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SzPct val="50000"/>
              <a:buFont typeface="Wingdings" charset="2"/>
              <a:buChar char="l"/>
            </a:pPr>
            <a:r>
              <a:rPr kumimoji="1" lang="en-US" altLang="zh-CN" sz="1600" dirty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1600" dirty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协议</a:t>
            </a:r>
            <a:endParaRPr kumimoji="1" lang="en-US" altLang="zh-CN" sz="1600" dirty="0">
              <a:solidFill>
                <a:schemeClr val="bg2">
                  <a:lumMod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SzPct val="50000"/>
              <a:buFont typeface="Wingdings" charset="2"/>
              <a:buChar char="l"/>
            </a:pPr>
            <a:r>
              <a:rPr kumimoji="1" lang="zh-CN" altLang="en-US" sz="1600" dirty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高性能给存储系统带来的挑战</a:t>
            </a:r>
            <a:endParaRPr kumimoji="1" lang="en-US" altLang="zh-CN" sz="1600" dirty="0">
              <a:solidFill>
                <a:schemeClr val="bg2">
                  <a:lumMod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SzPct val="50000"/>
              <a:buFont typeface="Wingdings" charset="2"/>
              <a:buChar char="l"/>
            </a:pPr>
            <a:r>
              <a:rPr kumimoji="1" lang="zh-CN" altLang="en-US" sz="1600" dirty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用户态</a:t>
            </a:r>
            <a:r>
              <a:rPr kumimoji="1" lang="en-US" altLang="zh-CN" sz="1600" dirty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1600" dirty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驱动</a:t>
            </a:r>
            <a:endParaRPr kumimoji="1" lang="en-US" altLang="zh-CN" sz="1600" dirty="0">
              <a:solidFill>
                <a:schemeClr val="bg2">
                  <a:lumMod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0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   横跨内存与存储的 </a:t>
            </a:r>
            <a:r>
              <a:rPr kumimoji="1" lang="en-US" altLang="zh-CN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Persistent</a:t>
            </a:r>
            <a:r>
              <a:rPr kumimoji="1" lang="zh-CN" altLang="en-US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Memory</a:t>
            </a:r>
          </a:p>
          <a:p>
            <a:pPr marL="1257300" lvl="2" indent="-342900">
              <a:buSzPct val="50000"/>
              <a:buFont typeface="Wingdings" charset="2"/>
              <a:buChar char="l"/>
            </a:pPr>
            <a:r>
              <a:rPr kumimoji="1" lang="zh-CN" altLang="en-US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内存</a:t>
            </a:r>
            <a:r>
              <a:rPr kumimoji="1" lang="zh-CN" altLang="en-US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、存储与</a:t>
            </a:r>
            <a:r>
              <a:rPr kumimoji="1" lang="en-US" altLang="zh-CN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</a:p>
          <a:p>
            <a:pPr marL="1257300" lvl="2" indent="-342900">
              <a:buSzPct val="50000"/>
              <a:buFont typeface="Wingdings" charset="2"/>
              <a:buChar char="l"/>
            </a:pPr>
            <a:r>
              <a:rPr kumimoji="1" lang="en-US" altLang="zh-CN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编程模型</a:t>
            </a:r>
            <a:endParaRPr kumimoji="1" lang="en-US" altLang="zh-CN" sz="1600" dirty="0" smtClean="0">
              <a:solidFill>
                <a:schemeClr val="bg2">
                  <a:lumMod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57300" lvl="2" indent="-342900">
              <a:buSzPct val="50000"/>
              <a:buFont typeface="Wingdings" charset="2"/>
              <a:buChar char="l"/>
            </a:pPr>
            <a:r>
              <a:rPr kumimoji="1" lang="zh-CN" altLang="en-US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基于</a:t>
            </a:r>
            <a:r>
              <a:rPr kumimoji="1" lang="en-US" altLang="zh-CN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的存储系统设计</a:t>
            </a:r>
            <a:endParaRPr kumimoji="1" lang="en-US" altLang="zh-CN" sz="1600" dirty="0" smtClean="0">
              <a:solidFill>
                <a:schemeClr val="bg2">
                  <a:lumMod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57300" lvl="2" indent="-342900">
              <a:buSzPct val="50000"/>
              <a:buFont typeface="Wingdings" charset="2"/>
              <a:buChar char="l"/>
            </a:pPr>
            <a:r>
              <a:rPr kumimoji="1" lang="en-US" altLang="zh-CN" sz="1600" dirty="0" smtClean="0">
                <a:solidFill>
                  <a:schemeClr val="bg2">
                    <a:lumMod val="50000"/>
                  </a:schemeClr>
                </a:solidFill>
                <a:latin typeface="Microsoft YaHei" charset="-122"/>
                <a:ea typeface="Microsoft YaHei" charset="-122"/>
                <a:cs typeface="Microsoft YaHei" charset="-122"/>
              </a:rPr>
              <a:t>PMDK</a:t>
            </a:r>
            <a:endParaRPr kumimoji="1" lang="en-US" altLang="zh-CN" sz="1600" dirty="0" smtClean="0">
              <a:solidFill>
                <a:schemeClr val="bg2">
                  <a:lumMod val="50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lnSpc>
                <a:spcPct val="150000"/>
              </a:lnSpc>
              <a:buClr>
                <a:schemeClr val="bg1">
                  <a:lumMod val="95000"/>
                </a:schemeClr>
              </a:buClr>
              <a:buSzPct val="75000"/>
              <a:buFont typeface="Wingdings" charset="2"/>
              <a:buChar char="l"/>
            </a:pPr>
            <a:r>
              <a:rPr kumimoji="1"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    新型分布式存储系统</a:t>
            </a:r>
            <a:endParaRPr kumimoji="1" lang="en-US" altLang="zh-CN" sz="2000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SzPct val="100000"/>
              <a:buFont typeface="Arial" charset="0"/>
              <a:buChar char="•"/>
            </a:pP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RDMA</a:t>
            </a:r>
          </a:p>
          <a:p>
            <a:pPr marL="1200150" lvl="2" indent="-285750">
              <a:buFont typeface="Arial" charset="0"/>
              <a:buChar char="•"/>
            </a:pP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over</a:t>
            </a:r>
            <a:r>
              <a:rPr kumimoji="1"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Fabrics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(NVMe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+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RDMA)</a:t>
            </a:r>
            <a:endParaRPr kumimoji="1" lang="en-US" altLang="zh-CN" sz="1600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200150" lvl="2" indent="-285750">
              <a:buFont typeface="Arial" charset="0"/>
              <a:buChar char="•"/>
            </a:pP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分布式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文件系统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Octopus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(PM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+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RDMA)</a:t>
            </a:r>
            <a:endParaRPr kumimoji="1" lang="en-US" altLang="zh-CN" sz="1600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181637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7" name="文本框 6"/>
          <p:cNvSpPr txBox="1"/>
          <p:nvPr/>
        </p:nvSpPr>
        <p:spPr>
          <a:xfrm>
            <a:off x="654258" y="589775"/>
            <a:ext cx="4781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先回顾一下</a:t>
            </a:r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DMA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mr-IN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–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作用</a:t>
            </a:r>
            <a:endParaRPr kumimoji="1" lang="en-US" altLang="zh-CN" sz="2400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6600" y="1473200"/>
            <a:ext cx="7507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DMA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即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Direct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Memory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Access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，它把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CPU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从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I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/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O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传输中“解放”出来。</a:t>
            </a:r>
            <a:endParaRPr kumimoji="1" lang="en-US" altLang="zh-CN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50" y="2743200"/>
            <a:ext cx="4406900" cy="7112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00" y="3854450"/>
            <a:ext cx="4241800" cy="901700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3200400" y="6246336"/>
            <a:ext cx="58039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00" b="1" dirty="0" smtClean="0">
                <a:solidFill>
                  <a:srgbClr val="000000"/>
                </a:solidFill>
                <a:latin typeface="PingFang SC" charset="-122"/>
              </a:rPr>
              <a:t>图片来自： </a:t>
            </a:r>
            <a:r>
              <a:rPr lang="en-US" altLang="zh-CN" sz="1000" b="1" dirty="0" smtClean="0">
                <a:solidFill>
                  <a:srgbClr val="000000"/>
                </a:solidFill>
                <a:latin typeface="PingFang SC" charset="-122"/>
              </a:rPr>
              <a:t>《Operating </a:t>
            </a:r>
            <a:r>
              <a:rPr lang="en-US" altLang="zh-CN" sz="1000" b="1" dirty="0">
                <a:solidFill>
                  <a:srgbClr val="000000"/>
                </a:solidFill>
                <a:latin typeface="PingFang SC" charset="-122"/>
              </a:rPr>
              <a:t>Systems: Three Easy </a:t>
            </a:r>
            <a:r>
              <a:rPr lang="en-US" altLang="zh-CN" sz="1000" b="1" dirty="0" smtClean="0">
                <a:solidFill>
                  <a:srgbClr val="000000"/>
                </a:solidFill>
                <a:latin typeface="PingFang SC" charset="-122"/>
              </a:rPr>
              <a:t>Pieces》</a:t>
            </a:r>
            <a:r>
              <a:rPr lang="en-US" altLang="zh-CN" sz="1000" dirty="0" smtClean="0"/>
              <a:t>,</a:t>
            </a:r>
            <a:r>
              <a:rPr lang="zh-CN" altLang="en-US" sz="1000" dirty="0" smtClean="0"/>
              <a:t> </a:t>
            </a:r>
            <a:r>
              <a:rPr lang="en-US" altLang="zh-CN" sz="1000" dirty="0" err="1" smtClean="0">
                <a:solidFill>
                  <a:srgbClr val="000000"/>
                </a:solidFill>
                <a:latin typeface="PingFang SC" charset="-122"/>
              </a:rPr>
              <a:t>Remzi</a:t>
            </a:r>
            <a:r>
              <a:rPr lang="en-US" altLang="zh-CN" sz="1000" dirty="0" smtClean="0">
                <a:solidFill>
                  <a:srgbClr val="000000"/>
                </a:solidFill>
                <a:latin typeface="PingFang SC" charset="-122"/>
              </a:rPr>
              <a:t> </a:t>
            </a:r>
            <a:r>
              <a:rPr lang="en-US" altLang="zh-CN" sz="1000" dirty="0">
                <a:solidFill>
                  <a:srgbClr val="000000"/>
                </a:solidFill>
                <a:latin typeface="PingFang SC" charset="-122"/>
              </a:rPr>
              <a:t>H. </a:t>
            </a:r>
            <a:r>
              <a:rPr lang="en-US" altLang="zh-CN" sz="1000" dirty="0" err="1">
                <a:solidFill>
                  <a:srgbClr val="000000"/>
                </a:solidFill>
                <a:latin typeface="PingFang SC" charset="-122"/>
              </a:rPr>
              <a:t>Arpaci-Dusseau</a:t>
            </a:r>
            <a:r>
              <a:rPr lang="en-US" altLang="zh-CN" sz="1000" dirty="0">
                <a:solidFill>
                  <a:srgbClr val="000000"/>
                </a:solidFill>
                <a:latin typeface="PingFang SC" charset="-122"/>
              </a:rPr>
              <a:t> and Andrea </a:t>
            </a:r>
            <a:r>
              <a:rPr lang="en-US" altLang="zh-CN" sz="1000" dirty="0" smtClean="0">
                <a:solidFill>
                  <a:srgbClr val="000000"/>
                </a:solidFill>
                <a:latin typeface="PingFang SC" charset="-122"/>
              </a:rPr>
              <a:t>C.,</a:t>
            </a:r>
            <a:r>
              <a:rPr lang="zh-CN" altLang="en-US" sz="1000" dirty="0" smtClean="0">
                <a:solidFill>
                  <a:srgbClr val="000000"/>
                </a:solidFill>
                <a:latin typeface="PingFang SC" charset="-122"/>
              </a:rPr>
              <a:t> </a:t>
            </a:r>
            <a:r>
              <a:rPr lang="en-US" altLang="zh-CN" sz="1000" dirty="0" err="1" smtClean="0">
                <a:solidFill>
                  <a:srgbClr val="000000"/>
                </a:solidFill>
                <a:latin typeface="PingFang SC" charset="-122"/>
              </a:rPr>
              <a:t>Arpaci-Dusseau</a:t>
            </a:r>
            <a:r>
              <a:rPr lang="en-US" altLang="zh-CN" sz="1000" dirty="0" smtClean="0">
                <a:solidFill>
                  <a:srgbClr val="000000"/>
                </a:solidFill>
                <a:latin typeface="PingFang SC" charset="-122"/>
              </a:rPr>
              <a:t>,</a:t>
            </a:r>
            <a:r>
              <a:rPr lang="zh-CN" altLang="en-US" sz="1000" dirty="0" smtClean="0">
                <a:solidFill>
                  <a:srgbClr val="000000"/>
                </a:solidFill>
                <a:latin typeface="PingFang SC" charset="-122"/>
              </a:rPr>
              <a:t> </a:t>
            </a:r>
            <a:r>
              <a:rPr lang="en-US" altLang="zh-CN" sz="1000" dirty="0" err="1" smtClean="0">
                <a:solidFill>
                  <a:srgbClr val="000000"/>
                </a:solidFill>
                <a:latin typeface="PingFang SC" charset="-122"/>
              </a:rPr>
              <a:t>Arpaci-Dusseau</a:t>
            </a:r>
            <a:r>
              <a:rPr lang="en-US" altLang="zh-CN" sz="1000" dirty="0" smtClean="0">
                <a:solidFill>
                  <a:srgbClr val="000000"/>
                </a:solidFill>
                <a:latin typeface="PingFang SC" charset="-122"/>
              </a:rPr>
              <a:t> </a:t>
            </a:r>
            <a:r>
              <a:rPr lang="en-US" altLang="zh-CN" sz="1000" dirty="0">
                <a:solidFill>
                  <a:srgbClr val="000000"/>
                </a:solidFill>
                <a:latin typeface="PingFang SC" charset="-122"/>
              </a:rPr>
              <a:t>Books </a:t>
            </a:r>
            <a:r>
              <a:rPr lang="en-US" altLang="zh-CN" sz="1000" dirty="0" smtClean="0">
                <a:solidFill>
                  <a:srgbClr val="000000"/>
                </a:solidFill>
                <a:latin typeface="PingFang SC" charset="-122"/>
              </a:rPr>
              <a:t>,</a:t>
            </a:r>
            <a:r>
              <a:rPr lang="zh-CN" altLang="en-US" sz="1000" dirty="0" smtClean="0">
                <a:solidFill>
                  <a:srgbClr val="000000"/>
                </a:solidFill>
                <a:latin typeface="PingFang SC" charset="-122"/>
              </a:rPr>
              <a:t> </a:t>
            </a:r>
            <a:r>
              <a:rPr lang="en-US" altLang="zh-CN" sz="1000" dirty="0" smtClean="0">
                <a:solidFill>
                  <a:srgbClr val="000000"/>
                </a:solidFill>
                <a:latin typeface="PingFang SC" charset="-122"/>
              </a:rPr>
              <a:t>March</a:t>
            </a:r>
            <a:r>
              <a:rPr lang="en-US" altLang="zh-CN" sz="1000" dirty="0">
                <a:solidFill>
                  <a:srgbClr val="000000"/>
                </a:solidFill>
                <a:latin typeface="PingFang SC" charset="-122"/>
              </a:rPr>
              <a:t>, 2015 (Version 1.00) </a:t>
            </a:r>
            <a:endParaRPr lang="zh-CN" altLang="en-US" sz="1000" dirty="0"/>
          </a:p>
        </p:txBody>
      </p:sp>
      <p:sp>
        <p:nvSpPr>
          <p:cNvPr id="26" name="文本框 25"/>
          <p:cNvSpPr txBox="1"/>
          <p:nvPr/>
        </p:nvSpPr>
        <p:spPr>
          <a:xfrm>
            <a:off x="1244600" y="5054600"/>
            <a:ext cx="2463800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1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：要进行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IO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的进程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1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。</a:t>
            </a:r>
            <a:endParaRPr kumimoji="1" lang="en-US" altLang="zh-CN" sz="1400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2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：另外一个进程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2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。</a:t>
            </a:r>
            <a:endParaRPr kumimoji="1" lang="en-US" altLang="zh-CN" sz="1400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c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：以字长进行设备和内存间</a:t>
            </a:r>
            <a:endParaRPr kumimoji="1" lang="en-US" altLang="zh-CN" sz="1400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     的数据传输</a:t>
            </a:r>
            <a:endParaRPr kumimoji="1" lang="zh-CN" altLang="en-US" sz="14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737100" y="2794000"/>
            <a:ext cx="33602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 smtClean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没有</a:t>
            </a:r>
            <a:r>
              <a:rPr kumimoji="1" lang="en-US" altLang="zh-CN" sz="1600" dirty="0" smtClean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DMA</a:t>
            </a:r>
            <a:r>
              <a:rPr kumimoji="1" lang="zh-CN" altLang="en-US" sz="1600" dirty="0" smtClean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：数据传输由</a:t>
            </a:r>
            <a:r>
              <a:rPr kumimoji="1" lang="en-US" altLang="zh-CN" sz="1600" dirty="0" smtClean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CPU</a:t>
            </a:r>
            <a:r>
              <a:rPr kumimoji="1" lang="zh-CN" altLang="en-US" sz="1600" dirty="0" smtClean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负责。</a:t>
            </a:r>
            <a:endParaRPr kumimoji="1" lang="zh-CN" altLang="en-US" sz="1600" dirty="0">
              <a:solidFill>
                <a:srgbClr val="C0000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749800" y="4102100"/>
            <a:ext cx="38619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 smtClean="0">
                <a:solidFill>
                  <a:srgbClr val="00B050"/>
                </a:solidFill>
                <a:latin typeface="Microsoft YaHei" charset="-122"/>
                <a:ea typeface="Microsoft YaHei" charset="-122"/>
                <a:cs typeface="Microsoft YaHei" charset="-122"/>
              </a:rPr>
              <a:t>有</a:t>
            </a:r>
            <a:r>
              <a:rPr kumimoji="1" lang="en-US" altLang="zh-CN" sz="1600" dirty="0" smtClean="0">
                <a:solidFill>
                  <a:srgbClr val="00B050"/>
                </a:solidFill>
                <a:latin typeface="Microsoft YaHei" charset="-122"/>
                <a:ea typeface="Microsoft YaHei" charset="-122"/>
                <a:cs typeface="Microsoft YaHei" charset="-122"/>
              </a:rPr>
              <a:t>DMA</a:t>
            </a:r>
            <a:r>
              <a:rPr kumimoji="1" lang="zh-CN" altLang="en-US" sz="1600" dirty="0" smtClean="0">
                <a:solidFill>
                  <a:srgbClr val="00B050"/>
                </a:solidFill>
                <a:latin typeface="Microsoft YaHei" charset="-122"/>
                <a:ea typeface="Microsoft YaHei" charset="-122"/>
                <a:cs typeface="Microsoft YaHei" charset="-122"/>
              </a:rPr>
              <a:t>：数据传输从</a:t>
            </a:r>
            <a:r>
              <a:rPr kumimoji="1" lang="en-US" altLang="zh-CN" sz="1600" dirty="0" smtClean="0">
                <a:solidFill>
                  <a:srgbClr val="00B050"/>
                </a:solidFill>
                <a:latin typeface="Microsoft YaHei" charset="-122"/>
                <a:ea typeface="Microsoft YaHei" charset="-122"/>
                <a:cs typeface="Microsoft YaHei" charset="-122"/>
              </a:rPr>
              <a:t>CPU</a:t>
            </a:r>
            <a:r>
              <a:rPr kumimoji="1" lang="zh-CN" altLang="en-US" sz="1600" dirty="0" smtClean="0">
                <a:solidFill>
                  <a:srgbClr val="00B050"/>
                </a:solidFill>
                <a:latin typeface="Microsoft YaHei" charset="-122"/>
                <a:ea typeface="Microsoft YaHei" charset="-122"/>
                <a:cs typeface="Microsoft YaHei" charset="-122"/>
              </a:rPr>
              <a:t>卸载到</a:t>
            </a:r>
            <a:r>
              <a:rPr kumimoji="1" lang="en-US" altLang="zh-CN" sz="1600" dirty="0" smtClean="0">
                <a:solidFill>
                  <a:srgbClr val="00B050"/>
                </a:solidFill>
                <a:latin typeface="Microsoft YaHei" charset="-122"/>
                <a:ea typeface="Microsoft YaHei" charset="-122"/>
                <a:cs typeface="Microsoft YaHei" charset="-122"/>
              </a:rPr>
              <a:t>DMA</a:t>
            </a:r>
            <a:r>
              <a:rPr kumimoji="1" lang="zh-CN" altLang="en-US" sz="1600" dirty="0" smtClean="0">
                <a:solidFill>
                  <a:srgbClr val="00B050"/>
                </a:solidFill>
                <a:latin typeface="Microsoft YaHei" charset="-122"/>
                <a:ea typeface="Microsoft YaHei" charset="-122"/>
                <a:cs typeface="Microsoft YaHei" charset="-122"/>
              </a:rPr>
              <a:t>。</a:t>
            </a:r>
            <a:endParaRPr kumimoji="1" lang="zh-CN" altLang="en-US" sz="1600" dirty="0">
              <a:solidFill>
                <a:srgbClr val="00B05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176095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/>
      <p:bldP spid="2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4258" y="589775"/>
            <a:ext cx="4781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先回顾一下</a:t>
            </a:r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DMA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mr-IN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–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历史</a:t>
            </a:r>
            <a:endParaRPr kumimoji="1" lang="en-US" altLang="zh-CN" sz="2400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36900" y="6362701"/>
            <a:ext cx="5918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smtClean="0"/>
              <a:t>参考：</a:t>
            </a:r>
            <a:r>
              <a:rPr kumimoji="1" lang="en-US" altLang="zh-CN" sz="1200" dirty="0" smtClean="0"/>
              <a:t>https</a:t>
            </a:r>
            <a:r>
              <a:rPr kumimoji="1" lang="en-US" altLang="zh-CN" sz="1200" dirty="0"/>
              <a:t>://</a:t>
            </a:r>
            <a:r>
              <a:rPr kumimoji="1" lang="en-US" altLang="zh-CN" sz="1200" dirty="0" err="1"/>
              <a:t>geidav.wordpress.com</a:t>
            </a:r>
            <a:r>
              <a:rPr kumimoji="1" lang="en-US" altLang="zh-CN" sz="1200" dirty="0"/>
              <a:t>/2014/04/27/an-overview-of-direct-memory-access/</a:t>
            </a:r>
            <a:endParaRPr kumimoji="1" lang="zh-CN" altLang="en-US" sz="1200" dirty="0"/>
          </a:p>
        </p:txBody>
      </p:sp>
      <p:sp>
        <p:nvSpPr>
          <p:cNvPr id="11" name="文本框 10"/>
          <p:cNvSpPr txBox="1"/>
          <p:nvPr/>
        </p:nvSpPr>
        <p:spPr>
          <a:xfrm>
            <a:off x="165100" y="1905000"/>
            <a:ext cx="388620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80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年代：</a:t>
            </a:r>
            <a:endParaRPr kumimoji="1" lang="en-US" altLang="zh-CN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专门的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DMA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controller(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如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Intel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8237)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服务于所有使用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DMA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的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IO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设备。</a:t>
            </a:r>
            <a:endParaRPr kumimoji="1" lang="zh-CN" altLang="en-US" sz="14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grpSp>
        <p:nvGrpSpPr>
          <p:cNvPr id="13" name="组 12"/>
          <p:cNvGrpSpPr/>
          <p:nvPr/>
        </p:nvGrpSpPr>
        <p:grpSpPr>
          <a:xfrm>
            <a:off x="323850" y="4324350"/>
            <a:ext cx="3534665" cy="1682750"/>
            <a:chOff x="209550" y="3536950"/>
            <a:chExt cx="3534665" cy="1682750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9550" y="3536950"/>
              <a:ext cx="3534665" cy="168275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/>
          </p:nvSpPr>
          <p:spPr>
            <a:xfrm>
              <a:off x="812800" y="3568700"/>
              <a:ext cx="889000" cy="482600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6706" y="2082800"/>
            <a:ext cx="4868694" cy="18161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244600" y="5829300"/>
            <a:ext cx="16017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ISA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 总线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(1981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年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)</a:t>
            </a:r>
            <a:endParaRPr kumimoji="1" lang="zh-CN" altLang="en-US" sz="14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727700" y="3733800"/>
            <a:ext cx="16017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PCI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 总线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(1992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年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)</a:t>
            </a:r>
            <a:endParaRPr kumimoji="1" lang="zh-CN" altLang="en-US" sz="14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5150" y="4051300"/>
            <a:ext cx="4456168" cy="18669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5791200" y="5854700"/>
            <a:ext cx="16017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PCI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 总线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(2004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年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)</a:t>
            </a:r>
            <a:endParaRPr kumimoji="1" lang="zh-CN" altLang="en-US" sz="14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77800" y="2908300"/>
            <a:ext cx="397510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9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0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年代及现在：</a:t>
            </a:r>
            <a:endParaRPr kumimoji="1" lang="en-US" altLang="zh-CN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PCI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及</a:t>
            </a:r>
            <a:r>
              <a:rPr kumimoji="1" lang="en-US" altLang="zh-CN" sz="1400" dirty="0" err="1" smtClean="0">
                <a:latin typeface="Microsoft YaHei" charset="-122"/>
                <a:ea typeface="Microsoft YaHei" charset="-122"/>
                <a:cs typeface="Microsoft YaHei" charset="-122"/>
              </a:rPr>
              <a:t>PCIe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总线上不再有专门的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DMA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controller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，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DMA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engine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位于各个设备上。</a:t>
            </a:r>
            <a:endParaRPr kumimoji="1" lang="zh-CN" altLang="en-US" sz="14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966464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2" grpId="0"/>
      <p:bldP spid="2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4258" y="589775"/>
            <a:ext cx="4781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RDMA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mr-IN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–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远程的</a:t>
            </a:r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(</a:t>
            </a:r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R</a:t>
            </a:r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emote)DMA</a:t>
            </a:r>
            <a:endParaRPr kumimoji="1" lang="en-US" altLang="zh-CN" sz="2400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429000" y="6350001"/>
            <a:ext cx="462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 smtClean="0"/>
              <a:t>图来自：</a:t>
            </a:r>
            <a:r>
              <a:rPr kumimoji="1" lang="en-US" altLang="zh-CN" sz="1200" dirty="0" smtClean="0"/>
              <a:t>https</a:t>
            </a:r>
            <a:r>
              <a:rPr kumimoji="1" lang="en-US" altLang="zh-CN" sz="1200" dirty="0"/>
              <a:t>://</a:t>
            </a:r>
            <a:r>
              <a:rPr kumimoji="1" lang="en-US" altLang="zh-CN" sz="1200" dirty="0" err="1"/>
              <a:t>www.cnblogs.com</a:t>
            </a:r>
            <a:r>
              <a:rPr kumimoji="1" lang="en-US" altLang="zh-CN" sz="1200" dirty="0"/>
              <a:t>/</a:t>
            </a:r>
            <a:r>
              <a:rPr kumimoji="1" lang="en-US" altLang="zh-CN" sz="1200" dirty="0" err="1"/>
              <a:t>vlhn</a:t>
            </a:r>
            <a:r>
              <a:rPr kumimoji="1" lang="en-US" altLang="zh-CN" sz="1200" dirty="0"/>
              <a:t>/p/7909893.html</a:t>
            </a:r>
            <a:endParaRPr kumimoji="1" lang="zh-CN" altLang="en-US" sz="12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999" y="1435100"/>
            <a:ext cx="6757183" cy="34163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812800" y="4776202"/>
            <a:ext cx="7645400" cy="1515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700"/>
              </a:spcBef>
              <a:buClrTx/>
              <a:buFontTx/>
              <a:buNone/>
            </a:pPr>
            <a:r>
              <a:rPr lang="zh-CN" altLang="en-US" b="1" dirty="0" smtClean="0">
                <a:latin typeface="Microsoft YaHei" charset="-122"/>
                <a:ea typeface="Microsoft YaHei" charset="-122"/>
                <a:cs typeface="Microsoft YaHei" charset="-122"/>
              </a:rPr>
              <a:t>与</a:t>
            </a:r>
            <a:r>
              <a:rPr lang="en-US" altLang="zh-CN" b="1" dirty="0" smtClean="0">
                <a:latin typeface="Microsoft YaHei" charset="-122"/>
                <a:ea typeface="Microsoft YaHei" charset="-122"/>
                <a:cs typeface="Microsoft YaHei" charset="-122"/>
              </a:rPr>
              <a:t>TCP/IP</a:t>
            </a:r>
            <a:r>
              <a:rPr lang="zh-CN" altLang="en-US" b="1" dirty="0" smtClean="0">
                <a:latin typeface="Microsoft YaHei" charset="-122"/>
                <a:ea typeface="Microsoft YaHei" charset="-122"/>
                <a:cs typeface="Microsoft YaHei" charset="-122"/>
              </a:rPr>
              <a:t>相比：</a:t>
            </a:r>
            <a:endParaRPr lang="en-US" altLang="zh-CN" b="1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lvl="1">
              <a:spcBef>
                <a:spcPts val="700"/>
              </a:spcBef>
            </a:pPr>
            <a:r>
              <a:rPr lang="zh-CN" altLang="en-US" sz="1600" b="1" dirty="0" smtClean="0">
                <a:latin typeface="Microsoft YaHei" charset="-122"/>
                <a:ea typeface="Microsoft YaHei" charset="-122"/>
                <a:cs typeface="Microsoft YaHei" charset="-122"/>
              </a:rPr>
              <a:t>零拷贝：</a:t>
            </a:r>
            <a:r>
              <a:rPr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数据直接从一个节点的虚拟内存拷贝到另一个节点的虚拟内存。</a:t>
            </a:r>
            <a:endParaRPr lang="en-US" altLang="zh-CN" sz="1400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lvl="1">
              <a:spcBef>
                <a:spcPts val="700"/>
              </a:spcBef>
            </a:pPr>
            <a:r>
              <a:rPr lang="zh-CN" altLang="en-US" sz="1600" b="1" dirty="0" smtClean="0">
                <a:latin typeface="Microsoft YaHei" charset="-122"/>
                <a:ea typeface="Microsoft YaHei" charset="-122"/>
                <a:cs typeface="Microsoft YaHei" charset="-122"/>
              </a:rPr>
              <a:t>绕过内核：</a:t>
            </a:r>
            <a:r>
              <a:rPr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操作系统不用参与数据在不同节点间的传输。</a:t>
            </a:r>
            <a:endParaRPr lang="en-US" altLang="zh-CN" sz="1400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lvl="1">
              <a:spcBef>
                <a:spcPts val="700"/>
              </a:spcBef>
            </a:pPr>
            <a:r>
              <a:rPr lang="zh-CN" altLang="en-US" sz="1600" b="1" dirty="0" smtClean="0">
                <a:latin typeface="Microsoft YaHei" charset="-122"/>
                <a:ea typeface="Microsoft YaHei" charset="-122"/>
                <a:cs typeface="Microsoft YaHei" charset="-122"/>
              </a:rPr>
              <a:t>异步：</a:t>
            </a:r>
            <a:r>
              <a:rPr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线程不会被</a:t>
            </a:r>
            <a:r>
              <a:rPr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IO</a:t>
            </a:r>
            <a:r>
              <a:rPr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传输所阻塞。</a:t>
            </a:r>
            <a:endParaRPr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347262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4258" y="589775"/>
            <a:ext cx="4781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RDMA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mr-IN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–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硬件和协议</a:t>
            </a:r>
            <a:endParaRPr kumimoji="1" lang="en-US" altLang="zh-CN" sz="2400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429000" y="6350001"/>
            <a:ext cx="462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 smtClean="0"/>
              <a:t>图来自：</a:t>
            </a:r>
            <a:r>
              <a:rPr kumimoji="1" lang="en-US" altLang="zh-CN" sz="1200" dirty="0" smtClean="0"/>
              <a:t>https</a:t>
            </a:r>
            <a:r>
              <a:rPr kumimoji="1" lang="en-US" altLang="zh-CN" sz="1200" dirty="0"/>
              <a:t>://</a:t>
            </a:r>
            <a:r>
              <a:rPr kumimoji="1" lang="en-US" altLang="zh-CN" sz="1200" dirty="0" err="1"/>
              <a:t>www.cnblogs.com</a:t>
            </a:r>
            <a:r>
              <a:rPr kumimoji="1" lang="en-US" altLang="zh-CN" sz="1200" dirty="0"/>
              <a:t>/</a:t>
            </a:r>
            <a:r>
              <a:rPr kumimoji="1" lang="en-US" altLang="zh-CN" sz="1200" dirty="0" err="1"/>
              <a:t>vlhn</a:t>
            </a:r>
            <a:r>
              <a:rPr kumimoji="1" lang="en-US" altLang="zh-CN" sz="1200" dirty="0"/>
              <a:t>/p/7909893.html</a:t>
            </a:r>
            <a:endParaRPr kumimoji="1" lang="zh-CN" altLang="en-US" sz="12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1276680"/>
            <a:ext cx="5956300" cy="3068720"/>
          </a:xfrm>
          <a:prstGeom prst="rect">
            <a:avLst/>
          </a:prstGeom>
        </p:spPr>
      </p:pic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850664"/>
              </p:ext>
            </p:extLst>
          </p:nvPr>
        </p:nvGraphicFramePr>
        <p:xfrm>
          <a:off x="787400" y="4378960"/>
          <a:ext cx="7404099" cy="184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033"/>
                <a:gridCol w="2468033"/>
                <a:gridCol w="2468033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技术</a:t>
                      </a:r>
                      <a:endParaRPr lang="zh-CN" altLang="en-US" dirty="0"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硬件</a:t>
                      </a:r>
                      <a:endParaRPr lang="zh-CN" altLang="en-US" dirty="0"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性能</a:t>
                      </a:r>
                      <a:endParaRPr lang="zh-CN" altLang="en-US" dirty="0"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InfiniBand</a:t>
                      </a:r>
                      <a:endParaRPr lang="zh-CN" altLang="en-US" dirty="0"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特殊网卡和交换机</a:t>
                      </a:r>
                      <a:endParaRPr lang="zh-CN" altLang="en-US" dirty="0"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基于</a:t>
                      </a:r>
                      <a:r>
                        <a:rPr lang="en-US" altLang="zh-CN" dirty="0" smtClean="0"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IB</a:t>
                      </a:r>
                      <a:r>
                        <a:rPr lang="zh-CN" altLang="en-US" dirty="0" smtClean="0"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协议，性能最好</a:t>
                      </a:r>
                      <a:endParaRPr lang="zh-CN" altLang="en-US" dirty="0"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RoCE</a:t>
                      </a:r>
                      <a:endParaRPr lang="zh-CN" altLang="en-US" dirty="0"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特殊网卡</a:t>
                      </a:r>
                      <a:endParaRPr lang="zh-CN" altLang="en-US" dirty="0"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基于</a:t>
                      </a:r>
                      <a:r>
                        <a:rPr lang="en-US" altLang="zh-CN" dirty="0" smtClean="0"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UDP</a:t>
                      </a:r>
                      <a:endParaRPr lang="zh-CN" altLang="en-US" dirty="0"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iWARP</a:t>
                      </a:r>
                      <a:endParaRPr lang="zh-CN" altLang="en-US" dirty="0"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特殊网卡</a:t>
                      </a:r>
                      <a:endParaRPr lang="zh-CN" altLang="en-US" dirty="0"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基于</a:t>
                      </a:r>
                      <a:r>
                        <a:rPr lang="en-US" altLang="zh-CN" dirty="0" smtClean="0"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TCP</a:t>
                      </a:r>
                      <a:endParaRPr lang="zh-CN" altLang="en-US" dirty="0"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/>
                </a:tc>
              </a:tr>
              <a:tr h="312420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软件模拟</a:t>
                      </a:r>
                      <a:r>
                        <a:rPr lang="en-US" altLang="zh-CN" dirty="0" err="1" smtClean="0"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iWARP</a:t>
                      </a:r>
                      <a:endParaRPr lang="zh-CN" altLang="en-US" dirty="0"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无须特殊硬件</a:t>
                      </a:r>
                      <a:endParaRPr lang="zh-CN" altLang="en-US" dirty="0"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Microsoft YaHei" charset="-122"/>
                          <a:ea typeface="Microsoft YaHei" charset="-122"/>
                          <a:cs typeface="Microsoft YaHei" charset="-122"/>
                        </a:rPr>
                        <a:t>性能最差</a:t>
                      </a:r>
                      <a:endParaRPr lang="zh-CN" altLang="en-US" dirty="0">
                        <a:latin typeface="Microsoft YaHei" charset="-122"/>
                        <a:ea typeface="Microsoft YaHei" charset="-122"/>
                        <a:cs typeface="Microsoft YaHei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650043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0" y="1970065"/>
            <a:ext cx="4013200" cy="1679134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099" y="4806951"/>
            <a:ext cx="4064001" cy="1511696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650" y="4679950"/>
            <a:ext cx="4032250" cy="1762771"/>
          </a:xfrm>
          <a:prstGeom prst="rect">
            <a:avLst/>
          </a:prstGeom>
        </p:spPr>
      </p:pic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4258" y="589775"/>
            <a:ext cx="4781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RDMA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mr-IN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–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传输类型</a:t>
            </a:r>
            <a:endParaRPr kumimoji="1" lang="en-US" altLang="zh-CN" sz="2400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49600" y="6295936"/>
            <a:ext cx="7670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6400" indent="-406400"/>
            <a:r>
              <a:rPr lang="en-US" altLang="zh-CN" sz="800" dirty="0" smtClean="0"/>
              <a:t>[1]Introduction </a:t>
            </a:r>
            <a:r>
              <a:rPr lang="en-US" altLang="zh-CN" sz="800" dirty="0"/>
              <a:t>to RDMA </a:t>
            </a:r>
            <a:r>
              <a:rPr lang="en-US" altLang="zh-CN" sz="800" dirty="0" smtClean="0"/>
              <a:t>Programming,</a:t>
            </a:r>
            <a:r>
              <a:rPr lang="zh-CN" altLang="en-US" sz="800" dirty="0" smtClean="0"/>
              <a:t> </a:t>
            </a:r>
            <a:r>
              <a:rPr lang="en-US" altLang="zh-CN" sz="800" dirty="0"/>
              <a:t>Robert D. </a:t>
            </a:r>
            <a:r>
              <a:rPr lang="en-US" altLang="zh-CN" sz="800" dirty="0" smtClean="0"/>
              <a:t>Russell,</a:t>
            </a:r>
            <a:r>
              <a:rPr lang="zh-CN" altLang="en-US" sz="800" dirty="0" smtClean="0"/>
              <a:t> </a:t>
            </a:r>
            <a:r>
              <a:rPr lang="en-US" altLang="zh-CN" sz="800" dirty="0" smtClean="0"/>
              <a:t>IOL</a:t>
            </a:r>
            <a:r>
              <a:rPr lang="zh-CN" altLang="en-US" sz="800" dirty="0" smtClean="0"/>
              <a:t> </a:t>
            </a:r>
            <a:r>
              <a:rPr lang="mr-IN" altLang="zh-CN" sz="800" dirty="0" smtClean="0"/>
              <a:t>’</a:t>
            </a:r>
            <a:r>
              <a:rPr lang="en-US" altLang="zh-CN" sz="800" dirty="0" smtClean="0"/>
              <a:t>12</a:t>
            </a:r>
          </a:p>
          <a:p>
            <a:pPr marL="406400" indent="-406400"/>
            <a:r>
              <a:rPr lang="en-US" altLang="zh-CN" sz="800" dirty="0" smtClean="0"/>
              <a:t>[</a:t>
            </a:r>
            <a:r>
              <a:rPr lang="en-US" altLang="zh-CN" sz="800" dirty="0"/>
              <a:t>2] </a:t>
            </a:r>
            <a:r>
              <a:rPr lang="en-US" altLang="zh-CN" sz="800" dirty="0" smtClean="0"/>
              <a:t>M</a:t>
            </a:r>
            <a:r>
              <a:rPr lang="en-US" altLang="zh-CN" sz="800" dirty="0"/>
              <a:t>. Su, M. Zhang, K. Chen, Z. </a:t>
            </a:r>
            <a:r>
              <a:rPr lang="en-US" altLang="zh-CN" sz="800" dirty="0" err="1"/>
              <a:t>Guo</a:t>
            </a:r>
            <a:r>
              <a:rPr lang="en-US" altLang="zh-CN" sz="800" dirty="0"/>
              <a:t>, and Y. Wu, “RFP: When RPC is Faster than Server-Bypass with RDMA</a:t>
            </a:r>
            <a:r>
              <a:rPr lang="en-US" altLang="zh-CN" sz="800" dirty="0" smtClean="0"/>
              <a:t>,”</a:t>
            </a:r>
            <a:r>
              <a:rPr lang="zh-CN" altLang="en-US" sz="800" dirty="0" smtClean="0"/>
              <a:t> </a:t>
            </a:r>
            <a:r>
              <a:rPr lang="en-US" altLang="zh-CN" sz="800" dirty="0" err="1" smtClean="0"/>
              <a:t>EuroSys</a:t>
            </a:r>
            <a:r>
              <a:rPr lang="en-US" altLang="zh-CN" sz="800" dirty="0"/>
              <a:t>, pp. 1–15, 2017.</a:t>
            </a:r>
          </a:p>
        </p:txBody>
      </p:sp>
      <p:sp>
        <p:nvSpPr>
          <p:cNvPr id="10" name="矩形 9"/>
          <p:cNvSpPr/>
          <p:nvPr/>
        </p:nvSpPr>
        <p:spPr>
          <a:xfrm>
            <a:off x="368300" y="1423829"/>
            <a:ext cx="6896100" cy="736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buFont typeface="Wingdings" charset="2"/>
              <a:buChar char=""/>
            </a:pPr>
            <a:r>
              <a:rPr lang="en-US" altLang="zh-CN" b="1" dirty="0"/>
              <a:t>SEND/RECV – similar to “normal” TCP sockets</a:t>
            </a:r>
          </a:p>
          <a:p>
            <a:pPr lvl="1">
              <a:spcBef>
                <a:spcPts val="700"/>
              </a:spcBef>
              <a:buFont typeface="Times New Roman" charset="0"/>
              <a:buChar char="–"/>
            </a:pPr>
            <a:r>
              <a:rPr lang="en-US" altLang="zh-CN" dirty="0"/>
              <a:t>each send on one side must match a </a:t>
            </a:r>
            <a:r>
              <a:rPr lang="en-US" altLang="zh-CN" dirty="0" err="1"/>
              <a:t>recv</a:t>
            </a:r>
            <a:r>
              <a:rPr lang="en-US" altLang="zh-CN" dirty="0"/>
              <a:t> on other </a:t>
            </a:r>
            <a:r>
              <a:rPr lang="en-US" altLang="zh-CN" dirty="0" smtClean="0"/>
              <a:t>side</a:t>
            </a:r>
            <a:endParaRPr lang="en-US" altLang="zh-CN" dirty="0"/>
          </a:p>
        </p:txBody>
      </p:sp>
      <p:sp>
        <p:nvSpPr>
          <p:cNvPr id="24" name="矩形 23"/>
          <p:cNvSpPr/>
          <p:nvPr/>
        </p:nvSpPr>
        <p:spPr>
          <a:xfrm>
            <a:off x="381000" y="3413368"/>
            <a:ext cx="7366000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buFont typeface="Wingdings" charset="2"/>
              <a:buChar char=""/>
            </a:pPr>
            <a:r>
              <a:rPr lang="en-US" altLang="zh-CN" b="1" dirty="0"/>
              <a:t>WRITE/READ – only in </a:t>
            </a:r>
            <a:r>
              <a:rPr lang="en-US" altLang="zh-CN" b="1" dirty="0" smtClean="0"/>
              <a:t>RDMA</a:t>
            </a:r>
            <a:r>
              <a:rPr lang="zh-CN" altLang="en-US" b="1" dirty="0" smtClean="0"/>
              <a:t> </a:t>
            </a:r>
            <a:endParaRPr lang="en-US" altLang="zh-CN" b="1" dirty="0" smtClean="0"/>
          </a:p>
          <a:p>
            <a:pPr>
              <a:spcBef>
                <a:spcPts val="700"/>
              </a:spcBef>
            </a:pPr>
            <a:r>
              <a:rPr lang="en-US" altLang="zh-CN" sz="1600" dirty="0" smtClean="0"/>
              <a:t>(</a:t>
            </a:r>
            <a:r>
              <a:rPr lang="zh-CN" altLang="en-US" sz="1600" dirty="0" smtClean="0"/>
              <a:t>绕过</a:t>
            </a:r>
            <a:r>
              <a:rPr lang="en-US" altLang="zh-CN" sz="1600" dirty="0"/>
              <a:t>passive</a:t>
            </a:r>
            <a:r>
              <a:rPr lang="zh-CN" altLang="en-US" sz="1600" dirty="0" smtClean="0"/>
              <a:t>端的</a:t>
            </a:r>
            <a:r>
              <a:rPr lang="en-US" altLang="zh-CN" sz="1600" dirty="0" smtClean="0"/>
              <a:t>CPU</a:t>
            </a:r>
            <a:r>
              <a:rPr lang="zh-CN" altLang="en-US" sz="1600" dirty="0" smtClean="0"/>
              <a:t>和内核</a:t>
            </a:r>
            <a:r>
              <a:rPr lang="en-US" altLang="zh-CN" sz="1600" dirty="0" smtClean="0"/>
              <a:t>,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passive</a:t>
            </a:r>
            <a:r>
              <a:rPr lang="zh-CN" altLang="en-US" sz="1600" dirty="0" smtClean="0"/>
              <a:t> 端性能是</a:t>
            </a:r>
            <a:r>
              <a:rPr lang="en-US" altLang="zh-CN" sz="1600" dirty="0" smtClean="0"/>
              <a:t>active</a:t>
            </a:r>
            <a:r>
              <a:rPr lang="zh-CN" altLang="en-US" sz="1600" dirty="0" smtClean="0"/>
              <a:t>端的</a:t>
            </a:r>
            <a:r>
              <a:rPr lang="en-US" altLang="zh-CN" sz="1600" dirty="0" smtClean="0"/>
              <a:t>5</a:t>
            </a:r>
            <a:r>
              <a:rPr lang="zh-CN" altLang="en-US" sz="1600" dirty="0" smtClean="0"/>
              <a:t>倍</a:t>
            </a:r>
            <a:r>
              <a:rPr lang="en-US" altLang="zh-CN" sz="1600" baseline="30000" dirty="0" smtClean="0"/>
              <a:t>[2]</a:t>
            </a:r>
            <a:r>
              <a:rPr lang="en-US" altLang="zh-CN" sz="1600" dirty="0" smtClean="0"/>
              <a:t>)</a:t>
            </a:r>
            <a:endParaRPr lang="en-US" altLang="zh-CN" sz="1600" dirty="0"/>
          </a:p>
          <a:p>
            <a:pPr lvl="1">
              <a:spcBef>
                <a:spcPts val="700"/>
              </a:spcBef>
              <a:buFont typeface="Times New Roman" charset="0"/>
              <a:buChar char="–"/>
            </a:pPr>
            <a:r>
              <a:rPr lang="en-US" altLang="zh-CN" dirty="0"/>
              <a:t>Write:</a:t>
            </a:r>
            <a:r>
              <a:rPr lang="zh-CN" altLang="en-US" dirty="0"/>
              <a:t> </a:t>
            </a:r>
            <a:r>
              <a:rPr lang="en-US" altLang="zh-CN" dirty="0"/>
              <a:t>“pushes”</a:t>
            </a:r>
            <a:r>
              <a:rPr lang="zh-CN" altLang="en-US" dirty="0"/>
              <a:t> </a:t>
            </a:r>
            <a:r>
              <a:rPr lang="en-US" altLang="zh-CN" dirty="0"/>
              <a:t>data into remote virtual memory</a:t>
            </a:r>
          </a:p>
          <a:p>
            <a:pPr lvl="1">
              <a:spcBef>
                <a:spcPts val="700"/>
              </a:spcBef>
              <a:buFont typeface="Times New Roman" charset="0"/>
              <a:buChar char="–"/>
            </a:pPr>
            <a:r>
              <a:rPr lang="en-US" altLang="zh-CN" dirty="0"/>
              <a:t>Read:</a:t>
            </a:r>
            <a:r>
              <a:rPr lang="zh-CN" altLang="en-US" dirty="0"/>
              <a:t> </a:t>
            </a:r>
            <a:r>
              <a:rPr lang="en-US" altLang="zh-CN" dirty="0"/>
              <a:t>“pulls” data out of remote virtual memory 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5429081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4258" y="589775"/>
            <a:ext cx="558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over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Fabrics (NVMe + RDMA)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endParaRPr kumimoji="1" lang="en-US" altLang="zh-CN" sz="2400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97200" y="6197601"/>
            <a:ext cx="6464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图来自： </a:t>
            </a:r>
            <a:r>
              <a:rPr lang="en-US" altLang="zh-CN" sz="1200" dirty="0" smtClean="0"/>
              <a:t>Z</a:t>
            </a:r>
            <a:r>
              <a:rPr lang="en-US" altLang="zh-CN" sz="1200" dirty="0"/>
              <a:t>. </a:t>
            </a:r>
            <a:r>
              <a:rPr lang="en-US" altLang="zh-CN" sz="1200" dirty="0" err="1"/>
              <a:t>Guz</a:t>
            </a:r>
            <a:r>
              <a:rPr lang="en-US" altLang="zh-CN" sz="1200" dirty="0"/>
              <a:t>, H. H. Li, A. </a:t>
            </a:r>
            <a:r>
              <a:rPr lang="en-US" altLang="zh-CN" sz="1200" dirty="0" err="1"/>
              <a:t>Shayesteh</a:t>
            </a:r>
            <a:r>
              <a:rPr lang="en-US" altLang="zh-CN" sz="1200" dirty="0"/>
              <a:t>, and V. </a:t>
            </a:r>
            <a:r>
              <a:rPr lang="en-US" altLang="zh-CN" sz="1200" dirty="0" err="1"/>
              <a:t>Balakrishnan</a:t>
            </a:r>
            <a:r>
              <a:rPr lang="en-US" altLang="zh-CN" sz="1200" dirty="0"/>
              <a:t>, “NVMe-over-Fabrics Performance Characterization and the Path to Low-Overhead Flash Disaggregation,” </a:t>
            </a:r>
            <a:r>
              <a:rPr lang="en-US" altLang="zh-CN" sz="1200" i="1" dirty="0" err="1"/>
              <a:t>Systor</a:t>
            </a:r>
            <a:r>
              <a:rPr lang="en-US" altLang="zh-CN" sz="1200" i="1" dirty="0"/>
              <a:t> ’17</a:t>
            </a:r>
            <a:r>
              <a:rPr lang="en-US" altLang="zh-CN" sz="1200" dirty="0"/>
              <a:t>, no. May, 2017.</a:t>
            </a:r>
            <a:endParaRPr lang="en-US" altLang="zh-CN" sz="1200" dirty="0">
              <a:effectLst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99" y="1735061"/>
            <a:ext cx="8288427" cy="4106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59184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4258" y="589775"/>
            <a:ext cx="5581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NVMe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over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400" dirty="0" smtClean="0">
                <a:latin typeface="Microsoft YaHei" charset="-122"/>
                <a:ea typeface="Microsoft YaHei" charset="-122"/>
                <a:cs typeface="Microsoft YaHei" charset="-122"/>
              </a:rPr>
              <a:t>Fabrics (NVMe + RDMA)</a:t>
            </a:r>
            <a:r>
              <a:rPr kumimoji="1" lang="zh-CN" altLang="en-US" sz="24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endParaRPr kumimoji="1" lang="en-US" altLang="zh-CN" sz="2400" dirty="0" smtClean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00" y="1524000"/>
            <a:ext cx="3110450" cy="45267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073400" y="6045201"/>
            <a:ext cx="6565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 smtClean="0"/>
              <a:t>[1]《</a:t>
            </a:r>
            <a:r>
              <a:rPr kumimoji="1" lang="zh-CN" altLang="en-US" sz="1200" dirty="0" smtClean="0"/>
              <a:t>深入浅出</a:t>
            </a:r>
            <a:r>
              <a:rPr kumimoji="1" lang="en-US" altLang="zh-CN" sz="1200" dirty="0" smtClean="0"/>
              <a:t>SSD</a:t>
            </a:r>
            <a:r>
              <a:rPr kumimoji="1" lang="zh-CN" altLang="en-US" sz="1200" dirty="0" smtClean="0"/>
              <a:t>：固态存储核心技术、原理与实战</a:t>
            </a:r>
            <a:r>
              <a:rPr kumimoji="1" lang="en-US" altLang="zh-CN" sz="1200" dirty="0" smtClean="0"/>
              <a:t>》</a:t>
            </a:r>
          </a:p>
          <a:p>
            <a:r>
              <a:rPr kumimoji="1" lang="en-US" altLang="zh-CN" sz="1200" dirty="0" smtClean="0"/>
              <a:t>[2]</a:t>
            </a:r>
            <a:r>
              <a:rPr kumimoji="1" lang="zh-CN" altLang="en-US" sz="1200" dirty="0" smtClean="0"/>
              <a:t> </a:t>
            </a:r>
            <a:r>
              <a:rPr kumimoji="1" lang="en-US" altLang="zh-CN" sz="1200" dirty="0" smtClean="0"/>
              <a:t> </a:t>
            </a:r>
            <a:r>
              <a:rPr kumimoji="1" lang="en-US" altLang="zh-CN" sz="1200" dirty="0"/>
              <a:t>Z. </a:t>
            </a:r>
            <a:r>
              <a:rPr kumimoji="1" lang="en-US" altLang="zh-CN" sz="1200" dirty="0" err="1"/>
              <a:t>Guz</a:t>
            </a:r>
            <a:r>
              <a:rPr kumimoji="1" lang="en-US" altLang="zh-CN" sz="1200" dirty="0"/>
              <a:t>, H. H. Li, A. </a:t>
            </a:r>
            <a:r>
              <a:rPr kumimoji="1" lang="en-US" altLang="zh-CN" sz="1200" dirty="0" err="1"/>
              <a:t>Shayesteh</a:t>
            </a:r>
            <a:r>
              <a:rPr kumimoji="1" lang="en-US" altLang="zh-CN" sz="1200" dirty="0"/>
              <a:t>, and V. </a:t>
            </a:r>
            <a:r>
              <a:rPr kumimoji="1" lang="en-US" altLang="zh-CN" sz="1200" dirty="0" err="1"/>
              <a:t>Balakrishnan</a:t>
            </a:r>
            <a:r>
              <a:rPr kumimoji="1" lang="en-US" altLang="zh-CN" sz="1200" dirty="0"/>
              <a:t>, “NVMe-over-Fabrics Performance Characterization and the Path to Low-Overhead Flash Disaggregation,” </a:t>
            </a:r>
            <a:r>
              <a:rPr kumimoji="1" lang="en-US" altLang="zh-CN" sz="1200" dirty="0" err="1"/>
              <a:t>Systor</a:t>
            </a:r>
            <a:r>
              <a:rPr kumimoji="1" lang="en-US" altLang="zh-CN" sz="1200" dirty="0"/>
              <a:t> ’17, no. May, 2017.</a:t>
            </a:r>
            <a:endParaRPr kumimoji="1" lang="zh-CN" altLang="en-US" sz="12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1300" y="1365574"/>
            <a:ext cx="3644900" cy="223224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900" y="3756298"/>
            <a:ext cx="3479800" cy="2167418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632700" y="2336800"/>
            <a:ext cx="1175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IOPS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性能</a:t>
            </a:r>
            <a:endParaRPr kumimoji="1" lang="zh-CN" altLang="en-US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670800" y="4673600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CPU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占用</a:t>
            </a:r>
            <a:endParaRPr kumimoji="1" lang="zh-CN" altLang="en-US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668294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499" y="1436381"/>
            <a:ext cx="6393355" cy="3923019"/>
          </a:xfrm>
          <a:prstGeom prst="rect">
            <a:avLst/>
          </a:prstGeom>
        </p:spPr>
      </p:pic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63758" y="691375"/>
            <a:ext cx="5771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分布式</a:t>
            </a:r>
            <a:r>
              <a:rPr kumimoji="1" lang="en-US" altLang="zh-CN" sz="2000" dirty="0" smtClean="0"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文件系统</a:t>
            </a:r>
            <a:r>
              <a:rPr kumimoji="1"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Octopus</a:t>
            </a:r>
            <a:r>
              <a:rPr kumimoji="1"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000" dirty="0" smtClean="0">
                <a:latin typeface="Microsoft YaHei" charset="-122"/>
                <a:ea typeface="Microsoft YaHei" charset="-122"/>
                <a:cs typeface="Microsoft YaHei" charset="-122"/>
              </a:rPr>
              <a:t>(PM </a:t>
            </a:r>
            <a:r>
              <a:rPr kumimoji="1"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+ RDMA)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14400" y="5435600"/>
            <a:ext cx="7531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使用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时，传统分布式文件系统和网络软件开销变得很大。</a:t>
            </a:r>
            <a:endParaRPr kumimoji="1" lang="en-US" altLang="zh-CN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实现了一种基于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RDMA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网络并且的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PM-aware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的文件系统</a:t>
            </a:r>
            <a:r>
              <a:rPr kumimoji="1"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O</a:t>
            </a:r>
            <a:r>
              <a:rPr kumimoji="1" lang="en-US" altLang="zh-CN" dirty="0" smtClean="0">
                <a:latin typeface="Microsoft YaHei" charset="-122"/>
                <a:ea typeface="Microsoft YaHei" charset="-122"/>
                <a:cs typeface="Microsoft YaHei" charset="-122"/>
              </a:rPr>
              <a:t>ctopus</a:t>
            </a:r>
            <a:r>
              <a:rPr kumimoji="1"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。</a:t>
            </a:r>
            <a:endParaRPr kumimoji="1" lang="zh-CN" altLang="en-US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527588" y="6381234"/>
            <a:ext cx="40094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 smtClean="0"/>
              <a:t>图摘自舒继武</a:t>
            </a:r>
            <a:r>
              <a:rPr lang="en-US" altLang="zh-CN" sz="1200" dirty="0" smtClean="0"/>
              <a:t>《</a:t>
            </a:r>
            <a:r>
              <a:rPr lang="zh-CN" altLang="en-US" sz="1200" dirty="0" smtClean="0"/>
              <a:t>大数据时代的存储系统若干变化的思考</a:t>
            </a:r>
            <a:r>
              <a:rPr lang="en-US" altLang="zh-CN" sz="1200" dirty="0" smtClean="0"/>
              <a:t>》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75355256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63758" y="691375"/>
            <a:ext cx="5771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分布式</a:t>
            </a:r>
            <a:r>
              <a:rPr kumimoji="1" lang="en-US" altLang="zh-CN" sz="2000" dirty="0" smtClean="0"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文件系统</a:t>
            </a:r>
            <a:r>
              <a:rPr kumimoji="1"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Octopus</a:t>
            </a:r>
            <a:r>
              <a:rPr kumimoji="1"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000" dirty="0" smtClean="0">
                <a:latin typeface="Microsoft YaHei" charset="-122"/>
                <a:ea typeface="Microsoft YaHei" charset="-122"/>
                <a:cs typeface="Microsoft YaHei" charset="-122"/>
              </a:rPr>
              <a:t>(PM </a:t>
            </a:r>
            <a:r>
              <a:rPr kumimoji="1"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+ RDMA)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073400" y="6134101"/>
            <a:ext cx="607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smtClean="0"/>
              <a:t>[</a:t>
            </a:r>
            <a:r>
              <a:rPr kumimoji="1" lang="en-US" altLang="zh-CN" sz="1200" dirty="0"/>
              <a:t>1] Y. Lu, J. Shu, Y. Chen, and T. Li, “Octopus: an RDMA-enabled Distributed Persistent Memory File System,” 2017 {USENIX} </a:t>
            </a:r>
            <a:r>
              <a:rPr kumimoji="1" lang="en-US" altLang="zh-CN" sz="1200" dirty="0" err="1"/>
              <a:t>Annu</a:t>
            </a:r>
            <a:r>
              <a:rPr kumimoji="1" lang="en-US" altLang="zh-CN" sz="1200" dirty="0"/>
              <a:t>. Tech. Conf. ({USENIX} {ATC} 17), pp. 773–785, 2017.</a:t>
            </a:r>
            <a:endParaRPr kumimoji="1" lang="zh-CN" altLang="en-US" sz="12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1611510"/>
            <a:ext cx="6460839" cy="403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8903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63758" y="691375"/>
            <a:ext cx="5771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分布式</a:t>
            </a:r>
            <a:r>
              <a:rPr kumimoji="1" lang="en-US" altLang="zh-CN" sz="2000" dirty="0" smtClean="0"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文件系统</a:t>
            </a:r>
            <a:r>
              <a:rPr kumimoji="1"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Octopus</a:t>
            </a:r>
            <a:r>
              <a:rPr kumimoji="1"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000" dirty="0" smtClean="0">
                <a:latin typeface="Microsoft YaHei" charset="-122"/>
                <a:ea typeface="Microsoft YaHei" charset="-122"/>
                <a:cs typeface="Microsoft YaHei" charset="-122"/>
              </a:rPr>
              <a:t>(PM </a:t>
            </a:r>
            <a:r>
              <a:rPr kumimoji="1"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+ RDMA)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073400" y="6134101"/>
            <a:ext cx="607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smtClean="0"/>
              <a:t>[</a:t>
            </a:r>
            <a:r>
              <a:rPr kumimoji="1" lang="en-US" altLang="zh-CN" sz="1200" dirty="0"/>
              <a:t>1] Y. Lu, J. Shu, Y. Chen, and T. Li, “Octopus: an RDMA-enabled Distributed Persistent Memory File System,” 2017 {USENIX} </a:t>
            </a:r>
            <a:r>
              <a:rPr kumimoji="1" lang="en-US" altLang="zh-CN" sz="1200" dirty="0" err="1"/>
              <a:t>Annu</a:t>
            </a:r>
            <a:r>
              <a:rPr kumimoji="1" lang="en-US" altLang="zh-CN" sz="1200" dirty="0"/>
              <a:t>. Tech. Conf. ({USENIX} {ATC} 17), pp. 773–785, 2017.</a:t>
            </a:r>
            <a:endParaRPr kumimoji="1" lang="zh-CN" altLang="en-US" sz="12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942" y="1254190"/>
            <a:ext cx="5326658" cy="40925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79501" y="5448300"/>
            <a:ext cx="7048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为了节省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server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端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CPU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资源来服务更多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clients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，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client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以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read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操作从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server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端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pull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数据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(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右图</a:t>
            </a:r>
            <a:r>
              <a:rPr kumimoji="1" lang="en-US" altLang="zh-CN" sz="1600" dirty="0" smtClean="0">
                <a:latin typeface="Microsoft YaHei" charset="-122"/>
                <a:ea typeface="Microsoft YaHei" charset="-122"/>
                <a:cs typeface="Microsoft YaHei" charset="-122"/>
              </a:rPr>
              <a:t>)</a:t>
            </a:r>
            <a:r>
              <a:rPr kumimoji="1"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。</a:t>
            </a:r>
            <a:endParaRPr kumimoji="1" lang="zh-CN" altLang="en-US" sz="16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cxnSp>
        <p:nvCxnSpPr>
          <p:cNvPr id="8" name="直线箭头连接符 7"/>
          <p:cNvCxnSpPr/>
          <p:nvPr/>
        </p:nvCxnSpPr>
        <p:spPr>
          <a:xfrm flipH="1">
            <a:off x="1663700" y="2476500"/>
            <a:ext cx="2273300" cy="43180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15901" y="2603500"/>
            <a:ext cx="14477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若接到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client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请求直接传输数据，太浪费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server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的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CPU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时间。</a:t>
            </a:r>
            <a:endParaRPr kumimoji="1" lang="zh-CN" altLang="en-US" sz="14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391401" y="2349500"/>
            <a:ext cx="14477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Server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只返回地址，有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client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用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RDMA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read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操作</a:t>
            </a:r>
            <a:r>
              <a:rPr kumimoji="1" lang="en-US" altLang="zh-CN" sz="1400" dirty="0" smtClean="0">
                <a:latin typeface="Microsoft YaHei" charset="-122"/>
                <a:ea typeface="Microsoft YaHei" charset="-122"/>
                <a:cs typeface="Microsoft YaHei" charset="-122"/>
              </a:rPr>
              <a:t>pull</a:t>
            </a:r>
            <a:r>
              <a:rPr kumimoji="1" lang="zh-CN" altLang="en-US" sz="1400" dirty="0" smtClean="0">
                <a:latin typeface="Microsoft YaHei" charset="-122"/>
                <a:ea typeface="Microsoft YaHei" charset="-122"/>
                <a:cs typeface="Microsoft YaHei" charset="-122"/>
              </a:rPr>
              <a:t>数据。</a:t>
            </a:r>
            <a:endParaRPr kumimoji="1" lang="zh-CN" altLang="en-US" sz="14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cxnSp>
        <p:nvCxnSpPr>
          <p:cNvPr id="17" name="直线箭头连接符 16"/>
          <p:cNvCxnSpPr>
            <a:endCxn id="16" idx="1"/>
          </p:cNvCxnSpPr>
          <p:nvPr/>
        </p:nvCxnSpPr>
        <p:spPr>
          <a:xfrm>
            <a:off x="6553200" y="2311400"/>
            <a:ext cx="838201" cy="51515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24128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8"/>
            <a:ext cx="185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6801492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63758" y="691375"/>
            <a:ext cx="5771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分布式</a:t>
            </a:r>
            <a:r>
              <a:rPr kumimoji="1" lang="en-US" altLang="zh-CN" sz="2000" dirty="0" smtClean="0">
                <a:latin typeface="Microsoft YaHei" charset="-122"/>
                <a:ea typeface="Microsoft YaHei" charset="-122"/>
                <a:cs typeface="Microsoft YaHei" charset="-122"/>
              </a:rPr>
              <a:t>PM</a:t>
            </a:r>
            <a:r>
              <a:rPr kumimoji="1"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文件系统</a:t>
            </a:r>
            <a:r>
              <a:rPr kumimoji="1"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Octopus</a:t>
            </a:r>
            <a:r>
              <a:rPr kumimoji="1" lang="zh-CN" altLang="en-US" sz="2000" dirty="0" smtClean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000" dirty="0" smtClean="0">
                <a:latin typeface="Microsoft YaHei" charset="-122"/>
                <a:ea typeface="Microsoft YaHei" charset="-122"/>
                <a:cs typeface="Microsoft YaHei" charset="-122"/>
              </a:rPr>
              <a:t>(PM </a:t>
            </a:r>
            <a:r>
              <a:rPr kumimoji="1" lang="en-US" altLang="zh-CN" sz="2000" dirty="0">
                <a:latin typeface="Microsoft YaHei" charset="-122"/>
                <a:ea typeface="Microsoft YaHei" charset="-122"/>
                <a:cs typeface="Microsoft YaHei" charset="-122"/>
              </a:rPr>
              <a:t>+ RDMA)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073400" y="6134101"/>
            <a:ext cx="607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 smtClean="0"/>
              <a:t>[</a:t>
            </a:r>
            <a:r>
              <a:rPr kumimoji="1" lang="en-US" altLang="zh-CN" sz="1200" dirty="0"/>
              <a:t>1] Y. Lu, J. Shu, Y. Chen, and T. Li, “Octopus: an RDMA-enabled Distributed Persistent Memory File System,” 2017 {USENIX} </a:t>
            </a:r>
            <a:r>
              <a:rPr kumimoji="1" lang="en-US" altLang="zh-CN" sz="1200" dirty="0" err="1"/>
              <a:t>Annu</a:t>
            </a:r>
            <a:r>
              <a:rPr kumimoji="1" lang="en-US" altLang="zh-CN" sz="1200" dirty="0"/>
              <a:t>. Tech. Conf. ({USENIX} {ATC} 17), pp. 773–785, 2017.</a:t>
            </a:r>
            <a:endParaRPr kumimoji="1" lang="zh-CN" altLang="en-US" sz="12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00" y="1359364"/>
            <a:ext cx="7124700" cy="3423091"/>
          </a:xfrm>
          <a:prstGeom prst="rect">
            <a:avLst/>
          </a:prstGeom>
        </p:spPr>
      </p:pic>
      <p:grpSp>
        <p:nvGrpSpPr>
          <p:cNvPr id="13" name="组 12"/>
          <p:cNvGrpSpPr/>
          <p:nvPr/>
        </p:nvGrpSpPr>
        <p:grpSpPr>
          <a:xfrm>
            <a:off x="6774639" y="3721100"/>
            <a:ext cx="2128061" cy="382032"/>
            <a:chOff x="6604000" y="3810000"/>
            <a:chExt cx="2128061" cy="382032"/>
          </a:xfrm>
        </p:grpSpPr>
        <p:cxnSp>
          <p:nvCxnSpPr>
            <p:cNvPr id="8" name="直线箭头连接符 7"/>
            <p:cNvCxnSpPr/>
            <p:nvPr/>
          </p:nvCxnSpPr>
          <p:spPr>
            <a:xfrm>
              <a:off x="6604000" y="3810000"/>
              <a:ext cx="1092200" cy="16510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7696200" y="3822700"/>
              <a:ext cx="10358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b="1" dirty="0" smtClean="0">
                  <a:solidFill>
                    <a:srgbClr val="C00000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在</a:t>
              </a:r>
              <a:r>
                <a:rPr kumimoji="1" lang="en-US" altLang="zh-CN" b="1" dirty="0" smtClean="0">
                  <a:solidFill>
                    <a:srgbClr val="C00000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PM</a:t>
              </a:r>
              <a:r>
                <a:rPr kumimoji="1" lang="zh-CN" altLang="en-US" b="1" dirty="0" smtClean="0">
                  <a:solidFill>
                    <a:srgbClr val="C00000"/>
                  </a:solidFill>
                  <a:latin typeface="Microsoft YaHei" charset="-122"/>
                  <a:ea typeface="Microsoft YaHei" charset="-122"/>
                  <a:cs typeface="Microsoft YaHei" charset="-122"/>
                </a:rPr>
                <a:t>上</a:t>
              </a:r>
              <a:endParaRPr kumimoji="1" lang="zh-CN" altLang="en-US" b="1" dirty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1041400" y="4669135"/>
            <a:ext cx="577850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+mn-lt"/>
                <a:ea typeface="Microsoft YaHei" charset="-122"/>
                <a:cs typeface="Microsoft YaHei" charset="-122"/>
              </a:rPr>
              <a:t>对于一次文件</a:t>
            </a:r>
            <a:r>
              <a:rPr lang="en-US" altLang="zh-CN" sz="2000" dirty="0" smtClean="0">
                <a:latin typeface="+mn-lt"/>
                <a:ea typeface="Microsoft YaHei" charset="-122"/>
                <a:cs typeface="Microsoft YaHei" charset="-122"/>
              </a:rPr>
              <a:t>IO</a:t>
            </a:r>
            <a:r>
              <a:rPr lang="zh-CN" altLang="en-US" sz="2000" dirty="0" smtClean="0">
                <a:latin typeface="+mn-lt"/>
                <a:ea typeface="Microsoft YaHei" charset="-122"/>
                <a:cs typeface="Microsoft YaHei" charset="-122"/>
              </a:rPr>
              <a:t>请求：</a:t>
            </a:r>
            <a:endParaRPr lang="en-US" altLang="zh-CN" sz="2000" dirty="0" smtClean="0">
              <a:latin typeface="+mn-lt"/>
              <a:ea typeface="Microsoft YaHei" charset="-122"/>
              <a:cs typeface="Microsoft YaHei" charset="-122"/>
            </a:endParaRPr>
          </a:p>
          <a:p>
            <a:pPr marL="285750" indent="-285750">
              <a:buFont typeface="Arial" charset="0"/>
              <a:buChar char="•"/>
            </a:pPr>
            <a:r>
              <a:rPr lang="zh-CN" altLang="en-US" sz="1600" dirty="0" smtClean="0">
                <a:latin typeface="+mn-lt"/>
                <a:ea typeface="Microsoft YaHei" charset="-122"/>
                <a:cs typeface="Microsoft YaHei" charset="-122"/>
              </a:rPr>
              <a:t>传统的</a:t>
            </a:r>
            <a:r>
              <a:rPr lang="en-US" altLang="zh-CN" sz="1600" dirty="0" err="1" smtClean="0">
                <a:latin typeface="+mn-lt"/>
                <a:ea typeface="Microsoft YaHei" charset="-122"/>
                <a:cs typeface="Microsoft YaHei" charset="-122"/>
              </a:rPr>
              <a:t>GlusterFS</a:t>
            </a:r>
            <a:r>
              <a:rPr lang="zh-CN" altLang="en-US" sz="1600" dirty="0">
                <a:latin typeface="+mn-lt"/>
                <a:ea typeface="Microsoft YaHei" charset="-122"/>
                <a:cs typeface="Microsoft YaHei" charset="-122"/>
              </a:rPr>
              <a:t>拷贝了</a:t>
            </a:r>
            <a:r>
              <a:rPr lang="en-US" altLang="zh-CN" sz="1600" dirty="0">
                <a:latin typeface="+mn-lt"/>
                <a:ea typeface="Microsoft YaHei" charset="-122"/>
                <a:cs typeface="Microsoft YaHei" charset="-122"/>
              </a:rPr>
              <a:t>7</a:t>
            </a:r>
            <a:r>
              <a:rPr lang="zh-CN" altLang="en-US" sz="1600" dirty="0">
                <a:latin typeface="+mn-lt"/>
                <a:ea typeface="Microsoft YaHei" charset="-122"/>
                <a:cs typeface="Microsoft YaHei" charset="-122"/>
              </a:rPr>
              <a:t>次；</a:t>
            </a:r>
          </a:p>
          <a:p>
            <a:pPr marL="285750" indent="-285750">
              <a:buFont typeface="Arial" charset="0"/>
              <a:buChar char="•"/>
            </a:pPr>
            <a:r>
              <a:rPr lang="en-US" altLang="zh-CN" sz="1600" dirty="0" smtClean="0">
                <a:latin typeface="+mn-lt"/>
                <a:ea typeface="Microsoft YaHei" charset="-122"/>
                <a:cs typeface="Microsoft YaHei" charset="-122"/>
              </a:rPr>
              <a:t>Crail</a:t>
            </a:r>
            <a:r>
              <a:rPr lang="zh-CN" altLang="en-US" sz="1600" dirty="0" smtClean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lang="en-US" altLang="zh-CN" sz="1600" dirty="0" smtClean="0">
                <a:latin typeface="+mn-lt"/>
                <a:ea typeface="Microsoft YaHei" charset="-122"/>
                <a:cs typeface="Microsoft YaHei" charset="-122"/>
              </a:rPr>
              <a:t>(</a:t>
            </a:r>
            <a:r>
              <a:rPr lang="en-US" altLang="zh-CN" sz="1600" dirty="0" smtClean="0">
                <a:ea typeface="Microsoft YaHei" charset="-122"/>
                <a:cs typeface="Microsoft YaHei" charset="-122"/>
              </a:rPr>
              <a:t>PM-aware</a:t>
            </a:r>
            <a:r>
              <a:rPr lang="zh-CN" altLang="en-US" sz="1600" dirty="0" smtClean="0">
                <a:ea typeface="Microsoft YaHei" charset="-122"/>
                <a:cs typeface="Microsoft YaHei" charset="-122"/>
              </a:rPr>
              <a:t> </a:t>
            </a:r>
            <a:r>
              <a:rPr lang="en-US" altLang="zh-CN" sz="1600" dirty="0">
                <a:ea typeface="Microsoft YaHei" charset="-122"/>
                <a:cs typeface="Microsoft YaHei" charset="-122"/>
              </a:rPr>
              <a:t>+</a:t>
            </a:r>
            <a:r>
              <a:rPr lang="zh-CN" altLang="en-US" sz="1600" dirty="0">
                <a:ea typeface="Microsoft YaHei" charset="-122"/>
                <a:cs typeface="Microsoft YaHei" charset="-122"/>
              </a:rPr>
              <a:t> 传统网络</a:t>
            </a:r>
            <a:r>
              <a:rPr lang="zh-CN" altLang="en-US" sz="1600" dirty="0" smtClean="0">
                <a:ea typeface="Microsoft YaHei" charset="-122"/>
                <a:cs typeface="Microsoft YaHei" charset="-122"/>
              </a:rPr>
              <a:t>栈</a:t>
            </a:r>
            <a:r>
              <a:rPr lang="en-US" altLang="zh-CN" sz="1600" dirty="0" smtClean="0">
                <a:latin typeface="+mn-lt"/>
                <a:ea typeface="Microsoft YaHei" charset="-122"/>
                <a:cs typeface="Microsoft YaHei" charset="-122"/>
              </a:rPr>
              <a:t>)</a:t>
            </a:r>
            <a:r>
              <a:rPr lang="zh-CN" altLang="en-US" sz="1600" dirty="0" smtClean="0">
                <a:latin typeface="+mn-lt"/>
                <a:ea typeface="Microsoft YaHei" charset="-122"/>
                <a:cs typeface="Microsoft YaHei" charset="-122"/>
              </a:rPr>
              <a:t> 拷贝</a:t>
            </a:r>
            <a:r>
              <a:rPr lang="zh-CN" altLang="en-US" sz="1600" dirty="0">
                <a:latin typeface="+mn-lt"/>
                <a:ea typeface="Microsoft YaHei" charset="-122"/>
                <a:cs typeface="Microsoft YaHei" charset="-122"/>
              </a:rPr>
              <a:t>了</a:t>
            </a:r>
            <a:r>
              <a:rPr lang="en-US" altLang="zh-CN" sz="1600" dirty="0">
                <a:latin typeface="+mn-lt"/>
                <a:ea typeface="Microsoft YaHei" charset="-122"/>
                <a:cs typeface="Microsoft YaHei" charset="-122"/>
              </a:rPr>
              <a:t>6</a:t>
            </a:r>
            <a:r>
              <a:rPr lang="zh-CN" altLang="en-US" sz="1600" dirty="0">
                <a:latin typeface="+mn-lt"/>
                <a:ea typeface="Microsoft YaHei" charset="-122"/>
                <a:cs typeface="Microsoft YaHei" charset="-122"/>
              </a:rPr>
              <a:t>次</a:t>
            </a:r>
            <a:r>
              <a:rPr lang="en-US" altLang="zh-CN" sz="1600" dirty="0">
                <a:latin typeface="+mn-lt"/>
                <a:ea typeface="Microsoft YaHei" charset="-122"/>
                <a:cs typeface="Microsoft YaHei" charset="-122"/>
              </a:rPr>
              <a:t>;</a:t>
            </a:r>
          </a:p>
          <a:p>
            <a:pPr marL="285750" indent="-285750">
              <a:buFont typeface="Arial" charset="0"/>
              <a:buChar char="•"/>
            </a:pPr>
            <a:r>
              <a:rPr lang="en-US" altLang="zh-CN" sz="1600" dirty="0" smtClean="0">
                <a:latin typeface="+mn-lt"/>
                <a:ea typeface="Microsoft YaHei" charset="-122"/>
                <a:cs typeface="Microsoft YaHei" charset="-122"/>
              </a:rPr>
              <a:t>Octopus</a:t>
            </a:r>
            <a:r>
              <a:rPr lang="zh-CN" altLang="en-US" sz="1600" dirty="0" smtClean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lang="en-US" altLang="zh-CN" sz="1600" dirty="0" smtClean="0">
                <a:latin typeface="+mn-lt"/>
                <a:ea typeface="Microsoft YaHei" charset="-122"/>
                <a:cs typeface="Microsoft YaHei" charset="-122"/>
              </a:rPr>
              <a:t>(PM-aware</a:t>
            </a:r>
            <a:r>
              <a:rPr lang="zh-CN" altLang="en-US" sz="1600" dirty="0" smtClean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lang="en-US" altLang="zh-CN" sz="1600" dirty="0" smtClean="0">
                <a:latin typeface="+mn-lt"/>
                <a:ea typeface="Microsoft YaHei" charset="-122"/>
                <a:cs typeface="Microsoft YaHei" charset="-122"/>
              </a:rPr>
              <a:t>+</a:t>
            </a:r>
            <a:r>
              <a:rPr lang="zh-CN" altLang="en-US" sz="1600" dirty="0" smtClean="0">
                <a:latin typeface="+mn-lt"/>
                <a:ea typeface="Microsoft YaHei" charset="-122"/>
                <a:cs typeface="Microsoft YaHei" charset="-122"/>
              </a:rPr>
              <a:t> </a:t>
            </a:r>
            <a:r>
              <a:rPr lang="en-US" altLang="zh-CN" sz="1600" dirty="0">
                <a:ea typeface="Microsoft YaHei" charset="-122"/>
                <a:cs typeface="Microsoft YaHei" charset="-122"/>
              </a:rPr>
              <a:t>RDMA</a:t>
            </a:r>
            <a:r>
              <a:rPr lang="zh-CN" altLang="en-US" sz="1600" dirty="0" smtClean="0">
                <a:ea typeface="Microsoft YaHei" charset="-122"/>
                <a:cs typeface="Microsoft YaHei" charset="-122"/>
              </a:rPr>
              <a:t>传输</a:t>
            </a:r>
            <a:r>
              <a:rPr lang="en-US" altLang="zh-CN" sz="1600" dirty="0" smtClean="0">
                <a:latin typeface="+mn-lt"/>
                <a:ea typeface="Microsoft YaHei" charset="-122"/>
                <a:cs typeface="Microsoft YaHei" charset="-122"/>
              </a:rPr>
              <a:t>)</a:t>
            </a:r>
            <a:r>
              <a:rPr lang="zh-CN" altLang="en-US" sz="1600" dirty="0" smtClean="0">
                <a:latin typeface="+mn-lt"/>
                <a:ea typeface="Microsoft YaHei" charset="-122"/>
                <a:cs typeface="Microsoft YaHei" charset="-122"/>
              </a:rPr>
              <a:t> 拷贝</a:t>
            </a:r>
            <a:r>
              <a:rPr lang="en-US" altLang="zh-CN" sz="1600" dirty="0">
                <a:latin typeface="+mn-lt"/>
                <a:ea typeface="Microsoft YaHei" charset="-122"/>
                <a:cs typeface="Microsoft YaHei" charset="-122"/>
              </a:rPr>
              <a:t>4</a:t>
            </a:r>
            <a:r>
              <a:rPr lang="zh-CN" altLang="en-US" sz="1600" dirty="0">
                <a:latin typeface="+mn-lt"/>
                <a:ea typeface="Microsoft YaHei" charset="-122"/>
                <a:cs typeface="Microsoft YaHei" charset="-122"/>
              </a:rPr>
              <a:t>次。</a:t>
            </a:r>
            <a:endParaRPr lang="zh-CN" altLang="en-US" sz="1600" dirty="0">
              <a:effectLst/>
              <a:latin typeface="+mn-lt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712439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kumimoji="1" lang="zh-CN" altLang="en-US"/>
          </a:p>
          <a:p>
            <a:pPr eaLnBrk="1" hangingPunct="1"/>
            <a:endParaRPr kumimoji="1" lang="zh-CN" altLang="en-US"/>
          </a:p>
        </p:txBody>
      </p:sp>
      <p:sp>
        <p:nvSpPr>
          <p:cNvPr id="38914" name="文本框 1"/>
          <p:cNvSpPr txBox="1">
            <a:spLocks noChangeArrowheads="1"/>
          </p:cNvSpPr>
          <p:nvPr/>
        </p:nvSpPr>
        <p:spPr bwMode="auto">
          <a:xfrm>
            <a:off x="3567113" y="2665413"/>
            <a:ext cx="5127625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6600">
                <a:latin typeface="SimHei" charset="0"/>
                <a:ea typeface="SimHei" charset="0"/>
              </a:rPr>
              <a:t>谢谢！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主题2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2" id="{E0D1F83F-22F0-D546-91D8-FF7C6B24B14B}" vid="{5AF26BE8-7839-1342-A4CE-8DF56C8D06F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43674</TotalTime>
  <Words>2605</Words>
  <Application>Microsoft Macintosh PowerPoint</Application>
  <PresentationFormat>全屏显示(4:3)</PresentationFormat>
  <Paragraphs>345</Paragraphs>
  <Slides>40</Slides>
  <Notes>40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1" baseType="lpstr">
      <vt:lpstr>Calibri</vt:lpstr>
      <vt:lpstr>Calibri Light</vt:lpstr>
      <vt:lpstr>Mangal</vt:lpstr>
      <vt:lpstr>Microsoft YaHei</vt:lpstr>
      <vt:lpstr>PingFang SC</vt:lpstr>
      <vt:lpstr>SimHei</vt:lpstr>
      <vt:lpstr>Times New Roman</vt:lpstr>
      <vt:lpstr>Wingdings</vt:lpstr>
      <vt:lpstr>宋体</vt:lpstr>
      <vt:lpstr>Arial</vt:lpstr>
      <vt:lpstr>主题2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15.0038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周会总结</dc:title>
  <dc:creator>Jaycee Zhang</dc:creator>
  <cp:lastModifiedBy>张 佳辰</cp:lastModifiedBy>
  <cp:revision>586</cp:revision>
  <cp:lastPrinted>2017-05-11T02:50:32Z</cp:lastPrinted>
  <dcterms:created xsi:type="dcterms:W3CDTF">2016-12-13T05:37:29Z</dcterms:created>
  <dcterms:modified xsi:type="dcterms:W3CDTF">2018-12-18T07:28:43Z</dcterms:modified>
</cp:coreProperties>
</file>