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6" r:id="rId2"/>
    <p:sldId id="257" r:id="rId3"/>
    <p:sldId id="261" r:id="rId4"/>
    <p:sldId id="286" r:id="rId5"/>
    <p:sldId id="258" r:id="rId6"/>
    <p:sldId id="259" r:id="rId7"/>
    <p:sldId id="262" r:id="rId8"/>
    <p:sldId id="263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9" r:id="rId21"/>
    <p:sldId id="277" r:id="rId22"/>
    <p:sldId id="278" r:id="rId23"/>
    <p:sldId id="280" r:id="rId24"/>
    <p:sldId id="281" r:id="rId25"/>
    <p:sldId id="282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6" r:id="rId37"/>
    <p:sldId id="295" r:id="rId38"/>
    <p:sldId id="29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3BC7E-F3C7-41D7-A6B9-8CA8BB31AB88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3F84D-8DBA-4862-9BB2-6F228C8DFD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47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3F84D-8DBA-4862-9BB2-6F228C8DFD0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663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87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68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2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16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5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5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79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1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73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9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8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DF7EA1-ECC4-422C-8062-3D9466AC6230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2C16-20C6-42FD-A578-344FCDAD3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3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面向大数据处理的内存系统</a:t>
            </a:r>
            <a:r>
              <a:rPr lang="en-US" altLang="zh-CN" sz="4000" dirty="0" smtClean="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br>
              <a:rPr lang="en-US" altLang="zh-CN" sz="4000" dirty="0" smtClean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崔立骁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53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 概述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7969" y="1766655"/>
            <a:ext cx="7792576" cy="4413483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内存墙问题（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Memory Wall</a:t>
            </a:r>
            <a:r>
              <a:rPr lang="zh-CN" altLang="en-US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Memory Hierarchy 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AMAT(Average Memory Access Time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Cache &amp; Cache Optimizations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C-AMAT(Concurrent-AMAT</a:t>
            </a:r>
            <a:r>
              <a:rPr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</a:rPr>
              <a:t>Layered </a:t>
            </a:r>
            <a:r>
              <a:rPr lang="en-US" altLang="zh-CN" sz="2400">
                <a:latin typeface="Times New Roman" panose="02020603050405020304" pitchFamily="18" charset="0"/>
              </a:rPr>
              <a:t>Performance </a:t>
            </a:r>
            <a:r>
              <a:rPr lang="en-US" altLang="zh-CN" sz="2400" smtClean="0">
                <a:latin typeface="Times New Roman" panose="02020603050405020304" pitchFamily="18" charset="0"/>
              </a:rPr>
              <a:t>Matching</a:t>
            </a:r>
            <a:r>
              <a:rPr lang="en-US" altLang="zh-CN" sz="24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324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大数据</a:t>
            </a:r>
            <a:r>
              <a:rPr lang="zh-CN" altLang="en-US" dirty="0" smtClean="0"/>
              <a:t>时代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598" y="1424771"/>
            <a:ext cx="1969008" cy="131267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97" y="1424771"/>
            <a:ext cx="1969008" cy="124358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402" y="3288278"/>
            <a:ext cx="4021586" cy="3569722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>
            <a:off x="2929631" y="2737443"/>
            <a:ext cx="243975" cy="55083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6011662" y="2732105"/>
            <a:ext cx="243975" cy="55083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0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大数据时代</a:t>
            </a:r>
            <a:r>
              <a:rPr lang="en-US" altLang="zh-CN" dirty="0" smtClean="0"/>
              <a:t>(cont.)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26" y="2102528"/>
            <a:ext cx="3504283" cy="295774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58936" y="1509203"/>
            <a:ext cx="46696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计算密集型负载 </a:t>
            </a:r>
            <a:r>
              <a:rPr lang="zh-CN" altLang="en-US" sz="2000" dirty="0" smtClean="0"/>
              <a:t>         数据密集型负载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I/O</a:t>
            </a:r>
            <a:r>
              <a:rPr lang="zh-CN" altLang="en-US" sz="2000" dirty="0" smtClean="0"/>
              <a:t>成为数据处理的瓶颈</a:t>
            </a:r>
            <a:endParaRPr lang="zh-CN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内存</a:t>
            </a:r>
            <a:r>
              <a:rPr lang="zh-CN" altLang="en-US" sz="2000" dirty="0"/>
              <a:t>也</a:t>
            </a:r>
            <a:r>
              <a:rPr lang="zh-CN" altLang="en-US" sz="2000" dirty="0" smtClean="0"/>
              <a:t>是数据处理的</a:t>
            </a:r>
            <a:r>
              <a:rPr lang="zh-CN" altLang="en-US" sz="2000" dirty="0"/>
              <a:t>瓶颈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内存</a:t>
            </a:r>
            <a:r>
              <a:rPr lang="zh-CN" altLang="en-US" sz="2000" dirty="0"/>
              <a:t>墙问题</a:t>
            </a:r>
          </a:p>
          <a:p>
            <a:endParaRPr lang="en-US" altLang="zh-CN" sz="20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6658252" y="1691322"/>
            <a:ext cx="355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285790" y="6019060"/>
            <a:ext cx="2974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图片来源：舒继武教授</a:t>
            </a:r>
            <a:r>
              <a:rPr lang="en-US" altLang="zh-CN" sz="1200" dirty="0" err="1" smtClean="0"/>
              <a:t>ppt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4950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  </a:t>
            </a:r>
            <a:r>
              <a:rPr lang="zh-CN" altLang="en-US" dirty="0"/>
              <a:t>内存</a:t>
            </a:r>
            <a:r>
              <a:rPr lang="zh-CN" altLang="en-US" dirty="0" smtClean="0"/>
              <a:t>墙问题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dirty="0" smtClean="0"/>
              <a:t> </a:t>
            </a:r>
            <a:r>
              <a:rPr lang="zh-CN" altLang="en-US" dirty="0" smtClean="0"/>
              <a:t>处理器性能快速提升</a:t>
            </a:r>
            <a:endParaRPr lang="en-US" altLang="zh-CN" dirty="0" smtClean="0"/>
          </a:p>
          <a:p>
            <a:pPr lvl="1" algn="just"/>
            <a:r>
              <a:rPr lang="zh-CN" altLang="en-US" dirty="0"/>
              <a:t>单</a:t>
            </a:r>
            <a:r>
              <a:rPr lang="zh-CN" altLang="en-US" dirty="0" smtClean="0"/>
              <a:t>核处理器</a:t>
            </a:r>
            <a:r>
              <a:rPr lang="en-US" altLang="zh-CN" dirty="0" smtClean="0"/>
              <a:t>2004</a:t>
            </a:r>
            <a:r>
              <a:rPr lang="zh-CN" altLang="en-US" dirty="0" smtClean="0"/>
              <a:t>年增长约</a:t>
            </a:r>
            <a:r>
              <a:rPr lang="en-US" altLang="zh-CN" dirty="0" smtClean="0"/>
              <a:t>52%</a:t>
            </a:r>
          </a:p>
          <a:p>
            <a:pPr lvl="1" algn="just"/>
            <a:r>
              <a:rPr lang="zh-CN" altLang="en-US" dirty="0"/>
              <a:t>多</a:t>
            </a:r>
            <a:r>
              <a:rPr lang="zh-CN" altLang="en-US" dirty="0" smtClean="0"/>
              <a:t>核处理器每年增长约</a:t>
            </a:r>
            <a:r>
              <a:rPr lang="en-US" altLang="zh-CN" dirty="0" smtClean="0"/>
              <a:t>60%</a:t>
            </a:r>
            <a:endParaRPr lang="en-US" altLang="zh-CN" dirty="0"/>
          </a:p>
          <a:p>
            <a:pPr algn="just"/>
            <a:endParaRPr lang="en-US" altLang="zh-CN" dirty="0" smtClean="0"/>
          </a:p>
          <a:p>
            <a:pPr algn="just"/>
            <a:r>
              <a:rPr lang="zh-CN" altLang="en-US" dirty="0" smtClean="0"/>
              <a:t>内存性能增长缓慢</a:t>
            </a:r>
            <a:endParaRPr lang="en-US" altLang="zh-CN" dirty="0" smtClean="0"/>
          </a:p>
          <a:p>
            <a:pPr lvl="1" algn="just"/>
            <a:r>
              <a:rPr lang="zh-CN" altLang="en-US" dirty="0" smtClean="0"/>
              <a:t>每年增长约</a:t>
            </a:r>
            <a:r>
              <a:rPr lang="en-US" altLang="zh-CN" dirty="0" smtClean="0"/>
              <a:t>9%</a:t>
            </a:r>
          </a:p>
          <a:p>
            <a:pPr lvl="1" algn="just"/>
            <a:endParaRPr lang="en-US" altLang="zh-CN" dirty="0"/>
          </a:p>
          <a:p>
            <a:pPr lvl="1" algn="just"/>
            <a:endParaRPr lang="en-US" altLang="zh-CN" dirty="0"/>
          </a:p>
          <a:p>
            <a:pPr algn="just"/>
            <a:r>
              <a:rPr lang="zh-CN" altLang="en-US" dirty="0" smtClean="0"/>
              <a:t>内存与处理器之间的速度</a:t>
            </a:r>
            <a:endParaRPr lang="en-US" altLang="zh-CN" dirty="0" smtClean="0"/>
          </a:p>
          <a:p>
            <a:pPr marL="0" indent="0" algn="just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/>
              <a:t>差距</a:t>
            </a:r>
            <a:r>
              <a:rPr lang="zh-CN" altLang="en-US" dirty="0" smtClean="0"/>
              <a:t>不断变大</a:t>
            </a:r>
            <a:endParaRPr lang="en-US" altLang="zh-CN" sz="24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95" y="1163293"/>
            <a:ext cx="4220576" cy="44818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69476" y="5868140"/>
            <a:ext cx="2077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zh-CN" altLang="en-US" sz="1200" dirty="0" smtClean="0"/>
              <a:t>源：计算机体系结构：量化研究方法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929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654" y="949911"/>
            <a:ext cx="6931324" cy="502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5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5" y="1509205"/>
            <a:ext cx="7886700" cy="4670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Programmers want unlimited amounts of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with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memory technology is more expensive per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 than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memory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Solution: organize memory system into a hierarchy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addressable memory space available in largest,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slowest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Incrementally smaller and faster memories, each containing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of the memory below it, proceed in steps up toward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Temporal and spatial locality insures that nearly all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can be found in smaller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4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</a:t>
            </a:r>
            <a:r>
              <a:rPr lang="zh-CN" altLang="en-US" dirty="0" smtClean="0"/>
              <a:t>多核处理器带来更严重的内存墙问题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3945" y="1518083"/>
            <a:ext cx="8119537" cy="4625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design becomes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 crucial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recent multi-core processors: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peak bandwidth grows with # cores: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i7 can generate two references per core per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clock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cores and 3.2 GHz clock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25.6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billion 64-bit data references/second +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12.8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billion 128-bit instruction references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409.6 GB/s!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 bandwidth is only 6% of this (25 GB/s)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Requires: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levels of cache per core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third-level cache on chip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6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 现代</a:t>
            </a:r>
            <a:r>
              <a:rPr lang="zh-CN" altLang="en-US" dirty="0"/>
              <a:t>内存</a:t>
            </a:r>
            <a:r>
              <a:rPr lang="zh-CN" altLang="en-US" dirty="0" smtClean="0"/>
              <a:t>层次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480" y="2159517"/>
            <a:ext cx="7951270" cy="33446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3845" y="1349406"/>
            <a:ext cx="8092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    - </a:t>
            </a:r>
            <a:r>
              <a:rPr lang="zh-CN" altLang="en-US" dirty="0" smtClean="0"/>
              <a:t>用最廉价的技术</a:t>
            </a:r>
            <a:r>
              <a:rPr lang="zh-CN" altLang="en-US" dirty="0"/>
              <a:t>向用户</a:t>
            </a:r>
            <a:r>
              <a:rPr lang="zh-CN" altLang="en-US" dirty="0" smtClean="0"/>
              <a:t>提供尽可能多的内存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- </a:t>
            </a:r>
            <a:r>
              <a:rPr lang="zh-CN" altLang="en-US" dirty="0" smtClean="0"/>
              <a:t>用最快的技术提供尽可能好的访问性能。</a:t>
            </a:r>
            <a:endParaRPr lang="en-US" altLang="zh-CN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775480" y="5646198"/>
            <a:ext cx="3423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图片</a:t>
            </a:r>
            <a:r>
              <a:rPr lang="zh-CN" altLang="en-US" sz="1400" dirty="0" smtClean="0"/>
              <a:t>来源：龙星计划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5238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788337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5" y="1154097"/>
            <a:ext cx="7886700" cy="50260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latencies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how quickly the information is available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100s of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(CPU registers) to 10s… 100s of ns (main memory) for primary storage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maximum rate at which information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available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processing, preventing processor starvation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10s of GB/s for registers and L1 cache, single GB/s for main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determines maximum problem size possible to compute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Capacities range from few bytes per register, few of KB to tens of MB for CPU caches,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100sof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 to 1 TB for hard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density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determines additional costs associated with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assembling storage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required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04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2155" y="365760"/>
            <a:ext cx="7588390" cy="708438"/>
          </a:xfrm>
        </p:spPr>
        <p:txBody>
          <a:bodyPr/>
          <a:lstStyle/>
          <a:p>
            <a:r>
              <a:rPr lang="zh-CN" altLang="en-US" dirty="0" smtClean="0"/>
              <a:t> 内存层次带来的改进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155" y="1376039"/>
            <a:ext cx="7286806" cy="450871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8746" y="6032702"/>
            <a:ext cx="3423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图片</a:t>
            </a:r>
            <a:r>
              <a:rPr lang="zh-CN" altLang="en-US" sz="1400" dirty="0" smtClean="0"/>
              <a:t>来源：龙星计划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3694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787" y="365760"/>
            <a:ext cx="7561757" cy="62853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cache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559" y="1083077"/>
            <a:ext cx="7907986" cy="5097062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Originally referring to the first level of the memory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principle of locality applies to many levels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Hit: data appears in some block in the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level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Hit Rate: the fraction of memory accesses found in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upper level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Hit Time: Time to access the upper level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access time + Time to determine hit/miss 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9911" y="365760"/>
            <a:ext cx="7570634" cy="504252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cache(cont.)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4703" y="1109709"/>
            <a:ext cx="7845842" cy="507042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Miss: data needs to be retrieve from a block in the lower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(Block Y)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Miss Rate = 1 - (Hit Rate)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Miss Penalty: Time to replace a block in the upper level +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to deliver the block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Time &lt;&lt; Miss Penalty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46" y="3182551"/>
            <a:ext cx="5813667" cy="21262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02546" y="5504155"/>
            <a:ext cx="2412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zh-CN" altLang="en-US" sz="1400" dirty="0" smtClean="0"/>
              <a:t>源：龙星计划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4181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2053" y="365760"/>
            <a:ext cx="7508491" cy="61966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cache(cont.)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804" y="1065321"/>
            <a:ext cx="7925741" cy="5114818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misses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Compulsory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a block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Capacity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discarded and later retrieved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Conflict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repeated references to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addresses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different blocks that map to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location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cache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Coherence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Misses: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multiprocessor systems 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are false sharing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77058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AMAT(Average Memory Access Time)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5" y="1473693"/>
            <a:ext cx="7886699" cy="4706446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AMAT 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MR×AMP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miss rate of cache accesses; and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 is the average miss penalty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AMAT is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MR×AMAT2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MR×(H2 + MR2×AMP2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-AMAT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MR×(H2 + MR2× AMAT3 )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MR×(H2 + MR2×(H3 + MR3×AMP3))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66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  内存层次的性能优化表现 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339048" y="2232733"/>
            <a:ext cx="630315" cy="96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First-level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4280518" y="2068496"/>
            <a:ext cx="1108230" cy="12783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Third</a:t>
            </a:r>
            <a:endParaRPr lang="en-US" altLang="zh-CN" sz="1400" dirty="0"/>
          </a:p>
          <a:p>
            <a:pPr algn="ctr"/>
            <a:r>
              <a:rPr lang="en-US" altLang="zh-CN" sz="1400" dirty="0" smtClean="0"/>
              <a:t>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6100441" y="1968622"/>
            <a:ext cx="1569868" cy="1495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main memory</a:t>
            </a:r>
          </a:p>
        </p:txBody>
      </p:sp>
      <p:sp>
        <p:nvSpPr>
          <p:cNvPr id="9" name="矩形 8"/>
          <p:cNvSpPr/>
          <p:nvPr/>
        </p:nvSpPr>
        <p:spPr>
          <a:xfrm>
            <a:off x="2681056" y="2232733"/>
            <a:ext cx="834501" cy="96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Second</a:t>
            </a:r>
          </a:p>
          <a:p>
            <a:pPr algn="ctr"/>
            <a:r>
              <a:rPr lang="en-US" altLang="zh-CN" sz="1400" dirty="0" smtClean="0"/>
              <a:t>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cxnSp>
        <p:nvCxnSpPr>
          <p:cNvPr id="11" name="直接箭头连接符 10"/>
          <p:cNvCxnSpPr>
            <a:endCxn id="4" idx="1"/>
          </p:cNvCxnSpPr>
          <p:nvPr/>
        </p:nvCxnSpPr>
        <p:spPr>
          <a:xfrm>
            <a:off x="633845" y="2716566"/>
            <a:ext cx="705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78" y="2656641"/>
            <a:ext cx="865707" cy="16460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184" y="2656641"/>
            <a:ext cx="865707" cy="16460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741" y="2656641"/>
            <a:ext cx="865707" cy="16460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8468" y="2754295"/>
            <a:ext cx="538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1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104310" y="2754295"/>
            <a:ext cx="649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10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3561694" y="2785366"/>
            <a:ext cx="63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390091" y="2776286"/>
            <a:ext cx="710350" cy="31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300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718468" y="3781887"/>
            <a:ext cx="7395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Miss rate: L1=10%, L2=5%, L3=1% (Be careful miss rate definition)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+ 1 + 0.1 + 0.015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2.115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2.115 vs. 31 (if no L2, L3 memory hierarchy)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7665" y="365760"/>
            <a:ext cx="7552879" cy="89486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171" y="1233997"/>
            <a:ext cx="7952374" cy="4946142"/>
          </a:xfrm>
        </p:spPr>
        <p:txBody>
          <a:bodyPr>
            <a:normAutofit/>
          </a:bodyPr>
          <a:lstStyle/>
          <a:p>
            <a:r>
              <a:rPr lang="en-US" altLang="zh-CN" dirty="0"/>
              <a:t>Six basic cache optimizations: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72" y="1935331"/>
            <a:ext cx="8651582" cy="345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4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8687" y="365760"/>
            <a:ext cx="7481858" cy="752826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Cache Optimizations(cont.)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7050" y="1038687"/>
            <a:ext cx="7943496" cy="5141452"/>
          </a:xfrm>
        </p:spPr>
        <p:txBody>
          <a:bodyPr/>
          <a:lstStyle/>
          <a:p>
            <a:r>
              <a:rPr lang="en-US" altLang="zh-CN" dirty="0"/>
              <a:t>Advanced Optimizations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87" y="1413237"/>
            <a:ext cx="6835674" cy="483792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8686" y="6365290"/>
            <a:ext cx="3311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图源：计算机体系结构</a:t>
            </a:r>
            <a:r>
              <a:rPr lang="en-US" altLang="zh-CN" sz="1200" dirty="0" smtClean="0"/>
              <a:t>:</a:t>
            </a:r>
            <a:r>
              <a:rPr lang="zh-CN" altLang="en-US" sz="1200" dirty="0" smtClean="0"/>
              <a:t>量化研究方法</a:t>
            </a:r>
            <a:r>
              <a:rPr lang="en-US" altLang="zh-CN" sz="1200" dirty="0" smtClean="0"/>
              <a:t>(</a:t>
            </a:r>
            <a:r>
              <a:rPr lang="zh-CN" altLang="en-US" sz="1200" dirty="0" smtClean="0"/>
              <a:t>第五版</a:t>
            </a:r>
            <a:r>
              <a:rPr lang="en-US" altLang="zh-CN" sz="1200" dirty="0" smtClean="0"/>
              <a:t>)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2699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709" y="365760"/>
            <a:ext cx="7410836" cy="85048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Optimizations(cont.)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9293" y="1331650"/>
            <a:ext cx="7961252" cy="2068497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Concurrency </a:t>
            </a:r>
          </a:p>
          <a:p>
            <a:pPr lvl="1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lvl="1"/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Nonblocking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lvl="1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Multi-banked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lvl="1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Prefetching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(hardware and software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05" y="3960921"/>
            <a:ext cx="2579212" cy="17093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67992" y="5205415"/>
            <a:ext cx="1341713" cy="45316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787588" y="4728547"/>
            <a:ext cx="1022117" cy="47686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L2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188736" y="4100300"/>
            <a:ext cx="620969" cy="62824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…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2201662" y="3960921"/>
            <a:ext cx="923278" cy="11348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513" y="5863409"/>
            <a:ext cx="5005250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0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2975" y="365760"/>
            <a:ext cx="7357570" cy="69956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Parallelism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875" y="1630431"/>
            <a:ext cx="6514174" cy="36823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2528" y="5663953"/>
            <a:ext cx="196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图源：龙星计划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4003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0931" y="365760"/>
            <a:ext cx="7499613" cy="92150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C-AMAT(Concurrent-AMAT)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7049" y="1287263"/>
            <a:ext cx="7943495" cy="2681055"/>
          </a:xfrm>
        </p:spPr>
        <p:txBody>
          <a:bodyPr>
            <a:normAutofit/>
          </a:bodyPr>
          <a:lstStyle/>
          <a:p>
            <a:r>
              <a:rPr lang="en-US" altLang="zh-CN" dirty="0"/>
              <a:t>The traditional AMAT(Average Memory Access Time) :</a:t>
            </a:r>
            <a:br>
              <a:rPr lang="en-US" altLang="zh-CN" dirty="0"/>
            </a:br>
            <a:r>
              <a:rPr lang="en-US" altLang="zh-CN" dirty="0"/>
              <a:t>AMAT = </a:t>
            </a:r>
            <a:r>
              <a:rPr lang="en-US" altLang="zh-CN" dirty="0" err="1"/>
              <a:t>HitCycle</a:t>
            </a:r>
            <a:r>
              <a:rPr lang="en-US" altLang="zh-CN" dirty="0"/>
              <a:t> + </a:t>
            </a:r>
            <a:r>
              <a:rPr lang="en-US" altLang="zh-CN" dirty="0" smtClean="0"/>
              <a:t>MR×AMP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MR </a:t>
            </a:r>
            <a:r>
              <a:rPr lang="en-US" altLang="zh-CN" dirty="0"/>
              <a:t>is the miss rate of cache accesses; and AMP is the average miss penalty </a:t>
            </a:r>
            <a:endParaRPr lang="en-US" altLang="zh-CN" dirty="0" smtClean="0"/>
          </a:p>
          <a:p>
            <a:r>
              <a:rPr lang="en-US" altLang="zh-CN" sz="2400" b="1" dirty="0">
                <a:solidFill>
                  <a:srgbClr val="FF0000"/>
                </a:solidFill>
                <a:latin typeface="CIDFont+F5"/>
              </a:rPr>
              <a:t>Concurrent-AMAT (C-AMAT)</a:t>
            </a:r>
            <a:r>
              <a:rPr lang="en-US" altLang="zh-CN" sz="2400" dirty="0">
                <a:solidFill>
                  <a:srgbClr val="000000"/>
                </a:solidFill>
                <a:latin typeface="CIDFont+F2"/>
              </a:rPr>
              <a:t>:</a:t>
            </a:r>
            <a:br>
              <a:rPr lang="en-US" altLang="zh-CN" sz="2400" dirty="0">
                <a:solidFill>
                  <a:srgbClr val="000000"/>
                </a:solidFill>
                <a:latin typeface="CIDFont+F2"/>
              </a:rPr>
            </a:br>
            <a:r>
              <a:rPr lang="en-US" altLang="zh-CN" sz="2400" dirty="0">
                <a:solidFill>
                  <a:srgbClr val="000000"/>
                </a:solidFill>
                <a:latin typeface="CIDFont+F2"/>
              </a:rPr>
              <a:t>C-AMAT = </a:t>
            </a:r>
            <a:r>
              <a:rPr lang="en-US" altLang="zh-CN" sz="2400" dirty="0" err="1">
                <a:solidFill>
                  <a:srgbClr val="000000"/>
                </a:solidFill>
                <a:latin typeface="CIDFont+F2"/>
              </a:rPr>
              <a:t>HitCycle</a:t>
            </a:r>
            <a:r>
              <a:rPr lang="en-US" altLang="zh-CN" sz="2400" dirty="0">
                <a:solidFill>
                  <a:srgbClr val="000000"/>
                </a:solidFill>
                <a:latin typeface="CIDFont+F2"/>
              </a:rPr>
              <a:t>/C</a:t>
            </a:r>
            <a:r>
              <a:rPr lang="en-US" altLang="zh-CN" sz="800" dirty="0">
                <a:solidFill>
                  <a:srgbClr val="000000"/>
                </a:solidFill>
                <a:latin typeface="CIDFont+F2"/>
              </a:rPr>
              <a:t>H</a:t>
            </a:r>
            <a:r>
              <a:rPr lang="en-US" altLang="zh-CN" sz="2400" dirty="0">
                <a:solidFill>
                  <a:srgbClr val="000000"/>
                </a:solidFill>
                <a:latin typeface="CIDFont+F2"/>
              </a:rPr>
              <a:t>+ 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CIDFont+F6"/>
              </a:rPr>
              <a:t>p</a:t>
            </a:r>
            <a:r>
              <a:rPr lang="en-US" altLang="zh-CN" sz="2400" dirty="0" err="1" smtClean="0">
                <a:solidFill>
                  <a:srgbClr val="000000"/>
                </a:solidFill>
                <a:latin typeface="CIDFont+F2"/>
              </a:rPr>
              <a:t>MR</a:t>
            </a:r>
            <a:r>
              <a:rPr lang="en-US" altLang="zh-CN" sz="2400" dirty="0" err="1" smtClean="0">
                <a:solidFill>
                  <a:srgbClr val="000000"/>
                </a:solidFill>
                <a:latin typeface="CIDFont+F7"/>
              </a:rPr>
              <a:t>×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CIDFont+F6"/>
              </a:rPr>
              <a:t>p</a:t>
            </a:r>
            <a:r>
              <a:rPr lang="en-US" altLang="zh-CN" sz="2400" dirty="0" err="1" smtClean="0">
                <a:solidFill>
                  <a:srgbClr val="000000"/>
                </a:solidFill>
                <a:latin typeface="CIDFont+F2"/>
              </a:rPr>
              <a:t>AMP</a:t>
            </a:r>
            <a:r>
              <a:rPr lang="en-US" altLang="zh-CN" sz="2400" dirty="0" smtClean="0">
                <a:solidFill>
                  <a:srgbClr val="000000"/>
                </a:solidFill>
                <a:latin typeface="CIDFont+F2"/>
              </a:rPr>
              <a:t>/C</a:t>
            </a:r>
            <a:r>
              <a:rPr lang="en-US" altLang="zh-CN" sz="800" dirty="0" smtClean="0">
                <a:solidFill>
                  <a:srgbClr val="000000"/>
                </a:solidFill>
                <a:latin typeface="CIDFont+F2"/>
              </a:rPr>
              <a:t>M</a:t>
            </a:r>
            <a:r>
              <a:rPr lang="en-US" altLang="zh-CN" sz="2400" dirty="0">
                <a:solidFill>
                  <a:srgbClr val="000000"/>
                </a:solidFill>
                <a:latin typeface="CIDFont+F2"/>
              </a:rPr>
              <a:t/>
            </a:r>
            <a:br>
              <a:rPr lang="en-US" altLang="zh-CN" sz="2400" dirty="0">
                <a:solidFill>
                  <a:srgbClr val="000000"/>
                </a:solidFill>
                <a:latin typeface="CIDFont+F2"/>
              </a:rPr>
            </a:br>
            <a:endParaRPr lang="en-US" altLang="zh-CN" sz="2400" dirty="0" smtClean="0">
              <a:solidFill>
                <a:srgbClr val="000000"/>
              </a:solidFill>
              <a:latin typeface="CIDFont+F2"/>
            </a:endParaRPr>
          </a:p>
          <a:p>
            <a:pPr marL="0" indent="0">
              <a:buNone/>
            </a:pPr>
            <a:endParaRPr lang="en-US" altLang="zh-CN" sz="18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sz="18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6948" y="3719744"/>
            <a:ext cx="77146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000000"/>
                </a:solidFill>
                <a:latin typeface="CIDFont+F2"/>
              </a:rPr>
              <a:t>C</a:t>
            </a:r>
            <a:r>
              <a:rPr lang="en-US" altLang="zh-CN" sz="800" dirty="0" smtClean="0">
                <a:solidFill>
                  <a:srgbClr val="000000"/>
                </a:solidFill>
                <a:latin typeface="CIDFont+F2"/>
              </a:rPr>
              <a:t>H</a:t>
            </a:r>
            <a:r>
              <a:rPr lang="en-US" altLang="zh-CN" sz="600" dirty="0" smtClean="0">
                <a:solidFill>
                  <a:srgbClr val="000000"/>
                </a:solidFill>
                <a:latin typeface="CIDFont+F2"/>
              </a:rPr>
              <a:t>    </a:t>
            </a:r>
            <a:r>
              <a:rPr lang="en-US" altLang="zh-C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hit concurrency ;   </a:t>
            </a:r>
            <a:r>
              <a:rPr lang="en-US" altLang="zh-CN" sz="600" dirty="0" smtClean="0">
                <a:solidFill>
                  <a:srgbClr val="000000"/>
                </a:solidFill>
                <a:latin typeface="CIDFont+F2"/>
              </a:rPr>
              <a:t>                     </a:t>
            </a:r>
            <a:r>
              <a:rPr lang="en-US" altLang="zh-C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pure 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</a:rPr>
              <a:t>miss </a:t>
            </a:r>
            <a:r>
              <a:rPr lang="en-US" altLang="zh-C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concurrency</a:t>
            </a:r>
          </a:p>
          <a:p>
            <a:endParaRPr lang="en-US" altLang="zh-CN" sz="2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20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pMR</a:t>
            </a:r>
            <a:r>
              <a:rPr lang="en-US" altLang="zh-CN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</a:rPr>
              <a:t>and </a:t>
            </a:r>
            <a:r>
              <a:rPr lang="en-US" altLang="zh-CN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pAMP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</a:rPr>
              <a:t> are pure miss rate and average pure miss penalty</a:t>
            </a:r>
            <a:endParaRPr lang="en-US" altLang="zh-CN" sz="2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308" y="3664986"/>
            <a:ext cx="635552" cy="60666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5723" y="5308847"/>
            <a:ext cx="46075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X.-H. Sun and D. Wang, "Concurrent Average Memory Access Time", in </a:t>
            </a:r>
            <a:r>
              <a:rPr lang="en-US" altLang="zh-CN" sz="1400" dirty="0" smtClean="0"/>
              <a:t>IEEE Computers</a:t>
            </a:r>
            <a:r>
              <a:rPr lang="en-US" altLang="zh-CN" sz="1400" dirty="0"/>
              <a:t>, vol. 47, no. 5, pp. 74-80,May 2014.(IIT Technical </a:t>
            </a:r>
            <a:r>
              <a:rPr lang="en-US" altLang="zh-CN" sz="1400" dirty="0" err="1" smtClean="0"/>
              <a:t>Report,IIT</a:t>
            </a:r>
            <a:r>
              <a:rPr lang="en-US" altLang="zh-CN" sz="1400" dirty="0" smtClean="0"/>
              <a:t>/CS-SCS-2012-05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6845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7565" y="365760"/>
            <a:ext cx="7472980" cy="66405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C-AMAT(cont.)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6140" y="5903650"/>
            <a:ext cx="5000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孙贤和，“</a:t>
            </a:r>
            <a:r>
              <a:rPr lang="en-US" altLang="zh-CN" sz="1200" dirty="0" smtClean="0"/>
              <a:t>C-AMAT</a:t>
            </a:r>
            <a:r>
              <a:rPr lang="zh-CN" altLang="en-US" sz="1200" dirty="0" smtClean="0"/>
              <a:t>：大数据时代的数据存取模型”，中国计算机学会通讯，</a:t>
            </a:r>
            <a:r>
              <a:rPr lang="en-US" altLang="zh-CN" sz="1200" dirty="0" smtClean="0"/>
              <a:t>2014</a:t>
            </a:r>
            <a:r>
              <a:rPr lang="zh-CN" altLang="en-US" sz="1200" dirty="0" smtClean="0"/>
              <a:t>年</a:t>
            </a:r>
            <a:r>
              <a:rPr lang="en-US" altLang="zh-CN" sz="1200" dirty="0" smtClean="0"/>
              <a:t>6</a:t>
            </a:r>
            <a:r>
              <a:rPr lang="zh-CN" altLang="en-US" sz="1200" dirty="0" smtClean="0"/>
              <a:t>月第</a:t>
            </a:r>
            <a:r>
              <a:rPr lang="en-US" altLang="zh-CN" sz="1200" dirty="0" smtClean="0"/>
              <a:t>6</a:t>
            </a:r>
            <a:r>
              <a:rPr lang="zh-CN" altLang="en-US" sz="1200" dirty="0" smtClean="0"/>
              <a:t>期</a:t>
            </a:r>
            <a:endParaRPr lang="zh-CN" altLang="en-US" sz="1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565" y="1986648"/>
            <a:ext cx="6781800" cy="3733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47565" y="1095560"/>
            <a:ext cx="6800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 is not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Pure miss is important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131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6341" y="365760"/>
            <a:ext cx="7384203" cy="752826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 is Recursive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315" y="1198485"/>
            <a:ext cx="7890230" cy="498165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AMAT1 = HitCycle1 +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MR1×AMAT2</a:t>
            </a: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AMAT2 = (HitCycle2 + MR2×AMP2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9" y="2660611"/>
            <a:ext cx="4591050" cy="1028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59" y="3867890"/>
            <a:ext cx="4152900" cy="1714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0315" y="5788241"/>
            <a:ext cx="743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X.-H. Sun, “Concurrent-AMAT: a mathematical model for Big Data access,” HPC-Magazine, May 12, 2014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3566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66405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meaning of κ in C − AMAT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5165" y="941034"/>
            <a:ext cx="3846706" cy="30238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00831" y="1553592"/>
            <a:ext cx="3178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Miss cycle = 14</a:t>
            </a:r>
          </a:p>
          <a:p>
            <a:r>
              <a:rPr lang="en-US" altLang="zh-CN" sz="2000" dirty="0" smtClean="0"/>
              <a:t>Pure miss cycle = 6</a:t>
            </a:r>
          </a:p>
          <a:p>
            <a:r>
              <a:rPr lang="en-US" altLang="zh-CN" sz="2000" dirty="0" smtClean="0"/>
              <a:t>         </a:t>
            </a:r>
            <a:r>
              <a:rPr lang="el-GR" altLang="zh-CN" sz="2000" dirty="0" smtClean="0"/>
              <a:t>Κ</a:t>
            </a:r>
            <a:r>
              <a:rPr lang="en-US" altLang="zh-CN" sz="2000" dirty="0" smtClean="0"/>
              <a:t>=6/14</a:t>
            </a:r>
            <a:endParaRPr lang="zh-CN" altLang="en-US" sz="2000" dirty="0"/>
          </a:p>
        </p:txBody>
      </p:sp>
      <p:sp>
        <p:nvSpPr>
          <p:cNvPr id="6" name="右箭头 5"/>
          <p:cNvSpPr/>
          <p:nvPr/>
        </p:nvSpPr>
        <p:spPr>
          <a:xfrm>
            <a:off x="1287262" y="2263807"/>
            <a:ext cx="221942" cy="14739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97150" y="3071674"/>
            <a:ext cx="3897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/>
            </a:r>
            <a:br>
              <a:rPr lang="zh-CN" altLang="en-US"/>
            </a:b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66" y="4080336"/>
            <a:ext cx="5038088" cy="138029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00446" y="4263155"/>
            <a:ext cx="2254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zh-CN" altLang="en-US" sz="1200" dirty="0" smtClean="0"/>
              <a:t>源：龙星计划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9804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80609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C-AMAT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11910" y="2250488"/>
            <a:ext cx="630315" cy="96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First-level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4653380" y="2086251"/>
            <a:ext cx="1108230" cy="12783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Third</a:t>
            </a:r>
            <a:endParaRPr lang="en-US" altLang="zh-CN" sz="1400" dirty="0"/>
          </a:p>
          <a:p>
            <a:pPr algn="ctr"/>
            <a:r>
              <a:rPr lang="en-US" altLang="zh-CN" sz="1400" dirty="0" smtClean="0"/>
              <a:t>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6473303" y="1986377"/>
            <a:ext cx="1569868" cy="1495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main memory</a:t>
            </a:r>
          </a:p>
        </p:txBody>
      </p:sp>
      <p:sp>
        <p:nvSpPr>
          <p:cNvPr id="7" name="矩形 6"/>
          <p:cNvSpPr/>
          <p:nvPr/>
        </p:nvSpPr>
        <p:spPr>
          <a:xfrm>
            <a:off x="3053918" y="2250488"/>
            <a:ext cx="834501" cy="96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Second</a:t>
            </a:r>
          </a:p>
          <a:p>
            <a:pPr algn="ctr"/>
            <a:r>
              <a:rPr lang="en-US" altLang="zh-CN" sz="1400" dirty="0" smtClean="0"/>
              <a:t>level</a:t>
            </a:r>
          </a:p>
          <a:p>
            <a:pPr algn="ctr"/>
            <a:r>
              <a:rPr lang="en-US" altLang="zh-CN" sz="1400" dirty="0" smtClean="0"/>
              <a:t>cache</a:t>
            </a:r>
            <a:endParaRPr lang="zh-CN" altLang="en-US" sz="1400" dirty="0"/>
          </a:p>
        </p:txBody>
      </p:sp>
      <p:cxnSp>
        <p:nvCxnSpPr>
          <p:cNvPr id="8" name="直接箭头连接符 7"/>
          <p:cNvCxnSpPr>
            <a:endCxn id="4" idx="1"/>
          </p:cNvCxnSpPr>
          <p:nvPr/>
        </p:nvCxnSpPr>
        <p:spPr>
          <a:xfrm>
            <a:off x="1006707" y="2734321"/>
            <a:ext cx="705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140" y="2674396"/>
            <a:ext cx="865707" cy="16460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46" y="2674396"/>
            <a:ext cx="865707" cy="16460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603" y="2674396"/>
            <a:ext cx="865707" cy="16460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91330" y="2772050"/>
            <a:ext cx="538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1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477172" y="2772050"/>
            <a:ext cx="649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10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3934556" y="2803121"/>
            <a:ext cx="63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762953" y="2794041"/>
            <a:ext cx="710350" cy="31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300 </a:t>
            </a:r>
            <a:r>
              <a:rPr lang="en-US" altLang="zh-CN" sz="1400" dirty="0" err="1" smtClean="0"/>
              <a:t>clk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14585" y="2283751"/>
            <a:ext cx="1314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Hit Concurrency </a:t>
            </a:r>
            <a:br>
              <a:rPr lang="en-US" altLang="zh-CN" sz="1200" dirty="0"/>
            </a:br>
            <a:r>
              <a:rPr lang="en-US" altLang="zh-CN" sz="1200" dirty="0" smtClean="0"/>
              <a:t>2</a:t>
            </a:r>
            <a:endParaRPr lang="zh-CN" altLang="en-US" sz="1200" dirty="0"/>
          </a:p>
        </p:txBody>
      </p:sp>
      <p:sp>
        <p:nvSpPr>
          <p:cNvPr id="19" name="文本框 18"/>
          <p:cNvSpPr txBox="1"/>
          <p:nvPr/>
        </p:nvSpPr>
        <p:spPr>
          <a:xfrm>
            <a:off x="2594295" y="2426544"/>
            <a:ext cx="538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121055" y="2366619"/>
            <a:ext cx="538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21" name="文本框 20"/>
          <p:cNvSpPr txBox="1"/>
          <p:nvPr/>
        </p:nvSpPr>
        <p:spPr>
          <a:xfrm>
            <a:off x="5970033" y="2386415"/>
            <a:ext cx="538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6</a:t>
            </a:r>
            <a:endParaRPr lang="zh-CN" altLang="en-US" sz="14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99" y="4047983"/>
            <a:ext cx="7410450" cy="79057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006707" y="5252215"/>
            <a:ext cx="290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AMAT=2.115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42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80609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C-AMAT(cont.)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3784" y="1393794"/>
            <a:ext cx="833613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 is an extension of AMAT to consider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AMAT, if no concurrency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 introduces the Pure Miss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miss causes performance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locality may hurt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 may lead to pure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contributions of concurrency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bandwidth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hiding (overlapping)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40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80609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C-AMAT(cont.)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2622" y="2423604"/>
            <a:ext cx="8336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 Optimal Locality + Optimal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Concurrence</a:t>
            </a:r>
          </a:p>
          <a:p>
            <a:pPr lvl="1"/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locality, concurrency and Overlapping with CAMAT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76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85048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APC(access per cycle)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5" y="1402673"/>
            <a:ext cx="7886700" cy="4777466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 is measured as the number of memory accesses per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memory level has its own APC value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APC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memory evaluation from CPU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memory system as a whole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3845" y="4332303"/>
            <a:ext cx="7927759" cy="8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APC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measured as the number of memory accesses per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memory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cycle or Access Per Memory Active Cycle</a:t>
            </a:r>
          </a:p>
        </p:txBody>
      </p:sp>
    </p:spTree>
    <p:extLst>
      <p:ext uri="{BB962C8B-B14F-4D97-AF65-F5344CB8AC3E}">
        <p14:creationId xmlns:p14="http://schemas.microsoft.com/office/powerpoint/2010/main" val="352673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85048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APC(access per cycle)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5" y="1402673"/>
            <a:ext cx="7886700" cy="4777466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APC = A/T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 based on memory (active)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measured for each layer of a memory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A based on the overlapping mode</a:t>
            </a: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memory accesses co-existing during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clock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cycle, T only increases by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C-AMAT = 1/APC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97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01" y="365761"/>
            <a:ext cx="7686044" cy="655172"/>
          </a:xfrm>
        </p:spPr>
        <p:txBody>
          <a:bodyPr>
            <a:norm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Application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Layered Performance Matching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35" y="1520948"/>
            <a:ext cx="7372350" cy="3638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64607" y="5528708"/>
            <a:ext cx="29118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图源：龙星计划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0706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709" y="365760"/>
            <a:ext cx="7410836" cy="73507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the Request with Supply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75" y="2008272"/>
            <a:ext cx="4349052" cy="219782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96139" y="4953740"/>
            <a:ext cx="74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at each memory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performance with concurrency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51" y="1899104"/>
            <a:ext cx="2917917" cy="2416159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918229" y="2974019"/>
            <a:ext cx="301841" cy="266331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4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84160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 in Action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47" y="1463139"/>
            <a:ext cx="7191375" cy="971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1" t="36860" r="881"/>
          <a:stretch/>
        </p:blipFill>
        <p:spPr>
          <a:xfrm>
            <a:off x="260417" y="2690465"/>
            <a:ext cx="4550271" cy="6505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3905" y="3447814"/>
            <a:ext cx="4492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C-AMAT = </a:t>
            </a:r>
            <a:r>
              <a:rPr lang="en-US" altLang="zh-C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HitCycle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/C</a:t>
            </a:r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pMR×pAMP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/C</a:t>
            </a:r>
            <a:r>
              <a:rPr lang="en-US" altLang="zh-CN" sz="105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3905" y="4094145"/>
            <a:ext cx="404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C-AMAT=1/APC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918229" y="2690465"/>
            <a:ext cx="4793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（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zh-CN" altLang="en-US" sz="1400" dirty="0" smtClean="0"/>
              <a:t>（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zh-CN" altLang="en-US" sz="1400" dirty="0" smtClean="0"/>
              <a:t>（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72" y="4937234"/>
            <a:ext cx="6953250" cy="1085850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>
            <a:off x="4145872" y="4463477"/>
            <a:ext cx="332125" cy="339342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85926" y="6280919"/>
            <a:ext cx="481169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Y. Liu and X.-H. Sun, "Reevaluating Data Stall Time with the Consideration of Data</a:t>
            </a:r>
          </a:p>
          <a:p>
            <a:r>
              <a:rPr lang="en-US" altLang="zh-CN" sz="1050" dirty="0"/>
              <a:t>Access Concurrency," Journal of Computer Science and Technology (JCST), March, 2015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5846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4197" y="365760"/>
            <a:ext cx="7446347" cy="55751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83" y="1193861"/>
            <a:ext cx="7877961" cy="473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4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399" y="365760"/>
            <a:ext cx="7606145" cy="59302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Sluice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Theory(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存储闸门理论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0" y="1242874"/>
            <a:ext cx="7845185" cy="429226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00327" y="5726097"/>
            <a:ext cx="6897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X.-H. Sun and Y.-H. Liu, "Utilizing Concurrency Data Access: A New Theory," in</a:t>
            </a:r>
          </a:p>
          <a:p>
            <a:r>
              <a:rPr lang="en-US" altLang="zh-CN" sz="1200" dirty="0"/>
              <a:t>Proc. of LCPC2016 (position paper), Sept, 2016, New York, USA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401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709" y="365760"/>
            <a:ext cx="7410836" cy="69956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 approaches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9191" y="1180731"/>
            <a:ext cx="7881353" cy="499940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增加访存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的并发度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降低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pure miss rate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降低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pure miss penalty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具体实现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Hardware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technology</a:t>
            </a: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Compiler technology</a:t>
            </a: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Application algorithm technology</a:t>
            </a:r>
          </a:p>
        </p:txBody>
      </p:sp>
    </p:spTree>
    <p:extLst>
      <p:ext uri="{BB962C8B-B14F-4D97-AF65-F5344CB8AC3E}">
        <p14:creationId xmlns:p14="http://schemas.microsoft.com/office/powerpoint/2010/main" val="427918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0831" y="365760"/>
            <a:ext cx="7419714" cy="992523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46" y="2059619"/>
            <a:ext cx="7776099" cy="32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5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399" y="365760"/>
            <a:ext cx="7606145" cy="59302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Sluice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Theory(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存储闸门理论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5937" y="1464816"/>
            <a:ext cx="812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possible to reduce stall time from 60% to 1%!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3906" y="3275860"/>
            <a:ext cx="7864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Maybe we can solve memory wall problem!!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2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4400" dirty="0" smtClean="0"/>
          </a:p>
          <a:p>
            <a:pPr marL="0" indent="0" algn="ctr">
              <a:buNone/>
            </a:pPr>
            <a:r>
              <a:rPr lang="en-US" altLang="zh-CN" sz="4400" i="1" dirty="0">
                <a:solidFill>
                  <a:srgbClr val="993300"/>
                </a:solidFill>
              </a:rPr>
              <a:t>Thanks for your time!</a:t>
            </a:r>
            <a:br>
              <a:rPr lang="en-US" altLang="zh-CN" sz="4400" i="1" dirty="0">
                <a:solidFill>
                  <a:srgbClr val="993300"/>
                </a:solidFill>
              </a:rPr>
            </a:br>
            <a:r>
              <a:rPr lang="en-US" altLang="zh-CN" sz="4400" i="1" dirty="0">
                <a:solidFill>
                  <a:srgbClr val="993300"/>
                </a:solidFill>
              </a:rPr>
              <a:t>Questions &amp; Answers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96992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TM02900722[[fn=离子会议室]]</Template>
  <TotalTime>854</TotalTime>
  <Words>1107</Words>
  <Application>Microsoft Office PowerPoint</Application>
  <PresentationFormat>全屏显示(4:3)</PresentationFormat>
  <Paragraphs>244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CIDFont+F2</vt:lpstr>
      <vt:lpstr>CIDFont+F5</vt:lpstr>
      <vt:lpstr>CIDFont+F6</vt:lpstr>
      <vt:lpstr>CIDFont+F7</vt:lpstr>
      <vt:lpstr>等线</vt:lpstr>
      <vt:lpstr>宋体</vt:lpstr>
      <vt:lpstr>Arial</vt:lpstr>
      <vt:lpstr>Calibri</vt:lpstr>
      <vt:lpstr>Calibri Light</vt:lpstr>
      <vt:lpstr>Times New Roman</vt:lpstr>
      <vt:lpstr>Wingdings 2</vt:lpstr>
      <vt:lpstr>HDOfficeLightV0</vt:lpstr>
      <vt:lpstr>面向大数据处理的内存系统 </vt:lpstr>
      <vt:lpstr> 概述</vt:lpstr>
      <vt:lpstr>   大数据时代</vt:lpstr>
      <vt:lpstr>   大数据时代(cont.)</vt:lpstr>
      <vt:lpstr>     内存墙问题</vt:lpstr>
      <vt:lpstr>   </vt:lpstr>
      <vt:lpstr>   Memory Hierarchy Introduction</vt:lpstr>
      <vt:lpstr>   多核处理器带来更严重的内存墙问题</vt:lpstr>
      <vt:lpstr>    现代内存层次</vt:lpstr>
      <vt:lpstr>     Memory Technology Metrics</vt:lpstr>
      <vt:lpstr> 内存层次带来的改进</vt:lpstr>
      <vt:lpstr> cache</vt:lpstr>
      <vt:lpstr> cache(cont.)</vt:lpstr>
      <vt:lpstr> cache(cont.)</vt:lpstr>
      <vt:lpstr>    AMAT(Average Memory Access Time)</vt:lpstr>
      <vt:lpstr>   内存层次的性能优化表现   </vt:lpstr>
      <vt:lpstr>Cache optimizations</vt:lpstr>
      <vt:lpstr>  Cache Optimizations(cont.)</vt:lpstr>
      <vt:lpstr>Cache Optimizations(cont.)</vt:lpstr>
      <vt:lpstr>Memory Hierarchy &amp; Parallelism</vt:lpstr>
      <vt:lpstr>C-AMAT(Concurrent-AMAT)</vt:lpstr>
      <vt:lpstr>C-AMAT(cont.)</vt:lpstr>
      <vt:lpstr>C-AMAT is Recursive </vt:lpstr>
      <vt:lpstr>Physical meaning of κ in C − AMAT</vt:lpstr>
      <vt:lpstr>The meaning of C-AMAT</vt:lpstr>
      <vt:lpstr>The meaning of C-AMAT(cont.)</vt:lpstr>
      <vt:lpstr>The meaning of C-AMAT(cont.)</vt:lpstr>
      <vt:lpstr>    APC(access per cycle)</vt:lpstr>
      <vt:lpstr>    APC(access per cycle)</vt:lpstr>
      <vt:lpstr>    Application: Layered Performance Matching</vt:lpstr>
      <vt:lpstr>Match the Request with Supply</vt:lpstr>
      <vt:lpstr>C-AMAT in Action</vt:lpstr>
      <vt:lpstr>A Example</vt:lpstr>
      <vt:lpstr>   Sluice Gate Theory(存储闸门理论)</vt:lpstr>
      <vt:lpstr>Match approaches</vt:lpstr>
      <vt:lpstr>Optimization Technique</vt:lpstr>
      <vt:lpstr>   Sluice Gate Theory(存储闸门理论)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面向大数据处理的内存系统 </dc:title>
  <dc:creator>lo</dc:creator>
  <cp:lastModifiedBy>崔 立骁</cp:lastModifiedBy>
  <cp:revision>207</cp:revision>
  <dcterms:created xsi:type="dcterms:W3CDTF">2018-09-11T12:13:51Z</dcterms:created>
  <dcterms:modified xsi:type="dcterms:W3CDTF">2018-12-13T10:30:13Z</dcterms:modified>
</cp:coreProperties>
</file>