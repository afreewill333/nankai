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xml" ContentType="application/vnd.openxmlformats-officedocument.presentationml.tags+xml"/>
  <Override PartName="/ppt/notesSlides/notesSlide16.xml" ContentType="application/vnd.openxmlformats-officedocument.presentationml.notesSlide+xml"/>
  <Override PartName="/ppt/tags/tag2.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2"/>
  </p:notesMasterIdLst>
  <p:handoutMasterIdLst>
    <p:handoutMasterId r:id="rId103"/>
  </p:handoutMasterIdLst>
  <p:sldIdLst>
    <p:sldId id="257" r:id="rId2"/>
    <p:sldId id="260" r:id="rId3"/>
    <p:sldId id="259" r:id="rId4"/>
    <p:sldId id="269" r:id="rId5"/>
    <p:sldId id="270" r:id="rId6"/>
    <p:sldId id="271" r:id="rId7"/>
    <p:sldId id="272" r:id="rId8"/>
    <p:sldId id="273" r:id="rId9"/>
    <p:sldId id="274" r:id="rId10"/>
    <p:sldId id="275" r:id="rId11"/>
    <p:sldId id="277" r:id="rId12"/>
    <p:sldId id="276" r:id="rId13"/>
    <p:sldId id="278" r:id="rId14"/>
    <p:sldId id="279" r:id="rId15"/>
    <p:sldId id="280" r:id="rId16"/>
    <p:sldId id="281" r:id="rId17"/>
    <p:sldId id="282" r:id="rId18"/>
    <p:sldId id="283" r:id="rId19"/>
    <p:sldId id="284" r:id="rId20"/>
    <p:sldId id="285" r:id="rId21"/>
    <p:sldId id="286" r:id="rId22"/>
    <p:sldId id="287" r:id="rId23"/>
    <p:sldId id="263" r:id="rId24"/>
    <p:sldId id="288" r:id="rId25"/>
    <p:sldId id="289" r:id="rId26"/>
    <p:sldId id="290" r:id="rId27"/>
    <p:sldId id="291" r:id="rId28"/>
    <p:sldId id="292" r:id="rId29"/>
    <p:sldId id="293" r:id="rId30"/>
    <p:sldId id="294" r:id="rId31"/>
    <p:sldId id="295" r:id="rId32"/>
    <p:sldId id="296" r:id="rId33"/>
    <p:sldId id="297" r:id="rId34"/>
    <p:sldId id="298" r:id="rId35"/>
    <p:sldId id="299" r:id="rId36"/>
    <p:sldId id="300" r:id="rId37"/>
    <p:sldId id="301" r:id="rId38"/>
    <p:sldId id="302" r:id="rId39"/>
    <p:sldId id="303" r:id="rId40"/>
    <p:sldId id="304" r:id="rId41"/>
    <p:sldId id="305" r:id="rId42"/>
    <p:sldId id="306" r:id="rId43"/>
    <p:sldId id="307" r:id="rId44"/>
    <p:sldId id="308" r:id="rId45"/>
    <p:sldId id="309" r:id="rId46"/>
    <p:sldId id="310" r:id="rId47"/>
    <p:sldId id="311" r:id="rId48"/>
    <p:sldId id="312" r:id="rId49"/>
    <p:sldId id="313" r:id="rId50"/>
    <p:sldId id="314" r:id="rId51"/>
    <p:sldId id="265" r:id="rId52"/>
    <p:sldId id="315" r:id="rId53"/>
    <p:sldId id="316" r:id="rId54"/>
    <p:sldId id="266" r:id="rId55"/>
    <p:sldId id="318" r:id="rId56"/>
    <p:sldId id="319" r:id="rId57"/>
    <p:sldId id="320" r:id="rId58"/>
    <p:sldId id="321" r:id="rId59"/>
    <p:sldId id="322" r:id="rId60"/>
    <p:sldId id="323" r:id="rId61"/>
    <p:sldId id="324" r:id="rId62"/>
    <p:sldId id="325" r:id="rId63"/>
    <p:sldId id="326" r:id="rId64"/>
    <p:sldId id="327" r:id="rId65"/>
    <p:sldId id="328" r:id="rId66"/>
    <p:sldId id="329" r:id="rId67"/>
    <p:sldId id="267" r:id="rId68"/>
    <p:sldId id="330" r:id="rId69"/>
    <p:sldId id="331" r:id="rId70"/>
    <p:sldId id="332" r:id="rId71"/>
    <p:sldId id="333" r:id="rId72"/>
    <p:sldId id="336" r:id="rId73"/>
    <p:sldId id="337" r:id="rId74"/>
    <p:sldId id="339" r:id="rId75"/>
    <p:sldId id="340" r:id="rId76"/>
    <p:sldId id="268" r:id="rId77"/>
    <p:sldId id="341" r:id="rId78"/>
    <p:sldId id="342" r:id="rId79"/>
    <p:sldId id="343" r:id="rId80"/>
    <p:sldId id="344" r:id="rId81"/>
    <p:sldId id="345" r:id="rId82"/>
    <p:sldId id="346" r:id="rId83"/>
    <p:sldId id="347" r:id="rId84"/>
    <p:sldId id="348" r:id="rId85"/>
    <p:sldId id="349" r:id="rId86"/>
    <p:sldId id="350" r:id="rId87"/>
    <p:sldId id="351" r:id="rId88"/>
    <p:sldId id="352" r:id="rId89"/>
    <p:sldId id="353" r:id="rId90"/>
    <p:sldId id="354" r:id="rId91"/>
    <p:sldId id="355" r:id="rId92"/>
    <p:sldId id="356" r:id="rId93"/>
    <p:sldId id="357" r:id="rId94"/>
    <p:sldId id="358" r:id="rId95"/>
    <p:sldId id="359" r:id="rId96"/>
    <p:sldId id="360" r:id="rId97"/>
    <p:sldId id="361" r:id="rId98"/>
    <p:sldId id="362" r:id="rId99"/>
    <p:sldId id="365" r:id="rId100"/>
    <p:sldId id="366" r:id="rId10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2B865D58-E22B-4013-BB51-1C3DA57CB72A}">
          <p14:sldIdLst>
            <p14:sldId id="257"/>
            <p14:sldId id="260"/>
            <p14:sldId id="259"/>
            <p14:sldId id="269"/>
            <p14:sldId id="270"/>
            <p14:sldId id="271"/>
            <p14:sldId id="272"/>
            <p14:sldId id="273"/>
            <p14:sldId id="274"/>
            <p14:sldId id="275"/>
            <p14:sldId id="277"/>
            <p14:sldId id="276"/>
            <p14:sldId id="278"/>
            <p14:sldId id="279"/>
            <p14:sldId id="280"/>
            <p14:sldId id="281"/>
            <p14:sldId id="282"/>
            <p14:sldId id="283"/>
            <p14:sldId id="284"/>
            <p14:sldId id="285"/>
            <p14:sldId id="286"/>
            <p14:sldId id="287"/>
            <p14:sldId id="263"/>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265"/>
            <p14:sldId id="315"/>
            <p14:sldId id="316"/>
            <p14:sldId id="266"/>
            <p14:sldId id="318"/>
            <p14:sldId id="319"/>
            <p14:sldId id="320"/>
            <p14:sldId id="321"/>
            <p14:sldId id="322"/>
            <p14:sldId id="323"/>
            <p14:sldId id="324"/>
            <p14:sldId id="325"/>
            <p14:sldId id="326"/>
            <p14:sldId id="327"/>
            <p14:sldId id="328"/>
            <p14:sldId id="329"/>
            <p14:sldId id="267"/>
            <p14:sldId id="330"/>
            <p14:sldId id="331"/>
            <p14:sldId id="332"/>
            <p14:sldId id="333"/>
            <p14:sldId id="336"/>
            <p14:sldId id="337"/>
            <p14:sldId id="339"/>
            <p14:sldId id="340"/>
            <p14:sldId id="268"/>
            <p14:sldId id="341"/>
            <p14:sldId id="342"/>
            <p14:sldId id="343"/>
            <p14:sldId id="344"/>
            <p14:sldId id="345"/>
            <p14:sldId id="346"/>
            <p14:sldId id="347"/>
            <p14:sldId id="348"/>
            <p14:sldId id="349"/>
            <p14:sldId id="350"/>
            <p14:sldId id="351"/>
            <p14:sldId id="352"/>
            <p14:sldId id="353"/>
            <p14:sldId id="354"/>
            <p14:sldId id="355"/>
            <p14:sldId id="356"/>
            <p14:sldId id="357"/>
            <p14:sldId id="358"/>
            <p14:sldId id="359"/>
            <p14:sldId id="360"/>
            <p14:sldId id="361"/>
            <p14:sldId id="362"/>
            <p14:sldId id="365"/>
            <p14:sldId id="366"/>
          </p14:sldIdLst>
        </p14:section>
        <p14:section name="无标题节" id="{082AFF9E-F8AB-422A-9683-B8CFAD1B40A3}">
          <p14:sldIdLst/>
        </p14:section>
      </p14:sectionLst>
    </p:ext>
    <p:ext uri="{EFAFB233-063F-42B5-8137-9DF3F51BA10A}">
      <p15:sldGuideLst xmlns:p15="http://schemas.microsoft.com/office/powerpoint/2012/main">
        <p15:guide id="1" orient="horz" pos="2159">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33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94" autoAdjust="0"/>
    <p:restoredTop sz="91705" autoAdjust="0"/>
  </p:normalViewPr>
  <p:slideViewPr>
    <p:cSldViewPr snapToGrid="0">
      <p:cViewPr varScale="1">
        <p:scale>
          <a:sx n="106" d="100"/>
          <a:sy n="106" d="100"/>
        </p:scale>
        <p:origin x="1782" y="96"/>
      </p:cViewPr>
      <p:guideLst>
        <p:guide orient="horz" pos="2159"/>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ableStyles" Target="tableStyle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emf"/><Relationship Id="rId4" Type="http://schemas.openxmlformats.org/officeDocument/2006/relationships/image" Target="../media/image1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E3BEAB1-8DC0-4F2E-AF14-FEBD558D05A9}" type="datetimeFigureOut">
              <a:rPr lang="zh-CN" altLang="en-US" smtClean="0"/>
              <a:t>2018/10/21</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AD1A86A-BDC6-47C2-8B4C-E7F8713919F0}" type="slidenum">
              <a:rPr lang="zh-CN" altLang="en-US" smtClean="0"/>
              <a:t>‹#›</a:t>
            </a:fld>
            <a:endParaRPr lang="zh-CN" altLang="en-US"/>
          </a:p>
        </p:txBody>
      </p:sp>
    </p:spTree>
    <p:extLst>
      <p:ext uri="{BB962C8B-B14F-4D97-AF65-F5344CB8AC3E}">
        <p14:creationId xmlns:p14="http://schemas.microsoft.com/office/powerpoint/2010/main" val="293806521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E09818-BA30-406B-87BA-BE794D4C9257}" type="datetimeFigureOut">
              <a:rPr lang="zh-CN" altLang="en-US" smtClean="0"/>
              <a:t>2018/10/21</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CB2870-F9FE-472D-85DD-A20DBA6C0993}" type="slidenum">
              <a:rPr lang="zh-CN" altLang="en-US" smtClean="0"/>
              <a:t>‹#›</a:t>
            </a:fld>
            <a:endParaRPr lang="zh-CN" altLang="en-US"/>
          </a:p>
        </p:txBody>
      </p:sp>
    </p:spTree>
    <p:extLst>
      <p:ext uri="{BB962C8B-B14F-4D97-AF65-F5344CB8AC3E}">
        <p14:creationId xmlns:p14="http://schemas.microsoft.com/office/powerpoint/2010/main" val="144128475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18" name="Rectangle 9"/>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14:hiddenLine>
            </a:ext>
          </a:extLst>
        </p:spPr>
        <p:txBody>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9pPr>
          </a:lstStyle>
          <a:p>
            <a:pPr eaLnBrk="1" hangingPunct="1"/>
            <a:fld id="{5C2914B7-2629-43B4-B629-CA08FEEA3355}" type="slidenum">
              <a:rPr lang="en-US" altLang="zh-CN">
                <a:solidFill>
                  <a:srgbClr val="000000"/>
                </a:solidFill>
              </a:rPr>
              <a:t>1</a:t>
            </a:fld>
            <a:endParaRPr lang="en-US" altLang="zh-CN">
              <a:solidFill>
                <a:srgbClr val="000000"/>
              </a:solidFill>
            </a:endParaRPr>
          </a:p>
        </p:txBody>
      </p:sp>
      <p:sp>
        <p:nvSpPr>
          <p:cNvPr id="34819" name="Text Box 1"/>
          <p:cNvSpPr txBox="1">
            <a:spLocks noChangeArrowheads="1"/>
          </p:cNvSpPr>
          <p:nvPr/>
        </p:nvSpPr>
        <p:spPr bwMode="auto">
          <a:xfrm>
            <a:off x="3884613" y="8685213"/>
            <a:ext cx="2968625"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9pPr>
          </a:lstStyle>
          <a:p>
            <a:pPr algn="r" defTabSz="457200" eaLnBrk="1" fontAlgn="base" hangingPunct="1">
              <a:spcBef>
                <a:spcPct val="0"/>
              </a:spcBef>
              <a:spcAft>
                <a:spcPct val="0"/>
              </a:spcAft>
              <a:buSzPct val="100000"/>
            </a:pPr>
            <a:fld id="{D8591A12-FA87-4748-BE66-B1F3FA81CC0C}" type="slidenum">
              <a:rPr lang="en-US" altLang="zh-CN" sz="1200">
                <a:solidFill>
                  <a:srgbClr val="000000"/>
                </a:solidFill>
              </a:rPr>
              <a:t>1</a:t>
            </a:fld>
            <a:endParaRPr lang="en-US" altLang="zh-CN" sz="1200">
              <a:solidFill>
                <a:srgbClr val="000000"/>
              </a:solidFill>
            </a:endParaRPr>
          </a:p>
        </p:txBody>
      </p:sp>
      <p:sp>
        <p:nvSpPr>
          <p:cNvPr id="34820" name="Rectangle 2"/>
          <p:cNvSpPr>
            <a:spLocks noGrp="1" noRot="1" noChangeAspect="1" noChangeArrowheads="1" noTextEdit="1"/>
          </p:cNvSpPr>
          <p:nvPr>
            <p:ph type="sldImg"/>
          </p:nvPr>
        </p:nvSpPr>
        <p:spPr>
          <a:xfrm>
            <a:off x="1143000" y="685800"/>
            <a:ext cx="4572000" cy="3429000"/>
          </a:xfrm>
          <a:solidFill>
            <a:srgbClr val="FFFFFF"/>
          </a:solidFill>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821" name="Text Box 3"/>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457200" fontAlgn="base">
              <a:spcBef>
                <a:spcPct val="0"/>
              </a:spcBef>
              <a:spcAft>
                <a:spcPct val="0"/>
              </a:spcAft>
              <a:buClr>
                <a:srgbClr val="000000"/>
              </a:buClr>
              <a:buSzPct val="100000"/>
              <a:buFont typeface="Times New Roman" panose="02020603050405020304" pitchFamily="16" charset="0"/>
              <a:buNone/>
            </a:pPr>
            <a:endParaRPr lang="zh-CN" altLang="en-US">
              <a:solidFill>
                <a:srgbClr val="FFFFFF"/>
              </a:solidFill>
              <a:latin typeface="Arial" panose="020B0604020202020204" pitchFamily="34" charset="0"/>
            </a:endParaRPr>
          </a:p>
        </p:txBody>
      </p:sp>
    </p:spTree>
    <p:extLst>
      <p:ext uri="{BB962C8B-B14F-4D97-AF65-F5344CB8AC3E}">
        <p14:creationId xmlns:p14="http://schemas.microsoft.com/office/powerpoint/2010/main" val="29739587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B6C356F-455B-41CD-89CF-63C9B64727D4}" type="slidenum">
              <a:rPr lang="en-US" altLang="en-US" sz="1300" smtClean="0"/>
              <a:pPr>
                <a:spcBef>
                  <a:spcPct val="0"/>
                </a:spcBef>
              </a:pPr>
              <a:t>4</a:t>
            </a:fld>
            <a:endParaRPr lang="en-US" altLang="en-US" sz="1300" smtClean="0"/>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latin typeface="Arial" panose="020B0604020202020204" pitchFamily="34" charset="0"/>
              </a:rPr>
              <a:t>The major resources we are concerned in computer and distributed systems are: </a:t>
            </a:r>
          </a:p>
          <a:p>
            <a:endParaRPr lang="en-US" altLang="en-US" smtClean="0">
              <a:latin typeface="Arial" panose="020B0604020202020204" pitchFamily="34" charset="0"/>
            </a:endParaRPr>
          </a:p>
          <a:p>
            <a:endParaRPr lang="en-US" altLang="en-US" smtClean="0">
              <a:latin typeface="Arial" panose="020B0604020202020204" pitchFamily="34" charset="0"/>
            </a:endParaRPr>
          </a:p>
        </p:txBody>
      </p:sp>
    </p:spTree>
    <p:extLst>
      <p:ext uri="{BB962C8B-B14F-4D97-AF65-F5344CB8AC3E}">
        <p14:creationId xmlns:p14="http://schemas.microsoft.com/office/powerpoint/2010/main" val="25544317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509DC0D-3D9B-4D0F-9FC9-56CFFF3F72D4}" type="slidenum">
              <a:rPr lang="en-US" altLang="en-US" sz="1300" smtClean="0"/>
              <a:pPr>
                <a:spcBef>
                  <a:spcPct val="0"/>
                </a:spcBef>
              </a:pPr>
              <a:t>5</a:t>
            </a:fld>
            <a:endParaRPr lang="en-US" altLang="en-US" sz="1300" smtClean="0"/>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latin typeface="Arial" panose="020B0604020202020204" pitchFamily="34" charset="0"/>
              </a:rPr>
              <a:t>Data communication is a basic operation among differnet components in current computer systems. </a:t>
            </a:r>
          </a:p>
          <a:p>
            <a:r>
              <a:rPr lang="en-US" altLang="en-US" smtClean="0">
                <a:latin typeface="Arial" panose="020B0604020202020204" pitchFamily="34" charset="0"/>
              </a:rPr>
              <a:t>For example, between cpu and memory.</a:t>
            </a:r>
          </a:p>
          <a:p>
            <a:r>
              <a:rPr lang="en-US" altLang="en-US" smtClean="0">
                <a:latin typeface="Arial" panose="020B0604020202020204" pitchFamily="34" charset="0"/>
              </a:rPr>
              <a:t>The data transfer time is decided by the latency time and bandwidth.</a:t>
            </a:r>
          </a:p>
          <a:p>
            <a:r>
              <a:rPr lang="en-US" altLang="en-US" smtClean="0">
                <a:latin typeface="Arial" panose="020B0604020202020204" pitchFamily="34" charset="0"/>
              </a:rPr>
              <a:t>Latency:</a:t>
            </a:r>
          </a:p>
          <a:p>
            <a:r>
              <a:rPr lang="en-US" altLang="en-US" smtClean="0">
                <a:latin typeface="Arial" panose="020B0604020202020204" pitchFamily="34" charset="0"/>
              </a:rPr>
              <a:t>Bandwidth:</a:t>
            </a:r>
          </a:p>
          <a:p>
            <a:r>
              <a:rPr lang="en-US" altLang="en-US" smtClean="0">
                <a:latin typeface="Arial" panose="020B0604020202020204" pitchFamily="34" charset="0"/>
              </a:rPr>
              <a:t>Client perceived latency is mainly from data transfer time. It is still challenging due to the imbalanced improvments of bandwidth and latency.</a:t>
            </a:r>
          </a:p>
        </p:txBody>
      </p:sp>
    </p:spTree>
    <p:extLst>
      <p:ext uri="{BB962C8B-B14F-4D97-AF65-F5344CB8AC3E}">
        <p14:creationId xmlns:p14="http://schemas.microsoft.com/office/powerpoint/2010/main" val="17398802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C91B888-A1C4-4B08-97A2-7CDA2EA97DAC}" type="slidenum">
              <a:rPr lang="en-US" altLang="en-US" sz="1300" smtClean="0"/>
              <a:pPr>
                <a:spcBef>
                  <a:spcPct val="0"/>
                </a:spcBef>
              </a:pPr>
              <a:t>6</a:t>
            </a:fld>
            <a:endParaRPr lang="en-US" altLang="en-US" sz="1300" smtClean="0"/>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Tree>
    <p:extLst>
      <p:ext uri="{BB962C8B-B14F-4D97-AF65-F5344CB8AC3E}">
        <p14:creationId xmlns:p14="http://schemas.microsoft.com/office/powerpoint/2010/main" val="20224123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1F6B733-E8B3-4302-A35E-ACF9E4B4D31B}" type="slidenum">
              <a:rPr lang="en-US" altLang="en-US" sz="1300" smtClean="0"/>
              <a:pPr>
                <a:spcBef>
                  <a:spcPct val="0"/>
                </a:spcBef>
              </a:pPr>
              <a:t>7</a:t>
            </a:fld>
            <a:endParaRPr lang="en-US" altLang="en-US" sz="130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Tree>
    <p:extLst>
      <p:ext uri="{BB962C8B-B14F-4D97-AF65-F5344CB8AC3E}">
        <p14:creationId xmlns:p14="http://schemas.microsoft.com/office/powerpoint/2010/main" val="26087303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a:ln/>
        </p:spPr>
      </p:sp>
      <p:sp>
        <p:nvSpPr>
          <p:cNvPr id="61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61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83B0AB9-102B-4FD8-ACAD-185E533D0C46}" type="slidenum">
              <a:rPr lang="en-US" altLang="en-US" smtClean="0"/>
              <a:pPr>
                <a:spcBef>
                  <a:spcPct val="0"/>
                </a:spcBef>
              </a:pPr>
              <a:t>10</a:t>
            </a:fld>
            <a:endParaRPr lang="en-US" altLang="en-US" smtClean="0"/>
          </a:p>
        </p:txBody>
      </p:sp>
    </p:spTree>
    <p:extLst>
      <p:ext uri="{BB962C8B-B14F-4D97-AF65-F5344CB8AC3E}">
        <p14:creationId xmlns:p14="http://schemas.microsoft.com/office/powerpoint/2010/main" val="4527813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B572A69-8240-42E5-9E76-DBC0E843EAC7}" type="slidenum">
              <a:rPr lang="en-US" smtClean="0"/>
              <a:pPr/>
              <a:t>24</a:t>
            </a:fld>
            <a:endParaRPr lang="en-US" dirty="0"/>
          </a:p>
        </p:txBody>
      </p:sp>
    </p:spTree>
    <p:extLst>
      <p:ext uri="{BB962C8B-B14F-4D97-AF65-F5344CB8AC3E}">
        <p14:creationId xmlns:p14="http://schemas.microsoft.com/office/powerpoint/2010/main" val="29250270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400" b="1" dirty="0">
              <a:solidFill>
                <a:srgbClr val="FF0000"/>
              </a:solidFill>
            </a:endParaRPr>
          </a:p>
        </p:txBody>
      </p:sp>
      <p:sp>
        <p:nvSpPr>
          <p:cNvPr id="4" name="Slide Number Placeholder 3"/>
          <p:cNvSpPr>
            <a:spLocks noGrp="1"/>
          </p:cNvSpPr>
          <p:nvPr>
            <p:ph type="sldNum" sz="quarter" idx="10"/>
          </p:nvPr>
        </p:nvSpPr>
        <p:spPr/>
        <p:txBody>
          <a:bodyPr/>
          <a:lstStyle/>
          <a:p>
            <a:fld id="{8B572A69-8240-42E5-9E76-DBC0E843EAC7}" type="slidenum">
              <a:rPr lang="en-US" smtClean="0"/>
              <a:pPr/>
              <a:t>26</a:t>
            </a:fld>
            <a:endParaRPr lang="en-US" dirty="0"/>
          </a:p>
        </p:txBody>
      </p:sp>
    </p:spTree>
    <p:extLst>
      <p:ext uri="{BB962C8B-B14F-4D97-AF65-F5344CB8AC3E}">
        <p14:creationId xmlns:p14="http://schemas.microsoft.com/office/powerpoint/2010/main" val="14067314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B572A69-8240-42E5-9E76-DBC0E843EAC7}" type="slidenum">
              <a:rPr lang="en-US" smtClean="0"/>
              <a:pPr/>
              <a:t>27</a:t>
            </a:fld>
            <a:endParaRPr lang="en-US" dirty="0"/>
          </a:p>
        </p:txBody>
      </p:sp>
    </p:spTree>
    <p:extLst>
      <p:ext uri="{BB962C8B-B14F-4D97-AF65-F5344CB8AC3E}">
        <p14:creationId xmlns:p14="http://schemas.microsoft.com/office/powerpoint/2010/main" val="25249713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smtClean="0">
                <a:latin typeface="Garamond" pitchFamily="18" charset="0"/>
              </a:rPr>
              <a:t>2 Reduce tasks concurrently perform aggregation on the data of each department and then generate the final output to HDFS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dirty="0" smtClean="0">
              <a:latin typeface="Garamond" pitchFamily="18" charset="0"/>
            </a:endParaRPr>
          </a:p>
          <a:p>
            <a:endParaRPr lang="en-US" b="0" dirty="0"/>
          </a:p>
        </p:txBody>
      </p:sp>
      <p:sp>
        <p:nvSpPr>
          <p:cNvPr id="4" name="Slide Number Placeholder 3"/>
          <p:cNvSpPr>
            <a:spLocks noGrp="1"/>
          </p:cNvSpPr>
          <p:nvPr>
            <p:ph type="sldNum" sz="quarter" idx="10"/>
          </p:nvPr>
        </p:nvSpPr>
        <p:spPr/>
        <p:txBody>
          <a:bodyPr/>
          <a:lstStyle/>
          <a:p>
            <a:fld id="{8B572A69-8240-42E5-9E76-DBC0E843EAC7}" type="slidenum">
              <a:rPr lang="en-US" smtClean="0"/>
              <a:pPr/>
              <a:t>28</a:t>
            </a:fld>
            <a:endParaRPr lang="en-US" dirty="0"/>
          </a:p>
        </p:txBody>
      </p:sp>
    </p:spTree>
    <p:extLst>
      <p:ext uri="{BB962C8B-B14F-4D97-AF65-F5344CB8AC3E}">
        <p14:creationId xmlns:p14="http://schemas.microsoft.com/office/powerpoint/2010/main" val="4891883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Let’s quickly review the</a:t>
            </a:r>
            <a:r>
              <a:rPr lang="en-US" baseline="0" dirty="0" smtClean="0"/>
              <a:t> execution of a </a:t>
            </a:r>
            <a:r>
              <a:rPr lang="en-US" baseline="0" dirty="0" err="1" smtClean="0"/>
              <a:t>MapReduce</a:t>
            </a:r>
            <a:r>
              <a:rPr lang="en-US" baseline="0" dirty="0" smtClean="0"/>
              <a:t> job, or be specific </a:t>
            </a:r>
            <a:r>
              <a:rPr lang="en-US" baseline="0" dirty="0" err="1" smtClean="0"/>
              <a:t>Hadoop</a:t>
            </a:r>
            <a:r>
              <a:rPr lang="en-US" baseline="0" dirty="0" smtClean="0"/>
              <a:t> Job. In a </a:t>
            </a:r>
            <a:r>
              <a:rPr lang="en-US" baseline="0" dirty="0" err="1" smtClean="0"/>
              <a:t>Hadoop</a:t>
            </a:r>
            <a:r>
              <a:rPr lang="en-US" baseline="0" dirty="0" smtClean="0"/>
              <a:t> cluster, there is master node, which will take care all of control level work, such as job scheduling and task assignment. There are a bunch of worker nodes, which will do data processing work specified by Map or Reduce function. In the cluster, data is stored in a distributed file system, in </a:t>
            </a:r>
            <a:r>
              <a:rPr lang="en-US" baseline="0" dirty="0" err="1" smtClean="0"/>
              <a:t>hadoop</a:t>
            </a:r>
            <a:r>
              <a:rPr lang="en-US" baseline="0" dirty="0" smtClean="0"/>
              <a:t>, it is </a:t>
            </a:r>
            <a:r>
              <a:rPr lang="en-US" baseline="0" dirty="0" err="1" smtClean="0"/>
              <a:t>hadoop</a:t>
            </a:r>
            <a:r>
              <a:rPr lang="en-US" baseline="0" dirty="0" smtClean="0"/>
              <a:t> distributed file system. The execution of a MR job has 6 steps. Firstly, a user will submit his or her MR program, or called MR job. Then, when this job is ready to be executed, the master will assign map and reduce tasks to worker nodes. </a:t>
            </a:r>
            <a:endParaRPr lang="en-US" dirty="0"/>
          </a:p>
        </p:txBody>
      </p:sp>
      <p:sp>
        <p:nvSpPr>
          <p:cNvPr id="4" name="Slide Number Placeholder 3"/>
          <p:cNvSpPr>
            <a:spLocks noGrp="1"/>
          </p:cNvSpPr>
          <p:nvPr>
            <p:ph type="sldNum" sz="quarter" idx="10"/>
          </p:nvPr>
        </p:nvSpPr>
        <p:spPr/>
        <p:txBody>
          <a:bodyPr/>
          <a:lstStyle/>
          <a:p>
            <a:fld id="{8B572A69-8240-42E5-9E76-DBC0E843EAC7}" type="slidenum">
              <a:rPr lang="en-US" smtClean="0"/>
              <a:pPr/>
              <a:t>29</a:t>
            </a:fld>
            <a:endParaRPr lang="en-US" dirty="0"/>
          </a:p>
        </p:txBody>
      </p:sp>
    </p:spTree>
    <p:extLst>
      <p:ext uri="{BB962C8B-B14F-4D97-AF65-F5344CB8AC3E}">
        <p14:creationId xmlns:p14="http://schemas.microsoft.com/office/powerpoint/2010/main" val="7939428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B572A69-8240-42E5-9E76-DBC0E843EAC7}" type="slidenum">
              <a:rPr lang="en-US" smtClean="0"/>
              <a:pPr/>
              <a:t>30</a:t>
            </a:fld>
            <a:endParaRPr lang="en-US" dirty="0"/>
          </a:p>
        </p:txBody>
      </p:sp>
    </p:spTree>
    <p:extLst>
      <p:ext uri="{BB962C8B-B14F-4D97-AF65-F5344CB8AC3E}">
        <p14:creationId xmlns:p14="http://schemas.microsoft.com/office/powerpoint/2010/main" val="36580230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There</a:t>
            </a:r>
            <a:r>
              <a:rPr lang="en-US" baseline="0" dirty="0" smtClean="0"/>
              <a:t> are three phases in the job execution. First one is map phase, in this phase, the worker nodes associated with map tasks will concurrently process the input data and generate intermediate key/value pairs. Then, in the shuffle phase, the intermediate results will be distributed to worker nodes associated with reduce tasks. All key/value pairs with same key will be distributed to the same reduce tasks. After that, the worker nodes associated with reduce tasks will concurrently process the intermediate key/value pairs and generate the results of this job. Finally, the output will be stored back to HDFS. </a:t>
            </a:r>
            <a:endParaRPr lang="en-US" dirty="0"/>
          </a:p>
        </p:txBody>
      </p:sp>
      <p:sp>
        <p:nvSpPr>
          <p:cNvPr id="4" name="Slide Number Placeholder 3"/>
          <p:cNvSpPr>
            <a:spLocks noGrp="1"/>
          </p:cNvSpPr>
          <p:nvPr>
            <p:ph type="sldNum" sz="quarter" idx="10"/>
          </p:nvPr>
        </p:nvSpPr>
        <p:spPr/>
        <p:txBody>
          <a:bodyPr/>
          <a:lstStyle/>
          <a:p>
            <a:fld id="{8B572A69-8240-42E5-9E76-DBC0E843EAC7}" type="slidenum">
              <a:rPr lang="en-US" smtClean="0"/>
              <a:pPr/>
              <a:t>31</a:t>
            </a:fld>
            <a:endParaRPr lang="en-US" dirty="0"/>
          </a:p>
        </p:txBody>
      </p:sp>
    </p:spTree>
    <p:extLst>
      <p:ext uri="{BB962C8B-B14F-4D97-AF65-F5344CB8AC3E}">
        <p14:creationId xmlns:p14="http://schemas.microsoft.com/office/powerpoint/2010/main" val="13014504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Although </a:t>
            </a:r>
            <a:r>
              <a:rPr lang="en-US" dirty="0" err="1" smtClean="0"/>
              <a:t>mapreduce</a:t>
            </a:r>
            <a:r>
              <a:rPr lang="en-US" baseline="0" dirty="0" smtClean="0"/>
              <a:t> programming model hide the complex parallel programming work, programmers should know a MR job is resources consuming. There are three kinds of nontrivial costs. First is the job-scheduling and task-startup costs. Second is the network transfer in the shuffle phase. Finally, the third one is the potential costs on remotely access map input data once a map task is not co-located with its input data. </a:t>
            </a:r>
            <a:endParaRPr lang="en-US" dirty="0"/>
          </a:p>
        </p:txBody>
      </p:sp>
      <p:sp>
        <p:nvSpPr>
          <p:cNvPr id="4" name="Slide Number Placeholder 3"/>
          <p:cNvSpPr>
            <a:spLocks noGrp="1"/>
          </p:cNvSpPr>
          <p:nvPr>
            <p:ph type="sldNum" sz="quarter" idx="10"/>
          </p:nvPr>
        </p:nvSpPr>
        <p:spPr/>
        <p:txBody>
          <a:bodyPr/>
          <a:lstStyle/>
          <a:p>
            <a:fld id="{8B572A69-8240-42E5-9E76-DBC0E843EAC7}" type="slidenum">
              <a:rPr lang="en-US" smtClean="0"/>
              <a:pPr/>
              <a:t>32</a:t>
            </a:fld>
            <a:endParaRPr lang="en-US" dirty="0"/>
          </a:p>
        </p:txBody>
      </p:sp>
    </p:spTree>
    <p:extLst>
      <p:ext uri="{BB962C8B-B14F-4D97-AF65-F5344CB8AC3E}">
        <p14:creationId xmlns:p14="http://schemas.microsoft.com/office/powerpoint/2010/main" val="41957029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b="0" i="0" kern="1200" dirty="0" smtClean="0">
                <a:solidFill>
                  <a:schemeClr val="tx1"/>
                </a:solidFill>
                <a:effectLst/>
                <a:latin typeface="+mn-lt"/>
                <a:ea typeface="+mn-ea"/>
                <a:cs typeface="+mn-cs"/>
              </a:rPr>
              <a:t>Hive</a:t>
            </a:r>
            <a:r>
              <a:rPr lang="zh-CN" altLang="en-US" sz="1200" b="0" i="0" kern="1200" dirty="0" smtClean="0">
                <a:solidFill>
                  <a:schemeClr val="tx1"/>
                </a:solidFill>
                <a:effectLst/>
                <a:latin typeface="+mn-lt"/>
                <a:ea typeface="+mn-ea"/>
                <a:cs typeface="+mn-cs"/>
              </a:rPr>
              <a:t>是基于</a:t>
            </a:r>
            <a:r>
              <a:rPr lang="en-US" altLang="zh-CN" sz="1200" b="0" i="0" kern="1200" dirty="0" err="1" smtClean="0">
                <a:solidFill>
                  <a:schemeClr val="tx1"/>
                </a:solidFill>
                <a:effectLst/>
                <a:latin typeface="+mn-lt"/>
                <a:ea typeface="+mn-ea"/>
                <a:cs typeface="+mn-cs"/>
              </a:rPr>
              <a:t>Hadoop</a:t>
            </a:r>
            <a:r>
              <a:rPr lang="zh-CN" altLang="en-US" sz="1200" b="0" i="0" kern="1200" dirty="0" smtClean="0">
                <a:solidFill>
                  <a:schemeClr val="tx1"/>
                </a:solidFill>
                <a:effectLst/>
                <a:latin typeface="+mn-lt"/>
                <a:ea typeface="+mn-ea"/>
                <a:cs typeface="+mn-cs"/>
              </a:rPr>
              <a:t>的数据仓库解决方案。由于</a:t>
            </a:r>
            <a:r>
              <a:rPr lang="en-US" altLang="zh-CN" sz="1200" b="0" i="0" kern="1200" dirty="0" err="1" smtClean="0">
                <a:solidFill>
                  <a:schemeClr val="tx1"/>
                </a:solidFill>
                <a:effectLst/>
                <a:latin typeface="+mn-lt"/>
                <a:ea typeface="+mn-ea"/>
                <a:cs typeface="+mn-cs"/>
              </a:rPr>
              <a:t>Hadoop</a:t>
            </a:r>
            <a:r>
              <a:rPr lang="zh-CN" altLang="en-US" sz="1200" b="0" i="0" kern="1200" dirty="0" smtClean="0">
                <a:solidFill>
                  <a:schemeClr val="tx1"/>
                </a:solidFill>
                <a:effectLst/>
                <a:latin typeface="+mn-lt"/>
                <a:ea typeface="+mn-ea"/>
                <a:cs typeface="+mn-cs"/>
              </a:rPr>
              <a:t>本身在数据存储和计算方面有很好的可扩展性和高容错性，因此使用</a:t>
            </a:r>
            <a:r>
              <a:rPr lang="en-US" altLang="zh-CN" sz="1200" b="0" i="0" kern="1200" dirty="0" smtClean="0">
                <a:solidFill>
                  <a:schemeClr val="tx1"/>
                </a:solidFill>
                <a:effectLst/>
                <a:latin typeface="+mn-lt"/>
                <a:ea typeface="+mn-ea"/>
                <a:cs typeface="+mn-cs"/>
              </a:rPr>
              <a:t>Hive</a:t>
            </a:r>
            <a:r>
              <a:rPr lang="zh-CN" altLang="en-US" sz="1200" b="0" i="0" kern="1200" dirty="0" smtClean="0">
                <a:solidFill>
                  <a:schemeClr val="tx1"/>
                </a:solidFill>
                <a:effectLst/>
                <a:latin typeface="+mn-lt"/>
                <a:ea typeface="+mn-ea"/>
                <a:cs typeface="+mn-cs"/>
              </a:rPr>
              <a:t>构建的数据仓库也秉承了这些特性。</a:t>
            </a:r>
          </a:p>
          <a:p>
            <a:r>
              <a:rPr lang="zh-CN" altLang="en-US" sz="1200" b="0" i="0" kern="1200" dirty="0" smtClean="0">
                <a:solidFill>
                  <a:schemeClr val="tx1"/>
                </a:solidFill>
                <a:effectLst/>
                <a:latin typeface="+mn-lt"/>
                <a:ea typeface="+mn-ea"/>
                <a:cs typeface="+mn-cs"/>
              </a:rPr>
              <a:t>简单来说，</a:t>
            </a:r>
            <a:r>
              <a:rPr lang="en-US" altLang="zh-CN" sz="1200" b="0" i="0" kern="1200" dirty="0" smtClean="0">
                <a:solidFill>
                  <a:schemeClr val="tx1"/>
                </a:solidFill>
                <a:effectLst/>
                <a:latin typeface="+mn-lt"/>
                <a:ea typeface="+mn-ea"/>
                <a:cs typeface="+mn-cs"/>
              </a:rPr>
              <a:t>Hive</a:t>
            </a:r>
            <a:r>
              <a:rPr lang="zh-CN" altLang="en-US" sz="1200" b="0" i="0" kern="1200" dirty="0" smtClean="0">
                <a:solidFill>
                  <a:schemeClr val="tx1"/>
                </a:solidFill>
                <a:effectLst/>
                <a:latin typeface="+mn-lt"/>
                <a:ea typeface="+mn-ea"/>
                <a:cs typeface="+mn-cs"/>
              </a:rPr>
              <a:t>就是在</a:t>
            </a:r>
            <a:r>
              <a:rPr lang="en-US" altLang="zh-CN" sz="1200" b="0" i="0" kern="1200" dirty="0" err="1" smtClean="0">
                <a:solidFill>
                  <a:schemeClr val="tx1"/>
                </a:solidFill>
                <a:effectLst/>
                <a:latin typeface="+mn-lt"/>
                <a:ea typeface="+mn-ea"/>
                <a:cs typeface="+mn-cs"/>
              </a:rPr>
              <a:t>Hadoop</a:t>
            </a:r>
            <a:r>
              <a:rPr lang="zh-CN" altLang="en-US" sz="1200" b="0" i="0" kern="1200" dirty="0" smtClean="0">
                <a:solidFill>
                  <a:schemeClr val="tx1"/>
                </a:solidFill>
                <a:effectLst/>
                <a:latin typeface="+mn-lt"/>
                <a:ea typeface="+mn-ea"/>
                <a:cs typeface="+mn-cs"/>
              </a:rPr>
              <a:t>上架了一层</a:t>
            </a:r>
            <a:r>
              <a:rPr lang="en-US" altLang="zh-CN" sz="1200" b="0" i="0" kern="1200" dirty="0" smtClean="0">
                <a:solidFill>
                  <a:schemeClr val="tx1"/>
                </a:solidFill>
                <a:effectLst/>
                <a:latin typeface="+mn-lt"/>
                <a:ea typeface="+mn-ea"/>
                <a:cs typeface="+mn-cs"/>
              </a:rPr>
              <a:t>SQL</a:t>
            </a:r>
            <a:r>
              <a:rPr lang="zh-CN" altLang="en-US" sz="1200" b="0" i="0" kern="1200" dirty="0" smtClean="0">
                <a:solidFill>
                  <a:schemeClr val="tx1"/>
                </a:solidFill>
                <a:effectLst/>
                <a:latin typeface="+mn-lt"/>
                <a:ea typeface="+mn-ea"/>
                <a:cs typeface="+mn-cs"/>
              </a:rPr>
              <a:t>接口，可以将</a:t>
            </a:r>
            <a:r>
              <a:rPr lang="en-US" altLang="zh-CN" sz="1200" b="0" i="0" kern="1200" dirty="0" smtClean="0">
                <a:solidFill>
                  <a:schemeClr val="tx1"/>
                </a:solidFill>
                <a:effectLst/>
                <a:latin typeface="+mn-lt"/>
                <a:ea typeface="+mn-ea"/>
                <a:cs typeface="+mn-cs"/>
              </a:rPr>
              <a:t>SQL</a:t>
            </a:r>
            <a:r>
              <a:rPr lang="zh-CN" altLang="en-US" sz="1200" b="0" i="0" kern="1200" dirty="0" smtClean="0">
                <a:solidFill>
                  <a:schemeClr val="tx1"/>
                </a:solidFill>
                <a:effectLst/>
                <a:latin typeface="+mn-lt"/>
                <a:ea typeface="+mn-ea"/>
                <a:cs typeface="+mn-cs"/>
              </a:rPr>
              <a:t>翻译成</a:t>
            </a:r>
            <a:r>
              <a:rPr lang="en-US" altLang="zh-CN" sz="1200" b="0" i="0" kern="1200" dirty="0" err="1" smtClean="0">
                <a:solidFill>
                  <a:schemeClr val="tx1"/>
                </a:solidFill>
                <a:effectLst/>
                <a:latin typeface="+mn-lt"/>
                <a:ea typeface="+mn-ea"/>
                <a:cs typeface="+mn-cs"/>
              </a:rPr>
              <a:t>MapReduce</a:t>
            </a:r>
            <a:r>
              <a:rPr lang="zh-CN" altLang="en-US" sz="1200" b="0" i="0" kern="1200" dirty="0" smtClean="0">
                <a:solidFill>
                  <a:schemeClr val="tx1"/>
                </a:solidFill>
                <a:effectLst/>
                <a:latin typeface="+mn-lt"/>
                <a:ea typeface="+mn-ea"/>
                <a:cs typeface="+mn-cs"/>
              </a:rPr>
              <a:t>去</a:t>
            </a:r>
            <a:r>
              <a:rPr lang="en-US" altLang="zh-CN" sz="1200" b="0" i="0" kern="1200" dirty="0" err="1" smtClean="0">
                <a:solidFill>
                  <a:schemeClr val="tx1"/>
                </a:solidFill>
                <a:effectLst/>
                <a:latin typeface="+mn-lt"/>
                <a:ea typeface="+mn-ea"/>
                <a:cs typeface="+mn-cs"/>
              </a:rPr>
              <a:t>Hadoop</a:t>
            </a:r>
            <a:r>
              <a:rPr lang="zh-CN" altLang="en-US" sz="1200" b="0" i="0" kern="1200" dirty="0" smtClean="0">
                <a:solidFill>
                  <a:schemeClr val="tx1"/>
                </a:solidFill>
                <a:effectLst/>
                <a:latin typeface="+mn-lt"/>
                <a:ea typeface="+mn-ea"/>
                <a:cs typeface="+mn-cs"/>
              </a:rPr>
              <a:t>上执行，这样就使得数据开发和分析人员很方便的使用</a:t>
            </a:r>
            <a:r>
              <a:rPr lang="en-US" altLang="zh-CN" sz="1200" b="0" i="0" kern="1200" dirty="0" smtClean="0">
                <a:solidFill>
                  <a:schemeClr val="tx1"/>
                </a:solidFill>
                <a:effectLst/>
                <a:latin typeface="+mn-lt"/>
                <a:ea typeface="+mn-ea"/>
                <a:cs typeface="+mn-cs"/>
              </a:rPr>
              <a:t>SQL</a:t>
            </a:r>
            <a:r>
              <a:rPr lang="zh-CN" altLang="en-US" sz="1200" b="0" i="0" kern="1200" dirty="0" smtClean="0">
                <a:solidFill>
                  <a:schemeClr val="tx1"/>
                </a:solidFill>
                <a:effectLst/>
                <a:latin typeface="+mn-lt"/>
                <a:ea typeface="+mn-ea"/>
                <a:cs typeface="+mn-cs"/>
              </a:rPr>
              <a:t>来完成海量数据的统计和分析，而不必使用编程语言开发</a:t>
            </a:r>
            <a:r>
              <a:rPr lang="en-US" altLang="zh-CN" sz="1200" b="0" i="0" kern="1200" dirty="0" err="1" smtClean="0">
                <a:solidFill>
                  <a:schemeClr val="tx1"/>
                </a:solidFill>
                <a:effectLst/>
                <a:latin typeface="+mn-lt"/>
                <a:ea typeface="+mn-ea"/>
                <a:cs typeface="+mn-cs"/>
              </a:rPr>
              <a:t>MapReduce</a:t>
            </a:r>
            <a:r>
              <a:rPr lang="zh-CN" altLang="en-US" sz="1200" b="0" i="0" kern="1200" dirty="0" smtClean="0">
                <a:solidFill>
                  <a:schemeClr val="tx1"/>
                </a:solidFill>
                <a:effectLst/>
                <a:latin typeface="+mn-lt"/>
                <a:ea typeface="+mn-ea"/>
                <a:cs typeface="+mn-cs"/>
              </a:rPr>
              <a:t>那么麻烦。</a:t>
            </a:r>
          </a:p>
          <a:p>
            <a:endParaRPr lang="en-US" dirty="0"/>
          </a:p>
        </p:txBody>
      </p:sp>
      <p:sp>
        <p:nvSpPr>
          <p:cNvPr id="4" name="Slide Number Placeholder 3"/>
          <p:cNvSpPr>
            <a:spLocks noGrp="1"/>
          </p:cNvSpPr>
          <p:nvPr>
            <p:ph type="sldNum" sz="quarter" idx="10"/>
          </p:nvPr>
        </p:nvSpPr>
        <p:spPr/>
        <p:txBody>
          <a:bodyPr/>
          <a:lstStyle/>
          <a:p>
            <a:fld id="{436E2C90-401F-0249-A950-769E500FEAD1}" type="slidenum">
              <a:rPr lang="en-US" smtClean="0"/>
              <a:t>33</a:t>
            </a:fld>
            <a:endParaRPr lang="en-US"/>
          </a:p>
        </p:txBody>
      </p:sp>
    </p:spTree>
    <p:extLst>
      <p:ext uri="{BB962C8B-B14F-4D97-AF65-F5344CB8AC3E}">
        <p14:creationId xmlns:p14="http://schemas.microsoft.com/office/powerpoint/2010/main" val="33168281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Hive</a:t>
            </a:r>
            <a:r>
              <a:rPr lang="en-US" baseline="0" dirty="0" smtClean="0"/>
              <a:t> exposes a SQL interface to users. It can manage a large volume of data in a large scale cluster. For example, FB has more than 300PB hive data. </a:t>
            </a:r>
            <a:endParaRPr lang="en-US" dirty="0" smtClean="0"/>
          </a:p>
          <a:p>
            <a:endParaRPr lang="en-US" dirty="0" smtClean="0"/>
          </a:p>
          <a:p>
            <a:r>
              <a:rPr lang="en-US" dirty="0" smtClean="0"/>
              <a:t>Hive provides SQL</a:t>
            </a:r>
            <a:r>
              <a:rPr lang="en-US" baseline="0" dirty="0" smtClean="0"/>
              <a:t> interface for users. It manages and process data in a scalable and fault-tolerant way. The ability to scale to lots of nodes is one of the main reason that Hive was created in the year of 2007. The amount of data managed by Hive can be huge. For example, Hive data in FB is more than 300PB. </a:t>
            </a:r>
            <a:endParaRPr lang="en-US" dirty="0" smtClean="0"/>
          </a:p>
          <a:p>
            <a:endParaRPr lang="en-US" dirty="0" smtClean="0"/>
          </a:p>
          <a:p>
            <a:r>
              <a:rPr lang="en-US" dirty="0" smtClean="0"/>
              <a:t>The</a:t>
            </a:r>
            <a:r>
              <a:rPr lang="en-US" baseline="0" dirty="0" smtClean="0"/>
              <a:t> </a:t>
            </a:r>
            <a:r>
              <a:rPr lang="en-US" dirty="0" smtClean="0"/>
              <a:t>objective of hive is to manage and process</a:t>
            </a:r>
            <a:r>
              <a:rPr lang="en-US" baseline="0" dirty="0" smtClean="0"/>
              <a:t> data in a scalable and fault-tolerant way. And, this objective is achieved every day.</a:t>
            </a:r>
            <a:endParaRPr lang="en-US" dirty="0" smtClean="0"/>
          </a:p>
          <a:p>
            <a:endParaRPr lang="en-US" dirty="0" smtClean="0"/>
          </a:p>
          <a:p>
            <a:r>
              <a:rPr lang="en-US" dirty="0" smtClean="0"/>
              <a:t>http://www.dbms2.com/2009/05/11/</a:t>
            </a:r>
            <a:r>
              <a:rPr lang="en-US" dirty="0" err="1" smtClean="0"/>
              <a:t>facebook</a:t>
            </a:r>
            <a:r>
              <a:rPr lang="en-US" dirty="0" smtClean="0"/>
              <a:t>-</a:t>
            </a:r>
            <a:r>
              <a:rPr lang="en-US" dirty="0" err="1" smtClean="0"/>
              <a:t>hadoop</a:t>
            </a:r>
            <a:r>
              <a:rPr lang="en-US" dirty="0" smtClean="0"/>
              <a:t>-and-hive/</a:t>
            </a:r>
          </a:p>
          <a:p>
            <a:endParaRPr lang="en-US" dirty="0" smtClean="0"/>
          </a:p>
          <a:p>
            <a:endParaRPr lang="en-US" dirty="0" smtClean="0"/>
          </a:p>
          <a:p>
            <a:r>
              <a:rPr lang="en-US" dirty="0" smtClean="0"/>
              <a:t>Why hive was</a:t>
            </a:r>
            <a:r>
              <a:rPr lang="en-US" baseline="0" dirty="0" smtClean="0"/>
              <a:t> built (in 2007) and in what circumstance. </a:t>
            </a:r>
          </a:p>
          <a:p>
            <a:endParaRPr lang="en-US" baseline="0" dirty="0" smtClean="0"/>
          </a:p>
          <a:p>
            <a:r>
              <a:rPr lang="en-US" sz="1200" kern="1200" dirty="0" smtClean="0">
                <a:solidFill>
                  <a:schemeClr val="tx1"/>
                </a:solidFill>
                <a:latin typeface="+mn-lt"/>
                <a:ea typeface="+mn-ea"/>
                <a:cs typeface="+mn-cs"/>
              </a:rPr>
              <a:t>- to handle increasingly high volume of data on a scalable cluster system</a:t>
            </a:r>
          </a:p>
          <a:p>
            <a:r>
              <a:rPr lang="en-US" sz="1200" kern="1200" dirty="0" smtClean="0">
                <a:solidFill>
                  <a:schemeClr val="tx1"/>
                </a:solidFill>
                <a:latin typeface="+mn-lt"/>
                <a:ea typeface="+mn-ea"/>
                <a:cs typeface="+mn-cs"/>
              </a:rPr>
              <a:t>- conventional data warehouse is not designed for this </a:t>
            </a:r>
          </a:p>
          <a:p>
            <a:pPr marL="171450" indent="-171450">
              <a:buFontTx/>
              <a:buChar char="-"/>
            </a:pPr>
            <a:r>
              <a:rPr lang="en-US" sz="1200" kern="1200" dirty="0" smtClean="0">
                <a:solidFill>
                  <a:schemeClr val="tx1"/>
                </a:solidFill>
                <a:latin typeface="+mn-lt"/>
                <a:ea typeface="+mn-ea"/>
                <a:cs typeface="+mn-cs"/>
              </a:rPr>
              <a:t>The goal of Hive: continuous increase of the throughput as the workload size and cluster sizes increase </a:t>
            </a:r>
          </a:p>
          <a:p>
            <a:pPr marL="171450" indent="-171450">
              <a:buFontTx/>
              <a:buChar char="-"/>
            </a:pPr>
            <a:endParaRPr lang="en-US" sz="1200" kern="1200" dirty="0" smtClean="0">
              <a:solidFill>
                <a:schemeClr val="tx1"/>
              </a:solidFill>
              <a:latin typeface="+mn-lt"/>
              <a:ea typeface="+mn-ea"/>
              <a:cs typeface="+mn-cs"/>
            </a:endParaRPr>
          </a:p>
          <a:p>
            <a:pPr marL="171450" indent="-171450">
              <a:buFontTx/>
              <a:buChar char="-"/>
            </a:pPr>
            <a:endParaRPr lang="en-US" sz="1200" kern="1200" dirty="0" smtClean="0">
              <a:solidFill>
                <a:schemeClr val="tx1"/>
              </a:solidFill>
              <a:latin typeface="+mn-lt"/>
              <a:ea typeface="+mn-ea"/>
              <a:cs typeface="+mn-cs"/>
            </a:endParaRPr>
          </a:p>
          <a:p>
            <a:pPr marL="0" indent="0">
              <a:buFontTx/>
              <a:buNone/>
            </a:pPr>
            <a:endParaRPr lang="en-US" sz="1200" kern="1200" dirty="0" smtClean="0">
              <a:solidFill>
                <a:schemeClr val="tx1"/>
              </a:solidFill>
              <a:latin typeface="+mn-lt"/>
              <a:ea typeface="+mn-ea"/>
              <a:cs typeface="+mn-cs"/>
            </a:endParaRPr>
          </a:p>
          <a:p>
            <a:pPr marL="0" indent="0">
              <a:buFontTx/>
              <a:buNone/>
            </a:pPr>
            <a:r>
              <a:rPr lang="en-US" sz="1200" kern="1200" dirty="0" smtClean="0">
                <a:solidFill>
                  <a:schemeClr val="tx1"/>
                </a:solidFill>
                <a:latin typeface="+mn-lt"/>
                <a:ea typeface="+mn-ea"/>
                <a:cs typeface="+mn-cs"/>
              </a:rPr>
              <a:t>Facebook decided in 2007 to move what was then a 15 terabyte big-DBMS-vendor data warehouse to </a:t>
            </a:r>
            <a:r>
              <a:rPr lang="en-US" sz="1200" kern="1200" dirty="0" err="1" smtClean="0">
                <a:solidFill>
                  <a:schemeClr val="tx1"/>
                </a:solidFill>
                <a:latin typeface="+mn-lt"/>
                <a:ea typeface="+mn-ea"/>
                <a:cs typeface="+mn-cs"/>
              </a:rPr>
              <a:t>Hadoop</a:t>
            </a:r>
            <a:r>
              <a:rPr lang="en-US" sz="1200" kern="1200" dirty="0" smtClean="0">
                <a:solidFill>
                  <a:schemeClr val="tx1"/>
                </a:solidFill>
                <a:latin typeface="+mn-lt"/>
                <a:ea typeface="+mn-ea"/>
                <a:cs typeface="+mn-cs"/>
              </a:rPr>
              <a:t> — augmented by Hive — rather than to an MPP data warehouse DBMS. Major drivers of the choice included:</a:t>
            </a:r>
          </a:p>
          <a:p>
            <a:pPr marL="0" indent="0">
              <a:buFontTx/>
              <a:buNone/>
            </a:pPr>
            <a:r>
              <a:rPr lang="en-US" sz="1200" kern="1200" dirty="0" smtClean="0">
                <a:solidFill>
                  <a:schemeClr val="tx1"/>
                </a:solidFill>
                <a:latin typeface="+mn-lt"/>
                <a:ea typeface="+mn-ea"/>
                <a:cs typeface="+mn-cs"/>
              </a:rPr>
              <a:t>License/maintenance costs. Free is a good price.</a:t>
            </a:r>
          </a:p>
          <a:p>
            <a:pPr marL="0" indent="0">
              <a:buFontTx/>
              <a:buNone/>
            </a:pPr>
            <a:r>
              <a:rPr lang="en-US" sz="1200" kern="1200" dirty="0" smtClean="0">
                <a:solidFill>
                  <a:schemeClr val="tx1"/>
                </a:solidFill>
                <a:latin typeface="+mn-lt"/>
                <a:ea typeface="+mn-ea"/>
                <a:cs typeface="+mn-cs"/>
              </a:rPr>
              <a:t>Open source flexibility. Facebook is one of the few users I’ve ever spoken with that actually cares about modifying open source code.</a:t>
            </a:r>
          </a:p>
          <a:p>
            <a:pPr marL="0" indent="0">
              <a:buFontTx/>
              <a:buNone/>
            </a:pPr>
            <a:r>
              <a:rPr lang="en-US" sz="1200" kern="1200" dirty="0" smtClean="0">
                <a:solidFill>
                  <a:schemeClr val="tx1"/>
                </a:solidFill>
                <a:latin typeface="+mn-lt"/>
                <a:ea typeface="+mn-ea"/>
                <a:cs typeface="+mn-cs"/>
              </a:rPr>
              <a:t>Ability to run on cheap hardware. Facebook runs real-time MySQL instances on boxes that cost $10K or so, and would expect to pay at least as much for an MPP DBMS node. But </a:t>
            </a:r>
            <a:r>
              <a:rPr lang="en-US" sz="1200" kern="1200" dirty="0" err="1" smtClean="0">
                <a:solidFill>
                  <a:schemeClr val="tx1"/>
                </a:solidFill>
                <a:latin typeface="+mn-lt"/>
                <a:ea typeface="+mn-ea"/>
                <a:cs typeface="+mn-cs"/>
              </a:rPr>
              <a:t>Hadoop</a:t>
            </a:r>
            <a:r>
              <a:rPr lang="en-US" sz="1200" kern="1200" dirty="0" smtClean="0">
                <a:solidFill>
                  <a:schemeClr val="tx1"/>
                </a:solidFill>
                <a:latin typeface="+mn-lt"/>
                <a:ea typeface="+mn-ea"/>
                <a:cs typeface="+mn-cs"/>
              </a:rPr>
              <a:t> nodes run on boxes that cost no more than $4K, and sometimes (depending e.g. on whether they have any disk at all) as little as $2K. These are “true” commodity boxes; they don’t even use RAID.</a:t>
            </a:r>
          </a:p>
          <a:p>
            <a:pPr marL="0" indent="0">
              <a:buFontTx/>
              <a:buNone/>
            </a:pPr>
            <a:r>
              <a:rPr lang="en-US" sz="1200" kern="1200" dirty="0" smtClean="0">
                <a:solidFill>
                  <a:schemeClr val="tx1"/>
                </a:solidFill>
                <a:latin typeface="+mn-lt"/>
                <a:ea typeface="+mn-ea"/>
                <a:cs typeface="+mn-cs"/>
              </a:rPr>
              <a:t>Ability to scale out to lots of nodes. Few of the new low-cost MPP DBMS vendors have production systems even today of &gt;100 nodes. (Actually, I’m not certain that any except </a:t>
            </a:r>
            <a:r>
              <a:rPr lang="en-US" sz="1200" kern="1200" dirty="0" err="1" smtClean="0">
                <a:solidFill>
                  <a:schemeClr val="tx1"/>
                </a:solidFill>
                <a:latin typeface="+mn-lt"/>
                <a:ea typeface="+mn-ea"/>
                <a:cs typeface="+mn-cs"/>
              </a:rPr>
              <a:t>Netezza</a:t>
            </a:r>
            <a:r>
              <a:rPr lang="en-US" sz="1200" kern="1200" dirty="0" smtClean="0">
                <a:solidFill>
                  <a:schemeClr val="tx1"/>
                </a:solidFill>
                <a:latin typeface="+mn-lt"/>
                <a:ea typeface="+mn-ea"/>
                <a:cs typeface="+mn-cs"/>
              </a:rPr>
              <a:t> do, although </a:t>
            </a:r>
            <a:r>
              <a:rPr lang="en-US" sz="1200" kern="1200" dirty="0" err="1" smtClean="0">
                <a:solidFill>
                  <a:schemeClr val="tx1"/>
                </a:solidFill>
                <a:latin typeface="+mn-lt"/>
                <a:ea typeface="+mn-ea"/>
                <a:cs typeface="+mn-cs"/>
              </a:rPr>
              <a:t>Kognitio</a:t>
            </a:r>
            <a:r>
              <a:rPr lang="en-US" sz="1200" kern="1200" dirty="0" smtClean="0">
                <a:solidFill>
                  <a:schemeClr val="tx1"/>
                </a:solidFill>
                <a:latin typeface="+mn-lt"/>
                <a:ea typeface="+mn-ea"/>
                <a:cs typeface="+mn-cs"/>
              </a:rPr>
              <a:t> in a prior release of its technology once built a 900ish node production system.)</a:t>
            </a:r>
          </a:p>
          <a:p>
            <a:pPr marL="0" indent="0">
              <a:buFontTx/>
              <a:buNone/>
            </a:pPr>
            <a:r>
              <a:rPr lang="en-US" sz="1200" kern="1200" dirty="0" smtClean="0">
                <a:solidFill>
                  <a:schemeClr val="tx1"/>
                </a:solidFill>
                <a:latin typeface="+mn-lt"/>
                <a:ea typeface="+mn-ea"/>
                <a:cs typeface="+mn-cs"/>
              </a:rPr>
              <a:t>Inherently better performance. Correctly or otherwise, the Facebook guys thought that </a:t>
            </a:r>
            <a:r>
              <a:rPr lang="en-US" sz="1200" kern="1200" dirty="0" err="1" smtClean="0">
                <a:solidFill>
                  <a:schemeClr val="tx1"/>
                </a:solidFill>
                <a:latin typeface="+mn-lt"/>
                <a:ea typeface="+mn-ea"/>
                <a:cs typeface="+mn-cs"/>
              </a:rPr>
              <a:t>Hadoop</a:t>
            </a:r>
            <a:r>
              <a:rPr lang="en-US" sz="1200" kern="1200" dirty="0" smtClean="0">
                <a:solidFill>
                  <a:schemeClr val="tx1"/>
                </a:solidFill>
                <a:latin typeface="+mn-lt"/>
                <a:ea typeface="+mn-ea"/>
                <a:cs typeface="+mn-cs"/>
              </a:rPr>
              <a:t> had performance advantages over DBMS, due to the lack of overhead associated with transactions and so on.</a:t>
            </a:r>
          </a:p>
          <a:p>
            <a:pPr marL="171450" indent="-171450">
              <a:buFontTx/>
              <a:buChar char="-"/>
            </a:pPr>
            <a:endParaRPr lang="en-US" sz="1200" kern="1200" dirty="0" smtClean="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436E2C90-401F-0249-A950-769E500FEAD1}" type="slidenum">
              <a:rPr lang="en-US" smtClean="0"/>
              <a:t>34</a:t>
            </a:fld>
            <a:endParaRPr lang="en-US"/>
          </a:p>
        </p:txBody>
      </p:sp>
    </p:spTree>
    <p:extLst>
      <p:ext uri="{BB962C8B-B14F-4D97-AF65-F5344CB8AC3E}">
        <p14:creationId xmlns:p14="http://schemas.microsoft.com/office/powerpoint/2010/main" val="16182689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latin typeface="+mn-lt"/>
                <a:ea typeface="+mn-ea"/>
                <a:cs typeface="+mn-cs"/>
              </a:rPr>
              <a:t>Hive and conventional data warehouse</a:t>
            </a:r>
            <a:r>
              <a:rPr lang="en-US" sz="1200" kern="1200" baseline="0" dirty="0" smtClean="0">
                <a:solidFill>
                  <a:schemeClr val="tx1"/>
                </a:solidFill>
                <a:latin typeface="+mn-lt"/>
                <a:ea typeface="+mn-ea"/>
                <a:cs typeface="+mn-cs"/>
              </a:rPr>
              <a:t> systems are fundamentally different in the following way.</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latin typeface="+mn-lt"/>
                <a:ea typeface="+mn-ea"/>
                <a:cs typeface="+mn-cs"/>
              </a:rPr>
              <a:t>A traditional DBMS does have its own storage system (e.g., sequential files, B-trees, and </a:t>
            </a:r>
            <a:r>
              <a:rPr lang="en-US" sz="1200" kern="1200" dirty="0" err="1" smtClean="0">
                <a:solidFill>
                  <a:schemeClr val="tx1"/>
                </a:solidFill>
                <a:latin typeface="+mn-lt"/>
                <a:ea typeface="+mn-ea"/>
                <a:cs typeface="+mn-cs"/>
              </a:rPr>
              <a:t>columnstores</a:t>
            </a:r>
            <a:r>
              <a:rPr lang="en-US" sz="1200" kern="1200" dirty="0" smtClean="0">
                <a:solidFill>
                  <a:schemeClr val="tx1"/>
                </a:solidFill>
                <a:latin typeface="+mn-lt"/>
                <a:ea typeface="+mn-ea"/>
                <a:cs typeface="+mn-cs"/>
              </a:rPr>
              <a:t> stored in binary OS files). It also has operators like scan/seek/filter/group-by-aggregate/join, and a runtime engine to run the operators, managing threads, processes, communication (for scale out systems) and memory.</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latin typeface="+mn-lt"/>
                <a:ea typeface="+mn-ea"/>
                <a:cs typeface="+mn-cs"/>
              </a:rPr>
              <a:t>Talk a little bit more about apache </a:t>
            </a:r>
            <a:r>
              <a:rPr lang="en-US" sz="1200" kern="1200" dirty="0" err="1" smtClean="0">
                <a:solidFill>
                  <a:schemeClr val="tx1"/>
                </a:solidFill>
                <a:latin typeface="+mn-lt"/>
                <a:ea typeface="+mn-ea"/>
                <a:cs typeface="+mn-cs"/>
              </a:rPr>
              <a:t>tez</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Tez</a:t>
            </a:r>
            <a:r>
              <a:rPr lang="en-US" sz="1200" kern="1200" dirty="0" smtClean="0">
                <a:solidFill>
                  <a:schemeClr val="tx1"/>
                </a:solidFill>
                <a:latin typeface="+mn-lt"/>
                <a:ea typeface="+mn-ea"/>
                <a:cs typeface="+mn-cs"/>
              </a:rPr>
              <a:t> is new data</a:t>
            </a:r>
            <a:r>
              <a:rPr lang="en-US" sz="1200" kern="1200" baseline="0" dirty="0" smtClean="0">
                <a:solidFill>
                  <a:schemeClr val="tx1"/>
                </a:solidFill>
                <a:latin typeface="+mn-lt"/>
                <a:ea typeface="+mn-ea"/>
                <a:cs typeface="+mn-cs"/>
              </a:rPr>
              <a:t> processing engine. It generalize the data processing model of </a:t>
            </a:r>
            <a:r>
              <a:rPr lang="en-US" sz="1200" kern="1200" baseline="0" dirty="0" err="1" smtClean="0">
                <a:solidFill>
                  <a:schemeClr val="tx1"/>
                </a:solidFill>
                <a:latin typeface="+mn-lt"/>
                <a:ea typeface="+mn-ea"/>
                <a:cs typeface="+mn-cs"/>
              </a:rPr>
              <a:t>MapReduce</a:t>
            </a:r>
            <a:r>
              <a:rPr lang="en-US" sz="1200" kern="1200" baseline="0" dirty="0" smtClean="0">
                <a:solidFill>
                  <a:schemeClr val="tx1"/>
                </a:solidFill>
                <a:latin typeface="+mn-lt"/>
                <a:ea typeface="+mn-ea"/>
                <a:cs typeface="+mn-cs"/>
              </a:rPr>
              <a:t>. A </a:t>
            </a:r>
            <a:r>
              <a:rPr lang="en-US" sz="1200" kern="1200" baseline="0" dirty="0" err="1" smtClean="0">
                <a:solidFill>
                  <a:schemeClr val="tx1"/>
                </a:solidFill>
                <a:latin typeface="+mn-lt"/>
                <a:ea typeface="+mn-ea"/>
                <a:cs typeface="+mn-cs"/>
              </a:rPr>
              <a:t>Tez</a:t>
            </a:r>
            <a:r>
              <a:rPr lang="en-US" sz="1200" kern="1200" baseline="0" dirty="0" smtClean="0">
                <a:solidFill>
                  <a:schemeClr val="tx1"/>
                </a:solidFill>
                <a:latin typeface="+mn-lt"/>
                <a:ea typeface="+mn-ea"/>
                <a:cs typeface="+mn-cs"/>
              </a:rPr>
              <a:t> job is a DAG of operations instead of just having map, shuffle and reduce phases like MR. </a:t>
            </a:r>
            <a:r>
              <a:rPr lang="en-US" sz="1200" kern="1200" baseline="0" dirty="0" err="1" smtClean="0">
                <a:solidFill>
                  <a:schemeClr val="tx1"/>
                </a:solidFill>
                <a:latin typeface="+mn-lt"/>
                <a:ea typeface="+mn-ea"/>
                <a:cs typeface="+mn-cs"/>
              </a:rPr>
              <a:t>Tez</a:t>
            </a:r>
            <a:r>
              <a:rPr lang="en-US" sz="1200" kern="1200" baseline="0" dirty="0" smtClean="0">
                <a:solidFill>
                  <a:schemeClr val="tx1"/>
                </a:solidFill>
                <a:latin typeface="+mn-lt"/>
                <a:ea typeface="+mn-ea"/>
                <a:cs typeface="+mn-cs"/>
              </a:rPr>
              <a:t> can significantly reduce the execution time by eliminating overhead introduced by MR.</a:t>
            </a:r>
            <a:endParaRPr lang="en-US" dirty="0"/>
          </a:p>
        </p:txBody>
      </p:sp>
      <p:sp>
        <p:nvSpPr>
          <p:cNvPr id="4" name="Slide Number Placeholder 3"/>
          <p:cNvSpPr>
            <a:spLocks noGrp="1"/>
          </p:cNvSpPr>
          <p:nvPr>
            <p:ph type="sldNum" sz="quarter" idx="10"/>
          </p:nvPr>
        </p:nvSpPr>
        <p:spPr/>
        <p:txBody>
          <a:bodyPr/>
          <a:lstStyle/>
          <a:p>
            <a:fld id="{436E2C90-401F-0249-A950-769E500FEAD1}" type="slidenum">
              <a:rPr lang="en-US" smtClean="0"/>
              <a:t>35</a:t>
            </a:fld>
            <a:endParaRPr lang="en-US"/>
          </a:p>
        </p:txBody>
      </p:sp>
    </p:spTree>
    <p:extLst>
      <p:ext uri="{BB962C8B-B14F-4D97-AF65-F5344CB8AC3E}">
        <p14:creationId xmlns:p14="http://schemas.microsoft.com/office/powerpoint/2010/main" val="10579998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a:t>
            </a:r>
            <a:r>
              <a:rPr lang="en-US" baseline="0" dirty="0" smtClean="0"/>
              <a:t> process a query, Hive first generates an operator tree based on the operations in the query.</a:t>
            </a:r>
          </a:p>
          <a:p>
            <a:r>
              <a:rPr lang="en-US" baseline="0" dirty="0" smtClean="0"/>
              <a:t>Then, Hive breaks the operator tree to multiple stage based on when data needs to be repartitioned. In this example, JOIN and GBY need to repartition their input datasets. So, we have three stages for this query.</a:t>
            </a:r>
            <a:endParaRPr lang="en-US" dirty="0"/>
          </a:p>
        </p:txBody>
      </p:sp>
      <p:sp>
        <p:nvSpPr>
          <p:cNvPr id="4" name="Slide Number Placeholder 3"/>
          <p:cNvSpPr>
            <a:spLocks noGrp="1"/>
          </p:cNvSpPr>
          <p:nvPr>
            <p:ph type="sldNum" sz="quarter" idx="10"/>
          </p:nvPr>
        </p:nvSpPr>
        <p:spPr/>
        <p:txBody>
          <a:bodyPr/>
          <a:lstStyle/>
          <a:p>
            <a:fld id="{2F4F727A-7A01-2D4E-8D38-2F7B31955994}" type="slidenum">
              <a:rPr lang="en-US" smtClean="0"/>
              <a:t>36</a:t>
            </a:fld>
            <a:endParaRPr lang="en-US"/>
          </a:p>
        </p:txBody>
      </p:sp>
    </p:spTree>
    <p:extLst>
      <p:ext uri="{BB962C8B-B14F-4D97-AF65-F5344CB8AC3E}">
        <p14:creationId xmlns:p14="http://schemas.microsoft.com/office/powerpoint/2010/main" val="12236730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After</a:t>
            </a:r>
            <a:r>
              <a:rPr lang="en-US" baseline="0" dirty="0" smtClean="0"/>
              <a:t> breaking the operator tree to multiple stages, Hive generates jobs based on those stages. For </a:t>
            </a:r>
            <a:r>
              <a:rPr lang="en-US" baseline="0" dirty="0" err="1" smtClean="0"/>
              <a:t>MapReduce</a:t>
            </a:r>
            <a:r>
              <a:rPr lang="en-US" baseline="0" dirty="0" smtClean="0"/>
              <a:t>, because an MR job can only shuffle data once, we may generate multiple MR jobs for a query. In this example, we have 2 MR jobs. For </a:t>
            </a:r>
            <a:r>
              <a:rPr lang="en-US" baseline="0" dirty="0" err="1" smtClean="0"/>
              <a:t>Tez</a:t>
            </a:r>
            <a:r>
              <a:rPr lang="en-US" baseline="0" dirty="0" smtClean="0"/>
              <a:t>, Hive only generates a single </a:t>
            </a:r>
            <a:r>
              <a:rPr lang="en-US" baseline="0" dirty="0" err="1" smtClean="0"/>
              <a:t>Tez</a:t>
            </a:r>
            <a:r>
              <a:rPr lang="en-US" baseline="0" dirty="0" smtClean="0"/>
              <a:t> job which have three stages.</a:t>
            </a:r>
            <a:endParaRPr lang="en-US" dirty="0"/>
          </a:p>
        </p:txBody>
      </p:sp>
      <p:sp>
        <p:nvSpPr>
          <p:cNvPr id="4" name="Slide Number Placeholder 3"/>
          <p:cNvSpPr>
            <a:spLocks noGrp="1"/>
          </p:cNvSpPr>
          <p:nvPr>
            <p:ph type="sldNum" sz="quarter" idx="10"/>
          </p:nvPr>
        </p:nvSpPr>
        <p:spPr/>
        <p:txBody>
          <a:bodyPr/>
          <a:lstStyle/>
          <a:p>
            <a:fld id="{2F4F727A-7A01-2D4E-8D38-2F7B31955994}" type="slidenum">
              <a:rPr lang="en-US" smtClean="0"/>
              <a:t>37</a:t>
            </a:fld>
            <a:endParaRPr lang="en-US"/>
          </a:p>
        </p:txBody>
      </p:sp>
    </p:spTree>
    <p:extLst>
      <p:ext uri="{BB962C8B-B14F-4D97-AF65-F5344CB8AC3E}">
        <p14:creationId xmlns:p14="http://schemas.microsoft.com/office/powerpoint/2010/main" val="5442973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Let’s take a look at what are performance critical components</a:t>
            </a:r>
            <a:r>
              <a:rPr lang="en-US" baseline="0" dirty="0" smtClean="0"/>
              <a:t> in Hive.</a:t>
            </a:r>
          </a:p>
          <a:p>
            <a:endParaRPr lang="en-US" baseline="0" dirty="0" smtClean="0"/>
          </a:p>
          <a:p>
            <a:r>
              <a:rPr lang="en-US" baseline="0" dirty="0" smtClean="0"/>
              <a:t>For a query, its input datasets are stored on HDFS as files. The file format of those files determines how those datasets are physically stored. Thus, the file format is crucial to the storage efficiency and the efficiency of reading data from HDFS.</a:t>
            </a:r>
          </a:p>
          <a:p>
            <a:endParaRPr lang="en-US" baseline="0" dirty="0" smtClean="0"/>
          </a:p>
          <a:p>
            <a:r>
              <a:rPr lang="en-US" baseline="0" dirty="0" smtClean="0"/>
              <a:t>The query plan of a query is generated by query planner. The query planner determines the efficiency of query plans and when data will be moved (repartitioned).</a:t>
            </a:r>
          </a:p>
          <a:p>
            <a:endParaRPr lang="en-US" baseline="0" dirty="0" smtClean="0"/>
          </a:p>
          <a:p>
            <a:r>
              <a:rPr lang="en-US" dirty="0" smtClean="0"/>
              <a:t>At</a:t>
            </a:r>
            <a:r>
              <a:rPr lang="en-US" baseline="0" dirty="0" smtClean="0"/>
              <a:t> runtime, the query plan is executed by those operators. Implementations of those operators determine the execution model and the runtime efficiency. </a:t>
            </a:r>
          </a:p>
          <a:p>
            <a:endParaRPr lang="en-US" baseline="0" dirty="0" smtClean="0"/>
          </a:p>
          <a:p>
            <a:r>
              <a:rPr lang="en-US" baseline="0" dirty="0" smtClean="0"/>
              <a:t>In the following of this talk, we will introduce major improvements of these three components. </a:t>
            </a:r>
          </a:p>
        </p:txBody>
      </p:sp>
      <p:sp>
        <p:nvSpPr>
          <p:cNvPr id="4" name="Slide Number Placeholder 3"/>
          <p:cNvSpPr>
            <a:spLocks noGrp="1"/>
          </p:cNvSpPr>
          <p:nvPr>
            <p:ph type="sldNum" sz="quarter" idx="10"/>
          </p:nvPr>
        </p:nvSpPr>
        <p:spPr/>
        <p:txBody>
          <a:bodyPr/>
          <a:lstStyle/>
          <a:p>
            <a:fld id="{2F4F727A-7A01-2D4E-8D38-2F7B31955994}" type="slidenum">
              <a:rPr lang="en-US" smtClean="0"/>
              <a:t>38</a:t>
            </a:fld>
            <a:endParaRPr lang="en-US"/>
          </a:p>
        </p:txBody>
      </p:sp>
    </p:spTree>
    <p:extLst>
      <p:ext uri="{BB962C8B-B14F-4D97-AF65-F5344CB8AC3E}">
        <p14:creationId xmlns:p14="http://schemas.microsoft.com/office/powerpoint/2010/main" val="4535687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File format</a:t>
            </a:r>
          </a:p>
          <a:p>
            <a:r>
              <a:rPr lang="en-US" dirty="0" smtClean="0"/>
              <a:t> Not easy to achieve both</a:t>
            </a:r>
            <a:r>
              <a:rPr lang="en-US" baseline="0" dirty="0" smtClean="0"/>
              <a:t> simultaneously.</a:t>
            </a:r>
            <a:endParaRPr lang="en-US" dirty="0"/>
          </a:p>
        </p:txBody>
      </p:sp>
      <p:sp>
        <p:nvSpPr>
          <p:cNvPr id="4" name="Slide Number Placeholder 3"/>
          <p:cNvSpPr>
            <a:spLocks noGrp="1"/>
          </p:cNvSpPr>
          <p:nvPr>
            <p:ph type="sldNum" sz="quarter" idx="10"/>
          </p:nvPr>
        </p:nvSpPr>
        <p:spPr/>
        <p:txBody>
          <a:bodyPr/>
          <a:lstStyle/>
          <a:p>
            <a:fld id="{2F4F727A-7A01-2D4E-8D38-2F7B31955994}" type="slidenum">
              <a:rPr lang="en-US" smtClean="0"/>
              <a:t>39</a:t>
            </a:fld>
            <a:endParaRPr lang="en-US"/>
          </a:p>
        </p:txBody>
      </p:sp>
    </p:spTree>
    <p:extLst>
      <p:ext uri="{BB962C8B-B14F-4D97-AF65-F5344CB8AC3E}">
        <p14:creationId xmlns:p14="http://schemas.microsoft.com/office/powerpoint/2010/main" val="18911109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baseline="0" dirty="0" smtClean="0"/>
              <a:t>narrow down the scope</a:t>
            </a:r>
          </a:p>
          <a:p>
            <a:r>
              <a:rPr lang="en-US" baseline="0" dirty="0" smtClean="0"/>
              <a:t>big data analytics -&gt; </a:t>
            </a:r>
            <a:r>
              <a:rPr lang="en-US" baseline="0" dirty="0" err="1" smtClean="0"/>
              <a:t>sql</a:t>
            </a:r>
            <a:r>
              <a:rPr lang="en-US" baseline="0" dirty="0" smtClean="0"/>
              <a:t>-like</a:t>
            </a:r>
          </a:p>
          <a:p>
            <a:r>
              <a:rPr lang="en-US" baseline="0" dirty="0" smtClean="0"/>
              <a:t>big data -&gt; 2-dimensional table in relational </a:t>
            </a:r>
            <a:r>
              <a:rPr lang="en-US" baseline="0" dirty="0" err="1" smtClean="0"/>
              <a:t>db</a:t>
            </a:r>
            <a:r>
              <a:rPr lang="en-US" baseline="0" dirty="0" smtClean="0"/>
              <a:t> (arbitrary # rows, fixed # columns)</a:t>
            </a:r>
          </a:p>
          <a:p>
            <a:r>
              <a:rPr lang="en-US" baseline="0" dirty="0" smtClean="0"/>
              <a:t>the storage end consists of a cluster of servers</a:t>
            </a:r>
          </a:p>
          <a:p>
            <a:r>
              <a:rPr lang="en-US" baseline="0" dirty="0" smtClean="0"/>
              <a:t>question -&gt; how should we divide and distribute the data to each server, and how we organize them on each local disk</a:t>
            </a:r>
          </a:p>
          <a:p>
            <a:endParaRPr lang="en-US" baseline="0" dirty="0" smtClean="0"/>
          </a:p>
          <a:p>
            <a:r>
              <a:rPr lang="en-US" baseline="0" dirty="0" smtClean="0"/>
              <a:t>we call each answer to this question, a table placement method</a:t>
            </a:r>
            <a:endParaRPr lang="en-US" dirty="0"/>
          </a:p>
        </p:txBody>
      </p:sp>
      <p:sp>
        <p:nvSpPr>
          <p:cNvPr id="4" name="灯片编号占位符 3"/>
          <p:cNvSpPr>
            <a:spLocks noGrp="1"/>
          </p:cNvSpPr>
          <p:nvPr>
            <p:ph type="sldNum" sz="quarter" idx="10"/>
          </p:nvPr>
        </p:nvSpPr>
        <p:spPr/>
        <p:txBody>
          <a:bodyPr/>
          <a:lstStyle/>
          <a:p>
            <a:fld id="{8B572A69-8240-42E5-9E76-DBC0E843EAC7}" type="slidenum">
              <a:rPr lang="en-US" smtClean="0"/>
              <a:pPr/>
              <a:t>40</a:t>
            </a:fld>
            <a:endParaRPr lang="en-US" dirty="0"/>
          </a:p>
        </p:txBody>
      </p:sp>
    </p:spTree>
    <p:extLst>
      <p:ext uri="{BB962C8B-B14F-4D97-AF65-F5344CB8AC3E}">
        <p14:creationId xmlns:p14="http://schemas.microsoft.com/office/powerpoint/2010/main" val="7276050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F4F727A-7A01-2D4E-8D38-2F7B31955994}" type="slidenum">
              <a:rPr lang="en-US" smtClean="0"/>
              <a:t>41</a:t>
            </a:fld>
            <a:endParaRPr lang="en-US"/>
          </a:p>
        </p:txBody>
      </p:sp>
    </p:spTree>
    <p:extLst>
      <p:ext uri="{BB962C8B-B14F-4D97-AF65-F5344CB8AC3E}">
        <p14:creationId xmlns:p14="http://schemas.microsoft.com/office/powerpoint/2010/main" val="39592594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Consistent format to</a:t>
            </a:r>
            <a:r>
              <a:rPr lang="en-US" baseline="0" dirty="0" smtClean="0"/>
              <a:t> the previous presentations of row-store and column-store </a:t>
            </a:r>
            <a:endParaRPr lang="en-US" dirty="0"/>
          </a:p>
        </p:txBody>
      </p:sp>
      <p:sp>
        <p:nvSpPr>
          <p:cNvPr id="4" name="Slide Number Placeholder 3"/>
          <p:cNvSpPr>
            <a:spLocks noGrp="1"/>
          </p:cNvSpPr>
          <p:nvPr>
            <p:ph type="sldNum" sz="quarter" idx="10"/>
          </p:nvPr>
        </p:nvSpPr>
        <p:spPr/>
        <p:txBody>
          <a:bodyPr/>
          <a:lstStyle/>
          <a:p>
            <a:fld id="{8B572A69-8240-42E5-9E76-DBC0E843EAC7}" type="slidenum">
              <a:rPr lang="en-US" smtClean="0"/>
              <a:pPr/>
              <a:t>42</a:t>
            </a:fld>
            <a:endParaRPr lang="en-US" dirty="0"/>
          </a:p>
        </p:txBody>
      </p:sp>
    </p:spTree>
    <p:extLst>
      <p:ext uri="{BB962C8B-B14F-4D97-AF65-F5344CB8AC3E}">
        <p14:creationId xmlns:p14="http://schemas.microsoft.com/office/powerpoint/2010/main" val="26207525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smtClean="0"/>
          </a:p>
        </p:txBody>
      </p:sp>
      <p:sp>
        <p:nvSpPr>
          <p:cNvPr id="4" name="Slide Number Placeholder 3"/>
          <p:cNvSpPr>
            <a:spLocks noGrp="1"/>
          </p:cNvSpPr>
          <p:nvPr>
            <p:ph type="sldNum" sz="quarter" idx="10"/>
          </p:nvPr>
        </p:nvSpPr>
        <p:spPr/>
        <p:txBody>
          <a:bodyPr/>
          <a:lstStyle/>
          <a:p>
            <a:fld id="{8B572A69-8240-42E5-9E76-DBC0E843EAC7}" type="slidenum">
              <a:rPr lang="en-US" smtClean="0"/>
              <a:pPr/>
              <a:t>43</a:t>
            </a:fld>
            <a:endParaRPr lang="en-US"/>
          </a:p>
        </p:txBody>
      </p:sp>
    </p:spTree>
    <p:extLst>
      <p:ext uri="{BB962C8B-B14F-4D97-AF65-F5344CB8AC3E}">
        <p14:creationId xmlns:p14="http://schemas.microsoft.com/office/powerpoint/2010/main" val="29927292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No duplication</a:t>
            </a:r>
            <a:endParaRPr lang="en-US" dirty="0"/>
          </a:p>
        </p:txBody>
      </p:sp>
      <p:sp>
        <p:nvSpPr>
          <p:cNvPr id="4" name="Slide Number Placeholder 3"/>
          <p:cNvSpPr>
            <a:spLocks noGrp="1"/>
          </p:cNvSpPr>
          <p:nvPr>
            <p:ph type="sldNum" sz="quarter" idx="10"/>
          </p:nvPr>
        </p:nvSpPr>
        <p:spPr/>
        <p:txBody>
          <a:bodyPr/>
          <a:lstStyle/>
          <a:p>
            <a:fld id="{8B572A69-8240-42E5-9E76-DBC0E843EAC7}" type="slidenum">
              <a:rPr lang="en-US" smtClean="0"/>
              <a:pPr/>
              <a:t>44</a:t>
            </a:fld>
            <a:endParaRPr lang="en-US"/>
          </a:p>
        </p:txBody>
      </p:sp>
    </p:spTree>
    <p:extLst>
      <p:ext uri="{BB962C8B-B14F-4D97-AF65-F5344CB8AC3E}">
        <p14:creationId xmlns:p14="http://schemas.microsoft.com/office/powerpoint/2010/main" val="29362317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No duplication</a:t>
            </a:r>
            <a:endParaRPr lang="en-US" dirty="0"/>
          </a:p>
        </p:txBody>
      </p:sp>
      <p:sp>
        <p:nvSpPr>
          <p:cNvPr id="4" name="Slide Number Placeholder 3"/>
          <p:cNvSpPr>
            <a:spLocks noGrp="1"/>
          </p:cNvSpPr>
          <p:nvPr>
            <p:ph type="sldNum" sz="quarter" idx="10"/>
          </p:nvPr>
        </p:nvSpPr>
        <p:spPr/>
        <p:txBody>
          <a:bodyPr/>
          <a:lstStyle/>
          <a:p>
            <a:fld id="{8B572A69-8240-42E5-9E76-DBC0E843EAC7}" type="slidenum">
              <a:rPr lang="en-US" smtClean="0"/>
              <a:pPr/>
              <a:t>45</a:t>
            </a:fld>
            <a:endParaRPr lang="en-US"/>
          </a:p>
        </p:txBody>
      </p:sp>
    </p:spTree>
    <p:extLst>
      <p:ext uri="{BB962C8B-B14F-4D97-AF65-F5344CB8AC3E}">
        <p14:creationId xmlns:p14="http://schemas.microsoft.com/office/powerpoint/2010/main" val="3629614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F4F727A-7A01-2D4E-8D38-2F7B31955994}" type="slidenum">
              <a:rPr lang="en-US" smtClean="0"/>
              <a:t>46</a:t>
            </a:fld>
            <a:endParaRPr lang="en-US"/>
          </a:p>
        </p:txBody>
      </p:sp>
    </p:spTree>
    <p:extLst>
      <p:ext uri="{BB962C8B-B14F-4D97-AF65-F5344CB8AC3E}">
        <p14:creationId xmlns:p14="http://schemas.microsoft.com/office/powerpoint/2010/main" val="41645974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F4F727A-7A01-2D4E-8D38-2F7B31955994}" type="slidenum">
              <a:rPr lang="en-US" smtClean="0"/>
              <a:t>47</a:t>
            </a:fld>
            <a:endParaRPr lang="en-US"/>
          </a:p>
        </p:txBody>
      </p:sp>
    </p:spTree>
    <p:extLst>
      <p:ext uri="{BB962C8B-B14F-4D97-AF65-F5344CB8AC3E}">
        <p14:creationId xmlns:p14="http://schemas.microsoft.com/office/powerpoint/2010/main" val="26747412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Although MR model provide a much easier environment for parallel programming. But the programming work is not that easy. You can easily write a lots of codes even for a simple MR job. Thus, the productivity of MR programming is actually quite low. To enhance the productivity, High-level languages, such as SQL-like declarative languages, on top of </a:t>
            </a:r>
            <a:r>
              <a:rPr lang="en-US" baseline="0" dirty="0" err="1" smtClean="0"/>
              <a:t>MapReduce</a:t>
            </a:r>
            <a:r>
              <a:rPr lang="en-US" baseline="0" dirty="0" smtClean="0"/>
              <a:t> is desired. </a:t>
            </a:r>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8B572A69-8240-42E5-9E76-DBC0E843EAC7}" type="slidenum">
              <a:rPr lang="en-US" smtClean="0"/>
              <a:pPr/>
              <a:t>49</a:t>
            </a:fld>
            <a:endParaRPr lang="en-US" dirty="0"/>
          </a:p>
        </p:txBody>
      </p:sp>
    </p:spTree>
    <p:extLst>
      <p:ext uri="{BB962C8B-B14F-4D97-AF65-F5344CB8AC3E}">
        <p14:creationId xmlns:p14="http://schemas.microsoft.com/office/powerpoint/2010/main" val="9188063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With </a:t>
            </a:r>
            <a:r>
              <a:rPr lang="en-US" baseline="0" dirty="0" smtClean="0"/>
              <a:t>SQL-like declarative languages, users do not need to write MR jobs or even know how to write MR jobs. They can quickly use SQL-like languages to describe their data processing procedure in a few lines of query. Then, a SQL-to-</a:t>
            </a:r>
            <a:r>
              <a:rPr lang="en-US" baseline="0" dirty="0" err="1" smtClean="0"/>
              <a:t>MapReduce</a:t>
            </a:r>
            <a:r>
              <a:rPr lang="en-US" baseline="0" dirty="0" smtClean="0"/>
              <a:t> translator will translate these SQL-like queries to one or multiple MR jobs. Then, the MR framework will execute these jobs. Right now, Hive and Pig are two representative translators on top of </a:t>
            </a:r>
            <a:r>
              <a:rPr lang="en-US" baseline="0" dirty="0" err="1" smtClean="0"/>
              <a:t>hadoop</a:t>
            </a:r>
            <a:r>
              <a:rPr lang="en-US" baseline="0" dirty="0" smtClean="0"/>
              <a:t>. </a:t>
            </a:r>
            <a:endParaRPr lang="en-US" dirty="0"/>
          </a:p>
        </p:txBody>
      </p:sp>
      <p:sp>
        <p:nvSpPr>
          <p:cNvPr id="4" name="Slide Number Placeholder 3"/>
          <p:cNvSpPr>
            <a:spLocks noGrp="1"/>
          </p:cNvSpPr>
          <p:nvPr>
            <p:ph type="sldNum" sz="quarter" idx="10"/>
          </p:nvPr>
        </p:nvSpPr>
        <p:spPr/>
        <p:txBody>
          <a:bodyPr/>
          <a:lstStyle/>
          <a:p>
            <a:fld id="{8B572A69-8240-42E5-9E76-DBC0E843EAC7}" type="slidenum">
              <a:rPr lang="en-US" smtClean="0"/>
              <a:pPr/>
              <a:t>50</a:t>
            </a:fld>
            <a:endParaRPr lang="en-US" dirty="0"/>
          </a:p>
        </p:txBody>
      </p:sp>
    </p:spTree>
    <p:extLst>
      <p:ext uri="{BB962C8B-B14F-4D97-AF65-F5344CB8AC3E}">
        <p14:creationId xmlns:p14="http://schemas.microsoft.com/office/powerpoint/2010/main" val="4515016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itchFamily="34" charset="0"/>
                <a:ea typeface="宋体" pitchFamily="2" charset="-122"/>
              </a:defRPr>
            </a:lvl1pPr>
            <a:lvl2pPr marL="742950" indent="-285750" eaLnBrk="0" hangingPunct="0">
              <a:spcBef>
                <a:spcPct val="30000"/>
              </a:spcBef>
              <a:defRPr sz="1200">
                <a:solidFill>
                  <a:schemeClr val="tx1"/>
                </a:solidFill>
                <a:latin typeface="Arial" pitchFamily="34" charset="0"/>
                <a:ea typeface="宋体" pitchFamily="2" charset="-122"/>
              </a:defRPr>
            </a:lvl2pPr>
            <a:lvl3pPr marL="1143000" indent="-228600" eaLnBrk="0" hangingPunct="0">
              <a:spcBef>
                <a:spcPct val="30000"/>
              </a:spcBef>
              <a:defRPr sz="1200">
                <a:solidFill>
                  <a:schemeClr val="tx1"/>
                </a:solidFill>
                <a:latin typeface="Arial" pitchFamily="34" charset="0"/>
                <a:ea typeface="宋体" pitchFamily="2" charset="-122"/>
              </a:defRPr>
            </a:lvl3pPr>
            <a:lvl4pPr marL="1600200" indent="-228600" eaLnBrk="0" hangingPunct="0">
              <a:spcBef>
                <a:spcPct val="30000"/>
              </a:spcBef>
              <a:defRPr sz="1200">
                <a:solidFill>
                  <a:schemeClr val="tx1"/>
                </a:solidFill>
                <a:latin typeface="Arial" pitchFamily="34" charset="0"/>
                <a:ea typeface="宋体" pitchFamily="2" charset="-122"/>
              </a:defRPr>
            </a:lvl4pPr>
            <a:lvl5pPr marL="2057400" indent="-228600" eaLnBrk="0" hangingPunct="0">
              <a:spcBef>
                <a:spcPct val="30000"/>
              </a:spcBef>
              <a:defRPr sz="1200">
                <a:solidFill>
                  <a:schemeClr val="tx1"/>
                </a:solidFill>
                <a:latin typeface="Arial"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itchFamily="34" charset="0"/>
                <a:ea typeface="宋体" pitchFamily="2" charset="-122"/>
              </a:defRPr>
            </a:lvl9pPr>
          </a:lstStyle>
          <a:p>
            <a:pPr eaLnBrk="1" hangingPunct="1">
              <a:spcBef>
                <a:spcPct val="0"/>
              </a:spcBef>
            </a:pPr>
            <a:fld id="{F4992D49-1ADE-48EE-97A0-652C34FCD44E}" type="slidenum">
              <a:rPr lang="zh-CN" altLang="en-US" smtClean="0"/>
              <a:pPr eaLnBrk="1" hangingPunct="1">
                <a:spcBef>
                  <a:spcPct val="0"/>
                </a:spcBef>
              </a:pPr>
              <a:t>52</a:t>
            </a:fld>
            <a:endParaRPr lang="en-US" altLang="zh-CN" smtClean="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smtClean="0"/>
          </a:p>
        </p:txBody>
      </p:sp>
    </p:spTree>
    <p:extLst>
      <p:ext uri="{BB962C8B-B14F-4D97-AF65-F5344CB8AC3E}">
        <p14:creationId xmlns:p14="http://schemas.microsoft.com/office/powerpoint/2010/main" val="67117261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LSM-tree maintains multiple levels of sorted data for efficient random data access</a:t>
            </a:r>
            <a:r>
              <a:rPr lang="en-US" altLang="zh-CN" baseline="0" dirty="0" smtClean="0"/>
              <a:t> and range query</a:t>
            </a:r>
          </a:p>
          <a:p>
            <a:r>
              <a:rPr lang="en-US" altLang="zh-CN" baseline="0" dirty="0" smtClean="0"/>
              <a:t>The data size of each level increases exponentially</a:t>
            </a:r>
          </a:p>
          <a:p>
            <a:r>
              <a:rPr lang="en-US" altLang="zh-CN" baseline="0" dirty="0" smtClean="0"/>
              <a:t>The top level is located in memory as a write buffer, and the rest levels are on disks</a:t>
            </a:r>
          </a:p>
          <a:p>
            <a:r>
              <a:rPr lang="en-US" altLang="zh-CN" baseline="0" dirty="0" smtClean="0"/>
              <a:t>All new data are inserted into the write buffer first and then being merged onto on-disk levels in cascade mode(</a:t>
            </a:r>
            <a:r>
              <a:rPr lang="zh-CN" altLang="en-US" baseline="0" dirty="0" smtClean="0"/>
              <a:t>级联模式</a:t>
            </a:r>
            <a:r>
              <a:rPr lang="en-US" altLang="zh-CN" baseline="0" dirty="0" smtClean="0"/>
              <a:t>).</a:t>
            </a:r>
          </a:p>
          <a:p>
            <a:endParaRPr lang="zh-CN" altLang="en-US" dirty="0"/>
          </a:p>
        </p:txBody>
      </p:sp>
      <p:sp>
        <p:nvSpPr>
          <p:cNvPr id="4" name="灯片编号占位符 3"/>
          <p:cNvSpPr>
            <a:spLocks noGrp="1"/>
          </p:cNvSpPr>
          <p:nvPr>
            <p:ph type="sldNum" sz="quarter" idx="10"/>
          </p:nvPr>
        </p:nvSpPr>
        <p:spPr/>
        <p:txBody>
          <a:bodyPr/>
          <a:lstStyle/>
          <a:p>
            <a:fld id="{2F4F727A-7A01-2D4E-8D38-2F7B31955994}" type="slidenum">
              <a:rPr lang="en-US" smtClean="0"/>
              <a:t>53</a:t>
            </a:fld>
            <a:endParaRPr lang="en-US"/>
          </a:p>
        </p:txBody>
      </p:sp>
    </p:spTree>
    <p:extLst>
      <p:ext uri="{BB962C8B-B14F-4D97-AF65-F5344CB8AC3E}">
        <p14:creationId xmlns:p14="http://schemas.microsoft.com/office/powerpoint/2010/main" val="41628936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Insert</a:t>
            </a:r>
            <a:r>
              <a:rPr lang="en-US" altLang="zh-CN" baseline="0" dirty="0" smtClean="0"/>
              <a:t> data into write buffer will not update the data in the read buffer </a:t>
            </a:r>
            <a:endParaRPr lang="zh-CN" altLang="en-US" dirty="0"/>
          </a:p>
        </p:txBody>
      </p:sp>
      <p:sp>
        <p:nvSpPr>
          <p:cNvPr id="4" name="灯片编号占位符 3"/>
          <p:cNvSpPr>
            <a:spLocks noGrp="1"/>
          </p:cNvSpPr>
          <p:nvPr>
            <p:ph type="sldNum" sz="quarter" idx="10"/>
          </p:nvPr>
        </p:nvSpPr>
        <p:spPr/>
        <p:txBody>
          <a:bodyPr/>
          <a:lstStyle/>
          <a:p>
            <a:fld id="{2F4F727A-7A01-2D4E-8D38-2F7B31955994}" type="slidenum">
              <a:rPr lang="en-US" smtClean="0"/>
              <a:t>58</a:t>
            </a:fld>
            <a:endParaRPr lang="en-US"/>
          </a:p>
        </p:txBody>
      </p:sp>
    </p:spTree>
    <p:extLst>
      <p:ext uri="{BB962C8B-B14F-4D97-AF65-F5344CB8AC3E}">
        <p14:creationId xmlns:p14="http://schemas.microsoft.com/office/powerpoint/2010/main" val="38501325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F4F727A-7A01-2D4E-8D38-2F7B31955994}" type="slidenum">
              <a:rPr lang="en-US" smtClean="0"/>
              <a:t>60</a:t>
            </a:fld>
            <a:endParaRPr lang="en-US"/>
          </a:p>
        </p:txBody>
      </p:sp>
    </p:spTree>
    <p:extLst>
      <p:ext uri="{BB962C8B-B14F-4D97-AF65-F5344CB8AC3E}">
        <p14:creationId xmlns:p14="http://schemas.microsoft.com/office/powerpoint/2010/main" val="38433307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In </a:t>
            </a:r>
            <a:r>
              <a:rPr lang="en-US" altLang="zh-CN" smtClean="0"/>
              <a:t>each level, most </a:t>
            </a:r>
            <a:r>
              <a:rPr lang="en-US" altLang="zh-CN" dirty="0" smtClean="0"/>
              <a:t>recently appended data blocks stay,</a:t>
            </a:r>
            <a:r>
              <a:rPr lang="en-US" altLang="zh-CN" baseline="0" dirty="0" smtClean="0"/>
              <a:t> that’s because those data blocks may still being actively loaded into the buffer cache</a:t>
            </a:r>
          </a:p>
          <a:p>
            <a:endParaRPr lang="en-US" altLang="zh-CN" baseline="0" dirty="0" smtClean="0"/>
          </a:p>
          <a:p>
            <a:endParaRPr lang="zh-CN" altLang="en-US" dirty="0"/>
          </a:p>
        </p:txBody>
      </p:sp>
      <p:sp>
        <p:nvSpPr>
          <p:cNvPr id="4" name="灯片编号占位符 3"/>
          <p:cNvSpPr>
            <a:spLocks noGrp="1"/>
          </p:cNvSpPr>
          <p:nvPr>
            <p:ph type="sldNum" sz="quarter" idx="10"/>
          </p:nvPr>
        </p:nvSpPr>
        <p:spPr/>
        <p:txBody>
          <a:bodyPr/>
          <a:lstStyle/>
          <a:p>
            <a:fld id="{2F4F727A-7A01-2D4E-8D38-2F7B31955994}" type="slidenum">
              <a:rPr lang="en-US" smtClean="0"/>
              <a:t>62</a:t>
            </a:fld>
            <a:endParaRPr lang="en-US"/>
          </a:p>
        </p:txBody>
      </p:sp>
    </p:spTree>
    <p:extLst>
      <p:ext uri="{BB962C8B-B14F-4D97-AF65-F5344CB8AC3E}">
        <p14:creationId xmlns:p14="http://schemas.microsoft.com/office/powerpoint/2010/main" val="18432013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Queries</a:t>
            </a:r>
            <a:r>
              <a:rPr lang="en-US" altLang="zh-CN" baseline="0" dirty="0" smtClean="0"/>
              <a:t> are conducted level by level until the last level is reached, or the target key is found</a:t>
            </a:r>
          </a:p>
          <a:p>
            <a:endParaRPr lang="en-US" altLang="zh-CN" baseline="0" dirty="0" smtClean="0"/>
          </a:p>
          <a:p>
            <a:r>
              <a:rPr lang="en-US" altLang="zh-CN" baseline="0" dirty="0" smtClean="0"/>
              <a:t>In traditional LSM-tree, once an on-disk block is found that contain the target key, it will be loaded directly from buffer cache or disk</a:t>
            </a:r>
          </a:p>
          <a:p>
            <a:endParaRPr lang="en-US" altLang="zh-CN" baseline="0" dirty="0" smtClean="0"/>
          </a:p>
          <a:p>
            <a:r>
              <a:rPr lang="en-US" altLang="zh-CN" baseline="0" dirty="0" smtClean="0"/>
              <a:t>In </a:t>
            </a:r>
            <a:r>
              <a:rPr lang="en-US" altLang="zh-CN" baseline="0" dirty="0" err="1" smtClean="0"/>
              <a:t>LSbM</a:t>
            </a:r>
            <a:r>
              <a:rPr lang="en-US" altLang="zh-CN" baseline="0" dirty="0" smtClean="0"/>
              <a:t>-tree, we further check the same level of the compaction buffer to see whether any data block in it contains the target key. If found, serve the read from the compaction buffer other wise, from the underlying LSM-tree.</a:t>
            </a:r>
          </a:p>
          <a:p>
            <a:endParaRPr lang="en-US" altLang="zh-CN" baseline="0" dirty="0" smtClean="0"/>
          </a:p>
          <a:p>
            <a:endParaRPr lang="en-US" altLang="zh-CN" baseline="0" dirty="0" smtClean="0"/>
          </a:p>
        </p:txBody>
      </p:sp>
      <p:sp>
        <p:nvSpPr>
          <p:cNvPr id="4" name="灯片编号占位符 3"/>
          <p:cNvSpPr>
            <a:spLocks noGrp="1"/>
          </p:cNvSpPr>
          <p:nvPr>
            <p:ph type="sldNum" sz="quarter" idx="10"/>
          </p:nvPr>
        </p:nvSpPr>
        <p:spPr/>
        <p:txBody>
          <a:bodyPr/>
          <a:lstStyle/>
          <a:p>
            <a:fld id="{2F4F727A-7A01-2D4E-8D38-2F7B31955994}" type="slidenum">
              <a:rPr lang="en-US" smtClean="0"/>
              <a:t>65</a:t>
            </a:fld>
            <a:endParaRPr lang="en-US"/>
          </a:p>
        </p:txBody>
      </p:sp>
    </p:spTree>
    <p:extLst>
      <p:ext uri="{BB962C8B-B14F-4D97-AF65-F5344CB8AC3E}">
        <p14:creationId xmlns:p14="http://schemas.microsoft.com/office/powerpoint/2010/main" val="137330345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Queries</a:t>
            </a:r>
            <a:r>
              <a:rPr lang="en-US" altLang="zh-CN" baseline="0" dirty="0" smtClean="0"/>
              <a:t> are conducted level by level until the last level is reached, or the target key is found</a:t>
            </a:r>
          </a:p>
          <a:p>
            <a:endParaRPr lang="en-US" altLang="zh-CN" baseline="0" dirty="0" smtClean="0"/>
          </a:p>
          <a:p>
            <a:r>
              <a:rPr lang="en-US" altLang="zh-CN" baseline="0" dirty="0" smtClean="0"/>
              <a:t>In traditional LSM-tree, once an on-disk block is found that contain the target key, it will be loaded directly from buffer cache or disk</a:t>
            </a:r>
          </a:p>
          <a:p>
            <a:endParaRPr lang="en-US" altLang="zh-CN" baseline="0" dirty="0" smtClean="0"/>
          </a:p>
          <a:p>
            <a:r>
              <a:rPr lang="en-US" altLang="zh-CN" baseline="0" dirty="0" smtClean="0"/>
              <a:t>In </a:t>
            </a:r>
            <a:r>
              <a:rPr lang="en-US" altLang="zh-CN" baseline="0" dirty="0" err="1" smtClean="0"/>
              <a:t>LSbM</a:t>
            </a:r>
            <a:r>
              <a:rPr lang="en-US" altLang="zh-CN" baseline="0" dirty="0" smtClean="0"/>
              <a:t>-tree, we further check the same level of the compaction buffer to see whether any data block in it contains the target key. If found, serve the read from the compaction buffer other wise, from the underlying LSM-tree.</a:t>
            </a:r>
          </a:p>
          <a:p>
            <a:endParaRPr lang="en-US" altLang="zh-CN" baseline="0" dirty="0" smtClean="0"/>
          </a:p>
          <a:p>
            <a:endParaRPr lang="en-US" altLang="zh-CN" baseline="0" dirty="0" smtClean="0"/>
          </a:p>
        </p:txBody>
      </p:sp>
      <p:sp>
        <p:nvSpPr>
          <p:cNvPr id="4" name="灯片编号占位符 3"/>
          <p:cNvSpPr>
            <a:spLocks noGrp="1"/>
          </p:cNvSpPr>
          <p:nvPr>
            <p:ph type="sldNum" sz="quarter" idx="10"/>
          </p:nvPr>
        </p:nvSpPr>
        <p:spPr/>
        <p:txBody>
          <a:bodyPr/>
          <a:lstStyle/>
          <a:p>
            <a:fld id="{2F4F727A-7A01-2D4E-8D38-2F7B31955994}" type="slidenum">
              <a:rPr lang="en-US" smtClean="0"/>
              <a:t>66</a:t>
            </a:fld>
            <a:endParaRPr lang="en-US"/>
          </a:p>
        </p:txBody>
      </p:sp>
    </p:spTree>
    <p:extLst>
      <p:ext uri="{BB962C8B-B14F-4D97-AF65-F5344CB8AC3E}">
        <p14:creationId xmlns:p14="http://schemas.microsoft.com/office/powerpoint/2010/main" val="19941965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0646287-A3D6-864A-8D46-815BA6A2B953}" type="slidenum">
              <a:rPr lang="en-US" smtClean="0"/>
              <a:t>68</a:t>
            </a:fld>
            <a:endParaRPr lang="en-US"/>
          </a:p>
        </p:txBody>
      </p:sp>
    </p:spTree>
    <p:extLst>
      <p:ext uri="{BB962C8B-B14F-4D97-AF65-F5344CB8AC3E}">
        <p14:creationId xmlns:p14="http://schemas.microsoft.com/office/powerpoint/2010/main" val="7959885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0646287-A3D6-864A-8D46-815BA6A2B953}" type="slidenum">
              <a:rPr lang="en-US" smtClean="0"/>
              <a:t>69</a:t>
            </a:fld>
            <a:endParaRPr lang="en-US"/>
          </a:p>
        </p:txBody>
      </p:sp>
    </p:spTree>
    <p:extLst>
      <p:ext uri="{BB962C8B-B14F-4D97-AF65-F5344CB8AC3E}">
        <p14:creationId xmlns:p14="http://schemas.microsoft.com/office/powerpoint/2010/main" val="28139090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0646287-A3D6-864A-8D46-815BA6A2B953}" type="slidenum">
              <a:rPr lang="en-US" smtClean="0"/>
              <a:t>70</a:t>
            </a:fld>
            <a:endParaRPr lang="en-US"/>
          </a:p>
        </p:txBody>
      </p:sp>
    </p:spTree>
    <p:extLst>
      <p:ext uri="{BB962C8B-B14F-4D97-AF65-F5344CB8AC3E}">
        <p14:creationId xmlns:p14="http://schemas.microsoft.com/office/powerpoint/2010/main" val="321392923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0646287-A3D6-864A-8D46-815BA6A2B953}" type="slidenum">
              <a:rPr lang="en-US" smtClean="0"/>
              <a:t>71</a:t>
            </a:fld>
            <a:endParaRPr lang="en-US"/>
          </a:p>
        </p:txBody>
      </p:sp>
    </p:spTree>
    <p:extLst>
      <p:ext uri="{BB962C8B-B14F-4D97-AF65-F5344CB8AC3E}">
        <p14:creationId xmlns:p14="http://schemas.microsoft.com/office/powerpoint/2010/main" val="167519973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0646287-A3D6-864A-8D46-815BA6A2B953}" type="slidenum">
              <a:rPr lang="en-US" smtClean="0"/>
              <a:t>72</a:t>
            </a:fld>
            <a:endParaRPr lang="en-US"/>
          </a:p>
        </p:txBody>
      </p:sp>
    </p:spTree>
    <p:extLst>
      <p:ext uri="{BB962C8B-B14F-4D97-AF65-F5344CB8AC3E}">
        <p14:creationId xmlns:p14="http://schemas.microsoft.com/office/powerpoint/2010/main" val="308347467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smtClean="0"/>
          </a:p>
        </p:txBody>
      </p:sp>
      <p:sp>
        <p:nvSpPr>
          <p:cNvPr id="4" name="Slide Number Placeholder 3"/>
          <p:cNvSpPr>
            <a:spLocks noGrp="1"/>
          </p:cNvSpPr>
          <p:nvPr>
            <p:ph type="sldNum" sz="quarter" idx="10"/>
          </p:nvPr>
        </p:nvSpPr>
        <p:spPr/>
        <p:txBody>
          <a:bodyPr/>
          <a:lstStyle/>
          <a:p>
            <a:fld id="{70646287-A3D6-864A-8D46-815BA6A2B953}" type="slidenum">
              <a:rPr lang="en-US" smtClean="0"/>
              <a:t>74</a:t>
            </a:fld>
            <a:endParaRPr lang="en-US"/>
          </a:p>
        </p:txBody>
      </p:sp>
    </p:spTree>
    <p:extLst>
      <p:ext uri="{BB962C8B-B14F-4D97-AF65-F5344CB8AC3E}">
        <p14:creationId xmlns:p14="http://schemas.microsoft.com/office/powerpoint/2010/main" val="99423963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0646287-A3D6-864A-8D46-815BA6A2B953}" type="slidenum">
              <a:rPr lang="en-US" smtClean="0"/>
              <a:t>75</a:t>
            </a:fld>
            <a:endParaRPr lang="en-US"/>
          </a:p>
        </p:txBody>
      </p:sp>
    </p:spTree>
    <p:extLst>
      <p:ext uri="{BB962C8B-B14F-4D97-AF65-F5344CB8AC3E}">
        <p14:creationId xmlns:p14="http://schemas.microsoft.com/office/powerpoint/2010/main" val="306455838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p:spPr>
      </p:sp>
      <p:sp>
        <p:nvSpPr>
          <p:cNvPr id="14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14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D847793-584C-4834-83E6-9BFBC3CF3DCB}" type="slidenum">
              <a:rPr lang="zh-CN" altLang="en-US">
                <a:cs typeface="仿宋_GB2312" panose="02010609030101010101" pitchFamily="49" charset="-122"/>
              </a:rPr>
              <a:pPr>
                <a:spcBef>
                  <a:spcPct val="0"/>
                </a:spcBef>
              </a:pPr>
              <a:t>77</a:t>
            </a:fld>
            <a:endParaRPr lang="zh-CN" altLang="en-US">
              <a:cs typeface="仿宋_GB2312" panose="02010609030101010101" pitchFamily="49" charset="-122"/>
            </a:endParaRPr>
          </a:p>
        </p:txBody>
      </p:sp>
    </p:spTree>
    <p:extLst>
      <p:ext uri="{BB962C8B-B14F-4D97-AF65-F5344CB8AC3E}">
        <p14:creationId xmlns:p14="http://schemas.microsoft.com/office/powerpoint/2010/main" val="323075738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latin typeface="Arial" panose="020B0604020202020204" pitchFamily="34" charset="0"/>
              </a:rPr>
              <a:t>We identified three critical issues blocking us from effectively and efficiently exploiting SSD’s great performance</a:t>
            </a:r>
          </a:p>
          <a:p>
            <a:endParaRPr lang="en-US" altLang="en-US" smtClean="0">
              <a:latin typeface="Arial" panose="020B0604020202020204" pitchFamily="34" charset="0"/>
            </a:endParaRPr>
          </a:p>
          <a:p>
            <a:r>
              <a:rPr lang="en-US" altLang="en-US" smtClean="0">
                <a:latin typeface="Arial" panose="020B0604020202020204" pitchFamily="34" charset="0"/>
              </a:rPr>
              <a:t>We lack insights into the internal structures of SSDs, which makes performance dynamics. We don’t know how and why they could happen. </a:t>
            </a:r>
          </a:p>
          <a:p>
            <a:endParaRPr lang="en-US" altLang="en-US" smtClean="0">
              <a:latin typeface="Arial" panose="020B0604020202020204" pitchFamily="34" charset="0"/>
            </a:endParaRPr>
          </a:p>
          <a:p>
            <a:r>
              <a:rPr lang="en-US" altLang="en-US" smtClean="0">
                <a:latin typeface="Arial" panose="020B0604020202020204" pitchFamily="34" charset="0"/>
              </a:rPr>
              <a:t>In a practical system, high price and limited capacity of SSDs makes a full-ssd solution unaffordable.</a:t>
            </a:r>
          </a:p>
          <a:p>
            <a:endParaRPr lang="en-US" altLang="en-US" smtClean="0">
              <a:latin typeface="Arial" panose="020B0604020202020204" pitchFamily="34" charset="0"/>
            </a:endParaRPr>
          </a:p>
          <a:p>
            <a:r>
              <a:rPr lang="en-US" altLang="en-US" smtClean="0">
                <a:latin typeface="Arial" panose="020B0604020202020204" pitchFamily="34" charset="0"/>
              </a:rPr>
              <a:t>A hidden resource in SSD is the internal parallelism of SSDs, without an effective solution to exploit it, we will leave resource underutilized greatly. </a:t>
            </a:r>
          </a:p>
          <a:p>
            <a:endParaRPr lang="en-US" altLang="en-US" smtClean="0">
              <a:latin typeface="Arial" panose="020B0604020202020204" pitchFamily="34" charset="0"/>
            </a:endParaRPr>
          </a:p>
        </p:txBody>
      </p:sp>
      <p:sp>
        <p:nvSpPr>
          <p:cNvPr id="317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66A9C78-7087-426A-B6B2-250E63B84F9B}" type="slidenum">
              <a:rPr lang="zh-CN" altLang="en-US">
                <a:cs typeface="仿宋_GB2312" panose="02010609030101010101" pitchFamily="49" charset="-122"/>
              </a:rPr>
              <a:pPr>
                <a:spcBef>
                  <a:spcPct val="0"/>
                </a:spcBef>
              </a:pPr>
              <a:t>80</a:t>
            </a:fld>
            <a:endParaRPr lang="zh-CN" altLang="en-US">
              <a:cs typeface="仿宋_GB2312" panose="02010609030101010101" pitchFamily="49" charset="-122"/>
            </a:endParaRPr>
          </a:p>
        </p:txBody>
      </p:sp>
    </p:spTree>
    <p:extLst>
      <p:ext uri="{BB962C8B-B14F-4D97-AF65-F5344CB8AC3E}">
        <p14:creationId xmlns:p14="http://schemas.microsoft.com/office/powerpoint/2010/main" val="302265865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latin typeface="Arial" panose="020B0604020202020204" pitchFamily="34" charset="0"/>
              </a:rPr>
              <a:t>We identified three critical issues blocking us from effectively and efficiently exploiting SSD’s great performance</a:t>
            </a:r>
          </a:p>
          <a:p>
            <a:endParaRPr lang="en-US" altLang="en-US" smtClean="0">
              <a:latin typeface="Arial" panose="020B0604020202020204" pitchFamily="34" charset="0"/>
            </a:endParaRPr>
          </a:p>
          <a:p>
            <a:r>
              <a:rPr lang="en-US" altLang="en-US" smtClean="0">
                <a:latin typeface="Arial" panose="020B0604020202020204" pitchFamily="34" charset="0"/>
              </a:rPr>
              <a:t>We lack insights into the internal structures of SSDs, which makes performance dynamics. We don’t know how and why they could happen. </a:t>
            </a:r>
          </a:p>
          <a:p>
            <a:endParaRPr lang="en-US" altLang="en-US" smtClean="0">
              <a:latin typeface="Arial" panose="020B0604020202020204" pitchFamily="34" charset="0"/>
            </a:endParaRPr>
          </a:p>
          <a:p>
            <a:r>
              <a:rPr lang="en-US" altLang="en-US" smtClean="0">
                <a:latin typeface="Arial" panose="020B0604020202020204" pitchFamily="34" charset="0"/>
              </a:rPr>
              <a:t>In a practical system, high price and limited capacity of SSDs makes a full-ssd solution unaffordable.</a:t>
            </a:r>
          </a:p>
          <a:p>
            <a:endParaRPr lang="en-US" altLang="en-US" smtClean="0">
              <a:latin typeface="Arial" panose="020B0604020202020204" pitchFamily="34" charset="0"/>
            </a:endParaRPr>
          </a:p>
          <a:p>
            <a:r>
              <a:rPr lang="en-US" altLang="en-US" smtClean="0">
                <a:latin typeface="Arial" panose="020B0604020202020204" pitchFamily="34" charset="0"/>
              </a:rPr>
              <a:t>A hidden resource in SSD is the internal parallelism of SSDs, without an effective solution to exploit it, we will leave resource underutilized greatly. </a:t>
            </a:r>
          </a:p>
          <a:p>
            <a:endParaRPr lang="en-US" altLang="en-US" smtClean="0">
              <a:latin typeface="Arial" panose="020B0604020202020204" pitchFamily="34" charset="0"/>
            </a:endParaRPr>
          </a:p>
        </p:txBody>
      </p:sp>
      <p:sp>
        <p:nvSpPr>
          <p:cNvPr id="348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2FF9371-F547-47F3-ACD0-B5C887D461ED}" type="slidenum">
              <a:rPr lang="zh-CN" altLang="en-US">
                <a:cs typeface="仿宋_GB2312" panose="02010609030101010101" pitchFamily="49" charset="-122"/>
              </a:rPr>
              <a:pPr>
                <a:spcBef>
                  <a:spcPct val="0"/>
                </a:spcBef>
              </a:pPr>
              <a:t>82</a:t>
            </a:fld>
            <a:endParaRPr lang="zh-CN" altLang="en-US">
              <a:cs typeface="仿宋_GB2312" panose="02010609030101010101" pitchFamily="49" charset="-122"/>
            </a:endParaRPr>
          </a:p>
        </p:txBody>
      </p:sp>
    </p:spTree>
    <p:extLst>
      <p:ext uri="{BB962C8B-B14F-4D97-AF65-F5344CB8AC3E}">
        <p14:creationId xmlns:p14="http://schemas.microsoft.com/office/powerpoint/2010/main" val="380834167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latin typeface="Arial" panose="020B0604020202020204" pitchFamily="34" charset="0"/>
              </a:rPr>
              <a:t>To address the three critical issues, we are building a system framework to integrate the SSDs into the existing storage systems with three major system solutions. </a:t>
            </a:r>
          </a:p>
          <a:p>
            <a:endParaRPr lang="en-US" altLang="en-US" smtClean="0">
              <a:latin typeface="Arial" panose="020B0604020202020204" pitchFamily="34" charset="0"/>
            </a:endParaRPr>
          </a:p>
          <a:p>
            <a:r>
              <a:rPr lang="en-US" altLang="en-US" smtClean="0">
                <a:latin typeface="Arial" panose="020B0604020202020204" pitchFamily="34" charset="0"/>
              </a:rPr>
              <a:t>First, we present a set of experimental techniques to detect the internal structures of SSD, which facilitates(</a:t>
            </a:r>
            <a:r>
              <a:rPr lang="zh-CN" altLang="en-US" smtClean="0">
                <a:latin typeface="Arial" panose="020B0604020202020204" pitchFamily="34" charset="0"/>
              </a:rPr>
              <a:t>促进，帮助</a:t>
            </a:r>
            <a:r>
              <a:rPr lang="en-US" altLang="en-US" smtClean="0">
                <a:latin typeface="Arial" panose="020B0604020202020204" pitchFamily="34" charset="0"/>
              </a:rPr>
              <a:t>) our insightful understanding about SSD performance, and explains the performance dynamics. </a:t>
            </a:r>
          </a:p>
          <a:p>
            <a:endParaRPr lang="en-US" altLang="en-US" smtClean="0">
              <a:latin typeface="Arial" panose="020B0604020202020204" pitchFamily="34" charset="0"/>
            </a:endParaRPr>
          </a:p>
          <a:p>
            <a:r>
              <a:rPr lang="en-US" altLang="en-US" smtClean="0">
                <a:latin typeface="Arial" panose="020B0604020202020204" pitchFamily="34" charset="0"/>
              </a:rPr>
              <a:t>Second, we designed and implemented a cost-efficient hybrid storage system to make deliver SSD performance at HDD cost. </a:t>
            </a:r>
          </a:p>
          <a:p>
            <a:endParaRPr lang="en-US" altLang="en-US" smtClean="0">
              <a:latin typeface="Arial" panose="020B0604020202020204" pitchFamily="34" charset="0"/>
            </a:endParaRPr>
          </a:p>
          <a:p>
            <a:r>
              <a:rPr lang="en-US" altLang="en-US" smtClean="0">
                <a:latin typeface="Arial" panose="020B0604020202020204" pitchFamily="34" charset="0"/>
              </a:rPr>
              <a:t>Third, we </a:t>
            </a:r>
          </a:p>
          <a:p>
            <a:endParaRPr lang="en-US" altLang="en-US" smtClean="0">
              <a:latin typeface="Arial" panose="020B0604020202020204" pitchFamily="34" charset="0"/>
            </a:endParaRPr>
          </a:p>
          <a:p>
            <a:endParaRPr lang="en-US" altLang="en-US" smtClean="0">
              <a:latin typeface="Arial" panose="020B0604020202020204" pitchFamily="34" charset="0"/>
            </a:endParaRPr>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96ED02F-095D-4CD0-A985-04AB8BF8FD9C}" type="slidenum">
              <a:rPr lang="zh-CN" altLang="en-US">
                <a:cs typeface="仿宋_GB2312" panose="02010609030101010101" pitchFamily="49" charset="-122"/>
              </a:rPr>
              <a:pPr>
                <a:spcBef>
                  <a:spcPct val="0"/>
                </a:spcBef>
              </a:pPr>
              <a:t>83</a:t>
            </a:fld>
            <a:endParaRPr lang="zh-CN" altLang="en-US">
              <a:cs typeface="仿宋_GB2312" panose="02010609030101010101" pitchFamily="49" charset="-122"/>
            </a:endParaRPr>
          </a:p>
        </p:txBody>
      </p:sp>
    </p:spTree>
    <p:extLst>
      <p:ext uri="{BB962C8B-B14F-4D97-AF65-F5344CB8AC3E}">
        <p14:creationId xmlns:p14="http://schemas.microsoft.com/office/powerpoint/2010/main" val="38460297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p:spPr>
      </p:sp>
      <p:sp>
        <p:nvSpPr>
          <p:cNvPr id="460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latin typeface="Arial" panose="020B0604020202020204" pitchFamily="34" charset="0"/>
              </a:rPr>
              <a:t>ECC = error correction code. Read/Write (starting LBA address, plus the offset size of blocks).  </a:t>
            </a:r>
          </a:p>
          <a:p>
            <a:r>
              <a:rPr lang="en-US" altLang="en-US" smtClean="0">
                <a:latin typeface="Arial" panose="020B0604020202020204" pitchFamily="34" charset="0"/>
              </a:rPr>
              <a:t>On the fly </a:t>
            </a:r>
            <a:r>
              <a:rPr lang="zh-CN" altLang="en-US" smtClean="0">
                <a:latin typeface="Arial" panose="020B0604020202020204" pitchFamily="34" charset="0"/>
              </a:rPr>
              <a:t>飞速写入</a:t>
            </a:r>
            <a:endParaRPr lang="en-US" altLang="en-US" smtClean="0">
              <a:latin typeface="Arial" panose="020B0604020202020204" pitchFamily="34" charset="0"/>
            </a:endParaRPr>
          </a:p>
        </p:txBody>
      </p:sp>
      <p:sp>
        <p:nvSpPr>
          <p:cNvPr id="460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2729A26-1D89-43D4-A5A5-629FB5EBCD02}" type="slidenum">
              <a:rPr lang="zh-CN" altLang="en-US">
                <a:cs typeface="仿宋_GB2312" panose="02010609030101010101" pitchFamily="49" charset="-122"/>
              </a:rPr>
              <a:pPr>
                <a:spcBef>
                  <a:spcPct val="0"/>
                </a:spcBef>
              </a:pPr>
              <a:t>86</a:t>
            </a:fld>
            <a:endParaRPr lang="zh-CN" altLang="en-US">
              <a:cs typeface="仿宋_GB2312" panose="02010609030101010101" pitchFamily="49" charset="-122"/>
            </a:endParaRPr>
          </a:p>
        </p:txBody>
      </p:sp>
    </p:spTree>
    <p:extLst>
      <p:ext uri="{BB962C8B-B14F-4D97-AF65-F5344CB8AC3E}">
        <p14:creationId xmlns:p14="http://schemas.microsoft.com/office/powerpoint/2010/main" val="219007087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latin typeface="Arial" panose="020B0604020202020204" pitchFamily="34" charset="0"/>
              </a:rPr>
              <a:t>Domain: a group of chips connects together as one unit to share internal resources. </a:t>
            </a:r>
          </a:p>
          <a:p>
            <a:r>
              <a:rPr lang="en-US" altLang="en-US" smtClean="0">
                <a:latin typeface="Arial" panose="020B0604020202020204" pitchFamily="34" charset="0"/>
              </a:rPr>
              <a:t>Chuck: </a:t>
            </a:r>
          </a:p>
        </p:txBody>
      </p:sp>
      <p:sp>
        <p:nvSpPr>
          <p:cNvPr id="512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DFA8A4B-0BB0-4119-8C3E-0E619290327A}" type="slidenum">
              <a:rPr lang="zh-CN" altLang="en-US">
                <a:cs typeface="仿宋_GB2312" panose="02010609030101010101" pitchFamily="49" charset="-122"/>
              </a:rPr>
              <a:pPr>
                <a:spcBef>
                  <a:spcPct val="0"/>
                </a:spcBef>
              </a:pPr>
              <a:t>89</a:t>
            </a:fld>
            <a:endParaRPr lang="zh-CN" altLang="en-US">
              <a:cs typeface="仿宋_GB2312" panose="02010609030101010101" pitchFamily="49" charset="-122"/>
            </a:endParaRPr>
          </a:p>
        </p:txBody>
      </p:sp>
    </p:spTree>
    <p:extLst>
      <p:ext uri="{BB962C8B-B14F-4D97-AF65-F5344CB8AC3E}">
        <p14:creationId xmlns:p14="http://schemas.microsoft.com/office/powerpoint/2010/main" val="245833101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latin typeface="Arial" panose="020B0604020202020204" pitchFamily="34" charset="0"/>
              </a:rPr>
              <a:t>Advantages: </a:t>
            </a:r>
          </a:p>
          <a:p>
            <a:r>
              <a:rPr lang="en-US" altLang="en-US" smtClean="0">
                <a:latin typeface="Arial" panose="020B0604020202020204" pitchFamily="34" charset="0"/>
              </a:rPr>
              <a:t>(1) for random accessed blocks in terms of LBAs, they will be evenly distributed among the flash chips. </a:t>
            </a:r>
          </a:p>
          <a:p>
            <a:r>
              <a:rPr lang="en-US" altLang="en-US" smtClean="0">
                <a:latin typeface="Arial" panose="020B0604020202020204" pitchFamily="34" charset="0"/>
              </a:rPr>
              <a:t>(2)  Fully utilize the parallelism, and evenly use the cells. </a:t>
            </a:r>
          </a:p>
        </p:txBody>
      </p:sp>
      <p:sp>
        <p:nvSpPr>
          <p:cNvPr id="542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0E66069-59EF-45DA-9E75-B04D581FF2AD}" type="slidenum">
              <a:rPr lang="zh-CN" altLang="en-US">
                <a:cs typeface="仿宋_GB2312" panose="02010609030101010101" pitchFamily="49" charset="-122"/>
              </a:rPr>
              <a:pPr>
                <a:spcBef>
                  <a:spcPct val="0"/>
                </a:spcBef>
              </a:pPr>
              <a:t>91</a:t>
            </a:fld>
            <a:endParaRPr lang="zh-CN" altLang="en-US">
              <a:cs typeface="仿宋_GB2312" panose="02010609030101010101" pitchFamily="49" charset="-122"/>
            </a:endParaRPr>
          </a:p>
        </p:txBody>
      </p:sp>
    </p:spTree>
    <p:extLst>
      <p:ext uri="{BB962C8B-B14F-4D97-AF65-F5344CB8AC3E}">
        <p14:creationId xmlns:p14="http://schemas.microsoft.com/office/powerpoint/2010/main" val="416173204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latin typeface="Arial" panose="020B0604020202020204" pitchFamily="34" charset="0"/>
              </a:rPr>
              <a:t>Now we leverage the two facts to detect if LBN-based mapping is used in Intel x25-E ssd.</a:t>
            </a:r>
          </a:p>
        </p:txBody>
      </p:sp>
      <p:sp>
        <p:nvSpPr>
          <p:cNvPr id="573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9F853CF-6EAB-4DAF-9360-DD9FE243E948}" type="slidenum">
              <a:rPr lang="zh-CN" altLang="en-US">
                <a:cs typeface="仿宋_GB2312" panose="02010609030101010101" pitchFamily="49" charset="-122"/>
              </a:rPr>
              <a:pPr>
                <a:spcBef>
                  <a:spcPct val="0"/>
                </a:spcBef>
              </a:pPr>
              <a:t>93</a:t>
            </a:fld>
            <a:endParaRPr lang="zh-CN" altLang="en-US">
              <a:cs typeface="仿宋_GB2312" panose="02010609030101010101" pitchFamily="49" charset="-122"/>
            </a:endParaRPr>
          </a:p>
        </p:txBody>
      </p:sp>
    </p:spTree>
    <p:extLst>
      <p:ext uri="{BB962C8B-B14F-4D97-AF65-F5344CB8AC3E}">
        <p14:creationId xmlns:p14="http://schemas.microsoft.com/office/powerpoint/2010/main" val="370167229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5080380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18" name="Rectangle 9"/>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14:hiddenLine>
            </a:ext>
          </a:extLst>
        </p:spPr>
        <p:txBody>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9pPr>
          </a:lstStyle>
          <a:p>
            <a:pPr eaLnBrk="1" hangingPunct="1"/>
            <a:fld id="{5C2914B7-2629-43B4-B629-CA08FEEA3355}" type="slidenum">
              <a:rPr lang="en-US" altLang="zh-CN">
                <a:solidFill>
                  <a:srgbClr val="000000"/>
                </a:solidFill>
              </a:rPr>
              <a:t>100</a:t>
            </a:fld>
            <a:endParaRPr lang="en-US" altLang="zh-CN">
              <a:solidFill>
                <a:srgbClr val="000000"/>
              </a:solidFill>
            </a:endParaRPr>
          </a:p>
        </p:txBody>
      </p:sp>
      <p:sp>
        <p:nvSpPr>
          <p:cNvPr id="34819" name="Text Box 1"/>
          <p:cNvSpPr txBox="1">
            <a:spLocks noChangeArrowheads="1"/>
          </p:cNvSpPr>
          <p:nvPr/>
        </p:nvSpPr>
        <p:spPr bwMode="auto">
          <a:xfrm>
            <a:off x="3884613" y="8685213"/>
            <a:ext cx="2968625"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9pPr>
          </a:lstStyle>
          <a:p>
            <a:pPr algn="r" defTabSz="457200" eaLnBrk="1" fontAlgn="base" hangingPunct="1">
              <a:spcBef>
                <a:spcPct val="0"/>
              </a:spcBef>
              <a:spcAft>
                <a:spcPct val="0"/>
              </a:spcAft>
              <a:buSzPct val="100000"/>
            </a:pPr>
            <a:fld id="{D8591A12-FA87-4748-BE66-B1F3FA81CC0C}" type="slidenum">
              <a:rPr lang="en-US" altLang="zh-CN" sz="1200">
                <a:solidFill>
                  <a:srgbClr val="000000"/>
                </a:solidFill>
              </a:rPr>
              <a:t>100</a:t>
            </a:fld>
            <a:endParaRPr lang="en-US" altLang="zh-CN" sz="1200">
              <a:solidFill>
                <a:srgbClr val="000000"/>
              </a:solidFill>
            </a:endParaRPr>
          </a:p>
        </p:txBody>
      </p:sp>
      <p:sp>
        <p:nvSpPr>
          <p:cNvPr id="34820" name="Rectangle 2"/>
          <p:cNvSpPr>
            <a:spLocks noGrp="1" noRot="1" noChangeAspect="1" noChangeArrowheads="1" noTextEdit="1"/>
          </p:cNvSpPr>
          <p:nvPr>
            <p:ph type="sldImg"/>
          </p:nvPr>
        </p:nvSpPr>
        <p:spPr>
          <a:xfrm>
            <a:off x="1143000" y="685800"/>
            <a:ext cx="4572000" cy="3429000"/>
          </a:xfrm>
          <a:solidFill>
            <a:srgbClr val="FFFFFF"/>
          </a:solidFill>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821" name="Text Box 3"/>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457200" fontAlgn="base">
              <a:spcBef>
                <a:spcPct val="0"/>
              </a:spcBef>
              <a:spcAft>
                <a:spcPct val="0"/>
              </a:spcAft>
              <a:buClr>
                <a:srgbClr val="000000"/>
              </a:buClr>
              <a:buSzPct val="100000"/>
              <a:buFont typeface="Times New Roman" panose="02020603050405020304" pitchFamily="16" charset="0"/>
              <a:buNone/>
            </a:pPr>
            <a:endParaRPr lang="zh-CN" altLang="en-US">
              <a:solidFill>
                <a:srgbClr val="FFFFFF"/>
              </a:solidFill>
              <a:latin typeface="Arial" panose="020B0604020202020204" pitchFamily="34" charset="0"/>
            </a:endParaRPr>
          </a:p>
        </p:txBody>
      </p:sp>
    </p:spTree>
    <p:extLst>
      <p:ext uri="{BB962C8B-B14F-4D97-AF65-F5344CB8AC3E}">
        <p14:creationId xmlns:p14="http://schemas.microsoft.com/office/powerpoint/2010/main" val="33442629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7"/>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smtClean="0"/>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2"/>
            <a:ext cx="7772400" cy="1362075"/>
          </a:xfr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1" y="1600200"/>
            <a:ext cx="4035425" cy="4521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5025" y="1600200"/>
            <a:ext cx="4037013" cy="4521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50"/>
            <a:ext cx="3008313" cy="1162050"/>
          </a:xfr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6225" y="274638"/>
            <a:ext cx="2055813" cy="584676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1" y="274638"/>
            <a:ext cx="6016625" cy="5846762"/>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9812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41148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4"/>
          <p:cNvSpPr>
            <a:spLocks noGrp="1" noChangeArrowheads="1"/>
          </p:cNvSpPr>
          <p:nvPr>
            <p:ph type="dt" sz="half" idx="10"/>
          </p:nvPr>
        </p:nvSpPr>
        <p:spPr>
          <a:xfrm>
            <a:off x="457200" y="6245225"/>
            <a:ext cx="2133600" cy="476250"/>
          </a:xfrm>
          <a:prstGeom prst="rect">
            <a:avLst/>
          </a:prstGeom>
        </p:spPr>
        <p:txBody>
          <a:bodyPr/>
          <a:lstStyle>
            <a:lvl1pPr>
              <a:defRPr/>
            </a:lvl1pPr>
          </a:lstStyle>
          <a:p>
            <a:pPr>
              <a:defRPr/>
            </a:pPr>
            <a:endParaRPr lang="en-US" altLang="en-US"/>
          </a:p>
        </p:txBody>
      </p:sp>
      <p:sp>
        <p:nvSpPr>
          <p:cNvPr id="7"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pPr>
              <a:defRPr/>
            </a:pPr>
            <a:endParaRPr lang="en-US" altLang="en-US"/>
          </a:p>
        </p:txBody>
      </p:sp>
      <p:sp>
        <p:nvSpPr>
          <p:cNvPr id="8" name="Rectangle 6"/>
          <p:cNvSpPr>
            <a:spLocks noGrp="1" noChangeArrowheads="1"/>
          </p:cNvSpPr>
          <p:nvPr>
            <p:ph type="sldNum" sz="quarter" idx="12"/>
          </p:nvPr>
        </p:nvSpPr>
        <p:spPr>
          <a:xfrm>
            <a:off x="6553200" y="6245225"/>
            <a:ext cx="2133600" cy="476250"/>
          </a:xfrm>
          <a:prstGeom prst="rect">
            <a:avLst/>
          </a:prstGeom>
        </p:spPr>
        <p:txBody>
          <a:bodyPr/>
          <a:lstStyle>
            <a:lvl1pPr>
              <a:defRPr/>
            </a:lvl1pPr>
          </a:lstStyle>
          <a:p>
            <a:pPr>
              <a:defRPr/>
            </a:pPr>
            <a:fld id="{9479BD1C-F1DE-44E0-893C-35C04862A2FE}" type="slidenum">
              <a:rPr lang="en-US" altLang="en-US"/>
              <a:pPr>
                <a:defRPr/>
              </a:pPr>
              <a:t>‹#›</a:t>
            </a:fld>
            <a:endParaRPr lang="en-US" altLang="en-US"/>
          </a:p>
        </p:txBody>
      </p:sp>
    </p:spTree>
    <p:extLst>
      <p:ext uri="{BB962C8B-B14F-4D97-AF65-F5344CB8AC3E}">
        <p14:creationId xmlns:p14="http://schemas.microsoft.com/office/powerpoint/2010/main" val="27028892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6"/>
          <p:cNvSpPr>
            <a:spLocks noGrp="1" noChangeArrowheads="1"/>
          </p:cNvSpPr>
          <p:nvPr>
            <p:ph type="dt" sz="half" idx="10"/>
          </p:nvPr>
        </p:nvSpPr>
        <p:spPr>
          <a:xfrm>
            <a:off x="457200" y="6245225"/>
            <a:ext cx="2133600" cy="476250"/>
          </a:xfrm>
          <a:prstGeom prst="rect">
            <a:avLst/>
          </a:prstGeom>
        </p:spPr>
        <p:txBody>
          <a:bodyPr/>
          <a:lstStyle>
            <a:lvl1pPr>
              <a:defRPr/>
            </a:lvl1pPr>
          </a:lstStyle>
          <a:p>
            <a:pPr>
              <a:defRPr/>
            </a:pPr>
            <a:endParaRPr lang="en-US" altLang="en-US"/>
          </a:p>
        </p:txBody>
      </p:sp>
      <p:sp>
        <p:nvSpPr>
          <p:cNvPr id="6" name="Rectangle 7"/>
          <p:cNvSpPr>
            <a:spLocks noGrp="1" noChangeArrowheads="1"/>
          </p:cNvSpPr>
          <p:nvPr>
            <p:ph type="ftr" sz="quarter" idx="11"/>
          </p:nvPr>
        </p:nvSpPr>
        <p:spPr>
          <a:xfrm>
            <a:off x="3124200" y="6245225"/>
            <a:ext cx="2895600" cy="476250"/>
          </a:xfrm>
          <a:prstGeom prst="rect">
            <a:avLst/>
          </a:prstGeom>
        </p:spPr>
        <p:txBody>
          <a:bodyPr/>
          <a:lstStyle>
            <a:lvl1pPr>
              <a:defRPr/>
            </a:lvl1pPr>
          </a:lstStyle>
          <a:p>
            <a:pPr>
              <a:defRPr/>
            </a:pPr>
            <a:endParaRPr lang="en-US" altLang="en-US"/>
          </a:p>
        </p:txBody>
      </p:sp>
      <p:sp>
        <p:nvSpPr>
          <p:cNvPr id="7" name="Rectangle 8"/>
          <p:cNvSpPr>
            <a:spLocks noGrp="1" noChangeArrowheads="1"/>
          </p:cNvSpPr>
          <p:nvPr>
            <p:ph type="sldNum" sz="quarter" idx="12"/>
          </p:nvPr>
        </p:nvSpPr>
        <p:spPr>
          <a:xfrm>
            <a:off x="6553200" y="6245225"/>
            <a:ext cx="2133600" cy="476250"/>
          </a:xfrm>
          <a:prstGeom prst="rect">
            <a:avLst/>
          </a:prstGeom>
        </p:spPr>
        <p:txBody>
          <a:bodyPr/>
          <a:lstStyle>
            <a:lvl1pPr>
              <a:defRPr/>
            </a:lvl1pPr>
          </a:lstStyle>
          <a:p>
            <a:pPr>
              <a:defRPr/>
            </a:pPr>
            <a:fld id="{BC6F87A6-CAEA-4D7C-A0F4-550F6570C90C}" type="slidenum">
              <a:rPr lang="en-US" altLang="en-US"/>
              <a:pPr>
                <a:defRPr/>
              </a:pPr>
              <a:t>‹#›</a:t>
            </a:fld>
            <a:endParaRPr lang="en-US" altLang="en-US"/>
          </a:p>
        </p:txBody>
      </p:sp>
    </p:spTree>
    <p:extLst>
      <p:ext uri="{BB962C8B-B14F-4D97-AF65-F5344CB8AC3E}">
        <p14:creationId xmlns:p14="http://schemas.microsoft.com/office/powerpoint/2010/main" val="27580685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Rectangle 4"/>
          <p:cNvSpPr>
            <a:spLocks noGrp="1" noChangeArrowheads="1"/>
          </p:cNvSpPr>
          <p:nvPr>
            <p:ph type="dt" sz="half" idx="10"/>
          </p:nvPr>
        </p:nvSpPr>
        <p:spPr>
          <a:xfrm>
            <a:off x="457200" y="6245225"/>
            <a:ext cx="2133600" cy="476250"/>
          </a:xfrm>
          <a:prstGeom prst="rect">
            <a:avLst/>
          </a:prstGeom>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xfrm>
            <a:off x="6553200" y="6245225"/>
            <a:ext cx="2133600" cy="476250"/>
          </a:xfrm>
          <a:prstGeom prst="rect">
            <a:avLst/>
          </a:prstGeom>
        </p:spPr>
        <p:txBody>
          <a:bodyPr/>
          <a:lstStyle>
            <a:lvl1pPr>
              <a:defRPr/>
            </a:lvl1pPr>
          </a:lstStyle>
          <a:p>
            <a:pPr>
              <a:defRPr/>
            </a:pPr>
            <a:fld id="{668A84BB-7CC7-46C3-9947-870AB3CBCA8B}" type="slidenum">
              <a:rPr lang="zh-CN" altLang="en-US"/>
              <a:pPr>
                <a:defRPr/>
              </a:pPr>
              <a:t>‹#›</a:t>
            </a:fld>
            <a:endParaRPr lang="en-US" altLang="zh-CN"/>
          </a:p>
        </p:txBody>
      </p:sp>
    </p:spTree>
    <p:extLst>
      <p:ext uri="{BB962C8B-B14F-4D97-AF65-F5344CB8AC3E}">
        <p14:creationId xmlns:p14="http://schemas.microsoft.com/office/powerpoint/2010/main" val="2577655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tile tx="0" ty="0" sx="100000" sy="100000" flip="none" algn="ctr"/>
        </a:blipFill>
        <a:effectLst/>
      </p:bgPr>
    </p:bg>
    <p:spTree>
      <p:nvGrpSpPr>
        <p:cNvPr id="1" name=""/>
        <p:cNvGrpSpPr/>
        <p:nvPr/>
      </p:nvGrpSpPr>
      <p:grpSpPr>
        <a:xfrm>
          <a:off x="0" y="0"/>
          <a:ext cx="0" cy="0"/>
          <a:chOff x="0" y="0"/>
          <a:chExt cx="0" cy="0"/>
        </a:xfrm>
      </p:grpSpPr>
      <p:sp>
        <p:nvSpPr>
          <p:cNvPr id="1026" name="Rectangle 1"/>
          <p:cNvSpPr>
            <a:spLocks noGrp="1" noChangeArrowheads="1"/>
          </p:cNvSpPr>
          <p:nvPr>
            <p:ph type="title"/>
          </p:nvPr>
        </p:nvSpPr>
        <p:spPr bwMode="auto">
          <a:xfrm>
            <a:off x="457201" y="274640"/>
            <a:ext cx="8224838" cy="1138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lstStyle/>
          <a:p>
            <a:pPr lvl="0"/>
            <a:r>
              <a:rPr lang="en-GB" altLang="zh-CN" smtClean="0"/>
              <a:t>Click to edit the title text format</a:t>
            </a:r>
          </a:p>
        </p:txBody>
      </p:sp>
      <p:sp>
        <p:nvSpPr>
          <p:cNvPr id="1027" name="Rectangle 2"/>
          <p:cNvSpPr>
            <a:spLocks noGrp="1" noChangeArrowheads="1"/>
          </p:cNvSpPr>
          <p:nvPr>
            <p:ph type="body" idx="1"/>
          </p:nvPr>
        </p:nvSpPr>
        <p:spPr bwMode="auto">
          <a:xfrm>
            <a:off x="457201" y="1600200"/>
            <a:ext cx="8224838" cy="452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lstStyle/>
          <a:p>
            <a:pPr lvl="0"/>
            <a:r>
              <a:rPr lang="en-GB" altLang="zh-CN" smtClean="0"/>
              <a:t>Click to edit the outline text format</a:t>
            </a:r>
          </a:p>
          <a:p>
            <a:pPr lvl="1"/>
            <a:r>
              <a:rPr lang="en-GB" altLang="zh-CN" smtClean="0"/>
              <a:t>Second Outline Level</a:t>
            </a:r>
          </a:p>
          <a:p>
            <a:pPr lvl="2"/>
            <a:r>
              <a:rPr lang="en-GB" altLang="zh-CN" smtClean="0"/>
              <a:t>Third Outline Level</a:t>
            </a:r>
          </a:p>
          <a:p>
            <a:pPr lvl="3"/>
            <a:r>
              <a:rPr lang="en-GB" altLang="zh-CN" smtClean="0"/>
              <a:t>Fourth Outline Level</a:t>
            </a:r>
          </a:p>
          <a:p>
            <a:pPr lvl="4"/>
            <a:r>
              <a:rPr lang="en-GB" altLang="zh-CN" smtClean="0"/>
              <a:t>Fifth Outline Level</a:t>
            </a:r>
          </a:p>
          <a:p>
            <a:pPr lvl="4"/>
            <a:r>
              <a:rPr lang="en-GB" altLang="zh-CN" smtClean="0"/>
              <a:t>Sixth Outline Level</a:t>
            </a:r>
          </a:p>
          <a:p>
            <a:pPr lvl="4"/>
            <a:r>
              <a:rPr lang="en-GB" altLang="zh-CN" smtClean="0"/>
              <a:t>Seventh Outline Level</a:t>
            </a:r>
          </a:p>
        </p:txBody>
      </p:sp>
      <p:sp>
        <p:nvSpPr>
          <p:cNvPr id="1028" name="Text Box 3"/>
          <p:cNvSpPr txBox="1">
            <a:spLocks noChangeArrowheads="1"/>
          </p:cNvSpPr>
          <p:nvPr/>
        </p:nvSpPr>
        <p:spPr bwMode="auto">
          <a:xfrm>
            <a:off x="457200" y="6356352"/>
            <a:ext cx="2133600"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342900" fontAlgn="base">
              <a:spcBef>
                <a:spcPct val="0"/>
              </a:spcBef>
              <a:spcAft>
                <a:spcPct val="0"/>
              </a:spcAft>
              <a:buClr>
                <a:srgbClr val="000000"/>
              </a:buClr>
              <a:buSzPct val="100000"/>
              <a:buFont typeface="Times New Roman" panose="02020603050405020304" pitchFamily="16" charset="0"/>
              <a:buNone/>
            </a:pPr>
            <a:endParaRPr lang="zh-CN" altLang="en-US" sz="1350">
              <a:solidFill>
                <a:srgbClr val="FFFFFF"/>
              </a:solidFill>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ctr" defTabSz="342900" rtl="0" eaLnBrk="0" fontAlgn="base" hangingPunct="0">
        <a:spcBef>
          <a:spcPct val="0"/>
        </a:spcBef>
        <a:spcAft>
          <a:spcPct val="0"/>
        </a:spcAft>
        <a:buClr>
          <a:srgbClr val="000000"/>
        </a:buClr>
        <a:buSzPct val="100000"/>
        <a:buFont typeface="Times New Roman" panose="02020603050405020304" pitchFamily="16" charset="0"/>
        <a:defRPr sz="3300">
          <a:solidFill>
            <a:srgbClr val="000000"/>
          </a:solidFill>
          <a:latin typeface="+mj-lt"/>
          <a:ea typeface="+mj-ea"/>
          <a:cs typeface="+mj-cs"/>
        </a:defRPr>
      </a:lvl1pPr>
      <a:lvl2pPr algn="ctr" defTabSz="342900" rtl="0" eaLnBrk="0" fontAlgn="base" hangingPunct="0">
        <a:spcBef>
          <a:spcPct val="0"/>
        </a:spcBef>
        <a:spcAft>
          <a:spcPct val="0"/>
        </a:spcAft>
        <a:buClr>
          <a:srgbClr val="000000"/>
        </a:buClr>
        <a:buSzPct val="100000"/>
        <a:buFont typeface="Times New Roman" panose="02020603050405020304" pitchFamily="16" charset="0"/>
        <a:defRPr sz="3300">
          <a:solidFill>
            <a:srgbClr val="000000"/>
          </a:solidFill>
          <a:latin typeface="Calibri" panose="020F0502020204030204" pitchFamily="32" charset="0"/>
          <a:ea typeface="宋体" panose="02010600030101010101" pitchFamily="2" charset="-122"/>
        </a:defRPr>
      </a:lvl2pPr>
      <a:lvl3pPr algn="ctr" defTabSz="342900" rtl="0" eaLnBrk="0" fontAlgn="base" hangingPunct="0">
        <a:spcBef>
          <a:spcPct val="0"/>
        </a:spcBef>
        <a:spcAft>
          <a:spcPct val="0"/>
        </a:spcAft>
        <a:buClr>
          <a:srgbClr val="000000"/>
        </a:buClr>
        <a:buSzPct val="100000"/>
        <a:buFont typeface="Times New Roman" panose="02020603050405020304" pitchFamily="16" charset="0"/>
        <a:defRPr sz="3300">
          <a:solidFill>
            <a:srgbClr val="000000"/>
          </a:solidFill>
          <a:latin typeface="Calibri" panose="020F0502020204030204" pitchFamily="32" charset="0"/>
          <a:ea typeface="宋体" panose="02010600030101010101" pitchFamily="2" charset="-122"/>
        </a:defRPr>
      </a:lvl3pPr>
      <a:lvl4pPr algn="ctr" defTabSz="342900" rtl="0" eaLnBrk="0" fontAlgn="base" hangingPunct="0">
        <a:spcBef>
          <a:spcPct val="0"/>
        </a:spcBef>
        <a:spcAft>
          <a:spcPct val="0"/>
        </a:spcAft>
        <a:buClr>
          <a:srgbClr val="000000"/>
        </a:buClr>
        <a:buSzPct val="100000"/>
        <a:buFont typeface="Times New Roman" panose="02020603050405020304" pitchFamily="16" charset="0"/>
        <a:defRPr sz="3300">
          <a:solidFill>
            <a:srgbClr val="000000"/>
          </a:solidFill>
          <a:latin typeface="Calibri" panose="020F0502020204030204" pitchFamily="32" charset="0"/>
          <a:ea typeface="宋体" panose="02010600030101010101" pitchFamily="2" charset="-122"/>
        </a:defRPr>
      </a:lvl4pPr>
      <a:lvl5pPr algn="ctr" defTabSz="342900" rtl="0" eaLnBrk="0" fontAlgn="base" hangingPunct="0">
        <a:spcBef>
          <a:spcPct val="0"/>
        </a:spcBef>
        <a:spcAft>
          <a:spcPct val="0"/>
        </a:spcAft>
        <a:buClr>
          <a:srgbClr val="000000"/>
        </a:buClr>
        <a:buSzPct val="100000"/>
        <a:buFont typeface="Times New Roman" panose="02020603050405020304" pitchFamily="16" charset="0"/>
        <a:defRPr sz="3300">
          <a:solidFill>
            <a:srgbClr val="000000"/>
          </a:solidFill>
          <a:latin typeface="Calibri" panose="020F0502020204030204" pitchFamily="32" charset="0"/>
          <a:ea typeface="宋体" panose="02010600030101010101" pitchFamily="2" charset="-122"/>
        </a:defRPr>
      </a:lvl5pPr>
      <a:lvl6pPr marL="1885950" indent="-171450" algn="ctr" defTabSz="342900" rtl="0" eaLnBrk="0" fontAlgn="base" hangingPunct="0">
        <a:spcBef>
          <a:spcPct val="0"/>
        </a:spcBef>
        <a:spcAft>
          <a:spcPct val="0"/>
        </a:spcAft>
        <a:buClr>
          <a:srgbClr val="000000"/>
        </a:buClr>
        <a:buSzPct val="100000"/>
        <a:buFont typeface="Times New Roman" panose="02020603050405020304" pitchFamily="16" charset="0"/>
        <a:defRPr sz="3300">
          <a:solidFill>
            <a:srgbClr val="000000"/>
          </a:solidFill>
          <a:latin typeface="Calibri" panose="020F0502020204030204" pitchFamily="32" charset="0"/>
          <a:ea typeface="宋体" panose="02010600030101010101" pitchFamily="2" charset="-122"/>
        </a:defRPr>
      </a:lvl6pPr>
      <a:lvl7pPr marL="2228850" indent="-171450" algn="ctr" defTabSz="342900" rtl="0" eaLnBrk="0" fontAlgn="base" hangingPunct="0">
        <a:spcBef>
          <a:spcPct val="0"/>
        </a:spcBef>
        <a:spcAft>
          <a:spcPct val="0"/>
        </a:spcAft>
        <a:buClr>
          <a:srgbClr val="000000"/>
        </a:buClr>
        <a:buSzPct val="100000"/>
        <a:buFont typeface="Times New Roman" panose="02020603050405020304" pitchFamily="16" charset="0"/>
        <a:defRPr sz="3300">
          <a:solidFill>
            <a:srgbClr val="000000"/>
          </a:solidFill>
          <a:latin typeface="Calibri" panose="020F0502020204030204" pitchFamily="32" charset="0"/>
          <a:ea typeface="宋体" panose="02010600030101010101" pitchFamily="2" charset="-122"/>
        </a:defRPr>
      </a:lvl7pPr>
      <a:lvl8pPr marL="2571750" indent="-171450" algn="ctr" defTabSz="342900" rtl="0" eaLnBrk="0" fontAlgn="base" hangingPunct="0">
        <a:spcBef>
          <a:spcPct val="0"/>
        </a:spcBef>
        <a:spcAft>
          <a:spcPct val="0"/>
        </a:spcAft>
        <a:buClr>
          <a:srgbClr val="000000"/>
        </a:buClr>
        <a:buSzPct val="100000"/>
        <a:buFont typeface="Times New Roman" panose="02020603050405020304" pitchFamily="16" charset="0"/>
        <a:defRPr sz="3300">
          <a:solidFill>
            <a:srgbClr val="000000"/>
          </a:solidFill>
          <a:latin typeface="Calibri" panose="020F0502020204030204" pitchFamily="32" charset="0"/>
          <a:ea typeface="宋体" panose="02010600030101010101" pitchFamily="2" charset="-122"/>
        </a:defRPr>
      </a:lvl8pPr>
      <a:lvl9pPr marL="2914650" indent="-171450" algn="ctr" defTabSz="342900" rtl="0" eaLnBrk="0" fontAlgn="base" hangingPunct="0">
        <a:spcBef>
          <a:spcPct val="0"/>
        </a:spcBef>
        <a:spcAft>
          <a:spcPct val="0"/>
        </a:spcAft>
        <a:buClr>
          <a:srgbClr val="000000"/>
        </a:buClr>
        <a:buSzPct val="100000"/>
        <a:buFont typeface="Times New Roman" panose="02020603050405020304" pitchFamily="16" charset="0"/>
        <a:defRPr sz="3300">
          <a:solidFill>
            <a:srgbClr val="000000"/>
          </a:solidFill>
          <a:latin typeface="Calibri" panose="020F0502020204030204" pitchFamily="32" charset="0"/>
          <a:ea typeface="宋体" panose="02010600030101010101" pitchFamily="2" charset="-122"/>
        </a:defRPr>
      </a:lvl9pPr>
    </p:titleStyle>
    <p:bodyStyle>
      <a:lvl1pPr marL="257175" indent="-257175" algn="l" defTabSz="342900" rtl="0" eaLnBrk="0" fontAlgn="base" hangingPunct="0">
        <a:spcBef>
          <a:spcPts val="600"/>
        </a:spcBef>
        <a:spcAft>
          <a:spcPct val="0"/>
        </a:spcAft>
        <a:buClr>
          <a:srgbClr val="000000"/>
        </a:buClr>
        <a:buSzPct val="100000"/>
        <a:buFont typeface="Times New Roman" panose="02020603050405020304" pitchFamily="16" charset="0"/>
        <a:defRPr sz="2400">
          <a:solidFill>
            <a:srgbClr val="000000"/>
          </a:solidFill>
          <a:latin typeface="+mn-lt"/>
          <a:ea typeface="+mn-ea"/>
          <a:cs typeface="+mn-cs"/>
        </a:defRPr>
      </a:lvl1pPr>
      <a:lvl2pPr marL="557530" indent="-214630" algn="l" defTabSz="342900" rtl="0" eaLnBrk="0" fontAlgn="base" hangingPunct="0">
        <a:spcBef>
          <a:spcPts val="525"/>
        </a:spcBef>
        <a:spcAft>
          <a:spcPct val="0"/>
        </a:spcAft>
        <a:buClr>
          <a:srgbClr val="000000"/>
        </a:buClr>
        <a:buSzPct val="100000"/>
        <a:buFont typeface="Times New Roman" panose="02020603050405020304" pitchFamily="16" charset="0"/>
        <a:defRPr sz="2100">
          <a:solidFill>
            <a:srgbClr val="000000"/>
          </a:solidFill>
          <a:latin typeface="+mn-lt"/>
          <a:ea typeface="+mn-ea"/>
        </a:defRPr>
      </a:lvl2pPr>
      <a:lvl3pPr marL="857250" indent="-171450" algn="l" defTabSz="342900" rtl="0" eaLnBrk="0" fontAlgn="base" hangingPunct="0">
        <a:spcBef>
          <a:spcPts val="450"/>
        </a:spcBef>
        <a:spcAft>
          <a:spcPct val="0"/>
        </a:spcAft>
        <a:buClr>
          <a:srgbClr val="000000"/>
        </a:buClr>
        <a:buSzPct val="100000"/>
        <a:buFont typeface="Times New Roman" panose="02020603050405020304" pitchFamily="16" charset="0"/>
        <a:defRPr sz="1800">
          <a:solidFill>
            <a:srgbClr val="000000"/>
          </a:solidFill>
          <a:latin typeface="+mn-lt"/>
          <a:ea typeface="+mn-ea"/>
        </a:defRPr>
      </a:lvl3pPr>
      <a:lvl4pPr marL="1200150" indent="-171450" algn="l" defTabSz="342900" rtl="0" eaLnBrk="0" fontAlgn="base" hangingPunct="0">
        <a:spcBef>
          <a:spcPts val="375"/>
        </a:spcBef>
        <a:spcAft>
          <a:spcPct val="0"/>
        </a:spcAft>
        <a:buClr>
          <a:srgbClr val="000000"/>
        </a:buClr>
        <a:buSzPct val="100000"/>
        <a:buFont typeface="Times New Roman" panose="02020603050405020304" pitchFamily="16" charset="0"/>
        <a:defRPr sz="1500">
          <a:solidFill>
            <a:srgbClr val="000000"/>
          </a:solidFill>
          <a:latin typeface="+mn-lt"/>
          <a:ea typeface="+mn-ea"/>
        </a:defRPr>
      </a:lvl4pPr>
      <a:lvl5pPr marL="1543050" indent="-171450" algn="l" defTabSz="342900" rtl="0" eaLnBrk="0" fontAlgn="base" hangingPunct="0">
        <a:spcBef>
          <a:spcPts val="375"/>
        </a:spcBef>
        <a:spcAft>
          <a:spcPct val="0"/>
        </a:spcAft>
        <a:buClr>
          <a:srgbClr val="000000"/>
        </a:buClr>
        <a:buSzPct val="100000"/>
        <a:buFont typeface="Times New Roman" panose="02020603050405020304" pitchFamily="16" charset="0"/>
        <a:defRPr sz="1500">
          <a:solidFill>
            <a:srgbClr val="000000"/>
          </a:solidFill>
          <a:latin typeface="+mn-lt"/>
          <a:ea typeface="+mn-ea"/>
        </a:defRPr>
      </a:lvl5pPr>
      <a:lvl6pPr marL="1885950" indent="-171450" algn="l" defTabSz="342900" rtl="0" eaLnBrk="0" fontAlgn="base" hangingPunct="0">
        <a:spcBef>
          <a:spcPts val="375"/>
        </a:spcBef>
        <a:spcAft>
          <a:spcPct val="0"/>
        </a:spcAft>
        <a:buClr>
          <a:srgbClr val="000000"/>
        </a:buClr>
        <a:buSzPct val="100000"/>
        <a:buFont typeface="Times New Roman" panose="02020603050405020304" pitchFamily="16" charset="0"/>
        <a:defRPr sz="1500">
          <a:solidFill>
            <a:srgbClr val="000000"/>
          </a:solidFill>
          <a:latin typeface="+mn-lt"/>
          <a:ea typeface="+mn-ea"/>
        </a:defRPr>
      </a:lvl6pPr>
      <a:lvl7pPr marL="2228850" indent="-171450" algn="l" defTabSz="342900" rtl="0" eaLnBrk="0" fontAlgn="base" hangingPunct="0">
        <a:spcBef>
          <a:spcPts val="375"/>
        </a:spcBef>
        <a:spcAft>
          <a:spcPct val="0"/>
        </a:spcAft>
        <a:buClr>
          <a:srgbClr val="000000"/>
        </a:buClr>
        <a:buSzPct val="100000"/>
        <a:buFont typeface="Times New Roman" panose="02020603050405020304" pitchFamily="16" charset="0"/>
        <a:defRPr sz="1500">
          <a:solidFill>
            <a:srgbClr val="000000"/>
          </a:solidFill>
          <a:latin typeface="+mn-lt"/>
          <a:ea typeface="+mn-ea"/>
        </a:defRPr>
      </a:lvl7pPr>
      <a:lvl8pPr marL="2571750" indent="-171450" algn="l" defTabSz="342900" rtl="0" eaLnBrk="0" fontAlgn="base" hangingPunct="0">
        <a:spcBef>
          <a:spcPts val="375"/>
        </a:spcBef>
        <a:spcAft>
          <a:spcPct val="0"/>
        </a:spcAft>
        <a:buClr>
          <a:srgbClr val="000000"/>
        </a:buClr>
        <a:buSzPct val="100000"/>
        <a:buFont typeface="Times New Roman" panose="02020603050405020304" pitchFamily="16" charset="0"/>
        <a:defRPr sz="1500">
          <a:solidFill>
            <a:srgbClr val="000000"/>
          </a:solidFill>
          <a:latin typeface="+mn-lt"/>
          <a:ea typeface="+mn-ea"/>
        </a:defRPr>
      </a:lvl8pPr>
      <a:lvl9pPr marL="2914650" indent="-171450" algn="l" defTabSz="342900" rtl="0" eaLnBrk="0" fontAlgn="base" hangingPunct="0">
        <a:spcBef>
          <a:spcPts val="375"/>
        </a:spcBef>
        <a:spcAft>
          <a:spcPct val="0"/>
        </a:spcAft>
        <a:buClr>
          <a:srgbClr val="000000"/>
        </a:buClr>
        <a:buSzPct val="100000"/>
        <a:buFont typeface="Times New Roman" panose="02020603050405020304" pitchFamily="16" charset="0"/>
        <a:defRPr sz="1500">
          <a:solidFill>
            <a:srgbClr val="0000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7.wmf"/></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0.wmf"/><Relationship Id="rId5" Type="http://schemas.openxmlformats.org/officeDocument/2006/relationships/oleObject" Target="../embeddings/oleObject3.bin"/><Relationship Id="rId10" Type="http://schemas.openxmlformats.org/officeDocument/2006/relationships/image" Target="../media/image12.wmf"/><Relationship Id="rId4" Type="http://schemas.openxmlformats.org/officeDocument/2006/relationships/image" Target="../media/image9.emf"/><Relationship Id="rId9" Type="http://schemas.openxmlformats.org/officeDocument/2006/relationships/oleObject" Target="../embeddings/oleObject5.bin"/></Relationships>
</file>

<file path=ppt/slides/_rels/slide17.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slideLayout" Target="../slideLayouts/slideLayout6.xml"/><Relationship Id="rId4" Type="http://schemas.openxmlformats.org/officeDocument/2006/relationships/image" Target="../media/image15.wmf"/></Relationships>
</file>

<file path=ppt/slides/_rels/slide18.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slideLayout" Target="../slideLayouts/slideLayout6.xml"/><Relationship Id="rId4" Type="http://schemas.openxmlformats.org/officeDocument/2006/relationships/image" Target="../media/image18.wmf"/></Relationships>
</file>

<file path=ppt/slides/_rels/slide19.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slideLayout" Target="../slideLayouts/slideLayout4.xml"/><Relationship Id="rId5" Type="http://schemas.openxmlformats.org/officeDocument/2006/relationships/image" Target="../media/image22.wmf"/><Relationship Id="rId4" Type="http://schemas.openxmlformats.org/officeDocument/2006/relationships/image" Target="../media/image21.wmf"/></Relationships>
</file>

<file path=ppt/slides/_rels/slide20.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slideLayout" Target="../slideLayouts/slideLayout6.xml"/><Relationship Id="rId4" Type="http://schemas.openxmlformats.org/officeDocument/2006/relationships/image" Target="../media/image25.wmf"/></Relationships>
</file>

<file path=ppt/slides/_rels/slide21.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slideLayout" Target="../slideLayouts/slideLayout6.xml"/><Relationship Id="rId4" Type="http://schemas.openxmlformats.org/officeDocument/2006/relationships/image" Target="../media/image28.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32.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4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39.wmf"/><Relationship Id="rId7" Type="http://schemas.openxmlformats.org/officeDocument/2006/relationships/image" Target="../media/image42.gif"/><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41.jpeg"/><Relationship Id="rId5" Type="http://schemas.openxmlformats.org/officeDocument/2006/relationships/image" Target="../media/image40.png"/><Relationship Id="rId4" Type="http://schemas.openxmlformats.org/officeDocument/2006/relationships/image" Target="../media/image2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4.jpeg"/><Relationship Id="rId4" Type="http://schemas.openxmlformats.org/officeDocument/2006/relationships/image" Target="../media/image53.jpeg"/></Relationships>
</file>

<file path=ppt/slides/_rels/slide8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png"/></Relationships>
</file>

<file path=ppt/slides/_rels/slide8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jpeg"/><Relationship Id="rId4" Type="http://schemas.openxmlformats.org/officeDocument/2006/relationships/image" Target="../media/image62.jpe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9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 Id="rId5" Type="http://schemas.openxmlformats.org/officeDocument/2006/relationships/image" Target="../media/image72.png"/><Relationship Id="rId4" Type="http://schemas.openxmlformats.org/officeDocument/2006/relationships/image" Target="../media/image71.png"/></Relationships>
</file>

<file path=ppt/slides/_rels/slide9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image" Target="../media/image74.png"/><Relationship Id="rId4" Type="http://schemas.openxmlformats.org/officeDocument/2006/relationships/image" Target="../media/image70.png"/></Relationships>
</file>

<file path=ppt/slides/_rels/slide99.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1"/>
          <p:cNvSpPr txBox="1">
            <a:spLocks noChangeArrowheads="1"/>
          </p:cNvSpPr>
          <p:nvPr/>
        </p:nvSpPr>
        <p:spPr bwMode="auto">
          <a:xfrm>
            <a:off x="6462712" y="4346972"/>
            <a:ext cx="1081088" cy="5941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9pPr>
          </a:lstStyle>
          <a:p>
            <a:pPr algn="just" defTabSz="342900" eaLnBrk="1" fontAlgn="base" hangingPunct="1">
              <a:spcBef>
                <a:spcPct val="0"/>
              </a:spcBef>
              <a:spcAft>
                <a:spcPct val="0"/>
              </a:spcAft>
              <a:buSzPct val="100000"/>
            </a:pPr>
            <a:r>
              <a:rPr lang="en-US" altLang="zh-CN" sz="1500">
                <a:solidFill>
                  <a:srgbClr val="000000"/>
                </a:solidFill>
                <a:latin typeface="微软雅黑" panose="020B0503020204020204" pitchFamily="34" charset="-122"/>
                <a:ea typeface="微软雅黑" panose="020B0503020204020204" pitchFamily="34" charset="-122"/>
              </a:rPr>
              <a:t>by  </a:t>
            </a:r>
            <a:r>
              <a:rPr lang="zh-CN" altLang="en-US" sz="1500">
                <a:solidFill>
                  <a:srgbClr val="000000"/>
                </a:solidFill>
                <a:latin typeface="微软雅黑" panose="020B0503020204020204" pitchFamily="34" charset="-122"/>
                <a:ea typeface="微软雅黑" panose="020B0503020204020204" pitchFamily="34" charset="-122"/>
              </a:rPr>
              <a:t>胡泽瑞</a:t>
            </a:r>
          </a:p>
        </p:txBody>
      </p:sp>
      <p:sp>
        <p:nvSpPr>
          <p:cNvPr id="2052" name="Text Box 3"/>
          <p:cNvSpPr txBox="1">
            <a:spLocks noChangeArrowheads="1"/>
          </p:cNvSpPr>
          <p:nvPr/>
        </p:nvSpPr>
        <p:spPr bwMode="auto">
          <a:xfrm>
            <a:off x="2195512" y="2187179"/>
            <a:ext cx="4806554" cy="7479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spAutoFit/>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9pPr>
          </a:lstStyle>
          <a:p>
            <a:pPr algn="ctr" defTabSz="342900" eaLnBrk="1" fontAlgn="base" hangingPunct="1">
              <a:spcBef>
                <a:spcPct val="0"/>
              </a:spcBef>
              <a:spcAft>
                <a:spcPct val="0"/>
              </a:spcAft>
              <a:buSzPct val="100000"/>
              <a:defRPr/>
            </a:pPr>
            <a:r>
              <a:rPr lang="zh-CN" altLang="en-US" sz="4400" b="1" dirty="0" smtClean="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大数据并行处理</a:t>
            </a:r>
            <a:endParaRPr lang="en-US" altLang="zh-CN" sz="44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矩形 3"/>
          <p:cNvSpPr>
            <a:spLocks noChangeArrowheads="1"/>
          </p:cNvSpPr>
          <p:nvPr/>
        </p:nvSpPr>
        <p:spPr bwMode="auto">
          <a:xfrm>
            <a:off x="1008231" y="1573400"/>
            <a:ext cx="2338846" cy="553998"/>
          </a:xfrm>
          <a:prstGeom prst="rect">
            <a:avLst/>
          </a:prstGeom>
          <a:noFill/>
          <a:ln w="9525" cmpd="sng">
            <a:solidFill>
              <a:srgbClr val="FFFFFF">
                <a:alpha val="34000"/>
              </a:srgbClr>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sz="3000" b="1" dirty="0">
                <a:solidFill>
                  <a:schemeClr val="accent2"/>
                </a:solidFill>
                <a:latin typeface="微软雅黑" panose="020B0503020204020204" pitchFamily="34" charset="-122"/>
                <a:ea typeface="微软雅黑" panose="020B0503020204020204" pitchFamily="34" charset="-122"/>
                <a:sym typeface="Roboto Th" pitchFamily="2" charset="0"/>
              </a:rPr>
              <a:t>CONTENTS</a:t>
            </a:r>
          </a:p>
        </p:txBody>
      </p:sp>
      <p:grpSp>
        <p:nvGrpSpPr>
          <p:cNvPr id="4099" name="组合 16"/>
          <p:cNvGrpSpPr>
            <a:grpSpLocks/>
          </p:cNvGrpSpPr>
          <p:nvPr/>
        </p:nvGrpSpPr>
        <p:grpSpPr bwMode="auto">
          <a:xfrm>
            <a:off x="4194807" y="287332"/>
            <a:ext cx="3952414" cy="738664"/>
            <a:chOff x="28089" y="-291158"/>
            <a:chExt cx="4398767" cy="983655"/>
          </a:xfrm>
        </p:grpSpPr>
        <p:sp>
          <p:nvSpPr>
            <p:cNvPr id="4100" name="六边形 4"/>
            <p:cNvSpPr>
              <a:spLocks noChangeArrowheads="1"/>
            </p:cNvSpPr>
            <p:nvPr/>
          </p:nvSpPr>
          <p:spPr bwMode="auto">
            <a:xfrm>
              <a:off x="28089" y="-204176"/>
              <a:ext cx="348342" cy="300294"/>
            </a:xfrm>
            <a:prstGeom prst="hexagon">
              <a:avLst>
                <a:gd name="adj" fmla="val 24999"/>
                <a:gd name="vf" fmla="val 115470"/>
              </a:avLst>
            </a:prstGeom>
            <a:solidFill>
              <a:schemeClr val="accent2">
                <a:alpha val="35999"/>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350">
                <a:solidFill>
                  <a:srgbClr val="FFFFFF"/>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4101" name="文本框 5"/>
            <p:cNvSpPr>
              <a:spLocks noChangeArrowheads="1"/>
            </p:cNvSpPr>
            <p:nvPr/>
          </p:nvSpPr>
          <p:spPr bwMode="auto">
            <a:xfrm>
              <a:off x="348342" y="-291158"/>
              <a:ext cx="4078514" cy="983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100" dirty="0" smtClean="0">
                  <a:solidFill>
                    <a:schemeClr val="accent2"/>
                  </a:solidFill>
                  <a:latin typeface="微软雅黑" panose="020B0503020204020204" pitchFamily="34" charset="-122"/>
                  <a:ea typeface="微软雅黑" panose="020B0503020204020204" pitchFamily="34" charset="-122"/>
                  <a:sym typeface="Roboto Th" pitchFamily="2" charset="0"/>
                </a:rPr>
                <a:t>系统研发中的“平衡”理念</a:t>
              </a:r>
              <a:endParaRPr lang="en-US" sz="2100" dirty="0">
                <a:solidFill>
                  <a:schemeClr val="accent2"/>
                </a:solidFill>
                <a:latin typeface="微软雅黑" panose="020B0503020204020204" pitchFamily="34" charset="-122"/>
                <a:ea typeface="微软雅黑" panose="020B0503020204020204" pitchFamily="34" charset="-122"/>
                <a:sym typeface="Roboto Th" pitchFamily="2" charset="0"/>
              </a:endParaRPr>
            </a:p>
          </p:txBody>
        </p:sp>
      </p:grpSp>
      <p:grpSp>
        <p:nvGrpSpPr>
          <p:cNvPr id="4102" name="组合 17"/>
          <p:cNvGrpSpPr>
            <a:grpSpLocks/>
          </p:cNvGrpSpPr>
          <p:nvPr/>
        </p:nvGrpSpPr>
        <p:grpSpPr bwMode="auto">
          <a:xfrm>
            <a:off x="4194807" y="1097168"/>
            <a:ext cx="3838569" cy="738664"/>
            <a:chOff x="28989" y="-363327"/>
            <a:chExt cx="4409034" cy="986643"/>
          </a:xfrm>
        </p:grpSpPr>
        <p:sp>
          <p:nvSpPr>
            <p:cNvPr id="4103" name="六边形 18"/>
            <p:cNvSpPr>
              <a:spLocks noChangeArrowheads="1"/>
            </p:cNvSpPr>
            <p:nvPr/>
          </p:nvSpPr>
          <p:spPr bwMode="auto">
            <a:xfrm>
              <a:off x="28989" y="-187549"/>
              <a:ext cx="348342" cy="300294"/>
            </a:xfrm>
            <a:prstGeom prst="hexagon">
              <a:avLst>
                <a:gd name="adj" fmla="val 24999"/>
                <a:gd name="vf" fmla="val 115470"/>
              </a:avLst>
            </a:prstGeom>
            <a:solidFill>
              <a:schemeClr val="accent2">
                <a:alpha val="35999"/>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350">
                <a:solidFill>
                  <a:srgbClr val="FFFFFF"/>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4104" name="文本框 19"/>
            <p:cNvSpPr>
              <a:spLocks noChangeArrowheads="1"/>
            </p:cNvSpPr>
            <p:nvPr/>
          </p:nvSpPr>
          <p:spPr bwMode="auto">
            <a:xfrm>
              <a:off x="359509" y="-363327"/>
              <a:ext cx="4078514" cy="986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100" dirty="0" smtClean="0">
                  <a:solidFill>
                    <a:schemeClr val="accent2"/>
                  </a:solidFill>
                  <a:latin typeface="微软雅黑" panose="020B0503020204020204" pitchFamily="34" charset="-122"/>
                  <a:ea typeface="微软雅黑" panose="020B0503020204020204" pitchFamily="34" charset="-122"/>
                  <a:sym typeface="Roboto Th" pitchFamily="2" charset="0"/>
                </a:rPr>
                <a:t>大数据背景的数据访问模式</a:t>
              </a:r>
              <a:endParaRPr lang="en-US" sz="2100" dirty="0">
                <a:solidFill>
                  <a:schemeClr val="accent2"/>
                </a:solidFill>
                <a:latin typeface="微软雅黑" panose="020B0503020204020204" pitchFamily="34" charset="-122"/>
                <a:ea typeface="微软雅黑" panose="020B0503020204020204" pitchFamily="34" charset="-122"/>
                <a:sym typeface="Roboto Th" pitchFamily="2" charset="0"/>
              </a:endParaRPr>
            </a:p>
          </p:txBody>
        </p:sp>
      </p:grpSp>
      <p:grpSp>
        <p:nvGrpSpPr>
          <p:cNvPr id="4105" name="组合 20"/>
          <p:cNvGrpSpPr>
            <a:grpSpLocks/>
          </p:cNvGrpSpPr>
          <p:nvPr/>
        </p:nvGrpSpPr>
        <p:grpSpPr bwMode="auto">
          <a:xfrm>
            <a:off x="4236876" y="1876970"/>
            <a:ext cx="3042465" cy="415498"/>
            <a:chOff x="89761" y="-549393"/>
            <a:chExt cx="4057449" cy="553305"/>
          </a:xfrm>
        </p:grpSpPr>
        <p:sp>
          <p:nvSpPr>
            <p:cNvPr id="4106" name="六边形 21"/>
            <p:cNvSpPr>
              <a:spLocks noChangeArrowheads="1"/>
            </p:cNvSpPr>
            <p:nvPr/>
          </p:nvSpPr>
          <p:spPr bwMode="auto">
            <a:xfrm>
              <a:off x="89761" y="-409468"/>
              <a:ext cx="348342" cy="300294"/>
            </a:xfrm>
            <a:prstGeom prst="hexagon">
              <a:avLst>
                <a:gd name="adj" fmla="val 24999"/>
                <a:gd name="vf" fmla="val 115470"/>
              </a:avLst>
            </a:prstGeom>
            <a:solidFill>
              <a:schemeClr val="accent2">
                <a:alpha val="35999"/>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350">
                <a:solidFill>
                  <a:srgbClr val="FFFFFF"/>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4107" name="文本框 22"/>
            <p:cNvSpPr>
              <a:spLocks noChangeArrowheads="1"/>
            </p:cNvSpPr>
            <p:nvPr/>
          </p:nvSpPr>
          <p:spPr bwMode="auto">
            <a:xfrm>
              <a:off x="235880" y="-549393"/>
              <a:ext cx="3911330" cy="553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100" dirty="0" smtClean="0">
                  <a:solidFill>
                    <a:schemeClr val="accent2"/>
                  </a:solidFill>
                  <a:latin typeface="微软雅黑" panose="020B0503020204020204" pitchFamily="34" charset="-122"/>
                  <a:ea typeface="微软雅黑" panose="020B0503020204020204" pitchFamily="34" charset="-122"/>
                  <a:sym typeface="Roboto Th" pitchFamily="2" charset="0"/>
                </a:rPr>
                <a:t>大</a:t>
              </a:r>
              <a:r>
                <a:rPr lang="zh-CN" altLang="en-US" sz="2100" dirty="0">
                  <a:solidFill>
                    <a:schemeClr val="accent2"/>
                  </a:solidFill>
                  <a:latin typeface="微软雅黑" panose="020B0503020204020204" pitchFamily="34" charset="-122"/>
                  <a:ea typeface="微软雅黑" panose="020B0503020204020204" pitchFamily="34" charset="-122"/>
                  <a:sym typeface="Roboto Th" pitchFamily="2" charset="0"/>
                </a:rPr>
                <a:t>数据系统的构建</a:t>
              </a:r>
              <a:endParaRPr lang="en-US" sz="2100" dirty="0">
                <a:solidFill>
                  <a:schemeClr val="accent2"/>
                </a:solidFill>
                <a:latin typeface="微软雅黑" panose="020B0503020204020204" pitchFamily="34" charset="-122"/>
                <a:ea typeface="微软雅黑" panose="020B0503020204020204" pitchFamily="34" charset="-122"/>
                <a:sym typeface="Roboto Th" pitchFamily="2" charset="0"/>
              </a:endParaRPr>
            </a:p>
          </p:txBody>
        </p:sp>
      </p:grpSp>
      <p:grpSp>
        <p:nvGrpSpPr>
          <p:cNvPr id="4108" name="组合 23"/>
          <p:cNvGrpSpPr>
            <a:grpSpLocks/>
          </p:cNvGrpSpPr>
          <p:nvPr/>
        </p:nvGrpSpPr>
        <p:grpSpPr bwMode="auto">
          <a:xfrm>
            <a:off x="4194807" y="2691168"/>
            <a:ext cx="2367358" cy="461665"/>
            <a:chOff x="0" y="0"/>
            <a:chExt cx="3157123" cy="616650"/>
          </a:xfrm>
        </p:grpSpPr>
        <p:sp>
          <p:nvSpPr>
            <p:cNvPr id="4109" name="六边形 24"/>
            <p:cNvSpPr>
              <a:spLocks noChangeArrowheads="1"/>
            </p:cNvSpPr>
            <p:nvPr/>
          </p:nvSpPr>
          <p:spPr bwMode="auto">
            <a:xfrm>
              <a:off x="0" y="80686"/>
              <a:ext cx="348342" cy="300294"/>
            </a:xfrm>
            <a:prstGeom prst="hexagon">
              <a:avLst>
                <a:gd name="adj" fmla="val 24999"/>
                <a:gd name="vf" fmla="val 115470"/>
              </a:avLst>
            </a:prstGeom>
            <a:solidFill>
              <a:schemeClr val="accent2">
                <a:alpha val="35999"/>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350">
                <a:solidFill>
                  <a:srgbClr val="FFFFFF"/>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4110" name="文本框 25"/>
            <p:cNvSpPr>
              <a:spLocks noChangeArrowheads="1"/>
            </p:cNvSpPr>
            <p:nvPr/>
          </p:nvSpPr>
          <p:spPr bwMode="auto">
            <a:xfrm>
              <a:off x="348342" y="0"/>
              <a:ext cx="2808781" cy="61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dirty="0" err="1" smtClean="0">
                  <a:solidFill>
                    <a:schemeClr val="accent2"/>
                  </a:solidFill>
                </a:rPr>
                <a:t>LSbM</a:t>
              </a:r>
              <a:r>
                <a:rPr lang="en-US" altLang="zh-CN" sz="2400" dirty="0" smtClean="0">
                  <a:solidFill>
                    <a:schemeClr val="accent2"/>
                  </a:solidFill>
                </a:rPr>
                <a:t>-tree</a:t>
              </a:r>
              <a:endParaRPr lang="en-US" sz="2100" dirty="0">
                <a:solidFill>
                  <a:schemeClr val="accent2"/>
                </a:solidFill>
                <a:latin typeface="微软雅黑" panose="020B0503020204020204" pitchFamily="34" charset="-122"/>
                <a:ea typeface="微软雅黑" panose="020B0503020204020204" pitchFamily="34" charset="-122"/>
                <a:sym typeface="Roboto Th" pitchFamily="2" charset="0"/>
              </a:endParaRPr>
            </a:p>
          </p:txBody>
        </p:sp>
      </p:grpSp>
      <p:sp>
        <p:nvSpPr>
          <p:cNvPr id="15" name="文本框 14"/>
          <p:cNvSpPr txBox="1"/>
          <p:nvPr/>
        </p:nvSpPr>
        <p:spPr>
          <a:xfrm>
            <a:off x="417707" y="3253222"/>
            <a:ext cx="2361352" cy="1200329"/>
          </a:xfrm>
          <a:prstGeom prst="rect">
            <a:avLst/>
          </a:prstGeom>
          <a:noFill/>
        </p:spPr>
        <p:txBody>
          <a:bodyPr wrap="square" rtlCol="0">
            <a:spAutoFit/>
          </a:bodyPr>
          <a:lstStyle/>
          <a:p>
            <a:r>
              <a:rPr lang="zh-CN" altLang="en-US" dirty="0" smtClean="0"/>
              <a:t>本次报告的内容基于</a:t>
            </a:r>
            <a:r>
              <a:rPr lang="en-US" altLang="zh-CN" dirty="0" smtClean="0"/>
              <a:t>2018</a:t>
            </a:r>
            <a:r>
              <a:rPr lang="zh-CN" altLang="en-US" dirty="0" smtClean="0"/>
              <a:t>龙星计划</a:t>
            </a:r>
            <a:r>
              <a:rPr lang="en-US" altLang="zh-CN" dirty="0" smtClean="0"/>
              <a:t>——</a:t>
            </a:r>
            <a:r>
              <a:rPr lang="zh-CN" altLang="en-US" dirty="0" smtClean="0"/>
              <a:t>大数据的并行处理系统课程。</a:t>
            </a:r>
            <a:endParaRPr lang="zh-CN" altLang="en-US" dirty="0"/>
          </a:p>
        </p:txBody>
      </p:sp>
      <p:grpSp>
        <p:nvGrpSpPr>
          <p:cNvPr id="16" name="组合 23"/>
          <p:cNvGrpSpPr>
            <a:grpSpLocks/>
          </p:cNvGrpSpPr>
          <p:nvPr/>
        </p:nvGrpSpPr>
        <p:grpSpPr bwMode="auto">
          <a:xfrm>
            <a:off x="4194807" y="3696553"/>
            <a:ext cx="3230930" cy="461665"/>
            <a:chOff x="102264" y="504854"/>
            <a:chExt cx="4078514" cy="616650"/>
          </a:xfrm>
        </p:grpSpPr>
        <p:sp>
          <p:nvSpPr>
            <p:cNvPr id="17" name="六边形 24"/>
            <p:cNvSpPr>
              <a:spLocks noChangeArrowheads="1"/>
            </p:cNvSpPr>
            <p:nvPr/>
          </p:nvSpPr>
          <p:spPr bwMode="auto">
            <a:xfrm>
              <a:off x="176831" y="606113"/>
              <a:ext cx="348342" cy="300294"/>
            </a:xfrm>
            <a:prstGeom prst="hexagon">
              <a:avLst>
                <a:gd name="adj" fmla="val 24999"/>
                <a:gd name="vf" fmla="val 115470"/>
              </a:avLst>
            </a:prstGeom>
            <a:solidFill>
              <a:schemeClr val="accent2">
                <a:alpha val="35999"/>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350">
                <a:solidFill>
                  <a:srgbClr val="FFFFFF"/>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18" name="文本框 25"/>
            <p:cNvSpPr>
              <a:spLocks noChangeArrowheads="1"/>
            </p:cNvSpPr>
            <p:nvPr/>
          </p:nvSpPr>
          <p:spPr bwMode="auto">
            <a:xfrm>
              <a:off x="102264" y="504854"/>
              <a:ext cx="4078514" cy="61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dirty="0">
                  <a:solidFill>
                    <a:schemeClr val="accent2"/>
                  </a:solidFill>
                  <a:sym typeface="Roboto Th" pitchFamily="2" charset="0"/>
                </a:rPr>
                <a:t>系统</a:t>
              </a:r>
              <a:r>
                <a:rPr lang="zh-CN" altLang="en-US" sz="2400" dirty="0" smtClean="0">
                  <a:solidFill>
                    <a:schemeClr val="accent2"/>
                  </a:solidFill>
                  <a:sym typeface="Roboto Th" pitchFamily="2" charset="0"/>
                </a:rPr>
                <a:t>的并发控制</a:t>
              </a:r>
              <a:endParaRPr lang="en-US" sz="2100" dirty="0">
                <a:solidFill>
                  <a:schemeClr val="accent2"/>
                </a:solidFill>
                <a:latin typeface="微软雅黑" panose="020B0503020204020204" pitchFamily="34" charset="-122"/>
                <a:ea typeface="微软雅黑" panose="020B0503020204020204" pitchFamily="34" charset="-122"/>
                <a:sym typeface="Roboto Th" pitchFamily="2" charset="0"/>
              </a:endParaRPr>
            </a:p>
          </p:txBody>
        </p:sp>
      </p:grpSp>
      <p:grpSp>
        <p:nvGrpSpPr>
          <p:cNvPr id="19" name="组合 23"/>
          <p:cNvGrpSpPr>
            <a:grpSpLocks/>
          </p:cNvGrpSpPr>
          <p:nvPr/>
        </p:nvGrpSpPr>
        <p:grpSpPr bwMode="auto">
          <a:xfrm>
            <a:off x="4300170" y="4701434"/>
            <a:ext cx="3651524" cy="830997"/>
            <a:chOff x="0" y="-77493"/>
            <a:chExt cx="4384789" cy="1109970"/>
          </a:xfrm>
        </p:grpSpPr>
        <p:sp>
          <p:nvSpPr>
            <p:cNvPr id="20" name="六边形 24"/>
            <p:cNvSpPr>
              <a:spLocks noChangeArrowheads="1"/>
            </p:cNvSpPr>
            <p:nvPr/>
          </p:nvSpPr>
          <p:spPr bwMode="auto">
            <a:xfrm>
              <a:off x="0" y="80686"/>
              <a:ext cx="348342" cy="300294"/>
            </a:xfrm>
            <a:prstGeom prst="hexagon">
              <a:avLst>
                <a:gd name="adj" fmla="val 24999"/>
                <a:gd name="vf" fmla="val 115470"/>
              </a:avLst>
            </a:prstGeom>
            <a:solidFill>
              <a:schemeClr val="accent2">
                <a:alpha val="35999"/>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350">
                <a:solidFill>
                  <a:srgbClr val="FFFFFF"/>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21" name="文本框 25"/>
            <p:cNvSpPr>
              <a:spLocks noChangeArrowheads="1"/>
            </p:cNvSpPr>
            <p:nvPr/>
          </p:nvSpPr>
          <p:spPr bwMode="auto">
            <a:xfrm>
              <a:off x="306275" y="-77493"/>
              <a:ext cx="4078514" cy="1109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sz="2400" dirty="0" smtClean="0">
                  <a:solidFill>
                    <a:schemeClr val="accent2"/>
                  </a:solidFill>
                  <a:sym typeface="Roboto Th" pitchFamily="2" charset="0"/>
                </a:rPr>
                <a:t>SSD</a:t>
              </a:r>
              <a:r>
                <a:rPr lang="zh-CN" altLang="en-US" sz="2400" dirty="0" smtClean="0">
                  <a:solidFill>
                    <a:schemeClr val="accent2"/>
                  </a:solidFill>
                  <a:sym typeface="Roboto Th" pitchFamily="2" charset="0"/>
                </a:rPr>
                <a:t>的基本特性及应用</a:t>
              </a:r>
              <a:endParaRPr lang="en-US" sz="2100" dirty="0">
                <a:solidFill>
                  <a:schemeClr val="accent2"/>
                </a:solidFill>
                <a:latin typeface="微软雅黑" panose="020B0503020204020204" pitchFamily="34" charset="-122"/>
                <a:ea typeface="微软雅黑" panose="020B0503020204020204" pitchFamily="34" charset="-122"/>
                <a:sym typeface="Roboto Th" pitchFamily="2" charset="0"/>
              </a:endParaRPr>
            </a:p>
          </p:txBody>
        </p:sp>
      </p:grpSp>
    </p:spTree>
    <p:extLst>
      <p:ext uri="{BB962C8B-B14F-4D97-AF65-F5344CB8AC3E}">
        <p14:creationId xmlns:p14="http://schemas.microsoft.com/office/powerpoint/2010/main" val="1815816197"/>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1927654" y="2187179"/>
            <a:ext cx="5881815" cy="6248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spAutoFit/>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9pPr>
          </a:lstStyle>
          <a:p>
            <a:pPr algn="ctr" eaLnBrk="1" hangingPunct="1"/>
            <a:r>
              <a:rPr lang="zh-CN" altLang="en-US" sz="3600" dirty="0">
                <a:solidFill>
                  <a:schemeClr val="accent2"/>
                </a:solidFill>
                <a:latin typeface="微软雅黑" panose="020B0503020204020204" pitchFamily="34" charset="-122"/>
                <a:ea typeface="微软雅黑" panose="020B0503020204020204" pitchFamily="34" charset="-122"/>
                <a:sym typeface="Roboto Th" pitchFamily="2" charset="0"/>
              </a:rPr>
              <a:t>系统研发中的“平衡”理念</a:t>
            </a:r>
            <a:endParaRPr lang="en-US" altLang="zh-CN" sz="3600" dirty="0">
              <a:solidFill>
                <a:schemeClr val="accent2"/>
              </a:solidFill>
              <a:latin typeface="微软雅黑" panose="020B0503020204020204" pitchFamily="34" charset="-122"/>
              <a:ea typeface="微软雅黑" panose="020B0503020204020204" pitchFamily="34" charset="-122"/>
              <a:sym typeface="Roboto Th" pitchFamily="2" charset="0"/>
            </a:endParaRPr>
          </a:p>
        </p:txBody>
      </p:sp>
    </p:spTree>
    <p:extLst>
      <p:ext uri="{BB962C8B-B14F-4D97-AF65-F5344CB8AC3E}">
        <p14:creationId xmlns:p14="http://schemas.microsoft.com/office/powerpoint/2010/main" val="18659451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 y="114300"/>
            <a:ext cx="9144001" cy="533400"/>
          </a:xfrm>
        </p:spPr>
        <p:txBody>
          <a:bodyPr/>
          <a:lstStyle/>
          <a:p>
            <a:r>
              <a:rPr lang="en-US" altLang="en-US" sz="2800" dirty="0" smtClean="0">
                <a:solidFill>
                  <a:srgbClr val="0000CC"/>
                </a:solidFill>
              </a:rPr>
              <a:t>Major Resources in Computing and Network Systems  </a:t>
            </a:r>
          </a:p>
        </p:txBody>
      </p:sp>
      <p:sp>
        <p:nvSpPr>
          <p:cNvPr id="737283" name="Rectangle 3"/>
          <p:cNvSpPr>
            <a:spLocks noGrp="1" noChangeArrowheads="1"/>
          </p:cNvSpPr>
          <p:nvPr>
            <p:ph type="body" idx="1"/>
          </p:nvPr>
        </p:nvSpPr>
        <p:spPr>
          <a:xfrm>
            <a:off x="0" y="647700"/>
            <a:ext cx="8991600" cy="5943600"/>
          </a:xfrm>
        </p:spPr>
        <p:txBody>
          <a:bodyPr/>
          <a:lstStyle/>
          <a:p>
            <a:pPr>
              <a:lnSpc>
                <a:spcPct val="80000"/>
              </a:lnSpc>
              <a:buClr>
                <a:schemeClr val="tx1"/>
              </a:buClr>
              <a:buFont typeface="Wingdings" panose="05000000000000000000" pitchFamily="2" charset="2"/>
              <a:buChar char="§"/>
            </a:pPr>
            <a:r>
              <a:rPr lang="en-US" altLang="en-US" sz="2400" b="1" dirty="0" smtClean="0"/>
              <a:t>Good News in supply</a:t>
            </a:r>
          </a:p>
          <a:p>
            <a:pPr lvl="1">
              <a:lnSpc>
                <a:spcPct val="80000"/>
              </a:lnSpc>
              <a:buClr>
                <a:schemeClr val="tx1"/>
              </a:buClr>
              <a:buFont typeface="Wingdings" panose="05000000000000000000" pitchFamily="2" charset="2"/>
              <a:buChar char="§"/>
            </a:pPr>
            <a:r>
              <a:rPr lang="en-US" altLang="en-US" sz="2400" dirty="0" smtClean="0">
                <a:solidFill>
                  <a:srgbClr val="FF6600"/>
                </a:solidFill>
              </a:rPr>
              <a:t>CPU cycles: </a:t>
            </a:r>
            <a:r>
              <a:rPr lang="en-US" altLang="en-US" sz="2400" dirty="0" smtClean="0"/>
              <a:t>oversupplied for many applications. </a:t>
            </a:r>
          </a:p>
          <a:p>
            <a:pPr lvl="1">
              <a:lnSpc>
                <a:spcPct val="80000"/>
              </a:lnSpc>
              <a:buClr>
                <a:schemeClr val="tx1"/>
              </a:buClr>
              <a:buFont typeface="Wingdings" panose="05000000000000000000" pitchFamily="2" charset="2"/>
              <a:buChar char="§"/>
            </a:pPr>
            <a:r>
              <a:rPr lang="en-US" altLang="en-US" sz="2400" dirty="0" smtClean="0">
                <a:solidFill>
                  <a:srgbClr val="0000FF"/>
                </a:solidFill>
              </a:rPr>
              <a:t>Memory bandwidth</a:t>
            </a:r>
            <a:r>
              <a:rPr lang="en-US" altLang="en-US" sz="2400" dirty="0" smtClean="0"/>
              <a:t>: improved dramatically.</a:t>
            </a:r>
            <a:endParaRPr lang="en-US" altLang="en-US" sz="2400" dirty="0" smtClean="0">
              <a:sym typeface="Wingdings" panose="05000000000000000000" pitchFamily="2" charset="2"/>
            </a:endParaRPr>
          </a:p>
          <a:p>
            <a:pPr lvl="1">
              <a:lnSpc>
                <a:spcPct val="80000"/>
              </a:lnSpc>
              <a:buClr>
                <a:schemeClr val="tx1"/>
              </a:buClr>
              <a:buFont typeface="Wingdings" panose="05000000000000000000" pitchFamily="2" charset="2"/>
              <a:buChar char="§"/>
            </a:pPr>
            <a:r>
              <a:rPr lang="en-US" altLang="en-US" sz="2400" dirty="0" smtClean="0">
                <a:solidFill>
                  <a:srgbClr val="0000FF"/>
                </a:solidFill>
              </a:rPr>
              <a:t>Memory capacity</a:t>
            </a:r>
            <a:r>
              <a:rPr lang="en-US" altLang="en-US" sz="2400" dirty="0" smtClean="0"/>
              <a:t>: increasingly large and at low cost.</a:t>
            </a:r>
          </a:p>
          <a:p>
            <a:pPr lvl="1">
              <a:lnSpc>
                <a:spcPct val="80000"/>
              </a:lnSpc>
              <a:buClr>
                <a:schemeClr val="tx1"/>
              </a:buClr>
              <a:buFont typeface="Wingdings" panose="05000000000000000000" pitchFamily="2" charset="2"/>
              <a:buChar char="§"/>
            </a:pPr>
            <a:r>
              <a:rPr lang="en-US" altLang="en-US" sz="2400" dirty="0" smtClean="0">
                <a:solidFill>
                  <a:srgbClr val="FF6600"/>
                </a:solidFill>
                <a:sym typeface="Wingdings" panose="05000000000000000000" pitchFamily="2" charset="2"/>
              </a:rPr>
              <a:t>I/O bandwidth</a:t>
            </a:r>
            <a:r>
              <a:rPr lang="en-US" altLang="en-US" sz="2400" dirty="0" smtClean="0">
                <a:sym typeface="Wingdings" panose="05000000000000000000" pitchFamily="2" charset="2"/>
              </a:rPr>
              <a:t>: improved dramatically. </a:t>
            </a:r>
          </a:p>
          <a:p>
            <a:pPr lvl="1">
              <a:lnSpc>
                <a:spcPct val="80000"/>
              </a:lnSpc>
              <a:buClr>
                <a:schemeClr val="tx1"/>
              </a:buClr>
              <a:buFont typeface="Wingdings" panose="05000000000000000000" pitchFamily="2" charset="2"/>
              <a:buChar char="§"/>
            </a:pPr>
            <a:r>
              <a:rPr lang="en-US" altLang="en-US" sz="2400" dirty="0" smtClean="0">
                <a:solidFill>
                  <a:srgbClr val="FF6600"/>
                </a:solidFill>
              </a:rPr>
              <a:t>Disk capacity</a:t>
            </a:r>
            <a:r>
              <a:rPr lang="en-US" altLang="en-US" sz="2400" dirty="0" smtClean="0"/>
              <a:t>: huge and at very low cost. </a:t>
            </a:r>
          </a:p>
          <a:p>
            <a:pPr lvl="1">
              <a:lnSpc>
                <a:spcPct val="80000"/>
              </a:lnSpc>
              <a:buClr>
                <a:schemeClr val="tx1"/>
              </a:buClr>
              <a:buFont typeface="Wingdings" panose="05000000000000000000" pitchFamily="2" charset="2"/>
              <a:buChar char="§"/>
            </a:pPr>
            <a:r>
              <a:rPr lang="en-US" altLang="en-US" sz="2400" dirty="0" smtClean="0">
                <a:solidFill>
                  <a:srgbClr val="0000FF"/>
                </a:solidFill>
              </a:rPr>
              <a:t>Cluster and Internet bandwidths</a:t>
            </a:r>
            <a:r>
              <a:rPr lang="en-US" altLang="en-US" sz="2400" dirty="0" smtClean="0"/>
              <a:t>: very rich.</a:t>
            </a:r>
          </a:p>
          <a:p>
            <a:pPr>
              <a:lnSpc>
                <a:spcPct val="80000"/>
              </a:lnSpc>
              <a:buClr>
                <a:schemeClr val="tx1"/>
              </a:buClr>
              <a:buFont typeface="Wingdings" panose="05000000000000000000" pitchFamily="2" charset="2"/>
              <a:buChar char="§"/>
            </a:pPr>
            <a:r>
              <a:rPr lang="en-US" altLang="en-US" sz="2400" b="1" dirty="0" smtClean="0"/>
              <a:t>Bad News in demand</a:t>
            </a:r>
            <a:endParaRPr lang="en-US" altLang="en-US" sz="2400" dirty="0" smtClean="0">
              <a:sym typeface="Wingdings" panose="05000000000000000000" pitchFamily="2" charset="2"/>
            </a:endParaRPr>
          </a:p>
          <a:p>
            <a:pPr lvl="1">
              <a:lnSpc>
                <a:spcPct val="80000"/>
              </a:lnSpc>
              <a:buClr>
                <a:schemeClr val="tx1"/>
              </a:buClr>
              <a:buFont typeface="Wingdings" panose="05000000000000000000" pitchFamily="2" charset="2"/>
              <a:buChar char="§"/>
            </a:pPr>
            <a:r>
              <a:rPr lang="en-US" altLang="en-US" sz="2400" dirty="0" smtClean="0">
                <a:solidFill>
                  <a:srgbClr val="FF0000"/>
                </a:solidFill>
                <a:sym typeface="Wingdings" panose="05000000000000000000" pitchFamily="2" charset="2"/>
              </a:rPr>
              <a:t>CPU cycles per Watt</a:t>
            </a:r>
            <a:r>
              <a:rPr lang="en-US" altLang="en-US" sz="2400" dirty="0" smtClean="0">
                <a:sym typeface="Wingdings" panose="05000000000000000000" pitchFamily="2" charset="2"/>
              </a:rPr>
              <a:t> decreases. (less energy efficient).</a:t>
            </a:r>
          </a:p>
          <a:p>
            <a:pPr lvl="1">
              <a:lnSpc>
                <a:spcPct val="80000"/>
              </a:lnSpc>
              <a:buClr>
                <a:schemeClr val="tx1"/>
              </a:buClr>
              <a:buFont typeface="Wingdings" panose="05000000000000000000" pitchFamily="2" charset="2"/>
              <a:buChar char="§"/>
            </a:pPr>
            <a:r>
              <a:rPr lang="en-US" altLang="en-US" sz="2400" dirty="0" smtClean="0">
                <a:solidFill>
                  <a:srgbClr val="0000FF"/>
                </a:solidFill>
                <a:sym typeface="Wingdings" panose="05000000000000000000" pitchFamily="2" charset="2"/>
              </a:rPr>
              <a:t>Cache capacity</a:t>
            </a:r>
            <a:r>
              <a:rPr lang="en-US" altLang="en-US" sz="2400" dirty="0" smtClean="0">
                <a:sym typeface="Wingdings" panose="05000000000000000000" pitchFamily="2" charset="2"/>
              </a:rPr>
              <a:t>: always limited. </a:t>
            </a:r>
          </a:p>
          <a:p>
            <a:pPr lvl="1">
              <a:lnSpc>
                <a:spcPct val="80000"/>
              </a:lnSpc>
              <a:buClr>
                <a:schemeClr val="tx1"/>
              </a:buClr>
              <a:buFont typeface="Wingdings" panose="05000000000000000000" pitchFamily="2" charset="2"/>
              <a:buChar char="§"/>
            </a:pPr>
            <a:r>
              <a:rPr lang="en-US" altLang="en-US" sz="2400" dirty="0" smtClean="0">
                <a:solidFill>
                  <a:srgbClr val="002060"/>
                </a:solidFill>
                <a:sym typeface="Wingdings" panose="05000000000000000000" pitchFamily="2" charset="2"/>
              </a:rPr>
              <a:t>Improvement of </a:t>
            </a:r>
            <a:r>
              <a:rPr lang="en-US" altLang="en-US" sz="2400" dirty="0" smtClean="0">
                <a:solidFill>
                  <a:srgbClr val="FF0000"/>
                </a:solidFill>
                <a:sym typeface="Wingdings" panose="05000000000000000000" pitchFamily="2" charset="2"/>
              </a:rPr>
              <a:t>data access latencies </a:t>
            </a:r>
            <a:r>
              <a:rPr lang="en-US" altLang="en-US" sz="2400" dirty="0" smtClean="0">
                <a:solidFill>
                  <a:srgbClr val="000000"/>
                </a:solidFill>
                <a:sym typeface="Wingdings" panose="05000000000000000000" pitchFamily="2" charset="2"/>
              </a:rPr>
              <a:t>very slow. </a:t>
            </a:r>
          </a:p>
          <a:p>
            <a:pPr lvl="1">
              <a:lnSpc>
                <a:spcPct val="80000"/>
              </a:lnSpc>
              <a:buClr>
                <a:schemeClr val="tx1"/>
              </a:buClr>
              <a:buFont typeface="Wingdings" panose="05000000000000000000" pitchFamily="2" charset="2"/>
              <a:buChar char="§"/>
            </a:pPr>
            <a:r>
              <a:rPr lang="en-US" altLang="zh-CN" sz="2400" dirty="0" smtClean="0">
                <a:solidFill>
                  <a:srgbClr val="000000"/>
                </a:solidFill>
                <a:sym typeface="Wingdings" panose="05000000000000000000" pitchFamily="2" charset="2"/>
              </a:rPr>
              <a:t>Networking and energy costs are increasingly high</a:t>
            </a:r>
            <a:endParaRPr lang="en-US" altLang="zh-CN" sz="2400" dirty="0" smtClean="0">
              <a:solidFill>
                <a:srgbClr val="000000"/>
              </a:solidFill>
            </a:endParaRPr>
          </a:p>
          <a:p>
            <a:pPr>
              <a:lnSpc>
                <a:spcPct val="80000"/>
              </a:lnSpc>
              <a:buClr>
                <a:schemeClr val="tx1"/>
              </a:buClr>
              <a:buFont typeface="Wingdings" panose="05000000000000000000" pitchFamily="2" charset="2"/>
              <a:buChar char="§"/>
            </a:pPr>
            <a:r>
              <a:rPr lang="en-US" altLang="zh-CN" sz="2400" b="1" dirty="0" smtClean="0"/>
              <a:t>Adam Smith</a:t>
            </a:r>
            <a:r>
              <a:rPr lang="en-US" altLang="zh-CN" sz="2800" b="1" dirty="0" smtClean="0"/>
              <a:t>:</a:t>
            </a:r>
            <a:r>
              <a:rPr lang="en-US" altLang="zh-CN" sz="2800" dirty="0" smtClean="0"/>
              <a:t> </a:t>
            </a:r>
            <a:r>
              <a:rPr lang="en-US" altLang="zh-CN" sz="2400" dirty="0" smtClean="0"/>
              <a:t>commodity price is defined by an “invisible hand” in the market. We need to balance</a:t>
            </a:r>
          </a:p>
          <a:p>
            <a:pPr lvl="1">
              <a:lnSpc>
                <a:spcPct val="80000"/>
              </a:lnSpc>
              <a:buClr>
                <a:schemeClr val="tx1"/>
              </a:buClr>
              <a:buFont typeface="Wingdings" panose="05000000000000000000" pitchFamily="2" charset="2"/>
              <a:buChar char="§"/>
            </a:pPr>
            <a:r>
              <a:rPr lang="en-US" altLang="en-US" sz="2400" dirty="0" smtClean="0">
                <a:solidFill>
                  <a:srgbClr val="CC0000"/>
                </a:solidFill>
              </a:rPr>
              <a:t>Oversupplied cycles, large storage capacity, fast networks</a:t>
            </a:r>
          </a:p>
          <a:p>
            <a:pPr lvl="1">
              <a:lnSpc>
                <a:spcPct val="80000"/>
              </a:lnSpc>
              <a:buClr>
                <a:schemeClr val="tx1"/>
              </a:buClr>
              <a:buFont typeface="Wingdings" panose="05000000000000000000" pitchFamily="2" charset="2"/>
              <a:buChar char="§"/>
            </a:pPr>
            <a:r>
              <a:rPr lang="en-US" altLang="en-US" sz="2400" dirty="0" smtClean="0">
                <a:solidFill>
                  <a:srgbClr val="CC0000"/>
                </a:solidFill>
              </a:rPr>
              <a:t>High demand of low latency accesses, low energy cost</a:t>
            </a:r>
          </a:p>
        </p:txBody>
      </p:sp>
    </p:spTree>
    <p:extLst>
      <p:ext uri="{BB962C8B-B14F-4D97-AF65-F5344CB8AC3E}">
        <p14:creationId xmlns:p14="http://schemas.microsoft.com/office/powerpoint/2010/main" val="308901712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3728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73728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73728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73728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73728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73728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737283">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3728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73728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499"/>
                                          </p:stCondLst>
                                        </p:cTn>
                                        <p:tgtEl>
                                          <p:spTgt spid="737283">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499"/>
                                          </p:stCondLst>
                                        </p:cTn>
                                        <p:tgtEl>
                                          <p:spTgt spid="737283">
                                            <p:txEl>
                                              <p:pRg st="10" end="1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499"/>
                                          </p:stCondLst>
                                        </p:cTn>
                                        <p:tgtEl>
                                          <p:spTgt spid="737283">
                                            <p:txEl>
                                              <p:pRg st="11" end="11"/>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737283">
                                            <p:txEl>
                                              <p:pRg st="12" end="12"/>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499"/>
                                          </p:stCondLst>
                                        </p:cTn>
                                        <p:tgtEl>
                                          <p:spTgt spid="737283">
                                            <p:txEl>
                                              <p:pRg st="13" end="13"/>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499"/>
                                          </p:stCondLst>
                                        </p:cTn>
                                        <p:tgtEl>
                                          <p:spTgt spid="73728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283"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0" y="152400"/>
            <a:ext cx="9144000" cy="1143000"/>
          </a:xfrm>
        </p:spPr>
        <p:txBody>
          <a:bodyPr/>
          <a:lstStyle/>
          <a:p>
            <a:r>
              <a:rPr lang="en-US" altLang="en-US" sz="3600" smtClean="0"/>
              <a:t>Data Communication in Computer Systems</a:t>
            </a:r>
          </a:p>
        </p:txBody>
      </p:sp>
      <p:pic>
        <p:nvPicPr>
          <p:cNvPr id="27651" name="Picture 3" descr="Copy of bytes-ch"/>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1541463" y="2630488"/>
            <a:ext cx="1425575" cy="1444625"/>
          </a:xfrm>
          <a:noFill/>
        </p:spPr>
      </p:pic>
      <p:pic>
        <p:nvPicPr>
          <p:cNvPr id="27652" name="Picture 4" descr="Copy of Copy of bytes-ch"/>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5962650" y="2774950"/>
            <a:ext cx="1425575" cy="1444625"/>
          </a:xfrm>
          <a:noFill/>
        </p:spPr>
      </p:pic>
      <p:sp>
        <p:nvSpPr>
          <p:cNvPr id="27653" name="AutoShape 5"/>
          <p:cNvSpPr>
            <a:spLocks noChangeArrowheads="1"/>
          </p:cNvSpPr>
          <p:nvPr/>
        </p:nvSpPr>
        <p:spPr bwMode="auto">
          <a:xfrm>
            <a:off x="2590800" y="2667000"/>
            <a:ext cx="3505200" cy="1066800"/>
          </a:xfrm>
          <a:prstGeom prst="leftRightArrow">
            <a:avLst>
              <a:gd name="adj1" fmla="val 50000"/>
              <a:gd name="adj2" fmla="val 65714"/>
            </a:avLst>
          </a:prstGeom>
          <a:solidFill>
            <a:srgbClr val="FFFF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en-US" sz="1400" b="1">
                <a:solidFill>
                  <a:srgbClr val="FF0000"/>
                </a:solidFill>
                <a:latin typeface="Verdana" panose="020B0604030504040204" pitchFamily="34" charset="0"/>
              </a:rPr>
              <a:t>Transfer Bandwidth Time</a:t>
            </a:r>
          </a:p>
        </p:txBody>
      </p:sp>
      <p:sp>
        <p:nvSpPr>
          <p:cNvPr id="27654" name="Line 6"/>
          <p:cNvSpPr>
            <a:spLocks noChangeShapeType="1"/>
          </p:cNvSpPr>
          <p:nvPr/>
        </p:nvSpPr>
        <p:spPr bwMode="auto">
          <a:xfrm flipV="1">
            <a:off x="1447800" y="4114800"/>
            <a:ext cx="5715000" cy="762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7655" name="Text Box 7"/>
          <p:cNvSpPr txBox="1">
            <a:spLocks noChangeArrowheads="1"/>
          </p:cNvSpPr>
          <p:nvPr/>
        </p:nvSpPr>
        <p:spPr bwMode="auto">
          <a:xfrm>
            <a:off x="3352800" y="3810000"/>
            <a:ext cx="17002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en-US" sz="1600" b="1">
                <a:solidFill>
                  <a:srgbClr val="FF0000"/>
                </a:solidFill>
                <a:latin typeface="Verdana" panose="020B0604030504040204" pitchFamily="34" charset="0"/>
              </a:rPr>
              <a:t>Latency Time</a:t>
            </a:r>
          </a:p>
        </p:txBody>
      </p:sp>
      <p:sp>
        <p:nvSpPr>
          <p:cNvPr id="756744" name="Rectangle 8"/>
          <p:cNvSpPr>
            <a:spLocks noChangeArrowheads="1"/>
          </p:cNvSpPr>
          <p:nvPr/>
        </p:nvSpPr>
        <p:spPr bwMode="auto">
          <a:xfrm>
            <a:off x="838200" y="4953000"/>
            <a:ext cx="8012113" cy="831850"/>
          </a:xfrm>
          <a:prstGeom prst="rect">
            <a:avLst/>
          </a:prstGeom>
          <a:solidFill>
            <a:srgbClr val="00FF00"/>
          </a:solidFill>
          <a:ln w="9525">
            <a:solidFill>
              <a:srgbClr val="FFFF00"/>
            </a:solidFill>
            <a:miter lim="800000"/>
            <a:headEnd/>
            <a:tailEnd/>
          </a:ln>
          <a:effectLst>
            <a:outerShdw dist="107763" dir="2700000" algn="ctr" rotWithShape="0">
              <a:schemeClr val="bg2">
                <a:alpha val="50000"/>
              </a:schemeClr>
            </a:outerShdw>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dirty="0"/>
              <a:t>Destination</a:t>
            </a:r>
            <a:r>
              <a:rPr lang="en-US" altLang="en-US" sz="2400" dirty="0"/>
              <a:t>-perceived latency reduction is still limited due </a:t>
            </a:r>
          </a:p>
          <a:p>
            <a:pPr eaLnBrk="1" hangingPunct="1">
              <a:spcBef>
                <a:spcPct val="0"/>
              </a:spcBef>
              <a:buFontTx/>
              <a:buNone/>
            </a:pPr>
            <a:r>
              <a:rPr lang="en-US" altLang="en-US" sz="2400" dirty="0"/>
              <a:t>to imbalanced improvement of bandwidth and latency</a:t>
            </a:r>
          </a:p>
        </p:txBody>
      </p:sp>
      <p:sp>
        <p:nvSpPr>
          <p:cNvPr id="27657" name="Text Box 9"/>
          <p:cNvSpPr txBox="1">
            <a:spLocks noChangeArrowheads="1"/>
          </p:cNvSpPr>
          <p:nvPr/>
        </p:nvSpPr>
        <p:spPr bwMode="auto">
          <a:xfrm>
            <a:off x="228600" y="2971800"/>
            <a:ext cx="1184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en-US" sz="2400">
                <a:latin typeface="Comic Sans MS" panose="030F0702030302020204" pitchFamily="66" charset="0"/>
              </a:rPr>
              <a:t>Source</a:t>
            </a:r>
          </a:p>
        </p:txBody>
      </p:sp>
      <p:sp>
        <p:nvSpPr>
          <p:cNvPr id="27658" name="Text Box 10"/>
          <p:cNvSpPr txBox="1">
            <a:spLocks noChangeArrowheads="1"/>
          </p:cNvSpPr>
          <p:nvPr/>
        </p:nvSpPr>
        <p:spPr bwMode="auto">
          <a:xfrm>
            <a:off x="7162800" y="2971800"/>
            <a:ext cx="1812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en-US" sz="2400">
                <a:latin typeface="Comic Sans MS" panose="030F0702030302020204" pitchFamily="66" charset="0"/>
              </a:rPr>
              <a:t>Destination</a:t>
            </a:r>
          </a:p>
        </p:txBody>
      </p:sp>
    </p:spTree>
    <p:extLst>
      <p:ext uri="{BB962C8B-B14F-4D97-AF65-F5344CB8AC3E}">
        <p14:creationId xmlns:p14="http://schemas.microsoft.com/office/powerpoint/2010/main" val="17077631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56744"/>
                                        </p:tgtEl>
                                        <p:attrNameLst>
                                          <p:attrName>style.visibility</p:attrName>
                                        </p:attrNameLst>
                                      </p:cBhvr>
                                      <p:to>
                                        <p:strVal val="visible"/>
                                      </p:to>
                                    </p:set>
                                    <p:animEffect transition="in" filter="blinds(horizontal)">
                                      <p:cBhvr>
                                        <p:cTn id="7" dur="500"/>
                                        <p:tgtEl>
                                          <p:spTgt spid="7567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6744"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0" y="0"/>
            <a:ext cx="9144000" cy="533400"/>
          </a:xfrm>
        </p:spPr>
        <p:txBody>
          <a:bodyPr/>
          <a:lstStyle/>
          <a:p>
            <a:r>
              <a:rPr lang="en-US" altLang="en-US" sz="3200" dirty="0" smtClean="0">
                <a:solidFill>
                  <a:srgbClr val="0000CC"/>
                </a:solidFill>
              </a:rPr>
              <a:t>Latency Lags Bandwidth (</a:t>
            </a:r>
            <a:r>
              <a:rPr lang="en-US" altLang="en-US" sz="3200" dirty="0" smtClean="0">
                <a:solidFill>
                  <a:srgbClr val="0066FF"/>
                </a:solidFill>
              </a:rPr>
              <a:t>CACM, Patterson</a:t>
            </a:r>
            <a:r>
              <a:rPr lang="en-US" altLang="en-US" sz="3200" dirty="0" smtClean="0">
                <a:solidFill>
                  <a:srgbClr val="0000CC"/>
                </a:solidFill>
              </a:rPr>
              <a:t>)</a:t>
            </a:r>
            <a:endParaRPr lang="en-US" altLang="en-US" sz="3200" dirty="0" smtClean="0"/>
          </a:p>
        </p:txBody>
      </p:sp>
      <p:sp>
        <p:nvSpPr>
          <p:cNvPr id="635907" name="Rectangle 3"/>
          <p:cNvSpPr>
            <a:spLocks noGrp="1" noChangeArrowheads="1"/>
          </p:cNvSpPr>
          <p:nvPr>
            <p:ph type="body" sz="half" idx="1"/>
          </p:nvPr>
        </p:nvSpPr>
        <p:spPr/>
        <p:txBody>
          <a:bodyPr/>
          <a:lstStyle/>
          <a:p>
            <a:pPr lvl="1"/>
            <a:endParaRPr lang="en-US" altLang="en-US" sz="2400" smtClean="0"/>
          </a:p>
          <a:p>
            <a:endParaRPr lang="en-US" altLang="en-US" sz="2800" smtClean="0"/>
          </a:p>
        </p:txBody>
      </p:sp>
      <p:pic>
        <p:nvPicPr>
          <p:cNvPr id="29700" name="Picture 4" descr="patterson-latency-bandwidth"/>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350838" y="914400"/>
            <a:ext cx="4144962" cy="5638800"/>
          </a:xfrm>
          <a:noFill/>
        </p:spPr>
      </p:pic>
      <p:sp>
        <p:nvSpPr>
          <p:cNvPr id="29701" name="Text Box 6"/>
          <p:cNvSpPr txBox="1">
            <a:spLocks noChangeArrowheads="1"/>
          </p:cNvSpPr>
          <p:nvPr/>
        </p:nvSpPr>
        <p:spPr bwMode="auto">
          <a:xfrm>
            <a:off x="6308725" y="1843088"/>
            <a:ext cx="184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en-US" altLang="en-US" sz="1800"/>
          </a:p>
        </p:txBody>
      </p:sp>
      <p:sp>
        <p:nvSpPr>
          <p:cNvPr id="29702" name="Text Box 7"/>
          <p:cNvSpPr txBox="1">
            <a:spLocks noChangeArrowheads="1"/>
          </p:cNvSpPr>
          <p:nvPr/>
        </p:nvSpPr>
        <p:spPr bwMode="auto">
          <a:xfrm>
            <a:off x="4495800" y="762000"/>
            <a:ext cx="4648200"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en-US" sz="1800" dirty="0"/>
              <a:t> </a:t>
            </a:r>
            <a:r>
              <a:rPr lang="en-US" altLang="en-US" sz="2200" dirty="0">
                <a:solidFill>
                  <a:schemeClr val="tx2"/>
                </a:solidFill>
              </a:rPr>
              <a:t>In the last 20 years, </a:t>
            </a:r>
          </a:p>
          <a:p>
            <a:pPr eaLnBrk="1" hangingPunct="1">
              <a:spcBef>
                <a:spcPct val="0"/>
              </a:spcBef>
              <a:buFontTx/>
              <a:buNone/>
            </a:pPr>
            <a:r>
              <a:rPr lang="en-US" altLang="en-US" sz="1800" dirty="0"/>
              <a:t>  </a:t>
            </a:r>
            <a:r>
              <a:rPr lang="en-US" altLang="en-US" sz="1800" dirty="0">
                <a:solidFill>
                  <a:srgbClr val="CC0000"/>
                </a:solidFill>
              </a:rPr>
              <a:t>100–2000X </a:t>
            </a:r>
            <a:r>
              <a:rPr lang="en-US" altLang="en-US" sz="1800" dirty="0"/>
              <a:t>improvement in </a:t>
            </a:r>
            <a:r>
              <a:rPr lang="en-US" altLang="en-US" sz="1800" dirty="0">
                <a:solidFill>
                  <a:srgbClr val="0000FF"/>
                </a:solidFill>
              </a:rPr>
              <a:t>bandwidth</a:t>
            </a:r>
          </a:p>
          <a:p>
            <a:pPr eaLnBrk="1" hangingPunct="1">
              <a:spcBef>
                <a:spcPct val="0"/>
              </a:spcBef>
              <a:buFontTx/>
              <a:buNone/>
            </a:pPr>
            <a:r>
              <a:rPr lang="en-US" altLang="en-US" sz="1800" dirty="0"/>
              <a:t>  </a:t>
            </a:r>
            <a:r>
              <a:rPr lang="en-US" altLang="en-US" sz="1800" dirty="0">
                <a:solidFill>
                  <a:srgbClr val="0000FF"/>
                </a:solidFill>
              </a:rPr>
              <a:t> 5-20X</a:t>
            </a:r>
            <a:r>
              <a:rPr lang="en-US" altLang="en-US" sz="1800" dirty="0"/>
              <a:t> improvement in </a:t>
            </a:r>
            <a:r>
              <a:rPr lang="en-US" altLang="en-US" sz="1800" dirty="0">
                <a:solidFill>
                  <a:srgbClr val="FF0000"/>
                </a:solidFill>
              </a:rPr>
              <a:t>latency</a:t>
            </a:r>
          </a:p>
          <a:p>
            <a:pPr eaLnBrk="1" hangingPunct="1">
              <a:spcBef>
                <a:spcPct val="0"/>
              </a:spcBef>
              <a:buFontTx/>
              <a:buNone/>
            </a:pPr>
            <a:endParaRPr lang="en-US" altLang="en-US" sz="1800" dirty="0">
              <a:solidFill>
                <a:srgbClr val="FF0000"/>
              </a:solidFill>
            </a:endParaRPr>
          </a:p>
          <a:p>
            <a:pPr eaLnBrk="1" hangingPunct="1">
              <a:spcBef>
                <a:spcPct val="0"/>
              </a:spcBef>
              <a:buFontTx/>
              <a:buNone/>
            </a:pPr>
            <a:r>
              <a:rPr lang="en-US" altLang="en-US" sz="1800" dirty="0">
                <a:solidFill>
                  <a:srgbClr val="FF0000"/>
                </a:solidFill>
              </a:rPr>
              <a:t>    Between CPU and on-chip cache: </a:t>
            </a:r>
          </a:p>
          <a:p>
            <a:pPr eaLnBrk="1" hangingPunct="1">
              <a:spcBef>
                <a:spcPct val="0"/>
              </a:spcBef>
              <a:buFontTx/>
              <a:buNone/>
            </a:pPr>
            <a:r>
              <a:rPr lang="en-US" altLang="en-US" sz="1800" dirty="0">
                <a:solidFill>
                  <a:srgbClr val="FF0000"/>
                </a:solidFill>
              </a:rPr>
              <a:t>        </a:t>
            </a:r>
            <a:r>
              <a:rPr lang="en-US" altLang="en-US" sz="1800" dirty="0">
                <a:solidFill>
                  <a:srgbClr val="000000"/>
                </a:solidFill>
              </a:rPr>
              <a:t>bandwidth:</a:t>
            </a:r>
            <a:r>
              <a:rPr lang="en-US" altLang="en-US" sz="1800" dirty="0">
                <a:solidFill>
                  <a:srgbClr val="FF0000"/>
                </a:solidFill>
              </a:rPr>
              <a:t> </a:t>
            </a:r>
            <a:r>
              <a:rPr lang="en-US" altLang="en-US" sz="1800" dirty="0">
                <a:solidFill>
                  <a:srgbClr val="0000FF"/>
                </a:solidFill>
              </a:rPr>
              <a:t>2250X</a:t>
            </a:r>
            <a:r>
              <a:rPr lang="en-US" altLang="en-US" sz="1800" dirty="0">
                <a:solidFill>
                  <a:srgbClr val="FF0000"/>
                </a:solidFill>
              </a:rPr>
              <a:t> </a:t>
            </a:r>
            <a:r>
              <a:rPr lang="en-US" altLang="en-US" sz="1800" dirty="0">
                <a:solidFill>
                  <a:srgbClr val="000000"/>
                </a:solidFill>
              </a:rPr>
              <a:t>increase</a:t>
            </a:r>
            <a:r>
              <a:rPr lang="en-US" altLang="en-US" sz="1800" dirty="0">
                <a:solidFill>
                  <a:srgbClr val="FF0000"/>
                </a:solidFill>
              </a:rPr>
              <a:t> </a:t>
            </a:r>
          </a:p>
          <a:p>
            <a:pPr eaLnBrk="1" hangingPunct="1">
              <a:spcBef>
                <a:spcPct val="0"/>
              </a:spcBef>
              <a:buFontTx/>
              <a:buNone/>
            </a:pPr>
            <a:r>
              <a:rPr lang="en-US" altLang="en-US" sz="1800" dirty="0">
                <a:solidFill>
                  <a:srgbClr val="FF0000"/>
                </a:solidFill>
              </a:rPr>
              <a:t>        </a:t>
            </a:r>
            <a:r>
              <a:rPr lang="en-US" altLang="en-US" sz="1800" dirty="0">
                <a:solidFill>
                  <a:srgbClr val="000000"/>
                </a:solidFill>
              </a:rPr>
              <a:t>latency:</a:t>
            </a:r>
            <a:r>
              <a:rPr lang="en-US" altLang="en-US" sz="1800" dirty="0">
                <a:solidFill>
                  <a:srgbClr val="FF0000"/>
                </a:solidFill>
              </a:rPr>
              <a:t> </a:t>
            </a:r>
            <a:r>
              <a:rPr lang="en-US" altLang="en-US" sz="1800" dirty="0">
                <a:solidFill>
                  <a:srgbClr val="0000FF"/>
                </a:solidFill>
              </a:rPr>
              <a:t>20X </a:t>
            </a:r>
            <a:r>
              <a:rPr lang="en-US" altLang="en-US" sz="1800" dirty="0">
                <a:solidFill>
                  <a:srgbClr val="000000"/>
                </a:solidFill>
              </a:rPr>
              <a:t>reduction</a:t>
            </a:r>
          </a:p>
          <a:p>
            <a:pPr eaLnBrk="1" hangingPunct="1">
              <a:spcBef>
                <a:spcPct val="0"/>
              </a:spcBef>
              <a:buFontTx/>
              <a:buNone/>
            </a:pPr>
            <a:endParaRPr lang="en-US" altLang="en-US" sz="1800" dirty="0">
              <a:solidFill>
                <a:srgbClr val="000000"/>
              </a:solidFill>
            </a:endParaRPr>
          </a:p>
          <a:p>
            <a:pPr eaLnBrk="1" hangingPunct="1">
              <a:spcBef>
                <a:spcPct val="0"/>
              </a:spcBef>
              <a:buFontTx/>
              <a:buNone/>
            </a:pPr>
            <a:r>
              <a:rPr lang="en-US" altLang="en-US" sz="1800" dirty="0">
                <a:solidFill>
                  <a:srgbClr val="000000"/>
                </a:solidFill>
              </a:rPr>
              <a:t>     </a:t>
            </a:r>
            <a:r>
              <a:rPr lang="en-US" altLang="en-US" sz="1800" dirty="0">
                <a:solidFill>
                  <a:srgbClr val="FF0000"/>
                </a:solidFill>
              </a:rPr>
              <a:t>Between off-cache and DRAM:</a:t>
            </a:r>
            <a:r>
              <a:rPr lang="en-US" altLang="en-US" sz="1800" dirty="0">
                <a:solidFill>
                  <a:srgbClr val="000000"/>
                </a:solidFill>
              </a:rPr>
              <a:t> </a:t>
            </a:r>
          </a:p>
          <a:p>
            <a:pPr eaLnBrk="1" hangingPunct="1">
              <a:spcBef>
                <a:spcPct val="0"/>
              </a:spcBef>
              <a:buFontTx/>
              <a:buNone/>
            </a:pPr>
            <a:r>
              <a:rPr lang="en-US" altLang="en-US" sz="1800" dirty="0">
                <a:solidFill>
                  <a:srgbClr val="000000"/>
                </a:solidFill>
              </a:rPr>
              <a:t>         bandwidth: </a:t>
            </a:r>
            <a:r>
              <a:rPr lang="en-US" altLang="en-US" sz="1800" dirty="0">
                <a:solidFill>
                  <a:srgbClr val="0000FF"/>
                </a:solidFill>
              </a:rPr>
              <a:t>125X</a:t>
            </a:r>
            <a:r>
              <a:rPr lang="en-US" altLang="en-US" sz="1800" dirty="0">
                <a:solidFill>
                  <a:srgbClr val="000000"/>
                </a:solidFill>
              </a:rPr>
              <a:t> increase</a:t>
            </a:r>
          </a:p>
          <a:p>
            <a:pPr eaLnBrk="1" hangingPunct="1">
              <a:spcBef>
                <a:spcPct val="0"/>
              </a:spcBef>
              <a:buFontTx/>
              <a:buNone/>
            </a:pPr>
            <a:r>
              <a:rPr lang="en-US" altLang="en-US" sz="1800" dirty="0">
                <a:solidFill>
                  <a:srgbClr val="000000"/>
                </a:solidFill>
              </a:rPr>
              <a:t>         Latency:</a:t>
            </a:r>
            <a:r>
              <a:rPr lang="en-US" altLang="en-US" sz="1800" dirty="0">
                <a:solidFill>
                  <a:srgbClr val="0000FF"/>
                </a:solidFill>
              </a:rPr>
              <a:t> 4X</a:t>
            </a:r>
            <a:r>
              <a:rPr lang="en-US" altLang="en-US" sz="1800" dirty="0">
                <a:solidFill>
                  <a:srgbClr val="000000"/>
                </a:solidFill>
              </a:rPr>
              <a:t> reduction</a:t>
            </a:r>
          </a:p>
          <a:p>
            <a:pPr eaLnBrk="1" hangingPunct="1">
              <a:spcBef>
                <a:spcPct val="0"/>
              </a:spcBef>
              <a:buFontTx/>
              <a:buNone/>
            </a:pPr>
            <a:endParaRPr lang="en-US" altLang="en-US" sz="1800" dirty="0">
              <a:solidFill>
                <a:srgbClr val="000000"/>
              </a:solidFill>
            </a:endParaRPr>
          </a:p>
          <a:p>
            <a:pPr eaLnBrk="1" hangingPunct="1">
              <a:spcBef>
                <a:spcPct val="0"/>
              </a:spcBef>
              <a:buFontTx/>
              <a:buNone/>
            </a:pPr>
            <a:r>
              <a:rPr lang="en-US" altLang="en-US" sz="1800" dirty="0">
                <a:solidFill>
                  <a:srgbClr val="000000"/>
                </a:solidFill>
              </a:rPr>
              <a:t>      </a:t>
            </a:r>
            <a:r>
              <a:rPr lang="en-US" altLang="en-US" sz="1800" dirty="0">
                <a:solidFill>
                  <a:srgbClr val="FF0000"/>
                </a:solidFill>
              </a:rPr>
              <a:t>Between DRAM and disk:</a:t>
            </a:r>
            <a:r>
              <a:rPr lang="en-US" altLang="en-US" sz="1800" dirty="0">
                <a:solidFill>
                  <a:srgbClr val="000000"/>
                </a:solidFill>
              </a:rPr>
              <a:t> </a:t>
            </a:r>
          </a:p>
          <a:p>
            <a:pPr eaLnBrk="1" hangingPunct="1">
              <a:spcBef>
                <a:spcPct val="0"/>
              </a:spcBef>
              <a:buFontTx/>
              <a:buNone/>
            </a:pPr>
            <a:r>
              <a:rPr lang="en-US" altLang="en-US" sz="1800" dirty="0">
                <a:solidFill>
                  <a:srgbClr val="000000"/>
                </a:solidFill>
              </a:rPr>
              <a:t>          bandwidth: </a:t>
            </a:r>
            <a:r>
              <a:rPr lang="en-US" altLang="en-US" sz="1800" dirty="0">
                <a:solidFill>
                  <a:srgbClr val="0000FF"/>
                </a:solidFill>
              </a:rPr>
              <a:t>150X</a:t>
            </a:r>
            <a:r>
              <a:rPr lang="en-US" altLang="en-US" sz="1800" dirty="0">
                <a:solidFill>
                  <a:srgbClr val="000000"/>
                </a:solidFill>
              </a:rPr>
              <a:t> increase </a:t>
            </a:r>
          </a:p>
          <a:p>
            <a:pPr eaLnBrk="1" hangingPunct="1">
              <a:spcBef>
                <a:spcPct val="0"/>
              </a:spcBef>
              <a:buFontTx/>
              <a:buNone/>
            </a:pPr>
            <a:r>
              <a:rPr lang="en-US" altLang="en-US" sz="1800" dirty="0">
                <a:solidFill>
                  <a:srgbClr val="000000"/>
                </a:solidFill>
              </a:rPr>
              <a:t>          latency: </a:t>
            </a:r>
            <a:r>
              <a:rPr lang="en-US" altLang="en-US" sz="1800" dirty="0">
                <a:solidFill>
                  <a:srgbClr val="0000FF"/>
                </a:solidFill>
              </a:rPr>
              <a:t>8X </a:t>
            </a:r>
            <a:r>
              <a:rPr lang="en-US" altLang="en-US" sz="1800" dirty="0">
                <a:solidFill>
                  <a:srgbClr val="000000"/>
                </a:solidFill>
              </a:rPr>
              <a:t>reduction </a:t>
            </a:r>
          </a:p>
          <a:p>
            <a:pPr eaLnBrk="1" hangingPunct="1">
              <a:spcBef>
                <a:spcPct val="0"/>
              </a:spcBef>
              <a:buFontTx/>
              <a:buNone/>
            </a:pPr>
            <a:endParaRPr lang="en-US" altLang="en-US" sz="1800" dirty="0">
              <a:solidFill>
                <a:srgbClr val="000000"/>
              </a:solidFill>
            </a:endParaRPr>
          </a:p>
          <a:p>
            <a:pPr eaLnBrk="1" hangingPunct="1">
              <a:spcBef>
                <a:spcPct val="0"/>
              </a:spcBef>
              <a:buFontTx/>
              <a:buNone/>
            </a:pPr>
            <a:r>
              <a:rPr lang="en-US" altLang="en-US" sz="1800" dirty="0">
                <a:solidFill>
                  <a:srgbClr val="000000"/>
                </a:solidFill>
              </a:rPr>
              <a:t>      </a:t>
            </a:r>
            <a:r>
              <a:rPr lang="en-US" altLang="en-US" sz="1800" dirty="0">
                <a:solidFill>
                  <a:srgbClr val="FF0000"/>
                </a:solidFill>
              </a:rPr>
              <a:t>Between two nodes via a LAN:</a:t>
            </a:r>
          </a:p>
          <a:p>
            <a:pPr eaLnBrk="1" hangingPunct="1">
              <a:spcBef>
                <a:spcPct val="0"/>
              </a:spcBef>
              <a:buFontTx/>
              <a:buNone/>
            </a:pPr>
            <a:r>
              <a:rPr lang="en-US" altLang="en-US" sz="1800" dirty="0">
                <a:solidFill>
                  <a:srgbClr val="000000"/>
                </a:solidFill>
              </a:rPr>
              <a:t>           bandwidth: </a:t>
            </a:r>
            <a:r>
              <a:rPr lang="en-US" altLang="en-US" sz="1800" dirty="0">
                <a:solidFill>
                  <a:srgbClr val="0000FF"/>
                </a:solidFill>
              </a:rPr>
              <a:t>100X</a:t>
            </a:r>
            <a:r>
              <a:rPr lang="en-US" altLang="en-US" sz="1800" dirty="0">
                <a:solidFill>
                  <a:srgbClr val="000000"/>
                </a:solidFill>
              </a:rPr>
              <a:t> increase</a:t>
            </a:r>
          </a:p>
          <a:p>
            <a:pPr eaLnBrk="1" hangingPunct="1">
              <a:spcBef>
                <a:spcPct val="0"/>
              </a:spcBef>
              <a:buFontTx/>
              <a:buNone/>
            </a:pPr>
            <a:r>
              <a:rPr lang="en-US" altLang="en-US" sz="1800" dirty="0">
                <a:solidFill>
                  <a:srgbClr val="000000"/>
                </a:solidFill>
              </a:rPr>
              <a:t>           latency: </a:t>
            </a:r>
            <a:r>
              <a:rPr lang="en-US" altLang="en-US" sz="1800" dirty="0">
                <a:solidFill>
                  <a:srgbClr val="0000FF"/>
                </a:solidFill>
              </a:rPr>
              <a:t>15X</a:t>
            </a:r>
            <a:r>
              <a:rPr lang="en-US" altLang="en-US" sz="1800" dirty="0">
                <a:solidFill>
                  <a:srgbClr val="000000"/>
                </a:solidFill>
              </a:rPr>
              <a:t> reduction</a:t>
            </a:r>
          </a:p>
          <a:p>
            <a:pPr eaLnBrk="1" hangingPunct="1">
              <a:spcBef>
                <a:spcPct val="0"/>
              </a:spcBef>
              <a:buFontTx/>
              <a:buNone/>
            </a:pPr>
            <a:endParaRPr lang="en-US" altLang="en-US" sz="1800" dirty="0">
              <a:solidFill>
                <a:srgbClr val="000000"/>
              </a:solidFill>
            </a:endParaRPr>
          </a:p>
          <a:p>
            <a:pPr eaLnBrk="1" hangingPunct="1">
              <a:spcBef>
                <a:spcPct val="0"/>
              </a:spcBef>
              <a:buFontTx/>
              <a:buNone/>
            </a:pPr>
            <a:endParaRPr lang="en-US" altLang="en-US" sz="1800" dirty="0">
              <a:solidFill>
                <a:srgbClr val="FF0000"/>
              </a:solidFill>
            </a:endParaRPr>
          </a:p>
          <a:p>
            <a:pPr eaLnBrk="1" hangingPunct="1">
              <a:spcBef>
                <a:spcPct val="0"/>
              </a:spcBef>
            </a:pPr>
            <a:endParaRPr lang="en-US" altLang="en-US" sz="1800" dirty="0">
              <a:solidFill>
                <a:srgbClr val="FF0000"/>
              </a:solidFill>
            </a:endParaRPr>
          </a:p>
        </p:txBody>
      </p:sp>
    </p:spTree>
    <p:extLst>
      <p:ext uri="{BB962C8B-B14F-4D97-AF65-F5344CB8AC3E}">
        <p14:creationId xmlns:p14="http://schemas.microsoft.com/office/powerpoint/2010/main" val="38144593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499"/>
                                          </p:stCondLst>
                                        </p:cTn>
                                        <p:tgtEl>
                                          <p:spTgt spid="63590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907"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0" y="152400"/>
            <a:ext cx="9144000" cy="495300"/>
          </a:xfrm>
        </p:spPr>
        <p:txBody>
          <a:bodyPr/>
          <a:lstStyle/>
          <a:p>
            <a:r>
              <a:rPr lang="en-US" altLang="en-US" sz="3200" smtClean="0">
                <a:solidFill>
                  <a:srgbClr val="0000CC"/>
                </a:solidFill>
              </a:rPr>
              <a:t>How </a:t>
            </a:r>
            <a:r>
              <a:rPr lang="en-US" altLang="zh-CN" sz="3200" smtClean="0">
                <a:solidFill>
                  <a:srgbClr val="0000CC"/>
                </a:solidFill>
              </a:rPr>
              <a:t>is </a:t>
            </a:r>
            <a:r>
              <a:rPr lang="en-US" altLang="en-US" sz="3200" smtClean="0">
                <a:solidFill>
                  <a:srgbClr val="0000CC"/>
                </a:solidFill>
              </a:rPr>
              <a:t>Resource Supply/Demand Balanced?</a:t>
            </a:r>
          </a:p>
        </p:txBody>
      </p:sp>
      <p:sp>
        <p:nvSpPr>
          <p:cNvPr id="806915" name="Rectangle 3"/>
          <p:cNvSpPr>
            <a:spLocks noGrp="1" noChangeArrowheads="1"/>
          </p:cNvSpPr>
          <p:nvPr>
            <p:ph type="body" idx="1"/>
          </p:nvPr>
        </p:nvSpPr>
        <p:spPr>
          <a:xfrm>
            <a:off x="0" y="647700"/>
            <a:ext cx="8991600" cy="6210300"/>
          </a:xfrm>
        </p:spPr>
        <p:txBody>
          <a:bodyPr/>
          <a:lstStyle/>
          <a:p>
            <a:pPr>
              <a:lnSpc>
                <a:spcPct val="90000"/>
              </a:lnSpc>
              <a:buSzPct val="50000"/>
              <a:buFont typeface="Monotype Sorts" pitchFamily="2" charset="2"/>
              <a:buChar char="l"/>
            </a:pPr>
            <a:r>
              <a:rPr lang="en-US" altLang="en-US" sz="2400" b="1" dirty="0" smtClean="0"/>
              <a:t>Slowdown CPU Speed</a:t>
            </a:r>
            <a:r>
              <a:rPr lang="en-US" altLang="en-US" sz="2400" dirty="0" smtClean="0"/>
              <a:t> </a:t>
            </a:r>
          </a:p>
          <a:p>
            <a:pPr lvl="1">
              <a:lnSpc>
                <a:spcPct val="90000"/>
              </a:lnSpc>
            </a:pPr>
            <a:r>
              <a:rPr lang="en-US" altLang="en-US" sz="2000" dirty="0" smtClean="0">
                <a:solidFill>
                  <a:srgbClr val="0000FF"/>
                </a:solidFill>
              </a:rPr>
              <a:t>Earth Simulator:</a:t>
            </a:r>
            <a:r>
              <a:rPr lang="en-US" altLang="en-US" sz="2000" dirty="0" smtClean="0">
                <a:solidFill>
                  <a:srgbClr val="FF0000"/>
                </a:solidFill>
              </a:rPr>
              <a:t> </a:t>
            </a:r>
            <a:r>
              <a:rPr lang="en-US" altLang="en-US" sz="2000" dirty="0" smtClean="0"/>
              <a:t>NEC AP,</a:t>
            </a:r>
            <a:r>
              <a:rPr lang="en-US" altLang="en-US" sz="2000" dirty="0" smtClean="0">
                <a:solidFill>
                  <a:srgbClr val="FF0000"/>
                </a:solidFill>
              </a:rPr>
              <a:t> 500 MHz </a:t>
            </a:r>
            <a:r>
              <a:rPr lang="en-US" altLang="en-US" sz="2000" dirty="0" smtClean="0"/>
              <a:t>(4-way SU, a VU).</a:t>
            </a:r>
            <a:r>
              <a:rPr lang="en-US" altLang="en-US" sz="2000" dirty="0" smtClean="0">
                <a:solidFill>
                  <a:srgbClr val="FF0000"/>
                </a:solidFill>
              </a:rPr>
              <a:t> </a:t>
            </a:r>
          </a:p>
          <a:p>
            <a:pPr lvl="1">
              <a:lnSpc>
                <a:spcPct val="90000"/>
              </a:lnSpc>
            </a:pPr>
            <a:r>
              <a:rPr lang="en-US" altLang="en-US" sz="2000" dirty="0" smtClean="0">
                <a:solidFill>
                  <a:srgbClr val="0000FF"/>
                </a:solidFill>
              </a:rPr>
              <a:t>Blue Gene/L:</a:t>
            </a:r>
            <a:r>
              <a:rPr lang="en-US" altLang="en-US" sz="2000" dirty="0" smtClean="0">
                <a:solidFill>
                  <a:srgbClr val="000000"/>
                </a:solidFill>
              </a:rPr>
              <a:t> IBM Power PC 440, </a:t>
            </a:r>
            <a:r>
              <a:rPr lang="en-US" altLang="en-US" sz="2000" dirty="0" smtClean="0">
                <a:solidFill>
                  <a:srgbClr val="FF0000"/>
                </a:solidFill>
              </a:rPr>
              <a:t>700 </a:t>
            </a:r>
            <a:r>
              <a:rPr lang="en-US" altLang="en-US" sz="2000" dirty="0" err="1" smtClean="0">
                <a:solidFill>
                  <a:srgbClr val="FF0000"/>
                </a:solidFill>
              </a:rPr>
              <a:t>MHz</a:t>
            </a:r>
            <a:r>
              <a:rPr lang="en-US" altLang="en-US" sz="2000" dirty="0" err="1" smtClean="0">
                <a:solidFill>
                  <a:srgbClr val="000000"/>
                </a:solidFill>
              </a:rPr>
              <a:t>.</a:t>
            </a:r>
            <a:endParaRPr lang="en-US" altLang="en-US" sz="2000" dirty="0" smtClean="0">
              <a:solidFill>
                <a:srgbClr val="000000"/>
              </a:solidFill>
            </a:endParaRPr>
          </a:p>
          <a:p>
            <a:pPr lvl="1">
              <a:lnSpc>
                <a:spcPct val="90000"/>
              </a:lnSpc>
            </a:pPr>
            <a:r>
              <a:rPr lang="en-US" altLang="en-US" sz="2000" dirty="0" smtClean="0">
                <a:solidFill>
                  <a:srgbClr val="0000FF"/>
                </a:solidFill>
              </a:rPr>
              <a:t>Columbia:</a:t>
            </a:r>
            <a:r>
              <a:rPr lang="en-US" altLang="en-US" sz="2000" dirty="0" smtClean="0">
                <a:solidFill>
                  <a:srgbClr val="000000"/>
                </a:solidFill>
              </a:rPr>
              <a:t> SGI </a:t>
            </a:r>
            <a:r>
              <a:rPr lang="en-US" altLang="en-US" sz="2000" dirty="0" err="1" smtClean="0">
                <a:solidFill>
                  <a:srgbClr val="000000"/>
                </a:solidFill>
              </a:rPr>
              <a:t>Altix</a:t>
            </a:r>
            <a:r>
              <a:rPr lang="en-US" altLang="en-US" sz="2000" dirty="0" smtClean="0">
                <a:solidFill>
                  <a:srgbClr val="000000"/>
                </a:solidFill>
              </a:rPr>
              <a:t> 3700 (Intel Itanium 2), </a:t>
            </a:r>
            <a:r>
              <a:rPr lang="en-US" altLang="en-US" sz="2000" dirty="0" smtClean="0">
                <a:solidFill>
                  <a:srgbClr val="FF0000"/>
                </a:solidFill>
              </a:rPr>
              <a:t>1.5 </a:t>
            </a:r>
            <a:r>
              <a:rPr lang="en-US" altLang="zh-CN" sz="2000" dirty="0" smtClean="0">
                <a:solidFill>
                  <a:srgbClr val="FF0000"/>
                </a:solidFill>
              </a:rPr>
              <a:t>G</a:t>
            </a:r>
            <a:r>
              <a:rPr lang="en-US" altLang="en-US" sz="2000" dirty="0" smtClean="0">
                <a:solidFill>
                  <a:srgbClr val="FF0000"/>
                </a:solidFill>
              </a:rPr>
              <a:t>Hz.</a:t>
            </a:r>
            <a:r>
              <a:rPr lang="en-US" altLang="en-US" sz="2000" dirty="0" smtClean="0">
                <a:solidFill>
                  <a:srgbClr val="000000"/>
                </a:solidFill>
              </a:rPr>
              <a:t> </a:t>
            </a:r>
            <a:r>
              <a:rPr lang="en-US" altLang="zh-CN" sz="2000" dirty="0" smtClean="0">
                <a:solidFill>
                  <a:srgbClr val="000000"/>
                </a:solidFill>
              </a:rPr>
              <a:t>(commodity processors, no choice for its high speed)</a:t>
            </a:r>
            <a:endParaRPr lang="en-US" altLang="en-US" sz="2000" dirty="0" smtClean="0">
              <a:solidFill>
                <a:srgbClr val="000000"/>
              </a:solidFill>
            </a:endParaRPr>
          </a:p>
          <a:p>
            <a:pPr marL="342900" indent="-342900">
              <a:lnSpc>
                <a:spcPct val="90000"/>
              </a:lnSpc>
              <a:buFont typeface="Arial" panose="020B0604020202020204" pitchFamily="34" charset="0"/>
              <a:buChar char="•"/>
            </a:pPr>
            <a:r>
              <a:rPr lang="en-US" altLang="en-US" sz="2400" b="1" dirty="0" smtClean="0">
                <a:solidFill>
                  <a:srgbClr val="000000"/>
                </a:solidFill>
              </a:rPr>
              <a:t>Very low latency data accesses: </a:t>
            </a:r>
            <a:endParaRPr lang="en-US" altLang="en-US" sz="1800" dirty="0" smtClean="0">
              <a:solidFill>
                <a:srgbClr val="000000"/>
              </a:solidFill>
            </a:endParaRPr>
          </a:p>
          <a:p>
            <a:pPr lvl="1">
              <a:lnSpc>
                <a:spcPct val="90000"/>
              </a:lnSpc>
            </a:pPr>
            <a:r>
              <a:rPr lang="en-US" altLang="en-US" sz="2000" dirty="0" smtClean="0">
                <a:solidFill>
                  <a:srgbClr val="0000FF"/>
                </a:solidFill>
              </a:rPr>
              <a:t>Earth Simulator</a:t>
            </a:r>
            <a:r>
              <a:rPr lang="en-US" altLang="en-US" sz="2000" dirty="0" smtClean="0">
                <a:solidFill>
                  <a:srgbClr val="000000"/>
                </a:solidFill>
              </a:rPr>
              <a:t>: 128K </a:t>
            </a:r>
            <a:r>
              <a:rPr lang="en-US" altLang="en-US" sz="2000" dirty="0" smtClean="0">
                <a:solidFill>
                  <a:srgbClr val="FF0000"/>
                </a:solidFill>
              </a:rPr>
              <a:t>L1 cache</a:t>
            </a:r>
            <a:r>
              <a:rPr lang="en-US" altLang="en-US" sz="2000" dirty="0" smtClean="0">
                <a:solidFill>
                  <a:srgbClr val="000000"/>
                </a:solidFill>
              </a:rPr>
              <a:t> and 128 </a:t>
            </a:r>
            <a:r>
              <a:rPr lang="en-US" altLang="en-US" sz="2000" dirty="0" smtClean="0">
                <a:solidFill>
                  <a:srgbClr val="FF0000"/>
                </a:solidFill>
              </a:rPr>
              <a:t>large registers</a:t>
            </a:r>
            <a:r>
              <a:rPr lang="en-US" altLang="en-US" sz="2000" dirty="0" smtClean="0">
                <a:solidFill>
                  <a:srgbClr val="000000"/>
                </a:solidFill>
              </a:rPr>
              <a:t>. </a:t>
            </a:r>
          </a:p>
          <a:p>
            <a:pPr lvl="1">
              <a:lnSpc>
                <a:spcPct val="90000"/>
              </a:lnSpc>
            </a:pPr>
            <a:r>
              <a:rPr lang="en-US" altLang="en-US" sz="2000" dirty="0" smtClean="0">
                <a:solidFill>
                  <a:srgbClr val="0000FF"/>
                </a:solidFill>
              </a:rPr>
              <a:t>Blue Gene/L</a:t>
            </a:r>
            <a:r>
              <a:rPr lang="en-US" altLang="en-US" sz="2000" dirty="0" smtClean="0">
                <a:solidFill>
                  <a:srgbClr val="000000"/>
                </a:solidFill>
              </a:rPr>
              <a:t>: </a:t>
            </a:r>
            <a:r>
              <a:rPr lang="en-US" altLang="en-US" sz="2000" dirty="0" smtClean="0">
                <a:solidFill>
                  <a:srgbClr val="FF0000"/>
                </a:solidFill>
              </a:rPr>
              <a:t>on-chip L3</a:t>
            </a:r>
            <a:r>
              <a:rPr lang="en-US" altLang="en-US" sz="2000" dirty="0" smtClean="0">
                <a:solidFill>
                  <a:srgbClr val="000000"/>
                </a:solidFill>
              </a:rPr>
              <a:t> cache (2 MB).   </a:t>
            </a:r>
          </a:p>
          <a:p>
            <a:pPr lvl="1">
              <a:lnSpc>
                <a:spcPct val="90000"/>
              </a:lnSpc>
            </a:pPr>
            <a:r>
              <a:rPr lang="en-US" altLang="en-US" sz="2000" dirty="0" smtClean="0">
                <a:solidFill>
                  <a:srgbClr val="0000FF"/>
                </a:solidFill>
              </a:rPr>
              <a:t>Columbia:</a:t>
            </a:r>
            <a:r>
              <a:rPr lang="en-US" altLang="en-US" sz="2000" dirty="0" smtClean="0">
                <a:solidFill>
                  <a:srgbClr val="000000"/>
                </a:solidFill>
              </a:rPr>
              <a:t> </a:t>
            </a:r>
            <a:r>
              <a:rPr lang="en-US" altLang="en-US" sz="2000" dirty="0" smtClean="0">
                <a:solidFill>
                  <a:srgbClr val="FF0000"/>
                </a:solidFill>
              </a:rPr>
              <a:t>on-chip L3</a:t>
            </a:r>
            <a:r>
              <a:rPr lang="en-US" altLang="en-US" sz="2000" dirty="0" smtClean="0">
                <a:solidFill>
                  <a:srgbClr val="000000"/>
                </a:solidFill>
              </a:rPr>
              <a:t> cache (6 MB).</a:t>
            </a:r>
          </a:p>
          <a:p>
            <a:pPr marL="342900" indent="-342900">
              <a:lnSpc>
                <a:spcPct val="90000"/>
              </a:lnSpc>
              <a:buFont typeface="Arial" panose="020B0604020202020204" pitchFamily="34" charset="0"/>
              <a:buChar char="•"/>
            </a:pPr>
            <a:r>
              <a:rPr lang="en-US" altLang="en-US" sz="2400" b="1" dirty="0" smtClean="0">
                <a:solidFill>
                  <a:srgbClr val="000000"/>
                </a:solidFill>
              </a:rPr>
              <a:t>Fast accesses to huge/shared memory </a:t>
            </a:r>
            <a:endParaRPr lang="en-US" altLang="en-US" sz="1800" dirty="0" smtClean="0">
              <a:solidFill>
                <a:srgbClr val="000000"/>
              </a:solidFill>
            </a:endParaRPr>
          </a:p>
          <a:p>
            <a:pPr>
              <a:lnSpc>
                <a:spcPct val="90000"/>
              </a:lnSpc>
            </a:pPr>
            <a:r>
              <a:rPr lang="en-US" altLang="en-US" sz="2400" b="1" dirty="0" smtClean="0">
                <a:solidFill>
                  <a:srgbClr val="000000"/>
                </a:solidFill>
              </a:rPr>
              <a:t> 		</a:t>
            </a:r>
            <a:r>
              <a:rPr lang="en-US" altLang="en-US" sz="2000" dirty="0" smtClean="0">
                <a:solidFill>
                  <a:srgbClr val="0000FF"/>
                </a:solidFill>
              </a:rPr>
              <a:t>Earth Simulator: </a:t>
            </a:r>
            <a:r>
              <a:rPr lang="en-US" altLang="en-US" sz="2000" dirty="0" smtClean="0">
                <a:solidFill>
                  <a:srgbClr val="FF0000"/>
                </a:solidFill>
              </a:rPr>
              <a:t>cross bar switches</a:t>
            </a:r>
            <a:r>
              <a:rPr lang="en-US" altLang="en-US" sz="2000" dirty="0" smtClean="0">
                <a:solidFill>
                  <a:srgbClr val="000000"/>
                </a:solidFill>
              </a:rPr>
              <a:t> between AP and memory.</a:t>
            </a:r>
            <a:r>
              <a:rPr lang="en-US" altLang="en-US" sz="2000" u="sng" dirty="0" smtClean="0">
                <a:solidFill>
                  <a:srgbClr val="0000FF"/>
                </a:solidFill>
              </a:rPr>
              <a:t> </a:t>
            </a:r>
          </a:p>
          <a:p>
            <a:pPr lvl="1">
              <a:lnSpc>
                <a:spcPct val="90000"/>
              </a:lnSpc>
            </a:pPr>
            <a:r>
              <a:rPr lang="en-US" altLang="en-US" sz="2000" dirty="0" smtClean="0">
                <a:solidFill>
                  <a:srgbClr val="0000FF"/>
                </a:solidFill>
              </a:rPr>
              <a:t>Blue Gene/L</a:t>
            </a:r>
            <a:r>
              <a:rPr lang="en-US" altLang="en-US" sz="2000" dirty="0" smtClean="0">
                <a:solidFill>
                  <a:srgbClr val="000000"/>
                </a:solidFill>
              </a:rPr>
              <a:t>: </a:t>
            </a:r>
            <a:r>
              <a:rPr lang="en-US" altLang="en-US" sz="2000" dirty="0" smtClean="0">
                <a:solidFill>
                  <a:srgbClr val="FF0000"/>
                </a:solidFill>
              </a:rPr>
              <a:t>cached DRAM</a:t>
            </a:r>
            <a:r>
              <a:rPr lang="en-US" altLang="en-US" sz="2000" dirty="0" smtClean="0">
                <a:solidFill>
                  <a:srgbClr val="000000"/>
                </a:solidFill>
              </a:rPr>
              <a:t> memory, and 3-D torus connection.</a:t>
            </a:r>
          </a:p>
          <a:p>
            <a:pPr lvl="1">
              <a:lnSpc>
                <a:spcPct val="90000"/>
              </a:lnSpc>
            </a:pPr>
            <a:r>
              <a:rPr lang="en-US" altLang="en-US" sz="2000" dirty="0" smtClean="0">
                <a:solidFill>
                  <a:srgbClr val="0000FF"/>
                </a:solidFill>
              </a:rPr>
              <a:t>Columbia:</a:t>
            </a:r>
            <a:r>
              <a:rPr lang="en-US" altLang="en-US" sz="2000" dirty="0" smtClean="0">
                <a:solidFill>
                  <a:srgbClr val="000000"/>
                </a:solidFill>
              </a:rPr>
              <a:t> SGI </a:t>
            </a:r>
            <a:r>
              <a:rPr lang="en-US" altLang="en-US" sz="2000" dirty="0" err="1" smtClean="0">
                <a:solidFill>
                  <a:srgbClr val="FF0000"/>
                </a:solidFill>
              </a:rPr>
              <a:t>NUMALink</a:t>
            </a:r>
            <a:r>
              <a:rPr lang="en-US" altLang="en-US" sz="2000" dirty="0" err="1" smtClean="0">
                <a:solidFill>
                  <a:srgbClr val="000000"/>
                </a:solidFill>
              </a:rPr>
              <a:t>’s</a:t>
            </a:r>
            <a:r>
              <a:rPr lang="en-US" altLang="en-US" sz="2000" dirty="0" smtClean="0">
                <a:solidFill>
                  <a:srgbClr val="000000"/>
                </a:solidFill>
              </a:rPr>
              <a:t> data block transfer time: 50 ns.</a:t>
            </a:r>
          </a:p>
          <a:p>
            <a:pPr lvl="1">
              <a:lnSpc>
                <a:spcPct val="90000"/>
              </a:lnSpc>
              <a:buFontTx/>
              <a:buNone/>
            </a:pPr>
            <a:endParaRPr lang="en-US" altLang="en-US" sz="2000" dirty="0" smtClean="0">
              <a:solidFill>
                <a:srgbClr val="000000"/>
              </a:solidFill>
            </a:endParaRPr>
          </a:p>
          <a:p>
            <a:pPr>
              <a:lnSpc>
                <a:spcPct val="90000"/>
              </a:lnSpc>
              <a:buSzPct val="50000"/>
              <a:buFont typeface="Monotype Sorts" pitchFamily="2" charset="2"/>
              <a:buChar char="l"/>
            </a:pPr>
            <a:r>
              <a:rPr lang="en-US" altLang="en-US" sz="2400" b="1" dirty="0" smtClean="0">
                <a:solidFill>
                  <a:srgbClr val="000000"/>
                </a:solidFill>
              </a:rPr>
              <a:t>Further latency reductions</a:t>
            </a:r>
            <a:r>
              <a:rPr lang="en-US" altLang="en-US" sz="2400" dirty="0" smtClean="0">
                <a:solidFill>
                  <a:srgbClr val="000000"/>
                </a:solidFill>
              </a:rPr>
              <a:t>: prefetching and caching. </a:t>
            </a:r>
          </a:p>
        </p:txBody>
      </p:sp>
    </p:spTree>
    <p:extLst>
      <p:ext uri="{BB962C8B-B14F-4D97-AF65-F5344CB8AC3E}">
        <p14:creationId xmlns:p14="http://schemas.microsoft.com/office/powerpoint/2010/main" val="345654574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69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691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0691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06915">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691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0691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06915">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06915">
                                            <p:txEl>
                                              <p:pRg st="7" end="7"/>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06915">
                                            <p:txEl>
                                              <p:pRg st="8" end="8"/>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06915">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06915">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06915">
                                            <p:txEl>
                                              <p:pRg st="11" end="11"/>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06915">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691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5" name="Straight Arrow Connector 4"/>
          <p:cNvCxnSpPr/>
          <p:nvPr/>
        </p:nvCxnSpPr>
        <p:spPr>
          <a:xfrm>
            <a:off x="1543050" y="5383213"/>
            <a:ext cx="6151563" cy="31750"/>
          </a:xfrm>
          <a:prstGeom prst="straightConnector1">
            <a:avLst/>
          </a:prstGeom>
          <a:ln w="603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H="1" flipV="1">
            <a:off x="1571625" y="2370138"/>
            <a:ext cx="9525" cy="3013075"/>
          </a:xfrm>
          <a:prstGeom prst="straightConnector1">
            <a:avLst/>
          </a:prstGeom>
          <a:ln w="603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a:spLocks noChangeArrowheads="1"/>
          </p:cNvSpPr>
          <p:nvPr/>
        </p:nvSpPr>
        <p:spPr bwMode="auto">
          <a:xfrm>
            <a:off x="3035300" y="5518150"/>
            <a:ext cx="34417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b="1"/>
              <a:t>并发进程的数量</a:t>
            </a:r>
            <a:endParaRPr lang="en-US" altLang="en-US" sz="1800" b="1"/>
          </a:p>
        </p:txBody>
      </p:sp>
      <p:cxnSp>
        <p:nvCxnSpPr>
          <p:cNvPr id="12" name="Straight Connector 11"/>
          <p:cNvCxnSpPr/>
          <p:nvPr/>
        </p:nvCxnSpPr>
        <p:spPr>
          <a:xfrm flipV="1">
            <a:off x="4038600" y="2400300"/>
            <a:ext cx="11113" cy="2940050"/>
          </a:xfrm>
          <a:prstGeom prst="line">
            <a:avLst/>
          </a:prstGeom>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4" name="TextBox 53"/>
          <p:cNvSpPr txBox="1">
            <a:spLocks noChangeArrowheads="1"/>
          </p:cNvSpPr>
          <p:nvPr/>
        </p:nvSpPr>
        <p:spPr bwMode="auto">
          <a:xfrm>
            <a:off x="2427288" y="2012950"/>
            <a:ext cx="34417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b="1"/>
              <a:t>最佳点</a:t>
            </a:r>
            <a:endParaRPr lang="en-US" altLang="en-US" sz="1800" b="1"/>
          </a:p>
        </p:txBody>
      </p:sp>
      <p:sp>
        <p:nvSpPr>
          <p:cNvPr id="55" name="TextBox 54"/>
          <p:cNvSpPr txBox="1">
            <a:spLocks noChangeArrowheads="1"/>
          </p:cNvSpPr>
          <p:nvPr/>
        </p:nvSpPr>
        <p:spPr bwMode="auto">
          <a:xfrm>
            <a:off x="6986588" y="4048125"/>
            <a:ext cx="21748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b="1">
                <a:solidFill>
                  <a:srgbClr val="3C8C93"/>
                </a:solidFill>
              </a:rPr>
              <a:t>吞吐量</a:t>
            </a:r>
            <a:endParaRPr lang="en-US" altLang="en-US" sz="1800" b="1">
              <a:solidFill>
                <a:srgbClr val="3C8C93"/>
              </a:solidFill>
            </a:endParaRPr>
          </a:p>
        </p:txBody>
      </p:sp>
      <p:sp>
        <p:nvSpPr>
          <p:cNvPr id="58" name="Freeform 57"/>
          <p:cNvSpPr/>
          <p:nvPr/>
        </p:nvSpPr>
        <p:spPr>
          <a:xfrm>
            <a:off x="1600200" y="2400300"/>
            <a:ext cx="5097463" cy="2403475"/>
          </a:xfrm>
          <a:custGeom>
            <a:avLst/>
            <a:gdLst>
              <a:gd name="connsiteX0" fmla="*/ 0 w 7382933"/>
              <a:gd name="connsiteY0" fmla="*/ 4453466 h 4516818"/>
              <a:gd name="connsiteX1" fmla="*/ 3081867 w 7382933"/>
              <a:gd name="connsiteY1" fmla="*/ 4487333 h 4516818"/>
              <a:gd name="connsiteX2" fmla="*/ 4487333 w 7382933"/>
              <a:gd name="connsiteY2" fmla="*/ 4080933 h 4516818"/>
              <a:gd name="connsiteX3" fmla="*/ 5774267 w 7382933"/>
              <a:gd name="connsiteY3" fmla="*/ 2760133 h 4516818"/>
              <a:gd name="connsiteX4" fmla="*/ 6824133 w 7382933"/>
              <a:gd name="connsiteY4" fmla="*/ 541866 h 4516818"/>
              <a:gd name="connsiteX5" fmla="*/ 7382933 w 7382933"/>
              <a:gd name="connsiteY5" fmla="*/ 0 h 4516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82933" h="4516818">
                <a:moveTo>
                  <a:pt x="0" y="4453466"/>
                </a:moveTo>
                <a:cubicBezTo>
                  <a:pt x="1166989" y="4501444"/>
                  <a:pt x="2333978" y="4549422"/>
                  <a:pt x="3081867" y="4487333"/>
                </a:cubicBezTo>
                <a:cubicBezTo>
                  <a:pt x="3829756" y="4425244"/>
                  <a:pt x="4038600" y="4368800"/>
                  <a:pt x="4487333" y="4080933"/>
                </a:cubicBezTo>
                <a:cubicBezTo>
                  <a:pt x="4936066" y="3793066"/>
                  <a:pt x="5384800" y="3349977"/>
                  <a:pt x="5774267" y="2760133"/>
                </a:cubicBezTo>
                <a:cubicBezTo>
                  <a:pt x="6163734" y="2170289"/>
                  <a:pt x="6556022" y="1001888"/>
                  <a:pt x="6824133" y="541866"/>
                </a:cubicBezTo>
                <a:cubicBezTo>
                  <a:pt x="7092244" y="81844"/>
                  <a:pt x="7382933" y="0"/>
                  <a:pt x="7382933" y="0"/>
                </a:cubicBezTo>
              </a:path>
            </a:pathLst>
          </a:custGeom>
          <a:noFill/>
          <a:ln w="635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350"/>
          </a:p>
        </p:txBody>
      </p:sp>
      <p:sp>
        <p:nvSpPr>
          <p:cNvPr id="59" name="TextBox 58"/>
          <p:cNvSpPr txBox="1">
            <a:spLocks noChangeArrowheads="1"/>
          </p:cNvSpPr>
          <p:nvPr/>
        </p:nvSpPr>
        <p:spPr bwMode="auto">
          <a:xfrm>
            <a:off x="6367463" y="2024063"/>
            <a:ext cx="21748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b="1">
                <a:solidFill>
                  <a:srgbClr val="262673"/>
                </a:solidFill>
              </a:rPr>
              <a:t>延迟</a:t>
            </a:r>
            <a:endParaRPr lang="en-US" altLang="en-US" sz="1800" b="1">
              <a:solidFill>
                <a:srgbClr val="262673"/>
              </a:solidFill>
            </a:endParaRPr>
          </a:p>
        </p:txBody>
      </p:sp>
      <p:sp>
        <p:nvSpPr>
          <p:cNvPr id="63" name="Freeform 62"/>
          <p:cNvSpPr/>
          <p:nvPr/>
        </p:nvSpPr>
        <p:spPr>
          <a:xfrm>
            <a:off x="1600200" y="3216275"/>
            <a:ext cx="5753100" cy="2136775"/>
          </a:xfrm>
          <a:custGeom>
            <a:avLst/>
            <a:gdLst>
              <a:gd name="connsiteX0" fmla="*/ 0 w 7670800"/>
              <a:gd name="connsiteY0" fmla="*/ 2848764 h 2848764"/>
              <a:gd name="connsiteX1" fmla="*/ 2692400 w 7670800"/>
              <a:gd name="connsiteY1" fmla="*/ 478098 h 2848764"/>
              <a:gd name="connsiteX2" fmla="*/ 3505200 w 7670800"/>
              <a:gd name="connsiteY2" fmla="*/ 3964 h 2848764"/>
              <a:gd name="connsiteX3" fmla="*/ 5130800 w 7670800"/>
              <a:gd name="connsiteY3" fmla="*/ 579698 h 2848764"/>
              <a:gd name="connsiteX4" fmla="*/ 7670800 w 7670800"/>
              <a:gd name="connsiteY4" fmla="*/ 1104631 h 2848764"/>
              <a:gd name="connsiteX5" fmla="*/ 7670800 w 7670800"/>
              <a:gd name="connsiteY5" fmla="*/ 1104631 h 2848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70800" h="2848764">
                <a:moveTo>
                  <a:pt x="0" y="2848764"/>
                </a:moveTo>
                <a:cubicBezTo>
                  <a:pt x="1054100" y="1900497"/>
                  <a:pt x="2108200" y="952231"/>
                  <a:pt x="2692400" y="478098"/>
                </a:cubicBezTo>
                <a:cubicBezTo>
                  <a:pt x="3276600" y="3965"/>
                  <a:pt x="3098800" y="-12969"/>
                  <a:pt x="3505200" y="3964"/>
                </a:cubicBezTo>
                <a:cubicBezTo>
                  <a:pt x="3911600" y="20897"/>
                  <a:pt x="4436533" y="396254"/>
                  <a:pt x="5130800" y="579698"/>
                </a:cubicBezTo>
                <a:cubicBezTo>
                  <a:pt x="5825067" y="763142"/>
                  <a:pt x="7670800" y="1104631"/>
                  <a:pt x="7670800" y="1104631"/>
                </a:cubicBezTo>
                <a:lnTo>
                  <a:pt x="7670800" y="1104631"/>
                </a:lnTo>
              </a:path>
            </a:pathLst>
          </a:custGeom>
          <a:noFill/>
          <a:ln w="6350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350"/>
          </a:p>
        </p:txBody>
      </p:sp>
      <p:sp>
        <p:nvSpPr>
          <p:cNvPr id="66" name="Freeform 65"/>
          <p:cNvSpPr/>
          <p:nvPr/>
        </p:nvSpPr>
        <p:spPr>
          <a:xfrm>
            <a:off x="1625600" y="2620963"/>
            <a:ext cx="5829300" cy="2681287"/>
          </a:xfrm>
          <a:custGeom>
            <a:avLst/>
            <a:gdLst>
              <a:gd name="connsiteX0" fmla="*/ 0 w 7772400"/>
              <a:gd name="connsiteY0" fmla="*/ 3574340 h 3574340"/>
              <a:gd name="connsiteX1" fmla="*/ 3166533 w 7772400"/>
              <a:gd name="connsiteY1" fmla="*/ 831140 h 3574340"/>
              <a:gd name="connsiteX2" fmla="*/ 4504266 w 7772400"/>
              <a:gd name="connsiteY2" fmla="*/ 1406 h 3574340"/>
              <a:gd name="connsiteX3" fmla="*/ 6333066 w 7772400"/>
              <a:gd name="connsiteY3" fmla="*/ 644873 h 3574340"/>
              <a:gd name="connsiteX4" fmla="*/ 7772400 w 7772400"/>
              <a:gd name="connsiteY4" fmla="*/ 1102073 h 3574340"/>
              <a:gd name="connsiteX5" fmla="*/ 7772400 w 7772400"/>
              <a:gd name="connsiteY5" fmla="*/ 1102073 h 3574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72400" h="3574340">
                <a:moveTo>
                  <a:pt x="0" y="3574340"/>
                </a:moveTo>
                <a:cubicBezTo>
                  <a:pt x="1207911" y="2500484"/>
                  <a:pt x="2415822" y="1426629"/>
                  <a:pt x="3166533" y="831140"/>
                </a:cubicBezTo>
                <a:cubicBezTo>
                  <a:pt x="3917244" y="235651"/>
                  <a:pt x="3976511" y="32450"/>
                  <a:pt x="4504266" y="1406"/>
                </a:cubicBezTo>
                <a:cubicBezTo>
                  <a:pt x="5032021" y="-29638"/>
                  <a:pt x="5788377" y="461429"/>
                  <a:pt x="6333066" y="644873"/>
                </a:cubicBezTo>
                <a:cubicBezTo>
                  <a:pt x="6877755" y="828317"/>
                  <a:pt x="7772400" y="1102073"/>
                  <a:pt x="7772400" y="1102073"/>
                </a:cubicBezTo>
                <a:lnTo>
                  <a:pt x="7772400" y="1102073"/>
                </a:lnTo>
              </a:path>
            </a:pathLst>
          </a:custGeom>
          <a:noFill/>
          <a:ln w="63500">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350"/>
          </a:p>
        </p:txBody>
      </p:sp>
      <p:sp>
        <p:nvSpPr>
          <p:cNvPr id="68" name="Freeform 67"/>
          <p:cNvSpPr/>
          <p:nvPr/>
        </p:nvSpPr>
        <p:spPr>
          <a:xfrm>
            <a:off x="1612900" y="2582863"/>
            <a:ext cx="6156325" cy="2252662"/>
          </a:xfrm>
          <a:custGeom>
            <a:avLst/>
            <a:gdLst>
              <a:gd name="connsiteX0" fmla="*/ 0 w 8839200"/>
              <a:gd name="connsiteY0" fmla="*/ 3860800 h 3967387"/>
              <a:gd name="connsiteX1" fmla="*/ 4267200 w 8839200"/>
              <a:gd name="connsiteY1" fmla="*/ 3945467 h 3967387"/>
              <a:gd name="connsiteX2" fmla="*/ 6502400 w 8839200"/>
              <a:gd name="connsiteY2" fmla="*/ 3505200 h 3967387"/>
              <a:gd name="connsiteX3" fmla="*/ 8297334 w 8839200"/>
              <a:gd name="connsiteY3" fmla="*/ 643467 h 3967387"/>
              <a:gd name="connsiteX4" fmla="*/ 8839200 w 8839200"/>
              <a:gd name="connsiteY4" fmla="*/ 0 h 3967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39200" h="3967387">
                <a:moveTo>
                  <a:pt x="0" y="3860800"/>
                </a:moveTo>
                <a:cubicBezTo>
                  <a:pt x="1591733" y="3932767"/>
                  <a:pt x="3183467" y="4004734"/>
                  <a:pt x="4267200" y="3945467"/>
                </a:cubicBezTo>
                <a:cubicBezTo>
                  <a:pt x="5350933" y="3886200"/>
                  <a:pt x="5830711" y="4055533"/>
                  <a:pt x="6502400" y="3505200"/>
                </a:cubicBezTo>
                <a:cubicBezTo>
                  <a:pt x="7174089" y="2954867"/>
                  <a:pt x="7907867" y="1227667"/>
                  <a:pt x="8297334" y="643467"/>
                </a:cubicBezTo>
                <a:cubicBezTo>
                  <a:pt x="8686801" y="59267"/>
                  <a:pt x="8763000" y="29633"/>
                  <a:pt x="8839200" y="0"/>
                </a:cubicBezTo>
              </a:path>
            </a:pathLst>
          </a:custGeom>
          <a:noFill/>
          <a:ln w="63500">
            <a:solidFill>
              <a:schemeClr val="accent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350"/>
          </a:p>
        </p:txBody>
      </p:sp>
      <p:sp>
        <p:nvSpPr>
          <p:cNvPr id="100365" name="TextBox 3"/>
          <p:cNvSpPr txBox="1">
            <a:spLocks noChangeArrowheads="1"/>
          </p:cNvSpPr>
          <p:nvPr/>
        </p:nvSpPr>
        <p:spPr bwMode="auto">
          <a:xfrm>
            <a:off x="-95250" y="588963"/>
            <a:ext cx="9144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800" b="1">
                <a:solidFill>
                  <a:srgbClr val="FF0000"/>
                </a:solidFill>
              </a:rPr>
              <a:t>系统的可扩展性是一个延迟和吞吐量平衡的结果</a:t>
            </a:r>
            <a:endParaRPr lang="en-US" altLang="en-US" sz="2800" b="1"/>
          </a:p>
        </p:txBody>
      </p:sp>
    </p:spTree>
    <p:extLst>
      <p:ext uri="{BB962C8B-B14F-4D97-AF65-F5344CB8AC3E}">
        <p14:creationId xmlns:p14="http://schemas.microsoft.com/office/powerpoint/2010/main" val="1996381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5"/>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5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9"/>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4"/>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66"/>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68"/>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0" presetClass="path" presetSubtype="0" accel="50000" decel="50000" fill="hold" grpId="1" nodeType="clickEffect">
                                  <p:stCondLst>
                                    <p:cond delay="0"/>
                                  </p:stCondLst>
                                  <p:childTnLst>
                                    <p:animMotion origin="layout" path="M 0 0 L 0.1056 0 " pathEditMode="relative" ptsTypes="AA">
                                      <p:cBhvr>
                                        <p:cTn id="40" dur="2000" fill="hold"/>
                                        <p:tgtEl>
                                          <p:spTgt spid="54"/>
                                        </p:tgtEl>
                                        <p:attrNameLst>
                                          <p:attrName>ppt_x</p:attrName>
                                          <p:attrName>ppt_y</p:attrName>
                                        </p:attrNameLst>
                                      </p:cBhvr>
                                    </p:animMotion>
                                  </p:childTnLst>
                                </p:cTn>
                              </p:par>
                              <p:par>
                                <p:cTn id="41" presetID="0" presetClass="path" presetSubtype="0" accel="50000" decel="50000" fill="hold" nodeType="withEffect">
                                  <p:stCondLst>
                                    <p:cond delay="0"/>
                                  </p:stCondLst>
                                  <p:childTnLst>
                                    <p:animMotion origin="layout" path="M 0 0 L 0.1056 0 " pathEditMode="relative" ptsTypes="AA">
                                      <p:cBhvr>
                                        <p:cTn id="42" dur="2000" fill="hold"/>
                                        <p:tgtEl>
                                          <p:spTgt spid="1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54" grpId="0"/>
      <p:bldP spid="54" grpId="1"/>
      <p:bldP spid="55" grpId="0"/>
      <p:bldP spid="5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1927654" y="2187179"/>
            <a:ext cx="5881815" cy="6248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spAutoFit/>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9pPr>
          </a:lstStyle>
          <a:p>
            <a:pPr algn="ctr" eaLnBrk="1" hangingPunct="1"/>
            <a:r>
              <a:rPr lang="zh-CN" altLang="en-US" sz="3600" dirty="0" smtClean="0">
                <a:solidFill>
                  <a:schemeClr val="accent2"/>
                </a:solidFill>
                <a:latin typeface="微软雅黑" panose="020B0503020204020204" pitchFamily="34" charset="-122"/>
                <a:ea typeface="微软雅黑" panose="020B0503020204020204" pitchFamily="34" charset="-122"/>
                <a:sym typeface="Roboto Th" pitchFamily="2" charset="0"/>
              </a:rPr>
              <a:t>大数据背景的数据访问模式</a:t>
            </a:r>
            <a:endParaRPr lang="en-US" altLang="zh-CN" sz="3600" dirty="0">
              <a:solidFill>
                <a:schemeClr val="accent2"/>
              </a:solidFill>
              <a:latin typeface="微软雅黑" panose="020B0503020204020204" pitchFamily="34" charset="-122"/>
              <a:ea typeface="微软雅黑" panose="020B0503020204020204" pitchFamily="34" charset="-122"/>
              <a:sym typeface="Roboto Th" pitchFamily="2" charset="0"/>
            </a:endParaRPr>
          </a:p>
        </p:txBody>
      </p:sp>
    </p:spTree>
    <p:extLst>
      <p:ext uri="{BB962C8B-B14F-4D97-AF65-F5344CB8AC3E}">
        <p14:creationId xmlns:p14="http://schemas.microsoft.com/office/powerpoint/2010/main" val="105856686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1238" y="1085850"/>
            <a:ext cx="6310312"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 name="Rectangle 6"/>
          <p:cNvSpPr>
            <a:spLocks noChangeArrowheads="1"/>
          </p:cNvSpPr>
          <p:nvPr/>
        </p:nvSpPr>
        <p:spPr bwMode="auto">
          <a:xfrm>
            <a:off x="914400" y="5124450"/>
            <a:ext cx="73152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en-US" sz="2000"/>
              <a:t>To the rights (the yellow region) is the </a:t>
            </a:r>
            <a:r>
              <a:rPr lang="en-US" altLang="en-US" sz="2000" b="1">
                <a:solidFill>
                  <a:srgbClr val="FF0000"/>
                </a:solidFill>
              </a:rPr>
              <a:t>long tail  of lower 80% objects</a:t>
            </a:r>
            <a:r>
              <a:rPr lang="en-US" altLang="en-US" sz="2000"/>
              <a:t>; to the left are the few that dominate (</a:t>
            </a:r>
            <a:r>
              <a:rPr lang="en-US" altLang="en-US" sz="2000" b="1">
                <a:solidFill>
                  <a:srgbClr val="FF0000"/>
                </a:solidFill>
              </a:rPr>
              <a:t>the top 20% objects</a:t>
            </a:r>
            <a:r>
              <a:rPr lang="en-US" altLang="en-US" sz="2000"/>
              <a:t>). With limited space to store objects and limited search ability to a large volume of objects, most attentions and hits have to be in the top 20% objects, ignoring the long tail.  </a:t>
            </a:r>
          </a:p>
        </p:txBody>
      </p:sp>
      <p:sp>
        <p:nvSpPr>
          <p:cNvPr id="5124" name="TextBox 7"/>
          <p:cNvSpPr txBox="1">
            <a:spLocks noChangeArrowheads="1"/>
          </p:cNvSpPr>
          <p:nvPr/>
        </p:nvSpPr>
        <p:spPr bwMode="auto">
          <a:xfrm>
            <a:off x="0" y="1600200"/>
            <a:ext cx="12954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en-US" sz="1600" b="1"/>
              <a:t># of hits to </a:t>
            </a:r>
          </a:p>
          <a:p>
            <a:pPr eaLnBrk="1" hangingPunct="1">
              <a:spcBef>
                <a:spcPct val="0"/>
              </a:spcBef>
              <a:buFontTx/>
              <a:buNone/>
            </a:pPr>
            <a:r>
              <a:rPr lang="en-US" altLang="en-US" sz="1600" b="1"/>
              <a:t> each data object</a:t>
            </a:r>
          </a:p>
        </p:txBody>
      </p:sp>
      <p:sp>
        <p:nvSpPr>
          <p:cNvPr id="5125" name="TextBox 8"/>
          <p:cNvSpPr txBox="1">
            <a:spLocks noChangeArrowheads="1"/>
          </p:cNvSpPr>
          <p:nvPr/>
        </p:nvSpPr>
        <p:spPr bwMode="auto">
          <a:xfrm>
            <a:off x="7164388" y="4448175"/>
            <a:ext cx="21955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en-US" sz="1600" b="1"/>
              <a:t>Popularity ranks</a:t>
            </a:r>
          </a:p>
          <a:p>
            <a:pPr eaLnBrk="1" hangingPunct="1">
              <a:spcBef>
                <a:spcPct val="0"/>
              </a:spcBef>
              <a:buFontTx/>
              <a:buNone/>
            </a:pPr>
            <a:r>
              <a:rPr lang="en-US" altLang="en-US" sz="1600" b="1"/>
              <a:t>for each data object</a:t>
            </a:r>
          </a:p>
        </p:txBody>
      </p:sp>
      <p:sp>
        <p:nvSpPr>
          <p:cNvPr id="5126" name="Title 1"/>
          <p:cNvSpPr>
            <a:spLocks noGrp="1"/>
          </p:cNvSpPr>
          <p:nvPr>
            <p:ph type="ctrTitle"/>
          </p:nvPr>
        </p:nvSpPr>
        <p:spPr>
          <a:xfrm>
            <a:off x="0" y="219075"/>
            <a:ext cx="9144000" cy="704850"/>
          </a:xfrm>
        </p:spPr>
        <p:txBody>
          <a:bodyPr/>
          <a:lstStyle/>
          <a:p>
            <a:r>
              <a:rPr lang="en-US" altLang="en-US" sz="3200" smtClean="0"/>
              <a:t>Big Data and Power Law</a:t>
            </a:r>
          </a:p>
        </p:txBody>
      </p:sp>
    </p:spTree>
    <p:extLst>
      <p:ext uri="{BB962C8B-B14F-4D97-AF65-F5344CB8AC3E}">
        <p14:creationId xmlns:p14="http://schemas.microsoft.com/office/powerpoint/2010/main" val="376248762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Slide Number Placeholder 5"/>
          <p:cNvSpPr>
            <a:spLocks noGrp="1"/>
          </p:cNvSpPr>
          <p:nvPr>
            <p:ph type="sldNum" sz="quarter" idx="4294967295"/>
          </p:nvPr>
        </p:nvSpPr>
        <p:spPr>
          <a:xfrm>
            <a:off x="6553200" y="6245225"/>
            <a:ext cx="2133600" cy="4762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B8775E97-5D97-40B3-9E45-D7E772E0F7F9}" type="slidenum">
              <a:rPr lang="en-US" altLang="zh-CN" sz="1400" smtClean="0"/>
              <a:pPr>
                <a:spcBef>
                  <a:spcPct val="0"/>
                </a:spcBef>
                <a:buFontTx/>
                <a:buNone/>
              </a:pPr>
              <a:t>11</a:t>
            </a:fld>
            <a:endParaRPr lang="en-US" altLang="zh-CN" sz="1400" smtClean="0"/>
          </a:p>
        </p:txBody>
      </p:sp>
      <p:sp>
        <p:nvSpPr>
          <p:cNvPr id="12291" name="Rectangle 2"/>
          <p:cNvSpPr>
            <a:spLocks noGrp="1" noChangeArrowheads="1"/>
          </p:cNvSpPr>
          <p:nvPr>
            <p:ph type="title"/>
          </p:nvPr>
        </p:nvSpPr>
        <p:spPr>
          <a:xfrm>
            <a:off x="0" y="225425"/>
            <a:ext cx="9144000" cy="1143000"/>
          </a:xfrm>
        </p:spPr>
        <p:txBody>
          <a:bodyPr/>
          <a:lstStyle/>
          <a:p>
            <a:pPr eaLnBrk="1" hangingPunct="1"/>
            <a:r>
              <a:rPr lang="en-US" altLang="en-US" sz="3200" dirty="0" err="1" smtClean="0">
                <a:solidFill>
                  <a:srgbClr val="FF0000"/>
                </a:solidFill>
              </a:rPr>
              <a:t>Zipf</a:t>
            </a:r>
            <a:r>
              <a:rPr lang="en-US" altLang="en-US" sz="3200" dirty="0" smtClean="0">
                <a:solidFill>
                  <a:srgbClr val="FF0000"/>
                </a:solidFill>
              </a:rPr>
              <a:t> distribution </a:t>
            </a:r>
            <a:r>
              <a:rPr lang="en-US" altLang="en-US" sz="3200" dirty="0" smtClean="0">
                <a:solidFill>
                  <a:schemeClr val="tx1"/>
                </a:solidFill>
              </a:rPr>
              <a:t>is believed the general </a:t>
            </a:r>
            <a:br>
              <a:rPr lang="en-US" altLang="en-US" sz="3200" dirty="0" smtClean="0">
                <a:solidFill>
                  <a:schemeClr val="tx1"/>
                </a:solidFill>
              </a:rPr>
            </a:br>
            <a:r>
              <a:rPr lang="en-US" altLang="en-US" sz="3200" dirty="0" smtClean="0">
                <a:solidFill>
                  <a:schemeClr val="tx1"/>
                </a:solidFill>
              </a:rPr>
              <a:t>model of data access patterns</a:t>
            </a:r>
          </a:p>
        </p:txBody>
      </p:sp>
      <p:sp>
        <p:nvSpPr>
          <p:cNvPr id="435211" name="Rectangle 11"/>
          <p:cNvSpPr>
            <a:spLocks noGrp="1" noChangeArrowheads="1"/>
          </p:cNvSpPr>
          <p:nvPr>
            <p:ph type="body" idx="1"/>
          </p:nvPr>
        </p:nvSpPr>
        <p:spPr>
          <a:xfrm>
            <a:off x="358775" y="1592263"/>
            <a:ext cx="5194300" cy="4932362"/>
          </a:xfrm>
        </p:spPr>
        <p:txBody>
          <a:bodyPr/>
          <a:lstStyle/>
          <a:p>
            <a:pPr eaLnBrk="1" hangingPunct="1"/>
            <a:r>
              <a:rPr lang="en-US" altLang="en-US" sz="2000" b="1" dirty="0" err="1" smtClean="0">
                <a:solidFill>
                  <a:schemeClr val="accent2"/>
                </a:solidFill>
              </a:rPr>
              <a:t>Zipf</a:t>
            </a:r>
            <a:r>
              <a:rPr lang="en-US" altLang="en-US" sz="2000" b="1" dirty="0" smtClean="0">
                <a:solidFill>
                  <a:schemeClr val="accent2"/>
                </a:solidFill>
              </a:rPr>
              <a:t> distribution (power law)</a:t>
            </a:r>
          </a:p>
          <a:p>
            <a:pPr lvl="1" eaLnBrk="1" hangingPunct="1"/>
            <a:r>
              <a:rPr lang="en-US" altLang="en-US" sz="1800" dirty="0" smtClean="0"/>
              <a:t>Characterizes the property of scale invariance</a:t>
            </a:r>
          </a:p>
          <a:p>
            <a:pPr lvl="1" eaLnBrk="1" hangingPunct="1"/>
            <a:r>
              <a:rPr lang="en-US" altLang="en-US" sz="1800" dirty="0" smtClean="0"/>
              <a:t>Heavy tailed, scale free</a:t>
            </a:r>
          </a:p>
          <a:p>
            <a:pPr lvl="4" eaLnBrk="1" hangingPunct="1"/>
            <a:endParaRPr lang="en-US" altLang="en-US" sz="1400" dirty="0" smtClean="0"/>
          </a:p>
          <a:p>
            <a:pPr eaLnBrk="1" hangingPunct="1"/>
            <a:r>
              <a:rPr lang="en-US" altLang="en-US" sz="2000" b="1" dirty="0" smtClean="0">
                <a:solidFill>
                  <a:schemeClr val="accent2"/>
                </a:solidFill>
              </a:rPr>
              <a:t>80-20 rule</a:t>
            </a:r>
          </a:p>
          <a:p>
            <a:pPr lvl="1" eaLnBrk="1" hangingPunct="1"/>
            <a:r>
              <a:rPr lang="en-US" altLang="en-US" sz="1800" dirty="0" smtClean="0"/>
              <a:t>Income distribution: 80% of social wealth owned by 20% people (Pareto law)</a:t>
            </a:r>
          </a:p>
          <a:p>
            <a:pPr lvl="1" eaLnBrk="1" hangingPunct="1"/>
            <a:r>
              <a:rPr lang="en-US" altLang="en-US" sz="1800" dirty="0" smtClean="0"/>
              <a:t>Web traffic: 80% Web requests access 20% pages (Breslau, INFOCOM’99)</a:t>
            </a:r>
          </a:p>
          <a:p>
            <a:pPr lvl="4" eaLnBrk="1" hangingPunct="1"/>
            <a:endParaRPr lang="en-US" altLang="en-US" sz="1400" dirty="0" smtClean="0"/>
          </a:p>
          <a:p>
            <a:pPr eaLnBrk="1" hangingPunct="1"/>
            <a:r>
              <a:rPr lang="en-US" altLang="en-US" sz="2000" b="1" dirty="0" smtClean="0">
                <a:solidFill>
                  <a:schemeClr val="accent2"/>
                </a:solidFill>
              </a:rPr>
              <a:t>System implications</a:t>
            </a:r>
          </a:p>
          <a:p>
            <a:pPr lvl="1" eaLnBrk="1" hangingPunct="1"/>
            <a:r>
              <a:rPr lang="en-US" altLang="en-US" sz="1800" dirty="0" smtClean="0"/>
              <a:t>Objectively caching the working set in proxy</a:t>
            </a:r>
          </a:p>
          <a:p>
            <a:pPr lvl="1" eaLnBrk="1" hangingPunct="1"/>
            <a:r>
              <a:rPr lang="en-US" altLang="en-US" sz="1800" dirty="0" smtClean="0"/>
              <a:t>Significantly reduce network traffic</a:t>
            </a:r>
          </a:p>
        </p:txBody>
      </p:sp>
      <p:grpSp>
        <p:nvGrpSpPr>
          <p:cNvPr id="12293" name="Group 23"/>
          <p:cNvGrpSpPr>
            <a:grpSpLocks/>
          </p:cNvGrpSpPr>
          <p:nvPr/>
        </p:nvGrpSpPr>
        <p:grpSpPr bwMode="auto">
          <a:xfrm>
            <a:off x="5364163" y="1773238"/>
            <a:ext cx="3044825" cy="2311400"/>
            <a:chOff x="3538" y="1026"/>
            <a:chExt cx="1918" cy="1456"/>
          </a:xfrm>
        </p:grpSpPr>
        <p:sp>
          <p:nvSpPr>
            <p:cNvPr id="12305" name="Line 12"/>
            <p:cNvSpPr>
              <a:spLocks noChangeShapeType="1"/>
            </p:cNvSpPr>
            <p:nvPr/>
          </p:nvSpPr>
          <p:spPr bwMode="auto">
            <a:xfrm flipV="1">
              <a:off x="3946" y="1026"/>
              <a:ext cx="0" cy="127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06" name="Line 13"/>
            <p:cNvSpPr>
              <a:spLocks noChangeShapeType="1"/>
            </p:cNvSpPr>
            <p:nvPr/>
          </p:nvSpPr>
          <p:spPr bwMode="auto">
            <a:xfrm>
              <a:off x="3946" y="2297"/>
              <a:ext cx="136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07" name="Line 14"/>
            <p:cNvSpPr>
              <a:spLocks noChangeShapeType="1"/>
            </p:cNvSpPr>
            <p:nvPr/>
          </p:nvSpPr>
          <p:spPr bwMode="auto">
            <a:xfrm>
              <a:off x="3946" y="1254"/>
              <a:ext cx="1089" cy="104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08" name="Text Box 15"/>
            <p:cNvSpPr txBox="1">
              <a:spLocks noChangeArrowheads="1"/>
            </p:cNvSpPr>
            <p:nvPr/>
          </p:nvSpPr>
          <p:spPr bwMode="auto">
            <a:xfrm>
              <a:off x="5080" y="2251"/>
              <a:ext cx="3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a:latin typeface="Times New Roman" panose="02020603050405020304" pitchFamily="18" charset="0"/>
                </a:rPr>
                <a:t>log </a:t>
              </a:r>
              <a:r>
                <a:rPr lang="en-US" altLang="zh-CN" sz="1800" i="1">
                  <a:latin typeface="Times New Roman" panose="02020603050405020304" pitchFamily="18" charset="0"/>
                </a:rPr>
                <a:t>i</a:t>
              </a:r>
            </a:p>
          </p:txBody>
        </p:sp>
        <p:sp>
          <p:nvSpPr>
            <p:cNvPr id="12309" name="Text Box 16"/>
            <p:cNvSpPr txBox="1">
              <a:spLocks noChangeArrowheads="1"/>
            </p:cNvSpPr>
            <p:nvPr/>
          </p:nvSpPr>
          <p:spPr bwMode="auto">
            <a:xfrm>
              <a:off x="3538" y="1026"/>
              <a:ext cx="4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a:latin typeface="Times New Roman" panose="02020603050405020304" pitchFamily="18" charset="0"/>
                </a:rPr>
                <a:t>log</a:t>
              </a:r>
              <a:r>
                <a:rPr lang="en-US" altLang="zh-CN" sz="1800" i="1">
                  <a:latin typeface="Times New Roman" panose="02020603050405020304" pitchFamily="18" charset="0"/>
                </a:rPr>
                <a:t> y</a:t>
              </a:r>
              <a:endParaRPr lang="en-US" altLang="zh-CN" sz="1800" i="1" baseline="30000">
                <a:latin typeface="Times New Roman" panose="02020603050405020304" pitchFamily="18" charset="0"/>
              </a:endParaRPr>
            </a:p>
          </p:txBody>
        </p:sp>
        <p:sp>
          <p:nvSpPr>
            <p:cNvPr id="12310" name="Text Box 17"/>
            <p:cNvSpPr txBox="1">
              <a:spLocks noChangeArrowheads="1"/>
            </p:cNvSpPr>
            <p:nvPr/>
          </p:nvSpPr>
          <p:spPr bwMode="auto">
            <a:xfrm>
              <a:off x="4490" y="1614"/>
              <a:ext cx="67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a:t>slope: </a:t>
              </a:r>
              <a:r>
                <a:rPr lang="en-US" altLang="zh-CN" sz="1800" i="1">
                  <a:latin typeface="Times New Roman" panose="02020603050405020304" pitchFamily="18" charset="0"/>
                </a:rPr>
                <a:t>-</a:t>
              </a:r>
              <a:r>
                <a:rPr lang="en-US" altLang="zh-CN" sz="1800" i="1">
                  <a:latin typeface="Symbol" panose="05050102010706020507" pitchFamily="18" charset="2"/>
                </a:rPr>
                <a:t>a</a:t>
              </a:r>
            </a:p>
          </p:txBody>
        </p:sp>
      </p:grpSp>
      <p:graphicFrame>
        <p:nvGraphicFramePr>
          <p:cNvPr id="435218" name="Object 18"/>
          <p:cNvGraphicFramePr>
            <a:graphicFrameLocks noChangeAspect="1"/>
          </p:cNvGraphicFramePr>
          <p:nvPr/>
        </p:nvGraphicFramePr>
        <p:xfrm>
          <a:off x="6048375" y="4473575"/>
          <a:ext cx="1266825" cy="604838"/>
        </p:xfrm>
        <a:graphic>
          <a:graphicData uri="http://schemas.openxmlformats.org/presentationml/2006/ole">
            <mc:AlternateContent xmlns:mc="http://schemas.openxmlformats.org/markup-compatibility/2006">
              <mc:Choice xmlns:v="urn:schemas-microsoft-com:vml" Requires="v">
                <p:oleObj spid="_x0000_s1069" name="Equation" r:id="rId3" imgW="508000" imgH="241300" progId="Equation.DSMT4">
                  <p:embed/>
                </p:oleObj>
              </mc:Choice>
              <mc:Fallback>
                <p:oleObj name="Equation" r:id="rId3" imgW="508000" imgH="2413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48375" y="4473575"/>
                        <a:ext cx="1266825" cy="604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5219" name="Text Box 19"/>
          <p:cNvSpPr txBox="1">
            <a:spLocks noChangeArrowheads="1"/>
          </p:cNvSpPr>
          <p:nvPr/>
        </p:nvSpPr>
        <p:spPr bwMode="auto">
          <a:xfrm>
            <a:off x="5867400" y="5192713"/>
            <a:ext cx="2447925"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1600" i="1">
                <a:latin typeface="Times New Roman" panose="02020603050405020304" pitchFamily="18" charset="0"/>
              </a:rPr>
              <a:t>i</a:t>
            </a:r>
            <a:r>
              <a:rPr lang="en-US" altLang="zh-CN" sz="1600"/>
              <a:t> : rank of objects</a:t>
            </a:r>
          </a:p>
          <a:p>
            <a:pPr eaLnBrk="1" hangingPunct="1">
              <a:buFontTx/>
              <a:buNone/>
            </a:pPr>
            <a:r>
              <a:rPr lang="en-US" altLang="zh-CN" sz="1600" i="1">
                <a:latin typeface="Times New Roman" panose="02020603050405020304" pitchFamily="18" charset="0"/>
              </a:rPr>
              <a:t>y</a:t>
            </a:r>
            <a:r>
              <a:rPr lang="en-US" altLang="zh-CN" sz="1600" i="1" baseline="-25000">
                <a:latin typeface="Times New Roman" panose="02020603050405020304" pitchFamily="18" charset="0"/>
              </a:rPr>
              <a:t>i</a:t>
            </a:r>
            <a:r>
              <a:rPr lang="en-US" altLang="zh-CN" sz="1600"/>
              <a:t> : number of references</a:t>
            </a:r>
          </a:p>
        </p:txBody>
      </p:sp>
      <p:sp>
        <p:nvSpPr>
          <p:cNvPr id="435220" name="Text Box 20"/>
          <p:cNvSpPr txBox="1">
            <a:spLocks noChangeArrowheads="1"/>
          </p:cNvSpPr>
          <p:nvPr/>
        </p:nvSpPr>
        <p:spPr bwMode="auto">
          <a:xfrm>
            <a:off x="7488238" y="4581525"/>
            <a:ext cx="14049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i="1">
                <a:latin typeface="Symbol" panose="05050102010706020507" pitchFamily="18" charset="2"/>
              </a:rPr>
              <a:t>a</a:t>
            </a:r>
            <a:r>
              <a:rPr lang="en-US" altLang="zh-CN" sz="1800">
                <a:latin typeface="Times New Roman" panose="02020603050405020304" pitchFamily="18" charset="0"/>
              </a:rPr>
              <a:t>:</a:t>
            </a:r>
            <a:r>
              <a:rPr lang="en-US" altLang="zh-CN" sz="1800" i="1">
                <a:latin typeface="Times New Roman" panose="02020603050405020304" pitchFamily="18" charset="0"/>
              </a:rPr>
              <a:t> </a:t>
            </a:r>
            <a:r>
              <a:rPr lang="en-US" altLang="zh-CN" sz="1800">
                <a:latin typeface="Times New Roman" panose="02020603050405020304" pitchFamily="18" charset="0"/>
              </a:rPr>
              <a:t>0.6~0.8</a:t>
            </a:r>
            <a:endParaRPr lang="en-US" altLang="zh-CN" sz="2000"/>
          </a:p>
        </p:txBody>
      </p:sp>
      <p:sp>
        <p:nvSpPr>
          <p:cNvPr id="435224" name="Rectangle 24"/>
          <p:cNvSpPr>
            <a:spLocks noChangeArrowheads="1"/>
          </p:cNvSpPr>
          <p:nvPr/>
        </p:nvSpPr>
        <p:spPr bwMode="auto">
          <a:xfrm>
            <a:off x="5472113" y="1557338"/>
            <a:ext cx="3168650" cy="27717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grpSp>
        <p:nvGrpSpPr>
          <p:cNvPr id="3" name="Group 22"/>
          <p:cNvGrpSpPr>
            <a:grpSpLocks/>
          </p:cNvGrpSpPr>
          <p:nvPr/>
        </p:nvGrpSpPr>
        <p:grpSpPr bwMode="auto">
          <a:xfrm>
            <a:off x="5580063" y="1773238"/>
            <a:ext cx="2519362" cy="2311400"/>
            <a:chOff x="340" y="1094"/>
            <a:chExt cx="1587" cy="1456"/>
          </a:xfrm>
        </p:grpSpPr>
        <p:sp>
          <p:nvSpPr>
            <p:cNvPr id="12299" name="Line 4"/>
            <p:cNvSpPr>
              <a:spLocks noChangeShapeType="1"/>
            </p:cNvSpPr>
            <p:nvPr/>
          </p:nvSpPr>
          <p:spPr bwMode="auto">
            <a:xfrm flipV="1">
              <a:off x="567" y="1094"/>
              <a:ext cx="0" cy="127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00" name="Line 5"/>
            <p:cNvSpPr>
              <a:spLocks noChangeShapeType="1"/>
            </p:cNvSpPr>
            <p:nvPr/>
          </p:nvSpPr>
          <p:spPr bwMode="auto">
            <a:xfrm>
              <a:off x="567" y="2365"/>
              <a:ext cx="136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01" name="Freeform 6"/>
            <p:cNvSpPr>
              <a:spLocks/>
            </p:cNvSpPr>
            <p:nvPr/>
          </p:nvSpPr>
          <p:spPr bwMode="auto">
            <a:xfrm>
              <a:off x="581" y="1243"/>
              <a:ext cx="1247" cy="1111"/>
            </a:xfrm>
            <a:custGeom>
              <a:avLst/>
              <a:gdLst>
                <a:gd name="T0" fmla="*/ 8 w 1247"/>
                <a:gd name="T1" fmla="*/ 0 h 1111"/>
                <a:gd name="T2" fmla="*/ 36 w 1247"/>
                <a:gd name="T3" fmla="*/ 533 h 1111"/>
                <a:gd name="T4" fmla="*/ 223 w 1247"/>
                <a:gd name="T5" fmla="*/ 899 h 1111"/>
                <a:gd name="T6" fmla="*/ 571 w 1247"/>
                <a:gd name="T7" fmla="*/ 1077 h 1111"/>
                <a:gd name="T8" fmla="*/ 1247 w 1247"/>
                <a:gd name="T9" fmla="*/ 1105 h 1111"/>
                <a:gd name="T10" fmla="*/ 0 60000 65536"/>
                <a:gd name="T11" fmla="*/ 0 60000 65536"/>
                <a:gd name="T12" fmla="*/ 0 60000 65536"/>
                <a:gd name="T13" fmla="*/ 0 60000 65536"/>
                <a:gd name="T14" fmla="*/ 0 60000 65536"/>
                <a:gd name="T15" fmla="*/ 0 w 1247"/>
                <a:gd name="T16" fmla="*/ 0 h 1111"/>
                <a:gd name="T17" fmla="*/ 1247 w 1247"/>
                <a:gd name="T18" fmla="*/ 1111 h 1111"/>
              </a:gdLst>
              <a:ahLst/>
              <a:cxnLst>
                <a:cxn ang="T10">
                  <a:pos x="T0" y="T1"/>
                </a:cxn>
                <a:cxn ang="T11">
                  <a:pos x="T2" y="T3"/>
                </a:cxn>
                <a:cxn ang="T12">
                  <a:pos x="T4" y="T5"/>
                </a:cxn>
                <a:cxn ang="T13">
                  <a:pos x="T6" y="T7"/>
                </a:cxn>
                <a:cxn ang="T14">
                  <a:pos x="T8" y="T9"/>
                </a:cxn>
              </a:cxnLst>
              <a:rect l="T15" t="T16" r="T17" b="T18"/>
              <a:pathLst>
                <a:path w="1247" h="1111">
                  <a:moveTo>
                    <a:pt x="8" y="0"/>
                  </a:moveTo>
                  <a:cubicBezTo>
                    <a:pt x="13" y="89"/>
                    <a:pt x="0" y="383"/>
                    <a:pt x="36" y="533"/>
                  </a:cubicBezTo>
                  <a:cubicBezTo>
                    <a:pt x="72" y="683"/>
                    <a:pt x="132" y="798"/>
                    <a:pt x="223" y="899"/>
                  </a:cubicBezTo>
                  <a:cubicBezTo>
                    <a:pt x="314" y="1000"/>
                    <a:pt x="400" y="1043"/>
                    <a:pt x="571" y="1077"/>
                  </a:cubicBezTo>
                  <a:cubicBezTo>
                    <a:pt x="742" y="1111"/>
                    <a:pt x="1134" y="1100"/>
                    <a:pt x="1247" y="1105"/>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302" name="Text Box 7"/>
            <p:cNvSpPr txBox="1">
              <a:spLocks noChangeArrowheads="1"/>
            </p:cNvSpPr>
            <p:nvPr/>
          </p:nvSpPr>
          <p:spPr bwMode="auto">
            <a:xfrm>
              <a:off x="1769" y="2319"/>
              <a:ext cx="1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i="1">
                  <a:latin typeface="Times New Roman" panose="02020603050405020304" pitchFamily="18" charset="0"/>
                </a:rPr>
                <a:t>i</a:t>
              </a:r>
            </a:p>
          </p:txBody>
        </p:sp>
        <p:sp>
          <p:nvSpPr>
            <p:cNvPr id="12303" name="Text Box 8"/>
            <p:cNvSpPr txBox="1">
              <a:spLocks noChangeArrowheads="1"/>
            </p:cNvSpPr>
            <p:nvPr/>
          </p:nvSpPr>
          <p:spPr bwMode="auto">
            <a:xfrm>
              <a:off x="340" y="1117"/>
              <a:ext cx="1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i="1">
                  <a:latin typeface="Times New Roman" panose="02020603050405020304" pitchFamily="18" charset="0"/>
                </a:rPr>
                <a:t>y</a:t>
              </a:r>
              <a:endParaRPr lang="en-US" altLang="zh-CN" sz="1800" i="1" baseline="30000">
                <a:latin typeface="Times New Roman" panose="02020603050405020304" pitchFamily="18" charset="0"/>
              </a:endParaRPr>
            </a:p>
          </p:txBody>
        </p:sp>
        <p:sp>
          <p:nvSpPr>
            <p:cNvPr id="12304" name="Text Box 21"/>
            <p:cNvSpPr txBox="1">
              <a:spLocks noChangeArrowheads="1"/>
            </p:cNvSpPr>
            <p:nvPr/>
          </p:nvSpPr>
          <p:spPr bwMode="auto">
            <a:xfrm>
              <a:off x="1111" y="2024"/>
              <a:ext cx="65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en-US" sz="1600"/>
                <a:t>heavy tail</a:t>
              </a:r>
            </a:p>
          </p:txBody>
        </p:sp>
      </p:grpSp>
    </p:spTree>
    <p:extLst>
      <p:ext uri="{BB962C8B-B14F-4D97-AF65-F5344CB8AC3E}">
        <p14:creationId xmlns:p14="http://schemas.microsoft.com/office/powerpoint/2010/main" val="26490276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3521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521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3521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1000"/>
                                        <p:tgtEl>
                                          <p:spTgt spid="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0"/>
                                          </p:stCondLst>
                                        </p:cTn>
                                        <p:tgtEl>
                                          <p:spTgt spid="435211">
                                            <p:txEl>
                                              <p:pRg st="4" end="4"/>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435211">
                                            <p:txEl>
                                              <p:pRg st="5" end="5"/>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435211">
                                            <p:txEl>
                                              <p:pRg st="6" end="6"/>
                                            </p:txEl>
                                          </p:spTgt>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435218"/>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435220"/>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435219"/>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xit" presetSubtype="0" fill="hold" nodeType="clickEffect">
                                  <p:stCondLst>
                                    <p:cond delay="0"/>
                                  </p:stCondLst>
                                  <p:childTnLst>
                                    <p:set>
                                      <p:cBhvr>
                                        <p:cTn id="35" dur="1" fill="hold">
                                          <p:stCondLst>
                                            <p:cond delay="0"/>
                                          </p:stCondLst>
                                        </p:cTn>
                                        <p:tgtEl>
                                          <p:spTgt spid="3"/>
                                        </p:tgtEl>
                                        <p:attrNameLst>
                                          <p:attrName>style.visibility</p:attrName>
                                        </p:attrNameLst>
                                      </p:cBhvr>
                                      <p:to>
                                        <p:strVal val="hidden"/>
                                      </p:to>
                                    </p:set>
                                  </p:childTnLst>
                                </p:cTn>
                              </p:par>
                              <p:par>
                                <p:cTn id="36" presetID="1" presetClass="exit" presetSubtype="0" fill="hold" grpId="0" nodeType="withEffect">
                                  <p:stCondLst>
                                    <p:cond delay="0"/>
                                  </p:stCondLst>
                                  <p:childTnLst>
                                    <p:set>
                                      <p:cBhvr>
                                        <p:cTn id="37" dur="1" fill="hold">
                                          <p:stCondLst>
                                            <p:cond delay="0"/>
                                          </p:stCondLst>
                                        </p:cTn>
                                        <p:tgtEl>
                                          <p:spTgt spid="435224"/>
                                        </p:tgtEl>
                                        <p:attrNameLst>
                                          <p:attrName>style.visibility</p:attrName>
                                        </p:attrNameLst>
                                      </p:cBhvr>
                                      <p:to>
                                        <p:strVal val="hidden"/>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nodeType="clickEffect">
                                  <p:stCondLst>
                                    <p:cond delay="0"/>
                                  </p:stCondLst>
                                  <p:childTnLst>
                                    <p:set>
                                      <p:cBhvr>
                                        <p:cTn id="41" dur="1" fill="hold">
                                          <p:stCondLst>
                                            <p:cond delay="0"/>
                                          </p:stCondLst>
                                        </p:cTn>
                                        <p:tgtEl>
                                          <p:spTgt spid="435211">
                                            <p:txEl>
                                              <p:pRg st="8" end="8"/>
                                            </p:txEl>
                                          </p:spTgt>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435211">
                                            <p:txEl>
                                              <p:pRg st="9" end="9"/>
                                            </p:txEl>
                                          </p:spTgt>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43521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5219" grpId="0"/>
      <p:bldP spid="435220" grpId="0"/>
      <p:bldP spid="43522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993775"/>
            <a:ext cx="7620000" cy="444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5" name="Content Placeholder 9"/>
          <p:cNvSpPr>
            <a:spLocks noGrp="1"/>
          </p:cNvSpPr>
          <p:nvPr>
            <p:ph/>
          </p:nvPr>
        </p:nvSpPr>
        <p:spPr>
          <a:xfrm>
            <a:off x="0" y="5443538"/>
            <a:ext cx="9144000" cy="1414462"/>
          </a:xfrm>
        </p:spPr>
        <p:txBody>
          <a:bodyPr/>
          <a:lstStyle/>
          <a:p>
            <a:r>
              <a:rPr lang="en-US" altLang="en-US" sz="1800" smtClean="0"/>
              <a:t>The growth of Netflix selections ( today: 30 million US users, 40 million users total, 1/3 streaming traffic of Internet) </a:t>
            </a:r>
          </a:p>
          <a:p>
            <a:pPr lvl="1"/>
            <a:r>
              <a:rPr lang="en-US" altLang="en-US" sz="1400" smtClean="0"/>
              <a:t>2000: 4,500 DVDs, 2005: 18,000 DVDs </a:t>
            </a:r>
          </a:p>
          <a:p>
            <a:pPr lvl="1"/>
            <a:r>
              <a:rPr lang="en-US" altLang="en-US" sz="1400" smtClean="0"/>
              <a:t>2011: over 100,000 DVDs (</a:t>
            </a:r>
            <a:r>
              <a:rPr lang="en-US" altLang="en-US" sz="1400" smtClean="0">
                <a:solidFill>
                  <a:srgbClr val="FF0000"/>
                </a:solidFill>
              </a:rPr>
              <a:t>the long tail would be dropped even more slowly for more demands</a:t>
            </a:r>
            <a:r>
              <a:rPr lang="en-US" altLang="en-US" sz="1400" smtClean="0"/>
              <a:t>)  </a:t>
            </a:r>
          </a:p>
          <a:p>
            <a:pPr lvl="1"/>
            <a:r>
              <a:rPr lang="en-US" altLang="en-US" sz="1400" smtClean="0"/>
              <a:t>Note: “breaks and mortar retailers”: face-to-face sell shops. </a:t>
            </a:r>
          </a:p>
        </p:txBody>
      </p:sp>
      <p:sp>
        <p:nvSpPr>
          <p:cNvPr id="8196" name="Title 1"/>
          <p:cNvSpPr>
            <a:spLocks noGrp="1"/>
          </p:cNvSpPr>
          <p:nvPr>
            <p:ph type="ctrTitle" idx="4294967295"/>
          </p:nvPr>
        </p:nvSpPr>
        <p:spPr>
          <a:xfrm>
            <a:off x="0" y="0"/>
            <a:ext cx="9144000" cy="828675"/>
          </a:xfrm>
        </p:spPr>
        <p:txBody>
          <a:bodyPr/>
          <a:lstStyle/>
          <a:p>
            <a:r>
              <a:rPr lang="en-US" altLang="en-US" sz="2800" b="1" dirty="0" smtClean="0">
                <a:solidFill>
                  <a:srgbClr val="0070C0"/>
                </a:solidFill>
              </a:rPr>
              <a:t>Distribution Changes in DVDs in Netflix 2000 to 2011</a:t>
            </a:r>
          </a:p>
        </p:txBody>
      </p:sp>
      <p:sp>
        <p:nvSpPr>
          <p:cNvPr id="10" name="Freeform 9"/>
          <p:cNvSpPr/>
          <p:nvPr/>
        </p:nvSpPr>
        <p:spPr>
          <a:xfrm>
            <a:off x="1219200" y="2852738"/>
            <a:ext cx="6400800" cy="2006600"/>
          </a:xfrm>
          <a:custGeom>
            <a:avLst/>
            <a:gdLst>
              <a:gd name="connsiteX0" fmla="*/ 0 w 6249879"/>
              <a:gd name="connsiteY0" fmla="*/ 0 h 2006353"/>
              <a:gd name="connsiteX1" fmla="*/ 417250 w 6249879"/>
              <a:gd name="connsiteY1" fmla="*/ 97654 h 2006353"/>
              <a:gd name="connsiteX2" fmla="*/ 612559 w 6249879"/>
              <a:gd name="connsiteY2" fmla="*/ 417250 h 2006353"/>
              <a:gd name="connsiteX3" fmla="*/ 941033 w 6249879"/>
              <a:gd name="connsiteY3" fmla="*/ 1313895 h 2006353"/>
              <a:gd name="connsiteX4" fmla="*/ 1438182 w 6249879"/>
              <a:gd name="connsiteY4" fmla="*/ 1713390 h 2006353"/>
              <a:gd name="connsiteX5" fmla="*/ 2982897 w 6249879"/>
              <a:gd name="connsiteY5" fmla="*/ 1944210 h 2006353"/>
              <a:gd name="connsiteX6" fmla="*/ 6249879 w 6249879"/>
              <a:gd name="connsiteY6" fmla="*/ 2006353 h 200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49879" h="2006353">
                <a:moveTo>
                  <a:pt x="0" y="0"/>
                </a:moveTo>
                <a:cubicBezTo>
                  <a:pt x="157578" y="14056"/>
                  <a:pt x="315157" y="28112"/>
                  <a:pt x="417250" y="97654"/>
                </a:cubicBezTo>
                <a:cubicBezTo>
                  <a:pt x="519343" y="167196"/>
                  <a:pt x="525262" y="214543"/>
                  <a:pt x="612559" y="417250"/>
                </a:cubicBezTo>
                <a:cubicBezTo>
                  <a:pt x="699856" y="619957"/>
                  <a:pt x="803429" y="1097872"/>
                  <a:pt x="941033" y="1313895"/>
                </a:cubicBezTo>
                <a:cubicBezTo>
                  <a:pt x="1078637" y="1529918"/>
                  <a:pt x="1097871" y="1608338"/>
                  <a:pt x="1438182" y="1713390"/>
                </a:cubicBezTo>
                <a:cubicBezTo>
                  <a:pt x="1778493" y="1818443"/>
                  <a:pt x="2180948" y="1895383"/>
                  <a:pt x="2982897" y="1944210"/>
                </a:cubicBezTo>
                <a:cubicBezTo>
                  <a:pt x="3784847" y="1993037"/>
                  <a:pt x="6249879" y="2006353"/>
                  <a:pt x="6249879" y="2006353"/>
                </a:cubicBezTo>
              </a:path>
            </a:pathLst>
          </a:custGeom>
          <a:ln w="28575">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grpSp>
        <p:nvGrpSpPr>
          <p:cNvPr id="2" name="Group 13"/>
          <p:cNvGrpSpPr>
            <a:grpSpLocks/>
          </p:cNvGrpSpPr>
          <p:nvPr/>
        </p:nvGrpSpPr>
        <p:grpSpPr bwMode="auto">
          <a:xfrm>
            <a:off x="2030413" y="2971800"/>
            <a:ext cx="2209800" cy="533400"/>
            <a:chOff x="1981200" y="2895600"/>
            <a:chExt cx="2209800" cy="533400"/>
          </a:xfrm>
        </p:grpSpPr>
        <p:sp>
          <p:nvSpPr>
            <p:cNvPr id="8199" name="TextBox 10"/>
            <p:cNvSpPr txBox="1">
              <a:spLocks noChangeArrowheads="1"/>
            </p:cNvSpPr>
            <p:nvPr/>
          </p:nvSpPr>
          <p:spPr bwMode="auto">
            <a:xfrm>
              <a:off x="2514600" y="2895600"/>
              <a:ext cx="1676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en-US" sz="1800" b="1">
                  <a:solidFill>
                    <a:srgbClr val="FF0000"/>
                  </a:solidFill>
                </a:rPr>
                <a:t>2011 predicted</a:t>
              </a:r>
            </a:p>
          </p:txBody>
        </p:sp>
        <p:cxnSp>
          <p:nvCxnSpPr>
            <p:cNvPr id="13" name="Straight Arrow Connector 12"/>
            <p:cNvCxnSpPr>
              <a:stCxn id="8199" idx="1"/>
            </p:cNvCxnSpPr>
            <p:nvPr/>
          </p:nvCxnSpPr>
          <p:spPr>
            <a:xfrm flipH="1">
              <a:off x="1981200" y="3079750"/>
              <a:ext cx="533400" cy="34925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086179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dissolve">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Title 1"/>
          <p:cNvSpPr>
            <a:spLocks noGrp="1"/>
          </p:cNvSpPr>
          <p:nvPr>
            <p:ph type="title"/>
          </p:nvPr>
        </p:nvSpPr>
        <p:spPr>
          <a:xfrm>
            <a:off x="-85725" y="0"/>
            <a:ext cx="9315450" cy="676275"/>
          </a:xfrm>
        </p:spPr>
        <p:txBody>
          <a:bodyPr/>
          <a:lstStyle/>
          <a:p>
            <a:r>
              <a:rPr lang="en-US" altLang="en-US" sz="2800" smtClean="0"/>
              <a:t>Why Shifting from Highly Focused Data sets to </a:t>
            </a:r>
            <a:r>
              <a:rPr lang="en-US" altLang="en-US" sz="2800" smtClean="0">
                <a:solidFill>
                  <a:srgbClr val="FF0000"/>
                </a:solidFill>
              </a:rPr>
              <a:t>Big Data?</a:t>
            </a:r>
          </a:p>
        </p:txBody>
      </p:sp>
      <p:sp>
        <p:nvSpPr>
          <p:cNvPr id="3" name="Content Placeholder 2"/>
          <p:cNvSpPr>
            <a:spLocks noGrp="1"/>
          </p:cNvSpPr>
          <p:nvPr>
            <p:ph idx="1"/>
          </p:nvPr>
        </p:nvSpPr>
        <p:spPr>
          <a:xfrm>
            <a:off x="0" y="647700"/>
            <a:ext cx="9144000" cy="5953125"/>
          </a:xfrm>
        </p:spPr>
        <p:txBody>
          <a:bodyPr/>
          <a:lstStyle/>
          <a:p>
            <a:pPr>
              <a:lnSpc>
                <a:spcPct val="80000"/>
              </a:lnSpc>
            </a:pPr>
            <a:r>
              <a:rPr lang="en-US" altLang="en-US" sz="2200" dirty="0" smtClean="0"/>
              <a:t> </a:t>
            </a:r>
            <a:r>
              <a:rPr lang="en-US" altLang="en-US" sz="2200" dirty="0" smtClean="0">
                <a:solidFill>
                  <a:srgbClr val="FF0000"/>
                </a:solidFill>
              </a:rPr>
              <a:t>Time</a:t>
            </a:r>
            <a:r>
              <a:rPr lang="en-US" altLang="en-US" sz="2200" dirty="0" smtClean="0"/>
              <a:t> and </a:t>
            </a:r>
            <a:r>
              <a:rPr lang="en-US" altLang="en-US" sz="2200" dirty="0" smtClean="0">
                <a:solidFill>
                  <a:srgbClr val="FF0000"/>
                </a:solidFill>
              </a:rPr>
              <a:t>space</a:t>
            </a:r>
            <a:r>
              <a:rPr lang="en-US" altLang="en-US" sz="2200" dirty="0" smtClean="0"/>
              <a:t> with rapid advancement of computer/Internet  </a:t>
            </a:r>
          </a:p>
          <a:p>
            <a:pPr marL="685800" lvl="1" indent="-342900">
              <a:lnSpc>
                <a:spcPct val="80000"/>
              </a:lnSpc>
              <a:buFont typeface="Arial" panose="020B0604020202020204" pitchFamily="34" charset="0"/>
              <a:buChar char="•"/>
            </a:pPr>
            <a:r>
              <a:rPr lang="en-US" altLang="en-US" sz="2000" dirty="0" smtClean="0"/>
              <a:t>Fast </a:t>
            </a:r>
            <a:r>
              <a:rPr lang="en-US" altLang="en-US" sz="2000" dirty="0" smtClean="0">
                <a:solidFill>
                  <a:srgbClr val="00A800"/>
                </a:solidFill>
              </a:rPr>
              <a:t>search</a:t>
            </a:r>
            <a:r>
              <a:rPr lang="en-US" altLang="en-US" sz="2000" dirty="0" smtClean="0"/>
              <a:t> and </a:t>
            </a:r>
            <a:r>
              <a:rPr lang="en-US" altLang="en-US" sz="2000" dirty="0" smtClean="0">
                <a:solidFill>
                  <a:srgbClr val="00A800"/>
                </a:solidFill>
              </a:rPr>
              <a:t>processing technology </a:t>
            </a:r>
            <a:r>
              <a:rPr lang="en-US" altLang="en-US" sz="2000" dirty="0" smtClean="0"/>
              <a:t>of high volume of data </a:t>
            </a:r>
          </a:p>
          <a:p>
            <a:pPr marL="685800" lvl="1" indent="-342900">
              <a:lnSpc>
                <a:spcPct val="80000"/>
              </a:lnSpc>
              <a:buFont typeface="Arial" panose="020B0604020202020204" pitchFamily="34" charset="0"/>
              <a:buChar char="•"/>
            </a:pPr>
            <a:r>
              <a:rPr lang="en-US" altLang="en-US" sz="2000" dirty="0" smtClean="0"/>
              <a:t>Low cost and </a:t>
            </a:r>
            <a:r>
              <a:rPr lang="en-US" altLang="en-US" sz="2000" dirty="0" smtClean="0">
                <a:solidFill>
                  <a:srgbClr val="00A800"/>
                </a:solidFill>
              </a:rPr>
              <a:t>high capacity</a:t>
            </a:r>
            <a:r>
              <a:rPr lang="en-US" altLang="en-US" sz="2000" dirty="0" smtClean="0"/>
              <a:t> of storage, advanced </a:t>
            </a:r>
            <a:r>
              <a:rPr lang="en-US" altLang="en-US" sz="2000" dirty="0" smtClean="0">
                <a:solidFill>
                  <a:srgbClr val="00A800"/>
                </a:solidFill>
              </a:rPr>
              <a:t>caching techniques </a:t>
            </a:r>
          </a:p>
          <a:p>
            <a:pPr marL="685800" lvl="1" indent="-342900">
              <a:lnSpc>
                <a:spcPct val="80000"/>
              </a:lnSpc>
              <a:buFont typeface="Arial" panose="020B0604020202020204" pitchFamily="34" charset="0"/>
              <a:buChar char="•"/>
            </a:pPr>
            <a:r>
              <a:rPr lang="en-US" altLang="en-US" sz="2000" dirty="0" smtClean="0"/>
              <a:t>Data are easy to produce, store, and access at low costs with </a:t>
            </a:r>
            <a:r>
              <a:rPr lang="en-US" altLang="en-US" sz="2000" dirty="0" smtClean="0">
                <a:solidFill>
                  <a:srgbClr val="FF0000"/>
                </a:solidFill>
              </a:rPr>
              <a:t>less and less time and space constraint</a:t>
            </a:r>
          </a:p>
          <a:p>
            <a:pPr lvl="1">
              <a:lnSpc>
                <a:spcPct val="80000"/>
              </a:lnSpc>
              <a:buFontTx/>
              <a:buNone/>
            </a:pPr>
            <a:endParaRPr lang="en-US" altLang="en-US" sz="2000" dirty="0" smtClean="0"/>
          </a:p>
          <a:p>
            <a:pPr>
              <a:lnSpc>
                <a:spcPct val="80000"/>
              </a:lnSpc>
            </a:pPr>
            <a:r>
              <a:rPr lang="en-US" altLang="en-US" sz="2200" dirty="0" smtClean="0"/>
              <a:t> </a:t>
            </a:r>
            <a:r>
              <a:rPr lang="en-US" altLang="en-US" sz="2200" dirty="0" smtClean="0">
                <a:solidFill>
                  <a:srgbClr val="FF0000"/>
                </a:solidFill>
              </a:rPr>
              <a:t>Data in the long tail</a:t>
            </a:r>
            <a:r>
              <a:rPr lang="en-US" altLang="en-US" sz="2200" dirty="0" smtClean="0"/>
              <a:t> are very valuable  </a:t>
            </a:r>
          </a:p>
          <a:p>
            <a:pPr marL="685800" lvl="1" indent="-342900">
              <a:lnSpc>
                <a:spcPct val="80000"/>
              </a:lnSpc>
              <a:buFont typeface="Arial" panose="020B0604020202020204" pitchFamily="34" charset="0"/>
              <a:buChar char="•"/>
            </a:pPr>
            <a:r>
              <a:rPr lang="en-US" altLang="en-US" sz="2000" dirty="0" smtClean="0"/>
              <a:t>New demand/supply, new knowledge and new discovery </a:t>
            </a:r>
          </a:p>
          <a:p>
            <a:pPr marL="685800" lvl="1" indent="-342900">
              <a:lnSpc>
                <a:spcPct val="80000"/>
              </a:lnSpc>
              <a:buFont typeface="Arial" panose="020B0604020202020204" pitchFamily="34" charset="0"/>
              <a:buChar char="•"/>
            </a:pPr>
            <a:r>
              <a:rPr lang="en-US" altLang="en-US" sz="2000" dirty="0" smtClean="0"/>
              <a:t>In data minding, with big data, simple algorithms are most effective </a:t>
            </a:r>
          </a:p>
          <a:p>
            <a:pPr lvl="1">
              <a:lnSpc>
                <a:spcPct val="80000"/>
              </a:lnSpc>
              <a:buFontTx/>
              <a:buNone/>
            </a:pPr>
            <a:endParaRPr lang="en-US" altLang="en-US" sz="2000" dirty="0" smtClean="0"/>
          </a:p>
          <a:p>
            <a:pPr>
              <a:lnSpc>
                <a:spcPct val="80000"/>
              </a:lnSpc>
            </a:pPr>
            <a:r>
              <a:rPr lang="en-US" altLang="en-US" sz="2200" dirty="0" smtClean="0"/>
              <a:t> Big data challenges </a:t>
            </a:r>
            <a:r>
              <a:rPr lang="en-US" altLang="en-US" sz="2200" dirty="0" smtClean="0">
                <a:solidFill>
                  <a:srgbClr val="FF0000"/>
                </a:solidFill>
              </a:rPr>
              <a:t>traditional concept of 80-20 rule</a:t>
            </a:r>
          </a:p>
          <a:p>
            <a:pPr marL="685800" lvl="1" indent="-342900">
              <a:lnSpc>
                <a:spcPct val="80000"/>
              </a:lnSpc>
              <a:buFont typeface="Arial" panose="020B0604020202020204" pitchFamily="34" charset="0"/>
              <a:buChar char="•"/>
            </a:pPr>
            <a:r>
              <a:rPr lang="en-US" altLang="en-US" sz="2000" dirty="0" smtClean="0"/>
              <a:t>80-20 rule: 20% products (data) account for 80% sales (results)</a:t>
            </a:r>
          </a:p>
          <a:p>
            <a:pPr marL="685800" lvl="1" indent="-342900">
              <a:lnSpc>
                <a:spcPct val="80000"/>
              </a:lnSpc>
              <a:buFont typeface="Arial" panose="020B0604020202020204" pitchFamily="34" charset="0"/>
              <a:buChar char="•"/>
            </a:pPr>
            <a:r>
              <a:rPr lang="en-US" altLang="en-US" sz="2000" dirty="0" smtClean="0">
                <a:solidFill>
                  <a:srgbClr val="FF0000"/>
                </a:solidFill>
              </a:rPr>
              <a:t>The 98% rule</a:t>
            </a:r>
            <a:r>
              <a:rPr lang="en-US" altLang="en-US" sz="2000" dirty="0" smtClean="0"/>
              <a:t>: almost every product (data) contribute in its own way</a:t>
            </a:r>
          </a:p>
          <a:p>
            <a:pPr lvl="1">
              <a:lnSpc>
                <a:spcPct val="80000"/>
              </a:lnSpc>
              <a:buFontTx/>
              <a:buNone/>
            </a:pPr>
            <a:endParaRPr lang="en-US" altLang="en-US" sz="2000" dirty="0" smtClean="0"/>
          </a:p>
          <a:p>
            <a:pPr>
              <a:lnSpc>
                <a:spcPct val="80000"/>
              </a:lnSpc>
            </a:pPr>
            <a:r>
              <a:rPr lang="en-US" altLang="en-US" sz="2200" dirty="0" smtClean="0"/>
              <a:t> Big data creates </a:t>
            </a:r>
            <a:r>
              <a:rPr lang="en-US" altLang="en-US" sz="2200" dirty="0" smtClean="0">
                <a:solidFill>
                  <a:srgbClr val="FF0000"/>
                </a:solidFill>
              </a:rPr>
              <a:t>a world of abundance</a:t>
            </a:r>
            <a:r>
              <a:rPr lang="en-US" altLang="en-US" sz="2200" dirty="0" smtClean="0"/>
              <a:t>  </a:t>
            </a:r>
          </a:p>
          <a:p>
            <a:pPr marL="685800" lvl="1" indent="-342900">
              <a:lnSpc>
                <a:spcPct val="80000"/>
              </a:lnSpc>
              <a:buFont typeface="Arial" panose="020B0604020202020204" pitchFamily="34" charset="0"/>
              <a:buChar char="•"/>
            </a:pPr>
            <a:r>
              <a:rPr lang="en-US" altLang="en-US" sz="2000" dirty="0" smtClean="0"/>
              <a:t>In contrast to a world of scarcity, we must change our thinking/actions:</a:t>
            </a:r>
          </a:p>
          <a:p>
            <a:pPr marL="685800" lvl="1" indent="-342900">
              <a:lnSpc>
                <a:spcPct val="80000"/>
              </a:lnSpc>
              <a:buFont typeface="Arial" panose="020B0604020202020204" pitchFamily="34" charset="0"/>
              <a:buChar char="•"/>
            </a:pPr>
            <a:r>
              <a:rPr lang="en-US" altLang="en-US" sz="2000" dirty="0" smtClean="0"/>
              <a:t>Building low cost tools/systems </a:t>
            </a:r>
            <a:r>
              <a:rPr lang="en-US" altLang="en-US" sz="2000" dirty="0" smtClean="0">
                <a:solidFill>
                  <a:srgbClr val="FF0000"/>
                </a:solidFill>
              </a:rPr>
              <a:t>to produce and store</a:t>
            </a:r>
            <a:r>
              <a:rPr lang="en-US" altLang="en-US" sz="2000" dirty="0" smtClean="0"/>
              <a:t> meaningful big data   </a:t>
            </a:r>
          </a:p>
          <a:p>
            <a:pPr marL="685800" lvl="1" indent="-342900">
              <a:lnSpc>
                <a:spcPct val="80000"/>
              </a:lnSpc>
              <a:buFont typeface="Arial" panose="020B0604020202020204" pitchFamily="34" charset="0"/>
              <a:buChar char="•"/>
            </a:pPr>
            <a:r>
              <a:rPr lang="en-US" altLang="en-US" sz="2000" dirty="0" smtClean="0"/>
              <a:t>Building low cost tools/systems </a:t>
            </a:r>
            <a:r>
              <a:rPr lang="en-US" altLang="en-US" sz="2000" dirty="0" smtClean="0">
                <a:solidFill>
                  <a:srgbClr val="FF0000"/>
                </a:solidFill>
              </a:rPr>
              <a:t>to process continuously growing big data</a:t>
            </a:r>
          </a:p>
          <a:p>
            <a:pPr marL="685800" lvl="1" indent="-342900">
              <a:lnSpc>
                <a:spcPct val="80000"/>
              </a:lnSpc>
              <a:buFont typeface="Arial" panose="020B0604020202020204" pitchFamily="34" charset="0"/>
              <a:buChar char="•"/>
            </a:pPr>
            <a:r>
              <a:rPr lang="en-US" altLang="en-US" sz="2000" dirty="0" smtClean="0"/>
              <a:t>Linking them to all applications for advancement of the society.  </a:t>
            </a:r>
          </a:p>
        </p:txBody>
      </p:sp>
    </p:spTree>
    <p:extLst>
      <p:ext uri="{BB962C8B-B14F-4D97-AF65-F5344CB8AC3E}">
        <p14:creationId xmlns:p14="http://schemas.microsoft.com/office/powerpoint/2010/main" val="179054317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Slide Number Placeholder 5"/>
          <p:cNvSpPr>
            <a:spLocks noGrp="1"/>
          </p:cNvSpPr>
          <p:nvPr>
            <p:ph type="sldNum" sz="quarter" idx="4294967295"/>
          </p:nvPr>
        </p:nvSpPr>
        <p:spPr>
          <a:xfrm>
            <a:off x="6553200" y="6245225"/>
            <a:ext cx="2133600" cy="4762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5F1F8280-DB13-4127-9344-2A0C2C2CB6F9}" type="slidenum">
              <a:rPr lang="en-US" altLang="zh-CN" sz="1400" smtClean="0"/>
              <a:pPr>
                <a:spcBef>
                  <a:spcPct val="0"/>
                </a:spcBef>
                <a:buFontTx/>
                <a:buNone/>
              </a:pPr>
              <a:t>14</a:t>
            </a:fld>
            <a:endParaRPr lang="en-US" altLang="zh-CN" sz="1400" smtClean="0"/>
          </a:p>
        </p:txBody>
      </p:sp>
      <p:sp>
        <p:nvSpPr>
          <p:cNvPr id="15363" name="Rectangle 2"/>
          <p:cNvSpPr>
            <a:spLocks noGrp="1" noChangeArrowheads="1"/>
          </p:cNvSpPr>
          <p:nvPr>
            <p:ph type="title"/>
          </p:nvPr>
        </p:nvSpPr>
        <p:spPr/>
        <p:txBody>
          <a:bodyPr/>
          <a:lstStyle/>
          <a:p>
            <a:pPr eaLnBrk="1" hangingPunct="1"/>
            <a:r>
              <a:rPr lang="en-US" altLang="en-US" sz="3600" smtClean="0">
                <a:solidFill>
                  <a:schemeClr val="accent2"/>
                </a:solidFill>
              </a:rPr>
              <a:t>Research Objectives</a:t>
            </a:r>
          </a:p>
        </p:txBody>
      </p:sp>
      <p:sp>
        <p:nvSpPr>
          <p:cNvPr id="445443" name="Rectangle 3"/>
          <p:cNvSpPr>
            <a:spLocks noGrp="1" noChangeArrowheads="1"/>
          </p:cNvSpPr>
          <p:nvPr>
            <p:ph type="body" idx="1"/>
          </p:nvPr>
        </p:nvSpPr>
        <p:spPr>
          <a:xfrm>
            <a:off x="0" y="1600200"/>
            <a:ext cx="9144000" cy="5105400"/>
          </a:xfrm>
        </p:spPr>
        <p:txBody>
          <a:bodyPr/>
          <a:lstStyle/>
          <a:p>
            <a:pPr eaLnBrk="1" hangingPunct="1"/>
            <a:r>
              <a:rPr lang="en-US" altLang="en-US" sz="2800" b="1" dirty="0" smtClean="0"/>
              <a:t>Find</a:t>
            </a:r>
            <a:r>
              <a:rPr lang="en-US" altLang="en-US" sz="2800" b="1" dirty="0" smtClean="0">
                <a:solidFill>
                  <a:srgbClr val="FF0000"/>
                </a:solidFill>
              </a:rPr>
              <a:t> a general distribution model </a:t>
            </a:r>
            <a:r>
              <a:rPr lang="en-US" altLang="en-US" sz="2800" b="1" dirty="0" smtClean="0"/>
              <a:t>of Internet media access patterns</a:t>
            </a:r>
            <a:r>
              <a:rPr lang="en-US" altLang="en-US" sz="2800" b="1" dirty="0" smtClean="0">
                <a:solidFill>
                  <a:srgbClr val="FF0000"/>
                </a:solidFill>
              </a:rPr>
              <a:t> </a:t>
            </a:r>
            <a:r>
              <a:rPr lang="en-US" altLang="en-US" sz="2800" b="1" dirty="0" smtClean="0"/>
              <a:t>as a case for </a:t>
            </a:r>
            <a:r>
              <a:rPr lang="en-US" altLang="en-US" sz="2800" b="1" dirty="0" smtClean="0">
                <a:solidFill>
                  <a:srgbClr val="FF0000"/>
                </a:solidFill>
              </a:rPr>
              <a:t>big data</a:t>
            </a:r>
          </a:p>
          <a:p>
            <a:pPr eaLnBrk="1" hangingPunct="1">
              <a:buFontTx/>
              <a:buNone/>
            </a:pPr>
            <a:endParaRPr lang="en-US" altLang="en-US" sz="2800" b="1" dirty="0" smtClean="0">
              <a:solidFill>
                <a:srgbClr val="FF0000"/>
              </a:solidFill>
            </a:endParaRPr>
          </a:p>
          <a:p>
            <a:pPr marL="685800" lvl="1" indent="-342900" eaLnBrk="1" hangingPunct="1">
              <a:buFont typeface="Wingdings" panose="05000000000000000000" pitchFamily="2" charset="2"/>
              <a:buChar char="p"/>
            </a:pPr>
            <a:r>
              <a:rPr lang="en-US" altLang="en-US" dirty="0" smtClean="0"/>
              <a:t>Comprehensive measurements and experiments</a:t>
            </a:r>
          </a:p>
          <a:p>
            <a:pPr marL="685800" lvl="1" indent="-342900" eaLnBrk="1" hangingPunct="1">
              <a:buFont typeface="Wingdings" panose="05000000000000000000" pitchFamily="2" charset="2"/>
              <a:buChar char="p"/>
            </a:pPr>
            <a:endParaRPr lang="en-US" altLang="en-US" dirty="0" smtClean="0"/>
          </a:p>
          <a:p>
            <a:pPr marL="685800" lvl="1" indent="-342900" eaLnBrk="1" hangingPunct="1">
              <a:buFont typeface="Wingdings" panose="05000000000000000000" pitchFamily="2" charset="2"/>
              <a:buChar char="p"/>
            </a:pPr>
            <a:r>
              <a:rPr lang="en-US" altLang="en-US" dirty="0" smtClean="0"/>
              <a:t>Rigorous mathematical analysis and modeling</a:t>
            </a:r>
          </a:p>
          <a:p>
            <a:pPr marL="685800" lvl="1" indent="-342900" eaLnBrk="1" hangingPunct="1">
              <a:buFont typeface="Wingdings" panose="05000000000000000000" pitchFamily="2" charset="2"/>
              <a:buChar char="p"/>
            </a:pPr>
            <a:endParaRPr lang="en-US" altLang="en-US" dirty="0" smtClean="0"/>
          </a:p>
          <a:p>
            <a:pPr marL="685800" lvl="1" indent="-342900" eaLnBrk="1" hangingPunct="1">
              <a:buFont typeface="Wingdings" panose="05000000000000000000" pitchFamily="2" charset="2"/>
              <a:buChar char="p"/>
            </a:pPr>
            <a:r>
              <a:rPr lang="en-US" altLang="en-US" dirty="0" smtClean="0"/>
              <a:t>Insights into media system designs</a:t>
            </a:r>
          </a:p>
          <a:p>
            <a:pPr lvl="4" eaLnBrk="1" hangingPunct="1"/>
            <a:endParaRPr lang="en-US" altLang="en-US" sz="2800" dirty="0" smtClean="0"/>
          </a:p>
        </p:txBody>
      </p:sp>
    </p:spTree>
    <p:extLst>
      <p:ext uri="{BB962C8B-B14F-4D97-AF65-F5344CB8AC3E}">
        <p14:creationId xmlns:p14="http://schemas.microsoft.com/office/powerpoint/2010/main" val="25169019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4544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544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4544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4544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Slide Number Placeholder 5"/>
          <p:cNvSpPr>
            <a:spLocks noGrp="1"/>
          </p:cNvSpPr>
          <p:nvPr>
            <p:ph type="sldNum" sz="quarter" idx="4294967295"/>
          </p:nvPr>
        </p:nvSpPr>
        <p:spPr>
          <a:xfrm>
            <a:off x="6553200" y="6245225"/>
            <a:ext cx="2133600" cy="4762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77F35756-F897-444A-9522-C50C8E236AA5}" type="slidenum">
              <a:rPr lang="en-US" altLang="zh-CN" sz="1400" smtClean="0"/>
              <a:pPr>
                <a:spcBef>
                  <a:spcPct val="0"/>
                </a:spcBef>
                <a:buFontTx/>
                <a:buNone/>
              </a:pPr>
              <a:t>15</a:t>
            </a:fld>
            <a:endParaRPr lang="en-US" altLang="zh-CN" sz="1400" smtClean="0"/>
          </a:p>
        </p:txBody>
      </p:sp>
      <p:sp>
        <p:nvSpPr>
          <p:cNvPr id="17411" name="Rectangle 2"/>
          <p:cNvSpPr>
            <a:spLocks noGrp="1" noChangeArrowheads="1"/>
          </p:cNvSpPr>
          <p:nvPr>
            <p:ph type="title"/>
          </p:nvPr>
        </p:nvSpPr>
        <p:spPr/>
        <p:txBody>
          <a:bodyPr/>
          <a:lstStyle/>
          <a:p>
            <a:pPr eaLnBrk="1" hangingPunct="1"/>
            <a:r>
              <a:rPr lang="en-US" altLang="en-US" sz="3200" smtClean="0">
                <a:solidFill>
                  <a:schemeClr val="tx1"/>
                </a:solidFill>
              </a:rPr>
              <a:t>Workload summary</a:t>
            </a:r>
          </a:p>
        </p:txBody>
      </p:sp>
      <p:sp>
        <p:nvSpPr>
          <p:cNvPr id="424963" name="Rectangle 3"/>
          <p:cNvSpPr>
            <a:spLocks noGrp="1" noChangeArrowheads="1"/>
          </p:cNvSpPr>
          <p:nvPr>
            <p:ph type="body" idx="1"/>
          </p:nvPr>
        </p:nvSpPr>
        <p:spPr>
          <a:xfrm>
            <a:off x="457200" y="1600200"/>
            <a:ext cx="8229600" cy="4745038"/>
          </a:xfrm>
        </p:spPr>
        <p:txBody>
          <a:bodyPr/>
          <a:lstStyle/>
          <a:p>
            <a:pPr eaLnBrk="1" hangingPunct="1">
              <a:lnSpc>
                <a:spcPct val="130000"/>
              </a:lnSpc>
            </a:pPr>
            <a:r>
              <a:rPr lang="en-US" altLang="en-US" sz="2000" b="1" dirty="0" smtClean="0">
                <a:solidFill>
                  <a:schemeClr val="accent2"/>
                </a:solidFill>
              </a:rPr>
              <a:t>16 workloads in different media systems</a:t>
            </a:r>
          </a:p>
          <a:p>
            <a:pPr marL="628650" lvl="1" indent="-285750" eaLnBrk="1" hangingPunct="1">
              <a:lnSpc>
                <a:spcPct val="130000"/>
              </a:lnSpc>
              <a:buFont typeface="Arial" panose="020B0604020202020204" pitchFamily="34" charset="0"/>
              <a:buChar char="•"/>
            </a:pPr>
            <a:r>
              <a:rPr lang="en-US" altLang="en-US" sz="1800" dirty="0" smtClean="0"/>
              <a:t>Web, </a:t>
            </a:r>
            <a:r>
              <a:rPr lang="en-US" altLang="en-US" sz="1800" dirty="0" err="1" smtClean="0"/>
              <a:t>VoD</a:t>
            </a:r>
            <a:r>
              <a:rPr lang="en-US" altLang="en-US" sz="1800" dirty="0" smtClean="0"/>
              <a:t>, P2P, and </a:t>
            </a:r>
            <a:r>
              <a:rPr lang="en-US" altLang="zh-CN" sz="1800" dirty="0" smtClean="0"/>
              <a:t>live streaming</a:t>
            </a:r>
          </a:p>
          <a:p>
            <a:pPr marL="628650" lvl="1" indent="-285750" eaLnBrk="1" hangingPunct="1">
              <a:lnSpc>
                <a:spcPct val="130000"/>
              </a:lnSpc>
              <a:buFont typeface="Arial" panose="020B0604020202020204" pitchFamily="34" charset="0"/>
              <a:buChar char="•"/>
            </a:pPr>
            <a:r>
              <a:rPr lang="en-US" altLang="zh-CN" sz="1800" dirty="0" smtClean="0"/>
              <a:t>Both client side and server side</a:t>
            </a:r>
          </a:p>
          <a:p>
            <a:pPr eaLnBrk="1" hangingPunct="1">
              <a:lnSpc>
                <a:spcPct val="130000"/>
              </a:lnSpc>
            </a:pPr>
            <a:r>
              <a:rPr lang="en-US" altLang="en-US" sz="2000" b="1" dirty="0" smtClean="0">
                <a:solidFill>
                  <a:schemeClr val="accent2"/>
                </a:solidFill>
              </a:rPr>
              <a:t>Different delivery techniques</a:t>
            </a:r>
          </a:p>
          <a:p>
            <a:pPr marL="628650" lvl="1" indent="-285750" eaLnBrk="1" hangingPunct="1">
              <a:lnSpc>
                <a:spcPct val="130000"/>
              </a:lnSpc>
              <a:buFont typeface="Arial" panose="020B0604020202020204" pitchFamily="34" charset="0"/>
              <a:buChar char="•"/>
            </a:pPr>
            <a:r>
              <a:rPr lang="en-US" altLang="en-US" sz="1800" dirty="0" smtClean="0"/>
              <a:t>Downloading, streaming, pseudo streaming</a:t>
            </a:r>
          </a:p>
          <a:p>
            <a:pPr marL="628650" lvl="1" indent="-285750" eaLnBrk="1" hangingPunct="1">
              <a:lnSpc>
                <a:spcPct val="130000"/>
              </a:lnSpc>
              <a:buFont typeface="Arial" panose="020B0604020202020204" pitchFamily="34" charset="0"/>
              <a:buChar char="•"/>
            </a:pPr>
            <a:r>
              <a:rPr lang="en-US" altLang="en-US" sz="1800" dirty="0" smtClean="0"/>
              <a:t>Overlay multicast, P2P exchange, P2P swarming</a:t>
            </a:r>
          </a:p>
          <a:p>
            <a:pPr eaLnBrk="1" hangingPunct="1">
              <a:lnSpc>
                <a:spcPct val="130000"/>
              </a:lnSpc>
            </a:pPr>
            <a:r>
              <a:rPr lang="en-US" altLang="en-US" sz="2000" b="1" dirty="0" smtClean="0">
                <a:solidFill>
                  <a:schemeClr val="accent2"/>
                </a:solidFill>
              </a:rPr>
              <a:t>Data set characteristics</a:t>
            </a:r>
          </a:p>
          <a:p>
            <a:pPr marL="628650" lvl="1" indent="-285750" eaLnBrk="1" hangingPunct="1">
              <a:lnSpc>
                <a:spcPct val="130000"/>
              </a:lnSpc>
              <a:buFont typeface="Arial" panose="020B0604020202020204" pitchFamily="34" charset="0"/>
              <a:buChar char="•"/>
            </a:pPr>
            <a:r>
              <a:rPr lang="en-US" altLang="en-US" sz="1800" dirty="0" smtClean="0"/>
              <a:t>Workload duration: 5</a:t>
            </a:r>
            <a:r>
              <a:rPr lang="en-US" altLang="zh-CN" sz="1800" dirty="0" smtClean="0"/>
              <a:t> days - two years </a:t>
            </a:r>
          </a:p>
          <a:p>
            <a:pPr marL="628650" lvl="1" indent="-285750" eaLnBrk="1" hangingPunct="1">
              <a:lnSpc>
                <a:spcPct val="130000"/>
              </a:lnSpc>
              <a:buFont typeface="Arial" panose="020B0604020202020204" pitchFamily="34" charset="0"/>
              <a:buChar char="•"/>
            </a:pPr>
            <a:r>
              <a:rPr lang="en-US" altLang="en-US" sz="1800" dirty="0" smtClean="0"/>
              <a:t>Number of users: </a:t>
            </a:r>
            <a:r>
              <a:rPr lang="en-US" altLang="zh-CN" sz="1800" dirty="0" smtClean="0"/>
              <a:t>10</a:t>
            </a:r>
            <a:r>
              <a:rPr lang="en-US" altLang="zh-CN" sz="1800" baseline="30000" dirty="0" smtClean="0"/>
              <a:t>3</a:t>
            </a:r>
            <a:r>
              <a:rPr lang="en-US" altLang="zh-CN" sz="1800" dirty="0" smtClean="0"/>
              <a:t> - 10</a:t>
            </a:r>
            <a:r>
              <a:rPr lang="en-US" altLang="zh-CN" sz="1800" baseline="30000" dirty="0" smtClean="0"/>
              <a:t>5</a:t>
            </a:r>
            <a:endParaRPr lang="en-US" altLang="zh-CN" sz="1800" dirty="0" smtClean="0"/>
          </a:p>
          <a:p>
            <a:pPr marL="628650" lvl="1" indent="-285750" eaLnBrk="1" hangingPunct="1">
              <a:lnSpc>
                <a:spcPct val="130000"/>
              </a:lnSpc>
              <a:buFont typeface="Arial" panose="020B0604020202020204" pitchFamily="34" charset="0"/>
              <a:buChar char="•"/>
            </a:pPr>
            <a:r>
              <a:rPr lang="en-US" altLang="zh-CN" sz="1800" dirty="0" smtClean="0"/>
              <a:t>Number of requests: 10</a:t>
            </a:r>
            <a:r>
              <a:rPr lang="en-US" altLang="zh-CN" sz="1800" baseline="30000" dirty="0" smtClean="0"/>
              <a:t>4</a:t>
            </a:r>
            <a:r>
              <a:rPr lang="en-US" altLang="zh-CN" sz="1800" dirty="0" smtClean="0"/>
              <a:t> - 10</a:t>
            </a:r>
            <a:r>
              <a:rPr lang="en-US" altLang="zh-CN" sz="1800" baseline="30000" dirty="0" smtClean="0"/>
              <a:t>8</a:t>
            </a:r>
            <a:endParaRPr lang="en-US" altLang="zh-CN" sz="1800" dirty="0" smtClean="0"/>
          </a:p>
          <a:p>
            <a:pPr marL="628650" lvl="1" indent="-285750" eaLnBrk="1" hangingPunct="1">
              <a:lnSpc>
                <a:spcPct val="130000"/>
              </a:lnSpc>
              <a:buFont typeface="Arial" panose="020B0604020202020204" pitchFamily="34" charset="0"/>
              <a:buChar char="•"/>
            </a:pPr>
            <a:r>
              <a:rPr lang="en-US" altLang="zh-CN" sz="1800" dirty="0" smtClean="0"/>
              <a:t>Number of objects: 10</a:t>
            </a:r>
            <a:r>
              <a:rPr lang="en-US" altLang="zh-CN" sz="1800" baseline="30000" dirty="0" smtClean="0"/>
              <a:t>2</a:t>
            </a:r>
            <a:r>
              <a:rPr lang="en-US" altLang="zh-CN" sz="1800" dirty="0" smtClean="0"/>
              <a:t> - 10</a:t>
            </a:r>
            <a:r>
              <a:rPr lang="en-US" altLang="zh-CN" sz="1800" baseline="30000" dirty="0" smtClean="0"/>
              <a:t>6</a:t>
            </a:r>
            <a:endParaRPr lang="en-US" altLang="en-US" sz="1800" baseline="30000" dirty="0" smtClean="0"/>
          </a:p>
        </p:txBody>
      </p:sp>
      <p:sp>
        <p:nvSpPr>
          <p:cNvPr id="424964" name="Rectangle 4"/>
          <p:cNvSpPr>
            <a:spLocks noChangeArrowheads="1"/>
          </p:cNvSpPr>
          <p:nvPr/>
        </p:nvSpPr>
        <p:spPr bwMode="auto">
          <a:xfrm>
            <a:off x="5364163" y="2133600"/>
            <a:ext cx="291623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800" b="1">
                <a:solidFill>
                  <a:srgbClr val="FF0000"/>
                </a:solidFill>
              </a:rPr>
              <a:t>nearly all workloads available on the Internet</a:t>
            </a:r>
          </a:p>
        </p:txBody>
      </p:sp>
      <p:sp>
        <p:nvSpPr>
          <p:cNvPr id="424965" name="AutoShape 5"/>
          <p:cNvSpPr>
            <a:spLocks/>
          </p:cNvSpPr>
          <p:nvPr/>
        </p:nvSpPr>
        <p:spPr bwMode="auto">
          <a:xfrm>
            <a:off x="5111750" y="2205038"/>
            <a:ext cx="179388" cy="611187"/>
          </a:xfrm>
          <a:prstGeom prst="rightBrace">
            <a:avLst>
              <a:gd name="adj1" fmla="val 2839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sp>
        <p:nvSpPr>
          <p:cNvPr id="424966" name="Rectangle 6"/>
          <p:cNvSpPr>
            <a:spLocks noChangeArrowheads="1"/>
          </p:cNvSpPr>
          <p:nvPr/>
        </p:nvSpPr>
        <p:spPr bwMode="auto">
          <a:xfrm>
            <a:off x="6732588" y="3429000"/>
            <a:ext cx="216058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800" b="1">
                <a:solidFill>
                  <a:srgbClr val="FF0000"/>
                </a:solidFill>
              </a:rPr>
              <a:t>all major delivery techniques</a:t>
            </a:r>
          </a:p>
        </p:txBody>
      </p:sp>
      <p:sp>
        <p:nvSpPr>
          <p:cNvPr id="424967" name="AutoShape 7"/>
          <p:cNvSpPr>
            <a:spLocks/>
          </p:cNvSpPr>
          <p:nvPr/>
        </p:nvSpPr>
        <p:spPr bwMode="auto">
          <a:xfrm>
            <a:off x="6480175" y="3500438"/>
            <a:ext cx="179388" cy="611187"/>
          </a:xfrm>
          <a:prstGeom prst="rightBrace">
            <a:avLst>
              <a:gd name="adj1" fmla="val 2839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sp>
        <p:nvSpPr>
          <p:cNvPr id="424968" name="AutoShape 8"/>
          <p:cNvSpPr>
            <a:spLocks/>
          </p:cNvSpPr>
          <p:nvPr/>
        </p:nvSpPr>
        <p:spPr bwMode="auto">
          <a:xfrm>
            <a:off x="5472113" y="4365625"/>
            <a:ext cx="252412" cy="1871663"/>
          </a:xfrm>
          <a:prstGeom prst="rightBrace">
            <a:avLst>
              <a:gd name="adj1" fmla="val 6179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sp>
        <p:nvSpPr>
          <p:cNvPr id="424969" name="Rectangle 9"/>
          <p:cNvSpPr>
            <a:spLocks noChangeArrowheads="1"/>
          </p:cNvSpPr>
          <p:nvPr/>
        </p:nvSpPr>
        <p:spPr bwMode="auto">
          <a:xfrm>
            <a:off x="5795963" y="4868863"/>
            <a:ext cx="216058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800" b="1">
                <a:solidFill>
                  <a:srgbClr val="FF0000"/>
                </a:solidFill>
              </a:rPr>
              <a:t>data sets of different scales</a:t>
            </a:r>
          </a:p>
        </p:txBody>
      </p:sp>
    </p:spTree>
    <p:extLst>
      <p:ext uri="{BB962C8B-B14F-4D97-AF65-F5344CB8AC3E}">
        <p14:creationId xmlns:p14="http://schemas.microsoft.com/office/powerpoint/2010/main" val="37224676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2496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2496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2496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2496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24965"/>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424963">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2496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24963">
                                            <p:txEl>
                                              <p:pRg st="5" end="5"/>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2496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24967"/>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424963">
                                            <p:txEl>
                                              <p:pRg st="6" end="6"/>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24963">
                                            <p:txEl>
                                              <p:pRg st="7" end="7"/>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24963">
                                            <p:txEl>
                                              <p:pRg st="8" end="8"/>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24963">
                                            <p:txEl>
                                              <p:pRg st="9" end="9"/>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24963">
                                            <p:txEl>
                                              <p:pRg st="10" end="10"/>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2496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249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4964" grpId="0"/>
      <p:bldP spid="424965" grpId="0" animBg="1"/>
      <p:bldP spid="424966" grpId="0"/>
      <p:bldP spid="424967" grpId="0" animBg="1"/>
      <p:bldP spid="424968" grpId="0" animBg="1"/>
      <p:bldP spid="424969"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Slide Number Placeholder 5"/>
          <p:cNvSpPr>
            <a:spLocks noGrp="1"/>
          </p:cNvSpPr>
          <p:nvPr>
            <p:ph type="sldNum" sz="quarter" idx="4294967295"/>
          </p:nvPr>
        </p:nvSpPr>
        <p:spPr>
          <a:xfrm>
            <a:off x="6553200" y="6245225"/>
            <a:ext cx="2133600" cy="4762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537661DD-9405-4003-8A3F-311CC8A51DD1}" type="slidenum">
              <a:rPr lang="en-US" altLang="zh-CN" sz="1400" smtClean="0"/>
              <a:pPr>
                <a:spcBef>
                  <a:spcPct val="0"/>
                </a:spcBef>
                <a:buFontTx/>
                <a:buNone/>
              </a:pPr>
              <a:t>16</a:t>
            </a:fld>
            <a:endParaRPr lang="en-US" altLang="zh-CN" sz="1400" smtClean="0"/>
          </a:p>
        </p:txBody>
      </p:sp>
      <p:sp>
        <p:nvSpPr>
          <p:cNvPr id="19459" name="Rectangle 2"/>
          <p:cNvSpPr>
            <a:spLocks noGrp="1" noChangeArrowheads="1"/>
          </p:cNvSpPr>
          <p:nvPr>
            <p:ph type="title"/>
          </p:nvPr>
        </p:nvSpPr>
        <p:spPr/>
        <p:txBody>
          <a:bodyPr/>
          <a:lstStyle/>
          <a:p>
            <a:pPr eaLnBrk="1" hangingPunct="1"/>
            <a:r>
              <a:rPr lang="en-US" altLang="zh-CN" sz="3200" smtClean="0">
                <a:solidFill>
                  <a:schemeClr val="accent2"/>
                </a:solidFill>
              </a:rPr>
              <a:t>Stretched exponential distribution</a:t>
            </a:r>
          </a:p>
        </p:txBody>
      </p:sp>
      <p:sp>
        <p:nvSpPr>
          <p:cNvPr id="284675" name="Rectangle 3"/>
          <p:cNvSpPr>
            <a:spLocks noGrp="1" noChangeArrowheads="1"/>
          </p:cNvSpPr>
          <p:nvPr>
            <p:ph type="body" idx="1"/>
          </p:nvPr>
        </p:nvSpPr>
        <p:spPr>
          <a:xfrm>
            <a:off x="468313" y="1412875"/>
            <a:ext cx="8243887" cy="792163"/>
          </a:xfrm>
        </p:spPr>
        <p:txBody>
          <a:bodyPr/>
          <a:lstStyle/>
          <a:p>
            <a:pPr eaLnBrk="1" hangingPunct="1"/>
            <a:r>
              <a:rPr lang="en-US" altLang="zh-CN" sz="2000" smtClean="0"/>
              <a:t>Media reference rank follows </a:t>
            </a:r>
            <a:r>
              <a:rPr lang="en-US" altLang="zh-CN" sz="2000" smtClean="0">
                <a:solidFill>
                  <a:srgbClr val="FF0000"/>
                </a:solidFill>
              </a:rPr>
              <a:t>stretched exponential distribution </a:t>
            </a:r>
            <a:r>
              <a:rPr lang="en-US" altLang="zh-CN" sz="2000" smtClean="0"/>
              <a:t>(passed Chi-square test)</a:t>
            </a:r>
          </a:p>
        </p:txBody>
      </p:sp>
      <p:graphicFrame>
        <p:nvGraphicFramePr>
          <p:cNvPr id="284676" name="Object 4"/>
          <p:cNvGraphicFramePr>
            <a:graphicFrameLocks noGrp="1" noChangeAspect="1"/>
          </p:cNvGraphicFramePr>
          <p:nvPr>
            <p:ph idx="4294967295"/>
          </p:nvPr>
        </p:nvGraphicFramePr>
        <p:xfrm>
          <a:off x="1511300" y="5770563"/>
          <a:ext cx="2913063" cy="333375"/>
        </p:xfrm>
        <a:graphic>
          <a:graphicData uri="http://schemas.openxmlformats.org/presentationml/2006/ole">
            <mc:AlternateContent xmlns:mc="http://schemas.openxmlformats.org/markup-compatibility/2006">
              <mc:Choice xmlns:v="urn:schemas-microsoft-com:vml" Requires="v">
                <p:oleObj spid="_x0000_s2218" name="Equation" r:id="rId3" imgW="1952521" imgH="85860" progId="Equation.DSMT4">
                  <p:embed/>
                </p:oleObj>
              </mc:Choice>
              <mc:Fallback>
                <p:oleObj name="Equation" r:id="rId3" imgW="1952521" imgH="8586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1300" y="5770563"/>
                        <a:ext cx="2913063" cy="333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4679" name="Object 7"/>
          <p:cNvGraphicFramePr>
            <a:graphicFrameLocks noChangeAspect="1"/>
          </p:cNvGraphicFramePr>
          <p:nvPr/>
        </p:nvGraphicFramePr>
        <p:xfrm>
          <a:off x="1584325" y="2565400"/>
          <a:ext cx="2513013" cy="647700"/>
        </p:xfrm>
        <a:graphic>
          <a:graphicData uri="http://schemas.openxmlformats.org/presentationml/2006/ole">
            <mc:AlternateContent xmlns:mc="http://schemas.openxmlformats.org/markup-compatibility/2006">
              <mc:Choice xmlns:v="urn:schemas-microsoft-com:vml" Requires="v">
                <p:oleObj spid="_x0000_s2219" name="Equation" r:id="rId5" imgW="1676400" imgH="431800" progId="Equation.DSMT4">
                  <p:embed/>
                </p:oleObj>
              </mc:Choice>
              <mc:Fallback>
                <p:oleObj name="Equation" r:id="rId5" imgW="1676400" imgH="4318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4325" y="2565400"/>
                        <a:ext cx="2513013"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4680" name="Text Box 8"/>
          <p:cNvSpPr txBox="1">
            <a:spLocks noChangeArrowheads="1"/>
          </p:cNvSpPr>
          <p:nvPr/>
        </p:nvSpPr>
        <p:spPr bwMode="auto">
          <a:xfrm>
            <a:off x="1547813" y="3105150"/>
            <a:ext cx="156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i="1">
                <a:latin typeface="Times New Roman" panose="02020603050405020304" pitchFamily="18" charset="0"/>
              </a:rPr>
              <a:t>c</a:t>
            </a:r>
            <a:r>
              <a:rPr lang="en-US" altLang="zh-CN" sz="1600"/>
              <a:t>: stretch factor</a:t>
            </a:r>
          </a:p>
        </p:txBody>
      </p:sp>
      <p:graphicFrame>
        <p:nvGraphicFramePr>
          <p:cNvPr id="284688" name="Object 16"/>
          <p:cNvGraphicFramePr>
            <a:graphicFrameLocks noChangeAspect="1"/>
          </p:cNvGraphicFramePr>
          <p:nvPr/>
        </p:nvGraphicFramePr>
        <p:xfrm>
          <a:off x="1511300" y="6165850"/>
          <a:ext cx="3025775" cy="342900"/>
        </p:xfrm>
        <a:graphic>
          <a:graphicData uri="http://schemas.openxmlformats.org/presentationml/2006/ole">
            <mc:AlternateContent xmlns:mc="http://schemas.openxmlformats.org/markup-compatibility/2006">
              <mc:Choice xmlns:v="urn:schemas-microsoft-com:vml" Requires="v">
                <p:oleObj spid="_x0000_s2220" name="Equation" r:id="rId7" imgW="2019300" imgH="228600" progId="Equation.DSMT4">
                  <p:embed/>
                </p:oleObj>
              </mc:Choice>
              <mc:Fallback>
                <p:oleObj name="Equation" r:id="rId7" imgW="2019300" imgH="2286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11300" y="6165850"/>
                        <a:ext cx="3025775"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42"/>
          <p:cNvGrpSpPr>
            <a:grpSpLocks/>
          </p:cNvGrpSpPr>
          <p:nvPr/>
        </p:nvGrpSpPr>
        <p:grpSpPr bwMode="auto">
          <a:xfrm>
            <a:off x="5435600" y="4305300"/>
            <a:ext cx="2849563" cy="2406650"/>
            <a:chOff x="3616" y="1306"/>
            <a:chExt cx="1795" cy="1516"/>
          </a:xfrm>
        </p:grpSpPr>
        <p:sp>
          <p:nvSpPr>
            <p:cNvPr id="19483" name="Line 9"/>
            <p:cNvSpPr>
              <a:spLocks noChangeShapeType="1"/>
            </p:cNvSpPr>
            <p:nvPr/>
          </p:nvSpPr>
          <p:spPr bwMode="auto">
            <a:xfrm flipV="1">
              <a:off x="3946" y="1321"/>
              <a:ext cx="0" cy="127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484" name="Line 10"/>
            <p:cNvSpPr>
              <a:spLocks noChangeShapeType="1"/>
            </p:cNvSpPr>
            <p:nvPr/>
          </p:nvSpPr>
          <p:spPr bwMode="auto">
            <a:xfrm>
              <a:off x="3946" y="2592"/>
              <a:ext cx="136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485" name="Line 11"/>
            <p:cNvSpPr>
              <a:spLocks noChangeShapeType="1"/>
            </p:cNvSpPr>
            <p:nvPr/>
          </p:nvSpPr>
          <p:spPr bwMode="auto">
            <a:xfrm>
              <a:off x="3946" y="1549"/>
              <a:ext cx="1089" cy="104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86" name="Text Box 12"/>
            <p:cNvSpPr txBox="1">
              <a:spLocks noChangeArrowheads="1"/>
            </p:cNvSpPr>
            <p:nvPr/>
          </p:nvSpPr>
          <p:spPr bwMode="auto">
            <a:xfrm>
              <a:off x="5035" y="2591"/>
              <a:ext cx="3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00"/>
                  </a:solidFill>
                  <a:latin typeface="Times New Roman" panose="02020603050405020304" pitchFamily="18" charset="0"/>
                </a:rPr>
                <a:t>log </a:t>
              </a:r>
              <a:r>
                <a:rPr lang="en-US" altLang="zh-CN" sz="1800" b="1" i="1">
                  <a:solidFill>
                    <a:srgbClr val="FF0000"/>
                  </a:solidFill>
                  <a:latin typeface="Times New Roman" panose="02020603050405020304" pitchFamily="18" charset="0"/>
                </a:rPr>
                <a:t>i</a:t>
              </a:r>
            </a:p>
          </p:txBody>
        </p:sp>
        <p:sp>
          <p:nvSpPr>
            <p:cNvPr id="19487" name="Text Box 13"/>
            <p:cNvSpPr txBox="1">
              <a:spLocks noChangeArrowheads="1"/>
            </p:cNvSpPr>
            <p:nvPr/>
          </p:nvSpPr>
          <p:spPr bwMode="auto">
            <a:xfrm>
              <a:off x="3719" y="1306"/>
              <a:ext cx="23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i="1">
                  <a:solidFill>
                    <a:srgbClr val="FF0000"/>
                  </a:solidFill>
                  <a:latin typeface="Times New Roman" panose="02020603050405020304" pitchFamily="18" charset="0"/>
                </a:rPr>
                <a:t>y</a:t>
              </a:r>
              <a:r>
                <a:rPr lang="en-US" altLang="zh-CN" sz="2000" b="1" i="1" baseline="30000">
                  <a:solidFill>
                    <a:srgbClr val="FF0000"/>
                  </a:solidFill>
                  <a:latin typeface="Times New Roman" panose="02020603050405020304" pitchFamily="18" charset="0"/>
                </a:rPr>
                <a:t>c</a:t>
              </a:r>
            </a:p>
          </p:txBody>
        </p:sp>
        <p:sp>
          <p:nvSpPr>
            <p:cNvPr id="19488" name="AutoShape 14"/>
            <p:cNvSpPr>
              <a:spLocks/>
            </p:cNvSpPr>
            <p:nvPr/>
          </p:nvSpPr>
          <p:spPr bwMode="auto">
            <a:xfrm>
              <a:off x="3810" y="1548"/>
              <a:ext cx="91" cy="1043"/>
            </a:xfrm>
            <a:prstGeom prst="leftBrace">
              <a:avLst>
                <a:gd name="adj1" fmla="val 9551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sp>
          <p:nvSpPr>
            <p:cNvPr id="19489" name="Text Box 15"/>
            <p:cNvSpPr txBox="1">
              <a:spLocks noChangeArrowheads="1"/>
            </p:cNvSpPr>
            <p:nvPr/>
          </p:nvSpPr>
          <p:spPr bwMode="auto">
            <a:xfrm>
              <a:off x="3616" y="1924"/>
              <a:ext cx="1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i="1">
                  <a:latin typeface="Times New Roman" panose="02020603050405020304" pitchFamily="18" charset="0"/>
                </a:rPr>
                <a:t>b</a:t>
              </a:r>
            </a:p>
          </p:txBody>
        </p:sp>
        <p:sp>
          <p:nvSpPr>
            <p:cNvPr id="19490" name="Text Box 17"/>
            <p:cNvSpPr txBox="1">
              <a:spLocks noChangeArrowheads="1"/>
            </p:cNvSpPr>
            <p:nvPr/>
          </p:nvSpPr>
          <p:spPr bwMode="auto">
            <a:xfrm>
              <a:off x="4490" y="1911"/>
              <a:ext cx="65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chemeClr val="accent2"/>
                  </a:solidFill>
                </a:rPr>
                <a:t>slope:</a:t>
              </a:r>
              <a:r>
                <a:rPr lang="en-US" altLang="zh-CN" sz="1800" b="1">
                  <a:solidFill>
                    <a:schemeClr val="accent2"/>
                  </a:solidFill>
                </a:rPr>
                <a:t> </a:t>
              </a:r>
              <a:r>
                <a:rPr lang="en-US" altLang="zh-CN" sz="1800" b="1" i="1">
                  <a:solidFill>
                    <a:schemeClr val="accent2"/>
                  </a:solidFill>
                  <a:latin typeface="Times New Roman" panose="02020603050405020304" pitchFamily="18" charset="0"/>
                </a:rPr>
                <a:t>-a</a:t>
              </a:r>
            </a:p>
          </p:txBody>
        </p:sp>
      </p:grpSp>
      <p:sp>
        <p:nvSpPr>
          <p:cNvPr id="284690" name="Text Box 18"/>
          <p:cNvSpPr txBox="1">
            <a:spLocks noChangeArrowheads="1"/>
          </p:cNvSpPr>
          <p:nvPr/>
        </p:nvSpPr>
        <p:spPr bwMode="auto">
          <a:xfrm>
            <a:off x="1150938" y="4581525"/>
            <a:ext cx="3455987" cy="63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1600" i="1" dirty="0" err="1">
                <a:latin typeface="Times New Roman" panose="02020603050405020304" pitchFamily="18" charset="0"/>
              </a:rPr>
              <a:t>i</a:t>
            </a:r>
            <a:r>
              <a:rPr lang="en-US" altLang="zh-CN" sz="1600" dirty="0"/>
              <a:t> : rank of media objects (</a:t>
            </a:r>
            <a:r>
              <a:rPr lang="en-US" altLang="zh-CN" sz="1600" i="1" dirty="0">
                <a:latin typeface="Times New Roman" panose="02020603050405020304" pitchFamily="18" charset="0"/>
              </a:rPr>
              <a:t>N</a:t>
            </a:r>
            <a:r>
              <a:rPr lang="en-US" altLang="zh-CN" sz="1600" dirty="0"/>
              <a:t> objects)</a:t>
            </a:r>
          </a:p>
          <a:p>
            <a:pPr eaLnBrk="1" hangingPunct="1">
              <a:buFontTx/>
              <a:buNone/>
            </a:pPr>
            <a:r>
              <a:rPr lang="en-US" altLang="zh-CN" sz="1600" i="1" dirty="0">
                <a:latin typeface="Times New Roman" panose="02020603050405020304" pitchFamily="18" charset="0"/>
              </a:rPr>
              <a:t>y</a:t>
            </a:r>
            <a:r>
              <a:rPr lang="en-US" altLang="zh-CN" sz="1600" dirty="0"/>
              <a:t> : number of references</a:t>
            </a:r>
          </a:p>
        </p:txBody>
      </p:sp>
      <p:sp>
        <p:nvSpPr>
          <p:cNvPr id="284691" name="Text Box 19"/>
          <p:cNvSpPr txBox="1">
            <a:spLocks noChangeArrowheads="1"/>
          </p:cNvSpPr>
          <p:nvPr/>
        </p:nvSpPr>
        <p:spPr bwMode="auto">
          <a:xfrm>
            <a:off x="935038" y="2241550"/>
            <a:ext cx="3638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chemeClr val="accent2"/>
                </a:solidFill>
              </a:rPr>
              <a:t>Probability distribution: Weibull</a:t>
            </a:r>
          </a:p>
        </p:txBody>
      </p:sp>
      <p:sp>
        <p:nvSpPr>
          <p:cNvPr id="284692" name="Text Box 20"/>
          <p:cNvSpPr txBox="1">
            <a:spLocks noChangeArrowheads="1"/>
          </p:cNvSpPr>
          <p:nvPr/>
        </p:nvSpPr>
        <p:spPr bwMode="auto">
          <a:xfrm>
            <a:off x="900113" y="3500438"/>
            <a:ext cx="4773612" cy="106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1800" b="1" dirty="0">
                <a:solidFill>
                  <a:schemeClr val="accent2"/>
                </a:solidFill>
              </a:rPr>
              <a:t>Rank distribution:</a:t>
            </a:r>
            <a:r>
              <a:rPr lang="en-US" altLang="zh-CN" sz="1800" dirty="0">
                <a:solidFill>
                  <a:schemeClr val="accent2"/>
                </a:solidFill>
              </a:rPr>
              <a:t> </a:t>
            </a:r>
          </a:p>
          <a:p>
            <a:pPr lvl="1" eaLnBrk="1" hangingPunct="1">
              <a:buFontTx/>
              <a:buChar char="•"/>
            </a:pPr>
            <a:r>
              <a:rPr lang="en-US" altLang="zh-CN" sz="1800" dirty="0"/>
              <a:t> fat head and thin tail in log-log scale</a:t>
            </a:r>
          </a:p>
          <a:p>
            <a:pPr lvl="1" eaLnBrk="1" hangingPunct="1">
              <a:buFontTx/>
              <a:buChar char="•"/>
            </a:pPr>
            <a:r>
              <a:rPr lang="en-US" altLang="zh-CN" sz="1800" dirty="0"/>
              <a:t> straight line in </a:t>
            </a:r>
            <a:r>
              <a:rPr lang="en-US" altLang="zh-CN" sz="1800" dirty="0" err="1"/>
              <a:t>log</a:t>
            </a:r>
            <a:r>
              <a:rPr lang="en-US" altLang="zh-CN" sz="2000" i="1" dirty="0" err="1">
                <a:latin typeface="Times New Roman" panose="02020603050405020304" pitchFamily="18" charset="0"/>
              </a:rPr>
              <a:t>x</a:t>
            </a:r>
            <a:r>
              <a:rPr lang="en-US" altLang="zh-CN" sz="2000" dirty="0" err="1"/>
              <a:t>-</a:t>
            </a:r>
            <a:r>
              <a:rPr lang="en-US" altLang="zh-CN" sz="2000" i="1" dirty="0" err="1">
                <a:latin typeface="Times New Roman" panose="02020603050405020304" pitchFamily="18" charset="0"/>
              </a:rPr>
              <a:t>y</a:t>
            </a:r>
            <a:r>
              <a:rPr lang="en-US" altLang="zh-CN" sz="1800" baseline="30000" dirty="0" err="1"/>
              <a:t>c</a:t>
            </a:r>
            <a:r>
              <a:rPr lang="en-US" altLang="zh-CN" sz="1800" dirty="0"/>
              <a:t> scale</a:t>
            </a:r>
          </a:p>
        </p:txBody>
      </p:sp>
      <p:graphicFrame>
        <p:nvGraphicFramePr>
          <p:cNvPr id="284693" name="Object 21"/>
          <p:cNvGraphicFramePr>
            <a:graphicFrameLocks noChangeAspect="1"/>
          </p:cNvGraphicFramePr>
          <p:nvPr/>
        </p:nvGraphicFramePr>
        <p:xfrm>
          <a:off x="1584325" y="5192713"/>
          <a:ext cx="1389063" cy="590550"/>
        </p:xfrm>
        <a:graphic>
          <a:graphicData uri="http://schemas.openxmlformats.org/presentationml/2006/ole">
            <mc:AlternateContent xmlns:mc="http://schemas.openxmlformats.org/markup-compatibility/2006">
              <mc:Choice xmlns:v="urn:schemas-microsoft-com:vml" Requires="v">
                <p:oleObj spid="_x0000_s2221" name="Equation" r:id="rId9" imgW="926698" imgH="393529" progId="Equation.DSMT4">
                  <p:embed/>
                </p:oleObj>
              </mc:Choice>
              <mc:Fallback>
                <p:oleObj name="Equation" r:id="rId9" imgW="926698" imgH="393529"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84325" y="5192713"/>
                        <a:ext cx="1389063" cy="590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Group 46"/>
          <p:cNvGrpSpPr>
            <a:grpSpLocks/>
          </p:cNvGrpSpPr>
          <p:nvPr/>
        </p:nvGrpSpPr>
        <p:grpSpPr bwMode="auto">
          <a:xfrm>
            <a:off x="5327650" y="1916113"/>
            <a:ext cx="3009900" cy="2311400"/>
            <a:chOff x="3356" y="1207"/>
            <a:chExt cx="1896" cy="1456"/>
          </a:xfrm>
        </p:grpSpPr>
        <p:sp>
          <p:nvSpPr>
            <p:cNvPr id="19478" name="Text Box 33"/>
            <p:cNvSpPr txBox="1">
              <a:spLocks noChangeArrowheads="1"/>
            </p:cNvSpPr>
            <p:nvPr/>
          </p:nvSpPr>
          <p:spPr bwMode="auto">
            <a:xfrm>
              <a:off x="4876" y="2432"/>
              <a:ext cx="376" cy="23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a:latin typeface="Times New Roman" panose="02020603050405020304" pitchFamily="18" charset="0"/>
                </a:rPr>
                <a:t>log </a:t>
              </a:r>
              <a:r>
                <a:rPr lang="en-US" altLang="zh-CN" sz="1800" i="1">
                  <a:latin typeface="Times New Roman" panose="02020603050405020304" pitchFamily="18" charset="0"/>
                </a:rPr>
                <a:t>i</a:t>
              </a:r>
            </a:p>
          </p:txBody>
        </p:sp>
        <p:sp>
          <p:nvSpPr>
            <p:cNvPr id="19479" name="Line 31"/>
            <p:cNvSpPr>
              <a:spLocks noChangeShapeType="1"/>
            </p:cNvSpPr>
            <p:nvPr/>
          </p:nvSpPr>
          <p:spPr bwMode="auto">
            <a:xfrm flipV="1">
              <a:off x="3742" y="1207"/>
              <a:ext cx="0" cy="127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480" name="Line 32"/>
            <p:cNvSpPr>
              <a:spLocks noChangeShapeType="1"/>
            </p:cNvSpPr>
            <p:nvPr/>
          </p:nvSpPr>
          <p:spPr bwMode="auto">
            <a:xfrm>
              <a:off x="3742" y="2478"/>
              <a:ext cx="136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481" name="Text Box 34"/>
            <p:cNvSpPr txBox="1">
              <a:spLocks noChangeArrowheads="1"/>
            </p:cNvSpPr>
            <p:nvPr/>
          </p:nvSpPr>
          <p:spPr bwMode="auto">
            <a:xfrm>
              <a:off x="3356" y="1230"/>
              <a:ext cx="4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a:latin typeface="Times New Roman" panose="02020603050405020304" pitchFamily="18" charset="0"/>
                </a:rPr>
                <a:t>log</a:t>
              </a:r>
              <a:r>
                <a:rPr lang="en-US" altLang="zh-CN" sz="1800" i="1">
                  <a:latin typeface="Times New Roman" panose="02020603050405020304" pitchFamily="18" charset="0"/>
                </a:rPr>
                <a:t> y</a:t>
              </a:r>
              <a:endParaRPr lang="en-US" altLang="zh-CN" sz="1800" i="1" baseline="30000">
                <a:latin typeface="Times New Roman" panose="02020603050405020304" pitchFamily="18" charset="0"/>
              </a:endParaRPr>
            </a:p>
          </p:txBody>
        </p:sp>
        <p:sp>
          <p:nvSpPr>
            <p:cNvPr id="19482" name="Freeform 35"/>
            <p:cNvSpPr>
              <a:spLocks/>
            </p:cNvSpPr>
            <p:nvPr/>
          </p:nvSpPr>
          <p:spPr bwMode="auto">
            <a:xfrm>
              <a:off x="3736" y="1515"/>
              <a:ext cx="993" cy="951"/>
            </a:xfrm>
            <a:custGeom>
              <a:avLst/>
              <a:gdLst>
                <a:gd name="T0" fmla="*/ 0 w 993"/>
                <a:gd name="T1" fmla="*/ 0 h 951"/>
                <a:gd name="T2" fmla="*/ 410 w 993"/>
                <a:gd name="T3" fmla="*/ 137 h 951"/>
                <a:gd name="T4" fmla="*/ 705 w 993"/>
                <a:gd name="T5" fmla="*/ 368 h 951"/>
                <a:gd name="T6" fmla="*/ 885 w 993"/>
                <a:gd name="T7" fmla="*/ 634 h 951"/>
                <a:gd name="T8" fmla="*/ 993 w 993"/>
                <a:gd name="T9" fmla="*/ 951 h 951"/>
                <a:gd name="T10" fmla="*/ 0 60000 65536"/>
                <a:gd name="T11" fmla="*/ 0 60000 65536"/>
                <a:gd name="T12" fmla="*/ 0 60000 65536"/>
                <a:gd name="T13" fmla="*/ 0 60000 65536"/>
                <a:gd name="T14" fmla="*/ 0 60000 65536"/>
                <a:gd name="T15" fmla="*/ 0 w 993"/>
                <a:gd name="T16" fmla="*/ 0 h 951"/>
                <a:gd name="T17" fmla="*/ 993 w 993"/>
                <a:gd name="T18" fmla="*/ 951 h 951"/>
              </a:gdLst>
              <a:ahLst/>
              <a:cxnLst>
                <a:cxn ang="T10">
                  <a:pos x="T0" y="T1"/>
                </a:cxn>
                <a:cxn ang="T11">
                  <a:pos x="T2" y="T3"/>
                </a:cxn>
                <a:cxn ang="T12">
                  <a:pos x="T4" y="T5"/>
                </a:cxn>
                <a:cxn ang="T13">
                  <a:pos x="T6" y="T7"/>
                </a:cxn>
                <a:cxn ang="T14">
                  <a:pos x="T8" y="T9"/>
                </a:cxn>
              </a:cxnLst>
              <a:rect l="T15" t="T16" r="T17" b="T18"/>
              <a:pathLst>
                <a:path w="993" h="951">
                  <a:moveTo>
                    <a:pt x="0" y="0"/>
                  </a:moveTo>
                  <a:cubicBezTo>
                    <a:pt x="68" y="24"/>
                    <a:pt x="293" y="76"/>
                    <a:pt x="410" y="137"/>
                  </a:cubicBezTo>
                  <a:cubicBezTo>
                    <a:pt x="527" y="198"/>
                    <a:pt x="626" y="285"/>
                    <a:pt x="705" y="368"/>
                  </a:cubicBezTo>
                  <a:cubicBezTo>
                    <a:pt x="784" y="451"/>
                    <a:pt x="837" y="537"/>
                    <a:pt x="885" y="634"/>
                  </a:cubicBezTo>
                  <a:cubicBezTo>
                    <a:pt x="933" y="731"/>
                    <a:pt x="971" y="885"/>
                    <a:pt x="993" y="951"/>
                  </a:cubicBez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4" name="Group 44"/>
          <p:cNvGrpSpPr>
            <a:grpSpLocks/>
          </p:cNvGrpSpPr>
          <p:nvPr/>
        </p:nvGrpSpPr>
        <p:grpSpPr bwMode="auto">
          <a:xfrm>
            <a:off x="5943600" y="2166938"/>
            <a:ext cx="1476375" cy="463550"/>
            <a:chOff x="3744" y="1365"/>
            <a:chExt cx="930" cy="292"/>
          </a:xfrm>
        </p:grpSpPr>
        <p:sp>
          <p:nvSpPr>
            <p:cNvPr id="19476" name="Text Box 37"/>
            <p:cNvSpPr txBox="1">
              <a:spLocks noChangeArrowheads="1"/>
            </p:cNvSpPr>
            <p:nvPr/>
          </p:nvSpPr>
          <p:spPr bwMode="auto">
            <a:xfrm>
              <a:off x="4038" y="1365"/>
              <a:ext cx="6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en-US" sz="1800">
                  <a:solidFill>
                    <a:srgbClr val="FF0000"/>
                  </a:solidFill>
                </a:rPr>
                <a:t>fat head</a:t>
              </a:r>
            </a:p>
          </p:txBody>
        </p:sp>
        <p:sp>
          <p:nvSpPr>
            <p:cNvPr id="19477" name="Freeform 39"/>
            <p:cNvSpPr>
              <a:spLocks/>
            </p:cNvSpPr>
            <p:nvPr/>
          </p:nvSpPr>
          <p:spPr bwMode="auto">
            <a:xfrm>
              <a:off x="3744" y="1517"/>
              <a:ext cx="408" cy="140"/>
            </a:xfrm>
            <a:custGeom>
              <a:avLst/>
              <a:gdLst>
                <a:gd name="T0" fmla="*/ 0 w 408"/>
                <a:gd name="T1" fmla="*/ 0 h 140"/>
                <a:gd name="T2" fmla="*/ 321 w 408"/>
                <a:gd name="T3" fmla="*/ 99 h 140"/>
                <a:gd name="T4" fmla="*/ 408 w 408"/>
                <a:gd name="T5" fmla="*/ 140 h 140"/>
                <a:gd name="T6" fmla="*/ 0 60000 65536"/>
                <a:gd name="T7" fmla="*/ 0 60000 65536"/>
                <a:gd name="T8" fmla="*/ 0 60000 65536"/>
                <a:gd name="T9" fmla="*/ 0 w 408"/>
                <a:gd name="T10" fmla="*/ 0 h 140"/>
                <a:gd name="T11" fmla="*/ 408 w 408"/>
                <a:gd name="T12" fmla="*/ 140 h 140"/>
              </a:gdLst>
              <a:ahLst/>
              <a:cxnLst>
                <a:cxn ang="T6">
                  <a:pos x="T0" y="T1"/>
                </a:cxn>
                <a:cxn ang="T7">
                  <a:pos x="T2" y="T3"/>
                </a:cxn>
                <a:cxn ang="T8">
                  <a:pos x="T4" y="T5"/>
                </a:cxn>
              </a:cxnLst>
              <a:rect l="T9" t="T10" r="T11" b="T12"/>
              <a:pathLst>
                <a:path w="408" h="140">
                  <a:moveTo>
                    <a:pt x="0" y="0"/>
                  </a:moveTo>
                  <a:cubicBezTo>
                    <a:pt x="53" y="16"/>
                    <a:pt x="253" y="76"/>
                    <a:pt x="321" y="99"/>
                  </a:cubicBezTo>
                  <a:cubicBezTo>
                    <a:pt x="389" y="122"/>
                    <a:pt x="390" y="131"/>
                    <a:pt x="408" y="140"/>
                  </a:cubicBezTo>
                </a:path>
              </a:pathLst>
            </a:cu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5" name="Group 45"/>
          <p:cNvGrpSpPr>
            <a:grpSpLocks/>
          </p:cNvGrpSpPr>
          <p:nvPr/>
        </p:nvGrpSpPr>
        <p:grpSpPr bwMode="auto">
          <a:xfrm>
            <a:off x="7319963" y="3378200"/>
            <a:ext cx="1114425" cy="542925"/>
            <a:chOff x="4611" y="2128"/>
            <a:chExt cx="702" cy="342"/>
          </a:xfrm>
        </p:grpSpPr>
        <p:sp>
          <p:nvSpPr>
            <p:cNvPr id="19474" name="Text Box 38"/>
            <p:cNvSpPr txBox="1">
              <a:spLocks noChangeArrowheads="1"/>
            </p:cNvSpPr>
            <p:nvPr/>
          </p:nvSpPr>
          <p:spPr bwMode="auto">
            <a:xfrm>
              <a:off x="4741" y="2136"/>
              <a:ext cx="5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en-US" sz="1800">
                  <a:solidFill>
                    <a:srgbClr val="FF0000"/>
                  </a:solidFill>
                </a:rPr>
                <a:t>thin tail</a:t>
              </a:r>
            </a:p>
          </p:txBody>
        </p:sp>
        <p:sp>
          <p:nvSpPr>
            <p:cNvPr id="19475" name="Freeform 41"/>
            <p:cNvSpPr>
              <a:spLocks/>
            </p:cNvSpPr>
            <p:nvPr/>
          </p:nvSpPr>
          <p:spPr bwMode="auto">
            <a:xfrm>
              <a:off x="4611" y="2128"/>
              <a:ext cx="118" cy="342"/>
            </a:xfrm>
            <a:custGeom>
              <a:avLst/>
              <a:gdLst>
                <a:gd name="T0" fmla="*/ 0 w 118"/>
                <a:gd name="T1" fmla="*/ 0 h 342"/>
                <a:gd name="T2" fmla="*/ 58 w 118"/>
                <a:gd name="T3" fmla="*/ 145 h 342"/>
                <a:gd name="T4" fmla="*/ 118 w 118"/>
                <a:gd name="T5" fmla="*/ 342 h 342"/>
                <a:gd name="T6" fmla="*/ 0 60000 65536"/>
                <a:gd name="T7" fmla="*/ 0 60000 65536"/>
                <a:gd name="T8" fmla="*/ 0 60000 65536"/>
                <a:gd name="T9" fmla="*/ 0 w 118"/>
                <a:gd name="T10" fmla="*/ 0 h 342"/>
                <a:gd name="T11" fmla="*/ 118 w 118"/>
                <a:gd name="T12" fmla="*/ 342 h 342"/>
              </a:gdLst>
              <a:ahLst/>
              <a:cxnLst>
                <a:cxn ang="T6">
                  <a:pos x="T0" y="T1"/>
                </a:cxn>
                <a:cxn ang="T7">
                  <a:pos x="T2" y="T3"/>
                </a:cxn>
                <a:cxn ang="T8">
                  <a:pos x="T4" y="T5"/>
                </a:cxn>
              </a:cxnLst>
              <a:rect l="T9" t="T10" r="T11" b="T12"/>
              <a:pathLst>
                <a:path w="118" h="342">
                  <a:moveTo>
                    <a:pt x="0" y="0"/>
                  </a:moveTo>
                  <a:cubicBezTo>
                    <a:pt x="10" y="24"/>
                    <a:pt x="38" y="88"/>
                    <a:pt x="58" y="145"/>
                  </a:cubicBezTo>
                  <a:cubicBezTo>
                    <a:pt x="78" y="202"/>
                    <a:pt x="108" y="309"/>
                    <a:pt x="118" y="342"/>
                  </a:cubicBezTo>
                </a:path>
              </a:pathLst>
            </a:cu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284719" name="Text Box 47"/>
          <p:cNvSpPr txBox="1">
            <a:spLocks noChangeArrowheads="1"/>
          </p:cNvSpPr>
          <p:nvPr/>
        </p:nvSpPr>
        <p:spPr bwMode="auto">
          <a:xfrm>
            <a:off x="6119813" y="4318000"/>
            <a:ext cx="1722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i="1">
                <a:solidFill>
                  <a:schemeClr val="accent2"/>
                </a:solidFill>
                <a:latin typeface="Times New Roman" panose="02020603050405020304" pitchFamily="18" charset="0"/>
              </a:rPr>
              <a:t>c</a:t>
            </a:r>
            <a:r>
              <a:rPr lang="en-US" altLang="zh-CN" sz="1600" b="1">
                <a:solidFill>
                  <a:schemeClr val="accent2"/>
                </a:solidFill>
              </a:rPr>
              <a:t>: stretch factor</a:t>
            </a:r>
          </a:p>
        </p:txBody>
      </p:sp>
    </p:spTree>
    <p:extLst>
      <p:ext uri="{BB962C8B-B14F-4D97-AF65-F5344CB8AC3E}">
        <p14:creationId xmlns:p14="http://schemas.microsoft.com/office/powerpoint/2010/main" val="5581272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467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469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467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468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84692">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284692">
                                            <p:txEl>
                                              <p:pRg st="1" end="1"/>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par>
                          <p:cTn id="29" fill="hold" nodeType="afterGroup">
                            <p:stCondLst>
                              <p:cond delay="0"/>
                            </p:stCondLst>
                            <p:childTnLst>
                              <p:par>
                                <p:cTn id="30" presetID="1" presetClass="entr" presetSubtype="0" fill="hold" nodeType="afterEffect">
                                  <p:stCondLst>
                                    <p:cond delay="0"/>
                                  </p:stCondLst>
                                  <p:childTnLst>
                                    <p:set>
                                      <p:cBhvr>
                                        <p:cTn id="31" dur="1" fill="hold">
                                          <p:stCondLst>
                                            <p:cond delay="0"/>
                                          </p:stCondLst>
                                        </p:cTn>
                                        <p:tgtEl>
                                          <p:spTgt spid="5"/>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nodeType="clickEffect">
                                  <p:stCondLst>
                                    <p:cond delay="0"/>
                                  </p:stCondLst>
                                  <p:childTnLst>
                                    <p:set>
                                      <p:cBhvr>
                                        <p:cTn id="35" dur="1" fill="hold">
                                          <p:stCondLst>
                                            <p:cond delay="0"/>
                                          </p:stCondLst>
                                        </p:cTn>
                                        <p:tgtEl>
                                          <p:spTgt spid="284692">
                                            <p:txEl>
                                              <p:pRg st="2" end="2"/>
                                            </p:txEl>
                                          </p:spTgt>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0"/>
                                          </p:stCondLst>
                                        </p:cTn>
                                        <p:tgtEl>
                                          <p:spTgt spid="2"/>
                                        </p:tgtEl>
                                        <p:attrNameLst>
                                          <p:attrName>style.visibility</p:attrName>
                                        </p:attrNameLst>
                                      </p:cBhvr>
                                      <p:to>
                                        <p:strVal val="visible"/>
                                      </p:to>
                                    </p:set>
                                  </p:childTnLst>
                                </p:cTn>
                              </p:par>
                            </p:childTnLst>
                          </p:cTn>
                        </p:par>
                        <p:par>
                          <p:cTn id="40" fill="hold" nodeType="afterGroup">
                            <p:stCondLst>
                              <p:cond delay="0"/>
                            </p:stCondLst>
                            <p:childTnLst>
                              <p:par>
                                <p:cTn id="41" presetID="1" presetClass="entr" presetSubtype="0" fill="hold" grpId="0" nodeType="afterEffect">
                                  <p:stCondLst>
                                    <p:cond delay="0"/>
                                  </p:stCondLst>
                                  <p:childTnLst>
                                    <p:set>
                                      <p:cBhvr>
                                        <p:cTn id="42" dur="1" fill="hold">
                                          <p:stCondLst>
                                            <p:cond delay="0"/>
                                          </p:stCondLst>
                                        </p:cTn>
                                        <p:tgtEl>
                                          <p:spTgt spid="284690"/>
                                        </p:tgtEl>
                                        <p:attrNameLst>
                                          <p:attrName>style.visibility</p:attrName>
                                        </p:attrNameLst>
                                      </p:cBhvr>
                                      <p:to>
                                        <p:strVal val="visible"/>
                                      </p:to>
                                    </p:set>
                                  </p:childTnLst>
                                </p:cTn>
                              </p:par>
                            </p:childTnLst>
                          </p:cTn>
                        </p:par>
                        <p:par>
                          <p:cTn id="43" fill="hold" nodeType="afterGroup">
                            <p:stCondLst>
                              <p:cond delay="0"/>
                            </p:stCondLst>
                            <p:childTnLst>
                              <p:par>
                                <p:cTn id="44" presetID="1" presetClass="entr" presetSubtype="0" fill="hold" grpId="0" nodeType="afterEffect">
                                  <p:stCondLst>
                                    <p:cond delay="0"/>
                                  </p:stCondLst>
                                  <p:childTnLst>
                                    <p:set>
                                      <p:cBhvr>
                                        <p:cTn id="45" dur="1" fill="hold">
                                          <p:stCondLst>
                                            <p:cond delay="0"/>
                                          </p:stCondLst>
                                        </p:cTn>
                                        <p:tgtEl>
                                          <p:spTgt spid="284719"/>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nodeType="clickEffect">
                                  <p:stCondLst>
                                    <p:cond delay="0"/>
                                  </p:stCondLst>
                                  <p:childTnLst>
                                    <p:set>
                                      <p:cBhvr>
                                        <p:cTn id="49" dur="1" fill="hold">
                                          <p:stCondLst>
                                            <p:cond delay="0"/>
                                          </p:stCondLst>
                                        </p:cTn>
                                        <p:tgtEl>
                                          <p:spTgt spid="284676"/>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284688"/>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2846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675" grpId="0" build="p"/>
      <p:bldP spid="284680" grpId="0"/>
      <p:bldP spid="284690" grpId="0"/>
      <p:bldP spid="284691" grpId="0"/>
      <p:bldP spid="284719"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Slide Number Placeholder 4"/>
          <p:cNvSpPr>
            <a:spLocks noGrp="1"/>
          </p:cNvSpPr>
          <p:nvPr>
            <p:ph type="sldNum" sz="quarter" idx="4294967295"/>
          </p:nvPr>
        </p:nvSpPr>
        <p:spPr>
          <a:xfrm>
            <a:off x="6553200" y="6245225"/>
            <a:ext cx="2133600" cy="4762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D77EC7F-DA2A-4C87-A85B-807EB58627FD}" type="slidenum">
              <a:rPr lang="en-US" altLang="zh-CN" sz="1400" smtClean="0"/>
              <a:pPr>
                <a:spcBef>
                  <a:spcPct val="0"/>
                </a:spcBef>
                <a:buFontTx/>
                <a:buNone/>
              </a:pPr>
              <a:t>17</a:t>
            </a:fld>
            <a:endParaRPr lang="en-US" altLang="zh-CN" sz="1400" smtClean="0"/>
          </a:p>
        </p:txBody>
      </p:sp>
      <p:grpSp>
        <p:nvGrpSpPr>
          <p:cNvPr id="2" name="Group 32"/>
          <p:cNvGrpSpPr>
            <a:grpSpLocks/>
          </p:cNvGrpSpPr>
          <p:nvPr/>
        </p:nvGrpSpPr>
        <p:grpSpPr bwMode="auto">
          <a:xfrm>
            <a:off x="277813" y="1628775"/>
            <a:ext cx="2908300" cy="2638425"/>
            <a:chOff x="175" y="1026"/>
            <a:chExt cx="1832" cy="1662"/>
          </a:xfrm>
        </p:grpSpPr>
        <p:pic>
          <p:nvPicPr>
            <p:cNvPr id="20509" name="Picture 4" descr="nossdav02--fig7a-HP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 y="1101"/>
              <a:ext cx="1769"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10" name="Rectangle 27"/>
            <p:cNvSpPr>
              <a:spLocks noChangeArrowheads="1"/>
            </p:cNvSpPr>
            <p:nvPr/>
          </p:nvSpPr>
          <p:spPr bwMode="auto">
            <a:xfrm>
              <a:off x="476" y="2047"/>
              <a:ext cx="726" cy="43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sp>
          <p:nvSpPr>
            <p:cNvPr id="20511" name="Rectangle 26"/>
            <p:cNvSpPr>
              <a:spLocks noChangeArrowheads="1"/>
            </p:cNvSpPr>
            <p:nvPr/>
          </p:nvSpPr>
          <p:spPr bwMode="auto">
            <a:xfrm>
              <a:off x="1156" y="1185"/>
              <a:ext cx="658" cy="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sp>
          <p:nvSpPr>
            <p:cNvPr id="20512" name="Rectangle 28"/>
            <p:cNvSpPr>
              <a:spLocks noChangeArrowheads="1"/>
            </p:cNvSpPr>
            <p:nvPr/>
          </p:nvSpPr>
          <p:spPr bwMode="auto">
            <a:xfrm>
              <a:off x="175" y="1026"/>
              <a:ext cx="272" cy="154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sp>
          <p:nvSpPr>
            <p:cNvPr id="20513" name="Rectangle 29"/>
            <p:cNvSpPr>
              <a:spLocks noChangeArrowheads="1"/>
            </p:cNvSpPr>
            <p:nvPr/>
          </p:nvSpPr>
          <p:spPr bwMode="auto">
            <a:xfrm>
              <a:off x="272" y="2523"/>
              <a:ext cx="1723" cy="15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sp>
          <p:nvSpPr>
            <p:cNvPr id="20514" name="Rectangle 30"/>
            <p:cNvSpPr>
              <a:spLocks noChangeArrowheads="1"/>
            </p:cNvSpPr>
            <p:nvPr/>
          </p:nvSpPr>
          <p:spPr bwMode="auto">
            <a:xfrm>
              <a:off x="1849" y="1071"/>
              <a:ext cx="158" cy="14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en-US" sz="1800"/>
            </a:p>
          </p:txBody>
        </p:sp>
      </p:grpSp>
      <p:sp>
        <p:nvSpPr>
          <p:cNvPr id="20484" name="Rectangle 2"/>
          <p:cNvSpPr>
            <a:spLocks noGrp="1" noChangeArrowheads="1"/>
          </p:cNvSpPr>
          <p:nvPr>
            <p:ph type="title"/>
          </p:nvPr>
        </p:nvSpPr>
        <p:spPr/>
        <p:txBody>
          <a:bodyPr/>
          <a:lstStyle/>
          <a:p>
            <a:pPr eaLnBrk="1" hangingPunct="1"/>
            <a:r>
              <a:rPr lang="en-US" altLang="zh-CN" sz="3200" smtClean="0">
                <a:solidFill>
                  <a:schemeClr val="accent2"/>
                </a:solidFill>
              </a:rPr>
              <a:t>Evidences: Web media systems (server logs)</a:t>
            </a:r>
          </a:p>
        </p:txBody>
      </p:sp>
      <p:pic>
        <p:nvPicPr>
          <p:cNvPr id="277507" name="Picture 3" descr="SortApr2Ju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6163" y="1712913"/>
            <a:ext cx="2663825" cy="251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509" name="Picture 5" descr="nossdav02--fig7a-HPLa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6913" y="1733550"/>
            <a:ext cx="2735262" cy="2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7510" name="Text Box 6"/>
          <p:cNvSpPr txBox="1">
            <a:spLocks noChangeArrowheads="1"/>
          </p:cNvSpPr>
          <p:nvPr/>
        </p:nvSpPr>
        <p:spPr bwMode="auto">
          <a:xfrm>
            <a:off x="6602413" y="1425575"/>
            <a:ext cx="17716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400"/>
              <a:t>ST-SVR-01 (15 MB)</a:t>
            </a:r>
          </a:p>
        </p:txBody>
      </p:sp>
      <p:sp>
        <p:nvSpPr>
          <p:cNvPr id="277511" name="Text Box 7"/>
          <p:cNvSpPr txBox="1">
            <a:spLocks noChangeArrowheads="1"/>
          </p:cNvSpPr>
          <p:nvPr/>
        </p:nvSpPr>
        <p:spPr bwMode="auto">
          <a:xfrm>
            <a:off x="947738" y="1436688"/>
            <a:ext cx="15652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400"/>
              <a:t>*HPC-98 (14 MB)</a:t>
            </a:r>
          </a:p>
        </p:txBody>
      </p:sp>
      <p:sp>
        <p:nvSpPr>
          <p:cNvPr id="277512" name="Text Box 8"/>
          <p:cNvSpPr txBox="1">
            <a:spLocks noChangeArrowheads="1"/>
          </p:cNvSpPr>
          <p:nvPr/>
        </p:nvSpPr>
        <p:spPr bwMode="auto">
          <a:xfrm>
            <a:off x="3651250" y="1427163"/>
            <a:ext cx="19192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400"/>
              <a:t>*HPLabs-99 (120 MB)</a:t>
            </a:r>
          </a:p>
        </p:txBody>
      </p:sp>
      <p:sp>
        <p:nvSpPr>
          <p:cNvPr id="277513" name="Text Box 9"/>
          <p:cNvSpPr txBox="1">
            <a:spLocks noChangeArrowheads="1"/>
          </p:cNvSpPr>
          <p:nvPr/>
        </p:nvSpPr>
        <p:spPr bwMode="auto">
          <a:xfrm>
            <a:off x="511175" y="5697538"/>
            <a:ext cx="70612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a:t>HPC-98: enterprise streaming media server logs of HP corporation (29 months)</a:t>
            </a:r>
          </a:p>
          <a:p>
            <a:pPr eaLnBrk="1" hangingPunct="1">
              <a:spcBef>
                <a:spcPct val="0"/>
              </a:spcBef>
              <a:buFontTx/>
              <a:buNone/>
            </a:pPr>
            <a:r>
              <a:rPr lang="en-US" altLang="zh-CN" sz="1400"/>
              <a:t>HPLabs: logs of video streaming server for employees in HP Labs (21 months)</a:t>
            </a:r>
          </a:p>
          <a:p>
            <a:pPr eaLnBrk="1" hangingPunct="1">
              <a:spcBef>
                <a:spcPct val="0"/>
              </a:spcBef>
              <a:buFontTx/>
              <a:buNone/>
            </a:pPr>
            <a:r>
              <a:rPr lang="en-US" altLang="zh-CN" sz="1400"/>
              <a:t>ST-SVR-01: an enterprise streaming media server log workload like HPC-98 (4 months)</a:t>
            </a:r>
          </a:p>
        </p:txBody>
      </p:sp>
      <p:sp>
        <p:nvSpPr>
          <p:cNvPr id="277514" name="Line 10"/>
          <p:cNvSpPr>
            <a:spLocks noChangeShapeType="1"/>
          </p:cNvSpPr>
          <p:nvPr/>
        </p:nvSpPr>
        <p:spPr bwMode="auto">
          <a:xfrm>
            <a:off x="615950" y="4933950"/>
            <a:ext cx="514350" cy="7938"/>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515" name="Text Box 11"/>
          <p:cNvSpPr txBox="1">
            <a:spLocks noChangeArrowheads="1"/>
          </p:cNvSpPr>
          <p:nvPr/>
        </p:nvSpPr>
        <p:spPr bwMode="auto">
          <a:xfrm>
            <a:off x="1152525" y="4792663"/>
            <a:ext cx="29130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a:t>data in stretched exponential scale</a:t>
            </a:r>
          </a:p>
        </p:txBody>
      </p:sp>
      <p:sp>
        <p:nvSpPr>
          <p:cNvPr id="277516" name="Line 12"/>
          <p:cNvSpPr>
            <a:spLocks noChangeShapeType="1"/>
          </p:cNvSpPr>
          <p:nvPr/>
        </p:nvSpPr>
        <p:spPr bwMode="auto">
          <a:xfrm>
            <a:off x="622300" y="5219700"/>
            <a:ext cx="514350" cy="7938"/>
          </a:xfrm>
          <a:prstGeom prst="line">
            <a:avLst/>
          </a:prstGeom>
          <a:noFill/>
          <a:ln w="19050">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517" name="Text Box 13"/>
          <p:cNvSpPr txBox="1">
            <a:spLocks noChangeArrowheads="1"/>
          </p:cNvSpPr>
          <p:nvPr/>
        </p:nvSpPr>
        <p:spPr bwMode="auto">
          <a:xfrm>
            <a:off x="1166813" y="5070475"/>
            <a:ext cx="17605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a:t>data in log-log scale</a:t>
            </a:r>
          </a:p>
        </p:txBody>
      </p:sp>
      <p:sp>
        <p:nvSpPr>
          <p:cNvPr id="277518" name="Text Box 14"/>
          <p:cNvSpPr txBox="1">
            <a:spLocks noChangeArrowheads="1"/>
          </p:cNvSpPr>
          <p:nvPr/>
        </p:nvSpPr>
        <p:spPr bwMode="auto">
          <a:xfrm>
            <a:off x="1169988" y="5354638"/>
            <a:ext cx="43481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a:latin typeface="Times New Roman" panose="02020603050405020304" pitchFamily="18" charset="0"/>
              </a:rPr>
              <a:t>R</a:t>
            </a:r>
            <a:r>
              <a:rPr lang="en-US" altLang="zh-CN" sz="1400" baseline="30000">
                <a:latin typeface="Times New Roman" panose="02020603050405020304" pitchFamily="18" charset="0"/>
              </a:rPr>
              <a:t>2</a:t>
            </a:r>
            <a:r>
              <a:rPr lang="en-US" altLang="zh-CN" sz="1400"/>
              <a:t>: coefficient of determination (1 means a perfect fit)</a:t>
            </a:r>
          </a:p>
        </p:txBody>
      </p:sp>
      <p:sp>
        <p:nvSpPr>
          <p:cNvPr id="277519" name="Text Box 15"/>
          <p:cNvSpPr txBox="1">
            <a:spLocks noChangeArrowheads="1"/>
          </p:cNvSpPr>
          <p:nvPr/>
        </p:nvSpPr>
        <p:spPr bwMode="auto">
          <a:xfrm>
            <a:off x="539750" y="4465638"/>
            <a:ext cx="8128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i="1">
                <a:solidFill>
                  <a:schemeClr val="accent2"/>
                </a:solidFill>
                <a:latin typeface="Times New Roman" panose="02020603050405020304" pitchFamily="18" charset="0"/>
              </a:rPr>
              <a:t>x</a:t>
            </a:r>
            <a:r>
              <a:rPr lang="en-US" altLang="zh-CN" sz="1400">
                <a:solidFill>
                  <a:schemeClr val="accent2"/>
                </a:solidFill>
              </a:rPr>
              <a:t>: rank of media object, </a:t>
            </a:r>
            <a:r>
              <a:rPr lang="en-US" altLang="zh-CN" sz="1400" i="1">
                <a:solidFill>
                  <a:schemeClr val="accent2"/>
                </a:solidFill>
                <a:latin typeface="Times New Roman" panose="02020603050405020304" pitchFamily="18" charset="0"/>
              </a:rPr>
              <a:t>y</a:t>
            </a:r>
            <a:r>
              <a:rPr lang="en-US" altLang="zh-CN" sz="1400">
                <a:solidFill>
                  <a:schemeClr val="accent2"/>
                </a:solidFill>
              </a:rPr>
              <a:t>: number of references to the object. Title: workload name (median file size)</a:t>
            </a:r>
          </a:p>
        </p:txBody>
      </p:sp>
      <p:sp>
        <p:nvSpPr>
          <p:cNvPr id="277520" name="Text Box 16"/>
          <p:cNvSpPr txBox="1">
            <a:spLocks noChangeArrowheads="1"/>
          </p:cNvSpPr>
          <p:nvPr/>
        </p:nvSpPr>
        <p:spPr bwMode="auto">
          <a:xfrm>
            <a:off x="539750" y="4005263"/>
            <a:ext cx="2519363" cy="3667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800" b="1"/>
              <a:t>log scale in x axis</a:t>
            </a:r>
          </a:p>
        </p:txBody>
      </p:sp>
      <p:sp>
        <p:nvSpPr>
          <p:cNvPr id="277522" name="Text Box 18"/>
          <p:cNvSpPr txBox="1">
            <a:spLocks noChangeArrowheads="1"/>
          </p:cNvSpPr>
          <p:nvPr/>
        </p:nvSpPr>
        <p:spPr bwMode="auto">
          <a:xfrm flipV="1">
            <a:off x="234950" y="1592263"/>
            <a:ext cx="458788" cy="2619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800" b="1">
                <a:solidFill>
                  <a:srgbClr val="0000FF"/>
                </a:solidFill>
              </a:rPr>
              <a:t>powered scale</a:t>
            </a:r>
            <a:r>
              <a:rPr lang="en-US" altLang="zh-CN" sz="1800">
                <a:solidFill>
                  <a:srgbClr val="0000FF"/>
                </a:solidFill>
              </a:rPr>
              <a:t> </a:t>
            </a:r>
            <a:r>
              <a:rPr lang="en-US" altLang="zh-CN" sz="1800" b="1">
                <a:solidFill>
                  <a:srgbClr val="0000FF"/>
                </a:solidFill>
              </a:rPr>
              <a:t>y</a:t>
            </a:r>
            <a:r>
              <a:rPr lang="en-US" altLang="zh-CN" sz="1800" b="1" baseline="30000">
                <a:solidFill>
                  <a:srgbClr val="0000FF"/>
                </a:solidFill>
              </a:rPr>
              <a:t>c</a:t>
            </a:r>
          </a:p>
        </p:txBody>
      </p:sp>
      <p:sp>
        <p:nvSpPr>
          <p:cNvPr id="277523" name="Text Box 19"/>
          <p:cNvSpPr txBox="1">
            <a:spLocks noChangeArrowheads="1"/>
          </p:cNvSpPr>
          <p:nvPr/>
        </p:nvSpPr>
        <p:spPr bwMode="auto">
          <a:xfrm flipV="1">
            <a:off x="2941638" y="1628775"/>
            <a:ext cx="274637" cy="2619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800" b="1">
                <a:solidFill>
                  <a:srgbClr val="008000"/>
                </a:solidFill>
              </a:rPr>
              <a:t>log scale</a:t>
            </a:r>
          </a:p>
        </p:txBody>
      </p:sp>
      <p:sp>
        <p:nvSpPr>
          <p:cNvPr id="277524" name="Text Box 20"/>
          <p:cNvSpPr txBox="1">
            <a:spLocks noChangeArrowheads="1"/>
          </p:cNvSpPr>
          <p:nvPr/>
        </p:nvSpPr>
        <p:spPr bwMode="auto">
          <a:xfrm>
            <a:off x="611188" y="1341438"/>
            <a:ext cx="1620837" cy="3667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008000"/>
                </a:solidFill>
              </a:rPr>
              <a:t>fat head</a:t>
            </a:r>
          </a:p>
        </p:txBody>
      </p:sp>
      <p:sp>
        <p:nvSpPr>
          <p:cNvPr id="277525" name="Text Box 21"/>
          <p:cNvSpPr txBox="1">
            <a:spLocks noChangeArrowheads="1"/>
          </p:cNvSpPr>
          <p:nvPr/>
        </p:nvSpPr>
        <p:spPr bwMode="auto">
          <a:xfrm>
            <a:off x="2232025" y="1341438"/>
            <a:ext cx="996950" cy="3667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008000"/>
                </a:solidFill>
              </a:rPr>
              <a:t>thin tail</a:t>
            </a:r>
          </a:p>
        </p:txBody>
      </p:sp>
      <p:sp>
        <p:nvSpPr>
          <p:cNvPr id="277526" name="Line 22"/>
          <p:cNvSpPr>
            <a:spLocks noChangeShapeType="1"/>
          </p:cNvSpPr>
          <p:nvPr/>
        </p:nvSpPr>
        <p:spPr bwMode="auto">
          <a:xfrm>
            <a:off x="1079500" y="1665288"/>
            <a:ext cx="0" cy="468312"/>
          </a:xfrm>
          <a:prstGeom prst="line">
            <a:avLst/>
          </a:prstGeom>
          <a:noFill/>
          <a:ln w="38100">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7527" name="Line 23"/>
          <p:cNvSpPr>
            <a:spLocks noChangeShapeType="1"/>
          </p:cNvSpPr>
          <p:nvPr/>
        </p:nvSpPr>
        <p:spPr bwMode="auto">
          <a:xfrm>
            <a:off x="2663825" y="1665288"/>
            <a:ext cx="0" cy="1619250"/>
          </a:xfrm>
          <a:prstGeom prst="line">
            <a:avLst/>
          </a:prstGeom>
          <a:noFill/>
          <a:ln w="38100">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7528" name="Rectangle 24"/>
          <p:cNvSpPr>
            <a:spLocks noChangeArrowheads="1"/>
          </p:cNvSpPr>
          <p:nvPr/>
        </p:nvSpPr>
        <p:spPr bwMode="auto">
          <a:xfrm>
            <a:off x="755650" y="2954338"/>
            <a:ext cx="1016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0000FF"/>
                </a:solidFill>
              </a:rPr>
              <a:t>c = 0.22</a:t>
            </a:r>
          </a:p>
        </p:txBody>
      </p:sp>
      <p:sp>
        <p:nvSpPr>
          <p:cNvPr id="277529" name="Text Box 25"/>
          <p:cNvSpPr txBox="1">
            <a:spLocks noChangeArrowheads="1"/>
          </p:cNvSpPr>
          <p:nvPr/>
        </p:nvSpPr>
        <p:spPr bwMode="auto">
          <a:xfrm>
            <a:off x="755650" y="3249613"/>
            <a:ext cx="1116013" cy="7016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0000FF"/>
                </a:solidFill>
              </a:rPr>
              <a:t>R</a:t>
            </a:r>
            <a:r>
              <a:rPr lang="en-US" altLang="zh-CN" sz="1800" b="1" baseline="30000">
                <a:solidFill>
                  <a:srgbClr val="0000FF"/>
                </a:solidFill>
              </a:rPr>
              <a:t>2</a:t>
            </a:r>
            <a:r>
              <a:rPr lang="en-US" altLang="zh-CN" sz="1800" b="1">
                <a:solidFill>
                  <a:srgbClr val="0000FF"/>
                </a:solidFill>
              </a:rPr>
              <a:t> ~ 1</a:t>
            </a:r>
          </a:p>
        </p:txBody>
      </p:sp>
      <p:sp>
        <p:nvSpPr>
          <p:cNvPr id="277537" name="Line 33"/>
          <p:cNvSpPr>
            <a:spLocks noChangeShapeType="1"/>
          </p:cNvSpPr>
          <p:nvPr/>
        </p:nvSpPr>
        <p:spPr bwMode="auto">
          <a:xfrm>
            <a:off x="719138" y="2060575"/>
            <a:ext cx="2052637" cy="1836738"/>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538" name="Line 34"/>
          <p:cNvSpPr>
            <a:spLocks noChangeShapeType="1"/>
          </p:cNvSpPr>
          <p:nvPr/>
        </p:nvSpPr>
        <p:spPr bwMode="auto">
          <a:xfrm>
            <a:off x="3563938" y="2060575"/>
            <a:ext cx="2052637" cy="1836738"/>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539" name="Line 35"/>
          <p:cNvSpPr>
            <a:spLocks noChangeShapeType="1"/>
          </p:cNvSpPr>
          <p:nvPr/>
        </p:nvSpPr>
        <p:spPr bwMode="auto">
          <a:xfrm>
            <a:off x="6443663" y="1952625"/>
            <a:ext cx="1981200" cy="198120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18594156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7751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7511"/>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775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75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75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75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75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7519"/>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7520"/>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7752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77528"/>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77523"/>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7752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7752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7752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77527"/>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77537"/>
                                        </p:tgtEl>
                                        <p:attrNameLst>
                                          <p:attrName>style.visibility</p:attrName>
                                        </p:attrNameLst>
                                      </p:cBhvr>
                                      <p:to>
                                        <p:strVal val="visible"/>
                                      </p:to>
                                    </p:set>
                                    <p:animEffect transition="in" filter="wipe(left)">
                                      <p:cBhvr>
                                        <p:cTn id="55" dur="500"/>
                                        <p:tgtEl>
                                          <p:spTgt spid="277537"/>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277529"/>
                                        </p:tgtEl>
                                        <p:attrNameLst>
                                          <p:attrName>style.visibility</p:attrName>
                                        </p:attrNameLst>
                                      </p:cBhvr>
                                      <p:to>
                                        <p:strVal val="visible"/>
                                      </p:to>
                                    </p:set>
                                  </p:child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ntr" presetSubtype="0" fill="hold" nodeType="clickEffect">
                                  <p:stCondLst>
                                    <p:cond delay="0"/>
                                  </p:stCondLst>
                                  <p:childTnLst>
                                    <p:set>
                                      <p:cBhvr>
                                        <p:cTn id="63" dur="1" fill="hold">
                                          <p:stCondLst>
                                            <p:cond delay="0"/>
                                          </p:stCondLst>
                                        </p:cTn>
                                        <p:tgtEl>
                                          <p:spTgt spid="277513">
                                            <p:txEl>
                                              <p:pRg st="1" end="1"/>
                                            </p:txEl>
                                          </p:spTgt>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277509"/>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277512"/>
                                        </p:tgtEl>
                                        <p:attrNameLst>
                                          <p:attrName>style.visibility</p:attrName>
                                        </p:attrNameLst>
                                      </p:cBhvr>
                                      <p:to>
                                        <p:strVal val="visible"/>
                                      </p:to>
                                    </p:se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77538"/>
                                        </p:tgtEl>
                                        <p:attrNameLst>
                                          <p:attrName>style.visibility</p:attrName>
                                        </p:attrNameLst>
                                      </p:cBhvr>
                                      <p:to>
                                        <p:strVal val="visible"/>
                                      </p:to>
                                    </p:set>
                                    <p:animEffect transition="in" filter="wipe(left)">
                                      <p:cBhvr>
                                        <p:cTn id="72" dur="500"/>
                                        <p:tgtEl>
                                          <p:spTgt spid="277538"/>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1" presetClass="entr" presetSubtype="0" fill="hold" nodeType="clickEffect">
                                  <p:stCondLst>
                                    <p:cond delay="0"/>
                                  </p:stCondLst>
                                  <p:childTnLst>
                                    <p:set>
                                      <p:cBhvr>
                                        <p:cTn id="76" dur="1" fill="hold">
                                          <p:stCondLst>
                                            <p:cond delay="0"/>
                                          </p:stCondLst>
                                        </p:cTn>
                                        <p:tgtEl>
                                          <p:spTgt spid="277513">
                                            <p:txEl>
                                              <p:pRg st="2" end="2"/>
                                            </p:txEl>
                                          </p:spTgt>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277507"/>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77510"/>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277539"/>
                                        </p:tgtEl>
                                        <p:attrNameLst>
                                          <p:attrName>style.visibility</p:attrName>
                                        </p:attrNameLst>
                                      </p:cBhvr>
                                      <p:to>
                                        <p:strVal val="visible"/>
                                      </p:to>
                                    </p:set>
                                    <p:animEffect transition="in" filter="wipe(left)">
                                      <p:cBhvr>
                                        <p:cTn id="85" dur="500"/>
                                        <p:tgtEl>
                                          <p:spTgt spid="2775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510" grpId="0"/>
      <p:bldP spid="277512" grpId="0"/>
      <p:bldP spid="277514" grpId="0" animBg="1"/>
      <p:bldP spid="277515" grpId="0"/>
      <p:bldP spid="277516" grpId="0" animBg="1"/>
      <p:bldP spid="277517" grpId="0"/>
      <p:bldP spid="277518" grpId="0"/>
      <p:bldP spid="277519" grpId="0"/>
      <p:bldP spid="277520" grpId="0" animBg="1"/>
      <p:bldP spid="277522" grpId="0" animBg="1"/>
      <p:bldP spid="277523" grpId="0" animBg="1"/>
      <p:bldP spid="277524" grpId="0" animBg="1"/>
      <p:bldP spid="277525" grpId="0" animBg="1"/>
      <p:bldP spid="277526" grpId="0" animBg="1"/>
      <p:bldP spid="277527" grpId="0" animBg="1"/>
      <p:bldP spid="277528" grpId="0"/>
      <p:bldP spid="277529" grpId="0" animBg="1"/>
      <p:bldP spid="277537" grpId="0" animBg="1"/>
      <p:bldP spid="277538" grpId="0" animBg="1"/>
      <p:bldP spid="27753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Slide Number Placeholder 4"/>
          <p:cNvSpPr>
            <a:spLocks noGrp="1"/>
          </p:cNvSpPr>
          <p:nvPr>
            <p:ph type="sldNum" sz="quarter" idx="4294967295"/>
          </p:nvPr>
        </p:nvSpPr>
        <p:spPr>
          <a:xfrm>
            <a:off x="6553200" y="6245225"/>
            <a:ext cx="2133600" cy="4762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F5F0928-F21E-41EB-B5C5-9B24E074DB5D}" type="slidenum">
              <a:rPr lang="en-US" altLang="zh-CN" sz="1400" smtClean="0"/>
              <a:pPr>
                <a:spcBef>
                  <a:spcPct val="0"/>
                </a:spcBef>
                <a:buFontTx/>
                <a:buNone/>
              </a:pPr>
              <a:t>18</a:t>
            </a:fld>
            <a:endParaRPr lang="en-US" altLang="zh-CN" sz="1400" smtClean="0"/>
          </a:p>
        </p:txBody>
      </p:sp>
      <p:sp>
        <p:nvSpPr>
          <p:cNvPr id="21507" name="Rectangle 2"/>
          <p:cNvSpPr>
            <a:spLocks noGrp="1" noChangeArrowheads="1"/>
          </p:cNvSpPr>
          <p:nvPr>
            <p:ph type="title"/>
          </p:nvPr>
        </p:nvSpPr>
        <p:spPr>
          <a:xfrm>
            <a:off x="0" y="274638"/>
            <a:ext cx="9144000" cy="1143000"/>
          </a:xfrm>
        </p:spPr>
        <p:txBody>
          <a:bodyPr/>
          <a:lstStyle/>
          <a:p>
            <a:pPr eaLnBrk="1" hangingPunct="1"/>
            <a:r>
              <a:rPr lang="en-US" altLang="zh-CN" sz="3200" smtClean="0">
                <a:solidFill>
                  <a:schemeClr val="accent2"/>
                </a:solidFill>
              </a:rPr>
              <a:t>Evidences: Web media systems (req packets)</a:t>
            </a:r>
          </a:p>
        </p:txBody>
      </p:sp>
      <p:pic>
        <p:nvPicPr>
          <p:cNvPr id="21508" name="Picture 3" descr="mh-http-w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938" y="1936750"/>
            <a:ext cx="2644775"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9" name="Picture 4" descr="rtsp0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7238" y="1900238"/>
            <a:ext cx="2598737" cy="2519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0" name="Picture 5" descr="rtsp0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22975" y="1901825"/>
            <a:ext cx="2646363" cy="2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1" name="Text Box 6"/>
          <p:cNvSpPr txBox="1">
            <a:spLocks noChangeArrowheads="1"/>
          </p:cNvSpPr>
          <p:nvPr/>
        </p:nvSpPr>
        <p:spPr bwMode="auto">
          <a:xfrm>
            <a:off x="6375400" y="1538288"/>
            <a:ext cx="20383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400"/>
              <a:t>ST-CLT-05 (4.5 MB)</a:t>
            </a:r>
          </a:p>
        </p:txBody>
      </p:sp>
      <p:sp>
        <p:nvSpPr>
          <p:cNvPr id="21512" name="Text Box 7"/>
          <p:cNvSpPr txBox="1">
            <a:spLocks noChangeArrowheads="1"/>
          </p:cNvSpPr>
          <p:nvPr/>
        </p:nvSpPr>
        <p:spPr bwMode="auto">
          <a:xfrm>
            <a:off x="871538" y="1571625"/>
            <a:ext cx="19573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400"/>
              <a:t>PS-CLT-04 (1.5 MB)</a:t>
            </a:r>
          </a:p>
        </p:txBody>
      </p:sp>
      <p:sp>
        <p:nvSpPr>
          <p:cNvPr id="21513" name="Text Box 8"/>
          <p:cNvSpPr txBox="1">
            <a:spLocks noChangeArrowheads="1"/>
          </p:cNvSpPr>
          <p:nvPr/>
        </p:nvSpPr>
        <p:spPr bwMode="auto">
          <a:xfrm>
            <a:off x="3829050" y="1554163"/>
            <a:ext cx="15843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400"/>
              <a:t>ST-CLT-04 (2 MB)</a:t>
            </a:r>
          </a:p>
        </p:txBody>
      </p:sp>
      <p:sp>
        <p:nvSpPr>
          <p:cNvPr id="21514" name="Text Box 9"/>
          <p:cNvSpPr txBox="1">
            <a:spLocks noChangeArrowheads="1"/>
          </p:cNvSpPr>
          <p:nvPr/>
        </p:nvSpPr>
        <p:spPr bwMode="auto">
          <a:xfrm>
            <a:off x="579438" y="4752975"/>
            <a:ext cx="7439025" cy="140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a:t>All collected from a large cable network hosted by a well-known ISP</a:t>
            </a:r>
          </a:p>
          <a:p>
            <a:pPr eaLnBrk="1" hangingPunct="1">
              <a:spcBef>
                <a:spcPct val="0"/>
              </a:spcBef>
              <a:buFontTx/>
              <a:buNone/>
            </a:pPr>
            <a:endParaRPr lang="en-US" altLang="zh-CN" sz="1400"/>
          </a:p>
          <a:p>
            <a:pPr eaLnBrk="1" hangingPunct="1">
              <a:spcBef>
                <a:spcPct val="0"/>
              </a:spcBef>
              <a:buFontTx/>
              <a:buNone/>
            </a:pPr>
            <a:r>
              <a:rPr lang="en-US" altLang="zh-CN" sz="1400"/>
              <a:t>PS-CLT-04: first IP packets of HTTP requests for media objects (downloading and     	  pseudo streaming), 9 days</a:t>
            </a:r>
          </a:p>
          <a:p>
            <a:pPr eaLnBrk="1" hangingPunct="1">
              <a:spcBef>
                <a:spcPct val="0"/>
              </a:spcBef>
              <a:buFontTx/>
              <a:buNone/>
            </a:pPr>
            <a:r>
              <a:rPr lang="en-US" altLang="zh-CN" sz="1400"/>
              <a:t>ST-CLT-04: RTSP/MMS streaming requests (on-demand media), 9 days</a:t>
            </a:r>
          </a:p>
          <a:p>
            <a:pPr eaLnBrk="1" hangingPunct="1">
              <a:spcBef>
                <a:spcPct val="0"/>
              </a:spcBef>
              <a:buFontTx/>
              <a:buNone/>
            </a:pPr>
            <a:r>
              <a:rPr lang="en-US" altLang="zh-CN" sz="1400"/>
              <a:t>ST-CLT-05: RTSP/MMS streaming requests (on-demand media), 11 days</a:t>
            </a:r>
          </a:p>
        </p:txBody>
      </p:sp>
      <p:sp>
        <p:nvSpPr>
          <p:cNvPr id="21515" name="Text Box 31"/>
          <p:cNvSpPr txBox="1">
            <a:spLocks noChangeArrowheads="1"/>
          </p:cNvSpPr>
          <p:nvPr/>
        </p:nvSpPr>
        <p:spPr bwMode="auto">
          <a:xfrm flipV="1">
            <a:off x="395288" y="1773238"/>
            <a:ext cx="458787" cy="2619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800" b="1">
                <a:solidFill>
                  <a:srgbClr val="0000FF"/>
                </a:solidFill>
              </a:rPr>
              <a:t>powered scale</a:t>
            </a:r>
            <a:r>
              <a:rPr lang="en-US" altLang="zh-CN" sz="1800">
                <a:solidFill>
                  <a:srgbClr val="0000FF"/>
                </a:solidFill>
              </a:rPr>
              <a:t> </a:t>
            </a:r>
            <a:r>
              <a:rPr lang="en-US" altLang="zh-CN" sz="1800" b="1">
                <a:solidFill>
                  <a:srgbClr val="0000FF"/>
                </a:solidFill>
              </a:rPr>
              <a:t>y</a:t>
            </a:r>
            <a:r>
              <a:rPr lang="en-US" altLang="zh-CN" sz="1800" b="1" baseline="30000">
                <a:solidFill>
                  <a:srgbClr val="0000FF"/>
                </a:solidFill>
              </a:rPr>
              <a:t>c</a:t>
            </a:r>
          </a:p>
        </p:txBody>
      </p:sp>
      <p:sp>
        <p:nvSpPr>
          <p:cNvPr id="21516" name="Text Box 32"/>
          <p:cNvSpPr txBox="1">
            <a:spLocks noChangeArrowheads="1"/>
          </p:cNvSpPr>
          <p:nvPr/>
        </p:nvSpPr>
        <p:spPr bwMode="auto">
          <a:xfrm flipV="1">
            <a:off x="2916238" y="1844675"/>
            <a:ext cx="274637" cy="2619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800" b="1">
                <a:solidFill>
                  <a:srgbClr val="008000"/>
                </a:solidFill>
              </a:rPr>
              <a:t>log scale</a:t>
            </a:r>
          </a:p>
        </p:txBody>
      </p:sp>
      <p:sp>
        <p:nvSpPr>
          <p:cNvPr id="278561" name="Text Box 33"/>
          <p:cNvSpPr txBox="1">
            <a:spLocks noChangeArrowheads="1"/>
          </p:cNvSpPr>
          <p:nvPr/>
        </p:nvSpPr>
        <p:spPr bwMode="auto">
          <a:xfrm>
            <a:off x="468313" y="1520825"/>
            <a:ext cx="1620837" cy="366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008000"/>
                </a:solidFill>
              </a:rPr>
              <a:t>fat head</a:t>
            </a:r>
          </a:p>
        </p:txBody>
      </p:sp>
      <p:sp>
        <p:nvSpPr>
          <p:cNvPr id="278562" name="Text Box 34"/>
          <p:cNvSpPr txBox="1">
            <a:spLocks noChangeArrowheads="1"/>
          </p:cNvSpPr>
          <p:nvPr/>
        </p:nvSpPr>
        <p:spPr bwMode="auto">
          <a:xfrm>
            <a:off x="2087563" y="1520825"/>
            <a:ext cx="996950" cy="366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008000"/>
                </a:solidFill>
              </a:rPr>
              <a:t>thin tail</a:t>
            </a:r>
          </a:p>
        </p:txBody>
      </p:sp>
      <p:sp>
        <p:nvSpPr>
          <p:cNvPr id="278563" name="Line 35"/>
          <p:cNvSpPr>
            <a:spLocks noChangeShapeType="1"/>
          </p:cNvSpPr>
          <p:nvPr/>
        </p:nvSpPr>
        <p:spPr bwMode="auto">
          <a:xfrm>
            <a:off x="2592388" y="1881188"/>
            <a:ext cx="0" cy="1690687"/>
          </a:xfrm>
          <a:prstGeom prst="line">
            <a:avLst/>
          </a:prstGeom>
          <a:noFill/>
          <a:ln w="38100">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20" name="Text Box 36"/>
          <p:cNvSpPr txBox="1">
            <a:spLocks noChangeArrowheads="1"/>
          </p:cNvSpPr>
          <p:nvPr/>
        </p:nvSpPr>
        <p:spPr bwMode="auto">
          <a:xfrm>
            <a:off x="736600" y="4211638"/>
            <a:ext cx="2303463" cy="3667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800" b="1"/>
              <a:t>log scale in x axis</a:t>
            </a:r>
          </a:p>
        </p:txBody>
      </p:sp>
      <p:sp>
        <p:nvSpPr>
          <p:cNvPr id="278565" name="Line 37"/>
          <p:cNvSpPr>
            <a:spLocks noChangeShapeType="1"/>
          </p:cNvSpPr>
          <p:nvPr/>
        </p:nvSpPr>
        <p:spPr bwMode="auto">
          <a:xfrm>
            <a:off x="1079500" y="1881188"/>
            <a:ext cx="0" cy="468312"/>
          </a:xfrm>
          <a:prstGeom prst="line">
            <a:avLst/>
          </a:prstGeom>
          <a:noFill/>
          <a:ln w="38100">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8566" name="Line 38"/>
          <p:cNvSpPr>
            <a:spLocks noChangeShapeType="1"/>
          </p:cNvSpPr>
          <p:nvPr/>
        </p:nvSpPr>
        <p:spPr bwMode="auto">
          <a:xfrm>
            <a:off x="827088" y="2349500"/>
            <a:ext cx="2016125" cy="183515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31731387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856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856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856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8565"/>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78566"/>
                                        </p:tgtEl>
                                        <p:attrNameLst>
                                          <p:attrName>style.visibility</p:attrName>
                                        </p:attrNameLst>
                                      </p:cBhvr>
                                      <p:to>
                                        <p:strVal val="visible"/>
                                      </p:to>
                                    </p:set>
                                    <p:animEffect transition="in" filter="wipe(left)">
                                      <p:cBhvr>
                                        <p:cTn id="17" dur="500"/>
                                        <p:tgtEl>
                                          <p:spTgt spid="2785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561" grpId="0" animBg="1"/>
      <p:bldP spid="278562" grpId="0" animBg="1"/>
      <p:bldP spid="278563" grpId="0" animBg="1"/>
      <p:bldP spid="278565" grpId="0" animBg="1"/>
      <p:bldP spid="27856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Slide Number Placeholder 6"/>
          <p:cNvSpPr>
            <a:spLocks noGrp="1"/>
          </p:cNvSpPr>
          <p:nvPr>
            <p:ph type="sldNum" sz="quarter" idx="4294967295"/>
          </p:nvPr>
        </p:nvSpPr>
        <p:spPr>
          <a:xfrm>
            <a:off x="6553200" y="6245225"/>
            <a:ext cx="2133600" cy="4762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1021D7D-D72C-4F5F-A368-610568FE6A21}" type="slidenum">
              <a:rPr lang="en-US" altLang="zh-CN" sz="1400" smtClean="0"/>
              <a:pPr>
                <a:spcBef>
                  <a:spcPct val="0"/>
                </a:spcBef>
                <a:buFontTx/>
                <a:buNone/>
              </a:pPr>
              <a:t>19</a:t>
            </a:fld>
            <a:endParaRPr lang="en-US" altLang="zh-CN" sz="1400" smtClean="0"/>
          </a:p>
        </p:txBody>
      </p:sp>
      <p:sp>
        <p:nvSpPr>
          <p:cNvPr id="22531" name="Rectangle 2"/>
          <p:cNvSpPr>
            <a:spLocks noGrp="1" noChangeArrowheads="1"/>
          </p:cNvSpPr>
          <p:nvPr>
            <p:ph type="title"/>
          </p:nvPr>
        </p:nvSpPr>
        <p:spPr/>
        <p:txBody>
          <a:bodyPr/>
          <a:lstStyle/>
          <a:p>
            <a:pPr eaLnBrk="1" hangingPunct="1"/>
            <a:r>
              <a:rPr lang="en-US" altLang="zh-CN" sz="3200" smtClean="0">
                <a:solidFill>
                  <a:schemeClr val="accent2"/>
                </a:solidFill>
              </a:rPr>
              <a:t>Evidences: VoD media systems</a:t>
            </a:r>
          </a:p>
        </p:txBody>
      </p:sp>
      <p:sp>
        <p:nvSpPr>
          <p:cNvPr id="22532" name="Rectangle 3"/>
          <p:cNvSpPr>
            <a:spLocks noGrp="1" noChangeArrowheads="1"/>
          </p:cNvSpPr>
          <p:nvPr>
            <p:ph type="body" sz="half" idx="2"/>
          </p:nvPr>
        </p:nvSpPr>
        <p:spPr>
          <a:xfrm>
            <a:off x="5778500" y="1600200"/>
            <a:ext cx="2908300" cy="4525963"/>
          </a:xfrm>
        </p:spPr>
        <p:txBody>
          <a:bodyPr/>
          <a:lstStyle/>
          <a:p>
            <a:pPr eaLnBrk="1" hangingPunct="1">
              <a:lnSpc>
                <a:spcPct val="90000"/>
              </a:lnSpc>
            </a:pPr>
            <a:r>
              <a:rPr lang="en-US" altLang="zh-CN" sz="1400" smtClean="0"/>
              <a:t>mMoD-98: logs of a multicast Media-on-Demand video server, 194 days</a:t>
            </a:r>
          </a:p>
          <a:p>
            <a:pPr eaLnBrk="1" hangingPunct="1">
              <a:lnSpc>
                <a:spcPct val="90000"/>
              </a:lnSpc>
            </a:pPr>
            <a:endParaRPr lang="en-US" altLang="zh-CN" sz="1400" smtClean="0"/>
          </a:p>
          <a:p>
            <a:pPr eaLnBrk="1" hangingPunct="1">
              <a:lnSpc>
                <a:spcPct val="90000"/>
              </a:lnSpc>
            </a:pPr>
            <a:r>
              <a:rPr lang="en-US" altLang="zh-CN" sz="1400" smtClean="0"/>
              <a:t>CTVoD-04: streaming serer logs of a large VoD system by China telecom, 219 days, reported as Zipf in EUROSYS’06</a:t>
            </a:r>
          </a:p>
          <a:p>
            <a:pPr eaLnBrk="1" hangingPunct="1">
              <a:lnSpc>
                <a:spcPct val="90000"/>
              </a:lnSpc>
            </a:pPr>
            <a:endParaRPr lang="en-US" altLang="zh-CN" sz="1400" smtClean="0"/>
          </a:p>
          <a:p>
            <a:pPr eaLnBrk="1" hangingPunct="1">
              <a:lnSpc>
                <a:spcPct val="90000"/>
              </a:lnSpc>
            </a:pPr>
            <a:r>
              <a:rPr lang="en-US" altLang="zh-CN" sz="1400" smtClean="0"/>
              <a:t>IFILM-06: number of web page clicks to video clips in IFILM site, 16 weeks (one week for the figure)</a:t>
            </a:r>
          </a:p>
          <a:p>
            <a:pPr eaLnBrk="1" hangingPunct="1">
              <a:lnSpc>
                <a:spcPct val="90000"/>
              </a:lnSpc>
            </a:pPr>
            <a:endParaRPr lang="en-US" altLang="zh-CN" sz="1400" smtClean="0"/>
          </a:p>
          <a:p>
            <a:pPr eaLnBrk="1" hangingPunct="1">
              <a:lnSpc>
                <a:spcPct val="90000"/>
              </a:lnSpc>
            </a:pPr>
            <a:r>
              <a:rPr lang="en-US" altLang="zh-CN" sz="1400" smtClean="0"/>
              <a:t>YouTube-06: cumulative number of requests to YouTube video clips, by crawling on web pages publishing the data</a:t>
            </a:r>
          </a:p>
        </p:txBody>
      </p:sp>
      <p:pic>
        <p:nvPicPr>
          <p:cNvPr id="279556" name="Picture 4" descr="mmcn2000-fig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3238" y="1592263"/>
            <a:ext cx="2389187" cy="231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4" name="Picture 5" descr="eurosys2006-fig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2788" y="1595438"/>
            <a:ext cx="2427287"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9558" name="Picture 6" descr="ifilm-2006-03-28-ur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4188" y="4302125"/>
            <a:ext cx="2408237" cy="227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9559" name="Picture 7" descr="youtube-2006-10-18-view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68663" y="4330700"/>
            <a:ext cx="2390775"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9560" name="Text Box 8"/>
          <p:cNvSpPr txBox="1">
            <a:spLocks noChangeArrowheads="1"/>
          </p:cNvSpPr>
          <p:nvPr/>
        </p:nvSpPr>
        <p:spPr bwMode="auto">
          <a:xfrm>
            <a:off x="768350" y="1360488"/>
            <a:ext cx="18510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400"/>
              <a:t>*mMoD-98 (125 MB)</a:t>
            </a:r>
          </a:p>
        </p:txBody>
      </p:sp>
      <p:sp>
        <p:nvSpPr>
          <p:cNvPr id="22538" name="Text Box 9"/>
          <p:cNvSpPr txBox="1">
            <a:spLocks noChangeArrowheads="1"/>
          </p:cNvSpPr>
          <p:nvPr/>
        </p:nvSpPr>
        <p:spPr bwMode="auto">
          <a:xfrm>
            <a:off x="3563938" y="1341438"/>
            <a:ext cx="18700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400"/>
              <a:t>*CTVoD-04 (300 MB)</a:t>
            </a:r>
          </a:p>
        </p:txBody>
      </p:sp>
      <p:sp>
        <p:nvSpPr>
          <p:cNvPr id="279562" name="Text Box 10"/>
          <p:cNvSpPr txBox="1">
            <a:spLocks noChangeArrowheads="1"/>
          </p:cNvSpPr>
          <p:nvPr/>
        </p:nvSpPr>
        <p:spPr bwMode="auto">
          <a:xfrm>
            <a:off x="862013" y="4049713"/>
            <a:ext cx="17192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400"/>
              <a:t>IFILM-06 (2.25 MB)</a:t>
            </a:r>
          </a:p>
        </p:txBody>
      </p:sp>
      <p:sp>
        <p:nvSpPr>
          <p:cNvPr id="279563" name="Text Box 11"/>
          <p:cNvSpPr txBox="1">
            <a:spLocks noChangeArrowheads="1"/>
          </p:cNvSpPr>
          <p:nvPr/>
        </p:nvSpPr>
        <p:spPr bwMode="auto">
          <a:xfrm>
            <a:off x="3541713" y="4030663"/>
            <a:ext cx="1905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a:t>YouTube-06 (3.4 MB)</a:t>
            </a:r>
          </a:p>
        </p:txBody>
      </p:sp>
      <p:sp>
        <p:nvSpPr>
          <p:cNvPr id="22541" name="Text Box 14"/>
          <p:cNvSpPr txBox="1">
            <a:spLocks noChangeArrowheads="1"/>
          </p:cNvSpPr>
          <p:nvPr/>
        </p:nvSpPr>
        <p:spPr bwMode="auto">
          <a:xfrm flipV="1">
            <a:off x="3097213" y="1557338"/>
            <a:ext cx="458787" cy="21955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800" b="1">
                <a:solidFill>
                  <a:srgbClr val="0000FF"/>
                </a:solidFill>
              </a:rPr>
              <a:t>powered scale</a:t>
            </a:r>
            <a:r>
              <a:rPr lang="en-US" altLang="zh-CN" sz="1800">
                <a:solidFill>
                  <a:srgbClr val="0000FF"/>
                </a:solidFill>
              </a:rPr>
              <a:t> </a:t>
            </a:r>
            <a:r>
              <a:rPr lang="en-US" altLang="zh-CN" sz="1800" b="1">
                <a:solidFill>
                  <a:srgbClr val="0000FF"/>
                </a:solidFill>
              </a:rPr>
              <a:t>y</a:t>
            </a:r>
            <a:r>
              <a:rPr lang="en-US" altLang="zh-CN" sz="1800" b="1" baseline="30000">
                <a:solidFill>
                  <a:srgbClr val="0000FF"/>
                </a:solidFill>
              </a:rPr>
              <a:t>c</a:t>
            </a:r>
          </a:p>
        </p:txBody>
      </p:sp>
      <p:sp>
        <p:nvSpPr>
          <p:cNvPr id="22542" name="Text Box 15"/>
          <p:cNvSpPr txBox="1">
            <a:spLocks noChangeArrowheads="1"/>
          </p:cNvSpPr>
          <p:nvPr/>
        </p:nvSpPr>
        <p:spPr bwMode="auto">
          <a:xfrm flipV="1">
            <a:off x="5459413" y="1593850"/>
            <a:ext cx="274637" cy="21605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800" b="1">
                <a:solidFill>
                  <a:srgbClr val="008000"/>
                </a:solidFill>
              </a:rPr>
              <a:t>log scale</a:t>
            </a:r>
          </a:p>
        </p:txBody>
      </p:sp>
      <p:sp>
        <p:nvSpPr>
          <p:cNvPr id="279568" name="Text Box 16"/>
          <p:cNvSpPr txBox="1">
            <a:spLocks noChangeArrowheads="1"/>
          </p:cNvSpPr>
          <p:nvPr/>
        </p:nvSpPr>
        <p:spPr bwMode="auto">
          <a:xfrm>
            <a:off x="3276600" y="1268413"/>
            <a:ext cx="1474788" cy="3667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008000"/>
                </a:solidFill>
              </a:rPr>
              <a:t>fat head</a:t>
            </a:r>
          </a:p>
        </p:txBody>
      </p:sp>
      <p:sp>
        <p:nvSpPr>
          <p:cNvPr id="279569" name="Text Box 17"/>
          <p:cNvSpPr txBox="1">
            <a:spLocks noChangeArrowheads="1"/>
          </p:cNvSpPr>
          <p:nvPr/>
        </p:nvSpPr>
        <p:spPr bwMode="auto">
          <a:xfrm>
            <a:off x="4751388" y="1268413"/>
            <a:ext cx="1141412" cy="3667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008000"/>
                </a:solidFill>
              </a:rPr>
              <a:t>thin tail</a:t>
            </a:r>
          </a:p>
        </p:txBody>
      </p:sp>
      <p:sp>
        <p:nvSpPr>
          <p:cNvPr id="279570" name="Line 18"/>
          <p:cNvSpPr>
            <a:spLocks noChangeShapeType="1"/>
          </p:cNvSpPr>
          <p:nvPr/>
        </p:nvSpPr>
        <p:spPr bwMode="auto">
          <a:xfrm>
            <a:off x="5327650" y="1557338"/>
            <a:ext cx="0" cy="1042987"/>
          </a:xfrm>
          <a:prstGeom prst="line">
            <a:avLst/>
          </a:prstGeom>
          <a:noFill/>
          <a:ln w="38100">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46" name="Text Box 19"/>
          <p:cNvSpPr txBox="1">
            <a:spLocks noChangeArrowheads="1"/>
          </p:cNvSpPr>
          <p:nvPr/>
        </p:nvSpPr>
        <p:spPr bwMode="auto">
          <a:xfrm>
            <a:off x="3348038" y="3681413"/>
            <a:ext cx="2303462" cy="3667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800" b="1"/>
              <a:t>log scale in x axis</a:t>
            </a:r>
          </a:p>
        </p:txBody>
      </p:sp>
      <p:sp>
        <p:nvSpPr>
          <p:cNvPr id="279572" name="Line 20"/>
          <p:cNvSpPr>
            <a:spLocks noChangeShapeType="1"/>
          </p:cNvSpPr>
          <p:nvPr/>
        </p:nvSpPr>
        <p:spPr bwMode="auto">
          <a:xfrm>
            <a:off x="3959225" y="1557338"/>
            <a:ext cx="0" cy="395287"/>
          </a:xfrm>
          <a:prstGeom prst="line">
            <a:avLst/>
          </a:prstGeom>
          <a:noFill/>
          <a:ln w="38100">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9573" name="Line 21"/>
          <p:cNvSpPr>
            <a:spLocks noChangeShapeType="1"/>
          </p:cNvSpPr>
          <p:nvPr/>
        </p:nvSpPr>
        <p:spPr bwMode="auto">
          <a:xfrm>
            <a:off x="3563938" y="1916113"/>
            <a:ext cx="1871662" cy="1728787"/>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6228999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956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956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957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9572"/>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79573"/>
                                        </p:tgtEl>
                                        <p:attrNameLst>
                                          <p:attrName>style.visibility</p:attrName>
                                        </p:attrNameLst>
                                      </p:cBhvr>
                                      <p:to>
                                        <p:strVal val="visible"/>
                                      </p:to>
                                    </p:set>
                                    <p:animEffect transition="in" filter="wipe(left)">
                                      <p:cBhvr>
                                        <p:cTn id="17" dur="500"/>
                                        <p:tgtEl>
                                          <p:spTgt spid="27957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279556"/>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279558"/>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279560"/>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79562"/>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279559"/>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795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9560" grpId="0"/>
      <p:bldP spid="279562" grpId="0"/>
      <p:bldP spid="279563" grpId="0"/>
      <p:bldP spid="279568" grpId="0" animBg="1"/>
      <p:bldP spid="279569" grpId="0" animBg="1"/>
      <p:bldP spid="279570" grpId="0" animBg="1"/>
      <p:bldP spid="279572" grpId="0" animBg="1"/>
      <p:bldP spid="27957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Slide Number Placeholder 4"/>
          <p:cNvSpPr>
            <a:spLocks noGrp="1"/>
          </p:cNvSpPr>
          <p:nvPr>
            <p:ph type="sldNum" sz="quarter" idx="4294967295"/>
          </p:nvPr>
        </p:nvSpPr>
        <p:spPr>
          <a:xfrm>
            <a:off x="6553200" y="6245225"/>
            <a:ext cx="2133600" cy="4762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BFB71BFD-0A76-4D79-A53E-0532EB77AD52}" type="slidenum">
              <a:rPr lang="en-US" altLang="zh-CN" sz="1400" smtClean="0"/>
              <a:pPr>
                <a:spcBef>
                  <a:spcPct val="0"/>
                </a:spcBef>
                <a:buFontTx/>
                <a:buNone/>
              </a:pPr>
              <a:t>20</a:t>
            </a:fld>
            <a:endParaRPr lang="en-US" altLang="zh-CN" sz="1400" smtClean="0"/>
          </a:p>
        </p:txBody>
      </p:sp>
      <p:sp>
        <p:nvSpPr>
          <p:cNvPr id="23555" name="Rectangle 2"/>
          <p:cNvSpPr>
            <a:spLocks noGrp="1" noChangeArrowheads="1"/>
          </p:cNvSpPr>
          <p:nvPr>
            <p:ph type="title"/>
          </p:nvPr>
        </p:nvSpPr>
        <p:spPr/>
        <p:txBody>
          <a:bodyPr/>
          <a:lstStyle/>
          <a:p>
            <a:pPr eaLnBrk="1" hangingPunct="1"/>
            <a:r>
              <a:rPr lang="en-US" altLang="zh-CN" sz="3200" smtClean="0">
                <a:solidFill>
                  <a:schemeClr val="accent2"/>
                </a:solidFill>
              </a:rPr>
              <a:t>Evidences: P2P media systems</a:t>
            </a:r>
          </a:p>
        </p:txBody>
      </p:sp>
      <p:pic>
        <p:nvPicPr>
          <p:cNvPr id="23556" name="Picture 3" descr="sosp03-fig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3238" y="1773238"/>
            <a:ext cx="2644775" cy="2449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4" descr="infocom04-fig5"/>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7238" y="1741488"/>
            <a:ext cx="2614612" cy="249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8" name="Picture 5" descr="allucrap-multorr-ipid-period-1-48"/>
          <p:cNvPicPr preferRelativeResize="0">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9813" y="1722438"/>
            <a:ext cx="2620962"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9" name="Text Box 6"/>
          <p:cNvSpPr txBox="1">
            <a:spLocks noChangeArrowheads="1"/>
          </p:cNvSpPr>
          <p:nvPr/>
        </p:nvSpPr>
        <p:spPr bwMode="auto">
          <a:xfrm>
            <a:off x="6642100" y="1425575"/>
            <a:ext cx="15113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400"/>
              <a:t>BT-03 (636 MB)</a:t>
            </a:r>
          </a:p>
        </p:txBody>
      </p:sp>
      <p:sp>
        <p:nvSpPr>
          <p:cNvPr id="23560" name="Text Box 7"/>
          <p:cNvSpPr txBox="1">
            <a:spLocks noChangeArrowheads="1"/>
          </p:cNvSpPr>
          <p:nvPr/>
        </p:nvSpPr>
        <p:spPr bwMode="auto">
          <a:xfrm>
            <a:off x="868363" y="1450975"/>
            <a:ext cx="1809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400"/>
              <a:t>*KaZaa-02 (300 MB)</a:t>
            </a:r>
          </a:p>
        </p:txBody>
      </p:sp>
      <p:sp>
        <p:nvSpPr>
          <p:cNvPr id="23561" name="Text Box 8"/>
          <p:cNvSpPr txBox="1">
            <a:spLocks noChangeArrowheads="1"/>
          </p:cNvSpPr>
          <p:nvPr/>
        </p:nvSpPr>
        <p:spPr bwMode="auto">
          <a:xfrm>
            <a:off x="3789363" y="1425575"/>
            <a:ext cx="16541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400"/>
              <a:t>*KaZaa-03 (5 MB)</a:t>
            </a:r>
          </a:p>
        </p:txBody>
      </p:sp>
      <p:sp>
        <p:nvSpPr>
          <p:cNvPr id="23562" name="Text Box 9"/>
          <p:cNvSpPr txBox="1">
            <a:spLocks noChangeArrowheads="1"/>
          </p:cNvSpPr>
          <p:nvPr/>
        </p:nvSpPr>
        <p:spPr bwMode="auto">
          <a:xfrm>
            <a:off x="579438" y="4619625"/>
            <a:ext cx="7439025"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a:t>KaZaa-02: large video file (&gt; 100 MB. Files smaller than 100 MB are intensively removed) 	transferring in KaZaa network, collected in a campus network, 203 days. </a:t>
            </a:r>
          </a:p>
          <a:p>
            <a:pPr eaLnBrk="1" hangingPunct="1">
              <a:spcBef>
                <a:spcPct val="0"/>
              </a:spcBef>
              <a:buFontTx/>
              <a:buNone/>
            </a:pPr>
            <a:endParaRPr lang="en-US" altLang="zh-CN" sz="1400"/>
          </a:p>
          <a:p>
            <a:pPr eaLnBrk="1" hangingPunct="1">
              <a:spcBef>
                <a:spcPct val="0"/>
              </a:spcBef>
              <a:buFontTx/>
              <a:buNone/>
            </a:pPr>
            <a:r>
              <a:rPr lang="en-US" altLang="zh-CN" sz="1400"/>
              <a:t>KaZaa-03: music files, movie clips, and movie files downloading in KaZaa network, 5 days,</a:t>
            </a:r>
          </a:p>
          <a:p>
            <a:pPr eaLnBrk="1" hangingPunct="1">
              <a:spcBef>
                <a:spcPct val="0"/>
              </a:spcBef>
              <a:buFontTx/>
              <a:buNone/>
            </a:pPr>
            <a:r>
              <a:rPr lang="en-US" altLang="zh-CN" sz="1400"/>
              <a:t>	reported as Zipf in INFOCOM’04.</a:t>
            </a:r>
          </a:p>
          <a:p>
            <a:pPr eaLnBrk="1" hangingPunct="1">
              <a:spcBef>
                <a:spcPct val="0"/>
              </a:spcBef>
              <a:buFontTx/>
              <a:buNone/>
            </a:pPr>
            <a:endParaRPr lang="en-US" altLang="zh-CN" sz="1400"/>
          </a:p>
          <a:p>
            <a:pPr eaLnBrk="1" hangingPunct="1">
              <a:spcBef>
                <a:spcPct val="0"/>
              </a:spcBef>
              <a:buFontTx/>
              <a:buNone/>
            </a:pPr>
            <a:r>
              <a:rPr lang="en-US" altLang="zh-CN" sz="1400"/>
              <a:t>BT-03:       48 days BitTorrent file downloading (large video and DVD images) recorded by 	two tracker sites</a:t>
            </a:r>
          </a:p>
        </p:txBody>
      </p:sp>
    </p:spTree>
    <p:extLst>
      <p:ext uri="{BB962C8B-B14F-4D97-AF65-F5344CB8AC3E}">
        <p14:creationId xmlns:p14="http://schemas.microsoft.com/office/powerpoint/2010/main" val="88298596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Slide Number Placeholder 4"/>
          <p:cNvSpPr>
            <a:spLocks noGrp="1"/>
          </p:cNvSpPr>
          <p:nvPr>
            <p:ph type="sldNum" sz="quarter" idx="4294967295"/>
          </p:nvPr>
        </p:nvSpPr>
        <p:spPr>
          <a:xfrm>
            <a:off x="6553200" y="6245225"/>
            <a:ext cx="2133600" cy="4762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AFA6B34-6C4B-4C36-95CF-BA72C389C86F}" type="slidenum">
              <a:rPr lang="en-US" altLang="zh-CN" sz="1400" smtClean="0"/>
              <a:pPr>
                <a:spcBef>
                  <a:spcPct val="0"/>
                </a:spcBef>
                <a:buFontTx/>
                <a:buNone/>
              </a:pPr>
              <a:t>21</a:t>
            </a:fld>
            <a:endParaRPr lang="en-US" altLang="zh-CN" sz="1400" smtClean="0"/>
          </a:p>
        </p:txBody>
      </p:sp>
      <p:sp>
        <p:nvSpPr>
          <p:cNvPr id="24579" name="Rectangle 2"/>
          <p:cNvSpPr>
            <a:spLocks noGrp="1" noChangeArrowheads="1"/>
          </p:cNvSpPr>
          <p:nvPr>
            <p:ph type="title"/>
          </p:nvPr>
        </p:nvSpPr>
        <p:spPr>
          <a:xfrm>
            <a:off x="0" y="274638"/>
            <a:ext cx="9144000" cy="1143000"/>
          </a:xfrm>
        </p:spPr>
        <p:txBody>
          <a:bodyPr/>
          <a:lstStyle/>
          <a:p>
            <a:pPr eaLnBrk="1" hangingPunct="1"/>
            <a:r>
              <a:rPr lang="en-US" altLang="zh-CN" sz="3200" smtClean="0">
                <a:solidFill>
                  <a:schemeClr val="accent2"/>
                </a:solidFill>
              </a:rPr>
              <a:t>Evidences: Live streaming and other systems</a:t>
            </a:r>
          </a:p>
        </p:txBody>
      </p:sp>
      <p:pic>
        <p:nvPicPr>
          <p:cNvPr id="24580" name="Picture 3" descr="imc-akamai-fig-3"/>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0688" y="1789113"/>
            <a:ext cx="2644775" cy="2519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1" name="Picture 4" descr="sosp03-fig7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3575" y="1776413"/>
            <a:ext cx="2636838"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2" name="Picture 5" descr="imdb-2006-top-250-movies"/>
          <p:cNvPicPr preferRelativeResize="0">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02350" y="1722438"/>
            <a:ext cx="2644775" cy="254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3" name="Text Box 6"/>
          <p:cNvSpPr txBox="1">
            <a:spLocks noChangeArrowheads="1"/>
          </p:cNvSpPr>
          <p:nvPr/>
        </p:nvSpPr>
        <p:spPr bwMode="auto">
          <a:xfrm>
            <a:off x="7075488" y="1450975"/>
            <a:ext cx="884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a:t>IMDB-06</a:t>
            </a:r>
          </a:p>
        </p:txBody>
      </p:sp>
      <p:sp>
        <p:nvSpPr>
          <p:cNvPr id="24584" name="Text Box 7"/>
          <p:cNvSpPr txBox="1">
            <a:spLocks noChangeArrowheads="1"/>
          </p:cNvSpPr>
          <p:nvPr/>
        </p:nvSpPr>
        <p:spPr bwMode="auto">
          <a:xfrm>
            <a:off x="1262063" y="1458913"/>
            <a:ext cx="10318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400"/>
              <a:t>Akamai-03</a:t>
            </a:r>
          </a:p>
        </p:txBody>
      </p:sp>
      <p:sp>
        <p:nvSpPr>
          <p:cNvPr id="24585" name="Text Box 8"/>
          <p:cNvSpPr txBox="1">
            <a:spLocks noChangeArrowheads="1"/>
          </p:cNvSpPr>
          <p:nvPr/>
        </p:nvSpPr>
        <p:spPr bwMode="auto">
          <a:xfrm>
            <a:off x="4195763" y="1425575"/>
            <a:ext cx="9128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a:t>Movie-02</a:t>
            </a:r>
          </a:p>
        </p:txBody>
      </p:sp>
      <p:sp>
        <p:nvSpPr>
          <p:cNvPr id="24586" name="Text Box 9"/>
          <p:cNvSpPr txBox="1">
            <a:spLocks noChangeArrowheads="1"/>
          </p:cNvSpPr>
          <p:nvPr/>
        </p:nvSpPr>
        <p:spPr bwMode="auto">
          <a:xfrm>
            <a:off x="579438" y="4752975"/>
            <a:ext cx="7620000" cy="140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400"/>
              <a:t>Akamai-03: server logs of live streaming media collected from akamai CDN, 3 months, 	reported as two-mode Zipf in IMC’04</a:t>
            </a:r>
          </a:p>
          <a:p>
            <a:pPr eaLnBrk="1" hangingPunct="1">
              <a:spcBef>
                <a:spcPct val="0"/>
              </a:spcBef>
              <a:buFontTx/>
              <a:buNone/>
            </a:pPr>
            <a:endParaRPr lang="en-US" altLang="zh-CN" sz="1400"/>
          </a:p>
          <a:p>
            <a:pPr eaLnBrk="1" hangingPunct="1">
              <a:spcBef>
                <a:spcPct val="0"/>
              </a:spcBef>
              <a:buFontTx/>
              <a:buNone/>
            </a:pPr>
            <a:r>
              <a:rPr lang="en-US" altLang="zh-CN" sz="1400"/>
              <a:t>Movie-02: US movie box office ticket sales of year 2002.</a:t>
            </a:r>
          </a:p>
          <a:p>
            <a:pPr eaLnBrk="1" hangingPunct="1">
              <a:spcBef>
                <a:spcPct val="0"/>
              </a:spcBef>
              <a:buFontTx/>
              <a:buNone/>
            </a:pPr>
            <a:endParaRPr lang="en-US" altLang="zh-CN" sz="1400"/>
          </a:p>
          <a:p>
            <a:pPr eaLnBrk="1" hangingPunct="1">
              <a:spcBef>
                <a:spcPct val="0"/>
              </a:spcBef>
              <a:buFontTx/>
              <a:buNone/>
            </a:pPr>
            <a:r>
              <a:rPr lang="en-US" altLang="zh-CN" sz="1400"/>
              <a:t>IMDB-06: cumulative number of votes for top 250 movies in Internet Movie Database web site</a:t>
            </a:r>
          </a:p>
        </p:txBody>
      </p:sp>
    </p:spTree>
    <p:extLst>
      <p:ext uri="{BB962C8B-B14F-4D97-AF65-F5344CB8AC3E}">
        <p14:creationId xmlns:p14="http://schemas.microsoft.com/office/powerpoint/2010/main" val="324923679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Slide Number Placeholder 5"/>
          <p:cNvSpPr>
            <a:spLocks noGrp="1"/>
          </p:cNvSpPr>
          <p:nvPr>
            <p:ph type="sldNum" sz="quarter" idx="4294967295"/>
          </p:nvPr>
        </p:nvSpPr>
        <p:spPr>
          <a:xfrm>
            <a:off x="6553200" y="6245225"/>
            <a:ext cx="2133600" cy="4762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A067F69-2C54-4118-BC3A-BB904E82DE47}" type="slidenum">
              <a:rPr lang="en-US" altLang="zh-CN" sz="1400" smtClean="0"/>
              <a:pPr>
                <a:spcBef>
                  <a:spcPct val="0"/>
                </a:spcBef>
                <a:buFontTx/>
                <a:buNone/>
              </a:pPr>
              <a:t>22</a:t>
            </a:fld>
            <a:endParaRPr lang="en-US" altLang="zh-CN" sz="1400" smtClean="0"/>
          </a:p>
        </p:txBody>
      </p:sp>
      <p:sp>
        <p:nvSpPr>
          <p:cNvPr id="38915" name="Rectangle 2"/>
          <p:cNvSpPr>
            <a:spLocks noGrp="1" noChangeArrowheads="1"/>
          </p:cNvSpPr>
          <p:nvPr>
            <p:ph type="title"/>
          </p:nvPr>
        </p:nvSpPr>
        <p:spPr>
          <a:xfrm>
            <a:off x="0" y="274638"/>
            <a:ext cx="9144000" cy="1143000"/>
          </a:xfrm>
        </p:spPr>
        <p:txBody>
          <a:bodyPr/>
          <a:lstStyle/>
          <a:p>
            <a:pPr eaLnBrk="1" hangingPunct="1"/>
            <a:r>
              <a:rPr lang="en-US" altLang="zh-CN" sz="3200" smtClean="0">
                <a:solidFill>
                  <a:schemeClr val="accent2"/>
                </a:solidFill>
              </a:rPr>
              <a:t>Two Distribution Models are Based on Different Storage Requirements   </a:t>
            </a:r>
          </a:p>
        </p:txBody>
      </p:sp>
      <p:sp>
        <p:nvSpPr>
          <p:cNvPr id="284675" name="Rectangle 3"/>
          <p:cNvSpPr>
            <a:spLocks noGrp="1" noChangeArrowheads="1"/>
          </p:cNvSpPr>
          <p:nvPr>
            <p:ph type="body" idx="1"/>
          </p:nvPr>
        </p:nvSpPr>
        <p:spPr>
          <a:xfrm>
            <a:off x="468313" y="1412875"/>
            <a:ext cx="8243887" cy="792163"/>
          </a:xfrm>
        </p:spPr>
        <p:txBody>
          <a:bodyPr/>
          <a:lstStyle/>
          <a:p>
            <a:pPr eaLnBrk="1" hangingPunct="1"/>
            <a:r>
              <a:rPr lang="en-US" altLang="zh-CN" sz="2000" smtClean="0"/>
              <a:t>Accesses to big data (e.g. Internet media) follows </a:t>
            </a:r>
            <a:r>
              <a:rPr lang="en-US" altLang="zh-CN" sz="2000" smtClean="0">
                <a:solidFill>
                  <a:srgbClr val="FF0000"/>
                </a:solidFill>
              </a:rPr>
              <a:t>stretched exponential distribution </a:t>
            </a:r>
            <a:endParaRPr lang="en-US" altLang="zh-CN" sz="2000" smtClean="0"/>
          </a:p>
        </p:txBody>
      </p:sp>
      <p:grpSp>
        <p:nvGrpSpPr>
          <p:cNvPr id="2" name="Group 42"/>
          <p:cNvGrpSpPr>
            <a:grpSpLocks/>
          </p:cNvGrpSpPr>
          <p:nvPr/>
        </p:nvGrpSpPr>
        <p:grpSpPr bwMode="auto">
          <a:xfrm>
            <a:off x="5229225" y="4305300"/>
            <a:ext cx="3055938" cy="2406650"/>
            <a:chOff x="3555" y="1306"/>
            <a:chExt cx="1856" cy="1516"/>
          </a:xfrm>
        </p:grpSpPr>
        <p:sp>
          <p:nvSpPr>
            <p:cNvPr id="38934" name="Line 9"/>
            <p:cNvSpPr>
              <a:spLocks noChangeShapeType="1"/>
            </p:cNvSpPr>
            <p:nvPr/>
          </p:nvSpPr>
          <p:spPr bwMode="auto">
            <a:xfrm flipV="1">
              <a:off x="3946" y="1321"/>
              <a:ext cx="0" cy="127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35" name="Line 10"/>
            <p:cNvSpPr>
              <a:spLocks noChangeShapeType="1"/>
            </p:cNvSpPr>
            <p:nvPr/>
          </p:nvSpPr>
          <p:spPr bwMode="auto">
            <a:xfrm>
              <a:off x="3946" y="2592"/>
              <a:ext cx="136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36" name="Line 11"/>
            <p:cNvSpPr>
              <a:spLocks noChangeShapeType="1"/>
            </p:cNvSpPr>
            <p:nvPr/>
          </p:nvSpPr>
          <p:spPr bwMode="auto">
            <a:xfrm>
              <a:off x="3946" y="1549"/>
              <a:ext cx="1089" cy="104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37" name="Text Box 12"/>
            <p:cNvSpPr txBox="1">
              <a:spLocks noChangeArrowheads="1"/>
            </p:cNvSpPr>
            <p:nvPr/>
          </p:nvSpPr>
          <p:spPr bwMode="auto">
            <a:xfrm>
              <a:off x="5035" y="2591"/>
              <a:ext cx="3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00"/>
                  </a:solidFill>
                  <a:latin typeface="Times New Roman" panose="02020603050405020304" pitchFamily="18" charset="0"/>
                </a:rPr>
                <a:t>log </a:t>
              </a:r>
              <a:r>
                <a:rPr lang="en-US" altLang="zh-CN" sz="1800" b="1" i="1">
                  <a:solidFill>
                    <a:srgbClr val="FF0000"/>
                  </a:solidFill>
                  <a:latin typeface="Times New Roman" panose="02020603050405020304" pitchFamily="18" charset="0"/>
                </a:rPr>
                <a:t>i</a:t>
              </a:r>
            </a:p>
          </p:txBody>
        </p:sp>
        <p:sp>
          <p:nvSpPr>
            <p:cNvPr id="38938" name="Text Box 13"/>
            <p:cNvSpPr txBox="1">
              <a:spLocks noChangeArrowheads="1"/>
            </p:cNvSpPr>
            <p:nvPr/>
          </p:nvSpPr>
          <p:spPr bwMode="auto">
            <a:xfrm>
              <a:off x="3555" y="1306"/>
              <a:ext cx="43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rgbClr val="FF0000"/>
                  </a:solidFill>
                  <a:latin typeface="Times New Roman" panose="02020603050405020304" pitchFamily="18" charset="0"/>
                </a:rPr>
                <a:t>log </a:t>
              </a:r>
              <a:r>
                <a:rPr lang="en-US" altLang="zh-CN" sz="1800" b="1" i="1">
                  <a:solidFill>
                    <a:srgbClr val="FF0000"/>
                  </a:solidFill>
                  <a:latin typeface="Times New Roman" panose="02020603050405020304" pitchFamily="18" charset="0"/>
                </a:rPr>
                <a:t>y</a:t>
              </a:r>
              <a:endParaRPr lang="en-US" altLang="zh-CN" sz="1800" b="1" i="1" baseline="30000">
                <a:solidFill>
                  <a:srgbClr val="FF0000"/>
                </a:solidFill>
                <a:latin typeface="Times New Roman" panose="02020603050405020304" pitchFamily="18" charset="0"/>
              </a:endParaRPr>
            </a:p>
          </p:txBody>
        </p:sp>
        <p:sp>
          <p:nvSpPr>
            <p:cNvPr id="38939" name="Text Box 15"/>
            <p:cNvSpPr txBox="1">
              <a:spLocks noChangeArrowheads="1"/>
            </p:cNvSpPr>
            <p:nvPr/>
          </p:nvSpPr>
          <p:spPr bwMode="auto">
            <a:xfrm>
              <a:off x="3616" y="1924"/>
              <a:ext cx="11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zh-CN" sz="1800" i="1">
                <a:latin typeface="Times New Roman" panose="02020603050405020304" pitchFamily="18" charset="0"/>
              </a:endParaRPr>
            </a:p>
          </p:txBody>
        </p:sp>
        <p:sp>
          <p:nvSpPr>
            <p:cNvPr id="38940" name="Text Box 17"/>
            <p:cNvSpPr txBox="1">
              <a:spLocks noChangeArrowheads="1"/>
            </p:cNvSpPr>
            <p:nvPr/>
          </p:nvSpPr>
          <p:spPr bwMode="auto">
            <a:xfrm>
              <a:off x="4490" y="1911"/>
              <a:ext cx="65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b="1">
                  <a:solidFill>
                    <a:schemeClr val="accent2"/>
                  </a:solidFill>
                </a:rPr>
                <a:t>slope:</a:t>
              </a:r>
              <a:r>
                <a:rPr lang="en-US" altLang="zh-CN" sz="1800" b="1">
                  <a:solidFill>
                    <a:schemeClr val="accent2"/>
                  </a:solidFill>
                </a:rPr>
                <a:t> </a:t>
              </a:r>
              <a:r>
                <a:rPr lang="en-US" altLang="zh-CN" sz="1800" b="1" i="1">
                  <a:solidFill>
                    <a:schemeClr val="accent2"/>
                  </a:solidFill>
                  <a:latin typeface="Times New Roman" panose="02020603050405020304" pitchFamily="18" charset="0"/>
                </a:rPr>
                <a:t>-a</a:t>
              </a:r>
            </a:p>
          </p:txBody>
        </p:sp>
      </p:grpSp>
      <p:sp>
        <p:nvSpPr>
          <p:cNvPr id="284690" name="Text Box 18"/>
          <p:cNvSpPr txBox="1">
            <a:spLocks noChangeArrowheads="1"/>
          </p:cNvSpPr>
          <p:nvPr/>
        </p:nvSpPr>
        <p:spPr bwMode="auto">
          <a:xfrm>
            <a:off x="190500" y="4852988"/>
            <a:ext cx="5549900"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000" b="1">
                <a:solidFill>
                  <a:srgbClr val="0000FF"/>
                </a:solidFill>
                <a:latin typeface="Times New Roman" panose="02020603050405020304" pitchFamily="18" charset="0"/>
              </a:rPr>
              <a:t>The sharp </a:t>
            </a:r>
            <a:r>
              <a:rPr lang="en-US" altLang="zh-CN" sz="2000" b="1">
                <a:solidFill>
                  <a:srgbClr val="FF0000"/>
                </a:solidFill>
                <a:latin typeface="Times New Roman" panose="02020603050405020304" pitchFamily="18" charset="0"/>
              </a:rPr>
              <a:t>zipf</a:t>
            </a:r>
            <a:r>
              <a:rPr lang="en-US" altLang="zh-CN" sz="2000">
                <a:solidFill>
                  <a:srgbClr val="FF0000"/>
                </a:solidFill>
                <a:latin typeface="Times New Roman" panose="02020603050405020304" pitchFamily="18" charset="0"/>
              </a:rPr>
              <a:t> </a:t>
            </a:r>
            <a:r>
              <a:rPr lang="en-US" altLang="zh-CN" sz="2000">
                <a:latin typeface="Times New Roman" panose="02020603050405020304" pitchFamily="18" charset="0"/>
              </a:rPr>
              <a:t> </a:t>
            </a:r>
            <a:r>
              <a:rPr lang="en-US" altLang="zh-CN" sz="2000" b="1">
                <a:solidFill>
                  <a:srgbClr val="0000FF"/>
                </a:solidFill>
                <a:latin typeface="Times New Roman" panose="02020603050405020304" pitchFamily="18" charset="0"/>
              </a:rPr>
              <a:t>slope implies a concentrated  access distribution on a small number of objects</a:t>
            </a:r>
          </a:p>
          <a:p>
            <a:pPr lvl="1" eaLnBrk="1" hangingPunct="1">
              <a:buFont typeface="Arial" panose="020B0604020202020204" pitchFamily="34" charset="0"/>
              <a:buChar char="•"/>
            </a:pPr>
            <a:r>
              <a:rPr lang="en-US" altLang="zh-CN" sz="2000" b="1">
                <a:solidFill>
                  <a:srgbClr val="0000FF"/>
                </a:solidFill>
                <a:latin typeface="Times New Roman" panose="02020603050405020304" pitchFamily="18" charset="0"/>
              </a:rPr>
              <a:t> </a:t>
            </a:r>
            <a:r>
              <a:rPr lang="en-US" altLang="zh-CN" sz="1800" b="1">
                <a:latin typeface="Times New Roman" panose="02020603050405020304" pitchFamily="18" charset="0"/>
              </a:rPr>
              <a:t>strong locality makes proxy cache very effective </a:t>
            </a:r>
            <a:endParaRPr lang="en-US" altLang="zh-CN" sz="1800" b="1"/>
          </a:p>
        </p:txBody>
      </p:sp>
      <p:sp>
        <p:nvSpPr>
          <p:cNvPr id="284691" name="Text Box 19"/>
          <p:cNvSpPr txBox="1">
            <a:spLocks noChangeArrowheads="1"/>
          </p:cNvSpPr>
          <p:nvPr/>
        </p:nvSpPr>
        <p:spPr bwMode="auto">
          <a:xfrm>
            <a:off x="935038" y="2241550"/>
            <a:ext cx="486568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a:solidFill>
                  <a:schemeClr val="accent2"/>
                </a:solidFill>
              </a:rPr>
              <a:t>The </a:t>
            </a:r>
            <a:r>
              <a:rPr lang="en-US" altLang="zh-CN" sz="1800" b="1">
                <a:solidFill>
                  <a:srgbClr val="FF0000"/>
                </a:solidFill>
              </a:rPr>
              <a:t>SE</a:t>
            </a:r>
            <a:r>
              <a:rPr lang="en-US" altLang="zh-CN" sz="1800" b="1">
                <a:solidFill>
                  <a:schemeClr val="accent2"/>
                </a:solidFill>
              </a:rPr>
              <a:t> curve implies a wide  range access</a:t>
            </a:r>
          </a:p>
          <a:p>
            <a:pPr eaLnBrk="1" hangingPunct="1">
              <a:spcBef>
                <a:spcPct val="0"/>
              </a:spcBef>
              <a:buFontTx/>
              <a:buNone/>
            </a:pPr>
            <a:r>
              <a:rPr lang="en-US" altLang="zh-CN" sz="1800" b="1">
                <a:solidFill>
                  <a:schemeClr val="accent2"/>
                </a:solidFill>
              </a:rPr>
              <a:t>distribution in long period of time. </a:t>
            </a:r>
          </a:p>
        </p:txBody>
      </p:sp>
      <p:sp>
        <p:nvSpPr>
          <p:cNvPr id="284692" name="Text Box 20"/>
          <p:cNvSpPr txBox="1">
            <a:spLocks noChangeArrowheads="1"/>
          </p:cNvSpPr>
          <p:nvPr/>
        </p:nvSpPr>
        <p:spPr bwMode="auto">
          <a:xfrm>
            <a:off x="774700" y="3141663"/>
            <a:ext cx="4773613" cy="1309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1800" b="1">
                <a:solidFill>
                  <a:schemeClr val="accent2"/>
                </a:solidFill>
              </a:rPr>
              <a:t>Rank distribution:</a:t>
            </a:r>
            <a:r>
              <a:rPr lang="en-US" altLang="zh-CN" sz="1800">
                <a:solidFill>
                  <a:schemeClr val="accent2"/>
                </a:solidFill>
              </a:rPr>
              <a:t> </a:t>
            </a:r>
          </a:p>
          <a:p>
            <a:pPr lvl="1" eaLnBrk="1" hangingPunct="1">
              <a:buFontTx/>
              <a:buChar char="•"/>
            </a:pPr>
            <a:r>
              <a:rPr lang="en-US" altLang="zh-CN" sz="1800"/>
              <a:t> fat head and thin tail in log-log scale</a:t>
            </a:r>
          </a:p>
          <a:p>
            <a:pPr lvl="1" eaLnBrk="1" hangingPunct="1">
              <a:buFontTx/>
              <a:buChar char="•"/>
            </a:pPr>
            <a:r>
              <a:rPr lang="en-US" altLang="zh-CN" sz="1800"/>
              <a:t> weak locality needs a huge and distributed storage</a:t>
            </a:r>
          </a:p>
        </p:txBody>
      </p:sp>
      <p:grpSp>
        <p:nvGrpSpPr>
          <p:cNvPr id="3" name="Group 46"/>
          <p:cNvGrpSpPr>
            <a:grpSpLocks/>
          </p:cNvGrpSpPr>
          <p:nvPr/>
        </p:nvGrpSpPr>
        <p:grpSpPr bwMode="auto">
          <a:xfrm>
            <a:off x="5327650" y="1916113"/>
            <a:ext cx="3009900" cy="2311400"/>
            <a:chOff x="3356" y="1207"/>
            <a:chExt cx="1896" cy="1456"/>
          </a:xfrm>
        </p:grpSpPr>
        <p:sp>
          <p:nvSpPr>
            <p:cNvPr id="38929" name="Text Box 33"/>
            <p:cNvSpPr txBox="1">
              <a:spLocks noChangeArrowheads="1"/>
            </p:cNvSpPr>
            <p:nvPr/>
          </p:nvSpPr>
          <p:spPr bwMode="auto">
            <a:xfrm>
              <a:off x="4876" y="2432"/>
              <a:ext cx="376" cy="23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a:latin typeface="Times New Roman" panose="02020603050405020304" pitchFamily="18" charset="0"/>
                </a:rPr>
                <a:t>log </a:t>
              </a:r>
              <a:r>
                <a:rPr lang="en-US" altLang="zh-CN" sz="1800" i="1">
                  <a:latin typeface="Times New Roman" panose="02020603050405020304" pitchFamily="18" charset="0"/>
                </a:rPr>
                <a:t>i</a:t>
              </a:r>
            </a:p>
          </p:txBody>
        </p:sp>
        <p:sp>
          <p:nvSpPr>
            <p:cNvPr id="38930" name="Line 31"/>
            <p:cNvSpPr>
              <a:spLocks noChangeShapeType="1"/>
            </p:cNvSpPr>
            <p:nvPr/>
          </p:nvSpPr>
          <p:spPr bwMode="auto">
            <a:xfrm flipV="1">
              <a:off x="3742" y="1207"/>
              <a:ext cx="0" cy="127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31" name="Line 32"/>
            <p:cNvSpPr>
              <a:spLocks noChangeShapeType="1"/>
            </p:cNvSpPr>
            <p:nvPr/>
          </p:nvSpPr>
          <p:spPr bwMode="auto">
            <a:xfrm>
              <a:off x="3742" y="2478"/>
              <a:ext cx="136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32" name="Text Box 34"/>
            <p:cNvSpPr txBox="1">
              <a:spLocks noChangeArrowheads="1"/>
            </p:cNvSpPr>
            <p:nvPr/>
          </p:nvSpPr>
          <p:spPr bwMode="auto">
            <a:xfrm>
              <a:off x="3356" y="1230"/>
              <a:ext cx="4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a:latin typeface="Times New Roman" panose="02020603050405020304" pitchFamily="18" charset="0"/>
                </a:rPr>
                <a:t>log</a:t>
              </a:r>
              <a:r>
                <a:rPr lang="en-US" altLang="zh-CN" sz="1800" i="1">
                  <a:latin typeface="Times New Roman" panose="02020603050405020304" pitchFamily="18" charset="0"/>
                </a:rPr>
                <a:t> y</a:t>
              </a:r>
              <a:endParaRPr lang="en-US" altLang="zh-CN" sz="1800" i="1" baseline="30000">
                <a:latin typeface="Times New Roman" panose="02020603050405020304" pitchFamily="18" charset="0"/>
              </a:endParaRPr>
            </a:p>
          </p:txBody>
        </p:sp>
        <p:sp>
          <p:nvSpPr>
            <p:cNvPr id="38933" name="Freeform 35"/>
            <p:cNvSpPr>
              <a:spLocks/>
            </p:cNvSpPr>
            <p:nvPr/>
          </p:nvSpPr>
          <p:spPr bwMode="auto">
            <a:xfrm>
              <a:off x="3736" y="1515"/>
              <a:ext cx="993" cy="951"/>
            </a:xfrm>
            <a:custGeom>
              <a:avLst/>
              <a:gdLst>
                <a:gd name="T0" fmla="*/ 0 w 993"/>
                <a:gd name="T1" fmla="*/ 0 h 951"/>
                <a:gd name="T2" fmla="*/ 410 w 993"/>
                <a:gd name="T3" fmla="*/ 137 h 951"/>
                <a:gd name="T4" fmla="*/ 705 w 993"/>
                <a:gd name="T5" fmla="*/ 368 h 951"/>
                <a:gd name="T6" fmla="*/ 885 w 993"/>
                <a:gd name="T7" fmla="*/ 634 h 951"/>
                <a:gd name="T8" fmla="*/ 993 w 993"/>
                <a:gd name="T9" fmla="*/ 951 h 951"/>
                <a:gd name="T10" fmla="*/ 0 60000 65536"/>
                <a:gd name="T11" fmla="*/ 0 60000 65536"/>
                <a:gd name="T12" fmla="*/ 0 60000 65536"/>
                <a:gd name="T13" fmla="*/ 0 60000 65536"/>
                <a:gd name="T14" fmla="*/ 0 60000 65536"/>
                <a:gd name="T15" fmla="*/ 0 w 993"/>
                <a:gd name="T16" fmla="*/ 0 h 951"/>
                <a:gd name="T17" fmla="*/ 993 w 993"/>
                <a:gd name="T18" fmla="*/ 951 h 951"/>
              </a:gdLst>
              <a:ahLst/>
              <a:cxnLst>
                <a:cxn ang="T10">
                  <a:pos x="T0" y="T1"/>
                </a:cxn>
                <a:cxn ang="T11">
                  <a:pos x="T2" y="T3"/>
                </a:cxn>
                <a:cxn ang="T12">
                  <a:pos x="T4" y="T5"/>
                </a:cxn>
                <a:cxn ang="T13">
                  <a:pos x="T6" y="T7"/>
                </a:cxn>
                <a:cxn ang="T14">
                  <a:pos x="T8" y="T9"/>
                </a:cxn>
              </a:cxnLst>
              <a:rect l="T15" t="T16" r="T17" b="T18"/>
              <a:pathLst>
                <a:path w="993" h="951">
                  <a:moveTo>
                    <a:pt x="0" y="0"/>
                  </a:moveTo>
                  <a:cubicBezTo>
                    <a:pt x="68" y="24"/>
                    <a:pt x="293" y="76"/>
                    <a:pt x="410" y="137"/>
                  </a:cubicBezTo>
                  <a:cubicBezTo>
                    <a:pt x="527" y="198"/>
                    <a:pt x="626" y="285"/>
                    <a:pt x="705" y="368"/>
                  </a:cubicBezTo>
                  <a:cubicBezTo>
                    <a:pt x="784" y="451"/>
                    <a:pt x="837" y="537"/>
                    <a:pt x="885" y="634"/>
                  </a:cubicBezTo>
                  <a:cubicBezTo>
                    <a:pt x="933" y="731"/>
                    <a:pt x="971" y="885"/>
                    <a:pt x="993" y="951"/>
                  </a:cubicBez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4" name="Group 44"/>
          <p:cNvGrpSpPr>
            <a:grpSpLocks/>
          </p:cNvGrpSpPr>
          <p:nvPr/>
        </p:nvGrpSpPr>
        <p:grpSpPr bwMode="auto">
          <a:xfrm>
            <a:off x="5943600" y="2166938"/>
            <a:ext cx="1476375" cy="463550"/>
            <a:chOff x="3744" y="1365"/>
            <a:chExt cx="930" cy="292"/>
          </a:xfrm>
        </p:grpSpPr>
        <p:sp>
          <p:nvSpPr>
            <p:cNvPr id="38927" name="Text Box 37"/>
            <p:cNvSpPr txBox="1">
              <a:spLocks noChangeArrowheads="1"/>
            </p:cNvSpPr>
            <p:nvPr/>
          </p:nvSpPr>
          <p:spPr bwMode="auto">
            <a:xfrm>
              <a:off x="4038" y="1365"/>
              <a:ext cx="6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en-US" sz="1800">
                  <a:solidFill>
                    <a:srgbClr val="FF0000"/>
                  </a:solidFill>
                </a:rPr>
                <a:t>fat head</a:t>
              </a:r>
            </a:p>
          </p:txBody>
        </p:sp>
        <p:sp>
          <p:nvSpPr>
            <p:cNvPr id="38928" name="Freeform 39"/>
            <p:cNvSpPr>
              <a:spLocks/>
            </p:cNvSpPr>
            <p:nvPr/>
          </p:nvSpPr>
          <p:spPr bwMode="auto">
            <a:xfrm>
              <a:off x="3744" y="1517"/>
              <a:ext cx="408" cy="140"/>
            </a:xfrm>
            <a:custGeom>
              <a:avLst/>
              <a:gdLst>
                <a:gd name="T0" fmla="*/ 0 w 408"/>
                <a:gd name="T1" fmla="*/ 0 h 140"/>
                <a:gd name="T2" fmla="*/ 321 w 408"/>
                <a:gd name="T3" fmla="*/ 99 h 140"/>
                <a:gd name="T4" fmla="*/ 408 w 408"/>
                <a:gd name="T5" fmla="*/ 140 h 140"/>
                <a:gd name="T6" fmla="*/ 0 60000 65536"/>
                <a:gd name="T7" fmla="*/ 0 60000 65536"/>
                <a:gd name="T8" fmla="*/ 0 60000 65536"/>
                <a:gd name="T9" fmla="*/ 0 w 408"/>
                <a:gd name="T10" fmla="*/ 0 h 140"/>
                <a:gd name="T11" fmla="*/ 408 w 408"/>
                <a:gd name="T12" fmla="*/ 140 h 140"/>
              </a:gdLst>
              <a:ahLst/>
              <a:cxnLst>
                <a:cxn ang="T6">
                  <a:pos x="T0" y="T1"/>
                </a:cxn>
                <a:cxn ang="T7">
                  <a:pos x="T2" y="T3"/>
                </a:cxn>
                <a:cxn ang="T8">
                  <a:pos x="T4" y="T5"/>
                </a:cxn>
              </a:cxnLst>
              <a:rect l="T9" t="T10" r="T11" b="T12"/>
              <a:pathLst>
                <a:path w="408" h="140">
                  <a:moveTo>
                    <a:pt x="0" y="0"/>
                  </a:moveTo>
                  <a:cubicBezTo>
                    <a:pt x="53" y="16"/>
                    <a:pt x="253" y="76"/>
                    <a:pt x="321" y="99"/>
                  </a:cubicBezTo>
                  <a:cubicBezTo>
                    <a:pt x="389" y="122"/>
                    <a:pt x="390" y="131"/>
                    <a:pt x="408" y="140"/>
                  </a:cubicBezTo>
                </a:path>
              </a:pathLst>
            </a:cu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5" name="Group 45"/>
          <p:cNvGrpSpPr>
            <a:grpSpLocks/>
          </p:cNvGrpSpPr>
          <p:nvPr/>
        </p:nvGrpSpPr>
        <p:grpSpPr bwMode="auto">
          <a:xfrm>
            <a:off x="7319963" y="3378200"/>
            <a:ext cx="1114425" cy="542925"/>
            <a:chOff x="4611" y="2128"/>
            <a:chExt cx="702" cy="342"/>
          </a:xfrm>
        </p:grpSpPr>
        <p:sp>
          <p:nvSpPr>
            <p:cNvPr id="38925" name="Text Box 38"/>
            <p:cNvSpPr txBox="1">
              <a:spLocks noChangeArrowheads="1"/>
            </p:cNvSpPr>
            <p:nvPr/>
          </p:nvSpPr>
          <p:spPr bwMode="auto">
            <a:xfrm>
              <a:off x="4741" y="2136"/>
              <a:ext cx="5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en-US" sz="1800">
                  <a:solidFill>
                    <a:srgbClr val="FF0000"/>
                  </a:solidFill>
                </a:rPr>
                <a:t>thin tail</a:t>
              </a:r>
            </a:p>
          </p:txBody>
        </p:sp>
        <p:sp>
          <p:nvSpPr>
            <p:cNvPr id="38926" name="Freeform 41"/>
            <p:cNvSpPr>
              <a:spLocks/>
            </p:cNvSpPr>
            <p:nvPr/>
          </p:nvSpPr>
          <p:spPr bwMode="auto">
            <a:xfrm>
              <a:off x="4611" y="2128"/>
              <a:ext cx="118" cy="342"/>
            </a:xfrm>
            <a:custGeom>
              <a:avLst/>
              <a:gdLst>
                <a:gd name="T0" fmla="*/ 0 w 118"/>
                <a:gd name="T1" fmla="*/ 0 h 342"/>
                <a:gd name="T2" fmla="*/ 58 w 118"/>
                <a:gd name="T3" fmla="*/ 145 h 342"/>
                <a:gd name="T4" fmla="*/ 118 w 118"/>
                <a:gd name="T5" fmla="*/ 342 h 342"/>
                <a:gd name="T6" fmla="*/ 0 60000 65536"/>
                <a:gd name="T7" fmla="*/ 0 60000 65536"/>
                <a:gd name="T8" fmla="*/ 0 60000 65536"/>
                <a:gd name="T9" fmla="*/ 0 w 118"/>
                <a:gd name="T10" fmla="*/ 0 h 342"/>
                <a:gd name="T11" fmla="*/ 118 w 118"/>
                <a:gd name="T12" fmla="*/ 342 h 342"/>
              </a:gdLst>
              <a:ahLst/>
              <a:cxnLst>
                <a:cxn ang="T6">
                  <a:pos x="T0" y="T1"/>
                </a:cxn>
                <a:cxn ang="T7">
                  <a:pos x="T2" y="T3"/>
                </a:cxn>
                <a:cxn ang="T8">
                  <a:pos x="T4" y="T5"/>
                </a:cxn>
              </a:cxnLst>
              <a:rect l="T9" t="T10" r="T11" b="T12"/>
              <a:pathLst>
                <a:path w="118" h="342">
                  <a:moveTo>
                    <a:pt x="0" y="0"/>
                  </a:moveTo>
                  <a:cubicBezTo>
                    <a:pt x="10" y="24"/>
                    <a:pt x="38" y="88"/>
                    <a:pt x="58" y="145"/>
                  </a:cubicBezTo>
                  <a:cubicBezTo>
                    <a:pt x="78" y="202"/>
                    <a:pt x="108" y="309"/>
                    <a:pt x="118" y="342"/>
                  </a:cubicBezTo>
                </a:path>
              </a:pathLst>
            </a:cu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284719" name="Text Box 47"/>
          <p:cNvSpPr txBox="1">
            <a:spLocks noChangeArrowheads="1"/>
          </p:cNvSpPr>
          <p:nvPr/>
        </p:nvSpPr>
        <p:spPr bwMode="auto">
          <a:xfrm>
            <a:off x="6119813" y="4318000"/>
            <a:ext cx="1841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zh-CN" sz="1600" b="1">
              <a:solidFill>
                <a:schemeClr val="accent2"/>
              </a:solidFill>
            </a:endParaRPr>
          </a:p>
        </p:txBody>
      </p:sp>
    </p:spTree>
    <p:extLst>
      <p:ext uri="{BB962C8B-B14F-4D97-AF65-F5344CB8AC3E}">
        <p14:creationId xmlns:p14="http://schemas.microsoft.com/office/powerpoint/2010/main" val="30957196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467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469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8469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284692">
                                            <p:txEl>
                                              <p:pRg st="1" end="1"/>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par>
                          <p:cTn id="25" fill="hold" nodeType="afterGroup">
                            <p:stCondLst>
                              <p:cond delay="0"/>
                            </p:stCondLst>
                            <p:childTnLst>
                              <p:par>
                                <p:cTn id="26" presetID="1" presetClass="entr" presetSubtype="0" fill="hold" nodeType="afterEffect">
                                  <p:stCondLst>
                                    <p:cond delay="0"/>
                                  </p:stCondLst>
                                  <p:childTnLst>
                                    <p:set>
                                      <p:cBhvr>
                                        <p:cTn id="27" dur="1" fill="hold">
                                          <p:stCondLst>
                                            <p:cond delay="0"/>
                                          </p:stCondLst>
                                        </p:cTn>
                                        <p:tgtEl>
                                          <p:spTgt spid="5"/>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0"/>
                                          </p:stCondLst>
                                        </p:cTn>
                                        <p:tgtEl>
                                          <p:spTgt spid="284692">
                                            <p:txEl>
                                              <p:pRg st="2" end="2"/>
                                            </p:txEl>
                                          </p:spTgt>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nodeType="clickEffect">
                                  <p:stCondLst>
                                    <p:cond delay="0"/>
                                  </p:stCondLst>
                                  <p:childTnLst>
                                    <p:set>
                                      <p:cBhvr>
                                        <p:cTn id="35" dur="1" fill="hold">
                                          <p:stCondLst>
                                            <p:cond delay="0"/>
                                          </p:stCondLst>
                                        </p:cTn>
                                        <p:tgtEl>
                                          <p:spTgt spid="2"/>
                                        </p:tgtEl>
                                        <p:attrNameLst>
                                          <p:attrName>style.visibility</p:attrName>
                                        </p:attrNameLst>
                                      </p:cBhvr>
                                      <p:to>
                                        <p:strVal val="visible"/>
                                      </p:to>
                                    </p:set>
                                  </p:childTnLst>
                                </p:cTn>
                              </p:par>
                            </p:childTnLst>
                          </p:cTn>
                        </p:par>
                        <p:par>
                          <p:cTn id="36" fill="hold" nodeType="afterGroup">
                            <p:stCondLst>
                              <p:cond delay="0"/>
                            </p:stCondLst>
                            <p:childTnLst>
                              <p:par>
                                <p:cTn id="37" presetID="1" presetClass="entr" presetSubtype="0" fill="hold" grpId="0" nodeType="afterEffect">
                                  <p:stCondLst>
                                    <p:cond delay="0"/>
                                  </p:stCondLst>
                                  <p:childTnLst>
                                    <p:set>
                                      <p:cBhvr>
                                        <p:cTn id="38" dur="1" fill="hold">
                                          <p:stCondLst>
                                            <p:cond delay="0"/>
                                          </p:stCondLst>
                                        </p:cTn>
                                        <p:tgtEl>
                                          <p:spTgt spid="284690"/>
                                        </p:tgtEl>
                                        <p:attrNameLst>
                                          <p:attrName>style.visibility</p:attrName>
                                        </p:attrNameLst>
                                      </p:cBhvr>
                                      <p:to>
                                        <p:strVal val="visible"/>
                                      </p:to>
                                    </p:set>
                                  </p:childTnLst>
                                </p:cTn>
                              </p:par>
                            </p:childTnLst>
                          </p:cTn>
                        </p:par>
                        <p:par>
                          <p:cTn id="39" fill="hold" nodeType="afterGroup">
                            <p:stCondLst>
                              <p:cond delay="0"/>
                            </p:stCondLst>
                            <p:childTnLst>
                              <p:par>
                                <p:cTn id="40" presetID="1" presetClass="entr" presetSubtype="0" fill="hold" grpId="0" nodeType="afterEffect" nodePh="1">
                                  <p:stCondLst>
                                    <p:cond delay="0"/>
                                  </p:stCondLst>
                                  <p:endCondLst>
                                    <p:cond evt="begin" delay="0">
                                      <p:tn val="40"/>
                                    </p:cond>
                                  </p:endCondLst>
                                  <p:childTnLst>
                                    <p:set>
                                      <p:cBhvr>
                                        <p:cTn id="41" dur="1" fill="hold">
                                          <p:stCondLst>
                                            <p:cond delay="0"/>
                                          </p:stCondLst>
                                        </p:cTn>
                                        <p:tgtEl>
                                          <p:spTgt spid="2847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675" grpId="0" build="p"/>
      <p:bldP spid="284690" grpId="0"/>
      <p:bldP spid="284691" grpId="0"/>
      <p:bldP spid="28471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1927654" y="2187179"/>
            <a:ext cx="5881815" cy="6248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spAutoFit/>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9pPr>
          </a:lstStyle>
          <a:p>
            <a:pPr algn="ctr" eaLnBrk="1" hangingPunct="1"/>
            <a:r>
              <a:rPr lang="zh-CN" altLang="en-US" sz="3600" dirty="0" smtClean="0">
                <a:solidFill>
                  <a:schemeClr val="accent2"/>
                </a:solidFill>
                <a:latin typeface="微软雅黑" panose="020B0503020204020204" pitchFamily="34" charset="-122"/>
                <a:ea typeface="微软雅黑" panose="020B0503020204020204" pitchFamily="34" charset="-122"/>
                <a:sym typeface="Roboto Th" pitchFamily="2" charset="0"/>
              </a:rPr>
              <a:t>大数据背景的数据访问模式</a:t>
            </a:r>
            <a:endParaRPr lang="en-US" altLang="zh-CN" sz="3600" dirty="0">
              <a:solidFill>
                <a:schemeClr val="accent2"/>
              </a:solidFill>
              <a:latin typeface="微软雅黑" panose="020B0503020204020204" pitchFamily="34" charset="-122"/>
              <a:ea typeface="微软雅黑" panose="020B0503020204020204" pitchFamily="34" charset="-122"/>
              <a:sym typeface="Roboto Th" pitchFamily="2" charset="0"/>
            </a:endParaRPr>
          </a:p>
        </p:txBody>
      </p:sp>
    </p:spTree>
    <p:extLst>
      <p:ext uri="{BB962C8B-B14F-4D97-AF65-F5344CB8AC3E}">
        <p14:creationId xmlns:p14="http://schemas.microsoft.com/office/powerpoint/2010/main" val="172043332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86800" cy="1143000"/>
          </a:xfrm>
        </p:spPr>
        <p:txBody>
          <a:bodyPr>
            <a:normAutofit/>
          </a:bodyPr>
          <a:lstStyle/>
          <a:p>
            <a:pPr algn="ctr"/>
            <a:r>
              <a:rPr lang="en-US" sz="3200" dirty="0" err="1" smtClean="0"/>
              <a:t>MapReduce</a:t>
            </a:r>
            <a:r>
              <a:rPr lang="en-US" sz="3200" dirty="0" smtClean="0"/>
              <a:t> Operations on Hadoop</a:t>
            </a:r>
            <a:endParaRPr lang="en-US" sz="3200" dirty="0"/>
          </a:p>
        </p:txBody>
      </p:sp>
      <p:sp>
        <p:nvSpPr>
          <p:cNvPr id="3" name="Content Placeholder 2"/>
          <p:cNvSpPr>
            <a:spLocks noGrp="1"/>
          </p:cNvSpPr>
          <p:nvPr>
            <p:ph idx="1"/>
          </p:nvPr>
        </p:nvSpPr>
        <p:spPr>
          <a:xfrm>
            <a:off x="31376" y="1069032"/>
            <a:ext cx="9144000" cy="4724400"/>
          </a:xfrm>
        </p:spPr>
        <p:txBody>
          <a:bodyPr/>
          <a:lstStyle/>
          <a:p>
            <a:r>
              <a:rPr lang="en-US" sz="2400" dirty="0" smtClean="0"/>
              <a:t>Get average salary of each of 2 organizations in a huge file.</a:t>
            </a:r>
            <a:r>
              <a:rPr lang="en-US" dirty="0" smtClean="0"/>
              <a:t> </a:t>
            </a:r>
            <a:endParaRPr lang="en-US" dirty="0"/>
          </a:p>
        </p:txBody>
      </p:sp>
      <p:grpSp>
        <p:nvGrpSpPr>
          <p:cNvPr id="4" name="Group 85"/>
          <p:cNvGrpSpPr/>
          <p:nvPr/>
        </p:nvGrpSpPr>
        <p:grpSpPr>
          <a:xfrm>
            <a:off x="762000" y="1600200"/>
            <a:ext cx="7848600" cy="461665"/>
            <a:chOff x="990600" y="4648200"/>
            <a:chExt cx="7848600" cy="461665"/>
          </a:xfrm>
        </p:grpSpPr>
        <p:sp>
          <p:nvSpPr>
            <p:cNvPr id="87" name="TextBox 86"/>
            <p:cNvSpPr txBox="1"/>
            <p:nvPr/>
          </p:nvSpPr>
          <p:spPr>
            <a:xfrm>
              <a:off x="990600" y="4648200"/>
              <a:ext cx="3505200" cy="461665"/>
            </a:xfrm>
            <a:prstGeom prst="rect">
              <a:avLst/>
            </a:prstGeom>
            <a:noFill/>
          </p:spPr>
          <p:txBody>
            <a:bodyPr wrap="square" rtlCol="0">
              <a:spAutoFit/>
            </a:bodyPr>
            <a:lstStyle/>
            <a:p>
              <a:r>
                <a:rPr lang="en-US" sz="2400" b="1" dirty="0" smtClean="0"/>
                <a:t>{</a:t>
              </a:r>
              <a:r>
                <a:rPr lang="en-US" sz="2400" b="1" dirty="0" smtClean="0">
                  <a:solidFill>
                    <a:srgbClr val="FF0000"/>
                  </a:solidFill>
                </a:rPr>
                <a:t>name</a:t>
              </a:r>
              <a:r>
                <a:rPr lang="en-US" sz="2400" b="1" dirty="0" smtClean="0"/>
                <a:t>:  (org., salary)} </a:t>
              </a:r>
              <a:endParaRPr lang="en-US" sz="2400" b="1" dirty="0"/>
            </a:p>
          </p:txBody>
        </p:sp>
        <p:sp>
          <p:nvSpPr>
            <p:cNvPr id="88" name="Right Arrow 87"/>
            <p:cNvSpPr/>
            <p:nvPr/>
          </p:nvSpPr>
          <p:spPr>
            <a:xfrm>
              <a:off x="4343400" y="4724400"/>
              <a:ext cx="7620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p:cNvSpPr txBox="1"/>
            <p:nvPr/>
          </p:nvSpPr>
          <p:spPr>
            <a:xfrm>
              <a:off x="5334000" y="4648200"/>
              <a:ext cx="3505200" cy="461665"/>
            </a:xfrm>
            <a:prstGeom prst="rect">
              <a:avLst/>
            </a:prstGeom>
            <a:noFill/>
          </p:spPr>
          <p:txBody>
            <a:bodyPr wrap="square" rtlCol="0">
              <a:spAutoFit/>
            </a:bodyPr>
            <a:lstStyle/>
            <a:p>
              <a:r>
                <a:rPr lang="en-US" sz="2400" b="1" dirty="0" smtClean="0"/>
                <a:t>{</a:t>
              </a:r>
              <a:r>
                <a:rPr lang="en-US" sz="2400" b="1" dirty="0" smtClean="0">
                  <a:solidFill>
                    <a:srgbClr val="FF0000"/>
                  </a:solidFill>
                </a:rPr>
                <a:t>org.</a:t>
              </a:r>
              <a:r>
                <a:rPr lang="en-US" sz="2400" b="1" dirty="0" smtClean="0"/>
                <a:t>:  avg. salary} </a:t>
              </a:r>
              <a:endParaRPr lang="en-US" sz="2400" b="1" dirty="0"/>
            </a:p>
          </p:txBody>
        </p:sp>
      </p:grpSp>
      <p:sp>
        <p:nvSpPr>
          <p:cNvPr id="91" name="Slide Number Placeholder 3"/>
          <p:cNvSpPr>
            <a:spLocks noGrp="1"/>
          </p:cNvSpPr>
          <p:nvPr>
            <p:ph type="sldNum" sz="quarter" idx="4294967295"/>
          </p:nvPr>
        </p:nvSpPr>
        <p:spPr>
          <a:xfrm>
            <a:off x="6553200" y="6416675"/>
            <a:ext cx="2133600" cy="365125"/>
          </a:xfrm>
          <a:prstGeom prst="rect">
            <a:avLst/>
          </a:prstGeom>
        </p:spPr>
        <p:txBody>
          <a:bodyPr/>
          <a:lstStyle/>
          <a:p>
            <a:fld id="{B6F15528-21DE-4FAA-801E-634DDDAF4B2B}" type="slidenum">
              <a:rPr lang="en-US" smtClean="0"/>
              <a:pPr/>
              <a:t>24</a:t>
            </a:fld>
            <a:endParaRPr lang="en-US" dirty="0"/>
          </a:p>
        </p:txBody>
      </p:sp>
      <p:cxnSp>
        <p:nvCxnSpPr>
          <p:cNvPr id="94" name="Straight Connector 93"/>
          <p:cNvCxnSpPr/>
          <p:nvPr/>
        </p:nvCxnSpPr>
        <p:spPr>
          <a:xfrm>
            <a:off x="914400" y="2057400"/>
            <a:ext cx="762000"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6" name="Straight Arrow Connector 95"/>
          <p:cNvCxnSpPr/>
          <p:nvPr/>
        </p:nvCxnSpPr>
        <p:spPr>
          <a:xfrm rot="5400000">
            <a:off x="761206" y="2590800"/>
            <a:ext cx="1066800" cy="1588"/>
          </a:xfrm>
          <a:prstGeom prst="straightConnector1">
            <a:avLst/>
          </a:prstGeom>
          <a:ln w="63500">
            <a:solidFill>
              <a:schemeClr val="accent2"/>
            </a:solidFill>
            <a:tailEnd type="arrow"/>
          </a:ln>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13024" y="3200400"/>
            <a:ext cx="687176" cy="461665"/>
          </a:xfrm>
          <a:prstGeom prst="rect">
            <a:avLst/>
          </a:prstGeom>
          <a:noFill/>
        </p:spPr>
        <p:txBody>
          <a:bodyPr wrap="none" rtlCol="0">
            <a:spAutoFit/>
          </a:bodyPr>
          <a:lstStyle/>
          <a:p>
            <a:r>
              <a:rPr lang="en-US" sz="2400" b="1" dirty="0" smtClean="0">
                <a:latin typeface="Garamond" pitchFamily="18" charset="0"/>
              </a:rPr>
              <a:t>Key</a:t>
            </a:r>
            <a:endParaRPr lang="en-US" sz="2400" b="1" dirty="0">
              <a:latin typeface="Garamond" pitchFamily="18" charset="0"/>
            </a:endParaRPr>
          </a:p>
        </p:txBody>
      </p:sp>
      <p:cxnSp>
        <p:nvCxnSpPr>
          <p:cNvPr id="99" name="Straight Connector 98"/>
          <p:cNvCxnSpPr/>
          <p:nvPr/>
        </p:nvCxnSpPr>
        <p:spPr>
          <a:xfrm>
            <a:off x="1982576" y="2057400"/>
            <a:ext cx="1675024"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0" name="Straight Arrow Connector 99"/>
          <p:cNvCxnSpPr/>
          <p:nvPr/>
        </p:nvCxnSpPr>
        <p:spPr>
          <a:xfrm rot="5400000">
            <a:off x="2297593" y="2590800"/>
            <a:ext cx="1066800" cy="1588"/>
          </a:xfrm>
          <a:prstGeom prst="straightConnector1">
            <a:avLst/>
          </a:prstGeom>
          <a:ln w="63500">
            <a:solidFill>
              <a:schemeClr val="accent2"/>
            </a:solidFill>
            <a:tailEnd type="arrow"/>
          </a:ln>
        </p:spPr>
        <p:style>
          <a:lnRef idx="1">
            <a:schemeClr val="accent1"/>
          </a:lnRef>
          <a:fillRef idx="0">
            <a:schemeClr val="accent1"/>
          </a:fillRef>
          <a:effectRef idx="0">
            <a:schemeClr val="accent1"/>
          </a:effectRef>
          <a:fontRef idx="minor">
            <a:schemeClr val="tx1"/>
          </a:fontRef>
        </p:style>
      </p:cxnSp>
      <p:sp>
        <p:nvSpPr>
          <p:cNvPr id="101" name="TextBox 100"/>
          <p:cNvSpPr txBox="1"/>
          <p:nvPr/>
        </p:nvSpPr>
        <p:spPr>
          <a:xfrm>
            <a:off x="2449411" y="3200400"/>
            <a:ext cx="903389" cy="461665"/>
          </a:xfrm>
          <a:prstGeom prst="rect">
            <a:avLst/>
          </a:prstGeom>
          <a:noFill/>
        </p:spPr>
        <p:txBody>
          <a:bodyPr wrap="none" rtlCol="0">
            <a:spAutoFit/>
          </a:bodyPr>
          <a:lstStyle/>
          <a:p>
            <a:r>
              <a:rPr lang="en-US" sz="2400" b="1" dirty="0" smtClean="0">
                <a:latin typeface="Garamond" pitchFamily="18" charset="0"/>
              </a:rPr>
              <a:t>Value</a:t>
            </a:r>
            <a:endParaRPr lang="en-US" sz="2400" b="1" dirty="0">
              <a:latin typeface="Garamond" pitchFamily="18" charset="0"/>
            </a:endParaRPr>
          </a:p>
        </p:txBody>
      </p:sp>
      <p:cxnSp>
        <p:nvCxnSpPr>
          <p:cNvPr id="103" name="Straight Connector 102"/>
          <p:cNvCxnSpPr/>
          <p:nvPr/>
        </p:nvCxnSpPr>
        <p:spPr>
          <a:xfrm>
            <a:off x="5181600" y="2057400"/>
            <a:ext cx="762000"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p:nvPr/>
        </p:nvCxnSpPr>
        <p:spPr>
          <a:xfrm rot="5400000">
            <a:off x="5028406" y="2590800"/>
            <a:ext cx="1066800" cy="1588"/>
          </a:xfrm>
          <a:prstGeom prst="straightConnector1">
            <a:avLst/>
          </a:prstGeom>
          <a:ln w="63500">
            <a:solidFill>
              <a:schemeClr val="accent2"/>
            </a:solidFill>
            <a:tailEnd type="arrow"/>
          </a:ln>
        </p:spPr>
        <p:style>
          <a:lnRef idx="1">
            <a:schemeClr val="accent1"/>
          </a:lnRef>
          <a:fillRef idx="0">
            <a:schemeClr val="accent1"/>
          </a:fillRef>
          <a:effectRef idx="0">
            <a:schemeClr val="accent1"/>
          </a:effectRef>
          <a:fontRef idx="minor">
            <a:schemeClr val="tx1"/>
          </a:fontRef>
        </p:style>
      </p:cxnSp>
      <p:sp>
        <p:nvSpPr>
          <p:cNvPr id="105" name="TextBox 104"/>
          <p:cNvSpPr txBox="1"/>
          <p:nvPr/>
        </p:nvSpPr>
        <p:spPr>
          <a:xfrm>
            <a:off x="5180224" y="3200400"/>
            <a:ext cx="687176" cy="461665"/>
          </a:xfrm>
          <a:prstGeom prst="rect">
            <a:avLst/>
          </a:prstGeom>
          <a:noFill/>
        </p:spPr>
        <p:txBody>
          <a:bodyPr wrap="none" rtlCol="0">
            <a:spAutoFit/>
          </a:bodyPr>
          <a:lstStyle/>
          <a:p>
            <a:r>
              <a:rPr lang="en-US" sz="2400" b="1" dirty="0" smtClean="0">
                <a:latin typeface="Garamond" pitchFamily="18" charset="0"/>
              </a:rPr>
              <a:t>Key</a:t>
            </a:r>
            <a:endParaRPr lang="en-US" sz="2400" b="1" dirty="0">
              <a:latin typeface="Garamond" pitchFamily="18" charset="0"/>
            </a:endParaRPr>
          </a:p>
        </p:txBody>
      </p:sp>
      <p:cxnSp>
        <p:nvCxnSpPr>
          <p:cNvPr id="106" name="Straight Connector 105"/>
          <p:cNvCxnSpPr/>
          <p:nvPr/>
        </p:nvCxnSpPr>
        <p:spPr>
          <a:xfrm>
            <a:off x="6173576" y="2057400"/>
            <a:ext cx="1294024"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7" name="Straight Arrow Connector 106"/>
          <p:cNvCxnSpPr/>
          <p:nvPr/>
        </p:nvCxnSpPr>
        <p:spPr>
          <a:xfrm rot="5400000">
            <a:off x="6336193" y="2590800"/>
            <a:ext cx="1066800" cy="1588"/>
          </a:xfrm>
          <a:prstGeom prst="straightConnector1">
            <a:avLst/>
          </a:prstGeom>
          <a:ln w="63500">
            <a:solidFill>
              <a:schemeClr val="accent2"/>
            </a:solidFill>
            <a:tailEnd type="arrow"/>
          </a:ln>
        </p:spPr>
        <p:style>
          <a:lnRef idx="1">
            <a:schemeClr val="accent1"/>
          </a:lnRef>
          <a:fillRef idx="0">
            <a:schemeClr val="accent1"/>
          </a:fillRef>
          <a:effectRef idx="0">
            <a:schemeClr val="accent1"/>
          </a:effectRef>
          <a:fontRef idx="minor">
            <a:schemeClr val="tx1"/>
          </a:fontRef>
        </p:style>
      </p:cxnSp>
      <p:sp>
        <p:nvSpPr>
          <p:cNvPr id="108" name="TextBox 107"/>
          <p:cNvSpPr txBox="1"/>
          <p:nvPr/>
        </p:nvSpPr>
        <p:spPr>
          <a:xfrm>
            <a:off x="6488011" y="3200400"/>
            <a:ext cx="903389" cy="461665"/>
          </a:xfrm>
          <a:prstGeom prst="rect">
            <a:avLst/>
          </a:prstGeom>
          <a:noFill/>
        </p:spPr>
        <p:txBody>
          <a:bodyPr wrap="none" rtlCol="0">
            <a:spAutoFit/>
          </a:bodyPr>
          <a:lstStyle/>
          <a:p>
            <a:r>
              <a:rPr lang="en-US" sz="2400" b="1" dirty="0" smtClean="0">
                <a:latin typeface="Garamond" pitchFamily="18" charset="0"/>
              </a:rPr>
              <a:t>Value</a:t>
            </a:r>
            <a:endParaRPr lang="en-US" sz="2400" b="1" dirty="0">
              <a:latin typeface="Garamond" pitchFamily="18" charset="0"/>
            </a:endParaRPr>
          </a:p>
        </p:txBody>
      </p:sp>
      <p:sp>
        <p:nvSpPr>
          <p:cNvPr id="21" name="TextBox 20"/>
          <p:cNvSpPr txBox="1"/>
          <p:nvPr/>
        </p:nvSpPr>
        <p:spPr>
          <a:xfrm>
            <a:off x="533400" y="3581400"/>
            <a:ext cx="3429000" cy="1569660"/>
          </a:xfrm>
          <a:prstGeom prst="rect">
            <a:avLst/>
          </a:prstGeom>
          <a:noFill/>
        </p:spPr>
        <p:txBody>
          <a:bodyPr wrap="square" rtlCol="0">
            <a:spAutoFit/>
          </a:bodyPr>
          <a:lstStyle/>
          <a:p>
            <a:r>
              <a:rPr lang="en-US" sz="2400" b="1" dirty="0" smtClean="0">
                <a:latin typeface="Garamond" pitchFamily="18" charset="0"/>
              </a:rPr>
              <a:t>Original key/value pairs: all the person names associated with each org name and their salaries</a:t>
            </a:r>
            <a:endParaRPr lang="en-US" sz="2400" b="1" dirty="0">
              <a:latin typeface="Garamond" pitchFamily="18" charset="0"/>
            </a:endParaRPr>
          </a:p>
        </p:txBody>
      </p:sp>
      <p:sp>
        <p:nvSpPr>
          <p:cNvPr id="22" name="TextBox 21"/>
          <p:cNvSpPr txBox="1"/>
          <p:nvPr/>
        </p:nvSpPr>
        <p:spPr>
          <a:xfrm>
            <a:off x="4724400" y="3581400"/>
            <a:ext cx="4191000" cy="1569660"/>
          </a:xfrm>
          <a:prstGeom prst="rect">
            <a:avLst/>
          </a:prstGeom>
          <a:noFill/>
        </p:spPr>
        <p:txBody>
          <a:bodyPr wrap="square" rtlCol="0">
            <a:spAutoFit/>
          </a:bodyPr>
          <a:lstStyle/>
          <a:p>
            <a:r>
              <a:rPr lang="en-US" sz="2400" b="1" dirty="0" smtClean="0">
                <a:latin typeface="Garamond" pitchFamily="18" charset="0"/>
              </a:rPr>
              <a:t>Result key/value pairs: two entries showing the org name and corresponding average salary </a:t>
            </a:r>
            <a:endParaRPr lang="en-US" sz="2400" b="1" dirty="0">
              <a:latin typeface="Garamond" pitchFamily="18" charset="0"/>
            </a:endParaRPr>
          </a:p>
        </p:txBody>
      </p:sp>
      <p:graphicFrame>
        <p:nvGraphicFramePr>
          <p:cNvPr id="23" name="Table 22"/>
          <p:cNvGraphicFramePr>
            <a:graphicFrameLocks noGrp="1"/>
          </p:cNvGraphicFramePr>
          <p:nvPr>
            <p:extLst>
              <p:ext uri="{D42A27DB-BD31-4B8C-83A1-F6EECF244321}">
                <p14:modId xmlns:p14="http://schemas.microsoft.com/office/powerpoint/2010/main" val="407333372"/>
              </p:ext>
            </p:extLst>
          </p:nvPr>
        </p:nvGraphicFramePr>
        <p:xfrm>
          <a:off x="533400" y="5105400"/>
          <a:ext cx="3505200" cy="1584960"/>
        </p:xfrm>
        <a:graphic>
          <a:graphicData uri="http://schemas.openxmlformats.org/drawingml/2006/table">
            <a:tbl>
              <a:tblPr firstRow="1" bandRow="1">
                <a:tableStyleId>{69012ECD-51FC-41F1-AA8D-1B2483CD663E}</a:tableStyleId>
              </a:tblPr>
              <a:tblGrid>
                <a:gridCol w="1752600"/>
                <a:gridCol w="1752600"/>
              </a:tblGrid>
              <a:tr h="370840">
                <a:tc>
                  <a:txBody>
                    <a:bodyPr/>
                    <a:lstStyle/>
                    <a:p>
                      <a:r>
                        <a:rPr lang="en-US" sz="2000" dirty="0" smtClean="0">
                          <a:latin typeface="Times New Roman" pitchFamily="18" charset="0"/>
                          <a:cs typeface="Times New Roman" pitchFamily="18" charset="0"/>
                        </a:rPr>
                        <a:t>Name</a:t>
                      </a:r>
                      <a:endParaRPr lang="en-US" sz="20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en-US" sz="2000" dirty="0" smtClean="0">
                          <a:latin typeface="Times New Roman" pitchFamily="18" charset="0"/>
                          <a:cs typeface="Times New Roman" pitchFamily="18" charset="0"/>
                        </a:rPr>
                        <a:t>(dept. ,salary)</a:t>
                      </a:r>
                      <a:endParaRPr lang="en-US" sz="20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r>
              <a:tr h="370840">
                <a:tc>
                  <a:txBody>
                    <a:bodyPr/>
                    <a:lstStyle/>
                    <a:p>
                      <a:r>
                        <a:rPr lang="en-US" sz="2000" dirty="0" smtClean="0">
                          <a:latin typeface="Times New Roman" pitchFamily="18" charset="0"/>
                          <a:cs typeface="Times New Roman" pitchFamily="18" charset="0"/>
                        </a:rPr>
                        <a:t>Alice</a:t>
                      </a:r>
                      <a:endParaRPr lang="en-US" sz="20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smtClean="0">
                          <a:latin typeface="Times New Roman" pitchFamily="18" charset="0"/>
                          <a:cs typeface="Times New Roman" pitchFamily="18" charset="0"/>
                        </a:rPr>
                        <a:t>(Org-1, 3000)</a:t>
                      </a:r>
                      <a:endParaRPr lang="en-US" sz="20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000" dirty="0" smtClean="0">
                          <a:latin typeface="Times New Roman" pitchFamily="18" charset="0"/>
                          <a:cs typeface="Times New Roman" pitchFamily="18" charset="0"/>
                        </a:rPr>
                        <a:t>Bob</a:t>
                      </a:r>
                      <a:endParaRPr lang="en-US" sz="20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smtClean="0">
                          <a:latin typeface="Times New Roman" pitchFamily="18" charset="0"/>
                          <a:cs typeface="Times New Roman" pitchFamily="18" charset="0"/>
                        </a:rPr>
                        <a:t>(Org-2,</a:t>
                      </a:r>
                      <a:r>
                        <a:rPr lang="en-US" sz="2000" baseline="0" dirty="0" smtClean="0">
                          <a:latin typeface="Times New Roman" pitchFamily="18" charset="0"/>
                          <a:cs typeface="Times New Roman" pitchFamily="18" charset="0"/>
                        </a:rPr>
                        <a:t> 3500</a:t>
                      </a:r>
                      <a:r>
                        <a:rPr lang="en-US" sz="2000" dirty="0" smtClean="0">
                          <a:latin typeface="Times New Roman" pitchFamily="18" charset="0"/>
                          <a:cs typeface="Times New Roman" pitchFamily="18" charset="0"/>
                        </a:rPr>
                        <a:t>)</a:t>
                      </a:r>
                      <a:endParaRPr lang="en-US" sz="20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000" b="1" dirty="0" smtClean="0">
                          <a:latin typeface="Times New Roman" pitchFamily="18" charset="0"/>
                          <a:cs typeface="Times New Roman" pitchFamily="18" charset="0"/>
                        </a:rPr>
                        <a:t>…</a:t>
                      </a:r>
                      <a:endParaRPr lang="en-US" sz="2000" b="1"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smtClean="0">
                          <a:latin typeface="Times New Roman" pitchFamily="18" charset="0"/>
                          <a:cs typeface="Times New Roman" pitchFamily="18" charset="0"/>
                        </a:rPr>
                        <a:t>…</a:t>
                      </a:r>
                      <a:endParaRPr lang="en-US" sz="2000" b="1"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24" name="Table 23"/>
          <p:cNvGraphicFramePr>
            <a:graphicFrameLocks noGrp="1"/>
          </p:cNvGraphicFramePr>
          <p:nvPr>
            <p:extLst>
              <p:ext uri="{D42A27DB-BD31-4B8C-83A1-F6EECF244321}">
                <p14:modId xmlns:p14="http://schemas.microsoft.com/office/powerpoint/2010/main" val="3248853562"/>
              </p:ext>
            </p:extLst>
          </p:nvPr>
        </p:nvGraphicFramePr>
        <p:xfrm>
          <a:off x="4800600" y="5120640"/>
          <a:ext cx="3505200" cy="1188720"/>
        </p:xfrm>
        <a:graphic>
          <a:graphicData uri="http://schemas.openxmlformats.org/drawingml/2006/table">
            <a:tbl>
              <a:tblPr firstRow="1" bandRow="1">
                <a:tableStyleId>{69012ECD-51FC-41F1-AA8D-1B2483CD663E}</a:tableStyleId>
              </a:tblPr>
              <a:tblGrid>
                <a:gridCol w="1752600"/>
                <a:gridCol w="1752600"/>
              </a:tblGrid>
              <a:tr h="370840">
                <a:tc>
                  <a:txBody>
                    <a:bodyPr/>
                    <a:lstStyle/>
                    <a:p>
                      <a:r>
                        <a:rPr lang="en-US" sz="2000" dirty="0" smtClean="0">
                          <a:latin typeface="Times New Roman" pitchFamily="18" charset="0"/>
                          <a:cs typeface="Times New Roman" pitchFamily="18" charset="0"/>
                        </a:rPr>
                        <a:t>dept.</a:t>
                      </a:r>
                      <a:endParaRPr lang="en-US" sz="20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en-US" sz="2000" dirty="0" smtClean="0">
                          <a:latin typeface="Times New Roman" pitchFamily="18" charset="0"/>
                          <a:cs typeface="Times New Roman" pitchFamily="18" charset="0"/>
                        </a:rPr>
                        <a:t>avg. salary</a:t>
                      </a:r>
                      <a:endParaRPr lang="en-US" sz="20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r>
              <a:tr h="370840">
                <a:tc>
                  <a:txBody>
                    <a:bodyPr/>
                    <a:lstStyle/>
                    <a:p>
                      <a:r>
                        <a:rPr lang="en-US" sz="2000" dirty="0" smtClean="0">
                          <a:latin typeface="Times New Roman" pitchFamily="18" charset="0"/>
                          <a:cs typeface="Times New Roman" pitchFamily="18" charset="0"/>
                        </a:rPr>
                        <a:t>Org-1</a:t>
                      </a:r>
                      <a:endParaRPr lang="en-US" sz="20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smtClean="0">
                          <a:latin typeface="Times New Roman" pitchFamily="18" charset="0"/>
                          <a:cs typeface="Times New Roman" pitchFamily="18" charset="0"/>
                        </a:rPr>
                        <a:t>…</a:t>
                      </a:r>
                      <a:endParaRPr lang="en-US" sz="2000" b="1"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000" dirty="0" smtClean="0">
                          <a:latin typeface="Times New Roman" pitchFamily="18" charset="0"/>
                          <a:cs typeface="Times New Roman" pitchFamily="18" charset="0"/>
                        </a:rPr>
                        <a:t>Org-2</a:t>
                      </a:r>
                      <a:endParaRPr lang="en-US" sz="20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smtClean="0">
                          <a:latin typeface="Times New Roman" pitchFamily="18" charset="0"/>
                          <a:cs typeface="Times New Roman" pitchFamily="18" charset="0"/>
                        </a:rPr>
                        <a:t>…</a:t>
                      </a:r>
                      <a:endParaRPr lang="en-US" sz="2000" b="1"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71799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8" presetClass="entr" presetSubtype="6" fill="hold" nodeType="clickEffect">
                                  <p:stCondLst>
                                    <p:cond delay="0"/>
                                  </p:stCondLst>
                                  <p:childTnLst>
                                    <p:set>
                                      <p:cBhvr>
                                        <p:cTn id="14" dur="1" fill="hold">
                                          <p:stCondLst>
                                            <p:cond delay="0"/>
                                          </p:stCondLst>
                                        </p:cTn>
                                        <p:tgtEl>
                                          <p:spTgt spid="94"/>
                                        </p:tgtEl>
                                        <p:attrNameLst>
                                          <p:attrName>style.visibility</p:attrName>
                                        </p:attrNameLst>
                                      </p:cBhvr>
                                      <p:to>
                                        <p:strVal val="visible"/>
                                      </p:to>
                                    </p:set>
                                    <p:animEffect transition="in" filter="strips(downRight)">
                                      <p:cBhvr>
                                        <p:cTn id="15" dur="500"/>
                                        <p:tgtEl>
                                          <p:spTgt spid="94"/>
                                        </p:tgtEl>
                                      </p:cBhvr>
                                    </p:animEffect>
                                  </p:childTnLst>
                                </p:cTn>
                              </p:par>
                            </p:childTnLst>
                          </p:cTn>
                        </p:par>
                        <p:par>
                          <p:cTn id="16" fill="hold">
                            <p:stCondLst>
                              <p:cond delay="500"/>
                            </p:stCondLst>
                            <p:childTnLst>
                              <p:par>
                                <p:cTn id="17" presetID="18" presetClass="entr" presetSubtype="12" fill="hold" nodeType="afterEffect">
                                  <p:stCondLst>
                                    <p:cond delay="0"/>
                                  </p:stCondLst>
                                  <p:childTnLst>
                                    <p:set>
                                      <p:cBhvr>
                                        <p:cTn id="18" dur="1" fill="hold">
                                          <p:stCondLst>
                                            <p:cond delay="0"/>
                                          </p:stCondLst>
                                        </p:cTn>
                                        <p:tgtEl>
                                          <p:spTgt spid="96"/>
                                        </p:tgtEl>
                                        <p:attrNameLst>
                                          <p:attrName>style.visibility</p:attrName>
                                        </p:attrNameLst>
                                      </p:cBhvr>
                                      <p:to>
                                        <p:strVal val="visible"/>
                                      </p:to>
                                    </p:set>
                                    <p:animEffect transition="in" filter="strips(downLeft)">
                                      <p:cBhvr>
                                        <p:cTn id="19" dur="500"/>
                                        <p:tgtEl>
                                          <p:spTgt spid="96"/>
                                        </p:tgtEl>
                                      </p:cBhvr>
                                    </p:animEffect>
                                  </p:childTnLst>
                                </p:cTn>
                              </p:par>
                            </p:childTnLst>
                          </p:cTn>
                        </p:par>
                        <p:par>
                          <p:cTn id="20" fill="hold">
                            <p:stCondLst>
                              <p:cond delay="1000"/>
                            </p:stCondLst>
                            <p:childTnLst>
                              <p:par>
                                <p:cTn id="21" presetID="1" presetClass="entr" presetSubtype="0" fill="hold" grpId="0" nodeType="afterEffect">
                                  <p:stCondLst>
                                    <p:cond delay="0"/>
                                  </p:stCondLst>
                                  <p:childTnLst>
                                    <p:set>
                                      <p:cBhvr>
                                        <p:cTn id="22" dur="1" fill="hold">
                                          <p:stCondLst>
                                            <p:cond delay="0"/>
                                          </p:stCondLst>
                                        </p:cTn>
                                        <p:tgtEl>
                                          <p:spTgt spid="9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99"/>
                                        </p:tgtEl>
                                        <p:attrNameLst>
                                          <p:attrName>style.visibility</p:attrName>
                                        </p:attrNameLst>
                                      </p:cBhvr>
                                      <p:to>
                                        <p:strVal val="visible"/>
                                      </p:to>
                                    </p:set>
                                    <p:animEffect transition="in" filter="strips(downRight)">
                                      <p:cBhvr>
                                        <p:cTn id="27" dur="500"/>
                                        <p:tgtEl>
                                          <p:spTgt spid="99"/>
                                        </p:tgtEl>
                                      </p:cBhvr>
                                    </p:animEffect>
                                  </p:childTnLst>
                                </p:cTn>
                              </p:par>
                            </p:childTnLst>
                          </p:cTn>
                        </p:par>
                        <p:par>
                          <p:cTn id="28" fill="hold">
                            <p:stCondLst>
                              <p:cond delay="500"/>
                            </p:stCondLst>
                            <p:childTnLst>
                              <p:par>
                                <p:cTn id="29" presetID="18" presetClass="entr" presetSubtype="12" fill="hold" nodeType="afterEffect">
                                  <p:stCondLst>
                                    <p:cond delay="0"/>
                                  </p:stCondLst>
                                  <p:childTnLst>
                                    <p:set>
                                      <p:cBhvr>
                                        <p:cTn id="30" dur="1" fill="hold">
                                          <p:stCondLst>
                                            <p:cond delay="0"/>
                                          </p:stCondLst>
                                        </p:cTn>
                                        <p:tgtEl>
                                          <p:spTgt spid="100"/>
                                        </p:tgtEl>
                                        <p:attrNameLst>
                                          <p:attrName>style.visibility</p:attrName>
                                        </p:attrNameLst>
                                      </p:cBhvr>
                                      <p:to>
                                        <p:strVal val="visible"/>
                                      </p:to>
                                    </p:set>
                                    <p:animEffect transition="in" filter="strips(downLeft)">
                                      <p:cBhvr>
                                        <p:cTn id="31" dur="500"/>
                                        <p:tgtEl>
                                          <p:spTgt spid="100"/>
                                        </p:tgtEl>
                                      </p:cBhvr>
                                    </p:animEffect>
                                  </p:childTnLst>
                                </p:cTn>
                              </p:par>
                            </p:childTnLst>
                          </p:cTn>
                        </p:par>
                        <p:par>
                          <p:cTn id="32" fill="hold">
                            <p:stCondLst>
                              <p:cond delay="1000"/>
                            </p:stCondLst>
                            <p:childTnLst>
                              <p:par>
                                <p:cTn id="33" presetID="1" presetClass="entr" presetSubtype="0" fill="hold" grpId="0" nodeType="afterEffect">
                                  <p:stCondLst>
                                    <p:cond delay="0"/>
                                  </p:stCondLst>
                                  <p:childTnLst>
                                    <p:set>
                                      <p:cBhvr>
                                        <p:cTn id="34" dur="1" fill="hold">
                                          <p:stCondLst>
                                            <p:cond delay="0"/>
                                          </p:stCondLst>
                                        </p:cTn>
                                        <p:tgtEl>
                                          <p:spTgt spid="10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8" presetClass="entr" presetSubtype="6" fill="hold" nodeType="clickEffect">
                                  <p:stCondLst>
                                    <p:cond delay="0"/>
                                  </p:stCondLst>
                                  <p:childTnLst>
                                    <p:set>
                                      <p:cBhvr>
                                        <p:cTn id="46" dur="1" fill="hold">
                                          <p:stCondLst>
                                            <p:cond delay="0"/>
                                          </p:stCondLst>
                                        </p:cTn>
                                        <p:tgtEl>
                                          <p:spTgt spid="103"/>
                                        </p:tgtEl>
                                        <p:attrNameLst>
                                          <p:attrName>style.visibility</p:attrName>
                                        </p:attrNameLst>
                                      </p:cBhvr>
                                      <p:to>
                                        <p:strVal val="visible"/>
                                      </p:to>
                                    </p:set>
                                    <p:animEffect transition="in" filter="strips(downRight)">
                                      <p:cBhvr>
                                        <p:cTn id="47" dur="500"/>
                                        <p:tgtEl>
                                          <p:spTgt spid="103"/>
                                        </p:tgtEl>
                                      </p:cBhvr>
                                    </p:animEffect>
                                  </p:childTnLst>
                                </p:cTn>
                              </p:par>
                            </p:childTnLst>
                          </p:cTn>
                        </p:par>
                        <p:par>
                          <p:cTn id="48" fill="hold">
                            <p:stCondLst>
                              <p:cond delay="500"/>
                            </p:stCondLst>
                            <p:childTnLst>
                              <p:par>
                                <p:cTn id="49" presetID="18" presetClass="entr" presetSubtype="12" fill="hold" nodeType="afterEffect">
                                  <p:stCondLst>
                                    <p:cond delay="0"/>
                                  </p:stCondLst>
                                  <p:childTnLst>
                                    <p:set>
                                      <p:cBhvr>
                                        <p:cTn id="50" dur="1" fill="hold">
                                          <p:stCondLst>
                                            <p:cond delay="0"/>
                                          </p:stCondLst>
                                        </p:cTn>
                                        <p:tgtEl>
                                          <p:spTgt spid="104"/>
                                        </p:tgtEl>
                                        <p:attrNameLst>
                                          <p:attrName>style.visibility</p:attrName>
                                        </p:attrNameLst>
                                      </p:cBhvr>
                                      <p:to>
                                        <p:strVal val="visible"/>
                                      </p:to>
                                    </p:set>
                                    <p:animEffect transition="in" filter="strips(downLeft)">
                                      <p:cBhvr>
                                        <p:cTn id="51" dur="500"/>
                                        <p:tgtEl>
                                          <p:spTgt spid="104"/>
                                        </p:tgtEl>
                                      </p:cBhvr>
                                    </p:animEffect>
                                  </p:childTnLst>
                                </p:cTn>
                              </p:par>
                            </p:childTnLst>
                          </p:cTn>
                        </p:par>
                        <p:par>
                          <p:cTn id="52" fill="hold">
                            <p:stCondLst>
                              <p:cond delay="1000"/>
                            </p:stCondLst>
                            <p:childTnLst>
                              <p:par>
                                <p:cTn id="53" presetID="1" presetClass="entr" presetSubtype="0" fill="hold" grpId="0" nodeType="afterEffect">
                                  <p:stCondLst>
                                    <p:cond delay="0"/>
                                  </p:stCondLst>
                                  <p:childTnLst>
                                    <p:set>
                                      <p:cBhvr>
                                        <p:cTn id="54" dur="1" fill="hold">
                                          <p:stCondLst>
                                            <p:cond delay="0"/>
                                          </p:stCondLst>
                                        </p:cTn>
                                        <p:tgtEl>
                                          <p:spTgt spid="10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8" presetClass="entr" presetSubtype="6" fill="hold" nodeType="clickEffect">
                                  <p:stCondLst>
                                    <p:cond delay="0"/>
                                  </p:stCondLst>
                                  <p:childTnLst>
                                    <p:set>
                                      <p:cBhvr>
                                        <p:cTn id="58" dur="1" fill="hold">
                                          <p:stCondLst>
                                            <p:cond delay="0"/>
                                          </p:stCondLst>
                                        </p:cTn>
                                        <p:tgtEl>
                                          <p:spTgt spid="106"/>
                                        </p:tgtEl>
                                        <p:attrNameLst>
                                          <p:attrName>style.visibility</p:attrName>
                                        </p:attrNameLst>
                                      </p:cBhvr>
                                      <p:to>
                                        <p:strVal val="visible"/>
                                      </p:to>
                                    </p:set>
                                    <p:animEffect transition="in" filter="strips(downRight)">
                                      <p:cBhvr>
                                        <p:cTn id="59" dur="500"/>
                                        <p:tgtEl>
                                          <p:spTgt spid="106"/>
                                        </p:tgtEl>
                                      </p:cBhvr>
                                    </p:animEffect>
                                  </p:childTnLst>
                                </p:cTn>
                              </p:par>
                            </p:childTnLst>
                          </p:cTn>
                        </p:par>
                        <p:par>
                          <p:cTn id="60" fill="hold">
                            <p:stCondLst>
                              <p:cond delay="500"/>
                            </p:stCondLst>
                            <p:childTnLst>
                              <p:par>
                                <p:cTn id="61" presetID="18" presetClass="entr" presetSubtype="12" fill="hold" nodeType="afterEffect">
                                  <p:stCondLst>
                                    <p:cond delay="0"/>
                                  </p:stCondLst>
                                  <p:childTnLst>
                                    <p:set>
                                      <p:cBhvr>
                                        <p:cTn id="62" dur="1" fill="hold">
                                          <p:stCondLst>
                                            <p:cond delay="0"/>
                                          </p:stCondLst>
                                        </p:cTn>
                                        <p:tgtEl>
                                          <p:spTgt spid="107"/>
                                        </p:tgtEl>
                                        <p:attrNameLst>
                                          <p:attrName>style.visibility</p:attrName>
                                        </p:attrNameLst>
                                      </p:cBhvr>
                                      <p:to>
                                        <p:strVal val="visible"/>
                                      </p:to>
                                    </p:set>
                                    <p:animEffect transition="in" filter="strips(downLeft)">
                                      <p:cBhvr>
                                        <p:cTn id="63" dur="500"/>
                                        <p:tgtEl>
                                          <p:spTgt spid="107"/>
                                        </p:tgtEl>
                                      </p:cBhvr>
                                    </p:animEffect>
                                  </p:childTnLst>
                                </p:cTn>
                              </p:par>
                            </p:childTnLst>
                          </p:cTn>
                        </p:par>
                        <p:par>
                          <p:cTn id="64" fill="hold">
                            <p:stCondLst>
                              <p:cond delay="1000"/>
                            </p:stCondLst>
                            <p:childTnLst>
                              <p:par>
                                <p:cTn id="65" presetID="1" presetClass="entr" presetSubtype="0" fill="hold" grpId="0" nodeType="afterEffect">
                                  <p:stCondLst>
                                    <p:cond delay="0"/>
                                  </p:stCondLst>
                                  <p:childTnLst>
                                    <p:set>
                                      <p:cBhvr>
                                        <p:cTn id="66" dur="1" fill="hold">
                                          <p:stCondLst>
                                            <p:cond delay="0"/>
                                          </p:stCondLst>
                                        </p:cTn>
                                        <p:tgtEl>
                                          <p:spTgt spid="10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p:bldP spid="101" grpId="0"/>
      <p:bldP spid="105" grpId="0"/>
      <p:bldP spid="108" grpId="0"/>
      <p:bldP spid="21" grpId="0"/>
      <p:bldP spid="22"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 name="Group 85"/>
          <p:cNvGrpSpPr/>
          <p:nvPr/>
        </p:nvGrpSpPr>
        <p:grpSpPr>
          <a:xfrm>
            <a:off x="76200" y="2133600"/>
            <a:ext cx="8839200" cy="609600"/>
            <a:chOff x="76200" y="2133600"/>
            <a:chExt cx="8839200" cy="609600"/>
          </a:xfrm>
        </p:grpSpPr>
        <p:sp>
          <p:nvSpPr>
            <p:cNvPr id="5" name="Rectangle 4"/>
            <p:cNvSpPr/>
            <p:nvPr/>
          </p:nvSpPr>
          <p:spPr>
            <a:xfrm>
              <a:off x="1066800" y="2133600"/>
              <a:ext cx="7848600" cy="60960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219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7526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2362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29718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3886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44196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029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56388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6553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70866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7696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83058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p:cNvSpPr txBox="1"/>
            <p:nvPr/>
          </p:nvSpPr>
          <p:spPr>
            <a:xfrm>
              <a:off x="76200" y="2209800"/>
              <a:ext cx="855491" cy="461665"/>
            </a:xfrm>
            <a:prstGeom prst="rect">
              <a:avLst/>
            </a:prstGeom>
            <a:noFill/>
          </p:spPr>
          <p:txBody>
            <a:bodyPr wrap="none" rtlCol="0">
              <a:spAutoFit/>
            </a:bodyPr>
            <a:lstStyle/>
            <a:p>
              <a:r>
                <a:rPr lang="en-US" sz="2400" b="1" dirty="0" smtClean="0"/>
                <a:t>HDFS</a:t>
              </a:r>
              <a:endParaRPr lang="en-US" sz="2400" b="1" dirty="0"/>
            </a:p>
          </p:txBody>
        </p:sp>
      </p:grpSp>
      <p:sp>
        <p:nvSpPr>
          <p:cNvPr id="2" name="Title 1"/>
          <p:cNvSpPr>
            <a:spLocks noGrp="1"/>
          </p:cNvSpPr>
          <p:nvPr>
            <p:ph type="title"/>
          </p:nvPr>
        </p:nvSpPr>
        <p:spPr>
          <a:xfrm>
            <a:off x="228600" y="228600"/>
            <a:ext cx="8686800" cy="685800"/>
          </a:xfrm>
        </p:spPr>
        <p:txBody>
          <a:bodyPr>
            <a:normAutofit/>
          </a:bodyPr>
          <a:lstStyle/>
          <a:p>
            <a:pPr algn="ctr"/>
            <a:r>
              <a:rPr lang="en-US" sz="3200" dirty="0" err="1"/>
              <a:t>MapReduce</a:t>
            </a:r>
            <a:r>
              <a:rPr lang="en-US" sz="3200" dirty="0"/>
              <a:t> Operations on Hadoop</a:t>
            </a:r>
          </a:p>
        </p:txBody>
      </p:sp>
      <p:sp>
        <p:nvSpPr>
          <p:cNvPr id="3" name="Content Placeholder 2"/>
          <p:cNvSpPr>
            <a:spLocks noGrp="1"/>
          </p:cNvSpPr>
          <p:nvPr>
            <p:ph idx="1"/>
          </p:nvPr>
        </p:nvSpPr>
        <p:spPr>
          <a:xfrm>
            <a:off x="76200" y="914400"/>
            <a:ext cx="9067799" cy="4724400"/>
          </a:xfrm>
        </p:spPr>
        <p:txBody>
          <a:bodyPr>
            <a:normAutofit/>
          </a:bodyPr>
          <a:lstStyle/>
          <a:p>
            <a:r>
              <a:rPr lang="en-US" sz="2800" dirty="0" smtClean="0"/>
              <a:t>Calculate the average salary of every organization</a:t>
            </a:r>
            <a:endParaRPr lang="en-US" sz="2800" dirty="0"/>
          </a:p>
        </p:txBody>
      </p:sp>
      <p:grpSp>
        <p:nvGrpSpPr>
          <p:cNvPr id="18" name="Group 85"/>
          <p:cNvGrpSpPr/>
          <p:nvPr/>
        </p:nvGrpSpPr>
        <p:grpSpPr>
          <a:xfrm>
            <a:off x="760538" y="1676400"/>
            <a:ext cx="7848600" cy="461665"/>
            <a:chOff x="990600" y="4648200"/>
            <a:chExt cx="7848600" cy="461665"/>
          </a:xfrm>
        </p:grpSpPr>
        <p:sp>
          <p:nvSpPr>
            <p:cNvPr id="87" name="TextBox 86"/>
            <p:cNvSpPr txBox="1"/>
            <p:nvPr/>
          </p:nvSpPr>
          <p:spPr>
            <a:xfrm>
              <a:off x="990600" y="4648200"/>
              <a:ext cx="3505200" cy="461665"/>
            </a:xfrm>
            <a:prstGeom prst="rect">
              <a:avLst/>
            </a:prstGeom>
            <a:noFill/>
          </p:spPr>
          <p:txBody>
            <a:bodyPr wrap="square" rtlCol="0">
              <a:spAutoFit/>
            </a:bodyPr>
            <a:lstStyle/>
            <a:p>
              <a:r>
                <a:rPr lang="en-US" sz="2400" b="1" dirty="0" smtClean="0"/>
                <a:t>{</a:t>
              </a:r>
              <a:r>
                <a:rPr lang="en-US" sz="2400" b="1" dirty="0" smtClean="0">
                  <a:solidFill>
                    <a:srgbClr val="FF0000"/>
                  </a:solidFill>
                </a:rPr>
                <a:t>name</a:t>
              </a:r>
              <a:r>
                <a:rPr lang="en-US" sz="2400" b="1" dirty="0" smtClean="0"/>
                <a:t>:  (org., salary)} </a:t>
              </a:r>
              <a:endParaRPr lang="en-US" sz="2400" b="1" dirty="0"/>
            </a:p>
          </p:txBody>
        </p:sp>
        <p:sp>
          <p:nvSpPr>
            <p:cNvPr id="88" name="Right Arrow 87"/>
            <p:cNvSpPr/>
            <p:nvPr/>
          </p:nvSpPr>
          <p:spPr>
            <a:xfrm>
              <a:off x="4343400" y="4724400"/>
              <a:ext cx="7620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p:cNvSpPr txBox="1"/>
            <p:nvPr/>
          </p:nvSpPr>
          <p:spPr>
            <a:xfrm>
              <a:off x="5334000" y="4648200"/>
              <a:ext cx="3505200" cy="461665"/>
            </a:xfrm>
            <a:prstGeom prst="rect">
              <a:avLst/>
            </a:prstGeom>
            <a:noFill/>
          </p:spPr>
          <p:txBody>
            <a:bodyPr wrap="square" rtlCol="0">
              <a:spAutoFit/>
            </a:bodyPr>
            <a:lstStyle/>
            <a:p>
              <a:r>
                <a:rPr lang="en-US" sz="2400" b="1" dirty="0" smtClean="0"/>
                <a:t>{</a:t>
              </a:r>
              <a:r>
                <a:rPr lang="en-US" sz="2400" b="1" dirty="0" smtClean="0">
                  <a:solidFill>
                    <a:srgbClr val="FF0000"/>
                  </a:solidFill>
                </a:rPr>
                <a:t>org.</a:t>
              </a:r>
              <a:r>
                <a:rPr lang="en-US" sz="2400" b="1" dirty="0" smtClean="0"/>
                <a:t>:  avg. salary} </a:t>
              </a:r>
              <a:endParaRPr lang="en-US" sz="2400" b="1" dirty="0"/>
            </a:p>
          </p:txBody>
        </p:sp>
      </p:grpSp>
      <p:sp>
        <p:nvSpPr>
          <p:cNvPr id="91" name="Slide Number Placeholder 3"/>
          <p:cNvSpPr>
            <a:spLocks noGrp="1"/>
          </p:cNvSpPr>
          <p:nvPr>
            <p:ph type="sldNum" sz="quarter" idx="4294967295"/>
          </p:nvPr>
        </p:nvSpPr>
        <p:spPr>
          <a:xfrm>
            <a:off x="6553200" y="6416675"/>
            <a:ext cx="2133600" cy="365125"/>
          </a:xfrm>
          <a:prstGeom prst="rect">
            <a:avLst/>
          </a:prstGeom>
        </p:spPr>
        <p:txBody>
          <a:bodyPr/>
          <a:lstStyle/>
          <a:p>
            <a:fld id="{B6F15528-21DE-4FAA-801E-634DDDAF4B2B}" type="slidenum">
              <a:rPr lang="en-US" smtClean="0"/>
              <a:pPr/>
              <a:t>25</a:t>
            </a:fld>
            <a:endParaRPr lang="en-US" dirty="0"/>
          </a:p>
        </p:txBody>
      </p:sp>
      <p:sp>
        <p:nvSpPr>
          <p:cNvPr id="90" name="Oval 89"/>
          <p:cNvSpPr/>
          <p:nvPr/>
        </p:nvSpPr>
        <p:spPr>
          <a:xfrm>
            <a:off x="1066800" y="2057400"/>
            <a:ext cx="685800" cy="685800"/>
          </a:xfrm>
          <a:prstGeom prst="ellipse">
            <a:avLst/>
          </a:prstGeom>
          <a:noFill/>
          <a:ln w="444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3" name="Straight Arrow Connector 92"/>
          <p:cNvCxnSpPr>
            <a:stCxn id="90" idx="4"/>
          </p:cNvCxnSpPr>
          <p:nvPr/>
        </p:nvCxnSpPr>
        <p:spPr>
          <a:xfrm rot="5400000">
            <a:off x="704850" y="2952750"/>
            <a:ext cx="914400" cy="495300"/>
          </a:xfrm>
          <a:prstGeom prst="straightConnector1">
            <a:avLst/>
          </a:prstGeom>
          <a:ln w="635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0" y="3733800"/>
            <a:ext cx="2111475" cy="461665"/>
          </a:xfrm>
          <a:prstGeom prst="rect">
            <a:avLst/>
          </a:prstGeom>
          <a:noFill/>
        </p:spPr>
        <p:txBody>
          <a:bodyPr wrap="none" rtlCol="0">
            <a:spAutoFit/>
          </a:bodyPr>
          <a:lstStyle/>
          <a:p>
            <a:r>
              <a:rPr lang="en-US" sz="2400" b="1" dirty="0" smtClean="0">
                <a:latin typeface="Garamond" pitchFamily="18" charset="0"/>
              </a:rPr>
              <a:t>A HDFS block</a:t>
            </a:r>
            <a:endParaRPr lang="en-US" sz="2400" b="1" dirty="0">
              <a:latin typeface="Garamond" pitchFamily="18" charset="0"/>
            </a:endParaRPr>
          </a:p>
        </p:txBody>
      </p:sp>
      <p:cxnSp>
        <p:nvCxnSpPr>
          <p:cNvPr id="92" name="Straight Arrow Connector 91"/>
          <p:cNvCxnSpPr/>
          <p:nvPr/>
        </p:nvCxnSpPr>
        <p:spPr>
          <a:xfrm>
            <a:off x="3657600" y="2667000"/>
            <a:ext cx="1752600" cy="1219200"/>
          </a:xfrm>
          <a:prstGeom prst="straightConnector1">
            <a:avLst/>
          </a:prstGeom>
          <a:ln w="635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97" name="TextBox 96"/>
          <p:cNvSpPr txBox="1"/>
          <p:nvPr/>
        </p:nvSpPr>
        <p:spPr>
          <a:xfrm>
            <a:off x="3048000" y="3881735"/>
            <a:ext cx="5561138" cy="461665"/>
          </a:xfrm>
          <a:prstGeom prst="rect">
            <a:avLst/>
          </a:prstGeom>
          <a:noFill/>
        </p:spPr>
        <p:txBody>
          <a:bodyPr wrap="none" rtlCol="0">
            <a:spAutoFit/>
          </a:bodyPr>
          <a:lstStyle/>
          <a:p>
            <a:r>
              <a:rPr lang="en-US" sz="2400" b="1" dirty="0" err="1" smtClean="0">
                <a:latin typeface="Garamond" pitchFamily="18" charset="0"/>
              </a:rPr>
              <a:t>Hadoop</a:t>
            </a:r>
            <a:r>
              <a:rPr lang="en-US" sz="2400" b="1" dirty="0" smtClean="0">
                <a:latin typeface="Garamond" pitchFamily="18" charset="0"/>
              </a:rPr>
              <a:t> Distributed File System (HDFS)</a:t>
            </a:r>
            <a:endParaRPr lang="en-US" sz="2400" b="1" dirty="0">
              <a:latin typeface="Garamond" pitchFamily="18" charset="0"/>
            </a:endParaRPr>
          </a:p>
        </p:txBody>
      </p:sp>
    </p:spTree>
    <p:extLst>
      <p:ext uri="{BB962C8B-B14F-4D97-AF65-F5344CB8AC3E}">
        <p14:creationId xmlns:p14="http://schemas.microsoft.com/office/powerpoint/2010/main" val="1305782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strips(upRight)">
                                      <p:cBhvr>
                                        <p:cTn id="7" dur="500"/>
                                        <p:tgtEl>
                                          <p:spTgt spid="92"/>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9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0"/>
                                        </p:tgtEl>
                                        <p:attrNameLst>
                                          <p:attrName>style.visibility</p:attrName>
                                        </p:attrNameLst>
                                      </p:cBhvr>
                                      <p:to>
                                        <p:strVal val="visible"/>
                                      </p:to>
                                    </p:set>
                                  </p:childTnLst>
                                </p:cTn>
                              </p:par>
                            </p:childTnLst>
                          </p:cTn>
                        </p:par>
                        <p:par>
                          <p:cTn id="15" fill="hold">
                            <p:stCondLst>
                              <p:cond delay="0"/>
                            </p:stCondLst>
                            <p:childTnLst>
                              <p:par>
                                <p:cTn id="16" presetID="18" presetClass="entr" presetSubtype="12" fill="hold" nodeType="afterEffect">
                                  <p:stCondLst>
                                    <p:cond delay="0"/>
                                  </p:stCondLst>
                                  <p:childTnLst>
                                    <p:set>
                                      <p:cBhvr>
                                        <p:cTn id="17" dur="1" fill="hold">
                                          <p:stCondLst>
                                            <p:cond delay="0"/>
                                          </p:stCondLst>
                                        </p:cTn>
                                        <p:tgtEl>
                                          <p:spTgt spid="93"/>
                                        </p:tgtEl>
                                        <p:attrNameLst>
                                          <p:attrName>style.visibility</p:attrName>
                                        </p:attrNameLst>
                                      </p:cBhvr>
                                      <p:to>
                                        <p:strVal val="visible"/>
                                      </p:to>
                                    </p:set>
                                    <p:animEffect transition="in" filter="strips(downLeft)">
                                      <p:cBhvr>
                                        <p:cTn id="18" dur="500"/>
                                        <p:tgtEl>
                                          <p:spTgt spid="93"/>
                                        </p:tgtEl>
                                      </p:cBhvr>
                                    </p:animEffect>
                                  </p:childTnLst>
                                </p:cTn>
                              </p:par>
                            </p:childTnLst>
                          </p:cTn>
                        </p:par>
                        <p:par>
                          <p:cTn id="19" fill="hold">
                            <p:stCondLst>
                              <p:cond delay="500"/>
                            </p:stCondLst>
                            <p:childTnLst>
                              <p:par>
                                <p:cTn id="20" presetID="1" presetClass="entr" presetSubtype="0" fill="hold" grpId="0" nodeType="afterEffect">
                                  <p:stCondLst>
                                    <p:cond delay="0"/>
                                  </p:stCondLst>
                                  <p:childTnLst>
                                    <p:set>
                                      <p:cBhvr>
                                        <p:cTn id="21" dur="1" fill="hold">
                                          <p:stCondLst>
                                            <p:cond delay="0"/>
                                          </p:stCondLst>
                                        </p:cTn>
                                        <p:tgtEl>
                                          <p:spTgt spid="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p:bldP spid="96" grpId="0"/>
      <p:bldP spid="97"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 name="Group 85"/>
          <p:cNvGrpSpPr/>
          <p:nvPr/>
        </p:nvGrpSpPr>
        <p:grpSpPr>
          <a:xfrm>
            <a:off x="76200" y="2133600"/>
            <a:ext cx="8839200" cy="609600"/>
            <a:chOff x="76200" y="2133600"/>
            <a:chExt cx="8839200" cy="609600"/>
          </a:xfrm>
        </p:grpSpPr>
        <p:sp>
          <p:nvSpPr>
            <p:cNvPr id="5" name="Rectangle 4"/>
            <p:cNvSpPr/>
            <p:nvPr/>
          </p:nvSpPr>
          <p:spPr>
            <a:xfrm>
              <a:off x="1066800" y="2133600"/>
              <a:ext cx="7848600" cy="60960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219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7526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2362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29718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3886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44196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029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56388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6553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70866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7696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83058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p:cNvSpPr txBox="1"/>
            <p:nvPr/>
          </p:nvSpPr>
          <p:spPr>
            <a:xfrm>
              <a:off x="76200" y="2209800"/>
              <a:ext cx="855491" cy="461665"/>
            </a:xfrm>
            <a:prstGeom prst="rect">
              <a:avLst/>
            </a:prstGeom>
            <a:noFill/>
          </p:spPr>
          <p:txBody>
            <a:bodyPr wrap="none" rtlCol="0">
              <a:spAutoFit/>
            </a:bodyPr>
            <a:lstStyle/>
            <a:p>
              <a:r>
                <a:rPr lang="en-US" sz="2400" b="1" dirty="0" smtClean="0"/>
                <a:t>HDFS</a:t>
              </a:r>
              <a:endParaRPr lang="en-US" sz="2400" b="1" dirty="0"/>
            </a:p>
          </p:txBody>
        </p:sp>
      </p:grpSp>
      <p:sp>
        <p:nvSpPr>
          <p:cNvPr id="2" name="Title 1"/>
          <p:cNvSpPr>
            <a:spLocks noGrp="1"/>
          </p:cNvSpPr>
          <p:nvPr>
            <p:ph type="title"/>
          </p:nvPr>
        </p:nvSpPr>
        <p:spPr>
          <a:xfrm>
            <a:off x="228600" y="274638"/>
            <a:ext cx="8686800" cy="693550"/>
          </a:xfrm>
        </p:spPr>
        <p:txBody>
          <a:bodyPr>
            <a:normAutofit/>
          </a:bodyPr>
          <a:lstStyle/>
          <a:p>
            <a:pPr algn="ctr"/>
            <a:r>
              <a:rPr lang="en-US" sz="3200" dirty="0" err="1"/>
              <a:t>MapReduce</a:t>
            </a:r>
            <a:r>
              <a:rPr lang="en-US" sz="3200" dirty="0"/>
              <a:t> Operations on Hadoop</a:t>
            </a:r>
          </a:p>
        </p:txBody>
      </p:sp>
      <p:sp>
        <p:nvSpPr>
          <p:cNvPr id="3" name="Content Placeholder 2"/>
          <p:cNvSpPr>
            <a:spLocks noGrp="1"/>
          </p:cNvSpPr>
          <p:nvPr>
            <p:ph idx="1"/>
          </p:nvPr>
        </p:nvSpPr>
        <p:spPr>
          <a:xfrm>
            <a:off x="76200" y="968188"/>
            <a:ext cx="9067800" cy="4975412"/>
          </a:xfrm>
        </p:spPr>
        <p:txBody>
          <a:bodyPr>
            <a:normAutofit/>
          </a:bodyPr>
          <a:lstStyle/>
          <a:p>
            <a:r>
              <a:rPr lang="en-US" sz="2800" dirty="0" smtClean="0"/>
              <a:t>Calculate the average salary of every department</a:t>
            </a:r>
            <a:endParaRPr lang="en-US" sz="2800" dirty="0"/>
          </a:p>
        </p:txBody>
      </p:sp>
      <p:grpSp>
        <p:nvGrpSpPr>
          <p:cNvPr id="18" name="Group 17"/>
          <p:cNvGrpSpPr/>
          <p:nvPr/>
        </p:nvGrpSpPr>
        <p:grpSpPr>
          <a:xfrm>
            <a:off x="1219200" y="3035300"/>
            <a:ext cx="7429500" cy="317500"/>
            <a:chOff x="1219200" y="2459567"/>
            <a:chExt cx="7429500" cy="317500"/>
          </a:xfrm>
        </p:grpSpPr>
        <p:sp>
          <p:nvSpPr>
            <p:cNvPr id="19" name="Rectangle 18"/>
            <p:cNvSpPr/>
            <p:nvPr/>
          </p:nvSpPr>
          <p:spPr>
            <a:xfrm>
              <a:off x="1219200" y="2459567"/>
              <a:ext cx="2095500" cy="3175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tx1"/>
                  </a:solidFill>
                </a:rPr>
                <a:t>Map</a:t>
              </a:r>
              <a:endParaRPr lang="en-US" sz="2400" b="1" dirty="0">
                <a:solidFill>
                  <a:schemeClr val="tx1"/>
                </a:solidFill>
              </a:endParaRPr>
            </a:p>
          </p:txBody>
        </p:sp>
        <p:sp>
          <p:nvSpPr>
            <p:cNvPr id="20" name="Rectangle 19"/>
            <p:cNvSpPr/>
            <p:nvPr/>
          </p:nvSpPr>
          <p:spPr>
            <a:xfrm>
              <a:off x="3886200" y="2459567"/>
              <a:ext cx="2095500" cy="3175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tx1"/>
                  </a:solidFill>
                </a:rPr>
                <a:t>Map</a:t>
              </a:r>
              <a:endParaRPr lang="en-US" sz="2400" b="1" dirty="0">
                <a:solidFill>
                  <a:schemeClr val="tx1"/>
                </a:solidFill>
              </a:endParaRPr>
            </a:p>
          </p:txBody>
        </p:sp>
        <p:sp>
          <p:nvSpPr>
            <p:cNvPr id="21" name="Rectangle 20"/>
            <p:cNvSpPr/>
            <p:nvPr/>
          </p:nvSpPr>
          <p:spPr>
            <a:xfrm>
              <a:off x="6553200" y="2459567"/>
              <a:ext cx="2095500" cy="3175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tx1"/>
                  </a:solidFill>
                </a:rPr>
                <a:t>Map</a:t>
              </a:r>
              <a:endParaRPr lang="en-US" sz="2400" b="1" dirty="0">
                <a:solidFill>
                  <a:schemeClr val="tx1"/>
                </a:solidFill>
              </a:endParaRPr>
            </a:p>
          </p:txBody>
        </p:sp>
      </p:grpSp>
      <p:grpSp>
        <p:nvGrpSpPr>
          <p:cNvPr id="22" name="Group 21"/>
          <p:cNvGrpSpPr/>
          <p:nvPr/>
        </p:nvGrpSpPr>
        <p:grpSpPr>
          <a:xfrm>
            <a:off x="1676400" y="3657600"/>
            <a:ext cx="6477000" cy="338667"/>
            <a:chOff x="1676400" y="3276600"/>
            <a:chExt cx="6477000" cy="338667"/>
          </a:xfrm>
        </p:grpSpPr>
        <p:sp>
          <p:nvSpPr>
            <p:cNvPr id="23" name="Rectangle 22"/>
            <p:cNvSpPr/>
            <p:nvPr/>
          </p:nvSpPr>
          <p:spPr>
            <a:xfrm>
              <a:off x="1676400" y="3276600"/>
              <a:ext cx="381000" cy="338667"/>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2362200" y="3276600"/>
              <a:ext cx="381000" cy="3386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4419600" y="3276600"/>
              <a:ext cx="381000" cy="338667"/>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5105400" y="3276600"/>
              <a:ext cx="381000" cy="3386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7086600" y="3276600"/>
              <a:ext cx="381000" cy="338667"/>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7772400" y="3276600"/>
              <a:ext cx="381000" cy="3386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p:cNvGrpSpPr/>
          <p:nvPr/>
        </p:nvGrpSpPr>
        <p:grpSpPr>
          <a:xfrm>
            <a:off x="1295400" y="2717800"/>
            <a:ext cx="7340600" cy="330200"/>
            <a:chOff x="1295400" y="2065867"/>
            <a:chExt cx="7340600" cy="330200"/>
          </a:xfrm>
        </p:grpSpPr>
        <p:sp>
          <p:nvSpPr>
            <p:cNvPr id="30" name="Down Arrow 29"/>
            <p:cNvSpPr/>
            <p:nvPr/>
          </p:nvSpPr>
          <p:spPr>
            <a:xfrm>
              <a:off x="1295400" y="20658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Down Arrow 30"/>
            <p:cNvSpPr/>
            <p:nvPr/>
          </p:nvSpPr>
          <p:spPr>
            <a:xfrm>
              <a:off x="1828800" y="20658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Down Arrow 31"/>
            <p:cNvSpPr/>
            <p:nvPr/>
          </p:nvSpPr>
          <p:spPr>
            <a:xfrm>
              <a:off x="2413000" y="20785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Down Arrow 32"/>
            <p:cNvSpPr/>
            <p:nvPr/>
          </p:nvSpPr>
          <p:spPr>
            <a:xfrm>
              <a:off x="3048000" y="20785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Down Arrow 33"/>
            <p:cNvSpPr/>
            <p:nvPr/>
          </p:nvSpPr>
          <p:spPr>
            <a:xfrm>
              <a:off x="3962400" y="20658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Down Arrow 34"/>
            <p:cNvSpPr/>
            <p:nvPr/>
          </p:nvSpPr>
          <p:spPr>
            <a:xfrm>
              <a:off x="4495800" y="20658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Down Arrow 35"/>
            <p:cNvSpPr/>
            <p:nvPr/>
          </p:nvSpPr>
          <p:spPr>
            <a:xfrm>
              <a:off x="5080000" y="20785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Down Arrow 36"/>
            <p:cNvSpPr/>
            <p:nvPr/>
          </p:nvSpPr>
          <p:spPr>
            <a:xfrm>
              <a:off x="5715000" y="20785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Down Arrow 37"/>
            <p:cNvSpPr/>
            <p:nvPr/>
          </p:nvSpPr>
          <p:spPr>
            <a:xfrm>
              <a:off x="6629400" y="20658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Down Arrow 38"/>
            <p:cNvSpPr/>
            <p:nvPr/>
          </p:nvSpPr>
          <p:spPr>
            <a:xfrm>
              <a:off x="7162800" y="20658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Down Arrow 39"/>
            <p:cNvSpPr/>
            <p:nvPr/>
          </p:nvSpPr>
          <p:spPr>
            <a:xfrm>
              <a:off x="7747000" y="20785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Down Arrow 40"/>
            <p:cNvSpPr/>
            <p:nvPr/>
          </p:nvSpPr>
          <p:spPr>
            <a:xfrm>
              <a:off x="8382000" y="20785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p:cNvGrpSpPr/>
          <p:nvPr/>
        </p:nvGrpSpPr>
        <p:grpSpPr>
          <a:xfrm>
            <a:off x="1752600" y="3340100"/>
            <a:ext cx="6350000" cy="317500"/>
            <a:chOff x="1752600" y="2853267"/>
            <a:chExt cx="6350000" cy="317500"/>
          </a:xfrm>
        </p:grpSpPr>
        <p:sp>
          <p:nvSpPr>
            <p:cNvPr id="43" name="Down Arrow 42"/>
            <p:cNvSpPr/>
            <p:nvPr/>
          </p:nvSpPr>
          <p:spPr>
            <a:xfrm>
              <a:off x="1752600" y="28532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Down Arrow 43"/>
            <p:cNvSpPr/>
            <p:nvPr/>
          </p:nvSpPr>
          <p:spPr>
            <a:xfrm>
              <a:off x="2438400" y="28532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Down Arrow 44"/>
            <p:cNvSpPr/>
            <p:nvPr/>
          </p:nvSpPr>
          <p:spPr>
            <a:xfrm>
              <a:off x="4495800" y="28532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Down Arrow 45"/>
            <p:cNvSpPr/>
            <p:nvPr/>
          </p:nvSpPr>
          <p:spPr>
            <a:xfrm>
              <a:off x="5181600" y="28532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Down Arrow 46"/>
            <p:cNvSpPr/>
            <p:nvPr/>
          </p:nvSpPr>
          <p:spPr>
            <a:xfrm>
              <a:off x="7162800" y="28532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Down Arrow 47"/>
            <p:cNvSpPr/>
            <p:nvPr/>
          </p:nvSpPr>
          <p:spPr>
            <a:xfrm>
              <a:off x="7848600" y="28532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9" name="Group 85"/>
          <p:cNvGrpSpPr/>
          <p:nvPr/>
        </p:nvGrpSpPr>
        <p:grpSpPr>
          <a:xfrm>
            <a:off x="762000" y="1600200"/>
            <a:ext cx="7848600" cy="461665"/>
            <a:chOff x="990600" y="4648200"/>
            <a:chExt cx="7848600" cy="461665"/>
          </a:xfrm>
        </p:grpSpPr>
        <p:sp>
          <p:nvSpPr>
            <p:cNvPr id="87" name="TextBox 86"/>
            <p:cNvSpPr txBox="1"/>
            <p:nvPr/>
          </p:nvSpPr>
          <p:spPr>
            <a:xfrm>
              <a:off x="990600" y="4648200"/>
              <a:ext cx="3505200" cy="461665"/>
            </a:xfrm>
            <a:prstGeom prst="rect">
              <a:avLst/>
            </a:prstGeom>
            <a:noFill/>
          </p:spPr>
          <p:txBody>
            <a:bodyPr wrap="square" rtlCol="0">
              <a:spAutoFit/>
            </a:bodyPr>
            <a:lstStyle/>
            <a:p>
              <a:r>
                <a:rPr lang="en-US" sz="2400" b="1" dirty="0" smtClean="0"/>
                <a:t>{</a:t>
              </a:r>
              <a:r>
                <a:rPr lang="en-US" sz="2400" b="1" dirty="0" smtClean="0">
                  <a:solidFill>
                    <a:srgbClr val="FF0000"/>
                  </a:solidFill>
                </a:rPr>
                <a:t>name</a:t>
              </a:r>
              <a:r>
                <a:rPr lang="en-US" sz="2400" b="1" dirty="0" smtClean="0"/>
                <a:t>:  (org., salary)} </a:t>
              </a:r>
              <a:endParaRPr lang="en-US" sz="2400" b="1" dirty="0"/>
            </a:p>
          </p:txBody>
        </p:sp>
        <p:sp>
          <p:nvSpPr>
            <p:cNvPr id="88" name="Right Arrow 87"/>
            <p:cNvSpPr/>
            <p:nvPr/>
          </p:nvSpPr>
          <p:spPr>
            <a:xfrm>
              <a:off x="4343400" y="4724400"/>
              <a:ext cx="7620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p:cNvSpPr txBox="1"/>
            <p:nvPr/>
          </p:nvSpPr>
          <p:spPr>
            <a:xfrm>
              <a:off x="5334000" y="4648200"/>
              <a:ext cx="3505200" cy="461665"/>
            </a:xfrm>
            <a:prstGeom prst="rect">
              <a:avLst/>
            </a:prstGeom>
            <a:noFill/>
          </p:spPr>
          <p:txBody>
            <a:bodyPr wrap="square" rtlCol="0">
              <a:spAutoFit/>
            </a:bodyPr>
            <a:lstStyle/>
            <a:p>
              <a:r>
                <a:rPr lang="en-US" sz="2400" b="1" dirty="0" smtClean="0"/>
                <a:t>{</a:t>
              </a:r>
              <a:r>
                <a:rPr lang="en-US" sz="2400" b="1" dirty="0" smtClean="0">
                  <a:solidFill>
                    <a:srgbClr val="FF0000"/>
                  </a:solidFill>
                </a:rPr>
                <a:t>org.</a:t>
              </a:r>
              <a:r>
                <a:rPr lang="en-US" sz="2400" b="1" dirty="0" smtClean="0"/>
                <a:t>:  avg. salary} </a:t>
              </a:r>
              <a:endParaRPr lang="en-US" sz="2400" b="1" dirty="0"/>
            </a:p>
          </p:txBody>
        </p:sp>
      </p:grpSp>
      <p:sp>
        <p:nvSpPr>
          <p:cNvPr id="91" name="Slide Number Placeholder 3"/>
          <p:cNvSpPr>
            <a:spLocks noGrp="1"/>
          </p:cNvSpPr>
          <p:nvPr>
            <p:ph type="sldNum" sz="quarter" idx="4294967295"/>
          </p:nvPr>
        </p:nvSpPr>
        <p:spPr>
          <a:xfrm>
            <a:off x="6553200" y="6416675"/>
            <a:ext cx="2133600" cy="365125"/>
          </a:xfrm>
          <a:prstGeom prst="rect">
            <a:avLst/>
          </a:prstGeom>
        </p:spPr>
        <p:txBody>
          <a:bodyPr/>
          <a:lstStyle/>
          <a:p>
            <a:fld id="{B6F15528-21DE-4FAA-801E-634DDDAF4B2B}" type="slidenum">
              <a:rPr lang="en-US" smtClean="0"/>
              <a:pPr/>
              <a:t>26</a:t>
            </a:fld>
            <a:endParaRPr lang="en-US" dirty="0"/>
          </a:p>
        </p:txBody>
      </p:sp>
      <p:grpSp>
        <p:nvGrpSpPr>
          <p:cNvPr id="50" name="Group 109"/>
          <p:cNvGrpSpPr/>
          <p:nvPr/>
        </p:nvGrpSpPr>
        <p:grpSpPr>
          <a:xfrm>
            <a:off x="990600" y="2057400"/>
            <a:ext cx="7848600" cy="3779460"/>
            <a:chOff x="990600" y="2057400"/>
            <a:chExt cx="7848600" cy="3779460"/>
          </a:xfrm>
        </p:grpSpPr>
        <p:sp>
          <p:nvSpPr>
            <p:cNvPr id="95" name="Oval 94"/>
            <p:cNvSpPr/>
            <p:nvPr/>
          </p:nvSpPr>
          <p:spPr>
            <a:xfrm>
              <a:off x="990600" y="2057400"/>
              <a:ext cx="2514600" cy="6858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p:cNvSpPr/>
            <p:nvPr/>
          </p:nvSpPr>
          <p:spPr>
            <a:xfrm>
              <a:off x="3657600" y="2057400"/>
              <a:ext cx="2514600" cy="6858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p:cNvSpPr/>
            <p:nvPr/>
          </p:nvSpPr>
          <p:spPr>
            <a:xfrm>
              <a:off x="6324600" y="2057400"/>
              <a:ext cx="2514600" cy="6858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TextBox 97"/>
            <p:cNvSpPr txBox="1"/>
            <p:nvPr/>
          </p:nvSpPr>
          <p:spPr>
            <a:xfrm>
              <a:off x="1600200" y="4267200"/>
              <a:ext cx="6705600" cy="1569660"/>
            </a:xfrm>
            <a:prstGeom prst="rect">
              <a:avLst/>
            </a:prstGeom>
            <a:noFill/>
          </p:spPr>
          <p:txBody>
            <a:bodyPr wrap="square" rtlCol="0">
              <a:spAutoFit/>
            </a:bodyPr>
            <a:lstStyle/>
            <a:p>
              <a:pPr fontAlgn="t"/>
              <a:r>
                <a:rPr lang="en-US" sz="2400" b="1" dirty="0" smtClean="0">
                  <a:latin typeface="Garamond" pitchFamily="18" charset="0"/>
                </a:rPr>
                <a:t>Each map task takes 4 HDFS blocks as its input and extract {org.: salary} as new key/value pairs, e.g. </a:t>
              </a:r>
              <a:r>
                <a:rPr lang="en-US" sz="2400" b="1" dirty="0" smtClean="0">
                  <a:solidFill>
                    <a:srgbClr val="FF0000"/>
                  </a:solidFill>
                  <a:latin typeface="Garamond" pitchFamily="18" charset="0"/>
                </a:rPr>
                <a:t>{Alice: (org-1, 3000)} </a:t>
              </a:r>
              <a:r>
                <a:rPr lang="en-US" sz="2400" b="1" dirty="0" smtClean="0">
                  <a:latin typeface="Garamond" pitchFamily="18" charset="0"/>
                </a:rPr>
                <a:t>to </a:t>
              </a:r>
              <a:r>
                <a:rPr lang="en-US" sz="2400" b="1" dirty="0" smtClean="0">
                  <a:solidFill>
                    <a:srgbClr val="FF0000"/>
                  </a:solidFill>
                  <a:latin typeface="Garamond" pitchFamily="18" charset="0"/>
                </a:rPr>
                <a:t>{org-1: 3000}</a:t>
              </a:r>
            </a:p>
            <a:p>
              <a:endParaRPr lang="en-US" sz="2400" b="1" dirty="0" smtClean="0">
                <a:latin typeface="Garamond" pitchFamily="18" charset="0"/>
              </a:endParaRPr>
            </a:p>
          </p:txBody>
        </p:sp>
        <p:cxnSp>
          <p:nvCxnSpPr>
            <p:cNvPr id="100" name="Straight Arrow Connector 99"/>
            <p:cNvCxnSpPr>
              <a:stCxn id="95" idx="4"/>
              <a:endCxn id="98" idx="0"/>
            </p:cNvCxnSpPr>
            <p:nvPr/>
          </p:nvCxnSpPr>
          <p:spPr>
            <a:xfrm rot="16200000" flipH="1">
              <a:off x="2838450" y="2152650"/>
              <a:ext cx="1524000" cy="2705100"/>
            </a:xfrm>
            <a:prstGeom prst="straightConnector1">
              <a:avLst/>
            </a:prstGeom>
            <a:ln w="50800">
              <a:tailEnd type="arrow"/>
            </a:ln>
          </p:spPr>
          <p:style>
            <a:lnRef idx="1">
              <a:schemeClr val="accent1"/>
            </a:lnRef>
            <a:fillRef idx="0">
              <a:schemeClr val="accent1"/>
            </a:fillRef>
            <a:effectRef idx="0">
              <a:schemeClr val="accent1"/>
            </a:effectRef>
            <a:fontRef idx="minor">
              <a:schemeClr val="tx1"/>
            </a:fontRef>
          </p:style>
        </p:cxnSp>
        <p:cxnSp>
          <p:nvCxnSpPr>
            <p:cNvPr id="102" name="Straight Arrow Connector 101"/>
            <p:cNvCxnSpPr>
              <a:stCxn id="96" idx="4"/>
              <a:endCxn id="98" idx="0"/>
            </p:cNvCxnSpPr>
            <p:nvPr/>
          </p:nvCxnSpPr>
          <p:spPr>
            <a:xfrm rot="16200000" flipH="1">
              <a:off x="4171950" y="3486150"/>
              <a:ext cx="1524000" cy="38100"/>
            </a:xfrm>
            <a:prstGeom prst="straightConnector1">
              <a:avLst/>
            </a:prstGeom>
            <a:ln w="50800">
              <a:tailEnd type="arrow"/>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a:stCxn id="97" idx="4"/>
              <a:endCxn id="98" idx="0"/>
            </p:cNvCxnSpPr>
            <p:nvPr/>
          </p:nvCxnSpPr>
          <p:spPr>
            <a:xfrm rot="5400000">
              <a:off x="5505450" y="2190750"/>
              <a:ext cx="1524000" cy="2628900"/>
            </a:xfrm>
            <a:prstGeom prst="straightConnector1">
              <a:avLst/>
            </a:prstGeom>
            <a:ln w="50800">
              <a:tailEnd type="arrow"/>
            </a:ln>
          </p:spPr>
          <p:style>
            <a:lnRef idx="1">
              <a:schemeClr val="accent1"/>
            </a:lnRef>
            <a:fillRef idx="0">
              <a:schemeClr val="accent1"/>
            </a:fillRef>
            <a:effectRef idx="0">
              <a:schemeClr val="accent1"/>
            </a:effectRef>
            <a:fontRef idx="minor">
              <a:schemeClr val="tx1"/>
            </a:fontRef>
          </p:style>
        </p:cxnSp>
      </p:grpSp>
      <p:sp>
        <p:nvSpPr>
          <p:cNvPr id="123" name="TextBox 122"/>
          <p:cNvSpPr txBox="1"/>
          <p:nvPr/>
        </p:nvSpPr>
        <p:spPr>
          <a:xfrm>
            <a:off x="1905000" y="5791200"/>
            <a:ext cx="184731" cy="369332"/>
          </a:xfrm>
          <a:prstGeom prst="rect">
            <a:avLst/>
          </a:prstGeom>
          <a:noFill/>
        </p:spPr>
        <p:txBody>
          <a:bodyPr wrap="none" rtlCol="0">
            <a:spAutoFit/>
          </a:bodyPr>
          <a:lstStyle/>
          <a:p>
            <a:endParaRPr lang="en-US" dirty="0"/>
          </a:p>
        </p:txBody>
      </p:sp>
      <p:grpSp>
        <p:nvGrpSpPr>
          <p:cNvPr id="51" name="Group 132"/>
          <p:cNvGrpSpPr/>
          <p:nvPr/>
        </p:nvGrpSpPr>
        <p:grpSpPr>
          <a:xfrm>
            <a:off x="1143000" y="2057400"/>
            <a:ext cx="7772400" cy="3662065"/>
            <a:chOff x="1066800" y="2057400"/>
            <a:chExt cx="7772400" cy="3662065"/>
          </a:xfrm>
        </p:grpSpPr>
        <p:grpSp>
          <p:nvGrpSpPr>
            <p:cNvPr id="52" name="Group 92"/>
            <p:cNvGrpSpPr/>
            <p:nvPr/>
          </p:nvGrpSpPr>
          <p:grpSpPr>
            <a:xfrm>
              <a:off x="1066800" y="2057400"/>
              <a:ext cx="7772400" cy="2209800"/>
              <a:chOff x="1066800" y="2057400"/>
              <a:chExt cx="7772400" cy="2209800"/>
            </a:xfrm>
          </p:grpSpPr>
          <p:sp>
            <p:nvSpPr>
              <p:cNvPr id="86" name="Rectangle 85"/>
              <p:cNvSpPr/>
              <p:nvPr/>
            </p:nvSpPr>
            <p:spPr>
              <a:xfrm>
                <a:off x="1066800" y="2057400"/>
                <a:ext cx="2438400" cy="2209800"/>
              </a:xfrm>
              <a:prstGeom prst="rect">
                <a:avLst/>
              </a:prstGeom>
              <a:noFill/>
              <a:ln w="76200" cap="flat">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p:cNvSpPr/>
              <p:nvPr/>
            </p:nvSpPr>
            <p:spPr>
              <a:xfrm>
                <a:off x="3733800" y="2057400"/>
                <a:ext cx="2438400" cy="2209800"/>
              </a:xfrm>
              <a:prstGeom prst="rect">
                <a:avLst/>
              </a:prstGeom>
              <a:noFill/>
              <a:ln w="76200" cap="flat">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p:cNvSpPr/>
              <p:nvPr/>
            </p:nvSpPr>
            <p:spPr>
              <a:xfrm>
                <a:off x="6400800" y="2057400"/>
                <a:ext cx="2438400" cy="2209800"/>
              </a:xfrm>
              <a:prstGeom prst="rect">
                <a:avLst/>
              </a:prstGeom>
              <a:noFill/>
              <a:ln w="76200" cap="flat">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4" name="TextBox 123"/>
            <p:cNvSpPr txBox="1"/>
            <p:nvPr/>
          </p:nvSpPr>
          <p:spPr>
            <a:xfrm>
              <a:off x="1752600" y="5257800"/>
              <a:ext cx="6019597" cy="461665"/>
            </a:xfrm>
            <a:prstGeom prst="rect">
              <a:avLst/>
            </a:prstGeom>
            <a:noFill/>
          </p:spPr>
          <p:txBody>
            <a:bodyPr wrap="none" rtlCol="0">
              <a:spAutoFit/>
            </a:bodyPr>
            <a:lstStyle/>
            <a:p>
              <a:r>
                <a:rPr lang="en-US" sz="2400" b="1" dirty="0" smtClean="0">
                  <a:latin typeface="Garamond" pitchFamily="18" charset="0"/>
                </a:rPr>
                <a:t>3 Map tasks concurrently process input data </a:t>
              </a:r>
              <a:endParaRPr lang="en-US" sz="2400" b="1" dirty="0">
                <a:latin typeface="Garamond" pitchFamily="18" charset="0"/>
              </a:endParaRPr>
            </a:p>
          </p:txBody>
        </p:sp>
        <p:cxnSp>
          <p:nvCxnSpPr>
            <p:cNvPr id="128" name="Straight Arrow Connector 127"/>
            <p:cNvCxnSpPr>
              <a:stCxn id="86" idx="2"/>
              <a:endCxn id="124" idx="0"/>
            </p:cNvCxnSpPr>
            <p:nvPr/>
          </p:nvCxnSpPr>
          <p:spPr>
            <a:xfrm rot="16200000" flipH="1">
              <a:off x="3028899" y="3524300"/>
              <a:ext cx="990600" cy="2476399"/>
            </a:xfrm>
            <a:prstGeom prst="straightConnector1">
              <a:avLst/>
            </a:prstGeom>
            <a:ln w="50800">
              <a:tailEnd type="arrow"/>
            </a:ln>
          </p:spPr>
          <p:style>
            <a:lnRef idx="1">
              <a:schemeClr val="accent1"/>
            </a:lnRef>
            <a:fillRef idx="0">
              <a:schemeClr val="accent1"/>
            </a:fillRef>
            <a:effectRef idx="0">
              <a:schemeClr val="accent1"/>
            </a:effectRef>
            <a:fontRef idx="minor">
              <a:schemeClr val="tx1"/>
            </a:fontRef>
          </p:style>
        </p:cxnSp>
        <p:cxnSp>
          <p:nvCxnSpPr>
            <p:cNvPr id="130" name="Straight Arrow Connector 129"/>
            <p:cNvCxnSpPr>
              <a:stCxn id="90" idx="2"/>
              <a:endCxn id="124" idx="0"/>
            </p:cNvCxnSpPr>
            <p:nvPr/>
          </p:nvCxnSpPr>
          <p:spPr>
            <a:xfrm rot="5400000">
              <a:off x="4362400" y="4667200"/>
              <a:ext cx="990600" cy="190601"/>
            </a:xfrm>
            <a:prstGeom prst="straightConnector1">
              <a:avLst/>
            </a:prstGeom>
            <a:ln w="50800">
              <a:tailEnd type="arrow"/>
            </a:ln>
          </p:spPr>
          <p:style>
            <a:lnRef idx="1">
              <a:schemeClr val="accent1"/>
            </a:lnRef>
            <a:fillRef idx="0">
              <a:schemeClr val="accent1"/>
            </a:fillRef>
            <a:effectRef idx="0">
              <a:schemeClr val="accent1"/>
            </a:effectRef>
            <a:fontRef idx="minor">
              <a:schemeClr val="tx1"/>
            </a:fontRef>
          </p:style>
        </p:cxnSp>
        <p:cxnSp>
          <p:nvCxnSpPr>
            <p:cNvPr id="132" name="Straight Arrow Connector 131"/>
            <p:cNvCxnSpPr>
              <a:stCxn id="92" idx="2"/>
              <a:endCxn id="124" idx="0"/>
            </p:cNvCxnSpPr>
            <p:nvPr/>
          </p:nvCxnSpPr>
          <p:spPr>
            <a:xfrm rot="5400000">
              <a:off x="5695900" y="3333700"/>
              <a:ext cx="990600" cy="2857601"/>
            </a:xfrm>
            <a:prstGeom prst="straightConnector1">
              <a:avLst/>
            </a:prstGeom>
            <a:ln w="50800">
              <a:tailEnd type="arrow"/>
            </a:ln>
          </p:spPr>
          <p:style>
            <a:lnRef idx="1">
              <a:schemeClr val="accent1"/>
            </a:lnRef>
            <a:fillRef idx="0">
              <a:schemeClr val="accent1"/>
            </a:fillRef>
            <a:effectRef idx="0">
              <a:schemeClr val="accent1"/>
            </a:effectRef>
            <a:fontRef idx="minor">
              <a:schemeClr val="tx1"/>
            </a:fontRef>
          </p:style>
        </p:cxnSp>
      </p:grpSp>
      <p:grpSp>
        <p:nvGrpSpPr>
          <p:cNvPr id="53" name="Group 139"/>
          <p:cNvGrpSpPr/>
          <p:nvPr/>
        </p:nvGrpSpPr>
        <p:grpSpPr>
          <a:xfrm>
            <a:off x="2286000" y="5715000"/>
            <a:ext cx="3502661" cy="1066800"/>
            <a:chOff x="1600200" y="5562600"/>
            <a:chExt cx="3502661" cy="1066800"/>
          </a:xfrm>
        </p:grpSpPr>
        <p:sp>
          <p:nvSpPr>
            <p:cNvPr id="136" name="Rectangle 135"/>
            <p:cNvSpPr/>
            <p:nvPr/>
          </p:nvSpPr>
          <p:spPr>
            <a:xfrm>
              <a:off x="1600200" y="5638800"/>
              <a:ext cx="381000" cy="338667"/>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p:cNvSpPr/>
            <p:nvPr/>
          </p:nvSpPr>
          <p:spPr>
            <a:xfrm>
              <a:off x="1600200" y="6248400"/>
              <a:ext cx="381000" cy="3386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TextBox 137"/>
            <p:cNvSpPr txBox="1"/>
            <p:nvPr/>
          </p:nvSpPr>
          <p:spPr>
            <a:xfrm>
              <a:off x="2286000" y="5562600"/>
              <a:ext cx="2816861" cy="461665"/>
            </a:xfrm>
            <a:prstGeom prst="rect">
              <a:avLst/>
            </a:prstGeom>
            <a:noFill/>
          </p:spPr>
          <p:txBody>
            <a:bodyPr wrap="none" rtlCol="0">
              <a:spAutoFit/>
            </a:bodyPr>
            <a:lstStyle/>
            <a:p>
              <a:r>
                <a:rPr lang="en-US" sz="2400" b="1" dirty="0" smtClean="0">
                  <a:latin typeface="Garamond" pitchFamily="18" charset="0"/>
                </a:rPr>
                <a:t>Records of “org-1” </a:t>
              </a:r>
              <a:endParaRPr lang="en-US" sz="2400" b="1" dirty="0">
                <a:latin typeface="Garamond" pitchFamily="18" charset="0"/>
              </a:endParaRPr>
            </a:p>
          </p:txBody>
        </p:sp>
        <p:sp>
          <p:nvSpPr>
            <p:cNvPr id="139" name="TextBox 138"/>
            <p:cNvSpPr txBox="1"/>
            <p:nvPr/>
          </p:nvSpPr>
          <p:spPr>
            <a:xfrm>
              <a:off x="2286000" y="6167735"/>
              <a:ext cx="2762359" cy="461665"/>
            </a:xfrm>
            <a:prstGeom prst="rect">
              <a:avLst/>
            </a:prstGeom>
            <a:noFill/>
          </p:spPr>
          <p:txBody>
            <a:bodyPr wrap="none" rtlCol="0">
              <a:spAutoFit/>
            </a:bodyPr>
            <a:lstStyle/>
            <a:p>
              <a:r>
                <a:rPr lang="en-US" sz="2400" b="1" dirty="0" smtClean="0">
                  <a:latin typeface="Garamond" pitchFamily="18" charset="0"/>
                </a:rPr>
                <a:t>Records of “org-2”</a:t>
              </a:r>
              <a:endParaRPr lang="en-US" sz="2400" b="1" dirty="0">
                <a:latin typeface="Garamond" pitchFamily="18" charset="0"/>
              </a:endParaRPr>
            </a:p>
          </p:txBody>
        </p:sp>
      </p:grpSp>
    </p:spTree>
    <p:extLst>
      <p:ext uri="{BB962C8B-B14F-4D97-AF65-F5344CB8AC3E}">
        <p14:creationId xmlns:p14="http://schemas.microsoft.com/office/powerpoint/2010/main" val="3270829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50"/>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5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 name="Group 85"/>
          <p:cNvGrpSpPr/>
          <p:nvPr/>
        </p:nvGrpSpPr>
        <p:grpSpPr>
          <a:xfrm>
            <a:off x="76200" y="2133600"/>
            <a:ext cx="8839200" cy="609600"/>
            <a:chOff x="76200" y="2133600"/>
            <a:chExt cx="8839200" cy="609600"/>
          </a:xfrm>
        </p:grpSpPr>
        <p:sp>
          <p:nvSpPr>
            <p:cNvPr id="5" name="Rectangle 4"/>
            <p:cNvSpPr/>
            <p:nvPr/>
          </p:nvSpPr>
          <p:spPr>
            <a:xfrm>
              <a:off x="1066800" y="2133600"/>
              <a:ext cx="7848600" cy="60960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219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7526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2362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29718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3886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44196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029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56388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6553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70866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7696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83058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p:cNvSpPr txBox="1"/>
            <p:nvPr/>
          </p:nvSpPr>
          <p:spPr>
            <a:xfrm>
              <a:off x="76200" y="2209800"/>
              <a:ext cx="855491" cy="461665"/>
            </a:xfrm>
            <a:prstGeom prst="rect">
              <a:avLst/>
            </a:prstGeom>
            <a:noFill/>
          </p:spPr>
          <p:txBody>
            <a:bodyPr wrap="none" rtlCol="0">
              <a:spAutoFit/>
            </a:bodyPr>
            <a:lstStyle/>
            <a:p>
              <a:r>
                <a:rPr lang="en-US" sz="2400" b="1" dirty="0" smtClean="0"/>
                <a:t>HDFS</a:t>
              </a:r>
              <a:endParaRPr lang="en-US" sz="2400" b="1" dirty="0"/>
            </a:p>
          </p:txBody>
        </p:sp>
      </p:grpSp>
      <p:sp>
        <p:nvSpPr>
          <p:cNvPr id="2" name="Title 1"/>
          <p:cNvSpPr>
            <a:spLocks noGrp="1"/>
          </p:cNvSpPr>
          <p:nvPr>
            <p:ph type="title"/>
          </p:nvPr>
        </p:nvSpPr>
        <p:spPr>
          <a:xfrm>
            <a:off x="228600" y="274638"/>
            <a:ext cx="8686800" cy="675621"/>
          </a:xfrm>
        </p:spPr>
        <p:txBody>
          <a:bodyPr>
            <a:normAutofit/>
          </a:bodyPr>
          <a:lstStyle/>
          <a:p>
            <a:pPr algn="ctr"/>
            <a:r>
              <a:rPr lang="en-US" sz="3200" dirty="0" err="1"/>
              <a:t>MapReduce</a:t>
            </a:r>
            <a:r>
              <a:rPr lang="en-US" sz="3200" dirty="0"/>
              <a:t> Operations on Hadoop</a:t>
            </a:r>
          </a:p>
        </p:txBody>
      </p:sp>
      <p:sp>
        <p:nvSpPr>
          <p:cNvPr id="3" name="Content Placeholder 2"/>
          <p:cNvSpPr>
            <a:spLocks noGrp="1"/>
          </p:cNvSpPr>
          <p:nvPr>
            <p:ph idx="1"/>
          </p:nvPr>
        </p:nvSpPr>
        <p:spPr>
          <a:xfrm>
            <a:off x="0" y="950259"/>
            <a:ext cx="9144000" cy="4993341"/>
          </a:xfrm>
        </p:spPr>
        <p:txBody>
          <a:bodyPr>
            <a:normAutofit/>
          </a:bodyPr>
          <a:lstStyle/>
          <a:p>
            <a:r>
              <a:rPr lang="en-US" sz="2800" dirty="0" smtClean="0"/>
              <a:t>Calculate the average salary of every department</a:t>
            </a:r>
            <a:endParaRPr lang="en-US" sz="2800" dirty="0"/>
          </a:p>
        </p:txBody>
      </p:sp>
      <p:grpSp>
        <p:nvGrpSpPr>
          <p:cNvPr id="18" name="Group 17"/>
          <p:cNvGrpSpPr/>
          <p:nvPr/>
        </p:nvGrpSpPr>
        <p:grpSpPr>
          <a:xfrm>
            <a:off x="1219200" y="3035300"/>
            <a:ext cx="7429500" cy="317500"/>
            <a:chOff x="1219200" y="2459567"/>
            <a:chExt cx="7429500" cy="317500"/>
          </a:xfrm>
        </p:grpSpPr>
        <p:sp>
          <p:nvSpPr>
            <p:cNvPr id="19" name="Rectangle 18"/>
            <p:cNvSpPr/>
            <p:nvPr/>
          </p:nvSpPr>
          <p:spPr>
            <a:xfrm>
              <a:off x="1219200" y="2459567"/>
              <a:ext cx="2095500" cy="3175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tx1"/>
                  </a:solidFill>
                </a:rPr>
                <a:t>Map</a:t>
              </a:r>
              <a:endParaRPr lang="en-US" sz="2400" b="1" dirty="0">
                <a:solidFill>
                  <a:schemeClr val="tx1"/>
                </a:solidFill>
              </a:endParaRPr>
            </a:p>
          </p:txBody>
        </p:sp>
        <p:sp>
          <p:nvSpPr>
            <p:cNvPr id="20" name="Rectangle 19"/>
            <p:cNvSpPr/>
            <p:nvPr/>
          </p:nvSpPr>
          <p:spPr>
            <a:xfrm>
              <a:off x="3886200" y="2459567"/>
              <a:ext cx="2095500" cy="3175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tx1"/>
                  </a:solidFill>
                </a:rPr>
                <a:t>Map</a:t>
              </a:r>
              <a:endParaRPr lang="en-US" sz="2400" b="1" dirty="0">
                <a:solidFill>
                  <a:schemeClr val="tx1"/>
                </a:solidFill>
              </a:endParaRPr>
            </a:p>
          </p:txBody>
        </p:sp>
        <p:sp>
          <p:nvSpPr>
            <p:cNvPr id="21" name="Rectangle 20"/>
            <p:cNvSpPr/>
            <p:nvPr/>
          </p:nvSpPr>
          <p:spPr>
            <a:xfrm>
              <a:off x="6553200" y="2459567"/>
              <a:ext cx="2095500" cy="3175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tx1"/>
                  </a:solidFill>
                </a:rPr>
                <a:t>Map</a:t>
              </a:r>
              <a:endParaRPr lang="en-US" sz="2400" b="1" dirty="0">
                <a:solidFill>
                  <a:schemeClr val="tx1"/>
                </a:solidFill>
              </a:endParaRPr>
            </a:p>
          </p:txBody>
        </p:sp>
      </p:grpSp>
      <p:grpSp>
        <p:nvGrpSpPr>
          <p:cNvPr id="22" name="Group 21"/>
          <p:cNvGrpSpPr/>
          <p:nvPr/>
        </p:nvGrpSpPr>
        <p:grpSpPr>
          <a:xfrm>
            <a:off x="1676400" y="3657600"/>
            <a:ext cx="6477000" cy="338667"/>
            <a:chOff x="1676400" y="3276600"/>
            <a:chExt cx="6477000" cy="338667"/>
          </a:xfrm>
        </p:grpSpPr>
        <p:sp>
          <p:nvSpPr>
            <p:cNvPr id="23" name="Rectangle 22"/>
            <p:cNvSpPr/>
            <p:nvPr/>
          </p:nvSpPr>
          <p:spPr>
            <a:xfrm>
              <a:off x="1676400" y="3276600"/>
              <a:ext cx="381000" cy="338667"/>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2362200" y="3276600"/>
              <a:ext cx="381000" cy="3386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4419600" y="3276600"/>
              <a:ext cx="381000" cy="338667"/>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5105400" y="3276600"/>
              <a:ext cx="381000" cy="3386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7086600" y="3276600"/>
              <a:ext cx="381000" cy="338667"/>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7772400" y="3276600"/>
              <a:ext cx="381000" cy="3386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p:cNvGrpSpPr/>
          <p:nvPr/>
        </p:nvGrpSpPr>
        <p:grpSpPr>
          <a:xfrm>
            <a:off x="1295400" y="2717800"/>
            <a:ext cx="7340600" cy="330200"/>
            <a:chOff x="1295400" y="2065867"/>
            <a:chExt cx="7340600" cy="330200"/>
          </a:xfrm>
        </p:grpSpPr>
        <p:sp>
          <p:nvSpPr>
            <p:cNvPr id="30" name="Down Arrow 29"/>
            <p:cNvSpPr/>
            <p:nvPr/>
          </p:nvSpPr>
          <p:spPr>
            <a:xfrm>
              <a:off x="1295400" y="20658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Down Arrow 30"/>
            <p:cNvSpPr/>
            <p:nvPr/>
          </p:nvSpPr>
          <p:spPr>
            <a:xfrm>
              <a:off x="1828800" y="20658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Down Arrow 31"/>
            <p:cNvSpPr/>
            <p:nvPr/>
          </p:nvSpPr>
          <p:spPr>
            <a:xfrm>
              <a:off x="2413000" y="20785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Down Arrow 32"/>
            <p:cNvSpPr/>
            <p:nvPr/>
          </p:nvSpPr>
          <p:spPr>
            <a:xfrm>
              <a:off x="3048000" y="20785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Down Arrow 33"/>
            <p:cNvSpPr/>
            <p:nvPr/>
          </p:nvSpPr>
          <p:spPr>
            <a:xfrm>
              <a:off x="3962400" y="20658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Down Arrow 34"/>
            <p:cNvSpPr/>
            <p:nvPr/>
          </p:nvSpPr>
          <p:spPr>
            <a:xfrm>
              <a:off x="4495800" y="20658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Down Arrow 35"/>
            <p:cNvSpPr/>
            <p:nvPr/>
          </p:nvSpPr>
          <p:spPr>
            <a:xfrm>
              <a:off x="5080000" y="20785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Down Arrow 36"/>
            <p:cNvSpPr/>
            <p:nvPr/>
          </p:nvSpPr>
          <p:spPr>
            <a:xfrm>
              <a:off x="5715000" y="20785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Down Arrow 37"/>
            <p:cNvSpPr/>
            <p:nvPr/>
          </p:nvSpPr>
          <p:spPr>
            <a:xfrm>
              <a:off x="6629400" y="20658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Down Arrow 38"/>
            <p:cNvSpPr/>
            <p:nvPr/>
          </p:nvSpPr>
          <p:spPr>
            <a:xfrm>
              <a:off x="7162800" y="20658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Down Arrow 39"/>
            <p:cNvSpPr/>
            <p:nvPr/>
          </p:nvSpPr>
          <p:spPr>
            <a:xfrm>
              <a:off x="7747000" y="20785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Down Arrow 40"/>
            <p:cNvSpPr/>
            <p:nvPr/>
          </p:nvSpPr>
          <p:spPr>
            <a:xfrm>
              <a:off x="8382000" y="20785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p:cNvGrpSpPr/>
          <p:nvPr/>
        </p:nvGrpSpPr>
        <p:grpSpPr>
          <a:xfrm>
            <a:off x="1752600" y="3340100"/>
            <a:ext cx="6350000" cy="317500"/>
            <a:chOff x="1752600" y="2853267"/>
            <a:chExt cx="6350000" cy="317500"/>
          </a:xfrm>
        </p:grpSpPr>
        <p:sp>
          <p:nvSpPr>
            <p:cNvPr id="43" name="Down Arrow 42"/>
            <p:cNvSpPr/>
            <p:nvPr/>
          </p:nvSpPr>
          <p:spPr>
            <a:xfrm>
              <a:off x="1752600" y="28532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Down Arrow 43"/>
            <p:cNvSpPr/>
            <p:nvPr/>
          </p:nvSpPr>
          <p:spPr>
            <a:xfrm>
              <a:off x="2438400" y="28532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Down Arrow 44"/>
            <p:cNvSpPr/>
            <p:nvPr/>
          </p:nvSpPr>
          <p:spPr>
            <a:xfrm>
              <a:off x="4495800" y="28532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Down Arrow 45"/>
            <p:cNvSpPr/>
            <p:nvPr/>
          </p:nvSpPr>
          <p:spPr>
            <a:xfrm>
              <a:off x="5181600" y="28532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Down Arrow 46"/>
            <p:cNvSpPr/>
            <p:nvPr/>
          </p:nvSpPr>
          <p:spPr>
            <a:xfrm>
              <a:off x="7162800" y="28532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Down Arrow 47"/>
            <p:cNvSpPr/>
            <p:nvPr/>
          </p:nvSpPr>
          <p:spPr>
            <a:xfrm>
              <a:off x="7848600" y="28532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9" name="Group 48"/>
          <p:cNvGrpSpPr/>
          <p:nvPr/>
        </p:nvGrpSpPr>
        <p:grpSpPr>
          <a:xfrm>
            <a:off x="2590800" y="4648200"/>
            <a:ext cx="4419600" cy="338667"/>
            <a:chOff x="2667000" y="4572000"/>
            <a:chExt cx="4419600" cy="338667"/>
          </a:xfrm>
        </p:grpSpPr>
        <p:sp>
          <p:nvSpPr>
            <p:cNvPr id="50" name="Rectangle 49"/>
            <p:cNvSpPr/>
            <p:nvPr/>
          </p:nvSpPr>
          <p:spPr>
            <a:xfrm>
              <a:off x="2667000" y="4572000"/>
              <a:ext cx="381000" cy="338667"/>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p:cNvSpPr/>
            <p:nvPr/>
          </p:nvSpPr>
          <p:spPr>
            <a:xfrm>
              <a:off x="3352800" y="4572000"/>
              <a:ext cx="381000" cy="338667"/>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p:cNvSpPr/>
            <p:nvPr/>
          </p:nvSpPr>
          <p:spPr>
            <a:xfrm>
              <a:off x="4038600" y="4572000"/>
              <a:ext cx="381000" cy="338667"/>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p:cNvSpPr/>
            <p:nvPr/>
          </p:nvSpPr>
          <p:spPr>
            <a:xfrm>
              <a:off x="5334000" y="4572000"/>
              <a:ext cx="381000" cy="3386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p:cNvSpPr/>
            <p:nvPr/>
          </p:nvSpPr>
          <p:spPr>
            <a:xfrm>
              <a:off x="6019800" y="4572000"/>
              <a:ext cx="381000" cy="3386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p:cNvSpPr/>
            <p:nvPr/>
          </p:nvSpPr>
          <p:spPr>
            <a:xfrm>
              <a:off x="6705600" y="4572000"/>
              <a:ext cx="381000" cy="3386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6" name="Group 70"/>
          <p:cNvGrpSpPr/>
          <p:nvPr/>
        </p:nvGrpSpPr>
        <p:grpSpPr>
          <a:xfrm>
            <a:off x="1866901" y="3996266"/>
            <a:ext cx="6096000" cy="651934"/>
            <a:chOff x="1866901" y="3386624"/>
            <a:chExt cx="6096000" cy="651952"/>
          </a:xfrm>
        </p:grpSpPr>
        <p:cxnSp>
          <p:nvCxnSpPr>
            <p:cNvPr id="72" name="Straight Arrow Connector 71"/>
            <p:cNvCxnSpPr>
              <a:stCxn id="23" idx="2"/>
              <a:endCxn id="50" idx="0"/>
            </p:cNvCxnSpPr>
            <p:nvPr/>
          </p:nvCxnSpPr>
          <p:spPr>
            <a:xfrm rot="16200000" flipH="1">
              <a:off x="1998125" y="3255401"/>
              <a:ext cx="651951" cy="914400"/>
            </a:xfrm>
            <a:prstGeom prst="straightConnector1">
              <a:avLst/>
            </a:prstGeom>
            <a:ln w="635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a:stCxn id="24" idx="2"/>
              <a:endCxn id="53" idx="0"/>
            </p:cNvCxnSpPr>
            <p:nvPr/>
          </p:nvCxnSpPr>
          <p:spPr>
            <a:xfrm rot="16200000" flipH="1">
              <a:off x="3674525" y="2264800"/>
              <a:ext cx="651951" cy="2895600"/>
            </a:xfrm>
            <a:prstGeom prst="straightConnector1">
              <a:avLst/>
            </a:prstGeom>
            <a:ln w="635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a:stCxn id="25" idx="2"/>
              <a:endCxn id="51" idx="0"/>
            </p:cNvCxnSpPr>
            <p:nvPr/>
          </p:nvCxnSpPr>
          <p:spPr>
            <a:xfrm rot="5400000">
              <a:off x="3712625" y="3141100"/>
              <a:ext cx="651951" cy="1143000"/>
            </a:xfrm>
            <a:prstGeom prst="straightConnector1">
              <a:avLst/>
            </a:prstGeom>
            <a:ln w="635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stCxn id="26" idx="2"/>
              <a:endCxn id="54" idx="0"/>
            </p:cNvCxnSpPr>
            <p:nvPr/>
          </p:nvCxnSpPr>
          <p:spPr>
            <a:xfrm rot="16200000" flipH="1">
              <a:off x="5389025" y="3293500"/>
              <a:ext cx="651951" cy="838200"/>
            </a:xfrm>
            <a:prstGeom prst="straightConnector1">
              <a:avLst/>
            </a:prstGeom>
            <a:ln w="635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a:stCxn id="27" idx="2"/>
              <a:endCxn id="52" idx="0"/>
            </p:cNvCxnSpPr>
            <p:nvPr/>
          </p:nvCxnSpPr>
          <p:spPr>
            <a:xfrm rot="5400000">
              <a:off x="5389025" y="2150500"/>
              <a:ext cx="651951" cy="3124200"/>
            </a:xfrm>
            <a:prstGeom prst="straightConnector1">
              <a:avLst/>
            </a:prstGeom>
            <a:ln w="635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a:stCxn id="28" idx="2"/>
              <a:endCxn id="55" idx="0"/>
            </p:cNvCxnSpPr>
            <p:nvPr/>
          </p:nvCxnSpPr>
          <p:spPr>
            <a:xfrm rot="5400000">
              <a:off x="7065425" y="3141100"/>
              <a:ext cx="651951" cy="1143000"/>
            </a:xfrm>
            <a:prstGeom prst="straightConnector1">
              <a:avLst/>
            </a:prstGeom>
            <a:ln w="635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57" name="Group 85"/>
          <p:cNvGrpSpPr/>
          <p:nvPr/>
        </p:nvGrpSpPr>
        <p:grpSpPr>
          <a:xfrm>
            <a:off x="762000" y="1600200"/>
            <a:ext cx="7848600" cy="461665"/>
            <a:chOff x="990600" y="4648200"/>
            <a:chExt cx="7848600" cy="461665"/>
          </a:xfrm>
        </p:grpSpPr>
        <p:sp>
          <p:nvSpPr>
            <p:cNvPr id="87" name="TextBox 86"/>
            <p:cNvSpPr txBox="1"/>
            <p:nvPr/>
          </p:nvSpPr>
          <p:spPr>
            <a:xfrm>
              <a:off x="990600" y="4648200"/>
              <a:ext cx="3505200" cy="461665"/>
            </a:xfrm>
            <a:prstGeom prst="rect">
              <a:avLst/>
            </a:prstGeom>
            <a:noFill/>
          </p:spPr>
          <p:txBody>
            <a:bodyPr wrap="square" rtlCol="0">
              <a:spAutoFit/>
            </a:bodyPr>
            <a:lstStyle/>
            <a:p>
              <a:r>
                <a:rPr lang="en-US" sz="2400" b="1" dirty="0" smtClean="0"/>
                <a:t>{</a:t>
              </a:r>
              <a:r>
                <a:rPr lang="en-US" sz="2400" b="1" dirty="0" smtClean="0">
                  <a:solidFill>
                    <a:srgbClr val="FF0000"/>
                  </a:solidFill>
                </a:rPr>
                <a:t>name</a:t>
              </a:r>
              <a:r>
                <a:rPr lang="en-US" sz="2400" b="1" dirty="0" smtClean="0"/>
                <a:t>:  (org., salary)} </a:t>
              </a:r>
              <a:endParaRPr lang="en-US" sz="2400" b="1" dirty="0"/>
            </a:p>
          </p:txBody>
        </p:sp>
        <p:sp>
          <p:nvSpPr>
            <p:cNvPr id="88" name="Right Arrow 87"/>
            <p:cNvSpPr/>
            <p:nvPr/>
          </p:nvSpPr>
          <p:spPr>
            <a:xfrm>
              <a:off x="4343400" y="4724400"/>
              <a:ext cx="7620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p:cNvSpPr txBox="1"/>
            <p:nvPr/>
          </p:nvSpPr>
          <p:spPr>
            <a:xfrm>
              <a:off x="5334000" y="4648200"/>
              <a:ext cx="3505200" cy="461665"/>
            </a:xfrm>
            <a:prstGeom prst="rect">
              <a:avLst/>
            </a:prstGeom>
            <a:noFill/>
          </p:spPr>
          <p:txBody>
            <a:bodyPr wrap="square" rtlCol="0">
              <a:spAutoFit/>
            </a:bodyPr>
            <a:lstStyle/>
            <a:p>
              <a:r>
                <a:rPr lang="en-US" sz="2400" b="1" dirty="0" smtClean="0"/>
                <a:t>{</a:t>
              </a:r>
              <a:r>
                <a:rPr lang="en-US" sz="2400" b="1" dirty="0" smtClean="0">
                  <a:solidFill>
                    <a:srgbClr val="FF0000"/>
                  </a:solidFill>
                </a:rPr>
                <a:t>org.</a:t>
              </a:r>
              <a:r>
                <a:rPr lang="en-US" sz="2400" b="1" dirty="0" smtClean="0"/>
                <a:t>:  avg. salary} </a:t>
              </a:r>
              <a:endParaRPr lang="en-US" sz="2400" b="1" dirty="0"/>
            </a:p>
          </p:txBody>
        </p:sp>
      </p:grpSp>
      <p:sp>
        <p:nvSpPr>
          <p:cNvPr id="91" name="Slide Number Placeholder 3"/>
          <p:cNvSpPr>
            <a:spLocks noGrp="1"/>
          </p:cNvSpPr>
          <p:nvPr>
            <p:ph type="sldNum" sz="quarter" idx="4294967295"/>
          </p:nvPr>
        </p:nvSpPr>
        <p:spPr>
          <a:xfrm>
            <a:off x="6553200" y="6416675"/>
            <a:ext cx="2133600" cy="365125"/>
          </a:xfrm>
          <a:prstGeom prst="rect">
            <a:avLst/>
          </a:prstGeom>
        </p:spPr>
        <p:txBody>
          <a:bodyPr/>
          <a:lstStyle/>
          <a:p>
            <a:fld id="{B6F15528-21DE-4FAA-801E-634DDDAF4B2B}" type="slidenum">
              <a:rPr lang="en-US" smtClean="0"/>
              <a:pPr/>
              <a:t>27</a:t>
            </a:fld>
            <a:endParaRPr lang="en-US" dirty="0"/>
          </a:p>
        </p:txBody>
      </p:sp>
      <p:sp>
        <p:nvSpPr>
          <p:cNvPr id="86" name="TextBox 85"/>
          <p:cNvSpPr txBox="1"/>
          <p:nvPr/>
        </p:nvSpPr>
        <p:spPr>
          <a:xfrm>
            <a:off x="1524000" y="5105400"/>
            <a:ext cx="6445034" cy="461665"/>
          </a:xfrm>
          <a:prstGeom prst="rect">
            <a:avLst/>
          </a:prstGeom>
          <a:noFill/>
        </p:spPr>
        <p:txBody>
          <a:bodyPr wrap="none" rtlCol="0">
            <a:spAutoFit/>
          </a:bodyPr>
          <a:lstStyle/>
          <a:p>
            <a:r>
              <a:rPr lang="en-US" sz="2400" b="1" dirty="0" smtClean="0">
                <a:latin typeface="Garamond" pitchFamily="18" charset="0"/>
              </a:rPr>
              <a:t>Shuffle the data using org. as Partition Key (PK)</a:t>
            </a:r>
            <a:endParaRPr lang="en-US" sz="2400" b="1" dirty="0">
              <a:latin typeface="Garamond" pitchFamily="18" charset="0"/>
            </a:endParaRPr>
          </a:p>
        </p:txBody>
      </p:sp>
      <p:grpSp>
        <p:nvGrpSpPr>
          <p:cNvPr id="58" name="Group 139"/>
          <p:cNvGrpSpPr/>
          <p:nvPr/>
        </p:nvGrpSpPr>
        <p:grpSpPr>
          <a:xfrm>
            <a:off x="2286000" y="5715000"/>
            <a:ext cx="3525103" cy="1066800"/>
            <a:chOff x="1600200" y="5562600"/>
            <a:chExt cx="3525103" cy="1066800"/>
          </a:xfrm>
        </p:grpSpPr>
        <p:sp>
          <p:nvSpPr>
            <p:cNvPr id="83" name="Rectangle 82"/>
            <p:cNvSpPr/>
            <p:nvPr/>
          </p:nvSpPr>
          <p:spPr>
            <a:xfrm>
              <a:off x="1600200" y="5638800"/>
              <a:ext cx="381000" cy="338667"/>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p:cNvSpPr/>
            <p:nvPr/>
          </p:nvSpPr>
          <p:spPr>
            <a:xfrm>
              <a:off x="1600200" y="6248400"/>
              <a:ext cx="381000" cy="3386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TextBox 84"/>
            <p:cNvSpPr txBox="1"/>
            <p:nvPr/>
          </p:nvSpPr>
          <p:spPr>
            <a:xfrm>
              <a:off x="2286000" y="5562600"/>
              <a:ext cx="2816861" cy="461665"/>
            </a:xfrm>
            <a:prstGeom prst="rect">
              <a:avLst/>
            </a:prstGeom>
            <a:noFill/>
          </p:spPr>
          <p:txBody>
            <a:bodyPr wrap="none" rtlCol="0">
              <a:spAutoFit/>
            </a:bodyPr>
            <a:lstStyle/>
            <a:p>
              <a:r>
                <a:rPr lang="en-US" sz="2400" b="1" dirty="0" smtClean="0">
                  <a:latin typeface="Garamond" pitchFamily="18" charset="0"/>
                </a:rPr>
                <a:t>Records of “org-1”  </a:t>
              </a:r>
              <a:endParaRPr lang="en-US" sz="2400" b="1" dirty="0">
                <a:latin typeface="Garamond" pitchFamily="18" charset="0"/>
              </a:endParaRPr>
            </a:p>
          </p:txBody>
        </p:sp>
        <p:sp>
          <p:nvSpPr>
            <p:cNvPr id="90" name="TextBox 89"/>
            <p:cNvSpPr txBox="1"/>
            <p:nvPr/>
          </p:nvSpPr>
          <p:spPr>
            <a:xfrm>
              <a:off x="2286000" y="6167735"/>
              <a:ext cx="2839303" cy="461665"/>
            </a:xfrm>
            <a:prstGeom prst="rect">
              <a:avLst/>
            </a:prstGeom>
            <a:noFill/>
          </p:spPr>
          <p:txBody>
            <a:bodyPr wrap="none" rtlCol="0">
              <a:spAutoFit/>
            </a:bodyPr>
            <a:lstStyle/>
            <a:p>
              <a:r>
                <a:rPr lang="en-US" sz="2400" b="1" dirty="0" smtClean="0">
                  <a:latin typeface="Garamond" pitchFamily="18" charset="0"/>
                </a:rPr>
                <a:t>Records of “org-2”  </a:t>
              </a:r>
              <a:endParaRPr lang="en-US" sz="2400" b="1" dirty="0">
                <a:latin typeface="Garamond" pitchFamily="18" charset="0"/>
              </a:endParaRPr>
            </a:p>
          </p:txBody>
        </p:sp>
      </p:grpSp>
    </p:spTree>
    <p:extLst>
      <p:ext uri="{BB962C8B-B14F-4D97-AF65-F5344CB8AC3E}">
        <p14:creationId xmlns:p14="http://schemas.microsoft.com/office/powerpoint/2010/main" val="98630959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 name="Group 85"/>
          <p:cNvGrpSpPr/>
          <p:nvPr/>
        </p:nvGrpSpPr>
        <p:grpSpPr>
          <a:xfrm>
            <a:off x="76200" y="2133600"/>
            <a:ext cx="8839200" cy="609600"/>
            <a:chOff x="76200" y="2133600"/>
            <a:chExt cx="8839200" cy="609600"/>
          </a:xfrm>
        </p:grpSpPr>
        <p:sp>
          <p:nvSpPr>
            <p:cNvPr id="5" name="Rectangle 4"/>
            <p:cNvSpPr/>
            <p:nvPr/>
          </p:nvSpPr>
          <p:spPr>
            <a:xfrm>
              <a:off x="1066800" y="2133600"/>
              <a:ext cx="7848600" cy="60960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219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7526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2362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29718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3886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44196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029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56388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6553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70866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76962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8305800" y="2286000"/>
              <a:ext cx="381000" cy="3386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p:cNvSpPr txBox="1"/>
            <p:nvPr/>
          </p:nvSpPr>
          <p:spPr>
            <a:xfrm>
              <a:off x="76200" y="2209800"/>
              <a:ext cx="855491" cy="461665"/>
            </a:xfrm>
            <a:prstGeom prst="rect">
              <a:avLst/>
            </a:prstGeom>
            <a:noFill/>
          </p:spPr>
          <p:txBody>
            <a:bodyPr wrap="none" rtlCol="0">
              <a:spAutoFit/>
            </a:bodyPr>
            <a:lstStyle/>
            <a:p>
              <a:r>
                <a:rPr lang="en-US" sz="2400" b="1" dirty="0" smtClean="0"/>
                <a:t>HDFS</a:t>
              </a:r>
              <a:endParaRPr lang="en-US" sz="2400" b="1" dirty="0"/>
            </a:p>
          </p:txBody>
        </p:sp>
      </p:grpSp>
      <p:sp>
        <p:nvSpPr>
          <p:cNvPr id="2" name="Title 1"/>
          <p:cNvSpPr>
            <a:spLocks noGrp="1"/>
          </p:cNvSpPr>
          <p:nvPr>
            <p:ph type="title"/>
          </p:nvPr>
        </p:nvSpPr>
        <p:spPr>
          <a:xfrm>
            <a:off x="266700" y="99826"/>
            <a:ext cx="8686800" cy="868362"/>
          </a:xfrm>
        </p:spPr>
        <p:txBody>
          <a:bodyPr>
            <a:normAutofit/>
          </a:bodyPr>
          <a:lstStyle/>
          <a:p>
            <a:pPr algn="ctr"/>
            <a:r>
              <a:rPr lang="en-US" sz="3200" dirty="0" err="1"/>
              <a:t>MapReduce</a:t>
            </a:r>
            <a:r>
              <a:rPr lang="en-US" sz="3200" dirty="0"/>
              <a:t> Operations on Hadoop</a:t>
            </a:r>
          </a:p>
        </p:txBody>
      </p:sp>
      <p:sp>
        <p:nvSpPr>
          <p:cNvPr id="3" name="Content Placeholder 2"/>
          <p:cNvSpPr>
            <a:spLocks noGrp="1"/>
          </p:cNvSpPr>
          <p:nvPr>
            <p:ph idx="1"/>
          </p:nvPr>
        </p:nvSpPr>
        <p:spPr>
          <a:xfrm>
            <a:off x="76200" y="824753"/>
            <a:ext cx="9067800" cy="5118847"/>
          </a:xfrm>
        </p:spPr>
        <p:txBody>
          <a:bodyPr>
            <a:normAutofit/>
          </a:bodyPr>
          <a:lstStyle/>
          <a:p>
            <a:r>
              <a:rPr lang="en-US" sz="2800" dirty="0" smtClean="0"/>
              <a:t>Calculate the average salary of every department</a:t>
            </a:r>
            <a:endParaRPr lang="en-US" sz="2800" dirty="0"/>
          </a:p>
        </p:txBody>
      </p:sp>
      <p:grpSp>
        <p:nvGrpSpPr>
          <p:cNvPr id="18" name="Group 17"/>
          <p:cNvGrpSpPr/>
          <p:nvPr/>
        </p:nvGrpSpPr>
        <p:grpSpPr>
          <a:xfrm>
            <a:off x="1219200" y="3035300"/>
            <a:ext cx="7429500" cy="317500"/>
            <a:chOff x="1219200" y="2459567"/>
            <a:chExt cx="7429500" cy="317500"/>
          </a:xfrm>
        </p:grpSpPr>
        <p:sp>
          <p:nvSpPr>
            <p:cNvPr id="19" name="Rectangle 18"/>
            <p:cNvSpPr/>
            <p:nvPr/>
          </p:nvSpPr>
          <p:spPr>
            <a:xfrm>
              <a:off x="1219200" y="2459567"/>
              <a:ext cx="2095500" cy="3175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tx1"/>
                  </a:solidFill>
                </a:rPr>
                <a:t>Map</a:t>
              </a:r>
              <a:endParaRPr lang="en-US" sz="2400" b="1" dirty="0">
                <a:solidFill>
                  <a:schemeClr val="tx1"/>
                </a:solidFill>
              </a:endParaRPr>
            </a:p>
          </p:txBody>
        </p:sp>
        <p:sp>
          <p:nvSpPr>
            <p:cNvPr id="20" name="Rectangle 19"/>
            <p:cNvSpPr/>
            <p:nvPr/>
          </p:nvSpPr>
          <p:spPr>
            <a:xfrm>
              <a:off x="3886200" y="2459567"/>
              <a:ext cx="2095500" cy="3175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tx1"/>
                  </a:solidFill>
                </a:rPr>
                <a:t>Map</a:t>
              </a:r>
              <a:endParaRPr lang="en-US" sz="2400" b="1" dirty="0">
                <a:solidFill>
                  <a:schemeClr val="tx1"/>
                </a:solidFill>
              </a:endParaRPr>
            </a:p>
          </p:txBody>
        </p:sp>
        <p:sp>
          <p:nvSpPr>
            <p:cNvPr id="21" name="Rectangle 20"/>
            <p:cNvSpPr/>
            <p:nvPr/>
          </p:nvSpPr>
          <p:spPr>
            <a:xfrm>
              <a:off x="6553200" y="2459567"/>
              <a:ext cx="2095500" cy="3175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tx1"/>
                  </a:solidFill>
                </a:rPr>
                <a:t>Map</a:t>
              </a:r>
              <a:endParaRPr lang="en-US" sz="2400" b="1" dirty="0">
                <a:solidFill>
                  <a:schemeClr val="tx1"/>
                </a:solidFill>
              </a:endParaRPr>
            </a:p>
          </p:txBody>
        </p:sp>
      </p:grpSp>
      <p:grpSp>
        <p:nvGrpSpPr>
          <p:cNvPr id="22" name="Group 21"/>
          <p:cNvGrpSpPr/>
          <p:nvPr/>
        </p:nvGrpSpPr>
        <p:grpSpPr>
          <a:xfrm>
            <a:off x="1676400" y="3657600"/>
            <a:ext cx="6477000" cy="338667"/>
            <a:chOff x="1676400" y="3276600"/>
            <a:chExt cx="6477000" cy="338667"/>
          </a:xfrm>
        </p:grpSpPr>
        <p:sp>
          <p:nvSpPr>
            <p:cNvPr id="23" name="Rectangle 22"/>
            <p:cNvSpPr/>
            <p:nvPr/>
          </p:nvSpPr>
          <p:spPr>
            <a:xfrm>
              <a:off x="1676400" y="3276600"/>
              <a:ext cx="381000" cy="338667"/>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2362200" y="3276600"/>
              <a:ext cx="381000" cy="3386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4419600" y="3276600"/>
              <a:ext cx="381000" cy="338667"/>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5105400" y="3276600"/>
              <a:ext cx="381000" cy="3386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7086600" y="3276600"/>
              <a:ext cx="381000" cy="338667"/>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7772400" y="3276600"/>
              <a:ext cx="381000" cy="3386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p:cNvGrpSpPr/>
          <p:nvPr/>
        </p:nvGrpSpPr>
        <p:grpSpPr>
          <a:xfrm>
            <a:off x="1295400" y="2717800"/>
            <a:ext cx="7340600" cy="330200"/>
            <a:chOff x="1295400" y="2065867"/>
            <a:chExt cx="7340600" cy="330200"/>
          </a:xfrm>
        </p:grpSpPr>
        <p:sp>
          <p:nvSpPr>
            <p:cNvPr id="30" name="Down Arrow 29"/>
            <p:cNvSpPr/>
            <p:nvPr/>
          </p:nvSpPr>
          <p:spPr>
            <a:xfrm>
              <a:off x="1295400" y="20658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Down Arrow 30"/>
            <p:cNvSpPr/>
            <p:nvPr/>
          </p:nvSpPr>
          <p:spPr>
            <a:xfrm>
              <a:off x="1828800" y="20658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Down Arrow 31"/>
            <p:cNvSpPr/>
            <p:nvPr/>
          </p:nvSpPr>
          <p:spPr>
            <a:xfrm>
              <a:off x="2413000" y="20785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Down Arrow 32"/>
            <p:cNvSpPr/>
            <p:nvPr/>
          </p:nvSpPr>
          <p:spPr>
            <a:xfrm>
              <a:off x="3048000" y="20785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Down Arrow 33"/>
            <p:cNvSpPr/>
            <p:nvPr/>
          </p:nvSpPr>
          <p:spPr>
            <a:xfrm>
              <a:off x="3962400" y="20658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Down Arrow 34"/>
            <p:cNvSpPr/>
            <p:nvPr/>
          </p:nvSpPr>
          <p:spPr>
            <a:xfrm>
              <a:off x="4495800" y="20658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Down Arrow 35"/>
            <p:cNvSpPr/>
            <p:nvPr/>
          </p:nvSpPr>
          <p:spPr>
            <a:xfrm>
              <a:off x="5080000" y="20785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Down Arrow 36"/>
            <p:cNvSpPr/>
            <p:nvPr/>
          </p:nvSpPr>
          <p:spPr>
            <a:xfrm>
              <a:off x="5715000" y="20785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Down Arrow 37"/>
            <p:cNvSpPr/>
            <p:nvPr/>
          </p:nvSpPr>
          <p:spPr>
            <a:xfrm>
              <a:off x="6629400" y="20658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Down Arrow 38"/>
            <p:cNvSpPr/>
            <p:nvPr/>
          </p:nvSpPr>
          <p:spPr>
            <a:xfrm>
              <a:off x="7162800" y="20658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Down Arrow 39"/>
            <p:cNvSpPr/>
            <p:nvPr/>
          </p:nvSpPr>
          <p:spPr>
            <a:xfrm>
              <a:off x="7747000" y="20785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Down Arrow 40"/>
            <p:cNvSpPr/>
            <p:nvPr/>
          </p:nvSpPr>
          <p:spPr>
            <a:xfrm>
              <a:off x="8382000" y="20785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p:cNvGrpSpPr/>
          <p:nvPr/>
        </p:nvGrpSpPr>
        <p:grpSpPr>
          <a:xfrm>
            <a:off x="1752600" y="3340100"/>
            <a:ext cx="6350000" cy="317500"/>
            <a:chOff x="1752600" y="2853267"/>
            <a:chExt cx="6350000" cy="317500"/>
          </a:xfrm>
        </p:grpSpPr>
        <p:sp>
          <p:nvSpPr>
            <p:cNvPr id="43" name="Down Arrow 42"/>
            <p:cNvSpPr/>
            <p:nvPr/>
          </p:nvSpPr>
          <p:spPr>
            <a:xfrm>
              <a:off x="1752600" y="28532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Down Arrow 43"/>
            <p:cNvSpPr/>
            <p:nvPr/>
          </p:nvSpPr>
          <p:spPr>
            <a:xfrm>
              <a:off x="2438400" y="28532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Down Arrow 44"/>
            <p:cNvSpPr/>
            <p:nvPr/>
          </p:nvSpPr>
          <p:spPr>
            <a:xfrm>
              <a:off x="4495800" y="28532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Down Arrow 45"/>
            <p:cNvSpPr/>
            <p:nvPr/>
          </p:nvSpPr>
          <p:spPr>
            <a:xfrm>
              <a:off x="5181600" y="28532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Down Arrow 46"/>
            <p:cNvSpPr/>
            <p:nvPr/>
          </p:nvSpPr>
          <p:spPr>
            <a:xfrm>
              <a:off x="7162800" y="28532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Down Arrow 47"/>
            <p:cNvSpPr/>
            <p:nvPr/>
          </p:nvSpPr>
          <p:spPr>
            <a:xfrm>
              <a:off x="7848600" y="28532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9" name="Group 48"/>
          <p:cNvGrpSpPr/>
          <p:nvPr/>
        </p:nvGrpSpPr>
        <p:grpSpPr>
          <a:xfrm>
            <a:off x="2590800" y="4648200"/>
            <a:ext cx="4419600" cy="338667"/>
            <a:chOff x="2667000" y="4572000"/>
            <a:chExt cx="4419600" cy="338667"/>
          </a:xfrm>
        </p:grpSpPr>
        <p:sp>
          <p:nvSpPr>
            <p:cNvPr id="50" name="Rectangle 49"/>
            <p:cNvSpPr/>
            <p:nvPr/>
          </p:nvSpPr>
          <p:spPr>
            <a:xfrm>
              <a:off x="2667000" y="4572000"/>
              <a:ext cx="381000" cy="338667"/>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p:cNvSpPr/>
            <p:nvPr/>
          </p:nvSpPr>
          <p:spPr>
            <a:xfrm>
              <a:off x="3352800" y="4572000"/>
              <a:ext cx="381000" cy="338667"/>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p:cNvSpPr/>
            <p:nvPr/>
          </p:nvSpPr>
          <p:spPr>
            <a:xfrm>
              <a:off x="4038600" y="4572000"/>
              <a:ext cx="381000" cy="338667"/>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p:cNvSpPr/>
            <p:nvPr/>
          </p:nvSpPr>
          <p:spPr>
            <a:xfrm>
              <a:off x="5334000" y="4572000"/>
              <a:ext cx="381000" cy="3386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p:cNvSpPr/>
            <p:nvPr/>
          </p:nvSpPr>
          <p:spPr>
            <a:xfrm>
              <a:off x="6019800" y="4572000"/>
              <a:ext cx="381000" cy="3386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p:cNvSpPr/>
            <p:nvPr/>
          </p:nvSpPr>
          <p:spPr>
            <a:xfrm>
              <a:off x="6705600" y="4572000"/>
              <a:ext cx="381000" cy="3386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6" name="Group 55"/>
          <p:cNvGrpSpPr/>
          <p:nvPr/>
        </p:nvGrpSpPr>
        <p:grpSpPr>
          <a:xfrm>
            <a:off x="2438400" y="5278967"/>
            <a:ext cx="4762500" cy="317500"/>
            <a:chOff x="2514600" y="5355167"/>
            <a:chExt cx="4762500" cy="317500"/>
          </a:xfrm>
        </p:grpSpPr>
        <p:sp>
          <p:nvSpPr>
            <p:cNvPr id="57" name="Rectangle 56"/>
            <p:cNvSpPr/>
            <p:nvPr/>
          </p:nvSpPr>
          <p:spPr>
            <a:xfrm>
              <a:off x="2514600" y="5355167"/>
              <a:ext cx="2095500" cy="3175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tx1"/>
                  </a:solidFill>
                </a:rPr>
                <a:t>Reduce (Avg.)</a:t>
              </a:r>
              <a:endParaRPr lang="en-US" sz="2400" b="1" dirty="0">
                <a:solidFill>
                  <a:schemeClr val="tx1"/>
                </a:solidFill>
              </a:endParaRPr>
            </a:p>
          </p:txBody>
        </p:sp>
        <p:sp>
          <p:nvSpPr>
            <p:cNvPr id="58" name="Rectangle 57"/>
            <p:cNvSpPr/>
            <p:nvPr/>
          </p:nvSpPr>
          <p:spPr>
            <a:xfrm>
              <a:off x="5181600" y="5355167"/>
              <a:ext cx="2095500" cy="3175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tx1"/>
                  </a:solidFill>
                </a:rPr>
                <a:t>Reduce (Avg.)</a:t>
              </a:r>
              <a:endParaRPr lang="en-US" sz="2400" b="1" dirty="0">
                <a:solidFill>
                  <a:schemeClr val="tx1"/>
                </a:solidFill>
              </a:endParaRPr>
            </a:p>
          </p:txBody>
        </p:sp>
      </p:grpSp>
      <p:grpSp>
        <p:nvGrpSpPr>
          <p:cNvPr id="59" name="Group 58"/>
          <p:cNvGrpSpPr/>
          <p:nvPr/>
        </p:nvGrpSpPr>
        <p:grpSpPr>
          <a:xfrm>
            <a:off x="2667000" y="5003800"/>
            <a:ext cx="4267200" cy="330200"/>
            <a:chOff x="2743200" y="4961467"/>
            <a:chExt cx="4267200" cy="330200"/>
          </a:xfrm>
        </p:grpSpPr>
        <p:sp>
          <p:nvSpPr>
            <p:cNvPr id="60" name="Down Arrow 59"/>
            <p:cNvSpPr/>
            <p:nvPr/>
          </p:nvSpPr>
          <p:spPr>
            <a:xfrm>
              <a:off x="2743200" y="49614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Down Arrow 60"/>
            <p:cNvSpPr/>
            <p:nvPr/>
          </p:nvSpPr>
          <p:spPr>
            <a:xfrm>
              <a:off x="3429000" y="49614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Down Arrow 61"/>
            <p:cNvSpPr/>
            <p:nvPr/>
          </p:nvSpPr>
          <p:spPr>
            <a:xfrm>
              <a:off x="4089400" y="49741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Down Arrow 62"/>
            <p:cNvSpPr/>
            <p:nvPr/>
          </p:nvSpPr>
          <p:spPr>
            <a:xfrm>
              <a:off x="5410200" y="49614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Down Arrow 63"/>
            <p:cNvSpPr/>
            <p:nvPr/>
          </p:nvSpPr>
          <p:spPr>
            <a:xfrm>
              <a:off x="6096000" y="49614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Down Arrow 64"/>
            <p:cNvSpPr/>
            <p:nvPr/>
          </p:nvSpPr>
          <p:spPr>
            <a:xfrm>
              <a:off x="6756400" y="49741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6" name="Group 70"/>
          <p:cNvGrpSpPr/>
          <p:nvPr/>
        </p:nvGrpSpPr>
        <p:grpSpPr>
          <a:xfrm>
            <a:off x="1866901" y="3996266"/>
            <a:ext cx="6096000" cy="651934"/>
            <a:chOff x="1866901" y="3386624"/>
            <a:chExt cx="6096000" cy="651952"/>
          </a:xfrm>
        </p:grpSpPr>
        <p:cxnSp>
          <p:nvCxnSpPr>
            <p:cNvPr id="72" name="Straight Arrow Connector 71"/>
            <p:cNvCxnSpPr>
              <a:stCxn id="23" idx="2"/>
              <a:endCxn id="50" idx="0"/>
            </p:cNvCxnSpPr>
            <p:nvPr/>
          </p:nvCxnSpPr>
          <p:spPr>
            <a:xfrm rot="16200000" flipH="1">
              <a:off x="1998125" y="3255401"/>
              <a:ext cx="651951" cy="914400"/>
            </a:xfrm>
            <a:prstGeom prst="straightConnector1">
              <a:avLst/>
            </a:prstGeom>
            <a:ln w="635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a:stCxn id="24" idx="2"/>
              <a:endCxn id="53" idx="0"/>
            </p:cNvCxnSpPr>
            <p:nvPr/>
          </p:nvCxnSpPr>
          <p:spPr>
            <a:xfrm rot="16200000" flipH="1">
              <a:off x="3674525" y="2264800"/>
              <a:ext cx="651951" cy="2895600"/>
            </a:xfrm>
            <a:prstGeom prst="straightConnector1">
              <a:avLst/>
            </a:prstGeom>
            <a:ln w="635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a:stCxn id="25" idx="2"/>
              <a:endCxn id="51" idx="0"/>
            </p:cNvCxnSpPr>
            <p:nvPr/>
          </p:nvCxnSpPr>
          <p:spPr>
            <a:xfrm rot="5400000">
              <a:off x="3712625" y="3141100"/>
              <a:ext cx="651951" cy="1143000"/>
            </a:xfrm>
            <a:prstGeom prst="straightConnector1">
              <a:avLst/>
            </a:prstGeom>
            <a:ln w="635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stCxn id="26" idx="2"/>
              <a:endCxn id="54" idx="0"/>
            </p:cNvCxnSpPr>
            <p:nvPr/>
          </p:nvCxnSpPr>
          <p:spPr>
            <a:xfrm rot="16200000" flipH="1">
              <a:off x="5389025" y="3293500"/>
              <a:ext cx="651951" cy="838200"/>
            </a:xfrm>
            <a:prstGeom prst="straightConnector1">
              <a:avLst/>
            </a:prstGeom>
            <a:ln w="635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a:stCxn id="27" idx="2"/>
              <a:endCxn id="52" idx="0"/>
            </p:cNvCxnSpPr>
            <p:nvPr/>
          </p:nvCxnSpPr>
          <p:spPr>
            <a:xfrm rot="5400000">
              <a:off x="5389025" y="2150500"/>
              <a:ext cx="651951" cy="3124200"/>
            </a:xfrm>
            <a:prstGeom prst="straightConnector1">
              <a:avLst/>
            </a:prstGeom>
            <a:ln w="635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a:stCxn id="28" idx="2"/>
              <a:endCxn id="55" idx="0"/>
            </p:cNvCxnSpPr>
            <p:nvPr/>
          </p:nvCxnSpPr>
          <p:spPr>
            <a:xfrm rot="5400000">
              <a:off x="7065425" y="3141100"/>
              <a:ext cx="651951" cy="1143000"/>
            </a:xfrm>
            <a:prstGeom prst="straightConnector1">
              <a:avLst/>
            </a:prstGeom>
            <a:ln w="63500">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67" name="Group 78"/>
          <p:cNvGrpSpPr/>
          <p:nvPr/>
        </p:nvGrpSpPr>
        <p:grpSpPr>
          <a:xfrm>
            <a:off x="76200" y="5943600"/>
            <a:ext cx="8763000" cy="609600"/>
            <a:chOff x="152400" y="6096000"/>
            <a:chExt cx="8763000" cy="609600"/>
          </a:xfrm>
        </p:grpSpPr>
        <p:sp>
          <p:nvSpPr>
            <p:cNvPr id="80" name="Rectangle 79"/>
            <p:cNvSpPr/>
            <p:nvPr/>
          </p:nvSpPr>
          <p:spPr>
            <a:xfrm>
              <a:off x="1066800" y="6096000"/>
              <a:ext cx="7848600" cy="60960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3352800" y="6214533"/>
              <a:ext cx="381000" cy="338667"/>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p:cNvSpPr/>
            <p:nvPr/>
          </p:nvSpPr>
          <p:spPr>
            <a:xfrm>
              <a:off x="6019800" y="6206067"/>
              <a:ext cx="381000" cy="3386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TextBox 84"/>
            <p:cNvSpPr txBox="1"/>
            <p:nvPr/>
          </p:nvSpPr>
          <p:spPr>
            <a:xfrm>
              <a:off x="152400" y="6172200"/>
              <a:ext cx="855491" cy="461665"/>
            </a:xfrm>
            <a:prstGeom prst="rect">
              <a:avLst/>
            </a:prstGeom>
            <a:noFill/>
          </p:spPr>
          <p:txBody>
            <a:bodyPr wrap="none" rtlCol="0">
              <a:spAutoFit/>
            </a:bodyPr>
            <a:lstStyle/>
            <a:p>
              <a:r>
                <a:rPr lang="en-US" sz="2400" b="1" dirty="0" smtClean="0"/>
                <a:t>HDFS</a:t>
              </a:r>
              <a:endParaRPr lang="en-US" sz="2400" b="1" dirty="0"/>
            </a:p>
          </p:txBody>
        </p:sp>
      </p:grpSp>
      <p:sp>
        <p:nvSpPr>
          <p:cNvPr id="68" name="Down Arrow 67"/>
          <p:cNvSpPr/>
          <p:nvPr/>
        </p:nvSpPr>
        <p:spPr>
          <a:xfrm>
            <a:off x="6019800" y="56726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Down Arrow 68"/>
          <p:cNvSpPr/>
          <p:nvPr/>
        </p:nvSpPr>
        <p:spPr>
          <a:xfrm>
            <a:off x="3352800" y="5672667"/>
            <a:ext cx="254000" cy="317500"/>
          </a:xfrm>
          <a:prstGeom prst="down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0" name="Group 85"/>
          <p:cNvGrpSpPr/>
          <p:nvPr/>
        </p:nvGrpSpPr>
        <p:grpSpPr>
          <a:xfrm>
            <a:off x="762000" y="1600200"/>
            <a:ext cx="7848600" cy="461665"/>
            <a:chOff x="990600" y="4648200"/>
            <a:chExt cx="7848600" cy="461665"/>
          </a:xfrm>
        </p:grpSpPr>
        <p:sp>
          <p:nvSpPr>
            <p:cNvPr id="87" name="TextBox 86"/>
            <p:cNvSpPr txBox="1"/>
            <p:nvPr/>
          </p:nvSpPr>
          <p:spPr>
            <a:xfrm>
              <a:off x="990600" y="4648200"/>
              <a:ext cx="3505200" cy="461665"/>
            </a:xfrm>
            <a:prstGeom prst="rect">
              <a:avLst/>
            </a:prstGeom>
            <a:noFill/>
          </p:spPr>
          <p:txBody>
            <a:bodyPr wrap="square" rtlCol="0">
              <a:spAutoFit/>
            </a:bodyPr>
            <a:lstStyle/>
            <a:p>
              <a:r>
                <a:rPr lang="en-US" sz="2400" b="1" dirty="0" smtClean="0"/>
                <a:t>{</a:t>
              </a:r>
              <a:r>
                <a:rPr lang="en-US" sz="2400" b="1" dirty="0" smtClean="0">
                  <a:solidFill>
                    <a:srgbClr val="FF0000"/>
                  </a:solidFill>
                </a:rPr>
                <a:t>name</a:t>
              </a:r>
              <a:r>
                <a:rPr lang="en-US" sz="2400" b="1" dirty="0" smtClean="0"/>
                <a:t>:  (org., salary)} </a:t>
              </a:r>
              <a:endParaRPr lang="en-US" sz="2400" b="1" dirty="0"/>
            </a:p>
          </p:txBody>
        </p:sp>
        <p:sp>
          <p:nvSpPr>
            <p:cNvPr id="88" name="Right Arrow 87"/>
            <p:cNvSpPr/>
            <p:nvPr/>
          </p:nvSpPr>
          <p:spPr>
            <a:xfrm>
              <a:off x="4343400" y="4724400"/>
              <a:ext cx="7620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p:cNvSpPr txBox="1"/>
            <p:nvPr/>
          </p:nvSpPr>
          <p:spPr>
            <a:xfrm>
              <a:off x="5334000" y="4648200"/>
              <a:ext cx="3505200" cy="461665"/>
            </a:xfrm>
            <a:prstGeom prst="rect">
              <a:avLst/>
            </a:prstGeom>
            <a:noFill/>
          </p:spPr>
          <p:txBody>
            <a:bodyPr wrap="square" rtlCol="0">
              <a:spAutoFit/>
            </a:bodyPr>
            <a:lstStyle/>
            <a:p>
              <a:r>
                <a:rPr lang="en-US" sz="2400" b="1" dirty="0" smtClean="0"/>
                <a:t>{</a:t>
              </a:r>
              <a:r>
                <a:rPr lang="en-US" sz="2400" b="1" dirty="0" smtClean="0">
                  <a:solidFill>
                    <a:srgbClr val="FF0000"/>
                  </a:solidFill>
                </a:rPr>
                <a:t>org.</a:t>
              </a:r>
              <a:r>
                <a:rPr lang="en-US" sz="2400" b="1" dirty="0" smtClean="0"/>
                <a:t>:  avg. salary} </a:t>
              </a:r>
              <a:endParaRPr lang="en-US" sz="2400" b="1" dirty="0"/>
            </a:p>
          </p:txBody>
        </p:sp>
      </p:grpSp>
      <p:sp>
        <p:nvSpPr>
          <p:cNvPr id="91" name="Slide Number Placeholder 3"/>
          <p:cNvSpPr>
            <a:spLocks noGrp="1"/>
          </p:cNvSpPr>
          <p:nvPr>
            <p:ph type="sldNum" sz="quarter" idx="4294967295"/>
          </p:nvPr>
        </p:nvSpPr>
        <p:spPr>
          <a:xfrm>
            <a:off x="6553200" y="6416675"/>
            <a:ext cx="2133600" cy="365125"/>
          </a:xfrm>
          <a:prstGeom prst="rect">
            <a:avLst/>
          </a:prstGeom>
        </p:spPr>
        <p:txBody>
          <a:bodyPr/>
          <a:lstStyle/>
          <a:p>
            <a:fld id="{B6F15528-21DE-4FAA-801E-634DDDAF4B2B}" type="slidenum">
              <a:rPr lang="en-US" smtClean="0"/>
              <a:pPr/>
              <a:t>28</a:t>
            </a:fld>
            <a:endParaRPr lang="en-US" dirty="0"/>
          </a:p>
        </p:txBody>
      </p:sp>
      <p:sp>
        <p:nvSpPr>
          <p:cNvPr id="86" name="Rectangle 85"/>
          <p:cNvSpPr/>
          <p:nvPr/>
        </p:nvSpPr>
        <p:spPr>
          <a:xfrm>
            <a:off x="2209800" y="4419600"/>
            <a:ext cx="2438400" cy="2209800"/>
          </a:xfrm>
          <a:prstGeom prst="rect">
            <a:avLst/>
          </a:prstGeom>
          <a:noFill/>
          <a:ln w="76200" cap="flat">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p:cNvSpPr/>
          <p:nvPr/>
        </p:nvSpPr>
        <p:spPr>
          <a:xfrm>
            <a:off x="4953000" y="4419600"/>
            <a:ext cx="2438400" cy="2209800"/>
          </a:xfrm>
          <a:prstGeom prst="rect">
            <a:avLst/>
          </a:prstGeom>
          <a:noFill/>
          <a:ln w="76200" cap="flat">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TextBox 91"/>
          <p:cNvSpPr txBox="1"/>
          <p:nvPr/>
        </p:nvSpPr>
        <p:spPr>
          <a:xfrm>
            <a:off x="76200" y="4420850"/>
            <a:ext cx="1905000" cy="1107996"/>
          </a:xfrm>
          <a:prstGeom prst="rect">
            <a:avLst/>
          </a:prstGeom>
          <a:noFill/>
        </p:spPr>
        <p:txBody>
          <a:bodyPr wrap="square" rtlCol="0">
            <a:spAutoFit/>
          </a:bodyPr>
          <a:lstStyle/>
          <a:p>
            <a:r>
              <a:rPr lang="en-US" sz="2200" b="1" dirty="0" smtClean="0">
                <a:latin typeface="Garamond" pitchFamily="18" charset="0"/>
              </a:rPr>
              <a:t>Calculate the average salary for “org-1” </a:t>
            </a:r>
            <a:endParaRPr lang="en-US" sz="2200" b="1" dirty="0">
              <a:latin typeface="Garamond" pitchFamily="18" charset="0"/>
            </a:endParaRPr>
          </a:p>
        </p:txBody>
      </p:sp>
      <p:sp>
        <p:nvSpPr>
          <p:cNvPr id="93" name="TextBox 92"/>
          <p:cNvSpPr txBox="1"/>
          <p:nvPr/>
        </p:nvSpPr>
        <p:spPr>
          <a:xfrm>
            <a:off x="7391400" y="4419600"/>
            <a:ext cx="1905000" cy="1107996"/>
          </a:xfrm>
          <a:prstGeom prst="rect">
            <a:avLst/>
          </a:prstGeom>
          <a:noFill/>
        </p:spPr>
        <p:txBody>
          <a:bodyPr wrap="square" rtlCol="0">
            <a:spAutoFit/>
          </a:bodyPr>
          <a:lstStyle/>
          <a:p>
            <a:r>
              <a:rPr lang="en-US" sz="2200" b="1" dirty="0" smtClean="0">
                <a:latin typeface="Garamond" pitchFamily="18" charset="0"/>
              </a:rPr>
              <a:t>Calculate the average salary for “org-2” </a:t>
            </a:r>
            <a:endParaRPr lang="en-US" sz="2200" b="1" dirty="0">
              <a:latin typeface="Garamond" pitchFamily="18" charset="0"/>
            </a:endParaRPr>
          </a:p>
        </p:txBody>
      </p:sp>
    </p:spTree>
    <p:extLst>
      <p:ext uri="{BB962C8B-B14F-4D97-AF65-F5344CB8AC3E}">
        <p14:creationId xmlns:p14="http://schemas.microsoft.com/office/powerpoint/2010/main" val="4152956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9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90"/>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animBg="1"/>
      <p:bldP spid="90" grpId="0" animBg="1"/>
      <p:bldP spid="92" grpId="0"/>
      <p:bldP spid="93"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1" name="Picture 4"/>
          <p:cNvPicPr>
            <a:picLocks noChangeAspect="1" noChangeArrowheads="1"/>
          </p:cNvPicPr>
          <p:nvPr/>
        </p:nvPicPr>
        <p:blipFill>
          <a:blip r:embed="rId3" cstate="print"/>
          <a:srcRect/>
          <a:stretch>
            <a:fillRect/>
          </a:stretch>
        </p:blipFill>
        <p:spPr bwMode="auto">
          <a:xfrm>
            <a:off x="5486400" y="3257550"/>
            <a:ext cx="550576" cy="781050"/>
          </a:xfrm>
          <a:prstGeom prst="rect">
            <a:avLst/>
          </a:prstGeom>
          <a:noFill/>
          <a:ln w="9525">
            <a:noFill/>
            <a:miter lim="800000"/>
            <a:headEnd/>
            <a:tailEnd/>
          </a:ln>
        </p:spPr>
      </p:pic>
      <p:pic>
        <p:nvPicPr>
          <p:cNvPr id="1028" name="Picture 4"/>
          <p:cNvPicPr>
            <a:picLocks noChangeAspect="1" noChangeArrowheads="1"/>
          </p:cNvPicPr>
          <p:nvPr/>
        </p:nvPicPr>
        <p:blipFill>
          <a:blip r:embed="rId3" cstate="print"/>
          <a:srcRect/>
          <a:stretch>
            <a:fillRect/>
          </a:stretch>
        </p:blipFill>
        <p:spPr bwMode="auto">
          <a:xfrm>
            <a:off x="3657600" y="2343150"/>
            <a:ext cx="550576" cy="781050"/>
          </a:xfrm>
          <a:prstGeom prst="rect">
            <a:avLst/>
          </a:prstGeom>
          <a:noFill/>
          <a:ln w="9525">
            <a:noFill/>
            <a:miter lim="800000"/>
            <a:headEnd/>
            <a:tailEnd/>
          </a:ln>
        </p:spPr>
      </p:pic>
      <p:pic>
        <p:nvPicPr>
          <p:cNvPr id="42" name="Picture 4"/>
          <p:cNvPicPr>
            <a:picLocks noChangeAspect="1" noChangeArrowheads="1"/>
          </p:cNvPicPr>
          <p:nvPr/>
        </p:nvPicPr>
        <p:blipFill>
          <a:blip r:embed="rId3" cstate="print"/>
          <a:srcRect/>
          <a:stretch>
            <a:fillRect/>
          </a:stretch>
        </p:blipFill>
        <p:spPr bwMode="auto">
          <a:xfrm>
            <a:off x="5469224" y="4343400"/>
            <a:ext cx="550576" cy="781050"/>
          </a:xfrm>
          <a:prstGeom prst="rect">
            <a:avLst/>
          </a:prstGeom>
          <a:noFill/>
          <a:ln w="9525">
            <a:noFill/>
            <a:miter lim="800000"/>
            <a:headEnd/>
            <a:tailEnd/>
          </a:ln>
        </p:spPr>
      </p:pic>
      <p:sp>
        <p:nvSpPr>
          <p:cNvPr id="68" name="Oval 67"/>
          <p:cNvSpPr/>
          <p:nvPr/>
        </p:nvSpPr>
        <p:spPr>
          <a:xfrm>
            <a:off x="3962400" y="2895600"/>
            <a:ext cx="304800" cy="304800"/>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3962400" y="2895600"/>
            <a:ext cx="304800" cy="304800"/>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p:cNvSpPr>
            <a:spLocks noGrp="1"/>
          </p:cNvSpPr>
          <p:nvPr>
            <p:ph type="sldNum" sz="quarter" idx="4294967295"/>
          </p:nvPr>
        </p:nvSpPr>
        <p:spPr>
          <a:xfrm>
            <a:off x="6553200" y="6356350"/>
            <a:ext cx="2133600" cy="365125"/>
          </a:xfrm>
          <a:prstGeom prst="rect">
            <a:avLst/>
          </a:prstGeom>
        </p:spPr>
        <p:txBody>
          <a:bodyPr/>
          <a:lstStyle/>
          <a:p>
            <a:fld id="{B6F15528-21DE-4FAA-801E-634DDDAF4B2B}" type="slidenum">
              <a:rPr lang="en-US" smtClean="0"/>
              <a:pPr/>
              <a:t>29</a:t>
            </a:fld>
            <a:endParaRPr lang="en-US" dirty="0"/>
          </a:p>
        </p:txBody>
      </p:sp>
      <p:cxnSp>
        <p:nvCxnSpPr>
          <p:cNvPr id="3" name="Straight Connector 2"/>
          <p:cNvCxnSpPr/>
          <p:nvPr/>
        </p:nvCxnSpPr>
        <p:spPr>
          <a:xfrm>
            <a:off x="457200" y="762000"/>
            <a:ext cx="8229600" cy="0"/>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sp>
        <p:nvSpPr>
          <p:cNvPr id="4" name="Title 1"/>
          <p:cNvSpPr txBox="1">
            <a:spLocks/>
          </p:cNvSpPr>
          <p:nvPr/>
        </p:nvSpPr>
        <p:spPr>
          <a:xfrm>
            <a:off x="457200" y="76200"/>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800" b="1"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Garamond" pitchFamily="18" charset="0"/>
                <a:ea typeface="+mj-ea"/>
                <a:cs typeface="+mj-cs"/>
              </a:rPr>
              <a:t>MR(</a:t>
            </a:r>
            <a:r>
              <a:rPr kumimoji="0" lang="en-US" sz="3800" b="1" i="0" u="none" strike="noStrike" kern="1200" cap="none" spc="0" normalizeH="0" baseline="0" noProof="0" dirty="0" err="1" smtClean="0">
                <a:ln>
                  <a:noFill/>
                </a:ln>
                <a:solidFill>
                  <a:schemeClr val="tx1"/>
                </a:solidFill>
                <a:effectLst>
                  <a:outerShdw blurRad="38100" dist="38100" dir="2700000" algn="tl">
                    <a:srgbClr val="000000">
                      <a:alpha val="43137"/>
                    </a:srgbClr>
                  </a:outerShdw>
                </a:effectLst>
                <a:uLnTx/>
                <a:uFillTx/>
                <a:latin typeface="Garamond" pitchFamily="18" charset="0"/>
                <a:ea typeface="+mj-ea"/>
                <a:cs typeface="+mj-cs"/>
              </a:rPr>
              <a:t>Hadoop</a:t>
            </a:r>
            <a:r>
              <a:rPr kumimoji="0" lang="en-US" sz="3800" b="1"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Garamond" pitchFamily="18" charset="0"/>
                <a:ea typeface="+mj-ea"/>
                <a:cs typeface="+mj-cs"/>
              </a:rPr>
              <a:t>) Job</a:t>
            </a:r>
            <a:r>
              <a:rPr kumimoji="0" lang="en-US" sz="3800" b="1" i="0" u="none" strike="noStrike" kern="1200" cap="none" spc="0" normalizeH="0" noProof="0" dirty="0" smtClean="0">
                <a:ln>
                  <a:noFill/>
                </a:ln>
                <a:solidFill>
                  <a:schemeClr val="tx1"/>
                </a:solidFill>
                <a:effectLst>
                  <a:outerShdw blurRad="38100" dist="38100" dir="2700000" algn="tl">
                    <a:srgbClr val="000000">
                      <a:alpha val="43137"/>
                    </a:srgbClr>
                  </a:outerShdw>
                </a:effectLst>
                <a:uLnTx/>
                <a:uFillTx/>
                <a:latin typeface="Garamond" pitchFamily="18" charset="0"/>
                <a:ea typeface="+mj-ea"/>
                <a:cs typeface="+mj-cs"/>
              </a:rPr>
              <a:t> Execution</a:t>
            </a:r>
            <a:r>
              <a:rPr kumimoji="0" lang="en-US" sz="3800" b="1" i="0" u="none" strike="noStrike" kern="1200" cap="none" spc="0" normalizeH="0" baseline="0" noProof="0" dirty="0" smtClean="0">
                <a:ln>
                  <a:noFill/>
                </a:ln>
                <a:solidFill>
                  <a:schemeClr val="tx1"/>
                </a:solidFill>
                <a:effectLst>
                  <a:outerShdw blurRad="38100" dist="38100" dir="2700000" algn="tl">
                    <a:srgbClr val="000000">
                      <a:alpha val="43137"/>
                    </a:srgbClr>
                  </a:outerShdw>
                </a:effectLst>
                <a:uLnTx/>
                <a:uFillTx/>
                <a:latin typeface="Garamond" pitchFamily="18" charset="0"/>
                <a:ea typeface="+mj-ea"/>
                <a:cs typeface="+mj-cs"/>
              </a:rPr>
              <a:t> </a:t>
            </a:r>
            <a:r>
              <a:rPr lang="en-US" sz="3800" b="1" dirty="0" smtClean="0">
                <a:effectLst>
                  <a:outerShdw blurRad="38100" dist="38100" dir="2700000" algn="tl">
                    <a:srgbClr val="000000">
                      <a:alpha val="43137"/>
                    </a:srgbClr>
                  </a:outerShdw>
                </a:effectLst>
                <a:latin typeface="Garamond" pitchFamily="18" charset="0"/>
                <a:ea typeface="+mj-ea"/>
                <a:cs typeface="+mj-cs"/>
              </a:rPr>
              <a:t>Patterns</a:t>
            </a:r>
            <a:endParaRPr kumimoji="0" lang="en-US" sz="3800" b="1"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Garamond" pitchFamily="18" charset="0"/>
              <a:ea typeface="+mj-ea"/>
              <a:cs typeface="+mj-cs"/>
            </a:endParaRPr>
          </a:p>
        </p:txBody>
      </p:sp>
      <p:sp>
        <p:nvSpPr>
          <p:cNvPr id="7" name="TextBox 6"/>
          <p:cNvSpPr txBox="1"/>
          <p:nvPr/>
        </p:nvSpPr>
        <p:spPr>
          <a:xfrm>
            <a:off x="3200400" y="762000"/>
            <a:ext cx="1985223" cy="369332"/>
          </a:xfrm>
          <a:prstGeom prst="rect">
            <a:avLst/>
          </a:prstGeom>
          <a:noFill/>
        </p:spPr>
        <p:txBody>
          <a:bodyPr wrap="none" rtlCol="0">
            <a:spAutoFit/>
          </a:bodyPr>
          <a:lstStyle/>
          <a:p>
            <a:r>
              <a:rPr lang="en-US" b="1" dirty="0" smtClean="0">
                <a:latin typeface="Garamond" pitchFamily="18" charset="0"/>
              </a:rPr>
              <a:t>MR program (job)</a:t>
            </a:r>
            <a:endParaRPr lang="en-US" b="1" dirty="0">
              <a:latin typeface="Garamond" pitchFamily="18" charset="0"/>
            </a:endParaRPr>
          </a:p>
        </p:txBody>
      </p:sp>
      <p:sp>
        <p:nvSpPr>
          <p:cNvPr id="10" name="TextBox 9"/>
          <p:cNvSpPr txBox="1"/>
          <p:nvPr/>
        </p:nvSpPr>
        <p:spPr>
          <a:xfrm>
            <a:off x="4191000" y="2495550"/>
            <a:ext cx="1407758" cy="369332"/>
          </a:xfrm>
          <a:prstGeom prst="rect">
            <a:avLst/>
          </a:prstGeom>
          <a:noFill/>
        </p:spPr>
        <p:txBody>
          <a:bodyPr wrap="none" rtlCol="0">
            <a:spAutoFit/>
          </a:bodyPr>
          <a:lstStyle/>
          <a:p>
            <a:r>
              <a:rPr lang="en-US" b="1" dirty="0" smtClean="0">
                <a:latin typeface="Garamond" pitchFamily="18" charset="0"/>
              </a:rPr>
              <a:t>Master node</a:t>
            </a:r>
            <a:endParaRPr lang="en-US" b="1" dirty="0">
              <a:latin typeface="Garamond" pitchFamily="18" charset="0"/>
            </a:endParaRPr>
          </a:p>
        </p:txBody>
      </p:sp>
      <p:cxnSp>
        <p:nvCxnSpPr>
          <p:cNvPr id="14" name="Straight Arrow Connector 13"/>
          <p:cNvCxnSpPr/>
          <p:nvPr/>
        </p:nvCxnSpPr>
        <p:spPr>
          <a:xfrm rot="5400000">
            <a:off x="3620691" y="2019697"/>
            <a:ext cx="532606" cy="1588"/>
          </a:xfrm>
          <a:prstGeom prst="straightConnector1">
            <a:avLst/>
          </a:prstGeom>
          <a:ln w="50800">
            <a:solidFill>
              <a:schemeClr val="tx1"/>
            </a:solidFill>
            <a:prstDash val="sysDot"/>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038600" y="1752600"/>
            <a:ext cx="1897699" cy="369332"/>
          </a:xfrm>
          <a:prstGeom prst="rect">
            <a:avLst/>
          </a:prstGeom>
          <a:noFill/>
          <a:ln w="38100">
            <a:solidFill>
              <a:schemeClr val="accent1">
                <a:shade val="50000"/>
              </a:schemeClr>
            </a:solidFill>
          </a:ln>
        </p:spPr>
        <p:txBody>
          <a:bodyPr wrap="none" rtlCol="0">
            <a:spAutoFit/>
          </a:bodyPr>
          <a:lstStyle/>
          <a:p>
            <a:r>
              <a:rPr lang="en-US" b="1" dirty="0" smtClean="0">
                <a:latin typeface="Garamond" pitchFamily="18" charset="0"/>
              </a:rPr>
              <a:t>1: Job submission</a:t>
            </a:r>
            <a:endParaRPr lang="en-US" b="1" dirty="0">
              <a:latin typeface="Garamond" pitchFamily="18" charset="0"/>
            </a:endParaRPr>
          </a:p>
        </p:txBody>
      </p:sp>
      <p:sp>
        <p:nvSpPr>
          <p:cNvPr id="18" name="TextBox 17"/>
          <p:cNvSpPr txBox="1"/>
          <p:nvPr/>
        </p:nvSpPr>
        <p:spPr>
          <a:xfrm>
            <a:off x="1600200" y="2971800"/>
            <a:ext cx="1529329" cy="369332"/>
          </a:xfrm>
          <a:prstGeom prst="rect">
            <a:avLst/>
          </a:prstGeom>
          <a:noFill/>
        </p:spPr>
        <p:txBody>
          <a:bodyPr wrap="none" rtlCol="0">
            <a:spAutoFit/>
          </a:bodyPr>
          <a:lstStyle/>
          <a:p>
            <a:r>
              <a:rPr lang="en-US" b="1" dirty="0" smtClean="0">
                <a:latin typeface="Garamond" pitchFamily="18" charset="0"/>
              </a:rPr>
              <a:t>Worker nodes</a:t>
            </a:r>
            <a:endParaRPr lang="en-US" b="1" dirty="0">
              <a:latin typeface="Garamond" pitchFamily="18" charset="0"/>
            </a:endParaRPr>
          </a:p>
        </p:txBody>
      </p:sp>
      <p:pic>
        <p:nvPicPr>
          <p:cNvPr id="21" name="Picture 4"/>
          <p:cNvPicPr>
            <a:picLocks noChangeAspect="1" noChangeArrowheads="1"/>
          </p:cNvPicPr>
          <p:nvPr/>
        </p:nvPicPr>
        <p:blipFill>
          <a:blip r:embed="rId3" cstate="print"/>
          <a:srcRect/>
          <a:stretch>
            <a:fillRect/>
          </a:stretch>
        </p:blipFill>
        <p:spPr bwMode="auto">
          <a:xfrm>
            <a:off x="1905000" y="5467350"/>
            <a:ext cx="550576" cy="781050"/>
          </a:xfrm>
          <a:prstGeom prst="rect">
            <a:avLst/>
          </a:prstGeom>
          <a:noFill/>
          <a:ln w="9525">
            <a:noFill/>
            <a:miter lim="800000"/>
            <a:headEnd/>
            <a:tailEnd/>
          </a:ln>
        </p:spPr>
      </p:pic>
      <p:pic>
        <p:nvPicPr>
          <p:cNvPr id="19" name="Picture 4"/>
          <p:cNvPicPr>
            <a:picLocks noChangeAspect="1" noChangeArrowheads="1"/>
          </p:cNvPicPr>
          <p:nvPr/>
        </p:nvPicPr>
        <p:blipFill>
          <a:blip r:embed="rId3" cstate="print"/>
          <a:srcRect/>
          <a:stretch>
            <a:fillRect/>
          </a:stretch>
        </p:blipFill>
        <p:spPr bwMode="auto">
          <a:xfrm>
            <a:off x="1905000" y="4476750"/>
            <a:ext cx="550576" cy="781050"/>
          </a:xfrm>
          <a:prstGeom prst="rect">
            <a:avLst/>
          </a:prstGeom>
          <a:noFill/>
          <a:ln w="9525">
            <a:noFill/>
            <a:miter lim="800000"/>
            <a:headEnd/>
            <a:tailEnd/>
          </a:ln>
        </p:spPr>
      </p:pic>
      <p:pic>
        <p:nvPicPr>
          <p:cNvPr id="25" name="Picture 4"/>
          <p:cNvPicPr>
            <a:picLocks noChangeAspect="1" noChangeArrowheads="1"/>
          </p:cNvPicPr>
          <p:nvPr/>
        </p:nvPicPr>
        <p:blipFill>
          <a:blip r:embed="rId3" cstate="print"/>
          <a:srcRect/>
          <a:stretch>
            <a:fillRect/>
          </a:stretch>
        </p:blipFill>
        <p:spPr bwMode="auto">
          <a:xfrm>
            <a:off x="1905000" y="3429000"/>
            <a:ext cx="550576" cy="781050"/>
          </a:xfrm>
          <a:prstGeom prst="rect">
            <a:avLst/>
          </a:prstGeom>
          <a:noFill/>
          <a:ln w="9525">
            <a:noFill/>
            <a:miter lim="800000"/>
            <a:headEnd/>
            <a:tailEnd/>
          </a:ln>
        </p:spPr>
      </p:pic>
      <p:pic>
        <p:nvPicPr>
          <p:cNvPr id="43" name="Picture 4"/>
          <p:cNvPicPr>
            <a:picLocks noChangeAspect="1" noChangeArrowheads="1"/>
          </p:cNvPicPr>
          <p:nvPr/>
        </p:nvPicPr>
        <p:blipFill>
          <a:blip r:embed="rId3" cstate="print"/>
          <a:srcRect/>
          <a:stretch>
            <a:fillRect/>
          </a:stretch>
        </p:blipFill>
        <p:spPr bwMode="auto">
          <a:xfrm>
            <a:off x="5486400" y="5391150"/>
            <a:ext cx="550576" cy="781050"/>
          </a:xfrm>
          <a:prstGeom prst="rect">
            <a:avLst/>
          </a:prstGeom>
          <a:noFill/>
          <a:ln w="9525">
            <a:noFill/>
            <a:miter lim="800000"/>
            <a:headEnd/>
            <a:tailEnd/>
          </a:ln>
        </p:spPr>
      </p:pic>
      <p:sp>
        <p:nvSpPr>
          <p:cNvPr id="44" name="TextBox 43"/>
          <p:cNvSpPr txBox="1"/>
          <p:nvPr/>
        </p:nvSpPr>
        <p:spPr>
          <a:xfrm>
            <a:off x="5177516" y="2895600"/>
            <a:ext cx="1529329" cy="369332"/>
          </a:xfrm>
          <a:prstGeom prst="rect">
            <a:avLst/>
          </a:prstGeom>
          <a:noFill/>
        </p:spPr>
        <p:txBody>
          <a:bodyPr wrap="none" rtlCol="0">
            <a:spAutoFit/>
          </a:bodyPr>
          <a:lstStyle/>
          <a:p>
            <a:r>
              <a:rPr lang="en-US" b="1" dirty="0" smtClean="0">
                <a:latin typeface="Garamond" pitchFamily="18" charset="0"/>
              </a:rPr>
              <a:t>Worker nodes</a:t>
            </a:r>
            <a:endParaRPr lang="en-US" b="1" dirty="0">
              <a:latin typeface="Garamond" pitchFamily="18" charset="0"/>
            </a:endParaRPr>
          </a:p>
        </p:txBody>
      </p:sp>
      <p:sp>
        <p:nvSpPr>
          <p:cNvPr id="48" name="Freeform 47"/>
          <p:cNvSpPr/>
          <p:nvPr/>
        </p:nvSpPr>
        <p:spPr>
          <a:xfrm>
            <a:off x="2528047" y="3106271"/>
            <a:ext cx="1196788" cy="685800"/>
          </a:xfrm>
          <a:custGeom>
            <a:avLst/>
            <a:gdLst>
              <a:gd name="connsiteX0" fmla="*/ 1196788 w 1196788"/>
              <a:gd name="connsiteY0" fmla="*/ 0 h 685800"/>
              <a:gd name="connsiteX1" fmla="*/ 753035 w 1196788"/>
              <a:gd name="connsiteY1" fmla="*/ 389964 h 685800"/>
              <a:gd name="connsiteX2" fmla="*/ 0 w 1196788"/>
              <a:gd name="connsiteY2" fmla="*/ 685800 h 685800"/>
            </a:gdLst>
            <a:ahLst/>
            <a:cxnLst>
              <a:cxn ang="0">
                <a:pos x="connsiteX0" y="connsiteY0"/>
              </a:cxn>
              <a:cxn ang="0">
                <a:pos x="connsiteX1" y="connsiteY1"/>
              </a:cxn>
              <a:cxn ang="0">
                <a:pos x="connsiteX2" y="connsiteY2"/>
              </a:cxn>
            </a:cxnLst>
            <a:rect l="l" t="t" r="r" b="b"/>
            <a:pathLst>
              <a:path w="1196788" h="685800">
                <a:moveTo>
                  <a:pt x="1196788" y="0"/>
                </a:moveTo>
                <a:cubicBezTo>
                  <a:pt x="1074644" y="137832"/>
                  <a:pt x="952500" y="275664"/>
                  <a:pt x="753035" y="389964"/>
                </a:cubicBezTo>
                <a:cubicBezTo>
                  <a:pt x="553570" y="504264"/>
                  <a:pt x="29135" y="656665"/>
                  <a:pt x="0" y="685800"/>
                </a:cubicBezTo>
              </a:path>
            </a:pathLst>
          </a:custGeom>
          <a:ln w="50800">
            <a:solidFill>
              <a:schemeClr val="tx1"/>
            </a:solidFill>
            <a:prstDash val="sysDot"/>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590800" y="3200400"/>
            <a:ext cx="1295400" cy="1752600"/>
          </a:xfrm>
          <a:custGeom>
            <a:avLst/>
            <a:gdLst>
              <a:gd name="connsiteX0" fmla="*/ 1196788 w 1196788"/>
              <a:gd name="connsiteY0" fmla="*/ 0 h 685800"/>
              <a:gd name="connsiteX1" fmla="*/ 753035 w 1196788"/>
              <a:gd name="connsiteY1" fmla="*/ 389964 h 685800"/>
              <a:gd name="connsiteX2" fmla="*/ 0 w 1196788"/>
              <a:gd name="connsiteY2" fmla="*/ 685800 h 685800"/>
              <a:gd name="connsiteX0" fmla="*/ 1295400 w 1295400"/>
              <a:gd name="connsiteY0" fmla="*/ 0 h 1752600"/>
              <a:gd name="connsiteX1" fmla="*/ 753035 w 1295400"/>
              <a:gd name="connsiteY1" fmla="*/ 1456764 h 1752600"/>
              <a:gd name="connsiteX2" fmla="*/ 0 w 1295400"/>
              <a:gd name="connsiteY2" fmla="*/ 1752600 h 1752600"/>
              <a:gd name="connsiteX0" fmla="*/ 1295400 w 1295400"/>
              <a:gd name="connsiteY0" fmla="*/ 0 h 1752600"/>
              <a:gd name="connsiteX1" fmla="*/ 990600 w 1295400"/>
              <a:gd name="connsiteY1" fmla="*/ 1219200 h 1752600"/>
              <a:gd name="connsiteX2" fmla="*/ 0 w 1295400"/>
              <a:gd name="connsiteY2" fmla="*/ 1752600 h 1752600"/>
              <a:gd name="connsiteX0" fmla="*/ 1295400 w 1295400"/>
              <a:gd name="connsiteY0" fmla="*/ 0 h 1752600"/>
              <a:gd name="connsiteX1" fmla="*/ 838200 w 1295400"/>
              <a:gd name="connsiteY1" fmla="*/ 1219200 h 1752600"/>
              <a:gd name="connsiteX2" fmla="*/ 0 w 1295400"/>
              <a:gd name="connsiteY2" fmla="*/ 1752600 h 1752600"/>
            </a:gdLst>
            <a:ahLst/>
            <a:cxnLst>
              <a:cxn ang="0">
                <a:pos x="connsiteX0" y="connsiteY0"/>
              </a:cxn>
              <a:cxn ang="0">
                <a:pos x="connsiteX1" y="connsiteY1"/>
              </a:cxn>
              <a:cxn ang="0">
                <a:pos x="connsiteX2" y="connsiteY2"/>
              </a:cxn>
            </a:cxnLst>
            <a:rect l="l" t="t" r="r" b="b"/>
            <a:pathLst>
              <a:path w="1295400" h="1752600">
                <a:moveTo>
                  <a:pt x="1295400" y="0"/>
                </a:moveTo>
                <a:cubicBezTo>
                  <a:pt x="1173256" y="137832"/>
                  <a:pt x="1054100" y="927100"/>
                  <a:pt x="838200" y="1219200"/>
                </a:cubicBezTo>
                <a:cubicBezTo>
                  <a:pt x="622300" y="1511300"/>
                  <a:pt x="29135" y="1723465"/>
                  <a:pt x="0" y="1752600"/>
                </a:cubicBezTo>
              </a:path>
            </a:pathLst>
          </a:custGeom>
          <a:ln w="50800">
            <a:solidFill>
              <a:schemeClr val="tx1"/>
            </a:solidFill>
            <a:prstDash val="sysDot"/>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flipH="1">
            <a:off x="4038600" y="3200400"/>
            <a:ext cx="1219200" cy="1600200"/>
          </a:xfrm>
          <a:custGeom>
            <a:avLst/>
            <a:gdLst>
              <a:gd name="connsiteX0" fmla="*/ 1196788 w 1196788"/>
              <a:gd name="connsiteY0" fmla="*/ 0 h 685800"/>
              <a:gd name="connsiteX1" fmla="*/ 753035 w 1196788"/>
              <a:gd name="connsiteY1" fmla="*/ 389964 h 685800"/>
              <a:gd name="connsiteX2" fmla="*/ 0 w 1196788"/>
              <a:gd name="connsiteY2" fmla="*/ 685800 h 685800"/>
              <a:gd name="connsiteX0" fmla="*/ 1295400 w 1295400"/>
              <a:gd name="connsiteY0" fmla="*/ 0 h 1752600"/>
              <a:gd name="connsiteX1" fmla="*/ 753035 w 1295400"/>
              <a:gd name="connsiteY1" fmla="*/ 1456764 h 1752600"/>
              <a:gd name="connsiteX2" fmla="*/ 0 w 1295400"/>
              <a:gd name="connsiteY2" fmla="*/ 1752600 h 1752600"/>
              <a:gd name="connsiteX0" fmla="*/ 1295400 w 1295400"/>
              <a:gd name="connsiteY0" fmla="*/ 0 h 1752600"/>
              <a:gd name="connsiteX1" fmla="*/ 990600 w 1295400"/>
              <a:gd name="connsiteY1" fmla="*/ 1219200 h 1752600"/>
              <a:gd name="connsiteX2" fmla="*/ 0 w 1295400"/>
              <a:gd name="connsiteY2" fmla="*/ 1752600 h 1752600"/>
              <a:gd name="connsiteX0" fmla="*/ 1295400 w 1295400"/>
              <a:gd name="connsiteY0" fmla="*/ 0 h 1752600"/>
              <a:gd name="connsiteX1" fmla="*/ 838200 w 1295400"/>
              <a:gd name="connsiteY1" fmla="*/ 1219200 h 1752600"/>
              <a:gd name="connsiteX2" fmla="*/ 0 w 1295400"/>
              <a:gd name="connsiteY2" fmla="*/ 1752600 h 1752600"/>
              <a:gd name="connsiteX0" fmla="*/ 1381760 w 1381760"/>
              <a:gd name="connsiteY0" fmla="*/ 0 h 1600200"/>
              <a:gd name="connsiteX1" fmla="*/ 924560 w 1381760"/>
              <a:gd name="connsiteY1" fmla="*/ 1219200 h 1600200"/>
              <a:gd name="connsiteX2" fmla="*/ 0 w 1381760"/>
              <a:gd name="connsiteY2" fmla="*/ 1600200 h 1600200"/>
            </a:gdLst>
            <a:ahLst/>
            <a:cxnLst>
              <a:cxn ang="0">
                <a:pos x="connsiteX0" y="connsiteY0"/>
              </a:cxn>
              <a:cxn ang="0">
                <a:pos x="connsiteX1" y="connsiteY1"/>
              </a:cxn>
              <a:cxn ang="0">
                <a:pos x="connsiteX2" y="connsiteY2"/>
              </a:cxn>
            </a:cxnLst>
            <a:rect l="l" t="t" r="r" b="b"/>
            <a:pathLst>
              <a:path w="1381760" h="1600200">
                <a:moveTo>
                  <a:pt x="1381760" y="0"/>
                </a:moveTo>
                <a:cubicBezTo>
                  <a:pt x="1259616" y="137832"/>
                  <a:pt x="1154853" y="952500"/>
                  <a:pt x="924560" y="1219200"/>
                </a:cubicBezTo>
                <a:cubicBezTo>
                  <a:pt x="694267" y="1485900"/>
                  <a:pt x="29135" y="1571065"/>
                  <a:pt x="0" y="1600200"/>
                </a:cubicBezTo>
              </a:path>
            </a:pathLst>
          </a:custGeom>
          <a:ln w="50800">
            <a:solidFill>
              <a:schemeClr val="tx1"/>
            </a:solidFill>
            <a:prstDash val="sysDot"/>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flipH="1">
            <a:off x="4191000" y="3124200"/>
            <a:ext cx="1143001" cy="533400"/>
          </a:xfrm>
          <a:custGeom>
            <a:avLst/>
            <a:gdLst>
              <a:gd name="connsiteX0" fmla="*/ 1196788 w 1196788"/>
              <a:gd name="connsiteY0" fmla="*/ 0 h 685800"/>
              <a:gd name="connsiteX1" fmla="*/ 753035 w 1196788"/>
              <a:gd name="connsiteY1" fmla="*/ 389964 h 685800"/>
              <a:gd name="connsiteX2" fmla="*/ 0 w 1196788"/>
              <a:gd name="connsiteY2" fmla="*/ 685800 h 685800"/>
              <a:gd name="connsiteX0" fmla="*/ 1048732 w 1048732"/>
              <a:gd name="connsiteY0" fmla="*/ 0 h 533400"/>
              <a:gd name="connsiteX1" fmla="*/ 604979 w 1048732"/>
              <a:gd name="connsiteY1" fmla="*/ 389964 h 533400"/>
              <a:gd name="connsiteX2" fmla="*/ 0 w 1048732"/>
              <a:gd name="connsiteY2" fmla="*/ 533400 h 533400"/>
            </a:gdLst>
            <a:ahLst/>
            <a:cxnLst>
              <a:cxn ang="0">
                <a:pos x="connsiteX0" y="connsiteY0"/>
              </a:cxn>
              <a:cxn ang="0">
                <a:pos x="connsiteX1" y="connsiteY1"/>
              </a:cxn>
              <a:cxn ang="0">
                <a:pos x="connsiteX2" y="connsiteY2"/>
              </a:cxn>
            </a:cxnLst>
            <a:rect l="l" t="t" r="r" b="b"/>
            <a:pathLst>
              <a:path w="1048732" h="533400">
                <a:moveTo>
                  <a:pt x="1048732" y="0"/>
                </a:moveTo>
                <a:cubicBezTo>
                  <a:pt x="926588" y="137832"/>
                  <a:pt x="779768" y="301064"/>
                  <a:pt x="604979" y="389964"/>
                </a:cubicBezTo>
                <a:cubicBezTo>
                  <a:pt x="430190" y="478864"/>
                  <a:pt x="29135" y="504265"/>
                  <a:pt x="0" y="533400"/>
                </a:cubicBezTo>
              </a:path>
            </a:pathLst>
          </a:custGeom>
          <a:ln w="50800">
            <a:solidFill>
              <a:schemeClr val="tx1"/>
            </a:solidFill>
            <a:prstDash val="sysDot"/>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TextBox 51"/>
          <p:cNvSpPr txBox="1"/>
          <p:nvPr/>
        </p:nvSpPr>
        <p:spPr>
          <a:xfrm>
            <a:off x="3124200" y="4648200"/>
            <a:ext cx="1828800" cy="369332"/>
          </a:xfrm>
          <a:prstGeom prst="rect">
            <a:avLst/>
          </a:prstGeom>
          <a:noFill/>
          <a:ln w="38100">
            <a:solidFill>
              <a:schemeClr val="accent1">
                <a:shade val="50000"/>
              </a:schemeClr>
            </a:solidFill>
          </a:ln>
        </p:spPr>
        <p:txBody>
          <a:bodyPr wrap="square" rtlCol="0">
            <a:spAutoFit/>
          </a:bodyPr>
          <a:lstStyle/>
          <a:p>
            <a:r>
              <a:rPr lang="en-US" b="1" dirty="0" smtClean="0">
                <a:latin typeface="Garamond" pitchFamily="18" charset="0"/>
              </a:rPr>
              <a:t>2: Assign Tasks</a:t>
            </a:r>
            <a:endParaRPr lang="en-US" b="1" dirty="0">
              <a:latin typeface="Garamond" pitchFamily="18" charset="0"/>
            </a:endParaRPr>
          </a:p>
        </p:txBody>
      </p:sp>
      <p:sp>
        <p:nvSpPr>
          <p:cNvPr id="62" name="Oval 61"/>
          <p:cNvSpPr/>
          <p:nvPr/>
        </p:nvSpPr>
        <p:spPr>
          <a:xfrm>
            <a:off x="228600" y="914400"/>
            <a:ext cx="304800" cy="304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p:cNvSpPr txBox="1"/>
          <p:nvPr/>
        </p:nvSpPr>
        <p:spPr>
          <a:xfrm>
            <a:off x="609600" y="914400"/>
            <a:ext cx="1828800" cy="369332"/>
          </a:xfrm>
          <a:prstGeom prst="rect">
            <a:avLst/>
          </a:prstGeom>
          <a:noFill/>
        </p:spPr>
        <p:txBody>
          <a:bodyPr wrap="square" rtlCol="0">
            <a:spAutoFit/>
          </a:bodyPr>
          <a:lstStyle/>
          <a:p>
            <a:r>
              <a:rPr lang="en-US" b="1" dirty="0" smtClean="0">
                <a:latin typeface="Garamond" pitchFamily="18" charset="0"/>
              </a:rPr>
              <a:t>Map Tasks</a:t>
            </a:r>
            <a:endParaRPr lang="en-US" b="1" dirty="0">
              <a:latin typeface="Garamond" pitchFamily="18" charset="0"/>
            </a:endParaRPr>
          </a:p>
        </p:txBody>
      </p:sp>
      <p:sp>
        <p:nvSpPr>
          <p:cNvPr id="64" name="Oval 63"/>
          <p:cNvSpPr/>
          <p:nvPr/>
        </p:nvSpPr>
        <p:spPr>
          <a:xfrm>
            <a:off x="228600" y="1307068"/>
            <a:ext cx="304800" cy="304800"/>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p:cNvSpPr txBox="1"/>
          <p:nvPr/>
        </p:nvSpPr>
        <p:spPr>
          <a:xfrm>
            <a:off x="609600" y="1307068"/>
            <a:ext cx="1828800" cy="369332"/>
          </a:xfrm>
          <a:prstGeom prst="rect">
            <a:avLst/>
          </a:prstGeom>
          <a:noFill/>
        </p:spPr>
        <p:txBody>
          <a:bodyPr wrap="square" rtlCol="0">
            <a:spAutoFit/>
          </a:bodyPr>
          <a:lstStyle/>
          <a:p>
            <a:r>
              <a:rPr lang="en-US" b="1" dirty="0" smtClean="0">
                <a:latin typeface="Garamond" pitchFamily="18" charset="0"/>
              </a:rPr>
              <a:t>Reduce Tasks</a:t>
            </a:r>
            <a:endParaRPr lang="en-US" b="1" dirty="0">
              <a:latin typeface="Garamond" pitchFamily="18" charset="0"/>
            </a:endParaRPr>
          </a:p>
        </p:txBody>
      </p:sp>
      <p:sp>
        <p:nvSpPr>
          <p:cNvPr id="66" name="Oval 65"/>
          <p:cNvSpPr/>
          <p:nvPr/>
        </p:nvSpPr>
        <p:spPr>
          <a:xfrm>
            <a:off x="3581400" y="2895600"/>
            <a:ext cx="304800" cy="304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p:cNvSpPr/>
          <p:nvPr/>
        </p:nvSpPr>
        <p:spPr>
          <a:xfrm>
            <a:off x="3581400" y="2895600"/>
            <a:ext cx="304800" cy="304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p:cNvSpPr txBox="1"/>
          <p:nvPr/>
        </p:nvSpPr>
        <p:spPr>
          <a:xfrm flipH="1">
            <a:off x="0" y="1752600"/>
            <a:ext cx="2743200" cy="1200329"/>
          </a:xfrm>
          <a:prstGeom prst="rect">
            <a:avLst/>
          </a:prstGeom>
          <a:noFill/>
        </p:spPr>
        <p:txBody>
          <a:bodyPr wrap="square" rtlCol="0">
            <a:spAutoFit/>
          </a:bodyPr>
          <a:lstStyle/>
          <a:p>
            <a:r>
              <a:rPr lang="en-US" b="1" dirty="0" smtClean="0">
                <a:latin typeface="Garamond" pitchFamily="18" charset="0"/>
              </a:rPr>
              <a:t>Data is stored in a Distributed File System (e.g. </a:t>
            </a:r>
            <a:r>
              <a:rPr lang="en-US" b="1" dirty="0" err="1" smtClean="0">
                <a:latin typeface="Garamond" pitchFamily="18" charset="0"/>
              </a:rPr>
              <a:t>Hadoop</a:t>
            </a:r>
            <a:r>
              <a:rPr lang="en-US" b="1" dirty="0" smtClean="0">
                <a:latin typeface="Garamond" pitchFamily="18" charset="0"/>
              </a:rPr>
              <a:t> Distributed File System)</a:t>
            </a:r>
            <a:endParaRPr lang="en-US" b="1" dirty="0">
              <a:latin typeface="Garamond" pitchFamily="18" charset="0"/>
            </a:endParaRPr>
          </a:p>
        </p:txBody>
      </p:sp>
      <p:grpSp>
        <p:nvGrpSpPr>
          <p:cNvPr id="5" name="Group 79"/>
          <p:cNvGrpSpPr/>
          <p:nvPr/>
        </p:nvGrpSpPr>
        <p:grpSpPr>
          <a:xfrm>
            <a:off x="304800" y="2895600"/>
            <a:ext cx="990600" cy="3733800"/>
            <a:chOff x="304800" y="2895600"/>
            <a:chExt cx="990600" cy="3733800"/>
          </a:xfrm>
        </p:grpSpPr>
        <p:sp>
          <p:nvSpPr>
            <p:cNvPr id="32" name="Flowchart: Document 31"/>
            <p:cNvSpPr/>
            <p:nvPr/>
          </p:nvSpPr>
          <p:spPr>
            <a:xfrm>
              <a:off x="304800" y="2895600"/>
              <a:ext cx="990600" cy="3733800"/>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lowchart: Magnetic Disk 75"/>
            <p:cNvSpPr/>
            <p:nvPr/>
          </p:nvSpPr>
          <p:spPr>
            <a:xfrm>
              <a:off x="533400" y="3124200"/>
              <a:ext cx="533400" cy="533400"/>
            </a:xfrm>
            <a:prstGeom prst="flowChartMagneticDisk">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Flowchart: Magnetic Disk 76"/>
            <p:cNvSpPr/>
            <p:nvPr/>
          </p:nvSpPr>
          <p:spPr>
            <a:xfrm>
              <a:off x="533400" y="3733800"/>
              <a:ext cx="533400" cy="533400"/>
            </a:xfrm>
            <a:prstGeom prst="flowChartMagneticDisk">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Flowchart: Magnetic Disk 77"/>
            <p:cNvSpPr/>
            <p:nvPr/>
          </p:nvSpPr>
          <p:spPr>
            <a:xfrm>
              <a:off x="533400" y="4419600"/>
              <a:ext cx="533400" cy="533400"/>
            </a:xfrm>
            <a:prstGeom prst="flowChartMagneticDisk">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lowchart: Magnetic Disk 78"/>
            <p:cNvSpPr/>
            <p:nvPr/>
          </p:nvSpPr>
          <p:spPr>
            <a:xfrm>
              <a:off x="533400" y="5029200"/>
              <a:ext cx="533400" cy="533400"/>
            </a:xfrm>
            <a:prstGeom prst="flowChartMagneticDisk">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TextBox 38"/>
          <p:cNvSpPr txBox="1"/>
          <p:nvPr/>
        </p:nvSpPr>
        <p:spPr>
          <a:xfrm>
            <a:off x="6019800" y="1447800"/>
            <a:ext cx="2514600" cy="923330"/>
          </a:xfrm>
          <a:prstGeom prst="rect">
            <a:avLst/>
          </a:prstGeom>
          <a:noFill/>
        </p:spPr>
        <p:txBody>
          <a:bodyPr wrap="square" rtlCol="0">
            <a:spAutoFit/>
          </a:bodyPr>
          <a:lstStyle/>
          <a:p>
            <a:r>
              <a:rPr lang="en-US" b="1" dirty="0" smtClean="0">
                <a:latin typeface="Garamond" pitchFamily="18" charset="0"/>
              </a:rPr>
              <a:t>Control level work, e.g. job scheduling and task assignment</a:t>
            </a:r>
            <a:endParaRPr lang="en-US" b="1" dirty="0">
              <a:latin typeface="Garamond" pitchFamily="18" charset="0"/>
            </a:endParaRPr>
          </a:p>
        </p:txBody>
      </p:sp>
      <p:cxnSp>
        <p:nvCxnSpPr>
          <p:cNvPr id="40" name="Straight Arrow Connector 39"/>
          <p:cNvCxnSpPr/>
          <p:nvPr/>
        </p:nvCxnSpPr>
        <p:spPr>
          <a:xfrm rot="10800000" flipV="1">
            <a:off x="4343400" y="2133599"/>
            <a:ext cx="1676400" cy="380999"/>
          </a:xfrm>
          <a:prstGeom prst="straightConnector1">
            <a:avLst/>
          </a:prstGeom>
          <a:ln w="50800">
            <a:solidFill>
              <a:schemeClr val="accent2"/>
            </a:solidFill>
            <a:tailEnd type="arrow"/>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2819400" y="5943600"/>
            <a:ext cx="2514600" cy="923330"/>
          </a:xfrm>
          <a:prstGeom prst="rect">
            <a:avLst/>
          </a:prstGeom>
          <a:noFill/>
        </p:spPr>
        <p:txBody>
          <a:bodyPr wrap="square" rtlCol="0">
            <a:spAutoFit/>
          </a:bodyPr>
          <a:lstStyle/>
          <a:p>
            <a:r>
              <a:rPr lang="en-US" b="1" dirty="0" smtClean="0">
                <a:latin typeface="Garamond" pitchFamily="18" charset="0"/>
              </a:rPr>
              <a:t>Do data processing work specified by Map or Reduce Function</a:t>
            </a:r>
            <a:endParaRPr lang="en-US" b="1" dirty="0">
              <a:latin typeface="Garamond" pitchFamily="18" charset="0"/>
            </a:endParaRPr>
          </a:p>
        </p:txBody>
      </p:sp>
      <p:cxnSp>
        <p:nvCxnSpPr>
          <p:cNvPr id="54" name="Straight Arrow Connector 53"/>
          <p:cNvCxnSpPr/>
          <p:nvPr/>
        </p:nvCxnSpPr>
        <p:spPr>
          <a:xfrm rot="10800000">
            <a:off x="2895601" y="5410200"/>
            <a:ext cx="990601" cy="533400"/>
          </a:xfrm>
          <a:prstGeom prst="straightConnector1">
            <a:avLst/>
          </a:prstGeom>
          <a:ln w="50800">
            <a:solidFill>
              <a:schemeClr val="accent2"/>
            </a:solidFill>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flipV="1">
            <a:off x="3886200" y="5334001"/>
            <a:ext cx="1066800" cy="609599"/>
          </a:xfrm>
          <a:prstGeom prst="straightConnector1">
            <a:avLst/>
          </a:prstGeom>
          <a:ln w="50800">
            <a:solidFill>
              <a:schemeClr val="accent2"/>
            </a:solidFill>
            <a:tailEnd type="arrow"/>
          </a:ln>
        </p:spPr>
        <p:style>
          <a:lnRef idx="1">
            <a:schemeClr val="accent1"/>
          </a:lnRef>
          <a:fillRef idx="0">
            <a:schemeClr val="accent1"/>
          </a:fillRef>
          <a:effectRef idx="0">
            <a:schemeClr val="accent1"/>
          </a:effectRef>
          <a:fontRef idx="minor">
            <a:schemeClr val="tx1"/>
          </a:fontRef>
        </p:style>
      </p:cxnSp>
      <p:sp>
        <p:nvSpPr>
          <p:cNvPr id="60" name="Oval 59"/>
          <p:cNvSpPr/>
          <p:nvPr/>
        </p:nvSpPr>
        <p:spPr>
          <a:xfrm>
            <a:off x="5181600" y="3200400"/>
            <a:ext cx="1143000" cy="31242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p:cNvSpPr/>
          <p:nvPr/>
        </p:nvSpPr>
        <p:spPr>
          <a:xfrm>
            <a:off x="1600200" y="3276600"/>
            <a:ext cx="1143000" cy="31242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p:cNvSpPr txBox="1"/>
          <p:nvPr/>
        </p:nvSpPr>
        <p:spPr>
          <a:xfrm>
            <a:off x="6019800" y="780871"/>
            <a:ext cx="2514600" cy="1200329"/>
          </a:xfrm>
          <a:prstGeom prst="rect">
            <a:avLst/>
          </a:prstGeom>
          <a:noFill/>
          <a:ln w="9525">
            <a:noFill/>
          </a:ln>
        </p:spPr>
        <p:txBody>
          <a:bodyPr wrap="square" rtlCol="0">
            <a:spAutoFit/>
          </a:bodyPr>
          <a:lstStyle/>
          <a:p>
            <a:r>
              <a:rPr lang="en-US" sz="2400" b="1" dirty="0" smtClean="0">
                <a:solidFill>
                  <a:schemeClr val="accent2"/>
                </a:solidFill>
                <a:latin typeface="Garamond" pitchFamily="18" charset="0"/>
              </a:rPr>
              <a:t>The execution of a MR job involves 6 steps</a:t>
            </a:r>
            <a:endParaRPr lang="en-US" sz="2400" b="1" dirty="0">
              <a:solidFill>
                <a:schemeClr val="accent2"/>
              </a:solidFill>
              <a:latin typeface="Garamond" pitchFamily="18" charset="0"/>
            </a:endParaRPr>
          </a:p>
        </p:txBody>
      </p:sp>
      <p:pic>
        <p:nvPicPr>
          <p:cNvPr id="1027" name="Picture 3" descr="e:\Users\yhuai\Desktop\Picture1.png"/>
          <p:cNvPicPr>
            <a:picLocks noChangeAspect="1" noChangeArrowheads="1"/>
          </p:cNvPicPr>
          <p:nvPr/>
        </p:nvPicPr>
        <p:blipFill>
          <a:blip r:embed="rId4" cstate="print"/>
          <a:srcRect/>
          <a:stretch>
            <a:fillRect/>
          </a:stretch>
        </p:blipFill>
        <p:spPr bwMode="auto">
          <a:xfrm>
            <a:off x="3581400" y="1066800"/>
            <a:ext cx="854075" cy="609600"/>
          </a:xfrm>
          <a:prstGeom prst="rect">
            <a:avLst/>
          </a:prstGeom>
          <a:noFill/>
        </p:spPr>
      </p:pic>
    </p:spTree>
    <p:extLst>
      <p:ext uri="{BB962C8B-B14F-4D97-AF65-F5344CB8AC3E}">
        <p14:creationId xmlns:p14="http://schemas.microsoft.com/office/powerpoint/2010/main" val="3273457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childTnLst>
                          </p:cTn>
                        </p:par>
                        <p:par>
                          <p:cTn id="13" fill="hold">
                            <p:stCondLst>
                              <p:cond delay="0"/>
                            </p:stCondLst>
                            <p:childTnLst>
                              <p:par>
                                <p:cTn id="14" presetID="18" presetClass="entr" presetSubtype="12" fill="hold" nodeType="afterEffect">
                                  <p:stCondLst>
                                    <p:cond delay="0"/>
                                  </p:stCondLst>
                                  <p:childTnLst>
                                    <p:set>
                                      <p:cBhvr>
                                        <p:cTn id="15" dur="1" fill="hold">
                                          <p:stCondLst>
                                            <p:cond delay="0"/>
                                          </p:stCondLst>
                                        </p:cTn>
                                        <p:tgtEl>
                                          <p:spTgt spid="40"/>
                                        </p:tgtEl>
                                        <p:attrNameLst>
                                          <p:attrName>style.visibility</p:attrName>
                                        </p:attrNameLst>
                                      </p:cBhvr>
                                      <p:to>
                                        <p:strVal val="visible"/>
                                      </p:to>
                                    </p:set>
                                    <p:animEffect transition="in" filter="strips(downLeft)">
                                      <p:cBhvr>
                                        <p:cTn id="16" dur="500"/>
                                        <p:tgtEl>
                                          <p:spTgt spid="40"/>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3"/>
                                        </p:tgtEl>
                                        <p:attrNameLst>
                                          <p:attrName>style.visibility</p:attrName>
                                        </p:attrNameLst>
                                      </p:cBhvr>
                                      <p:to>
                                        <p:strVal val="visible"/>
                                      </p:to>
                                    </p:set>
                                  </p:childTnLst>
                                </p:cTn>
                              </p:par>
                            </p:childTnLst>
                          </p:cTn>
                        </p:par>
                        <p:par>
                          <p:cTn id="45" fill="hold">
                            <p:stCondLst>
                              <p:cond delay="0"/>
                            </p:stCondLst>
                            <p:childTnLst>
                              <p:par>
                                <p:cTn id="46" presetID="22" presetClass="entr" presetSubtype="4" fill="hold" nodeType="afterEffect">
                                  <p:stCondLst>
                                    <p:cond delay="0"/>
                                  </p:stCondLst>
                                  <p:childTnLst>
                                    <p:set>
                                      <p:cBhvr>
                                        <p:cTn id="47" dur="1" fill="hold">
                                          <p:stCondLst>
                                            <p:cond delay="0"/>
                                          </p:stCondLst>
                                        </p:cTn>
                                        <p:tgtEl>
                                          <p:spTgt spid="57"/>
                                        </p:tgtEl>
                                        <p:attrNameLst>
                                          <p:attrName>style.visibility</p:attrName>
                                        </p:attrNameLst>
                                      </p:cBhvr>
                                      <p:to>
                                        <p:strVal val="visible"/>
                                      </p:to>
                                    </p:set>
                                    <p:animEffect transition="in" filter="wipe(down)">
                                      <p:cBhvr>
                                        <p:cTn id="48" dur="500"/>
                                        <p:tgtEl>
                                          <p:spTgt spid="57"/>
                                        </p:tgtEl>
                                      </p:cBhvr>
                                    </p:animEffect>
                                  </p:childTnLst>
                                </p:cTn>
                              </p:par>
                              <p:par>
                                <p:cTn id="49" presetID="22" presetClass="entr" presetSubtype="4" fill="hold" nodeType="withEffect">
                                  <p:stCondLst>
                                    <p:cond delay="0"/>
                                  </p:stCondLst>
                                  <p:childTnLst>
                                    <p:set>
                                      <p:cBhvr>
                                        <p:cTn id="50" dur="1" fill="hold">
                                          <p:stCondLst>
                                            <p:cond delay="0"/>
                                          </p:stCondLst>
                                        </p:cTn>
                                        <p:tgtEl>
                                          <p:spTgt spid="54"/>
                                        </p:tgtEl>
                                        <p:attrNameLst>
                                          <p:attrName>style.visibility</p:attrName>
                                        </p:attrNameLst>
                                      </p:cBhvr>
                                      <p:to>
                                        <p:strVal val="visible"/>
                                      </p:to>
                                    </p:set>
                                    <p:animEffect transition="in" filter="wipe(down)">
                                      <p:cBhvr>
                                        <p:cTn id="51" dur="500"/>
                                        <p:tgtEl>
                                          <p:spTgt spid="54"/>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74"/>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5"/>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xit" presetSubtype="0" fill="hold" grpId="1" nodeType="clickEffect">
                                  <p:stCondLst>
                                    <p:cond delay="0"/>
                                  </p:stCondLst>
                                  <p:childTnLst>
                                    <p:set>
                                      <p:cBhvr>
                                        <p:cTn id="61" dur="1" fill="hold">
                                          <p:stCondLst>
                                            <p:cond delay="0"/>
                                          </p:stCondLst>
                                        </p:cTn>
                                        <p:tgtEl>
                                          <p:spTgt spid="60"/>
                                        </p:tgtEl>
                                        <p:attrNameLst>
                                          <p:attrName>style.visibility</p:attrName>
                                        </p:attrNameLst>
                                      </p:cBhvr>
                                      <p:to>
                                        <p:strVal val="hidden"/>
                                      </p:to>
                                    </p:set>
                                  </p:childTnLst>
                                </p:cTn>
                              </p:par>
                              <p:par>
                                <p:cTn id="62" presetID="1" presetClass="exit" presetSubtype="0" fill="hold" grpId="1" nodeType="withEffect">
                                  <p:stCondLst>
                                    <p:cond delay="0"/>
                                  </p:stCondLst>
                                  <p:childTnLst>
                                    <p:set>
                                      <p:cBhvr>
                                        <p:cTn id="63" dur="1" fill="hold">
                                          <p:stCondLst>
                                            <p:cond delay="0"/>
                                          </p:stCondLst>
                                        </p:cTn>
                                        <p:tgtEl>
                                          <p:spTgt spid="61"/>
                                        </p:tgtEl>
                                        <p:attrNameLst>
                                          <p:attrName>style.visibility</p:attrName>
                                        </p:attrNameLst>
                                      </p:cBhvr>
                                      <p:to>
                                        <p:strVal val="hidden"/>
                                      </p:to>
                                    </p:set>
                                  </p:childTnLst>
                                </p:cTn>
                              </p:par>
                              <p:par>
                                <p:cTn id="64" presetID="1" presetClass="exit" presetSubtype="0" fill="hold" grpId="1" nodeType="withEffect">
                                  <p:stCondLst>
                                    <p:cond delay="0"/>
                                  </p:stCondLst>
                                  <p:childTnLst>
                                    <p:set>
                                      <p:cBhvr>
                                        <p:cTn id="65" dur="1" fill="hold">
                                          <p:stCondLst>
                                            <p:cond delay="0"/>
                                          </p:stCondLst>
                                        </p:cTn>
                                        <p:tgtEl>
                                          <p:spTgt spid="39"/>
                                        </p:tgtEl>
                                        <p:attrNameLst>
                                          <p:attrName>style.visibility</p:attrName>
                                        </p:attrNameLst>
                                      </p:cBhvr>
                                      <p:to>
                                        <p:strVal val="hidden"/>
                                      </p:to>
                                    </p:set>
                                  </p:childTnLst>
                                </p:cTn>
                              </p:par>
                              <p:par>
                                <p:cTn id="66" presetID="1" presetClass="exit" presetSubtype="0" fill="hold" nodeType="withEffect">
                                  <p:stCondLst>
                                    <p:cond delay="0"/>
                                  </p:stCondLst>
                                  <p:childTnLst>
                                    <p:set>
                                      <p:cBhvr>
                                        <p:cTn id="67" dur="1" fill="hold">
                                          <p:stCondLst>
                                            <p:cond delay="0"/>
                                          </p:stCondLst>
                                        </p:cTn>
                                        <p:tgtEl>
                                          <p:spTgt spid="40"/>
                                        </p:tgtEl>
                                        <p:attrNameLst>
                                          <p:attrName>style.visibility</p:attrName>
                                        </p:attrNameLst>
                                      </p:cBhvr>
                                      <p:to>
                                        <p:strVal val="hidden"/>
                                      </p:to>
                                    </p:set>
                                  </p:childTnLst>
                                </p:cTn>
                              </p:par>
                              <p:par>
                                <p:cTn id="68" presetID="1" presetClass="exit" presetSubtype="0" fill="hold" nodeType="withEffect">
                                  <p:stCondLst>
                                    <p:cond delay="0"/>
                                  </p:stCondLst>
                                  <p:childTnLst>
                                    <p:set>
                                      <p:cBhvr>
                                        <p:cTn id="69" dur="1" fill="hold">
                                          <p:stCondLst>
                                            <p:cond delay="0"/>
                                          </p:stCondLst>
                                        </p:cTn>
                                        <p:tgtEl>
                                          <p:spTgt spid="57"/>
                                        </p:tgtEl>
                                        <p:attrNameLst>
                                          <p:attrName>style.visibility</p:attrName>
                                        </p:attrNameLst>
                                      </p:cBhvr>
                                      <p:to>
                                        <p:strVal val="hidden"/>
                                      </p:to>
                                    </p:set>
                                  </p:childTnLst>
                                </p:cTn>
                              </p:par>
                              <p:par>
                                <p:cTn id="70" presetID="1" presetClass="exit" presetSubtype="0" fill="hold" nodeType="withEffect">
                                  <p:stCondLst>
                                    <p:cond delay="0"/>
                                  </p:stCondLst>
                                  <p:childTnLst>
                                    <p:set>
                                      <p:cBhvr>
                                        <p:cTn id="71" dur="1" fill="hold">
                                          <p:stCondLst>
                                            <p:cond delay="0"/>
                                          </p:stCondLst>
                                        </p:cTn>
                                        <p:tgtEl>
                                          <p:spTgt spid="54"/>
                                        </p:tgtEl>
                                        <p:attrNameLst>
                                          <p:attrName>style.visibility</p:attrName>
                                        </p:attrNameLst>
                                      </p:cBhvr>
                                      <p:to>
                                        <p:strVal val="hidden"/>
                                      </p:to>
                                    </p:set>
                                  </p:childTnLst>
                                </p:cTn>
                              </p:par>
                              <p:par>
                                <p:cTn id="72" presetID="1" presetClass="exit" presetSubtype="0" fill="hold" grpId="1" nodeType="withEffect">
                                  <p:stCondLst>
                                    <p:cond delay="0"/>
                                  </p:stCondLst>
                                  <p:childTnLst>
                                    <p:set>
                                      <p:cBhvr>
                                        <p:cTn id="73" dur="1" fill="hold">
                                          <p:stCondLst>
                                            <p:cond delay="0"/>
                                          </p:stCondLst>
                                        </p:cTn>
                                        <p:tgtEl>
                                          <p:spTgt spid="53"/>
                                        </p:tgtEl>
                                        <p:attrNameLst>
                                          <p:attrName>style.visibility</p:attrName>
                                        </p:attrNameLst>
                                      </p:cBhvr>
                                      <p:to>
                                        <p:strVal val="hidden"/>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7"/>
                                        </p:tgtEl>
                                        <p:attrNameLst>
                                          <p:attrName>style.visibility</p:attrName>
                                        </p:attrNameLst>
                                      </p:cBhvr>
                                      <p:to>
                                        <p:strVal val="visible"/>
                                      </p:to>
                                    </p:set>
                                  </p:childTnLst>
                                </p:cTn>
                              </p:par>
                              <p:par>
                                <p:cTn id="78" presetID="1" presetClass="entr" presetSubtype="0" fill="hold" nodeType="withEffect">
                                  <p:stCondLst>
                                    <p:cond delay="0"/>
                                  </p:stCondLst>
                                  <p:childTnLst>
                                    <p:set>
                                      <p:cBhvr>
                                        <p:cTn id="79" dur="1" fill="hold">
                                          <p:stCondLst>
                                            <p:cond delay="0"/>
                                          </p:stCondLst>
                                        </p:cTn>
                                        <p:tgtEl>
                                          <p:spTgt spid="1027"/>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46"/>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22" presetClass="entr" presetSubtype="1" fill="hold" nodeType="clickEffect">
                                  <p:stCondLst>
                                    <p:cond delay="0"/>
                                  </p:stCondLst>
                                  <p:childTnLst>
                                    <p:set>
                                      <p:cBhvr>
                                        <p:cTn id="85" dur="1" fill="hold">
                                          <p:stCondLst>
                                            <p:cond delay="0"/>
                                          </p:stCondLst>
                                        </p:cTn>
                                        <p:tgtEl>
                                          <p:spTgt spid="14"/>
                                        </p:tgtEl>
                                        <p:attrNameLst>
                                          <p:attrName>style.visibility</p:attrName>
                                        </p:attrNameLst>
                                      </p:cBhvr>
                                      <p:to>
                                        <p:strVal val="visible"/>
                                      </p:to>
                                    </p:set>
                                    <p:animEffect transition="in" filter="wipe(up)">
                                      <p:cBhvr>
                                        <p:cTn id="86" dur="500"/>
                                        <p:tgtEl>
                                          <p:spTgt spid="14"/>
                                        </p:tgtEl>
                                      </p:cBhvr>
                                    </p:animEffect>
                                  </p:childTnLst>
                                </p:cTn>
                              </p:par>
                              <p:par>
                                <p:cTn id="87" presetID="1" presetClass="entr" presetSubtype="0" fill="hold" grpId="0" nodeType="withEffect">
                                  <p:stCondLst>
                                    <p:cond delay="0"/>
                                  </p:stCondLst>
                                  <p:childTnLst>
                                    <p:set>
                                      <p:cBhvr>
                                        <p:cTn id="88" dur="1" fill="hold">
                                          <p:stCondLst>
                                            <p:cond delay="0"/>
                                          </p:stCondLst>
                                        </p:cTn>
                                        <p:tgtEl>
                                          <p:spTgt spid="16"/>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52"/>
                                        </p:tgtEl>
                                        <p:attrNameLst>
                                          <p:attrName>style.visibility</p:attrName>
                                        </p:attrNameLst>
                                      </p:cBhvr>
                                      <p:to>
                                        <p:strVal val="visible"/>
                                      </p:to>
                                    </p:set>
                                  </p:childTnLst>
                                </p:cTn>
                              </p:par>
                            </p:childTnLst>
                          </p:cTn>
                        </p:par>
                        <p:par>
                          <p:cTn id="93" fill="hold">
                            <p:stCondLst>
                              <p:cond delay="0"/>
                            </p:stCondLst>
                            <p:childTnLst>
                              <p:par>
                                <p:cTn id="94" presetID="1" presetClass="entr" presetSubtype="0" fill="hold" nodeType="afterEffect">
                                  <p:stCondLst>
                                    <p:cond delay="0"/>
                                  </p:stCondLst>
                                  <p:childTnLst>
                                    <p:set>
                                      <p:cBhvr>
                                        <p:cTn id="95" dur="1" fill="hold">
                                          <p:stCondLst>
                                            <p:cond delay="0"/>
                                          </p:stCondLst>
                                        </p:cTn>
                                        <p:tgtEl>
                                          <p:spTgt spid="63"/>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62"/>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64"/>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65"/>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22" presetClass="entr" presetSubtype="1" fill="hold" grpId="0" nodeType="clickEffect">
                                  <p:stCondLst>
                                    <p:cond delay="0"/>
                                  </p:stCondLst>
                                  <p:childTnLst>
                                    <p:set>
                                      <p:cBhvr>
                                        <p:cTn id="105" dur="1" fill="hold">
                                          <p:stCondLst>
                                            <p:cond delay="0"/>
                                          </p:stCondLst>
                                        </p:cTn>
                                        <p:tgtEl>
                                          <p:spTgt spid="48"/>
                                        </p:tgtEl>
                                        <p:attrNameLst>
                                          <p:attrName>style.visibility</p:attrName>
                                        </p:attrNameLst>
                                      </p:cBhvr>
                                      <p:to>
                                        <p:strVal val="visible"/>
                                      </p:to>
                                    </p:set>
                                    <p:animEffect transition="in" filter="wipe(up)">
                                      <p:cBhvr>
                                        <p:cTn id="106" dur="500"/>
                                        <p:tgtEl>
                                          <p:spTgt spid="48"/>
                                        </p:tgtEl>
                                      </p:cBhvr>
                                    </p:animEffect>
                                  </p:childTnLst>
                                </p:cTn>
                              </p:par>
                              <p:par>
                                <p:cTn id="107" presetID="22" presetClass="entr" presetSubtype="1" fill="hold" grpId="0" nodeType="withEffect">
                                  <p:stCondLst>
                                    <p:cond delay="0"/>
                                  </p:stCondLst>
                                  <p:childTnLst>
                                    <p:set>
                                      <p:cBhvr>
                                        <p:cTn id="108" dur="1" fill="hold">
                                          <p:stCondLst>
                                            <p:cond delay="0"/>
                                          </p:stCondLst>
                                        </p:cTn>
                                        <p:tgtEl>
                                          <p:spTgt spid="49"/>
                                        </p:tgtEl>
                                        <p:attrNameLst>
                                          <p:attrName>style.visibility</p:attrName>
                                        </p:attrNameLst>
                                      </p:cBhvr>
                                      <p:to>
                                        <p:strVal val="visible"/>
                                      </p:to>
                                    </p:set>
                                    <p:animEffect transition="in" filter="wipe(up)">
                                      <p:cBhvr>
                                        <p:cTn id="109" dur="500"/>
                                        <p:tgtEl>
                                          <p:spTgt spid="49"/>
                                        </p:tgtEl>
                                      </p:cBhvr>
                                    </p:animEffect>
                                  </p:childTnLst>
                                </p:cTn>
                              </p:par>
                              <p:par>
                                <p:cTn id="110" presetID="22" presetClass="entr" presetSubtype="1" fill="hold" grpId="0" nodeType="withEffect">
                                  <p:stCondLst>
                                    <p:cond delay="0"/>
                                  </p:stCondLst>
                                  <p:childTnLst>
                                    <p:set>
                                      <p:cBhvr>
                                        <p:cTn id="111" dur="1" fill="hold">
                                          <p:stCondLst>
                                            <p:cond delay="0"/>
                                          </p:stCondLst>
                                        </p:cTn>
                                        <p:tgtEl>
                                          <p:spTgt spid="50"/>
                                        </p:tgtEl>
                                        <p:attrNameLst>
                                          <p:attrName>style.visibility</p:attrName>
                                        </p:attrNameLst>
                                      </p:cBhvr>
                                      <p:to>
                                        <p:strVal val="visible"/>
                                      </p:to>
                                    </p:set>
                                    <p:animEffect transition="in" filter="wipe(up)">
                                      <p:cBhvr>
                                        <p:cTn id="112" dur="500"/>
                                        <p:tgtEl>
                                          <p:spTgt spid="50"/>
                                        </p:tgtEl>
                                      </p:cBhvr>
                                    </p:animEffect>
                                  </p:childTnLst>
                                </p:cTn>
                              </p:par>
                              <p:par>
                                <p:cTn id="113" presetID="22" presetClass="entr" presetSubtype="1" fill="hold" grpId="0" nodeType="withEffect">
                                  <p:stCondLst>
                                    <p:cond delay="0"/>
                                  </p:stCondLst>
                                  <p:childTnLst>
                                    <p:set>
                                      <p:cBhvr>
                                        <p:cTn id="114" dur="1" fill="hold">
                                          <p:stCondLst>
                                            <p:cond delay="0"/>
                                          </p:stCondLst>
                                        </p:cTn>
                                        <p:tgtEl>
                                          <p:spTgt spid="51"/>
                                        </p:tgtEl>
                                        <p:attrNameLst>
                                          <p:attrName>style.visibility</p:attrName>
                                        </p:attrNameLst>
                                      </p:cBhvr>
                                      <p:to>
                                        <p:strVal val="visible"/>
                                      </p:to>
                                    </p:set>
                                    <p:animEffect transition="in" filter="wipe(up)">
                                      <p:cBhvr>
                                        <p:cTn id="115" dur="500"/>
                                        <p:tgtEl>
                                          <p:spTgt spid="51"/>
                                        </p:tgtEl>
                                      </p:cBhvr>
                                    </p:animEffect>
                                  </p:childTnLst>
                                </p:cTn>
                              </p:par>
                              <p:par>
                                <p:cTn id="116" presetID="1" presetClass="entr" presetSubtype="0" fill="hold" grpId="0" nodeType="withEffect">
                                  <p:stCondLst>
                                    <p:cond delay="0"/>
                                  </p:stCondLst>
                                  <p:childTnLst>
                                    <p:set>
                                      <p:cBhvr>
                                        <p:cTn id="117" dur="1" fill="hold">
                                          <p:stCondLst>
                                            <p:cond delay="0"/>
                                          </p:stCondLst>
                                        </p:cTn>
                                        <p:tgtEl>
                                          <p:spTgt spid="68"/>
                                        </p:tgtEl>
                                        <p:attrNameLst>
                                          <p:attrName>style.visibility</p:attrName>
                                        </p:attrNameLst>
                                      </p:cBhvr>
                                      <p:to>
                                        <p:strVal val="visible"/>
                                      </p:to>
                                    </p:set>
                                  </p:childTnLst>
                                </p:cTn>
                              </p:par>
                              <p:par>
                                <p:cTn id="118" presetID="1" presetClass="entr" presetSubtype="0" fill="hold" nodeType="withEffect">
                                  <p:stCondLst>
                                    <p:cond delay="0"/>
                                  </p:stCondLst>
                                  <p:childTnLst>
                                    <p:set>
                                      <p:cBhvr>
                                        <p:cTn id="119" dur="1" fill="hold">
                                          <p:stCondLst>
                                            <p:cond delay="0"/>
                                          </p:stCondLst>
                                        </p:cTn>
                                        <p:tgtEl>
                                          <p:spTgt spid="69"/>
                                        </p:tgtEl>
                                        <p:attrNameLst>
                                          <p:attrName>style.visibility</p:attrName>
                                        </p:attrNameLst>
                                      </p:cBhvr>
                                      <p:to>
                                        <p:strVal val="visible"/>
                                      </p:to>
                                    </p:set>
                                  </p:childTnLst>
                                </p:cTn>
                              </p:par>
                              <p:par>
                                <p:cTn id="120" presetID="1" presetClass="entr" presetSubtype="0" fill="hold" nodeType="withEffect">
                                  <p:stCondLst>
                                    <p:cond delay="0"/>
                                  </p:stCondLst>
                                  <p:childTnLst>
                                    <p:set>
                                      <p:cBhvr>
                                        <p:cTn id="121" dur="1" fill="hold">
                                          <p:stCondLst>
                                            <p:cond delay="0"/>
                                          </p:stCondLst>
                                        </p:cTn>
                                        <p:tgtEl>
                                          <p:spTgt spid="67"/>
                                        </p:tgtEl>
                                        <p:attrNameLst>
                                          <p:attrName>style.visibility</p:attrName>
                                        </p:attrNameLst>
                                      </p:cBhvr>
                                      <p:to>
                                        <p:strVal val="visible"/>
                                      </p:to>
                                    </p:set>
                                  </p:childTnLst>
                                </p:cTn>
                              </p:par>
                              <p:par>
                                <p:cTn id="122" presetID="1" presetClass="entr" presetSubtype="0" fill="hold" nodeType="withEffect">
                                  <p:stCondLst>
                                    <p:cond delay="0"/>
                                  </p:stCondLst>
                                  <p:childTnLst>
                                    <p:set>
                                      <p:cBhvr>
                                        <p:cTn id="123" dur="1" fill="hold">
                                          <p:stCondLst>
                                            <p:cond delay="0"/>
                                          </p:stCondLst>
                                        </p:cTn>
                                        <p:tgtEl>
                                          <p:spTgt spid="66"/>
                                        </p:tgtEl>
                                        <p:attrNameLst>
                                          <p:attrName>style.visibility</p:attrName>
                                        </p:attrNameLst>
                                      </p:cBhvr>
                                      <p:to>
                                        <p:strVal val="visible"/>
                                      </p:to>
                                    </p:set>
                                  </p:childTnLst>
                                </p:cTn>
                              </p:par>
                              <p:par>
                                <p:cTn id="124" presetID="0" presetClass="path" presetSubtype="0" accel="50000" decel="50000" fill="hold" grpId="1" nodeType="withEffect">
                                  <p:stCondLst>
                                    <p:cond delay="0"/>
                                  </p:stCondLst>
                                  <p:childTnLst>
                                    <p:animMotion origin="layout" path="M 0 0 C 0.02378 0.03773 0.04757 0.07569 0.0809 0.09421 C 0.11424 0.11273 0.18142 0.10833 0.2 0.1118 " pathEditMode="relative" ptsTypes="aaA">
                                      <p:cBhvr>
                                        <p:cTn id="125" dur="500" fill="hold"/>
                                        <p:tgtEl>
                                          <p:spTgt spid="68"/>
                                        </p:tgtEl>
                                        <p:attrNameLst>
                                          <p:attrName>ppt_x</p:attrName>
                                          <p:attrName>ppt_y</p:attrName>
                                        </p:attrNameLst>
                                      </p:cBhvr>
                                    </p:animMotion>
                                  </p:childTnLst>
                                </p:cTn>
                              </p:par>
                              <p:par>
                                <p:cTn id="126" presetID="0" presetClass="path" presetSubtype="0" accel="50000" decel="50000" fill="hold" grpId="0" nodeType="withEffect">
                                  <p:stCondLst>
                                    <p:cond delay="0"/>
                                  </p:stCondLst>
                                  <p:childTnLst>
                                    <p:animMotion origin="layout" path="M 0 0 C -0.00122 0.08657 -0.00243 0.17315 0.0309 0.21759 C 0.06424 0.26204 0.17205 0.25856 0.2 0.26667 " pathEditMode="relative" ptsTypes="aaA">
                                      <p:cBhvr>
                                        <p:cTn id="127" dur="500" fill="hold"/>
                                        <p:tgtEl>
                                          <p:spTgt spid="69"/>
                                        </p:tgtEl>
                                        <p:attrNameLst>
                                          <p:attrName>ppt_x</p:attrName>
                                          <p:attrName>ppt_y</p:attrName>
                                        </p:attrNameLst>
                                      </p:cBhvr>
                                    </p:animMotion>
                                  </p:childTnLst>
                                </p:cTn>
                              </p:par>
                              <p:par>
                                <p:cTn id="128" presetID="0" presetClass="path" presetSubtype="0" accel="50000" decel="50000" fill="hold" grpId="0" nodeType="withEffect">
                                  <p:stCondLst>
                                    <p:cond delay="0"/>
                                  </p:stCondLst>
                                  <p:childTnLst>
                                    <p:animMotion origin="layout" path="M -3.33333E-6 -4.44444E-6 C -0.02847 0.04838 -0.05677 0.09676 -0.08177 0.12061 C -0.10677 0.14445 -0.12847 0.14329 -0.15 0.1426 " pathEditMode="relative" rAng="0" ptsTypes="aaA">
                                      <p:cBhvr>
                                        <p:cTn id="129" dur="500" fill="hold"/>
                                        <p:tgtEl>
                                          <p:spTgt spid="67"/>
                                        </p:tgtEl>
                                        <p:attrNameLst>
                                          <p:attrName>ppt_x</p:attrName>
                                          <p:attrName>ppt_y</p:attrName>
                                        </p:attrNameLst>
                                      </p:cBhvr>
                                      <p:rCtr x="-7500" y="7200"/>
                                    </p:animMotion>
                                  </p:childTnLst>
                                </p:cTn>
                              </p:par>
                              <p:par>
                                <p:cTn id="130" presetID="0" presetClass="path" presetSubtype="0" accel="50000" decel="50000" fill="hold" grpId="0" nodeType="withEffect">
                                  <p:stCondLst>
                                    <p:cond delay="0"/>
                                  </p:stCondLst>
                                  <p:childTnLst>
                                    <p:animMotion origin="layout" path="M -3.33333E-6 -4.44444E-6 C -0.0085 0.08797 -0.01701 0.17639 -0.04201 0.22477 C -0.06701 0.27292 -0.12812 0.27524 -0.15 0.28889 " pathEditMode="relative" rAng="0" ptsTypes="aaA">
                                      <p:cBhvr>
                                        <p:cTn id="131" dur="500" fill="hold"/>
                                        <p:tgtEl>
                                          <p:spTgt spid="66"/>
                                        </p:tgtEl>
                                        <p:attrNameLst>
                                          <p:attrName>ppt_x</p:attrName>
                                          <p:attrName>ppt_y</p:attrName>
                                        </p:attrNameLst>
                                      </p:cBhvr>
                                      <p:rCtr x="-7500" y="14400"/>
                                    </p:animMotion>
                                  </p:childTnLst>
                                </p:cTn>
                              </p:par>
                            </p:childTnLst>
                          </p:cTn>
                        </p:par>
                        <p:par>
                          <p:cTn id="132" fill="hold">
                            <p:stCondLst>
                              <p:cond delay="500"/>
                            </p:stCondLst>
                            <p:childTnLst>
                              <p:par>
                                <p:cTn id="133" presetID="1" presetClass="exit" presetSubtype="0" fill="hold" nodeType="afterEffect">
                                  <p:stCondLst>
                                    <p:cond delay="0"/>
                                  </p:stCondLst>
                                  <p:childTnLst>
                                    <p:set>
                                      <p:cBhvr>
                                        <p:cTn id="134" dur="1" fill="hold">
                                          <p:stCondLst>
                                            <p:cond delay="0"/>
                                          </p:stCondLst>
                                        </p:cTn>
                                        <p:tgtEl>
                                          <p:spTgt spid="21"/>
                                        </p:tgtEl>
                                        <p:attrNameLst>
                                          <p:attrName>style.visibility</p:attrName>
                                        </p:attrNameLst>
                                      </p:cBhvr>
                                      <p:to>
                                        <p:strVal val="hidden"/>
                                      </p:to>
                                    </p:set>
                                  </p:childTnLst>
                                </p:cTn>
                              </p:par>
                              <p:par>
                                <p:cTn id="135" presetID="1" presetClass="exit" presetSubtype="0" fill="hold" nodeType="withEffect">
                                  <p:stCondLst>
                                    <p:cond delay="0"/>
                                  </p:stCondLst>
                                  <p:childTnLst>
                                    <p:set>
                                      <p:cBhvr>
                                        <p:cTn id="136" dur="1" fill="hold">
                                          <p:stCondLst>
                                            <p:cond delay="0"/>
                                          </p:stCondLst>
                                        </p:cTn>
                                        <p:tgtEl>
                                          <p:spTgt spid="4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68" grpId="1" animBg="1"/>
      <p:bldP spid="69" grpId="0" animBg="1"/>
      <p:bldP spid="7" grpId="0"/>
      <p:bldP spid="10" grpId="0"/>
      <p:bldP spid="16" grpId="0" animBg="1"/>
      <p:bldP spid="18" grpId="0"/>
      <p:bldP spid="44" grpId="0"/>
      <p:bldP spid="48" grpId="0" animBg="1"/>
      <p:bldP spid="49" grpId="0" animBg="1"/>
      <p:bldP spid="50" grpId="0" animBg="1"/>
      <p:bldP spid="51" grpId="0" animBg="1"/>
      <p:bldP spid="52" grpId="0" animBg="1"/>
      <p:bldP spid="62" grpId="0" animBg="1"/>
      <p:bldP spid="64" grpId="0" animBg="1"/>
      <p:bldP spid="65" grpId="0"/>
      <p:bldP spid="66" grpId="0" animBg="1"/>
      <p:bldP spid="67" grpId="0" animBg="1"/>
      <p:bldP spid="74" grpId="0"/>
      <p:bldP spid="39" grpId="0"/>
      <p:bldP spid="39" grpId="1"/>
      <p:bldP spid="53" grpId="0"/>
      <p:bldP spid="53" grpId="1"/>
      <p:bldP spid="60" grpId="0" animBg="1"/>
      <p:bldP spid="60" grpId="1" animBg="1"/>
      <p:bldP spid="61" grpId="0" animBg="1"/>
      <p:bldP spid="61" grpId="1" animBg="1"/>
      <p:bldP spid="46"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6" name="Straight Arrow Connector 105"/>
          <p:cNvCxnSpPr/>
          <p:nvPr/>
        </p:nvCxnSpPr>
        <p:spPr>
          <a:xfrm>
            <a:off x="3505200" y="4114800"/>
            <a:ext cx="1143000" cy="457200"/>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107" name="Straight Arrow Connector 106"/>
          <p:cNvCxnSpPr/>
          <p:nvPr/>
        </p:nvCxnSpPr>
        <p:spPr>
          <a:xfrm flipV="1">
            <a:off x="3581400" y="4114800"/>
            <a:ext cx="1066800" cy="533400"/>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108" name="Straight Arrow Connector 107"/>
          <p:cNvCxnSpPr/>
          <p:nvPr/>
        </p:nvCxnSpPr>
        <p:spPr>
          <a:xfrm>
            <a:off x="3505200" y="3429000"/>
            <a:ext cx="1143000" cy="1588"/>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109" name="Straight Arrow Connector 108"/>
          <p:cNvCxnSpPr/>
          <p:nvPr/>
        </p:nvCxnSpPr>
        <p:spPr>
          <a:xfrm>
            <a:off x="3581400" y="5484812"/>
            <a:ext cx="1066800" cy="1588"/>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102" name="Flowchart: Magnetic Disk 101"/>
          <p:cNvSpPr/>
          <p:nvPr/>
        </p:nvSpPr>
        <p:spPr>
          <a:xfrm>
            <a:off x="2895600" y="3124200"/>
            <a:ext cx="533400" cy="533400"/>
          </a:xfrm>
          <a:prstGeom prst="flowChartMagneticDisk">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Flowchart: Magnetic Disk 102"/>
          <p:cNvSpPr/>
          <p:nvPr/>
        </p:nvSpPr>
        <p:spPr>
          <a:xfrm>
            <a:off x="2895600" y="3810000"/>
            <a:ext cx="533400" cy="533400"/>
          </a:xfrm>
          <a:prstGeom prst="flowChartMagneticDisk">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Flowchart: Magnetic Disk 103"/>
          <p:cNvSpPr/>
          <p:nvPr/>
        </p:nvSpPr>
        <p:spPr>
          <a:xfrm>
            <a:off x="2895600" y="4495800"/>
            <a:ext cx="533400" cy="533400"/>
          </a:xfrm>
          <a:prstGeom prst="flowChartMagneticDisk">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Flowchart: Magnetic Disk 104"/>
          <p:cNvSpPr/>
          <p:nvPr/>
        </p:nvSpPr>
        <p:spPr>
          <a:xfrm>
            <a:off x="2895600" y="5181600"/>
            <a:ext cx="533400" cy="533400"/>
          </a:xfrm>
          <a:prstGeom prst="flowChartMagneticDisk">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p:cNvPicPr>
            <a:picLocks noChangeAspect="1" noChangeArrowheads="1"/>
          </p:cNvPicPr>
          <p:nvPr/>
        </p:nvPicPr>
        <p:blipFill>
          <a:blip r:embed="rId3" cstate="print"/>
          <a:srcRect/>
          <a:stretch>
            <a:fillRect/>
          </a:stretch>
        </p:blipFill>
        <p:spPr bwMode="auto">
          <a:xfrm>
            <a:off x="3657600" y="2343150"/>
            <a:ext cx="550576" cy="781050"/>
          </a:xfrm>
          <a:prstGeom prst="rect">
            <a:avLst/>
          </a:prstGeom>
          <a:noFill/>
          <a:ln w="9525">
            <a:noFill/>
            <a:miter lim="800000"/>
            <a:headEnd/>
            <a:tailEnd/>
          </a:ln>
        </p:spPr>
      </p:pic>
      <p:pic>
        <p:nvPicPr>
          <p:cNvPr id="42" name="Picture 4"/>
          <p:cNvPicPr>
            <a:picLocks noChangeAspect="1" noChangeArrowheads="1"/>
          </p:cNvPicPr>
          <p:nvPr/>
        </p:nvPicPr>
        <p:blipFill>
          <a:blip r:embed="rId3" cstate="print"/>
          <a:srcRect/>
          <a:stretch>
            <a:fillRect/>
          </a:stretch>
        </p:blipFill>
        <p:spPr bwMode="auto">
          <a:xfrm>
            <a:off x="5469224" y="4343400"/>
            <a:ext cx="550576" cy="781050"/>
          </a:xfrm>
          <a:prstGeom prst="rect">
            <a:avLst/>
          </a:prstGeom>
          <a:noFill/>
          <a:ln w="9525">
            <a:noFill/>
            <a:miter lim="800000"/>
            <a:headEnd/>
            <a:tailEnd/>
          </a:ln>
        </p:spPr>
      </p:pic>
      <p:cxnSp>
        <p:nvCxnSpPr>
          <p:cNvPr id="3" name="Straight Connector 2"/>
          <p:cNvCxnSpPr/>
          <p:nvPr/>
        </p:nvCxnSpPr>
        <p:spPr>
          <a:xfrm>
            <a:off x="457200" y="762000"/>
            <a:ext cx="8229600" cy="0"/>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sp>
        <p:nvSpPr>
          <p:cNvPr id="4" name="Title 1"/>
          <p:cNvSpPr txBox="1">
            <a:spLocks/>
          </p:cNvSpPr>
          <p:nvPr/>
        </p:nvSpPr>
        <p:spPr>
          <a:xfrm>
            <a:off x="457200" y="76200"/>
            <a:ext cx="8229600" cy="1143000"/>
          </a:xfrm>
          <a:prstGeom prst="rect">
            <a:avLst/>
          </a:prstGeom>
        </p:spPr>
        <p:txBody>
          <a:bodyPr/>
          <a:lstStyle/>
          <a:p>
            <a:pPr lvl="0" algn="ctr">
              <a:spcBef>
                <a:spcPct val="0"/>
              </a:spcBef>
              <a:defRPr/>
            </a:pPr>
            <a:r>
              <a:rPr lang="en-US" sz="3800" b="1" dirty="0" smtClean="0">
                <a:effectLst>
                  <a:outerShdw blurRad="38100" dist="38100" dir="2700000" algn="tl">
                    <a:srgbClr val="000000">
                      <a:alpha val="43137"/>
                    </a:srgbClr>
                  </a:outerShdw>
                </a:effectLst>
                <a:latin typeface="Garamond" pitchFamily="18" charset="0"/>
              </a:rPr>
              <a:t>MR(</a:t>
            </a:r>
            <a:r>
              <a:rPr lang="en-US" sz="3800" b="1" dirty="0" err="1" smtClean="0">
                <a:effectLst>
                  <a:outerShdw blurRad="38100" dist="38100" dir="2700000" algn="tl">
                    <a:srgbClr val="000000">
                      <a:alpha val="43137"/>
                    </a:srgbClr>
                  </a:outerShdw>
                </a:effectLst>
                <a:latin typeface="Garamond" pitchFamily="18" charset="0"/>
              </a:rPr>
              <a:t>Hadoop</a:t>
            </a:r>
            <a:r>
              <a:rPr lang="en-US" sz="3800" b="1" dirty="0" smtClean="0">
                <a:effectLst>
                  <a:outerShdw blurRad="38100" dist="38100" dir="2700000" algn="tl">
                    <a:srgbClr val="000000">
                      <a:alpha val="43137"/>
                    </a:srgbClr>
                  </a:outerShdw>
                </a:effectLst>
                <a:latin typeface="Garamond" pitchFamily="18" charset="0"/>
              </a:rPr>
              <a:t>) Job Execution Patterns</a:t>
            </a:r>
            <a:endParaRPr lang="en-US" sz="3800" b="1" dirty="0">
              <a:effectLst>
                <a:outerShdw blurRad="38100" dist="38100" dir="2700000" algn="tl">
                  <a:srgbClr val="000000">
                    <a:alpha val="43137"/>
                  </a:srgbClr>
                </a:outerShdw>
              </a:effectLst>
              <a:latin typeface="Garamond" pitchFamily="18" charset="0"/>
            </a:endParaRPr>
          </a:p>
        </p:txBody>
      </p:sp>
      <p:sp>
        <p:nvSpPr>
          <p:cNvPr id="7" name="TextBox 6"/>
          <p:cNvSpPr txBox="1"/>
          <p:nvPr/>
        </p:nvSpPr>
        <p:spPr>
          <a:xfrm>
            <a:off x="3200400" y="762000"/>
            <a:ext cx="1456232" cy="369332"/>
          </a:xfrm>
          <a:prstGeom prst="rect">
            <a:avLst/>
          </a:prstGeom>
          <a:noFill/>
        </p:spPr>
        <p:txBody>
          <a:bodyPr wrap="none" rtlCol="0">
            <a:spAutoFit/>
          </a:bodyPr>
          <a:lstStyle/>
          <a:p>
            <a:r>
              <a:rPr lang="en-US" b="1" dirty="0" smtClean="0">
                <a:latin typeface="Garamond" pitchFamily="18" charset="0"/>
              </a:rPr>
              <a:t>MR program</a:t>
            </a:r>
            <a:endParaRPr lang="en-US" b="1" dirty="0">
              <a:latin typeface="Garamond" pitchFamily="18" charset="0"/>
            </a:endParaRPr>
          </a:p>
        </p:txBody>
      </p:sp>
      <p:sp>
        <p:nvSpPr>
          <p:cNvPr id="10" name="TextBox 9"/>
          <p:cNvSpPr txBox="1"/>
          <p:nvPr/>
        </p:nvSpPr>
        <p:spPr>
          <a:xfrm>
            <a:off x="4191000" y="2495550"/>
            <a:ext cx="1407758" cy="369332"/>
          </a:xfrm>
          <a:prstGeom prst="rect">
            <a:avLst/>
          </a:prstGeom>
          <a:noFill/>
        </p:spPr>
        <p:txBody>
          <a:bodyPr wrap="none" rtlCol="0">
            <a:spAutoFit/>
          </a:bodyPr>
          <a:lstStyle/>
          <a:p>
            <a:r>
              <a:rPr lang="en-US" b="1" dirty="0" smtClean="0">
                <a:latin typeface="Garamond" pitchFamily="18" charset="0"/>
              </a:rPr>
              <a:t>Master node</a:t>
            </a:r>
            <a:endParaRPr lang="en-US" b="1" dirty="0">
              <a:latin typeface="Garamond" pitchFamily="18" charset="0"/>
            </a:endParaRPr>
          </a:p>
        </p:txBody>
      </p:sp>
      <p:cxnSp>
        <p:nvCxnSpPr>
          <p:cNvPr id="14" name="Straight Arrow Connector 13"/>
          <p:cNvCxnSpPr/>
          <p:nvPr/>
        </p:nvCxnSpPr>
        <p:spPr>
          <a:xfrm rot="5400000">
            <a:off x="3620691" y="2019697"/>
            <a:ext cx="532606" cy="1588"/>
          </a:xfrm>
          <a:prstGeom prst="straightConnector1">
            <a:avLst/>
          </a:prstGeom>
          <a:ln w="50800">
            <a:solidFill>
              <a:schemeClr val="tx1"/>
            </a:solidFill>
            <a:prstDash val="sysDot"/>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038600" y="1752600"/>
            <a:ext cx="1897699" cy="369332"/>
          </a:xfrm>
          <a:prstGeom prst="rect">
            <a:avLst/>
          </a:prstGeom>
          <a:noFill/>
          <a:ln w="38100">
            <a:solidFill>
              <a:schemeClr val="accent1">
                <a:shade val="50000"/>
              </a:schemeClr>
            </a:solidFill>
          </a:ln>
        </p:spPr>
        <p:txBody>
          <a:bodyPr wrap="none" rtlCol="0">
            <a:spAutoFit/>
          </a:bodyPr>
          <a:lstStyle/>
          <a:p>
            <a:r>
              <a:rPr lang="en-US" b="1" dirty="0" smtClean="0">
                <a:latin typeface="Garamond" pitchFamily="18" charset="0"/>
              </a:rPr>
              <a:t>1: Job submission</a:t>
            </a:r>
            <a:endParaRPr lang="en-US" b="1" dirty="0">
              <a:latin typeface="Garamond" pitchFamily="18" charset="0"/>
            </a:endParaRPr>
          </a:p>
        </p:txBody>
      </p:sp>
      <p:sp>
        <p:nvSpPr>
          <p:cNvPr id="18" name="TextBox 17"/>
          <p:cNvSpPr txBox="1"/>
          <p:nvPr/>
        </p:nvSpPr>
        <p:spPr>
          <a:xfrm>
            <a:off x="1600200" y="2971800"/>
            <a:ext cx="1529329" cy="369332"/>
          </a:xfrm>
          <a:prstGeom prst="rect">
            <a:avLst/>
          </a:prstGeom>
          <a:noFill/>
        </p:spPr>
        <p:txBody>
          <a:bodyPr wrap="none" rtlCol="0">
            <a:spAutoFit/>
          </a:bodyPr>
          <a:lstStyle/>
          <a:p>
            <a:r>
              <a:rPr lang="en-US" b="1" dirty="0" smtClean="0">
                <a:latin typeface="Garamond" pitchFamily="18" charset="0"/>
              </a:rPr>
              <a:t>Worker nodes</a:t>
            </a:r>
            <a:endParaRPr lang="en-US" b="1" dirty="0">
              <a:latin typeface="Garamond" pitchFamily="18" charset="0"/>
            </a:endParaRPr>
          </a:p>
        </p:txBody>
      </p:sp>
      <p:pic>
        <p:nvPicPr>
          <p:cNvPr id="19" name="Picture 4"/>
          <p:cNvPicPr>
            <a:picLocks noChangeAspect="1" noChangeArrowheads="1"/>
          </p:cNvPicPr>
          <p:nvPr/>
        </p:nvPicPr>
        <p:blipFill>
          <a:blip r:embed="rId3" cstate="print"/>
          <a:srcRect/>
          <a:stretch>
            <a:fillRect/>
          </a:stretch>
        </p:blipFill>
        <p:spPr bwMode="auto">
          <a:xfrm>
            <a:off x="1905000" y="4476750"/>
            <a:ext cx="550576" cy="781050"/>
          </a:xfrm>
          <a:prstGeom prst="rect">
            <a:avLst/>
          </a:prstGeom>
          <a:noFill/>
          <a:ln w="9525">
            <a:noFill/>
            <a:miter lim="800000"/>
            <a:headEnd/>
            <a:tailEnd/>
          </a:ln>
        </p:spPr>
      </p:pic>
      <p:pic>
        <p:nvPicPr>
          <p:cNvPr id="25" name="Picture 4"/>
          <p:cNvPicPr>
            <a:picLocks noChangeAspect="1" noChangeArrowheads="1"/>
          </p:cNvPicPr>
          <p:nvPr/>
        </p:nvPicPr>
        <p:blipFill>
          <a:blip r:embed="rId3" cstate="print"/>
          <a:srcRect/>
          <a:stretch>
            <a:fillRect/>
          </a:stretch>
        </p:blipFill>
        <p:spPr bwMode="auto">
          <a:xfrm>
            <a:off x="1905000" y="3429000"/>
            <a:ext cx="550576" cy="781050"/>
          </a:xfrm>
          <a:prstGeom prst="rect">
            <a:avLst/>
          </a:prstGeom>
          <a:noFill/>
          <a:ln w="9525">
            <a:noFill/>
            <a:miter lim="800000"/>
            <a:headEnd/>
            <a:tailEnd/>
          </a:ln>
        </p:spPr>
      </p:pic>
      <p:pic>
        <p:nvPicPr>
          <p:cNvPr id="41" name="Picture 4"/>
          <p:cNvPicPr>
            <a:picLocks noChangeAspect="1" noChangeArrowheads="1"/>
          </p:cNvPicPr>
          <p:nvPr/>
        </p:nvPicPr>
        <p:blipFill>
          <a:blip r:embed="rId3" cstate="print"/>
          <a:srcRect/>
          <a:stretch>
            <a:fillRect/>
          </a:stretch>
        </p:blipFill>
        <p:spPr bwMode="auto">
          <a:xfrm>
            <a:off x="5486400" y="3257550"/>
            <a:ext cx="550576" cy="781050"/>
          </a:xfrm>
          <a:prstGeom prst="rect">
            <a:avLst/>
          </a:prstGeom>
          <a:noFill/>
          <a:ln w="9525">
            <a:noFill/>
            <a:miter lim="800000"/>
            <a:headEnd/>
            <a:tailEnd/>
          </a:ln>
        </p:spPr>
      </p:pic>
      <p:sp>
        <p:nvSpPr>
          <p:cNvPr id="44" name="TextBox 43"/>
          <p:cNvSpPr txBox="1"/>
          <p:nvPr/>
        </p:nvSpPr>
        <p:spPr>
          <a:xfrm>
            <a:off x="5177516" y="2895600"/>
            <a:ext cx="1529329" cy="369332"/>
          </a:xfrm>
          <a:prstGeom prst="rect">
            <a:avLst/>
          </a:prstGeom>
          <a:noFill/>
        </p:spPr>
        <p:txBody>
          <a:bodyPr wrap="none" rtlCol="0">
            <a:spAutoFit/>
          </a:bodyPr>
          <a:lstStyle/>
          <a:p>
            <a:r>
              <a:rPr lang="en-US" b="1" dirty="0" smtClean="0">
                <a:latin typeface="Garamond" pitchFamily="18" charset="0"/>
              </a:rPr>
              <a:t>Worker nodes</a:t>
            </a:r>
            <a:endParaRPr lang="en-US" b="1" dirty="0">
              <a:latin typeface="Garamond" pitchFamily="18" charset="0"/>
            </a:endParaRPr>
          </a:p>
        </p:txBody>
      </p:sp>
      <p:sp>
        <p:nvSpPr>
          <p:cNvPr id="55" name="TextBox 54"/>
          <p:cNvSpPr txBox="1"/>
          <p:nvPr/>
        </p:nvSpPr>
        <p:spPr>
          <a:xfrm>
            <a:off x="1295400" y="5867400"/>
            <a:ext cx="1981200" cy="646331"/>
          </a:xfrm>
          <a:prstGeom prst="rect">
            <a:avLst/>
          </a:prstGeom>
          <a:noFill/>
          <a:ln w="38100">
            <a:solidFill>
              <a:schemeClr val="accent1">
                <a:shade val="50000"/>
              </a:schemeClr>
            </a:solidFill>
          </a:ln>
        </p:spPr>
        <p:txBody>
          <a:bodyPr wrap="square" rtlCol="0">
            <a:spAutoFit/>
          </a:bodyPr>
          <a:lstStyle/>
          <a:p>
            <a:r>
              <a:rPr lang="en-US" b="1" dirty="0" smtClean="0">
                <a:latin typeface="Garamond" pitchFamily="18" charset="0"/>
              </a:rPr>
              <a:t>3: Map phase</a:t>
            </a:r>
          </a:p>
          <a:p>
            <a:r>
              <a:rPr lang="en-US" b="1" dirty="0" smtClean="0">
                <a:solidFill>
                  <a:srgbClr val="FF0000"/>
                </a:solidFill>
                <a:latin typeface="Garamond" pitchFamily="18" charset="0"/>
              </a:rPr>
              <a:t>Concurrent tasks</a:t>
            </a:r>
            <a:endParaRPr lang="en-US" b="1" dirty="0">
              <a:solidFill>
                <a:srgbClr val="FF0000"/>
              </a:solidFill>
              <a:latin typeface="Garamond" pitchFamily="18" charset="0"/>
            </a:endParaRPr>
          </a:p>
        </p:txBody>
      </p:sp>
      <p:sp>
        <p:nvSpPr>
          <p:cNvPr id="62" name="Oval 61"/>
          <p:cNvSpPr/>
          <p:nvPr/>
        </p:nvSpPr>
        <p:spPr>
          <a:xfrm>
            <a:off x="228600" y="914400"/>
            <a:ext cx="304800" cy="304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p:cNvSpPr txBox="1"/>
          <p:nvPr/>
        </p:nvSpPr>
        <p:spPr>
          <a:xfrm>
            <a:off x="609600" y="914400"/>
            <a:ext cx="1828800" cy="369332"/>
          </a:xfrm>
          <a:prstGeom prst="rect">
            <a:avLst/>
          </a:prstGeom>
          <a:noFill/>
        </p:spPr>
        <p:txBody>
          <a:bodyPr wrap="square" rtlCol="0">
            <a:spAutoFit/>
          </a:bodyPr>
          <a:lstStyle/>
          <a:p>
            <a:r>
              <a:rPr lang="en-US" b="1" dirty="0" smtClean="0">
                <a:latin typeface="Garamond" pitchFamily="18" charset="0"/>
              </a:rPr>
              <a:t>Map Tasks</a:t>
            </a:r>
            <a:endParaRPr lang="en-US" b="1" dirty="0">
              <a:latin typeface="Garamond" pitchFamily="18" charset="0"/>
            </a:endParaRPr>
          </a:p>
        </p:txBody>
      </p:sp>
      <p:sp>
        <p:nvSpPr>
          <p:cNvPr id="64" name="Oval 63"/>
          <p:cNvSpPr/>
          <p:nvPr/>
        </p:nvSpPr>
        <p:spPr>
          <a:xfrm>
            <a:off x="228600" y="1307068"/>
            <a:ext cx="304800" cy="304800"/>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p:cNvSpPr txBox="1"/>
          <p:nvPr/>
        </p:nvSpPr>
        <p:spPr>
          <a:xfrm>
            <a:off x="609600" y="1307068"/>
            <a:ext cx="1828800" cy="369332"/>
          </a:xfrm>
          <a:prstGeom prst="rect">
            <a:avLst/>
          </a:prstGeom>
          <a:noFill/>
        </p:spPr>
        <p:txBody>
          <a:bodyPr wrap="square" rtlCol="0">
            <a:spAutoFit/>
          </a:bodyPr>
          <a:lstStyle/>
          <a:p>
            <a:r>
              <a:rPr lang="en-US" b="1" dirty="0" smtClean="0">
                <a:latin typeface="Garamond" pitchFamily="18" charset="0"/>
              </a:rPr>
              <a:t>Reduce Tasks</a:t>
            </a:r>
            <a:endParaRPr lang="en-US" b="1" dirty="0">
              <a:latin typeface="Garamond" pitchFamily="18" charset="0"/>
            </a:endParaRPr>
          </a:p>
        </p:txBody>
      </p:sp>
      <p:sp>
        <p:nvSpPr>
          <p:cNvPr id="70" name="Oval 69"/>
          <p:cNvSpPr/>
          <p:nvPr/>
        </p:nvSpPr>
        <p:spPr>
          <a:xfrm>
            <a:off x="2209800" y="3886200"/>
            <a:ext cx="304800" cy="304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p:cNvSpPr/>
          <p:nvPr/>
        </p:nvSpPr>
        <p:spPr>
          <a:xfrm>
            <a:off x="2209800" y="4876800"/>
            <a:ext cx="304800" cy="304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p:cNvSpPr/>
          <p:nvPr/>
        </p:nvSpPr>
        <p:spPr>
          <a:xfrm>
            <a:off x="5791200" y="3657600"/>
            <a:ext cx="304800" cy="304800"/>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p:cNvSpPr/>
          <p:nvPr/>
        </p:nvSpPr>
        <p:spPr>
          <a:xfrm>
            <a:off x="5791200" y="4724400"/>
            <a:ext cx="304800" cy="304800"/>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56"/>
          <p:cNvGrpSpPr/>
          <p:nvPr/>
        </p:nvGrpSpPr>
        <p:grpSpPr>
          <a:xfrm>
            <a:off x="304800" y="2895600"/>
            <a:ext cx="990600" cy="3733800"/>
            <a:chOff x="304800" y="2895600"/>
            <a:chExt cx="990600" cy="3733800"/>
          </a:xfrm>
        </p:grpSpPr>
        <p:sp>
          <p:nvSpPr>
            <p:cNvPr id="58" name="Flowchart: Document 57"/>
            <p:cNvSpPr/>
            <p:nvPr/>
          </p:nvSpPr>
          <p:spPr>
            <a:xfrm>
              <a:off x="304800" y="2895600"/>
              <a:ext cx="990600" cy="3733800"/>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lowchart: Magnetic Disk 58"/>
            <p:cNvSpPr/>
            <p:nvPr/>
          </p:nvSpPr>
          <p:spPr>
            <a:xfrm>
              <a:off x="533400" y="3124200"/>
              <a:ext cx="533400" cy="533400"/>
            </a:xfrm>
            <a:prstGeom prst="flowChartMagneticDisk">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lowchart: Magnetic Disk 59"/>
            <p:cNvSpPr/>
            <p:nvPr/>
          </p:nvSpPr>
          <p:spPr>
            <a:xfrm>
              <a:off x="533400" y="3733800"/>
              <a:ext cx="533400" cy="533400"/>
            </a:xfrm>
            <a:prstGeom prst="flowChartMagneticDisk">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Flowchart: Magnetic Disk 60"/>
            <p:cNvSpPr/>
            <p:nvPr/>
          </p:nvSpPr>
          <p:spPr>
            <a:xfrm>
              <a:off x="533400" y="4419600"/>
              <a:ext cx="533400" cy="533400"/>
            </a:xfrm>
            <a:prstGeom prst="flowChartMagneticDisk">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lowchart: Magnetic Disk 73"/>
            <p:cNvSpPr/>
            <p:nvPr/>
          </p:nvSpPr>
          <p:spPr>
            <a:xfrm>
              <a:off x="533400" y="5029200"/>
              <a:ext cx="533400" cy="533400"/>
            </a:xfrm>
            <a:prstGeom prst="flowChartMagneticDisk">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Flowchart: Magnetic Disk 74"/>
          <p:cNvSpPr/>
          <p:nvPr/>
        </p:nvSpPr>
        <p:spPr>
          <a:xfrm>
            <a:off x="2895600" y="3124200"/>
            <a:ext cx="533400" cy="533400"/>
          </a:xfrm>
          <a:prstGeom prst="flowChartMagneticDisk">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lowchart: Magnetic Disk 75"/>
          <p:cNvSpPr/>
          <p:nvPr/>
        </p:nvSpPr>
        <p:spPr>
          <a:xfrm>
            <a:off x="2895600" y="3810000"/>
            <a:ext cx="533400" cy="533400"/>
          </a:xfrm>
          <a:prstGeom prst="flowChartMagneticDisk">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Flowchart: Magnetic Disk 76"/>
          <p:cNvSpPr/>
          <p:nvPr/>
        </p:nvSpPr>
        <p:spPr>
          <a:xfrm>
            <a:off x="2895600" y="4495800"/>
            <a:ext cx="533400" cy="533400"/>
          </a:xfrm>
          <a:prstGeom prst="flowChartMagneticDisk">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Flowchart: Magnetic Disk 77"/>
          <p:cNvSpPr/>
          <p:nvPr/>
        </p:nvSpPr>
        <p:spPr>
          <a:xfrm>
            <a:off x="2895600" y="5181600"/>
            <a:ext cx="533400" cy="533400"/>
          </a:xfrm>
          <a:prstGeom prst="flowChartMagneticDisk">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Freeform 82"/>
          <p:cNvSpPr/>
          <p:nvPr/>
        </p:nvSpPr>
        <p:spPr>
          <a:xfrm>
            <a:off x="1066799" y="3352800"/>
            <a:ext cx="1743635" cy="433294"/>
          </a:xfrm>
          <a:custGeom>
            <a:avLst/>
            <a:gdLst>
              <a:gd name="connsiteX0" fmla="*/ 0 w 1653988"/>
              <a:gd name="connsiteY0" fmla="*/ 0 h 562535"/>
              <a:gd name="connsiteX1" fmla="*/ 1008529 w 1653988"/>
              <a:gd name="connsiteY1" fmla="*/ 537882 h 562535"/>
              <a:gd name="connsiteX2" fmla="*/ 1653988 w 1653988"/>
              <a:gd name="connsiteY2" fmla="*/ 147917 h 562535"/>
              <a:gd name="connsiteX0" fmla="*/ 0 w 1653988"/>
              <a:gd name="connsiteY0" fmla="*/ 0 h 522194"/>
              <a:gd name="connsiteX1" fmla="*/ 900953 w 1653988"/>
              <a:gd name="connsiteY1" fmla="*/ 497541 h 522194"/>
              <a:gd name="connsiteX2" fmla="*/ 1653988 w 1653988"/>
              <a:gd name="connsiteY2" fmla="*/ 147917 h 522194"/>
              <a:gd name="connsiteX0" fmla="*/ 0 w 1743635"/>
              <a:gd name="connsiteY0" fmla="*/ 0 h 433294"/>
              <a:gd name="connsiteX1" fmla="*/ 990600 w 1743635"/>
              <a:gd name="connsiteY1" fmla="*/ 421341 h 433294"/>
              <a:gd name="connsiteX2" fmla="*/ 1743635 w 1743635"/>
              <a:gd name="connsiteY2" fmla="*/ 71717 h 433294"/>
            </a:gdLst>
            <a:ahLst/>
            <a:cxnLst>
              <a:cxn ang="0">
                <a:pos x="connsiteX0" y="connsiteY0"/>
              </a:cxn>
              <a:cxn ang="0">
                <a:pos x="connsiteX1" y="connsiteY1"/>
              </a:cxn>
              <a:cxn ang="0">
                <a:pos x="connsiteX2" y="connsiteY2"/>
              </a:cxn>
            </a:cxnLst>
            <a:rect l="l" t="t" r="r" b="b"/>
            <a:pathLst>
              <a:path w="1743635" h="433294">
                <a:moveTo>
                  <a:pt x="0" y="0"/>
                </a:moveTo>
                <a:cubicBezTo>
                  <a:pt x="366432" y="256614"/>
                  <a:pt x="699994" y="409388"/>
                  <a:pt x="990600" y="421341"/>
                </a:cubicBezTo>
                <a:cubicBezTo>
                  <a:pt x="1281206" y="433294"/>
                  <a:pt x="1698811" y="40341"/>
                  <a:pt x="1743635" y="71717"/>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4" name="Freeform 83"/>
          <p:cNvSpPr/>
          <p:nvPr/>
        </p:nvSpPr>
        <p:spPr>
          <a:xfrm>
            <a:off x="1143000" y="3870263"/>
            <a:ext cx="1667435" cy="187760"/>
          </a:xfrm>
          <a:custGeom>
            <a:avLst/>
            <a:gdLst>
              <a:gd name="connsiteX0" fmla="*/ 0 w 1653988"/>
              <a:gd name="connsiteY0" fmla="*/ 0 h 562535"/>
              <a:gd name="connsiteX1" fmla="*/ 1008529 w 1653988"/>
              <a:gd name="connsiteY1" fmla="*/ 537882 h 562535"/>
              <a:gd name="connsiteX2" fmla="*/ 1653988 w 1653988"/>
              <a:gd name="connsiteY2" fmla="*/ 147917 h 562535"/>
              <a:gd name="connsiteX0" fmla="*/ 0 w 1653988"/>
              <a:gd name="connsiteY0" fmla="*/ 0 h 522194"/>
              <a:gd name="connsiteX1" fmla="*/ 900953 w 1653988"/>
              <a:gd name="connsiteY1" fmla="*/ 497541 h 522194"/>
              <a:gd name="connsiteX2" fmla="*/ 1653988 w 1653988"/>
              <a:gd name="connsiteY2" fmla="*/ 147917 h 522194"/>
              <a:gd name="connsiteX0" fmla="*/ 0 w 1743635"/>
              <a:gd name="connsiteY0" fmla="*/ 0 h 433294"/>
              <a:gd name="connsiteX1" fmla="*/ 990600 w 1743635"/>
              <a:gd name="connsiteY1" fmla="*/ 421341 h 433294"/>
              <a:gd name="connsiteX2" fmla="*/ 1743635 w 1743635"/>
              <a:gd name="connsiteY2" fmla="*/ 71717 h 433294"/>
              <a:gd name="connsiteX0" fmla="*/ 0 w 1743635"/>
              <a:gd name="connsiteY0" fmla="*/ 112059 h 368673"/>
              <a:gd name="connsiteX1" fmla="*/ 990600 w 1743635"/>
              <a:gd name="connsiteY1" fmla="*/ 11953 h 368673"/>
              <a:gd name="connsiteX2" fmla="*/ 1743635 w 1743635"/>
              <a:gd name="connsiteY2" fmla="*/ 183776 h 368673"/>
              <a:gd name="connsiteX0" fmla="*/ 0 w 1743635"/>
              <a:gd name="connsiteY0" fmla="*/ 415864 h 672478"/>
              <a:gd name="connsiteX1" fmla="*/ 990600 w 1743635"/>
              <a:gd name="connsiteY1" fmla="*/ 34863 h 672478"/>
              <a:gd name="connsiteX2" fmla="*/ 1743635 w 1743635"/>
              <a:gd name="connsiteY2" fmla="*/ 206686 h 672478"/>
              <a:gd name="connsiteX0" fmla="*/ 0 w 1743635"/>
              <a:gd name="connsiteY0" fmla="*/ 415864 h 415864"/>
              <a:gd name="connsiteX1" fmla="*/ 990600 w 1743635"/>
              <a:gd name="connsiteY1" fmla="*/ 34863 h 415864"/>
              <a:gd name="connsiteX2" fmla="*/ 1743635 w 1743635"/>
              <a:gd name="connsiteY2" fmla="*/ 206686 h 415864"/>
              <a:gd name="connsiteX0" fmla="*/ 0 w 1743635"/>
              <a:gd name="connsiteY0" fmla="*/ 396938 h 396938"/>
              <a:gd name="connsiteX1" fmla="*/ 228600 w 1743635"/>
              <a:gd name="connsiteY1" fmla="*/ 92137 h 396938"/>
              <a:gd name="connsiteX2" fmla="*/ 990600 w 1743635"/>
              <a:gd name="connsiteY2" fmla="*/ 15937 h 396938"/>
              <a:gd name="connsiteX3" fmla="*/ 1743635 w 1743635"/>
              <a:gd name="connsiteY3" fmla="*/ 187760 h 396938"/>
              <a:gd name="connsiteX0" fmla="*/ 0 w 1667435"/>
              <a:gd name="connsiteY0" fmla="*/ 168337 h 187760"/>
              <a:gd name="connsiteX1" fmla="*/ 152400 w 1667435"/>
              <a:gd name="connsiteY1" fmla="*/ 92137 h 187760"/>
              <a:gd name="connsiteX2" fmla="*/ 914400 w 1667435"/>
              <a:gd name="connsiteY2" fmla="*/ 15937 h 187760"/>
              <a:gd name="connsiteX3" fmla="*/ 1667435 w 1667435"/>
              <a:gd name="connsiteY3" fmla="*/ 187760 h 187760"/>
            </a:gdLst>
            <a:ahLst/>
            <a:cxnLst>
              <a:cxn ang="0">
                <a:pos x="connsiteX0" y="connsiteY0"/>
              </a:cxn>
              <a:cxn ang="0">
                <a:pos x="connsiteX1" y="connsiteY1"/>
              </a:cxn>
              <a:cxn ang="0">
                <a:pos x="connsiteX2" y="connsiteY2"/>
              </a:cxn>
              <a:cxn ang="0">
                <a:pos x="connsiteX3" y="connsiteY3"/>
              </a:cxn>
            </a:cxnLst>
            <a:rect l="l" t="t" r="r" b="b"/>
            <a:pathLst>
              <a:path w="1667435" h="187760">
                <a:moveTo>
                  <a:pt x="0" y="168337"/>
                </a:moveTo>
                <a:cubicBezTo>
                  <a:pt x="5977" y="165349"/>
                  <a:pt x="0" y="117537"/>
                  <a:pt x="152400" y="92137"/>
                </a:cubicBezTo>
                <a:cubicBezTo>
                  <a:pt x="304800" y="66737"/>
                  <a:pt x="661894" y="0"/>
                  <a:pt x="914400" y="15937"/>
                </a:cubicBezTo>
                <a:cubicBezTo>
                  <a:pt x="1166906" y="31874"/>
                  <a:pt x="1622611" y="156384"/>
                  <a:pt x="1667435" y="187760"/>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5" name="Freeform 84"/>
          <p:cNvSpPr/>
          <p:nvPr/>
        </p:nvSpPr>
        <p:spPr>
          <a:xfrm>
            <a:off x="1066800" y="4648200"/>
            <a:ext cx="1743635" cy="433294"/>
          </a:xfrm>
          <a:custGeom>
            <a:avLst/>
            <a:gdLst>
              <a:gd name="connsiteX0" fmla="*/ 0 w 1653988"/>
              <a:gd name="connsiteY0" fmla="*/ 0 h 562535"/>
              <a:gd name="connsiteX1" fmla="*/ 1008529 w 1653988"/>
              <a:gd name="connsiteY1" fmla="*/ 537882 h 562535"/>
              <a:gd name="connsiteX2" fmla="*/ 1653988 w 1653988"/>
              <a:gd name="connsiteY2" fmla="*/ 147917 h 562535"/>
              <a:gd name="connsiteX0" fmla="*/ 0 w 1653988"/>
              <a:gd name="connsiteY0" fmla="*/ 0 h 522194"/>
              <a:gd name="connsiteX1" fmla="*/ 900953 w 1653988"/>
              <a:gd name="connsiteY1" fmla="*/ 497541 h 522194"/>
              <a:gd name="connsiteX2" fmla="*/ 1653988 w 1653988"/>
              <a:gd name="connsiteY2" fmla="*/ 147917 h 522194"/>
              <a:gd name="connsiteX0" fmla="*/ 0 w 1743635"/>
              <a:gd name="connsiteY0" fmla="*/ 0 h 433294"/>
              <a:gd name="connsiteX1" fmla="*/ 990600 w 1743635"/>
              <a:gd name="connsiteY1" fmla="*/ 421341 h 433294"/>
              <a:gd name="connsiteX2" fmla="*/ 1743635 w 1743635"/>
              <a:gd name="connsiteY2" fmla="*/ 71717 h 433294"/>
            </a:gdLst>
            <a:ahLst/>
            <a:cxnLst>
              <a:cxn ang="0">
                <a:pos x="connsiteX0" y="connsiteY0"/>
              </a:cxn>
              <a:cxn ang="0">
                <a:pos x="connsiteX1" y="connsiteY1"/>
              </a:cxn>
              <a:cxn ang="0">
                <a:pos x="connsiteX2" y="connsiteY2"/>
              </a:cxn>
            </a:cxnLst>
            <a:rect l="l" t="t" r="r" b="b"/>
            <a:pathLst>
              <a:path w="1743635" h="433294">
                <a:moveTo>
                  <a:pt x="0" y="0"/>
                </a:moveTo>
                <a:cubicBezTo>
                  <a:pt x="366432" y="256614"/>
                  <a:pt x="699994" y="409388"/>
                  <a:pt x="990600" y="421341"/>
                </a:cubicBezTo>
                <a:cubicBezTo>
                  <a:pt x="1281206" y="433294"/>
                  <a:pt x="1698811" y="40341"/>
                  <a:pt x="1743635" y="71717"/>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6" name="Freeform 85"/>
          <p:cNvSpPr/>
          <p:nvPr/>
        </p:nvSpPr>
        <p:spPr>
          <a:xfrm>
            <a:off x="1143001" y="5165663"/>
            <a:ext cx="1667435" cy="187760"/>
          </a:xfrm>
          <a:custGeom>
            <a:avLst/>
            <a:gdLst>
              <a:gd name="connsiteX0" fmla="*/ 0 w 1653988"/>
              <a:gd name="connsiteY0" fmla="*/ 0 h 562535"/>
              <a:gd name="connsiteX1" fmla="*/ 1008529 w 1653988"/>
              <a:gd name="connsiteY1" fmla="*/ 537882 h 562535"/>
              <a:gd name="connsiteX2" fmla="*/ 1653988 w 1653988"/>
              <a:gd name="connsiteY2" fmla="*/ 147917 h 562535"/>
              <a:gd name="connsiteX0" fmla="*/ 0 w 1653988"/>
              <a:gd name="connsiteY0" fmla="*/ 0 h 522194"/>
              <a:gd name="connsiteX1" fmla="*/ 900953 w 1653988"/>
              <a:gd name="connsiteY1" fmla="*/ 497541 h 522194"/>
              <a:gd name="connsiteX2" fmla="*/ 1653988 w 1653988"/>
              <a:gd name="connsiteY2" fmla="*/ 147917 h 522194"/>
              <a:gd name="connsiteX0" fmla="*/ 0 w 1743635"/>
              <a:gd name="connsiteY0" fmla="*/ 0 h 433294"/>
              <a:gd name="connsiteX1" fmla="*/ 990600 w 1743635"/>
              <a:gd name="connsiteY1" fmla="*/ 421341 h 433294"/>
              <a:gd name="connsiteX2" fmla="*/ 1743635 w 1743635"/>
              <a:gd name="connsiteY2" fmla="*/ 71717 h 433294"/>
              <a:gd name="connsiteX0" fmla="*/ 0 w 1743635"/>
              <a:gd name="connsiteY0" fmla="*/ 112059 h 368673"/>
              <a:gd name="connsiteX1" fmla="*/ 990600 w 1743635"/>
              <a:gd name="connsiteY1" fmla="*/ 11953 h 368673"/>
              <a:gd name="connsiteX2" fmla="*/ 1743635 w 1743635"/>
              <a:gd name="connsiteY2" fmla="*/ 183776 h 368673"/>
              <a:gd name="connsiteX0" fmla="*/ 0 w 1743635"/>
              <a:gd name="connsiteY0" fmla="*/ 415864 h 672478"/>
              <a:gd name="connsiteX1" fmla="*/ 990600 w 1743635"/>
              <a:gd name="connsiteY1" fmla="*/ 34863 h 672478"/>
              <a:gd name="connsiteX2" fmla="*/ 1743635 w 1743635"/>
              <a:gd name="connsiteY2" fmla="*/ 206686 h 672478"/>
              <a:gd name="connsiteX0" fmla="*/ 0 w 1743635"/>
              <a:gd name="connsiteY0" fmla="*/ 415864 h 415864"/>
              <a:gd name="connsiteX1" fmla="*/ 990600 w 1743635"/>
              <a:gd name="connsiteY1" fmla="*/ 34863 h 415864"/>
              <a:gd name="connsiteX2" fmla="*/ 1743635 w 1743635"/>
              <a:gd name="connsiteY2" fmla="*/ 206686 h 415864"/>
              <a:gd name="connsiteX0" fmla="*/ 0 w 1743635"/>
              <a:gd name="connsiteY0" fmla="*/ 396938 h 396938"/>
              <a:gd name="connsiteX1" fmla="*/ 228600 w 1743635"/>
              <a:gd name="connsiteY1" fmla="*/ 92137 h 396938"/>
              <a:gd name="connsiteX2" fmla="*/ 990600 w 1743635"/>
              <a:gd name="connsiteY2" fmla="*/ 15937 h 396938"/>
              <a:gd name="connsiteX3" fmla="*/ 1743635 w 1743635"/>
              <a:gd name="connsiteY3" fmla="*/ 187760 h 396938"/>
              <a:gd name="connsiteX0" fmla="*/ 0 w 1667435"/>
              <a:gd name="connsiteY0" fmla="*/ 168337 h 187760"/>
              <a:gd name="connsiteX1" fmla="*/ 152400 w 1667435"/>
              <a:gd name="connsiteY1" fmla="*/ 92137 h 187760"/>
              <a:gd name="connsiteX2" fmla="*/ 914400 w 1667435"/>
              <a:gd name="connsiteY2" fmla="*/ 15937 h 187760"/>
              <a:gd name="connsiteX3" fmla="*/ 1667435 w 1667435"/>
              <a:gd name="connsiteY3" fmla="*/ 187760 h 187760"/>
            </a:gdLst>
            <a:ahLst/>
            <a:cxnLst>
              <a:cxn ang="0">
                <a:pos x="connsiteX0" y="connsiteY0"/>
              </a:cxn>
              <a:cxn ang="0">
                <a:pos x="connsiteX1" y="connsiteY1"/>
              </a:cxn>
              <a:cxn ang="0">
                <a:pos x="connsiteX2" y="connsiteY2"/>
              </a:cxn>
              <a:cxn ang="0">
                <a:pos x="connsiteX3" y="connsiteY3"/>
              </a:cxn>
            </a:cxnLst>
            <a:rect l="l" t="t" r="r" b="b"/>
            <a:pathLst>
              <a:path w="1667435" h="187760">
                <a:moveTo>
                  <a:pt x="0" y="168337"/>
                </a:moveTo>
                <a:cubicBezTo>
                  <a:pt x="5977" y="165349"/>
                  <a:pt x="0" y="117537"/>
                  <a:pt x="152400" y="92137"/>
                </a:cubicBezTo>
                <a:cubicBezTo>
                  <a:pt x="304800" y="66737"/>
                  <a:pt x="661894" y="0"/>
                  <a:pt x="914400" y="15937"/>
                </a:cubicBezTo>
                <a:cubicBezTo>
                  <a:pt x="1166906" y="31874"/>
                  <a:pt x="1622611" y="156384"/>
                  <a:pt x="1667435" y="187760"/>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7" name="TextBox 86"/>
          <p:cNvSpPr txBox="1"/>
          <p:nvPr/>
        </p:nvSpPr>
        <p:spPr>
          <a:xfrm>
            <a:off x="3352800" y="5955268"/>
            <a:ext cx="1752600" cy="369332"/>
          </a:xfrm>
          <a:prstGeom prst="rect">
            <a:avLst/>
          </a:prstGeom>
          <a:noFill/>
          <a:ln w="38100">
            <a:solidFill>
              <a:schemeClr val="accent1">
                <a:shade val="50000"/>
              </a:schemeClr>
            </a:solidFill>
          </a:ln>
        </p:spPr>
        <p:txBody>
          <a:bodyPr wrap="square" rtlCol="0">
            <a:spAutoFit/>
          </a:bodyPr>
          <a:lstStyle/>
          <a:p>
            <a:r>
              <a:rPr lang="en-US" b="1" dirty="0" smtClean="0">
                <a:latin typeface="Garamond" pitchFamily="18" charset="0"/>
              </a:rPr>
              <a:t>4: Shuffle phase</a:t>
            </a:r>
            <a:endParaRPr lang="en-US" b="1" dirty="0">
              <a:latin typeface="Garamond" pitchFamily="18" charset="0"/>
            </a:endParaRPr>
          </a:p>
        </p:txBody>
      </p:sp>
      <p:sp>
        <p:nvSpPr>
          <p:cNvPr id="110" name="TextBox 109"/>
          <p:cNvSpPr txBox="1"/>
          <p:nvPr/>
        </p:nvSpPr>
        <p:spPr>
          <a:xfrm>
            <a:off x="1295400" y="2221468"/>
            <a:ext cx="2057400" cy="369332"/>
          </a:xfrm>
          <a:prstGeom prst="rect">
            <a:avLst/>
          </a:prstGeom>
          <a:noFill/>
        </p:spPr>
        <p:txBody>
          <a:bodyPr wrap="square" rtlCol="0">
            <a:spAutoFit/>
          </a:bodyPr>
          <a:lstStyle/>
          <a:p>
            <a:r>
              <a:rPr lang="en-US" b="1" dirty="0" smtClean="0">
                <a:latin typeface="Garamond" pitchFamily="18" charset="0"/>
              </a:rPr>
              <a:t>Map output</a:t>
            </a:r>
            <a:endParaRPr lang="en-US" b="1" dirty="0">
              <a:latin typeface="Garamond" pitchFamily="18" charset="0"/>
            </a:endParaRPr>
          </a:p>
        </p:txBody>
      </p:sp>
      <p:cxnSp>
        <p:nvCxnSpPr>
          <p:cNvPr id="111" name="Straight Arrow Connector 110"/>
          <p:cNvCxnSpPr/>
          <p:nvPr/>
        </p:nvCxnSpPr>
        <p:spPr>
          <a:xfrm>
            <a:off x="2667000" y="2590800"/>
            <a:ext cx="457200" cy="381000"/>
          </a:xfrm>
          <a:prstGeom prst="straightConnector1">
            <a:avLst/>
          </a:prstGeom>
          <a:ln w="50800">
            <a:solidFill>
              <a:schemeClr val="accent2"/>
            </a:solidFill>
            <a:tailEnd type="arrow"/>
          </a:ln>
        </p:spPr>
        <p:style>
          <a:lnRef idx="1">
            <a:schemeClr val="accent1"/>
          </a:lnRef>
          <a:fillRef idx="0">
            <a:schemeClr val="accent1"/>
          </a:fillRef>
          <a:effectRef idx="0">
            <a:schemeClr val="accent1"/>
          </a:effectRef>
          <a:fontRef idx="minor">
            <a:schemeClr val="tx1"/>
          </a:fontRef>
        </p:style>
      </p:cxnSp>
      <p:sp>
        <p:nvSpPr>
          <p:cNvPr id="115" name="TextBox 114"/>
          <p:cNvSpPr txBox="1"/>
          <p:nvPr/>
        </p:nvSpPr>
        <p:spPr>
          <a:xfrm>
            <a:off x="5486400" y="5355103"/>
            <a:ext cx="3429000" cy="1200329"/>
          </a:xfrm>
          <a:prstGeom prst="rect">
            <a:avLst/>
          </a:prstGeom>
          <a:noFill/>
        </p:spPr>
        <p:txBody>
          <a:bodyPr wrap="square" rtlCol="0">
            <a:spAutoFit/>
          </a:bodyPr>
          <a:lstStyle/>
          <a:p>
            <a:r>
              <a:rPr lang="en-US" b="1" dirty="0" smtClean="0">
                <a:latin typeface="Garamond" pitchFamily="18" charset="0"/>
              </a:rPr>
              <a:t>Map output will be shuffled to different reduce tasks based on </a:t>
            </a:r>
            <a:r>
              <a:rPr lang="en-US" b="1" dirty="0" smtClean="0">
                <a:solidFill>
                  <a:srgbClr val="FF0000"/>
                </a:solidFill>
                <a:latin typeface="Garamond" pitchFamily="18" charset="0"/>
              </a:rPr>
              <a:t>Partition Keys (PKs) (usually Map output keys)</a:t>
            </a:r>
            <a:endParaRPr lang="en-US" b="1" dirty="0">
              <a:solidFill>
                <a:srgbClr val="FF0000"/>
              </a:solidFill>
              <a:latin typeface="Garamond" pitchFamily="18" charset="0"/>
            </a:endParaRPr>
          </a:p>
        </p:txBody>
      </p:sp>
      <p:sp>
        <p:nvSpPr>
          <p:cNvPr id="52" name="TextBox 51"/>
          <p:cNvSpPr txBox="1"/>
          <p:nvPr/>
        </p:nvSpPr>
        <p:spPr>
          <a:xfrm>
            <a:off x="6019800" y="780871"/>
            <a:ext cx="2514600" cy="1200329"/>
          </a:xfrm>
          <a:prstGeom prst="rect">
            <a:avLst/>
          </a:prstGeom>
          <a:noFill/>
          <a:ln w="9525">
            <a:noFill/>
          </a:ln>
        </p:spPr>
        <p:txBody>
          <a:bodyPr wrap="square" rtlCol="0">
            <a:spAutoFit/>
          </a:bodyPr>
          <a:lstStyle/>
          <a:p>
            <a:r>
              <a:rPr lang="en-US" sz="2400" b="1" dirty="0" smtClean="0">
                <a:solidFill>
                  <a:schemeClr val="accent2"/>
                </a:solidFill>
                <a:latin typeface="Garamond" pitchFamily="18" charset="0"/>
              </a:rPr>
              <a:t>The execution of a MR job involves 6 steps</a:t>
            </a:r>
            <a:endParaRPr lang="en-US" sz="2400" b="1" dirty="0">
              <a:solidFill>
                <a:schemeClr val="accent2"/>
              </a:solidFill>
              <a:latin typeface="Garamond" pitchFamily="18" charset="0"/>
            </a:endParaRPr>
          </a:p>
        </p:txBody>
      </p:sp>
      <p:pic>
        <p:nvPicPr>
          <p:cNvPr id="56" name="Picture 3" descr="e:\Users\yhuai\Desktop\Picture1.png"/>
          <p:cNvPicPr>
            <a:picLocks noChangeAspect="1" noChangeArrowheads="1"/>
          </p:cNvPicPr>
          <p:nvPr/>
        </p:nvPicPr>
        <p:blipFill>
          <a:blip r:embed="rId4" cstate="print"/>
          <a:srcRect/>
          <a:stretch>
            <a:fillRect/>
          </a:stretch>
        </p:blipFill>
        <p:spPr bwMode="auto">
          <a:xfrm>
            <a:off x="3581400" y="1066800"/>
            <a:ext cx="854075" cy="609600"/>
          </a:xfrm>
          <a:prstGeom prst="rect">
            <a:avLst/>
          </a:prstGeom>
          <a:noFill/>
        </p:spPr>
      </p:pic>
    </p:spTree>
    <p:extLst>
      <p:ext uri="{BB962C8B-B14F-4D97-AF65-F5344CB8AC3E}">
        <p14:creationId xmlns:p14="http://schemas.microsoft.com/office/powerpoint/2010/main" val="3858609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83"/>
                                        </p:tgtEl>
                                        <p:attrNameLst>
                                          <p:attrName>style.visibility</p:attrName>
                                        </p:attrNameLst>
                                      </p:cBhvr>
                                      <p:to>
                                        <p:strVal val="visible"/>
                                      </p:to>
                                    </p:set>
                                    <p:animEffect transition="in" filter="wipe(left)">
                                      <p:cBhvr>
                                        <p:cTn id="11" dur="500"/>
                                        <p:tgtEl>
                                          <p:spTgt spid="83"/>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84"/>
                                        </p:tgtEl>
                                        <p:attrNameLst>
                                          <p:attrName>style.visibility</p:attrName>
                                        </p:attrNameLst>
                                      </p:cBhvr>
                                      <p:to>
                                        <p:strVal val="visible"/>
                                      </p:to>
                                    </p:set>
                                    <p:animEffect transition="in" filter="wipe(left)">
                                      <p:cBhvr>
                                        <p:cTn id="14" dur="500"/>
                                        <p:tgtEl>
                                          <p:spTgt spid="84"/>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85"/>
                                        </p:tgtEl>
                                        <p:attrNameLst>
                                          <p:attrName>style.visibility</p:attrName>
                                        </p:attrNameLst>
                                      </p:cBhvr>
                                      <p:to>
                                        <p:strVal val="visible"/>
                                      </p:to>
                                    </p:set>
                                    <p:animEffect transition="in" filter="wipe(left)">
                                      <p:cBhvr>
                                        <p:cTn id="17" dur="500"/>
                                        <p:tgtEl>
                                          <p:spTgt spid="85"/>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86"/>
                                        </p:tgtEl>
                                        <p:attrNameLst>
                                          <p:attrName>style.visibility</p:attrName>
                                        </p:attrNameLst>
                                      </p:cBhvr>
                                      <p:to>
                                        <p:strVal val="visible"/>
                                      </p:to>
                                    </p:set>
                                    <p:animEffect transition="in" filter="wipe(left)">
                                      <p:cBhvr>
                                        <p:cTn id="20" dur="500"/>
                                        <p:tgtEl>
                                          <p:spTgt spid="86"/>
                                        </p:tgtEl>
                                      </p:cBhvr>
                                    </p:animEffect>
                                  </p:childTnLst>
                                </p:cTn>
                              </p:par>
                            </p:childTnLst>
                          </p:cTn>
                        </p:par>
                        <p:par>
                          <p:cTn id="21" fill="hold">
                            <p:stCondLst>
                              <p:cond delay="500"/>
                            </p:stCondLst>
                            <p:childTnLst>
                              <p:par>
                                <p:cTn id="22" presetID="1" presetClass="entr" presetSubtype="0" fill="hold" grpId="0" nodeType="afterEffect">
                                  <p:stCondLst>
                                    <p:cond delay="0"/>
                                  </p:stCondLst>
                                  <p:childTnLst>
                                    <p:set>
                                      <p:cBhvr>
                                        <p:cTn id="23" dur="1" fill="hold">
                                          <p:stCondLst>
                                            <p:cond delay="0"/>
                                          </p:stCondLst>
                                        </p:cTn>
                                        <p:tgtEl>
                                          <p:spTgt spid="75"/>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76"/>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77"/>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78"/>
                                        </p:tgtEl>
                                        <p:attrNameLst>
                                          <p:attrName>style.visibility</p:attrName>
                                        </p:attrNameLst>
                                      </p:cBhvr>
                                      <p:to>
                                        <p:strVal val="visible"/>
                                      </p:to>
                                    </p:set>
                                  </p:childTnLst>
                                </p:cTn>
                              </p:par>
                            </p:childTnLst>
                          </p:cTn>
                        </p:par>
                        <p:par>
                          <p:cTn id="30" fill="hold">
                            <p:stCondLst>
                              <p:cond delay="500"/>
                            </p:stCondLst>
                            <p:childTnLst>
                              <p:par>
                                <p:cTn id="31" presetID="1" presetClass="entr" presetSubtype="0" fill="hold" grpId="0" nodeType="afterEffect">
                                  <p:stCondLst>
                                    <p:cond delay="0"/>
                                  </p:stCondLst>
                                  <p:childTnLst>
                                    <p:set>
                                      <p:cBhvr>
                                        <p:cTn id="32" dur="1" fill="hold">
                                          <p:stCondLst>
                                            <p:cond delay="0"/>
                                          </p:stCondLst>
                                        </p:cTn>
                                        <p:tgtEl>
                                          <p:spTgt spid="10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0"/>
                                        </p:tgtEl>
                                        <p:attrNameLst>
                                          <p:attrName>style.visibility</p:attrName>
                                        </p:attrNameLst>
                                      </p:cBhvr>
                                      <p:to>
                                        <p:strVal val="visible"/>
                                      </p:to>
                                    </p:set>
                                  </p:childTnLst>
                                </p:cTn>
                              </p:par>
                              <p:par>
                                <p:cTn id="43" presetID="18" presetClass="entr" presetSubtype="3" fill="hold" nodeType="withEffect">
                                  <p:stCondLst>
                                    <p:cond delay="0"/>
                                  </p:stCondLst>
                                  <p:childTnLst>
                                    <p:set>
                                      <p:cBhvr>
                                        <p:cTn id="44" dur="1" fill="hold">
                                          <p:stCondLst>
                                            <p:cond delay="0"/>
                                          </p:stCondLst>
                                        </p:cTn>
                                        <p:tgtEl>
                                          <p:spTgt spid="111"/>
                                        </p:tgtEl>
                                        <p:attrNameLst>
                                          <p:attrName>style.visibility</p:attrName>
                                        </p:attrNameLst>
                                      </p:cBhvr>
                                      <p:to>
                                        <p:strVal val="visible"/>
                                      </p:to>
                                    </p:set>
                                    <p:animEffect transition="in" filter="strips(upRight)">
                                      <p:cBhvr>
                                        <p:cTn id="45" dur="500"/>
                                        <p:tgtEl>
                                          <p:spTgt spid="111"/>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87"/>
                                        </p:tgtEl>
                                        <p:attrNameLst>
                                          <p:attrName>style.visibility</p:attrName>
                                        </p:attrNameLst>
                                      </p:cBhvr>
                                      <p:to>
                                        <p:strVal val="visible"/>
                                      </p:to>
                                    </p:set>
                                  </p:childTnLst>
                                </p:cTn>
                              </p:par>
                            </p:childTnLst>
                          </p:cTn>
                        </p:par>
                        <p:par>
                          <p:cTn id="50" fill="hold">
                            <p:stCondLst>
                              <p:cond delay="0"/>
                            </p:stCondLst>
                            <p:childTnLst>
                              <p:par>
                                <p:cTn id="51" presetID="1" presetClass="entr" presetSubtype="0" fill="hold" nodeType="afterEffect">
                                  <p:stCondLst>
                                    <p:cond delay="0"/>
                                  </p:stCondLst>
                                  <p:childTnLst>
                                    <p:set>
                                      <p:cBhvr>
                                        <p:cTn id="52" dur="1" fill="hold">
                                          <p:stCondLst>
                                            <p:cond delay="0"/>
                                          </p:stCondLst>
                                        </p:cTn>
                                        <p:tgtEl>
                                          <p:spTgt spid="106"/>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07"/>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0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09"/>
                                        </p:tgtEl>
                                        <p:attrNameLst>
                                          <p:attrName>style.visibility</p:attrName>
                                        </p:attrNameLst>
                                      </p:cBhvr>
                                      <p:to>
                                        <p:strVal val="visible"/>
                                      </p:to>
                                    </p:set>
                                  </p:childTnLst>
                                </p:cTn>
                              </p:par>
                            </p:childTnLst>
                          </p:cTn>
                        </p:par>
                        <p:par>
                          <p:cTn id="59" fill="hold">
                            <p:stCondLst>
                              <p:cond delay="0"/>
                            </p:stCondLst>
                            <p:childTnLst>
                              <p:par>
                                <p:cTn id="60" presetID="0" presetClass="path" presetSubtype="0" accel="50000" decel="50000" fill="hold" grpId="1" nodeType="afterEffect">
                                  <p:stCondLst>
                                    <p:cond delay="0"/>
                                  </p:stCondLst>
                                  <p:childTnLst>
                                    <p:animMotion origin="layout" path="M 0 0 L 0.19167 0 " pathEditMode="relative" ptsTypes="AA">
                                      <p:cBhvr>
                                        <p:cTn id="61" dur="500" fill="hold"/>
                                        <p:tgtEl>
                                          <p:spTgt spid="75"/>
                                        </p:tgtEl>
                                        <p:attrNameLst>
                                          <p:attrName>ppt_x</p:attrName>
                                          <p:attrName>ppt_y</p:attrName>
                                        </p:attrNameLst>
                                      </p:cBhvr>
                                    </p:animMotion>
                                  </p:childTnLst>
                                </p:cTn>
                              </p:par>
                              <p:par>
                                <p:cTn id="62" presetID="0" presetClass="path" presetSubtype="0" accel="50000" decel="50000" fill="hold" grpId="1" nodeType="withEffect">
                                  <p:stCondLst>
                                    <p:cond delay="0"/>
                                  </p:stCondLst>
                                  <p:childTnLst>
                                    <p:animMotion origin="layout" path="M 0 0 L 0.19167 0.08889 " pathEditMode="relative" ptsTypes="AA">
                                      <p:cBhvr>
                                        <p:cTn id="63" dur="500" fill="hold"/>
                                        <p:tgtEl>
                                          <p:spTgt spid="76"/>
                                        </p:tgtEl>
                                        <p:attrNameLst>
                                          <p:attrName>ppt_x</p:attrName>
                                          <p:attrName>ppt_y</p:attrName>
                                        </p:attrNameLst>
                                      </p:cBhvr>
                                    </p:animMotion>
                                  </p:childTnLst>
                                </p:cTn>
                              </p:par>
                              <p:par>
                                <p:cTn id="64" presetID="0" presetClass="path" presetSubtype="0" accel="50000" decel="50000" fill="hold" grpId="1" nodeType="withEffect">
                                  <p:stCondLst>
                                    <p:cond delay="0"/>
                                  </p:stCondLst>
                                  <p:childTnLst>
                                    <p:animMotion origin="layout" path="M 0 0 L 0.19167 -0.11111 " pathEditMode="relative" ptsTypes="AA">
                                      <p:cBhvr>
                                        <p:cTn id="65" dur="500" fill="hold"/>
                                        <p:tgtEl>
                                          <p:spTgt spid="77"/>
                                        </p:tgtEl>
                                        <p:attrNameLst>
                                          <p:attrName>ppt_x</p:attrName>
                                          <p:attrName>ppt_y</p:attrName>
                                        </p:attrNameLst>
                                      </p:cBhvr>
                                    </p:animMotion>
                                  </p:childTnLst>
                                </p:cTn>
                              </p:par>
                              <p:par>
                                <p:cTn id="66" presetID="0" presetClass="path" presetSubtype="0" accel="50000" decel="50000" fill="hold" grpId="1" nodeType="withEffect">
                                  <p:stCondLst>
                                    <p:cond delay="0"/>
                                  </p:stCondLst>
                                  <p:childTnLst>
                                    <p:animMotion origin="layout" path="M 0 0 L 0.19167 0 " pathEditMode="relative" ptsTypes="AA">
                                      <p:cBhvr>
                                        <p:cTn id="67" dur="500" fill="hold"/>
                                        <p:tgtEl>
                                          <p:spTgt spid="78"/>
                                        </p:tgtEl>
                                        <p:attrNameLst>
                                          <p:attrName>ppt_x</p:attrName>
                                          <p:attrName>ppt_y</p:attrName>
                                        </p:attrNameLst>
                                      </p:cBhvr>
                                    </p:animMotion>
                                  </p:childTnLst>
                                </p:cTn>
                              </p:par>
                            </p:childTnLst>
                          </p:cTn>
                        </p:par>
                        <p:par>
                          <p:cTn id="68" fill="hold">
                            <p:stCondLst>
                              <p:cond delay="500"/>
                            </p:stCondLst>
                            <p:childTnLst>
                              <p:par>
                                <p:cTn id="69" presetID="1" presetClass="entr" presetSubtype="0" fill="hold" grpId="0" nodeType="afterEffect">
                                  <p:stCondLst>
                                    <p:cond delay="0"/>
                                  </p:stCondLst>
                                  <p:childTnLst>
                                    <p:set>
                                      <p:cBhvr>
                                        <p:cTn id="70" dur="1" fill="hold">
                                          <p:stCondLst>
                                            <p:cond delay="0"/>
                                          </p:stCondLst>
                                        </p:cTn>
                                        <p:tgtEl>
                                          <p:spTgt spid="1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animBg="1"/>
      <p:bldP spid="103" grpId="0" animBg="1"/>
      <p:bldP spid="104" grpId="0" animBg="1"/>
      <p:bldP spid="105" grpId="0" animBg="1"/>
      <p:bldP spid="55" grpId="0" animBg="1"/>
      <p:bldP spid="75" grpId="0" animBg="1"/>
      <p:bldP spid="75" grpId="1" animBg="1"/>
      <p:bldP spid="76" grpId="0" animBg="1"/>
      <p:bldP spid="76" grpId="1" animBg="1"/>
      <p:bldP spid="77" grpId="0" animBg="1"/>
      <p:bldP spid="77" grpId="1" animBg="1"/>
      <p:bldP spid="78" grpId="0" animBg="1"/>
      <p:bldP spid="78" grpId="1" animBg="1"/>
      <p:bldP spid="83" grpId="0" animBg="1"/>
      <p:bldP spid="84" grpId="0" animBg="1"/>
      <p:bldP spid="85" grpId="0" animBg="1"/>
      <p:bldP spid="86" grpId="0" animBg="1"/>
      <p:bldP spid="87" grpId="0" animBg="1"/>
      <p:bldP spid="110" grpId="0"/>
      <p:bldP spid="115"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3657600" y="2343150"/>
            <a:ext cx="550576" cy="781050"/>
          </a:xfrm>
          <a:prstGeom prst="rect">
            <a:avLst/>
          </a:prstGeom>
          <a:noFill/>
          <a:ln w="9525">
            <a:noFill/>
            <a:miter lim="800000"/>
            <a:headEnd/>
            <a:tailEnd/>
          </a:ln>
        </p:spPr>
      </p:pic>
      <p:pic>
        <p:nvPicPr>
          <p:cNvPr id="42" name="Picture 4"/>
          <p:cNvPicPr>
            <a:picLocks noChangeAspect="1" noChangeArrowheads="1"/>
          </p:cNvPicPr>
          <p:nvPr/>
        </p:nvPicPr>
        <p:blipFill>
          <a:blip r:embed="rId3" cstate="print"/>
          <a:srcRect/>
          <a:stretch>
            <a:fillRect/>
          </a:stretch>
        </p:blipFill>
        <p:spPr bwMode="auto">
          <a:xfrm>
            <a:off x="5469224" y="4343400"/>
            <a:ext cx="550576" cy="781050"/>
          </a:xfrm>
          <a:prstGeom prst="rect">
            <a:avLst/>
          </a:prstGeom>
          <a:noFill/>
          <a:ln w="9525">
            <a:noFill/>
            <a:miter lim="800000"/>
            <a:headEnd/>
            <a:tailEnd/>
          </a:ln>
        </p:spPr>
      </p:pic>
      <p:cxnSp>
        <p:nvCxnSpPr>
          <p:cNvPr id="3" name="Straight Connector 2"/>
          <p:cNvCxnSpPr/>
          <p:nvPr/>
        </p:nvCxnSpPr>
        <p:spPr>
          <a:xfrm>
            <a:off x="457200" y="762000"/>
            <a:ext cx="8229600" cy="0"/>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sp>
        <p:nvSpPr>
          <p:cNvPr id="4" name="Title 1"/>
          <p:cNvSpPr txBox="1">
            <a:spLocks/>
          </p:cNvSpPr>
          <p:nvPr/>
        </p:nvSpPr>
        <p:spPr>
          <a:xfrm>
            <a:off x="457200" y="76200"/>
            <a:ext cx="8229600" cy="1143000"/>
          </a:xfrm>
          <a:prstGeom prst="rect">
            <a:avLst/>
          </a:prstGeom>
        </p:spPr>
        <p:txBody>
          <a:bodyPr/>
          <a:lstStyle/>
          <a:p>
            <a:pPr lvl="0" algn="ctr">
              <a:spcBef>
                <a:spcPct val="0"/>
              </a:spcBef>
              <a:defRPr/>
            </a:pPr>
            <a:r>
              <a:rPr lang="en-US" sz="3800" b="1" dirty="0" smtClean="0">
                <a:effectLst>
                  <a:outerShdw blurRad="38100" dist="38100" dir="2700000" algn="tl">
                    <a:srgbClr val="000000">
                      <a:alpha val="43137"/>
                    </a:srgbClr>
                  </a:outerShdw>
                </a:effectLst>
                <a:latin typeface="Garamond" pitchFamily="18" charset="0"/>
              </a:rPr>
              <a:t>MR(</a:t>
            </a:r>
            <a:r>
              <a:rPr lang="en-US" sz="3800" b="1" dirty="0" err="1" smtClean="0">
                <a:effectLst>
                  <a:outerShdw blurRad="38100" dist="38100" dir="2700000" algn="tl">
                    <a:srgbClr val="000000">
                      <a:alpha val="43137"/>
                    </a:srgbClr>
                  </a:outerShdw>
                </a:effectLst>
                <a:latin typeface="Garamond" pitchFamily="18" charset="0"/>
              </a:rPr>
              <a:t>Hadoop</a:t>
            </a:r>
            <a:r>
              <a:rPr lang="en-US" sz="3800" b="1" dirty="0" smtClean="0">
                <a:effectLst>
                  <a:outerShdw blurRad="38100" dist="38100" dir="2700000" algn="tl">
                    <a:srgbClr val="000000">
                      <a:alpha val="43137"/>
                    </a:srgbClr>
                  </a:outerShdw>
                </a:effectLst>
                <a:latin typeface="Garamond" pitchFamily="18" charset="0"/>
              </a:rPr>
              <a:t>) Job Execution Patterns</a:t>
            </a:r>
            <a:endParaRPr lang="en-US" sz="3800" b="1" dirty="0">
              <a:effectLst>
                <a:outerShdw blurRad="38100" dist="38100" dir="2700000" algn="tl">
                  <a:srgbClr val="000000">
                    <a:alpha val="43137"/>
                  </a:srgbClr>
                </a:outerShdw>
              </a:effectLst>
              <a:latin typeface="Garamond" pitchFamily="18" charset="0"/>
            </a:endParaRPr>
          </a:p>
        </p:txBody>
      </p:sp>
      <p:sp>
        <p:nvSpPr>
          <p:cNvPr id="7" name="TextBox 6"/>
          <p:cNvSpPr txBox="1"/>
          <p:nvPr/>
        </p:nvSpPr>
        <p:spPr>
          <a:xfrm>
            <a:off x="3200400" y="762000"/>
            <a:ext cx="1456232" cy="369332"/>
          </a:xfrm>
          <a:prstGeom prst="rect">
            <a:avLst/>
          </a:prstGeom>
          <a:noFill/>
        </p:spPr>
        <p:txBody>
          <a:bodyPr wrap="none" rtlCol="0">
            <a:spAutoFit/>
          </a:bodyPr>
          <a:lstStyle/>
          <a:p>
            <a:r>
              <a:rPr lang="en-US" b="1" dirty="0" smtClean="0">
                <a:latin typeface="Garamond" pitchFamily="18" charset="0"/>
              </a:rPr>
              <a:t>MR program</a:t>
            </a:r>
            <a:endParaRPr lang="en-US" b="1" dirty="0">
              <a:latin typeface="Garamond" pitchFamily="18" charset="0"/>
            </a:endParaRPr>
          </a:p>
        </p:txBody>
      </p:sp>
      <p:sp>
        <p:nvSpPr>
          <p:cNvPr id="10" name="TextBox 9"/>
          <p:cNvSpPr txBox="1"/>
          <p:nvPr/>
        </p:nvSpPr>
        <p:spPr>
          <a:xfrm>
            <a:off x="4191000" y="2495550"/>
            <a:ext cx="1407758" cy="369332"/>
          </a:xfrm>
          <a:prstGeom prst="rect">
            <a:avLst/>
          </a:prstGeom>
          <a:noFill/>
        </p:spPr>
        <p:txBody>
          <a:bodyPr wrap="none" rtlCol="0">
            <a:spAutoFit/>
          </a:bodyPr>
          <a:lstStyle/>
          <a:p>
            <a:r>
              <a:rPr lang="en-US" b="1" dirty="0" smtClean="0">
                <a:latin typeface="Garamond" pitchFamily="18" charset="0"/>
              </a:rPr>
              <a:t>Master node</a:t>
            </a:r>
            <a:endParaRPr lang="en-US" b="1" dirty="0">
              <a:latin typeface="Garamond" pitchFamily="18" charset="0"/>
            </a:endParaRPr>
          </a:p>
        </p:txBody>
      </p:sp>
      <p:cxnSp>
        <p:nvCxnSpPr>
          <p:cNvPr id="14" name="Straight Arrow Connector 13"/>
          <p:cNvCxnSpPr/>
          <p:nvPr/>
        </p:nvCxnSpPr>
        <p:spPr>
          <a:xfrm rot="5400000">
            <a:off x="3620691" y="2019697"/>
            <a:ext cx="532606" cy="1588"/>
          </a:xfrm>
          <a:prstGeom prst="straightConnector1">
            <a:avLst/>
          </a:prstGeom>
          <a:ln w="50800">
            <a:solidFill>
              <a:schemeClr val="tx1"/>
            </a:solidFill>
            <a:prstDash val="sysDot"/>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038600" y="1752600"/>
            <a:ext cx="1897699" cy="369332"/>
          </a:xfrm>
          <a:prstGeom prst="rect">
            <a:avLst/>
          </a:prstGeom>
          <a:noFill/>
          <a:ln w="38100">
            <a:solidFill>
              <a:schemeClr val="accent1">
                <a:shade val="50000"/>
              </a:schemeClr>
            </a:solidFill>
          </a:ln>
        </p:spPr>
        <p:txBody>
          <a:bodyPr wrap="none" rtlCol="0">
            <a:spAutoFit/>
          </a:bodyPr>
          <a:lstStyle/>
          <a:p>
            <a:r>
              <a:rPr lang="en-US" b="1" dirty="0" smtClean="0">
                <a:latin typeface="Garamond" pitchFamily="18" charset="0"/>
              </a:rPr>
              <a:t>1: Job submission</a:t>
            </a:r>
            <a:endParaRPr lang="en-US" b="1" dirty="0">
              <a:latin typeface="Garamond" pitchFamily="18" charset="0"/>
            </a:endParaRPr>
          </a:p>
        </p:txBody>
      </p:sp>
      <p:sp>
        <p:nvSpPr>
          <p:cNvPr id="18" name="TextBox 17"/>
          <p:cNvSpPr txBox="1"/>
          <p:nvPr/>
        </p:nvSpPr>
        <p:spPr>
          <a:xfrm>
            <a:off x="1600200" y="2971800"/>
            <a:ext cx="1529329" cy="369332"/>
          </a:xfrm>
          <a:prstGeom prst="rect">
            <a:avLst/>
          </a:prstGeom>
          <a:noFill/>
        </p:spPr>
        <p:txBody>
          <a:bodyPr wrap="none" rtlCol="0">
            <a:spAutoFit/>
          </a:bodyPr>
          <a:lstStyle/>
          <a:p>
            <a:r>
              <a:rPr lang="en-US" b="1" dirty="0" smtClean="0">
                <a:latin typeface="Garamond" pitchFamily="18" charset="0"/>
              </a:rPr>
              <a:t>Worker nodes</a:t>
            </a:r>
            <a:endParaRPr lang="en-US" b="1" dirty="0">
              <a:latin typeface="Garamond" pitchFamily="18" charset="0"/>
            </a:endParaRPr>
          </a:p>
        </p:txBody>
      </p:sp>
      <p:pic>
        <p:nvPicPr>
          <p:cNvPr id="19" name="Picture 4"/>
          <p:cNvPicPr>
            <a:picLocks noChangeAspect="1" noChangeArrowheads="1"/>
          </p:cNvPicPr>
          <p:nvPr/>
        </p:nvPicPr>
        <p:blipFill>
          <a:blip r:embed="rId3" cstate="print"/>
          <a:srcRect/>
          <a:stretch>
            <a:fillRect/>
          </a:stretch>
        </p:blipFill>
        <p:spPr bwMode="auto">
          <a:xfrm>
            <a:off x="1905000" y="4476750"/>
            <a:ext cx="550576" cy="781050"/>
          </a:xfrm>
          <a:prstGeom prst="rect">
            <a:avLst/>
          </a:prstGeom>
          <a:noFill/>
          <a:ln w="9525">
            <a:noFill/>
            <a:miter lim="800000"/>
            <a:headEnd/>
            <a:tailEnd/>
          </a:ln>
        </p:spPr>
      </p:pic>
      <p:pic>
        <p:nvPicPr>
          <p:cNvPr id="25" name="Picture 4"/>
          <p:cNvPicPr>
            <a:picLocks noChangeAspect="1" noChangeArrowheads="1"/>
          </p:cNvPicPr>
          <p:nvPr/>
        </p:nvPicPr>
        <p:blipFill>
          <a:blip r:embed="rId3" cstate="print"/>
          <a:srcRect/>
          <a:stretch>
            <a:fillRect/>
          </a:stretch>
        </p:blipFill>
        <p:spPr bwMode="auto">
          <a:xfrm>
            <a:off x="1905000" y="3429000"/>
            <a:ext cx="550576" cy="781050"/>
          </a:xfrm>
          <a:prstGeom prst="rect">
            <a:avLst/>
          </a:prstGeom>
          <a:noFill/>
          <a:ln w="9525">
            <a:noFill/>
            <a:miter lim="800000"/>
            <a:headEnd/>
            <a:tailEnd/>
          </a:ln>
        </p:spPr>
      </p:pic>
      <p:pic>
        <p:nvPicPr>
          <p:cNvPr id="41" name="Picture 4"/>
          <p:cNvPicPr>
            <a:picLocks noChangeAspect="1" noChangeArrowheads="1"/>
          </p:cNvPicPr>
          <p:nvPr/>
        </p:nvPicPr>
        <p:blipFill>
          <a:blip r:embed="rId3" cstate="print"/>
          <a:srcRect/>
          <a:stretch>
            <a:fillRect/>
          </a:stretch>
        </p:blipFill>
        <p:spPr bwMode="auto">
          <a:xfrm>
            <a:off x="5486400" y="3257550"/>
            <a:ext cx="550576" cy="781050"/>
          </a:xfrm>
          <a:prstGeom prst="rect">
            <a:avLst/>
          </a:prstGeom>
          <a:noFill/>
          <a:ln w="9525">
            <a:noFill/>
            <a:miter lim="800000"/>
            <a:headEnd/>
            <a:tailEnd/>
          </a:ln>
        </p:spPr>
      </p:pic>
      <p:sp>
        <p:nvSpPr>
          <p:cNvPr id="44" name="TextBox 43"/>
          <p:cNvSpPr txBox="1"/>
          <p:nvPr/>
        </p:nvSpPr>
        <p:spPr>
          <a:xfrm>
            <a:off x="5177516" y="2895600"/>
            <a:ext cx="1529329" cy="369332"/>
          </a:xfrm>
          <a:prstGeom prst="rect">
            <a:avLst/>
          </a:prstGeom>
          <a:noFill/>
        </p:spPr>
        <p:txBody>
          <a:bodyPr wrap="none" rtlCol="0">
            <a:spAutoFit/>
          </a:bodyPr>
          <a:lstStyle/>
          <a:p>
            <a:r>
              <a:rPr lang="en-US" b="1" dirty="0" smtClean="0">
                <a:latin typeface="Garamond" pitchFamily="18" charset="0"/>
              </a:rPr>
              <a:t>Worker nodes</a:t>
            </a:r>
            <a:endParaRPr lang="en-US" b="1" dirty="0">
              <a:latin typeface="Garamond" pitchFamily="18" charset="0"/>
            </a:endParaRPr>
          </a:p>
        </p:txBody>
      </p:sp>
      <p:sp>
        <p:nvSpPr>
          <p:cNvPr id="62" name="Oval 61"/>
          <p:cNvSpPr/>
          <p:nvPr/>
        </p:nvSpPr>
        <p:spPr>
          <a:xfrm>
            <a:off x="228600" y="914400"/>
            <a:ext cx="304800" cy="304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p:cNvSpPr txBox="1"/>
          <p:nvPr/>
        </p:nvSpPr>
        <p:spPr>
          <a:xfrm>
            <a:off x="609600" y="914400"/>
            <a:ext cx="1828800" cy="369332"/>
          </a:xfrm>
          <a:prstGeom prst="rect">
            <a:avLst/>
          </a:prstGeom>
          <a:noFill/>
        </p:spPr>
        <p:txBody>
          <a:bodyPr wrap="square" rtlCol="0">
            <a:spAutoFit/>
          </a:bodyPr>
          <a:lstStyle/>
          <a:p>
            <a:r>
              <a:rPr lang="en-US" b="1" dirty="0" smtClean="0">
                <a:latin typeface="Garamond" pitchFamily="18" charset="0"/>
              </a:rPr>
              <a:t>Map Tasks</a:t>
            </a:r>
            <a:endParaRPr lang="en-US" b="1" dirty="0">
              <a:latin typeface="Garamond" pitchFamily="18" charset="0"/>
            </a:endParaRPr>
          </a:p>
        </p:txBody>
      </p:sp>
      <p:sp>
        <p:nvSpPr>
          <p:cNvPr id="64" name="Oval 63"/>
          <p:cNvSpPr/>
          <p:nvPr/>
        </p:nvSpPr>
        <p:spPr>
          <a:xfrm>
            <a:off x="228600" y="1307068"/>
            <a:ext cx="304800" cy="304800"/>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p:cNvSpPr txBox="1"/>
          <p:nvPr/>
        </p:nvSpPr>
        <p:spPr>
          <a:xfrm>
            <a:off x="609600" y="1307068"/>
            <a:ext cx="1828800" cy="369332"/>
          </a:xfrm>
          <a:prstGeom prst="rect">
            <a:avLst/>
          </a:prstGeom>
          <a:noFill/>
        </p:spPr>
        <p:txBody>
          <a:bodyPr wrap="square" rtlCol="0">
            <a:spAutoFit/>
          </a:bodyPr>
          <a:lstStyle/>
          <a:p>
            <a:r>
              <a:rPr lang="en-US" b="1" dirty="0" smtClean="0">
                <a:latin typeface="Garamond" pitchFamily="18" charset="0"/>
              </a:rPr>
              <a:t>Reduce Tasks</a:t>
            </a:r>
            <a:endParaRPr lang="en-US" b="1" dirty="0">
              <a:latin typeface="Garamond" pitchFamily="18" charset="0"/>
            </a:endParaRPr>
          </a:p>
        </p:txBody>
      </p:sp>
      <p:sp>
        <p:nvSpPr>
          <p:cNvPr id="70" name="Oval 69"/>
          <p:cNvSpPr/>
          <p:nvPr/>
        </p:nvSpPr>
        <p:spPr>
          <a:xfrm>
            <a:off x="2209800" y="3886200"/>
            <a:ext cx="304800" cy="304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p:cNvSpPr/>
          <p:nvPr/>
        </p:nvSpPr>
        <p:spPr>
          <a:xfrm>
            <a:off x="2209800" y="4876800"/>
            <a:ext cx="304800" cy="304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p:cNvSpPr/>
          <p:nvPr/>
        </p:nvSpPr>
        <p:spPr>
          <a:xfrm>
            <a:off x="5791200" y="3657600"/>
            <a:ext cx="304800" cy="304800"/>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p:cNvSpPr/>
          <p:nvPr/>
        </p:nvSpPr>
        <p:spPr>
          <a:xfrm>
            <a:off x="5791200" y="4724400"/>
            <a:ext cx="304800" cy="304800"/>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56"/>
          <p:cNvGrpSpPr/>
          <p:nvPr/>
        </p:nvGrpSpPr>
        <p:grpSpPr>
          <a:xfrm>
            <a:off x="304800" y="2895600"/>
            <a:ext cx="990600" cy="3733800"/>
            <a:chOff x="304800" y="2895600"/>
            <a:chExt cx="990600" cy="3733800"/>
          </a:xfrm>
        </p:grpSpPr>
        <p:sp>
          <p:nvSpPr>
            <p:cNvPr id="58" name="Flowchart: Document 57"/>
            <p:cNvSpPr/>
            <p:nvPr/>
          </p:nvSpPr>
          <p:spPr>
            <a:xfrm>
              <a:off x="304800" y="2895600"/>
              <a:ext cx="990600" cy="3733800"/>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lowchart: Magnetic Disk 58"/>
            <p:cNvSpPr/>
            <p:nvPr/>
          </p:nvSpPr>
          <p:spPr>
            <a:xfrm>
              <a:off x="533400" y="3124200"/>
              <a:ext cx="533400" cy="533400"/>
            </a:xfrm>
            <a:prstGeom prst="flowChartMagneticDisk">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lowchart: Magnetic Disk 59"/>
            <p:cNvSpPr/>
            <p:nvPr/>
          </p:nvSpPr>
          <p:spPr>
            <a:xfrm>
              <a:off x="533400" y="3733800"/>
              <a:ext cx="533400" cy="533400"/>
            </a:xfrm>
            <a:prstGeom prst="flowChartMagneticDisk">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Flowchart: Magnetic Disk 60"/>
            <p:cNvSpPr/>
            <p:nvPr/>
          </p:nvSpPr>
          <p:spPr>
            <a:xfrm>
              <a:off x="533400" y="4419600"/>
              <a:ext cx="533400" cy="533400"/>
            </a:xfrm>
            <a:prstGeom prst="flowChartMagneticDisk">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lowchart: Magnetic Disk 73"/>
            <p:cNvSpPr/>
            <p:nvPr/>
          </p:nvSpPr>
          <p:spPr>
            <a:xfrm>
              <a:off x="533400" y="5029200"/>
              <a:ext cx="533400" cy="533400"/>
            </a:xfrm>
            <a:prstGeom prst="flowChartMagneticDisk">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Flowchart: Magnetic Disk 74"/>
          <p:cNvSpPr/>
          <p:nvPr/>
        </p:nvSpPr>
        <p:spPr>
          <a:xfrm>
            <a:off x="2895600" y="3124200"/>
            <a:ext cx="533400" cy="533400"/>
          </a:xfrm>
          <a:prstGeom prst="flowChartMagneticDisk">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lowchart: Magnetic Disk 75"/>
          <p:cNvSpPr/>
          <p:nvPr/>
        </p:nvSpPr>
        <p:spPr>
          <a:xfrm>
            <a:off x="2895600" y="3810000"/>
            <a:ext cx="533400" cy="533400"/>
          </a:xfrm>
          <a:prstGeom prst="flowChartMagneticDisk">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Flowchart: Magnetic Disk 76"/>
          <p:cNvSpPr/>
          <p:nvPr/>
        </p:nvSpPr>
        <p:spPr>
          <a:xfrm>
            <a:off x="2895600" y="4495800"/>
            <a:ext cx="533400" cy="533400"/>
          </a:xfrm>
          <a:prstGeom prst="flowChartMagneticDisk">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Flowchart: Magnetic Disk 77"/>
          <p:cNvSpPr/>
          <p:nvPr/>
        </p:nvSpPr>
        <p:spPr>
          <a:xfrm>
            <a:off x="2895600" y="5181600"/>
            <a:ext cx="533400" cy="533400"/>
          </a:xfrm>
          <a:prstGeom prst="flowChartMagneticDisk">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lowchart: Magnetic Disk 78"/>
          <p:cNvSpPr/>
          <p:nvPr/>
        </p:nvSpPr>
        <p:spPr>
          <a:xfrm>
            <a:off x="4648200" y="3124200"/>
            <a:ext cx="533400" cy="533400"/>
          </a:xfrm>
          <a:prstGeom prst="flowChartMagneticDisk">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Flowchart: Magnetic Disk 79"/>
          <p:cNvSpPr/>
          <p:nvPr/>
        </p:nvSpPr>
        <p:spPr>
          <a:xfrm>
            <a:off x="4648200" y="3733800"/>
            <a:ext cx="533400" cy="533400"/>
          </a:xfrm>
          <a:prstGeom prst="flowChartMagneticDisk">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lowchart: Magnetic Disk 80"/>
          <p:cNvSpPr/>
          <p:nvPr/>
        </p:nvSpPr>
        <p:spPr>
          <a:xfrm>
            <a:off x="4648200" y="4419600"/>
            <a:ext cx="533400" cy="533400"/>
          </a:xfrm>
          <a:prstGeom prst="flowChartMagneticDisk">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Flowchart: Magnetic Disk 81"/>
          <p:cNvSpPr/>
          <p:nvPr/>
        </p:nvSpPr>
        <p:spPr>
          <a:xfrm>
            <a:off x="4648200" y="5181600"/>
            <a:ext cx="533400" cy="533400"/>
          </a:xfrm>
          <a:prstGeom prst="flowChartMagneticDisk">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Freeform 82"/>
          <p:cNvSpPr/>
          <p:nvPr/>
        </p:nvSpPr>
        <p:spPr>
          <a:xfrm>
            <a:off x="1066799" y="3352800"/>
            <a:ext cx="1743635" cy="433294"/>
          </a:xfrm>
          <a:custGeom>
            <a:avLst/>
            <a:gdLst>
              <a:gd name="connsiteX0" fmla="*/ 0 w 1653988"/>
              <a:gd name="connsiteY0" fmla="*/ 0 h 562535"/>
              <a:gd name="connsiteX1" fmla="*/ 1008529 w 1653988"/>
              <a:gd name="connsiteY1" fmla="*/ 537882 h 562535"/>
              <a:gd name="connsiteX2" fmla="*/ 1653988 w 1653988"/>
              <a:gd name="connsiteY2" fmla="*/ 147917 h 562535"/>
              <a:gd name="connsiteX0" fmla="*/ 0 w 1653988"/>
              <a:gd name="connsiteY0" fmla="*/ 0 h 522194"/>
              <a:gd name="connsiteX1" fmla="*/ 900953 w 1653988"/>
              <a:gd name="connsiteY1" fmla="*/ 497541 h 522194"/>
              <a:gd name="connsiteX2" fmla="*/ 1653988 w 1653988"/>
              <a:gd name="connsiteY2" fmla="*/ 147917 h 522194"/>
              <a:gd name="connsiteX0" fmla="*/ 0 w 1743635"/>
              <a:gd name="connsiteY0" fmla="*/ 0 h 433294"/>
              <a:gd name="connsiteX1" fmla="*/ 990600 w 1743635"/>
              <a:gd name="connsiteY1" fmla="*/ 421341 h 433294"/>
              <a:gd name="connsiteX2" fmla="*/ 1743635 w 1743635"/>
              <a:gd name="connsiteY2" fmla="*/ 71717 h 433294"/>
            </a:gdLst>
            <a:ahLst/>
            <a:cxnLst>
              <a:cxn ang="0">
                <a:pos x="connsiteX0" y="connsiteY0"/>
              </a:cxn>
              <a:cxn ang="0">
                <a:pos x="connsiteX1" y="connsiteY1"/>
              </a:cxn>
              <a:cxn ang="0">
                <a:pos x="connsiteX2" y="connsiteY2"/>
              </a:cxn>
            </a:cxnLst>
            <a:rect l="l" t="t" r="r" b="b"/>
            <a:pathLst>
              <a:path w="1743635" h="433294">
                <a:moveTo>
                  <a:pt x="0" y="0"/>
                </a:moveTo>
                <a:cubicBezTo>
                  <a:pt x="366432" y="256614"/>
                  <a:pt x="699994" y="409388"/>
                  <a:pt x="990600" y="421341"/>
                </a:cubicBezTo>
                <a:cubicBezTo>
                  <a:pt x="1281206" y="433294"/>
                  <a:pt x="1698811" y="40341"/>
                  <a:pt x="1743635" y="71717"/>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4" name="Freeform 83"/>
          <p:cNvSpPr/>
          <p:nvPr/>
        </p:nvSpPr>
        <p:spPr>
          <a:xfrm>
            <a:off x="1143000" y="3870263"/>
            <a:ext cx="1667435" cy="187760"/>
          </a:xfrm>
          <a:custGeom>
            <a:avLst/>
            <a:gdLst>
              <a:gd name="connsiteX0" fmla="*/ 0 w 1653988"/>
              <a:gd name="connsiteY0" fmla="*/ 0 h 562535"/>
              <a:gd name="connsiteX1" fmla="*/ 1008529 w 1653988"/>
              <a:gd name="connsiteY1" fmla="*/ 537882 h 562535"/>
              <a:gd name="connsiteX2" fmla="*/ 1653988 w 1653988"/>
              <a:gd name="connsiteY2" fmla="*/ 147917 h 562535"/>
              <a:gd name="connsiteX0" fmla="*/ 0 w 1653988"/>
              <a:gd name="connsiteY0" fmla="*/ 0 h 522194"/>
              <a:gd name="connsiteX1" fmla="*/ 900953 w 1653988"/>
              <a:gd name="connsiteY1" fmla="*/ 497541 h 522194"/>
              <a:gd name="connsiteX2" fmla="*/ 1653988 w 1653988"/>
              <a:gd name="connsiteY2" fmla="*/ 147917 h 522194"/>
              <a:gd name="connsiteX0" fmla="*/ 0 w 1743635"/>
              <a:gd name="connsiteY0" fmla="*/ 0 h 433294"/>
              <a:gd name="connsiteX1" fmla="*/ 990600 w 1743635"/>
              <a:gd name="connsiteY1" fmla="*/ 421341 h 433294"/>
              <a:gd name="connsiteX2" fmla="*/ 1743635 w 1743635"/>
              <a:gd name="connsiteY2" fmla="*/ 71717 h 433294"/>
              <a:gd name="connsiteX0" fmla="*/ 0 w 1743635"/>
              <a:gd name="connsiteY0" fmla="*/ 112059 h 368673"/>
              <a:gd name="connsiteX1" fmla="*/ 990600 w 1743635"/>
              <a:gd name="connsiteY1" fmla="*/ 11953 h 368673"/>
              <a:gd name="connsiteX2" fmla="*/ 1743635 w 1743635"/>
              <a:gd name="connsiteY2" fmla="*/ 183776 h 368673"/>
              <a:gd name="connsiteX0" fmla="*/ 0 w 1743635"/>
              <a:gd name="connsiteY0" fmla="*/ 415864 h 672478"/>
              <a:gd name="connsiteX1" fmla="*/ 990600 w 1743635"/>
              <a:gd name="connsiteY1" fmla="*/ 34863 h 672478"/>
              <a:gd name="connsiteX2" fmla="*/ 1743635 w 1743635"/>
              <a:gd name="connsiteY2" fmla="*/ 206686 h 672478"/>
              <a:gd name="connsiteX0" fmla="*/ 0 w 1743635"/>
              <a:gd name="connsiteY0" fmla="*/ 415864 h 415864"/>
              <a:gd name="connsiteX1" fmla="*/ 990600 w 1743635"/>
              <a:gd name="connsiteY1" fmla="*/ 34863 h 415864"/>
              <a:gd name="connsiteX2" fmla="*/ 1743635 w 1743635"/>
              <a:gd name="connsiteY2" fmla="*/ 206686 h 415864"/>
              <a:gd name="connsiteX0" fmla="*/ 0 w 1743635"/>
              <a:gd name="connsiteY0" fmla="*/ 396938 h 396938"/>
              <a:gd name="connsiteX1" fmla="*/ 228600 w 1743635"/>
              <a:gd name="connsiteY1" fmla="*/ 92137 h 396938"/>
              <a:gd name="connsiteX2" fmla="*/ 990600 w 1743635"/>
              <a:gd name="connsiteY2" fmla="*/ 15937 h 396938"/>
              <a:gd name="connsiteX3" fmla="*/ 1743635 w 1743635"/>
              <a:gd name="connsiteY3" fmla="*/ 187760 h 396938"/>
              <a:gd name="connsiteX0" fmla="*/ 0 w 1667435"/>
              <a:gd name="connsiteY0" fmla="*/ 168337 h 187760"/>
              <a:gd name="connsiteX1" fmla="*/ 152400 w 1667435"/>
              <a:gd name="connsiteY1" fmla="*/ 92137 h 187760"/>
              <a:gd name="connsiteX2" fmla="*/ 914400 w 1667435"/>
              <a:gd name="connsiteY2" fmla="*/ 15937 h 187760"/>
              <a:gd name="connsiteX3" fmla="*/ 1667435 w 1667435"/>
              <a:gd name="connsiteY3" fmla="*/ 187760 h 187760"/>
            </a:gdLst>
            <a:ahLst/>
            <a:cxnLst>
              <a:cxn ang="0">
                <a:pos x="connsiteX0" y="connsiteY0"/>
              </a:cxn>
              <a:cxn ang="0">
                <a:pos x="connsiteX1" y="connsiteY1"/>
              </a:cxn>
              <a:cxn ang="0">
                <a:pos x="connsiteX2" y="connsiteY2"/>
              </a:cxn>
              <a:cxn ang="0">
                <a:pos x="connsiteX3" y="connsiteY3"/>
              </a:cxn>
            </a:cxnLst>
            <a:rect l="l" t="t" r="r" b="b"/>
            <a:pathLst>
              <a:path w="1667435" h="187760">
                <a:moveTo>
                  <a:pt x="0" y="168337"/>
                </a:moveTo>
                <a:cubicBezTo>
                  <a:pt x="5977" y="165349"/>
                  <a:pt x="0" y="117537"/>
                  <a:pt x="152400" y="92137"/>
                </a:cubicBezTo>
                <a:cubicBezTo>
                  <a:pt x="304800" y="66737"/>
                  <a:pt x="661894" y="0"/>
                  <a:pt x="914400" y="15937"/>
                </a:cubicBezTo>
                <a:cubicBezTo>
                  <a:pt x="1166906" y="31874"/>
                  <a:pt x="1622611" y="156384"/>
                  <a:pt x="1667435" y="187760"/>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5" name="Freeform 84"/>
          <p:cNvSpPr/>
          <p:nvPr/>
        </p:nvSpPr>
        <p:spPr>
          <a:xfrm>
            <a:off x="1066800" y="4648200"/>
            <a:ext cx="1743635" cy="433294"/>
          </a:xfrm>
          <a:custGeom>
            <a:avLst/>
            <a:gdLst>
              <a:gd name="connsiteX0" fmla="*/ 0 w 1653988"/>
              <a:gd name="connsiteY0" fmla="*/ 0 h 562535"/>
              <a:gd name="connsiteX1" fmla="*/ 1008529 w 1653988"/>
              <a:gd name="connsiteY1" fmla="*/ 537882 h 562535"/>
              <a:gd name="connsiteX2" fmla="*/ 1653988 w 1653988"/>
              <a:gd name="connsiteY2" fmla="*/ 147917 h 562535"/>
              <a:gd name="connsiteX0" fmla="*/ 0 w 1653988"/>
              <a:gd name="connsiteY0" fmla="*/ 0 h 522194"/>
              <a:gd name="connsiteX1" fmla="*/ 900953 w 1653988"/>
              <a:gd name="connsiteY1" fmla="*/ 497541 h 522194"/>
              <a:gd name="connsiteX2" fmla="*/ 1653988 w 1653988"/>
              <a:gd name="connsiteY2" fmla="*/ 147917 h 522194"/>
              <a:gd name="connsiteX0" fmla="*/ 0 w 1743635"/>
              <a:gd name="connsiteY0" fmla="*/ 0 h 433294"/>
              <a:gd name="connsiteX1" fmla="*/ 990600 w 1743635"/>
              <a:gd name="connsiteY1" fmla="*/ 421341 h 433294"/>
              <a:gd name="connsiteX2" fmla="*/ 1743635 w 1743635"/>
              <a:gd name="connsiteY2" fmla="*/ 71717 h 433294"/>
            </a:gdLst>
            <a:ahLst/>
            <a:cxnLst>
              <a:cxn ang="0">
                <a:pos x="connsiteX0" y="connsiteY0"/>
              </a:cxn>
              <a:cxn ang="0">
                <a:pos x="connsiteX1" y="connsiteY1"/>
              </a:cxn>
              <a:cxn ang="0">
                <a:pos x="connsiteX2" y="connsiteY2"/>
              </a:cxn>
            </a:cxnLst>
            <a:rect l="l" t="t" r="r" b="b"/>
            <a:pathLst>
              <a:path w="1743635" h="433294">
                <a:moveTo>
                  <a:pt x="0" y="0"/>
                </a:moveTo>
                <a:cubicBezTo>
                  <a:pt x="366432" y="256614"/>
                  <a:pt x="699994" y="409388"/>
                  <a:pt x="990600" y="421341"/>
                </a:cubicBezTo>
                <a:cubicBezTo>
                  <a:pt x="1281206" y="433294"/>
                  <a:pt x="1698811" y="40341"/>
                  <a:pt x="1743635" y="71717"/>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6" name="Freeform 85"/>
          <p:cNvSpPr/>
          <p:nvPr/>
        </p:nvSpPr>
        <p:spPr>
          <a:xfrm>
            <a:off x="1143001" y="5165663"/>
            <a:ext cx="1667435" cy="187760"/>
          </a:xfrm>
          <a:custGeom>
            <a:avLst/>
            <a:gdLst>
              <a:gd name="connsiteX0" fmla="*/ 0 w 1653988"/>
              <a:gd name="connsiteY0" fmla="*/ 0 h 562535"/>
              <a:gd name="connsiteX1" fmla="*/ 1008529 w 1653988"/>
              <a:gd name="connsiteY1" fmla="*/ 537882 h 562535"/>
              <a:gd name="connsiteX2" fmla="*/ 1653988 w 1653988"/>
              <a:gd name="connsiteY2" fmla="*/ 147917 h 562535"/>
              <a:gd name="connsiteX0" fmla="*/ 0 w 1653988"/>
              <a:gd name="connsiteY0" fmla="*/ 0 h 522194"/>
              <a:gd name="connsiteX1" fmla="*/ 900953 w 1653988"/>
              <a:gd name="connsiteY1" fmla="*/ 497541 h 522194"/>
              <a:gd name="connsiteX2" fmla="*/ 1653988 w 1653988"/>
              <a:gd name="connsiteY2" fmla="*/ 147917 h 522194"/>
              <a:gd name="connsiteX0" fmla="*/ 0 w 1743635"/>
              <a:gd name="connsiteY0" fmla="*/ 0 h 433294"/>
              <a:gd name="connsiteX1" fmla="*/ 990600 w 1743635"/>
              <a:gd name="connsiteY1" fmla="*/ 421341 h 433294"/>
              <a:gd name="connsiteX2" fmla="*/ 1743635 w 1743635"/>
              <a:gd name="connsiteY2" fmla="*/ 71717 h 433294"/>
              <a:gd name="connsiteX0" fmla="*/ 0 w 1743635"/>
              <a:gd name="connsiteY0" fmla="*/ 112059 h 368673"/>
              <a:gd name="connsiteX1" fmla="*/ 990600 w 1743635"/>
              <a:gd name="connsiteY1" fmla="*/ 11953 h 368673"/>
              <a:gd name="connsiteX2" fmla="*/ 1743635 w 1743635"/>
              <a:gd name="connsiteY2" fmla="*/ 183776 h 368673"/>
              <a:gd name="connsiteX0" fmla="*/ 0 w 1743635"/>
              <a:gd name="connsiteY0" fmla="*/ 415864 h 672478"/>
              <a:gd name="connsiteX1" fmla="*/ 990600 w 1743635"/>
              <a:gd name="connsiteY1" fmla="*/ 34863 h 672478"/>
              <a:gd name="connsiteX2" fmla="*/ 1743635 w 1743635"/>
              <a:gd name="connsiteY2" fmla="*/ 206686 h 672478"/>
              <a:gd name="connsiteX0" fmla="*/ 0 w 1743635"/>
              <a:gd name="connsiteY0" fmla="*/ 415864 h 415864"/>
              <a:gd name="connsiteX1" fmla="*/ 990600 w 1743635"/>
              <a:gd name="connsiteY1" fmla="*/ 34863 h 415864"/>
              <a:gd name="connsiteX2" fmla="*/ 1743635 w 1743635"/>
              <a:gd name="connsiteY2" fmla="*/ 206686 h 415864"/>
              <a:gd name="connsiteX0" fmla="*/ 0 w 1743635"/>
              <a:gd name="connsiteY0" fmla="*/ 396938 h 396938"/>
              <a:gd name="connsiteX1" fmla="*/ 228600 w 1743635"/>
              <a:gd name="connsiteY1" fmla="*/ 92137 h 396938"/>
              <a:gd name="connsiteX2" fmla="*/ 990600 w 1743635"/>
              <a:gd name="connsiteY2" fmla="*/ 15937 h 396938"/>
              <a:gd name="connsiteX3" fmla="*/ 1743635 w 1743635"/>
              <a:gd name="connsiteY3" fmla="*/ 187760 h 396938"/>
              <a:gd name="connsiteX0" fmla="*/ 0 w 1667435"/>
              <a:gd name="connsiteY0" fmla="*/ 168337 h 187760"/>
              <a:gd name="connsiteX1" fmla="*/ 152400 w 1667435"/>
              <a:gd name="connsiteY1" fmla="*/ 92137 h 187760"/>
              <a:gd name="connsiteX2" fmla="*/ 914400 w 1667435"/>
              <a:gd name="connsiteY2" fmla="*/ 15937 h 187760"/>
              <a:gd name="connsiteX3" fmla="*/ 1667435 w 1667435"/>
              <a:gd name="connsiteY3" fmla="*/ 187760 h 187760"/>
            </a:gdLst>
            <a:ahLst/>
            <a:cxnLst>
              <a:cxn ang="0">
                <a:pos x="connsiteX0" y="connsiteY0"/>
              </a:cxn>
              <a:cxn ang="0">
                <a:pos x="connsiteX1" y="connsiteY1"/>
              </a:cxn>
              <a:cxn ang="0">
                <a:pos x="connsiteX2" y="connsiteY2"/>
              </a:cxn>
              <a:cxn ang="0">
                <a:pos x="connsiteX3" y="connsiteY3"/>
              </a:cxn>
            </a:cxnLst>
            <a:rect l="l" t="t" r="r" b="b"/>
            <a:pathLst>
              <a:path w="1667435" h="187760">
                <a:moveTo>
                  <a:pt x="0" y="168337"/>
                </a:moveTo>
                <a:cubicBezTo>
                  <a:pt x="5977" y="165349"/>
                  <a:pt x="0" y="117537"/>
                  <a:pt x="152400" y="92137"/>
                </a:cubicBezTo>
                <a:cubicBezTo>
                  <a:pt x="304800" y="66737"/>
                  <a:pt x="661894" y="0"/>
                  <a:pt x="914400" y="15937"/>
                </a:cubicBezTo>
                <a:cubicBezTo>
                  <a:pt x="1166906" y="31874"/>
                  <a:pt x="1622611" y="156384"/>
                  <a:pt x="1667435" y="187760"/>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5" name="Straight Arrow Connector 44"/>
          <p:cNvCxnSpPr/>
          <p:nvPr/>
        </p:nvCxnSpPr>
        <p:spPr>
          <a:xfrm>
            <a:off x="3505200" y="4114800"/>
            <a:ext cx="1143000" cy="457200"/>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V="1">
            <a:off x="3581400" y="4114800"/>
            <a:ext cx="1066800" cy="533400"/>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a:off x="3505200" y="3429000"/>
            <a:ext cx="1143000" cy="1588"/>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a:off x="3581400" y="5484812"/>
            <a:ext cx="1066800" cy="1588"/>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5181600" y="5943600"/>
            <a:ext cx="2057400" cy="646331"/>
          </a:xfrm>
          <a:prstGeom prst="rect">
            <a:avLst/>
          </a:prstGeom>
          <a:noFill/>
          <a:ln w="38100">
            <a:solidFill>
              <a:schemeClr val="accent1">
                <a:shade val="50000"/>
              </a:schemeClr>
            </a:solidFill>
          </a:ln>
        </p:spPr>
        <p:txBody>
          <a:bodyPr wrap="square" rtlCol="0">
            <a:spAutoFit/>
          </a:bodyPr>
          <a:lstStyle/>
          <a:p>
            <a:r>
              <a:rPr lang="en-US" b="1" dirty="0" smtClean="0">
                <a:latin typeface="Garamond" pitchFamily="18" charset="0"/>
              </a:rPr>
              <a:t>5: Reduce phase</a:t>
            </a:r>
          </a:p>
          <a:p>
            <a:r>
              <a:rPr lang="en-US" b="1" dirty="0" smtClean="0">
                <a:solidFill>
                  <a:srgbClr val="FF0000"/>
                </a:solidFill>
                <a:latin typeface="Garamond" pitchFamily="18" charset="0"/>
              </a:rPr>
              <a:t>Concurrent tasks</a:t>
            </a:r>
          </a:p>
        </p:txBody>
      </p:sp>
      <p:sp>
        <p:nvSpPr>
          <p:cNvPr id="52" name="Flowchart: Document 51"/>
          <p:cNvSpPr/>
          <p:nvPr/>
        </p:nvSpPr>
        <p:spPr>
          <a:xfrm>
            <a:off x="7391400" y="2895600"/>
            <a:ext cx="990600" cy="3733800"/>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lowchart: Magnetic Disk 49"/>
          <p:cNvSpPr/>
          <p:nvPr/>
        </p:nvSpPr>
        <p:spPr>
          <a:xfrm>
            <a:off x="6324600" y="3352800"/>
            <a:ext cx="533400" cy="533400"/>
          </a:xfrm>
          <a:prstGeom prst="flowChartMagneticDisk">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lowchart: Magnetic Disk 65"/>
          <p:cNvSpPr/>
          <p:nvPr/>
        </p:nvSpPr>
        <p:spPr>
          <a:xfrm>
            <a:off x="6324600" y="4419600"/>
            <a:ext cx="533400" cy="533400"/>
          </a:xfrm>
          <a:prstGeom prst="flowChartMagneticDisk">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Flowchart: Magnetic Disk 66"/>
          <p:cNvSpPr/>
          <p:nvPr/>
        </p:nvSpPr>
        <p:spPr>
          <a:xfrm>
            <a:off x="7620000" y="3352800"/>
            <a:ext cx="533400" cy="533400"/>
          </a:xfrm>
          <a:prstGeom prst="flowChartMagneticDisk">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lowchart: Magnetic Disk 67"/>
          <p:cNvSpPr/>
          <p:nvPr/>
        </p:nvSpPr>
        <p:spPr>
          <a:xfrm>
            <a:off x="7620000" y="4419600"/>
            <a:ext cx="533400" cy="533400"/>
          </a:xfrm>
          <a:prstGeom prst="flowChartMagneticDisk">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Freeform 90"/>
          <p:cNvSpPr/>
          <p:nvPr/>
        </p:nvSpPr>
        <p:spPr>
          <a:xfrm>
            <a:off x="5242560" y="3383280"/>
            <a:ext cx="1005840" cy="291253"/>
          </a:xfrm>
          <a:custGeom>
            <a:avLst/>
            <a:gdLst>
              <a:gd name="connsiteX0" fmla="*/ 0 w 1005840"/>
              <a:gd name="connsiteY0" fmla="*/ 0 h 291253"/>
              <a:gd name="connsiteX1" fmla="*/ 568960 w 1005840"/>
              <a:gd name="connsiteY1" fmla="*/ 243840 h 291253"/>
              <a:gd name="connsiteX2" fmla="*/ 1005840 w 1005840"/>
              <a:gd name="connsiteY2" fmla="*/ 284480 h 291253"/>
            </a:gdLst>
            <a:ahLst/>
            <a:cxnLst>
              <a:cxn ang="0">
                <a:pos x="connsiteX0" y="connsiteY0"/>
              </a:cxn>
              <a:cxn ang="0">
                <a:pos x="connsiteX1" y="connsiteY1"/>
              </a:cxn>
              <a:cxn ang="0">
                <a:pos x="connsiteX2" y="connsiteY2"/>
              </a:cxn>
            </a:cxnLst>
            <a:rect l="l" t="t" r="r" b="b"/>
            <a:pathLst>
              <a:path w="1005840" h="291253">
                <a:moveTo>
                  <a:pt x="0" y="0"/>
                </a:moveTo>
                <a:cubicBezTo>
                  <a:pt x="200660" y="98213"/>
                  <a:pt x="401320" y="196427"/>
                  <a:pt x="568960" y="243840"/>
                </a:cubicBezTo>
                <a:cubicBezTo>
                  <a:pt x="736600" y="291253"/>
                  <a:pt x="871220" y="287866"/>
                  <a:pt x="1005840" y="284480"/>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2" name="Freeform 91"/>
          <p:cNvSpPr/>
          <p:nvPr/>
        </p:nvSpPr>
        <p:spPr>
          <a:xfrm>
            <a:off x="5257800" y="3771899"/>
            <a:ext cx="990600" cy="266701"/>
          </a:xfrm>
          <a:custGeom>
            <a:avLst/>
            <a:gdLst>
              <a:gd name="connsiteX0" fmla="*/ 0 w 1005840"/>
              <a:gd name="connsiteY0" fmla="*/ 0 h 291253"/>
              <a:gd name="connsiteX1" fmla="*/ 568960 w 1005840"/>
              <a:gd name="connsiteY1" fmla="*/ 243840 h 291253"/>
              <a:gd name="connsiteX2" fmla="*/ 1005840 w 1005840"/>
              <a:gd name="connsiteY2" fmla="*/ 284480 h 291253"/>
              <a:gd name="connsiteX0" fmla="*/ 0 w 990600"/>
              <a:gd name="connsiteY0" fmla="*/ 152400 h 421640"/>
              <a:gd name="connsiteX1" fmla="*/ 568960 w 990600"/>
              <a:gd name="connsiteY1" fmla="*/ 396240 h 421640"/>
              <a:gd name="connsiteX2" fmla="*/ 990600 w 990600"/>
              <a:gd name="connsiteY2" fmla="*/ 0 h 421640"/>
              <a:gd name="connsiteX0" fmla="*/ 0 w 990600"/>
              <a:gd name="connsiteY0" fmla="*/ 177800 h 276013"/>
              <a:gd name="connsiteX1" fmla="*/ 533400 w 990600"/>
              <a:gd name="connsiteY1" fmla="*/ 25400 h 276013"/>
              <a:gd name="connsiteX2" fmla="*/ 990600 w 990600"/>
              <a:gd name="connsiteY2" fmla="*/ 25400 h 276013"/>
              <a:gd name="connsiteX0" fmla="*/ 0 w 914400"/>
              <a:gd name="connsiteY0" fmla="*/ 177800 h 276013"/>
              <a:gd name="connsiteX1" fmla="*/ 533400 w 914400"/>
              <a:gd name="connsiteY1" fmla="*/ 25400 h 276013"/>
              <a:gd name="connsiteX2" fmla="*/ 914400 w 914400"/>
              <a:gd name="connsiteY2" fmla="*/ 25401 h 276013"/>
              <a:gd name="connsiteX0" fmla="*/ 0 w 990600"/>
              <a:gd name="connsiteY0" fmla="*/ 177800 h 276013"/>
              <a:gd name="connsiteX1" fmla="*/ 533400 w 990600"/>
              <a:gd name="connsiteY1" fmla="*/ 25400 h 276013"/>
              <a:gd name="connsiteX2" fmla="*/ 990600 w 990600"/>
              <a:gd name="connsiteY2" fmla="*/ 25401 h 276013"/>
              <a:gd name="connsiteX0" fmla="*/ 0 w 990600"/>
              <a:gd name="connsiteY0" fmla="*/ 266701 h 364914"/>
              <a:gd name="connsiteX1" fmla="*/ 533400 w 990600"/>
              <a:gd name="connsiteY1" fmla="*/ 38100 h 364914"/>
              <a:gd name="connsiteX2" fmla="*/ 990600 w 990600"/>
              <a:gd name="connsiteY2" fmla="*/ 38101 h 364914"/>
              <a:gd name="connsiteX0" fmla="*/ 0 w 990600"/>
              <a:gd name="connsiteY0" fmla="*/ 266701 h 266701"/>
              <a:gd name="connsiteX1" fmla="*/ 533400 w 990600"/>
              <a:gd name="connsiteY1" fmla="*/ 38100 h 266701"/>
              <a:gd name="connsiteX2" fmla="*/ 990600 w 990600"/>
              <a:gd name="connsiteY2" fmla="*/ 38101 h 266701"/>
            </a:gdLst>
            <a:ahLst/>
            <a:cxnLst>
              <a:cxn ang="0">
                <a:pos x="connsiteX0" y="connsiteY0"/>
              </a:cxn>
              <a:cxn ang="0">
                <a:pos x="connsiteX1" y="connsiteY1"/>
              </a:cxn>
              <a:cxn ang="0">
                <a:pos x="connsiteX2" y="connsiteY2"/>
              </a:cxn>
            </a:cxnLst>
            <a:rect l="l" t="t" r="r" b="b"/>
            <a:pathLst>
              <a:path w="990600" h="266701">
                <a:moveTo>
                  <a:pt x="0" y="266701"/>
                </a:moveTo>
                <a:cubicBezTo>
                  <a:pt x="170180" y="100754"/>
                  <a:pt x="368300" y="76200"/>
                  <a:pt x="533400" y="38100"/>
                </a:cubicBezTo>
                <a:cubicBezTo>
                  <a:pt x="698500" y="0"/>
                  <a:pt x="855980" y="41487"/>
                  <a:pt x="990600" y="38101"/>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3" name="Freeform 92"/>
          <p:cNvSpPr/>
          <p:nvPr/>
        </p:nvSpPr>
        <p:spPr>
          <a:xfrm>
            <a:off x="5257800" y="4648201"/>
            <a:ext cx="1066800" cy="165098"/>
          </a:xfrm>
          <a:custGeom>
            <a:avLst/>
            <a:gdLst>
              <a:gd name="connsiteX0" fmla="*/ 0 w 1005840"/>
              <a:gd name="connsiteY0" fmla="*/ 0 h 291253"/>
              <a:gd name="connsiteX1" fmla="*/ 568960 w 1005840"/>
              <a:gd name="connsiteY1" fmla="*/ 243840 h 291253"/>
              <a:gd name="connsiteX2" fmla="*/ 1005840 w 1005840"/>
              <a:gd name="connsiteY2" fmla="*/ 284480 h 291253"/>
              <a:gd name="connsiteX0" fmla="*/ 0 w 1082040"/>
              <a:gd name="connsiteY0" fmla="*/ 30480 h 279400"/>
              <a:gd name="connsiteX1" fmla="*/ 568960 w 1082040"/>
              <a:gd name="connsiteY1" fmla="*/ 274320 h 279400"/>
              <a:gd name="connsiteX2" fmla="*/ 1082040 w 1082040"/>
              <a:gd name="connsiteY2" fmla="*/ 0 h 279400"/>
              <a:gd name="connsiteX0" fmla="*/ 0 w 1082040"/>
              <a:gd name="connsiteY0" fmla="*/ 30480 h 128693"/>
              <a:gd name="connsiteX1" fmla="*/ 472440 w 1082040"/>
              <a:gd name="connsiteY1" fmla="*/ 76200 h 128693"/>
              <a:gd name="connsiteX2" fmla="*/ 1082040 w 1082040"/>
              <a:gd name="connsiteY2" fmla="*/ 0 h 128693"/>
              <a:gd name="connsiteX0" fmla="*/ 0 w 990600"/>
              <a:gd name="connsiteY0" fmla="*/ 0 h 165099"/>
              <a:gd name="connsiteX1" fmla="*/ 381000 w 990600"/>
              <a:gd name="connsiteY1" fmla="*/ 152399 h 165099"/>
              <a:gd name="connsiteX2" fmla="*/ 990600 w 990600"/>
              <a:gd name="connsiteY2" fmla="*/ 76199 h 165099"/>
              <a:gd name="connsiteX0" fmla="*/ 0 w 1066800"/>
              <a:gd name="connsiteY0" fmla="*/ 0 h 165098"/>
              <a:gd name="connsiteX1" fmla="*/ 457200 w 1066800"/>
              <a:gd name="connsiteY1" fmla="*/ 152398 h 165098"/>
              <a:gd name="connsiteX2" fmla="*/ 1066800 w 1066800"/>
              <a:gd name="connsiteY2" fmla="*/ 76198 h 165098"/>
            </a:gdLst>
            <a:ahLst/>
            <a:cxnLst>
              <a:cxn ang="0">
                <a:pos x="connsiteX0" y="connsiteY0"/>
              </a:cxn>
              <a:cxn ang="0">
                <a:pos x="connsiteX1" y="connsiteY1"/>
              </a:cxn>
              <a:cxn ang="0">
                <a:pos x="connsiteX2" y="connsiteY2"/>
              </a:cxn>
            </a:cxnLst>
            <a:rect l="l" t="t" r="r" b="b"/>
            <a:pathLst>
              <a:path w="1066800" h="165098">
                <a:moveTo>
                  <a:pt x="0" y="0"/>
                </a:moveTo>
                <a:cubicBezTo>
                  <a:pt x="200660" y="98213"/>
                  <a:pt x="279400" y="139698"/>
                  <a:pt x="457200" y="152398"/>
                </a:cubicBezTo>
                <a:cubicBezTo>
                  <a:pt x="635000" y="165098"/>
                  <a:pt x="932180" y="79584"/>
                  <a:pt x="1066800" y="76198"/>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4" name="Freeform 93"/>
          <p:cNvSpPr/>
          <p:nvPr/>
        </p:nvSpPr>
        <p:spPr>
          <a:xfrm>
            <a:off x="5257800" y="4851400"/>
            <a:ext cx="1066800" cy="635000"/>
          </a:xfrm>
          <a:custGeom>
            <a:avLst/>
            <a:gdLst>
              <a:gd name="connsiteX0" fmla="*/ 0 w 1005840"/>
              <a:gd name="connsiteY0" fmla="*/ 0 h 291253"/>
              <a:gd name="connsiteX1" fmla="*/ 568960 w 1005840"/>
              <a:gd name="connsiteY1" fmla="*/ 243840 h 291253"/>
              <a:gd name="connsiteX2" fmla="*/ 1005840 w 1005840"/>
              <a:gd name="connsiteY2" fmla="*/ 284480 h 291253"/>
              <a:gd name="connsiteX0" fmla="*/ 0 w 990600"/>
              <a:gd name="connsiteY0" fmla="*/ 152400 h 421640"/>
              <a:gd name="connsiteX1" fmla="*/ 568960 w 990600"/>
              <a:gd name="connsiteY1" fmla="*/ 396240 h 421640"/>
              <a:gd name="connsiteX2" fmla="*/ 990600 w 990600"/>
              <a:gd name="connsiteY2" fmla="*/ 0 h 421640"/>
              <a:gd name="connsiteX0" fmla="*/ 0 w 990600"/>
              <a:gd name="connsiteY0" fmla="*/ 177800 h 276013"/>
              <a:gd name="connsiteX1" fmla="*/ 533400 w 990600"/>
              <a:gd name="connsiteY1" fmla="*/ 25400 h 276013"/>
              <a:gd name="connsiteX2" fmla="*/ 990600 w 990600"/>
              <a:gd name="connsiteY2" fmla="*/ 25400 h 276013"/>
              <a:gd name="connsiteX0" fmla="*/ 0 w 914400"/>
              <a:gd name="connsiteY0" fmla="*/ 177800 h 276013"/>
              <a:gd name="connsiteX1" fmla="*/ 533400 w 914400"/>
              <a:gd name="connsiteY1" fmla="*/ 25400 h 276013"/>
              <a:gd name="connsiteX2" fmla="*/ 914400 w 914400"/>
              <a:gd name="connsiteY2" fmla="*/ 25401 h 276013"/>
              <a:gd name="connsiteX0" fmla="*/ 0 w 990600"/>
              <a:gd name="connsiteY0" fmla="*/ 177800 h 276013"/>
              <a:gd name="connsiteX1" fmla="*/ 533400 w 990600"/>
              <a:gd name="connsiteY1" fmla="*/ 25400 h 276013"/>
              <a:gd name="connsiteX2" fmla="*/ 990600 w 990600"/>
              <a:gd name="connsiteY2" fmla="*/ 25401 h 276013"/>
              <a:gd name="connsiteX0" fmla="*/ 0 w 990600"/>
              <a:gd name="connsiteY0" fmla="*/ 266701 h 364914"/>
              <a:gd name="connsiteX1" fmla="*/ 533400 w 990600"/>
              <a:gd name="connsiteY1" fmla="*/ 38100 h 364914"/>
              <a:gd name="connsiteX2" fmla="*/ 990600 w 990600"/>
              <a:gd name="connsiteY2" fmla="*/ 38101 h 364914"/>
              <a:gd name="connsiteX0" fmla="*/ 0 w 990600"/>
              <a:gd name="connsiteY0" fmla="*/ 266701 h 266701"/>
              <a:gd name="connsiteX1" fmla="*/ 533400 w 990600"/>
              <a:gd name="connsiteY1" fmla="*/ 38100 h 266701"/>
              <a:gd name="connsiteX2" fmla="*/ 990600 w 990600"/>
              <a:gd name="connsiteY2" fmla="*/ 38101 h 266701"/>
              <a:gd name="connsiteX0" fmla="*/ 0 w 1066800"/>
              <a:gd name="connsiteY0" fmla="*/ 533400 h 533400"/>
              <a:gd name="connsiteX1" fmla="*/ 533400 w 1066800"/>
              <a:gd name="connsiteY1" fmla="*/ 304799 h 533400"/>
              <a:gd name="connsiteX2" fmla="*/ 1066800 w 1066800"/>
              <a:gd name="connsiteY2" fmla="*/ 0 h 533400"/>
              <a:gd name="connsiteX0" fmla="*/ 0 w 1066800"/>
              <a:gd name="connsiteY0" fmla="*/ 546100 h 546100"/>
              <a:gd name="connsiteX1" fmla="*/ 381000 w 1066800"/>
              <a:gd name="connsiteY1" fmla="*/ 88900 h 546100"/>
              <a:gd name="connsiteX2" fmla="*/ 1066800 w 1066800"/>
              <a:gd name="connsiteY2" fmla="*/ 12700 h 546100"/>
              <a:gd name="connsiteX0" fmla="*/ 0 w 1066800"/>
              <a:gd name="connsiteY0" fmla="*/ 635000 h 635000"/>
              <a:gd name="connsiteX1" fmla="*/ 381000 w 1066800"/>
              <a:gd name="connsiteY1" fmla="*/ 101600 h 635000"/>
              <a:gd name="connsiteX2" fmla="*/ 1066800 w 1066800"/>
              <a:gd name="connsiteY2" fmla="*/ 25400 h 635000"/>
              <a:gd name="connsiteX0" fmla="*/ 0 w 1066800"/>
              <a:gd name="connsiteY0" fmla="*/ 635000 h 635000"/>
              <a:gd name="connsiteX1" fmla="*/ 381000 w 1066800"/>
              <a:gd name="connsiteY1" fmla="*/ 101600 h 635000"/>
              <a:gd name="connsiteX2" fmla="*/ 1066800 w 1066800"/>
              <a:gd name="connsiteY2" fmla="*/ 25400 h 635000"/>
            </a:gdLst>
            <a:ahLst/>
            <a:cxnLst>
              <a:cxn ang="0">
                <a:pos x="connsiteX0" y="connsiteY0"/>
              </a:cxn>
              <a:cxn ang="0">
                <a:pos x="connsiteX1" y="connsiteY1"/>
              </a:cxn>
              <a:cxn ang="0">
                <a:pos x="connsiteX2" y="connsiteY2"/>
              </a:cxn>
            </a:cxnLst>
            <a:rect l="l" t="t" r="r" b="b"/>
            <a:pathLst>
              <a:path w="1066800" h="635000">
                <a:moveTo>
                  <a:pt x="0" y="635000"/>
                </a:moveTo>
                <a:cubicBezTo>
                  <a:pt x="83820" y="428413"/>
                  <a:pt x="203200" y="203200"/>
                  <a:pt x="381000" y="101600"/>
                </a:cubicBezTo>
                <a:cubicBezTo>
                  <a:pt x="558800" y="0"/>
                  <a:pt x="932180" y="28786"/>
                  <a:pt x="1066800" y="25400"/>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5" name="Straight Arrow Connector 94"/>
          <p:cNvCxnSpPr/>
          <p:nvPr/>
        </p:nvCxnSpPr>
        <p:spPr>
          <a:xfrm>
            <a:off x="6934200" y="3657600"/>
            <a:ext cx="609600" cy="1588"/>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97" name="Straight Arrow Connector 96"/>
          <p:cNvCxnSpPr/>
          <p:nvPr/>
        </p:nvCxnSpPr>
        <p:spPr>
          <a:xfrm>
            <a:off x="6934200" y="4724400"/>
            <a:ext cx="609600" cy="1588"/>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100" name="Flowchart: Magnetic Disk 99"/>
          <p:cNvSpPr/>
          <p:nvPr/>
        </p:nvSpPr>
        <p:spPr>
          <a:xfrm>
            <a:off x="6324600" y="3352800"/>
            <a:ext cx="533400" cy="533400"/>
          </a:xfrm>
          <a:prstGeom prst="flowChartMagneticDisk">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Flowchart: Magnetic Disk 100"/>
          <p:cNvSpPr/>
          <p:nvPr/>
        </p:nvSpPr>
        <p:spPr>
          <a:xfrm>
            <a:off x="6324600" y="4419600"/>
            <a:ext cx="533400" cy="533400"/>
          </a:xfrm>
          <a:prstGeom prst="flowChartMagneticDisk">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TextBox 101"/>
          <p:cNvSpPr txBox="1"/>
          <p:nvPr/>
        </p:nvSpPr>
        <p:spPr>
          <a:xfrm flipH="1">
            <a:off x="6019800" y="2209800"/>
            <a:ext cx="3124200" cy="646331"/>
          </a:xfrm>
          <a:prstGeom prst="rect">
            <a:avLst/>
          </a:prstGeom>
          <a:noFill/>
          <a:ln w="38100">
            <a:solidFill>
              <a:schemeClr val="accent1">
                <a:shade val="50000"/>
              </a:schemeClr>
            </a:solidFill>
          </a:ln>
        </p:spPr>
        <p:txBody>
          <a:bodyPr wrap="square" rtlCol="0">
            <a:spAutoFit/>
          </a:bodyPr>
          <a:lstStyle/>
          <a:p>
            <a:r>
              <a:rPr lang="en-US" b="1" dirty="0" smtClean="0">
                <a:latin typeface="Garamond" pitchFamily="18" charset="0"/>
              </a:rPr>
              <a:t>6: Output will be stored back to Distributed File System</a:t>
            </a:r>
            <a:endParaRPr lang="en-US" b="1" dirty="0">
              <a:latin typeface="Garamond" pitchFamily="18" charset="0"/>
            </a:endParaRPr>
          </a:p>
        </p:txBody>
      </p:sp>
      <p:sp>
        <p:nvSpPr>
          <p:cNvPr id="103" name="TextBox 102"/>
          <p:cNvSpPr txBox="1"/>
          <p:nvPr/>
        </p:nvSpPr>
        <p:spPr>
          <a:xfrm>
            <a:off x="5410200" y="5410200"/>
            <a:ext cx="2057400" cy="369332"/>
          </a:xfrm>
          <a:prstGeom prst="rect">
            <a:avLst/>
          </a:prstGeom>
          <a:noFill/>
        </p:spPr>
        <p:txBody>
          <a:bodyPr wrap="square" rtlCol="0">
            <a:spAutoFit/>
          </a:bodyPr>
          <a:lstStyle/>
          <a:p>
            <a:r>
              <a:rPr lang="en-US" b="1" dirty="0" smtClean="0">
                <a:latin typeface="Garamond" pitchFamily="18" charset="0"/>
              </a:rPr>
              <a:t>Reduce output</a:t>
            </a:r>
            <a:endParaRPr lang="en-US" b="1" dirty="0">
              <a:latin typeface="Garamond" pitchFamily="18" charset="0"/>
            </a:endParaRPr>
          </a:p>
        </p:txBody>
      </p:sp>
      <p:cxnSp>
        <p:nvCxnSpPr>
          <p:cNvPr id="105" name="Straight Arrow Connector 104"/>
          <p:cNvCxnSpPr/>
          <p:nvPr/>
        </p:nvCxnSpPr>
        <p:spPr>
          <a:xfrm rot="5400000" flipH="1" flipV="1">
            <a:off x="6096000" y="5181600"/>
            <a:ext cx="381000" cy="228600"/>
          </a:xfrm>
          <a:prstGeom prst="straightConnector1">
            <a:avLst/>
          </a:prstGeom>
          <a:ln w="50800">
            <a:solidFill>
              <a:schemeClr val="accent2"/>
            </a:solidFill>
            <a:tailEnd type="arrow"/>
          </a:ln>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1295400" y="5867400"/>
            <a:ext cx="1981200" cy="646331"/>
          </a:xfrm>
          <a:prstGeom prst="rect">
            <a:avLst/>
          </a:prstGeom>
          <a:noFill/>
          <a:ln w="38100">
            <a:solidFill>
              <a:schemeClr val="accent1">
                <a:shade val="50000"/>
              </a:schemeClr>
            </a:solidFill>
          </a:ln>
        </p:spPr>
        <p:txBody>
          <a:bodyPr wrap="square" rtlCol="0">
            <a:spAutoFit/>
          </a:bodyPr>
          <a:lstStyle/>
          <a:p>
            <a:r>
              <a:rPr lang="en-US" b="1" dirty="0" smtClean="0">
                <a:latin typeface="Garamond" pitchFamily="18" charset="0"/>
              </a:rPr>
              <a:t>3: Map phase</a:t>
            </a:r>
          </a:p>
          <a:p>
            <a:r>
              <a:rPr lang="en-US" b="1" dirty="0" smtClean="0">
                <a:solidFill>
                  <a:srgbClr val="FF0000"/>
                </a:solidFill>
                <a:latin typeface="Garamond" pitchFamily="18" charset="0"/>
              </a:rPr>
              <a:t>Concurrent tasks</a:t>
            </a:r>
            <a:endParaRPr lang="en-US" b="1" dirty="0">
              <a:solidFill>
                <a:srgbClr val="FF0000"/>
              </a:solidFill>
              <a:latin typeface="Garamond" pitchFamily="18" charset="0"/>
            </a:endParaRPr>
          </a:p>
        </p:txBody>
      </p:sp>
      <p:sp>
        <p:nvSpPr>
          <p:cNvPr id="88" name="TextBox 87"/>
          <p:cNvSpPr txBox="1"/>
          <p:nvPr/>
        </p:nvSpPr>
        <p:spPr>
          <a:xfrm>
            <a:off x="3352800" y="5955268"/>
            <a:ext cx="1752600" cy="369332"/>
          </a:xfrm>
          <a:prstGeom prst="rect">
            <a:avLst/>
          </a:prstGeom>
          <a:noFill/>
          <a:ln w="38100">
            <a:solidFill>
              <a:schemeClr val="accent1">
                <a:shade val="50000"/>
              </a:schemeClr>
            </a:solidFill>
          </a:ln>
        </p:spPr>
        <p:txBody>
          <a:bodyPr wrap="square" rtlCol="0">
            <a:spAutoFit/>
          </a:bodyPr>
          <a:lstStyle/>
          <a:p>
            <a:r>
              <a:rPr lang="en-US" b="1" dirty="0" smtClean="0">
                <a:latin typeface="Garamond" pitchFamily="18" charset="0"/>
              </a:rPr>
              <a:t>4: Shuffle phase</a:t>
            </a:r>
            <a:endParaRPr lang="en-US" b="1" dirty="0">
              <a:latin typeface="Garamond" pitchFamily="18" charset="0"/>
            </a:endParaRPr>
          </a:p>
        </p:txBody>
      </p:sp>
      <p:sp>
        <p:nvSpPr>
          <p:cNvPr id="89" name="TextBox 88"/>
          <p:cNvSpPr txBox="1"/>
          <p:nvPr/>
        </p:nvSpPr>
        <p:spPr>
          <a:xfrm>
            <a:off x="6019800" y="780871"/>
            <a:ext cx="2514600" cy="1200329"/>
          </a:xfrm>
          <a:prstGeom prst="rect">
            <a:avLst/>
          </a:prstGeom>
          <a:noFill/>
          <a:ln w="9525">
            <a:noFill/>
          </a:ln>
        </p:spPr>
        <p:txBody>
          <a:bodyPr wrap="square" rtlCol="0">
            <a:spAutoFit/>
          </a:bodyPr>
          <a:lstStyle/>
          <a:p>
            <a:r>
              <a:rPr lang="en-US" sz="2400" b="1" dirty="0" smtClean="0">
                <a:solidFill>
                  <a:schemeClr val="accent2"/>
                </a:solidFill>
                <a:latin typeface="Garamond" pitchFamily="18" charset="0"/>
              </a:rPr>
              <a:t>The execution of a MR job involves 6 steps</a:t>
            </a:r>
            <a:endParaRPr lang="en-US" sz="2400" b="1" dirty="0">
              <a:solidFill>
                <a:schemeClr val="accent2"/>
              </a:solidFill>
              <a:latin typeface="Garamond" pitchFamily="18" charset="0"/>
            </a:endParaRPr>
          </a:p>
        </p:txBody>
      </p:sp>
      <p:pic>
        <p:nvPicPr>
          <p:cNvPr id="96" name="Picture 3" descr="e:\Users\yhuai\Desktop\Picture1.png"/>
          <p:cNvPicPr>
            <a:picLocks noChangeAspect="1" noChangeArrowheads="1"/>
          </p:cNvPicPr>
          <p:nvPr/>
        </p:nvPicPr>
        <p:blipFill>
          <a:blip r:embed="rId4" cstate="print"/>
          <a:srcRect/>
          <a:stretch>
            <a:fillRect/>
          </a:stretch>
        </p:blipFill>
        <p:spPr bwMode="auto">
          <a:xfrm>
            <a:off x="3581400" y="1066800"/>
            <a:ext cx="854075" cy="609600"/>
          </a:xfrm>
          <a:prstGeom prst="rect">
            <a:avLst/>
          </a:prstGeom>
          <a:noFill/>
        </p:spPr>
      </p:pic>
    </p:spTree>
    <p:extLst>
      <p:ext uri="{BB962C8B-B14F-4D97-AF65-F5344CB8AC3E}">
        <p14:creationId xmlns:p14="http://schemas.microsoft.com/office/powerpoint/2010/main" val="1450234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91"/>
                                        </p:tgtEl>
                                        <p:attrNameLst>
                                          <p:attrName>style.visibility</p:attrName>
                                        </p:attrNameLst>
                                      </p:cBhvr>
                                      <p:to>
                                        <p:strVal val="visible"/>
                                      </p:to>
                                    </p:set>
                                    <p:animEffect transition="in" filter="wipe(left)">
                                      <p:cBhvr>
                                        <p:cTn id="10" dur="500"/>
                                        <p:tgtEl>
                                          <p:spTgt spid="91"/>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92"/>
                                        </p:tgtEl>
                                        <p:attrNameLst>
                                          <p:attrName>style.visibility</p:attrName>
                                        </p:attrNameLst>
                                      </p:cBhvr>
                                      <p:to>
                                        <p:strVal val="visible"/>
                                      </p:to>
                                    </p:set>
                                    <p:animEffect transition="in" filter="wipe(left)">
                                      <p:cBhvr>
                                        <p:cTn id="13" dur="500"/>
                                        <p:tgtEl>
                                          <p:spTgt spid="92"/>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93"/>
                                        </p:tgtEl>
                                        <p:attrNameLst>
                                          <p:attrName>style.visibility</p:attrName>
                                        </p:attrNameLst>
                                      </p:cBhvr>
                                      <p:to>
                                        <p:strVal val="visible"/>
                                      </p:to>
                                    </p:set>
                                    <p:animEffect transition="in" filter="wipe(left)">
                                      <p:cBhvr>
                                        <p:cTn id="16" dur="500"/>
                                        <p:tgtEl>
                                          <p:spTgt spid="93"/>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94"/>
                                        </p:tgtEl>
                                        <p:attrNameLst>
                                          <p:attrName>style.visibility</p:attrName>
                                        </p:attrNameLst>
                                      </p:cBhvr>
                                      <p:to>
                                        <p:strVal val="visible"/>
                                      </p:to>
                                    </p:set>
                                    <p:animEffect transition="in" filter="wipe(left)">
                                      <p:cBhvr>
                                        <p:cTn id="19" dur="500"/>
                                        <p:tgtEl>
                                          <p:spTgt spid="94"/>
                                        </p:tgtEl>
                                      </p:cBhvr>
                                    </p:animEffect>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6"/>
                                        </p:tgtEl>
                                        <p:attrNameLst>
                                          <p:attrName>style.visibility</p:attrName>
                                        </p:attrNameLst>
                                      </p:cBhvr>
                                      <p:to>
                                        <p:strVal val="visible"/>
                                      </p:to>
                                    </p:set>
                                  </p:childTnLst>
                                </p:cTn>
                              </p:par>
                            </p:childTnLst>
                          </p:cTn>
                        </p:par>
                        <p:par>
                          <p:cTn id="25" fill="hold">
                            <p:stCondLst>
                              <p:cond delay="500"/>
                            </p:stCondLst>
                            <p:childTnLst>
                              <p:par>
                                <p:cTn id="26" presetID="1" presetClass="entr" presetSubtype="0" fill="hold" grpId="0" nodeType="afterEffect">
                                  <p:stCondLst>
                                    <p:cond delay="0"/>
                                  </p:stCondLst>
                                  <p:childTnLst>
                                    <p:set>
                                      <p:cBhvr>
                                        <p:cTn id="27" dur="1" fill="hold">
                                          <p:stCondLst>
                                            <p:cond delay="0"/>
                                          </p:stCondLst>
                                        </p:cTn>
                                        <p:tgtEl>
                                          <p:spTgt spid="100"/>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01"/>
                                        </p:tgtEl>
                                        <p:attrNameLst>
                                          <p:attrName>style.visibility</p:attrName>
                                        </p:attrNameLst>
                                      </p:cBhvr>
                                      <p:to>
                                        <p:strVal val="visible"/>
                                      </p:to>
                                    </p:set>
                                  </p:childTnLst>
                                </p:cTn>
                              </p:par>
                            </p:childTnLst>
                          </p:cTn>
                        </p:par>
                        <p:par>
                          <p:cTn id="30" fill="hold">
                            <p:stCondLst>
                              <p:cond delay="500"/>
                            </p:stCondLst>
                            <p:childTnLst>
                              <p:par>
                                <p:cTn id="31" presetID="1" presetClass="entr" presetSubtype="0" fill="hold" grpId="0" nodeType="afterEffect">
                                  <p:stCondLst>
                                    <p:cond delay="0"/>
                                  </p:stCondLst>
                                  <p:childTnLst>
                                    <p:set>
                                      <p:cBhvr>
                                        <p:cTn id="32" dur="1" fill="hold">
                                          <p:stCondLst>
                                            <p:cond delay="0"/>
                                          </p:stCondLst>
                                        </p:cTn>
                                        <p:tgtEl>
                                          <p:spTgt spid="103"/>
                                        </p:tgtEl>
                                        <p:attrNameLst>
                                          <p:attrName>style.visibility</p:attrName>
                                        </p:attrNameLst>
                                      </p:cBhvr>
                                      <p:to>
                                        <p:strVal val="visible"/>
                                      </p:to>
                                    </p:set>
                                  </p:childTnLst>
                                </p:cTn>
                              </p:par>
                              <p:par>
                                <p:cTn id="33" presetID="18" presetClass="entr" presetSubtype="3" fill="hold" nodeType="withEffect">
                                  <p:stCondLst>
                                    <p:cond delay="0"/>
                                  </p:stCondLst>
                                  <p:childTnLst>
                                    <p:set>
                                      <p:cBhvr>
                                        <p:cTn id="34" dur="1" fill="hold">
                                          <p:stCondLst>
                                            <p:cond delay="0"/>
                                          </p:stCondLst>
                                        </p:cTn>
                                        <p:tgtEl>
                                          <p:spTgt spid="105"/>
                                        </p:tgtEl>
                                        <p:attrNameLst>
                                          <p:attrName>style.visibility</p:attrName>
                                        </p:attrNameLst>
                                      </p:cBhvr>
                                      <p:to>
                                        <p:strVal val="visible"/>
                                      </p:to>
                                    </p:set>
                                    <p:animEffect transition="in" filter="strips(upRight)">
                                      <p:cBhvr>
                                        <p:cTn id="35" dur="500"/>
                                        <p:tgtEl>
                                          <p:spTgt spid="105"/>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02"/>
                                        </p:tgtEl>
                                        <p:attrNameLst>
                                          <p:attrName>style.visibility</p:attrName>
                                        </p:attrNameLst>
                                      </p:cBhvr>
                                      <p:to>
                                        <p:strVal val="visible"/>
                                      </p:to>
                                    </p:set>
                                  </p:childTnLst>
                                </p:cTn>
                              </p:par>
                            </p:childTnLst>
                          </p:cTn>
                        </p:par>
                        <p:par>
                          <p:cTn id="40" fill="hold">
                            <p:stCondLst>
                              <p:cond delay="0"/>
                            </p:stCondLst>
                            <p:childTnLst>
                              <p:par>
                                <p:cTn id="41" presetID="1" presetClass="entr" presetSubtype="0" fill="hold" grpId="0" nodeType="afterEffect">
                                  <p:stCondLst>
                                    <p:cond delay="0"/>
                                  </p:stCondLst>
                                  <p:childTnLst>
                                    <p:set>
                                      <p:cBhvr>
                                        <p:cTn id="42" dur="1" fill="hold">
                                          <p:stCondLst>
                                            <p:cond delay="0"/>
                                          </p:stCondLst>
                                        </p:cTn>
                                        <p:tgtEl>
                                          <p:spTgt spid="52"/>
                                        </p:tgtEl>
                                        <p:attrNameLst>
                                          <p:attrName>style.visibility</p:attrName>
                                        </p:attrNameLst>
                                      </p:cBhvr>
                                      <p:to>
                                        <p:strVal val="visible"/>
                                      </p:to>
                                    </p:set>
                                  </p:childTnLst>
                                </p:cTn>
                              </p:par>
                              <p:par>
                                <p:cTn id="43" presetID="22" presetClass="entr" presetSubtype="8" fill="hold" nodeType="withEffect">
                                  <p:stCondLst>
                                    <p:cond delay="0"/>
                                  </p:stCondLst>
                                  <p:childTnLst>
                                    <p:set>
                                      <p:cBhvr>
                                        <p:cTn id="44" dur="1" fill="hold">
                                          <p:stCondLst>
                                            <p:cond delay="0"/>
                                          </p:stCondLst>
                                        </p:cTn>
                                        <p:tgtEl>
                                          <p:spTgt spid="95"/>
                                        </p:tgtEl>
                                        <p:attrNameLst>
                                          <p:attrName>style.visibility</p:attrName>
                                        </p:attrNameLst>
                                      </p:cBhvr>
                                      <p:to>
                                        <p:strVal val="visible"/>
                                      </p:to>
                                    </p:set>
                                    <p:animEffect transition="in" filter="wipe(left)">
                                      <p:cBhvr>
                                        <p:cTn id="45" dur="500"/>
                                        <p:tgtEl>
                                          <p:spTgt spid="95"/>
                                        </p:tgtEl>
                                      </p:cBhvr>
                                    </p:animEffect>
                                  </p:childTnLst>
                                </p:cTn>
                              </p:par>
                              <p:par>
                                <p:cTn id="46" presetID="22" presetClass="entr" presetSubtype="8" fill="hold" nodeType="withEffect">
                                  <p:stCondLst>
                                    <p:cond delay="0"/>
                                  </p:stCondLst>
                                  <p:childTnLst>
                                    <p:set>
                                      <p:cBhvr>
                                        <p:cTn id="47" dur="1" fill="hold">
                                          <p:stCondLst>
                                            <p:cond delay="0"/>
                                          </p:stCondLst>
                                        </p:cTn>
                                        <p:tgtEl>
                                          <p:spTgt spid="97"/>
                                        </p:tgtEl>
                                        <p:attrNameLst>
                                          <p:attrName>style.visibility</p:attrName>
                                        </p:attrNameLst>
                                      </p:cBhvr>
                                      <p:to>
                                        <p:strVal val="visible"/>
                                      </p:to>
                                    </p:set>
                                    <p:animEffect transition="in" filter="wipe(left)">
                                      <p:cBhvr>
                                        <p:cTn id="48" dur="500"/>
                                        <p:tgtEl>
                                          <p:spTgt spid="97"/>
                                        </p:tgtEl>
                                      </p:cBhvr>
                                    </p:animEffect>
                                  </p:childTnLst>
                                </p:cTn>
                              </p:par>
                            </p:childTnLst>
                          </p:cTn>
                        </p:par>
                        <p:par>
                          <p:cTn id="49" fill="hold">
                            <p:stCondLst>
                              <p:cond delay="500"/>
                            </p:stCondLst>
                            <p:childTnLst>
                              <p:par>
                                <p:cTn id="50" presetID="0" presetClass="path" presetSubtype="0" accel="50000" decel="50000" fill="hold" grpId="1" nodeType="afterEffect">
                                  <p:stCondLst>
                                    <p:cond delay="0"/>
                                  </p:stCondLst>
                                  <p:childTnLst>
                                    <p:animMotion origin="layout" path="M 0 0 L 0.14167 0 " pathEditMode="relative" ptsTypes="AA">
                                      <p:cBhvr>
                                        <p:cTn id="51" dur="500" fill="hold"/>
                                        <p:tgtEl>
                                          <p:spTgt spid="100"/>
                                        </p:tgtEl>
                                        <p:attrNameLst>
                                          <p:attrName>ppt_x</p:attrName>
                                          <p:attrName>ppt_y</p:attrName>
                                        </p:attrNameLst>
                                      </p:cBhvr>
                                    </p:animMotion>
                                  </p:childTnLst>
                                </p:cTn>
                              </p:par>
                              <p:par>
                                <p:cTn id="52" presetID="0" presetClass="path" presetSubtype="0" accel="50000" decel="50000" fill="hold" grpId="1" nodeType="withEffect">
                                  <p:stCondLst>
                                    <p:cond delay="0"/>
                                  </p:stCondLst>
                                  <p:childTnLst>
                                    <p:animMotion origin="layout" path="M 0 0 L 0.14167 0 " pathEditMode="relative" ptsTypes="AA">
                                      <p:cBhvr>
                                        <p:cTn id="53" dur="500" fill="hold"/>
                                        <p:tgtEl>
                                          <p:spTgt spid="101"/>
                                        </p:tgtEl>
                                        <p:attrNameLst>
                                          <p:attrName>ppt_x</p:attrName>
                                          <p:attrName>ppt_y</p:attrName>
                                        </p:attrNameLst>
                                      </p:cBhvr>
                                    </p:animMotion>
                                  </p:childTnLst>
                                </p:cTn>
                              </p:par>
                            </p:childTnLst>
                          </p:cTn>
                        </p:par>
                        <p:par>
                          <p:cTn id="54" fill="hold">
                            <p:stCondLst>
                              <p:cond delay="1000"/>
                            </p:stCondLst>
                            <p:childTnLst>
                              <p:par>
                                <p:cTn id="55" presetID="1" presetClass="entr" presetSubtype="0" fill="hold" grpId="0" nodeType="afterEffect">
                                  <p:stCondLst>
                                    <p:cond delay="0"/>
                                  </p:stCondLst>
                                  <p:childTnLst>
                                    <p:set>
                                      <p:cBhvr>
                                        <p:cTn id="56" dur="1" fill="hold">
                                          <p:stCondLst>
                                            <p:cond delay="0"/>
                                          </p:stCondLst>
                                        </p:cTn>
                                        <p:tgtEl>
                                          <p:spTgt spid="6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2" grpId="0" animBg="1"/>
      <p:bldP spid="50" grpId="0" animBg="1"/>
      <p:bldP spid="66" grpId="0" animBg="1"/>
      <p:bldP spid="67" grpId="0" animBg="1"/>
      <p:bldP spid="68" grpId="0" animBg="1"/>
      <p:bldP spid="91" grpId="0" animBg="1"/>
      <p:bldP spid="92" grpId="0" animBg="1"/>
      <p:bldP spid="93" grpId="0" animBg="1"/>
      <p:bldP spid="94" grpId="0" animBg="1"/>
      <p:bldP spid="100" grpId="0" animBg="1"/>
      <p:bldP spid="100" grpId="1" animBg="1"/>
      <p:bldP spid="101" grpId="0" animBg="1"/>
      <p:bldP spid="101" grpId="1" animBg="1"/>
      <p:bldP spid="102" grpId="0" animBg="1"/>
      <p:bldP spid="10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3657600" y="2343150"/>
            <a:ext cx="550576" cy="781050"/>
          </a:xfrm>
          <a:prstGeom prst="rect">
            <a:avLst/>
          </a:prstGeom>
          <a:noFill/>
          <a:ln w="9525">
            <a:noFill/>
            <a:miter lim="800000"/>
            <a:headEnd/>
            <a:tailEnd/>
          </a:ln>
        </p:spPr>
      </p:pic>
      <p:pic>
        <p:nvPicPr>
          <p:cNvPr id="42" name="Picture 4"/>
          <p:cNvPicPr>
            <a:picLocks noChangeAspect="1" noChangeArrowheads="1"/>
          </p:cNvPicPr>
          <p:nvPr/>
        </p:nvPicPr>
        <p:blipFill>
          <a:blip r:embed="rId3" cstate="print"/>
          <a:srcRect/>
          <a:stretch>
            <a:fillRect/>
          </a:stretch>
        </p:blipFill>
        <p:spPr bwMode="auto">
          <a:xfrm>
            <a:off x="5469224" y="4343400"/>
            <a:ext cx="550576" cy="781050"/>
          </a:xfrm>
          <a:prstGeom prst="rect">
            <a:avLst/>
          </a:prstGeom>
          <a:noFill/>
          <a:ln w="9525">
            <a:noFill/>
            <a:miter lim="800000"/>
            <a:headEnd/>
            <a:tailEnd/>
          </a:ln>
        </p:spPr>
      </p:pic>
      <p:sp>
        <p:nvSpPr>
          <p:cNvPr id="2" name="Slide Number Placeholder 1"/>
          <p:cNvSpPr>
            <a:spLocks noGrp="1"/>
          </p:cNvSpPr>
          <p:nvPr>
            <p:ph type="sldNum" sz="quarter" idx="4294967295"/>
          </p:nvPr>
        </p:nvSpPr>
        <p:spPr>
          <a:xfrm>
            <a:off x="6553200" y="6356350"/>
            <a:ext cx="2133600" cy="365125"/>
          </a:xfrm>
          <a:prstGeom prst="rect">
            <a:avLst/>
          </a:prstGeom>
        </p:spPr>
        <p:txBody>
          <a:bodyPr/>
          <a:lstStyle/>
          <a:p>
            <a:fld id="{B6F15528-21DE-4FAA-801E-634DDDAF4B2B}" type="slidenum">
              <a:rPr lang="en-US" smtClean="0"/>
              <a:pPr/>
              <a:t>32</a:t>
            </a:fld>
            <a:endParaRPr lang="en-US" dirty="0"/>
          </a:p>
        </p:txBody>
      </p:sp>
      <p:cxnSp>
        <p:nvCxnSpPr>
          <p:cNvPr id="3" name="Straight Connector 2"/>
          <p:cNvCxnSpPr/>
          <p:nvPr/>
        </p:nvCxnSpPr>
        <p:spPr>
          <a:xfrm>
            <a:off x="457200" y="762000"/>
            <a:ext cx="8229600" cy="0"/>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sp>
        <p:nvSpPr>
          <p:cNvPr id="4" name="Title 1"/>
          <p:cNvSpPr txBox="1">
            <a:spLocks/>
          </p:cNvSpPr>
          <p:nvPr/>
        </p:nvSpPr>
        <p:spPr>
          <a:xfrm>
            <a:off x="457200" y="76200"/>
            <a:ext cx="8229600" cy="1143000"/>
          </a:xfrm>
          <a:prstGeom prst="rect">
            <a:avLst/>
          </a:prstGeom>
        </p:spPr>
        <p:txBody>
          <a:bodyPr/>
          <a:lstStyle/>
          <a:p>
            <a:pPr lvl="0" algn="ctr">
              <a:spcBef>
                <a:spcPct val="0"/>
              </a:spcBef>
              <a:defRPr/>
            </a:pPr>
            <a:r>
              <a:rPr lang="en-US" sz="3800" b="1" dirty="0" smtClean="0">
                <a:effectLst>
                  <a:outerShdw blurRad="38100" dist="38100" dir="2700000" algn="tl">
                    <a:srgbClr val="000000">
                      <a:alpha val="43137"/>
                    </a:srgbClr>
                  </a:outerShdw>
                </a:effectLst>
                <a:latin typeface="Garamond" pitchFamily="18" charset="0"/>
              </a:rPr>
              <a:t>MR(</a:t>
            </a:r>
            <a:r>
              <a:rPr lang="en-US" sz="3800" b="1" dirty="0" err="1" smtClean="0">
                <a:effectLst>
                  <a:outerShdw blurRad="38100" dist="38100" dir="2700000" algn="tl">
                    <a:srgbClr val="000000">
                      <a:alpha val="43137"/>
                    </a:srgbClr>
                  </a:outerShdw>
                </a:effectLst>
                <a:latin typeface="Garamond" pitchFamily="18" charset="0"/>
              </a:rPr>
              <a:t>Hadoop</a:t>
            </a:r>
            <a:r>
              <a:rPr lang="en-US" sz="3800" b="1" dirty="0" smtClean="0">
                <a:effectLst>
                  <a:outerShdw blurRad="38100" dist="38100" dir="2700000" algn="tl">
                    <a:srgbClr val="000000">
                      <a:alpha val="43137"/>
                    </a:srgbClr>
                  </a:outerShdw>
                </a:effectLst>
                <a:latin typeface="Garamond" pitchFamily="18" charset="0"/>
              </a:rPr>
              <a:t>) Job Execution Patterns</a:t>
            </a:r>
            <a:endParaRPr lang="en-US" sz="3800" b="1" dirty="0">
              <a:effectLst>
                <a:outerShdw blurRad="38100" dist="38100" dir="2700000" algn="tl">
                  <a:srgbClr val="000000">
                    <a:alpha val="43137"/>
                  </a:srgbClr>
                </a:outerShdw>
              </a:effectLst>
              <a:latin typeface="Garamond" pitchFamily="18" charset="0"/>
            </a:endParaRPr>
          </a:p>
        </p:txBody>
      </p:sp>
      <p:sp>
        <p:nvSpPr>
          <p:cNvPr id="7" name="TextBox 6"/>
          <p:cNvSpPr txBox="1"/>
          <p:nvPr/>
        </p:nvSpPr>
        <p:spPr>
          <a:xfrm>
            <a:off x="3200400" y="762000"/>
            <a:ext cx="1456232" cy="369332"/>
          </a:xfrm>
          <a:prstGeom prst="rect">
            <a:avLst/>
          </a:prstGeom>
          <a:noFill/>
        </p:spPr>
        <p:txBody>
          <a:bodyPr wrap="none" rtlCol="0">
            <a:spAutoFit/>
          </a:bodyPr>
          <a:lstStyle/>
          <a:p>
            <a:r>
              <a:rPr lang="en-US" b="1" dirty="0" smtClean="0">
                <a:latin typeface="Garamond" pitchFamily="18" charset="0"/>
              </a:rPr>
              <a:t>MR program</a:t>
            </a:r>
            <a:endParaRPr lang="en-US" b="1" dirty="0">
              <a:latin typeface="Garamond" pitchFamily="18" charset="0"/>
            </a:endParaRPr>
          </a:p>
        </p:txBody>
      </p:sp>
      <p:sp>
        <p:nvSpPr>
          <p:cNvPr id="10" name="TextBox 9"/>
          <p:cNvSpPr txBox="1"/>
          <p:nvPr/>
        </p:nvSpPr>
        <p:spPr>
          <a:xfrm>
            <a:off x="4191000" y="2495550"/>
            <a:ext cx="1407758" cy="369332"/>
          </a:xfrm>
          <a:prstGeom prst="rect">
            <a:avLst/>
          </a:prstGeom>
          <a:noFill/>
        </p:spPr>
        <p:txBody>
          <a:bodyPr wrap="none" rtlCol="0">
            <a:spAutoFit/>
          </a:bodyPr>
          <a:lstStyle/>
          <a:p>
            <a:r>
              <a:rPr lang="en-US" b="1" dirty="0" smtClean="0">
                <a:latin typeface="Garamond" pitchFamily="18" charset="0"/>
              </a:rPr>
              <a:t>Master node</a:t>
            </a:r>
            <a:endParaRPr lang="en-US" b="1" dirty="0">
              <a:latin typeface="Garamond" pitchFamily="18" charset="0"/>
            </a:endParaRPr>
          </a:p>
        </p:txBody>
      </p:sp>
      <p:cxnSp>
        <p:nvCxnSpPr>
          <p:cNvPr id="14" name="Straight Arrow Connector 13"/>
          <p:cNvCxnSpPr/>
          <p:nvPr/>
        </p:nvCxnSpPr>
        <p:spPr>
          <a:xfrm rot="5400000">
            <a:off x="3620691" y="2019697"/>
            <a:ext cx="532606" cy="1588"/>
          </a:xfrm>
          <a:prstGeom prst="straightConnector1">
            <a:avLst/>
          </a:prstGeom>
          <a:ln w="50800">
            <a:solidFill>
              <a:schemeClr val="tx1"/>
            </a:solidFill>
            <a:prstDash val="sysDot"/>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038600" y="1752600"/>
            <a:ext cx="1897699" cy="369332"/>
          </a:xfrm>
          <a:prstGeom prst="rect">
            <a:avLst/>
          </a:prstGeom>
          <a:noFill/>
          <a:ln w="38100">
            <a:solidFill>
              <a:schemeClr val="accent1">
                <a:shade val="50000"/>
              </a:schemeClr>
            </a:solidFill>
          </a:ln>
        </p:spPr>
        <p:txBody>
          <a:bodyPr wrap="none" rtlCol="0">
            <a:spAutoFit/>
          </a:bodyPr>
          <a:lstStyle/>
          <a:p>
            <a:r>
              <a:rPr lang="en-US" b="1" dirty="0" smtClean="0">
                <a:latin typeface="Garamond" pitchFamily="18" charset="0"/>
              </a:rPr>
              <a:t>1: Job submission</a:t>
            </a:r>
            <a:endParaRPr lang="en-US" b="1" dirty="0">
              <a:latin typeface="Garamond" pitchFamily="18" charset="0"/>
            </a:endParaRPr>
          </a:p>
        </p:txBody>
      </p:sp>
      <p:sp>
        <p:nvSpPr>
          <p:cNvPr id="18" name="TextBox 17"/>
          <p:cNvSpPr txBox="1"/>
          <p:nvPr/>
        </p:nvSpPr>
        <p:spPr>
          <a:xfrm>
            <a:off x="1600200" y="2971800"/>
            <a:ext cx="1529329" cy="369332"/>
          </a:xfrm>
          <a:prstGeom prst="rect">
            <a:avLst/>
          </a:prstGeom>
          <a:noFill/>
        </p:spPr>
        <p:txBody>
          <a:bodyPr wrap="none" rtlCol="0">
            <a:spAutoFit/>
          </a:bodyPr>
          <a:lstStyle/>
          <a:p>
            <a:r>
              <a:rPr lang="en-US" b="1" dirty="0" smtClean="0">
                <a:latin typeface="Garamond" pitchFamily="18" charset="0"/>
              </a:rPr>
              <a:t>Worker nodes</a:t>
            </a:r>
            <a:endParaRPr lang="en-US" b="1" dirty="0">
              <a:latin typeface="Garamond" pitchFamily="18" charset="0"/>
            </a:endParaRPr>
          </a:p>
        </p:txBody>
      </p:sp>
      <p:pic>
        <p:nvPicPr>
          <p:cNvPr id="19" name="Picture 4"/>
          <p:cNvPicPr>
            <a:picLocks noChangeAspect="1" noChangeArrowheads="1"/>
          </p:cNvPicPr>
          <p:nvPr/>
        </p:nvPicPr>
        <p:blipFill>
          <a:blip r:embed="rId3" cstate="print"/>
          <a:srcRect/>
          <a:stretch>
            <a:fillRect/>
          </a:stretch>
        </p:blipFill>
        <p:spPr bwMode="auto">
          <a:xfrm>
            <a:off x="1905000" y="4476750"/>
            <a:ext cx="550576" cy="781050"/>
          </a:xfrm>
          <a:prstGeom prst="rect">
            <a:avLst/>
          </a:prstGeom>
          <a:noFill/>
          <a:ln w="9525">
            <a:noFill/>
            <a:miter lim="800000"/>
            <a:headEnd/>
            <a:tailEnd/>
          </a:ln>
        </p:spPr>
      </p:pic>
      <p:pic>
        <p:nvPicPr>
          <p:cNvPr id="25" name="Picture 4"/>
          <p:cNvPicPr>
            <a:picLocks noChangeAspect="1" noChangeArrowheads="1"/>
          </p:cNvPicPr>
          <p:nvPr/>
        </p:nvPicPr>
        <p:blipFill>
          <a:blip r:embed="rId3" cstate="print"/>
          <a:srcRect/>
          <a:stretch>
            <a:fillRect/>
          </a:stretch>
        </p:blipFill>
        <p:spPr bwMode="auto">
          <a:xfrm>
            <a:off x="1905000" y="3429000"/>
            <a:ext cx="550576" cy="781050"/>
          </a:xfrm>
          <a:prstGeom prst="rect">
            <a:avLst/>
          </a:prstGeom>
          <a:noFill/>
          <a:ln w="9525">
            <a:noFill/>
            <a:miter lim="800000"/>
            <a:headEnd/>
            <a:tailEnd/>
          </a:ln>
        </p:spPr>
      </p:pic>
      <p:pic>
        <p:nvPicPr>
          <p:cNvPr id="41" name="Picture 4"/>
          <p:cNvPicPr>
            <a:picLocks noChangeAspect="1" noChangeArrowheads="1"/>
          </p:cNvPicPr>
          <p:nvPr/>
        </p:nvPicPr>
        <p:blipFill>
          <a:blip r:embed="rId3" cstate="print"/>
          <a:srcRect/>
          <a:stretch>
            <a:fillRect/>
          </a:stretch>
        </p:blipFill>
        <p:spPr bwMode="auto">
          <a:xfrm>
            <a:off x="5486400" y="3257550"/>
            <a:ext cx="550576" cy="781050"/>
          </a:xfrm>
          <a:prstGeom prst="rect">
            <a:avLst/>
          </a:prstGeom>
          <a:noFill/>
          <a:ln w="9525">
            <a:noFill/>
            <a:miter lim="800000"/>
            <a:headEnd/>
            <a:tailEnd/>
          </a:ln>
        </p:spPr>
      </p:pic>
      <p:sp>
        <p:nvSpPr>
          <p:cNvPr id="44" name="TextBox 43"/>
          <p:cNvSpPr txBox="1"/>
          <p:nvPr/>
        </p:nvSpPr>
        <p:spPr>
          <a:xfrm>
            <a:off x="5177516" y="2895600"/>
            <a:ext cx="1529329" cy="369332"/>
          </a:xfrm>
          <a:prstGeom prst="rect">
            <a:avLst/>
          </a:prstGeom>
          <a:noFill/>
        </p:spPr>
        <p:txBody>
          <a:bodyPr wrap="none" rtlCol="0">
            <a:spAutoFit/>
          </a:bodyPr>
          <a:lstStyle/>
          <a:p>
            <a:r>
              <a:rPr lang="en-US" b="1" dirty="0" smtClean="0">
                <a:latin typeface="Garamond" pitchFamily="18" charset="0"/>
              </a:rPr>
              <a:t>Worker nodes</a:t>
            </a:r>
            <a:endParaRPr lang="en-US" b="1" dirty="0">
              <a:latin typeface="Garamond" pitchFamily="18" charset="0"/>
            </a:endParaRPr>
          </a:p>
        </p:txBody>
      </p:sp>
      <p:sp>
        <p:nvSpPr>
          <p:cNvPr id="62" name="Oval 61"/>
          <p:cNvSpPr/>
          <p:nvPr/>
        </p:nvSpPr>
        <p:spPr>
          <a:xfrm>
            <a:off x="228600" y="914400"/>
            <a:ext cx="304800" cy="304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p:cNvSpPr txBox="1"/>
          <p:nvPr/>
        </p:nvSpPr>
        <p:spPr>
          <a:xfrm>
            <a:off x="609600" y="914400"/>
            <a:ext cx="1828800" cy="369332"/>
          </a:xfrm>
          <a:prstGeom prst="rect">
            <a:avLst/>
          </a:prstGeom>
          <a:noFill/>
        </p:spPr>
        <p:txBody>
          <a:bodyPr wrap="square" rtlCol="0">
            <a:spAutoFit/>
          </a:bodyPr>
          <a:lstStyle/>
          <a:p>
            <a:r>
              <a:rPr lang="en-US" b="1" dirty="0" smtClean="0">
                <a:latin typeface="Garamond" pitchFamily="18" charset="0"/>
              </a:rPr>
              <a:t>Map Tasks</a:t>
            </a:r>
            <a:endParaRPr lang="en-US" b="1" dirty="0">
              <a:latin typeface="Garamond" pitchFamily="18" charset="0"/>
            </a:endParaRPr>
          </a:p>
        </p:txBody>
      </p:sp>
      <p:sp>
        <p:nvSpPr>
          <p:cNvPr id="64" name="Oval 63"/>
          <p:cNvSpPr/>
          <p:nvPr/>
        </p:nvSpPr>
        <p:spPr>
          <a:xfrm>
            <a:off x="228600" y="1307068"/>
            <a:ext cx="304800" cy="304800"/>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p:cNvSpPr txBox="1"/>
          <p:nvPr/>
        </p:nvSpPr>
        <p:spPr>
          <a:xfrm>
            <a:off x="609600" y="1307068"/>
            <a:ext cx="1828800" cy="369332"/>
          </a:xfrm>
          <a:prstGeom prst="rect">
            <a:avLst/>
          </a:prstGeom>
          <a:noFill/>
        </p:spPr>
        <p:txBody>
          <a:bodyPr wrap="square" rtlCol="0">
            <a:spAutoFit/>
          </a:bodyPr>
          <a:lstStyle/>
          <a:p>
            <a:r>
              <a:rPr lang="en-US" b="1" dirty="0" smtClean="0">
                <a:latin typeface="Garamond" pitchFamily="18" charset="0"/>
              </a:rPr>
              <a:t>Reduce Tasks</a:t>
            </a:r>
            <a:endParaRPr lang="en-US" b="1" dirty="0">
              <a:latin typeface="Garamond" pitchFamily="18" charset="0"/>
            </a:endParaRPr>
          </a:p>
        </p:txBody>
      </p:sp>
      <p:sp>
        <p:nvSpPr>
          <p:cNvPr id="70" name="Oval 69"/>
          <p:cNvSpPr/>
          <p:nvPr/>
        </p:nvSpPr>
        <p:spPr>
          <a:xfrm>
            <a:off x="2209800" y="3886200"/>
            <a:ext cx="304800" cy="304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p:cNvSpPr/>
          <p:nvPr/>
        </p:nvSpPr>
        <p:spPr>
          <a:xfrm>
            <a:off x="2209800" y="4876800"/>
            <a:ext cx="304800" cy="304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p:cNvSpPr/>
          <p:nvPr/>
        </p:nvSpPr>
        <p:spPr>
          <a:xfrm>
            <a:off x="5791200" y="3657600"/>
            <a:ext cx="304800" cy="304800"/>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p:cNvSpPr/>
          <p:nvPr/>
        </p:nvSpPr>
        <p:spPr>
          <a:xfrm>
            <a:off x="5791200" y="4724400"/>
            <a:ext cx="304800" cy="304800"/>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56"/>
          <p:cNvGrpSpPr/>
          <p:nvPr/>
        </p:nvGrpSpPr>
        <p:grpSpPr>
          <a:xfrm>
            <a:off x="304800" y="2895600"/>
            <a:ext cx="990600" cy="3733800"/>
            <a:chOff x="304800" y="2895600"/>
            <a:chExt cx="990600" cy="3733800"/>
          </a:xfrm>
        </p:grpSpPr>
        <p:sp>
          <p:nvSpPr>
            <p:cNvPr id="58" name="Flowchart: Document 57"/>
            <p:cNvSpPr/>
            <p:nvPr/>
          </p:nvSpPr>
          <p:spPr>
            <a:xfrm>
              <a:off x="304800" y="2895600"/>
              <a:ext cx="990600" cy="3733800"/>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lowchart: Magnetic Disk 58"/>
            <p:cNvSpPr/>
            <p:nvPr/>
          </p:nvSpPr>
          <p:spPr>
            <a:xfrm>
              <a:off x="533400" y="3124200"/>
              <a:ext cx="533400" cy="533400"/>
            </a:xfrm>
            <a:prstGeom prst="flowChartMagneticDisk">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lowchart: Magnetic Disk 59"/>
            <p:cNvSpPr/>
            <p:nvPr/>
          </p:nvSpPr>
          <p:spPr>
            <a:xfrm>
              <a:off x="533400" y="3733800"/>
              <a:ext cx="533400" cy="533400"/>
            </a:xfrm>
            <a:prstGeom prst="flowChartMagneticDisk">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Flowchart: Magnetic Disk 60"/>
            <p:cNvSpPr/>
            <p:nvPr/>
          </p:nvSpPr>
          <p:spPr>
            <a:xfrm>
              <a:off x="533400" y="4419600"/>
              <a:ext cx="533400" cy="533400"/>
            </a:xfrm>
            <a:prstGeom prst="flowChartMagneticDisk">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lowchart: Magnetic Disk 73"/>
            <p:cNvSpPr/>
            <p:nvPr/>
          </p:nvSpPr>
          <p:spPr>
            <a:xfrm>
              <a:off x="533400" y="5029200"/>
              <a:ext cx="533400" cy="533400"/>
            </a:xfrm>
            <a:prstGeom prst="flowChartMagneticDisk">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Flowchart: Magnetic Disk 74"/>
          <p:cNvSpPr/>
          <p:nvPr/>
        </p:nvSpPr>
        <p:spPr>
          <a:xfrm>
            <a:off x="2895600" y="3124200"/>
            <a:ext cx="533400" cy="533400"/>
          </a:xfrm>
          <a:prstGeom prst="flowChartMagneticDisk">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lowchart: Magnetic Disk 75"/>
          <p:cNvSpPr/>
          <p:nvPr/>
        </p:nvSpPr>
        <p:spPr>
          <a:xfrm>
            <a:off x="2895600" y="3810000"/>
            <a:ext cx="533400" cy="533400"/>
          </a:xfrm>
          <a:prstGeom prst="flowChartMagneticDisk">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Flowchart: Magnetic Disk 76"/>
          <p:cNvSpPr/>
          <p:nvPr/>
        </p:nvSpPr>
        <p:spPr>
          <a:xfrm>
            <a:off x="2895600" y="4495800"/>
            <a:ext cx="533400" cy="533400"/>
          </a:xfrm>
          <a:prstGeom prst="flowChartMagneticDisk">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Flowchart: Magnetic Disk 77"/>
          <p:cNvSpPr/>
          <p:nvPr/>
        </p:nvSpPr>
        <p:spPr>
          <a:xfrm>
            <a:off x="2895600" y="5181600"/>
            <a:ext cx="533400" cy="533400"/>
          </a:xfrm>
          <a:prstGeom prst="flowChartMagneticDisk">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lowchart: Magnetic Disk 78"/>
          <p:cNvSpPr/>
          <p:nvPr/>
        </p:nvSpPr>
        <p:spPr>
          <a:xfrm>
            <a:off x="4648200" y="3124200"/>
            <a:ext cx="533400" cy="533400"/>
          </a:xfrm>
          <a:prstGeom prst="flowChartMagneticDisk">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Flowchart: Magnetic Disk 79"/>
          <p:cNvSpPr/>
          <p:nvPr/>
        </p:nvSpPr>
        <p:spPr>
          <a:xfrm>
            <a:off x="4648200" y="3733800"/>
            <a:ext cx="533400" cy="533400"/>
          </a:xfrm>
          <a:prstGeom prst="flowChartMagneticDisk">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lowchart: Magnetic Disk 80"/>
          <p:cNvSpPr/>
          <p:nvPr/>
        </p:nvSpPr>
        <p:spPr>
          <a:xfrm>
            <a:off x="4648200" y="4419600"/>
            <a:ext cx="533400" cy="533400"/>
          </a:xfrm>
          <a:prstGeom prst="flowChartMagneticDisk">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Flowchart: Magnetic Disk 81"/>
          <p:cNvSpPr/>
          <p:nvPr/>
        </p:nvSpPr>
        <p:spPr>
          <a:xfrm>
            <a:off x="4648200" y="5181600"/>
            <a:ext cx="533400" cy="533400"/>
          </a:xfrm>
          <a:prstGeom prst="flowChartMagneticDisk">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Freeform 82"/>
          <p:cNvSpPr/>
          <p:nvPr/>
        </p:nvSpPr>
        <p:spPr>
          <a:xfrm>
            <a:off x="1066799" y="3352800"/>
            <a:ext cx="1743635" cy="433294"/>
          </a:xfrm>
          <a:custGeom>
            <a:avLst/>
            <a:gdLst>
              <a:gd name="connsiteX0" fmla="*/ 0 w 1653988"/>
              <a:gd name="connsiteY0" fmla="*/ 0 h 562535"/>
              <a:gd name="connsiteX1" fmla="*/ 1008529 w 1653988"/>
              <a:gd name="connsiteY1" fmla="*/ 537882 h 562535"/>
              <a:gd name="connsiteX2" fmla="*/ 1653988 w 1653988"/>
              <a:gd name="connsiteY2" fmla="*/ 147917 h 562535"/>
              <a:gd name="connsiteX0" fmla="*/ 0 w 1653988"/>
              <a:gd name="connsiteY0" fmla="*/ 0 h 522194"/>
              <a:gd name="connsiteX1" fmla="*/ 900953 w 1653988"/>
              <a:gd name="connsiteY1" fmla="*/ 497541 h 522194"/>
              <a:gd name="connsiteX2" fmla="*/ 1653988 w 1653988"/>
              <a:gd name="connsiteY2" fmla="*/ 147917 h 522194"/>
              <a:gd name="connsiteX0" fmla="*/ 0 w 1743635"/>
              <a:gd name="connsiteY0" fmla="*/ 0 h 433294"/>
              <a:gd name="connsiteX1" fmla="*/ 990600 w 1743635"/>
              <a:gd name="connsiteY1" fmla="*/ 421341 h 433294"/>
              <a:gd name="connsiteX2" fmla="*/ 1743635 w 1743635"/>
              <a:gd name="connsiteY2" fmla="*/ 71717 h 433294"/>
            </a:gdLst>
            <a:ahLst/>
            <a:cxnLst>
              <a:cxn ang="0">
                <a:pos x="connsiteX0" y="connsiteY0"/>
              </a:cxn>
              <a:cxn ang="0">
                <a:pos x="connsiteX1" y="connsiteY1"/>
              </a:cxn>
              <a:cxn ang="0">
                <a:pos x="connsiteX2" y="connsiteY2"/>
              </a:cxn>
            </a:cxnLst>
            <a:rect l="l" t="t" r="r" b="b"/>
            <a:pathLst>
              <a:path w="1743635" h="433294">
                <a:moveTo>
                  <a:pt x="0" y="0"/>
                </a:moveTo>
                <a:cubicBezTo>
                  <a:pt x="366432" y="256614"/>
                  <a:pt x="699994" y="409388"/>
                  <a:pt x="990600" y="421341"/>
                </a:cubicBezTo>
                <a:cubicBezTo>
                  <a:pt x="1281206" y="433294"/>
                  <a:pt x="1698811" y="40341"/>
                  <a:pt x="1743635" y="71717"/>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4" name="Freeform 83"/>
          <p:cNvSpPr/>
          <p:nvPr/>
        </p:nvSpPr>
        <p:spPr>
          <a:xfrm>
            <a:off x="1143000" y="3870263"/>
            <a:ext cx="1667435" cy="187760"/>
          </a:xfrm>
          <a:custGeom>
            <a:avLst/>
            <a:gdLst>
              <a:gd name="connsiteX0" fmla="*/ 0 w 1653988"/>
              <a:gd name="connsiteY0" fmla="*/ 0 h 562535"/>
              <a:gd name="connsiteX1" fmla="*/ 1008529 w 1653988"/>
              <a:gd name="connsiteY1" fmla="*/ 537882 h 562535"/>
              <a:gd name="connsiteX2" fmla="*/ 1653988 w 1653988"/>
              <a:gd name="connsiteY2" fmla="*/ 147917 h 562535"/>
              <a:gd name="connsiteX0" fmla="*/ 0 w 1653988"/>
              <a:gd name="connsiteY0" fmla="*/ 0 h 522194"/>
              <a:gd name="connsiteX1" fmla="*/ 900953 w 1653988"/>
              <a:gd name="connsiteY1" fmla="*/ 497541 h 522194"/>
              <a:gd name="connsiteX2" fmla="*/ 1653988 w 1653988"/>
              <a:gd name="connsiteY2" fmla="*/ 147917 h 522194"/>
              <a:gd name="connsiteX0" fmla="*/ 0 w 1743635"/>
              <a:gd name="connsiteY0" fmla="*/ 0 h 433294"/>
              <a:gd name="connsiteX1" fmla="*/ 990600 w 1743635"/>
              <a:gd name="connsiteY1" fmla="*/ 421341 h 433294"/>
              <a:gd name="connsiteX2" fmla="*/ 1743635 w 1743635"/>
              <a:gd name="connsiteY2" fmla="*/ 71717 h 433294"/>
              <a:gd name="connsiteX0" fmla="*/ 0 w 1743635"/>
              <a:gd name="connsiteY0" fmla="*/ 112059 h 368673"/>
              <a:gd name="connsiteX1" fmla="*/ 990600 w 1743635"/>
              <a:gd name="connsiteY1" fmla="*/ 11953 h 368673"/>
              <a:gd name="connsiteX2" fmla="*/ 1743635 w 1743635"/>
              <a:gd name="connsiteY2" fmla="*/ 183776 h 368673"/>
              <a:gd name="connsiteX0" fmla="*/ 0 w 1743635"/>
              <a:gd name="connsiteY0" fmla="*/ 415864 h 672478"/>
              <a:gd name="connsiteX1" fmla="*/ 990600 w 1743635"/>
              <a:gd name="connsiteY1" fmla="*/ 34863 h 672478"/>
              <a:gd name="connsiteX2" fmla="*/ 1743635 w 1743635"/>
              <a:gd name="connsiteY2" fmla="*/ 206686 h 672478"/>
              <a:gd name="connsiteX0" fmla="*/ 0 w 1743635"/>
              <a:gd name="connsiteY0" fmla="*/ 415864 h 415864"/>
              <a:gd name="connsiteX1" fmla="*/ 990600 w 1743635"/>
              <a:gd name="connsiteY1" fmla="*/ 34863 h 415864"/>
              <a:gd name="connsiteX2" fmla="*/ 1743635 w 1743635"/>
              <a:gd name="connsiteY2" fmla="*/ 206686 h 415864"/>
              <a:gd name="connsiteX0" fmla="*/ 0 w 1743635"/>
              <a:gd name="connsiteY0" fmla="*/ 396938 h 396938"/>
              <a:gd name="connsiteX1" fmla="*/ 228600 w 1743635"/>
              <a:gd name="connsiteY1" fmla="*/ 92137 h 396938"/>
              <a:gd name="connsiteX2" fmla="*/ 990600 w 1743635"/>
              <a:gd name="connsiteY2" fmla="*/ 15937 h 396938"/>
              <a:gd name="connsiteX3" fmla="*/ 1743635 w 1743635"/>
              <a:gd name="connsiteY3" fmla="*/ 187760 h 396938"/>
              <a:gd name="connsiteX0" fmla="*/ 0 w 1667435"/>
              <a:gd name="connsiteY0" fmla="*/ 168337 h 187760"/>
              <a:gd name="connsiteX1" fmla="*/ 152400 w 1667435"/>
              <a:gd name="connsiteY1" fmla="*/ 92137 h 187760"/>
              <a:gd name="connsiteX2" fmla="*/ 914400 w 1667435"/>
              <a:gd name="connsiteY2" fmla="*/ 15937 h 187760"/>
              <a:gd name="connsiteX3" fmla="*/ 1667435 w 1667435"/>
              <a:gd name="connsiteY3" fmla="*/ 187760 h 187760"/>
            </a:gdLst>
            <a:ahLst/>
            <a:cxnLst>
              <a:cxn ang="0">
                <a:pos x="connsiteX0" y="connsiteY0"/>
              </a:cxn>
              <a:cxn ang="0">
                <a:pos x="connsiteX1" y="connsiteY1"/>
              </a:cxn>
              <a:cxn ang="0">
                <a:pos x="connsiteX2" y="connsiteY2"/>
              </a:cxn>
              <a:cxn ang="0">
                <a:pos x="connsiteX3" y="connsiteY3"/>
              </a:cxn>
            </a:cxnLst>
            <a:rect l="l" t="t" r="r" b="b"/>
            <a:pathLst>
              <a:path w="1667435" h="187760">
                <a:moveTo>
                  <a:pt x="0" y="168337"/>
                </a:moveTo>
                <a:cubicBezTo>
                  <a:pt x="5977" y="165349"/>
                  <a:pt x="0" y="117537"/>
                  <a:pt x="152400" y="92137"/>
                </a:cubicBezTo>
                <a:cubicBezTo>
                  <a:pt x="304800" y="66737"/>
                  <a:pt x="661894" y="0"/>
                  <a:pt x="914400" y="15937"/>
                </a:cubicBezTo>
                <a:cubicBezTo>
                  <a:pt x="1166906" y="31874"/>
                  <a:pt x="1622611" y="156384"/>
                  <a:pt x="1667435" y="187760"/>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5" name="Freeform 84"/>
          <p:cNvSpPr/>
          <p:nvPr/>
        </p:nvSpPr>
        <p:spPr>
          <a:xfrm>
            <a:off x="1066800" y="4648200"/>
            <a:ext cx="1743635" cy="433294"/>
          </a:xfrm>
          <a:custGeom>
            <a:avLst/>
            <a:gdLst>
              <a:gd name="connsiteX0" fmla="*/ 0 w 1653988"/>
              <a:gd name="connsiteY0" fmla="*/ 0 h 562535"/>
              <a:gd name="connsiteX1" fmla="*/ 1008529 w 1653988"/>
              <a:gd name="connsiteY1" fmla="*/ 537882 h 562535"/>
              <a:gd name="connsiteX2" fmla="*/ 1653988 w 1653988"/>
              <a:gd name="connsiteY2" fmla="*/ 147917 h 562535"/>
              <a:gd name="connsiteX0" fmla="*/ 0 w 1653988"/>
              <a:gd name="connsiteY0" fmla="*/ 0 h 522194"/>
              <a:gd name="connsiteX1" fmla="*/ 900953 w 1653988"/>
              <a:gd name="connsiteY1" fmla="*/ 497541 h 522194"/>
              <a:gd name="connsiteX2" fmla="*/ 1653988 w 1653988"/>
              <a:gd name="connsiteY2" fmla="*/ 147917 h 522194"/>
              <a:gd name="connsiteX0" fmla="*/ 0 w 1743635"/>
              <a:gd name="connsiteY0" fmla="*/ 0 h 433294"/>
              <a:gd name="connsiteX1" fmla="*/ 990600 w 1743635"/>
              <a:gd name="connsiteY1" fmla="*/ 421341 h 433294"/>
              <a:gd name="connsiteX2" fmla="*/ 1743635 w 1743635"/>
              <a:gd name="connsiteY2" fmla="*/ 71717 h 433294"/>
            </a:gdLst>
            <a:ahLst/>
            <a:cxnLst>
              <a:cxn ang="0">
                <a:pos x="connsiteX0" y="connsiteY0"/>
              </a:cxn>
              <a:cxn ang="0">
                <a:pos x="connsiteX1" y="connsiteY1"/>
              </a:cxn>
              <a:cxn ang="0">
                <a:pos x="connsiteX2" y="connsiteY2"/>
              </a:cxn>
            </a:cxnLst>
            <a:rect l="l" t="t" r="r" b="b"/>
            <a:pathLst>
              <a:path w="1743635" h="433294">
                <a:moveTo>
                  <a:pt x="0" y="0"/>
                </a:moveTo>
                <a:cubicBezTo>
                  <a:pt x="366432" y="256614"/>
                  <a:pt x="699994" y="409388"/>
                  <a:pt x="990600" y="421341"/>
                </a:cubicBezTo>
                <a:cubicBezTo>
                  <a:pt x="1281206" y="433294"/>
                  <a:pt x="1698811" y="40341"/>
                  <a:pt x="1743635" y="71717"/>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6" name="Freeform 85"/>
          <p:cNvSpPr/>
          <p:nvPr/>
        </p:nvSpPr>
        <p:spPr>
          <a:xfrm>
            <a:off x="1143001" y="5165663"/>
            <a:ext cx="1667435" cy="187760"/>
          </a:xfrm>
          <a:custGeom>
            <a:avLst/>
            <a:gdLst>
              <a:gd name="connsiteX0" fmla="*/ 0 w 1653988"/>
              <a:gd name="connsiteY0" fmla="*/ 0 h 562535"/>
              <a:gd name="connsiteX1" fmla="*/ 1008529 w 1653988"/>
              <a:gd name="connsiteY1" fmla="*/ 537882 h 562535"/>
              <a:gd name="connsiteX2" fmla="*/ 1653988 w 1653988"/>
              <a:gd name="connsiteY2" fmla="*/ 147917 h 562535"/>
              <a:gd name="connsiteX0" fmla="*/ 0 w 1653988"/>
              <a:gd name="connsiteY0" fmla="*/ 0 h 522194"/>
              <a:gd name="connsiteX1" fmla="*/ 900953 w 1653988"/>
              <a:gd name="connsiteY1" fmla="*/ 497541 h 522194"/>
              <a:gd name="connsiteX2" fmla="*/ 1653988 w 1653988"/>
              <a:gd name="connsiteY2" fmla="*/ 147917 h 522194"/>
              <a:gd name="connsiteX0" fmla="*/ 0 w 1743635"/>
              <a:gd name="connsiteY0" fmla="*/ 0 h 433294"/>
              <a:gd name="connsiteX1" fmla="*/ 990600 w 1743635"/>
              <a:gd name="connsiteY1" fmla="*/ 421341 h 433294"/>
              <a:gd name="connsiteX2" fmla="*/ 1743635 w 1743635"/>
              <a:gd name="connsiteY2" fmla="*/ 71717 h 433294"/>
              <a:gd name="connsiteX0" fmla="*/ 0 w 1743635"/>
              <a:gd name="connsiteY0" fmla="*/ 112059 h 368673"/>
              <a:gd name="connsiteX1" fmla="*/ 990600 w 1743635"/>
              <a:gd name="connsiteY1" fmla="*/ 11953 h 368673"/>
              <a:gd name="connsiteX2" fmla="*/ 1743635 w 1743635"/>
              <a:gd name="connsiteY2" fmla="*/ 183776 h 368673"/>
              <a:gd name="connsiteX0" fmla="*/ 0 w 1743635"/>
              <a:gd name="connsiteY0" fmla="*/ 415864 h 672478"/>
              <a:gd name="connsiteX1" fmla="*/ 990600 w 1743635"/>
              <a:gd name="connsiteY1" fmla="*/ 34863 h 672478"/>
              <a:gd name="connsiteX2" fmla="*/ 1743635 w 1743635"/>
              <a:gd name="connsiteY2" fmla="*/ 206686 h 672478"/>
              <a:gd name="connsiteX0" fmla="*/ 0 w 1743635"/>
              <a:gd name="connsiteY0" fmla="*/ 415864 h 415864"/>
              <a:gd name="connsiteX1" fmla="*/ 990600 w 1743635"/>
              <a:gd name="connsiteY1" fmla="*/ 34863 h 415864"/>
              <a:gd name="connsiteX2" fmla="*/ 1743635 w 1743635"/>
              <a:gd name="connsiteY2" fmla="*/ 206686 h 415864"/>
              <a:gd name="connsiteX0" fmla="*/ 0 w 1743635"/>
              <a:gd name="connsiteY0" fmla="*/ 396938 h 396938"/>
              <a:gd name="connsiteX1" fmla="*/ 228600 w 1743635"/>
              <a:gd name="connsiteY1" fmla="*/ 92137 h 396938"/>
              <a:gd name="connsiteX2" fmla="*/ 990600 w 1743635"/>
              <a:gd name="connsiteY2" fmla="*/ 15937 h 396938"/>
              <a:gd name="connsiteX3" fmla="*/ 1743635 w 1743635"/>
              <a:gd name="connsiteY3" fmla="*/ 187760 h 396938"/>
              <a:gd name="connsiteX0" fmla="*/ 0 w 1667435"/>
              <a:gd name="connsiteY0" fmla="*/ 168337 h 187760"/>
              <a:gd name="connsiteX1" fmla="*/ 152400 w 1667435"/>
              <a:gd name="connsiteY1" fmla="*/ 92137 h 187760"/>
              <a:gd name="connsiteX2" fmla="*/ 914400 w 1667435"/>
              <a:gd name="connsiteY2" fmla="*/ 15937 h 187760"/>
              <a:gd name="connsiteX3" fmla="*/ 1667435 w 1667435"/>
              <a:gd name="connsiteY3" fmla="*/ 187760 h 187760"/>
            </a:gdLst>
            <a:ahLst/>
            <a:cxnLst>
              <a:cxn ang="0">
                <a:pos x="connsiteX0" y="connsiteY0"/>
              </a:cxn>
              <a:cxn ang="0">
                <a:pos x="connsiteX1" y="connsiteY1"/>
              </a:cxn>
              <a:cxn ang="0">
                <a:pos x="connsiteX2" y="connsiteY2"/>
              </a:cxn>
              <a:cxn ang="0">
                <a:pos x="connsiteX3" y="connsiteY3"/>
              </a:cxn>
            </a:cxnLst>
            <a:rect l="l" t="t" r="r" b="b"/>
            <a:pathLst>
              <a:path w="1667435" h="187760">
                <a:moveTo>
                  <a:pt x="0" y="168337"/>
                </a:moveTo>
                <a:cubicBezTo>
                  <a:pt x="5977" y="165349"/>
                  <a:pt x="0" y="117537"/>
                  <a:pt x="152400" y="92137"/>
                </a:cubicBezTo>
                <a:cubicBezTo>
                  <a:pt x="304800" y="66737"/>
                  <a:pt x="661894" y="0"/>
                  <a:pt x="914400" y="15937"/>
                </a:cubicBezTo>
                <a:cubicBezTo>
                  <a:pt x="1166906" y="31874"/>
                  <a:pt x="1622611" y="156384"/>
                  <a:pt x="1667435" y="187760"/>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5" name="Straight Arrow Connector 44"/>
          <p:cNvCxnSpPr/>
          <p:nvPr/>
        </p:nvCxnSpPr>
        <p:spPr>
          <a:xfrm>
            <a:off x="3505200" y="4114800"/>
            <a:ext cx="1143000" cy="457200"/>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V="1">
            <a:off x="3581400" y="4114800"/>
            <a:ext cx="1066800" cy="533400"/>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a:off x="3505200" y="3429000"/>
            <a:ext cx="1143000" cy="1588"/>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a:off x="3581400" y="5484812"/>
            <a:ext cx="1066800" cy="1588"/>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5181600" y="5943600"/>
            <a:ext cx="2057400" cy="646331"/>
          </a:xfrm>
          <a:prstGeom prst="rect">
            <a:avLst/>
          </a:prstGeom>
          <a:noFill/>
          <a:ln w="38100">
            <a:solidFill>
              <a:schemeClr val="accent1">
                <a:shade val="50000"/>
              </a:schemeClr>
            </a:solidFill>
          </a:ln>
        </p:spPr>
        <p:txBody>
          <a:bodyPr wrap="square" rtlCol="0">
            <a:spAutoFit/>
          </a:bodyPr>
          <a:lstStyle/>
          <a:p>
            <a:r>
              <a:rPr lang="en-US" b="1" dirty="0" smtClean="0">
                <a:latin typeface="Garamond" pitchFamily="18" charset="0"/>
              </a:rPr>
              <a:t>5: Reduce phase</a:t>
            </a:r>
          </a:p>
          <a:p>
            <a:r>
              <a:rPr lang="en-US" b="1" dirty="0" smtClean="0">
                <a:solidFill>
                  <a:srgbClr val="FF0000"/>
                </a:solidFill>
                <a:latin typeface="Garamond" pitchFamily="18" charset="0"/>
              </a:rPr>
              <a:t>Concurrent tasks</a:t>
            </a:r>
          </a:p>
        </p:txBody>
      </p:sp>
      <p:sp>
        <p:nvSpPr>
          <p:cNvPr id="52" name="Flowchart: Document 51"/>
          <p:cNvSpPr/>
          <p:nvPr/>
        </p:nvSpPr>
        <p:spPr>
          <a:xfrm>
            <a:off x="7391400" y="2895600"/>
            <a:ext cx="990600" cy="3733800"/>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lowchart: Magnetic Disk 49"/>
          <p:cNvSpPr/>
          <p:nvPr/>
        </p:nvSpPr>
        <p:spPr>
          <a:xfrm>
            <a:off x="6324600" y="3352800"/>
            <a:ext cx="533400" cy="533400"/>
          </a:xfrm>
          <a:prstGeom prst="flowChartMagneticDisk">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lowchart: Magnetic Disk 65"/>
          <p:cNvSpPr/>
          <p:nvPr/>
        </p:nvSpPr>
        <p:spPr>
          <a:xfrm>
            <a:off x="6324600" y="4419600"/>
            <a:ext cx="533400" cy="533400"/>
          </a:xfrm>
          <a:prstGeom prst="flowChartMagneticDisk">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Flowchart: Magnetic Disk 66"/>
          <p:cNvSpPr/>
          <p:nvPr/>
        </p:nvSpPr>
        <p:spPr>
          <a:xfrm>
            <a:off x="7620000" y="3352800"/>
            <a:ext cx="533400" cy="533400"/>
          </a:xfrm>
          <a:prstGeom prst="flowChartMagneticDisk">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lowchart: Magnetic Disk 67"/>
          <p:cNvSpPr/>
          <p:nvPr/>
        </p:nvSpPr>
        <p:spPr>
          <a:xfrm>
            <a:off x="7620000" y="4419600"/>
            <a:ext cx="533400" cy="533400"/>
          </a:xfrm>
          <a:prstGeom prst="flowChartMagneticDisk">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Freeform 90"/>
          <p:cNvSpPr/>
          <p:nvPr/>
        </p:nvSpPr>
        <p:spPr>
          <a:xfrm>
            <a:off x="5242560" y="3383280"/>
            <a:ext cx="1005840" cy="291253"/>
          </a:xfrm>
          <a:custGeom>
            <a:avLst/>
            <a:gdLst>
              <a:gd name="connsiteX0" fmla="*/ 0 w 1005840"/>
              <a:gd name="connsiteY0" fmla="*/ 0 h 291253"/>
              <a:gd name="connsiteX1" fmla="*/ 568960 w 1005840"/>
              <a:gd name="connsiteY1" fmla="*/ 243840 h 291253"/>
              <a:gd name="connsiteX2" fmla="*/ 1005840 w 1005840"/>
              <a:gd name="connsiteY2" fmla="*/ 284480 h 291253"/>
            </a:gdLst>
            <a:ahLst/>
            <a:cxnLst>
              <a:cxn ang="0">
                <a:pos x="connsiteX0" y="connsiteY0"/>
              </a:cxn>
              <a:cxn ang="0">
                <a:pos x="connsiteX1" y="connsiteY1"/>
              </a:cxn>
              <a:cxn ang="0">
                <a:pos x="connsiteX2" y="connsiteY2"/>
              </a:cxn>
            </a:cxnLst>
            <a:rect l="l" t="t" r="r" b="b"/>
            <a:pathLst>
              <a:path w="1005840" h="291253">
                <a:moveTo>
                  <a:pt x="0" y="0"/>
                </a:moveTo>
                <a:cubicBezTo>
                  <a:pt x="200660" y="98213"/>
                  <a:pt x="401320" y="196427"/>
                  <a:pt x="568960" y="243840"/>
                </a:cubicBezTo>
                <a:cubicBezTo>
                  <a:pt x="736600" y="291253"/>
                  <a:pt x="871220" y="287866"/>
                  <a:pt x="1005840" y="284480"/>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2" name="Freeform 91"/>
          <p:cNvSpPr/>
          <p:nvPr/>
        </p:nvSpPr>
        <p:spPr>
          <a:xfrm>
            <a:off x="5257800" y="3771899"/>
            <a:ext cx="990600" cy="266701"/>
          </a:xfrm>
          <a:custGeom>
            <a:avLst/>
            <a:gdLst>
              <a:gd name="connsiteX0" fmla="*/ 0 w 1005840"/>
              <a:gd name="connsiteY0" fmla="*/ 0 h 291253"/>
              <a:gd name="connsiteX1" fmla="*/ 568960 w 1005840"/>
              <a:gd name="connsiteY1" fmla="*/ 243840 h 291253"/>
              <a:gd name="connsiteX2" fmla="*/ 1005840 w 1005840"/>
              <a:gd name="connsiteY2" fmla="*/ 284480 h 291253"/>
              <a:gd name="connsiteX0" fmla="*/ 0 w 990600"/>
              <a:gd name="connsiteY0" fmla="*/ 152400 h 421640"/>
              <a:gd name="connsiteX1" fmla="*/ 568960 w 990600"/>
              <a:gd name="connsiteY1" fmla="*/ 396240 h 421640"/>
              <a:gd name="connsiteX2" fmla="*/ 990600 w 990600"/>
              <a:gd name="connsiteY2" fmla="*/ 0 h 421640"/>
              <a:gd name="connsiteX0" fmla="*/ 0 w 990600"/>
              <a:gd name="connsiteY0" fmla="*/ 177800 h 276013"/>
              <a:gd name="connsiteX1" fmla="*/ 533400 w 990600"/>
              <a:gd name="connsiteY1" fmla="*/ 25400 h 276013"/>
              <a:gd name="connsiteX2" fmla="*/ 990600 w 990600"/>
              <a:gd name="connsiteY2" fmla="*/ 25400 h 276013"/>
              <a:gd name="connsiteX0" fmla="*/ 0 w 914400"/>
              <a:gd name="connsiteY0" fmla="*/ 177800 h 276013"/>
              <a:gd name="connsiteX1" fmla="*/ 533400 w 914400"/>
              <a:gd name="connsiteY1" fmla="*/ 25400 h 276013"/>
              <a:gd name="connsiteX2" fmla="*/ 914400 w 914400"/>
              <a:gd name="connsiteY2" fmla="*/ 25401 h 276013"/>
              <a:gd name="connsiteX0" fmla="*/ 0 w 990600"/>
              <a:gd name="connsiteY0" fmla="*/ 177800 h 276013"/>
              <a:gd name="connsiteX1" fmla="*/ 533400 w 990600"/>
              <a:gd name="connsiteY1" fmla="*/ 25400 h 276013"/>
              <a:gd name="connsiteX2" fmla="*/ 990600 w 990600"/>
              <a:gd name="connsiteY2" fmla="*/ 25401 h 276013"/>
              <a:gd name="connsiteX0" fmla="*/ 0 w 990600"/>
              <a:gd name="connsiteY0" fmla="*/ 266701 h 364914"/>
              <a:gd name="connsiteX1" fmla="*/ 533400 w 990600"/>
              <a:gd name="connsiteY1" fmla="*/ 38100 h 364914"/>
              <a:gd name="connsiteX2" fmla="*/ 990600 w 990600"/>
              <a:gd name="connsiteY2" fmla="*/ 38101 h 364914"/>
              <a:gd name="connsiteX0" fmla="*/ 0 w 990600"/>
              <a:gd name="connsiteY0" fmla="*/ 266701 h 266701"/>
              <a:gd name="connsiteX1" fmla="*/ 533400 w 990600"/>
              <a:gd name="connsiteY1" fmla="*/ 38100 h 266701"/>
              <a:gd name="connsiteX2" fmla="*/ 990600 w 990600"/>
              <a:gd name="connsiteY2" fmla="*/ 38101 h 266701"/>
            </a:gdLst>
            <a:ahLst/>
            <a:cxnLst>
              <a:cxn ang="0">
                <a:pos x="connsiteX0" y="connsiteY0"/>
              </a:cxn>
              <a:cxn ang="0">
                <a:pos x="connsiteX1" y="connsiteY1"/>
              </a:cxn>
              <a:cxn ang="0">
                <a:pos x="connsiteX2" y="connsiteY2"/>
              </a:cxn>
            </a:cxnLst>
            <a:rect l="l" t="t" r="r" b="b"/>
            <a:pathLst>
              <a:path w="990600" h="266701">
                <a:moveTo>
                  <a:pt x="0" y="266701"/>
                </a:moveTo>
                <a:cubicBezTo>
                  <a:pt x="170180" y="100754"/>
                  <a:pt x="368300" y="76200"/>
                  <a:pt x="533400" y="38100"/>
                </a:cubicBezTo>
                <a:cubicBezTo>
                  <a:pt x="698500" y="0"/>
                  <a:pt x="855980" y="41487"/>
                  <a:pt x="990600" y="38101"/>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3" name="Freeform 92"/>
          <p:cNvSpPr/>
          <p:nvPr/>
        </p:nvSpPr>
        <p:spPr>
          <a:xfrm>
            <a:off x="5257800" y="4648201"/>
            <a:ext cx="1066800" cy="165098"/>
          </a:xfrm>
          <a:custGeom>
            <a:avLst/>
            <a:gdLst>
              <a:gd name="connsiteX0" fmla="*/ 0 w 1005840"/>
              <a:gd name="connsiteY0" fmla="*/ 0 h 291253"/>
              <a:gd name="connsiteX1" fmla="*/ 568960 w 1005840"/>
              <a:gd name="connsiteY1" fmla="*/ 243840 h 291253"/>
              <a:gd name="connsiteX2" fmla="*/ 1005840 w 1005840"/>
              <a:gd name="connsiteY2" fmla="*/ 284480 h 291253"/>
              <a:gd name="connsiteX0" fmla="*/ 0 w 1082040"/>
              <a:gd name="connsiteY0" fmla="*/ 30480 h 279400"/>
              <a:gd name="connsiteX1" fmla="*/ 568960 w 1082040"/>
              <a:gd name="connsiteY1" fmla="*/ 274320 h 279400"/>
              <a:gd name="connsiteX2" fmla="*/ 1082040 w 1082040"/>
              <a:gd name="connsiteY2" fmla="*/ 0 h 279400"/>
              <a:gd name="connsiteX0" fmla="*/ 0 w 1082040"/>
              <a:gd name="connsiteY0" fmla="*/ 30480 h 128693"/>
              <a:gd name="connsiteX1" fmla="*/ 472440 w 1082040"/>
              <a:gd name="connsiteY1" fmla="*/ 76200 h 128693"/>
              <a:gd name="connsiteX2" fmla="*/ 1082040 w 1082040"/>
              <a:gd name="connsiteY2" fmla="*/ 0 h 128693"/>
              <a:gd name="connsiteX0" fmla="*/ 0 w 990600"/>
              <a:gd name="connsiteY0" fmla="*/ 0 h 165099"/>
              <a:gd name="connsiteX1" fmla="*/ 381000 w 990600"/>
              <a:gd name="connsiteY1" fmla="*/ 152399 h 165099"/>
              <a:gd name="connsiteX2" fmla="*/ 990600 w 990600"/>
              <a:gd name="connsiteY2" fmla="*/ 76199 h 165099"/>
              <a:gd name="connsiteX0" fmla="*/ 0 w 1066800"/>
              <a:gd name="connsiteY0" fmla="*/ 0 h 165098"/>
              <a:gd name="connsiteX1" fmla="*/ 457200 w 1066800"/>
              <a:gd name="connsiteY1" fmla="*/ 152398 h 165098"/>
              <a:gd name="connsiteX2" fmla="*/ 1066800 w 1066800"/>
              <a:gd name="connsiteY2" fmla="*/ 76198 h 165098"/>
            </a:gdLst>
            <a:ahLst/>
            <a:cxnLst>
              <a:cxn ang="0">
                <a:pos x="connsiteX0" y="connsiteY0"/>
              </a:cxn>
              <a:cxn ang="0">
                <a:pos x="connsiteX1" y="connsiteY1"/>
              </a:cxn>
              <a:cxn ang="0">
                <a:pos x="connsiteX2" y="connsiteY2"/>
              </a:cxn>
            </a:cxnLst>
            <a:rect l="l" t="t" r="r" b="b"/>
            <a:pathLst>
              <a:path w="1066800" h="165098">
                <a:moveTo>
                  <a:pt x="0" y="0"/>
                </a:moveTo>
                <a:cubicBezTo>
                  <a:pt x="200660" y="98213"/>
                  <a:pt x="279400" y="139698"/>
                  <a:pt x="457200" y="152398"/>
                </a:cubicBezTo>
                <a:cubicBezTo>
                  <a:pt x="635000" y="165098"/>
                  <a:pt x="932180" y="79584"/>
                  <a:pt x="1066800" y="76198"/>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4" name="Freeform 93"/>
          <p:cNvSpPr/>
          <p:nvPr/>
        </p:nvSpPr>
        <p:spPr>
          <a:xfrm>
            <a:off x="5257800" y="4851400"/>
            <a:ext cx="1066800" cy="635000"/>
          </a:xfrm>
          <a:custGeom>
            <a:avLst/>
            <a:gdLst>
              <a:gd name="connsiteX0" fmla="*/ 0 w 1005840"/>
              <a:gd name="connsiteY0" fmla="*/ 0 h 291253"/>
              <a:gd name="connsiteX1" fmla="*/ 568960 w 1005840"/>
              <a:gd name="connsiteY1" fmla="*/ 243840 h 291253"/>
              <a:gd name="connsiteX2" fmla="*/ 1005840 w 1005840"/>
              <a:gd name="connsiteY2" fmla="*/ 284480 h 291253"/>
              <a:gd name="connsiteX0" fmla="*/ 0 w 990600"/>
              <a:gd name="connsiteY0" fmla="*/ 152400 h 421640"/>
              <a:gd name="connsiteX1" fmla="*/ 568960 w 990600"/>
              <a:gd name="connsiteY1" fmla="*/ 396240 h 421640"/>
              <a:gd name="connsiteX2" fmla="*/ 990600 w 990600"/>
              <a:gd name="connsiteY2" fmla="*/ 0 h 421640"/>
              <a:gd name="connsiteX0" fmla="*/ 0 w 990600"/>
              <a:gd name="connsiteY0" fmla="*/ 177800 h 276013"/>
              <a:gd name="connsiteX1" fmla="*/ 533400 w 990600"/>
              <a:gd name="connsiteY1" fmla="*/ 25400 h 276013"/>
              <a:gd name="connsiteX2" fmla="*/ 990600 w 990600"/>
              <a:gd name="connsiteY2" fmla="*/ 25400 h 276013"/>
              <a:gd name="connsiteX0" fmla="*/ 0 w 914400"/>
              <a:gd name="connsiteY0" fmla="*/ 177800 h 276013"/>
              <a:gd name="connsiteX1" fmla="*/ 533400 w 914400"/>
              <a:gd name="connsiteY1" fmla="*/ 25400 h 276013"/>
              <a:gd name="connsiteX2" fmla="*/ 914400 w 914400"/>
              <a:gd name="connsiteY2" fmla="*/ 25401 h 276013"/>
              <a:gd name="connsiteX0" fmla="*/ 0 w 990600"/>
              <a:gd name="connsiteY0" fmla="*/ 177800 h 276013"/>
              <a:gd name="connsiteX1" fmla="*/ 533400 w 990600"/>
              <a:gd name="connsiteY1" fmla="*/ 25400 h 276013"/>
              <a:gd name="connsiteX2" fmla="*/ 990600 w 990600"/>
              <a:gd name="connsiteY2" fmla="*/ 25401 h 276013"/>
              <a:gd name="connsiteX0" fmla="*/ 0 w 990600"/>
              <a:gd name="connsiteY0" fmla="*/ 266701 h 364914"/>
              <a:gd name="connsiteX1" fmla="*/ 533400 w 990600"/>
              <a:gd name="connsiteY1" fmla="*/ 38100 h 364914"/>
              <a:gd name="connsiteX2" fmla="*/ 990600 w 990600"/>
              <a:gd name="connsiteY2" fmla="*/ 38101 h 364914"/>
              <a:gd name="connsiteX0" fmla="*/ 0 w 990600"/>
              <a:gd name="connsiteY0" fmla="*/ 266701 h 266701"/>
              <a:gd name="connsiteX1" fmla="*/ 533400 w 990600"/>
              <a:gd name="connsiteY1" fmla="*/ 38100 h 266701"/>
              <a:gd name="connsiteX2" fmla="*/ 990600 w 990600"/>
              <a:gd name="connsiteY2" fmla="*/ 38101 h 266701"/>
              <a:gd name="connsiteX0" fmla="*/ 0 w 1066800"/>
              <a:gd name="connsiteY0" fmla="*/ 533400 h 533400"/>
              <a:gd name="connsiteX1" fmla="*/ 533400 w 1066800"/>
              <a:gd name="connsiteY1" fmla="*/ 304799 h 533400"/>
              <a:gd name="connsiteX2" fmla="*/ 1066800 w 1066800"/>
              <a:gd name="connsiteY2" fmla="*/ 0 h 533400"/>
              <a:gd name="connsiteX0" fmla="*/ 0 w 1066800"/>
              <a:gd name="connsiteY0" fmla="*/ 546100 h 546100"/>
              <a:gd name="connsiteX1" fmla="*/ 381000 w 1066800"/>
              <a:gd name="connsiteY1" fmla="*/ 88900 h 546100"/>
              <a:gd name="connsiteX2" fmla="*/ 1066800 w 1066800"/>
              <a:gd name="connsiteY2" fmla="*/ 12700 h 546100"/>
              <a:gd name="connsiteX0" fmla="*/ 0 w 1066800"/>
              <a:gd name="connsiteY0" fmla="*/ 635000 h 635000"/>
              <a:gd name="connsiteX1" fmla="*/ 381000 w 1066800"/>
              <a:gd name="connsiteY1" fmla="*/ 101600 h 635000"/>
              <a:gd name="connsiteX2" fmla="*/ 1066800 w 1066800"/>
              <a:gd name="connsiteY2" fmla="*/ 25400 h 635000"/>
              <a:gd name="connsiteX0" fmla="*/ 0 w 1066800"/>
              <a:gd name="connsiteY0" fmla="*/ 635000 h 635000"/>
              <a:gd name="connsiteX1" fmla="*/ 381000 w 1066800"/>
              <a:gd name="connsiteY1" fmla="*/ 101600 h 635000"/>
              <a:gd name="connsiteX2" fmla="*/ 1066800 w 1066800"/>
              <a:gd name="connsiteY2" fmla="*/ 25400 h 635000"/>
            </a:gdLst>
            <a:ahLst/>
            <a:cxnLst>
              <a:cxn ang="0">
                <a:pos x="connsiteX0" y="connsiteY0"/>
              </a:cxn>
              <a:cxn ang="0">
                <a:pos x="connsiteX1" y="connsiteY1"/>
              </a:cxn>
              <a:cxn ang="0">
                <a:pos x="connsiteX2" y="connsiteY2"/>
              </a:cxn>
            </a:cxnLst>
            <a:rect l="l" t="t" r="r" b="b"/>
            <a:pathLst>
              <a:path w="1066800" h="635000">
                <a:moveTo>
                  <a:pt x="0" y="635000"/>
                </a:moveTo>
                <a:cubicBezTo>
                  <a:pt x="83820" y="428413"/>
                  <a:pt x="203200" y="203200"/>
                  <a:pt x="381000" y="101600"/>
                </a:cubicBezTo>
                <a:cubicBezTo>
                  <a:pt x="558800" y="0"/>
                  <a:pt x="932180" y="28786"/>
                  <a:pt x="1066800" y="25400"/>
                </a:cubicBezTo>
              </a:path>
            </a:pathLst>
          </a:cu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5" name="Straight Arrow Connector 94"/>
          <p:cNvCxnSpPr/>
          <p:nvPr/>
        </p:nvCxnSpPr>
        <p:spPr>
          <a:xfrm>
            <a:off x="6934200" y="3657600"/>
            <a:ext cx="609600" cy="1588"/>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97" name="Straight Arrow Connector 96"/>
          <p:cNvCxnSpPr/>
          <p:nvPr/>
        </p:nvCxnSpPr>
        <p:spPr>
          <a:xfrm>
            <a:off x="6934200" y="4724400"/>
            <a:ext cx="609600" cy="1588"/>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100" name="Flowchart: Magnetic Disk 99"/>
          <p:cNvSpPr/>
          <p:nvPr/>
        </p:nvSpPr>
        <p:spPr>
          <a:xfrm>
            <a:off x="6324600" y="3352800"/>
            <a:ext cx="533400" cy="533400"/>
          </a:xfrm>
          <a:prstGeom prst="flowChartMagneticDisk">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Flowchart: Magnetic Disk 100"/>
          <p:cNvSpPr/>
          <p:nvPr/>
        </p:nvSpPr>
        <p:spPr>
          <a:xfrm>
            <a:off x="6324600" y="4419600"/>
            <a:ext cx="533400" cy="533400"/>
          </a:xfrm>
          <a:prstGeom prst="flowChartMagneticDisk">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TextBox 101"/>
          <p:cNvSpPr txBox="1"/>
          <p:nvPr/>
        </p:nvSpPr>
        <p:spPr>
          <a:xfrm flipH="1">
            <a:off x="6019800" y="2209800"/>
            <a:ext cx="3124200" cy="646331"/>
          </a:xfrm>
          <a:prstGeom prst="rect">
            <a:avLst/>
          </a:prstGeom>
          <a:noFill/>
          <a:ln w="38100">
            <a:solidFill>
              <a:schemeClr val="accent1">
                <a:shade val="50000"/>
              </a:schemeClr>
            </a:solidFill>
          </a:ln>
        </p:spPr>
        <p:txBody>
          <a:bodyPr wrap="square" rtlCol="0">
            <a:spAutoFit/>
          </a:bodyPr>
          <a:lstStyle/>
          <a:p>
            <a:r>
              <a:rPr lang="en-US" b="1" dirty="0" smtClean="0">
                <a:latin typeface="Garamond" pitchFamily="18" charset="0"/>
              </a:rPr>
              <a:t>6: Output will be stored back to Distributed File System</a:t>
            </a:r>
            <a:endParaRPr lang="en-US" b="1" dirty="0">
              <a:latin typeface="Garamond" pitchFamily="18" charset="0"/>
            </a:endParaRPr>
          </a:p>
        </p:txBody>
      </p:sp>
      <p:sp>
        <p:nvSpPr>
          <p:cNvPr id="103" name="TextBox 102"/>
          <p:cNvSpPr txBox="1"/>
          <p:nvPr/>
        </p:nvSpPr>
        <p:spPr>
          <a:xfrm>
            <a:off x="5410200" y="5410200"/>
            <a:ext cx="2057400" cy="369332"/>
          </a:xfrm>
          <a:prstGeom prst="rect">
            <a:avLst/>
          </a:prstGeom>
          <a:noFill/>
        </p:spPr>
        <p:txBody>
          <a:bodyPr wrap="square" rtlCol="0">
            <a:spAutoFit/>
          </a:bodyPr>
          <a:lstStyle/>
          <a:p>
            <a:r>
              <a:rPr lang="en-US" b="1" dirty="0" smtClean="0">
                <a:latin typeface="Garamond" pitchFamily="18" charset="0"/>
              </a:rPr>
              <a:t>Reduce output</a:t>
            </a:r>
            <a:endParaRPr lang="en-US" b="1" dirty="0">
              <a:latin typeface="Garamond" pitchFamily="18" charset="0"/>
            </a:endParaRPr>
          </a:p>
        </p:txBody>
      </p:sp>
      <p:cxnSp>
        <p:nvCxnSpPr>
          <p:cNvPr id="105" name="Straight Arrow Connector 104"/>
          <p:cNvCxnSpPr/>
          <p:nvPr/>
        </p:nvCxnSpPr>
        <p:spPr>
          <a:xfrm rot="5400000" flipH="1" flipV="1">
            <a:off x="6096000" y="5181600"/>
            <a:ext cx="381000" cy="228600"/>
          </a:xfrm>
          <a:prstGeom prst="straightConnector1">
            <a:avLst/>
          </a:prstGeom>
          <a:ln w="50800">
            <a:solidFill>
              <a:schemeClr val="accent2"/>
            </a:solidFill>
            <a:tailEnd type="arrow"/>
          </a:ln>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1295400" y="5867400"/>
            <a:ext cx="1981200" cy="646331"/>
          </a:xfrm>
          <a:prstGeom prst="rect">
            <a:avLst/>
          </a:prstGeom>
          <a:noFill/>
          <a:ln w="38100">
            <a:solidFill>
              <a:schemeClr val="accent1">
                <a:shade val="50000"/>
              </a:schemeClr>
            </a:solidFill>
          </a:ln>
        </p:spPr>
        <p:txBody>
          <a:bodyPr wrap="square" rtlCol="0">
            <a:spAutoFit/>
          </a:bodyPr>
          <a:lstStyle/>
          <a:p>
            <a:r>
              <a:rPr lang="en-US" b="1" dirty="0" smtClean="0">
                <a:latin typeface="Garamond" pitchFamily="18" charset="0"/>
              </a:rPr>
              <a:t>3: Map phase</a:t>
            </a:r>
          </a:p>
          <a:p>
            <a:r>
              <a:rPr lang="en-US" b="1" dirty="0" smtClean="0">
                <a:solidFill>
                  <a:srgbClr val="FF0000"/>
                </a:solidFill>
                <a:latin typeface="Garamond" pitchFamily="18" charset="0"/>
              </a:rPr>
              <a:t>Concurrent tasks</a:t>
            </a:r>
            <a:endParaRPr lang="en-US" b="1" dirty="0">
              <a:solidFill>
                <a:srgbClr val="FF0000"/>
              </a:solidFill>
              <a:latin typeface="Garamond" pitchFamily="18" charset="0"/>
            </a:endParaRPr>
          </a:p>
        </p:txBody>
      </p:sp>
      <p:sp>
        <p:nvSpPr>
          <p:cNvPr id="88" name="TextBox 87"/>
          <p:cNvSpPr txBox="1"/>
          <p:nvPr/>
        </p:nvSpPr>
        <p:spPr>
          <a:xfrm>
            <a:off x="3352800" y="5955268"/>
            <a:ext cx="1752600" cy="369332"/>
          </a:xfrm>
          <a:prstGeom prst="rect">
            <a:avLst/>
          </a:prstGeom>
          <a:noFill/>
          <a:ln w="38100">
            <a:solidFill>
              <a:schemeClr val="accent1">
                <a:shade val="50000"/>
              </a:schemeClr>
            </a:solidFill>
          </a:ln>
        </p:spPr>
        <p:txBody>
          <a:bodyPr wrap="square" rtlCol="0">
            <a:spAutoFit/>
          </a:bodyPr>
          <a:lstStyle/>
          <a:p>
            <a:r>
              <a:rPr lang="en-US" b="1" dirty="0" smtClean="0">
                <a:latin typeface="Garamond" pitchFamily="18" charset="0"/>
              </a:rPr>
              <a:t>4: Shuffle phase</a:t>
            </a:r>
            <a:endParaRPr lang="en-US" b="1" dirty="0">
              <a:latin typeface="Garamond" pitchFamily="18" charset="0"/>
            </a:endParaRPr>
          </a:p>
        </p:txBody>
      </p:sp>
      <p:sp>
        <p:nvSpPr>
          <p:cNvPr id="89" name="TextBox 88"/>
          <p:cNvSpPr txBox="1"/>
          <p:nvPr/>
        </p:nvSpPr>
        <p:spPr>
          <a:xfrm>
            <a:off x="6019800" y="780871"/>
            <a:ext cx="2514600" cy="1200329"/>
          </a:xfrm>
          <a:prstGeom prst="rect">
            <a:avLst/>
          </a:prstGeom>
          <a:noFill/>
          <a:ln w="9525">
            <a:noFill/>
          </a:ln>
        </p:spPr>
        <p:txBody>
          <a:bodyPr wrap="square" rtlCol="0">
            <a:spAutoFit/>
          </a:bodyPr>
          <a:lstStyle/>
          <a:p>
            <a:r>
              <a:rPr lang="en-US" sz="2400" b="1" dirty="0" smtClean="0">
                <a:solidFill>
                  <a:schemeClr val="accent2"/>
                </a:solidFill>
                <a:latin typeface="Garamond" pitchFamily="18" charset="0"/>
              </a:rPr>
              <a:t>The execution of a MR job involves 6 steps</a:t>
            </a:r>
            <a:endParaRPr lang="en-US" sz="2400" b="1" dirty="0">
              <a:solidFill>
                <a:schemeClr val="accent2"/>
              </a:solidFill>
              <a:latin typeface="Garamond" pitchFamily="18" charset="0"/>
            </a:endParaRPr>
          </a:p>
        </p:txBody>
      </p:sp>
      <p:pic>
        <p:nvPicPr>
          <p:cNvPr id="96" name="Picture 3" descr="e:\Users\yhuai\Desktop\Picture1.png"/>
          <p:cNvPicPr>
            <a:picLocks noChangeAspect="1" noChangeArrowheads="1"/>
          </p:cNvPicPr>
          <p:nvPr/>
        </p:nvPicPr>
        <p:blipFill>
          <a:blip r:embed="rId4" cstate="print"/>
          <a:srcRect/>
          <a:stretch>
            <a:fillRect/>
          </a:stretch>
        </p:blipFill>
        <p:spPr bwMode="auto">
          <a:xfrm>
            <a:off x="3581400" y="1066800"/>
            <a:ext cx="854075" cy="609600"/>
          </a:xfrm>
          <a:prstGeom prst="rect">
            <a:avLst/>
          </a:prstGeom>
          <a:noFill/>
        </p:spPr>
      </p:pic>
      <p:sp>
        <p:nvSpPr>
          <p:cNvPr id="87" name="Rectangle 86"/>
          <p:cNvSpPr/>
          <p:nvPr/>
        </p:nvSpPr>
        <p:spPr>
          <a:xfrm>
            <a:off x="0" y="4191000"/>
            <a:ext cx="9144000" cy="2667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smtClean="0">
                <a:solidFill>
                  <a:srgbClr val="FFFF00"/>
                </a:solidFill>
                <a:latin typeface="Garamond" pitchFamily="18" charset="0"/>
              </a:rPr>
              <a:t>A </a:t>
            </a:r>
            <a:r>
              <a:rPr lang="en-US" sz="2800" b="1" dirty="0" err="1" smtClean="0">
                <a:solidFill>
                  <a:srgbClr val="FFFF00"/>
                </a:solidFill>
                <a:latin typeface="Garamond" pitchFamily="18" charset="0"/>
              </a:rPr>
              <a:t>MapReduce</a:t>
            </a:r>
            <a:r>
              <a:rPr lang="en-US" sz="2800" b="1" dirty="0" smtClean="0">
                <a:solidFill>
                  <a:srgbClr val="FFFF00"/>
                </a:solidFill>
                <a:latin typeface="Garamond" pitchFamily="18" charset="0"/>
              </a:rPr>
              <a:t> (MR) job is resource-consuming:</a:t>
            </a:r>
          </a:p>
          <a:p>
            <a:r>
              <a:rPr lang="en-US" sz="2600" b="1" dirty="0" smtClean="0">
                <a:solidFill>
                  <a:srgbClr val="FFFF00"/>
                </a:solidFill>
                <a:latin typeface="Garamond" pitchFamily="18" charset="0"/>
              </a:rPr>
              <a:t>1: Input data scan in the Map phase =&gt; local or remote I/Os</a:t>
            </a:r>
          </a:p>
          <a:p>
            <a:r>
              <a:rPr lang="en-US" sz="2600" b="1" dirty="0" smtClean="0">
                <a:solidFill>
                  <a:srgbClr val="FFFF00"/>
                </a:solidFill>
                <a:latin typeface="Garamond" pitchFamily="18" charset="0"/>
              </a:rPr>
              <a:t>2: Store intermediate results of Map output =&gt; local I/Os</a:t>
            </a:r>
          </a:p>
          <a:p>
            <a:r>
              <a:rPr lang="en-US" sz="2600" b="1" dirty="0" smtClean="0">
                <a:solidFill>
                  <a:srgbClr val="FFFF00"/>
                </a:solidFill>
                <a:latin typeface="Garamond" pitchFamily="18" charset="0"/>
              </a:rPr>
              <a:t>3: Transfer data across in the Shuffle phase =&gt; network costs</a:t>
            </a:r>
          </a:p>
          <a:p>
            <a:r>
              <a:rPr lang="en-US" sz="2600" b="1" dirty="0" smtClean="0">
                <a:solidFill>
                  <a:srgbClr val="FFFF00"/>
                </a:solidFill>
                <a:latin typeface="Garamond" pitchFamily="18" charset="0"/>
              </a:rPr>
              <a:t>4: Store final results of this MR job =&gt; local I/Os + network costs (replicate data)</a:t>
            </a:r>
          </a:p>
        </p:txBody>
      </p:sp>
    </p:spTree>
    <p:extLst>
      <p:ext uri="{BB962C8B-B14F-4D97-AF65-F5344CB8AC3E}">
        <p14:creationId xmlns:p14="http://schemas.microsoft.com/office/powerpoint/2010/main" val="3095006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0" y="2790225"/>
            <a:ext cx="5635732" cy="1470025"/>
          </a:xfrm>
        </p:spPr>
        <p:txBody>
          <a:bodyPr>
            <a:normAutofit/>
          </a:bodyPr>
          <a:lstStyle/>
          <a:p>
            <a:r>
              <a:rPr lang="en-US" dirty="0" smtClean="0"/>
              <a:t>A </a:t>
            </a:r>
            <a:r>
              <a:rPr lang="en-US" dirty="0" smtClean="0">
                <a:solidFill>
                  <a:srgbClr val="FF0000"/>
                </a:solidFill>
              </a:rPr>
              <a:t>big data warehouse </a:t>
            </a:r>
            <a:r>
              <a:rPr lang="en-US" dirty="0" smtClean="0"/>
              <a:t>is built on top of Hadoop </a:t>
            </a:r>
            <a:endParaRPr lang="en-US" dirty="0"/>
          </a:p>
        </p:txBody>
      </p:sp>
      <p:pic>
        <p:nvPicPr>
          <p:cNvPr id="4" name="Picture 3"/>
          <p:cNvPicPr>
            <a:picLocks noChangeAspect="1"/>
          </p:cNvPicPr>
          <p:nvPr/>
        </p:nvPicPr>
        <p:blipFill>
          <a:blip r:embed="rId3"/>
          <a:stretch>
            <a:fillRect/>
          </a:stretch>
        </p:blipFill>
        <p:spPr>
          <a:xfrm>
            <a:off x="5635732" y="1820918"/>
            <a:ext cx="3127728" cy="3127728"/>
          </a:xfrm>
          <a:prstGeom prst="rect">
            <a:avLst/>
          </a:prstGeom>
        </p:spPr>
      </p:pic>
    </p:spTree>
    <p:extLst>
      <p:ext uri="{BB962C8B-B14F-4D97-AF65-F5344CB8AC3E}">
        <p14:creationId xmlns:p14="http://schemas.microsoft.com/office/powerpoint/2010/main" val="3684029467"/>
      </p:ext>
    </p:extLst>
  </p:cSld>
  <p:clrMapOvr>
    <a:masterClrMapping/>
  </p:clrMapOvr>
  <mc:AlternateContent xmlns:mc="http://schemas.openxmlformats.org/markup-compatibility/2006" xmlns:p14="http://schemas.microsoft.com/office/powerpoint/2010/main">
    <mc:Choice Requires="p14">
      <p:transition spd="slow" p14:dur="2000" advTm="2852"/>
    </mc:Choice>
    <mc:Fallback xmlns="">
      <p:transition spd="slow" advTm="2852"/>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Hive is a data warehouse system</a:t>
            </a:r>
            <a:endParaRPr lang="en-US" sz="3600" dirty="0"/>
          </a:p>
        </p:txBody>
      </p:sp>
      <p:sp>
        <p:nvSpPr>
          <p:cNvPr id="4" name="Rectangle 3"/>
          <p:cNvSpPr/>
          <p:nvPr/>
        </p:nvSpPr>
        <p:spPr>
          <a:xfrm>
            <a:off x="3395470" y="3563027"/>
            <a:ext cx="2754540" cy="857766"/>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4400" b="1" dirty="0" smtClean="0">
                <a:latin typeface="Arial"/>
                <a:cs typeface="Arial"/>
              </a:rPr>
              <a:t>Hive</a:t>
            </a:r>
            <a:endParaRPr lang="en-US" sz="4400" b="1" dirty="0">
              <a:latin typeface="Arial"/>
              <a:cs typeface="Arial"/>
            </a:endParaRPr>
          </a:p>
        </p:txBody>
      </p:sp>
      <p:sp>
        <p:nvSpPr>
          <p:cNvPr id="5" name="Can 4"/>
          <p:cNvSpPr/>
          <p:nvPr/>
        </p:nvSpPr>
        <p:spPr>
          <a:xfrm>
            <a:off x="2517193" y="5295052"/>
            <a:ext cx="1204080" cy="1055712"/>
          </a:xfrm>
          <a:prstGeom prst="can">
            <a:avLst/>
          </a:prstGeom>
          <a:solidFill>
            <a:schemeClr val="tx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Can 5"/>
          <p:cNvSpPr/>
          <p:nvPr/>
        </p:nvSpPr>
        <p:spPr>
          <a:xfrm>
            <a:off x="4365236" y="5295052"/>
            <a:ext cx="1204080" cy="1055712"/>
          </a:xfrm>
          <a:prstGeom prst="can">
            <a:avLst/>
          </a:prstGeom>
          <a:solidFill>
            <a:schemeClr val="tx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Can 7"/>
          <p:cNvSpPr/>
          <p:nvPr/>
        </p:nvSpPr>
        <p:spPr>
          <a:xfrm>
            <a:off x="5805651" y="5295052"/>
            <a:ext cx="1204080" cy="1055712"/>
          </a:xfrm>
          <a:prstGeom prst="can">
            <a:avLst/>
          </a:prstGeom>
          <a:solidFill>
            <a:schemeClr val="tx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515" y="1417638"/>
            <a:ext cx="956667" cy="12408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4134" y="1417638"/>
            <a:ext cx="956667" cy="12408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03258" y="1417638"/>
            <a:ext cx="956667" cy="12408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4" name="Straight Arrow Connector 13"/>
          <p:cNvCxnSpPr>
            <a:stCxn id="10" idx="2"/>
            <a:endCxn id="4" idx="0"/>
          </p:cNvCxnSpPr>
          <p:nvPr/>
        </p:nvCxnSpPr>
        <p:spPr>
          <a:xfrm>
            <a:off x="4702468" y="2658464"/>
            <a:ext cx="70272" cy="904563"/>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a:stCxn id="11" idx="2"/>
            <a:endCxn id="4" idx="0"/>
          </p:cNvCxnSpPr>
          <p:nvPr/>
        </p:nvCxnSpPr>
        <p:spPr>
          <a:xfrm flipH="1">
            <a:off x="4772740" y="2658464"/>
            <a:ext cx="2308852" cy="904563"/>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a:stCxn id="9" idx="2"/>
            <a:endCxn id="4" idx="0"/>
          </p:cNvCxnSpPr>
          <p:nvPr/>
        </p:nvCxnSpPr>
        <p:spPr>
          <a:xfrm>
            <a:off x="2306849" y="2658464"/>
            <a:ext cx="2465891" cy="904563"/>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a:stCxn id="4" idx="2"/>
            <a:endCxn id="5" idx="1"/>
          </p:cNvCxnSpPr>
          <p:nvPr/>
        </p:nvCxnSpPr>
        <p:spPr>
          <a:xfrm flipH="1">
            <a:off x="3119233" y="4420793"/>
            <a:ext cx="1653507" cy="874259"/>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a:stCxn id="4" idx="2"/>
            <a:endCxn id="6" idx="1"/>
          </p:cNvCxnSpPr>
          <p:nvPr/>
        </p:nvCxnSpPr>
        <p:spPr>
          <a:xfrm>
            <a:off x="4772740" y="4420793"/>
            <a:ext cx="194536" cy="874259"/>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a:stCxn id="4" idx="2"/>
            <a:endCxn id="8" idx="1"/>
          </p:cNvCxnSpPr>
          <p:nvPr/>
        </p:nvCxnSpPr>
        <p:spPr>
          <a:xfrm>
            <a:off x="4772740" y="4420793"/>
            <a:ext cx="1634951" cy="874259"/>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229108" y="5295052"/>
            <a:ext cx="2185815" cy="1200328"/>
          </a:xfrm>
          <a:prstGeom prst="rect">
            <a:avLst/>
          </a:prstGeom>
          <a:noFill/>
        </p:spPr>
        <p:txBody>
          <a:bodyPr wrap="none" rtlCol="0">
            <a:spAutoFit/>
          </a:bodyPr>
          <a:lstStyle/>
          <a:p>
            <a:r>
              <a:rPr lang="en-US" sz="2400" b="1" dirty="0" smtClean="0">
                <a:latin typeface="Arial"/>
                <a:cs typeface="Arial"/>
              </a:rPr>
              <a:t>Large volume</a:t>
            </a:r>
          </a:p>
          <a:p>
            <a:r>
              <a:rPr lang="en-US" sz="2400" b="1" dirty="0" smtClean="0">
                <a:latin typeface="Arial"/>
                <a:cs typeface="Arial"/>
              </a:rPr>
              <a:t>e.g.</a:t>
            </a:r>
          </a:p>
          <a:p>
            <a:r>
              <a:rPr lang="en-US" sz="2400" b="1" dirty="0" smtClean="0">
                <a:latin typeface="Arial"/>
                <a:cs typeface="Arial"/>
              </a:rPr>
              <a:t>300PB@FB </a:t>
            </a:r>
            <a:endParaRPr lang="en-US" sz="2400" b="1" dirty="0">
              <a:latin typeface="Arial"/>
              <a:cs typeface="Arial"/>
            </a:endParaRPr>
          </a:p>
        </p:txBody>
      </p:sp>
      <p:sp>
        <p:nvSpPr>
          <p:cNvPr id="19" name="TextBox 18"/>
          <p:cNvSpPr txBox="1"/>
          <p:nvPr/>
        </p:nvSpPr>
        <p:spPr>
          <a:xfrm>
            <a:off x="0" y="3402595"/>
            <a:ext cx="3293870" cy="892552"/>
          </a:xfrm>
          <a:prstGeom prst="rect">
            <a:avLst/>
          </a:prstGeom>
          <a:noFill/>
        </p:spPr>
        <p:txBody>
          <a:bodyPr wrap="square" rtlCol="0">
            <a:spAutoFit/>
          </a:bodyPr>
          <a:lstStyle/>
          <a:p>
            <a:r>
              <a:rPr lang="en-US" sz="2600" b="1" dirty="0" smtClean="0">
                <a:solidFill>
                  <a:srgbClr val="FF0000"/>
                </a:solidFill>
                <a:latin typeface="Arial"/>
                <a:cs typeface="Arial"/>
              </a:rPr>
              <a:t>Scalable &amp; Fault-tolerant by Hadoop</a:t>
            </a:r>
            <a:endParaRPr lang="en-US" sz="2600" b="1" dirty="0">
              <a:solidFill>
                <a:srgbClr val="FF0000"/>
              </a:solidFill>
              <a:latin typeface="Arial"/>
              <a:cs typeface="Arial"/>
            </a:endParaRPr>
          </a:p>
        </p:txBody>
      </p:sp>
      <p:sp>
        <p:nvSpPr>
          <p:cNvPr id="20" name="TextBox 19"/>
          <p:cNvSpPr txBox="1"/>
          <p:nvPr/>
        </p:nvSpPr>
        <p:spPr>
          <a:xfrm>
            <a:off x="6205730" y="2838646"/>
            <a:ext cx="2938270" cy="584776"/>
          </a:xfrm>
          <a:prstGeom prst="rect">
            <a:avLst/>
          </a:prstGeom>
          <a:noFill/>
        </p:spPr>
        <p:txBody>
          <a:bodyPr wrap="square" rtlCol="0">
            <a:spAutoFit/>
          </a:bodyPr>
          <a:lstStyle/>
          <a:p>
            <a:r>
              <a:rPr lang="en-US" sz="3200" b="1" dirty="0" smtClean="0">
                <a:latin typeface="Arial"/>
                <a:cs typeface="Arial"/>
              </a:rPr>
              <a:t>SQL queries</a:t>
            </a:r>
            <a:endParaRPr lang="en-US" sz="3200" b="1" dirty="0">
              <a:latin typeface="Arial"/>
              <a:cs typeface="Arial"/>
            </a:endParaRPr>
          </a:p>
        </p:txBody>
      </p:sp>
      <p:sp>
        <p:nvSpPr>
          <p:cNvPr id="22" name="TextBox 21"/>
          <p:cNvSpPr txBox="1"/>
          <p:nvPr/>
        </p:nvSpPr>
        <p:spPr>
          <a:xfrm>
            <a:off x="7081592" y="5263191"/>
            <a:ext cx="2062408" cy="830997"/>
          </a:xfrm>
          <a:prstGeom prst="rect">
            <a:avLst/>
          </a:prstGeom>
          <a:noFill/>
        </p:spPr>
        <p:txBody>
          <a:bodyPr wrap="square" rtlCol="0">
            <a:spAutoFit/>
          </a:bodyPr>
          <a:lstStyle/>
          <a:p>
            <a:r>
              <a:rPr lang="en-US" sz="2400" b="1" dirty="0" smtClean="0">
                <a:latin typeface="Arial"/>
                <a:cs typeface="Arial"/>
              </a:rPr>
              <a:t>Large scale cluster</a:t>
            </a:r>
            <a:endParaRPr lang="en-US" sz="2400" b="1" dirty="0">
              <a:latin typeface="Arial"/>
              <a:cs typeface="Arial"/>
            </a:endParaRPr>
          </a:p>
        </p:txBody>
      </p:sp>
      <p:sp>
        <p:nvSpPr>
          <p:cNvPr id="23" name="TextBox 22"/>
          <p:cNvSpPr txBox="1"/>
          <p:nvPr/>
        </p:nvSpPr>
        <p:spPr>
          <a:xfrm>
            <a:off x="3721273" y="5385137"/>
            <a:ext cx="683230" cy="646331"/>
          </a:xfrm>
          <a:prstGeom prst="rect">
            <a:avLst/>
          </a:prstGeom>
          <a:noFill/>
        </p:spPr>
        <p:txBody>
          <a:bodyPr wrap="square" rtlCol="0">
            <a:spAutoFit/>
          </a:bodyPr>
          <a:lstStyle/>
          <a:p>
            <a:r>
              <a:rPr lang="en-US" sz="3600" b="1" dirty="0" smtClean="0">
                <a:latin typeface="Arial"/>
                <a:cs typeface="Arial"/>
              </a:rPr>
              <a:t>…</a:t>
            </a:r>
            <a:endParaRPr lang="en-US" sz="3600" b="1" dirty="0">
              <a:latin typeface="Arial"/>
              <a:cs typeface="Arial"/>
            </a:endParaRPr>
          </a:p>
        </p:txBody>
      </p:sp>
    </p:spTree>
    <p:custDataLst>
      <p:tags r:id="rId1"/>
    </p:custDataLst>
    <p:extLst>
      <p:ext uri="{BB962C8B-B14F-4D97-AF65-F5344CB8AC3E}">
        <p14:creationId xmlns:p14="http://schemas.microsoft.com/office/powerpoint/2010/main" val="4230604869"/>
      </p:ext>
    </p:extLst>
  </p:cSld>
  <p:clrMapOvr>
    <a:masterClrMapping/>
  </p:clrMapOvr>
  <mc:AlternateContent xmlns:mc="http://schemas.openxmlformats.org/markup-compatibility/2006" xmlns:p14="http://schemas.microsoft.com/office/powerpoint/2010/main">
    <mc:Choice Requires="p14">
      <p:transition spd="slow" p14:dur="2000" advTm="26666"/>
    </mc:Choice>
    <mc:Fallback xmlns="">
      <p:transition spd="slow" advTm="2666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9" grpId="0"/>
      <p:bldP spid="20" grpId="0"/>
      <p:bldP spid="22" grpId="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spcBef>
                <a:spcPts val="0"/>
              </a:spcBef>
              <a:defRPr/>
            </a:pPr>
            <a:r>
              <a:rPr lang="en-US" sz="3600" dirty="0" smtClean="0"/>
              <a:t>Major Differences </a:t>
            </a:r>
            <a:r>
              <a:rPr lang="en-US" sz="3600" dirty="0"/>
              <a:t>of </a:t>
            </a:r>
            <a:r>
              <a:rPr lang="en-US" sz="3600" dirty="0" smtClean="0"/>
              <a:t>Hive </a:t>
            </a:r>
            <a:r>
              <a:rPr lang="en-US" sz="3600" dirty="0"/>
              <a:t>f</a:t>
            </a:r>
            <a:r>
              <a:rPr lang="en-US" sz="3600" dirty="0" smtClean="0"/>
              <a:t>rom Conventional Data Warehouse Systems</a:t>
            </a:r>
            <a:endParaRPr lang="en-US" sz="3600" dirty="0"/>
          </a:p>
        </p:txBody>
      </p:sp>
      <p:sp>
        <p:nvSpPr>
          <p:cNvPr id="8" name="Rectangle 7"/>
          <p:cNvSpPr/>
          <p:nvPr/>
        </p:nvSpPr>
        <p:spPr>
          <a:xfrm>
            <a:off x="5142824" y="3883968"/>
            <a:ext cx="3422204" cy="11818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smtClean="0">
                <a:latin typeface="Arial"/>
                <a:cs typeface="Arial"/>
              </a:rPr>
              <a:t>Data Processing Engine</a:t>
            </a:r>
          </a:p>
          <a:p>
            <a:pPr algn="ctr"/>
            <a:r>
              <a:rPr lang="en-US" sz="2400" b="1" dirty="0" smtClean="0">
                <a:latin typeface="Arial"/>
                <a:cs typeface="Arial"/>
              </a:rPr>
              <a:t>(</a:t>
            </a:r>
            <a:r>
              <a:rPr lang="en-US" sz="2400" b="1" dirty="0" err="1" smtClean="0">
                <a:latin typeface="Arial"/>
                <a:cs typeface="Arial"/>
              </a:rPr>
              <a:t>MapReduce</a:t>
            </a:r>
            <a:r>
              <a:rPr lang="en-US" sz="2400" b="1" dirty="0">
                <a:latin typeface="Arial"/>
                <a:cs typeface="Arial"/>
              </a:rPr>
              <a:t> </a:t>
            </a:r>
            <a:r>
              <a:rPr lang="en-US" sz="2400" b="1" dirty="0" smtClean="0">
                <a:latin typeface="Arial"/>
                <a:cs typeface="Arial"/>
              </a:rPr>
              <a:t>and </a:t>
            </a:r>
            <a:r>
              <a:rPr lang="en-US" sz="2400" b="1" dirty="0" err="1" smtClean="0">
                <a:latin typeface="Arial"/>
                <a:cs typeface="Arial"/>
              </a:rPr>
              <a:t>Tez</a:t>
            </a:r>
            <a:r>
              <a:rPr lang="en-US" sz="2400" b="1" dirty="0" smtClean="0">
                <a:latin typeface="Arial"/>
                <a:cs typeface="Arial"/>
              </a:rPr>
              <a:t>)</a:t>
            </a:r>
            <a:endParaRPr lang="en-US" sz="2400" b="1" dirty="0">
              <a:latin typeface="Arial"/>
              <a:cs typeface="Arial"/>
            </a:endParaRPr>
          </a:p>
        </p:txBody>
      </p:sp>
      <p:sp>
        <p:nvSpPr>
          <p:cNvPr id="9" name="Rectangle 8"/>
          <p:cNvSpPr/>
          <p:nvPr/>
        </p:nvSpPr>
        <p:spPr>
          <a:xfrm>
            <a:off x="5142824" y="5218516"/>
            <a:ext cx="3422203" cy="10610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smtClean="0">
                <a:latin typeface="Arial"/>
                <a:cs typeface="Arial"/>
              </a:rPr>
              <a:t>Distributed File System</a:t>
            </a:r>
          </a:p>
          <a:p>
            <a:pPr algn="ctr"/>
            <a:r>
              <a:rPr lang="en-US" sz="2400" b="1" dirty="0" smtClean="0">
                <a:latin typeface="Arial"/>
                <a:cs typeface="Arial"/>
              </a:rPr>
              <a:t>(HDFS)</a:t>
            </a:r>
            <a:endParaRPr lang="en-US" sz="2400" b="1" dirty="0">
              <a:latin typeface="Arial"/>
              <a:cs typeface="Arial"/>
            </a:endParaRPr>
          </a:p>
        </p:txBody>
      </p:sp>
      <p:grpSp>
        <p:nvGrpSpPr>
          <p:cNvPr id="14" name="Group 13"/>
          <p:cNvGrpSpPr/>
          <p:nvPr/>
        </p:nvGrpSpPr>
        <p:grpSpPr>
          <a:xfrm>
            <a:off x="700744" y="1791691"/>
            <a:ext cx="3422205" cy="4487923"/>
            <a:chOff x="700744" y="1791691"/>
            <a:chExt cx="3422205" cy="4487923"/>
          </a:xfrm>
        </p:grpSpPr>
        <p:sp>
          <p:nvSpPr>
            <p:cNvPr id="12" name="Rectangle 11"/>
            <p:cNvSpPr/>
            <p:nvPr/>
          </p:nvSpPr>
          <p:spPr>
            <a:xfrm>
              <a:off x="700744" y="1791691"/>
              <a:ext cx="3422205" cy="4487923"/>
            </a:xfrm>
            <a:prstGeom prst="rect">
              <a:avLst/>
            </a:prstGeom>
            <a:solidFill>
              <a:schemeClr val="accent3">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ectangle 3"/>
            <p:cNvSpPr/>
            <p:nvPr/>
          </p:nvSpPr>
          <p:spPr>
            <a:xfrm>
              <a:off x="1048664" y="2705261"/>
              <a:ext cx="2754540" cy="857766"/>
            </a:xfrm>
            <a:prstGeom prst="rect">
              <a:avLst/>
            </a:prstGeom>
            <a:solidFill>
              <a:srgbClr val="660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b="1" dirty="0" smtClean="0">
                  <a:latin typeface="Arial"/>
                  <a:cs typeface="Arial"/>
                </a:rPr>
                <a:t>Compiler</a:t>
              </a:r>
              <a:endParaRPr lang="en-US" sz="3600" b="1" dirty="0">
                <a:latin typeface="Arial"/>
                <a:cs typeface="Arial"/>
              </a:endParaRPr>
            </a:p>
          </p:txBody>
        </p:sp>
        <p:sp>
          <p:nvSpPr>
            <p:cNvPr id="5" name="Rectangle 4"/>
            <p:cNvSpPr/>
            <p:nvPr/>
          </p:nvSpPr>
          <p:spPr>
            <a:xfrm>
              <a:off x="1048664" y="3901364"/>
              <a:ext cx="2754540" cy="857766"/>
            </a:xfrm>
            <a:prstGeom prst="rect">
              <a:avLst/>
            </a:prstGeom>
            <a:solidFill>
              <a:srgbClr val="660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b="1" dirty="0" smtClean="0">
                  <a:latin typeface="Arial"/>
                  <a:cs typeface="Arial"/>
                </a:rPr>
                <a:t>Runtime</a:t>
              </a:r>
              <a:endParaRPr lang="en-US" sz="3600" b="1" dirty="0">
                <a:latin typeface="Arial"/>
                <a:cs typeface="Arial"/>
              </a:endParaRPr>
            </a:p>
          </p:txBody>
        </p:sp>
        <p:sp>
          <p:nvSpPr>
            <p:cNvPr id="6" name="Rectangle 5"/>
            <p:cNvSpPr/>
            <p:nvPr/>
          </p:nvSpPr>
          <p:spPr>
            <a:xfrm>
              <a:off x="1048664" y="5094447"/>
              <a:ext cx="2754540" cy="857766"/>
            </a:xfrm>
            <a:prstGeom prst="rect">
              <a:avLst/>
            </a:prstGeom>
            <a:solidFill>
              <a:srgbClr val="660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b="1" dirty="0" smtClean="0">
                  <a:latin typeface="Arial"/>
                  <a:cs typeface="Arial"/>
                </a:rPr>
                <a:t>Storage</a:t>
              </a:r>
              <a:endParaRPr lang="en-US" sz="3600" b="1" dirty="0">
                <a:latin typeface="Arial"/>
                <a:cs typeface="Arial"/>
              </a:endParaRPr>
            </a:p>
          </p:txBody>
        </p:sp>
        <p:sp>
          <p:nvSpPr>
            <p:cNvPr id="10" name="TextBox 9"/>
            <p:cNvSpPr txBox="1"/>
            <p:nvPr/>
          </p:nvSpPr>
          <p:spPr>
            <a:xfrm>
              <a:off x="720111" y="1912772"/>
              <a:ext cx="3396332" cy="523220"/>
            </a:xfrm>
            <a:prstGeom prst="rect">
              <a:avLst/>
            </a:prstGeom>
            <a:noFill/>
          </p:spPr>
          <p:txBody>
            <a:bodyPr wrap="none" rtlCol="0">
              <a:spAutoFit/>
            </a:bodyPr>
            <a:lstStyle/>
            <a:p>
              <a:r>
                <a:rPr lang="en-US" sz="2800" b="1" dirty="0" smtClean="0">
                  <a:latin typeface="Arial"/>
                  <a:cs typeface="Arial"/>
                </a:rPr>
                <a:t>Conventional DWS</a:t>
              </a:r>
              <a:endParaRPr lang="en-US" sz="2800" b="1" dirty="0">
                <a:latin typeface="Arial"/>
                <a:cs typeface="Arial"/>
              </a:endParaRPr>
            </a:p>
          </p:txBody>
        </p:sp>
      </p:grpSp>
      <p:grpSp>
        <p:nvGrpSpPr>
          <p:cNvPr id="15" name="Group 14"/>
          <p:cNvGrpSpPr/>
          <p:nvPr/>
        </p:nvGrpSpPr>
        <p:grpSpPr>
          <a:xfrm>
            <a:off x="5142823" y="1791691"/>
            <a:ext cx="3422205" cy="1948246"/>
            <a:chOff x="5142823" y="1791691"/>
            <a:chExt cx="3422205" cy="1948246"/>
          </a:xfrm>
        </p:grpSpPr>
        <p:sp>
          <p:nvSpPr>
            <p:cNvPr id="13" name="Rectangle 12"/>
            <p:cNvSpPr/>
            <p:nvPr/>
          </p:nvSpPr>
          <p:spPr>
            <a:xfrm>
              <a:off x="5142823" y="1791691"/>
              <a:ext cx="3422205" cy="1948246"/>
            </a:xfrm>
            <a:prstGeom prst="rect">
              <a:avLst/>
            </a:prstGeom>
            <a:solidFill>
              <a:schemeClr val="accent3">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p:cNvSpPr/>
            <p:nvPr/>
          </p:nvSpPr>
          <p:spPr>
            <a:xfrm>
              <a:off x="5480603" y="2702302"/>
              <a:ext cx="2754540" cy="8577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b="1" dirty="0" smtClean="0">
                  <a:latin typeface="Arial"/>
                  <a:cs typeface="Arial"/>
                </a:rPr>
                <a:t>Compiler</a:t>
              </a:r>
              <a:endParaRPr lang="en-US" sz="3600" b="1" dirty="0">
                <a:latin typeface="Arial"/>
                <a:cs typeface="Arial"/>
              </a:endParaRPr>
            </a:p>
          </p:txBody>
        </p:sp>
        <p:sp>
          <p:nvSpPr>
            <p:cNvPr id="11" name="TextBox 10"/>
            <p:cNvSpPr txBox="1"/>
            <p:nvPr/>
          </p:nvSpPr>
          <p:spPr>
            <a:xfrm>
              <a:off x="6325929" y="1912772"/>
              <a:ext cx="943137" cy="523220"/>
            </a:xfrm>
            <a:prstGeom prst="rect">
              <a:avLst/>
            </a:prstGeom>
            <a:noFill/>
          </p:spPr>
          <p:txBody>
            <a:bodyPr wrap="none" rtlCol="0">
              <a:spAutoFit/>
            </a:bodyPr>
            <a:lstStyle/>
            <a:p>
              <a:r>
                <a:rPr lang="en-US" sz="2800" b="1" dirty="0" smtClean="0">
                  <a:latin typeface="Arial"/>
                  <a:cs typeface="Arial"/>
                </a:rPr>
                <a:t>Hive</a:t>
              </a:r>
              <a:endParaRPr lang="en-US" sz="2800" b="1" dirty="0">
                <a:latin typeface="Arial"/>
                <a:cs typeface="Arial"/>
              </a:endParaRPr>
            </a:p>
          </p:txBody>
        </p:sp>
      </p:grpSp>
    </p:spTree>
    <p:custDataLst>
      <p:tags r:id="rId1"/>
    </p:custDataLst>
    <p:extLst>
      <p:ext uri="{BB962C8B-B14F-4D97-AF65-F5344CB8AC3E}">
        <p14:creationId xmlns:p14="http://schemas.microsoft.com/office/powerpoint/2010/main" val="2536750453"/>
      </p:ext>
    </p:extLst>
  </p:cSld>
  <p:clrMapOvr>
    <a:masterClrMapping/>
  </p:clrMapOvr>
  <mc:AlternateContent xmlns:mc="http://schemas.openxmlformats.org/markup-compatibility/2006" xmlns:p14="http://schemas.microsoft.com/office/powerpoint/2010/main">
    <mc:Choice Requires="p14">
      <p:transition spd="slow" p14:dur="2000" advTm="97452"/>
    </mc:Choice>
    <mc:Fallback xmlns="">
      <p:transition spd="slow" advTm="9745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Hive Works as a Relational DB</a:t>
            </a:r>
            <a:endParaRPr lang="en-US" dirty="0"/>
          </a:p>
        </p:txBody>
      </p:sp>
      <p:sp>
        <p:nvSpPr>
          <p:cNvPr id="4" name="TextBox 3"/>
          <p:cNvSpPr txBox="1"/>
          <p:nvPr/>
        </p:nvSpPr>
        <p:spPr>
          <a:xfrm>
            <a:off x="314325" y="2814588"/>
            <a:ext cx="3539488" cy="2123658"/>
          </a:xfrm>
          <a:prstGeom prst="rect">
            <a:avLst/>
          </a:prstGeom>
          <a:noFill/>
        </p:spPr>
        <p:txBody>
          <a:bodyPr wrap="none" rtlCol="0">
            <a:spAutoFit/>
          </a:bodyPr>
          <a:lstStyle/>
          <a:p>
            <a:r>
              <a:rPr lang="en-US" sz="2200" b="1" dirty="0" smtClean="0">
                <a:solidFill>
                  <a:srgbClr val="0000FF"/>
                </a:solidFill>
                <a:latin typeface="Arial"/>
                <a:cs typeface="Arial"/>
              </a:rPr>
              <a:t>SELECT</a:t>
            </a:r>
            <a:r>
              <a:rPr lang="en-US" sz="2200" dirty="0" smtClean="0">
                <a:solidFill>
                  <a:srgbClr val="0000FF"/>
                </a:solidFill>
                <a:latin typeface="Arial"/>
                <a:cs typeface="Arial"/>
              </a:rPr>
              <a:t> </a:t>
            </a:r>
            <a:r>
              <a:rPr lang="en-US" sz="2200" dirty="0" smtClean="0">
                <a:latin typeface="Arial"/>
                <a:cs typeface="Arial"/>
              </a:rPr>
              <a:t>t1.key1,</a:t>
            </a:r>
          </a:p>
          <a:p>
            <a:r>
              <a:rPr lang="en-US" sz="2200" dirty="0">
                <a:latin typeface="Arial"/>
                <a:cs typeface="Arial"/>
              </a:rPr>
              <a:t> </a:t>
            </a:r>
            <a:r>
              <a:rPr lang="en-US" sz="2200" dirty="0" smtClean="0">
                <a:latin typeface="Arial"/>
                <a:cs typeface="Arial"/>
              </a:rPr>
              <a:t>              t1.key2,</a:t>
            </a:r>
          </a:p>
          <a:p>
            <a:r>
              <a:rPr lang="en-US" sz="2200" dirty="0">
                <a:latin typeface="Arial"/>
                <a:cs typeface="Arial"/>
              </a:rPr>
              <a:t> </a:t>
            </a:r>
            <a:r>
              <a:rPr lang="en-US" sz="2200" dirty="0" smtClean="0">
                <a:latin typeface="Arial"/>
                <a:cs typeface="Arial"/>
              </a:rPr>
              <a:t>              COUNT(t2.value)</a:t>
            </a:r>
          </a:p>
          <a:p>
            <a:r>
              <a:rPr lang="en-US" sz="2200" b="1" dirty="0" smtClean="0">
                <a:solidFill>
                  <a:srgbClr val="0000FF"/>
                </a:solidFill>
                <a:latin typeface="Arial"/>
                <a:cs typeface="Arial"/>
              </a:rPr>
              <a:t>FROM</a:t>
            </a:r>
            <a:r>
              <a:rPr lang="en-US" sz="2200" dirty="0" smtClean="0">
                <a:latin typeface="Arial"/>
                <a:cs typeface="Arial"/>
              </a:rPr>
              <a:t> t1 </a:t>
            </a:r>
            <a:r>
              <a:rPr lang="en-US" sz="2200" b="1" dirty="0" smtClean="0">
                <a:solidFill>
                  <a:srgbClr val="0000FF"/>
                </a:solidFill>
                <a:latin typeface="Arial"/>
                <a:cs typeface="Arial"/>
              </a:rPr>
              <a:t>JOIN</a:t>
            </a:r>
            <a:r>
              <a:rPr lang="en-US" sz="2200" dirty="0" smtClean="0">
                <a:latin typeface="Arial"/>
                <a:cs typeface="Arial"/>
              </a:rPr>
              <a:t> t2</a:t>
            </a:r>
          </a:p>
          <a:p>
            <a:r>
              <a:rPr lang="en-US" sz="2200" b="1" dirty="0" smtClean="0">
                <a:solidFill>
                  <a:srgbClr val="0000FF"/>
                </a:solidFill>
                <a:latin typeface="Arial"/>
                <a:cs typeface="Arial"/>
              </a:rPr>
              <a:t>ON</a:t>
            </a:r>
            <a:r>
              <a:rPr lang="en-US" sz="2200" dirty="0" smtClean="0">
                <a:solidFill>
                  <a:srgbClr val="0000FF"/>
                </a:solidFill>
                <a:latin typeface="Arial"/>
                <a:cs typeface="Arial"/>
              </a:rPr>
              <a:t> </a:t>
            </a:r>
            <a:r>
              <a:rPr lang="en-US" sz="2200" dirty="0" smtClean="0">
                <a:latin typeface="Arial"/>
                <a:cs typeface="Arial"/>
              </a:rPr>
              <a:t>(t1.key1 = t2.key1)</a:t>
            </a:r>
          </a:p>
          <a:p>
            <a:r>
              <a:rPr lang="en-US" sz="2200" b="1" dirty="0" smtClean="0">
                <a:solidFill>
                  <a:srgbClr val="0000FF"/>
                </a:solidFill>
                <a:latin typeface="Arial"/>
                <a:cs typeface="Arial"/>
              </a:rPr>
              <a:t>GROUP BY </a:t>
            </a:r>
            <a:r>
              <a:rPr lang="en-US" sz="2200" dirty="0" smtClean="0">
                <a:latin typeface="Arial"/>
                <a:cs typeface="Arial"/>
              </a:rPr>
              <a:t>t1.key2;</a:t>
            </a:r>
          </a:p>
        </p:txBody>
      </p:sp>
      <p:sp>
        <p:nvSpPr>
          <p:cNvPr id="5" name="Right Arrow 4"/>
          <p:cNvSpPr/>
          <p:nvPr/>
        </p:nvSpPr>
        <p:spPr>
          <a:xfrm>
            <a:off x="4012563" y="3222625"/>
            <a:ext cx="1273812" cy="1047750"/>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TextBox 33"/>
          <p:cNvSpPr txBox="1"/>
          <p:nvPr/>
        </p:nvSpPr>
        <p:spPr>
          <a:xfrm>
            <a:off x="869313" y="2021215"/>
            <a:ext cx="1236236" cy="523220"/>
          </a:xfrm>
          <a:prstGeom prst="rect">
            <a:avLst/>
          </a:prstGeom>
          <a:noFill/>
        </p:spPr>
        <p:txBody>
          <a:bodyPr wrap="none" rtlCol="0">
            <a:spAutoFit/>
          </a:bodyPr>
          <a:lstStyle/>
          <a:p>
            <a:r>
              <a:rPr lang="en-US" sz="2800" b="1" dirty="0" smtClean="0">
                <a:latin typeface="Arial"/>
                <a:cs typeface="Arial"/>
              </a:rPr>
              <a:t>Query</a:t>
            </a:r>
            <a:endParaRPr lang="en-US" sz="2800" b="1" dirty="0">
              <a:latin typeface="Arial"/>
              <a:cs typeface="Arial"/>
            </a:endParaRPr>
          </a:p>
        </p:txBody>
      </p:sp>
      <p:cxnSp>
        <p:nvCxnSpPr>
          <p:cNvPr id="13" name="Straight Connector 12"/>
          <p:cNvCxnSpPr/>
          <p:nvPr/>
        </p:nvCxnSpPr>
        <p:spPr>
          <a:xfrm>
            <a:off x="6050497" y="2655560"/>
            <a:ext cx="2636303" cy="0"/>
          </a:xfrm>
          <a:prstGeom prst="line">
            <a:avLst/>
          </a:prstGeom>
          <a:ln w="50800">
            <a:solidFill>
              <a:schemeClr val="tx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6050497" y="4776460"/>
            <a:ext cx="2636303" cy="0"/>
          </a:xfrm>
          <a:prstGeom prst="line">
            <a:avLst/>
          </a:prstGeom>
          <a:ln w="50800">
            <a:solidFill>
              <a:schemeClr val="tx1"/>
            </a:solidFill>
            <a:prstDash val="sysDash"/>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405465" y="5232588"/>
            <a:ext cx="1461934" cy="523220"/>
          </a:xfrm>
          <a:prstGeom prst="rect">
            <a:avLst/>
          </a:prstGeom>
          <a:noFill/>
          <a:effectLst/>
        </p:spPr>
        <p:txBody>
          <a:bodyPr wrap="none" rtlCol="0">
            <a:spAutoFit/>
          </a:bodyPr>
          <a:lstStyle/>
          <a:p>
            <a:r>
              <a:rPr lang="en-US" sz="2800" b="1" dirty="0" smtClean="0">
                <a:latin typeface="Arial"/>
                <a:cs typeface="Arial"/>
              </a:rPr>
              <a:t>Stage 1</a:t>
            </a:r>
            <a:endParaRPr lang="en-US" sz="2800" b="1" dirty="0">
              <a:latin typeface="Arial"/>
              <a:cs typeface="Arial"/>
            </a:endParaRPr>
          </a:p>
        </p:txBody>
      </p:sp>
      <p:sp>
        <p:nvSpPr>
          <p:cNvPr id="25" name="TextBox 24"/>
          <p:cNvSpPr txBox="1"/>
          <p:nvPr/>
        </p:nvSpPr>
        <p:spPr>
          <a:xfrm>
            <a:off x="5319530" y="3497450"/>
            <a:ext cx="1461934" cy="523220"/>
          </a:xfrm>
          <a:prstGeom prst="rect">
            <a:avLst/>
          </a:prstGeom>
          <a:noFill/>
          <a:effectLst/>
        </p:spPr>
        <p:txBody>
          <a:bodyPr wrap="none" rtlCol="0">
            <a:spAutoFit/>
          </a:bodyPr>
          <a:lstStyle/>
          <a:p>
            <a:r>
              <a:rPr lang="en-US" sz="2800" b="1" dirty="0" smtClean="0">
                <a:latin typeface="Arial"/>
                <a:cs typeface="Arial"/>
              </a:rPr>
              <a:t>Stage 2</a:t>
            </a:r>
            <a:endParaRPr lang="en-US" sz="2800" b="1" dirty="0">
              <a:latin typeface="Arial"/>
              <a:cs typeface="Arial"/>
            </a:endParaRPr>
          </a:p>
        </p:txBody>
      </p:sp>
      <p:sp>
        <p:nvSpPr>
          <p:cNvPr id="27" name="TextBox 26"/>
          <p:cNvSpPr txBox="1"/>
          <p:nvPr/>
        </p:nvSpPr>
        <p:spPr>
          <a:xfrm>
            <a:off x="5136432" y="1852800"/>
            <a:ext cx="1461934" cy="523220"/>
          </a:xfrm>
          <a:prstGeom prst="rect">
            <a:avLst/>
          </a:prstGeom>
          <a:noFill/>
          <a:effectLst/>
        </p:spPr>
        <p:txBody>
          <a:bodyPr wrap="none" rtlCol="0">
            <a:spAutoFit/>
          </a:bodyPr>
          <a:lstStyle/>
          <a:p>
            <a:r>
              <a:rPr lang="en-US" sz="2800" b="1" dirty="0" smtClean="0">
                <a:latin typeface="Arial"/>
                <a:cs typeface="Arial"/>
              </a:rPr>
              <a:t>Stage 3</a:t>
            </a:r>
            <a:endParaRPr lang="en-US" sz="2800" b="1" dirty="0">
              <a:latin typeface="Arial"/>
              <a:cs typeface="Arial"/>
            </a:endParaRPr>
          </a:p>
        </p:txBody>
      </p:sp>
      <p:grpSp>
        <p:nvGrpSpPr>
          <p:cNvPr id="8" name="Group 7"/>
          <p:cNvGrpSpPr/>
          <p:nvPr/>
        </p:nvGrpSpPr>
        <p:grpSpPr>
          <a:xfrm>
            <a:off x="5892798" y="1156028"/>
            <a:ext cx="2688545" cy="5496718"/>
            <a:chOff x="5892798" y="1156028"/>
            <a:chExt cx="2688545" cy="5496718"/>
          </a:xfrm>
        </p:grpSpPr>
        <p:sp>
          <p:nvSpPr>
            <p:cNvPr id="6" name="Rectangle 5"/>
            <p:cNvSpPr/>
            <p:nvPr/>
          </p:nvSpPr>
          <p:spPr>
            <a:xfrm>
              <a:off x="6003925" y="6114117"/>
              <a:ext cx="904875" cy="538629"/>
            </a:xfrm>
            <a:prstGeom prst="rect">
              <a:avLst/>
            </a:prstGeom>
            <a:solidFill>
              <a:schemeClr val="accent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smtClean="0">
                  <a:latin typeface="Arial"/>
                  <a:cs typeface="Arial"/>
                </a:rPr>
                <a:t>t1</a:t>
              </a:r>
              <a:endParaRPr lang="en-US" sz="2400" b="1" dirty="0">
                <a:latin typeface="Arial"/>
                <a:cs typeface="Arial"/>
              </a:endParaRPr>
            </a:p>
          </p:txBody>
        </p:sp>
        <p:sp>
          <p:nvSpPr>
            <p:cNvPr id="7" name="Rectangle 6"/>
            <p:cNvSpPr/>
            <p:nvPr/>
          </p:nvSpPr>
          <p:spPr>
            <a:xfrm>
              <a:off x="7585075" y="6114117"/>
              <a:ext cx="904875" cy="538629"/>
            </a:xfrm>
            <a:prstGeom prst="rect">
              <a:avLst/>
            </a:prstGeom>
            <a:solidFill>
              <a:schemeClr val="accent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smtClean="0">
                  <a:latin typeface="Arial"/>
                  <a:cs typeface="Arial"/>
                </a:rPr>
                <a:t>t2</a:t>
              </a:r>
              <a:endParaRPr lang="en-US" sz="2400" b="1" dirty="0">
                <a:latin typeface="Arial"/>
                <a:cs typeface="Arial"/>
              </a:endParaRPr>
            </a:p>
          </p:txBody>
        </p:sp>
        <p:cxnSp>
          <p:nvCxnSpPr>
            <p:cNvPr id="14" name="Straight Arrow Connector 13"/>
            <p:cNvCxnSpPr>
              <a:stCxn id="29" idx="0"/>
              <a:endCxn id="28" idx="2"/>
            </p:cNvCxnSpPr>
            <p:nvPr/>
          </p:nvCxnSpPr>
          <p:spPr>
            <a:xfrm flipV="1">
              <a:off x="6446155" y="4474001"/>
              <a:ext cx="888666" cy="608228"/>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a:stCxn id="31" idx="0"/>
              <a:endCxn id="28" idx="2"/>
            </p:cNvCxnSpPr>
            <p:nvPr/>
          </p:nvCxnSpPr>
          <p:spPr>
            <a:xfrm flipH="1" flipV="1">
              <a:off x="7334821" y="4474001"/>
              <a:ext cx="693166" cy="608228"/>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a:stCxn id="28" idx="0"/>
              <a:endCxn id="49" idx="2"/>
            </p:cNvCxnSpPr>
            <p:nvPr/>
          </p:nvCxnSpPr>
          <p:spPr>
            <a:xfrm flipV="1">
              <a:off x="7334821" y="3490646"/>
              <a:ext cx="0" cy="460135"/>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a:stCxn id="6" idx="0"/>
              <a:endCxn id="29" idx="2"/>
            </p:cNvCxnSpPr>
            <p:nvPr/>
          </p:nvCxnSpPr>
          <p:spPr>
            <a:xfrm flipH="1" flipV="1">
              <a:off x="6446155" y="5605449"/>
              <a:ext cx="10208" cy="508668"/>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a:endCxn id="31" idx="2"/>
            </p:cNvCxnSpPr>
            <p:nvPr/>
          </p:nvCxnSpPr>
          <p:spPr>
            <a:xfrm flipV="1">
              <a:off x="8027987" y="5605449"/>
              <a:ext cx="0" cy="508669"/>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a:stCxn id="49" idx="0"/>
              <a:endCxn id="3" idx="2"/>
            </p:cNvCxnSpPr>
            <p:nvPr/>
          </p:nvCxnSpPr>
          <p:spPr>
            <a:xfrm flipV="1">
              <a:off x="7334821" y="2455950"/>
              <a:ext cx="0" cy="511476"/>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050497" y="1156028"/>
              <a:ext cx="2459553" cy="523220"/>
            </a:xfrm>
            <a:prstGeom prst="rect">
              <a:avLst/>
            </a:prstGeom>
            <a:noFill/>
            <a:effectLst/>
          </p:spPr>
          <p:txBody>
            <a:bodyPr wrap="none" rtlCol="0">
              <a:spAutoFit/>
            </a:bodyPr>
            <a:lstStyle/>
            <a:p>
              <a:r>
                <a:rPr lang="en-US" sz="2800" b="1" dirty="0" smtClean="0">
                  <a:latin typeface="Arial"/>
                  <a:cs typeface="Arial"/>
                </a:rPr>
                <a:t>Operator tree</a:t>
              </a:r>
              <a:endParaRPr lang="en-US" sz="2800" b="1" dirty="0">
                <a:latin typeface="Arial"/>
                <a:cs typeface="Arial"/>
              </a:endParaRPr>
            </a:p>
          </p:txBody>
        </p:sp>
        <p:sp>
          <p:nvSpPr>
            <p:cNvPr id="3" name="Rectangle 2"/>
            <p:cNvSpPr/>
            <p:nvPr/>
          </p:nvSpPr>
          <p:spPr>
            <a:xfrm>
              <a:off x="6781464" y="1932730"/>
              <a:ext cx="1106713" cy="5232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200" b="1" dirty="0" smtClean="0">
                  <a:latin typeface="Arial"/>
                  <a:cs typeface="Arial"/>
                </a:rPr>
                <a:t>GBY</a:t>
              </a:r>
              <a:endParaRPr lang="en-US" sz="2200" b="1" dirty="0">
                <a:latin typeface="Arial"/>
                <a:cs typeface="Arial"/>
              </a:endParaRPr>
            </a:p>
          </p:txBody>
        </p:sp>
        <p:sp>
          <p:nvSpPr>
            <p:cNvPr id="28" name="Rectangle 27"/>
            <p:cNvSpPr/>
            <p:nvPr/>
          </p:nvSpPr>
          <p:spPr>
            <a:xfrm>
              <a:off x="6781464" y="3950781"/>
              <a:ext cx="1106713" cy="5232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200" b="1" dirty="0" smtClean="0">
                  <a:latin typeface="Arial"/>
                  <a:cs typeface="Arial"/>
                </a:rPr>
                <a:t>JOIN</a:t>
              </a:r>
              <a:endParaRPr lang="en-US" sz="2200" b="1" dirty="0">
                <a:latin typeface="Arial"/>
                <a:cs typeface="Arial"/>
              </a:endParaRPr>
            </a:p>
          </p:txBody>
        </p:sp>
        <p:sp>
          <p:nvSpPr>
            <p:cNvPr id="29" name="Rectangle 28"/>
            <p:cNvSpPr/>
            <p:nvPr/>
          </p:nvSpPr>
          <p:spPr>
            <a:xfrm>
              <a:off x="5892798" y="5082229"/>
              <a:ext cx="1106713" cy="5232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200" b="1" dirty="0" smtClean="0">
                  <a:latin typeface="Arial"/>
                  <a:cs typeface="Arial"/>
                </a:rPr>
                <a:t>SEL</a:t>
              </a:r>
              <a:endParaRPr lang="en-US" sz="2200" b="1" dirty="0">
                <a:latin typeface="Arial"/>
                <a:cs typeface="Arial"/>
              </a:endParaRPr>
            </a:p>
          </p:txBody>
        </p:sp>
        <p:sp>
          <p:nvSpPr>
            <p:cNvPr id="31" name="Rectangle 30"/>
            <p:cNvSpPr/>
            <p:nvPr/>
          </p:nvSpPr>
          <p:spPr>
            <a:xfrm>
              <a:off x="7474630" y="5082229"/>
              <a:ext cx="1106713" cy="5232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200" b="1" dirty="0" smtClean="0">
                  <a:latin typeface="Arial"/>
                  <a:cs typeface="Arial"/>
                </a:rPr>
                <a:t>SEL</a:t>
              </a:r>
              <a:endParaRPr lang="en-US" sz="2200" b="1" dirty="0">
                <a:latin typeface="Arial"/>
                <a:cs typeface="Arial"/>
              </a:endParaRPr>
            </a:p>
          </p:txBody>
        </p:sp>
        <p:sp>
          <p:nvSpPr>
            <p:cNvPr id="49" name="Rectangle 48"/>
            <p:cNvSpPr/>
            <p:nvPr/>
          </p:nvSpPr>
          <p:spPr>
            <a:xfrm>
              <a:off x="6781464" y="2967426"/>
              <a:ext cx="1106713" cy="5232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200" b="1" dirty="0" smtClean="0">
                  <a:latin typeface="Arial"/>
                  <a:cs typeface="Arial"/>
                </a:rPr>
                <a:t>SEL</a:t>
              </a:r>
              <a:endParaRPr lang="en-US" sz="2200" b="1" dirty="0">
                <a:latin typeface="Arial"/>
                <a:cs typeface="Arial"/>
              </a:endParaRPr>
            </a:p>
          </p:txBody>
        </p:sp>
      </p:grpSp>
    </p:spTree>
    <p:extLst>
      <p:ext uri="{BB962C8B-B14F-4D97-AF65-F5344CB8AC3E}">
        <p14:creationId xmlns:p14="http://schemas.microsoft.com/office/powerpoint/2010/main" val="1398843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34" grpId="0"/>
      <p:bldP spid="24" grpId="0"/>
      <p:bldP spid="25" grpId="0"/>
      <p:bldP spid="27" grpId="0"/>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effectLst/>
        </p:spPr>
        <p:txBody>
          <a:bodyPr>
            <a:normAutofit/>
          </a:bodyPr>
          <a:lstStyle/>
          <a:p>
            <a:r>
              <a:rPr lang="en-US" sz="3600" dirty="0" smtClean="0"/>
              <a:t>But execution engine is </a:t>
            </a:r>
            <a:r>
              <a:rPr lang="en-US" sz="3600" dirty="0" err="1" smtClean="0">
                <a:solidFill>
                  <a:srgbClr val="FF0000"/>
                </a:solidFill>
              </a:rPr>
              <a:t>MapReduce</a:t>
            </a:r>
            <a:endParaRPr lang="en-US" sz="3600" dirty="0">
              <a:solidFill>
                <a:srgbClr val="FF0000"/>
              </a:solidFill>
            </a:endParaRPr>
          </a:p>
        </p:txBody>
      </p:sp>
      <p:sp>
        <p:nvSpPr>
          <p:cNvPr id="70" name="Rectangle 69"/>
          <p:cNvSpPr/>
          <p:nvPr/>
        </p:nvSpPr>
        <p:spPr>
          <a:xfrm>
            <a:off x="1649780" y="6049455"/>
            <a:ext cx="904875" cy="538629"/>
          </a:xfrm>
          <a:prstGeom prst="rect">
            <a:avLst/>
          </a:prstGeom>
          <a:solidFill>
            <a:schemeClr val="accent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smtClean="0">
                <a:latin typeface="Arial"/>
                <a:cs typeface="Arial"/>
              </a:rPr>
              <a:t>t1</a:t>
            </a:r>
            <a:endParaRPr lang="en-US" sz="2400" b="1" dirty="0">
              <a:latin typeface="Arial"/>
              <a:cs typeface="Arial"/>
            </a:endParaRPr>
          </a:p>
        </p:txBody>
      </p:sp>
      <p:sp>
        <p:nvSpPr>
          <p:cNvPr id="71" name="Rectangle 70"/>
          <p:cNvSpPr/>
          <p:nvPr/>
        </p:nvSpPr>
        <p:spPr>
          <a:xfrm>
            <a:off x="3230930" y="6049455"/>
            <a:ext cx="904875" cy="538629"/>
          </a:xfrm>
          <a:prstGeom prst="rect">
            <a:avLst/>
          </a:prstGeom>
          <a:solidFill>
            <a:schemeClr val="accent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smtClean="0">
                <a:latin typeface="Arial"/>
                <a:cs typeface="Arial"/>
              </a:rPr>
              <a:t>t2</a:t>
            </a:r>
            <a:endParaRPr lang="en-US" sz="2400" b="1" dirty="0">
              <a:latin typeface="Arial"/>
              <a:cs typeface="Arial"/>
            </a:endParaRPr>
          </a:p>
        </p:txBody>
      </p:sp>
      <p:cxnSp>
        <p:nvCxnSpPr>
          <p:cNvPr id="74" name="Straight Arrow Connector 73"/>
          <p:cNvCxnSpPr>
            <a:stCxn id="96" idx="0"/>
            <a:endCxn id="95" idx="2"/>
          </p:cNvCxnSpPr>
          <p:nvPr/>
        </p:nvCxnSpPr>
        <p:spPr>
          <a:xfrm flipV="1">
            <a:off x="2092010" y="4409339"/>
            <a:ext cx="888666" cy="608228"/>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75" name="Straight Arrow Connector 74"/>
          <p:cNvCxnSpPr>
            <a:stCxn id="97" idx="0"/>
            <a:endCxn id="95" idx="2"/>
          </p:cNvCxnSpPr>
          <p:nvPr/>
        </p:nvCxnSpPr>
        <p:spPr>
          <a:xfrm flipH="1" flipV="1">
            <a:off x="2980676" y="4409339"/>
            <a:ext cx="693166" cy="608228"/>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77" name="Straight Arrow Connector 76"/>
          <p:cNvCxnSpPr>
            <a:stCxn id="95" idx="0"/>
            <a:endCxn id="98" idx="2"/>
          </p:cNvCxnSpPr>
          <p:nvPr/>
        </p:nvCxnSpPr>
        <p:spPr>
          <a:xfrm flipV="1">
            <a:off x="2980676" y="3425984"/>
            <a:ext cx="0" cy="460135"/>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85" name="Straight Arrow Connector 84"/>
          <p:cNvCxnSpPr>
            <a:stCxn id="70" idx="0"/>
            <a:endCxn id="96" idx="2"/>
          </p:cNvCxnSpPr>
          <p:nvPr/>
        </p:nvCxnSpPr>
        <p:spPr>
          <a:xfrm flipH="1" flipV="1">
            <a:off x="2092010" y="5540787"/>
            <a:ext cx="10208" cy="508668"/>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86" name="Straight Arrow Connector 85"/>
          <p:cNvCxnSpPr>
            <a:endCxn id="97" idx="2"/>
          </p:cNvCxnSpPr>
          <p:nvPr/>
        </p:nvCxnSpPr>
        <p:spPr>
          <a:xfrm flipV="1">
            <a:off x="3673842" y="5540787"/>
            <a:ext cx="0" cy="508669"/>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87" name="Straight Arrow Connector 86"/>
          <p:cNvCxnSpPr>
            <a:stCxn id="98" idx="0"/>
            <a:endCxn id="94" idx="2"/>
          </p:cNvCxnSpPr>
          <p:nvPr/>
        </p:nvCxnSpPr>
        <p:spPr>
          <a:xfrm flipV="1">
            <a:off x="2980676" y="2391288"/>
            <a:ext cx="0" cy="511476"/>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89" name="Straight Connector 88"/>
          <p:cNvCxnSpPr/>
          <p:nvPr/>
        </p:nvCxnSpPr>
        <p:spPr>
          <a:xfrm>
            <a:off x="1696352" y="2590898"/>
            <a:ext cx="2636303" cy="0"/>
          </a:xfrm>
          <a:prstGeom prst="line">
            <a:avLst/>
          </a:prstGeom>
          <a:ln w="50800">
            <a:solidFill>
              <a:schemeClr val="tx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90" name="Straight Connector 89"/>
          <p:cNvCxnSpPr/>
          <p:nvPr/>
        </p:nvCxnSpPr>
        <p:spPr>
          <a:xfrm>
            <a:off x="1696352" y="4711798"/>
            <a:ext cx="2636303" cy="0"/>
          </a:xfrm>
          <a:prstGeom prst="line">
            <a:avLst/>
          </a:prstGeom>
          <a:ln w="50800">
            <a:solidFill>
              <a:schemeClr val="tx1"/>
            </a:solidFill>
            <a:prstDash val="sysDash"/>
          </a:ln>
          <a:effectLst/>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51320" y="5167926"/>
            <a:ext cx="1461934" cy="523220"/>
          </a:xfrm>
          <a:prstGeom prst="rect">
            <a:avLst/>
          </a:prstGeom>
          <a:noFill/>
          <a:effectLst/>
        </p:spPr>
        <p:txBody>
          <a:bodyPr wrap="none" rtlCol="0">
            <a:spAutoFit/>
          </a:bodyPr>
          <a:lstStyle/>
          <a:p>
            <a:r>
              <a:rPr lang="en-US" sz="2800" b="1" dirty="0" smtClean="0">
                <a:latin typeface="Arial"/>
                <a:cs typeface="Arial"/>
              </a:rPr>
              <a:t>Stage 1</a:t>
            </a:r>
            <a:endParaRPr lang="en-US" sz="2800" b="1" dirty="0">
              <a:latin typeface="Arial"/>
              <a:cs typeface="Arial"/>
            </a:endParaRPr>
          </a:p>
        </p:txBody>
      </p:sp>
      <p:sp>
        <p:nvSpPr>
          <p:cNvPr id="92" name="TextBox 91"/>
          <p:cNvSpPr txBox="1"/>
          <p:nvPr/>
        </p:nvSpPr>
        <p:spPr>
          <a:xfrm>
            <a:off x="51320" y="3432788"/>
            <a:ext cx="1461934" cy="523220"/>
          </a:xfrm>
          <a:prstGeom prst="rect">
            <a:avLst/>
          </a:prstGeom>
          <a:noFill/>
          <a:effectLst/>
        </p:spPr>
        <p:txBody>
          <a:bodyPr wrap="none" rtlCol="0">
            <a:spAutoFit/>
          </a:bodyPr>
          <a:lstStyle/>
          <a:p>
            <a:r>
              <a:rPr lang="en-US" sz="2800" b="1" dirty="0" smtClean="0">
                <a:latin typeface="Arial"/>
                <a:cs typeface="Arial"/>
              </a:rPr>
              <a:t>Stage 2</a:t>
            </a:r>
            <a:endParaRPr lang="en-US" sz="2800" b="1" dirty="0">
              <a:latin typeface="Arial"/>
              <a:cs typeface="Arial"/>
            </a:endParaRPr>
          </a:p>
        </p:txBody>
      </p:sp>
      <p:sp>
        <p:nvSpPr>
          <p:cNvPr id="93" name="TextBox 92"/>
          <p:cNvSpPr txBox="1"/>
          <p:nvPr/>
        </p:nvSpPr>
        <p:spPr>
          <a:xfrm>
            <a:off x="51320" y="1788138"/>
            <a:ext cx="1461934" cy="523220"/>
          </a:xfrm>
          <a:prstGeom prst="rect">
            <a:avLst/>
          </a:prstGeom>
          <a:noFill/>
          <a:effectLst/>
        </p:spPr>
        <p:txBody>
          <a:bodyPr wrap="none" rtlCol="0">
            <a:spAutoFit/>
          </a:bodyPr>
          <a:lstStyle/>
          <a:p>
            <a:r>
              <a:rPr lang="en-US" sz="2800" b="1" dirty="0" smtClean="0">
                <a:latin typeface="Arial"/>
                <a:cs typeface="Arial"/>
              </a:rPr>
              <a:t>Stage 3</a:t>
            </a:r>
            <a:endParaRPr lang="en-US" sz="2800" b="1" dirty="0">
              <a:latin typeface="Arial"/>
              <a:cs typeface="Arial"/>
            </a:endParaRPr>
          </a:p>
        </p:txBody>
      </p:sp>
      <p:sp>
        <p:nvSpPr>
          <p:cNvPr id="94" name="Rectangle 93"/>
          <p:cNvSpPr/>
          <p:nvPr/>
        </p:nvSpPr>
        <p:spPr>
          <a:xfrm>
            <a:off x="2427319" y="1868068"/>
            <a:ext cx="1106713" cy="5232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200" b="1" dirty="0" smtClean="0">
                <a:latin typeface="Arial"/>
                <a:cs typeface="Arial"/>
              </a:rPr>
              <a:t>GBY</a:t>
            </a:r>
            <a:endParaRPr lang="en-US" sz="2200" b="1" dirty="0">
              <a:latin typeface="Arial"/>
              <a:cs typeface="Arial"/>
            </a:endParaRPr>
          </a:p>
        </p:txBody>
      </p:sp>
      <p:sp>
        <p:nvSpPr>
          <p:cNvPr id="95" name="Rectangle 94"/>
          <p:cNvSpPr/>
          <p:nvPr/>
        </p:nvSpPr>
        <p:spPr>
          <a:xfrm>
            <a:off x="2427319" y="3886119"/>
            <a:ext cx="1106713" cy="5232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200" b="1" dirty="0" smtClean="0">
                <a:latin typeface="Arial"/>
                <a:cs typeface="Arial"/>
              </a:rPr>
              <a:t>JOIN</a:t>
            </a:r>
            <a:endParaRPr lang="en-US" sz="2200" b="1" dirty="0">
              <a:latin typeface="Arial"/>
              <a:cs typeface="Arial"/>
            </a:endParaRPr>
          </a:p>
        </p:txBody>
      </p:sp>
      <p:sp>
        <p:nvSpPr>
          <p:cNvPr id="96" name="Rectangle 95"/>
          <p:cNvSpPr/>
          <p:nvPr/>
        </p:nvSpPr>
        <p:spPr>
          <a:xfrm>
            <a:off x="1538653" y="5017567"/>
            <a:ext cx="1106713" cy="5232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200" b="1" dirty="0" smtClean="0">
                <a:latin typeface="Arial"/>
                <a:cs typeface="Arial"/>
              </a:rPr>
              <a:t>SEL</a:t>
            </a:r>
            <a:endParaRPr lang="en-US" sz="2200" b="1" dirty="0">
              <a:latin typeface="Arial"/>
              <a:cs typeface="Arial"/>
            </a:endParaRPr>
          </a:p>
        </p:txBody>
      </p:sp>
      <p:sp>
        <p:nvSpPr>
          <p:cNvPr id="97" name="Rectangle 96"/>
          <p:cNvSpPr/>
          <p:nvPr/>
        </p:nvSpPr>
        <p:spPr>
          <a:xfrm>
            <a:off x="3120485" y="5017567"/>
            <a:ext cx="1106713" cy="5232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200" b="1" dirty="0" smtClean="0">
                <a:latin typeface="Arial"/>
                <a:cs typeface="Arial"/>
              </a:rPr>
              <a:t>SEL</a:t>
            </a:r>
            <a:endParaRPr lang="en-US" sz="2200" b="1" dirty="0">
              <a:latin typeface="Arial"/>
              <a:cs typeface="Arial"/>
            </a:endParaRPr>
          </a:p>
        </p:txBody>
      </p:sp>
      <p:sp>
        <p:nvSpPr>
          <p:cNvPr id="98" name="Rectangle 97"/>
          <p:cNvSpPr/>
          <p:nvPr/>
        </p:nvSpPr>
        <p:spPr>
          <a:xfrm>
            <a:off x="2427319" y="2902764"/>
            <a:ext cx="1106713" cy="5232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200" b="1" dirty="0" smtClean="0">
                <a:latin typeface="Arial"/>
                <a:cs typeface="Arial"/>
              </a:rPr>
              <a:t>SEL</a:t>
            </a:r>
            <a:endParaRPr lang="en-US" sz="2200" b="1" dirty="0">
              <a:latin typeface="Arial"/>
              <a:cs typeface="Arial"/>
            </a:endParaRPr>
          </a:p>
        </p:txBody>
      </p:sp>
      <p:grpSp>
        <p:nvGrpSpPr>
          <p:cNvPr id="4" name="Group 3"/>
          <p:cNvGrpSpPr/>
          <p:nvPr/>
        </p:nvGrpSpPr>
        <p:grpSpPr>
          <a:xfrm>
            <a:off x="4227361" y="2291357"/>
            <a:ext cx="4793863" cy="3988932"/>
            <a:chOff x="4227361" y="806653"/>
            <a:chExt cx="4793863" cy="3988932"/>
          </a:xfrm>
        </p:grpSpPr>
        <p:sp>
          <p:nvSpPr>
            <p:cNvPr id="78" name="TextBox 77"/>
            <p:cNvSpPr txBox="1"/>
            <p:nvPr/>
          </p:nvSpPr>
          <p:spPr>
            <a:xfrm>
              <a:off x="5163671" y="4303142"/>
              <a:ext cx="3857553" cy="492443"/>
            </a:xfrm>
            <a:prstGeom prst="rect">
              <a:avLst/>
            </a:prstGeom>
            <a:noFill/>
            <a:effectLst/>
          </p:spPr>
          <p:txBody>
            <a:bodyPr wrap="square" rtlCol="0">
              <a:spAutoFit/>
            </a:bodyPr>
            <a:lstStyle/>
            <a:p>
              <a:r>
                <a:rPr lang="en-US" sz="2600" b="1" dirty="0" smtClean="0">
                  <a:latin typeface="Arial"/>
                  <a:cs typeface="Arial"/>
                </a:rPr>
                <a:t>Two </a:t>
              </a:r>
              <a:r>
                <a:rPr lang="en-US" sz="2600" b="1" dirty="0" err="1" smtClean="0">
                  <a:latin typeface="Arial"/>
                  <a:cs typeface="Arial"/>
                </a:rPr>
                <a:t>MapReduce</a:t>
              </a:r>
              <a:r>
                <a:rPr lang="en-US" sz="2600" b="1" dirty="0" smtClean="0">
                  <a:latin typeface="Arial"/>
                  <a:cs typeface="Arial"/>
                </a:rPr>
                <a:t> jobs</a:t>
              </a:r>
              <a:endParaRPr lang="en-US" sz="2600" b="1" dirty="0">
                <a:latin typeface="Arial"/>
                <a:cs typeface="Arial"/>
              </a:endParaRPr>
            </a:p>
          </p:txBody>
        </p:sp>
        <p:sp>
          <p:nvSpPr>
            <p:cNvPr id="80" name="Right Arrow 79"/>
            <p:cNvSpPr/>
            <p:nvPr/>
          </p:nvSpPr>
          <p:spPr>
            <a:xfrm>
              <a:off x="4227361" y="2023118"/>
              <a:ext cx="1273812" cy="697472"/>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2" name="TextBox 81"/>
            <p:cNvSpPr txBox="1"/>
            <p:nvPr/>
          </p:nvSpPr>
          <p:spPr>
            <a:xfrm>
              <a:off x="6265074" y="806653"/>
              <a:ext cx="787558" cy="369332"/>
            </a:xfrm>
            <a:prstGeom prst="rect">
              <a:avLst/>
            </a:prstGeom>
            <a:noFill/>
            <a:effectLst/>
          </p:spPr>
          <p:txBody>
            <a:bodyPr wrap="none" rtlCol="0">
              <a:spAutoFit/>
            </a:bodyPr>
            <a:lstStyle/>
            <a:p>
              <a:r>
                <a:rPr lang="en-US" b="1" dirty="0" smtClean="0">
                  <a:latin typeface="Arial"/>
                  <a:cs typeface="Arial"/>
                </a:rPr>
                <a:t>Job 1</a:t>
              </a:r>
              <a:endParaRPr lang="en-US" sz="2800" b="1" dirty="0">
                <a:latin typeface="Arial"/>
                <a:cs typeface="Arial"/>
              </a:endParaRPr>
            </a:p>
          </p:txBody>
        </p:sp>
        <p:sp>
          <p:nvSpPr>
            <p:cNvPr id="83" name="TextBox 82"/>
            <p:cNvSpPr txBox="1"/>
            <p:nvPr/>
          </p:nvSpPr>
          <p:spPr>
            <a:xfrm>
              <a:off x="7689667" y="1594372"/>
              <a:ext cx="787558" cy="369332"/>
            </a:xfrm>
            <a:prstGeom prst="rect">
              <a:avLst/>
            </a:prstGeom>
            <a:noFill/>
            <a:effectLst/>
          </p:spPr>
          <p:txBody>
            <a:bodyPr wrap="none" rtlCol="0">
              <a:spAutoFit/>
            </a:bodyPr>
            <a:lstStyle/>
            <a:p>
              <a:r>
                <a:rPr lang="en-US" b="1" dirty="0" smtClean="0">
                  <a:latin typeface="Arial"/>
                  <a:cs typeface="Arial"/>
                </a:rPr>
                <a:t>Job 2</a:t>
              </a:r>
              <a:endParaRPr lang="en-US" sz="2800" b="1" dirty="0">
                <a:latin typeface="Arial"/>
                <a:cs typeface="Arial"/>
              </a:endParaRPr>
            </a:p>
          </p:txBody>
        </p:sp>
        <p:sp>
          <p:nvSpPr>
            <p:cNvPr id="128" name="Rectangle 127"/>
            <p:cNvSpPr/>
            <p:nvPr/>
          </p:nvSpPr>
          <p:spPr>
            <a:xfrm>
              <a:off x="6394638" y="1175985"/>
              <a:ext cx="562880" cy="335055"/>
            </a:xfrm>
            <a:prstGeom prst="rect">
              <a:avLst/>
            </a:prstGeom>
            <a:solidFill>
              <a:schemeClr val="accent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b="1" dirty="0" err="1" smtClean="0">
                  <a:latin typeface="Arial"/>
                  <a:cs typeface="Arial"/>
                </a:rPr>
                <a:t>tmp</a:t>
              </a:r>
              <a:endParaRPr lang="en-US" sz="1100" b="1" dirty="0">
                <a:latin typeface="Arial"/>
                <a:cs typeface="Arial"/>
              </a:endParaRPr>
            </a:p>
          </p:txBody>
        </p:sp>
        <p:sp>
          <p:nvSpPr>
            <p:cNvPr id="130" name="Rectangle 129"/>
            <p:cNvSpPr/>
            <p:nvPr/>
          </p:nvSpPr>
          <p:spPr>
            <a:xfrm>
              <a:off x="5918447" y="3492223"/>
              <a:ext cx="515113" cy="306622"/>
            </a:xfrm>
            <a:prstGeom prst="rect">
              <a:avLst/>
            </a:prstGeom>
            <a:solidFill>
              <a:schemeClr val="accent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smtClean="0">
                  <a:latin typeface="Arial"/>
                  <a:cs typeface="Arial"/>
                </a:rPr>
                <a:t>t1</a:t>
              </a:r>
              <a:endParaRPr lang="en-US" sz="1400" b="1" dirty="0">
                <a:latin typeface="Arial"/>
                <a:cs typeface="Arial"/>
              </a:endParaRPr>
            </a:p>
          </p:txBody>
        </p:sp>
        <p:sp>
          <p:nvSpPr>
            <p:cNvPr id="131" name="Rectangle 130"/>
            <p:cNvSpPr/>
            <p:nvPr/>
          </p:nvSpPr>
          <p:spPr>
            <a:xfrm>
              <a:off x="6818538" y="3492223"/>
              <a:ext cx="515113" cy="306622"/>
            </a:xfrm>
            <a:prstGeom prst="rect">
              <a:avLst/>
            </a:prstGeom>
            <a:solidFill>
              <a:schemeClr val="accent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smtClean="0">
                  <a:latin typeface="Arial"/>
                  <a:cs typeface="Arial"/>
                </a:rPr>
                <a:t>t2</a:t>
              </a:r>
              <a:endParaRPr lang="en-US" sz="1400" b="1" dirty="0">
                <a:latin typeface="Arial"/>
                <a:cs typeface="Arial"/>
              </a:endParaRPr>
            </a:p>
          </p:txBody>
        </p:sp>
        <p:cxnSp>
          <p:nvCxnSpPr>
            <p:cNvPr id="132" name="Straight Arrow Connector 131"/>
            <p:cNvCxnSpPr>
              <a:stCxn id="140" idx="0"/>
              <a:endCxn id="139" idx="2"/>
            </p:cNvCxnSpPr>
            <p:nvPr/>
          </p:nvCxnSpPr>
          <p:spPr>
            <a:xfrm flipV="1">
              <a:off x="6170192" y="2558564"/>
              <a:ext cx="505886" cy="346242"/>
            </a:xfrm>
            <a:prstGeom prst="straightConnector1">
              <a:avLst/>
            </a:prstGeom>
            <a:ln w="254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33" name="Straight Arrow Connector 132"/>
            <p:cNvCxnSpPr>
              <a:stCxn id="141" idx="0"/>
              <a:endCxn id="139" idx="2"/>
            </p:cNvCxnSpPr>
            <p:nvPr/>
          </p:nvCxnSpPr>
          <p:spPr>
            <a:xfrm flipH="1" flipV="1">
              <a:off x="6676078" y="2558564"/>
              <a:ext cx="394594" cy="346242"/>
            </a:xfrm>
            <a:prstGeom prst="straightConnector1">
              <a:avLst/>
            </a:prstGeom>
            <a:ln w="254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34" name="Straight Arrow Connector 133"/>
            <p:cNvCxnSpPr>
              <a:stCxn id="139" idx="0"/>
              <a:endCxn id="142" idx="2"/>
            </p:cNvCxnSpPr>
            <p:nvPr/>
          </p:nvCxnSpPr>
          <p:spPr>
            <a:xfrm flipV="1">
              <a:off x="6676078" y="1998776"/>
              <a:ext cx="0" cy="261938"/>
            </a:xfrm>
            <a:prstGeom prst="straightConnector1">
              <a:avLst/>
            </a:prstGeom>
            <a:ln w="254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35" name="Straight Arrow Connector 134"/>
            <p:cNvCxnSpPr>
              <a:stCxn id="130" idx="0"/>
              <a:endCxn id="140" idx="2"/>
            </p:cNvCxnSpPr>
            <p:nvPr/>
          </p:nvCxnSpPr>
          <p:spPr>
            <a:xfrm flipH="1" flipV="1">
              <a:off x="6170192" y="3202657"/>
              <a:ext cx="5811" cy="289566"/>
            </a:xfrm>
            <a:prstGeom prst="straightConnector1">
              <a:avLst/>
            </a:prstGeom>
            <a:ln w="254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36" name="Straight Arrow Connector 135"/>
            <p:cNvCxnSpPr>
              <a:endCxn id="141" idx="2"/>
            </p:cNvCxnSpPr>
            <p:nvPr/>
          </p:nvCxnSpPr>
          <p:spPr>
            <a:xfrm flipV="1">
              <a:off x="7070672" y="3202657"/>
              <a:ext cx="0" cy="289567"/>
            </a:xfrm>
            <a:prstGeom prst="straightConnector1">
              <a:avLst/>
            </a:prstGeom>
            <a:ln w="254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37" name="Straight Arrow Connector 136"/>
            <p:cNvCxnSpPr>
              <a:stCxn id="142" idx="0"/>
              <a:endCxn id="128" idx="2"/>
            </p:cNvCxnSpPr>
            <p:nvPr/>
          </p:nvCxnSpPr>
          <p:spPr>
            <a:xfrm flipV="1">
              <a:off x="6676078" y="1511040"/>
              <a:ext cx="0" cy="189886"/>
            </a:xfrm>
            <a:prstGeom prst="straightConnector1">
              <a:avLst/>
            </a:prstGeom>
            <a:ln w="254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139" name="Rectangle 138"/>
            <p:cNvSpPr/>
            <p:nvPr/>
          </p:nvSpPr>
          <p:spPr>
            <a:xfrm>
              <a:off x="6361072" y="2260714"/>
              <a:ext cx="630012" cy="2978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smtClean="0">
                  <a:latin typeface="Arial"/>
                  <a:cs typeface="Arial"/>
                </a:rPr>
                <a:t>JOIN</a:t>
              </a:r>
              <a:endParaRPr lang="en-US" sz="1400" b="1" dirty="0">
                <a:latin typeface="Arial"/>
                <a:cs typeface="Arial"/>
              </a:endParaRPr>
            </a:p>
          </p:txBody>
        </p:sp>
        <p:sp>
          <p:nvSpPr>
            <p:cNvPr id="140" name="Rectangle 139"/>
            <p:cNvSpPr/>
            <p:nvPr/>
          </p:nvSpPr>
          <p:spPr>
            <a:xfrm>
              <a:off x="5855186" y="2904807"/>
              <a:ext cx="630012" cy="2978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smtClean="0">
                  <a:latin typeface="Arial"/>
                  <a:cs typeface="Arial"/>
                </a:rPr>
                <a:t>SEL</a:t>
              </a:r>
              <a:endParaRPr lang="en-US" sz="1400" b="1" dirty="0">
                <a:latin typeface="Arial"/>
                <a:cs typeface="Arial"/>
              </a:endParaRPr>
            </a:p>
          </p:txBody>
        </p:sp>
        <p:sp>
          <p:nvSpPr>
            <p:cNvPr id="141" name="Rectangle 140"/>
            <p:cNvSpPr/>
            <p:nvPr/>
          </p:nvSpPr>
          <p:spPr>
            <a:xfrm>
              <a:off x="6755666" y="2904807"/>
              <a:ext cx="630012" cy="2978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smtClean="0">
                  <a:latin typeface="Arial"/>
                  <a:cs typeface="Arial"/>
                </a:rPr>
                <a:t>SEL</a:t>
              </a:r>
              <a:endParaRPr lang="en-US" sz="1400" b="1" dirty="0">
                <a:latin typeface="Arial"/>
                <a:cs typeface="Arial"/>
              </a:endParaRPr>
            </a:p>
          </p:txBody>
        </p:sp>
        <p:sp>
          <p:nvSpPr>
            <p:cNvPr id="142" name="Rectangle 141"/>
            <p:cNvSpPr/>
            <p:nvPr/>
          </p:nvSpPr>
          <p:spPr>
            <a:xfrm>
              <a:off x="6361072" y="1700926"/>
              <a:ext cx="630012" cy="2978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smtClean="0">
                  <a:latin typeface="Arial"/>
                  <a:cs typeface="Arial"/>
                </a:rPr>
                <a:t>SEL</a:t>
              </a:r>
              <a:endParaRPr lang="en-US" sz="1400" b="1" dirty="0">
                <a:latin typeface="Arial"/>
                <a:cs typeface="Arial"/>
              </a:endParaRPr>
            </a:p>
          </p:txBody>
        </p:sp>
        <p:sp>
          <p:nvSpPr>
            <p:cNvPr id="143" name="Rectangle 142"/>
            <p:cNvSpPr/>
            <p:nvPr/>
          </p:nvSpPr>
          <p:spPr>
            <a:xfrm>
              <a:off x="7912263" y="3468973"/>
              <a:ext cx="562880" cy="335055"/>
            </a:xfrm>
            <a:prstGeom prst="rect">
              <a:avLst/>
            </a:prstGeom>
            <a:solidFill>
              <a:schemeClr val="accent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b="1" dirty="0" err="1" smtClean="0">
                  <a:latin typeface="Arial"/>
                  <a:cs typeface="Arial"/>
                </a:rPr>
                <a:t>tmp</a:t>
              </a:r>
              <a:endParaRPr lang="en-US" sz="1100" b="1" dirty="0">
                <a:latin typeface="Arial"/>
                <a:cs typeface="Arial"/>
              </a:endParaRPr>
            </a:p>
          </p:txBody>
        </p:sp>
        <p:sp>
          <p:nvSpPr>
            <p:cNvPr id="144" name="Rectangle 143"/>
            <p:cNvSpPr/>
            <p:nvPr/>
          </p:nvSpPr>
          <p:spPr>
            <a:xfrm>
              <a:off x="7875977" y="2233101"/>
              <a:ext cx="630012" cy="2978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smtClean="0">
                  <a:latin typeface="Arial"/>
                  <a:cs typeface="Arial"/>
                </a:rPr>
                <a:t>GBY</a:t>
              </a:r>
              <a:endParaRPr lang="en-US" sz="1400" b="1" dirty="0">
                <a:latin typeface="Arial"/>
                <a:cs typeface="Arial"/>
              </a:endParaRPr>
            </a:p>
          </p:txBody>
        </p:sp>
        <p:cxnSp>
          <p:nvCxnSpPr>
            <p:cNvPr id="145" name="Straight Arrow Connector 144"/>
            <p:cNvCxnSpPr>
              <a:stCxn id="143" idx="0"/>
              <a:endCxn id="144" idx="2"/>
            </p:cNvCxnSpPr>
            <p:nvPr/>
          </p:nvCxnSpPr>
          <p:spPr>
            <a:xfrm flipH="1" flipV="1">
              <a:off x="8190983" y="2530951"/>
              <a:ext cx="2720" cy="938022"/>
            </a:xfrm>
            <a:prstGeom prst="straightConnector1">
              <a:avLst/>
            </a:prstGeom>
            <a:ln w="254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521938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p:cNvGrpSpPr/>
          <p:nvPr/>
        </p:nvGrpSpPr>
        <p:grpSpPr>
          <a:xfrm>
            <a:off x="539750" y="5175250"/>
            <a:ext cx="4032250" cy="1587500"/>
            <a:chOff x="539750" y="5175250"/>
            <a:chExt cx="4032250" cy="1587500"/>
          </a:xfrm>
        </p:grpSpPr>
        <p:sp>
          <p:nvSpPr>
            <p:cNvPr id="4" name="Rectangle 3"/>
            <p:cNvSpPr/>
            <p:nvPr/>
          </p:nvSpPr>
          <p:spPr>
            <a:xfrm>
              <a:off x="539750" y="5746750"/>
              <a:ext cx="4032250" cy="1016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smtClean="0">
                  <a:latin typeface="Arial"/>
                  <a:cs typeface="Arial"/>
                </a:rPr>
                <a:t>HDFS</a:t>
              </a:r>
              <a:endParaRPr lang="en-US" sz="2800" b="1" dirty="0">
                <a:latin typeface="Arial"/>
                <a:cs typeface="Arial"/>
              </a:endParaRPr>
            </a:p>
          </p:txBody>
        </p:sp>
        <p:sp>
          <p:nvSpPr>
            <p:cNvPr id="5" name="Multidocument 4"/>
            <p:cNvSpPr/>
            <p:nvPr/>
          </p:nvSpPr>
          <p:spPr>
            <a:xfrm>
              <a:off x="1188356" y="5175250"/>
              <a:ext cx="1143000" cy="857250"/>
            </a:xfrm>
            <a:prstGeom prst="flowChartMultidocument">
              <a:avLst/>
            </a:prstGeom>
            <a:solidFill>
              <a:schemeClr val="accent3"/>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Multidocument 21"/>
            <p:cNvSpPr/>
            <p:nvPr/>
          </p:nvSpPr>
          <p:spPr>
            <a:xfrm>
              <a:off x="2778579" y="5175250"/>
              <a:ext cx="1143000" cy="857250"/>
            </a:xfrm>
            <a:prstGeom prst="flowChartMultidocument">
              <a:avLst/>
            </a:prstGeom>
            <a:solidFill>
              <a:schemeClr val="accent3"/>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 name="Title 1"/>
          <p:cNvSpPr>
            <a:spLocks noGrp="1"/>
          </p:cNvSpPr>
          <p:nvPr>
            <p:ph type="title"/>
          </p:nvPr>
        </p:nvSpPr>
        <p:spPr>
          <a:xfrm>
            <a:off x="0" y="274638"/>
            <a:ext cx="9144000" cy="1143000"/>
          </a:xfrm>
          <a:effectLst/>
        </p:spPr>
        <p:txBody>
          <a:bodyPr>
            <a:normAutofit/>
          </a:bodyPr>
          <a:lstStyle/>
          <a:p>
            <a:pPr algn="ctr"/>
            <a:r>
              <a:rPr lang="en-US" sz="3800" dirty="0" smtClean="0"/>
              <a:t>Two Critical Components under HDFS</a:t>
            </a:r>
            <a:endParaRPr lang="en-US" sz="3800" dirty="0"/>
          </a:p>
        </p:txBody>
      </p:sp>
      <p:grpSp>
        <p:nvGrpSpPr>
          <p:cNvPr id="11" name="Group 10"/>
          <p:cNvGrpSpPr/>
          <p:nvPr/>
        </p:nvGrpSpPr>
        <p:grpSpPr>
          <a:xfrm>
            <a:off x="1282127" y="1632580"/>
            <a:ext cx="2688545" cy="3542670"/>
            <a:chOff x="1282127" y="1632580"/>
            <a:chExt cx="2688545" cy="3542670"/>
          </a:xfrm>
        </p:grpSpPr>
        <p:cxnSp>
          <p:nvCxnSpPr>
            <p:cNvPr id="43" name="Straight Arrow Connector 42"/>
            <p:cNvCxnSpPr>
              <a:stCxn id="49" idx="0"/>
              <a:endCxn id="48" idx="2"/>
            </p:cNvCxnSpPr>
            <p:nvPr/>
          </p:nvCxnSpPr>
          <p:spPr>
            <a:xfrm flipV="1">
              <a:off x="1835484" y="3956135"/>
              <a:ext cx="888666" cy="317940"/>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44" name="Straight Arrow Connector 43"/>
            <p:cNvCxnSpPr>
              <a:stCxn id="50" idx="0"/>
              <a:endCxn id="48" idx="2"/>
            </p:cNvCxnSpPr>
            <p:nvPr/>
          </p:nvCxnSpPr>
          <p:spPr>
            <a:xfrm flipH="1" flipV="1">
              <a:off x="2724150" y="3956135"/>
              <a:ext cx="693166" cy="317940"/>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45" name="Straight Arrow Connector 44"/>
            <p:cNvCxnSpPr>
              <a:stCxn id="48" idx="0"/>
              <a:endCxn id="51" idx="2"/>
            </p:cNvCxnSpPr>
            <p:nvPr/>
          </p:nvCxnSpPr>
          <p:spPr>
            <a:xfrm flipV="1">
              <a:off x="2724150" y="3063495"/>
              <a:ext cx="0" cy="369420"/>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46" name="Straight Arrow Connector 45"/>
            <p:cNvCxnSpPr>
              <a:stCxn id="51" idx="0"/>
              <a:endCxn id="47" idx="2"/>
            </p:cNvCxnSpPr>
            <p:nvPr/>
          </p:nvCxnSpPr>
          <p:spPr>
            <a:xfrm flipV="1">
              <a:off x="2724150" y="2155800"/>
              <a:ext cx="0" cy="384475"/>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2170793" y="1632580"/>
              <a:ext cx="1106713" cy="5232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200" b="1" dirty="0" smtClean="0">
                  <a:latin typeface="Arial"/>
                  <a:cs typeface="Arial"/>
                </a:rPr>
                <a:t>GBY</a:t>
              </a:r>
              <a:endParaRPr lang="en-US" sz="2200" b="1" dirty="0">
                <a:latin typeface="Arial"/>
                <a:cs typeface="Arial"/>
              </a:endParaRPr>
            </a:p>
          </p:txBody>
        </p:sp>
        <p:sp>
          <p:nvSpPr>
            <p:cNvPr id="48" name="Rectangle 47"/>
            <p:cNvSpPr/>
            <p:nvPr/>
          </p:nvSpPr>
          <p:spPr>
            <a:xfrm>
              <a:off x="2170793" y="3432915"/>
              <a:ext cx="1106713" cy="5232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200" b="1" dirty="0" smtClean="0">
                  <a:latin typeface="Arial"/>
                  <a:cs typeface="Arial"/>
                </a:rPr>
                <a:t>JOIN</a:t>
              </a:r>
              <a:endParaRPr lang="en-US" sz="2200" b="1" dirty="0">
                <a:latin typeface="Arial"/>
                <a:cs typeface="Arial"/>
              </a:endParaRPr>
            </a:p>
          </p:txBody>
        </p:sp>
        <p:sp>
          <p:nvSpPr>
            <p:cNvPr id="49" name="Rectangle 48"/>
            <p:cNvSpPr/>
            <p:nvPr/>
          </p:nvSpPr>
          <p:spPr>
            <a:xfrm>
              <a:off x="1282127" y="4274075"/>
              <a:ext cx="1106713" cy="5232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200" b="1" dirty="0" smtClean="0">
                  <a:latin typeface="Arial"/>
                  <a:cs typeface="Arial"/>
                </a:rPr>
                <a:t>SEL</a:t>
              </a:r>
              <a:endParaRPr lang="en-US" sz="2200" b="1" dirty="0">
                <a:latin typeface="Arial"/>
                <a:cs typeface="Arial"/>
              </a:endParaRPr>
            </a:p>
          </p:txBody>
        </p:sp>
        <p:sp>
          <p:nvSpPr>
            <p:cNvPr id="50" name="Rectangle 49"/>
            <p:cNvSpPr/>
            <p:nvPr/>
          </p:nvSpPr>
          <p:spPr>
            <a:xfrm>
              <a:off x="2863959" y="4274075"/>
              <a:ext cx="1106713" cy="5232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200" b="1" dirty="0" smtClean="0">
                  <a:latin typeface="Arial"/>
                  <a:cs typeface="Arial"/>
                </a:rPr>
                <a:t>SEL</a:t>
              </a:r>
              <a:endParaRPr lang="en-US" sz="2200" b="1" dirty="0">
                <a:latin typeface="Arial"/>
                <a:cs typeface="Arial"/>
              </a:endParaRPr>
            </a:p>
          </p:txBody>
        </p:sp>
        <p:sp>
          <p:nvSpPr>
            <p:cNvPr id="51" name="Rectangle 50"/>
            <p:cNvSpPr/>
            <p:nvPr/>
          </p:nvSpPr>
          <p:spPr>
            <a:xfrm>
              <a:off x="2170793" y="2540275"/>
              <a:ext cx="1106713" cy="5232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200" b="1" dirty="0" smtClean="0">
                  <a:latin typeface="Arial"/>
                  <a:cs typeface="Arial"/>
                </a:rPr>
                <a:t>SEL</a:t>
              </a:r>
              <a:endParaRPr lang="en-US" sz="2200" b="1" dirty="0">
                <a:latin typeface="Arial"/>
                <a:cs typeface="Arial"/>
              </a:endParaRPr>
            </a:p>
          </p:txBody>
        </p:sp>
        <p:cxnSp>
          <p:nvCxnSpPr>
            <p:cNvPr id="52" name="Straight Arrow Connector 51"/>
            <p:cNvCxnSpPr>
              <a:stCxn id="5" idx="0"/>
              <a:endCxn id="49" idx="2"/>
            </p:cNvCxnSpPr>
            <p:nvPr/>
          </p:nvCxnSpPr>
          <p:spPr>
            <a:xfrm flipH="1" flipV="1">
              <a:off x="1835484" y="4797295"/>
              <a:ext cx="3006" cy="377955"/>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a:stCxn id="22" idx="0"/>
              <a:endCxn id="50" idx="2"/>
            </p:cNvCxnSpPr>
            <p:nvPr/>
          </p:nvCxnSpPr>
          <p:spPr>
            <a:xfrm flipH="1" flipV="1">
              <a:off x="3417316" y="4797295"/>
              <a:ext cx="11397" cy="377955"/>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grpSp>
      <p:sp>
        <p:nvSpPr>
          <p:cNvPr id="29" name="TextBox 28"/>
          <p:cNvSpPr txBox="1"/>
          <p:nvPr/>
        </p:nvSpPr>
        <p:spPr>
          <a:xfrm>
            <a:off x="4931092" y="2245692"/>
            <a:ext cx="4318000" cy="1200329"/>
          </a:xfrm>
          <a:prstGeom prst="rect">
            <a:avLst/>
          </a:prstGeom>
          <a:noFill/>
          <a:effectLst/>
        </p:spPr>
        <p:txBody>
          <a:bodyPr wrap="square" rtlCol="0">
            <a:spAutoFit/>
          </a:bodyPr>
          <a:lstStyle/>
          <a:p>
            <a:r>
              <a:rPr lang="en-US" sz="2800" b="1" dirty="0" smtClean="0">
                <a:solidFill>
                  <a:srgbClr val="FF0000"/>
                </a:solidFill>
                <a:latin typeface="Arial"/>
                <a:cs typeface="Arial"/>
              </a:rPr>
              <a:t>Query planner:</a:t>
            </a:r>
          </a:p>
          <a:p>
            <a:r>
              <a:rPr lang="en-US" sz="2200" b="1" dirty="0" smtClean="0">
                <a:latin typeface="Arial"/>
                <a:cs typeface="Arial"/>
              </a:rPr>
              <a:t>The efficiency of query plans</a:t>
            </a:r>
          </a:p>
          <a:p>
            <a:r>
              <a:rPr lang="en-US" sz="2200" b="1" dirty="0" smtClean="0">
                <a:latin typeface="Arial"/>
                <a:cs typeface="Arial"/>
              </a:rPr>
              <a:t>- Minimizing data movements</a:t>
            </a:r>
          </a:p>
        </p:txBody>
      </p:sp>
      <p:cxnSp>
        <p:nvCxnSpPr>
          <p:cNvPr id="34" name="Straight Arrow Connector 33"/>
          <p:cNvCxnSpPr>
            <a:stCxn id="25" idx="6"/>
            <a:endCxn id="29" idx="1"/>
          </p:cNvCxnSpPr>
          <p:nvPr/>
        </p:nvCxnSpPr>
        <p:spPr>
          <a:xfrm flipV="1">
            <a:off x="4595783" y="2845857"/>
            <a:ext cx="335309" cy="434962"/>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728643" y="1386388"/>
            <a:ext cx="3867140" cy="3788862"/>
          </a:xfrm>
          <a:prstGeom prst="ellipse">
            <a:avLst/>
          </a:prstGeom>
          <a:solidFill>
            <a:schemeClr val="accent2">
              <a:alpha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TextBox 27"/>
          <p:cNvSpPr txBox="1"/>
          <p:nvPr/>
        </p:nvSpPr>
        <p:spPr>
          <a:xfrm>
            <a:off x="4826000" y="5175250"/>
            <a:ext cx="4148943" cy="1200329"/>
          </a:xfrm>
          <a:prstGeom prst="rect">
            <a:avLst/>
          </a:prstGeom>
          <a:noFill/>
          <a:effectLst/>
        </p:spPr>
        <p:txBody>
          <a:bodyPr wrap="square" rtlCol="0">
            <a:spAutoFit/>
          </a:bodyPr>
          <a:lstStyle/>
          <a:p>
            <a:r>
              <a:rPr lang="en-US" sz="2800" b="1" dirty="0" smtClean="0">
                <a:solidFill>
                  <a:srgbClr val="FF0000"/>
                </a:solidFill>
                <a:latin typeface="Arial"/>
                <a:cs typeface="Arial"/>
              </a:rPr>
              <a:t>File format:</a:t>
            </a:r>
          </a:p>
          <a:p>
            <a:r>
              <a:rPr lang="en-US" sz="2200" b="1" dirty="0" smtClean="0">
                <a:latin typeface="Arial"/>
                <a:cs typeface="Arial"/>
              </a:rPr>
              <a:t>Storage/network efficiency</a:t>
            </a:r>
          </a:p>
          <a:p>
            <a:r>
              <a:rPr lang="en-US" sz="2200" b="1" dirty="0" smtClean="0">
                <a:latin typeface="Arial"/>
                <a:cs typeface="Arial"/>
              </a:rPr>
              <a:t>Data reading efficiency</a:t>
            </a:r>
          </a:p>
        </p:txBody>
      </p:sp>
      <p:cxnSp>
        <p:nvCxnSpPr>
          <p:cNvPr id="31" name="Straight Arrow Connector 30"/>
          <p:cNvCxnSpPr>
            <a:stCxn id="24" idx="6"/>
            <a:endCxn id="28" idx="1"/>
          </p:cNvCxnSpPr>
          <p:nvPr/>
        </p:nvCxnSpPr>
        <p:spPr>
          <a:xfrm>
            <a:off x="4335170" y="5621282"/>
            <a:ext cx="490830" cy="154133"/>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788695" y="5010094"/>
            <a:ext cx="3546475" cy="1222375"/>
          </a:xfrm>
          <a:prstGeom prst="ellipse">
            <a:avLst/>
          </a:prstGeom>
          <a:solidFill>
            <a:schemeClr val="accent2">
              <a:alpha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56900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down)">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4"/>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31"/>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2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xit" presetSubtype="0" fill="hold" grpId="1" nodeType="clickEffect">
                                  <p:stCondLst>
                                    <p:cond delay="0"/>
                                  </p:stCondLst>
                                  <p:childTnLst>
                                    <p:set>
                                      <p:cBhvr>
                                        <p:cTn id="23" dur="1" fill="hold">
                                          <p:stCondLst>
                                            <p:cond delay="0"/>
                                          </p:stCondLst>
                                        </p:cTn>
                                        <p:tgtEl>
                                          <p:spTgt spid="24"/>
                                        </p:tgtEl>
                                        <p:attrNameLst>
                                          <p:attrName>style.visibility</p:attrName>
                                        </p:attrNameLst>
                                      </p:cBhvr>
                                      <p:to>
                                        <p:strVal val="hidden"/>
                                      </p:to>
                                    </p:set>
                                  </p:childTnLst>
                                </p:cTn>
                              </p:par>
                              <p:par>
                                <p:cTn id="24" presetID="1" presetClass="exit" presetSubtype="0" fill="hold" nodeType="withEffect">
                                  <p:stCondLst>
                                    <p:cond delay="0"/>
                                  </p:stCondLst>
                                  <p:childTnLst>
                                    <p:set>
                                      <p:cBhvr>
                                        <p:cTn id="25" dur="1" fill="hold">
                                          <p:stCondLst>
                                            <p:cond delay="0"/>
                                          </p:stCondLst>
                                        </p:cTn>
                                        <p:tgtEl>
                                          <p:spTgt spid="31"/>
                                        </p:tgtEl>
                                        <p:attrNameLst>
                                          <p:attrName>style.visibility</p:attrName>
                                        </p:attrNameLst>
                                      </p:cBhvr>
                                      <p:to>
                                        <p:strVal val="hidden"/>
                                      </p:to>
                                    </p:set>
                                  </p:childTnLst>
                                </p:cTn>
                              </p:par>
                              <p:par>
                                <p:cTn id="26" presetID="1" presetClass="entr" presetSubtype="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34"/>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xit" presetSubtype="0" fill="hold" grpId="1" nodeType="clickEffect">
                                  <p:stCondLst>
                                    <p:cond delay="0"/>
                                  </p:stCondLst>
                                  <p:childTnLst>
                                    <p:set>
                                      <p:cBhvr>
                                        <p:cTn id="35" dur="1" fill="hold">
                                          <p:stCondLst>
                                            <p:cond delay="0"/>
                                          </p:stCondLst>
                                        </p:cTn>
                                        <p:tgtEl>
                                          <p:spTgt spid="25"/>
                                        </p:tgtEl>
                                        <p:attrNameLst>
                                          <p:attrName>style.visibility</p:attrName>
                                        </p:attrNameLst>
                                      </p:cBhvr>
                                      <p:to>
                                        <p:strVal val="hidden"/>
                                      </p:to>
                                    </p:set>
                                  </p:childTnLst>
                                </p:cTn>
                              </p:par>
                              <p:par>
                                <p:cTn id="36" presetID="1" presetClass="exit" presetSubtype="0" fill="hold" nodeType="withEffect">
                                  <p:stCondLst>
                                    <p:cond delay="0"/>
                                  </p:stCondLst>
                                  <p:childTnLst>
                                    <p:set>
                                      <p:cBhvr>
                                        <p:cTn id="37" dur="1" fill="hold">
                                          <p:stCondLst>
                                            <p:cond delay="0"/>
                                          </p:stCondLst>
                                        </p:cTn>
                                        <p:tgtEl>
                                          <p:spTgt spid="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25" grpId="0" animBg="1"/>
      <p:bldP spid="25" grpId="1" animBg="1"/>
      <p:bldP spid="28" grpId="0"/>
      <p:bldP spid="24" grpId="0" animBg="1"/>
      <p:bldP spid="24" grpId="1" animBg="1"/>
    </p:bld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p:cNvGrpSpPr/>
          <p:nvPr/>
        </p:nvGrpSpPr>
        <p:grpSpPr>
          <a:xfrm>
            <a:off x="539750" y="5175250"/>
            <a:ext cx="4032250" cy="1587500"/>
            <a:chOff x="539750" y="5175250"/>
            <a:chExt cx="4032250" cy="1587500"/>
          </a:xfrm>
        </p:grpSpPr>
        <p:sp>
          <p:nvSpPr>
            <p:cNvPr id="4" name="Rectangle 3"/>
            <p:cNvSpPr/>
            <p:nvPr/>
          </p:nvSpPr>
          <p:spPr>
            <a:xfrm>
              <a:off x="539750" y="5746750"/>
              <a:ext cx="4032250" cy="1016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smtClean="0">
                  <a:latin typeface="Arial"/>
                  <a:cs typeface="Arial"/>
                </a:rPr>
                <a:t>HDFS</a:t>
              </a:r>
              <a:endParaRPr lang="en-US" sz="2800" b="1" dirty="0">
                <a:latin typeface="Arial"/>
                <a:cs typeface="Arial"/>
              </a:endParaRPr>
            </a:p>
          </p:txBody>
        </p:sp>
        <p:sp>
          <p:nvSpPr>
            <p:cNvPr id="5" name="Multidocument 4"/>
            <p:cNvSpPr/>
            <p:nvPr/>
          </p:nvSpPr>
          <p:spPr>
            <a:xfrm>
              <a:off x="1188356" y="5175250"/>
              <a:ext cx="1143000" cy="857250"/>
            </a:xfrm>
            <a:prstGeom prst="flowChartMultidocument">
              <a:avLst/>
            </a:prstGeom>
            <a:solidFill>
              <a:schemeClr val="accent3"/>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Multidocument 21"/>
            <p:cNvSpPr/>
            <p:nvPr/>
          </p:nvSpPr>
          <p:spPr>
            <a:xfrm>
              <a:off x="2778579" y="5175250"/>
              <a:ext cx="1143000" cy="857250"/>
            </a:xfrm>
            <a:prstGeom prst="flowChartMultidocument">
              <a:avLst/>
            </a:prstGeom>
            <a:solidFill>
              <a:schemeClr val="accent3"/>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 name="Title 1"/>
          <p:cNvSpPr>
            <a:spLocks noGrp="1"/>
          </p:cNvSpPr>
          <p:nvPr>
            <p:ph type="title"/>
          </p:nvPr>
        </p:nvSpPr>
        <p:spPr>
          <a:xfrm>
            <a:off x="0" y="274638"/>
            <a:ext cx="9144000" cy="1143000"/>
          </a:xfrm>
          <a:effectLst/>
        </p:spPr>
        <p:txBody>
          <a:bodyPr>
            <a:normAutofit/>
          </a:bodyPr>
          <a:lstStyle/>
          <a:p>
            <a:pPr algn="ctr"/>
            <a:r>
              <a:rPr lang="en-US" sz="3800" dirty="0" smtClean="0"/>
              <a:t>File Format: Distributed Data Placement </a:t>
            </a:r>
            <a:endParaRPr lang="en-US" sz="3800" dirty="0"/>
          </a:p>
        </p:txBody>
      </p:sp>
      <p:grpSp>
        <p:nvGrpSpPr>
          <p:cNvPr id="11" name="Group 10"/>
          <p:cNvGrpSpPr/>
          <p:nvPr/>
        </p:nvGrpSpPr>
        <p:grpSpPr>
          <a:xfrm>
            <a:off x="1282127" y="1632580"/>
            <a:ext cx="2688545" cy="3542670"/>
            <a:chOff x="1282127" y="1632580"/>
            <a:chExt cx="2688545" cy="3542670"/>
          </a:xfrm>
        </p:grpSpPr>
        <p:cxnSp>
          <p:nvCxnSpPr>
            <p:cNvPr id="43" name="Straight Arrow Connector 42"/>
            <p:cNvCxnSpPr>
              <a:stCxn id="49" idx="0"/>
              <a:endCxn id="48" idx="2"/>
            </p:cNvCxnSpPr>
            <p:nvPr/>
          </p:nvCxnSpPr>
          <p:spPr>
            <a:xfrm flipV="1">
              <a:off x="1835484" y="3956135"/>
              <a:ext cx="888666" cy="317940"/>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44" name="Straight Arrow Connector 43"/>
            <p:cNvCxnSpPr>
              <a:stCxn id="50" idx="0"/>
              <a:endCxn id="48" idx="2"/>
            </p:cNvCxnSpPr>
            <p:nvPr/>
          </p:nvCxnSpPr>
          <p:spPr>
            <a:xfrm flipH="1" flipV="1">
              <a:off x="2724150" y="3956135"/>
              <a:ext cx="693166" cy="317940"/>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45" name="Straight Arrow Connector 44"/>
            <p:cNvCxnSpPr>
              <a:stCxn id="48" idx="0"/>
              <a:endCxn id="51" idx="2"/>
            </p:cNvCxnSpPr>
            <p:nvPr/>
          </p:nvCxnSpPr>
          <p:spPr>
            <a:xfrm flipV="1">
              <a:off x="2724150" y="3063495"/>
              <a:ext cx="0" cy="369420"/>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46" name="Straight Arrow Connector 45"/>
            <p:cNvCxnSpPr>
              <a:stCxn id="51" idx="0"/>
              <a:endCxn id="47" idx="2"/>
            </p:cNvCxnSpPr>
            <p:nvPr/>
          </p:nvCxnSpPr>
          <p:spPr>
            <a:xfrm flipV="1">
              <a:off x="2724150" y="2155800"/>
              <a:ext cx="0" cy="384475"/>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2170793" y="1632580"/>
              <a:ext cx="1106713" cy="5232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200" b="1" dirty="0" smtClean="0">
                  <a:latin typeface="Arial"/>
                  <a:cs typeface="Arial"/>
                </a:rPr>
                <a:t>GBY</a:t>
              </a:r>
              <a:endParaRPr lang="en-US" sz="2200" b="1" dirty="0">
                <a:latin typeface="Arial"/>
                <a:cs typeface="Arial"/>
              </a:endParaRPr>
            </a:p>
          </p:txBody>
        </p:sp>
        <p:sp>
          <p:nvSpPr>
            <p:cNvPr id="48" name="Rectangle 47"/>
            <p:cNvSpPr/>
            <p:nvPr/>
          </p:nvSpPr>
          <p:spPr>
            <a:xfrm>
              <a:off x="2170793" y="3432915"/>
              <a:ext cx="1106713" cy="5232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200" b="1" dirty="0" smtClean="0">
                  <a:latin typeface="Arial"/>
                  <a:cs typeface="Arial"/>
                </a:rPr>
                <a:t>JOIN</a:t>
              </a:r>
              <a:endParaRPr lang="en-US" sz="2200" b="1" dirty="0">
                <a:latin typeface="Arial"/>
                <a:cs typeface="Arial"/>
              </a:endParaRPr>
            </a:p>
          </p:txBody>
        </p:sp>
        <p:sp>
          <p:nvSpPr>
            <p:cNvPr id="49" name="Rectangle 48"/>
            <p:cNvSpPr/>
            <p:nvPr/>
          </p:nvSpPr>
          <p:spPr>
            <a:xfrm>
              <a:off x="1282127" y="4274075"/>
              <a:ext cx="1106713" cy="5232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200" b="1" dirty="0" smtClean="0">
                  <a:latin typeface="Arial"/>
                  <a:cs typeface="Arial"/>
                </a:rPr>
                <a:t>SEL</a:t>
              </a:r>
              <a:endParaRPr lang="en-US" sz="2200" b="1" dirty="0">
                <a:latin typeface="Arial"/>
                <a:cs typeface="Arial"/>
              </a:endParaRPr>
            </a:p>
          </p:txBody>
        </p:sp>
        <p:sp>
          <p:nvSpPr>
            <p:cNvPr id="50" name="Rectangle 49"/>
            <p:cNvSpPr/>
            <p:nvPr/>
          </p:nvSpPr>
          <p:spPr>
            <a:xfrm>
              <a:off x="2863959" y="4274075"/>
              <a:ext cx="1106713" cy="5232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200" b="1" dirty="0" smtClean="0">
                  <a:latin typeface="Arial"/>
                  <a:cs typeface="Arial"/>
                </a:rPr>
                <a:t>SEL</a:t>
              </a:r>
              <a:endParaRPr lang="en-US" sz="2200" b="1" dirty="0">
                <a:latin typeface="Arial"/>
                <a:cs typeface="Arial"/>
              </a:endParaRPr>
            </a:p>
          </p:txBody>
        </p:sp>
        <p:sp>
          <p:nvSpPr>
            <p:cNvPr id="51" name="Rectangle 50"/>
            <p:cNvSpPr/>
            <p:nvPr/>
          </p:nvSpPr>
          <p:spPr>
            <a:xfrm>
              <a:off x="2170793" y="2540275"/>
              <a:ext cx="1106713" cy="5232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200" b="1" dirty="0" smtClean="0">
                  <a:latin typeface="Arial"/>
                  <a:cs typeface="Arial"/>
                </a:rPr>
                <a:t>SEL</a:t>
              </a:r>
              <a:endParaRPr lang="en-US" sz="2200" b="1" dirty="0">
                <a:latin typeface="Arial"/>
                <a:cs typeface="Arial"/>
              </a:endParaRPr>
            </a:p>
          </p:txBody>
        </p:sp>
        <p:cxnSp>
          <p:nvCxnSpPr>
            <p:cNvPr id="52" name="Straight Arrow Connector 51"/>
            <p:cNvCxnSpPr>
              <a:stCxn id="5" idx="0"/>
              <a:endCxn id="49" idx="2"/>
            </p:cNvCxnSpPr>
            <p:nvPr/>
          </p:nvCxnSpPr>
          <p:spPr>
            <a:xfrm flipH="1" flipV="1">
              <a:off x="1835484" y="4797295"/>
              <a:ext cx="3006" cy="377955"/>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a:stCxn id="22" idx="0"/>
              <a:endCxn id="50" idx="2"/>
            </p:cNvCxnSpPr>
            <p:nvPr/>
          </p:nvCxnSpPr>
          <p:spPr>
            <a:xfrm flipH="1" flipV="1">
              <a:off x="3417316" y="4797295"/>
              <a:ext cx="11397" cy="377955"/>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grpSp>
      <p:sp>
        <p:nvSpPr>
          <p:cNvPr id="28" name="TextBox 27"/>
          <p:cNvSpPr txBox="1"/>
          <p:nvPr/>
        </p:nvSpPr>
        <p:spPr>
          <a:xfrm>
            <a:off x="4826000" y="5175250"/>
            <a:ext cx="4148943" cy="1200329"/>
          </a:xfrm>
          <a:prstGeom prst="rect">
            <a:avLst/>
          </a:prstGeom>
          <a:noFill/>
          <a:effectLst/>
        </p:spPr>
        <p:txBody>
          <a:bodyPr wrap="square" rtlCol="0">
            <a:spAutoFit/>
          </a:bodyPr>
          <a:lstStyle/>
          <a:p>
            <a:r>
              <a:rPr lang="en-US" sz="2800" b="1" dirty="0" smtClean="0">
                <a:solidFill>
                  <a:srgbClr val="FF0000"/>
                </a:solidFill>
                <a:latin typeface="Arial"/>
                <a:cs typeface="Arial"/>
              </a:rPr>
              <a:t>File format:</a:t>
            </a:r>
          </a:p>
          <a:p>
            <a:r>
              <a:rPr lang="en-US" sz="2200" b="1" dirty="0" smtClean="0">
                <a:latin typeface="Arial"/>
                <a:cs typeface="Arial"/>
              </a:rPr>
              <a:t>Storage/network efficiency</a:t>
            </a:r>
          </a:p>
          <a:p>
            <a:r>
              <a:rPr lang="en-US" sz="2200" b="1" dirty="0" smtClean="0">
                <a:latin typeface="Arial"/>
                <a:cs typeface="Arial"/>
              </a:rPr>
              <a:t>Data reading efficiency</a:t>
            </a:r>
          </a:p>
        </p:txBody>
      </p:sp>
      <p:cxnSp>
        <p:nvCxnSpPr>
          <p:cNvPr id="31" name="Straight Arrow Connector 30"/>
          <p:cNvCxnSpPr>
            <a:stCxn id="24" idx="6"/>
            <a:endCxn id="28" idx="1"/>
          </p:cNvCxnSpPr>
          <p:nvPr/>
        </p:nvCxnSpPr>
        <p:spPr>
          <a:xfrm>
            <a:off x="4335170" y="5621282"/>
            <a:ext cx="490830" cy="154133"/>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788695" y="5010094"/>
            <a:ext cx="3546475" cy="1222375"/>
          </a:xfrm>
          <a:prstGeom prst="ellipse">
            <a:avLst/>
          </a:prstGeom>
          <a:solidFill>
            <a:schemeClr val="accent2">
              <a:alpha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7507997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177"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9086" y="3124200"/>
            <a:ext cx="3735526" cy="105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4294967295"/>
          </p:nvPr>
        </p:nvSpPr>
        <p:spPr>
          <a:xfrm>
            <a:off x="6553200" y="6356350"/>
            <a:ext cx="2133600" cy="365125"/>
          </a:xfrm>
          <a:prstGeom prst="rect">
            <a:avLst/>
          </a:prstGeom>
        </p:spPr>
        <p:txBody>
          <a:bodyPr/>
          <a:lstStyle/>
          <a:p>
            <a:fld id="{B6F15528-21DE-4FAA-801E-634DDDAF4B2B}" type="slidenum">
              <a:rPr lang="en-US" smtClean="0"/>
              <a:pPr/>
              <a:t>40</a:t>
            </a:fld>
            <a:endParaRPr lang="en-US" dirty="0"/>
          </a:p>
        </p:txBody>
      </p:sp>
      <p:sp>
        <p:nvSpPr>
          <p:cNvPr id="41" name="TextBox 40"/>
          <p:cNvSpPr txBox="1"/>
          <p:nvPr/>
        </p:nvSpPr>
        <p:spPr>
          <a:xfrm>
            <a:off x="0" y="67253"/>
            <a:ext cx="9144000" cy="523220"/>
          </a:xfrm>
          <a:prstGeom prst="rect">
            <a:avLst/>
          </a:prstGeom>
          <a:noFill/>
        </p:spPr>
        <p:txBody>
          <a:bodyPr wrap="square" rtlCol="0">
            <a:spAutoFit/>
          </a:bodyPr>
          <a:lstStyle/>
          <a:p>
            <a:pPr algn="ctr"/>
            <a:r>
              <a:rPr lang="en-US" sz="2800" dirty="0" smtClean="0">
                <a:solidFill>
                  <a:srgbClr val="FF0000"/>
                </a:solidFill>
                <a:latin typeface="Arial Black" pitchFamily="34" charset="0"/>
              </a:rPr>
              <a:t>Data Format: </a:t>
            </a:r>
            <a:r>
              <a:rPr lang="en-US" sz="2800" b="1" dirty="0" smtClean="0">
                <a:latin typeface="Arial Black" pitchFamily="34" charset="0"/>
              </a:rPr>
              <a:t>how to place a table to a cluster</a:t>
            </a:r>
            <a:endParaRPr lang="en-US" sz="2800" b="1" dirty="0">
              <a:latin typeface="Arial Black" pitchFamily="34" charset="0"/>
            </a:endParaRPr>
          </a:p>
        </p:txBody>
      </p:sp>
      <p:grpSp>
        <p:nvGrpSpPr>
          <p:cNvPr id="64" name="Group 63"/>
          <p:cNvGrpSpPr/>
          <p:nvPr/>
        </p:nvGrpSpPr>
        <p:grpSpPr>
          <a:xfrm>
            <a:off x="1531311" y="5105400"/>
            <a:ext cx="6774489" cy="1660532"/>
            <a:chOff x="1566531" y="5206906"/>
            <a:chExt cx="6774489" cy="1660532"/>
          </a:xfrm>
        </p:grpSpPr>
        <p:pic>
          <p:nvPicPr>
            <p:cNvPr id="38" name="Picture 2"/>
            <p:cNvPicPr>
              <a:picLocks noChangeAspect="1" noChangeArrowheads="1"/>
            </p:cNvPicPr>
            <p:nvPr/>
          </p:nvPicPr>
          <p:blipFill>
            <a:blip r:embed="rId4" cstate="print"/>
            <a:srcRect/>
            <a:stretch>
              <a:fillRect/>
            </a:stretch>
          </p:blipFill>
          <p:spPr bwMode="auto">
            <a:xfrm>
              <a:off x="1794510" y="5281039"/>
              <a:ext cx="727710" cy="1032333"/>
            </a:xfrm>
            <a:prstGeom prst="rect">
              <a:avLst/>
            </a:prstGeom>
            <a:noFill/>
            <a:ln w="9525">
              <a:noFill/>
              <a:miter lim="800000"/>
              <a:headEnd/>
              <a:tailEnd/>
            </a:ln>
          </p:spPr>
        </p:pic>
        <p:pic>
          <p:nvPicPr>
            <p:cNvPr id="39" name="Picture 2"/>
            <p:cNvPicPr>
              <a:picLocks noChangeAspect="1" noChangeArrowheads="1"/>
            </p:cNvPicPr>
            <p:nvPr/>
          </p:nvPicPr>
          <p:blipFill>
            <a:blip r:embed="rId4" cstate="print"/>
            <a:srcRect/>
            <a:stretch>
              <a:fillRect/>
            </a:stretch>
          </p:blipFill>
          <p:spPr bwMode="auto">
            <a:xfrm>
              <a:off x="4461510" y="5281039"/>
              <a:ext cx="727710" cy="1032333"/>
            </a:xfrm>
            <a:prstGeom prst="rect">
              <a:avLst/>
            </a:prstGeom>
            <a:noFill/>
            <a:ln w="9525">
              <a:noFill/>
              <a:miter lim="800000"/>
              <a:headEnd/>
              <a:tailEnd/>
            </a:ln>
          </p:spPr>
        </p:pic>
        <p:pic>
          <p:nvPicPr>
            <p:cNvPr id="40" name="Picture 2"/>
            <p:cNvPicPr>
              <a:picLocks noChangeAspect="1" noChangeArrowheads="1"/>
            </p:cNvPicPr>
            <p:nvPr/>
          </p:nvPicPr>
          <p:blipFill>
            <a:blip r:embed="rId4" cstate="print"/>
            <a:srcRect/>
            <a:stretch>
              <a:fillRect/>
            </a:stretch>
          </p:blipFill>
          <p:spPr bwMode="auto">
            <a:xfrm>
              <a:off x="7239000" y="5206906"/>
              <a:ext cx="727710" cy="1032333"/>
            </a:xfrm>
            <a:prstGeom prst="rect">
              <a:avLst/>
            </a:prstGeom>
            <a:noFill/>
            <a:ln w="9525">
              <a:noFill/>
              <a:miter lim="800000"/>
              <a:headEnd/>
              <a:tailEnd/>
            </a:ln>
          </p:spPr>
        </p:pic>
        <p:sp>
          <p:nvSpPr>
            <p:cNvPr id="48" name="TextBox 47"/>
            <p:cNvSpPr txBox="1"/>
            <p:nvPr/>
          </p:nvSpPr>
          <p:spPr>
            <a:xfrm>
              <a:off x="1566531" y="6388578"/>
              <a:ext cx="1211889" cy="461665"/>
            </a:xfrm>
            <a:prstGeom prst="rect">
              <a:avLst/>
            </a:prstGeom>
            <a:noFill/>
          </p:spPr>
          <p:txBody>
            <a:bodyPr wrap="square" rtlCol="0">
              <a:spAutoFit/>
            </a:bodyPr>
            <a:lstStyle/>
            <a:p>
              <a:r>
                <a:rPr lang="en-US" sz="2400" dirty="0" smtClean="0"/>
                <a:t>Server 1</a:t>
              </a:r>
              <a:endParaRPr lang="en-US" sz="2400" dirty="0"/>
            </a:p>
          </p:txBody>
        </p:sp>
        <p:sp>
          <p:nvSpPr>
            <p:cNvPr id="50" name="TextBox 49"/>
            <p:cNvSpPr txBox="1"/>
            <p:nvPr/>
          </p:nvSpPr>
          <p:spPr>
            <a:xfrm>
              <a:off x="4302421" y="6396334"/>
              <a:ext cx="1219199" cy="461665"/>
            </a:xfrm>
            <a:prstGeom prst="rect">
              <a:avLst/>
            </a:prstGeom>
            <a:noFill/>
          </p:spPr>
          <p:txBody>
            <a:bodyPr wrap="square" rtlCol="0">
              <a:spAutoFit/>
            </a:bodyPr>
            <a:lstStyle/>
            <a:p>
              <a:r>
                <a:rPr lang="en-US" sz="2400" dirty="0" smtClean="0"/>
                <a:t>Server 2</a:t>
              </a:r>
              <a:endParaRPr lang="en-US" sz="2400" dirty="0"/>
            </a:p>
          </p:txBody>
        </p:sp>
        <p:sp>
          <p:nvSpPr>
            <p:cNvPr id="51" name="TextBox 50"/>
            <p:cNvSpPr txBox="1"/>
            <p:nvPr/>
          </p:nvSpPr>
          <p:spPr>
            <a:xfrm>
              <a:off x="7068627" y="6405773"/>
              <a:ext cx="1272393" cy="461665"/>
            </a:xfrm>
            <a:prstGeom prst="rect">
              <a:avLst/>
            </a:prstGeom>
            <a:noFill/>
          </p:spPr>
          <p:txBody>
            <a:bodyPr wrap="square" rtlCol="0">
              <a:spAutoFit/>
            </a:bodyPr>
            <a:lstStyle/>
            <a:p>
              <a:r>
                <a:rPr lang="en-US" sz="2400" dirty="0" smtClean="0"/>
                <a:t>Server 3</a:t>
              </a:r>
              <a:endParaRPr lang="en-US" sz="2400" dirty="0"/>
            </a:p>
          </p:txBody>
        </p:sp>
      </p:grpSp>
      <p:sp>
        <p:nvSpPr>
          <p:cNvPr id="67" name="矩形 66"/>
          <p:cNvSpPr/>
          <p:nvPr/>
        </p:nvSpPr>
        <p:spPr>
          <a:xfrm>
            <a:off x="1066800" y="3733800"/>
            <a:ext cx="7010400" cy="609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How to store a table over a cluster of servers ?</a:t>
            </a:r>
            <a:endParaRPr lang="en-US" sz="2800" dirty="0"/>
          </a:p>
        </p:txBody>
      </p:sp>
      <p:sp>
        <p:nvSpPr>
          <p:cNvPr id="68" name="矩形 67"/>
          <p:cNvSpPr/>
          <p:nvPr/>
        </p:nvSpPr>
        <p:spPr>
          <a:xfrm>
            <a:off x="3244980" y="4217334"/>
            <a:ext cx="5163914" cy="6096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answer = table placement method</a:t>
            </a:r>
            <a:endParaRPr lang="en-US" sz="2800" dirty="0"/>
          </a:p>
        </p:txBody>
      </p:sp>
      <p:pic>
        <p:nvPicPr>
          <p:cNvPr id="7174"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89086" y="1905000"/>
            <a:ext cx="3735525" cy="120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7" name="直接连接符 56"/>
          <p:cNvCxnSpPr/>
          <p:nvPr/>
        </p:nvCxnSpPr>
        <p:spPr>
          <a:xfrm>
            <a:off x="2487000" y="1905000"/>
            <a:ext cx="4142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2487000" y="3124200"/>
            <a:ext cx="4142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pic>
        <p:nvPicPr>
          <p:cNvPr id="7185"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86050" y="762000"/>
            <a:ext cx="371475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44078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8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17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17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42" presetClass="path" presetSubtype="0" accel="50000" decel="50000" fill="hold" nodeType="clickEffect">
                                  <p:stCondLst>
                                    <p:cond delay="0"/>
                                  </p:stCondLst>
                                  <p:childTnLst>
                                    <p:animMotion origin="layout" path="M -3.88889E-6 1.74879E-6 L 0.01841 0.48924 " pathEditMode="relative" rAng="0" ptsTypes="AA">
                                      <p:cBhvr>
                                        <p:cTn id="36" dur="2000" fill="hold"/>
                                        <p:tgtEl>
                                          <p:spTgt spid="7174"/>
                                        </p:tgtEl>
                                        <p:attrNameLst>
                                          <p:attrName>ppt_x</p:attrName>
                                          <p:attrName>ppt_y</p:attrName>
                                        </p:attrNameLst>
                                      </p:cBhvr>
                                      <p:rCtr x="920" y="24451"/>
                                    </p:animMotion>
                                  </p:childTnLst>
                                </p:cTn>
                              </p:par>
                            </p:childTnLst>
                          </p:cTn>
                        </p:par>
                      </p:childTnLst>
                    </p:cTn>
                  </p:par>
                  <p:par>
                    <p:cTn id="37" fill="hold">
                      <p:stCondLst>
                        <p:cond delay="indefinite"/>
                      </p:stCondLst>
                      <p:childTnLst>
                        <p:par>
                          <p:cTn id="38" fill="hold">
                            <p:stCondLst>
                              <p:cond delay="0"/>
                            </p:stCondLst>
                            <p:childTnLst>
                              <p:par>
                                <p:cTn id="39" presetID="42" presetClass="path" presetSubtype="0" accel="50000" decel="50000" fill="hold" nodeType="clickEffect">
                                  <p:stCondLst>
                                    <p:cond delay="0"/>
                                  </p:stCondLst>
                                  <p:childTnLst>
                                    <p:animMotion origin="layout" path="M -3.88889E-6 7.4254E-7 L 0.36841 0.24497 " pathEditMode="relative" rAng="0" ptsTypes="AA">
                                      <p:cBhvr>
                                        <p:cTn id="40" dur="2000" fill="hold"/>
                                        <p:tgtEl>
                                          <p:spTgt spid="7177"/>
                                        </p:tgtEl>
                                        <p:attrNameLst>
                                          <p:attrName>ppt_x</p:attrName>
                                          <p:attrName>ppt_y</p:attrName>
                                        </p:attrNameLst>
                                      </p:cBhvr>
                                      <p:rCtr x="18420" y="1223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67" grpId="0" animBg="1"/>
      <p:bldP spid="68"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23626"/>
            <a:ext cx="9144000" cy="1143000"/>
          </a:xfrm>
        </p:spPr>
        <p:txBody>
          <a:bodyPr>
            <a:normAutofit/>
          </a:bodyPr>
          <a:lstStyle/>
          <a:p>
            <a:pPr algn="ctr"/>
            <a:r>
              <a:rPr lang="en-US" sz="3200" dirty="0" smtClean="0"/>
              <a:t>Existing Data Placement Methods  </a:t>
            </a:r>
            <a:endParaRPr lang="en-US" sz="3200" dirty="0"/>
          </a:p>
        </p:txBody>
      </p:sp>
      <p:sp>
        <p:nvSpPr>
          <p:cNvPr id="3" name="Content Placeholder 2"/>
          <p:cNvSpPr>
            <a:spLocks noGrp="1"/>
          </p:cNvSpPr>
          <p:nvPr>
            <p:ph idx="1"/>
          </p:nvPr>
        </p:nvSpPr>
        <p:spPr>
          <a:xfrm>
            <a:off x="0" y="968188"/>
            <a:ext cx="9144000" cy="5211763"/>
          </a:xfrm>
        </p:spPr>
        <p:txBody>
          <a:bodyPr>
            <a:normAutofit/>
          </a:bodyPr>
          <a:lstStyle/>
          <a:p>
            <a:r>
              <a:rPr lang="en-US" sz="2800" dirty="0" smtClean="0">
                <a:solidFill>
                  <a:srgbClr val="FF0000"/>
                </a:solidFill>
              </a:rPr>
              <a:t>Row-Store: </a:t>
            </a:r>
            <a:r>
              <a:rPr lang="en-US" sz="2800" dirty="0" smtClean="0"/>
              <a:t>partitioning a table by rows to store</a:t>
            </a:r>
          </a:p>
          <a:p>
            <a:pPr lvl="1"/>
            <a:r>
              <a:rPr lang="en-US" sz="2400" dirty="0" smtClean="0"/>
              <a:t>Merit 1: fast data loading</a:t>
            </a:r>
            <a:endParaRPr lang="en-US" sz="2400" dirty="0"/>
          </a:p>
          <a:p>
            <a:pPr lvl="1"/>
            <a:r>
              <a:rPr lang="en-US" sz="2400" dirty="0" smtClean="0"/>
              <a:t>Merit 2: all columns in a row are in one HDFS block</a:t>
            </a:r>
          </a:p>
          <a:p>
            <a:pPr lvl="1"/>
            <a:r>
              <a:rPr lang="en-US" sz="2400" dirty="0" smtClean="0">
                <a:solidFill>
                  <a:srgbClr val="FF0000"/>
                </a:solidFill>
              </a:rPr>
              <a:t>Limit 1:</a:t>
            </a:r>
            <a:r>
              <a:rPr lang="en-US" sz="2400" dirty="0" smtClean="0"/>
              <a:t> not all columns to be used (unnecessary I/O)</a:t>
            </a:r>
          </a:p>
          <a:p>
            <a:pPr lvl="1"/>
            <a:r>
              <a:rPr lang="en-US" sz="2400" dirty="0" smtClean="0">
                <a:solidFill>
                  <a:srgbClr val="FF0000"/>
                </a:solidFill>
              </a:rPr>
              <a:t>Limit 2:</a:t>
            </a:r>
            <a:r>
              <a:rPr lang="en-US" sz="2400" dirty="0" smtClean="0"/>
              <a:t> row-based data compression may not be efficient </a:t>
            </a:r>
          </a:p>
          <a:p>
            <a:pPr marL="457200" lvl="1" indent="0">
              <a:buNone/>
            </a:pPr>
            <a:endParaRPr lang="en-US" sz="2400" dirty="0" smtClean="0"/>
          </a:p>
          <a:p>
            <a:r>
              <a:rPr lang="en-US" sz="2800" dirty="0" smtClean="0">
                <a:solidFill>
                  <a:srgbClr val="FF0000"/>
                </a:solidFill>
              </a:rPr>
              <a:t>Column-Store: </a:t>
            </a:r>
            <a:r>
              <a:rPr lang="en-US" sz="2800" dirty="0" smtClean="0"/>
              <a:t>partitioning a table by columns to store </a:t>
            </a:r>
          </a:p>
          <a:p>
            <a:pPr lvl="1"/>
            <a:r>
              <a:rPr lang="en-US" sz="2400" dirty="0" smtClean="0"/>
              <a:t>Merit 1: only read the useful columns (I/O efficient)</a:t>
            </a:r>
          </a:p>
          <a:p>
            <a:pPr lvl="1"/>
            <a:r>
              <a:rPr lang="en-US" sz="2400" dirty="0" smtClean="0"/>
              <a:t>Merit 2: Efficient compression under the same data type</a:t>
            </a:r>
          </a:p>
          <a:p>
            <a:pPr lvl="1"/>
            <a:r>
              <a:rPr lang="en-US" sz="2400" dirty="0" smtClean="0">
                <a:solidFill>
                  <a:srgbClr val="FF0000"/>
                </a:solidFill>
              </a:rPr>
              <a:t>Limit 1:</a:t>
            </a:r>
            <a:r>
              <a:rPr lang="en-US" sz="2400" dirty="0" smtClean="0"/>
              <a:t> Column grouping need intra-network communication</a:t>
            </a:r>
          </a:p>
          <a:p>
            <a:pPr lvl="1"/>
            <a:r>
              <a:rPr lang="en-US" sz="2400" dirty="0" smtClean="0">
                <a:solidFill>
                  <a:srgbClr val="FF0000"/>
                </a:solidFill>
              </a:rPr>
              <a:t>Limit 2:</a:t>
            </a:r>
            <a:r>
              <a:rPr lang="en-US" sz="2400" dirty="0" smtClean="0"/>
              <a:t> Column partitioning operations can be an overhead</a:t>
            </a:r>
          </a:p>
        </p:txBody>
      </p:sp>
    </p:spTree>
    <p:extLst>
      <p:ext uri="{BB962C8B-B14F-4D97-AF65-F5344CB8AC3E}">
        <p14:creationId xmlns:p14="http://schemas.microsoft.com/office/powerpoint/2010/main" val="2229795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6042" y="0"/>
            <a:ext cx="9144000" cy="1143000"/>
          </a:xfrm>
        </p:spPr>
        <p:txBody>
          <a:bodyPr>
            <a:noAutofit/>
          </a:bodyPr>
          <a:lstStyle/>
          <a:p>
            <a:r>
              <a:rPr lang="en-US" sz="3600" dirty="0" err="1" smtClean="0"/>
              <a:t>RCFile</a:t>
            </a:r>
            <a:r>
              <a:rPr lang="en-US" sz="3600" dirty="0" smtClean="0"/>
              <a:t>: Partition Table into </a:t>
            </a:r>
            <a:r>
              <a:rPr lang="en-US" sz="3600" dirty="0" smtClean="0">
                <a:solidFill>
                  <a:srgbClr val="FF0000"/>
                </a:solidFill>
              </a:rPr>
              <a:t>Row Groups</a:t>
            </a:r>
            <a:endParaRPr lang="en-US" sz="3600" dirty="0">
              <a:solidFill>
                <a:srgbClr val="FF0000"/>
              </a:solidFill>
            </a:endParaRPr>
          </a:p>
        </p:txBody>
      </p:sp>
      <p:graphicFrame>
        <p:nvGraphicFramePr>
          <p:cNvPr id="17" name="Content Placeholder 16"/>
          <p:cNvGraphicFramePr>
            <a:graphicFrameLocks noGrp="1"/>
          </p:cNvGraphicFramePr>
          <p:nvPr>
            <p:ph idx="1"/>
          </p:nvPr>
        </p:nvGraphicFramePr>
        <p:xfrm>
          <a:off x="1231726" y="3204865"/>
          <a:ext cx="800100" cy="2286000"/>
        </p:xfrm>
        <a:graphic>
          <a:graphicData uri="http://schemas.openxmlformats.org/drawingml/2006/table">
            <a:tbl>
              <a:tblPr firstRow="1" bandRow="1">
                <a:tableStyleId>{2D5ABB26-0587-4C30-8999-92F81FD0307C}</a:tableStyleId>
              </a:tblPr>
              <a:tblGrid>
                <a:gridCol w="800100"/>
              </a:tblGrid>
              <a:tr h="370840">
                <a:tc>
                  <a:txBody>
                    <a:bodyPr/>
                    <a:lstStyle/>
                    <a:p>
                      <a:r>
                        <a:rPr lang="en-US" sz="2400" dirty="0" smtClean="0">
                          <a:solidFill>
                            <a:schemeClr val="tx1"/>
                          </a:solidFill>
                        </a:rPr>
                        <a:t>101</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102</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103</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104</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105</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4" name="Slide Number Placeholder 3"/>
          <p:cNvSpPr>
            <a:spLocks noGrp="1"/>
          </p:cNvSpPr>
          <p:nvPr>
            <p:ph type="sldNum" sz="quarter" idx="4294967295"/>
          </p:nvPr>
        </p:nvSpPr>
        <p:spPr>
          <a:xfrm>
            <a:off x="6553200" y="6356350"/>
            <a:ext cx="2133600" cy="365125"/>
          </a:xfrm>
          <a:prstGeom prst="rect">
            <a:avLst/>
          </a:prstGeom>
        </p:spPr>
        <p:txBody>
          <a:bodyPr/>
          <a:lstStyle/>
          <a:p>
            <a:fld id="{B6F15528-21DE-4FAA-801E-634DDDAF4B2B}" type="slidenum">
              <a:rPr lang="en-US" smtClean="0"/>
              <a:pPr/>
              <a:t>42</a:t>
            </a:fld>
            <a:endParaRPr lang="en-US"/>
          </a:p>
        </p:txBody>
      </p:sp>
      <p:sp>
        <p:nvSpPr>
          <p:cNvPr id="19" name="TextBox 18"/>
          <p:cNvSpPr txBox="1"/>
          <p:nvPr/>
        </p:nvSpPr>
        <p:spPr>
          <a:xfrm>
            <a:off x="2118831" y="1671935"/>
            <a:ext cx="861903" cy="461665"/>
          </a:xfrm>
          <a:prstGeom prst="rect">
            <a:avLst/>
          </a:prstGeom>
          <a:noFill/>
        </p:spPr>
        <p:txBody>
          <a:bodyPr wrap="none" rtlCol="0">
            <a:spAutoFit/>
          </a:bodyPr>
          <a:lstStyle/>
          <a:p>
            <a:r>
              <a:rPr lang="en-US" sz="2400" b="1" dirty="0" smtClean="0"/>
              <a:t>Table</a:t>
            </a:r>
            <a:endParaRPr lang="en-US" sz="2400" b="1" dirty="0"/>
          </a:p>
        </p:txBody>
      </p:sp>
      <p:graphicFrame>
        <p:nvGraphicFramePr>
          <p:cNvPr id="16" name="Content Placeholder 16"/>
          <p:cNvGraphicFramePr>
            <a:graphicFrameLocks/>
          </p:cNvGraphicFramePr>
          <p:nvPr/>
        </p:nvGraphicFramePr>
        <p:xfrm>
          <a:off x="2831926" y="3204865"/>
          <a:ext cx="800100" cy="2286000"/>
        </p:xfrm>
        <a:graphic>
          <a:graphicData uri="http://schemas.openxmlformats.org/drawingml/2006/table">
            <a:tbl>
              <a:tblPr firstRow="1" bandRow="1">
                <a:tableStyleId>{2D5ABB26-0587-4C30-8999-92F81FD0307C}</a:tableStyleId>
              </a:tblPr>
              <a:tblGrid>
                <a:gridCol w="800100"/>
              </a:tblGrid>
              <a:tr h="370840">
                <a:tc>
                  <a:txBody>
                    <a:bodyPr/>
                    <a:lstStyle/>
                    <a:p>
                      <a:r>
                        <a:rPr lang="en-US" sz="2400" dirty="0" smtClean="0">
                          <a:solidFill>
                            <a:schemeClr val="tx1"/>
                          </a:solidFill>
                        </a:rPr>
                        <a:t>301</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302</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303</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304</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305</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22" name="Content Placeholder 16"/>
          <p:cNvGraphicFramePr>
            <a:graphicFrameLocks/>
          </p:cNvGraphicFramePr>
          <p:nvPr/>
        </p:nvGraphicFramePr>
        <p:xfrm>
          <a:off x="2031826" y="3204865"/>
          <a:ext cx="800100" cy="2286000"/>
        </p:xfrm>
        <a:graphic>
          <a:graphicData uri="http://schemas.openxmlformats.org/drawingml/2006/table">
            <a:tbl>
              <a:tblPr firstRow="1" bandRow="1">
                <a:tableStyleId>{2D5ABB26-0587-4C30-8999-92F81FD0307C}</a:tableStyleId>
              </a:tblPr>
              <a:tblGrid>
                <a:gridCol w="800100"/>
              </a:tblGrid>
              <a:tr h="370840">
                <a:tc>
                  <a:txBody>
                    <a:bodyPr/>
                    <a:lstStyle/>
                    <a:p>
                      <a:r>
                        <a:rPr lang="en-US" sz="2400" dirty="0" smtClean="0">
                          <a:solidFill>
                            <a:schemeClr val="tx1"/>
                          </a:solidFill>
                        </a:rPr>
                        <a:t>201</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202</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203</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204</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205</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23" name="Content Placeholder 16"/>
          <p:cNvGraphicFramePr>
            <a:graphicFrameLocks/>
          </p:cNvGraphicFramePr>
          <p:nvPr/>
        </p:nvGraphicFramePr>
        <p:xfrm>
          <a:off x="3632026" y="3204865"/>
          <a:ext cx="800100" cy="2286000"/>
        </p:xfrm>
        <a:graphic>
          <a:graphicData uri="http://schemas.openxmlformats.org/drawingml/2006/table">
            <a:tbl>
              <a:tblPr firstRow="1" bandRow="1">
                <a:tableStyleId>{2D5ABB26-0587-4C30-8999-92F81FD0307C}</a:tableStyleId>
              </a:tblPr>
              <a:tblGrid>
                <a:gridCol w="800100"/>
              </a:tblGrid>
              <a:tr h="370840">
                <a:tc>
                  <a:txBody>
                    <a:bodyPr/>
                    <a:lstStyle/>
                    <a:p>
                      <a:r>
                        <a:rPr lang="en-US" sz="2400" dirty="0" smtClean="0">
                          <a:solidFill>
                            <a:schemeClr val="tx1"/>
                          </a:solidFill>
                        </a:rPr>
                        <a:t>401</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402</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403</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404</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405</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24" name="Flowchart: Document 23"/>
          <p:cNvSpPr/>
          <p:nvPr/>
        </p:nvSpPr>
        <p:spPr>
          <a:xfrm>
            <a:off x="6248400" y="2133600"/>
            <a:ext cx="2514600" cy="3886200"/>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5" name="Table 24"/>
          <p:cNvGraphicFramePr>
            <a:graphicFrameLocks noGrp="1"/>
          </p:cNvGraphicFramePr>
          <p:nvPr/>
        </p:nvGraphicFramePr>
        <p:xfrm>
          <a:off x="6400800" y="2346960"/>
          <a:ext cx="2209800" cy="2743200"/>
        </p:xfrm>
        <a:graphic>
          <a:graphicData uri="http://schemas.openxmlformats.org/drawingml/2006/table">
            <a:tbl>
              <a:tblPr firstRow="1" bandRow="1">
                <a:tableStyleId>{2D5ABB26-0587-4C30-8999-92F81FD0307C}</a:tableStyleId>
              </a:tblPr>
              <a:tblGrid>
                <a:gridCol w="2209800"/>
              </a:tblGrid>
              <a:tr h="370840">
                <a:tc>
                  <a:txBody>
                    <a:bodyPr/>
                    <a:lstStyle/>
                    <a:p>
                      <a:r>
                        <a:rPr lang="en-US" sz="2400" b="1" dirty="0" smtClean="0">
                          <a:solidFill>
                            <a:schemeClr val="bg1"/>
                          </a:solidFill>
                        </a:rPr>
                        <a:t>HDFS</a:t>
                      </a:r>
                      <a:r>
                        <a:rPr lang="en-US" sz="2400" b="1" baseline="0" dirty="0" smtClean="0">
                          <a:solidFill>
                            <a:schemeClr val="bg1"/>
                          </a:solidFill>
                        </a:rPr>
                        <a:t> Blocks</a:t>
                      </a:r>
                      <a:endParaRPr lang="en-US" sz="2400" b="1" dirty="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r>
              <a:tr h="370840">
                <a:tc>
                  <a:txBody>
                    <a:bodyPr/>
                    <a:lstStyle/>
                    <a:p>
                      <a:r>
                        <a:rPr lang="en-US" sz="2400" b="1" dirty="0" smtClean="0">
                          <a:solidFill>
                            <a:schemeClr val="bg1"/>
                          </a:solidFill>
                        </a:rPr>
                        <a:t>Store</a:t>
                      </a:r>
                      <a:r>
                        <a:rPr lang="en-US" sz="2400" b="1" baseline="0" dirty="0" smtClean="0">
                          <a:solidFill>
                            <a:schemeClr val="bg1"/>
                          </a:solidFill>
                        </a:rPr>
                        <a:t> Block 1</a:t>
                      </a:r>
                      <a:endParaRPr lang="en-US" sz="2400" b="1" dirty="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smtClean="0">
                          <a:solidFill>
                            <a:schemeClr val="bg1"/>
                          </a:solidFill>
                        </a:rPr>
                        <a:t>Store</a:t>
                      </a:r>
                      <a:r>
                        <a:rPr lang="en-US" sz="2400" b="1" baseline="0" dirty="0" smtClean="0">
                          <a:solidFill>
                            <a:schemeClr val="bg1"/>
                          </a:solidFill>
                        </a:rPr>
                        <a:t> Block 2</a:t>
                      </a:r>
                      <a:endParaRPr lang="en-US" sz="2400" b="1" dirty="0" smtClean="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smtClean="0">
                          <a:solidFill>
                            <a:schemeClr val="bg1"/>
                          </a:solidFill>
                        </a:rPr>
                        <a:t>Store</a:t>
                      </a:r>
                      <a:r>
                        <a:rPr lang="en-US" sz="2400" b="1" baseline="0" dirty="0" smtClean="0">
                          <a:solidFill>
                            <a:schemeClr val="bg1"/>
                          </a:solidFill>
                        </a:rPr>
                        <a:t> Block 3</a:t>
                      </a:r>
                      <a:endParaRPr lang="en-US" sz="2400" b="1" dirty="0" smtClean="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smtClean="0">
                          <a:solidFill>
                            <a:schemeClr val="bg1"/>
                          </a:solidFill>
                        </a:rPr>
                        <a:t>Store</a:t>
                      </a:r>
                      <a:r>
                        <a:rPr lang="en-US" sz="2400" b="1" baseline="0" dirty="0" smtClean="0">
                          <a:solidFill>
                            <a:schemeClr val="bg1"/>
                          </a:solidFill>
                        </a:rPr>
                        <a:t> Block 4</a:t>
                      </a:r>
                      <a:endParaRPr lang="en-US" sz="2400" b="1" dirty="0" smtClean="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smtClean="0">
                          <a:solidFill>
                            <a:schemeClr val="bg1"/>
                          </a:solidFill>
                        </a:rPr>
                        <a:t>…</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r>
            </a:tbl>
          </a:graphicData>
        </a:graphic>
      </p:graphicFrame>
      <p:graphicFrame>
        <p:nvGraphicFramePr>
          <p:cNvPr id="11" name="Content Placeholder 16"/>
          <p:cNvGraphicFramePr>
            <a:graphicFrameLocks/>
          </p:cNvGraphicFramePr>
          <p:nvPr/>
        </p:nvGraphicFramePr>
        <p:xfrm>
          <a:off x="1231726" y="2286000"/>
          <a:ext cx="800100" cy="914400"/>
        </p:xfrm>
        <a:graphic>
          <a:graphicData uri="http://schemas.openxmlformats.org/drawingml/2006/table">
            <a:tbl>
              <a:tblPr firstRow="1" bandRow="1">
                <a:tableStyleId>{2D5ABB26-0587-4C30-8999-92F81FD0307C}</a:tableStyleId>
              </a:tblPr>
              <a:tblGrid>
                <a:gridCol w="800100"/>
              </a:tblGrid>
              <a:tr h="370840">
                <a:tc>
                  <a:txBody>
                    <a:bodyPr/>
                    <a:lstStyle/>
                    <a:p>
                      <a:r>
                        <a:rPr lang="en-US" sz="2400" dirty="0" smtClean="0">
                          <a:solidFill>
                            <a:schemeClr val="tx1"/>
                          </a:solidFill>
                        </a:rPr>
                        <a:t>A</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r>
              <a:tr h="370840">
                <a:tc>
                  <a:txBody>
                    <a:bodyPr/>
                    <a:lstStyle/>
                    <a:p>
                      <a:r>
                        <a:rPr lang="en-US" sz="2400" dirty="0" smtClean="0">
                          <a:solidFill>
                            <a:schemeClr val="tx1"/>
                          </a:solidFill>
                        </a:rPr>
                        <a:t>…</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r>
            </a:tbl>
          </a:graphicData>
        </a:graphic>
      </p:graphicFrame>
      <p:graphicFrame>
        <p:nvGraphicFramePr>
          <p:cNvPr id="12" name="Content Placeholder 16"/>
          <p:cNvGraphicFramePr>
            <a:graphicFrameLocks/>
          </p:cNvGraphicFramePr>
          <p:nvPr/>
        </p:nvGraphicFramePr>
        <p:xfrm>
          <a:off x="2831926" y="2286000"/>
          <a:ext cx="800100" cy="914400"/>
        </p:xfrm>
        <a:graphic>
          <a:graphicData uri="http://schemas.openxmlformats.org/drawingml/2006/table">
            <a:tbl>
              <a:tblPr firstRow="1" bandRow="1">
                <a:tableStyleId>{2D5ABB26-0587-4C30-8999-92F81FD0307C}</a:tableStyleId>
              </a:tblPr>
              <a:tblGrid>
                <a:gridCol w="800100"/>
              </a:tblGrid>
              <a:tr h="370840">
                <a:tc>
                  <a:txBody>
                    <a:bodyPr/>
                    <a:lstStyle/>
                    <a:p>
                      <a:r>
                        <a:rPr lang="en-US" sz="2400" dirty="0" smtClean="0">
                          <a:solidFill>
                            <a:schemeClr val="tx1"/>
                          </a:solidFill>
                        </a:rPr>
                        <a:t>C</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r>
              <a:tr h="370840">
                <a:tc>
                  <a:txBody>
                    <a:bodyPr/>
                    <a:lstStyle/>
                    <a:p>
                      <a:r>
                        <a:rPr lang="en-US" sz="2400" dirty="0" smtClean="0">
                          <a:solidFill>
                            <a:schemeClr val="tx1"/>
                          </a:solidFill>
                        </a:rPr>
                        <a:t>…</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r>
            </a:tbl>
          </a:graphicData>
        </a:graphic>
      </p:graphicFrame>
      <p:graphicFrame>
        <p:nvGraphicFramePr>
          <p:cNvPr id="13" name="Content Placeholder 16"/>
          <p:cNvGraphicFramePr>
            <a:graphicFrameLocks/>
          </p:cNvGraphicFramePr>
          <p:nvPr/>
        </p:nvGraphicFramePr>
        <p:xfrm>
          <a:off x="2031826" y="2286000"/>
          <a:ext cx="800100" cy="914400"/>
        </p:xfrm>
        <a:graphic>
          <a:graphicData uri="http://schemas.openxmlformats.org/drawingml/2006/table">
            <a:tbl>
              <a:tblPr firstRow="1" bandRow="1">
                <a:tableStyleId>{2D5ABB26-0587-4C30-8999-92F81FD0307C}</a:tableStyleId>
              </a:tblPr>
              <a:tblGrid>
                <a:gridCol w="800100"/>
              </a:tblGrid>
              <a:tr h="370840">
                <a:tc>
                  <a:txBody>
                    <a:bodyPr/>
                    <a:lstStyle/>
                    <a:p>
                      <a:r>
                        <a:rPr lang="en-US" sz="2400" dirty="0" smtClean="0">
                          <a:solidFill>
                            <a:schemeClr val="tx1"/>
                          </a:solidFill>
                        </a:rPr>
                        <a:t>B</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r>
              <a:tr h="370840">
                <a:tc>
                  <a:txBody>
                    <a:bodyPr/>
                    <a:lstStyle/>
                    <a:p>
                      <a:r>
                        <a:rPr lang="en-US" sz="2400" dirty="0" smtClean="0">
                          <a:solidFill>
                            <a:schemeClr val="tx1"/>
                          </a:solidFill>
                        </a:rPr>
                        <a:t>…</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r>
            </a:tbl>
          </a:graphicData>
        </a:graphic>
      </p:graphicFrame>
      <p:graphicFrame>
        <p:nvGraphicFramePr>
          <p:cNvPr id="14" name="Content Placeholder 16"/>
          <p:cNvGraphicFramePr>
            <a:graphicFrameLocks/>
          </p:cNvGraphicFramePr>
          <p:nvPr/>
        </p:nvGraphicFramePr>
        <p:xfrm>
          <a:off x="3632026" y="2286000"/>
          <a:ext cx="800100" cy="914400"/>
        </p:xfrm>
        <a:graphic>
          <a:graphicData uri="http://schemas.openxmlformats.org/drawingml/2006/table">
            <a:tbl>
              <a:tblPr firstRow="1" bandRow="1">
                <a:tableStyleId>{2D5ABB26-0587-4C30-8999-92F81FD0307C}</a:tableStyleId>
              </a:tblPr>
              <a:tblGrid>
                <a:gridCol w="800100"/>
              </a:tblGrid>
              <a:tr h="370840">
                <a:tc>
                  <a:txBody>
                    <a:bodyPr/>
                    <a:lstStyle/>
                    <a:p>
                      <a:r>
                        <a:rPr lang="en-US" sz="2400" dirty="0" smtClean="0">
                          <a:solidFill>
                            <a:schemeClr val="tx1"/>
                          </a:solidFill>
                        </a:rPr>
                        <a:t>D</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r>
              <a:tr h="370840">
                <a:tc>
                  <a:txBody>
                    <a:bodyPr/>
                    <a:lstStyle/>
                    <a:p>
                      <a:r>
                        <a:rPr lang="en-US" sz="2400" dirty="0" smtClean="0">
                          <a:solidFill>
                            <a:schemeClr val="tx1"/>
                          </a:solidFill>
                        </a:rPr>
                        <a:t>…</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r>
            </a:tbl>
          </a:graphicData>
        </a:graphic>
      </p:graphicFrame>
      <p:graphicFrame>
        <p:nvGraphicFramePr>
          <p:cNvPr id="15" name="Content Placeholder 16"/>
          <p:cNvGraphicFramePr>
            <a:graphicFrameLocks/>
          </p:cNvGraphicFramePr>
          <p:nvPr/>
        </p:nvGraphicFramePr>
        <p:xfrm>
          <a:off x="1231726" y="5486400"/>
          <a:ext cx="800100" cy="457200"/>
        </p:xfrm>
        <a:graphic>
          <a:graphicData uri="http://schemas.openxmlformats.org/drawingml/2006/table">
            <a:tbl>
              <a:tblPr firstRow="1" bandRow="1">
                <a:tableStyleId>{2D5ABB26-0587-4C30-8999-92F81FD0307C}</a:tableStyleId>
              </a:tblPr>
              <a:tblGrid>
                <a:gridCol w="800100"/>
              </a:tblGrid>
              <a:tr h="370840">
                <a:tc>
                  <a:txBody>
                    <a:bodyPr/>
                    <a:lstStyle/>
                    <a:p>
                      <a:r>
                        <a:rPr lang="en-US" sz="2400" dirty="0" smtClean="0">
                          <a:solidFill>
                            <a:schemeClr val="tx1"/>
                          </a:solidFill>
                        </a:rPr>
                        <a:t>…</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r>
            </a:tbl>
          </a:graphicData>
        </a:graphic>
      </p:graphicFrame>
      <p:graphicFrame>
        <p:nvGraphicFramePr>
          <p:cNvPr id="18" name="Content Placeholder 16"/>
          <p:cNvGraphicFramePr>
            <a:graphicFrameLocks/>
          </p:cNvGraphicFramePr>
          <p:nvPr/>
        </p:nvGraphicFramePr>
        <p:xfrm>
          <a:off x="2831926" y="5486400"/>
          <a:ext cx="800100" cy="457200"/>
        </p:xfrm>
        <a:graphic>
          <a:graphicData uri="http://schemas.openxmlformats.org/drawingml/2006/table">
            <a:tbl>
              <a:tblPr firstRow="1" bandRow="1">
                <a:tableStyleId>{2D5ABB26-0587-4C30-8999-92F81FD0307C}</a:tableStyleId>
              </a:tblPr>
              <a:tblGrid>
                <a:gridCol w="800100"/>
              </a:tblGrid>
              <a:tr h="370840">
                <a:tc>
                  <a:txBody>
                    <a:bodyPr/>
                    <a:lstStyle/>
                    <a:p>
                      <a:r>
                        <a:rPr lang="en-US" sz="2400" dirty="0" smtClean="0">
                          <a:solidFill>
                            <a:schemeClr val="tx1"/>
                          </a:solidFill>
                        </a:rPr>
                        <a:t>…</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r>
            </a:tbl>
          </a:graphicData>
        </a:graphic>
      </p:graphicFrame>
      <p:graphicFrame>
        <p:nvGraphicFramePr>
          <p:cNvPr id="20" name="Content Placeholder 16"/>
          <p:cNvGraphicFramePr>
            <a:graphicFrameLocks/>
          </p:cNvGraphicFramePr>
          <p:nvPr/>
        </p:nvGraphicFramePr>
        <p:xfrm>
          <a:off x="2031826" y="5486400"/>
          <a:ext cx="800100" cy="457200"/>
        </p:xfrm>
        <a:graphic>
          <a:graphicData uri="http://schemas.openxmlformats.org/drawingml/2006/table">
            <a:tbl>
              <a:tblPr firstRow="1" bandRow="1">
                <a:tableStyleId>{2D5ABB26-0587-4C30-8999-92F81FD0307C}</a:tableStyleId>
              </a:tblPr>
              <a:tblGrid>
                <a:gridCol w="800100"/>
              </a:tblGrid>
              <a:tr h="370840">
                <a:tc>
                  <a:txBody>
                    <a:bodyPr/>
                    <a:lstStyle/>
                    <a:p>
                      <a:r>
                        <a:rPr lang="en-US" sz="2400" dirty="0" smtClean="0">
                          <a:solidFill>
                            <a:schemeClr val="tx1"/>
                          </a:solidFill>
                        </a:rPr>
                        <a:t>…</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r>
            </a:tbl>
          </a:graphicData>
        </a:graphic>
      </p:graphicFrame>
      <p:graphicFrame>
        <p:nvGraphicFramePr>
          <p:cNvPr id="21" name="Content Placeholder 16"/>
          <p:cNvGraphicFramePr>
            <a:graphicFrameLocks/>
          </p:cNvGraphicFramePr>
          <p:nvPr/>
        </p:nvGraphicFramePr>
        <p:xfrm>
          <a:off x="3632026" y="5486400"/>
          <a:ext cx="800100" cy="457200"/>
        </p:xfrm>
        <a:graphic>
          <a:graphicData uri="http://schemas.openxmlformats.org/drawingml/2006/table">
            <a:tbl>
              <a:tblPr firstRow="1" bandRow="1">
                <a:tableStyleId>{2D5ABB26-0587-4C30-8999-92F81FD0307C}</a:tableStyleId>
              </a:tblPr>
              <a:tblGrid>
                <a:gridCol w="800100"/>
              </a:tblGrid>
              <a:tr h="370840">
                <a:tc>
                  <a:txBody>
                    <a:bodyPr/>
                    <a:lstStyle/>
                    <a:p>
                      <a:r>
                        <a:rPr lang="en-US" sz="2400" dirty="0" smtClean="0">
                          <a:solidFill>
                            <a:schemeClr val="tx1"/>
                          </a:solidFill>
                        </a:rPr>
                        <a:t>…</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r>
            </a:tbl>
          </a:graphicData>
        </a:graphic>
      </p:graphicFrame>
      <p:sp>
        <p:nvSpPr>
          <p:cNvPr id="26" name="Left Brace 25"/>
          <p:cNvSpPr/>
          <p:nvPr/>
        </p:nvSpPr>
        <p:spPr>
          <a:xfrm rot="10800000">
            <a:off x="4508326" y="3200400"/>
            <a:ext cx="368474" cy="2171179"/>
          </a:xfrm>
          <a:prstGeom prst="leftBrace">
            <a:avLst>
              <a:gd name="adj1" fmla="val 8333"/>
              <a:gd name="adj2" fmla="val 49423"/>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TextBox 26"/>
          <p:cNvSpPr txBox="1"/>
          <p:nvPr/>
        </p:nvSpPr>
        <p:spPr>
          <a:xfrm>
            <a:off x="1905000" y="2738735"/>
            <a:ext cx="1866088" cy="461665"/>
          </a:xfrm>
          <a:prstGeom prst="rect">
            <a:avLst/>
          </a:prstGeom>
          <a:noFill/>
        </p:spPr>
        <p:txBody>
          <a:bodyPr wrap="none" rtlCol="0">
            <a:spAutoFit/>
          </a:bodyPr>
          <a:lstStyle/>
          <a:p>
            <a:r>
              <a:rPr lang="en-US" sz="2400" b="1" dirty="0" smtClean="0"/>
              <a:t>A Row Group</a:t>
            </a:r>
            <a:endParaRPr lang="en-US" sz="2400" b="1" dirty="0"/>
          </a:p>
        </p:txBody>
      </p:sp>
      <p:sp>
        <p:nvSpPr>
          <p:cNvPr id="28" name="Right Arrow 27"/>
          <p:cNvSpPr/>
          <p:nvPr/>
        </p:nvSpPr>
        <p:spPr>
          <a:xfrm rot="19372087">
            <a:off x="4748584" y="3389925"/>
            <a:ext cx="1848991" cy="60960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p:cNvSpPr txBox="1"/>
          <p:nvPr/>
        </p:nvSpPr>
        <p:spPr>
          <a:xfrm>
            <a:off x="4876800" y="1295400"/>
            <a:ext cx="3810000" cy="707886"/>
          </a:xfrm>
          <a:prstGeom prst="rect">
            <a:avLst/>
          </a:prstGeom>
          <a:noFill/>
        </p:spPr>
        <p:txBody>
          <a:bodyPr wrap="square" rtlCol="0">
            <a:spAutoFit/>
          </a:bodyPr>
          <a:lstStyle/>
          <a:p>
            <a:r>
              <a:rPr lang="en-US" sz="2000" b="1" dirty="0" smtClean="0">
                <a:latin typeface="Garamond" pitchFamily="18" charset="0"/>
              </a:rPr>
              <a:t>A HDFS block consists of one </a:t>
            </a:r>
          </a:p>
          <a:p>
            <a:r>
              <a:rPr lang="en-US" sz="2000" b="1" dirty="0" smtClean="0">
                <a:latin typeface="Garamond" pitchFamily="18" charset="0"/>
              </a:rPr>
              <a:t>or multiple row groups</a:t>
            </a:r>
            <a:endParaRPr lang="en-US" sz="2000" b="1" dirty="0">
              <a:latin typeface="Garamond" pitchFamily="18" charset="0"/>
            </a:endParaRPr>
          </a:p>
        </p:txBody>
      </p:sp>
    </p:spTree>
    <p:extLst>
      <p:ext uri="{BB962C8B-B14F-4D97-AF65-F5344CB8AC3E}">
        <p14:creationId xmlns:p14="http://schemas.microsoft.com/office/powerpoint/2010/main" val="13746021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 0 L 0 -0.07771 " pathEditMode="relative" ptsTypes="AA">
                                      <p:cBhvr>
                                        <p:cTn id="6" dur="2000" fill="hold"/>
                                        <p:tgtEl>
                                          <p:spTgt spid="14"/>
                                        </p:tgtEl>
                                        <p:attrNameLst>
                                          <p:attrName>ppt_x</p:attrName>
                                          <p:attrName>ppt_y</p:attrName>
                                        </p:attrNameLst>
                                      </p:cBhvr>
                                    </p:animMotion>
                                  </p:childTnLst>
                                </p:cTn>
                              </p:par>
                              <p:par>
                                <p:cTn id="7" presetID="0" presetClass="path" presetSubtype="0" accel="50000" decel="50000" fill="hold" nodeType="withEffect">
                                  <p:stCondLst>
                                    <p:cond delay="0"/>
                                  </p:stCondLst>
                                  <p:childTnLst>
                                    <p:animMotion origin="layout" path="M 0 0 L 0 -0.07771 " pathEditMode="relative" ptsTypes="AA">
                                      <p:cBhvr>
                                        <p:cTn id="8" dur="2000" fill="hold"/>
                                        <p:tgtEl>
                                          <p:spTgt spid="12"/>
                                        </p:tgtEl>
                                        <p:attrNameLst>
                                          <p:attrName>ppt_x</p:attrName>
                                          <p:attrName>ppt_y</p:attrName>
                                        </p:attrNameLst>
                                      </p:cBhvr>
                                    </p:animMotion>
                                  </p:childTnLst>
                                </p:cTn>
                              </p:par>
                              <p:par>
                                <p:cTn id="9" presetID="0" presetClass="path" presetSubtype="0" accel="50000" decel="50000" fill="hold" nodeType="withEffect">
                                  <p:stCondLst>
                                    <p:cond delay="0"/>
                                  </p:stCondLst>
                                  <p:childTnLst>
                                    <p:animMotion origin="layout" path="M 0 0 L 0 -0.07771 " pathEditMode="relative" ptsTypes="AA">
                                      <p:cBhvr>
                                        <p:cTn id="10" dur="2000" fill="hold"/>
                                        <p:tgtEl>
                                          <p:spTgt spid="13"/>
                                        </p:tgtEl>
                                        <p:attrNameLst>
                                          <p:attrName>ppt_x</p:attrName>
                                          <p:attrName>ppt_y</p:attrName>
                                        </p:attrNameLst>
                                      </p:cBhvr>
                                    </p:animMotion>
                                  </p:childTnLst>
                                </p:cTn>
                              </p:par>
                              <p:par>
                                <p:cTn id="11" presetID="0" presetClass="path" presetSubtype="0" accel="50000" decel="50000" fill="hold" nodeType="withEffect">
                                  <p:stCondLst>
                                    <p:cond delay="0"/>
                                  </p:stCondLst>
                                  <p:childTnLst>
                                    <p:animMotion origin="layout" path="M 0 0 L 0 -0.07771 " pathEditMode="relative" ptsTypes="AA">
                                      <p:cBhvr>
                                        <p:cTn id="12" dur="2000" fill="hold"/>
                                        <p:tgtEl>
                                          <p:spTgt spid="11"/>
                                        </p:tgtEl>
                                        <p:attrNameLst>
                                          <p:attrName>ppt_x</p:attrName>
                                          <p:attrName>ppt_y</p:attrName>
                                        </p:attrNameLst>
                                      </p:cBhvr>
                                    </p:animMotion>
                                  </p:childTnLst>
                                </p:cTn>
                              </p:par>
                              <p:par>
                                <p:cTn id="13" presetID="0" presetClass="path" presetSubtype="0" accel="50000" decel="50000" fill="hold" grpId="0" nodeType="withEffect">
                                  <p:stCondLst>
                                    <p:cond delay="0"/>
                                  </p:stCondLst>
                                  <p:childTnLst>
                                    <p:animMotion origin="layout" path="M 0 0 L 0 -0.07771 " pathEditMode="relative" ptsTypes="AA">
                                      <p:cBhvr>
                                        <p:cTn id="14" dur="2000" fill="hold"/>
                                        <p:tgtEl>
                                          <p:spTgt spid="19"/>
                                        </p:tgtEl>
                                        <p:attrNameLst>
                                          <p:attrName>ppt_x</p:attrName>
                                          <p:attrName>ppt_y</p:attrName>
                                        </p:attrNameLst>
                                      </p:cBhvr>
                                    </p:animMotion>
                                  </p:childTnLst>
                                </p:cTn>
                              </p:par>
                              <p:par>
                                <p:cTn id="15" presetID="0" presetClass="path" presetSubtype="0" accel="50000" decel="50000" fill="hold" nodeType="withEffect">
                                  <p:stCondLst>
                                    <p:cond delay="0"/>
                                  </p:stCondLst>
                                  <p:childTnLst>
                                    <p:animMotion origin="layout" path="M 0 0 L 0 0.07771 " pathEditMode="relative" ptsTypes="AA">
                                      <p:cBhvr>
                                        <p:cTn id="16" dur="2000" fill="hold"/>
                                        <p:tgtEl>
                                          <p:spTgt spid="15"/>
                                        </p:tgtEl>
                                        <p:attrNameLst>
                                          <p:attrName>ppt_x</p:attrName>
                                          <p:attrName>ppt_y</p:attrName>
                                        </p:attrNameLst>
                                      </p:cBhvr>
                                    </p:animMotion>
                                  </p:childTnLst>
                                </p:cTn>
                              </p:par>
                              <p:par>
                                <p:cTn id="17" presetID="0" presetClass="path" presetSubtype="0" accel="50000" decel="50000" fill="hold" nodeType="withEffect">
                                  <p:stCondLst>
                                    <p:cond delay="0"/>
                                  </p:stCondLst>
                                  <p:childTnLst>
                                    <p:animMotion origin="layout" path="M 0 0 L 0 0.07771 " pathEditMode="relative" ptsTypes="AA">
                                      <p:cBhvr>
                                        <p:cTn id="18" dur="2000" fill="hold"/>
                                        <p:tgtEl>
                                          <p:spTgt spid="20"/>
                                        </p:tgtEl>
                                        <p:attrNameLst>
                                          <p:attrName>ppt_x</p:attrName>
                                          <p:attrName>ppt_y</p:attrName>
                                        </p:attrNameLst>
                                      </p:cBhvr>
                                    </p:animMotion>
                                  </p:childTnLst>
                                </p:cTn>
                              </p:par>
                              <p:par>
                                <p:cTn id="19" presetID="0" presetClass="path" presetSubtype="0" accel="50000" decel="50000" fill="hold" nodeType="withEffect">
                                  <p:stCondLst>
                                    <p:cond delay="0"/>
                                  </p:stCondLst>
                                  <p:childTnLst>
                                    <p:animMotion origin="layout" path="M 0 0 L 0 0.07771 " pathEditMode="relative" ptsTypes="AA">
                                      <p:cBhvr>
                                        <p:cTn id="20" dur="2000" fill="hold"/>
                                        <p:tgtEl>
                                          <p:spTgt spid="18"/>
                                        </p:tgtEl>
                                        <p:attrNameLst>
                                          <p:attrName>ppt_x</p:attrName>
                                          <p:attrName>ppt_y</p:attrName>
                                        </p:attrNameLst>
                                      </p:cBhvr>
                                    </p:animMotion>
                                  </p:childTnLst>
                                </p:cTn>
                              </p:par>
                              <p:par>
                                <p:cTn id="21" presetID="0" presetClass="path" presetSubtype="0" accel="50000" decel="50000" fill="hold" nodeType="withEffect">
                                  <p:stCondLst>
                                    <p:cond delay="0"/>
                                  </p:stCondLst>
                                  <p:childTnLst>
                                    <p:animMotion origin="layout" path="M 0 0 L 0 0.07771 " pathEditMode="relative" ptsTypes="AA">
                                      <p:cBhvr>
                                        <p:cTn id="22" dur="2000" fill="hold"/>
                                        <p:tgtEl>
                                          <p:spTgt spid="21"/>
                                        </p:tgtEl>
                                        <p:attrNameLst>
                                          <p:attrName>ppt_x</p:attrName>
                                          <p:attrName>ppt_y</p:attrName>
                                        </p:attrNameLst>
                                      </p:cBhvr>
                                    </p:animMotion>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6" grpId="0" animBg="1"/>
      <p:bldP spid="27" grpId="0"/>
      <p:bldP spid="28" grpId="0" animBg="1"/>
      <p:bldP spid="29" grpId="0"/>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 name="Content Placeholder 48"/>
          <p:cNvSpPr>
            <a:spLocks noGrp="1"/>
          </p:cNvSpPr>
          <p:nvPr>
            <p:ph idx="1"/>
          </p:nvPr>
        </p:nvSpPr>
        <p:spPr>
          <a:xfrm>
            <a:off x="0" y="4362450"/>
            <a:ext cx="9144000" cy="2266950"/>
          </a:xfrm>
        </p:spPr>
        <p:txBody>
          <a:bodyPr>
            <a:normAutofit fontScale="92500" lnSpcReduction="10000"/>
          </a:bodyPr>
          <a:lstStyle/>
          <a:p>
            <a:r>
              <a:rPr lang="en-US" dirty="0" smtClean="0"/>
              <a:t>HDFS (</a:t>
            </a:r>
            <a:r>
              <a:rPr lang="en-US" dirty="0" err="1" smtClean="0"/>
              <a:t>Hadoop</a:t>
            </a:r>
            <a:r>
              <a:rPr lang="en-US" dirty="0" smtClean="0"/>
              <a:t> Distributed File System) blocks are </a:t>
            </a:r>
            <a:r>
              <a:rPr lang="en-US" dirty="0" smtClean="0">
                <a:solidFill>
                  <a:srgbClr val="FF0000"/>
                </a:solidFill>
              </a:rPr>
              <a:t>distributed</a:t>
            </a:r>
          </a:p>
          <a:p>
            <a:r>
              <a:rPr lang="en-US" dirty="0" smtClean="0">
                <a:solidFill>
                  <a:srgbClr val="FF0000"/>
                </a:solidFill>
              </a:rPr>
              <a:t>A limited ability to specify </a:t>
            </a:r>
            <a:r>
              <a:rPr lang="en-US" dirty="0" smtClean="0"/>
              <a:t>for users to define a data placement policy</a:t>
            </a:r>
          </a:p>
          <a:p>
            <a:pPr lvl="1"/>
            <a:r>
              <a:rPr lang="en-US" dirty="0" smtClean="0"/>
              <a:t>e.g. to specify which blocks should be co-located</a:t>
            </a:r>
          </a:p>
          <a:p>
            <a:pPr marL="457200" lvl="1" indent="0">
              <a:buNone/>
            </a:pPr>
            <a:endParaRPr lang="en-US" dirty="0" smtClean="0"/>
          </a:p>
          <a:p>
            <a:r>
              <a:rPr lang="en-US" b="1" dirty="0" smtClean="0">
                <a:solidFill>
                  <a:srgbClr val="FF0000"/>
                </a:solidFill>
              </a:rPr>
              <a:t>Goals of data placement: </a:t>
            </a:r>
          </a:p>
          <a:p>
            <a:pPr lvl="1"/>
            <a:r>
              <a:rPr lang="en-US" dirty="0" smtClean="0"/>
              <a:t>Minimizing </a:t>
            </a:r>
            <a:r>
              <a:rPr lang="en-US" dirty="0" smtClean="0">
                <a:solidFill>
                  <a:schemeClr val="tx2"/>
                </a:solidFill>
              </a:rPr>
              <a:t>I/O operations in local disks </a:t>
            </a:r>
            <a:r>
              <a:rPr lang="en-US" dirty="0" smtClean="0"/>
              <a:t>and </a:t>
            </a:r>
            <a:r>
              <a:rPr lang="en-US" dirty="0" smtClean="0">
                <a:solidFill>
                  <a:srgbClr val="FF0000"/>
                </a:solidFill>
              </a:rPr>
              <a:t>intra network communication </a:t>
            </a:r>
          </a:p>
        </p:txBody>
      </p:sp>
      <p:sp>
        <p:nvSpPr>
          <p:cNvPr id="2" name="Title 1"/>
          <p:cNvSpPr>
            <a:spLocks noGrp="1"/>
          </p:cNvSpPr>
          <p:nvPr>
            <p:ph type="title"/>
          </p:nvPr>
        </p:nvSpPr>
        <p:spPr>
          <a:xfrm>
            <a:off x="0" y="0"/>
            <a:ext cx="9144000" cy="1039906"/>
          </a:xfrm>
        </p:spPr>
        <p:txBody>
          <a:bodyPr>
            <a:normAutofit/>
          </a:bodyPr>
          <a:lstStyle/>
          <a:p>
            <a:pPr algn="ctr"/>
            <a:r>
              <a:rPr lang="en-US" sz="3100" dirty="0" smtClean="0"/>
              <a:t>Data Placement under HDFS </a:t>
            </a:r>
            <a:endParaRPr lang="en-US" sz="3100" dirty="0"/>
          </a:p>
        </p:txBody>
      </p:sp>
      <p:sp>
        <p:nvSpPr>
          <p:cNvPr id="4" name="Slide Number Placeholder 3"/>
          <p:cNvSpPr>
            <a:spLocks noGrp="1"/>
          </p:cNvSpPr>
          <p:nvPr>
            <p:ph type="sldNum" sz="quarter" idx="4294967295"/>
          </p:nvPr>
        </p:nvSpPr>
        <p:spPr>
          <a:xfrm>
            <a:off x="6553200" y="6188075"/>
            <a:ext cx="2133600" cy="365125"/>
          </a:xfrm>
          <a:prstGeom prst="rect">
            <a:avLst/>
          </a:prstGeom>
        </p:spPr>
        <p:txBody>
          <a:bodyPr/>
          <a:lstStyle/>
          <a:p>
            <a:fld id="{B6F15528-21DE-4FAA-801E-634DDDAF4B2B}" type="slidenum">
              <a:rPr lang="en-US" smtClean="0"/>
              <a:pPr/>
              <a:t>43</a:t>
            </a:fld>
            <a:endParaRPr lang="en-US" dirty="0"/>
          </a:p>
        </p:txBody>
      </p:sp>
      <p:pic>
        <p:nvPicPr>
          <p:cNvPr id="24578" name="Picture 2"/>
          <p:cNvPicPr>
            <a:picLocks noChangeAspect="1" noChangeArrowheads="1"/>
          </p:cNvPicPr>
          <p:nvPr/>
        </p:nvPicPr>
        <p:blipFill>
          <a:blip r:embed="rId3" cstate="print"/>
          <a:srcRect/>
          <a:stretch>
            <a:fillRect/>
          </a:stretch>
        </p:blipFill>
        <p:spPr bwMode="auto">
          <a:xfrm>
            <a:off x="2209800" y="3200400"/>
            <a:ext cx="819150" cy="1162050"/>
          </a:xfrm>
          <a:prstGeom prst="rect">
            <a:avLst/>
          </a:prstGeom>
          <a:noFill/>
          <a:ln w="9525">
            <a:noFill/>
            <a:miter lim="800000"/>
            <a:headEnd/>
            <a:tailEnd/>
          </a:ln>
        </p:spPr>
      </p:pic>
      <p:pic>
        <p:nvPicPr>
          <p:cNvPr id="22" name="Picture 2"/>
          <p:cNvPicPr>
            <a:picLocks noChangeAspect="1" noChangeArrowheads="1"/>
          </p:cNvPicPr>
          <p:nvPr/>
        </p:nvPicPr>
        <p:blipFill>
          <a:blip r:embed="rId3" cstate="print"/>
          <a:srcRect/>
          <a:stretch>
            <a:fillRect/>
          </a:stretch>
        </p:blipFill>
        <p:spPr bwMode="auto">
          <a:xfrm>
            <a:off x="4876800" y="3200400"/>
            <a:ext cx="819150" cy="1162050"/>
          </a:xfrm>
          <a:prstGeom prst="rect">
            <a:avLst/>
          </a:prstGeom>
          <a:noFill/>
          <a:ln w="9525">
            <a:noFill/>
            <a:miter lim="800000"/>
            <a:headEnd/>
            <a:tailEnd/>
          </a:ln>
        </p:spPr>
      </p:pic>
      <p:pic>
        <p:nvPicPr>
          <p:cNvPr id="23" name="Picture 2"/>
          <p:cNvPicPr>
            <a:picLocks noChangeAspect="1" noChangeArrowheads="1"/>
          </p:cNvPicPr>
          <p:nvPr/>
        </p:nvPicPr>
        <p:blipFill>
          <a:blip r:embed="rId3" cstate="print"/>
          <a:srcRect/>
          <a:stretch>
            <a:fillRect/>
          </a:stretch>
        </p:blipFill>
        <p:spPr bwMode="auto">
          <a:xfrm>
            <a:off x="7654290" y="3126267"/>
            <a:ext cx="819150" cy="1162050"/>
          </a:xfrm>
          <a:prstGeom prst="rect">
            <a:avLst/>
          </a:prstGeom>
          <a:noFill/>
          <a:ln w="9525">
            <a:noFill/>
            <a:miter lim="800000"/>
            <a:headEnd/>
            <a:tailEnd/>
          </a:ln>
        </p:spPr>
      </p:pic>
      <p:pic>
        <p:nvPicPr>
          <p:cNvPr id="24579" name="Picture 3"/>
          <p:cNvPicPr>
            <a:picLocks noChangeAspect="1" noChangeArrowheads="1"/>
          </p:cNvPicPr>
          <p:nvPr/>
        </p:nvPicPr>
        <p:blipFill>
          <a:blip r:embed="rId4" cstate="print"/>
          <a:srcRect/>
          <a:stretch>
            <a:fillRect/>
          </a:stretch>
        </p:blipFill>
        <p:spPr bwMode="auto">
          <a:xfrm>
            <a:off x="4953000" y="1295400"/>
            <a:ext cx="885825" cy="1304925"/>
          </a:xfrm>
          <a:prstGeom prst="rect">
            <a:avLst/>
          </a:prstGeom>
          <a:noFill/>
          <a:ln w="9525">
            <a:noFill/>
            <a:miter lim="800000"/>
            <a:headEnd/>
            <a:tailEnd/>
          </a:ln>
        </p:spPr>
      </p:pic>
      <p:sp>
        <p:nvSpPr>
          <p:cNvPr id="24" name="TextBox 23"/>
          <p:cNvSpPr txBox="1"/>
          <p:nvPr/>
        </p:nvSpPr>
        <p:spPr>
          <a:xfrm>
            <a:off x="5867400" y="1371600"/>
            <a:ext cx="1600200" cy="954107"/>
          </a:xfrm>
          <a:prstGeom prst="rect">
            <a:avLst/>
          </a:prstGeom>
          <a:noFill/>
        </p:spPr>
        <p:txBody>
          <a:bodyPr wrap="square" rtlCol="0">
            <a:spAutoFit/>
          </a:bodyPr>
          <a:lstStyle/>
          <a:p>
            <a:r>
              <a:rPr lang="en-US" sz="2400" dirty="0" err="1" smtClean="0"/>
              <a:t>NameNode</a:t>
            </a:r>
            <a:endParaRPr lang="en-US" sz="2400" dirty="0" smtClean="0"/>
          </a:p>
          <a:p>
            <a:r>
              <a:rPr lang="en-US" sz="1600" dirty="0" smtClean="0"/>
              <a:t>(A part of the Master node)</a:t>
            </a:r>
            <a:endParaRPr lang="en-US" sz="1600" dirty="0"/>
          </a:p>
        </p:txBody>
      </p:sp>
      <p:sp>
        <p:nvSpPr>
          <p:cNvPr id="25" name="TextBox 24"/>
          <p:cNvSpPr txBox="1"/>
          <p:nvPr/>
        </p:nvSpPr>
        <p:spPr>
          <a:xfrm>
            <a:off x="381000" y="3429000"/>
            <a:ext cx="1828800" cy="461665"/>
          </a:xfrm>
          <a:prstGeom prst="rect">
            <a:avLst/>
          </a:prstGeom>
          <a:noFill/>
        </p:spPr>
        <p:txBody>
          <a:bodyPr wrap="square" rtlCol="0">
            <a:spAutoFit/>
          </a:bodyPr>
          <a:lstStyle/>
          <a:p>
            <a:r>
              <a:rPr lang="en-US" sz="2400" dirty="0" err="1" smtClean="0"/>
              <a:t>DataNode</a:t>
            </a:r>
            <a:r>
              <a:rPr lang="en-US" sz="2400" dirty="0" smtClean="0"/>
              <a:t> 1</a:t>
            </a:r>
            <a:endParaRPr lang="en-US" sz="2400" dirty="0"/>
          </a:p>
        </p:txBody>
      </p:sp>
      <p:sp>
        <p:nvSpPr>
          <p:cNvPr id="26" name="TextBox 25"/>
          <p:cNvSpPr txBox="1"/>
          <p:nvPr/>
        </p:nvSpPr>
        <p:spPr>
          <a:xfrm>
            <a:off x="3276600" y="3429000"/>
            <a:ext cx="1828800" cy="461665"/>
          </a:xfrm>
          <a:prstGeom prst="rect">
            <a:avLst/>
          </a:prstGeom>
          <a:noFill/>
        </p:spPr>
        <p:txBody>
          <a:bodyPr wrap="square" rtlCol="0">
            <a:spAutoFit/>
          </a:bodyPr>
          <a:lstStyle/>
          <a:p>
            <a:r>
              <a:rPr lang="en-US" sz="2400" dirty="0" err="1" smtClean="0"/>
              <a:t>DataNode</a:t>
            </a:r>
            <a:r>
              <a:rPr lang="en-US" sz="2400" dirty="0" smtClean="0"/>
              <a:t> 2</a:t>
            </a:r>
            <a:endParaRPr lang="en-US" sz="2400" dirty="0"/>
          </a:p>
        </p:txBody>
      </p:sp>
      <p:sp>
        <p:nvSpPr>
          <p:cNvPr id="27" name="TextBox 26"/>
          <p:cNvSpPr txBox="1"/>
          <p:nvPr/>
        </p:nvSpPr>
        <p:spPr>
          <a:xfrm>
            <a:off x="6096000" y="3424535"/>
            <a:ext cx="1828800" cy="461665"/>
          </a:xfrm>
          <a:prstGeom prst="rect">
            <a:avLst/>
          </a:prstGeom>
          <a:noFill/>
        </p:spPr>
        <p:txBody>
          <a:bodyPr wrap="square" rtlCol="0">
            <a:spAutoFit/>
          </a:bodyPr>
          <a:lstStyle/>
          <a:p>
            <a:r>
              <a:rPr lang="en-US" sz="2400" dirty="0" err="1" smtClean="0"/>
              <a:t>DataNode</a:t>
            </a:r>
            <a:r>
              <a:rPr lang="en-US" sz="2400" dirty="0" smtClean="0"/>
              <a:t> 3</a:t>
            </a:r>
            <a:endParaRPr lang="en-US" sz="2400" dirty="0"/>
          </a:p>
        </p:txBody>
      </p:sp>
      <p:cxnSp>
        <p:nvCxnSpPr>
          <p:cNvPr id="29" name="Straight Connector 28"/>
          <p:cNvCxnSpPr/>
          <p:nvPr/>
        </p:nvCxnSpPr>
        <p:spPr>
          <a:xfrm rot="5400000" flipH="1" flipV="1">
            <a:off x="3707608" y="1512094"/>
            <a:ext cx="600075" cy="277653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22" idx="0"/>
            <a:endCxn id="24579" idx="2"/>
          </p:cNvCxnSpPr>
          <p:nvPr/>
        </p:nvCxnSpPr>
        <p:spPr>
          <a:xfrm rot="5400000" flipH="1" flipV="1">
            <a:off x="5041107" y="2845594"/>
            <a:ext cx="600075" cy="10953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23" idx="0"/>
            <a:endCxn id="24579" idx="2"/>
          </p:cNvCxnSpPr>
          <p:nvPr/>
        </p:nvCxnSpPr>
        <p:spPr>
          <a:xfrm rot="16200000" flipV="1">
            <a:off x="6466918" y="1529320"/>
            <a:ext cx="525942" cy="266795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533400" y="1447800"/>
            <a:ext cx="1600200" cy="381000"/>
          </a:xfrm>
          <a:prstGeom prst="rect">
            <a:avLst/>
          </a:prstGeom>
          <a:noFill/>
          <a:ln w="38100">
            <a:solidFill>
              <a:schemeClr val="tx1"/>
            </a:solidFill>
          </a:ln>
        </p:spPr>
        <p:txBody>
          <a:bodyPr wrap="square" rtlCol="0">
            <a:spAutoFit/>
          </a:bodyPr>
          <a:lstStyle/>
          <a:p>
            <a:r>
              <a:rPr lang="en-US" b="1" dirty="0" smtClean="0"/>
              <a:t>HDFS Blocks</a:t>
            </a:r>
            <a:endParaRPr lang="en-US" b="1" dirty="0"/>
          </a:p>
        </p:txBody>
      </p:sp>
      <p:sp>
        <p:nvSpPr>
          <p:cNvPr id="46" name="TextBox 45"/>
          <p:cNvSpPr txBox="1"/>
          <p:nvPr/>
        </p:nvSpPr>
        <p:spPr>
          <a:xfrm>
            <a:off x="533400" y="2590800"/>
            <a:ext cx="1600200" cy="381000"/>
          </a:xfrm>
          <a:prstGeom prst="rect">
            <a:avLst/>
          </a:prstGeom>
          <a:solidFill>
            <a:schemeClr val="bg1"/>
          </a:solidFill>
          <a:ln w="38100">
            <a:solidFill>
              <a:schemeClr val="tx1"/>
            </a:solidFill>
          </a:ln>
        </p:spPr>
        <p:txBody>
          <a:bodyPr wrap="square" rtlCol="0">
            <a:spAutoFit/>
          </a:bodyPr>
          <a:lstStyle/>
          <a:p>
            <a:r>
              <a:rPr lang="en-US" b="1" dirty="0" smtClean="0"/>
              <a:t>Store Block 3</a:t>
            </a:r>
            <a:endParaRPr lang="en-US" b="1" dirty="0"/>
          </a:p>
        </p:txBody>
      </p:sp>
      <p:sp>
        <p:nvSpPr>
          <p:cNvPr id="45" name="TextBox 44"/>
          <p:cNvSpPr txBox="1"/>
          <p:nvPr/>
        </p:nvSpPr>
        <p:spPr>
          <a:xfrm>
            <a:off x="533400" y="2209800"/>
            <a:ext cx="1600200" cy="381000"/>
          </a:xfrm>
          <a:prstGeom prst="rect">
            <a:avLst/>
          </a:prstGeom>
          <a:solidFill>
            <a:schemeClr val="bg1"/>
          </a:solidFill>
          <a:ln w="38100">
            <a:solidFill>
              <a:schemeClr val="tx1"/>
            </a:solidFill>
          </a:ln>
        </p:spPr>
        <p:txBody>
          <a:bodyPr wrap="square" rtlCol="0">
            <a:spAutoFit/>
          </a:bodyPr>
          <a:lstStyle/>
          <a:p>
            <a:r>
              <a:rPr lang="en-US" b="1" dirty="0" smtClean="0"/>
              <a:t>Store Block 2</a:t>
            </a:r>
            <a:endParaRPr lang="en-US" b="1" dirty="0"/>
          </a:p>
        </p:txBody>
      </p:sp>
      <p:sp>
        <p:nvSpPr>
          <p:cNvPr id="44" name="TextBox 43"/>
          <p:cNvSpPr txBox="1"/>
          <p:nvPr/>
        </p:nvSpPr>
        <p:spPr>
          <a:xfrm>
            <a:off x="533400" y="1828800"/>
            <a:ext cx="1600200" cy="381000"/>
          </a:xfrm>
          <a:prstGeom prst="rect">
            <a:avLst/>
          </a:prstGeom>
          <a:solidFill>
            <a:schemeClr val="bg1"/>
          </a:solidFill>
          <a:ln w="38100">
            <a:solidFill>
              <a:schemeClr val="tx1"/>
            </a:solidFill>
          </a:ln>
        </p:spPr>
        <p:txBody>
          <a:bodyPr wrap="square" rtlCol="0">
            <a:spAutoFit/>
          </a:bodyPr>
          <a:lstStyle/>
          <a:p>
            <a:r>
              <a:rPr lang="en-US" b="1" dirty="0" smtClean="0"/>
              <a:t>Store Block 1</a:t>
            </a:r>
            <a:endParaRPr lang="en-US" b="1" dirty="0"/>
          </a:p>
        </p:txBody>
      </p:sp>
    </p:spTree>
    <p:extLst>
      <p:ext uri="{BB962C8B-B14F-4D97-AF65-F5344CB8AC3E}">
        <p14:creationId xmlns:p14="http://schemas.microsoft.com/office/powerpoint/2010/main" val="3183032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57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57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9">
                                            <p:txEl>
                                              <p:pRg st="0" end="0"/>
                                            </p:txEl>
                                          </p:spTgt>
                                        </p:tgtEl>
                                        <p:attrNameLst>
                                          <p:attrName>style.visibility</p:attrName>
                                        </p:attrNameLst>
                                      </p:cBhvr>
                                      <p:to>
                                        <p:strVal val="visible"/>
                                      </p:to>
                                    </p:set>
                                  </p:childTnLst>
                                </p:cTn>
                              </p:par>
                            </p:childTnLst>
                          </p:cTn>
                        </p:par>
                        <p:par>
                          <p:cTn id="37" fill="hold">
                            <p:stCondLst>
                              <p:cond delay="0"/>
                            </p:stCondLst>
                            <p:childTnLst>
                              <p:par>
                                <p:cTn id="38" presetID="49" presetClass="path" presetSubtype="0" accel="50000" decel="50000" fill="hold" nodeType="afterEffect">
                                  <p:stCondLst>
                                    <p:cond delay="0"/>
                                  </p:stCondLst>
                                  <p:childTnLst>
                                    <p:animMotion origin="layout" path="M 0.0875 0.00555 L 0.1625 0.13889 " pathEditMode="relative" rAng="0" ptsTypes="AA">
                                      <p:cBhvr>
                                        <p:cTn id="39" dur="2000" fill="hold"/>
                                        <p:tgtEl>
                                          <p:spTgt spid="44"/>
                                        </p:tgtEl>
                                        <p:attrNameLst>
                                          <p:attrName>ppt_x</p:attrName>
                                          <p:attrName>ppt_y</p:attrName>
                                        </p:attrNameLst>
                                      </p:cBhvr>
                                      <p:rCtr x="3800" y="6700"/>
                                    </p:animMotion>
                                  </p:childTnLst>
                                </p:cTn>
                              </p:par>
                              <p:par>
                                <p:cTn id="40" presetID="49" presetClass="path" presetSubtype="0" accel="50000" decel="50000" fill="hold" nodeType="withEffect">
                                  <p:stCondLst>
                                    <p:cond delay="0"/>
                                  </p:stCondLst>
                                  <p:childTnLst>
                                    <p:animMotion origin="layout" path="M 0.0875 0.00556 L 0.4375 0.08334 " pathEditMode="relative" rAng="0" ptsTypes="AA">
                                      <p:cBhvr>
                                        <p:cTn id="41" dur="2000" fill="hold"/>
                                        <p:tgtEl>
                                          <p:spTgt spid="45"/>
                                        </p:tgtEl>
                                        <p:attrNameLst>
                                          <p:attrName>ppt_x</p:attrName>
                                          <p:attrName>ppt_y</p:attrName>
                                        </p:attrNameLst>
                                      </p:cBhvr>
                                      <p:rCtr x="17500" y="3900"/>
                                    </p:animMotion>
                                  </p:childTnLst>
                                </p:cTn>
                              </p:par>
                              <p:par>
                                <p:cTn id="42" presetID="49" presetClass="path" presetSubtype="0" accel="50000" decel="50000" fill="hold" nodeType="withEffect">
                                  <p:stCondLst>
                                    <p:cond delay="0"/>
                                  </p:stCondLst>
                                  <p:childTnLst>
                                    <p:animMotion origin="layout" path="M 0.0875 0.00556 L 0.74584 0.02778 " pathEditMode="relative" rAng="0" ptsTypes="AA">
                                      <p:cBhvr>
                                        <p:cTn id="43" dur="2000" fill="hold"/>
                                        <p:tgtEl>
                                          <p:spTgt spid="46"/>
                                        </p:tgtEl>
                                        <p:attrNameLst>
                                          <p:attrName>ppt_x</p:attrName>
                                          <p:attrName>ppt_y</p:attrName>
                                        </p:attrNameLst>
                                      </p:cBhvr>
                                      <p:rCtr x="32900" y="1100"/>
                                    </p:animMotion>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9">
                                            <p:txEl>
                                              <p:pRg st="1" end="1"/>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49">
                                            <p:txEl>
                                              <p:pRg st="2" end="2"/>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49">
                                            <p:txEl>
                                              <p:pRg st="4" end="4"/>
                                            </p:txEl>
                                          </p:spTgt>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4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build="p"/>
      <p:bldP spid="24" grpId="0"/>
      <p:bldP spid="25" grpId="0"/>
      <p:bldP spid="26" grpId="0"/>
      <p:bldP spid="27" grpId="0"/>
      <p:bldP spid="48" grpId="0" animBg="1"/>
      <p:bldP spid="46" grpId="0" animBg="1"/>
      <p:bldP spid="45" grpId="0" animBg="1"/>
      <p:bldP spid="4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Rectangle 37"/>
          <p:cNvSpPr/>
          <p:nvPr/>
        </p:nvSpPr>
        <p:spPr>
          <a:xfrm>
            <a:off x="5181600" y="1600200"/>
            <a:ext cx="3505200" cy="441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42" name="Content Placeholder 41"/>
          <p:cNvGraphicFramePr>
            <a:graphicFrameLocks noGrp="1"/>
          </p:cNvGraphicFramePr>
          <p:nvPr>
            <p:ph idx="1"/>
          </p:nvPr>
        </p:nvGraphicFramePr>
        <p:xfrm>
          <a:off x="5410200" y="1811868"/>
          <a:ext cx="3048000" cy="3979332"/>
        </p:xfrm>
        <a:graphic>
          <a:graphicData uri="http://schemas.openxmlformats.org/drawingml/2006/table">
            <a:tbl>
              <a:tblPr firstRow="1" bandRow="1">
                <a:tableStyleId>{2D5ABB26-0587-4C30-8999-92F81FD0307C}</a:tableStyleId>
              </a:tblPr>
              <a:tblGrid>
                <a:gridCol w="3048000"/>
              </a:tblGrid>
              <a:tr h="152400">
                <a:tc>
                  <a:txBody>
                    <a:bodyPr/>
                    <a:lstStyle/>
                    <a:p>
                      <a:r>
                        <a:rPr lang="en-US" sz="2000" b="1" dirty="0" smtClean="0">
                          <a:solidFill>
                            <a:schemeClr val="bg1"/>
                          </a:solidFill>
                        </a:rPr>
                        <a:t>Metadata</a:t>
                      </a:r>
                      <a:endParaRPr lang="en-US" sz="2000" b="1" dirty="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r>
              <a:tr h="137160">
                <a:tc>
                  <a:txBody>
                    <a:bodyPr/>
                    <a:lstStyle/>
                    <a:p>
                      <a:endParaRPr lang="en-US" sz="2000" b="1" dirty="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r>
              <a:tr h="499533">
                <a:tc>
                  <a:txBody>
                    <a:bodyPr/>
                    <a:lstStyle/>
                    <a:p>
                      <a:endParaRPr lang="en-US" sz="2000" b="1" dirty="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r>
              <a:tr h="0">
                <a:tc>
                  <a:txBody>
                    <a:bodyPr/>
                    <a:lstStyle/>
                    <a:p>
                      <a:endParaRPr lang="en-US" sz="2000" b="1" dirty="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r>
              <a:tr h="499533">
                <a:tc>
                  <a:txBody>
                    <a:bodyPr/>
                    <a:lstStyle/>
                    <a:p>
                      <a:endParaRPr lang="en-US" sz="2000" b="1" dirty="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r>
              <a:tr h="0">
                <a:tc>
                  <a:txBody>
                    <a:bodyPr/>
                    <a:lstStyle/>
                    <a:p>
                      <a:endParaRPr lang="en-US" sz="2000" b="1" dirty="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r>
              <a:tr h="499533">
                <a:tc>
                  <a:txBody>
                    <a:bodyPr/>
                    <a:lstStyle/>
                    <a:p>
                      <a:endParaRPr lang="en-US" sz="2000" b="1" dirty="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r>
              <a:tr h="1168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0" b="1" dirty="0" smtClean="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r>
              <a:tr h="499533">
                <a:tc>
                  <a:txBody>
                    <a:bodyPr/>
                    <a:lstStyle/>
                    <a:p>
                      <a:endParaRPr lang="en-US" sz="2000" b="1" dirty="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2" name="Title 1"/>
          <p:cNvSpPr>
            <a:spLocks noGrp="1"/>
          </p:cNvSpPr>
          <p:nvPr>
            <p:ph type="title"/>
          </p:nvPr>
        </p:nvSpPr>
        <p:spPr/>
        <p:txBody>
          <a:bodyPr>
            <a:normAutofit/>
          </a:bodyPr>
          <a:lstStyle/>
          <a:p>
            <a:r>
              <a:rPr lang="en-US" dirty="0" smtClean="0"/>
              <a:t>Inside each Row Group</a:t>
            </a:r>
            <a:endParaRPr lang="en-US" dirty="0"/>
          </a:p>
        </p:txBody>
      </p:sp>
      <p:sp>
        <p:nvSpPr>
          <p:cNvPr id="4" name="Slide Number Placeholder 3"/>
          <p:cNvSpPr>
            <a:spLocks noGrp="1"/>
          </p:cNvSpPr>
          <p:nvPr>
            <p:ph type="sldNum" sz="quarter" idx="4294967295"/>
          </p:nvPr>
        </p:nvSpPr>
        <p:spPr>
          <a:xfrm>
            <a:off x="6553200" y="6356350"/>
            <a:ext cx="2133600" cy="365125"/>
          </a:xfrm>
          <a:prstGeom prst="rect">
            <a:avLst/>
          </a:prstGeom>
        </p:spPr>
        <p:txBody>
          <a:bodyPr/>
          <a:lstStyle/>
          <a:p>
            <a:fld id="{B6F15528-21DE-4FAA-801E-634DDDAF4B2B}" type="slidenum">
              <a:rPr lang="en-US" smtClean="0"/>
              <a:pPr/>
              <a:t>44</a:t>
            </a:fld>
            <a:endParaRPr lang="en-US"/>
          </a:p>
        </p:txBody>
      </p:sp>
      <p:pic>
        <p:nvPicPr>
          <p:cNvPr id="24578" name="Picture 2"/>
          <p:cNvPicPr>
            <a:picLocks noChangeAspect="1" noChangeArrowheads="1"/>
          </p:cNvPicPr>
          <p:nvPr/>
        </p:nvPicPr>
        <p:blipFill>
          <a:blip r:embed="rId3" cstate="print"/>
          <a:srcRect/>
          <a:stretch>
            <a:fillRect/>
          </a:stretch>
        </p:blipFill>
        <p:spPr bwMode="auto">
          <a:xfrm>
            <a:off x="1143000" y="2133600"/>
            <a:ext cx="609600" cy="864781"/>
          </a:xfrm>
          <a:prstGeom prst="rect">
            <a:avLst/>
          </a:prstGeom>
          <a:noFill/>
          <a:ln w="9525">
            <a:noFill/>
            <a:miter lim="800000"/>
            <a:headEnd/>
            <a:tailEnd/>
          </a:ln>
        </p:spPr>
      </p:pic>
      <p:sp>
        <p:nvSpPr>
          <p:cNvPr id="44" name="TextBox 43"/>
          <p:cNvSpPr txBox="1"/>
          <p:nvPr/>
        </p:nvSpPr>
        <p:spPr>
          <a:xfrm>
            <a:off x="1905000" y="2514600"/>
            <a:ext cx="1600200" cy="381000"/>
          </a:xfrm>
          <a:prstGeom prst="rect">
            <a:avLst/>
          </a:prstGeom>
          <a:solidFill>
            <a:schemeClr val="bg1"/>
          </a:solidFill>
          <a:ln w="38100">
            <a:solidFill>
              <a:schemeClr val="tx1"/>
            </a:solidFill>
          </a:ln>
        </p:spPr>
        <p:txBody>
          <a:bodyPr wrap="square" rtlCol="0">
            <a:spAutoFit/>
          </a:bodyPr>
          <a:lstStyle/>
          <a:p>
            <a:r>
              <a:rPr lang="en-US" b="1" dirty="0" smtClean="0"/>
              <a:t>Store Block 1</a:t>
            </a:r>
            <a:endParaRPr lang="en-US" b="1" dirty="0"/>
          </a:p>
        </p:txBody>
      </p:sp>
      <p:sp>
        <p:nvSpPr>
          <p:cNvPr id="20" name="Right Arrow 19"/>
          <p:cNvSpPr/>
          <p:nvPr/>
        </p:nvSpPr>
        <p:spPr>
          <a:xfrm>
            <a:off x="3657600" y="2438400"/>
            <a:ext cx="1219200" cy="60960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Content Placeholder 16"/>
          <p:cNvGraphicFramePr>
            <a:graphicFrameLocks/>
          </p:cNvGraphicFramePr>
          <p:nvPr/>
        </p:nvGraphicFramePr>
        <p:xfrm>
          <a:off x="914400" y="3124200"/>
          <a:ext cx="800100" cy="2286000"/>
        </p:xfrm>
        <a:graphic>
          <a:graphicData uri="http://schemas.openxmlformats.org/drawingml/2006/table">
            <a:tbl>
              <a:tblPr firstRow="1" bandRow="1">
                <a:tableStyleId>{2D5ABB26-0587-4C30-8999-92F81FD0307C}</a:tableStyleId>
              </a:tblPr>
              <a:tblGrid>
                <a:gridCol w="800100"/>
              </a:tblGrid>
              <a:tr h="370840">
                <a:tc>
                  <a:txBody>
                    <a:bodyPr/>
                    <a:lstStyle/>
                    <a:p>
                      <a:r>
                        <a:rPr lang="en-US" sz="2400" dirty="0" smtClean="0">
                          <a:solidFill>
                            <a:schemeClr val="tx1"/>
                          </a:solidFill>
                        </a:rPr>
                        <a:t>101</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102</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103</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104</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105</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13" name="Content Placeholder 16"/>
          <p:cNvGraphicFramePr>
            <a:graphicFrameLocks/>
          </p:cNvGraphicFramePr>
          <p:nvPr/>
        </p:nvGraphicFramePr>
        <p:xfrm>
          <a:off x="2514600" y="3124200"/>
          <a:ext cx="800100" cy="2286000"/>
        </p:xfrm>
        <a:graphic>
          <a:graphicData uri="http://schemas.openxmlformats.org/drawingml/2006/table">
            <a:tbl>
              <a:tblPr firstRow="1" bandRow="1">
                <a:tableStyleId>{2D5ABB26-0587-4C30-8999-92F81FD0307C}</a:tableStyleId>
              </a:tblPr>
              <a:tblGrid>
                <a:gridCol w="800100"/>
              </a:tblGrid>
              <a:tr h="370840">
                <a:tc>
                  <a:txBody>
                    <a:bodyPr/>
                    <a:lstStyle/>
                    <a:p>
                      <a:r>
                        <a:rPr lang="en-US" sz="2400" dirty="0" smtClean="0">
                          <a:solidFill>
                            <a:schemeClr val="tx1"/>
                          </a:solidFill>
                        </a:rPr>
                        <a:t>301</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302</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303</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304</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305</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14" name="Content Placeholder 16"/>
          <p:cNvGraphicFramePr>
            <a:graphicFrameLocks/>
          </p:cNvGraphicFramePr>
          <p:nvPr/>
        </p:nvGraphicFramePr>
        <p:xfrm>
          <a:off x="1714500" y="3124200"/>
          <a:ext cx="800100" cy="2286000"/>
        </p:xfrm>
        <a:graphic>
          <a:graphicData uri="http://schemas.openxmlformats.org/drawingml/2006/table">
            <a:tbl>
              <a:tblPr firstRow="1" bandRow="1">
                <a:tableStyleId>{2D5ABB26-0587-4C30-8999-92F81FD0307C}</a:tableStyleId>
              </a:tblPr>
              <a:tblGrid>
                <a:gridCol w="800100"/>
              </a:tblGrid>
              <a:tr h="370840">
                <a:tc>
                  <a:txBody>
                    <a:bodyPr/>
                    <a:lstStyle/>
                    <a:p>
                      <a:r>
                        <a:rPr lang="en-US" sz="2400" dirty="0" smtClean="0">
                          <a:solidFill>
                            <a:schemeClr val="tx1"/>
                          </a:solidFill>
                        </a:rPr>
                        <a:t>201</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202</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203</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204</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205</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15" name="Content Placeholder 16"/>
          <p:cNvGraphicFramePr>
            <a:graphicFrameLocks/>
          </p:cNvGraphicFramePr>
          <p:nvPr/>
        </p:nvGraphicFramePr>
        <p:xfrm>
          <a:off x="3314700" y="3124200"/>
          <a:ext cx="800100" cy="2286000"/>
        </p:xfrm>
        <a:graphic>
          <a:graphicData uri="http://schemas.openxmlformats.org/drawingml/2006/table">
            <a:tbl>
              <a:tblPr firstRow="1" bandRow="1">
                <a:tableStyleId>{2D5ABB26-0587-4C30-8999-92F81FD0307C}</a:tableStyleId>
              </a:tblPr>
              <a:tblGrid>
                <a:gridCol w="800100"/>
              </a:tblGrid>
              <a:tr h="370840">
                <a:tc>
                  <a:txBody>
                    <a:bodyPr/>
                    <a:lstStyle/>
                    <a:p>
                      <a:r>
                        <a:rPr lang="en-US" sz="2400" dirty="0" smtClean="0">
                          <a:solidFill>
                            <a:schemeClr val="tx1"/>
                          </a:solidFill>
                        </a:rPr>
                        <a:t>401</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402</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403</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404</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405</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pic>
        <p:nvPicPr>
          <p:cNvPr id="36866" name="Picture 2" descr="C:\Users\yhuai\AppData\Local\Microsoft\Windows\Temporary Internet Files\Content.IE5\DJN2TAX4\MC900431560[1].png"/>
          <p:cNvPicPr>
            <a:picLocks noChangeAspect="1" noChangeArrowheads="1"/>
          </p:cNvPicPr>
          <p:nvPr/>
        </p:nvPicPr>
        <p:blipFill>
          <a:blip r:embed="rId4" cstate="print"/>
          <a:srcRect/>
          <a:stretch>
            <a:fillRect/>
          </a:stretch>
        </p:blipFill>
        <p:spPr bwMode="auto">
          <a:xfrm>
            <a:off x="5715000" y="2743200"/>
            <a:ext cx="2285714" cy="2285714"/>
          </a:xfrm>
          <a:prstGeom prst="rect">
            <a:avLst/>
          </a:prstGeom>
          <a:noFill/>
        </p:spPr>
      </p:pic>
    </p:spTree>
    <p:extLst>
      <p:ext uri="{BB962C8B-B14F-4D97-AF65-F5344CB8AC3E}">
        <p14:creationId xmlns:p14="http://schemas.microsoft.com/office/powerpoint/2010/main" val="309798924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Rectangle 37"/>
          <p:cNvSpPr/>
          <p:nvPr/>
        </p:nvSpPr>
        <p:spPr>
          <a:xfrm>
            <a:off x="5181600" y="1600200"/>
            <a:ext cx="3505200" cy="441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2" name="Content Placeholder 41"/>
          <p:cNvGraphicFramePr>
            <a:graphicFrameLocks noGrp="1"/>
          </p:cNvGraphicFramePr>
          <p:nvPr>
            <p:ph idx="1"/>
          </p:nvPr>
        </p:nvGraphicFramePr>
        <p:xfrm>
          <a:off x="5410200" y="1811868"/>
          <a:ext cx="3048000" cy="3979332"/>
        </p:xfrm>
        <a:graphic>
          <a:graphicData uri="http://schemas.openxmlformats.org/drawingml/2006/table">
            <a:tbl>
              <a:tblPr firstRow="1" bandRow="1">
                <a:tableStyleId>{2D5ABB26-0587-4C30-8999-92F81FD0307C}</a:tableStyleId>
              </a:tblPr>
              <a:tblGrid>
                <a:gridCol w="3048000"/>
              </a:tblGrid>
              <a:tr h="152400">
                <a:tc>
                  <a:txBody>
                    <a:bodyPr/>
                    <a:lstStyle/>
                    <a:p>
                      <a:r>
                        <a:rPr lang="en-US" sz="2000" b="1" dirty="0" smtClean="0">
                          <a:solidFill>
                            <a:schemeClr val="bg1"/>
                          </a:solidFill>
                        </a:rPr>
                        <a:t>Compressed Metadata</a:t>
                      </a:r>
                      <a:endParaRPr lang="en-US" sz="2000" b="1" dirty="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r>
              <a:tr h="137160">
                <a:tc>
                  <a:txBody>
                    <a:bodyPr/>
                    <a:lstStyle/>
                    <a:p>
                      <a:r>
                        <a:rPr lang="en-US" sz="2000" b="1" dirty="0" smtClean="0">
                          <a:solidFill>
                            <a:schemeClr val="bg1"/>
                          </a:solidFill>
                        </a:rPr>
                        <a:t>Compressed Column A</a:t>
                      </a:r>
                      <a:endParaRPr lang="en-US" sz="2000" b="1" dirty="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r>
              <a:tr h="499533">
                <a:tc>
                  <a:txBody>
                    <a:bodyPr/>
                    <a:lstStyle/>
                    <a:p>
                      <a:endParaRPr lang="en-US" sz="2000" b="1" dirty="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r>
              <a:tr h="0">
                <a:tc>
                  <a:txBody>
                    <a:bodyPr/>
                    <a:lstStyle/>
                    <a:p>
                      <a:r>
                        <a:rPr lang="en-US" sz="2000" b="1" dirty="0" smtClean="0">
                          <a:solidFill>
                            <a:schemeClr val="bg1"/>
                          </a:solidFill>
                        </a:rPr>
                        <a:t>Compressed Column B</a:t>
                      </a:r>
                      <a:endParaRPr lang="en-US" sz="2000" b="1" dirty="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r>
              <a:tr h="499533">
                <a:tc>
                  <a:txBody>
                    <a:bodyPr/>
                    <a:lstStyle/>
                    <a:p>
                      <a:endParaRPr lang="en-US" sz="2000" b="1" dirty="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r>
              <a:tr h="0">
                <a:tc>
                  <a:txBody>
                    <a:bodyPr/>
                    <a:lstStyle/>
                    <a:p>
                      <a:r>
                        <a:rPr lang="en-US" sz="2000" b="1" dirty="0" smtClean="0">
                          <a:solidFill>
                            <a:schemeClr val="bg1"/>
                          </a:solidFill>
                        </a:rPr>
                        <a:t>Compressed Column C</a:t>
                      </a:r>
                      <a:endParaRPr lang="en-US" sz="2000" b="1" dirty="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r>
              <a:tr h="499533">
                <a:tc>
                  <a:txBody>
                    <a:bodyPr/>
                    <a:lstStyle/>
                    <a:p>
                      <a:endParaRPr lang="en-US" sz="2000" b="1" dirty="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r>
              <a:tr h="1168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dirty="0" smtClean="0">
                          <a:solidFill>
                            <a:schemeClr val="bg1"/>
                          </a:solidFill>
                        </a:rPr>
                        <a:t>Compressed Column D</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r>
              <a:tr h="499533">
                <a:tc>
                  <a:txBody>
                    <a:bodyPr/>
                    <a:lstStyle/>
                    <a:p>
                      <a:endParaRPr lang="en-US" sz="2000" b="1" dirty="0">
                        <a:solidFill>
                          <a:schemeClr val="bg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r>
            </a:tbl>
          </a:graphicData>
        </a:graphic>
      </p:graphicFrame>
      <p:sp>
        <p:nvSpPr>
          <p:cNvPr id="2" name="Title 1"/>
          <p:cNvSpPr>
            <a:spLocks noGrp="1"/>
          </p:cNvSpPr>
          <p:nvPr>
            <p:ph type="title"/>
          </p:nvPr>
        </p:nvSpPr>
        <p:spPr/>
        <p:txBody>
          <a:bodyPr>
            <a:normAutofit/>
          </a:bodyPr>
          <a:lstStyle/>
          <a:p>
            <a:r>
              <a:rPr lang="en-US" dirty="0" err="1" smtClean="0"/>
              <a:t>RCFile</a:t>
            </a:r>
            <a:r>
              <a:rPr lang="en-US" dirty="0" smtClean="0"/>
              <a:t>: </a:t>
            </a:r>
            <a:r>
              <a:rPr lang="en-US" dirty="0" smtClean="0">
                <a:solidFill>
                  <a:srgbClr val="FF0000"/>
                </a:solidFill>
              </a:rPr>
              <a:t>Inside each</a:t>
            </a:r>
            <a:r>
              <a:rPr lang="en-US" dirty="0" smtClean="0"/>
              <a:t> Row Group</a:t>
            </a:r>
            <a:endParaRPr lang="en-US" dirty="0"/>
          </a:p>
        </p:txBody>
      </p:sp>
      <p:sp>
        <p:nvSpPr>
          <p:cNvPr id="4" name="Slide Number Placeholder 3"/>
          <p:cNvSpPr>
            <a:spLocks noGrp="1"/>
          </p:cNvSpPr>
          <p:nvPr>
            <p:ph type="sldNum" sz="quarter" idx="4294967295"/>
          </p:nvPr>
        </p:nvSpPr>
        <p:spPr>
          <a:xfrm>
            <a:off x="6553200" y="6356350"/>
            <a:ext cx="2133600" cy="365125"/>
          </a:xfrm>
          <a:prstGeom prst="rect">
            <a:avLst/>
          </a:prstGeom>
        </p:spPr>
        <p:txBody>
          <a:bodyPr/>
          <a:lstStyle/>
          <a:p>
            <a:fld id="{B6F15528-21DE-4FAA-801E-634DDDAF4B2B}" type="slidenum">
              <a:rPr lang="en-US" smtClean="0"/>
              <a:pPr/>
              <a:t>45</a:t>
            </a:fld>
            <a:endParaRPr lang="en-US"/>
          </a:p>
        </p:txBody>
      </p:sp>
      <p:graphicFrame>
        <p:nvGraphicFramePr>
          <p:cNvPr id="12" name="Content Placeholder 16"/>
          <p:cNvGraphicFramePr>
            <a:graphicFrameLocks/>
          </p:cNvGraphicFramePr>
          <p:nvPr/>
        </p:nvGraphicFramePr>
        <p:xfrm>
          <a:off x="457200" y="2057400"/>
          <a:ext cx="800100" cy="2286000"/>
        </p:xfrm>
        <a:graphic>
          <a:graphicData uri="http://schemas.openxmlformats.org/drawingml/2006/table">
            <a:tbl>
              <a:tblPr firstRow="1" bandRow="1">
                <a:tableStyleId>{2D5ABB26-0587-4C30-8999-92F81FD0307C}</a:tableStyleId>
              </a:tblPr>
              <a:tblGrid>
                <a:gridCol w="800100"/>
              </a:tblGrid>
              <a:tr h="370840">
                <a:tc>
                  <a:txBody>
                    <a:bodyPr/>
                    <a:lstStyle/>
                    <a:p>
                      <a:r>
                        <a:rPr lang="en-US" sz="2400" dirty="0" smtClean="0">
                          <a:solidFill>
                            <a:schemeClr val="tx1"/>
                          </a:solidFill>
                        </a:rPr>
                        <a:t>101</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102</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103</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104</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105</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13" name="Content Placeholder 16"/>
          <p:cNvGraphicFramePr>
            <a:graphicFrameLocks/>
          </p:cNvGraphicFramePr>
          <p:nvPr/>
        </p:nvGraphicFramePr>
        <p:xfrm>
          <a:off x="2667000" y="3581400"/>
          <a:ext cx="800100" cy="2286000"/>
        </p:xfrm>
        <a:graphic>
          <a:graphicData uri="http://schemas.openxmlformats.org/drawingml/2006/table">
            <a:tbl>
              <a:tblPr firstRow="1" bandRow="1">
                <a:tableStyleId>{2D5ABB26-0587-4C30-8999-92F81FD0307C}</a:tableStyleId>
              </a:tblPr>
              <a:tblGrid>
                <a:gridCol w="800100"/>
              </a:tblGrid>
              <a:tr h="370840">
                <a:tc>
                  <a:txBody>
                    <a:bodyPr/>
                    <a:lstStyle/>
                    <a:p>
                      <a:r>
                        <a:rPr lang="en-US" sz="2400" dirty="0" smtClean="0">
                          <a:solidFill>
                            <a:schemeClr val="tx1"/>
                          </a:solidFill>
                        </a:rPr>
                        <a:t>301</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302</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303</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304</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305</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14" name="Content Placeholder 16"/>
          <p:cNvGraphicFramePr>
            <a:graphicFrameLocks/>
          </p:cNvGraphicFramePr>
          <p:nvPr/>
        </p:nvGraphicFramePr>
        <p:xfrm>
          <a:off x="1524000" y="2819400"/>
          <a:ext cx="800100" cy="2286000"/>
        </p:xfrm>
        <a:graphic>
          <a:graphicData uri="http://schemas.openxmlformats.org/drawingml/2006/table">
            <a:tbl>
              <a:tblPr firstRow="1" bandRow="1">
                <a:tableStyleId>{2D5ABB26-0587-4C30-8999-92F81FD0307C}</a:tableStyleId>
              </a:tblPr>
              <a:tblGrid>
                <a:gridCol w="800100"/>
              </a:tblGrid>
              <a:tr h="370840">
                <a:tc>
                  <a:txBody>
                    <a:bodyPr/>
                    <a:lstStyle/>
                    <a:p>
                      <a:r>
                        <a:rPr lang="en-US" sz="2400" dirty="0" smtClean="0">
                          <a:solidFill>
                            <a:schemeClr val="tx1"/>
                          </a:solidFill>
                        </a:rPr>
                        <a:t>201</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202</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203</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204</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205</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15" name="Content Placeholder 16"/>
          <p:cNvGraphicFramePr>
            <a:graphicFrameLocks/>
          </p:cNvGraphicFramePr>
          <p:nvPr/>
        </p:nvGraphicFramePr>
        <p:xfrm>
          <a:off x="3810000" y="4191000"/>
          <a:ext cx="800100" cy="2286000"/>
        </p:xfrm>
        <a:graphic>
          <a:graphicData uri="http://schemas.openxmlformats.org/drawingml/2006/table">
            <a:tbl>
              <a:tblPr firstRow="1" bandRow="1">
                <a:tableStyleId>{2D5ABB26-0587-4C30-8999-92F81FD0307C}</a:tableStyleId>
              </a:tblPr>
              <a:tblGrid>
                <a:gridCol w="800100"/>
              </a:tblGrid>
              <a:tr h="370840">
                <a:tc>
                  <a:txBody>
                    <a:bodyPr/>
                    <a:lstStyle/>
                    <a:p>
                      <a:r>
                        <a:rPr lang="en-US" sz="2400" dirty="0" smtClean="0">
                          <a:solidFill>
                            <a:schemeClr val="tx1"/>
                          </a:solidFill>
                        </a:rPr>
                        <a:t>401</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402</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403</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404</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sz="2400" dirty="0" smtClean="0">
                          <a:solidFill>
                            <a:schemeClr val="tx1"/>
                          </a:solidFill>
                        </a:rPr>
                        <a:t>405</a:t>
                      </a:r>
                      <a:endParaRPr lang="en-US" sz="2400" dirty="0">
                        <a:solidFill>
                          <a:schemeClr val="tx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17" name="Table 16"/>
          <p:cNvGraphicFramePr>
            <a:graphicFrameLocks noGrp="1"/>
          </p:cNvGraphicFramePr>
          <p:nvPr/>
        </p:nvGraphicFramePr>
        <p:xfrm>
          <a:off x="5486400" y="3596640"/>
          <a:ext cx="2819400" cy="335280"/>
        </p:xfrm>
        <a:graphic>
          <a:graphicData uri="http://schemas.openxmlformats.org/drawingml/2006/table">
            <a:tbl>
              <a:tblPr firstRow="1" bandRow="1">
                <a:tableStyleId>{2D5ABB26-0587-4C30-8999-92F81FD0307C}</a:tableStyleId>
              </a:tblPr>
              <a:tblGrid>
                <a:gridCol w="563880"/>
                <a:gridCol w="563880"/>
                <a:gridCol w="563880"/>
                <a:gridCol w="563880"/>
                <a:gridCol w="563880"/>
              </a:tblGrid>
              <a:tr h="335280">
                <a:tc>
                  <a:txBody>
                    <a:bodyPr/>
                    <a:lstStyle/>
                    <a:p>
                      <a:r>
                        <a:rPr lang="en-US" dirty="0" smtClean="0">
                          <a:solidFill>
                            <a:schemeClr val="bg1"/>
                          </a:solidFill>
                        </a:rPr>
                        <a:t>201</a:t>
                      </a:r>
                      <a:endParaRPr lang="en-US" dirty="0">
                        <a:solidFill>
                          <a:schemeClr val="bg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r>
                        <a:rPr lang="en-US" dirty="0" smtClean="0">
                          <a:solidFill>
                            <a:schemeClr val="bg1"/>
                          </a:solidFill>
                        </a:rPr>
                        <a:t>202</a:t>
                      </a:r>
                      <a:endParaRPr lang="en-US" dirty="0">
                        <a:solidFill>
                          <a:schemeClr val="bg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r>
                        <a:rPr lang="en-US" dirty="0" smtClean="0">
                          <a:solidFill>
                            <a:schemeClr val="bg1"/>
                          </a:solidFill>
                        </a:rPr>
                        <a:t>203</a:t>
                      </a:r>
                      <a:endParaRPr lang="en-US" dirty="0">
                        <a:solidFill>
                          <a:schemeClr val="bg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r>
                        <a:rPr lang="en-US" dirty="0" smtClean="0">
                          <a:solidFill>
                            <a:schemeClr val="bg1"/>
                          </a:solidFill>
                        </a:rPr>
                        <a:t>204</a:t>
                      </a:r>
                      <a:endParaRPr lang="en-US" dirty="0">
                        <a:solidFill>
                          <a:schemeClr val="bg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r>
                        <a:rPr lang="en-US" dirty="0" smtClean="0">
                          <a:solidFill>
                            <a:schemeClr val="bg1"/>
                          </a:solidFill>
                        </a:rPr>
                        <a:t>205</a:t>
                      </a:r>
                      <a:endParaRPr lang="en-US" dirty="0">
                        <a:solidFill>
                          <a:schemeClr val="bg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r>
            </a:tbl>
          </a:graphicData>
        </a:graphic>
      </p:graphicFrame>
      <p:graphicFrame>
        <p:nvGraphicFramePr>
          <p:cNvPr id="18" name="Table 17"/>
          <p:cNvGraphicFramePr>
            <a:graphicFrameLocks noGrp="1"/>
          </p:cNvGraphicFramePr>
          <p:nvPr/>
        </p:nvGraphicFramePr>
        <p:xfrm>
          <a:off x="5486400" y="2667000"/>
          <a:ext cx="2819400" cy="335280"/>
        </p:xfrm>
        <a:graphic>
          <a:graphicData uri="http://schemas.openxmlformats.org/drawingml/2006/table">
            <a:tbl>
              <a:tblPr firstRow="1" bandRow="1">
                <a:tableStyleId>{2D5ABB26-0587-4C30-8999-92F81FD0307C}</a:tableStyleId>
              </a:tblPr>
              <a:tblGrid>
                <a:gridCol w="563880"/>
                <a:gridCol w="563880"/>
                <a:gridCol w="563880"/>
                <a:gridCol w="563880"/>
                <a:gridCol w="563880"/>
              </a:tblGrid>
              <a:tr h="335280">
                <a:tc>
                  <a:txBody>
                    <a:bodyPr/>
                    <a:lstStyle/>
                    <a:p>
                      <a:r>
                        <a:rPr lang="en-US" dirty="0" smtClean="0">
                          <a:solidFill>
                            <a:schemeClr val="bg1"/>
                          </a:solidFill>
                        </a:rPr>
                        <a:t>101</a:t>
                      </a:r>
                      <a:endParaRPr lang="en-US" dirty="0">
                        <a:solidFill>
                          <a:schemeClr val="bg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r>
                        <a:rPr lang="en-US" dirty="0" smtClean="0">
                          <a:solidFill>
                            <a:schemeClr val="bg1"/>
                          </a:solidFill>
                        </a:rPr>
                        <a:t>102</a:t>
                      </a:r>
                      <a:endParaRPr lang="en-US" dirty="0">
                        <a:solidFill>
                          <a:schemeClr val="bg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r>
                        <a:rPr lang="en-US" dirty="0" smtClean="0">
                          <a:solidFill>
                            <a:schemeClr val="bg1"/>
                          </a:solidFill>
                        </a:rPr>
                        <a:t>103</a:t>
                      </a:r>
                      <a:endParaRPr lang="en-US" dirty="0">
                        <a:solidFill>
                          <a:schemeClr val="bg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r>
                        <a:rPr lang="en-US" dirty="0" smtClean="0">
                          <a:solidFill>
                            <a:schemeClr val="bg1"/>
                          </a:solidFill>
                        </a:rPr>
                        <a:t>104</a:t>
                      </a:r>
                      <a:endParaRPr lang="en-US" dirty="0">
                        <a:solidFill>
                          <a:schemeClr val="bg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r>
                        <a:rPr lang="en-US" dirty="0" smtClean="0">
                          <a:solidFill>
                            <a:schemeClr val="bg1"/>
                          </a:solidFill>
                        </a:rPr>
                        <a:t>105</a:t>
                      </a:r>
                      <a:endParaRPr lang="en-US" dirty="0">
                        <a:solidFill>
                          <a:schemeClr val="bg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r>
            </a:tbl>
          </a:graphicData>
        </a:graphic>
      </p:graphicFrame>
      <p:graphicFrame>
        <p:nvGraphicFramePr>
          <p:cNvPr id="19" name="Table 18"/>
          <p:cNvGraphicFramePr>
            <a:graphicFrameLocks noGrp="1"/>
          </p:cNvGraphicFramePr>
          <p:nvPr/>
        </p:nvGraphicFramePr>
        <p:xfrm>
          <a:off x="5486400" y="4495800"/>
          <a:ext cx="2819400" cy="335280"/>
        </p:xfrm>
        <a:graphic>
          <a:graphicData uri="http://schemas.openxmlformats.org/drawingml/2006/table">
            <a:tbl>
              <a:tblPr firstRow="1" bandRow="1">
                <a:tableStyleId>{2D5ABB26-0587-4C30-8999-92F81FD0307C}</a:tableStyleId>
              </a:tblPr>
              <a:tblGrid>
                <a:gridCol w="563880"/>
                <a:gridCol w="563880"/>
                <a:gridCol w="563880"/>
                <a:gridCol w="563880"/>
                <a:gridCol w="563880"/>
              </a:tblGrid>
              <a:tr h="335280">
                <a:tc>
                  <a:txBody>
                    <a:bodyPr/>
                    <a:lstStyle/>
                    <a:p>
                      <a:r>
                        <a:rPr lang="en-US" dirty="0" smtClean="0">
                          <a:solidFill>
                            <a:schemeClr val="bg1"/>
                          </a:solidFill>
                        </a:rPr>
                        <a:t>301</a:t>
                      </a:r>
                      <a:endParaRPr lang="en-US" dirty="0">
                        <a:solidFill>
                          <a:schemeClr val="bg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r>
                        <a:rPr lang="en-US" dirty="0" smtClean="0">
                          <a:solidFill>
                            <a:schemeClr val="bg1"/>
                          </a:solidFill>
                        </a:rPr>
                        <a:t>302</a:t>
                      </a:r>
                      <a:endParaRPr lang="en-US" dirty="0">
                        <a:solidFill>
                          <a:schemeClr val="bg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r>
                        <a:rPr lang="en-US" dirty="0" smtClean="0">
                          <a:solidFill>
                            <a:schemeClr val="bg1"/>
                          </a:solidFill>
                        </a:rPr>
                        <a:t>303</a:t>
                      </a:r>
                      <a:endParaRPr lang="en-US" dirty="0">
                        <a:solidFill>
                          <a:schemeClr val="bg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r>
                        <a:rPr lang="en-US" dirty="0" smtClean="0">
                          <a:solidFill>
                            <a:schemeClr val="bg1"/>
                          </a:solidFill>
                        </a:rPr>
                        <a:t>304</a:t>
                      </a:r>
                      <a:endParaRPr lang="en-US" dirty="0">
                        <a:solidFill>
                          <a:schemeClr val="bg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r>
                        <a:rPr lang="en-US" dirty="0" smtClean="0">
                          <a:solidFill>
                            <a:schemeClr val="bg1"/>
                          </a:solidFill>
                        </a:rPr>
                        <a:t>305</a:t>
                      </a:r>
                      <a:endParaRPr lang="en-US" dirty="0">
                        <a:solidFill>
                          <a:schemeClr val="bg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r>
            </a:tbl>
          </a:graphicData>
        </a:graphic>
      </p:graphicFrame>
      <p:graphicFrame>
        <p:nvGraphicFramePr>
          <p:cNvPr id="21" name="Table 20"/>
          <p:cNvGraphicFramePr>
            <a:graphicFrameLocks noGrp="1"/>
          </p:cNvGraphicFramePr>
          <p:nvPr/>
        </p:nvGraphicFramePr>
        <p:xfrm>
          <a:off x="5486400" y="5410200"/>
          <a:ext cx="2819400" cy="335280"/>
        </p:xfrm>
        <a:graphic>
          <a:graphicData uri="http://schemas.openxmlformats.org/drawingml/2006/table">
            <a:tbl>
              <a:tblPr firstRow="1" bandRow="1">
                <a:tableStyleId>{2D5ABB26-0587-4C30-8999-92F81FD0307C}</a:tableStyleId>
              </a:tblPr>
              <a:tblGrid>
                <a:gridCol w="563880"/>
                <a:gridCol w="563880"/>
                <a:gridCol w="563880"/>
                <a:gridCol w="563880"/>
                <a:gridCol w="563880"/>
              </a:tblGrid>
              <a:tr h="335280">
                <a:tc>
                  <a:txBody>
                    <a:bodyPr/>
                    <a:lstStyle/>
                    <a:p>
                      <a:r>
                        <a:rPr lang="en-US" dirty="0" smtClean="0">
                          <a:solidFill>
                            <a:schemeClr val="bg1"/>
                          </a:solidFill>
                        </a:rPr>
                        <a:t>401</a:t>
                      </a:r>
                      <a:endParaRPr lang="en-US" dirty="0">
                        <a:solidFill>
                          <a:schemeClr val="bg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r>
                        <a:rPr lang="en-US" dirty="0" smtClean="0">
                          <a:solidFill>
                            <a:schemeClr val="bg1"/>
                          </a:solidFill>
                        </a:rPr>
                        <a:t>402</a:t>
                      </a:r>
                      <a:endParaRPr lang="en-US" dirty="0">
                        <a:solidFill>
                          <a:schemeClr val="bg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r>
                        <a:rPr lang="en-US" dirty="0" smtClean="0">
                          <a:solidFill>
                            <a:schemeClr val="bg1"/>
                          </a:solidFill>
                        </a:rPr>
                        <a:t>403</a:t>
                      </a:r>
                      <a:endParaRPr lang="en-US" dirty="0">
                        <a:solidFill>
                          <a:schemeClr val="bg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r>
                        <a:rPr lang="en-US" dirty="0" smtClean="0">
                          <a:solidFill>
                            <a:schemeClr val="bg1"/>
                          </a:solidFill>
                        </a:rPr>
                        <a:t>404</a:t>
                      </a:r>
                      <a:endParaRPr lang="en-US" dirty="0">
                        <a:solidFill>
                          <a:schemeClr val="bg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r>
                        <a:rPr lang="en-US" dirty="0" smtClean="0">
                          <a:solidFill>
                            <a:schemeClr val="bg1"/>
                          </a:solidFill>
                        </a:rPr>
                        <a:t>405</a:t>
                      </a:r>
                      <a:endParaRPr lang="en-US" dirty="0">
                        <a:solidFill>
                          <a:schemeClr val="bg1"/>
                        </a:solidFill>
                      </a:endParaRP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r>
            </a:tbl>
          </a:graphicData>
        </a:graphic>
      </p:graphicFrame>
      <p:sp>
        <p:nvSpPr>
          <p:cNvPr id="22" name="Freeform 21"/>
          <p:cNvSpPr/>
          <p:nvPr/>
        </p:nvSpPr>
        <p:spPr>
          <a:xfrm>
            <a:off x="1252603" y="1388301"/>
            <a:ext cx="4233797" cy="1292269"/>
          </a:xfrm>
          <a:custGeom>
            <a:avLst/>
            <a:gdLst>
              <a:gd name="connsiteX0" fmla="*/ 0 w 4233797"/>
              <a:gd name="connsiteY0" fmla="*/ 678494 h 1292269"/>
              <a:gd name="connsiteX1" fmla="*/ 2041742 w 4233797"/>
              <a:gd name="connsiteY1" fmla="*/ 102296 h 1292269"/>
              <a:gd name="connsiteX2" fmla="*/ 4233797 w 4233797"/>
              <a:gd name="connsiteY2" fmla="*/ 1292269 h 1292269"/>
            </a:gdLst>
            <a:ahLst/>
            <a:cxnLst>
              <a:cxn ang="0">
                <a:pos x="connsiteX0" y="connsiteY0"/>
              </a:cxn>
              <a:cxn ang="0">
                <a:pos x="connsiteX1" y="connsiteY1"/>
              </a:cxn>
              <a:cxn ang="0">
                <a:pos x="connsiteX2" y="connsiteY2"/>
              </a:cxn>
            </a:cxnLst>
            <a:rect l="l" t="t" r="r" b="b"/>
            <a:pathLst>
              <a:path w="4233797" h="1292269">
                <a:moveTo>
                  <a:pt x="0" y="678494"/>
                </a:moveTo>
                <a:cubicBezTo>
                  <a:pt x="668054" y="339247"/>
                  <a:pt x="1336109" y="0"/>
                  <a:pt x="2041742" y="102296"/>
                </a:cubicBezTo>
                <a:cubicBezTo>
                  <a:pt x="2747375" y="204592"/>
                  <a:pt x="4010416" y="1148220"/>
                  <a:pt x="4233797" y="1292269"/>
                </a:cubicBezTo>
              </a:path>
            </a:pathLst>
          </a:cu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Freeform 23"/>
          <p:cNvSpPr/>
          <p:nvPr/>
        </p:nvSpPr>
        <p:spPr>
          <a:xfrm>
            <a:off x="2329841" y="2200405"/>
            <a:ext cx="3169085" cy="1394565"/>
          </a:xfrm>
          <a:custGeom>
            <a:avLst/>
            <a:gdLst>
              <a:gd name="connsiteX0" fmla="*/ 0 w 3169085"/>
              <a:gd name="connsiteY0" fmla="*/ 617951 h 1394565"/>
              <a:gd name="connsiteX1" fmla="*/ 826718 w 3169085"/>
              <a:gd name="connsiteY1" fmla="*/ 129436 h 1394565"/>
              <a:gd name="connsiteX2" fmla="*/ 3169085 w 3169085"/>
              <a:gd name="connsiteY2" fmla="*/ 1394565 h 1394565"/>
            </a:gdLst>
            <a:ahLst/>
            <a:cxnLst>
              <a:cxn ang="0">
                <a:pos x="connsiteX0" y="connsiteY0"/>
              </a:cxn>
              <a:cxn ang="0">
                <a:pos x="connsiteX1" y="connsiteY1"/>
              </a:cxn>
              <a:cxn ang="0">
                <a:pos x="connsiteX2" y="connsiteY2"/>
              </a:cxn>
            </a:cxnLst>
            <a:rect l="l" t="t" r="r" b="b"/>
            <a:pathLst>
              <a:path w="3169085" h="1394565">
                <a:moveTo>
                  <a:pt x="0" y="617951"/>
                </a:moveTo>
                <a:cubicBezTo>
                  <a:pt x="149268" y="308975"/>
                  <a:pt x="298537" y="0"/>
                  <a:pt x="826718" y="129436"/>
                </a:cubicBezTo>
                <a:cubicBezTo>
                  <a:pt x="1354899" y="258872"/>
                  <a:pt x="2261992" y="826718"/>
                  <a:pt x="3169085" y="1394565"/>
                </a:cubicBezTo>
              </a:path>
            </a:pathLst>
          </a:cu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Freeform 24"/>
          <p:cNvSpPr/>
          <p:nvPr/>
        </p:nvSpPr>
        <p:spPr>
          <a:xfrm>
            <a:off x="3482236" y="3240065"/>
            <a:ext cx="2016690" cy="1269305"/>
          </a:xfrm>
          <a:custGeom>
            <a:avLst/>
            <a:gdLst>
              <a:gd name="connsiteX0" fmla="*/ 0 w 2016690"/>
              <a:gd name="connsiteY0" fmla="*/ 342379 h 1269305"/>
              <a:gd name="connsiteX1" fmla="*/ 776613 w 2016690"/>
              <a:gd name="connsiteY1" fmla="*/ 154488 h 1269305"/>
              <a:gd name="connsiteX2" fmla="*/ 2016690 w 2016690"/>
              <a:gd name="connsiteY2" fmla="*/ 1269305 h 1269305"/>
            </a:gdLst>
            <a:ahLst/>
            <a:cxnLst>
              <a:cxn ang="0">
                <a:pos x="connsiteX0" y="connsiteY0"/>
              </a:cxn>
              <a:cxn ang="0">
                <a:pos x="connsiteX1" y="connsiteY1"/>
              </a:cxn>
              <a:cxn ang="0">
                <a:pos x="connsiteX2" y="connsiteY2"/>
              </a:cxn>
            </a:cxnLst>
            <a:rect l="l" t="t" r="r" b="b"/>
            <a:pathLst>
              <a:path w="2016690" h="1269305">
                <a:moveTo>
                  <a:pt x="0" y="342379"/>
                </a:moveTo>
                <a:cubicBezTo>
                  <a:pt x="220249" y="171189"/>
                  <a:pt x="440498" y="0"/>
                  <a:pt x="776613" y="154488"/>
                </a:cubicBezTo>
                <a:cubicBezTo>
                  <a:pt x="1112728" y="308976"/>
                  <a:pt x="1564709" y="789140"/>
                  <a:pt x="2016690" y="1269305"/>
                </a:cubicBezTo>
              </a:path>
            </a:pathLst>
          </a:cu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Freeform 28"/>
          <p:cNvSpPr/>
          <p:nvPr/>
        </p:nvSpPr>
        <p:spPr>
          <a:xfrm>
            <a:off x="4622104" y="4196219"/>
            <a:ext cx="864296" cy="1189973"/>
          </a:xfrm>
          <a:custGeom>
            <a:avLst/>
            <a:gdLst>
              <a:gd name="connsiteX0" fmla="*/ 0 w 864296"/>
              <a:gd name="connsiteY0" fmla="*/ 0 h 1189973"/>
              <a:gd name="connsiteX1" fmla="*/ 601249 w 864296"/>
              <a:gd name="connsiteY1" fmla="*/ 601249 h 1189973"/>
              <a:gd name="connsiteX2" fmla="*/ 864296 w 864296"/>
              <a:gd name="connsiteY2" fmla="*/ 1189973 h 1189973"/>
            </a:gdLst>
            <a:ahLst/>
            <a:cxnLst>
              <a:cxn ang="0">
                <a:pos x="connsiteX0" y="connsiteY0"/>
              </a:cxn>
              <a:cxn ang="0">
                <a:pos x="connsiteX1" y="connsiteY1"/>
              </a:cxn>
              <a:cxn ang="0">
                <a:pos x="connsiteX2" y="connsiteY2"/>
              </a:cxn>
            </a:cxnLst>
            <a:rect l="l" t="t" r="r" b="b"/>
            <a:pathLst>
              <a:path w="864296" h="1189973">
                <a:moveTo>
                  <a:pt x="0" y="0"/>
                </a:moveTo>
                <a:cubicBezTo>
                  <a:pt x="228600" y="201460"/>
                  <a:pt x="457200" y="402920"/>
                  <a:pt x="601249" y="601249"/>
                </a:cubicBezTo>
                <a:cubicBezTo>
                  <a:pt x="745298" y="799578"/>
                  <a:pt x="804797" y="994775"/>
                  <a:pt x="864296" y="1189973"/>
                </a:cubicBezTo>
              </a:path>
            </a:pathLst>
          </a:cu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916751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strips(downRight)">
                                      <p:cBhvr>
                                        <p:cTn id="7" dur="500"/>
                                        <p:tgtEl>
                                          <p:spTgt spid="22"/>
                                        </p:tgtEl>
                                      </p:cBhvr>
                                    </p:animEffect>
                                  </p:childTnLst>
                                </p:cTn>
                              </p:par>
                              <p:par>
                                <p:cTn id="8" presetID="18" presetClass="entr" presetSubtype="6"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strips(downRight)">
                                      <p:cBhvr>
                                        <p:cTn id="10" dur="500"/>
                                        <p:tgtEl>
                                          <p:spTgt spid="24"/>
                                        </p:tgtEl>
                                      </p:cBhvr>
                                    </p:animEffect>
                                  </p:childTnLst>
                                </p:cTn>
                              </p:par>
                              <p:par>
                                <p:cTn id="11" presetID="18" presetClass="entr" presetSubtype="6"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strips(downRight)">
                                      <p:cBhvr>
                                        <p:cTn id="13" dur="500"/>
                                        <p:tgtEl>
                                          <p:spTgt spid="25"/>
                                        </p:tgtEl>
                                      </p:cBhvr>
                                    </p:animEffect>
                                  </p:childTnLst>
                                </p:cTn>
                              </p:par>
                              <p:par>
                                <p:cTn id="14" presetID="18" presetClass="entr" presetSubtype="6" fill="hold" grpId="0"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strips(downRight)">
                                      <p:cBhvr>
                                        <p:cTn id="16" dur="500"/>
                                        <p:tgtEl>
                                          <p:spTgt spid="29"/>
                                        </p:tgtEl>
                                      </p:cBhvr>
                                    </p:animEffect>
                                  </p:childTnLst>
                                </p:cTn>
                              </p:par>
                            </p:childTnLst>
                          </p:cTn>
                        </p:par>
                        <p:par>
                          <p:cTn id="17" fill="hold">
                            <p:stCondLst>
                              <p:cond delay="500"/>
                            </p:stCondLst>
                            <p:childTnLst>
                              <p:par>
                                <p:cTn id="18" presetID="18" presetClass="entr" presetSubtype="6" fill="hold"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strips(downRight)">
                                      <p:cBhvr>
                                        <p:cTn id="20" dur="500"/>
                                        <p:tgtEl>
                                          <p:spTgt spid="18"/>
                                        </p:tgtEl>
                                      </p:cBhvr>
                                    </p:animEffect>
                                  </p:childTnLst>
                                </p:cTn>
                              </p:par>
                            </p:childTnLst>
                          </p:cTn>
                        </p:par>
                        <p:par>
                          <p:cTn id="21" fill="hold">
                            <p:stCondLst>
                              <p:cond delay="1000"/>
                            </p:stCondLst>
                            <p:childTnLst>
                              <p:par>
                                <p:cTn id="22" presetID="18" presetClass="entr" presetSubtype="6" fill="hold" nodeType="after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strips(downRight)">
                                      <p:cBhvr>
                                        <p:cTn id="24" dur="500"/>
                                        <p:tgtEl>
                                          <p:spTgt spid="17"/>
                                        </p:tgtEl>
                                      </p:cBhvr>
                                    </p:animEffect>
                                  </p:childTnLst>
                                </p:cTn>
                              </p:par>
                            </p:childTnLst>
                          </p:cTn>
                        </p:par>
                        <p:par>
                          <p:cTn id="25" fill="hold">
                            <p:stCondLst>
                              <p:cond delay="1500"/>
                            </p:stCondLst>
                            <p:childTnLst>
                              <p:par>
                                <p:cTn id="26" presetID="18" presetClass="entr" presetSubtype="6" fill="hold" nodeType="after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strips(downRight)">
                                      <p:cBhvr>
                                        <p:cTn id="28" dur="500"/>
                                        <p:tgtEl>
                                          <p:spTgt spid="19"/>
                                        </p:tgtEl>
                                      </p:cBhvr>
                                    </p:animEffect>
                                  </p:childTnLst>
                                </p:cTn>
                              </p:par>
                            </p:childTnLst>
                          </p:cTn>
                        </p:par>
                        <p:par>
                          <p:cTn id="29" fill="hold">
                            <p:stCondLst>
                              <p:cond delay="2000"/>
                            </p:stCondLst>
                            <p:childTnLst>
                              <p:par>
                                <p:cTn id="30" presetID="18" presetClass="entr" presetSubtype="6" fill="hold" nodeType="after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strips(downRight)">
                                      <p:cBhvr>
                                        <p:cTn id="3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4" grpId="0" animBg="1"/>
      <p:bldP spid="25" grpId="0" animBg="1"/>
      <p:bldP spid="29"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6633"/>
          </a:xfrm>
        </p:spPr>
        <p:txBody>
          <a:bodyPr/>
          <a:lstStyle/>
          <a:p>
            <a:pPr algn="ctr"/>
            <a:r>
              <a:rPr lang="en-US" dirty="0" smtClean="0"/>
              <a:t>Benefits of </a:t>
            </a:r>
            <a:r>
              <a:rPr lang="en-US" dirty="0" err="1" smtClean="0">
                <a:solidFill>
                  <a:srgbClr val="FF0000"/>
                </a:solidFill>
              </a:rPr>
              <a:t>RCFile</a:t>
            </a:r>
            <a:endParaRPr lang="en-US" dirty="0">
              <a:solidFill>
                <a:srgbClr val="FF0000"/>
              </a:solidFill>
            </a:endParaRPr>
          </a:p>
        </p:txBody>
      </p:sp>
      <p:sp>
        <p:nvSpPr>
          <p:cNvPr id="3" name="Content Placeholder 2"/>
          <p:cNvSpPr>
            <a:spLocks noGrp="1"/>
          </p:cNvSpPr>
          <p:nvPr>
            <p:ph idx="1"/>
          </p:nvPr>
        </p:nvSpPr>
        <p:spPr>
          <a:xfrm>
            <a:off x="0" y="1344706"/>
            <a:ext cx="9144000" cy="4781457"/>
          </a:xfrm>
        </p:spPr>
        <p:txBody>
          <a:bodyPr>
            <a:normAutofit/>
          </a:bodyPr>
          <a:lstStyle/>
          <a:p>
            <a:pPr marL="342900" indent="-342900">
              <a:buFont typeface="Arial" panose="020B0604020202020204" pitchFamily="34" charset="0"/>
              <a:buChar char="•"/>
            </a:pPr>
            <a:r>
              <a:rPr lang="en-US" dirty="0" smtClean="0"/>
              <a:t>Minimize unnecessary I/O operations</a:t>
            </a:r>
          </a:p>
          <a:p>
            <a:pPr marL="685800" lvl="1" indent="-342900">
              <a:buFont typeface="Wingdings" panose="05000000000000000000" pitchFamily="2" charset="2"/>
              <a:buChar char="Ø"/>
            </a:pPr>
            <a:r>
              <a:rPr lang="en-US" dirty="0" smtClean="0"/>
              <a:t>In a row group, table is partitioned by columns</a:t>
            </a:r>
          </a:p>
          <a:p>
            <a:pPr marL="685800" lvl="1" indent="-342900">
              <a:buFont typeface="Wingdings" panose="05000000000000000000" pitchFamily="2" charset="2"/>
              <a:buChar char="Ø"/>
            </a:pPr>
            <a:r>
              <a:rPr lang="en-US" dirty="0" smtClean="0"/>
              <a:t>Only read needed columns from disks</a:t>
            </a:r>
          </a:p>
          <a:p>
            <a:pPr marL="342900" indent="-342900">
              <a:buFont typeface="Arial" panose="020B0604020202020204" pitchFamily="34" charset="0"/>
              <a:buChar char="•"/>
            </a:pPr>
            <a:r>
              <a:rPr lang="en-US" dirty="0" smtClean="0"/>
              <a:t>Minimize network costs in row construction</a:t>
            </a:r>
          </a:p>
          <a:p>
            <a:pPr marL="685800" lvl="1" indent="-342900">
              <a:buFont typeface="Wingdings" panose="05000000000000000000" pitchFamily="2" charset="2"/>
              <a:buChar char="Ø"/>
            </a:pPr>
            <a:r>
              <a:rPr lang="en-US" dirty="0" smtClean="0"/>
              <a:t>All columns of a row are located in same HDFS block</a:t>
            </a:r>
          </a:p>
          <a:p>
            <a:pPr marL="342900" indent="-342900">
              <a:buFont typeface="Arial" panose="020B0604020202020204" pitchFamily="34" charset="0"/>
              <a:buChar char="•"/>
            </a:pPr>
            <a:r>
              <a:rPr lang="en-US" dirty="0" smtClean="0"/>
              <a:t> Comparable data loading speed to </a:t>
            </a:r>
            <a:r>
              <a:rPr lang="en-US" b="1" dirty="0" smtClean="0">
                <a:solidFill>
                  <a:srgbClr val="FF0000"/>
                </a:solidFill>
              </a:rPr>
              <a:t>Row-Store</a:t>
            </a:r>
            <a:endParaRPr lang="en-US" b="1" dirty="0" smtClean="0"/>
          </a:p>
          <a:p>
            <a:pPr marL="685800" lvl="1" indent="-342900">
              <a:buFont typeface="Wingdings" panose="05000000000000000000" pitchFamily="2" charset="2"/>
              <a:buChar char="Ø"/>
            </a:pPr>
            <a:r>
              <a:rPr lang="en-US" dirty="0" smtClean="0"/>
              <a:t>Only adding a vertical-partitioning operation in the data loading procedure of Row-Store</a:t>
            </a:r>
          </a:p>
          <a:p>
            <a:pPr marL="342900" indent="-342900">
              <a:buFont typeface="Arial" panose="020B0604020202020204" pitchFamily="34" charset="0"/>
              <a:buChar char="•"/>
            </a:pPr>
            <a:r>
              <a:rPr lang="en-US" dirty="0" smtClean="0"/>
              <a:t>Applying efficient data compression algorithms</a:t>
            </a:r>
          </a:p>
          <a:p>
            <a:pPr marL="685800" lvl="1" indent="-342900">
              <a:buFont typeface="Wingdings" panose="05000000000000000000" pitchFamily="2" charset="2"/>
              <a:buChar char="Ø"/>
            </a:pPr>
            <a:r>
              <a:rPr lang="en-US" dirty="0" smtClean="0"/>
              <a:t>Can use compression schemes used in </a:t>
            </a:r>
            <a:r>
              <a:rPr lang="en-US" b="1" dirty="0" smtClean="0">
                <a:solidFill>
                  <a:srgbClr val="FF0000"/>
                </a:solidFill>
              </a:rPr>
              <a:t>Column-store </a:t>
            </a:r>
            <a:endParaRPr lang="en-US" b="1" dirty="0">
              <a:solidFill>
                <a:srgbClr val="FF0000"/>
              </a:solidFill>
            </a:endParaRPr>
          </a:p>
        </p:txBody>
      </p:sp>
      <p:sp>
        <p:nvSpPr>
          <p:cNvPr id="4" name="Slide Number Placeholder 3"/>
          <p:cNvSpPr>
            <a:spLocks noGrp="1"/>
          </p:cNvSpPr>
          <p:nvPr>
            <p:ph type="sldNum" sz="quarter" idx="4294967295"/>
          </p:nvPr>
        </p:nvSpPr>
        <p:spPr>
          <a:xfrm>
            <a:off x="6553200" y="6356350"/>
            <a:ext cx="2133600" cy="365125"/>
          </a:xfrm>
          <a:prstGeom prst="rect">
            <a:avLst/>
          </a:prstGeom>
        </p:spPr>
        <p:txBody>
          <a:bodyPr/>
          <a:lstStyle/>
          <a:p>
            <a:fld id="{B6F15528-21DE-4FAA-801E-634DDDAF4B2B}" type="slidenum">
              <a:rPr lang="en-US" smtClean="0"/>
              <a:pPr/>
              <a:t>46</a:t>
            </a:fld>
            <a:endParaRPr lang="en-US"/>
          </a:p>
        </p:txBody>
      </p:sp>
    </p:spTree>
    <p:extLst>
      <p:ext uri="{BB962C8B-B14F-4D97-AF65-F5344CB8AC3E}">
        <p14:creationId xmlns:p14="http://schemas.microsoft.com/office/powerpoint/2010/main" val="3224581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6633"/>
          </a:xfrm>
        </p:spPr>
        <p:txBody>
          <a:bodyPr/>
          <a:lstStyle/>
          <a:p>
            <a:pPr algn="ctr"/>
            <a:r>
              <a:rPr lang="en-US" dirty="0" smtClean="0"/>
              <a:t>Benefits of </a:t>
            </a:r>
            <a:r>
              <a:rPr lang="en-US" dirty="0" err="1" smtClean="0">
                <a:solidFill>
                  <a:srgbClr val="FF0000"/>
                </a:solidFill>
              </a:rPr>
              <a:t>RCFile</a:t>
            </a:r>
            <a:endParaRPr lang="en-US" dirty="0">
              <a:solidFill>
                <a:srgbClr val="FF0000"/>
              </a:solidFill>
            </a:endParaRPr>
          </a:p>
        </p:txBody>
      </p:sp>
      <p:sp>
        <p:nvSpPr>
          <p:cNvPr id="3" name="Content Placeholder 2"/>
          <p:cNvSpPr>
            <a:spLocks noGrp="1"/>
          </p:cNvSpPr>
          <p:nvPr>
            <p:ph idx="1"/>
          </p:nvPr>
        </p:nvSpPr>
        <p:spPr>
          <a:xfrm>
            <a:off x="0" y="1344706"/>
            <a:ext cx="9144000" cy="4781457"/>
          </a:xfrm>
        </p:spPr>
        <p:txBody>
          <a:bodyPr>
            <a:normAutofit/>
          </a:bodyPr>
          <a:lstStyle/>
          <a:p>
            <a:r>
              <a:rPr lang="en-US" dirty="0" smtClean="0"/>
              <a:t>Minimize unnecessary I/O operations</a:t>
            </a:r>
          </a:p>
          <a:p>
            <a:pPr lvl="1"/>
            <a:r>
              <a:rPr lang="en-US" dirty="0" smtClean="0"/>
              <a:t>In a row group, table is partitioned by columns</a:t>
            </a:r>
          </a:p>
          <a:p>
            <a:pPr lvl="1"/>
            <a:r>
              <a:rPr lang="en-US" dirty="0" smtClean="0"/>
              <a:t>Only read needed columns from disks</a:t>
            </a:r>
          </a:p>
          <a:p>
            <a:r>
              <a:rPr lang="en-US" dirty="0" smtClean="0"/>
              <a:t>Minimize network costs in row construction</a:t>
            </a:r>
          </a:p>
          <a:p>
            <a:pPr lvl="1"/>
            <a:r>
              <a:rPr lang="en-US" dirty="0" smtClean="0"/>
              <a:t>All columns of a row are located in same HDFS block</a:t>
            </a:r>
          </a:p>
          <a:p>
            <a:r>
              <a:rPr lang="en-US" dirty="0" smtClean="0"/>
              <a:t> Comparable data loading speed to </a:t>
            </a:r>
            <a:r>
              <a:rPr lang="en-US" b="1" dirty="0" smtClean="0">
                <a:solidFill>
                  <a:srgbClr val="FF0000"/>
                </a:solidFill>
              </a:rPr>
              <a:t>Row-Store</a:t>
            </a:r>
            <a:endParaRPr lang="en-US" b="1" dirty="0" smtClean="0"/>
          </a:p>
          <a:p>
            <a:pPr lvl="1"/>
            <a:r>
              <a:rPr lang="en-US" dirty="0" smtClean="0"/>
              <a:t>Only adding a vertical-partitioning operation in the data loading procedure of Row-Store</a:t>
            </a:r>
          </a:p>
          <a:p>
            <a:r>
              <a:rPr lang="en-US" dirty="0" smtClean="0"/>
              <a:t>Applying efficient data compression algorithms</a:t>
            </a:r>
          </a:p>
          <a:p>
            <a:pPr lvl="1"/>
            <a:r>
              <a:rPr lang="en-US" dirty="0" smtClean="0"/>
              <a:t>Can use compression schemes used in </a:t>
            </a:r>
            <a:r>
              <a:rPr lang="en-US" b="1" dirty="0" smtClean="0">
                <a:solidFill>
                  <a:srgbClr val="FF0000"/>
                </a:solidFill>
              </a:rPr>
              <a:t>Column-store </a:t>
            </a:r>
            <a:endParaRPr lang="en-US" b="1" dirty="0">
              <a:solidFill>
                <a:srgbClr val="FF0000"/>
              </a:solidFill>
            </a:endParaRPr>
          </a:p>
        </p:txBody>
      </p:sp>
      <p:sp>
        <p:nvSpPr>
          <p:cNvPr id="4" name="Slide Number Placeholder 3"/>
          <p:cNvSpPr>
            <a:spLocks noGrp="1"/>
          </p:cNvSpPr>
          <p:nvPr>
            <p:ph type="sldNum" sz="quarter" idx="4294967295"/>
          </p:nvPr>
        </p:nvSpPr>
        <p:spPr>
          <a:xfrm>
            <a:off x="6553200" y="6356350"/>
            <a:ext cx="2133600" cy="365125"/>
          </a:xfrm>
          <a:prstGeom prst="rect">
            <a:avLst/>
          </a:prstGeom>
        </p:spPr>
        <p:txBody>
          <a:bodyPr/>
          <a:lstStyle/>
          <a:p>
            <a:fld id="{B6F15528-21DE-4FAA-801E-634DDDAF4B2B}" type="slidenum">
              <a:rPr lang="en-US" smtClean="0"/>
              <a:pPr/>
              <a:t>47</a:t>
            </a:fld>
            <a:endParaRPr lang="en-US"/>
          </a:p>
        </p:txBody>
      </p:sp>
    </p:spTree>
    <p:extLst>
      <p:ext uri="{BB962C8B-B14F-4D97-AF65-F5344CB8AC3E}">
        <p14:creationId xmlns:p14="http://schemas.microsoft.com/office/powerpoint/2010/main" val="4125845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p:cNvGrpSpPr/>
          <p:nvPr/>
        </p:nvGrpSpPr>
        <p:grpSpPr>
          <a:xfrm>
            <a:off x="539750" y="5175250"/>
            <a:ext cx="4032250" cy="1587500"/>
            <a:chOff x="539750" y="5175250"/>
            <a:chExt cx="4032250" cy="1587500"/>
          </a:xfrm>
        </p:grpSpPr>
        <p:sp>
          <p:nvSpPr>
            <p:cNvPr id="4" name="Rectangle 3"/>
            <p:cNvSpPr/>
            <p:nvPr/>
          </p:nvSpPr>
          <p:spPr>
            <a:xfrm>
              <a:off x="539750" y="5746750"/>
              <a:ext cx="4032250" cy="1016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smtClean="0">
                  <a:latin typeface="Arial"/>
                  <a:cs typeface="Arial"/>
                </a:rPr>
                <a:t>HDFS</a:t>
              </a:r>
              <a:endParaRPr lang="en-US" sz="2800" b="1" dirty="0">
                <a:latin typeface="Arial"/>
                <a:cs typeface="Arial"/>
              </a:endParaRPr>
            </a:p>
          </p:txBody>
        </p:sp>
        <p:sp>
          <p:nvSpPr>
            <p:cNvPr id="5" name="Multidocument 4"/>
            <p:cNvSpPr/>
            <p:nvPr/>
          </p:nvSpPr>
          <p:spPr>
            <a:xfrm>
              <a:off x="1188356" y="5175250"/>
              <a:ext cx="1143000" cy="857250"/>
            </a:xfrm>
            <a:prstGeom prst="flowChartMultidocument">
              <a:avLst/>
            </a:prstGeom>
            <a:solidFill>
              <a:schemeClr val="accent3"/>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Multidocument 21"/>
            <p:cNvSpPr/>
            <p:nvPr/>
          </p:nvSpPr>
          <p:spPr>
            <a:xfrm>
              <a:off x="2778579" y="5175250"/>
              <a:ext cx="1143000" cy="857250"/>
            </a:xfrm>
            <a:prstGeom prst="flowChartMultidocument">
              <a:avLst/>
            </a:prstGeom>
            <a:solidFill>
              <a:schemeClr val="accent3"/>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 name="Title 1"/>
          <p:cNvSpPr>
            <a:spLocks noGrp="1"/>
          </p:cNvSpPr>
          <p:nvPr>
            <p:ph type="title"/>
          </p:nvPr>
        </p:nvSpPr>
        <p:spPr>
          <a:effectLst/>
        </p:spPr>
        <p:txBody>
          <a:bodyPr>
            <a:normAutofit/>
          </a:bodyPr>
          <a:lstStyle/>
          <a:p>
            <a:pPr algn="ctr"/>
            <a:r>
              <a:rPr lang="en-US" sz="3800" dirty="0" smtClean="0"/>
              <a:t>Query Planner in Hive</a:t>
            </a:r>
            <a:endParaRPr lang="en-US" sz="3800" dirty="0"/>
          </a:p>
        </p:txBody>
      </p:sp>
      <p:grpSp>
        <p:nvGrpSpPr>
          <p:cNvPr id="11" name="Group 10"/>
          <p:cNvGrpSpPr/>
          <p:nvPr/>
        </p:nvGrpSpPr>
        <p:grpSpPr>
          <a:xfrm>
            <a:off x="1282127" y="1632580"/>
            <a:ext cx="2688545" cy="3542670"/>
            <a:chOff x="1282127" y="1632580"/>
            <a:chExt cx="2688545" cy="3542670"/>
          </a:xfrm>
        </p:grpSpPr>
        <p:cxnSp>
          <p:nvCxnSpPr>
            <p:cNvPr id="43" name="Straight Arrow Connector 42"/>
            <p:cNvCxnSpPr>
              <a:stCxn id="49" idx="0"/>
              <a:endCxn id="48" idx="2"/>
            </p:cNvCxnSpPr>
            <p:nvPr/>
          </p:nvCxnSpPr>
          <p:spPr>
            <a:xfrm flipV="1">
              <a:off x="1835484" y="3956135"/>
              <a:ext cx="888666" cy="317940"/>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44" name="Straight Arrow Connector 43"/>
            <p:cNvCxnSpPr>
              <a:stCxn id="50" idx="0"/>
              <a:endCxn id="48" idx="2"/>
            </p:cNvCxnSpPr>
            <p:nvPr/>
          </p:nvCxnSpPr>
          <p:spPr>
            <a:xfrm flipH="1" flipV="1">
              <a:off x="2724150" y="3956135"/>
              <a:ext cx="693166" cy="317940"/>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45" name="Straight Arrow Connector 44"/>
            <p:cNvCxnSpPr>
              <a:stCxn id="48" idx="0"/>
              <a:endCxn id="51" idx="2"/>
            </p:cNvCxnSpPr>
            <p:nvPr/>
          </p:nvCxnSpPr>
          <p:spPr>
            <a:xfrm flipV="1">
              <a:off x="2724150" y="3063495"/>
              <a:ext cx="0" cy="369420"/>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46" name="Straight Arrow Connector 45"/>
            <p:cNvCxnSpPr>
              <a:stCxn id="51" idx="0"/>
              <a:endCxn id="47" idx="2"/>
            </p:cNvCxnSpPr>
            <p:nvPr/>
          </p:nvCxnSpPr>
          <p:spPr>
            <a:xfrm flipV="1">
              <a:off x="2724150" y="2155800"/>
              <a:ext cx="0" cy="384475"/>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2170793" y="1632580"/>
              <a:ext cx="1106713" cy="5232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200" b="1" dirty="0" smtClean="0">
                  <a:latin typeface="Arial"/>
                  <a:cs typeface="Arial"/>
                </a:rPr>
                <a:t>GBY</a:t>
              </a:r>
              <a:endParaRPr lang="en-US" sz="2200" b="1" dirty="0">
                <a:latin typeface="Arial"/>
                <a:cs typeface="Arial"/>
              </a:endParaRPr>
            </a:p>
          </p:txBody>
        </p:sp>
        <p:sp>
          <p:nvSpPr>
            <p:cNvPr id="48" name="Rectangle 47"/>
            <p:cNvSpPr/>
            <p:nvPr/>
          </p:nvSpPr>
          <p:spPr>
            <a:xfrm>
              <a:off x="2170793" y="3432915"/>
              <a:ext cx="1106713" cy="5232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200" b="1" dirty="0" smtClean="0">
                  <a:latin typeface="Arial"/>
                  <a:cs typeface="Arial"/>
                </a:rPr>
                <a:t>JOIN</a:t>
              </a:r>
              <a:endParaRPr lang="en-US" sz="2200" b="1" dirty="0">
                <a:latin typeface="Arial"/>
                <a:cs typeface="Arial"/>
              </a:endParaRPr>
            </a:p>
          </p:txBody>
        </p:sp>
        <p:sp>
          <p:nvSpPr>
            <p:cNvPr id="49" name="Rectangle 48"/>
            <p:cNvSpPr/>
            <p:nvPr/>
          </p:nvSpPr>
          <p:spPr>
            <a:xfrm>
              <a:off x="1282127" y="4274075"/>
              <a:ext cx="1106713" cy="5232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200" b="1" dirty="0" smtClean="0">
                  <a:latin typeface="Arial"/>
                  <a:cs typeface="Arial"/>
                </a:rPr>
                <a:t>SEL</a:t>
              </a:r>
              <a:endParaRPr lang="en-US" sz="2200" b="1" dirty="0">
                <a:latin typeface="Arial"/>
                <a:cs typeface="Arial"/>
              </a:endParaRPr>
            </a:p>
          </p:txBody>
        </p:sp>
        <p:sp>
          <p:nvSpPr>
            <p:cNvPr id="50" name="Rectangle 49"/>
            <p:cNvSpPr/>
            <p:nvPr/>
          </p:nvSpPr>
          <p:spPr>
            <a:xfrm>
              <a:off x="2863959" y="4274075"/>
              <a:ext cx="1106713" cy="5232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200" b="1" dirty="0" smtClean="0">
                  <a:latin typeface="Arial"/>
                  <a:cs typeface="Arial"/>
                </a:rPr>
                <a:t>SEL</a:t>
              </a:r>
              <a:endParaRPr lang="en-US" sz="2200" b="1" dirty="0">
                <a:latin typeface="Arial"/>
                <a:cs typeface="Arial"/>
              </a:endParaRPr>
            </a:p>
          </p:txBody>
        </p:sp>
        <p:sp>
          <p:nvSpPr>
            <p:cNvPr id="51" name="Rectangle 50"/>
            <p:cNvSpPr/>
            <p:nvPr/>
          </p:nvSpPr>
          <p:spPr>
            <a:xfrm>
              <a:off x="2170793" y="2540275"/>
              <a:ext cx="1106713" cy="5232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200" b="1" dirty="0" smtClean="0">
                  <a:latin typeface="Arial"/>
                  <a:cs typeface="Arial"/>
                </a:rPr>
                <a:t>SEL</a:t>
              </a:r>
              <a:endParaRPr lang="en-US" sz="2200" b="1" dirty="0">
                <a:latin typeface="Arial"/>
                <a:cs typeface="Arial"/>
              </a:endParaRPr>
            </a:p>
          </p:txBody>
        </p:sp>
        <p:cxnSp>
          <p:nvCxnSpPr>
            <p:cNvPr id="52" name="Straight Arrow Connector 51"/>
            <p:cNvCxnSpPr>
              <a:stCxn id="5" idx="0"/>
              <a:endCxn id="49" idx="2"/>
            </p:cNvCxnSpPr>
            <p:nvPr/>
          </p:nvCxnSpPr>
          <p:spPr>
            <a:xfrm flipH="1" flipV="1">
              <a:off x="1835484" y="4797295"/>
              <a:ext cx="3006" cy="377955"/>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a:stCxn id="22" idx="0"/>
              <a:endCxn id="50" idx="2"/>
            </p:cNvCxnSpPr>
            <p:nvPr/>
          </p:nvCxnSpPr>
          <p:spPr>
            <a:xfrm flipH="1" flipV="1">
              <a:off x="3417316" y="4797295"/>
              <a:ext cx="11397" cy="377955"/>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grpSp>
      <p:sp>
        <p:nvSpPr>
          <p:cNvPr id="29" name="TextBox 28"/>
          <p:cNvSpPr txBox="1"/>
          <p:nvPr/>
        </p:nvSpPr>
        <p:spPr>
          <a:xfrm>
            <a:off x="4826000" y="3534069"/>
            <a:ext cx="4318000" cy="1200329"/>
          </a:xfrm>
          <a:prstGeom prst="rect">
            <a:avLst/>
          </a:prstGeom>
          <a:noFill/>
          <a:effectLst/>
        </p:spPr>
        <p:txBody>
          <a:bodyPr wrap="square" rtlCol="0">
            <a:spAutoFit/>
          </a:bodyPr>
          <a:lstStyle/>
          <a:p>
            <a:r>
              <a:rPr lang="en-US" sz="2800" b="1" dirty="0" smtClean="0">
                <a:solidFill>
                  <a:srgbClr val="FF0000"/>
                </a:solidFill>
                <a:latin typeface="Arial"/>
                <a:cs typeface="Arial"/>
              </a:rPr>
              <a:t>Query planner:</a:t>
            </a:r>
          </a:p>
          <a:p>
            <a:r>
              <a:rPr lang="en-US" sz="2200" b="1" dirty="0" smtClean="0">
                <a:latin typeface="Arial"/>
                <a:cs typeface="Arial"/>
              </a:rPr>
              <a:t>The efficiency of query plans</a:t>
            </a:r>
          </a:p>
          <a:p>
            <a:r>
              <a:rPr lang="en-US" sz="2200" b="1" dirty="0" smtClean="0">
                <a:latin typeface="Arial"/>
                <a:cs typeface="Arial"/>
              </a:rPr>
              <a:t>Data movements</a:t>
            </a:r>
          </a:p>
        </p:txBody>
      </p:sp>
      <p:cxnSp>
        <p:nvCxnSpPr>
          <p:cNvPr id="34" name="Straight Arrow Connector 33"/>
          <p:cNvCxnSpPr>
            <a:stCxn id="25" idx="6"/>
            <a:endCxn id="29" idx="1"/>
          </p:cNvCxnSpPr>
          <p:nvPr/>
        </p:nvCxnSpPr>
        <p:spPr>
          <a:xfrm>
            <a:off x="4595783" y="3280819"/>
            <a:ext cx="230217" cy="853415"/>
          </a:xfrm>
          <a:prstGeom prst="straightConnector1">
            <a:avLst/>
          </a:prstGeom>
          <a:ln w="5080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728643" y="1386388"/>
            <a:ext cx="3867140" cy="3788862"/>
          </a:xfrm>
          <a:prstGeom prst="ellipse">
            <a:avLst/>
          </a:prstGeom>
          <a:solidFill>
            <a:schemeClr val="accent2">
              <a:alpha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5671468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6553200" y="6356350"/>
            <a:ext cx="2133600" cy="365125"/>
          </a:xfrm>
          <a:prstGeom prst="rect">
            <a:avLst/>
          </a:prstGeom>
        </p:spPr>
        <p:txBody>
          <a:bodyPr/>
          <a:lstStyle/>
          <a:p>
            <a:fld id="{B6F15528-21DE-4FAA-801E-634DDDAF4B2B}" type="slidenum">
              <a:rPr lang="en-US" smtClean="0"/>
              <a:pPr/>
              <a:t>49</a:t>
            </a:fld>
            <a:endParaRPr lang="en-US" dirty="0"/>
          </a:p>
        </p:txBody>
      </p:sp>
      <p:sp>
        <p:nvSpPr>
          <p:cNvPr id="17416" name="Rectangle 8"/>
          <p:cNvSpPr>
            <a:spLocks noChangeArrowheads="1"/>
          </p:cNvSpPr>
          <p:nvPr/>
        </p:nvSpPr>
        <p:spPr bwMode="auto">
          <a:xfrm>
            <a:off x="0" y="913686"/>
            <a:ext cx="9144000" cy="4801314"/>
          </a:xfrm>
          <a:prstGeom prst="rect">
            <a:avLst/>
          </a:prstGeom>
          <a:solidFill>
            <a:schemeClr val="accent5">
              <a:lumMod val="20000"/>
              <a:lumOff val="80000"/>
            </a:schemeClr>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package</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tpch</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import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java.io.IOException</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import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java.util.ArrayList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import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org.apache.hadoop.conf.Configuration</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import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org.apache.hadoop.conf.Configured</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import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org.apache.hadoop.fs.Path</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import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org.apache.hadoop.io.DoubleWritable</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import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org.apache.hadoop.io.IntWritable</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import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org.apache.hadoop.io.Text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import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org.apache.hadoop.mapreduce.Job</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import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org.apache.hadoop.mapreduce.Mapper</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import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org.apache.hadoop.mapreduce.Reducer</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import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org.apache.hadoop.mapreduce.Mapper.Context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import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org.apache.hadoop.mapreduce.lib.input.FileInputFormat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import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org.apache.hadoop.mapreduce.lib.input.FileSplit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import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org.apache.hadoop.mapreduce.lib.output.FileOutputFormat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import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org.apache.hadoop.util.GenericOptionsParser</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import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org.apache.hadoop.util.Tool</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import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org.apache.hadoop.util.ToolRunner</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public</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class</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Q18Job1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extends</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Configured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implements</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Tool{</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public</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static</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class</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Map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extends</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Mapper</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&lt;Object, Text,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IntWritable</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Text&gt;{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private</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final</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static</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Text value =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new</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Text();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private</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IntWritable</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word =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new</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IntWritable</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private</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String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inputFile</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private</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FF"/>
                </a:solidFill>
                <a:effectLst/>
                <a:latin typeface="Courier New" pitchFamily="49" charset="0"/>
                <a:ea typeface="Times New Roman" pitchFamily="18" charset="0"/>
                <a:cs typeface="Courier New" pitchFamily="49" charset="0"/>
              </a:rPr>
              <a:t>boolean</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isLineitem</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 </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false</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@Override</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protected</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void</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setup(Context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context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throws</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IOException</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InterruptedException</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inputFile</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FileSplit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context.getInputSplit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getPath</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getName</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if</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inputFile.compareTo</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"lineitem.tbl"</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 </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0</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isLineitem</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 </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true</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System.out.println</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err="1" smtClean="0">
                <a:ln>
                  <a:noFill/>
                </a:ln>
                <a:solidFill>
                  <a:srgbClr val="800000"/>
                </a:solidFill>
                <a:effectLst/>
                <a:latin typeface="Courier New" pitchFamily="49" charset="0"/>
                <a:ea typeface="Times New Roman" pitchFamily="18" charset="0"/>
                <a:cs typeface="Courier New" pitchFamily="49" charset="0"/>
              </a:rPr>
              <a:t>isLineitem</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isLineitem</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 </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800000"/>
                </a:solidFill>
                <a:effectLst/>
                <a:latin typeface="Courier New" pitchFamily="49" charset="0"/>
                <a:ea typeface="Times New Roman" pitchFamily="18" charset="0"/>
                <a:cs typeface="Courier New" pitchFamily="49" charset="0"/>
              </a:rPr>
              <a:t>inputFile</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inputFile</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public</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void</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map(Object key, Text line, Context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context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throws</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IOException</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InterruptedException</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String[] tokens =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line.toString</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()).split(</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if</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isLineitem</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word.set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Integer.valueOf</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(tokens[</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0</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value.set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(tokens[</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4</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 </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"|l"</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context.write</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(word, value);</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else</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word.set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Integer.valueOf</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(tokens[</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0</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value.set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(tokens[</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1</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 </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 tokens[</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4</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+tokens[</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3</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"|o"</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context.write</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(word, value);</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 pos="571500" algn="l"/>
                <a:tab pos="857250" algn="l"/>
                <a:tab pos="1143000" algn="l"/>
                <a:tab pos="1428750" algn="l"/>
                <a:tab pos="1714500" algn="l"/>
                <a:tab pos="2000250" algn="l"/>
                <a:tab pos="2228850" algn="l"/>
                <a:tab pos="2457450"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p:txBody>
      </p:sp>
      <p:sp>
        <p:nvSpPr>
          <p:cNvPr id="17415" name="Rectangle 7"/>
          <p:cNvSpPr>
            <a:spLocks noChangeArrowheads="1"/>
          </p:cNvSpPr>
          <p:nvPr/>
        </p:nvSpPr>
        <p:spPr bwMode="auto">
          <a:xfrm>
            <a:off x="3200400" y="533400"/>
            <a:ext cx="5943600" cy="6370975"/>
          </a:xfrm>
          <a:prstGeom prst="rect">
            <a:avLst/>
          </a:prstGeom>
          <a:solidFill>
            <a:schemeClr val="accent5">
              <a:lumMod val="20000"/>
              <a:lumOff val="80000"/>
            </a:schemeClr>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public</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static</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class</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Reduce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extends</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Reducer&lt;</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IntWritable,Text,IntWritable,Text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&gt;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private</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Text result =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new</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Text();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public</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void</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reduce(</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IntWritable</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key,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Iterable</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&lt;Text&gt; values,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Context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context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throws</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IOException</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InterruptedException</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double</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sumQuantity</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 </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0.0</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IntWritable</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newKey</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new</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IntWritable</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FF"/>
                </a:solidFill>
                <a:effectLst/>
                <a:latin typeface="Courier New" pitchFamily="49" charset="0"/>
                <a:ea typeface="Times New Roman" pitchFamily="18" charset="0"/>
                <a:cs typeface="Courier New" pitchFamily="49" charset="0"/>
              </a:rPr>
              <a:t>boolean</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isDiscard</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 </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true</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String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thisValue</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new</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String();</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FF"/>
                </a:solidFill>
                <a:effectLst/>
                <a:latin typeface="Courier New" pitchFamily="49" charset="0"/>
                <a:ea typeface="Times New Roman" pitchFamily="18" charset="0"/>
                <a:cs typeface="Courier New" pitchFamily="49" charset="0"/>
              </a:rPr>
              <a:t>int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thisKey</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 </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0</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for</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(Text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val</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 values)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String[] tokens =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val.toString</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().split(</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if</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(tokens[</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tokens.length</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 </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1</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compareTo</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"l"</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 </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0</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sumQuantity</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Double.parseDouble</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(tokens[</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0</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else</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if</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(tokens[</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tokens.length</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 </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1</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compareTo</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"o"</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 </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0</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thisKey</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Integer.valueOf</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(tokens[</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0</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thisValue</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key.toString</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 </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 tokens[</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1</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+tokens[</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2</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else</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continue</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if</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sumQuantity</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&gt; </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314</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isDiscard</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 </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false</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if</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isDiscard</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thisValue</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thisValue</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 </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sumQuantity</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newKey.set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thisKey</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result.set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thisValue</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context.write</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newKey</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result);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public</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FF"/>
                </a:solidFill>
                <a:effectLst/>
                <a:latin typeface="Courier New" pitchFamily="49" charset="0"/>
                <a:ea typeface="Times New Roman" pitchFamily="18" charset="0"/>
                <a:cs typeface="Courier New" pitchFamily="49" charset="0"/>
              </a:rPr>
              <a:t>int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run(String[]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args</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throws</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Exception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Configuration conf =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new</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Configuration();</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String[]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otherArgs</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new</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GenericOptionsParser</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(conf,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args</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getRemainingArgs</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if</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otherArgs.length</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 </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3</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System.err.println</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"Usage: Q18Job1 &lt;orders&gt; &lt;</a:t>
            </a:r>
            <a:r>
              <a:rPr kumimoji="0" lang="en-US" sz="600" b="0" i="0" u="none" strike="noStrike" cap="none" normalizeH="0" baseline="0" dirty="0" err="1" smtClean="0">
                <a:ln>
                  <a:noFill/>
                </a:ln>
                <a:solidFill>
                  <a:srgbClr val="800000"/>
                </a:solidFill>
                <a:effectLst/>
                <a:latin typeface="Courier New" pitchFamily="49" charset="0"/>
                <a:ea typeface="Times New Roman" pitchFamily="18" charset="0"/>
                <a:cs typeface="Courier New" pitchFamily="49" charset="0"/>
              </a:rPr>
              <a:t>lineitem</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&gt; &lt;out&gt;"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System.exit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2</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Job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job</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new</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Job(conf, </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"TPC-H Q18 Job1"</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job.setJarByClass</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(Q18Job1.</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class</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job.setMapperClass</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Map.</a:t>
            </a:r>
            <a:r>
              <a:rPr kumimoji="0" lang="en-US" sz="600" b="0" i="0" u="none" strike="noStrike" cap="none" normalizeH="0" baseline="0" dirty="0" err="1" smtClean="0">
                <a:ln>
                  <a:noFill/>
                </a:ln>
                <a:solidFill>
                  <a:srgbClr val="0000FF"/>
                </a:solidFill>
                <a:effectLst/>
                <a:latin typeface="Courier New" pitchFamily="49" charset="0"/>
                <a:ea typeface="Times New Roman" pitchFamily="18" charset="0"/>
                <a:cs typeface="Courier New" pitchFamily="49" charset="0"/>
              </a:rPr>
              <a:t>class</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job.setMapOutputKeyClass</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IntWritable.</a:t>
            </a:r>
            <a:r>
              <a:rPr kumimoji="0" lang="en-US" sz="600" b="0" i="0" u="none" strike="noStrike" cap="none" normalizeH="0" baseline="0" dirty="0" err="1" smtClean="0">
                <a:ln>
                  <a:noFill/>
                </a:ln>
                <a:solidFill>
                  <a:srgbClr val="0000FF"/>
                </a:solidFill>
                <a:effectLst/>
                <a:latin typeface="Courier New" pitchFamily="49" charset="0"/>
                <a:ea typeface="Times New Roman" pitchFamily="18" charset="0"/>
                <a:cs typeface="Courier New" pitchFamily="49" charset="0"/>
              </a:rPr>
              <a:t>class</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job.setMapOutputValueClass</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Text.</a:t>
            </a:r>
            <a:r>
              <a:rPr kumimoji="0" lang="en-US" sz="600" b="0" i="0" u="none" strike="noStrike" cap="none" normalizeH="0" baseline="0" dirty="0" err="1" smtClean="0">
                <a:ln>
                  <a:noFill/>
                </a:ln>
                <a:solidFill>
                  <a:srgbClr val="0000FF"/>
                </a:solidFill>
                <a:effectLst/>
                <a:latin typeface="Courier New" pitchFamily="49" charset="0"/>
                <a:ea typeface="Times New Roman" pitchFamily="18" charset="0"/>
                <a:cs typeface="Courier New" pitchFamily="49" charset="0"/>
              </a:rPr>
              <a:t>class</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job.setReducerClass</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Reduce.</a:t>
            </a:r>
            <a:r>
              <a:rPr kumimoji="0" lang="en-US" sz="600" b="0" i="0" u="none" strike="noStrike" cap="none" normalizeH="0" baseline="0" dirty="0" err="1" smtClean="0">
                <a:ln>
                  <a:noFill/>
                </a:ln>
                <a:solidFill>
                  <a:srgbClr val="0000FF"/>
                </a:solidFill>
                <a:effectLst/>
                <a:latin typeface="Courier New" pitchFamily="49" charset="0"/>
                <a:ea typeface="Times New Roman" pitchFamily="18" charset="0"/>
                <a:cs typeface="Courier New" pitchFamily="49" charset="0"/>
              </a:rPr>
              <a:t>class</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job.setOutputKeyClass</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IntWritable.</a:t>
            </a:r>
            <a:r>
              <a:rPr kumimoji="0" lang="en-US" sz="600" b="0" i="0" u="none" strike="noStrike" cap="none" normalizeH="0" baseline="0" dirty="0" err="1" smtClean="0">
                <a:ln>
                  <a:noFill/>
                </a:ln>
                <a:solidFill>
                  <a:srgbClr val="0000FF"/>
                </a:solidFill>
                <a:effectLst/>
                <a:latin typeface="Courier New" pitchFamily="49" charset="0"/>
                <a:ea typeface="Times New Roman" pitchFamily="18" charset="0"/>
                <a:cs typeface="Courier New" pitchFamily="49" charset="0"/>
              </a:rPr>
              <a:t>class</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job.setOutputValueClass</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Text.</a:t>
            </a:r>
            <a:r>
              <a:rPr kumimoji="0" lang="en-US" sz="600" b="0" i="0" u="none" strike="noStrike" cap="none" normalizeH="0" baseline="0" dirty="0" err="1" smtClean="0">
                <a:ln>
                  <a:noFill/>
                </a:ln>
                <a:solidFill>
                  <a:srgbClr val="0000FF"/>
                </a:solidFill>
                <a:effectLst/>
                <a:latin typeface="Courier New" pitchFamily="49" charset="0"/>
                <a:ea typeface="Times New Roman" pitchFamily="18" charset="0"/>
                <a:cs typeface="Courier New" pitchFamily="49" charset="0"/>
              </a:rPr>
              <a:t>class</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FileInputFormat.addInputPath</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(job,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new</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Path(</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otherArgs</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0</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FileInputFormat.addInputPath</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(job,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new</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Path(</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otherArgs</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1</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FileOutputFormat.setOutputPath</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(job,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new</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Path(</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otherArgs</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2</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return</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job.waitForCompletion</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true</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 </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0</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 </a:t>
            </a:r>
            <a:r>
              <a:rPr kumimoji="0" lang="en-US" sz="600" b="0" i="0" u="none" strike="noStrike" cap="none" normalizeH="0" baseline="0" dirty="0" smtClean="0">
                <a:ln>
                  <a:noFill/>
                </a:ln>
                <a:solidFill>
                  <a:srgbClr val="800000"/>
                </a:solidFill>
                <a:effectLst/>
                <a:latin typeface="Courier New" pitchFamily="49" charset="0"/>
                <a:ea typeface="Times New Roman" pitchFamily="18" charset="0"/>
                <a:cs typeface="Courier New" pitchFamily="49" charset="0"/>
              </a:rPr>
              <a:t>1</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public</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static</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void</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main(String[]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args</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throws</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Exception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FF"/>
                </a:solidFill>
                <a:effectLst/>
                <a:latin typeface="Courier New" pitchFamily="49" charset="0"/>
                <a:ea typeface="Times New Roman" pitchFamily="18" charset="0"/>
                <a:cs typeface="Courier New" pitchFamily="49" charset="0"/>
              </a:rPr>
              <a:t>int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res =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ToolRunner.run</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new</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Configuration(), </a:t>
            </a:r>
            <a:r>
              <a:rPr kumimoji="0" lang="en-US" sz="600" b="0" i="0" u="none" strike="noStrike" cap="none" normalizeH="0" baseline="0" dirty="0" smtClean="0">
                <a:ln>
                  <a:noFill/>
                </a:ln>
                <a:solidFill>
                  <a:srgbClr val="0000FF"/>
                </a:solidFill>
                <a:effectLst/>
                <a:latin typeface="Courier New" pitchFamily="49" charset="0"/>
                <a:ea typeface="Times New Roman" pitchFamily="18" charset="0"/>
                <a:cs typeface="Courier New" pitchFamily="49" charset="0"/>
              </a:rPr>
              <a:t>new</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Q18Job1(),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args</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r>
              <a:rPr kumimoji="0" lang="en-US" sz="600" b="0" i="0" u="none" strike="noStrike" cap="none" normalizeH="0" baseline="0" dirty="0" err="1" smtClean="0">
                <a:ln>
                  <a:noFill/>
                </a:ln>
                <a:solidFill>
                  <a:srgbClr val="000000"/>
                </a:solidFill>
                <a:effectLst/>
                <a:latin typeface="Courier New" pitchFamily="49" charset="0"/>
                <a:ea typeface="Times New Roman" pitchFamily="18" charset="0"/>
                <a:cs typeface="Courier New" pitchFamily="49" charset="0"/>
              </a:rPr>
              <a:t>System.exit</a:t>
            </a: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(res);</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600" b="0"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endParaRPr kumimoji="0" lang="en-US" sz="600" b="0" i="0" u="none" strike="noStrike" cap="none" normalizeH="0" baseline="0" dirty="0" smtClean="0">
              <a:ln>
                <a:noFill/>
              </a:ln>
              <a:solidFill>
                <a:schemeClr val="tx1"/>
              </a:solidFill>
              <a:effectLst/>
              <a:latin typeface="Arial" pitchFamily="34" charset="0"/>
              <a:cs typeface="Arial" pitchFamily="34" charset="0"/>
            </a:endParaRPr>
          </a:p>
        </p:txBody>
      </p:sp>
      <p:sp>
        <p:nvSpPr>
          <p:cNvPr id="15" name="TextBox 14"/>
          <p:cNvSpPr txBox="1"/>
          <p:nvPr/>
        </p:nvSpPr>
        <p:spPr>
          <a:xfrm>
            <a:off x="69072" y="147935"/>
            <a:ext cx="6964214" cy="584775"/>
          </a:xfrm>
          <a:prstGeom prst="rect">
            <a:avLst/>
          </a:prstGeom>
          <a:noFill/>
        </p:spPr>
        <p:txBody>
          <a:bodyPr wrap="none" rtlCol="0">
            <a:spAutoFit/>
          </a:bodyPr>
          <a:lstStyle/>
          <a:p>
            <a:r>
              <a:rPr lang="en-US" sz="3200" b="1" dirty="0" smtClean="0">
                <a:solidFill>
                  <a:srgbClr val="FF0000"/>
                </a:solidFill>
                <a:latin typeface="Garamond" pitchFamily="18" charset="0"/>
              </a:rPr>
              <a:t>MR programming is not that “simple”!</a:t>
            </a:r>
            <a:endParaRPr lang="en-US" sz="3200" b="1" dirty="0">
              <a:solidFill>
                <a:srgbClr val="FF0000"/>
              </a:solidFill>
              <a:latin typeface="Garamond" pitchFamily="18" charset="0"/>
            </a:endParaRPr>
          </a:p>
        </p:txBody>
      </p:sp>
      <p:sp>
        <p:nvSpPr>
          <p:cNvPr id="17" name="Rectangle 16"/>
          <p:cNvSpPr/>
          <p:nvPr/>
        </p:nvSpPr>
        <p:spPr>
          <a:xfrm>
            <a:off x="0" y="1447800"/>
            <a:ext cx="91440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smtClean="0">
                <a:solidFill>
                  <a:srgbClr val="FFFF00"/>
                </a:solidFill>
                <a:latin typeface="Garamond" pitchFamily="18" charset="0"/>
              </a:rPr>
              <a:t>This complex code is for a simple MR job</a:t>
            </a:r>
          </a:p>
        </p:txBody>
      </p:sp>
      <p:sp>
        <p:nvSpPr>
          <p:cNvPr id="18" name="Rectangle 17"/>
          <p:cNvSpPr/>
          <p:nvPr/>
        </p:nvSpPr>
        <p:spPr>
          <a:xfrm>
            <a:off x="0" y="3962400"/>
            <a:ext cx="9144000" cy="2438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b="1" dirty="0" smtClean="0">
                <a:solidFill>
                  <a:srgbClr val="FFFF00"/>
                </a:solidFill>
                <a:latin typeface="Garamond" pitchFamily="18" charset="0"/>
              </a:rPr>
              <a:t>We all want to simply write: </a:t>
            </a:r>
          </a:p>
          <a:p>
            <a:endParaRPr lang="en-US" sz="3600" b="1" dirty="0" smtClean="0">
              <a:solidFill>
                <a:srgbClr val="FFFF00"/>
              </a:solidFill>
              <a:latin typeface="Garamond" pitchFamily="18" charset="0"/>
            </a:endParaRPr>
          </a:p>
          <a:p>
            <a:r>
              <a:rPr lang="en-US" sz="3200" b="1" dirty="0" smtClean="0">
                <a:solidFill>
                  <a:srgbClr val="FFFF00"/>
                </a:solidFill>
                <a:latin typeface="Garamond" pitchFamily="18" charset="0"/>
              </a:rPr>
              <a:t>“</a:t>
            </a:r>
            <a:r>
              <a:rPr lang="en-US" sz="3200" b="1" dirty="0" smtClean="0">
                <a:solidFill>
                  <a:schemeClr val="accent5">
                    <a:lumMod val="20000"/>
                    <a:lumOff val="80000"/>
                  </a:schemeClr>
                </a:solidFill>
                <a:latin typeface="Garamond" pitchFamily="18" charset="0"/>
              </a:rPr>
              <a:t>SELECT </a:t>
            </a:r>
            <a:r>
              <a:rPr lang="en-US" sz="3200" b="1" dirty="0" smtClean="0">
                <a:solidFill>
                  <a:srgbClr val="FFFF00"/>
                </a:solidFill>
                <a:latin typeface="Garamond" pitchFamily="18" charset="0"/>
              </a:rPr>
              <a:t>* </a:t>
            </a:r>
            <a:r>
              <a:rPr lang="en-US" sz="3200" b="1" dirty="0" smtClean="0">
                <a:solidFill>
                  <a:schemeClr val="accent5">
                    <a:lumMod val="20000"/>
                    <a:lumOff val="80000"/>
                  </a:schemeClr>
                </a:solidFill>
                <a:latin typeface="Garamond" pitchFamily="18" charset="0"/>
              </a:rPr>
              <a:t>FROM</a:t>
            </a:r>
            <a:r>
              <a:rPr lang="en-US" sz="3200" b="1" dirty="0" smtClean="0">
                <a:solidFill>
                  <a:srgbClr val="FFFF00"/>
                </a:solidFill>
                <a:latin typeface="Garamond" pitchFamily="18" charset="0"/>
              </a:rPr>
              <a:t> Book </a:t>
            </a:r>
            <a:r>
              <a:rPr lang="en-US" sz="3200" b="1" dirty="0" smtClean="0">
                <a:solidFill>
                  <a:schemeClr val="accent5">
                    <a:lumMod val="20000"/>
                    <a:lumOff val="80000"/>
                  </a:schemeClr>
                </a:solidFill>
                <a:latin typeface="Garamond" pitchFamily="18" charset="0"/>
              </a:rPr>
              <a:t>WHERE</a:t>
            </a:r>
            <a:r>
              <a:rPr lang="en-US" sz="3200" b="1" dirty="0" smtClean="0">
                <a:solidFill>
                  <a:srgbClr val="FFFF00"/>
                </a:solidFill>
                <a:latin typeface="Garamond" pitchFamily="18" charset="0"/>
              </a:rPr>
              <a:t> price &gt; 100.00”?</a:t>
            </a:r>
          </a:p>
        </p:txBody>
      </p:sp>
      <p:sp>
        <p:nvSpPr>
          <p:cNvPr id="8" name="Rectangle 7"/>
          <p:cNvSpPr/>
          <p:nvPr/>
        </p:nvSpPr>
        <p:spPr>
          <a:xfrm>
            <a:off x="0" y="2667000"/>
            <a:ext cx="91440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smtClean="0">
                <a:solidFill>
                  <a:srgbClr val="FFFF00"/>
                </a:solidFill>
                <a:latin typeface="Garamond" pitchFamily="18" charset="0"/>
              </a:rPr>
              <a:t>Low Productivity!</a:t>
            </a:r>
          </a:p>
        </p:txBody>
      </p:sp>
    </p:spTree>
    <p:extLst>
      <p:ext uri="{BB962C8B-B14F-4D97-AF65-F5344CB8AC3E}">
        <p14:creationId xmlns:p14="http://schemas.microsoft.com/office/powerpoint/2010/main" val="3071217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4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4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6" grpId="0" animBg="1"/>
      <p:bldP spid="17415" grpId="0" animBg="1"/>
      <p:bldP spid="15" grpId="0"/>
      <p:bldP spid="17" grpId="0" animBg="1"/>
      <p:bldP spid="18" grpId="0" animBg="1"/>
      <p:bldP spid="8"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2" name="Bent Arrow 41"/>
          <p:cNvSpPr/>
          <p:nvPr/>
        </p:nvSpPr>
        <p:spPr>
          <a:xfrm rot="5400000">
            <a:off x="3505200" y="1295400"/>
            <a:ext cx="914400" cy="2286000"/>
          </a:xfrm>
          <a:prstGeom prst="ben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p:cNvSpPr>
            <a:spLocks noGrp="1"/>
          </p:cNvSpPr>
          <p:nvPr>
            <p:ph type="title"/>
          </p:nvPr>
        </p:nvSpPr>
        <p:spPr>
          <a:xfrm>
            <a:off x="0" y="76200"/>
            <a:ext cx="9144000" cy="1143000"/>
          </a:xfrm>
        </p:spPr>
        <p:txBody>
          <a:bodyPr>
            <a:normAutofit/>
          </a:bodyPr>
          <a:lstStyle/>
          <a:p>
            <a:pPr algn="ctr"/>
            <a:r>
              <a:rPr lang="en-US" sz="3000" dirty="0" smtClean="0"/>
              <a:t>Query Planner: generating optimized MR tasks </a:t>
            </a:r>
            <a:endParaRPr lang="en-US" sz="3000" dirty="0"/>
          </a:p>
        </p:txBody>
      </p:sp>
      <p:sp>
        <p:nvSpPr>
          <p:cNvPr id="4" name="Slide Number Placeholder 3"/>
          <p:cNvSpPr>
            <a:spLocks noGrp="1"/>
          </p:cNvSpPr>
          <p:nvPr>
            <p:ph type="sldNum" sz="quarter" idx="4294967295"/>
          </p:nvPr>
        </p:nvSpPr>
        <p:spPr>
          <a:xfrm>
            <a:off x="6553200" y="6356350"/>
            <a:ext cx="2133600" cy="365125"/>
          </a:xfrm>
          <a:prstGeom prst="rect">
            <a:avLst/>
          </a:prstGeom>
        </p:spPr>
        <p:txBody>
          <a:bodyPr/>
          <a:lstStyle/>
          <a:p>
            <a:fld id="{B6F15528-21DE-4FAA-801E-634DDDAF4B2B}" type="slidenum">
              <a:rPr lang="en-US" smtClean="0"/>
              <a:pPr/>
              <a:t>50</a:t>
            </a:fld>
            <a:endParaRPr lang="en-US" dirty="0"/>
          </a:p>
        </p:txBody>
      </p:sp>
      <p:pic>
        <p:nvPicPr>
          <p:cNvPr id="5" name="Picture 2" descr="C:\Users\yhuai\AppData\Local\Microsoft\Windows\Temporary Internet Files\Content.IE5\YIGSLQH1\MC900057679[1].wmf"/>
          <p:cNvPicPr>
            <a:picLocks noChangeAspect="1" noChangeArrowheads="1"/>
          </p:cNvPicPr>
          <p:nvPr/>
        </p:nvPicPr>
        <p:blipFill>
          <a:blip r:embed="rId3" cstate="print"/>
          <a:srcRect/>
          <a:stretch>
            <a:fillRect/>
          </a:stretch>
        </p:blipFill>
        <p:spPr bwMode="auto">
          <a:xfrm>
            <a:off x="838200" y="1524000"/>
            <a:ext cx="1810512" cy="1236269"/>
          </a:xfrm>
          <a:prstGeom prst="rect">
            <a:avLst/>
          </a:prstGeom>
          <a:noFill/>
        </p:spPr>
      </p:pic>
      <p:sp>
        <p:nvSpPr>
          <p:cNvPr id="10" name="Rectangle 9"/>
          <p:cNvSpPr/>
          <p:nvPr/>
        </p:nvSpPr>
        <p:spPr>
          <a:xfrm>
            <a:off x="1981200" y="6172200"/>
            <a:ext cx="5715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smtClean="0">
                <a:latin typeface="Garamond" pitchFamily="18" charset="0"/>
              </a:rPr>
              <a:t>Hadoop</a:t>
            </a:r>
            <a:r>
              <a:rPr lang="en-US" sz="2400" b="1" dirty="0" smtClean="0">
                <a:latin typeface="Garamond" pitchFamily="18" charset="0"/>
              </a:rPr>
              <a:t> Distributed File System (HDFS)</a:t>
            </a:r>
            <a:endParaRPr lang="en-US" sz="2400" b="1" dirty="0">
              <a:latin typeface="Garamond" pitchFamily="18" charset="0"/>
            </a:endParaRPr>
          </a:p>
        </p:txBody>
      </p:sp>
      <p:grpSp>
        <p:nvGrpSpPr>
          <p:cNvPr id="3" name="Group 22"/>
          <p:cNvGrpSpPr/>
          <p:nvPr/>
        </p:nvGrpSpPr>
        <p:grpSpPr>
          <a:xfrm>
            <a:off x="2895600" y="4857750"/>
            <a:ext cx="3903376" cy="800100"/>
            <a:chOff x="2438400" y="3429000"/>
            <a:chExt cx="3903376" cy="800100"/>
          </a:xfrm>
        </p:grpSpPr>
        <p:pic>
          <p:nvPicPr>
            <p:cNvPr id="12" name="Picture 4"/>
            <p:cNvPicPr>
              <a:picLocks noChangeAspect="1" noChangeArrowheads="1"/>
            </p:cNvPicPr>
            <p:nvPr/>
          </p:nvPicPr>
          <p:blipFill>
            <a:blip r:embed="rId4" cstate="print"/>
            <a:srcRect/>
            <a:stretch>
              <a:fillRect/>
            </a:stretch>
          </p:blipFill>
          <p:spPr bwMode="auto">
            <a:xfrm>
              <a:off x="2438400" y="3448050"/>
              <a:ext cx="550576" cy="781050"/>
            </a:xfrm>
            <a:prstGeom prst="rect">
              <a:avLst/>
            </a:prstGeom>
            <a:noFill/>
            <a:ln w="9525">
              <a:noFill/>
              <a:miter lim="800000"/>
              <a:headEnd/>
              <a:tailEnd/>
            </a:ln>
          </p:spPr>
        </p:pic>
        <p:pic>
          <p:nvPicPr>
            <p:cNvPr id="13" name="Picture 4"/>
            <p:cNvPicPr>
              <a:picLocks noChangeAspect="1" noChangeArrowheads="1"/>
            </p:cNvPicPr>
            <p:nvPr/>
          </p:nvPicPr>
          <p:blipFill>
            <a:blip r:embed="rId4" cstate="print"/>
            <a:srcRect/>
            <a:stretch>
              <a:fillRect/>
            </a:stretch>
          </p:blipFill>
          <p:spPr bwMode="auto">
            <a:xfrm>
              <a:off x="4114800" y="3429000"/>
              <a:ext cx="550576" cy="781050"/>
            </a:xfrm>
            <a:prstGeom prst="rect">
              <a:avLst/>
            </a:prstGeom>
            <a:noFill/>
            <a:ln w="9525">
              <a:noFill/>
              <a:miter lim="800000"/>
              <a:headEnd/>
              <a:tailEnd/>
            </a:ln>
          </p:spPr>
        </p:pic>
        <p:pic>
          <p:nvPicPr>
            <p:cNvPr id="14" name="Picture 4"/>
            <p:cNvPicPr>
              <a:picLocks noChangeAspect="1" noChangeArrowheads="1"/>
            </p:cNvPicPr>
            <p:nvPr/>
          </p:nvPicPr>
          <p:blipFill>
            <a:blip r:embed="rId4" cstate="print"/>
            <a:srcRect/>
            <a:stretch>
              <a:fillRect/>
            </a:stretch>
          </p:blipFill>
          <p:spPr bwMode="auto">
            <a:xfrm>
              <a:off x="5791200" y="3429000"/>
              <a:ext cx="550576" cy="781050"/>
            </a:xfrm>
            <a:prstGeom prst="rect">
              <a:avLst/>
            </a:prstGeom>
            <a:noFill/>
            <a:ln w="9525">
              <a:noFill/>
              <a:miter lim="800000"/>
              <a:headEnd/>
              <a:tailEnd/>
            </a:ln>
          </p:spPr>
        </p:pic>
      </p:grpSp>
      <p:grpSp>
        <p:nvGrpSpPr>
          <p:cNvPr id="6" name="Group 30"/>
          <p:cNvGrpSpPr/>
          <p:nvPr/>
        </p:nvGrpSpPr>
        <p:grpSpPr>
          <a:xfrm>
            <a:off x="2895600" y="5638800"/>
            <a:ext cx="3810000" cy="685800"/>
            <a:chOff x="2438400" y="4267200"/>
            <a:chExt cx="3810000" cy="685800"/>
          </a:xfrm>
        </p:grpSpPr>
        <p:sp>
          <p:nvSpPr>
            <p:cNvPr id="11" name="Up-Down Arrow 10"/>
            <p:cNvSpPr/>
            <p:nvPr/>
          </p:nvSpPr>
          <p:spPr>
            <a:xfrm>
              <a:off x="2438400" y="4267200"/>
              <a:ext cx="457200" cy="685800"/>
            </a:xfrm>
            <a:prstGeom prst="upDown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Up-Down Arrow 14"/>
            <p:cNvSpPr/>
            <p:nvPr/>
          </p:nvSpPr>
          <p:spPr>
            <a:xfrm>
              <a:off x="4114800" y="4267200"/>
              <a:ext cx="457200" cy="685800"/>
            </a:xfrm>
            <a:prstGeom prst="upDown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Up-Down Arrow 15"/>
            <p:cNvSpPr/>
            <p:nvPr/>
          </p:nvSpPr>
          <p:spPr>
            <a:xfrm>
              <a:off x="5791200" y="4267200"/>
              <a:ext cx="457200" cy="685800"/>
            </a:xfrm>
            <a:prstGeom prst="upDown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TextBox 31"/>
          <p:cNvSpPr txBox="1"/>
          <p:nvPr/>
        </p:nvSpPr>
        <p:spPr>
          <a:xfrm>
            <a:off x="1066800" y="5029200"/>
            <a:ext cx="1253998" cy="461665"/>
          </a:xfrm>
          <a:prstGeom prst="rect">
            <a:avLst/>
          </a:prstGeom>
          <a:noFill/>
        </p:spPr>
        <p:txBody>
          <a:bodyPr wrap="none" rtlCol="0">
            <a:spAutoFit/>
          </a:bodyPr>
          <a:lstStyle/>
          <a:p>
            <a:r>
              <a:rPr lang="en-US" sz="2400" b="1" dirty="0" smtClean="0">
                <a:latin typeface="Garamond" pitchFamily="18" charset="0"/>
              </a:rPr>
              <a:t>Workers</a:t>
            </a:r>
            <a:endParaRPr lang="en-US" sz="2400" b="1" dirty="0">
              <a:latin typeface="Garamond" pitchFamily="18" charset="0"/>
            </a:endParaRPr>
          </a:p>
        </p:txBody>
      </p:sp>
      <p:sp>
        <p:nvSpPr>
          <p:cNvPr id="28" name="TextBox 27"/>
          <p:cNvSpPr txBox="1"/>
          <p:nvPr/>
        </p:nvSpPr>
        <p:spPr>
          <a:xfrm>
            <a:off x="2362200" y="1371600"/>
            <a:ext cx="5115759" cy="369332"/>
          </a:xfrm>
          <a:prstGeom prst="rect">
            <a:avLst/>
          </a:prstGeom>
          <a:noFill/>
        </p:spPr>
        <p:txBody>
          <a:bodyPr wrap="none" rtlCol="0">
            <a:spAutoFit/>
          </a:bodyPr>
          <a:lstStyle/>
          <a:p>
            <a:r>
              <a:rPr lang="en-US" b="1" dirty="0" smtClean="0">
                <a:latin typeface="Garamond" pitchFamily="18" charset="0"/>
              </a:rPr>
              <a:t>A job description in SQL-like declarative language</a:t>
            </a:r>
            <a:endParaRPr lang="en-US" b="1" dirty="0">
              <a:latin typeface="Garamond" pitchFamily="18" charset="0"/>
            </a:endParaRPr>
          </a:p>
        </p:txBody>
      </p:sp>
      <p:sp>
        <p:nvSpPr>
          <p:cNvPr id="31" name="Rectangle 30"/>
          <p:cNvSpPr/>
          <p:nvPr/>
        </p:nvSpPr>
        <p:spPr>
          <a:xfrm>
            <a:off x="3429000" y="2895600"/>
            <a:ext cx="281940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rgbClr val="FFFF00"/>
                </a:solidFill>
                <a:latin typeface="Garamond" pitchFamily="18" charset="0"/>
              </a:rPr>
              <a:t>SQL-to-</a:t>
            </a:r>
            <a:r>
              <a:rPr lang="en-US" sz="2400" b="1" dirty="0" err="1" smtClean="0">
                <a:solidFill>
                  <a:srgbClr val="FFFF00"/>
                </a:solidFill>
                <a:latin typeface="Garamond" pitchFamily="18" charset="0"/>
              </a:rPr>
              <a:t>MapReduce</a:t>
            </a:r>
            <a:r>
              <a:rPr lang="en-US" sz="2400" b="1" dirty="0" smtClean="0">
                <a:solidFill>
                  <a:srgbClr val="FFFF00"/>
                </a:solidFill>
                <a:latin typeface="Garamond" pitchFamily="18" charset="0"/>
              </a:rPr>
              <a:t> Translator</a:t>
            </a:r>
            <a:endParaRPr lang="en-US" sz="2400" b="1" dirty="0">
              <a:solidFill>
                <a:srgbClr val="FFFF00"/>
              </a:solidFill>
              <a:latin typeface="Garamond" pitchFamily="18" charset="0"/>
            </a:endParaRPr>
          </a:p>
        </p:txBody>
      </p:sp>
      <p:sp>
        <p:nvSpPr>
          <p:cNvPr id="34" name="Freeform 33"/>
          <p:cNvSpPr/>
          <p:nvPr/>
        </p:nvSpPr>
        <p:spPr>
          <a:xfrm>
            <a:off x="3124200" y="4531658"/>
            <a:ext cx="1564342" cy="802341"/>
          </a:xfrm>
          <a:custGeom>
            <a:avLst/>
            <a:gdLst>
              <a:gd name="connsiteX0" fmla="*/ 1452282 w 1452282"/>
              <a:gd name="connsiteY0" fmla="*/ 0 h 1089212"/>
              <a:gd name="connsiteX1" fmla="*/ 470647 w 1452282"/>
              <a:gd name="connsiteY1" fmla="*/ 430306 h 1089212"/>
              <a:gd name="connsiteX2" fmla="*/ 0 w 1452282"/>
              <a:gd name="connsiteY2" fmla="*/ 1089212 h 1089212"/>
              <a:gd name="connsiteX0" fmla="*/ 1564342 w 1564342"/>
              <a:gd name="connsiteY0" fmla="*/ 0 h 802341"/>
              <a:gd name="connsiteX1" fmla="*/ 582707 w 1564342"/>
              <a:gd name="connsiteY1" fmla="*/ 430306 h 802341"/>
              <a:gd name="connsiteX2" fmla="*/ 0 w 1564342"/>
              <a:gd name="connsiteY2" fmla="*/ 802341 h 802341"/>
              <a:gd name="connsiteX0" fmla="*/ 1564342 w 1564342"/>
              <a:gd name="connsiteY0" fmla="*/ 0 h 802341"/>
              <a:gd name="connsiteX1" fmla="*/ 457200 w 1564342"/>
              <a:gd name="connsiteY1" fmla="*/ 268942 h 802341"/>
              <a:gd name="connsiteX2" fmla="*/ 0 w 1564342"/>
              <a:gd name="connsiteY2" fmla="*/ 802341 h 802341"/>
            </a:gdLst>
            <a:ahLst/>
            <a:cxnLst>
              <a:cxn ang="0">
                <a:pos x="connsiteX0" y="connsiteY0"/>
              </a:cxn>
              <a:cxn ang="0">
                <a:pos x="connsiteX1" y="connsiteY1"/>
              </a:cxn>
              <a:cxn ang="0">
                <a:pos x="connsiteX2" y="connsiteY2"/>
              </a:cxn>
            </a:cxnLst>
            <a:rect l="l" t="t" r="r" b="b"/>
            <a:pathLst>
              <a:path w="1564342" h="802341">
                <a:moveTo>
                  <a:pt x="1564342" y="0"/>
                </a:moveTo>
                <a:cubicBezTo>
                  <a:pt x="1194548" y="124385"/>
                  <a:pt x="717924" y="135219"/>
                  <a:pt x="457200" y="268942"/>
                </a:cubicBezTo>
                <a:cubicBezTo>
                  <a:pt x="196476" y="402665"/>
                  <a:pt x="114300" y="563655"/>
                  <a:pt x="0" y="802341"/>
                </a:cubicBezTo>
              </a:path>
            </a:pathLst>
          </a:custGeom>
          <a:ln w="50800">
            <a:solidFill>
              <a:schemeClr val="tx1"/>
            </a:solidFill>
            <a:prstDash val="sysDot"/>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Freeform 34"/>
          <p:cNvSpPr/>
          <p:nvPr/>
        </p:nvSpPr>
        <p:spPr>
          <a:xfrm>
            <a:off x="4953000" y="4495800"/>
            <a:ext cx="1714500" cy="762000"/>
          </a:xfrm>
          <a:custGeom>
            <a:avLst/>
            <a:gdLst>
              <a:gd name="connsiteX0" fmla="*/ 1452282 w 1452282"/>
              <a:gd name="connsiteY0" fmla="*/ 0 h 1089212"/>
              <a:gd name="connsiteX1" fmla="*/ 470647 w 1452282"/>
              <a:gd name="connsiteY1" fmla="*/ 430306 h 1089212"/>
              <a:gd name="connsiteX2" fmla="*/ 0 w 1452282"/>
              <a:gd name="connsiteY2" fmla="*/ 1089212 h 1089212"/>
              <a:gd name="connsiteX0" fmla="*/ 369794 w 2796241"/>
              <a:gd name="connsiteY0" fmla="*/ 0 h 1241612"/>
              <a:gd name="connsiteX1" fmla="*/ 2516841 w 2796241"/>
              <a:gd name="connsiteY1" fmla="*/ 582706 h 1241612"/>
              <a:gd name="connsiteX2" fmla="*/ 2046194 w 2796241"/>
              <a:gd name="connsiteY2" fmla="*/ 1241612 h 1241612"/>
              <a:gd name="connsiteX0" fmla="*/ 369794 w 2160494"/>
              <a:gd name="connsiteY0" fmla="*/ 0 h 1241612"/>
              <a:gd name="connsiteX1" fmla="*/ 1284195 w 2160494"/>
              <a:gd name="connsiteY1" fmla="*/ 685800 h 1241612"/>
              <a:gd name="connsiteX2" fmla="*/ 2046194 w 2160494"/>
              <a:gd name="connsiteY2" fmla="*/ 1241612 h 1241612"/>
              <a:gd name="connsiteX0" fmla="*/ 369794 w 2160494"/>
              <a:gd name="connsiteY0" fmla="*/ 0 h 1241612"/>
              <a:gd name="connsiteX1" fmla="*/ 1588995 w 2160494"/>
              <a:gd name="connsiteY1" fmla="*/ 533400 h 1241612"/>
              <a:gd name="connsiteX2" fmla="*/ 2046194 w 2160494"/>
              <a:gd name="connsiteY2" fmla="*/ 1241612 h 1241612"/>
              <a:gd name="connsiteX0" fmla="*/ 369794 w 2160495"/>
              <a:gd name="connsiteY0" fmla="*/ 0 h 990600"/>
              <a:gd name="connsiteX1" fmla="*/ 1588995 w 2160495"/>
              <a:gd name="connsiteY1" fmla="*/ 533400 h 990600"/>
              <a:gd name="connsiteX2" fmla="*/ 2046195 w 2160495"/>
              <a:gd name="connsiteY2" fmla="*/ 990600 h 990600"/>
              <a:gd name="connsiteX0" fmla="*/ 0 w 1790701"/>
              <a:gd name="connsiteY0" fmla="*/ 0 h 990600"/>
              <a:gd name="connsiteX1" fmla="*/ 304801 w 1790701"/>
              <a:gd name="connsiteY1" fmla="*/ 152400 h 990600"/>
              <a:gd name="connsiteX2" fmla="*/ 1219201 w 1790701"/>
              <a:gd name="connsiteY2" fmla="*/ 533400 h 990600"/>
              <a:gd name="connsiteX3" fmla="*/ 1676401 w 1790701"/>
              <a:gd name="connsiteY3" fmla="*/ 990600 h 990600"/>
              <a:gd name="connsiteX0" fmla="*/ 0 w 1714500"/>
              <a:gd name="connsiteY0" fmla="*/ 0 h 762000"/>
              <a:gd name="connsiteX1" fmla="*/ 304801 w 1714500"/>
              <a:gd name="connsiteY1" fmla="*/ 152400 h 762000"/>
              <a:gd name="connsiteX2" fmla="*/ 1219201 w 1714500"/>
              <a:gd name="connsiteY2" fmla="*/ 533400 h 762000"/>
              <a:gd name="connsiteX3" fmla="*/ 1600200 w 1714500"/>
              <a:gd name="connsiteY3" fmla="*/ 762000 h 762000"/>
              <a:gd name="connsiteX0" fmla="*/ 0 w 1714500"/>
              <a:gd name="connsiteY0" fmla="*/ 0 h 762000"/>
              <a:gd name="connsiteX1" fmla="*/ 304801 w 1714500"/>
              <a:gd name="connsiteY1" fmla="*/ 152400 h 762000"/>
              <a:gd name="connsiteX2" fmla="*/ 1219200 w 1714500"/>
              <a:gd name="connsiteY2" fmla="*/ 381000 h 762000"/>
              <a:gd name="connsiteX3" fmla="*/ 1600200 w 1714500"/>
              <a:gd name="connsiteY3" fmla="*/ 762000 h 762000"/>
            </a:gdLst>
            <a:ahLst/>
            <a:cxnLst>
              <a:cxn ang="0">
                <a:pos x="connsiteX0" y="connsiteY0"/>
              </a:cxn>
              <a:cxn ang="0">
                <a:pos x="connsiteX1" y="connsiteY1"/>
              </a:cxn>
              <a:cxn ang="0">
                <a:pos x="connsiteX2" y="connsiteY2"/>
              </a:cxn>
              <a:cxn ang="0">
                <a:pos x="connsiteX3" y="connsiteY3"/>
              </a:cxn>
            </a:cxnLst>
            <a:rect l="l" t="t" r="r" b="b"/>
            <a:pathLst>
              <a:path w="1714500" h="762000">
                <a:moveTo>
                  <a:pt x="0" y="0"/>
                </a:moveTo>
                <a:cubicBezTo>
                  <a:pt x="747" y="5977"/>
                  <a:pt x="101601" y="88900"/>
                  <a:pt x="304801" y="152400"/>
                </a:cubicBezTo>
                <a:cubicBezTo>
                  <a:pt x="508001" y="215900"/>
                  <a:pt x="1003300" y="279400"/>
                  <a:pt x="1219200" y="381000"/>
                </a:cubicBezTo>
                <a:cubicBezTo>
                  <a:pt x="1435100" y="482600"/>
                  <a:pt x="1714500" y="523314"/>
                  <a:pt x="1600200" y="762000"/>
                </a:cubicBezTo>
              </a:path>
            </a:pathLst>
          </a:custGeom>
          <a:ln w="50800">
            <a:solidFill>
              <a:schemeClr val="tx1"/>
            </a:solidFill>
            <a:prstDash val="sysDot"/>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6" name="Freeform 35"/>
          <p:cNvSpPr/>
          <p:nvPr/>
        </p:nvSpPr>
        <p:spPr>
          <a:xfrm>
            <a:off x="4787900" y="4508500"/>
            <a:ext cx="203199" cy="787400"/>
          </a:xfrm>
          <a:custGeom>
            <a:avLst/>
            <a:gdLst>
              <a:gd name="connsiteX0" fmla="*/ 1452282 w 1452282"/>
              <a:gd name="connsiteY0" fmla="*/ 0 h 1089212"/>
              <a:gd name="connsiteX1" fmla="*/ 470647 w 1452282"/>
              <a:gd name="connsiteY1" fmla="*/ 430306 h 1089212"/>
              <a:gd name="connsiteX2" fmla="*/ 0 w 1452282"/>
              <a:gd name="connsiteY2" fmla="*/ 1089212 h 1089212"/>
              <a:gd name="connsiteX0" fmla="*/ 369794 w 2796241"/>
              <a:gd name="connsiteY0" fmla="*/ 0 h 1241612"/>
              <a:gd name="connsiteX1" fmla="*/ 2516841 w 2796241"/>
              <a:gd name="connsiteY1" fmla="*/ 582706 h 1241612"/>
              <a:gd name="connsiteX2" fmla="*/ 2046194 w 2796241"/>
              <a:gd name="connsiteY2" fmla="*/ 1241612 h 1241612"/>
              <a:gd name="connsiteX0" fmla="*/ 369794 w 2160494"/>
              <a:gd name="connsiteY0" fmla="*/ 0 h 1241612"/>
              <a:gd name="connsiteX1" fmla="*/ 1284195 w 2160494"/>
              <a:gd name="connsiteY1" fmla="*/ 685800 h 1241612"/>
              <a:gd name="connsiteX2" fmla="*/ 2046194 w 2160494"/>
              <a:gd name="connsiteY2" fmla="*/ 1241612 h 1241612"/>
              <a:gd name="connsiteX0" fmla="*/ 369794 w 2160494"/>
              <a:gd name="connsiteY0" fmla="*/ 0 h 1241612"/>
              <a:gd name="connsiteX1" fmla="*/ 1588995 w 2160494"/>
              <a:gd name="connsiteY1" fmla="*/ 533400 h 1241612"/>
              <a:gd name="connsiteX2" fmla="*/ 2046194 w 2160494"/>
              <a:gd name="connsiteY2" fmla="*/ 1241612 h 1241612"/>
              <a:gd name="connsiteX0" fmla="*/ 369794 w 2160495"/>
              <a:gd name="connsiteY0" fmla="*/ 0 h 990600"/>
              <a:gd name="connsiteX1" fmla="*/ 1588995 w 2160495"/>
              <a:gd name="connsiteY1" fmla="*/ 533400 h 990600"/>
              <a:gd name="connsiteX2" fmla="*/ 2046195 w 2160495"/>
              <a:gd name="connsiteY2" fmla="*/ 990600 h 990600"/>
              <a:gd name="connsiteX0" fmla="*/ 0 w 1790701"/>
              <a:gd name="connsiteY0" fmla="*/ 0 h 990600"/>
              <a:gd name="connsiteX1" fmla="*/ 304801 w 1790701"/>
              <a:gd name="connsiteY1" fmla="*/ 152400 h 990600"/>
              <a:gd name="connsiteX2" fmla="*/ 1219201 w 1790701"/>
              <a:gd name="connsiteY2" fmla="*/ 533400 h 990600"/>
              <a:gd name="connsiteX3" fmla="*/ 1676401 w 1790701"/>
              <a:gd name="connsiteY3" fmla="*/ 990600 h 990600"/>
              <a:gd name="connsiteX0" fmla="*/ 1447799 w 1562100"/>
              <a:gd name="connsiteY0" fmla="*/ 0 h 1066800"/>
              <a:gd name="connsiteX1" fmla="*/ 76200 w 1562100"/>
              <a:gd name="connsiteY1" fmla="*/ 228600 h 1066800"/>
              <a:gd name="connsiteX2" fmla="*/ 990600 w 1562100"/>
              <a:gd name="connsiteY2" fmla="*/ 609600 h 1066800"/>
              <a:gd name="connsiteX3" fmla="*/ 1447800 w 1562100"/>
              <a:gd name="connsiteY3" fmla="*/ 1066800 h 1066800"/>
              <a:gd name="connsiteX0" fmla="*/ 469899 w 584200"/>
              <a:gd name="connsiteY0" fmla="*/ 0 h 1066800"/>
              <a:gd name="connsiteX1" fmla="*/ 393698 w 584200"/>
              <a:gd name="connsiteY1" fmla="*/ 381000 h 1066800"/>
              <a:gd name="connsiteX2" fmla="*/ 12700 w 584200"/>
              <a:gd name="connsiteY2" fmla="*/ 609600 h 1066800"/>
              <a:gd name="connsiteX3" fmla="*/ 469900 w 584200"/>
              <a:gd name="connsiteY3" fmla="*/ 1066800 h 1066800"/>
              <a:gd name="connsiteX0" fmla="*/ 76201 w 190502"/>
              <a:gd name="connsiteY0" fmla="*/ 0 h 1066800"/>
              <a:gd name="connsiteX1" fmla="*/ 0 w 190502"/>
              <a:gd name="connsiteY1" fmla="*/ 381000 h 1066800"/>
              <a:gd name="connsiteX2" fmla="*/ 76200 w 190502"/>
              <a:gd name="connsiteY2" fmla="*/ 685800 h 1066800"/>
              <a:gd name="connsiteX3" fmla="*/ 76202 w 190502"/>
              <a:gd name="connsiteY3" fmla="*/ 1066800 h 1066800"/>
              <a:gd name="connsiteX0" fmla="*/ 88901 w 203202"/>
              <a:gd name="connsiteY0" fmla="*/ 63500 h 1130300"/>
              <a:gd name="connsiteX1" fmla="*/ 12700 w 203202"/>
              <a:gd name="connsiteY1" fmla="*/ 63500 h 1130300"/>
              <a:gd name="connsiteX2" fmla="*/ 12700 w 203202"/>
              <a:gd name="connsiteY2" fmla="*/ 444500 h 1130300"/>
              <a:gd name="connsiteX3" fmla="*/ 88900 w 203202"/>
              <a:gd name="connsiteY3" fmla="*/ 749300 h 1130300"/>
              <a:gd name="connsiteX4" fmla="*/ 88902 w 203202"/>
              <a:gd name="connsiteY4" fmla="*/ 1130300 h 1130300"/>
              <a:gd name="connsiteX0" fmla="*/ 88901 w 203199"/>
              <a:gd name="connsiteY0" fmla="*/ 63500 h 787400"/>
              <a:gd name="connsiteX1" fmla="*/ 12700 w 203199"/>
              <a:gd name="connsiteY1" fmla="*/ 63500 h 787400"/>
              <a:gd name="connsiteX2" fmla="*/ 12700 w 203199"/>
              <a:gd name="connsiteY2" fmla="*/ 444500 h 787400"/>
              <a:gd name="connsiteX3" fmla="*/ 88900 w 203199"/>
              <a:gd name="connsiteY3" fmla="*/ 749300 h 787400"/>
              <a:gd name="connsiteX4" fmla="*/ 88899 w 203199"/>
              <a:gd name="connsiteY4" fmla="*/ 673100 h 787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199" h="787400">
                <a:moveTo>
                  <a:pt x="88901" y="63500"/>
                </a:moveTo>
                <a:cubicBezTo>
                  <a:pt x="82177" y="70223"/>
                  <a:pt x="25400" y="0"/>
                  <a:pt x="12700" y="63500"/>
                </a:cubicBezTo>
                <a:cubicBezTo>
                  <a:pt x="0" y="127000"/>
                  <a:pt x="0" y="330200"/>
                  <a:pt x="12700" y="444500"/>
                </a:cubicBezTo>
                <a:cubicBezTo>
                  <a:pt x="25400" y="558800"/>
                  <a:pt x="76200" y="711200"/>
                  <a:pt x="88900" y="749300"/>
                </a:cubicBezTo>
                <a:cubicBezTo>
                  <a:pt x="101600" y="787400"/>
                  <a:pt x="203199" y="434414"/>
                  <a:pt x="88899" y="673100"/>
                </a:cubicBezTo>
              </a:path>
            </a:pathLst>
          </a:custGeom>
          <a:ln w="50800">
            <a:solidFill>
              <a:schemeClr val="tx1"/>
            </a:solidFill>
            <a:prstDash val="sysDot"/>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8" name="Right Arrow 37"/>
          <p:cNvSpPr/>
          <p:nvPr/>
        </p:nvSpPr>
        <p:spPr>
          <a:xfrm rot="5400000">
            <a:off x="4591050" y="3638550"/>
            <a:ext cx="495300" cy="381000"/>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Picture 3" descr="e:\Users\yhuai\Desktop\Picture2.png"/>
          <p:cNvPicPr>
            <a:picLocks noChangeAspect="1" noChangeArrowheads="1"/>
          </p:cNvPicPr>
          <p:nvPr/>
        </p:nvPicPr>
        <p:blipFill>
          <a:blip r:embed="rId5" cstate="print"/>
          <a:srcRect/>
          <a:stretch>
            <a:fillRect/>
          </a:stretch>
        </p:blipFill>
        <p:spPr bwMode="auto">
          <a:xfrm>
            <a:off x="1914525" y="1881187"/>
            <a:ext cx="676275" cy="633413"/>
          </a:xfrm>
          <a:prstGeom prst="rect">
            <a:avLst/>
          </a:prstGeom>
          <a:noFill/>
        </p:spPr>
      </p:pic>
      <p:pic>
        <p:nvPicPr>
          <p:cNvPr id="27" name="Picture 3" descr="e:\Users\yhuai\Desktop\Picture2.png"/>
          <p:cNvPicPr>
            <a:picLocks noChangeAspect="1" noChangeArrowheads="1"/>
          </p:cNvPicPr>
          <p:nvPr/>
        </p:nvPicPr>
        <p:blipFill>
          <a:blip r:embed="rId5" cstate="print"/>
          <a:srcRect/>
          <a:stretch>
            <a:fillRect/>
          </a:stretch>
        </p:blipFill>
        <p:spPr bwMode="auto">
          <a:xfrm>
            <a:off x="4657725" y="1866900"/>
            <a:ext cx="676275" cy="633413"/>
          </a:xfrm>
          <a:prstGeom prst="rect">
            <a:avLst/>
          </a:prstGeom>
          <a:noFill/>
        </p:spPr>
      </p:pic>
      <p:sp>
        <p:nvSpPr>
          <p:cNvPr id="41" name="TextBox 40"/>
          <p:cNvSpPr txBox="1"/>
          <p:nvPr/>
        </p:nvSpPr>
        <p:spPr>
          <a:xfrm>
            <a:off x="5257800" y="4114800"/>
            <a:ext cx="2177584" cy="369332"/>
          </a:xfrm>
          <a:prstGeom prst="rect">
            <a:avLst/>
          </a:prstGeom>
          <a:noFill/>
        </p:spPr>
        <p:txBody>
          <a:bodyPr wrap="none" rtlCol="0">
            <a:spAutoFit/>
          </a:bodyPr>
          <a:lstStyle/>
          <a:p>
            <a:r>
              <a:rPr lang="en-US" b="1" dirty="0" smtClean="0">
                <a:latin typeface="Garamond" pitchFamily="18" charset="0"/>
              </a:rPr>
              <a:t>MR programs (jobs)</a:t>
            </a:r>
            <a:endParaRPr lang="en-US" b="1" dirty="0">
              <a:latin typeface="Garamond" pitchFamily="18" charset="0"/>
            </a:endParaRPr>
          </a:p>
        </p:txBody>
      </p:sp>
      <p:sp>
        <p:nvSpPr>
          <p:cNvPr id="43" name="Bent Arrow 42"/>
          <p:cNvSpPr/>
          <p:nvPr/>
        </p:nvSpPr>
        <p:spPr>
          <a:xfrm rot="10800000" flipH="1">
            <a:off x="1828799" y="2819400"/>
            <a:ext cx="2590801" cy="1828800"/>
          </a:xfrm>
          <a:prstGeom prst="bentArrow">
            <a:avLst>
              <a:gd name="adj1" fmla="val 13235"/>
              <a:gd name="adj2" fmla="val 17647"/>
              <a:gd name="adj3" fmla="val 35294"/>
              <a:gd name="adj4" fmla="val 4375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6" name="Multiply 45"/>
          <p:cNvSpPr/>
          <p:nvPr/>
        </p:nvSpPr>
        <p:spPr>
          <a:xfrm>
            <a:off x="1752600" y="3352800"/>
            <a:ext cx="1600200" cy="1676400"/>
          </a:xfrm>
          <a:prstGeom prst="mathMultiply">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p:cNvSpPr txBox="1"/>
          <p:nvPr/>
        </p:nvSpPr>
        <p:spPr>
          <a:xfrm>
            <a:off x="0" y="2971800"/>
            <a:ext cx="1904999" cy="646331"/>
          </a:xfrm>
          <a:prstGeom prst="rect">
            <a:avLst/>
          </a:prstGeom>
          <a:noFill/>
        </p:spPr>
        <p:txBody>
          <a:bodyPr wrap="square" rtlCol="0">
            <a:spAutoFit/>
          </a:bodyPr>
          <a:lstStyle/>
          <a:p>
            <a:r>
              <a:rPr lang="en-US" b="1" dirty="0" smtClean="0">
                <a:latin typeface="Garamond" pitchFamily="18" charset="0"/>
              </a:rPr>
              <a:t>Write MR programs (jobs)</a:t>
            </a:r>
            <a:endParaRPr lang="en-US" b="1" dirty="0">
              <a:latin typeface="Garamond" pitchFamily="18" charset="0"/>
            </a:endParaRPr>
          </a:p>
        </p:txBody>
      </p:sp>
      <p:sp>
        <p:nvSpPr>
          <p:cNvPr id="48" name="TextBox 47"/>
          <p:cNvSpPr txBox="1"/>
          <p:nvPr/>
        </p:nvSpPr>
        <p:spPr>
          <a:xfrm>
            <a:off x="6248400" y="2819400"/>
            <a:ext cx="2895600" cy="646331"/>
          </a:xfrm>
          <a:prstGeom prst="rect">
            <a:avLst/>
          </a:prstGeom>
          <a:noFill/>
        </p:spPr>
        <p:txBody>
          <a:bodyPr wrap="square" rtlCol="0">
            <a:spAutoFit/>
          </a:bodyPr>
          <a:lstStyle/>
          <a:p>
            <a:r>
              <a:rPr lang="en-US" b="1" dirty="0" smtClean="0">
                <a:latin typeface="Garamond" pitchFamily="18" charset="0"/>
              </a:rPr>
              <a:t>Query planner does this in automation</a:t>
            </a:r>
            <a:endParaRPr lang="en-US" b="1" dirty="0">
              <a:latin typeface="Garamond" pitchFamily="18" charset="0"/>
            </a:endParaRPr>
          </a:p>
        </p:txBody>
      </p:sp>
      <p:pic>
        <p:nvPicPr>
          <p:cNvPr id="37" name="Picture 8" descr="Hive"/>
          <p:cNvPicPr>
            <a:picLocks noChangeAspect="1" noChangeArrowheads="1"/>
          </p:cNvPicPr>
          <p:nvPr/>
        </p:nvPicPr>
        <p:blipFill>
          <a:blip r:embed="rId6" cstate="print"/>
          <a:srcRect/>
          <a:stretch>
            <a:fillRect/>
          </a:stretch>
        </p:blipFill>
        <p:spPr bwMode="auto">
          <a:xfrm>
            <a:off x="5871354" y="1905000"/>
            <a:ext cx="758046" cy="698200"/>
          </a:xfrm>
          <a:prstGeom prst="rect">
            <a:avLst/>
          </a:prstGeom>
          <a:noFill/>
        </p:spPr>
      </p:pic>
      <p:pic>
        <p:nvPicPr>
          <p:cNvPr id="44" name="Picture 10" descr="Pig"/>
          <p:cNvPicPr>
            <a:picLocks noChangeAspect="1" noChangeArrowheads="1"/>
          </p:cNvPicPr>
          <p:nvPr/>
        </p:nvPicPr>
        <p:blipFill>
          <a:blip r:embed="rId7" cstate="print"/>
          <a:srcRect/>
          <a:stretch>
            <a:fillRect/>
          </a:stretch>
        </p:blipFill>
        <p:spPr bwMode="auto">
          <a:xfrm>
            <a:off x="7654685" y="1905000"/>
            <a:ext cx="498715" cy="704850"/>
          </a:xfrm>
          <a:prstGeom prst="rect">
            <a:avLst/>
          </a:prstGeom>
          <a:noFill/>
        </p:spPr>
      </p:pic>
      <p:cxnSp>
        <p:nvCxnSpPr>
          <p:cNvPr id="49" name="Straight Arrow Connector 48"/>
          <p:cNvCxnSpPr/>
          <p:nvPr/>
        </p:nvCxnSpPr>
        <p:spPr>
          <a:xfrm rot="5400000" flipH="1" flipV="1">
            <a:off x="5867400" y="2667000"/>
            <a:ext cx="304800" cy="152400"/>
          </a:xfrm>
          <a:prstGeom prst="straightConnector1">
            <a:avLst/>
          </a:prstGeom>
          <a:ln w="50800">
            <a:solidFill>
              <a:schemeClr val="accent2"/>
            </a:solidFill>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flipV="1">
            <a:off x="6019800" y="2667000"/>
            <a:ext cx="1524000" cy="228600"/>
          </a:xfrm>
          <a:prstGeom prst="straightConnector1">
            <a:avLst/>
          </a:prstGeom>
          <a:ln w="50800">
            <a:solidFill>
              <a:schemeClr val="accent2"/>
            </a:solidFill>
            <a:tailEnd type="arrow"/>
          </a:ln>
        </p:spPr>
        <p:style>
          <a:lnRef idx="1">
            <a:schemeClr val="accent1"/>
          </a:lnRef>
          <a:fillRef idx="0">
            <a:schemeClr val="accent1"/>
          </a:fillRef>
          <a:effectRef idx="0">
            <a:schemeClr val="accent1"/>
          </a:effectRef>
          <a:fontRef idx="minor">
            <a:schemeClr val="tx1"/>
          </a:fontRef>
        </p:style>
      </p:cxnSp>
      <p:grpSp>
        <p:nvGrpSpPr>
          <p:cNvPr id="7" name="Group 52"/>
          <p:cNvGrpSpPr/>
          <p:nvPr/>
        </p:nvGrpSpPr>
        <p:grpSpPr>
          <a:xfrm>
            <a:off x="4419600" y="3962400"/>
            <a:ext cx="1022350" cy="762000"/>
            <a:chOff x="7832725" y="4114800"/>
            <a:chExt cx="1022350" cy="762000"/>
          </a:xfrm>
        </p:grpSpPr>
        <p:pic>
          <p:nvPicPr>
            <p:cNvPr id="45" name="Picture 7" descr="e:\Users\yhuai\Desktop\Picture1.png"/>
            <p:cNvPicPr>
              <a:picLocks noChangeAspect="1" noChangeArrowheads="1"/>
            </p:cNvPicPr>
            <p:nvPr/>
          </p:nvPicPr>
          <p:blipFill>
            <a:blip r:embed="rId8" cstate="print"/>
            <a:srcRect/>
            <a:stretch>
              <a:fillRect/>
            </a:stretch>
          </p:blipFill>
          <p:spPr bwMode="auto">
            <a:xfrm>
              <a:off x="7832725" y="4114800"/>
              <a:ext cx="854075" cy="609600"/>
            </a:xfrm>
            <a:prstGeom prst="rect">
              <a:avLst/>
            </a:prstGeom>
            <a:noFill/>
          </p:spPr>
        </p:pic>
        <p:pic>
          <p:nvPicPr>
            <p:cNvPr id="51" name="Picture 7" descr="e:\Users\yhuai\Desktop\Picture1.png"/>
            <p:cNvPicPr>
              <a:picLocks noChangeAspect="1" noChangeArrowheads="1"/>
            </p:cNvPicPr>
            <p:nvPr/>
          </p:nvPicPr>
          <p:blipFill>
            <a:blip r:embed="rId8" cstate="print"/>
            <a:srcRect/>
            <a:stretch>
              <a:fillRect/>
            </a:stretch>
          </p:blipFill>
          <p:spPr bwMode="auto">
            <a:xfrm>
              <a:off x="7924800" y="4191000"/>
              <a:ext cx="854075" cy="609600"/>
            </a:xfrm>
            <a:prstGeom prst="rect">
              <a:avLst/>
            </a:prstGeom>
            <a:noFill/>
          </p:spPr>
        </p:pic>
        <p:pic>
          <p:nvPicPr>
            <p:cNvPr id="52" name="Picture 7" descr="e:\Users\yhuai\Desktop\Picture1.png"/>
            <p:cNvPicPr>
              <a:picLocks noChangeAspect="1" noChangeArrowheads="1"/>
            </p:cNvPicPr>
            <p:nvPr/>
          </p:nvPicPr>
          <p:blipFill>
            <a:blip r:embed="rId8" cstate="print"/>
            <a:srcRect/>
            <a:stretch>
              <a:fillRect/>
            </a:stretch>
          </p:blipFill>
          <p:spPr bwMode="auto">
            <a:xfrm>
              <a:off x="8001000" y="4267200"/>
              <a:ext cx="854075" cy="609600"/>
            </a:xfrm>
            <a:prstGeom prst="rect">
              <a:avLst/>
            </a:prstGeom>
            <a:noFill/>
          </p:spPr>
        </p:pic>
      </p:grpSp>
      <p:grpSp>
        <p:nvGrpSpPr>
          <p:cNvPr id="8" name="Group 53"/>
          <p:cNvGrpSpPr/>
          <p:nvPr/>
        </p:nvGrpSpPr>
        <p:grpSpPr>
          <a:xfrm>
            <a:off x="4419600" y="2895600"/>
            <a:ext cx="1022350" cy="762000"/>
            <a:chOff x="7832725" y="4114800"/>
            <a:chExt cx="1022350" cy="762000"/>
          </a:xfrm>
        </p:grpSpPr>
        <p:pic>
          <p:nvPicPr>
            <p:cNvPr id="55" name="Picture 7" descr="e:\Users\yhuai\Desktop\Picture1.png"/>
            <p:cNvPicPr>
              <a:picLocks noChangeAspect="1" noChangeArrowheads="1"/>
            </p:cNvPicPr>
            <p:nvPr/>
          </p:nvPicPr>
          <p:blipFill>
            <a:blip r:embed="rId8" cstate="print"/>
            <a:srcRect/>
            <a:stretch>
              <a:fillRect/>
            </a:stretch>
          </p:blipFill>
          <p:spPr bwMode="auto">
            <a:xfrm>
              <a:off x="7832725" y="4114800"/>
              <a:ext cx="854075" cy="609600"/>
            </a:xfrm>
            <a:prstGeom prst="rect">
              <a:avLst/>
            </a:prstGeom>
            <a:noFill/>
          </p:spPr>
        </p:pic>
        <p:pic>
          <p:nvPicPr>
            <p:cNvPr id="56" name="Picture 7" descr="e:\Users\yhuai\Desktop\Picture1.png"/>
            <p:cNvPicPr>
              <a:picLocks noChangeAspect="1" noChangeArrowheads="1"/>
            </p:cNvPicPr>
            <p:nvPr/>
          </p:nvPicPr>
          <p:blipFill>
            <a:blip r:embed="rId8" cstate="print"/>
            <a:srcRect/>
            <a:stretch>
              <a:fillRect/>
            </a:stretch>
          </p:blipFill>
          <p:spPr bwMode="auto">
            <a:xfrm>
              <a:off x="7924800" y="4191000"/>
              <a:ext cx="854075" cy="609600"/>
            </a:xfrm>
            <a:prstGeom prst="rect">
              <a:avLst/>
            </a:prstGeom>
            <a:noFill/>
          </p:spPr>
        </p:pic>
        <p:pic>
          <p:nvPicPr>
            <p:cNvPr id="57" name="Picture 7" descr="e:\Users\yhuai\Desktop\Picture1.png"/>
            <p:cNvPicPr>
              <a:picLocks noChangeAspect="1" noChangeArrowheads="1"/>
            </p:cNvPicPr>
            <p:nvPr/>
          </p:nvPicPr>
          <p:blipFill>
            <a:blip r:embed="rId8" cstate="print"/>
            <a:srcRect/>
            <a:stretch>
              <a:fillRect/>
            </a:stretch>
          </p:blipFill>
          <p:spPr bwMode="auto">
            <a:xfrm>
              <a:off x="8001000" y="4267200"/>
              <a:ext cx="854075" cy="609600"/>
            </a:xfrm>
            <a:prstGeom prst="rect">
              <a:avLst/>
            </a:prstGeom>
            <a:noFill/>
          </p:spPr>
        </p:pic>
      </p:grpSp>
    </p:spTree>
    <p:extLst>
      <p:ext uri="{BB962C8B-B14F-4D97-AF65-F5344CB8AC3E}">
        <p14:creationId xmlns:p14="http://schemas.microsoft.com/office/powerpoint/2010/main" val="2220600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0" nodeType="afterEffect">
                                  <p:stCondLst>
                                    <p:cond delay="0"/>
                                  </p:stCondLst>
                                  <p:childTnLst>
                                    <p:set>
                                      <p:cBhvr>
                                        <p:cTn id="23" dur="1" fill="hold">
                                          <p:stCondLst>
                                            <p:cond delay="0"/>
                                          </p:stCondLst>
                                        </p:cTn>
                                        <p:tgtEl>
                                          <p:spTgt spid="2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0" presetClass="path" presetSubtype="0" accel="50000" decel="50000" fill="hold" nodeType="clickEffect">
                                  <p:stCondLst>
                                    <p:cond delay="0"/>
                                  </p:stCondLst>
                                  <p:childTnLst>
                                    <p:animMotion origin="layout" path="M 8.33333E-7 -2.96296E-6 L 0.30834 -2.96296E-6 " pathEditMode="relative" ptsTypes="AA">
                                      <p:cBhvr>
                                        <p:cTn id="27" dur="500" fill="hold"/>
                                        <p:tgtEl>
                                          <p:spTgt spid="40"/>
                                        </p:tgtEl>
                                        <p:attrNameLst>
                                          <p:attrName>ppt_x</p:attrName>
                                          <p:attrName>ppt_y</p:attrName>
                                        </p:attrNameLst>
                                      </p:cBhvr>
                                    </p:animMotion>
                                  </p:childTnLst>
                                </p:cTn>
                              </p:par>
                            </p:childTnLst>
                          </p:cTn>
                        </p:par>
                        <p:par>
                          <p:cTn id="28" fill="hold">
                            <p:stCondLst>
                              <p:cond delay="500"/>
                            </p:stCondLst>
                            <p:childTnLst>
                              <p:par>
                                <p:cTn id="29" presetID="1" presetClass="entr" presetSubtype="0" fill="hold" nodeType="after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par>
                          <p:cTn id="31" fill="hold">
                            <p:stCondLst>
                              <p:cond delay="500"/>
                            </p:stCondLst>
                            <p:childTnLst>
                              <p:par>
                                <p:cTn id="32" presetID="1" presetClass="exit" presetSubtype="0" fill="hold" nodeType="afterEffect">
                                  <p:stCondLst>
                                    <p:cond delay="0"/>
                                  </p:stCondLst>
                                  <p:childTnLst>
                                    <p:set>
                                      <p:cBhvr>
                                        <p:cTn id="33" dur="1" fill="hold">
                                          <p:stCondLst>
                                            <p:cond delay="0"/>
                                          </p:stCondLst>
                                        </p:cTn>
                                        <p:tgtEl>
                                          <p:spTgt spid="40"/>
                                        </p:tgtEl>
                                        <p:attrNameLst>
                                          <p:attrName>style.visibility</p:attrName>
                                        </p:attrNameLst>
                                      </p:cBhvr>
                                      <p:to>
                                        <p:strVal val="hidden"/>
                                      </p:to>
                                    </p:set>
                                  </p:childTnLst>
                                </p:cTn>
                              </p:par>
                            </p:childTnLst>
                          </p:cTn>
                        </p:par>
                        <p:par>
                          <p:cTn id="34" fill="hold">
                            <p:stCondLst>
                              <p:cond delay="500"/>
                            </p:stCondLst>
                            <p:childTnLst>
                              <p:par>
                                <p:cTn id="35" presetID="0" presetClass="path" presetSubtype="0" accel="50000" decel="50000" fill="hold" nodeType="afterEffect">
                                  <p:stCondLst>
                                    <p:cond delay="0"/>
                                  </p:stCondLst>
                                  <p:childTnLst>
                                    <p:animMotion origin="layout" path="M 7.5E-6 1.48148E-6 L 7.5E-6 0.12222 " pathEditMode="relative" ptsTypes="AA">
                                      <p:cBhvr>
                                        <p:cTn id="36" dur="500" fill="hold"/>
                                        <p:tgtEl>
                                          <p:spTgt spid="27"/>
                                        </p:tgtEl>
                                        <p:attrNameLst>
                                          <p:attrName>ppt_x</p:attrName>
                                          <p:attrName>ppt_y</p:attrName>
                                        </p:attrNameLst>
                                      </p:cBhvr>
                                    </p:animMotion>
                                  </p:childTnLst>
                                </p:cTn>
                              </p:par>
                            </p:childTnLst>
                          </p:cTn>
                        </p:par>
                        <p:par>
                          <p:cTn id="37" fill="hold">
                            <p:stCondLst>
                              <p:cond delay="1000"/>
                            </p:stCondLst>
                            <p:childTnLst>
                              <p:par>
                                <p:cTn id="38" presetID="1" presetClass="exit" presetSubtype="0" fill="hold" nodeType="afterEffect">
                                  <p:stCondLst>
                                    <p:cond delay="0"/>
                                  </p:stCondLst>
                                  <p:childTnLst>
                                    <p:set>
                                      <p:cBhvr>
                                        <p:cTn id="39" dur="1" fill="hold">
                                          <p:stCondLst>
                                            <p:cond delay="0"/>
                                          </p:stCondLst>
                                        </p:cTn>
                                        <p:tgtEl>
                                          <p:spTgt spid="27"/>
                                        </p:tgtEl>
                                        <p:attrNameLst>
                                          <p:attrName>style.visibility</p:attrName>
                                        </p:attrNameLst>
                                      </p:cBhvr>
                                      <p:to>
                                        <p:strVal val="hidden"/>
                                      </p:to>
                                    </p:set>
                                  </p:childTnLst>
                                </p:cTn>
                              </p:par>
                              <p:par>
                                <p:cTn id="40" presetID="1" presetClass="entr" presetSubtype="0" fill="hold" nodeType="withEffect">
                                  <p:stCondLst>
                                    <p:cond delay="0"/>
                                  </p:stCondLst>
                                  <p:childTnLst>
                                    <p:set>
                                      <p:cBhvr>
                                        <p:cTn id="41" dur="1" fill="hold">
                                          <p:stCondLst>
                                            <p:cond delay="0"/>
                                          </p:stCondLst>
                                        </p:cTn>
                                        <p:tgtEl>
                                          <p:spTgt spid="8"/>
                                        </p:tgtEl>
                                        <p:attrNameLst>
                                          <p:attrName>style.visibility</p:attrName>
                                        </p:attrNameLst>
                                      </p:cBhvr>
                                      <p:to>
                                        <p:strVal val="visible"/>
                                      </p:to>
                                    </p:set>
                                  </p:childTnLst>
                                </p:cTn>
                              </p:par>
                            </p:childTnLst>
                          </p:cTn>
                        </p:par>
                        <p:par>
                          <p:cTn id="42" fill="hold">
                            <p:stCondLst>
                              <p:cond delay="1000"/>
                            </p:stCondLst>
                            <p:childTnLst>
                              <p:par>
                                <p:cTn id="43" presetID="0" presetClass="path" presetSubtype="0" accel="50000" decel="50000" fill="hold" nodeType="afterEffect">
                                  <p:stCondLst>
                                    <p:cond delay="0"/>
                                  </p:stCondLst>
                                  <p:childTnLst>
                                    <p:animMotion origin="layout" path="M -7.22222E-6 -3.33025E-6 L -7.22222E-6 0.15541 " pathEditMode="relative" ptsTypes="AA">
                                      <p:cBhvr>
                                        <p:cTn id="44" dur="500" fill="hold"/>
                                        <p:tgtEl>
                                          <p:spTgt spid="8"/>
                                        </p:tgtEl>
                                        <p:attrNameLst>
                                          <p:attrName>ppt_x</p:attrName>
                                          <p:attrName>ppt_y</p:attrName>
                                        </p:attrNameLst>
                                      </p:cBhvr>
                                    </p:animMotion>
                                  </p:childTnLst>
                                </p:cTn>
                              </p:par>
                            </p:childTnLst>
                          </p:cTn>
                        </p:par>
                      </p:childTnLst>
                    </p:cTn>
                  </p:par>
                  <p:par>
                    <p:cTn id="45" fill="hold">
                      <p:stCondLst>
                        <p:cond delay="indefinite"/>
                      </p:stCondLst>
                      <p:childTnLst>
                        <p:par>
                          <p:cTn id="46" fill="hold">
                            <p:stCondLst>
                              <p:cond delay="0"/>
                            </p:stCondLst>
                            <p:childTnLst>
                              <p:par>
                                <p:cTn id="47" presetID="18" presetClass="entr" presetSubtype="3" fill="hold" nodeType="click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strips(upRight)">
                                      <p:cBhvr>
                                        <p:cTn id="49" dur="500"/>
                                        <p:tgtEl>
                                          <p:spTgt spid="50"/>
                                        </p:tgtEl>
                                      </p:cBhvr>
                                    </p:animEffect>
                                  </p:childTnLst>
                                </p:cTn>
                              </p:par>
                              <p:par>
                                <p:cTn id="50" presetID="18" presetClass="entr" presetSubtype="3" fill="hold" nodeType="withEffect">
                                  <p:stCondLst>
                                    <p:cond delay="0"/>
                                  </p:stCondLst>
                                  <p:childTnLst>
                                    <p:set>
                                      <p:cBhvr>
                                        <p:cTn id="51" dur="1" fill="hold">
                                          <p:stCondLst>
                                            <p:cond delay="0"/>
                                          </p:stCondLst>
                                        </p:cTn>
                                        <p:tgtEl>
                                          <p:spTgt spid="49"/>
                                        </p:tgtEl>
                                        <p:attrNameLst>
                                          <p:attrName>style.visibility</p:attrName>
                                        </p:attrNameLst>
                                      </p:cBhvr>
                                      <p:to>
                                        <p:strVal val="visible"/>
                                      </p:to>
                                    </p:set>
                                    <p:animEffect transition="in" filter="strips(upRight)">
                                      <p:cBhvr>
                                        <p:cTn id="52" dur="500"/>
                                        <p:tgtEl>
                                          <p:spTgt spid="49"/>
                                        </p:tgtEl>
                                      </p:cBhvr>
                                    </p:animEffect>
                                  </p:childTnLst>
                                </p:cTn>
                              </p:par>
                            </p:childTnLst>
                          </p:cTn>
                        </p:par>
                        <p:par>
                          <p:cTn id="53" fill="hold">
                            <p:stCondLst>
                              <p:cond delay="500"/>
                            </p:stCondLst>
                            <p:childTnLst>
                              <p:par>
                                <p:cTn id="54" presetID="1" presetClass="entr" presetSubtype="0" fill="hold" nodeType="afterEffect">
                                  <p:stCondLst>
                                    <p:cond delay="0"/>
                                  </p:stCondLst>
                                  <p:childTnLst>
                                    <p:set>
                                      <p:cBhvr>
                                        <p:cTn id="55" dur="1" fill="hold">
                                          <p:stCondLst>
                                            <p:cond delay="0"/>
                                          </p:stCondLst>
                                        </p:cTn>
                                        <p:tgtEl>
                                          <p:spTgt spid="37"/>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28" grpId="0"/>
      <p:bldP spid="31" grpId="0" animBg="1"/>
      <p:bldP spid="38" grpId="0" animBg="1"/>
      <p:bldP spid="46" grpId="0" animBg="1"/>
      <p:bldP spid="4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1120588" y="2187179"/>
            <a:ext cx="7100047" cy="5017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spAutoFit/>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9pPr>
          </a:lstStyle>
          <a:p>
            <a:pPr algn="ctr" eaLnBrk="1" hangingPunct="1"/>
            <a:r>
              <a:rPr lang="en-US" altLang="zh-CN" sz="2800" dirty="0" err="1" smtClean="0">
                <a:solidFill>
                  <a:schemeClr val="accent2"/>
                </a:solidFill>
                <a:latin typeface="微软雅黑" panose="020B0503020204020204" pitchFamily="34" charset="-122"/>
                <a:ea typeface="微软雅黑" panose="020B0503020204020204" pitchFamily="34" charset="-122"/>
                <a:sym typeface="Roboto Th" pitchFamily="2" charset="0"/>
              </a:rPr>
              <a:t>LSbM</a:t>
            </a:r>
            <a:r>
              <a:rPr lang="en-US" altLang="zh-CN" sz="2800" dirty="0" smtClean="0">
                <a:solidFill>
                  <a:schemeClr val="accent2"/>
                </a:solidFill>
                <a:latin typeface="微软雅黑" panose="020B0503020204020204" pitchFamily="34" charset="-122"/>
                <a:ea typeface="微软雅黑" panose="020B0503020204020204" pitchFamily="34" charset="-122"/>
                <a:sym typeface="Roboto Th" pitchFamily="2" charset="0"/>
              </a:rPr>
              <a:t>-tree:</a:t>
            </a:r>
            <a:r>
              <a:rPr lang="zh-CN" altLang="en-US" sz="2800" dirty="0" smtClean="0">
                <a:solidFill>
                  <a:schemeClr val="accent2"/>
                </a:solidFill>
                <a:latin typeface="微软雅黑" panose="020B0503020204020204" pitchFamily="34" charset="-122"/>
                <a:ea typeface="微软雅黑" panose="020B0503020204020204" pitchFamily="34" charset="-122"/>
                <a:sym typeface="Roboto Th" pitchFamily="2" charset="0"/>
              </a:rPr>
              <a:t>一个读写兼优的大数据存储结构</a:t>
            </a:r>
            <a:endParaRPr lang="en-US" altLang="zh-CN" sz="2800" dirty="0">
              <a:solidFill>
                <a:schemeClr val="accent2"/>
              </a:solidFill>
              <a:latin typeface="微软雅黑" panose="020B0503020204020204" pitchFamily="34" charset="-122"/>
              <a:ea typeface="微软雅黑" panose="020B0503020204020204" pitchFamily="34" charset="-122"/>
              <a:sym typeface="Roboto Th" pitchFamily="2" charset="0"/>
            </a:endParaRPr>
          </a:p>
        </p:txBody>
      </p:sp>
    </p:spTree>
    <p:extLst>
      <p:ext uri="{BB962C8B-B14F-4D97-AF65-F5344CB8AC3E}">
        <p14:creationId xmlns:p14="http://schemas.microsoft.com/office/powerpoint/2010/main" val="362229325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p:cNvSpPr>
          <p:nvPr>
            <p:ph type="title" idx="4294967295"/>
          </p:nvPr>
        </p:nvSpPr>
        <p:spPr>
          <a:xfrm>
            <a:off x="-1" y="4119"/>
            <a:ext cx="9144000" cy="733425"/>
          </a:xfrm>
        </p:spPr>
        <p:txBody>
          <a:bodyPr bIns="91440" anchor="b">
            <a:normAutofit/>
          </a:bodyPr>
          <a:lstStyle/>
          <a:p>
            <a:pPr algn="ctr" eaLnBrk="1" hangingPunct="1"/>
            <a:r>
              <a:rPr lang="en-US" altLang="zh-CN" sz="2800" b="1" dirty="0" smtClean="0">
                <a:solidFill>
                  <a:srgbClr val="0000FF"/>
                </a:solidFill>
              </a:rPr>
              <a:t>New Challenges to Access Performance in Big Data   </a:t>
            </a:r>
            <a:endParaRPr lang="zh-CN" altLang="en-US" sz="2800" b="1" dirty="0">
              <a:solidFill>
                <a:srgbClr val="0000FF"/>
              </a:solidFill>
            </a:endParaRPr>
          </a:p>
        </p:txBody>
      </p:sp>
      <p:sp>
        <p:nvSpPr>
          <p:cNvPr id="20484" name="Rectangle 3"/>
          <p:cNvSpPr>
            <a:spLocks noGrp="1"/>
          </p:cNvSpPr>
          <p:nvPr>
            <p:ph type="body" idx="4294967295"/>
          </p:nvPr>
        </p:nvSpPr>
        <p:spPr>
          <a:xfrm>
            <a:off x="0" y="963826"/>
            <a:ext cx="9143999" cy="5894173"/>
          </a:xfrm>
        </p:spPr>
        <p:txBody>
          <a:bodyPr>
            <a:normAutofit/>
          </a:bodyPr>
          <a:lstStyle/>
          <a:p>
            <a:pPr marL="457200" indent="-457200" eaLnBrk="1" hangingPunct="1">
              <a:buFont typeface="Arial" panose="020B0604020202020204" pitchFamily="34" charset="0"/>
              <a:buChar char="•"/>
            </a:pPr>
            <a:r>
              <a:rPr lang="en-US" altLang="zh-CN" sz="2800" dirty="0" smtClean="0">
                <a:solidFill>
                  <a:srgbClr val="BA0000"/>
                </a:solidFill>
              </a:rPr>
              <a:t>Sequentially archived data </a:t>
            </a:r>
          </a:p>
          <a:p>
            <a:pPr marL="661988" lvl="1" indent="-342900" eaLnBrk="1" hangingPunct="1">
              <a:buFont typeface="Wingdings" panose="05000000000000000000" pitchFamily="2" charset="2"/>
              <a:buChar char="Ø"/>
            </a:pPr>
            <a:r>
              <a:rPr lang="en-US" altLang="zh-CN" sz="2400" dirty="0" smtClean="0"/>
              <a:t> </a:t>
            </a:r>
            <a:r>
              <a:rPr lang="en-US" altLang="zh-CN" sz="2000" dirty="0" smtClean="0"/>
              <a:t>Can we massively process both reads and writes concurrently? </a:t>
            </a:r>
          </a:p>
          <a:p>
            <a:pPr marL="661988" lvl="1" indent="-342900" eaLnBrk="1" hangingPunct="1">
              <a:buFont typeface="Wingdings" panose="05000000000000000000" pitchFamily="2" charset="2"/>
              <a:buChar char="Ø"/>
            </a:pPr>
            <a:r>
              <a:rPr lang="en-US" altLang="zh-CN" sz="2000" dirty="0"/>
              <a:t> </a:t>
            </a:r>
            <a:r>
              <a:rPr lang="en-US" altLang="zh-CN" sz="2000" dirty="0" smtClean="0"/>
              <a:t>but </a:t>
            </a:r>
            <a:r>
              <a:rPr lang="en-US" altLang="zh-CN" sz="2000" dirty="0" smtClean="0">
                <a:solidFill>
                  <a:srgbClr val="FF0000"/>
                </a:solidFill>
              </a:rPr>
              <a:t>LSM-tree</a:t>
            </a:r>
            <a:r>
              <a:rPr lang="en-US" altLang="zh-CN" sz="2000" dirty="0" smtClean="0"/>
              <a:t> favors writes and </a:t>
            </a:r>
            <a:r>
              <a:rPr lang="en-US" altLang="zh-CN" sz="2000" dirty="0" smtClean="0">
                <a:solidFill>
                  <a:srgbClr val="FF0000"/>
                </a:solidFill>
              </a:rPr>
              <a:t>B+-tree </a:t>
            </a:r>
            <a:r>
              <a:rPr lang="en-US" altLang="zh-CN" sz="2000" dirty="0" smtClean="0"/>
              <a:t>favors reads  </a:t>
            </a:r>
          </a:p>
          <a:p>
            <a:pPr marL="661988" lvl="1" indent="-342900" eaLnBrk="1" hangingPunct="1">
              <a:buFont typeface="Arial" panose="020B0604020202020204" pitchFamily="34" charset="0"/>
              <a:buChar char="•"/>
            </a:pPr>
            <a:endParaRPr lang="en-US" altLang="zh-CN" sz="2000" dirty="0" smtClean="0"/>
          </a:p>
          <a:p>
            <a:pPr marL="457200" indent="-457200" eaLnBrk="1" hangingPunct="1">
              <a:buFont typeface="Arial" panose="020B0604020202020204" pitchFamily="34" charset="0"/>
              <a:buChar char="•"/>
            </a:pPr>
            <a:r>
              <a:rPr lang="en-US" altLang="zh-CN" sz="2800" dirty="0" smtClean="0">
                <a:solidFill>
                  <a:srgbClr val="BA0000"/>
                </a:solidFill>
              </a:rPr>
              <a:t>Relational tables </a:t>
            </a:r>
          </a:p>
          <a:p>
            <a:pPr marL="742950" lvl="1" indent="-342900">
              <a:buFont typeface="Wingdings" panose="05000000000000000000" pitchFamily="2" charset="2"/>
              <a:buChar char="Ø"/>
            </a:pPr>
            <a:r>
              <a:rPr lang="en-US" altLang="zh-CN" sz="2000" dirty="0" smtClean="0"/>
              <a:t>Tables must partitioned/placed among many nodes, e.g. </a:t>
            </a:r>
            <a:r>
              <a:rPr lang="en-US" altLang="zh-CN" sz="2000" dirty="0" smtClean="0">
                <a:solidFill>
                  <a:srgbClr val="FF0000"/>
                </a:solidFill>
              </a:rPr>
              <a:t>Apache Hive</a:t>
            </a:r>
          </a:p>
          <a:p>
            <a:pPr marL="742950" lvl="1" indent="-342900">
              <a:buFont typeface="Wingdings" panose="05000000000000000000" pitchFamily="2" charset="2"/>
              <a:buChar char="Ø"/>
            </a:pPr>
            <a:r>
              <a:rPr lang="en-US" altLang="zh-CN" sz="2000" dirty="0" smtClean="0"/>
              <a:t>How to minimize data transfers among nodes and from local disks? </a:t>
            </a:r>
          </a:p>
          <a:p>
            <a:pPr marL="742950" lvl="1" indent="-342900">
              <a:buFont typeface="Arial" panose="020B0604020202020204" pitchFamily="34" charset="0"/>
              <a:buChar char="•"/>
            </a:pPr>
            <a:endParaRPr lang="en-US" altLang="zh-CN" sz="2000" dirty="0" smtClean="0"/>
          </a:p>
          <a:p>
            <a:pPr marL="457200" indent="-457200" eaLnBrk="1" hangingPunct="1">
              <a:buFont typeface="Arial" panose="020B0604020202020204" pitchFamily="34" charset="0"/>
              <a:buChar char="•"/>
            </a:pPr>
            <a:r>
              <a:rPr lang="en-US" altLang="zh-CN" sz="2800" dirty="0" smtClean="0">
                <a:solidFill>
                  <a:srgbClr val="BA0000"/>
                </a:solidFill>
              </a:rPr>
              <a:t>Key-value store </a:t>
            </a:r>
          </a:p>
          <a:p>
            <a:pPr marL="547688" lvl="1" indent="-228600" eaLnBrk="1" hangingPunct="1"/>
            <a:r>
              <a:rPr lang="en-US" altLang="zh-CN" sz="2000" dirty="0" smtClean="0"/>
              <a:t>Key indexing becomes a bottleneck as #</a:t>
            </a:r>
            <a:r>
              <a:rPr lang="zh-CN" altLang="en-US" sz="2000" dirty="0" smtClean="0"/>
              <a:t> </a:t>
            </a:r>
            <a:r>
              <a:rPr lang="en-US" altLang="zh-CN" sz="2000" dirty="0" smtClean="0"/>
              <a:t>concurrent requests increase</a:t>
            </a:r>
          </a:p>
          <a:p>
            <a:pPr marL="547688" lvl="1" indent="-228600" eaLnBrk="1" hangingPunct="1"/>
            <a:r>
              <a:rPr lang="en-US" altLang="zh-CN" sz="2000" dirty="0" smtClean="0"/>
              <a:t>How to accelerate data accesses for </a:t>
            </a:r>
            <a:r>
              <a:rPr lang="en-US" altLang="zh-CN" sz="2000" dirty="0" smtClean="0">
                <a:solidFill>
                  <a:srgbClr val="FF0000"/>
                </a:solidFill>
              </a:rPr>
              <a:t>in-memory key-value store? </a:t>
            </a:r>
            <a:endParaRPr lang="en-US" altLang="zh-CN" sz="2000" dirty="0" smtClean="0"/>
          </a:p>
          <a:p>
            <a:pPr marL="547688" lvl="1" indent="-228600" eaLnBrk="1" hangingPunct="1"/>
            <a:endParaRPr lang="en-US" altLang="zh-CN" sz="2000" dirty="0" smtClean="0"/>
          </a:p>
          <a:p>
            <a:pPr marL="319088" lvl="1" indent="0" eaLnBrk="1" hangingPunct="1">
              <a:buNone/>
            </a:pPr>
            <a:endParaRPr lang="en-US" altLang="zh-CN" sz="2400" dirty="0" smtClean="0"/>
          </a:p>
        </p:txBody>
      </p:sp>
      <p:sp>
        <p:nvSpPr>
          <p:cNvPr id="25604" name="Slide Number Placeholder 4"/>
          <p:cNvSpPr txBox="1">
            <a:spLocks/>
          </p:cNvSpPr>
          <p:nvPr/>
        </p:nvSpPr>
        <p:spPr bwMode="auto">
          <a:xfrm>
            <a:off x="7010400" y="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r" eaLnBrk="1" hangingPunct="1">
              <a:lnSpc>
                <a:spcPct val="125000"/>
              </a:lnSpc>
              <a:spcBef>
                <a:spcPct val="50000"/>
              </a:spcBef>
              <a:spcAft>
                <a:spcPct val="20000"/>
              </a:spcAft>
              <a:buFont typeface="Wingdings" pitchFamily="2" charset="2"/>
              <a:buNone/>
            </a:pPr>
            <a:fld id="{F4EEDD8F-D3C4-465D-9AC9-8F333715382F}" type="slidenum">
              <a:rPr lang="zh-CN" altLang="en-US" sz="1200">
                <a:solidFill>
                  <a:srgbClr val="898989"/>
                </a:solidFill>
                <a:ea typeface="仿宋_GB2312"/>
                <a:cs typeface="仿宋_GB2312"/>
              </a:rPr>
              <a:pPr algn="r" eaLnBrk="1" hangingPunct="1">
                <a:lnSpc>
                  <a:spcPct val="125000"/>
                </a:lnSpc>
                <a:spcBef>
                  <a:spcPct val="50000"/>
                </a:spcBef>
                <a:spcAft>
                  <a:spcPct val="20000"/>
                </a:spcAft>
                <a:buFont typeface="Wingdings" pitchFamily="2" charset="2"/>
                <a:buNone/>
              </a:pPr>
              <a:t>52</a:t>
            </a:fld>
            <a:endParaRPr lang="zh-CN" altLang="en-US" sz="1200">
              <a:solidFill>
                <a:srgbClr val="898989"/>
              </a:solidFill>
              <a:ea typeface="仿宋_GB2312"/>
              <a:cs typeface="仿宋_GB2312"/>
            </a:endParaRPr>
          </a:p>
        </p:txBody>
      </p:sp>
    </p:spTree>
    <p:extLst>
      <p:ext uri="{BB962C8B-B14F-4D97-AF65-F5344CB8AC3E}">
        <p14:creationId xmlns:p14="http://schemas.microsoft.com/office/powerpoint/2010/main" val="3592231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48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48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48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48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48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484">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484">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48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124968"/>
            <a:ext cx="8229600" cy="801624"/>
          </a:xfrm>
        </p:spPr>
        <p:txBody>
          <a:bodyPr>
            <a:normAutofit/>
          </a:bodyPr>
          <a:lstStyle/>
          <a:p>
            <a:pPr algn="ctr"/>
            <a:r>
              <a:rPr lang="en-US" altLang="zh-CN" sz="4000" dirty="0" smtClean="0">
                <a:solidFill>
                  <a:srgbClr val="0070C0"/>
                </a:solidFill>
              </a:rPr>
              <a:t>What is </a:t>
            </a:r>
            <a:r>
              <a:rPr lang="en-US" altLang="zh-CN" sz="4000" dirty="0" smtClean="0">
                <a:solidFill>
                  <a:srgbClr val="FF0000"/>
                </a:solidFill>
              </a:rPr>
              <a:t>LSM-tree</a:t>
            </a:r>
            <a:r>
              <a:rPr lang="en-US" altLang="zh-CN" sz="4000" dirty="0" smtClean="0"/>
              <a:t>? </a:t>
            </a:r>
            <a:endParaRPr lang="zh-CN" altLang="en-US" sz="4000" dirty="0"/>
          </a:p>
        </p:txBody>
      </p:sp>
      <p:sp>
        <p:nvSpPr>
          <p:cNvPr id="3" name="内容占位符 2"/>
          <p:cNvSpPr>
            <a:spLocks noGrp="1"/>
          </p:cNvSpPr>
          <p:nvPr>
            <p:ph idx="1"/>
          </p:nvPr>
        </p:nvSpPr>
        <p:spPr>
          <a:xfrm>
            <a:off x="457200" y="907540"/>
            <a:ext cx="8229600" cy="3115151"/>
          </a:xfrm>
        </p:spPr>
        <p:txBody>
          <a:bodyPr>
            <a:normAutofit/>
          </a:bodyPr>
          <a:lstStyle/>
          <a:p>
            <a:pPr marL="0" indent="0">
              <a:buNone/>
            </a:pPr>
            <a:r>
              <a:rPr lang="en-US" altLang="zh-CN" sz="2800" dirty="0" smtClean="0"/>
              <a:t>It is a </a:t>
            </a:r>
            <a:r>
              <a:rPr lang="en-US" altLang="zh-CN" sz="2800" b="1" dirty="0" smtClean="0">
                <a:solidFill>
                  <a:srgbClr val="FF0000"/>
                </a:solidFill>
              </a:rPr>
              <a:t>Log-structured merge-tree </a:t>
            </a:r>
            <a:r>
              <a:rPr lang="en-US" altLang="zh-CN" sz="2800" dirty="0" smtClean="0"/>
              <a:t>(1996): </a:t>
            </a:r>
          </a:p>
          <a:p>
            <a:pPr marL="342900" indent="-342900">
              <a:buFont typeface="Arial" panose="020B0604020202020204" pitchFamily="34" charset="0"/>
              <a:buChar char="•"/>
            </a:pPr>
            <a:r>
              <a:rPr lang="en-US" altLang="zh-CN" sz="2400" dirty="0"/>
              <a:t>M</a:t>
            </a:r>
            <a:r>
              <a:rPr lang="en-US" altLang="zh-CN" sz="2400" dirty="0" smtClean="0"/>
              <a:t>ultiple levels of sorted data, (e.g. each by a B+ tree) </a:t>
            </a:r>
          </a:p>
          <a:p>
            <a:pPr marL="342900" indent="-342900">
              <a:buFont typeface="Arial" panose="020B0604020202020204" pitchFamily="34" charset="0"/>
              <a:buChar char="•"/>
            </a:pPr>
            <a:r>
              <a:rPr lang="en-US" altLang="zh-CN" sz="2400" dirty="0" smtClean="0"/>
              <a:t>Each level increases exponentially, forming a “pyramid” </a:t>
            </a:r>
          </a:p>
          <a:p>
            <a:pPr marL="342900" indent="-342900">
              <a:buFont typeface="Arial" panose="020B0604020202020204" pitchFamily="34" charset="0"/>
              <a:buChar char="•"/>
            </a:pPr>
            <a:r>
              <a:rPr lang="en-US" altLang="zh-CN" sz="2400" dirty="0" smtClean="0"/>
              <a:t>The smallest level is in memory and the rest on disk</a:t>
            </a:r>
          </a:p>
        </p:txBody>
      </p:sp>
      <p:grpSp>
        <p:nvGrpSpPr>
          <p:cNvPr id="10" name="组合 9"/>
          <p:cNvGrpSpPr/>
          <p:nvPr/>
        </p:nvGrpSpPr>
        <p:grpSpPr>
          <a:xfrm>
            <a:off x="603885" y="2895808"/>
            <a:ext cx="5844483" cy="3233742"/>
            <a:chOff x="593412" y="2961489"/>
            <a:chExt cx="5844483" cy="3233742"/>
          </a:xfrm>
        </p:grpSpPr>
        <p:sp>
          <p:nvSpPr>
            <p:cNvPr id="5" name="矩形 4"/>
            <p:cNvSpPr/>
            <p:nvPr/>
          </p:nvSpPr>
          <p:spPr>
            <a:xfrm>
              <a:off x="3721817" y="3120011"/>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6" name="矩形 5"/>
            <p:cNvSpPr/>
            <p:nvPr/>
          </p:nvSpPr>
          <p:spPr>
            <a:xfrm>
              <a:off x="3491923" y="3484534"/>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7" name="矩形 6"/>
            <p:cNvSpPr/>
            <p:nvPr/>
          </p:nvSpPr>
          <p:spPr>
            <a:xfrm>
              <a:off x="3716648" y="3484534"/>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8" name="矩形 7"/>
            <p:cNvSpPr/>
            <p:nvPr/>
          </p:nvSpPr>
          <p:spPr>
            <a:xfrm>
              <a:off x="3946539" y="3484534"/>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cxnSp>
          <p:nvCxnSpPr>
            <p:cNvPr id="11" name="直接连接符 10"/>
            <p:cNvCxnSpPr>
              <a:stCxn id="5" idx="2"/>
              <a:endCxn id="6" idx="0"/>
            </p:cNvCxnSpPr>
            <p:nvPr/>
          </p:nvCxnSpPr>
          <p:spPr>
            <a:xfrm flipH="1">
              <a:off x="3526794" y="3290493"/>
              <a:ext cx="229894" cy="194041"/>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直接连接符 11"/>
            <p:cNvCxnSpPr>
              <a:stCxn id="5" idx="2"/>
              <a:endCxn id="7" idx="0"/>
            </p:cNvCxnSpPr>
            <p:nvPr/>
          </p:nvCxnSpPr>
          <p:spPr>
            <a:xfrm flipH="1">
              <a:off x="3751519" y="3290493"/>
              <a:ext cx="5169" cy="194041"/>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直接连接符 12"/>
            <p:cNvCxnSpPr>
              <a:stCxn id="5" idx="2"/>
              <a:endCxn id="8" idx="0"/>
            </p:cNvCxnSpPr>
            <p:nvPr/>
          </p:nvCxnSpPr>
          <p:spPr>
            <a:xfrm>
              <a:off x="3756688" y="3290493"/>
              <a:ext cx="224722" cy="194041"/>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21" name="矩形 20"/>
            <p:cNvSpPr/>
            <p:nvPr/>
          </p:nvSpPr>
          <p:spPr>
            <a:xfrm>
              <a:off x="3710193" y="3910737"/>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22" name="矩形 21"/>
            <p:cNvSpPr/>
            <p:nvPr/>
          </p:nvSpPr>
          <p:spPr>
            <a:xfrm>
              <a:off x="3092844" y="4334357"/>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23" name="矩形 22"/>
            <p:cNvSpPr/>
            <p:nvPr/>
          </p:nvSpPr>
          <p:spPr>
            <a:xfrm>
              <a:off x="3712775" y="4329190"/>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24" name="矩形 23"/>
            <p:cNvSpPr/>
            <p:nvPr/>
          </p:nvSpPr>
          <p:spPr>
            <a:xfrm>
              <a:off x="4322376" y="4324023"/>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cxnSp>
          <p:nvCxnSpPr>
            <p:cNvPr id="26" name="直接连接符 25"/>
            <p:cNvCxnSpPr>
              <a:stCxn id="21" idx="2"/>
              <a:endCxn id="22" idx="0"/>
            </p:cNvCxnSpPr>
            <p:nvPr/>
          </p:nvCxnSpPr>
          <p:spPr>
            <a:xfrm flipH="1">
              <a:off x="3127715" y="4081219"/>
              <a:ext cx="617349" cy="253138"/>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直接连接符 26"/>
            <p:cNvCxnSpPr>
              <a:stCxn id="21" idx="2"/>
              <a:endCxn id="23" idx="0"/>
            </p:cNvCxnSpPr>
            <p:nvPr/>
          </p:nvCxnSpPr>
          <p:spPr>
            <a:xfrm>
              <a:off x="3745064" y="4081219"/>
              <a:ext cx="2582" cy="247971"/>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直接连接符 27"/>
            <p:cNvCxnSpPr>
              <a:stCxn id="21" idx="2"/>
              <a:endCxn id="24" idx="0"/>
            </p:cNvCxnSpPr>
            <p:nvPr/>
          </p:nvCxnSpPr>
          <p:spPr>
            <a:xfrm>
              <a:off x="3745064" y="4081219"/>
              <a:ext cx="612183" cy="242804"/>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30" name="矩形 29"/>
            <p:cNvSpPr/>
            <p:nvPr/>
          </p:nvSpPr>
          <p:spPr>
            <a:xfrm>
              <a:off x="2877159" y="4688234"/>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31" name="矩形 30"/>
            <p:cNvSpPr/>
            <p:nvPr/>
          </p:nvSpPr>
          <p:spPr>
            <a:xfrm>
              <a:off x="3091552" y="4688234"/>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32" name="矩形 31"/>
            <p:cNvSpPr/>
            <p:nvPr/>
          </p:nvSpPr>
          <p:spPr>
            <a:xfrm>
              <a:off x="3290447" y="4688234"/>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36" name="矩形 35"/>
            <p:cNvSpPr/>
            <p:nvPr/>
          </p:nvSpPr>
          <p:spPr>
            <a:xfrm>
              <a:off x="3502256" y="4688234"/>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37" name="矩形 36"/>
            <p:cNvSpPr/>
            <p:nvPr/>
          </p:nvSpPr>
          <p:spPr>
            <a:xfrm>
              <a:off x="3708900" y="4688234"/>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38" name="矩形 37"/>
            <p:cNvSpPr/>
            <p:nvPr/>
          </p:nvSpPr>
          <p:spPr>
            <a:xfrm>
              <a:off x="3900046" y="4688234"/>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40" name="矩形 39"/>
            <p:cNvSpPr/>
            <p:nvPr/>
          </p:nvSpPr>
          <p:spPr>
            <a:xfrm>
              <a:off x="4119607" y="4688234"/>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41" name="矩形 40"/>
            <p:cNvSpPr/>
            <p:nvPr/>
          </p:nvSpPr>
          <p:spPr>
            <a:xfrm>
              <a:off x="4326251" y="4688234"/>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42" name="矩形 41"/>
            <p:cNvSpPr/>
            <p:nvPr/>
          </p:nvSpPr>
          <p:spPr>
            <a:xfrm>
              <a:off x="4532895" y="4688234"/>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cxnSp>
          <p:nvCxnSpPr>
            <p:cNvPr id="43" name="直接连接符 42"/>
            <p:cNvCxnSpPr>
              <a:stCxn id="22" idx="2"/>
              <a:endCxn id="30" idx="0"/>
            </p:cNvCxnSpPr>
            <p:nvPr/>
          </p:nvCxnSpPr>
          <p:spPr>
            <a:xfrm flipH="1">
              <a:off x="2912030" y="4504839"/>
              <a:ext cx="215685" cy="183395"/>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4" name="直接连接符 43"/>
            <p:cNvCxnSpPr>
              <a:stCxn id="22" idx="2"/>
              <a:endCxn id="31" idx="0"/>
            </p:cNvCxnSpPr>
            <p:nvPr/>
          </p:nvCxnSpPr>
          <p:spPr>
            <a:xfrm flipH="1">
              <a:off x="3126423" y="4504839"/>
              <a:ext cx="1292" cy="183395"/>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5" name="直接连接符 44"/>
            <p:cNvCxnSpPr>
              <a:stCxn id="22" idx="2"/>
              <a:endCxn id="32" idx="0"/>
            </p:cNvCxnSpPr>
            <p:nvPr/>
          </p:nvCxnSpPr>
          <p:spPr>
            <a:xfrm>
              <a:off x="3127715" y="4504839"/>
              <a:ext cx="197603" cy="183395"/>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6" name="直接连接符 45"/>
            <p:cNvCxnSpPr>
              <a:stCxn id="23" idx="2"/>
              <a:endCxn id="36" idx="0"/>
            </p:cNvCxnSpPr>
            <p:nvPr/>
          </p:nvCxnSpPr>
          <p:spPr>
            <a:xfrm flipH="1">
              <a:off x="3537127" y="4499672"/>
              <a:ext cx="210519" cy="188562"/>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7" name="直接连接符 46"/>
            <p:cNvCxnSpPr>
              <a:stCxn id="23" idx="2"/>
              <a:endCxn id="37" idx="0"/>
            </p:cNvCxnSpPr>
            <p:nvPr/>
          </p:nvCxnSpPr>
          <p:spPr>
            <a:xfrm flipH="1">
              <a:off x="3743771" y="4499672"/>
              <a:ext cx="3875" cy="188562"/>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8" name="直接连接符 47"/>
            <p:cNvCxnSpPr>
              <a:stCxn id="23" idx="2"/>
              <a:endCxn id="38" idx="0"/>
            </p:cNvCxnSpPr>
            <p:nvPr/>
          </p:nvCxnSpPr>
          <p:spPr>
            <a:xfrm>
              <a:off x="3747646" y="4499672"/>
              <a:ext cx="187271" cy="188562"/>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9" name="直接连接符 48"/>
            <p:cNvCxnSpPr>
              <a:stCxn id="24" idx="2"/>
              <a:endCxn id="40" idx="0"/>
            </p:cNvCxnSpPr>
            <p:nvPr/>
          </p:nvCxnSpPr>
          <p:spPr>
            <a:xfrm flipH="1">
              <a:off x="4154478" y="4494505"/>
              <a:ext cx="202769" cy="193729"/>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4" name="直接连接符 63"/>
            <p:cNvCxnSpPr>
              <a:stCxn id="24" idx="2"/>
              <a:endCxn id="41" idx="0"/>
            </p:cNvCxnSpPr>
            <p:nvPr/>
          </p:nvCxnSpPr>
          <p:spPr>
            <a:xfrm>
              <a:off x="4357247" y="4494505"/>
              <a:ext cx="3875" cy="193729"/>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5" name="直接连接符 64"/>
            <p:cNvCxnSpPr>
              <a:stCxn id="24" idx="2"/>
              <a:endCxn id="42" idx="0"/>
            </p:cNvCxnSpPr>
            <p:nvPr/>
          </p:nvCxnSpPr>
          <p:spPr>
            <a:xfrm>
              <a:off x="4357247" y="4494505"/>
              <a:ext cx="210519" cy="193729"/>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70" name="矩形 69"/>
            <p:cNvSpPr/>
            <p:nvPr/>
          </p:nvSpPr>
          <p:spPr>
            <a:xfrm>
              <a:off x="3721817" y="5236918"/>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71" name="矩形 70"/>
            <p:cNvSpPr/>
            <p:nvPr/>
          </p:nvSpPr>
          <p:spPr>
            <a:xfrm>
              <a:off x="3104468" y="5660538"/>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72" name="矩形 71"/>
            <p:cNvSpPr/>
            <p:nvPr/>
          </p:nvSpPr>
          <p:spPr>
            <a:xfrm>
              <a:off x="3724399" y="5655371"/>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73" name="矩形 72"/>
            <p:cNvSpPr/>
            <p:nvPr/>
          </p:nvSpPr>
          <p:spPr>
            <a:xfrm>
              <a:off x="4334000" y="5650204"/>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cxnSp>
          <p:nvCxnSpPr>
            <p:cNvPr id="74" name="直接连接符 73"/>
            <p:cNvCxnSpPr>
              <a:stCxn id="70" idx="2"/>
              <a:endCxn id="71" idx="0"/>
            </p:cNvCxnSpPr>
            <p:nvPr/>
          </p:nvCxnSpPr>
          <p:spPr>
            <a:xfrm flipH="1">
              <a:off x="3139339" y="5407400"/>
              <a:ext cx="617349" cy="253138"/>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5" name="直接连接符 74"/>
            <p:cNvCxnSpPr>
              <a:stCxn id="70" idx="2"/>
              <a:endCxn id="72" idx="0"/>
            </p:cNvCxnSpPr>
            <p:nvPr/>
          </p:nvCxnSpPr>
          <p:spPr>
            <a:xfrm>
              <a:off x="3756688" y="5407400"/>
              <a:ext cx="2582" cy="247971"/>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6" name="直接连接符 75"/>
            <p:cNvCxnSpPr>
              <a:stCxn id="70" idx="2"/>
              <a:endCxn id="73" idx="0"/>
            </p:cNvCxnSpPr>
            <p:nvPr/>
          </p:nvCxnSpPr>
          <p:spPr>
            <a:xfrm>
              <a:off x="3756688" y="5407400"/>
              <a:ext cx="612183" cy="242804"/>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77" name="矩形 76"/>
            <p:cNvSpPr/>
            <p:nvPr/>
          </p:nvSpPr>
          <p:spPr>
            <a:xfrm>
              <a:off x="2888783" y="6014415"/>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78" name="矩形 77"/>
            <p:cNvSpPr/>
            <p:nvPr/>
          </p:nvSpPr>
          <p:spPr>
            <a:xfrm>
              <a:off x="3103176" y="6014415"/>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79" name="矩形 78"/>
            <p:cNvSpPr/>
            <p:nvPr/>
          </p:nvSpPr>
          <p:spPr>
            <a:xfrm>
              <a:off x="3302071" y="6014415"/>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80" name="矩形 79"/>
            <p:cNvSpPr/>
            <p:nvPr/>
          </p:nvSpPr>
          <p:spPr>
            <a:xfrm>
              <a:off x="3513880" y="6014415"/>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81" name="矩形 80"/>
            <p:cNvSpPr/>
            <p:nvPr/>
          </p:nvSpPr>
          <p:spPr>
            <a:xfrm>
              <a:off x="3720524" y="6014415"/>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82" name="矩形 81"/>
            <p:cNvSpPr/>
            <p:nvPr/>
          </p:nvSpPr>
          <p:spPr>
            <a:xfrm>
              <a:off x="3911670" y="6014415"/>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83" name="矩形 82"/>
            <p:cNvSpPr/>
            <p:nvPr/>
          </p:nvSpPr>
          <p:spPr>
            <a:xfrm>
              <a:off x="4131231" y="6014415"/>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84" name="矩形 83"/>
            <p:cNvSpPr/>
            <p:nvPr/>
          </p:nvSpPr>
          <p:spPr>
            <a:xfrm>
              <a:off x="4337875" y="6014415"/>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85" name="矩形 84"/>
            <p:cNvSpPr/>
            <p:nvPr/>
          </p:nvSpPr>
          <p:spPr>
            <a:xfrm>
              <a:off x="4544519" y="6014415"/>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cxnSp>
          <p:nvCxnSpPr>
            <p:cNvPr id="86" name="直接连接符 85"/>
            <p:cNvCxnSpPr>
              <a:stCxn id="71" idx="2"/>
              <a:endCxn id="77" idx="0"/>
            </p:cNvCxnSpPr>
            <p:nvPr/>
          </p:nvCxnSpPr>
          <p:spPr>
            <a:xfrm flipH="1">
              <a:off x="2923654" y="5831020"/>
              <a:ext cx="215685" cy="183395"/>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7" name="直接连接符 86"/>
            <p:cNvCxnSpPr>
              <a:stCxn id="71" idx="2"/>
              <a:endCxn id="78" idx="0"/>
            </p:cNvCxnSpPr>
            <p:nvPr/>
          </p:nvCxnSpPr>
          <p:spPr>
            <a:xfrm flipH="1">
              <a:off x="3138047" y="5831020"/>
              <a:ext cx="1292" cy="183395"/>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8" name="直接连接符 87"/>
            <p:cNvCxnSpPr>
              <a:stCxn id="71" idx="2"/>
              <a:endCxn id="79" idx="0"/>
            </p:cNvCxnSpPr>
            <p:nvPr/>
          </p:nvCxnSpPr>
          <p:spPr>
            <a:xfrm>
              <a:off x="3139339" y="5831020"/>
              <a:ext cx="197603" cy="183395"/>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9" name="直接连接符 88"/>
            <p:cNvCxnSpPr>
              <a:stCxn id="72" idx="2"/>
              <a:endCxn id="80" idx="0"/>
            </p:cNvCxnSpPr>
            <p:nvPr/>
          </p:nvCxnSpPr>
          <p:spPr>
            <a:xfrm flipH="1">
              <a:off x="3548751" y="5825853"/>
              <a:ext cx="210519" cy="188562"/>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0" name="直接连接符 89"/>
            <p:cNvCxnSpPr>
              <a:stCxn id="72" idx="2"/>
              <a:endCxn id="81" idx="0"/>
            </p:cNvCxnSpPr>
            <p:nvPr/>
          </p:nvCxnSpPr>
          <p:spPr>
            <a:xfrm flipH="1">
              <a:off x="3755395" y="5825853"/>
              <a:ext cx="3875" cy="188562"/>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1" name="直接连接符 90"/>
            <p:cNvCxnSpPr>
              <a:stCxn id="72" idx="2"/>
              <a:endCxn id="82" idx="0"/>
            </p:cNvCxnSpPr>
            <p:nvPr/>
          </p:nvCxnSpPr>
          <p:spPr>
            <a:xfrm>
              <a:off x="3759270" y="5825853"/>
              <a:ext cx="187271" cy="188562"/>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2" name="直接连接符 91"/>
            <p:cNvCxnSpPr>
              <a:stCxn id="73" idx="2"/>
              <a:endCxn id="83" idx="0"/>
            </p:cNvCxnSpPr>
            <p:nvPr/>
          </p:nvCxnSpPr>
          <p:spPr>
            <a:xfrm flipH="1">
              <a:off x="4166102" y="5820686"/>
              <a:ext cx="202769" cy="193729"/>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3" name="直接连接符 92"/>
            <p:cNvCxnSpPr>
              <a:stCxn id="73" idx="2"/>
              <a:endCxn id="84" idx="0"/>
            </p:cNvCxnSpPr>
            <p:nvPr/>
          </p:nvCxnSpPr>
          <p:spPr>
            <a:xfrm>
              <a:off x="4368871" y="5820686"/>
              <a:ext cx="3875" cy="193729"/>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4" name="直接连接符 93"/>
            <p:cNvCxnSpPr>
              <a:stCxn id="73" idx="2"/>
              <a:endCxn id="85" idx="0"/>
            </p:cNvCxnSpPr>
            <p:nvPr/>
          </p:nvCxnSpPr>
          <p:spPr>
            <a:xfrm>
              <a:off x="4368871" y="5820686"/>
              <a:ext cx="210519" cy="193729"/>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95" name="矩形 94"/>
            <p:cNvSpPr/>
            <p:nvPr/>
          </p:nvSpPr>
          <p:spPr>
            <a:xfrm>
              <a:off x="4922935" y="5660538"/>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96" name="矩形 95"/>
            <p:cNvSpPr/>
            <p:nvPr/>
          </p:nvSpPr>
          <p:spPr>
            <a:xfrm>
              <a:off x="4720166" y="6024749"/>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97" name="矩形 96"/>
            <p:cNvSpPr/>
            <p:nvPr/>
          </p:nvSpPr>
          <p:spPr>
            <a:xfrm>
              <a:off x="4926810" y="6024749"/>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98" name="矩形 97"/>
            <p:cNvSpPr/>
            <p:nvPr/>
          </p:nvSpPr>
          <p:spPr>
            <a:xfrm>
              <a:off x="5133454" y="6024749"/>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cxnSp>
          <p:nvCxnSpPr>
            <p:cNvPr id="99" name="直接连接符 98"/>
            <p:cNvCxnSpPr>
              <a:stCxn id="95" idx="2"/>
              <a:endCxn id="96" idx="0"/>
            </p:cNvCxnSpPr>
            <p:nvPr/>
          </p:nvCxnSpPr>
          <p:spPr>
            <a:xfrm flipH="1">
              <a:off x="4755037" y="5831020"/>
              <a:ext cx="202769" cy="193729"/>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0" name="直接连接符 99"/>
            <p:cNvCxnSpPr>
              <a:stCxn id="95" idx="2"/>
              <a:endCxn id="97" idx="0"/>
            </p:cNvCxnSpPr>
            <p:nvPr/>
          </p:nvCxnSpPr>
          <p:spPr>
            <a:xfrm>
              <a:off x="4957806" y="5831020"/>
              <a:ext cx="3875" cy="193729"/>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1" name="直接连接符 100"/>
            <p:cNvCxnSpPr>
              <a:stCxn id="95" idx="2"/>
              <a:endCxn id="98" idx="0"/>
            </p:cNvCxnSpPr>
            <p:nvPr/>
          </p:nvCxnSpPr>
          <p:spPr>
            <a:xfrm>
              <a:off x="4957806" y="5831020"/>
              <a:ext cx="210519" cy="193729"/>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02" name="矩形 101"/>
            <p:cNvSpPr/>
            <p:nvPr/>
          </p:nvSpPr>
          <p:spPr>
            <a:xfrm>
              <a:off x="5532535" y="5660538"/>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03" name="矩形 102"/>
            <p:cNvSpPr/>
            <p:nvPr/>
          </p:nvSpPr>
          <p:spPr>
            <a:xfrm>
              <a:off x="5329766" y="6024749"/>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04" name="矩形 103"/>
            <p:cNvSpPr/>
            <p:nvPr/>
          </p:nvSpPr>
          <p:spPr>
            <a:xfrm>
              <a:off x="5536410" y="6024749"/>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05" name="矩形 104"/>
            <p:cNvSpPr/>
            <p:nvPr/>
          </p:nvSpPr>
          <p:spPr>
            <a:xfrm>
              <a:off x="5743054" y="6024749"/>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cxnSp>
          <p:nvCxnSpPr>
            <p:cNvPr id="106" name="直接连接符 105"/>
            <p:cNvCxnSpPr>
              <a:stCxn id="102" idx="2"/>
              <a:endCxn id="103" idx="0"/>
            </p:cNvCxnSpPr>
            <p:nvPr/>
          </p:nvCxnSpPr>
          <p:spPr>
            <a:xfrm flipH="1">
              <a:off x="5364637" y="5831020"/>
              <a:ext cx="202769" cy="193729"/>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7" name="直接连接符 106"/>
            <p:cNvCxnSpPr>
              <a:stCxn id="102" idx="2"/>
              <a:endCxn id="104" idx="0"/>
            </p:cNvCxnSpPr>
            <p:nvPr/>
          </p:nvCxnSpPr>
          <p:spPr>
            <a:xfrm>
              <a:off x="5567406" y="5831020"/>
              <a:ext cx="3875" cy="193729"/>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8" name="直接连接符 107"/>
            <p:cNvCxnSpPr>
              <a:stCxn id="102" idx="2"/>
              <a:endCxn id="105" idx="0"/>
            </p:cNvCxnSpPr>
            <p:nvPr/>
          </p:nvCxnSpPr>
          <p:spPr>
            <a:xfrm>
              <a:off x="5567406" y="5831020"/>
              <a:ext cx="210519" cy="193729"/>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09" name="矩形 108"/>
            <p:cNvSpPr/>
            <p:nvPr/>
          </p:nvSpPr>
          <p:spPr>
            <a:xfrm>
              <a:off x="2463872" y="5660538"/>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10" name="矩形 109"/>
            <p:cNvSpPr/>
            <p:nvPr/>
          </p:nvSpPr>
          <p:spPr>
            <a:xfrm>
              <a:off x="2261103" y="6024749"/>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11" name="矩形 110"/>
            <p:cNvSpPr/>
            <p:nvPr/>
          </p:nvSpPr>
          <p:spPr>
            <a:xfrm>
              <a:off x="2467747" y="6024749"/>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12" name="矩形 111"/>
            <p:cNvSpPr/>
            <p:nvPr/>
          </p:nvSpPr>
          <p:spPr>
            <a:xfrm>
              <a:off x="2674391" y="6024749"/>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cxnSp>
          <p:nvCxnSpPr>
            <p:cNvPr id="113" name="直接连接符 112"/>
            <p:cNvCxnSpPr>
              <a:stCxn id="109" idx="2"/>
              <a:endCxn id="110" idx="0"/>
            </p:cNvCxnSpPr>
            <p:nvPr/>
          </p:nvCxnSpPr>
          <p:spPr>
            <a:xfrm flipH="1">
              <a:off x="2295974" y="5831020"/>
              <a:ext cx="202769" cy="193729"/>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4" name="直接连接符 113"/>
            <p:cNvCxnSpPr>
              <a:stCxn id="109" idx="2"/>
              <a:endCxn id="111" idx="0"/>
            </p:cNvCxnSpPr>
            <p:nvPr/>
          </p:nvCxnSpPr>
          <p:spPr>
            <a:xfrm>
              <a:off x="2498743" y="5831020"/>
              <a:ext cx="3875" cy="193729"/>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5" name="直接连接符 114"/>
            <p:cNvCxnSpPr>
              <a:stCxn id="109" idx="2"/>
              <a:endCxn id="112" idx="0"/>
            </p:cNvCxnSpPr>
            <p:nvPr/>
          </p:nvCxnSpPr>
          <p:spPr>
            <a:xfrm>
              <a:off x="2498743" y="5831020"/>
              <a:ext cx="210519" cy="193729"/>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16" name="矩形 115"/>
            <p:cNvSpPr/>
            <p:nvPr/>
          </p:nvSpPr>
          <p:spPr>
            <a:xfrm>
              <a:off x="1890434" y="5660538"/>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17" name="矩形 116"/>
            <p:cNvSpPr/>
            <p:nvPr/>
          </p:nvSpPr>
          <p:spPr>
            <a:xfrm>
              <a:off x="1687665" y="6024749"/>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18" name="矩形 117"/>
            <p:cNvSpPr/>
            <p:nvPr/>
          </p:nvSpPr>
          <p:spPr>
            <a:xfrm>
              <a:off x="1894309" y="6024749"/>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19" name="矩形 118"/>
            <p:cNvSpPr/>
            <p:nvPr/>
          </p:nvSpPr>
          <p:spPr>
            <a:xfrm>
              <a:off x="2100953" y="6024749"/>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cxnSp>
          <p:nvCxnSpPr>
            <p:cNvPr id="120" name="直接连接符 119"/>
            <p:cNvCxnSpPr>
              <a:stCxn id="116" idx="2"/>
              <a:endCxn id="117" idx="0"/>
            </p:cNvCxnSpPr>
            <p:nvPr/>
          </p:nvCxnSpPr>
          <p:spPr>
            <a:xfrm flipH="1">
              <a:off x="1722536" y="5831020"/>
              <a:ext cx="202769" cy="193729"/>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1" name="直接连接符 120"/>
            <p:cNvCxnSpPr>
              <a:stCxn id="116" idx="2"/>
              <a:endCxn id="118" idx="0"/>
            </p:cNvCxnSpPr>
            <p:nvPr/>
          </p:nvCxnSpPr>
          <p:spPr>
            <a:xfrm>
              <a:off x="1925305" y="5831020"/>
              <a:ext cx="3875" cy="193729"/>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2" name="直接连接符 121"/>
            <p:cNvCxnSpPr>
              <a:stCxn id="116" idx="2"/>
              <a:endCxn id="119" idx="0"/>
            </p:cNvCxnSpPr>
            <p:nvPr/>
          </p:nvCxnSpPr>
          <p:spPr>
            <a:xfrm>
              <a:off x="1925305" y="5831020"/>
              <a:ext cx="210519" cy="193729"/>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3" name="直接连接符 122"/>
            <p:cNvCxnSpPr>
              <a:stCxn id="70" idx="2"/>
              <a:endCxn id="109" idx="0"/>
            </p:cNvCxnSpPr>
            <p:nvPr/>
          </p:nvCxnSpPr>
          <p:spPr>
            <a:xfrm flipH="1">
              <a:off x="2498743" y="5407400"/>
              <a:ext cx="1257945" cy="253138"/>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6" name="直接连接符 125"/>
            <p:cNvCxnSpPr>
              <a:stCxn id="70" idx="2"/>
              <a:endCxn id="116" idx="0"/>
            </p:cNvCxnSpPr>
            <p:nvPr/>
          </p:nvCxnSpPr>
          <p:spPr>
            <a:xfrm flipH="1">
              <a:off x="1925305" y="5407400"/>
              <a:ext cx="1831383" cy="253138"/>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9" name="直接连接符 128"/>
            <p:cNvCxnSpPr>
              <a:stCxn id="70" idx="2"/>
              <a:endCxn id="95" idx="0"/>
            </p:cNvCxnSpPr>
            <p:nvPr/>
          </p:nvCxnSpPr>
          <p:spPr>
            <a:xfrm>
              <a:off x="3756688" y="5407400"/>
              <a:ext cx="1201118" cy="253138"/>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2" name="直接连接符 131"/>
            <p:cNvCxnSpPr>
              <a:stCxn id="70" idx="2"/>
              <a:endCxn id="102" idx="0"/>
            </p:cNvCxnSpPr>
            <p:nvPr/>
          </p:nvCxnSpPr>
          <p:spPr>
            <a:xfrm>
              <a:off x="3756688" y="5407400"/>
              <a:ext cx="1810718" cy="253138"/>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611494" y="2961489"/>
              <a:ext cx="386644" cy="369332"/>
            </a:xfrm>
            <a:prstGeom prst="rect">
              <a:avLst/>
            </a:prstGeom>
            <a:noFill/>
          </p:spPr>
          <p:txBody>
            <a:bodyPr wrap="none" rtlCol="0">
              <a:spAutoFit/>
            </a:bodyPr>
            <a:lstStyle/>
            <a:p>
              <a:r>
                <a:rPr lang="en-US" altLang="zh-CN" dirty="0" smtClean="0"/>
                <a:t>C</a:t>
              </a:r>
              <a:r>
                <a:rPr lang="en-US" altLang="zh-CN" baseline="-25000" dirty="0" smtClean="0"/>
                <a:t>0</a:t>
              </a:r>
              <a:endParaRPr lang="zh-CN" altLang="en-US" dirty="0"/>
            </a:p>
          </p:txBody>
        </p:sp>
        <p:sp>
          <p:nvSpPr>
            <p:cNvPr id="136" name="TextBox 135"/>
            <p:cNvSpPr txBox="1"/>
            <p:nvPr/>
          </p:nvSpPr>
          <p:spPr>
            <a:xfrm>
              <a:off x="611493" y="3811312"/>
              <a:ext cx="386644" cy="369332"/>
            </a:xfrm>
            <a:prstGeom prst="rect">
              <a:avLst/>
            </a:prstGeom>
            <a:noFill/>
          </p:spPr>
          <p:txBody>
            <a:bodyPr wrap="none" rtlCol="0">
              <a:spAutoFit/>
            </a:bodyPr>
            <a:lstStyle/>
            <a:p>
              <a:r>
                <a:rPr lang="en-US" altLang="zh-CN" dirty="0" smtClean="0"/>
                <a:t>C</a:t>
              </a:r>
              <a:r>
                <a:rPr lang="en-US" altLang="zh-CN" baseline="-25000" dirty="0" smtClean="0"/>
                <a:t>1</a:t>
              </a:r>
              <a:endParaRPr lang="zh-CN" altLang="en-US" dirty="0"/>
            </a:p>
          </p:txBody>
        </p:sp>
        <p:sp>
          <p:nvSpPr>
            <p:cNvPr id="137" name="TextBox 136"/>
            <p:cNvSpPr txBox="1"/>
            <p:nvPr/>
          </p:nvSpPr>
          <p:spPr>
            <a:xfrm>
              <a:off x="593412" y="5137493"/>
              <a:ext cx="386644" cy="369332"/>
            </a:xfrm>
            <a:prstGeom prst="rect">
              <a:avLst/>
            </a:prstGeom>
            <a:noFill/>
          </p:spPr>
          <p:txBody>
            <a:bodyPr wrap="none" rtlCol="0">
              <a:spAutoFit/>
            </a:bodyPr>
            <a:lstStyle/>
            <a:p>
              <a:r>
                <a:rPr lang="en-US" altLang="zh-CN" dirty="0" smtClean="0"/>
                <a:t>C</a:t>
              </a:r>
              <a:r>
                <a:rPr lang="en-US" altLang="zh-CN" baseline="-25000" dirty="0"/>
                <a:t>2</a:t>
              </a:r>
              <a:endParaRPr lang="zh-CN" altLang="en-US" dirty="0"/>
            </a:p>
          </p:txBody>
        </p:sp>
        <p:sp>
          <p:nvSpPr>
            <p:cNvPr id="141" name="矩形 140"/>
            <p:cNvSpPr/>
            <p:nvPr/>
          </p:nvSpPr>
          <p:spPr>
            <a:xfrm>
              <a:off x="1245578" y="5660538"/>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42" name="矩形 141"/>
            <p:cNvSpPr/>
            <p:nvPr/>
          </p:nvSpPr>
          <p:spPr>
            <a:xfrm>
              <a:off x="1042809" y="6024749"/>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43" name="矩形 142"/>
            <p:cNvSpPr/>
            <p:nvPr/>
          </p:nvSpPr>
          <p:spPr>
            <a:xfrm>
              <a:off x="1249453" y="6024749"/>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44" name="矩形 143"/>
            <p:cNvSpPr/>
            <p:nvPr/>
          </p:nvSpPr>
          <p:spPr>
            <a:xfrm>
              <a:off x="1456097" y="6024749"/>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cxnSp>
          <p:nvCxnSpPr>
            <p:cNvPr id="145" name="直接连接符 144"/>
            <p:cNvCxnSpPr>
              <a:stCxn id="141" idx="2"/>
              <a:endCxn id="142" idx="0"/>
            </p:cNvCxnSpPr>
            <p:nvPr/>
          </p:nvCxnSpPr>
          <p:spPr>
            <a:xfrm flipH="1">
              <a:off x="1077680" y="5831020"/>
              <a:ext cx="202769" cy="193729"/>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6" name="直接连接符 145"/>
            <p:cNvCxnSpPr>
              <a:stCxn id="141" idx="2"/>
              <a:endCxn id="143" idx="0"/>
            </p:cNvCxnSpPr>
            <p:nvPr/>
          </p:nvCxnSpPr>
          <p:spPr>
            <a:xfrm>
              <a:off x="1280449" y="5831020"/>
              <a:ext cx="3875" cy="193729"/>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7" name="直接连接符 146"/>
            <p:cNvCxnSpPr>
              <a:stCxn id="141" idx="2"/>
              <a:endCxn id="144" idx="0"/>
            </p:cNvCxnSpPr>
            <p:nvPr/>
          </p:nvCxnSpPr>
          <p:spPr>
            <a:xfrm>
              <a:off x="1280449" y="5831020"/>
              <a:ext cx="210519" cy="193729"/>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48" name="矩形 147"/>
            <p:cNvSpPr/>
            <p:nvPr/>
          </p:nvSpPr>
          <p:spPr>
            <a:xfrm>
              <a:off x="6157634" y="5660538"/>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49" name="矩形 148"/>
            <p:cNvSpPr/>
            <p:nvPr/>
          </p:nvSpPr>
          <p:spPr>
            <a:xfrm>
              <a:off x="5954865" y="6024749"/>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50" name="矩形 149"/>
            <p:cNvSpPr/>
            <p:nvPr/>
          </p:nvSpPr>
          <p:spPr>
            <a:xfrm>
              <a:off x="6161509" y="6024749"/>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51" name="矩形 150"/>
            <p:cNvSpPr/>
            <p:nvPr/>
          </p:nvSpPr>
          <p:spPr>
            <a:xfrm>
              <a:off x="6368153" y="6024749"/>
              <a:ext cx="69742" cy="170482"/>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cxnSp>
          <p:nvCxnSpPr>
            <p:cNvPr id="152" name="直接连接符 151"/>
            <p:cNvCxnSpPr>
              <a:stCxn id="148" idx="2"/>
              <a:endCxn id="149" idx="0"/>
            </p:cNvCxnSpPr>
            <p:nvPr/>
          </p:nvCxnSpPr>
          <p:spPr>
            <a:xfrm flipH="1">
              <a:off x="5989736" y="5831020"/>
              <a:ext cx="202769" cy="193729"/>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3" name="直接连接符 152"/>
            <p:cNvCxnSpPr>
              <a:stCxn id="148" idx="2"/>
              <a:endCxn id="150" idx="0"/>
            </p:cNvCxnSpPr>
            <p:nvPr/>
          </p:nvCxnSpPr>
          <p:spPr>
            <a:xfrm>
              <a:off x="6192505" y="5831020"/>
              <a:ext cx="3875" cy="193729"/>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4" name="直接连接符 153"/>
            <p:cNvCxnSpPr>
              <a:stCxn id="148" idx="2"/>
              <a:endCxn id="151" idx="0"/>
            </p:cNvCxnSpPr>
            <p:nvPr/>
          </p:nvCxnSpPr>
          <p:spPr>
            <a:xfrm>
              <a:off x="6192505" y="5831020"/>
              <a:ext cx="210519" cy="193729"/>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5" name="直接连接符 154"/>
            <p:cNvCxnSpPr>
              <a:stCxn id="70" idx="2"/>
              <a:endCxn id="148" idx="0"/>
            </p:cNvCxnSpPr>
            <p:nvPr/>
          </p:nvCxnSpPr>
          <p:spPr>
            <a:xfrm>
              <a:off x="3756688" y="5407400"/>
              <a:ext cx="2435817" cy="253138"/>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8" name="直接连接符 157"/>
            <p:cNvCxnSpPr>
              <a:stCxn id="70" idx="2"/>
              <a:endCxn id="141" idx="0"/>
            </p:cNvCxnSpPr>
            <p:nvPr/>
          </p:nvCxnSpPr>
          <p:spPr>
            <a:xfrm flipH="1">
              <a:off x="1280449" y="5407400"/>
              <a:ext cx="2476239" cy="253138"/>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9" name="梯形 8"/>
          <p:cNvSpPr/>
          <p:nvPr/>
        </p:nvSpPr>
        <p:spPr>
          <a:xfrm>
            <a:off x="5965338" y="3857918"/>
            <a:ext cx="2070027" cy="685541"/>
          </a:xfrm>
          <a:prstGeom prst="trapezoid">
            <a:avLst>
              <a:gd name="adj" fmla="val 124747"/>
            </a:avLst>
          </a:prstGeom>
          <a:solidFill>
            <a:schemeClr val="bg1">
              <a:lumMod val="75000"/>
            </a:schemeClr>
          </a:solidFill>
          <a:ln w="9525" cap="flat" cmpd="sng">
            <a:noFill/>
            <a:prstDash val="lgDashDotDot"/>
            <a:miter lim="800000"/>
            <a:headEnd/>
            <a:tailEnd/>
          </a:ln>
          <a:effectLst/>
        </p:spPr>
        <p:txBody>
          <a:bodyPr wrap="none" anchor="ctr"/>
          <a:lstStyle/>
          <a:p>
            <a:pPr algn="ctr"/>
            <a:endParaRPr lang="zh-CN" altLang="en-US">
              <a:solidFill>
                <a:prstClr val="black"/>
              </a:solidFill>
            </a:endParaRPr>
          </a:p>
        </p:txBody>
      </p:sp>
      <p:sp>
        <p:nvSpPr>
          <p:cNvPr id="131" name="AutoShape 4"/>
          <p:cNvSpPr>
            <a:spLocks noChangeArrowheads="1"/>
          </p:cNvSpPr>
          <p:nvPr/>
        </p:nvSpPr>
        <p:spPr bwMode="auto">
          <a:xfrm>
            <a:off x="6812758" y="3636965"/>
            <a:ext cx="358303" cy="130192"/>
          </a:xfrm>
          <a:prstGeom prst="triangle">
            <a:avLst>
              <a:gd name="adj" fmla="val 50000"/>
            </a:avLst>
          </a:prstGeom>
          <a:solidFill>
            <a:schemeClr val="bg1">
              <a:lumMod val="75000"/>
            </a:schemeClr>
          </a:solidFill>
          <a:ln w="9525" cap="flat" cmpd="sng">
            <a:noFill/>
            <a:prstDash val="lgDashDotDot"/>
            <a:miter lim="800000"/>
            <a:headEnd/>
            <a:tailEnd/>
          </a:ln>
          <a:effectLst/>
          <a:extLst/>
        </p:spPr>
        <p:txBody>
          <a:bodyPr wrap="none" anchor="ctr"/>
          <a:lstStyle/>
          <a:p>
            <a:pPr algn="ctr"/>
            <a:endParaRPr lang="en-US" altLang="zh-CN" dirty="0">
              <a:solidFill>
                <a:prstClr val="black"/>
              </a:solidFill>
            </a:endParaRPr>
          </a:p>
          <a:p>
            <a:pPr algn="ctr"/>
            <a:endParaRPr lang="en-US" altLang="zh-CN" dirty="0">
              <a:solidFill>
                <a:prstClr val="black"/>
              </a:solidFill>
            </a:endParaRPr>
          </a:p>
          <a:p>
            <a:pPr algn="ctr"/>
            <a:endParaRPr lang="en-US" altLang="zh-CN" dirty="0">
              <a:solidFill>
                <a:prstClr val="black"/>
              </a:solidFill>
            </a:endParaRPr>
          </a:p>
          <a:p>
            <a:pPr algn="ctr"/>
            <a:endParaRPr lang="en-US" altLang="zh-CN" dirty="0">
              <a:solidFill>
                <a:prstClr val="black"/>
              </a:solidFill>
            </a:endParaRPr>
          </a:p>
          <a:p>
            <a:pPr algn="ctr"/>
            <a:endParaRPr lang="en-US" altLang="zh-CN" dirty="0">
              <a:solidFill>
                <a:prstClr val="black"/>
              </a:solidFill>
            </a:endParaRPr>
          </a:p>
          <a:p>
            <a:pPr algn="ctr"/>
            <a:endParaRPr lang="en-US" altLang="zh-CN" dirty="0">
              <a:solidFill>
                <a:prstClr val="black"/>
              </a:solidFill>
            </a:endParaRPr>
          </a:p>
          <a:p>
            <a:pPr algn="ctr"/>
            <a:endParaRPr lang="en-US" altLang="zh-CN" dirty="0">
              <a:solidFill>
                <a:prstClr val="black"/>
              </a:solidFill>
            </a:endParaRPr>
          </a:p>
          <a:p>
            <a:pPr algn="ctr"/>
            <a:endParaRPr lang="en-US" altLang="zh-CN" dirty="0">
              <a:solidFill>
                <a:prstClr val="black"/>
              </a:solidFill>
            </a:endParaRPr>
          </a:p>
        </p:txBody>
      </p:sp>
      <p:sp>
        <p:nvSpPr>
          <p:cNvPr id="133" name="Rectangle 9"/>
          <p:cNvSpPr>
            <a:spLocks noChangeArrowheads="1"/>
          </p:cNvSpPr>
          <p:nvPr/>
        </p:nvSpPr>
        <p:spPr bwMode="auto">
          <a:xfrm>
            <a:off x="6265330" y="4365662"/>
            <a:ext cx="1463040" cy="91440"/>
          </a:xfrm>
          <a:prstGeom prst="rect">
            <a:avLst/>
          </a:prstGeom>
          <a:solidFill>
            <a:srgbClr val="000080"/>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ndParaRPr>
          </a:p>
        </p:txBody>
      </p:sp>
      <p:sp>
        <p:nvSpPr>
          <p:cNvPr id="134" name="Rectangle 10"/>
          <p:cNvSpPr>
            <a:spLocks noChangeArrowheads="1"/>
          </p:cNvSpPr>
          <p:nvPr/>
        </p:nvSpPr>
        <p:spPr bwMode="auto">
          <a:xfrm>
            <a:off x="6636533" y="3999902"/>
            <a:ext cx="731520" cy="91440"/>
          </a:xfrm>
          <a:prstGeom prst="rect">
            <a:avLst/>
          </a:prstGeom>
          <a:solidFill>
            <a:srgbClr val="000080"/>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ndParaRPr>
          </a:p>
        </p:txBody>
      </p:sp>
      <p:sp>
        <p:nvSpPr>
          <p:cNvPr id="138" name="Rectangle 16"/>
          <p:cNvSpPr>
            <a:spLocks noChangeArrowheads="1"/>
          </p:cNvSpPr>
          <p:nvPr/>
        </p:nvSpPr>
        <p:spPr bwMode="auto">
          <a:xfrm>
            <a:off x="6905410" y="3677489"/>
            <a:ext cx="182880" cy="89668"/>
          </a:xfrm>
          <a:prstGeom prst="rect">
            <a:avLst/>
          </a:prstGeom>
          <a:solidFill>
            <a:srgbClr val="FFFF00"/>
          </a:solidFill>
          <a:ln w="9525" cap="flat" cmpd="sng">
            <a:solidFill>
              <a:schemeClr val="tx1"/>
            </a:solidFill>
            <a:miter lim="800000"/>
            <a:headEnd/>
            <a:tailEnd/>
          </a:ln>
          <a:effectLst/>
          <a:extLst/>
        </p:spPr>
        <p:txBody>
          <a:bodyPr wrap="none" anchor="ctr"/>
          <a:lstStyle/>
          <a:p>
            <a:endParaRPr lang="zh-CN" altLang="en-US">
              <a:solidFill>
                <a:prstClr val="black"/>
              </a:solidFill>
            </a:endParaRPr>
          </a:p>
        </p:txBody>
      </p:sp>
      <p:sp>
        <p:nvSpPr>
          <p:cNvPr id="170" name="TextBox 169"/>
          <p:cNvSpPr txBox="1"/>
          <p:nvPr/>
        </p:nvSpPr>
        <p:spPr>
          <a:xfrm>
            <a:off x="7168657" y="3599906"/>
            <a:ext cx="157094" cy="215444"/>
          </a:xfrm>
          <a:prstGeom prst="rect">
            <a:avLst/>
          </a:prstGeom>
          <a:noFill/>
        </p:spPr>
        <p:txBody>
          <a:bodyPr wrap="none" lIns="0" tIns="0" rIns="0" bIns="0" rtlCol="0">
            <a:spAutoFit/>
          </a:bodyPr>
          <a:lstStyle/>
          <a:p>
            <a:r>
              <a:rPr lang="en-US" altLang="zh-CN" sz="1400" dirty="0" smtClean="0"/>
              <a:t>C</a:t>
            </a:r>
            <a:r>
              <a:rPr lang="en-US" altLang="zh-CN" sz="1400" baseline="-25000" dirty="0" smtClean="0"/>
              <a:t>0</a:t>
            </a:r>
            <a:endParaRPr lang="zh-CN" altLang="en-US" sz="1400" baseline="-25000" dirty="0"/>
          </a:p>
        </p:txBody>
      </p:sp>
      <p:sp>
        <p:nvSpPr>
          <p:cNvPr id="171" name="TextBox 170"/>
          <p:cNvSpPr txBox="1"/>
          <p:nvPr/>
        </p:nvSpPr>
        <p:spPr>
          <a:xfrm>
            <a:off x="7429162" y="3901956"/>
            <a:ext cx="157094" cy="215444"/>
          </a:xfrm>
          <a:prstGeom prst="rect">
            <a:avLst/>
          </a:prstGeom>
          <a:noFill/>
        </p:spPr>
        <p:txBody>
          <a:bodyPr wrap="none" lIns="0" tIns="0" rIns="0" bIns="0" rtlCol="0">
            <a:spAutoFit/>
          </a:bodyPr>
          <a:lstStyle/>
          <a:p>
            <a:r>
              <a:rPr lang="en-US" altLang="zh-CN" sz="1400" dirty="0" smtClean="0"/>
              <a:t>C</a:t>
            </a:r>
            <a:r>
              <a:rPr lang="en-US" altLang="zh-CN" sz="1400" baseline="-25000" dirty="0" smtClean="0"/>
              <a:t>1</a:t>
            </a:r>
            <a:endParaRPr lang="zh-CN" altLang="en-US" sz="1400" baseline="-25000" dirty="0"/>
          </a:p>
        </p:txBody>
      </p:sp>
      <p:sp>
        <p:nvSpPr>
          <p:cNvPr id="172" name="TextBox 171"/>
          <p:cNvSpPr txBox="1"/>
          <p:nvPr/>
        </p:nvSpPr>
        <p:spPr>
          <a:xfrm>
            <a:off x="7871695" y="4296040"/>
            <a:ext cx="157094" cy="215444"/>
          </a:xfrm>
          <a:prstGeom prst="rect">
            <a:avLst/>
          </a:prstGeom>
          <a:noFill/>
        </p:spPr>
        <p:txBody>
          <a:bodyPr wrap="none" lIns="0" tIns="0" rIns="0" bIns="0" rtlCol="0">
            <a:spAutoFit/>
          </a:bodyPr>
          <a:lstStyle/>
          <a:p>
            <a:r>
              <a:rPr lang="en-US" altLang="zh-CN" sz="1400" dirty="0" smtClean="0"/>
              <a:t>C</a:t>
            </a:r>
            <a:r>
              <a:rPr lang="en-US" altLang="zh-CN" sz="1400" baseline="-25000" dirty="0" smtClean="0"/>
              <a:t>2</a:t>
            </a:r>
            <a:endParaRPr lang="zh-CN" altLang="en-US" sz="1400" baseline="-25000" dirty="0"/>
          </a:p>
        </p:txBody>
      </p:sp>
      <p:grpSp>
        <p:nvGrpSpPr>
          <p:cNvPr id="14" name="组合 13"/>
          <p:cNvGrpSpPr/>
          <p:nvPr/>
        </p:nvGrpSpPr>
        <p:grpSpPr>
          <a:xfrm>
            <a:off x="7575783" y="3113442"/>
            <a:ext cx="773607" cy="413432"/>
            <a:chOff x="7565310" y="3093397"/>
            <a:chExt cx="773607" cy="413432"/>
          </a:xfrm>
        </p:grpSpPr>
        <p:sp>
          <p:nvSpPr>
            <p:cNvPr id="191" name="Text Box 17"/>
            <p:cNvSpPr txBox="1">
              <a:spLocks noChangeArrowheads="1"/>
            </p:cNvSpPr>
            <p:nvPr/>
          </p:nvSpPr>
          <p:spPr bwMode="auto">
            <a:xfrm>
              <a:off x="7939769" y="3322163"/>
              <a:ext cx="285335" cy="1846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r>
                <a:rPr lang="en-US" altLang="zh-CN" sz="1200" dirty="0" smtClean="0">
                  <a:solidFill>
                    <a:prstClr val="black"/>
                  </a:solidFill>
                </a:rPr>
                <a:t>HDD</a:t>
              </a:r>
              <a:endParaRPr lang="zh-CN" altLang="en-US" sz="1200" dirty="0">
                <a:solidFill>
                  <a:prstClr val="black"/>
                </a:solidFill>
              </a:endParaRPr>
            </a:p>
          </p:txBody>
        </p:sp>
        <p:sp>
          <p:nvSpPr>
            <p:cNvPr id="192" name="Rectangle 10"/>
            <p:cNvSpPr>
              <a:spLocks noChangeArrowheads="1"/>
            </p:cNvSpPr>
            <p:nvPr/>
          </p:nvSpPr>
          <p:spPr bwMode="auto">
            <a:xfrm>
              <a:off x="7565310" y="3353013"/>
              <a:ext cx="274320" cy="137160"/>
            </a:xfrm>
            <a:prstGeom prst="rect">
              <a:avLst/>
            </a:prstGeom>
            <a:solidFill>
              <a:srgbClr val="002060"/>
            </a:solidFill>
            <a:ln w="9525" cap="flat" cmpd="sng">
              <a:solidFill>
                <a:schemeClr val="tx1"/>
              </a:solidFill>
              <a:miter lim="800000"/>
              <a:headEnd/>
              <a:tailEnd/>
            </a:ln>
            <a:effectLst/>
            <a:extLst/>
          </p:spPr>
          <p:txBody>
            <a:bodyPr wrap="none" anchor="ctr"/>
            <a:lstStyle/>
            <a:p>
              <a:endParaRPr lang="zh-CN" altLang="en-US" sz="1200">
                <a:solidFill>
                  <a:prstClr val="black"/>
                </a:solidFill>
              </a:endParaRPr>
            </a:p>
          </p:txBody>
        </p:sp>
        <p:sp>
          <p:nvSpPr>
            <p:cNvPr id="193" name="Text Box 17"/>
            <p:cNvSpPr txBox="1">
              <a:spLocks noChangeArrowheads="1"/>
            </p:cNvSpPr>
            <p:nvPr/>
          </p:nvSpPr>
          <p:spPr bwMode="auto">
            <a:xfrm>
              <a:off x="7939769" y="3093397"/>
              <a:ext cx="399148" cy="1846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r>
                <a:rPr lang="en-US" altLang="zh-CN" sz="1200" dirty="0" smtClean="0">
                  <a:solidFill>
                    <a:prstClr val="black"/>
                  </a:solidFill>
                </a:rPr>
                <a:t>DRAM</a:t>
              </a:r>
              <a:endParaRPr lang="zh-CN" altLang="en-US" sz="1200" dirty="0">
                <a:solidFill>
                  <a:prstClr val="black"/>
                </a:solidFill>
              </a:endParaRPr>
            </a:p>
          </p:txBody>
        </p:sp>
        <p:sp>
          <p:nvSpPr>
            <p:cNvPr id="194" name="Rectangle 16"/>
            <p:cNvSpPr>
              <a:spLocks noChangeArrowheads="1"/>
            </p:cNvSpPr>
            <p:nvPr/>
          </p:nvSpPr>
          <p:spPr bwMode="auto">
            <a:xfrm>
              <a:off x="7566515" y="3112468"/>
              <a:ext cx="274320" cy="137160"/>
            </a:xfrm>
            <a:prstGeom prst="rect">
              <a:avLst/>
            </a:prstGeom>
            <a:solidFill>
              <a:srgbClr val="FFFF00"/>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solidFill>
                  <a:prstClr val="black"/>
                </a:solidFill>
              </a:endParaRPr>
            </a:p>
          </p:txBody>
        </p:sp>
      </p:grpSp>
    </p:spTree>
    <p:extLst>
      <p:ext uri="{BB962C8B-B14F-4D97-AF65-F5344CB8AC3E}">
        <p14:creationId xmlns:p14="http://schemas.microsoft.com/office/powerpoint/2010/main" val="1691687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1"/>
                                        </p:tgtEl>
                                        <p:attrNameLst>
                                          <p:attrName>style.visibility</p:attrName>
                                        </p:attrNameLst>
                                      </p:cBhvr>
                                      <p:to>
                                        <p:strVal val="visible"/>
                                      </p:to>
                                    </p:set>
                                    <p:animEffect transition="in" filter="fade">
                                      <p:cBhvr>
                                        <p:cTn id="21" dur="500"/>
                                        <p:tgtEl>
                                          <p:spTgt spid="13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3"/>
                                        </p:tgtEl>
                                        <p:attrNameLst>
                                          <p:attrName>style.visibility</p:attrName>
                                        </p:attrNameLst>
                                      </p:cBhvr>
                                      <p:to>
                                        <p:strVal val="visible"/>
                                      </p:to>
                                    </p:set>
                                    <p:animEffect transition="in" filter="fade">
                                      <p:cBhvr>
                                        <p:cTn id="24" dur="500"/>
                                        <p:tgtEl>
                                          <p:spTgt spid="13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4"/>
                                        </p:tgtEl>
                                        <p:attrNameLst>
                                          <p:attrName>style.visibility</p:attrName>
                                        </p:attrNameLst>
                                      </p:cBhvr>
                                      <p:to>
                                        <p:strVal val="visible"/>
                                      </p:to>
                                    </p:set>
                                    <p:animEffect transition="in" filter="fade">
                                      <p:cBhvr>
                                        <p:cTn id="27" dur="500"/>
                                        <p:tgtEl>
                                          <p:spTgt spid="13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8"/>
                                        </p:tgtEl>
                                        <p:attrNameLst>
                                          <p:attrName>style.visibility</p:attrName>
                                        </p:attrNameLst>
                                      </p:cBhvr>
                                      <p:to>
                                        <p:strVal val="visible"/>
                                      </p:to>
                                    </p:set>
                                    <p:animEffect transition="in" filter="fade">
                                      <p:cBhvr>
                                        <p:cTn id="30" dur="500"/>
                                        <p:tgtEl>
                                          <p:spTgt spid="13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0"/>
                                        </p:tgtEl>
                                        <p:attrNameLst>
                                          <p:attrName>style.visibility</p:attrName>
                                        </p:attrNameLst>
                                      </p:cBhvr>
                                      <p:to>
                                        <p:strVal val="visible"/>
                                      </p:to>
                                    </p:set>
                                    <p:animEffect transition="in" filter="fade">
                                      <p:cBhvr>
                                        <p:cTn id="33" dur="500"/>
                                        <p:tgtEl>
                                          <p:spTgt spid="17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71"/>
                                        </p:tgtEl>
                                        <p:attrNameLst>
                                          <p:attrName>style.visibility</p:attrName>
                                        </p:attrNameLst>
                                      </p:cBhvr>
                                      <p:to>
                                        <p:strVal val="visible"/>
                                      </p:to>
                                    </p:set>
                                    <p:animEffect transition="in" filter="fade">
                                      <p:cBhvr>
                                        <p:cTn id="36" dur="500"/>
                                        <p:tgtEl>
                                          <p:spTgt spid="17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2"/>
                                        </p:tgtEl>
                                        <p:attrNameLst>
                                          <p:attrName>style.visibility</p:attrName>
                                        </p:attrNameLst>
                                      </p:cBhvr>
                                      <p:to>
                                        <p:strVal val="visible"/>
                                      </p:to>
                                    </p:set>
                                    <p:animEffect transition="in" filter="fade">
                                      <p:cBhvr>
                                        <p:cTn id="39" dur="500"/>
                                        <p:tgtEl>
                                          <p:spTgt spid="17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
                                            <p:txEl>
                                              <p:pRg st="3" end="3"/>
                                            </p:txEl>
                                          </p:spTgt>
                                        </p:tgtEl>
                                        <p:attrNameLst>
                                          <p:attrName>style.visibility</p:attrName>
                                        </p:attrNameLst>
                                      </p:cBhvr>
                                      <p:to>
                                        <p:strVal val="visible"/>
                                      </p:to>
                                    </p:set>
                                    <p:animEffect transition="in" filter="fade">
                                      <p:cBhvr>
                                        <p:cTn id="44" dur="500"/>
                                        <p:tgtEl>
                                          <p:spTgt spid="3">
                                            <p:txEl>
                                              <p:pRg st="3" end="3"/>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1" grpId="0" animBg="1"/>
      <p:bldP spid="133" grpId="0" animBg="1"/>
      <p:bldP spid="134" grpId="0" animBg="1"/>
      <p:bldP spid="138" grpId="0" animBg="1"/>
      <p:bldP spid="170" grpId="0"/>
      <p:bldP spid="171" grpId="0"/>
      <p:bldP spid="172" grpId="0"/>
    </p:bld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文本框 1"/>
          <p:cNvSpPr txBox="1"/>
          <p:nvPr/>
        </p:nvSpPr>
        <p:spPr>
          <a:xfrm>
            <a:off x="2554943" y="753036"/>
            <a:ext cx="3541058" cy="400110"/>
          </a:xfrm>
          <a:prstGeom prst="rect">
            <a:avLst/>
          </a:prstGeom>
          <a:noFill/>
        </p:spPr>
        <p:txBody>
          <a:bodyPr wrap="square" rtlCol="0">
            <a:spAutoFit/>
          </a:bodyPr>
          <a:lstStyle/>
          <a:p>
            <a:r>
              <a:rPr lang="en-US" altLang="zh-CN" sz="2000" dirty="0" smtClean="0"/>
              <a:t>Log   Structured   Merge</a:t>
            </a:r>
            <a:r>
              <a:rPr lang="zh-CN" altLang="en-US" sz="2000" dirty="0" smtClean="0"/>
              <a:t>（</a:t>
            </a:r>
            <a:r>
              <a:rPr lang="en-US" altLang="zh-CN" sz="2000" dirty="0" smtClean="0"/>
              <a:t>LSM</a:t>
            </a:r>
            <a:r>
              <a:rPr lang="zh-CN" altLang="en-US" sz="2000" dirty="0" smtClean="0"/>
              <a:t>）</a:t>
            </a:r>
            <a:endParaRPr lang="zh-CN" altLang="en-US" sz="2000" dirty="0"/>
          </a:p>
        </p:txBody>
      </p:sp>
    </p:spTree>
    <p:extLst>
      <p:ext uri="{BB962C8B-B14F-4D97-AF65-F5344CB8AC3E}">
        <p14:creationId xmlns:p14="http://schemas.microsoft.com/office/powerpoint/2010/main" val="278457704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0" y="274638"/>
            <a:ext cx="9144000" cy="1143000"/>
          </a:xfrm>
        </p:spPr>
        <p:txBody>
          <a:bodyPr>
            <a:normAutofit/>
          </a:bodyPr>
          <a:lstStyle/>
          <a:p>
            <a:pPr algn="ctr"/>
            <a:r>
              <a:rPr lang="en-US" altLang="zh-CN" sz="3200" dirty="0" smtClean="0">
                <a:solidFill>
                  <a:srgbClr val="0070C0"/>
                </a:solidFill>
              </a:rPr>
              <a:t>Basic </a:t>
            </a:r>
            <a:r>
              <a:rPr lang="en-US" altLang="zh-CN" sz="3200" dirty="0">
                <a:solidFill>
                  <a:srgbClr val="0070C0"/>
                </a:solidFill>
              </a:rPr>
              <a:t>F</a:t>
            </a:r>
            <a:r>
              <a:rPr lang="en-US" altLang="zh-CN" sz="3200" dirty="0" smtClean="0">
                <a:solidFill>
                  <a:srgbClr val="0070C0"/>
                </a:solidFill>
              </a:rPr>
              <a:t>unctions of Buffer Cache</a:t>
            </a:r>
            <a:endParaRPr lang="zh-CN" altLang="en-US" sz="3200" dirty="0">
              <a:solidFill>
                <a:srgbClr val="FF0000"/>
              </a:solidFill>
            </a:endParaRPr>
          </a:p>
        </p:txBody>
      </p:sp>
      <p:sp>
        <p:nvSpPr>
          <p:cNvPr id="3" name="内容占位符 2"/>
          <p:cNvSpPr>
            <a:spLocks noGrp="1"/>
          </p:cNvSpPr>
          <p:nvPr>
            <p:ph idx="1"/>
          </p:nvPr>
        </p:nvSpPr>
        <p:spPr>
          <a:xfrm>
            <a:off x="0" y="1562101"/>
            <a:ext cx="9144000" cy="1828799"/>
          </a:xfrm>
        </p:spPr>
        <p:txBody>
          <a:bodyPr>
            <a:normAutofit/>
          </a:bodyPr>
          <a:lstStyle/>
          <a:p>
            <a:pPr marL="342900" indent="-342900">
              <a:buFont typeface="Arial" panose="020B0604020202020204" pitchFamily="34" charset="0"/>
              <a:buChar char="•"/>
            </a:pPr>
            <a:r>
              <a:rPr lang="en-US" altLang="zh-CN" sz="2400" dirty="0" smtClean="0"/>
              <a:t>Buffer cache is in DRAM or other fast devices</a:t>
            </a:r>
          </a:p>
          <a:p>
            <a:pPr marL="342900" indent="-342900">
              <a:buFont typeface="Arial" panose="020B0604020202020204" pitchFamily="34" charset="0"/>
              <a:buChar char="•"/>
            </a:pPr>
            <a:r>
              <a:rPr lang="en-US" altLang="zh-CN" sz="2400" dirty="0" smtClean="0"/>
              <a:t>Data entries in buffer cache refer to disk blocks (page)</a:t>
            </a:r>
            <a:endParaRPr lang="en-US" altLang="zh-CN" sz="2400" dirty="0"/>
          </a:p>
          <a:p>
            <a:pPr marL="342900" indent="-342900">
              <a:buFont typeface="Arial" panose="020B0604020202020204" pitchFamily="34" charset="0"/>
              <a:buChar char="•"/>
            </a:pPr>
            <a:r>
              <a:rPr lang="en-US" altLang="zh-CN" sz="2400" dirty="0" smtClean="0"/>
              <a:t>Cache the frequently read disk blocks for reuse</a:t>
            </a:r>
          </a:p>
        </p:txBody>
      </p:sp>
      <p:grpSp>
        <p:nvGrpSpPr>
          <p:cNvPr id="47" name="组合 46"/>
          <p:cNvGrpSpPr/>
          <p:nvPr/>
        </p:nvGrpSpPr>
        <p:grpSpPr>
          <a:xfrm>
            <a:off x="4002974" y="3615066"/>
            <a:ext cx="554152" cy="367651"/>
            <a:chOff x="7117208" y="3633628"/>
            <a:chExt cx="554152" cy="367651"/>
          </a:xfrm>
        </p:grpSpPr>
        <p:sp>
          <p:nvSpPr>
            <p:cNvPr id="25" name="Rectangle 16"/>
            <p:cNvSpPr>
              <a:spLocks noChangeArrowheads="1"/>
            </p:cNvSpPr>
            <p:nvPr/>
          </p:nvSpPr>
          <p:spPr bwMode="auto">
            <a:xfrm>
              <a:off x="7300088" y="3817564"/>
              <a:ext cx="182880" cy="182045"/>
            </a:xfrm>
            <a:prstGeom prst="rect">
              <a:avLst/>
            </a:prstGeom>
            <a:solidFill>
              <a:schemeClr val="bg1"/>
            </a:solidFill>
            <a:ln w="9525" cap="flat" cmpd="sng">
              <a:noFill/>
              <a:miter lim="800000"/>
              <a:headEnd/>
              <a:tailEnd/>
            </a:ln>
            <a:effectLst/>
            <a:extLst/>
          </p:spPr>
          <p:txBody>
            <a:bodyPr wrap="none" lIns="0" tIns="0" rIns="0" bIns="0" anchor="ctr"/>
            <a:lstStyle/>
            <a:p>
              <a:pPr algn="ctr"/>
              <a:r>
                <a:rPr lang="en-US" altLang="zh-CN" b="1" dirty="0" smtClean="0">
                  <a:solidFill>
                    <a:srgbClr val="002060"/>
                  </a:solidFill>
                </a:rPr>
                <a:t>b</a:t>
              </a:r>
              <a:endParaRPr lang="zh-CN" altLang="en-US" b="1" dirty="0">
                <a:solidFill>
                  <a:srgbClr val="002060"/>
                </a:solidFill>
              </a:endParaRPr>
            </a:p>
          </p:txBody>
        </p:sp>
        <p:sp>
          <p:nvSpPr>
            <p:cNvPr id="26" name="Rectangle 16"/>
            <p:cNvSpPr>
              <a:spLocks noChangeArrowheads="1"/>
            </p:cNvSpPr>
            <p:nvPr/>
          </p:nvSpPr>
          <p:spPr bwMode="auto">
            <a:xfrm>
              <a:off x="7488480" y="3819234"/>
              <a:ext cx="182880" cy="182045"/>
            </a:xfrm>
            <a:prstGeom prst="rect">
              <a:avLst/>
            </a:prstGeom>
            <a:noFill/>
            <a:ln w="9525" cap="flat" cmpd="sng">
              <a:noFill/>
              <a:miter lim="800000"/>
              <a:headEnd/>
              <a:tailEnd/>
            </a:ln>
            <a:effectLst/>
            <a:extLst/>
          </p:spPr>
          <p:txBody>
            <a:bodyPr wrap="none" lIns="0" tIns="0" rIns="0" bIns="0" anchor="ctr"/>
            <a:lstStyle/>
            <a:p>
              <a:pPr algn="ctr"/>
              <a:r>
                <a:rPr lang="en-US" altLang="zh-CN" b="1" dirty="0" smtClean="0">
                  <a:solidFill>
                    <a:srgbClr val="FFC000"/>
                  </a:solidFill>
                </a:rPr>
                <a:t>c</a:t>
              </a:r>
              <a:endParaRPr lang="zh-CN" altLang="en-US" b="1" dirty="0">
                <a:solidFill>
                  <a:srgbClr val="FFC000"/>
                </a:solidFill>
              </a:endParaRPr>
            </a:p>
          </p:txBody>
        </p:sp>
        <p:sp>
          <p:nvSpPr>
            <p:cNvPr id="27" name="Rectangle 16"/>
            <p:cNvSpPr>
              <a:spLocks noChangeArrowheads="1"/>
            </p:cNvSpPr>
            <p:nvPr/>
          </p:nvSpPr>
          <p:spPr bwMode="auto">
            <a:xfrm>
              <a:off x="7117208" y="3633628"/>
              <a:ext cx="182880" cy="182045"/>
            </a:xfrm>
            <a:prstGeom prst="rect">
              <a:avLst/>
            </a:prstGeom>
            <a:noFill/>
            <a:ln w="9525" cap="flat" cmpd="sng">
              <a:noFill/>
              <a:miter lim="800000"/>
              <a:headEnd/>
              <a:tailEnd/>
            </a:ln>
            <a:effectLst/>
            <a:extLst/>
          </p:spPr>
          <p:txBody>
            <a:bodyPr wrap="none" lIns="0" tIns="0" rIns="0" bIns="0" anchor="ctr"/>
            <a:lstStyle/>
            <a:p>
              <a:pPr algn="ctr"/>
              <a:r>
                <a:rPr lang="en-US" altLang="zh-CN" b="1" dirty="0" smtClean="0">
                  <a:solidFill>
                    <a:srgbClr val="FF0000"/>
                  </a:solidFill>
                </a:rPr>
                <a:t>a</a:t>
              </a:r>
              <a:endParaRPr lang="zh-CN" altLang="en-US" b="1" dirty="0">
                <a:solidFill>
                  <a:srgbClr val="FF0000"/>
                </a:solidFill>
              </a:endParaRPr>
            </a:p>
          </p:txBody>
        </p:sp>
      </p:grpSp>
      <p:grpSp>
        <p:nvGrpSpPr>
          <p:cNvPr id="22" name="组合 21"/>
          <p:cNvGrpSpPr/>
          <p:nvPr/>
        </p:nvGrpSpPr>
        <p:grpSpPr>
          <a:xfrm>
            <a:off x="2894494" y="4800645"/>
            <a:ext cx="2884911" cy="1555705"/>
            <a:chOff x="2894494" y="4800645"/>
            <a:chExt cx="2884911" cy="1555705"/>
          </a:xfrm>
        </p:grpSpPr>
        <p:sp>
          <p:nvSpPr>
            <p:cNvPr id="16" name="流程图: 磁盘 15"/>
            <p:cNvSpPr/>
            <p:nvPr/>
          </p:nvSpPr>
          <p:spPr>
            <a:xfrm>
              <a:off x="2894494" y="4800645"/>
              <a:ext cx="2884911" cy="1555705"/>
            </a:xfrm>
            <a:prstGeom prst="flowChartMagneticDisk">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14"/>
            <p:cNvSpPr txBox="1"/>
            <p:nvPr/>
          </p:nvSpPr>
          <p:spPr>
            <a:xfrm>
              <a:off x="4071420" y="4910768"/>
              <a:ext cx="553357" cy="369332"/>
            </a:xfrm>
            <a:prstGeom prst="rect">
              <a:avLst/>
            </a:prstGeom>
            <a:noFill/>
          </p:spPr>
          <p:txBody>
            <a:bodyPr wrap="none" rtlCol="0">
              <a:spAutoFit/>
            </a:bodyPr>
            <a:lstStyle/>
            <a:p>
              <a:r>
                <a:rPr lang="en-US" altLang="zh-CN" dirty="0"/>
                <a:t>d</a:t>
              </a:r>
              <a:r>
                <a:rPr lang="en-US" altLang="zh-CN" dirty="0" smtClean="0"/>
                <a:t>isk</a:t>
              </a:r>
              <a:endParaRPr lang="zh-CN" altLang="en-US" dirty="0"/>
            </a:p>
          </p:txBody>
        </p:sp>
      </p:grpSp>
      <p:grpSp>
        <p:nvGrpSpPr>
          <p:cNvPr id="36" name="组合 35"/>
          <p:cNvGrpSpPr/>
          <p:nvPr/>
        </p:nvGrpSpPr>
        <p:grpSpPr>
          <a:xfrm>
            <a:off x="3601618" y="3249296"/>
            <a:ext cx="1354538" cy="733421"/>
            <a:chOff x="3601618" y="3249296"/>
            <a:chExt cx="1354538" cy="733421"/>
          </a:xfrm>
        </p:grpSpPr>
        <p:grpSp>
          <p:nvGrpSpPr>
            <p:cNvPr id="48" name="组合 47"/>
            <p:cNvGrpSpPr/>
            <p:nvPr/>
          </p:nvGrpSpPr>
          <p:grpSpPr>
            <a:xfrm>
              <a:off x="3820094" y="3618628"/>
              <a:ext cx="914400" cy="364089"/>
              <a:chOff x="6934328" y="3635519"/>
              <a:chExt cx="914400" cy="364089"/>
            </a:xfrm>
          </p:grpSpPr>
          <p:sp>
            <p:nvSpPr>
              <p:cNvPr id="29" name="Rectangle 10"/>
              <p:cNvSpPr>
                <a:spLocks noChangeArrowheads="1"/>
              </p:cNvSpPr>
              <p:nvPr/>
            </p:nvSpPr>
            <p:spPr bwMode="auto">
              <a:xfrm>
                <a:off x="6934328" y="3635519"/>
                <a:ext cx="914400" cy="364089"/>
              </a:xfrm>
              <a:prstGeom prst="rect">
                <a:avLst/>
              </a:prstGeom>
              <a:noFill/>
              <a:ln w="6350" cap="flat" cmpd="sng">
                <a:solidFill>
                  <a:schemeClr val="tx1"/>
                </a:solidFill>
                <a:miter lim="800000"/>
                <a:headEnd/>
                <a:tailEnd/>
              </a:ln>
              <a:effectLst/>
              <a:extLst/>
            </p:spPr>
            <p:txBody>
              <a:bodyPr wrap="none" anchor="ctr"/>
              <a:lstStyle/>
              <a:p>
                <a:endParaRPr lang="zh-CN" altLang="en-US">
                  <a:solidFill>
                    <a:prstClr val="black"/>
                  </a:solidFill>
                </a:endParaRPr>
              </a:p>
            </p:txBody>
          </p:sp>
          <p:cxnSp>
            <p:nvCxnSpPr>
              <p:cNvPr id="30" name="直接连接符 29"/>
              <p:cNvCxnSpPr>
                <a:stCxn id="29" idx="1"/>
                <a:endCxn id="29" idx="3"/>
              </p:cNvCxnSpPr>
              <p:nvPr/>
            </p:nvCxnSpPr>
            <p:spPr>
              <a:xfrm>
                <a:off x="6934328" y="3817564"/>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7300088" y="3635519"/>
                <a:ext cx="0" cy="36408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7117208" y="3635519"/>
                <a:ext cx="0" cy="36408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7482968" y="3635519"/>
                <a:ext cx="0" cy="36408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7665848" y="3635519"/>
                <a:ext cx="0" cy="36408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3" name="TextBox 52"/>
            <p:cNvSpPr txBox="1"/>
            <p:nvPr/>
          </p:nvSpPr>
          <p:spPr>
            <a:xfrm>
              <a:off x="3601618" y="3249296"/>
              <a:ext cx="1354538" cy="369332"/>
            </a:xfrm>
            <a:prstGeom prst="rect">
              <a:avLst/>
            </a:prstGeom>
            <a:noFill/>
          </p:spPr>
          <p:txBody>
            <a:bodyPr wrap="none" rtlCol="0">
              <a:spAutoFit/>
            </a:bodyPr>
            <a:lstStyle/>
            <a:p>
              <a:r>
                <a:rPr lang="en-US" altLang="zh-CN" dirty="0" smtClean="0"/>
                <a:t>Buffer cache</a:t>
              </a:r>
              <a:endParaRPr lang="zh-CN" altLang="en-US" dirty="0"/>
            </a:p>
          </p:txBody>
        </p:sp>
      </p:grpSp>
      <p:sp>
        <p:nvSpPr>
          <p:cNvPr id="38" name="Rectangle 10"/>
          <p:cNvSpPr>
            <a:spLocks noChangeArrowheads="1"/>
          </p:cNvSpPr>
          <p:nvPr/>
        </p:nvSpPr>
        <p:spPr bwMode="auto">
          <a:xfrm>
            <a:off x="3516421" y="5671949"/>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FF0000"/>
                </a:solidFill>
              </a:rPr>
              <a:t>a</a:t>
            </a:r>
            <a:endParaRPr lang="zh-CN" altLang="en-US" sz="2400" b="1" dirty="0">
              <a:solidFill>
                <a:srgbClr val="FF0000"/>
              </a:solidFill>
            </a:endParaRPr>
          </a:p>
        </p:txBody>
      </p:sp>
      <p:sp>
        <p:nvSpPr>
          <p:cNvPr id="39" name="Rectangle 10"/>
          <p:cNvSpPr>
            <a:spLocks noChangeArrowheads="1"/>
          </p:cNvSpPr>
          <p:nvPr/>
        </p:nvSpPr>
        <p:spPr bwMode="auto">
          <a:xfrm>
            <a:off x="4305166" y="5661118"/>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FFC000"/>
                </a:solidFill>
              </a:rPr>
              <a:t>c</a:t>
            </a:r>
            <a:endParaRPr lang="zh-CN" altLang="en-US" sz="2400" b="1" dirty="0">
              <a:solidFill>
                <a:srgbClr val="FFC000"/>
              </a:solidFill>
            </a:endParaRPr>
          </a:p>
        </p:txBody>
      </p:sp>
      <p:sp>
        <p:nvSpPr>
          <p:cNvPr id="40" name="Rectangle 10"/>
          <p:cNvSpPr>
            <a:spLocks noChangeArrowheads="1"/>
          </p:cNvSpPr>
          <p:nvPr/>
        </p:nvSpPr>
        <p:spPr bwMode="auto">
          <a:xfrm>
            <a:off x="3878625" y="5843998"/>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002060"/>
                </a:solidFill>
              </a:rPr>
              <a:t>b</a:t>
            </a:r>
            <a:endParaRPr lang="zh-CN" altLang="en-US" b="1" dirty="0">
              <a:solidFill>
                <a:srgbClr val="002060"/>
              </a:solidFill>
            </a:endParaRPr>
          </a:p>
        </p:txBody>
      </p:sp>
      <p:cxnSp>
        <p:nvCxnSpPr>
          <p:cNvPr id="52" name="直接箭头连接符 51"/>
          <p:cNvCxnSpPr>
            <a:endCxn id="40" idx="0"/>
          </p:cNvCxnSpPr>
          <p:nvPr/>
        </p:nvCxnSpPr>
        <p:spPr>
          <a:xfrm flipH="1">
            <a:off x="3970065" y="3984251"/>
            <a:ext cx="291448" cy="1859747"/>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a:stCxn id="26" idx="2"/>
            <a:endCxn id="39" idx="0"/>
          </p:cNvCxnSpPr>
          <p:nvPr/>
        </p:nvCxnSpPr>
        <p:spPr>
          <a:xfrm flipH="1">
            <a:off x="4396606" y="3982717"/>
            <a:ext cx="69080" cy="1678401"/>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a:stCxn id="27" idx="2"/>
            <a:endCxn id="38" idx="0"/>
          </p:cNvCxnSpPr>
          <p:nvPr/>
        </p:nvCxnSpPr>
        <p:spPr>
          <a:xfrm flipH="1">
            <a:off x="3607861" y="3797111"/>
            <a:ext cx="486553" cy="1874838"/>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46446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par>
                                <p:cTn id="11" presetID="10" presetClass="entr" presetSubtype="0" fill="hold" nodeType="withEffect">
                                  <p:stCondLst>
                                    <p:cond delay="0"/>
                                  </p:stCondLst>
                                  <p:childTnLst>
                                    <p:set>
                                      <p:cBhvr>
                                        <p:cTn id="12" dur="1" fill="hold">
                                          <p:stCondLst>
                                            <p:cond delay="0"/>
                                          </p:stCondLst>
                                        </p:cTn>
                                        <p:tgtEl>
                                          <p:spTgt spid="36"/>
                                        </p:tgtEl>
                                        <p:attrNameLst>
                                          <p:attrName>style.visibility</p:attrName>
                                        </p:attrNameLst>
                                      </p:cBhvr>
                                      <p:to>
                                        <p:strVal val="visible"/>
                                      </p:to>
                                    </p:set>
                                    <p:animEffect transition="in" filter="fade">
                                      <p:cBhvr>
                                        <p:cTn id="13" dur="500"/>
                                        <p:tgtEl>
                                          <p:spTgt spid="3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8"/>
                                        </p:tgtEl>
                                        <p:attrNameLst>
                                          <p:attrName>style.visibility</p:attrName>
                                        </p:attrNameLst>
                                      </p:cBhvr>
                                      <p:to>
                                        <p:strVal val="visible"/>
                                      </p:to>
                                    </p:set>
                                    <p:animEffect transition="in" filter="fade">
                                      <p:cBhvr>
                                        <p:cTn id="16" dur="500"/>
                                        <p:tgtEl>
                                          <p:spTgt spid="3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fade">
                                      <p:cBhvr>
                                        <p:cTn id="19" dur="500"/>
                                        <p:tgtEl>
                                          <p:spTgt spid="4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fade">
                                      <p:cBhvr>
                                        <p:cTn id="22" dur="500"/>
                                        <p:tgtEl>
                                          <p:spTgt spid="3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fade">
                                      <p:cBhvr>
                                        <p:cTn id="27" dur="500"/>
                                        <p:tgtEl>
                                          <p:spTgt spid="3">
                                            <p:txEl>
                                              <p:pRg st="1" end="1"/>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47"/>
                                        </p:tgtEl>
                                        <p:attrNameLst>
                                          <p:attrName>style.visibility</p:attrName>
                                        </p:attrNameLst>
                                      </p:cBhvr>
                                      <p:to>
                                        <p:strVal val="visible"/>
                                      </p:to>
                                    </p:set>
                                    <p:animEffect transition="in" filter="fade">
                                      <p:cBhvr>
                                        <p:cTn id="30" dur="500"/>
                                        <p:tgtEl>
                                          <p:spTgt spid="47"/>
                                        </p:tgtEl>
                                      </p:cBhvr>
                                    </p:animEffect>
                                  </p:childTnLst>
                                </p:cTn>
                              </p:par>
                              <p:par>
                                <p:cTn id="31" presetID="10" presetClass="entr" presetSubtype="0" fill="hold" nodeType="withEffect">
                                  <p:stCondLst>
                                    <p:cond delay="0"/>
                                  </p:stCondLst>
                                  <p:childTnLst>
                                    <p:set>
                                      <p:cBhvr>
                                        <p:cTn id="32" dur="1" fill="hold">
                                          <p:stCondLst>
                                            <p:cond delay="0"/>
                                          </p:stCondLst>
                                        </p:cTn>
                                        <p:tgtEl>
                                          <p:spTgt spid="52"/>
                                        </p:tgtEl>
                                        <p:attrNameLst>
                                          <p:attrName>style.visibility</p:attrName>
                                        </p:attrNameLst>
                                      </p:cBhvr>
                                      <p:to>
                                        <p:strVal val="visible"/>
                                      </p:to>
                                    </p:set>
                                    <p:animEffect transition="in" filter="fade">
                                      <p:cBhvr>
                                        <p:cTn id="33" dur="500"/>
                                        <p:tgtEl>
                                          <p:spTgt spid="52"/>
                                        </p:tgtEl>
                                      </p:cBhvr>
                                    </p:animEffect>
                                  </p:childTnLst>
                                </p:cTn>
                              </p:par>
                              <p:par>
                                <p:cTn id="34" presetID="10" presetClass="entr" presetSubtype="0" fill="hold" nodeType="withEffect">
                                  <p:stCondLst>
                                    <p:cond delay="0"/>
                                  </p:stCondLst>
                                  <p:childTnLst>
                                    <p:set>
                                      <p:cBhvr>
                                        <p:cTn id="35" dur="1" fill="hold">
                                          <p:stCondLst>
                                            <p:cond delay="0"/>
                                          </p:stCondLst>
                                        </p:cTn>
                                        <p:tgtEl>
                                          <p:spTgt spid="54"/>
                                        </p:tgtEl>
                                        <p:attrNameLst>
                                          <p:attrName>style.visibility</p:attrName>
                                        </p:attrNameLst>
                                      </p:cBhvr>
                                      <p:to>
                                        <p:strVal val="visible"/>
                                      </p:to>
                                    </p:set>
                                    <p:animEffect transition="in" filter="fade">
                                      <p:cBhvr>
                                        <p:cTn id="36" dur="500"/>
                                        <p:tgtEl>
                                          <p:spTgt spid="54"/>
                                        </p:tgtEl>
                                      </p:cBhvr>
                                    </p:animEffect>
                                  </p:childTnLst>
                                </p:cTn>
                              </p:par>
                              <p:par>
                                <p:cTn id="37" presetID="10" presetClass="entr" presetSubtype="0" fill="hold" nodeType="withEffect">
                                  <p:stCondLst>
                                    <p:cond delay="0"/>
                                  </p:stCondLst>
                                  <p:childTnLst>
                                    <p:set>
                                      <p:cBhvr>
                                        <p:cTn id="38" dur="1" fill="hold">
                                          <p:stCondLst>
                                            <p:cond delay="0"/>
                                          </p:stCondLst>
                                        </p:cTn>
                                        <p:tgtEl>
                                          <p:spTgt spid="55"/>
                                        </p:tgtEl>
                                        <p:attrNameLst>
                                          <p:attrName>style.visibility</p:attrName>
                                        </p:attrNameLst>
                                      </p:cBhvr>
                                      <p:to>
                                        <p:strVal val="visible"/>
                                      </p:to>
                                    </p:set>
                                    <p:animEffect transition="in" filter="fade">
                                      <p:cBhvr>
                                        <p:cTn id="39" dur="500"/>
                                        <p:tgtEl>
                                          <p:spTgt spid="55"/>
                                        </p:tgtEl>
                                      </p:cBhvr>
                                    </p:animEffect>
                                  </p:childTnLst>
                                </p:cTn>
                              </p:par>
                              <p:par>
                                <p:cTn id="40" presetID="1" presetClass="emph" presetSubtype="2" fill="hold" nodeType="withEffect">
                                  <p:stCondLst>
                                    <p:cond delay="0"/>
                                  </p:stCondLst>
                                  <p:childTnLst>
                                    <p:animClr clrSpc="rgb" dir="cw">
                                      <p:cBhvr>
                                        <p:cTn id="41" dur="500" fill="hold"/>
                                        <p:tgtEl>
                                          <p:spTgt spid="38"/>
                                        </p:tgtEl>
                                        <p:attrNameLst>
                                          <p:attrName>fillcolor</p:attrName>
                                        </p:attrNameLst>
                                      </p:cBhvr>
                                      <p:to>
                                        <a:srgbClr val="FFFFFF"/>
                                      </p:to>
                                    </p:animClr>
                                    <p:set>
                                      <p:cBhvr>
                                        <p:cTn id="42" dur="500" fill="hold"/>
                                        <p:tgtEl>
                                          <p:spTgt spid="38"/>
                                        </p:tgtEl>
                                        <p:attrNameLst>
                                          <p:attrName>fill.type</p:attrName>
                                        </p:attrNameLst>
                                      </p:cBhvr>
                                      <p:to>
                                        <p:strVal val="solid"/>
                                      </p:to>
                                    </p:set>
                                    <p:set>
                                      <p:cBhvr>
                                        <p:cTn id="43" dur="500" fill="hold"/>
                                        <p:tgtEl>
                                          <p:spTgt spid="38"/>
                                        </p:tgtEl>
                                        <p:attrNameLst>
                                          <p:attrName>fill.on</p:attrName>
                                        </p:attrNameLst>
                                      </p:cBhvr>
                                      <p:to>
                                        <p:strVal val="true"/>
                                      </p:to>
                                    </p:set>
                                  </p:childTnLst>
                                </p:cTn>
                              </p:par>
                              <p:par>
                                <p:cTn id="44" presetID="1" presetClass="emph" presetSubtype="2" fill="hold" nodeType="withEffect">
                                  <p:stCondLst>
                                    <p:cond delay="0"/>
                                  </p:stCondLst>
                                  <p:childTnLst>
                                    <p:animClr clrSpc="rgb" dir="cw">
                                      <p:cBhvr>
                                        <p:cTn id="45" dur="500" fill="hold"/>
                                        <p:tgtEl>
                                          <p:spTgt spid="40"/>
                                        </p:tgtEl>
                                        <p:attrNameLst>
                                          <p:attrName>fillcolor</p:attrName>
                                        </p:attrNameLst>
                                      </p:cBhvr>
                                      <p:to>
                                        <a:srgbClr val="FFFFFF"/>
                                      </p:to>
                                    </p:animClr>
                                    <p:set>
                                      <p:cBhvr>
                                        <p:cTn id="46" dur="500" fill="hold"/>
                                        <p:tgtEl>
                                          <p:spTgt spid="40"/>
                                        </p:tgtEl>
                                        <p:attrNameLst>
                                          <p:attrName>fill.type</p:attrName>
                                        </p:attrNameLst>
                                      </p:cBhvr>
                                      <p:to>
                                        <p:strVal val="solid"/>
                                      </p:to>
                                    </p:set>
                                    <p:set>
                                      <p:cBhvr>
                                        <p:cTn id="47" dur="500" fill="hold"/>
                                        <p:tgtEl>
                                          <p:spTgt spid="40"/>
                                        </p:tgtEl>
                                        <p:attrNameLst>
                                          <p:attrName>fill.on</p:attrName>
                                        </p:attrNameLst>
                                      </p:cBhvr>
                                      <p:to>
                                        <p:strVal val="true"/>
                                      </p:to>
                                    </p:set>
                                  </p:childTnLst>
                                </p:cTn>
                              </p:par>
                              <p:par>
                                <p:cTn id="48" presetID="1" presetClass="emph" presetSubtype="2" fill="hold" nodeType="withEffect">
                                  <p:stCondLst>
                                    <p:cond delay="0"/>
                                  </p:stCondLst>
                                  <p:childTnLst>
                                    <p:animClr clrSpc="rgb" dir="cw">
                                      <p:cBhvr>
                                        <p:cTn id="49" dur="500" fill="hold"/>
                                        <p:tgtEl>
                                          <p:spTgt spid="39"/>
                                        </p:tgtEl>
                                        <p:attrNameLst>
                                          <p:attrName>fillcolor</p:attrName>
                                        </p:attrNameLst>
                                      </p:cBhvr>
                                      <p:to>
                                        <a:srgbClr val="FFFFFF"/>
                                      </p:to>
                                    </p:animClr>
                                    <p:set>
                                      <p:cBhvr>
                                        <p:cTn id="50" dur="500" fill="hold"/>
                                        <p:tgtEl>
                                          <p:spTgt spid="39"/>
                                        </p:tgtEl>
                                        <p:attrNameLst>
                                          <p:attrName>fill.type</p:attrName>
                                        </p:attrNameLst>
                                      </p:cBhvr>
                                      <p:to>
                                        <p:strVal val="solid"/>
                                      </p:to>
                                    </p:set>
                                    <p:set>
                                      <p:cBhvr>
                                        <p:cTn id="51" dur="500" fill="hold"/>
                                        <p:tgtEl>
                                          <p:spTgt spid="39"/>
                                        </p:tgtEl>
                                        <p:attrNameLst>
                                          <p:attrName>fill.on</p:attrName>
                                        </p:attrNameLst>
                                      </p:cBhvr>
                                      <p:to>
                                        <p:strVal val="true"/>
                                      </p:to>
                                    </p:se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
                                            <p:txEl>
                                              <p:pRg st="2" end="2"/>
                                            </p:txEl>
                                          </p:spTgt>
                                        </p:tgtEl>
                                        <p:attrNameLst>
                                          <p:attrName>style.visibility</p:attrName>
                                        </p:attrNameLst>
                                      </p:cBhvr>
                                      <p:to>
                                        <p:strVal val="visible"/>
                                      </p:to>
                                    </p:set>
                                    <p:animEffect transition="in" filter="fade">
                                      <p:cBhvr>
                                        <p:cTn id="56"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8" grpId="0" animBg="1"/>
      <p:bldP spid="39" grpId="0" animBg="1"/>
      <p:bldP spid="40"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4" name="流程图: 磁盘 133"/>
          <p:cNvSpPr/>
          <p:nvPr/>
        </p:nvSpPr>
        <p:spPr>
          <a:xfrm>
            <a:off x="4952129" y="4991475"/>
            <a:ext cx="2911135" cy="1580371"/>
          </a:xfrm>
          <a:prstGeom prst="flowChartMagneticDisk">
            <a:avLst/>
          </a:prstGeom>
          <a:solidFill>
            <a:schemeClr val="bg2">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Rectangle 10"/>
          <p:cNvSpPr>
            <a:spLocks noChangeArrowheads="1"/>
          </p:cNvSpPr>
          <p:nvPr/>
        </p:nvSpPr>
        <p:spPr bwMode="auto">
          <a:xfrm>
            <a:off x="5420187" y="5714720"/>
            <a:ext cx="182880" cy="182880"/>
          </a:xfrm>
          <a:prstGeom prst="rect">
            <a:avLst/>
          </a:prstGeom>
          <a:solidFill>
            <a:schemeClr val="bg1">
              <a:lumMod val="50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FF0000"/>
                </a:solidFill>
              </a:rPr>
              <a:t>a</a:t>
            </a:r>
            <a:endParaRPr lang="zh-CN" altLang="en-US" sz="2400" b="1" dirty="0">
              <a:solidFill>
                <a:srgbClr val="FF0000"/>
              </a:solidFill>
            </a:endParaRPr>
          </a:p>
        </p:txBody>
      </p:sp>
      <p:sp>
        <p:nvSpPr>
          <p:cNvPr id="150" name="Rectangle 10"/>
          <p:cNvSpPr>
            <a:spLocks noChangeArrowheads="1"/>
          </p:cNvSpPr>
          <p:nvPr/>
        </p:nvSpPr>
        <p:spPr bwMode="auto">
          <a:xfrm>
            <a:off x="5785947" y="5714720"/>
            <a:ext cx="182880" cy="182880"/>
          </a:xfrm>
          <a:prstGeom prst="rect">
            <a:avLst/>
          </a:prstGeom>
          <a:solidFill>
            <a:schemeClr val="bg1">
              <a:lumMod val="50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FFC000"/>
                </a:solidFill>
              </a:rPr>
              <a:t>c</a:t>
            </a:r>
            <a:endParaRPr lang="zh-CN" altLang="en-US" sz="2400" b="1" dirty="0">
              <a:solidFill>
                <a:srgbClr val="FFC000"/>
              </a:solidFill>
            </a:endParaRPr>
          </a:p>
        </p:txBody>
      </p:sp>
      <p:sp>
        <p:nvSpPr>
          <p:cNvPr id="151" name="Rectangle 10"/>
          <p:cNvSpPr>
            <a:spLocks noChangeArrowheads="1"/>
          </p:cNvSpPr>
          <p:nvPr/>
        </p:nvSpPr>
        <p:spPr bwMode="auto">
          <a:xfrm>
            <a:off x="7250667" y="5714720"/>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7030A0"/>
                </a:solidFill>
              </a:rPr>
              <a:t>f</a:t>
            </a:r>
            <a:endParaRPr lang="zh-CN" altLang="en-US" sz="2400" b="1" dirty="0">
              <a:solidFill>
                <a:srgbClr val="7030A0"/>
              </a:solidFill>
            </a:endParaRPr>
          </a:p>
        </p:txBody>
      </p:sp>
      <p:sp>
        <p:nvSpPr>
          <p:cNvPr id="152" name="Rectangle 10"/>
          <p:cNvSpPr>
            <a:spLocks noChangeArrowheads="1"/>
          </p:cNvSpPr>
          <p:nvPr/>
        </p:nvSpPr>
        <p:spPr bwMode="auto">
          <a:xfrm>
            <a:off x="5603067" y="5714720"/>
            <a:ext cx="182880" cy="182880"/>
          </a:xfrm>
          <a:prstGeom prst="rect">
            <a:avLst/>
          </a:prstGeom>
          <a:solidFill>
            <a:schemeClr val="bg1">
              <a:lumMod val="50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002060"/>
                </a:solidFill>
              </a:rPr>
              <a:t>b</a:t>
            </a:r>
            <a:endParaRPr lang="zh-CN" altLang="en-US" b="1" dirty="0">
              <a:solidFill>
                <a:srgbClr val="002060"/>
              </a:solidFill>
            </a:endParaRPr>
          </a:p>
        </p:txBody>
      </p:sp>
      <p:sp>
        <p:nvSpPr>
          <p:cNvPr id="153" name="Rectangle 10"/>
          <p:cNvSpPr>
            <a:spLocks noChangeArrowheads="1"/>
          </p:cNvSpPr>
          <p:nvPr/>
        </p:nvSpPr>
        <p:spPr bwMode="auto">
          <a:xfrm>
            <a:off x="6883227" y="5714720"/>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00B050"/>
                </a:solidFill>
              </a:rPr>
              <a:t>d</a:t>
            </a:r>
            <a:endParaRPr lang="zh-CN" altLang="en-US" b="1" dirty="0">
              <a:solidFill>
                <a:srgbClr val="00B050"/>
              </a:solidFill>
            </a:endParaRPr>
          </a:p>
        </p:txBody>
      </p:sp>
      <p:sp>
        <p:nvSpPr>
          <p:cNvPr id="154" name="Rectangle 10"/>
          <p:cNvSpPr>
            <a:spLocks noChangeArrowheads="1"/>
          </p:cNvSpPr>
          <p:nvPr/>
        </p:nvSpPr>
        <p:spPr bwMode="auto">
          <a:xfrm>
            <a:off x="7067792" y="5714720"/>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002060"/>
                </a:solidFill>
              </a:rPr>
              <a:t>e</a:t>
            </a:r>
            <a:endParaRPr lang="zh-CN" altLang="en-US" b="1" dirty="0">
              <a:solidFill>
                <a:srgbClr val="002060"/>
              </a:solidFill>
            </a:endParaRPr>
          </a:p>
        </p:txBody>
      </p:sp>
      <p:sp>
        <p:nvSpPr>
          <p:cNvPr id="158" name="TextBox 157"/>
          <p:cNvSpPr txBox="1"/>
          <p:nvPr/>
        </p:nvSpPr>
        <p:spPr>
          <a:xfrm>
            <a:off x="6156087" y="5020414"/>
            <a:ext cx="492122" cy="461665"/>
          </a:xfrm>
          <a:prstGeom prst="rect">
            <a:avLst/>
          </a:prstGeom>
          <a:noFill/>
        </p:spPr>
        <p:txBody>
          <a:bodyPr wrap="none" lIns="0" rIns="0" rtlCol="0">
            <a:spAutoFit/>
          </a:bodyPr>
          <a:lstStyle/>
          <a:p>
            <a:r>
              <a:rPr lang="en-US" altLang="zh-CN" sz="2400" dirty="0" smtClean="0"/>
              <a:t>disk</a:t>
            </a:r>
            <a:endParaRPr lang="zh-CN" altLang="en-US" sz="2400" dirty="0"/>
          </a:p>
        </p:txBody>
      </p:sp>
      <p:sp>
        <p:nvSpPr>
          <p:cNvPr id="2" name="标题 1"/>
          <p:cNvSpPr>
            <a:spLocks noGrp="1"/>
          </p:cNvSpPr>
          <p:nvPr>
            <p:ph type="title"/>
          </p:nvPr>
        </p:nvSpPr>
        <p:spPr>
          <a:xfrm>
            <a:off x="0" y="274638"/>
            <a:ext cx="9144000" cy="1143000"/>
          </a:xfrm>
        </p:spPr>
        <p:txBody>
          <a:bodyPr>
            <a:normAutofit/>
          </a:bodyPr>
          <a:lstStyle/>
          <a:p>
            <a:pPr algn="ctr"/>
            <a:r>
              <a:rPr lang="en-US" altLang="zh-CN" sz="3200" dirty="0" smtClean="0">
                <a:solidFill>
                  <a:srgbClr val="0070C0"/>
                </a:solidFill>
              </a:rPr>
              <a:t>Buffer Cache in </a:t>
            </a:r>
            <a:r>
              <a:rPr lang="en-US" altLang="zh-CN" sz="3200" dirty="0" smtClean="0">
                <a:solidFill>
                  <a:srgbClr val="FF0000"/>
                </a:solidFill>
              </a:rPr>
              <a:t>LSM-tree</a:t>
            </a:r>
            <a:endParaRPr lang="zh-CN" altLang="en-US" sz="3200" dirty="0">
              <a:solidFill>
                <a:srgbClr val="FF0000"/>
              </a:solidFill>
            </a:endParaRPr>
          </a:p>
        </p:txBody>
      </p:sp>
      <p:sp>
        <p:nvSpPr>
          <p:cNvPr id="54" name="Rectangle 9"/>
          <p:cNvSpPr>
            <a:spLocks noChangeArrowheads="1"/>
          </p:cNvSpPr>
          <p:nvPr/>
        </p:nvSpPr>
        <p:spPr bwMode="auto">
          <a:xfrm>
            <a:off x="1188584" y="2726227"/>
            <a:ext cx="1463040" cy="137160"/>
          </a:xfrm>
          <a:prstGeom prst="rect">
            <a:avLst/>
          </a:prstGeom>
          <a:solidFill>
            <a:srgbClr val="000080"/>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ndParaRPr>
          </a:p>
        </p:txBody>
      </p:sp>
      <p:sp>
        <p:nvSpPr>
          <p:cNvPr id="55" name="Rectangle 10"/>
          <p:cNvSpPr>
            <a:spLocks noChangeArrowheads="1"/>
          </p:cNvSpPr>
          <p:nvPr/>
        </p:nvSpPr>
        <p:spPr bwMode="auto">
          <a:xfrm>
            <a:off x="1559787" y="2360467"/>
            <a:ext cx="731520" cy="137160"/>
          </a:xfrm>
          <a:prstGeom prst="rect">
            <a:avLst/>
          </a:prstGeom>
          <a:solidFill>
            <a:srgbClr val="000080"/>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ndParaRPr>
          </a:p>
        </p:txBody>
      </p:sp>
      <p:sp>
        <p:nvSpPr>
          <p:cNvPr id="56" name="Rectangle 16"/>
          <p:cNvSpPr>
            <a:spLocks noChangeArrowheads="1"/>
          </p:cNvSpPr>
          <p:nvPr/>
        </p:nvSpPr>
        <p:spPr bwMode="auto">
          <a:xfrm>
            <a:off x="1828487" y="1994707"/>
            <a:ext cx="182880" cy="137160"/>
          </a:xfrm>
          <a:prstGeom prst="rect">
            <a:avLst/>
          </a:prstGeom>
          <a:solidFill>
            <a:srgbClr val="FFFF00"/>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ndParaRPr>
          </a:p>
        </p:txBody>
      </p:sp>
      <p:sp>
        <p:nvSpPr>
          <p:cNvPr id="57" name="Text Box 17"/>
          <p:cNvSpPr txBox="1">
            <a:spLocks noChangeArrowheads="1"/>
          </p:cNvSpPr>
          <p:nvPr/>
        </p:nvSpPr>
        <p:spPr bwMode="auto">
          <a:xfrm>
            <a:off x="789340" y="1755288"/>
            <a:ext cx="285335" cy="1846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r>
              <a:rPr lang="en-US" altLang="zh-CN" sz="1200" dirty="0" smtClean="0">
                <a:solidFill>
                  <a:prstClr val="black"/>
                </a:solidFill>
              </a:rPr>
              <a:t>HDD</a:t>
            </a:r>
            <a:endParaRPr lang="zh-CN" altLang="en-US" sz="1200" dirty="0">
              <a:solidFill>
                <a:prstClr val="black"/>
              </a:solidFill>
            </a:endParaRPr>
          </a:p>
        </p:txBody>
      </p:sp>
      <p:sp>
        <p:nvSpPr>
          <p:cNvPr id="58" name="Rectangle 10"/>
          <p:cNvSpPr>
            <a:spLocks noChangeArrowheads="1"/>
          </p:cNvSpPr>
          <p:nvPr/>
        </p:nvSpPr>
        <p:spPr bwMode="auto">
          <a:xfrm>
            <a:off x="414881" y="1786138"/>
            <a:ext cx="274320" cy="137160"/>
          </a:xfrm>
          <a:prstGeom prst="rect">
            <a:avLst/>
          </a:prstGeom>
          <a:solidFill>
            <a:srgbClr val="002060"/>
          </a:solidFill>
          <a:ln w="9525" cap="flat" cmpd="sng">
            <a:solidFill>
              <a:schemeClr val="tx1"/>
            </a:solidFill>
            <a:miter lim="800000"/>
            <a:headEnd/>
            <a:tailEnd/>
          </a:ln>
          <a:effectLst/>
          <a:extLst/>
        </p:spPr>
        <p:txBody>
          <a:bodyPr wrap="none" anchor="ctr"/>
          <a:lstStyle/>
          <a:p>
            <a:endParaRPr lang="zh-CN" altLang="en-US" sz="1200">
              <a:solidFill>
                <a:prstClr val="black"/>
              </a:solidFill>
            </a:endParaRPr>
          </a:p>
        </p:txBody>
      </p:sp>
      <p:sp>
        <p:nvSpPr>
          <p:cNvPr id="66" name="TextBox 65"/>
          <p:cNvSpPr txBox="1"/>
          <p:nvPr/>
        </p:nvSpPr>
        <p:spPr>
          <a:xfrm>
            <a:off x="2091911" y="1917604"/>
            <a:ext cx="157094" cy="215444"/>
          </a:xfrm>
          <a:prstGeom prst="rect">
            <a:avLst/>
          </a:prstGeom>
          <a:noFill/>
        </p:spPr>
        <p:txBody>
          <a:bodyPr wrap="none" lIns="0" tIns="0" rIns="0" bIns="0" rtlCol="0">
            <a:spAutoFit/>
          </a:bodyPr>
          <a:lstStyle/>
          <a:p>
            <a:r>
              <a:rPr lang="en-US" altLang="zh-CN" sz="1400" dirty="0" smtClean="0"/>
              <a:t>C</a:t>
            </a:r>
            <a:r>
              <a:rPr lang="en-US" altLang="zh-CN" sz="1400" baseline="-25000" dirty="0" smtClean="0"/>
              <a:t>0</a:t>
            </a:r>
            <a:endParaRPr lang="zh-CN" altLang="en-US" sz="1400" baseline="-25000" dirty="0"/>
          </a:p>
        </p:txBody>
      </p:sp>
      <p:sp>
        <p:nvSpPr>
          <p:cNvPr id="67" name="TextBox 66"/>
          <p:cNvSpPr txBox="1"/>
          <p:nvPr/>
        </p:nvSpPr>
        <p:spPr>
          <a:xfrm>
            <a:off x="2352416" y="2262521"/>
            <a:ext cx="157094" cy="215444"/>
          </a:xfrm>
          <a:prstGeom prst="rect">
            <a:avLst/>
          </a:prstGeom>
          <a:noFill/>
        </p:spPr>
        <p:txBody>
          <a:bodyPr wrap="none" lIns="0" tIns="0" rIns="0" bIns="0" rtlCol="0">
            <a:spAutoFit/>
          </a:bodyPr>
          <a:lstStyle/>
          <a:p>
            <a:r>
              <a:rPr lang="en-US" altLang="zh-CN" sz="1400" dirty="0" smtClean="0"/>
              <a:t>C</a:t>
            </a:r>
            <a:r>
              <a:rPr lang="en-US" altLang="zh-CN" sz="1400" baseline="-25000" dirty="0" smtClean="0"/>
              <a:t>1</a:t>
            </a:r>
            <a:endParaRPr lang="zh-CN" altLang="en-US" sz="1400" baseline="-25000" dirty="0"/>
          </a:p>
        </p:txBody>
      </p:sp>
      <p:sp>
        <p:nvSpPr>
          <p:cNvPr id="68" name="TextBox 67"/>
          <p:cNvSpPr txBox="1"/>
          <p:nvPr/>
        </p:nvSpPr>
        <p:spPr>
          <a:xfrm>
            <a:off x="2718749" y="2692800"/>
            <a:ext cx="157094" cy="215444"/>
          </a:xfrm>
          <a:prstGeom prst="rect">
            <a:avLst/>
          </a:prstGeom>
          <a:noFill/>
        </p:spPr>
        <p:txBody>
          <a:bodyPr wrap="none" lIns="0" tIns="0" rIns="0" bIns="0" rtlCol="0">
            <a:spAutoFit/>
          </a:bodyPr>
          <a:lstStyle/>
          <a:p>
            <a:r>
              <a:rPr lang="en-US" altLang="zh-CN" sz="1400" dirty="0" smtClean="0"/>
              <a:t>C</a:t>
            </a:r>
            <a:r>
              <a:rPr lang="en-US" altLang="zh-CN" sz="1400" baseline="-25000" dirty="0" smtClean="0"/>
              <a:t>2</a:t>
            </a:r>
            <a:endParaRPr lang="zh-CN" altLang="en-US" sz="1400" baseline="-25000" dirty="0"/>
          </a:p>
        </p:txBody>
      </p:sp>
      <p:sp>
        <p:nvSpPr>
          <p:cNvPr id="71" name="Text Box 17"/>
          <p:cNvSpPr txBox="1">
            <a:spLocks noChangeArrowheads="1"/>
          </p:cNvSpPr>
          <p:nvPr/>
        </p:nvSpPr>
        <p:spPr bwMode="auto">
          <a:xfrm>
            <a:off x="789340" y="1526522"/>
            <a:ext cx="399148" cy="1846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r>
              <a:rPr lang="en-US" altLang="zh-CN" sz="1200" dirty="0" smtClean="0">
                <a:solidFill>
                  <a:prstClr val="black"/>
                </a:solidFill>
              </a:rPr>
              <a:t>DRAM</a:t>
            </a:r>
            <a:endParaRPr lang="zh-CN" altLang="en-US" sz="1200" dirty="0">
              <a:solidFill>
                <a:prstClr val="black"/>
              </a:solidFill>
            </a:endParaRPr>
          </a:p>
        </p:txBody>
      </p:sp>
      <p:sp>
        <p:nvSpPr>
          <p:cNvPr id="73" name="Rectangle 16"/>
          <p:cNvSpPr>
            <a:spLocks noChangeArrowheads="1"/>
          </p:cNvSpPr>
          <p:nvPr/>
        </p:nvSpPr>
        <p:spPr bwMode="auto">
          <a:xfrm>
            <a:off x="416086" y="1545593"/>
            <a:ext cx="274320" cy="137160"/>
          </a:xfrm>
          <a:prstGeom prst="rect">
            <a:avLst/>
          </a:prstGeom>
          <a:solidFill>
            <a:srgbClr val="FFFF00"/>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solidFill>
                <a:prstClr val="black"/>
              </a:solidFill>
            </a:endParaRPr>
          </a:p>
        </p:txBody>
      </p:sp>
      <p:sp>
        <p:nvSpPr>
          <p:cNvPr id="119" name="TextBox 118"/>
          <p:cNvSpPr txBox="1"/>
          <p:nvPr/>
        </p:nvSpPr>
        <p:spPr>
          <a:xfrm>
            <a:off x="1513341" y="2673750"/>
            <a:ext cx="809517" cy="246221"/>
          </a:xfrm>
          <a:prstGeom prst="rect">
            <a:avLst/>
          </a:prstGeom>
          <a:noFill/>
        </p:spPr>
        <p:txBody>
          <a:bodyPr wrap="none" lIns="0" tIns="0" rIns="0" bIns="0" rtlCol="0">
            <a:spAutoFit/>
          </a:bodyPr>
          <a:lstStyle/>
          <a:p>
            <a:r>
              <a:rPr lang="en-US" altLang="zh-CN" sz="1600" b="1" dirty="0" smtClean="0">
                <a:solidFill>
                  <a:schemeClr val="bg1"/>
                </a:solidFill>
              </a:rPr>
              <a:t>a b c d e f</a:t>
            </a:r>
            <a:endParaRPr lang="zh-CN" altLang="en-US" sz="1600" b="1" dirty="0">
              <a:solidFill>
                <a:schemeClr val="bg1"/>
              </a:solidFill>
            </a:endParaRPr>
          </a:p>
        </p:txBody>
      </p:sp>
      <p:sp>
        <p:nvSpPr>
          <p:cNvPr id="89" name="TextBox 88"/>
          <p:cNvSpPr txBox="1"/>
          <p:nvPr/>
        </p:nvSpPr>
        <p:spPr>
          <a:xfrm>
            <a:off x="6177099" y="2615292"/>
            <a:ext cx="436338" cy="369332"/>
          </a:xfrm>
          <a:prstGeom prst="rect">
            <a:avLst/>
          </a:prstGeom>
          <a:noFill/>
        </p:spPr>
        <p:txBody>
          <a:bodyPr wrap="none" rtlCol="0">
            <a:spAutoFit/>
          </a:bodyPr>
          <a:lstStyle/>
          <a:p>
            <a:r>
              <a:rPr lang="en-US" altLang="zh-CN" dirty="0" smtClean="0"/>
              <a:t>a-f</a:t>
            </a:r>
            <a:endParaRPr lang="zh-CN" altLang="en-US" dirty="0"/>
          </a:p>
        </p:txBody>
      </p:sp>
      <p:sp>
        <p:nvSpPr>
          <p:cNvPr id="90" name="TextBox 89"/>
          <p:cNvSpPr txBox="1"/>
          <p:nvPr/>
        </p:nvSpPr>
        <p:spPr>
          <a:xfrm>
            <a:off x="5439878" y="3409193"/>
            <a:ext cx="463588" cy="369332"/>
          </a:xfrm>
          <a:prstGeom prst="rect">
            <a:avLst/>
          </a:prstGeom>
          <a:noFill/>
        </p:spPr>
        <p:txBody>
          <a:bodyPr wrap="none" rtlCol="0">
            <a:spAutoFit/>
          </a:bodyPr>
          <a:lstStyle/>
          <a:p>
            <a:r>
              <a:rPr lang="en-US" altLang="zh-CN" dirty="0" smtClean="0"/>
              <a:t>a-c</a:t>
            </a:r>
            <a:endParaRPr lang="zh-CN" altLang="en-US" dirty="0"/>
          </a:p>
        </p:txBody>
      </p:sp>
      <p:sp>
        <p:nvSpPr>
          <p:cNvPr id="91" name="TextBox 90"/>
          <p:cNvSpPr txBox="1"/>
          <p:nvPr/>
        </p:nvSpPr>
        <p:spPr>
          <a:xfrm>
            <a:off x="6879026" y="3409193"/>
            <a:ext cx="447558" cy="369332"/>
          </a:xfrm>
          <a:prstGeom prst="rect">
            <a:avLst/>
          </a:prstGeom>
          <a:noFill/>
        </p:spPr>
        <p:txBody>
          <a:bodyPr wrap="none" rtlCol="0">
            <a:spAutoFit/>
          </a:bodyPr>
          <a:lstStyle/>
          <a:p>
            <a:r>
              <a:rPr lang="en-US" altLang="zh-CN" dirty="0">
                <a:sym typeface="Wingdings" panose="05000000000000000000" pitchFamily="2" charset="2"/>
              </a:rPr>
              <a:t>d</a:t>
            </a:r>
            <a:r>
              <a:rPr lang="en-US" altLang="zh-CN" dirty="0" smtClean="0">
                <a:sym typeface="Wingdings" panose="05000000000000000000" pitchFamily="2" charset="2"/>
              </a:rPr>
              <a:t>-f</a:t>
            </a:r>
            <a:endParaRPr lang="zh-CN" altLang="en-US" dirty="0"/>
          </a:p>
        </p:txBody>
      </p:sp>
      <p:cxnSp>
        <p:nvCxnSpPr>
          <p:cNvPr id="92" name="直接箭头连接符 91"/>
          <p:cNvCxnSpPr>
            <a:stCxn id="89" idx="2"/>
            <a:endCxn id="90" idx="0"/>
          </p:cNvCxnSpPr>
          <p:nvPr/>
        </p:nvCxnSpPr>
        <p:spPr>
          <a:xfrm flipH="1">
            <a:off x="5671672" y="2984624"/>
            <a:ext cx="723596" cy="42456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3" name="直接箭头连接符 92"/>
          <p:cNvCxnSpPr>
            <a:stCxn id="89" idx="2"/>
            <a:endCxn id="89" idx="2"/>
          </p:cNvCxnSpPr>
          <p:nvPr/>
        </p:nvCxnSpPr>
        <p:spPr>
          <a:xfrm>
            <a:off x="6395268" y="2984624"/>
            <a:ext cx="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a:stCxn id="89" idx="2"/>
            <a:endCxn id="91" idx="0"/>
          </p:cNvCxnSpPr>
          <p:nvPr/>
        </p:nvCxnSpPr>
        <p:spPr>
          <a:xfrm>
            <a:off x="6395268" y="2984624"/>
            <a:ext cx="707537" cy="42456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0" name="直接箭头连接符 109"/>
          <p:cNvCxnSpPr>
            <a:stCxn id="90" idx="2"/>
            <a:endCxn id="149" idx="0"/>
          </p:cNvCxnSpPr>
          <p:nvPr/>
        </p:nvCxnSpPr>
        <p:spPr>
          <a:xfrm flipH="1">
            <a:off x="5511627" y="3778525"/>
            <a:ext cx="160045" cy="193619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6" name="直接箭头连接符 115"/>
          <p:cNvCxnSpPr>
            <a:stCxn id="90" idx="2"/>
            <a:endCxn id="152" idx="0"/>
          </p:cNvCxnSpPr>
          <p:nvPr/>
        </p:nvCxnSpPr>
        <p:spPr>
          <a:xfrm>
            <a:off x="5671672" y="3778525"/>
            <a:ext cx="22835" cy="193619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7" name="直接箭头连接符 116"/>
          <p:cNvCxnSpPr>
            <a:stCxn id="90" idx="2"/>
            <a:endCxn id="150" idx="0"/>
          </p:cNvCxnSpPr>
          <p:nvPr/>
        </p:nvCxnSpPr>
        <p:spPr>
          <a:xfrm>
            <a:off x="5671672" y="3778525"/>
            <a:ext cx="205715" cy="193619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5" name="直接箭头连接符 124"/>
          <p:cNvCxnSpPr>
            <a:stCxn id="91" idx="2"/>
            <a:endCxn id="153" idx="0"/>
          </p:cNvCxnSpPr>
          <p:nvPr/>
        </p:nvCxnSpPr>
        <p:spPr>
          <a:xfrm flipH="1">
            <a:off x="6974667" y="3778525"/>
            <a:ext cx="128138" cy="193619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6" name="直接箭头连接符 125"/>
          <p:cNvCxnSpPr>
            <a:stCxn id="91" idx="2"/>
            <a:endCxn id="154" idx="0"/>
          </p:cNvCxnSpPr>
          <p:nvPr/>
        </p:nvCxnSpPr>
        <p:spPr>
          <a:xfrm>
            <a:off x="7102805" y="3778525"/>
            <a:ext cx="56427" cy="193619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7" name="直接箭头连接符 126"/>
          <p:cNvCxnSpPr>
            <a:stCxn id="91" idx="2"/>
            <a:endCxn id="151" idx="0"/>
          </p:cNvCxnSpPr>
          <p:nvPr/>
        </p:nvCxnSpPr>
        <p:spPr>
          <a:xfrm>
            <a:off x="7102805" y="3778525"/>
            <a:ext cx="239302" cy="193619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1" name="直接箭头连接符 160"/>
          <p:cNvCxnSpPr>
            <a:stCxn id="68" idx="3"/>
            <a:endCxn id="89" idx="1"/>
          </p:cNvCxnSpPr>
          <p:nvPr/>
        </p:nvCxnSpPr>
        <p:spPr>
          <a:xfrm flipV="1">
            <a:off x="2875843" y="2799958"/>
            <a:ext cx="3301256" cy="56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5" name="Rectangle 16"/>
          <p:cNvSpPr>
            <a:spLocks noChangeArrowheads="1"/>
          </p:cNvSpPr>
          <p:nvPr/>
        </p:nvSpPr>
        <p:spPr bwMode="auto">
          <a:xfrm>
            <a:off x="6087147" y="3778525"/>
            <a:ext cx="182880" cy="182045"/>
          </a:xfrm>
          <a:prstGeom prst="rect">
            <a:avLst/>
          </a:prstGeom>
          <a:noFill/>
          <a:ln w="9525" cap="flat" cmpd="sng">
            <a:noFill/>
            <a:miter lim="800000"/>
            <a:headEnd/>
            <a:tailEnd/>
          </a:ln>
          <a:effectLst/>
          <a:extLst/>
        </p:spPr>
        <p:txBody>
          <a:bodyPr wrap="none" lIns="0" tIns="0" rIns="0" bIns="0" anchor="ctr"/>
          <a:lstStyle/>
          <a:p>
            <a:pPr algn="ctr"/>
            <a:r>
              <a:rPr lang="en-US" altLang="zh-CN" b="1" dirty="0" smtClean="0">
                <a:solidFill>
                  <a:srgbClr val="FF0000"/>
                </a:solidFill>
              </a:rPr>
              <a:t>a</a:t>
            </a:r>
            <a:endParaRPr lang="zh-CN" altLang="en-US" b="1" dirty="0">
              <a:solidFill>
                <a:srgbClr val="FF0000"/>
              </a:solidFill>
            </a:endParaRPr>
          </a:p>
        </p:txBody>
      </p:sp>
      <p:grpSp>
        <p:nvGrpSpPr>
          <p:cNvPr id="166" name="组合 165"/>
          <p:cNvGrpSpPr/>
          <p:nvPr/>
        </p:nvGrpSpPr>
        <p:grpSpPr>
          <a:xfrm>
            <a:off x="5904267" y="3782087"/>
            <a:ext cx="914400" cy="364089"/>
            <a:chOff x="6934328" y="3635519"/>
            <a:chExt cx="914400" cy="364089"/>
          </a:xfrm>
        </p:grpSpPr>
        <p:sp>
          <p:nvSpPr>
            <p:cNvPr id="167" name="Rectangle 10"/>
            <p:cNvSpPr>
              <a:spLocks noChangeArrowheads="1"/>
            </p:cNvSpPr>
            <p:nvPr/>
          </p:nvSpPr>
          <p:spPr bwMode="auto">
            <a:xfrm>
              <a:off x="6934328" y="3635519"/>
              <a:ext cx="914400" cy="364089"/>
            </a:xfrm>
            <a:prstGeom prst="rect">
              <a:avLst/>
            </a:prstGeom>
            <a:noFill/>
            <a:ln w="6350" cap="flat" cmpd="sng">
              <a:solidFill>
                <a:schemeClr val="tx1"/>
              </a:solidFill>
              <a:miter lim="800000"/>
              <a:headEnd/>
              <a:tailEnd/>
            </a:ln>
            <a:effectLst/>
            <a:extLst/>
          </p:spPr>
          <p:txBody>
            <a:bodyPr wrap="none" anchor="ctr"/>
            <a:lstStyle/>
            <a:p>
              <a:endParaRPr lang="zh-CN" altLang="en-US">
                <a:solidFill>
                  <a:prstClr val="black"/>
                </a:solidFill>
              </a:endParaRPr>
            </a:p>
          </p:txBody>
        </p:sp>
        <p:cxnSp>
          <p:nvCxnSpPr>
            <p:cNvPr id="168" name="直接连接符 167"/>
            <p:cNvCxnSpPr>
              <a:stCxn id="167" idx="1"/>
              <a:endCxn id="167" idx="3"/>
            </p:cNvCxnSpPr>
            <p:nvPr/>
          </p:nvCxnSpPr>
          <p:spPr>
            <a:xfrm>
              <a:off x="6934328" y="3817564"/>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直接连接符 168"/>
            <p:cNvCxnSpPr/>
            <p:nvPr/>
          </p:nvCxnSpPr>
          <p:spPr>
            <a:xfrm>
              <a:off x="7300088" y="3635519"/>
              <a:ext cx="0" cy="36408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直接连接符 169"/>
            <p:cNvCxnSpPr/>
            <p:nvPr/>
          </p:nvCxnSpPr>
          <p:spPr>
            <a:xfrm>
              <a:off x="7117208" y="3635519"/>
              <a:ext cx="0" cy="36408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直接连接符 170"/>
            <p:cNvCxnSpPr/>
            <p:nvPr/>
          </p:nvCxnSpPr>
          <p:spPr>
            <a:xfrm>
              <a:off x="7482968" y="3635519"/>
              <a:ext cx="0" cy="36408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直接连接符 171"/>
            <p:cNvCxnSpPr/>
            <p:nvPr/>
          </p:nvCxnSpPr>
          <p:spPr>
            <a:xfrm>
              <a:off x="7665848" y="3635519"/>
              <a:ext cx="0" cy="36408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80" name="TextBox 179"/>
          <p:cNvSpPr txBox="1"/>
          <p:nvPr/>
        </p:nvSpPr>
        <p:spPr>
          <a:xfrm>
            <a:off x="5771539" y="4146176"/>
            <a:ext cx="1247457" cy="338554"/>
          </a:xfrm>
          <a:prstGeom prst="rect">
            <a:avLst/>
          </a:prstGeom>
          <a:noFill/>
        </p:spPr>
        <p:txBody>
          <a:bodyPr wrap="none" rtlCol="0">
            <a:spAutoFit/>
          </a:bodyPr>
          <a:lstStyle/>
          <a:p>
            <a:r>
              <a:rPr lang="en-US" altLang="zh-CN" sz="1600" b="1" dirty="0" smtClean="0"/>
              <a:t>buffer cache</a:t>
            </a:r>
            <a:endParaRPr lang="zh-CN" altLang="en-US" sz="1600" b="1" dirty="0"/>
          </a:p>
        </p:txBody>
      </p:sp>
      <p:sp>
        <p:nvSpPr>
          <p:cNvPr id="188" name="TextBox 187"/>
          <p:cNvSpPr txBox="1"/>
          <p:nvPr/>
        </p:nvSpPr>
        <p:spPr>
          <a:xfrm>
            <a:off x="7901281" y="2637357"/>
            <a:ext cx="540404" cy="338554"/>
          </a:xfrm>
          <a:prstGeom prst="rect">
            <a:avLst/>
          </a:prstGeom>
          <a:noFill/>
        </p:spPr>
        <p:txBody>
          <a:bodyPr wrap="none" rtlCol="0">
            <a:spAutoFit/>
          </a:bodyPr>
          <a:lstStyle/>
          <a:p>
            <a:r>
              <a:rPr lang="en-US" altLang="zh-CN" sz="1600" dirty="0" smtClean="0"/>
              <a:t>root</a:t>
            </a:r>
            <a:endParaRPr lang="zh-CN" altLang="en-US" dirty="0"/>
          </a:p>
        </p:txBody>
      </p:sp>
      <p:sp>
        <p:nvSpPr>
          <p:cNvPr id="189" name="TextBox 188"/>
          <p:cNvSpPr txBox="1"/>
          <p:nvPr/>
        </p:nvSpPr>
        <p:spPr>
          <a:xfrm>
            <a:off x="7879230" y="3268095"/>
            <a:ext cx="1128707" cy="584775"/>
          </a:xfrm>
          <a:prstGeom prst="rect">
            <a:avLst/>
          </a:prstGeom>
          <a:noFill/>
        </p:spPr>
        <p:txBody>
          <a:bodyPr wrap="none" rtlCol="0">
            <a:spAutoFit/>
          </a:bodyPr>
          <a:lstStyle/>
          <a:p>
            <a:r>
              <a:rPr lang="en-US" altLang="zh-CN" sz="1600" dirty="0" smtClean="0"/>
              <a:t>multi-page </a:t>
            </a:r>
          </a:p>
          <a:p>
            <a:r>
              <a:rPr lang="en-US" altLang="zh-CN" sz="1600" dirty="0" smtClean="0"/>
              <a:t>block</a:t>
            </a:r>
            <a:endParaRPr lang="zh-CN" altLang="en-US" sz="1600" dirty="0"/>
          </a:p>
        </p:txBody>
      </p:sp>
      <p:sp>
        <p:nvSpPr>
          <p:cNvPr id="190" name="TextBox 189"/>
          <p:cNvSpPr txBox="1"/>
          <p:nvPr/>
        </p:nvSpPr>
        <p:spPr>
          <a:xfrm>
            <a:off x="7863264" y="5510715"/>
            <a:ext cx="1175194" cy="584775"/>
          </a:xfrm>
          <a:prstGeom prst="rect">
            <a:avLst/>
          </a:prstGeom>
          <a:noFill/>
        </p:spPr>
        <p:txBody>
          <a:bodyPr wrap="none" rtlCol="0">
            <a:spAutoFit/>
          </a:bodyPr>
          <a:lstStyle/>
          <a:p>
            <a:r>
              <a:rPr lang="en-US" altLang="zh-CN" sz="1600" dirty="0" smtClean="0"/>
              <a:t>single-page </a:t>
            </a:r>
          </a:p>
          <a:p>
            <a:r>
              <a:rPr lang="en-US" altLang="zh-CN" sz="1600" dirty="0" smtClean="0"/>
              <a:t>block</a:t>
            </a:r>
            <a:endParaRPr lang="zh-CN" altLang="en-US" sz="1600" dirty="0"/>
          </a:p>
        </p:txBody>
      </p:sp>
      <p:sp>
        <p:nvSpPr>
          <p:cNvPr id="3" name="TextBox 2"/>
          <p:cNvSpPr txBox="1"/>
          <p:nvPr/>
        </p:nvSpPr>
        <p:spPr>
          <a:xfrm>
            <a:off x="3587783" y="2472894"/>
            <a:ext cx="1626664" cy="369332"/>
          </a:xfrm>
          <a:prstGeom prst="rect">
            <a:avLst/>
          </a:prstGeom>
          <a:noFill/>
        </p:spPr>
        <p:txBody>
          <a:bodyPr wrap="none" rtlCol="0">
            <a:spAutoFit/>
          </a:bodyPr>
          <a:lstStyle/>
          <a:p>
            <a:r>
              <a:rPr lang="en-US" altLang="zh-CN" b="1" dirty="0" smtClean="0"/>
              <a:t>index structure</a:t>
            </a:r>
            <a:endParaRPr lang="zh-CN" altLang="en-US" b="1" dirty="0"/>
          </a:p>
        </p:txBody>
      </p:sp>
      <p:sp>
        <p:nvSpPr>
          <p:cNvPr id="4" name="TextBox 3"/>
          <p:cNvSpPr txBox="1"/>
          <p:nvPr/>
        </p:nvSpPr>
        <p:spPr>
          <a:xfrm>
            <a:off x="258426" y="2248524"/>
            <a:ext cx="599459" cy="338554"/>
          </a:xfrm>
          <a:prstGeom prst="rect">
            <a:avLst/>
          </a:prstGeom>
          <a:noFill/>
        </p:spPr>
        <p:txBody>
          <a:bodyPr wrap="none" rtlCol="0">
            <a:spAutoFit/>
          </a:bodyPr>
          <a:lstStyle/>
          <a:p>
            <a:r>
              <a:rPr lang="en-US" altLang="zh-CN" sz="1600" b="1" dirty="0"/>
              <a:t>g</a:t>
            </a:r>
            <a:r>
              <a:rPr lang="en-US" altLang="zh-CN" sz="1600" b="1" dirty="0" smtClean="0"/>
              <a:t>et </a:t>
            </a:r>
            <a:r>
              <a:rPr lang="en-US" altLang="zh-CN" sz="1600" b="1" dirty="0" smtClean="0">
                <a:solidFill>
                  <a:srgbClr val="FF0000"/>
                </a:solidFill>
              </a:rPr>
              <a:t>a</a:t>
            </a:r>
            <a:endParaRPr lang="zh-CN" altLang="en-US" sz="1600" b="1" dirty="0">
              <a:solidFill>
                <a:srgbClr val="FF0000"/>
              </a:solidFill>
            </a:endParaRPr>
          </a:p>
        </p:txBody>
      </p:sp>
      <p:cxnSp>
        <p:nvCxnSpPr>
          <p:cNvPr id="6" name="直接连接符 5"/>
          <p:cNvCxnSpPr>
            <a:stCxn id="4" idx="3"/>
            <a:endCxn id="56" idx="1"/>
          </p:cNvCxnSpPr>
          <p:nvPr/>
        </p:nvCxnSpPr>
        <p:spPr>
          <a:xfrm flipV="1">
            <a:off x="857885" y="2063287"/>
            <a:ext cx="970602" cy="35451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9" name="直接连接符 68"/>
          <p:cNvCxnSpPr>
            <a:stCxn id="4" idx="3"/>
            <a:endCxn id="55" idx="1"/>
          </p:cNvCxnSpPr>
          <p:nvPr/>
        </p:nvCxnSpPr>
        <p:spPr>
          <a:xfrm>
            <a:off x="857885" y="2417801"/>
            <a:ext cx="701902" cy="1124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2" name="直接连接符 71"/>
          <p:cNvCxnSpPr>
            <a:stCxn id="4" idx="3"/>
            <a:endCxn id="54" idx="1"/>
          </p:cNvCxnSpPr>
          <p:nvPr/>
        </p:nvCxnSpPr>
        <p:spPr>
          <a:xfrm>
            <a:off x="857885" y="2417801"/>
            <a:ext cx="330699" cy="37700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65" name="内容占位符 2"/>
          <p:cNvSpPr>
            <a:spLocks noGrp="1"/>
          </p:cNvSpPr>
          <p:nvPr>
            <p:ph idx="1"/>
          </p:nvPr>
        </p:nvSpPr>
        <p:spPr>
          <a:xfrm>
            <a:off x="123825" y="3852870"/>
            <a:ext cx="4828304" cy="3005130"/>
          </a:xfrm>
        </p:spPr>
        <p:txBody>
          <a:bodyPr>
            <a:normAutofit fontScale="92500" lnSpcReduction="10000"/>
          </a:bodyPr>
          <a:lstStyle/>
          <a:p>
            <a:pPr marL="342900" indent="-342900">
              <a:lnSpc>
                <a:spcPct val="120000"/>
              </a:lnSpc>
              <a:spcBef>
                <a:spcPts val="600"/>
              </a:spcBef>
              <a:buFont typeface="Arial" panose="020B0604020202020204" pitchFamily="34" charset="0"/>
              <a:buChar char="•"/>
            </a:pPr>
            <a:r>
              <a:rPr lang="en-US" altLang="zh-CN" dirty="0" smtClean="0"/>
              <a:t>Queries are conducted level by level</a:t>
            </a:r>
          </a:p>
          <a:p>
            <a:pPr marL="342900" indent="-342900">
              <a:lnSpc>
                <a:spcPct val="120000"/>
              </a:lnSpc>
              <a:spcBef>
                <a:spcPts val="600"/>
              </a:spcBef>
              <a:buFont typeface="Arial" panose="020B0604020202020204" pitchFamily="34" charset="0"/>
              <a:buChar char="•"/>
            </a:pPr>
            <a:r>
              <a:rPr lang="en-US" altLang="zh-CN" dirty="0" smtClean="0"/>
              <a:t>In each level, an index is maintained in memory to map keys to disk blocks</a:t>
            </a:r>
          </a:p>
          <a:p>
            <a:pPr marL="342900" indent="-342900">
              <a:lnSpc>
                <a:spcPct val="120000"/>
              </a:lnSpc>
              <a:spcBef>
                <a:spcPts val="600"/>
              </a:spcBef>
              <a:buFont typeface="Arial" panose="020B0604020202020204" pitchFamily="34" charset="0"/>
              <a:buChar char="•"/>
            </a:pPr>
            <a:r>
              <a:rPr lang="en-US" altLang="zh-CN" dirty="0" smtClean="0"/>
              <a:t>The index is checked to </a:t>
            </a:r>
            <a:r>
              <a:rPr lang="en-US" altLang="zh-CN" dirty="0"/>
              <a:t>locate the disk block </a:t>
            </a:r>
            <a:r>
              <a:rPr lang="en-US" altLang="zh-CN" dirty="0" smtClean="0"/>
              <a:t>for the key/key range</a:t>
            </a:r>
          </a:p>
          <a:p>
            <a:pPr marL="342900" indent="-342900">
              <a:lnSpc>
                <a:spcPct val="120000"/>
              </a:lnSpc>
              <a:spcBef>
                <a:spcPts val="600"/>
              </a:spcBef>
              <a:buFont typeface="Arial" panose="020B0604020202020204" pitchFamily="34" charset="0"/>
              <a:buChar char="•"/>
            </a:pPr>
            <a:r>
              <a:rPr lang="en-US" altLang="zh-CN" dirty="0" smtClean="0"/>
              <a:t>The found disk block(s) will be loaded into buffer cache and serve there</a:t>
            </a:r>
          </a:p>
          <a:p>
            <a:pPr>
              <a:lnSpc>
                <a:spcPct val="120000"/>
              </a:lnSpc>
              <a:spcBef>
                <a:spcPts val="600"/>
              </a:spcBef>
            </a:pPr>
            <a:endParaRPr lang="en-US" altLang="zh-CN" dirty="0" smtClean="0"/>
          </a:p>
          <a:p>
            <a:pPr>
              <a:lnSpc>
                <a:spcPct val="120000"/>
              </a:lnSpc>
              <a:spcBef>
                <a:spcPts val="600"/>
              </a:spcBef>
            </a:pPr>
            <a:endParaRPr lang="zh-CN" altLang="en-US" dirty="0"/>
          </a:p>
        </p:txBody>
      </p:sp>
      <p:cxnSp>
        <p:nvCxnSpPr>
          <p:cNvPr id="60" name="直接箭头连接符 59"/>
          <p:cNvCxnSpPr>
            <a:stCxn id="165" idx="2"/>
            <a:endCxn id="149" idx="0"/>
          </p:cNvCxnSpPr>
          <p:nvPr/>
        </p:nvCxnSpPr>
        <p:spPr>
          <a:xfrm flipH="1">
            <a:off x="5511627" y="3960570"/>
            <a:ext cx="666960" cy="1754150"/>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5314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5">
                                            <p:txEl>
                                              <p:pRg st="0" end="0"/>
                                            </p:txEl>
                                          </p:spTgt>
                                        </p:tgtEl>
                                        <p:attrNameLst>
                                          <p:attrName>style.visibility</p:attrName>
                                        </p:attrNameLst>
                                      </p:cBhvr>
                                      <p:to>
                                        <p:strVal val="visible"/>
                                      </p:to>
                                    </p:set>
                                    <p:animEffect transition="in" filter="fade">
                                      <p:cBhvr>
                                        <p:cTn id="7" dur="500"/>
                                        <p:tgtEl>
                                          <p:spTgt spid="65">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250"/>
                                        <p:tgtEl>
                                          <p:spTgt spid="6"/>
                                        </p:tgtEl>
                                      </p:cBhvr>
                                    </p:animEffect>
                                  </p:childTnLst>
                                </p:cTn>
                              </p:par>
                            </p:childTnLst>
                          </p:cTn>
                        </p:par>
                        <p:par>
                          <p:cTn id="16" fill="hold">
                            <p:stCondLst>
                              <p:cond delay="1250"/>
                            </p:stCondLst>
                            <p:childTnLst>
                              <p:par>
                                <p:cTn id="17" presetID="10" presetClass="entr" presetSubtype="0" fill="hold" nodeType="afterEffect">
                                  <p:stCondLst>
                                    <p:cond delay="0"/>
                                  </p:stCondLst>
                                  <p:childTnLst>
                                    <p:set>
                                      <p:cBhvr>
                                        <p:cTn id="18" dur="1" fill="hold">
                                          <p:stCondLst>
                                            <p:cond delay="0"/>
                                          </p:stCondLst>
                                        </p:cTn>
                                        <p:tgtEl>
                                          <p:spTgt spid="69"/>
                                        </p:tgtEl>
                                        <p:attrNameLst>
                                          <p:attrName>style.visibility</p:attrName>
                                        </p:attrNameLst>
                                      </p:cBhvr>
                                      <p:to>
                                        <p:strVal val="visible"/>
                                      </p:to>
                                    </p:set>
                                    <p:animEffect transition="in" filter="fade">
                                      <p:cBhvr>
                                        <p:cTn id="19" dur="250"/>
                                        <p:tgtEl>
                                          <p:spTgt spid="69"/>
                                        </p:tgtEl>
                                      </p:cBhvr>
                                    </p:animEffect>
                                  </p:childTnLst>
                                </p:cTn>
                              </p:par>
                            </p:childTnLst>
                          </p:cTn>
                        </p:par>
                        <p:par>
                          <p:cTn id="20" fill="hold">
                            <p:stCondLst>
                              <p:cond delay="1500"/>
                            </p:stCondLst>
                            <p:childTnLst>
                              <p:par>
                                <p:cTn id="21" presetID="10" presetClass="entr" presetSubtype="0" fill="hold" nodeType="afterEffect">
                                  <p:stCondLst>
                                    <p:cond delay="0"/>
                                  </p:stCondLst>
                                  <p:childTnLst>
                                    <p:set>
                                      <p:cBhvr>
                                        <p:cTn id="22" dur="1" fill="hold">
                                          <p:stCondLst>
                                            <p:cond delay="0"/>
                                          </p:stCondLst>
                                        </p:cTn>
                                        <p:tgtEl>
                                          <p:spTgt spid="72"/>
                                        </p:tgtEl>
                                        <p:attrNameLst>
                                          <p:attrName>style.visibility</p:attrName>
                                        </p:attrNameLst>
                                      </p:cBhvr>
                                      <p:to>
                                        <p:strVal val="visible"/>
                                      </p:to>
                                    </p:set>
                                    <p:animEffect transition="in" filter="fade">
                                      <p:cBhvr>
                                        <p:cTn id="23" dur="250"/>
                                        <p:tgtEl>
                                          <p:spTgt spid="7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65">
                                            <p:txEl>
                                              <p:pRg st="1" end="1"/>
                                            </p:txEl>
                                          </p:spTgt>
                                        </p:tgtEl>
                                        <p:attrNameLst>
                                          <p:attrName>style.visibility</p:attrName>
                                        </p:attrNameLst>
                                      </p:cBhvr>
                                      <p:to>
                                        <p:strVal val="visible"/>
                                      </p:to>
                                    </p:set>
                                    <p:animEffect transition="in" filter="fade">
                                      <p:cBhvr>
                                        <p:cTn id="28" dur="500"/>
                                        <p:tgtEl>
                                          <p:spTgt spid="65">
                                            <p:txEl>
                                              <p:pRg st="1" end="1"/>
                                            </p:txEl>
                                          </p:spTgt>
                                        </p:tgtEl>
                                      </p:cBhvr>
                                    </p:animEffect>
                                  </p:childTnLst>
                                </p:cTn>
                              </p:par>
                            </p:childTnLst>
                          </p:cTn>
                        </p:par>
                        <p:par>
                          <p:cTn id="29" fill="hold">
                            <p:stCondLst>
                              <p:cond delay="500"/>
                            </p:stCondLst>
                            <p:childTnLst>
                              <p:par>
                                <p:cTn id="30" presetID="10" presetClass="entr" presetSubtype="0" fill="hold" nodeType="afterEffect">
                                  <p:stCondLst>
                                    <p:cond delay="0"/>
                                  </p:stCondLst>
                                  <p:childTnLst>
                                    <p:set>
                                      <p:cBhvr>
                                        <p:cTn id="31" dur="1" fill="hold">
                                          <p:stCondLst>
                                            <p:cond delay="0"/>
                                          </p:stCondLst>
                                        </p:cTn>
                                        <p:tgtEl>
                                          <p:spTgt spid="161"/>
                                        </p:tgtEl>
                                        <p:attrNameLst>
                                          <p:attrName>style.visibility</p:attrName>
                                        </p:attrNameLst>
                                      </p:cBhvr>
                                      <p:to>
                                        <p:strVal val="visible"/>
                                      </p:to>
                                    </p:set>
                                    <p:animEffect transition="in" filter="fade">
                                      <p:cBhvr>
                                        <p:cTn id="32" dur="500"/>
                                        <p:tgtEl>
                                          <p:spTgt spid="16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fade">
                                      <p:cBhvr>
                                        <p:cTn id="35" dur="500"/>
                                        <p:tgtEl>
                                          <p:spTgt spid="3"/>
                                        </p:tgtEl>
                                      </p:cBhvr>
                                    </p:animEffect>
                                  </p:childTnLst>
                                </p:cTn>
                              </p:par>
                            </p:childTnLst>
                          </p:cTn>
                        </p:par>
                        <p:par>
                          <p:cTn id="36" fill="hold">
                            <p:stCondLst>
                              <p:cond delay="1000"/>
                            </p:stCondLst>
                            <p:childTnLst>
                              <p:par>
                                <p:cTn id="37" presetID="10" presetClass="entr" presetSubtype="0" fill="hold" grpId="0" nodeType="afterEffect">
                                  <p:stCondLst>
                                    <p:cond delay="0"/>
                                  </p:stCondLst>
                                  <p:childTnLst>
                                    <p:set>
                                      <p:cBhvr>
                                        <p:cTn id="38" dur="1" fill="hold">
                                          <p:stCondLst>
                                            <p:cond delay="0"/>
                                          </p:stCondLst>
                                        </p:cTn>
                                        <p:tgtEl>
                                          <p:spTgt spid="89"/>
                                        </p:tgtEl>
                                        <p:attrNameLst>
                                          <p:attrName>style.visibility</p:attrName>
                                        </p:attrNameLst>
                                      </p:cBhvr>
                                      <p:to>
                                        <p:strVal val="visible"/>
                                      </p:to>
                                    </p:set>
                                    <p:animEffect transition="in" filter="fade">
                                      <p:cBhvr>
                                        <p:cTn id="39" dur="500"/>
                                        <p:tgtEl>
                                          <p:spTgt spid="8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88"/>
                                        </p:tgtEl>
                                        <p:attrNameLst>
                                          <p:attrName>style.visibility</p:attrName>
                                        </p:attrNameLst>
                                      </p:cBhvr>
                                      <p:to>
                                        <p:strVal val="visible"/>
                                      </p:to>
                                    </p:set>
                                    <p:animEffect transition="in" filter="fade">
                                      <p:cBhvr>
                                        <p:cTn id="42" dur="500"/>
                                        <p:tgtEl>
                                          <p:spTgt spid="188"/>
                                        </p:tgtEl>
                                      </p:cBhvr>
                                    </p:animEffect>
                                  </p:childTnLst>
                                </p:cTn>
                              </p:par>
                            </p:childTnLst>
                          </p:cTn>
                        </p:par>
                        <p:par>
                          <p:cTn id="43" fill="hold">
                            <p:stCondLst>
                              <p:cond delay="1500"/>
                            </p:stCondLst>
                            <p:childTnLst>
                              <p:par>
                                <p:cTn id="44" presetID="10" presetClass="entr" presetSubtype="0" fill="hold" nodeType="afterEffect">
                                  <p:stCondLst>
                                    <p:cond delay="0"/>
                                  </p:stCondLst>
                                  <p:childTnLst>
                                    <p:set>
                                      <p:cBhvr>
                                        <p:cTn id="45" dur="1" fill="hold">
                                          <p:stCondLst>
                                            <p:cond delay="0"/>
                                          </p:stCondLst>
                                        </p:cTn>
                                        <p:tgtEl>
                                          <p:spTgt spid="92"/>
                                        </p:tgtEl>
                                        <p:attrNameLst>
                                          <p:attrName>style.visibility</p:attrName>
                                        </p:attrNameLst>
                                      </p:cBhvr>
                                      <p:to>
                                        <p:strVal val="visible"/>
                                      </p:to>
                                    </p:set>
                                    <p:animEffect transition="in" filter="fade">
                                      <p:cBhvr>
                                        <p:cTn id="46" dur="500"/>
                                        <p:tgtEl>
                                          <p:spTgt spid="9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90"/>
                                        </p:tgtEl>
                                        <p:attrNameLst>
                                          <p:attrName>style.visibility</p:attrName>
                                        </p:attrNameLst>
                                      </p:cBhvr>
                                      <p:to>
                                        <p:strVal val="visible"/>
                                      </p:to>
                                    </p:set>
                                    <p:animEffect transition="in" filter="fade">
                                      <p:cBhvr>
                                        <p:cTn id="49" dur="500"/>
                                        <p:tgtEl>
                                          <p:spTgt spid="9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91"/>
                                        </p:tgtEl>
                                        <p:attrNameLst>
                                          <p:attrName>style.visibility</p:attrName>
                                        </p:attrNameLst>
                                      </p:cBhvr>
                                      <p:to>
                                        <p:strVal val="visible"/>
                                      </p:to>
                                    </p:set>
                                    <p:animEffect transition="in" filter="fade">
                                      <p:cBhvr>
                                        <p:cTn id="52" dur="500"/>
                                        <p:tgtEl>
                                          <p:spTgt spid="91"/>
                                        </p:tgtEl>
                                      </p:cBhvr>
                                    </p:animEffect>
                                  </p:childTnLst>
                                </p:cTn>
                              </p:par>
                              <p:par>
                                <p:cTn id="53" presetID="10" presetClass="entr" presetSubtype="0" fill="hold" nodeType="withEffect">
                                  <p:stCondLst>
                                    <p:cond delay="0"/>
                                  </p:stCondLst>
                                  <p:childTnLst>
                                    <p:set>
                                      <p:cBhvr>
                                        <p:cTn id="54" dur="1" fill="hold">
                                          <p:stCondLst>
                                            <p:cond delay="0"/>
                                          </p:stCondLst>
                                        </p:cTn>
                                        <p:tgtEl>
                                          <p:spTgt spid="93"/>
                                        </p:tgtEl>
                                        <p:attrNameLst>
                                          <p:attrName>style.visibility</p:attrName>
                                        </p:attrNameLst>
                                      </p:cBhvr>
                                      <p:to>
                                        <p:strVal val="visible"/>
                                      </p:to>
                                    </p:set>
                                    <p:animEffect transition="in" filter="fade">
                                      <p:cBhvr>
                                        <p:cTn id="55" dur="500"/>
                                        <p:tgtEl>
                                          <p:spTgt spid="93"/>
                                        </p:tgtEl>
                                      </p:cBhvr>
                                    </p:animEffect>
                                  </p:childTnLst>
                                </p:cTn>
                              </p:par>
                              <p:par>
                                <p:cTn id="56" presetID="10" presetClass="entr" presetSubtype="0" fill="hold" nodeType="withEffect">
                                  <p:stCondLst>
                                    <p:cond delay="0"/>
                                  </p:stCondLst>
                                  <p:childTnLst>
                                    <p:set>
                                      <p:cBhvr>
                                        <p:cTn id="57" dur="1" fill="hold">
                                          <p:stCondLst>
                                            <p:cond delay="0"/>
                                          </p:stCondLst>
                                        </p:cTn>
                                        <p:tgtEl>
                                          <p:spTgt spid="94"/>
                                        </p:tgtEl>
                                        <p:attrNameLst>
                                          <p:attrName>style.visibility</p:attrName>
                                        </p:attrNameLst>
                                      </p:cBhvr>
                                      <p:to>
                                        <p:strVal val="visible"/>
                                      </p:to>
                                    </p:set>
                                    <p:animEffect transition="in" filter="fade">
                                      <p:cBhvr>
                                        <p:cTn id="58" dur="500"/>
                                        <p:tgtEl>
                                          <p:spTgt spid="9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89"/>
                                        </p:tgtEl>
                                        <p:attrNameLst>
                                          <p:attrName>style.visibility</p:attrName>
                                        </p:attrNameLst>
                                      </p:cBhvr>
                                      <p:to>
                                        <p:strVal val="visible"/>
                                      </p:to>
                                    </p:set>
                                    <p:animEffect transition="in" filter="fade">
                                      <p:cBhvr>
                                        <p:cTn id="61" dur="500"/>
                                        <p:tgtEl>
                                          <p:spTgt spid="189"/>
                                        </p:tgtEl>
                                      </p:cBhvr>
                                    </p:animEffect>
                                  </p:childTnLst>
                                </p:cTn>
                              </p:par>
                            </p:childTnLst>
                          </p:cTn>
                        </p:par>
                        <p:par>
                          <p:cTn id="62" fill="hold">
                            <p:stCondLst>
                              <p:cond delay="2000"/>
                            </p:stCondLst>
                            <p:childTnLst>
                              <p:par>
                                <p:cTn id="63" presetID="10" presetClass="entr" presetSubtype="0" fill="hold" grpId="0" nodeType="afterEffect">
                                  <p:stCondLst>
                                    <p:cond delay="0"/>
                                  </p:stCondLst>
                                  <p:childTnLst>
                                    <p:set>
                                      <p:cBhvr>
                                        <p:cTn id="64" dur="1" fill="hold">
                                          <p:stCondLst>
                                            <p:cond delay="0"/>
                                          </p:stCondLst>
                                        </p:cTn>
                                        <p:tgtEl>
                                          <p:spTgt spid="134"/>
                                        </p:tgtEl>
                                        <p:attrNameLst>
                                          <p:attrName>style.visibility</p:attrName>
                                        </p:attrNameLst>
                                      </p:cBhvr>
                                      <p:to>
                                        <p:strVal val="visible"/>
                                      </p:to>
                                    </p:set>
                                    <p:animEffect transition="in" filter="fade">
                                      <p:cBhvr>
                                        <p:cTn id="65" dur="500"/>
                                        <p:tgtEl>
                                          <p:spTgt spid="13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58"/>
                                        </p:tgtEl>
                                        <p:attrNameLst>
                                          <p:attrName>style.visibility</p:attrName>
                                        </p:attrNameLst>
                                      </p:cBhvr>
                                      <p:to>
                                        <p:strVal val="visible"/>
                                      </p:to>
                                    </p:set>
                                    <p:animEffect transition="in" filter="fade">
                                      <p:cBhvr>
                                        <p:cTn id="68" dur="500"/>
                                        <p:tgtEl>
                                          <p:spTgt spid="158"/>
                                        </p:tgtEl>
                                      </p:cBhvr>
                                    </p:animEffect>
                                  </p:childTnLst>
                                </p:cTn>
                              </p:par>
                              <p:par>
                                <p:cTn id="69" presetID="10" presetClass="entr" presetSubtype="0" fill="hold" nodeType="withEffect">
                                  <p:stCondLst>
                                    <p:cond delay="0"/>
                                  </p:stCondLst>
                                  <p:childTnLst>
                                    <p:set>
                                      <p:cBhvr>
                                        <p:cTn id="70" dur="1" fill="hold">
                                          <p:stCondLst>
                                            <p:cond delay="0"/>
                                          </p:stCondLst>
                                        </p:cTn>
                                        <p:tgtEl>
                                          <p:spTgt spid="110"/>
                                        </p:tgtEl>
                                        <p:attrNameLst>
                                          <p:attrName>style.visibility</p:attrName>
                                        </p:attrNameLst>
                                      </p:cBhvr>
                                      <p:to>
                                        <p:strVal val="visible"/>
                                      </p:to>
                                    </p:set>
                                    <p:animEffect transition="in" filter="fade">
                                      <p:cBhvr>
                                        <p:cTn id="71" dur="500"/>
                                        <p:tgtEl>
                                          <p:spTgt spid="110"/>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151"/>
                                        </p:tgtEl>
                                        <p:attrNameLst>
                                          <p:attrName>style.visibility</p:attrName>
                                        </p:attrNameLst>
                                      </p:cBhvr>
                                      <p:to>
                                        <p:strVal val="visible"/>
                                      </p:to>
                                    </p:set>
                                    <p:animEffect transition="in" filter="fade">
                                      <p:cBhvr>
                                        <p:cTn id="74" dur="500"/>
                                        <p:tgtEl>
                                          <p:spTgt spid="151"/>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153"/>
                                        </p:tgtEl>
                                        <p:attrNameLst>
                                          <p:attrName>style.visibility</p:attrName>
                                        </p:attrNameLst>
                                      </p:cBhvr>
                                      <p:to>
                                        <p:strVal val="visible"/>
                                      </p:to>
                                    </p:set>
                                    <p:animEffect transition="in" filter="fade">
                                      <p:cBhvr>
                                        <p:cTn id="77" dur="500"/>
                                        <p:tgtEl>
                                          <p:spTgt spid="153"/>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154"/>
                                        </p:tgtEl>
                                        <p:attrNameLst>
                                          <p:attrName>style.visibility</p:attrName>
                                        </p:attrNameLst>
                                      </p:cBhvr>
                                      <p:to>
                                        <p:strVal val="visible"/>
                                      </p:to>
                                    </p:set>
                                    <p:animEffect transition="in" filter="fade">
                                      <p:cBhvr>
                                        <p:cTn id="80" dur="500"/>
                                        <p:tgtEl>
                                          <p:spTgt spid="154"/>
                                        </p:tgtEl>
                                      </p:cBhvr>
                                    </p:animEffect>
                                  </p:childTnLst>
                                </p:cTn>
                              </p:par>
                              <p:par>
                                <p:cTn id="81" presetID="10" presetClass="entr" presetSubtype="0" fill="hold" nodeType="withEffect">
                                  <p:stCondLst>
                                    <p:cond delay="0"/>
                                  </p:stCondLst>
                                  <p:childTnLst>
                                    <p:set>
                                      <p:cBhvr>
                                        <p:cTn id="82" dur="1" fill="hold">
                                          <p:stCondLst>
                                            <p:cond delay="0"/>
                                          </p:stCondLst>
                                        </p:cTn>
                                        <p:tgtEl>
                                          <p:spTgt spid="125"/>
                                        </p:tgtEl>
                                        <p:attrNameLst>
                                          <p:attrName>style.visibility</p:attrName>
                                        </p:attrNameLst>
                                      </p:cBhvr>
                                      <p:to>
                                        <p:strVal val="visible"/>
                                      </p:to>
                                    </p:set>
                                    <p:animEffect transition="in" filter="fade">
                                      <p:cBhvr>
                                        <p:cTn id="83" dur="500"/>
                                        <p:tgtEl>
                                          <p:spTgt spid="125"/>
                                        </p:tgtEl>
                                      </p:cBhvr>
                                    </p:animEffect>
                                  </p:childTnLst>
                                </p:cTn>
                              </p:par>
                              <p:par>
                                <p:cTn id="84" presetID="10" presetClass="entr" presetSubtype="0" fill="hold" nodeType="withEffect">
                                  <p:stCondLst>
                                    <p:cond delay="0"/>
                                  </p:stCondLst>
                                  <p:childTnLst>
                                    <p:set>
                                      <p:cBhvr>
                                        <p:cTn id="85" dur="1" fill="hold">
                                          <p:stCondLst>
                                            <p:cond delay="0"/>
                                          </p:stCondLst>
                                        </p:cTn>
                                        <p:tgtEl>
                                          <p:spTgt spid="126"/>
                                        </p:tgtEl>
                                        <p:attrNameLst>
                                          <p:attrName>style.visibility</p:attrName>
                                        </p:attrNameLst>
                                      </p:cBhvr>
                                      <p:to>
                                        <p:strVal val="visible"/>
                                      </p:to>
                                    </p:set>
                                    <p:animEffect transition="in" filter="fade">
                                      <p:cBhvr>
                                        <p:cTn id="86" dur="500"/>
                                        <p:tgtEl>
                                          <p:spTgt spid="126"/>
                                        </p:tgtEl>
                                      </p:cBhvr>
                                    </p:animEffect>
                                  </p:childTnLst>
                                </p:cTn>
                              </p:par>
                              <p:par>
                                <p:cTn id="87" presetID="10" presetClass="entr" presetSubtype="0" fill="hold" nodeType="withEffect">
                                  <p:stCondLst>
                                    <p:cond delay="0"/>
                                  </p:stCondLst>
                                  <p:childTnLst>
                                    <p:set>
                                      <p:cBhvr>
                                        <p:cTn id="88" dur="1" fill="hold">
                                          <p:stCondLst>
                                            <p:cond delay="0"/>
                                          </p:stCondLst>
                                        </p:cTn>
                                        <p:tgtEl>
                                          <p:spTgt spid="127"/>
                                        </p:tgtEl>
                                        <p:attrNameLst>
                                          <p:attrName>style.visibility</p:attrName>
                                        </p:attrNameLst>
                                      </p:cBhvr>
                                      <p:to>
                                        <p:strVal val="visible"/>
                                      </p:to>
                                    </p:set>
                                    <p:animEffect transition="in" filter="fade">
                                      <p:cBhvr>
                                        <p:cTn id="89" dur="500"/>
                                        <p:tgtEl>
                                          <p:spTgt spid="127"/>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149"/>
                                        </p:tgtEl>
                                        <p:attrNameLst>
                                          <p:attrName>style.visibility</p:attrName>
                                        </p:attrNameLst>
                                      </p:cBhvr>
                                      <p:to>
                                        <p:strVal val="visible"/>
                                      </p:to>
                                    </p:set>
                                    <p:animEffect transition="in" filter="fade">
                                      <p:cBhvr>
                                        <p:cTn id="92" dur="500"/>
                                        <p:tgtEl>
                                          <p:spTgt spid="149"/>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150"/>
                                        </p:tgtEl>
                                        <p:attrNameLst>
                                          <p:attrName>style.visibility</p:attrName>
                                        </p:attrNameLst>
                                      </p:cBhvr>
                                      <p:to>
                                        <p:strVal val="visible"/>
                                      </p:to>
                                    </p:set>
                                    <p:animEffect transition="in" filter="fade">
                                      <p:cBhvr>
                                        <p:cTn id="95" dur="500"/>
                                        <p:tgtEl>
                                          <p:spTgt spid="150"/>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152"/>
                                        </p:tgtEl>
                                        <p:attrNameLst>
                                          <p:attrName>style.visibility</p:attrName>
                                        </p:attrNameLst>
                                      </p:cBhvr>
                                      <p:to>
                                        <p:strVal val="visible"/>
                                      </p:to>
                                    </p:set>
                                    <p:animEffect transition="in" filter="fade">
                                      <p:cBhvr>
                                        <p:cTn id="98" dur="500"/>
                                        <p:tgtEl>
                                          <p:spTgt spid="152"/>
                                        </p:tgtEl>
                                      </p:cBhvr>
                                    </p:animEffect>
                                  </p:childTnLst>
                                </p:cTn>
                              </p:par>
                              <p:par>
                                <p:cTn id="99" presetID="10" presetClass="entr" presetSubtype="0" fill="hold" nodeType="withEffect">
                                  <p:stCondLst>
                                    <p:cond delay="0"/>
                                  </p:stCondLst>
                                  <p:childTnLst>
                                    <p:set>
                                      <p:cBhvr>
                                        <p:cTn id="100" dur="1" fill="hold">
                                          <p:stCondLst>
                                            <p:cond delay="0"/>
                                          </p:stCondLst>
                                        </p:cTn>
                                        <p:tgtEl>
                                          <p:spTgt spid="116"/>
                                        </p:tgtEl>
                                        <p:attrNameLst>
                                          <p:attrName>style.visibility</p:attrName>
                                        </p:attrNameLst>
                                      </p:cBhvr>
                                      <p:to>
                                        <p:strVal val="visible"/>
                                      </p:to>
                                    </p:set>
                                    <p:animEffect transition="in" filter="fade">
                                      <p:cBhvr>
                                        <p:cTn id="101" dur="500"/>
                                        <p:tgtEl>
                                          <p:spTgt spid="116"/>
                                        </p:tgtEl>
                                      </p:cBhvr>
                                    </p:animEffect>
                                  </p:childTnLst>
                                </p:cTn>
                              </p:par>
                              <p:par>
                                <p:cTn id="102" presetID="10" presetClass="entr" presetSubtype="0" fill="hold" nodeType="withEffect">
                                  <p:stCondLst>
                                    <p:cond delay="0"/>
                                  </p:stCondLst>
                                  <p:childTnLst>
                                    <p:set>
                                      <p:cBhvr>
                                        <p:cTn id="103" dur="1" fill="hold">
                                          <p:stCondLst>
                                            <p:cond delay="0"/>
                                          </p:stCondLst>
                                        </p:cTn>
                                        <p:tgtEl>
                                          <p:spTgt spid="117"/>
                                        </p:tgtEl>
                                        <p:attrNameLst>
                                          <p:attrName>style.visibility</p:attrName>
                                        </p:attrNameLst>
                                      </p:cBhvr>
                                      <p:to>
                                        <p:strVal val="visible"/>
                                      </p:to>
                                    </p:set>
                                    <p:animEffect transition="in" filter="fade">
                                      <p:cBhvr>
                                        <p:cTn id="104" dur="500"/>
                                        <p:tgtEl>
                                          <p:spTgt spid="117"/>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190"/>
                                        </p:tgtEl>
                                        <p:attrNameLst>
                                          <p:attrName>style.visibility</p:attrName>
                                        </p:attrNameLst>
                                      </p:cBhvr>
                                      <p:to>
                                        <p:strVal val="visible"/>
                                      </p:to>
                                    </p:set>
                                    <p:animEffect transition="in" filter="fade">
                                      <p:cBhvr>
                                        <p:cTn id="107" dur="500"/>
                                        <p:tgtEl>
                                          <p:spTgt spid="190"/>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65">
                                            <p:txEl>
                                              <p:pRg st="2" end="2"/>
                                            </p:txEl>
                                          </p:spTgt>
                                        </p:tgtEl>
                                        <p:attrNameLst>
                                          <p:attrName>style.visibility</p:attrName>
                                        </p:attrNameLst>
                                      </p:cBhvr>
                                      <p:to>
                                        <p:strVal val="visible"/>
                                      </p:to>
                                    </p:set>
                                    <p:animEffect transition="in" filter="fade">
                                      <p:cBhvr>
                                        <p:cTn id="112" dur="500"/>
                                        <p:tgtEl>
                                          <p:spTgt spid="65">
                                            <p:txEl>
                                              <p:pRg st="2" end="2"/>
                                            </p:txEl>
                                          </p:spTgt>
                                        </p:tgtEl>
                                      </p:cBhvr>
                                    </p:animEffect>
                                  </p:childTnLst>
                                </p:cTn>
                              </p:par>
                            </p:childTnLst>
                          </p:cTn>
                        </p:par>
                      </p:childTnLst>
                    </p:cTn>
                  </p:par>
                  <p:par>
                    <p:cTn id="113" fill="hold">
                      <p:stCondLst>
                        <p:cond delay="indefinite"/>
                      </p:stCondLst>
                      <p:childTnLst>
                        <p:par>
                          <p:cTn id="114" fill="hold">
                            <p:stCondLst>
                              <p:cond delay="0"/>
                            </p:stCondLst>
                            <p:childTnLst>
                              <p:par>
                                <p:cTn id="115" presetID="7" presetClass="emph" presetSubtype="2" fill="hold" nodeType="clickEffect">
                                  <p:stCondLst>
                                    <p:cond delay="0"/>
                                  </p:stCondLst>
                                  <p:childTnLst>
                                    <p:animClr clrSpc="rgb" dir="cw">
                                      <p:cBhvr>
                                        <p:cTn id="116" dur="250" fill="hold"/>
                                        <p:tgtEl>
                                          <p:spTgt spid="161"/>
                                        </p:tgtEl>
                                        <p:attrNameLst>
                                          <p:attrName>stroke.color</p:attrName>
                                        </p:attrNameLst>
                                      </p:cBhvr>
                                      <p:to>
                                        <a:srgbClr val="FF0000"/>
                                      </p:to>
                                    </p:animClr>
                                    <p:set>
                                      <p:cBhvr>
                                        <p:cTn id="117" dur="250" fill="hold"/>
                                        <p:tgtEl>
                                          <p:spTgt spid="161"/>
                                        </p:tgtEl>
                                        <p:attrNameLst>
                                          <p:attrName>stroke.on</p:attrName>
                                        </p:attrNameLst>
                                      </p:cBhvr>
                                      <p:to>
                                        <p:strVal val="true"/>
                                      </p:to>
                                    </p:set>
                                  </p:childTnLst>
                                </p:cTn>
                              </p:par>
                            </p:childTnLst>
                          </p:cTn>
                        </p:par>
                        <p:par>
                          <p:cTn id="118" fill="hold">
                            <p:stCondLst>
                              <p:cond delay="250"/>
                            </p:stCondLst>
                            <p:childTnLst>
                              <p:par>
                                <p:cTn id="119" presetID="3" presetClass="emph" presetSubtype="2" fill="hold" grpId="1" nodeType="afterEffect">
                                  <p:stCondLst>
                                    <p:cond delay="0"/>
                                  </p:stCondLst>
                                  <p:childTnLst>
                                    <p:animClr clrSpc="rgb" dir="cw">
                                      <p:cBhvr override="childStyle">
                                        <p:cTn id="120" dur="250" fill="hold"/>
                                        <p:tgtEl>
                                          <p:spTgt spid="89"/>
                                        </p:tgtEl>
                                        <p:attrNameLst>
                                          <p:attrName>style.color</p:attrName>
                                        </p:attrNameLst>
                                      </p:cBhvr>
                                      <p:to>
                                        <a:srgbClr val="FF0000"/>
                                      </p:to>
                                    </p:animClr>
                                  </p:childTnLst>
                                </p:cTn>
                              </p:par>
                            </p:childTnLst>
                          </p:cTn>
                        </p:par>
                        <p:par>
                          <p:cTn id="121" fill="hold">
                            <p:stCondLst>
                              <p:cond delay="500"/>
                            </p:stCondLst>
                            <p:childTnLst>
                              <p:par>
                                <p:cTn id="122" presetID="7" presetClass="emph" presetSubtype="2" fill="hold" nodeType="afterEffect">
                                  <p:stCondLst>
                                    <p:cond delay="0"/>
                                  </p:stCondLst>
                                  <p:childTnLst>
                                    <p:animClr clrSpc="rgb" dir="cw">
                                      <p:cBhvr>
                                        <p:cTn id="123" dur="250" fill="hold"/>
                                        <p:tgtEl>
                                          <p:spTgt spid="92"/>
                                        </p:tgtEl>
                                        <p:attrNameLst>
                                          <p:attrName>stroke.color</p:attrName>
                                        </p:attrNameLst>
                                      </p:cBhvr>
                                      <p:to>
                                        <a:srgbClr val="FF0000"/>
                                      </p:to>
                                    </p:animClr>
                                    <p:set>
                                      <p:cBhvr>
                                        <p:cTn id="124" dur="250" fill="hold"/>
                                        <p:tgtEl>
                                          <p:spTgt spid="92"/>
                                        </p:tgtEl>
                                        <p:attrNameLst>
                                          <p:attrName>stroke.on</p:attrName>
                                        </p:attrNameLst>
                                      </p:cBhvr>
                                      <p:to>
                                        <p:strVal val="true"/>
                                      </p:to>
                                    </p:set>
                                  </p:childTnLst>
                                </p:cTn>
                              </p:par>
                            </p:childTnLst>
                          </p:cTn>
                        </p:par>
                        <p:par>
                          <p:cTn id="125" fill="hold">
                            <p:stCondLst>
                              <p:cond delay="750"/>
                            </p:stCondLst>
                            <p:childTnLst>
                              <p:par>
                                <p:cTn id="126" presetID="3" presetClass="emph" presetSubtype="2" fill="hold" grpId="1" nodeType="afterEffect">
                                  <p:stCondLst>
                                    <p:cond delay="0"/>
                                  </p:stCondLst>
                                  <p:childTnLst>
                                    <p:animClr clrSpc="rgb" dir="cw">
                                      <p:cBhvr override="childStyle">
                                        <p:cTn id="127" dur="250" fill="hold"/>
                                        <p:tgtEl>
                                          <p:spTgt spid="90"/>
                                        </p:tgtEl>
                                        <p:attrNameLst>
                                          <p:attrName>style.color</p:attrName>
                                        </p:attrNameLst>
                                      </p:cBhvr>
                                      <p:to>
                                        <a:srgbClr val="FF0000"/>
                                      </p:to>
                                    </p:animClr>
                                  </p:childTnLst>
                                </p:cTn>
                              </p:par>
                            </p:childTnLst>
                          </p:cTn>
                        </p:par>
                        <p:par>
                          <p:cTn id="128" fill="hold">
                            <p:stCondLst>
                              <p:cond delay="1000"/>
                            </p:stCondLst>
                            <p:childTnLst>
                              <p:par>
                                <p:cTn id="129" presetID="7" presetClass="emph" presetSubtype="2" fill="hold" nodeType="afterEffect">
                                  <p:stCondLst>
                                    <p:cond delay="0"/>
                                  </p:stCondLst>
                                  <p:childTnLst>
                                    <p:animClr clrSpc="rgb" dir="cw">
                                      <p:cBhvr>
                                        <p:cTn id="130" dur="250" fill="hold"/>
                                        <p:tgtEl>
                                          <p:spTgt spid="110"/>
                                        </p:tgtEl>
                                        <p:attrNameLst>
                                          <p:attrName>stroke.color</p:attrName>
                                        </p:attrNameLst>
                                      </p:cBhvr>
                                      <p:to>
                                        <a:srgbClr val="FF0000"/>
                                      </p:to>
                                    </p:animClr>
                                    <p:set>
                                      <p:cBhvr>
                                        <p:cTn id="131" dur="250" fill="hold"/>
                                        <p:tgtEl>
                                          <p:spTgt spid="110"/>
                                        </p:tgtEl>
                                        <p:attrNameLst>
                                          <p:attrName>stroke.on</p:attrName>
                                        </p:attrNameLst>
                                      </p:cBhvr>
                                      <p:to>
                                        <p:strVal val="true"/>
                                      </p:to>
                                    </p:set>
                                  </p:childTnLst>
                                </p:cTn>
                              </p:par>
                            </p:childTnLst>
                          </p:cTn>
                        </p:par>
                        <p:par>
                          <p:cTn id="132" fill="hold">
                            <p:stCondLst>
                              <p:cond delay="1250"/>
                            </p:stCondLst>
                            <p:childTnLst>
                              <p:par>
                                <p:cTn id="133" presetID="32" presetClass="emph" presetSubtype="0" fill="hold" nodeType="afterEffect">
                                  <p:stCondLst>
                                    <p:cond delay="0"/>
                                  </p:stCondLst>
                                  <p:childTnLst>
                                    <p:animRot by="120000">
                                      <p:cBhvr>
                                        <p:cTn id="134" dur="100" fill="hold">
                                          <p:stCondLst>
                                            <p:cond delay="0"/>
                                          </p:stCondLst>
                                        </p:cTn>
                                        <p:tgtEl>
                                          <p:spTgt spid="161"/>
                                        </p:tgtEl>
                                        <p:attrNameLst>
                                          <p:attrName>r</p:attrName>
                                        </p:attrNameLst>
                                      </p:cBhvr>
                                    </p:animRot>
                                    <p:animRot by="-240000">
                                      <p:cBhvr>
                                        <p:cTn id="135" dur="200" fill="hold">
                                          <p:stCondLst>
                                            <p:cond delay="200"/>
                                          </p:stCondLst>
                                        </p:cTn>
                                        <p:tgtEl>
                                          <p:spTgt spid="161"/>
                                        </p:tgtEl>
                                        <p:attrNameLst>
                                          <p:attrName>r</p:attrName>
                                        </p:attrNameLst>
                                      </p:cBhvr>
                                    </p:animRot>
                                    <p:animRot by="240000">
                                      <p:cBhvr>
                                        <p:cTn id="136" dur="200" fill="hold">
                                          <p:stCondLst>
                                            <p:cond delay="400"/>
                                          </p:stCondLst>
                                        </p:cTn>
                                        <p:tgtEl>
                                          <p:spTgt spid="161"/>
                                        </p:tgtEl>
                                        <p:attrNameLst>
                                          <p:attrName>r</p:attrName>
                                        </p:attrNameLst>
                                      </p:cBhvr>
                                    </p:animRot>
                                    <p:animRot by="-240000">
                                      <p:cBhvr>
                                        <p:cTn id="137" dur="200" fill="hold">
                                          <p:stCondLst>
                                            <p:cond delay="600"/>
                                          </p:stCondLst>
                                        </p:cTn>
                                        <p:tgtEl>
                                          <p:spTgt spid="161"/>
                                        </p:tgtEl>
                                        <p:attrNameLst>
                                          <p:attrName>r</p:attrName>
                                        </p:attrNameLst>
                                      </p:cBhvr>
                                    </p:animRot>
                                    <p:animRot by="120000">
                                      <p:cBhvr>
                                        <p:cTn id="138" dur="200" fill="hold">
                                          <p:stCondLst>
                                            <p:cond delay="800"/>
                                          </p:stCondLst>
                                        </p:cTn>
                                        <p:tgtEl>
                                          <p:spTgt spid="161"/>
                                        </p:tgtEl>
                                        <p:attrNameLst>
                                          <p:attrName>r</p:attrName>
                                        </p:attrNameLst>
                                      </p:cBhvr>
                                    </p:animRot>
                                  </p:childTnLst>
                                </p:cTn>
                              </p:par>
                              <p:par>
                                <p:cTn id="139" presetID="32" presetClass="emph" presetSubtype="0" fill="hold" nodeType="withEffect">
                                  <p:stCondLst>
                                    <p:cond delay="0"/>
                                  </p:stCondLst>
                                  <p:childTnLst>
                                    <p:animRot by="120000">
                                      <p:cBhvr>
                                        <p:cTn id="140" dur="100" fill="hold">
                                          <p:stCondLst>
                                            <p:cond delay="0"/>
                                          </p:stCondLst>
                                        </p:cTn>
                                        <p:tgtEl>
                                          <p:spTgt spid="92"/>
                                        </p:tgtEl>
                                        <p:attrNameLst>
                                          <p:attrName>r</p:attrName>
                                        </p:attrNameLst>
                                      </p:cBhvr>
                                    </p:animRot>
                                    <p:animRot by="-240000">
                                      <p:cBhvr>
                                        <p:cTn id="141" dur="200" fill="hold">
                                          <p:stCondLst>
                                            <p:cond delay="200"/>
                                          </p:stCondLst>
                                        </p:cTn>
                                        <p:tgtEl>
                                          <p:spTgt spid="92"/>
                                        </p:tgtEl>
                                        <p:attrNameLst>
                                          <p:attrName>r</p:attrName>
                                        </p:attrNameLst>
                                      </p:cBhvr>
                                    </p:animRot>
                                    <p:animRot by="240000">
                                      <p:cBhvr>
                                        <p:cTn id="142" dur="200" fill="hold">
                                          <p:stCondLst>
                                            <p:cond delay="400"/>
                                          </p:stCondLst>
                                        </p:cTn>
                                        <p:tgtEl>
                                          <p:spTgt spid="92"/>
                                        </p:tgtEl>
                                        <p:attrNameLst>
                                          <p:attrName>r</p:attrName>
                                        </p:attrNameLst>
                                      </p:cBhvr>
                                    </p:animRot>
                                    <p:animRot by="-240000">
                                      <p:cBhvr>
                                        <p:cTn id="143" dur="200" fill="hold">
                                          <p:stCondLst>
                                            <p:cond delay="600"/>
                                          </p:stCondLst>
                                        </p:cTn>
                                        <p:tgtEl>
                                          <p:spTgt spid="92"/>
                                        </p:tgtEl>
                                        <p:attrNameLst>
                                          <p:attrName>r</p:attrName>
                                        </p:attrNameLst>
                                      </p:cBhvr>
                                    </p:animRot>
                                    <p:animRot by="120000">
                                      <p:cBhvr>
                                        <p:cTn id="144" dur="200" fill="hold">
                                          <p:stCondLst>
                                            <p:cond delay="800"/>
                                          </p:stCondLst>
                                        </p:cTn>
                                        <p:tgtEl>
                                          <p:spTgt spid="92"/>
                                        </p:tgtEl>
                                        <p:attrNameLst>
                                          <p:attrName>r</p:attrName>
                                        </p:attrNameLst>
                                      </p:cBhvr>
                                    </p:animRot>
                                  </p:childTnLst>
                                </p:cTn>
                              </p:par>
                              <p:par>
                                <p:cTn id="145" presetID="32" presetClass="emph" presetSubtype="0" fill="hold" nodeType="withEffect">
                                  <p:stCondLst>
                                    <p:cond delay="0"/>
                                  </p:stCondLst>
                                  <p:childTnLst>
                                    <p:animRot by="120000">
                                      <p:cBhvr>
                                        <p:cTn id="146" dur="100" fill="hold">
                                          <p:stCondLst>
                                            <p:cond delay="0"/>
                                          </p:stCondLst>
                                        </p:cTn>
                                        <p:tgtEl>
                                          <p:spTgt spid="110"/>
                                        </p:tgtEl>
                                        <p:attrNameLst>
                                          <p:attrName>r</p:attrName>
                                        </p:attrNameLst>
                                      </p:cBhvr>
                                    </p:animRot>
                                    <p:animRot by="-240000">
                                      <p:cBhvr>
                                        <p:cTn id="147" dur="200" fill="hold">
                                          <p:stCondLst>
                                            <p:cond delay="200"/>
                                          </p:stCondLst>
                                        </p:cTn>
                                        <p:tgtEl>
                                          <p:spTgt spid="110"/>
                                        </p:tgtEl>
                                        <p:attrNameLst>
                                          <p:attrName>r</p:attrName>
                                        </p:attrNameLst>
                                      </p:cBhvr>
                                    </p:animRot>
                                    <p:animRot by="240000">
                                      <p:cBhvr>
                                        <p:cTn id="148" dur="200" fill="hold">
                                          <p:stCondLst>
                                            <p:cond delay="400"/>
                                          </p:stCondLst>
                                        </p:cTn>
                                        <p:tgtEl>
                                          <p:spTgt spid="110"/>
                                        </p:tgtEl>
                                        <p:attrNameLst>
                                          <p:attrName>r</p:attrName>
                                        </p:attrNameLst>
                                      </p:cBhvr>
                                    </p:animRot>
                                    <p:animRot by="-240000">
                                      <p:cBhvr>
                                        <p:cTn id="149" dur="200" fill="hold">
                                          <p:stCondLst>
                                            <p:cond delay="600"/>
                                          </p:stCondLst>
                                        </p:cTn>
                                        <p:tgtEl>
                                          <p:spTgt spid="110"/>
                                        </p:tgtEl>
                                        <p:attrNameLst>
                                          <p:attrName>r</p:attrName>
                                        </p:attrNameLst>
                                      </p:cBhvr>
                                    </p:animRot>
                                    <p:animRot by="120000">
                                      <p:cBhvr>
                                        <p:cTn id="150" dur="200" fill="hold">
                                          <p:stCondLst>
                                            <p:cond delay="800"/>
                                          </p:stCondLst>
                                        </p:cTn>
                                        <p:tgtEl>
                                          <p:spTgt spid="110"/>
                                        </p:tgtEl>
                                        <p:attrNameLst>
                                          <p:attrName>r</p:attrName>
                                        </p:attrNameLst>
                                      </p:cBhvr>
                                    </p:animRot>
                                  </p:childTnLst>
                                </p:cTn>
                              </p:par>
                            </p:childTnLst>
                          </p:cTn>
                        </p:par>
                      </p:childTnLst>
                    </p:cTn>
                  </p:par>
                  <p:par>
                    <p:cTn id="151" fill="hold">
                      <p:stCondLst>
                        <p:cond delay="indefinite"/>
                      </p:stCondLst>
                      <p:childTnLst>
                        <p:par>
                          <p:cTn id="152" fill="hold">
                            <p:stCondLst>
                              <p:cond delay="0"/>
                            </p:stCondLst>
                            <p:childTnLst>
                              <p:par>
                                <p:cTn id="153" presetID="10" presetClass="entr" presetSubtype="0" fill="hold" nodeType="clickEffect">
                                  <p:stCondLst>
                                    <p:cond delay="0"/>
                                  </p:stCondLst>
                                  <p:childTnLst>
                                    <p:set>
                                      <p:cBhvr>
                                        <p:cTn id="154" dur="1" fill="hold">
                                          <p:stCondLst>
                                            <p:cond delay="0"/>
                                          </p:stCondLst>
                                        </p:cTn>
                                        <p:tgtEl>
                                          <p:spTgt spid="65">
                                            <p:txEl>
                                              <p:pRg st="3" end="3"/>
                                            </p:txEl>
                                          </p:spTgt>
                                        </p:tgtEl>
                                        <p:attrNameLst>
                                          <p:attrName>style.visibility</p:attrName>
                                        </p:attrNameLst>
                                      </p:cBhvr>
                                      <p:to>
                                        <p:strVal val="visible"/>
                                      </p:to>
                                    </p:set>
                                    <p:animEffect transition="in" filter="fade">
                                      <p:cBhvr>
                                        <p:cTn id="155" dur="500"/>
                                        <p:tgtEl>
                                          <p:spTgt spid="65">
                                            <p:txEl>
                                              <p:pRg st="3" end="3"/>
                                            </p:txEl>
                                          </p:spTgt>
                                        </p:tgtEl>
                                      </p:cBhvr>
                                    </p:animEffect>
                                  </p:childTnLst>
                                </p:cTn>
                              </p:par>
                            </p:childTnLst>
                          </p:cTn>
                        </p:par>
                        <p:par>
                          <p:cTn id="156" fill="hold">
                            <p:stCondLst>
                              <p:cond delay="500"/>
                            </p:stCondLst>
                            <p:childTnLst>
                              <p:par>
                                <p:cTn id="157" presetID="1" presetClass="entr" presetSubtype="0" fill="hold" grpId="0" nodeType="afterEffect">
                                  <p:stCondLst>
                                    <p:cond delay="0"/>
                                  </p:stCondLst>
                                  <p:childTnLst>
                                    <p:set>
                                      <p:cBhvr>
                                        <p:cTn id="158" dur="1" fill="hold">
                                          <p:stCondLst>
                                            <p:cond delay="0"/>
                                          </p:stCondLst>
                                        </p:cTn>
                                        <p:tgtEl>
                                          <p:spTgt spid="180"/>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166"/>
                                        </p:tgtEl>
                                        <p:attrNameLst>
                                          <p:attrName>style.visibility</p:attrName>
                                        </p:attrNameLst>
                                      </p:cBhvr>
                                      <p:to>
                                        <p:strVal val="visible"/>
                                      </p:to>
                                    </p:set>
                                  </p:childTnLst>
                                </p:cTn>
                              </p:par>
                            </p:childTnLst>
                          </p:cTn>
                        </p:par>
                        <p:par>
                          <p:cTn id="161" fill="hold">
                            <p:stCondLst>
                              <p:cond delay="500"/>
                            </p:stCondLst>
                            <p:childTnLst>
                              <p:par>
                                <p:cTn id="162" presetID="10" presetClass="entr" presetSubtype="0" fill="hold" grpId="0" nodeType="afterEffect">
                                  <p:stCondLst>
                                    <p:cond delay="0"/>
                                  </p:stCondLst>
                                  <p:childTnLst>
                                    <p:set>
                                      <p:cBhvr>
                                        <p:cTn id="163" dur="1" fill="hold">
                                          <p:stCondLst>
                                            <p:cond delay="0"/>
                                          </p:stCondLst>
                                        </p:cTn>
                                        <p:tgtEl>
                                          <p:spTgt spid="165"/>
                                        </p:tgtEl>
                                        <p:attrNameLst>
                                          <p:attrName>style.visibility</p:attrName>
                                        </p:attrNameLst>
                                      </p:cBhvr>
                                      <p:to>
                                        <p:strVal val="visible"/>
                                      </p:to>
                                    </p:set>
                                    <p:animEffect transition="in" filter="fade">
                                      <p:cBhvr>
                                        <p:cTn id="164" dur="500"/>
                                        <p:tgtEl>
                                          <p:spTgt spid="165"/>
                                        </p:tgtEl>
                                      </p:cBhvr>
                                    </p:animEffect>
                                  </p:childTnLst>
                                </p:cTn>
                              </p:par>
                              <p:par>
                                <p:cTn id="165" presetID="10" presetClass="entr" presetSubtype="0" fill="hold" nodeType="withEffect">
                                  <p:stCondLst>
                                    <p:cond delay="0"/>
                                  </p:stCondLst>
                                  <p:childTnLst>
                                    <p:set>
                                      <p:cBhvr>
                                        <p:cTn id="166" dur="1" fill="hold">
                                          <p:stCondLst>
                                            <p:cond delay="0"/>
                                          </p:stCondLst>
                                        </p:cTn>
                                        <p:tgtEl>
                                          <p:spTgt spid="60"/>
                                        </p:tgtEl>
                                        <p:attrNameLst>
                                          <p:attrName>style.visibility</p:attrName>
                                        </p:attrNameLst>
                                      </p:cBhvr>
                                      <p:to>
                                        <p:strVal val="visible"/>
                                      </p:to>
                                    </p:set>
                                    <p:animEffect transition="in" filter="fade">
                                      <p:cBhvr>
                                        <p:cTn id="167" dur="500"/>
                                        <p:tgtEl>
                                          <p:spTgt spid="60"/>
                                        </p:tgtEl>
                                      </p:cBhvr>
                                    </p:animEffect>
                                  </p:childTnLst>
                                </p:cTn>
                              </p:par>
                              <p:par>
                                <p:cTn id="168" presetID="1" presetClass="emph" presetSubtype="2" fill="hold" nodeType="withEffect">
                                  <p:stCondLst>
                                    <p:cond delay="0"/>
                                  </p:stCondLst>
                                  <p:childTnLst>
                                    <p:animClr clrSpc="rgb" dir="cw">
                                      <p:cBhvr>
                                        <p:cTn id="169" dur="500" fill="hold"/>
                                        <p:tgtEl>
                                          <p:spTgt spid="149"/>
                                        </p:tgtEl>
                                        <p:attrNameLst>
                                          <p:attrName>fillcolor</p:attrName>
                                        </p:attrNameLst>
                                      </p:cBhvr>
                                      <p:to>
                                        <a:srgbClr val="FFFFFF"/>
                                      </p:to>
                                    </p:animClr>
                                    <p:set>
                                      <p:cBhvr>
                                        <p:cTn id="170" dur="500" fill="hold"/>
                                        <p:tgtEl>
                                          <p:spTgt spid="149"/>
                                        </p:tgtEl>
                                        <p:attrNameLst>
                                          <p:attrName>fill.type</p:attrName>
                                        </p:attrNameLst>
                                      </p:cBhvr>
                                      <p:to>
                                        <p:strVal val="solid"/>
                                      </p:to>
                                    </p:set>
                                    <p:set>
                                      <p:cBhvr>
                                        <p:cTn id="171" dur="500" fill="hold"/>
                                        <p:tgtEl>
                                          <p:spTgt spid="149"/>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 grpId="0" animBg="1"/>
      <p:bldP spid="149" grpId="0" animBg="1"/>
      <p:bldP spid="150" grpId="0" animBg="1"/>
      <p:bldP spid="151" grpId="0" animBg="1"/>
      <p:bldP spid="152" grpId="0" animBg="1"/>
      <p:bldP spid="153" grpId="0" animBg="1"/>
      <p:bldP spid="154" grpId="0" animBg="1"/>
      <p:bldP spid="158" grpId="0"/>
      <p:bldP spid="89" grpId="0"/>
      <p:bldP spid="89" grpId="1"/>
      <p:bldP spid="90" grpId="0"/>
      <p:bldP spid="90" grpId="1"/>
      <p:bldP spid="91" grpId="0"/>
      <p:bldP spid="165" grpId="0"/>
      <p:bldP spid="180" grpId="0"/>
      <p:bldP spid="188" grpId="0"/>
      <p:bldP spid="189" grpId="0"/>
      <p:bldP spid="190" grpId="0"/>
      <p:bldP spid="3" grpId="0"/>
      <p:bldP spid="4" grpId="0"/>
    </p:bld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4" name="流程图: 磁盘 133"/>
          <p:cNvSpPr/>
          <p:nvPr/>
        </p:nvSpPr>
        <p:spPr>
          <a:xfrm>
            <a:off x="4952129" y="4991475"/>
            <a:ext cx="2911135" cy="1580371"/>
          </a:xfrm>
          <a:prstGeom prst="flowChartMagneticDisk">
            <a:avLst/>
          </a:prstGeom>
          <a:solidFill>
            <a:schemeClr val="bg2">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Rectangle 10"/>
          <p:cNvSpPr>
            <a:spLocks noChangeArrowheads="1"/>
          </p:cNvSpPr>
          <p:nvPr/>
        </p:nvSpPr>
        <p:spPr bwMode="auto">
          <a:xfrm>
            <a:off x="5420187" y="5714720"/>
            <a:ext cx="182880" cy="182880"/>
          </a:xfrm>
          <a:prstGeom prst="rect">
            <a:avLst/>
          </a:prstGeom>
          <a:solidFill>
            <a:schemeClr val="bg1"/>
          </a:solidFill>
          <a:ln w="9525" cap="flat" cmpd="sng">
            <a:solidFill>
              <a:schemeClr val="tx1"/>
            </a:solidFill>
            <a:miter lim="800000"/>
            <a:headEnd/>
            <a:tailEnd/>
          </a:ln>
          <a:effectLst/>
          <a:extLst/>
        </p:spPr>
        <p:txBody>
          <a:bodyPr wrap="none" anchor="ctr"/>
          <a:lstStyle/>
          <a:p>
            <a:pPr algn="ctr"/>
            <a:r>
              <a:rPr lang="en-US" altLang="zh-CN" b="1" dirty="0" smtClean="0">
                <a:solidFill>
                  <a:srgbClr val="FF0000"/>
                </a:solidFill>
              </a:rPr>
              <a:t>a</a:t>
            </a:r>
            <a:endParaRPr lang="zh-CN" altLang="en-US" sz="2400" b="1" dirty="0">
              <a:solidFill>
                <a:srgbClr val="FF0000"/>
              </a:solidFill>
            </a:endParaRPr>
          </a:p>
        </p:txBody>
      </p:sp>
      <p:sp>
        <p:nvSpPr>
          <p:cNvPr id="150" name="Rectangle 10"/>
          <p:cNvSpPr>
            <a:spLocks noChangeArrowheads="1"/>
          </p:cNvSpPr>
          <p:nvPr/>
        </p:nvSpPr>
        <p:spPr bwMode="auto">
          <a:xfrm>
            <a:off x="5785947" y="5714720"/>
            <a:ext cx="182880" cy="182880"/>
          </a:xfrm>
          <a:prstGeom prst="rect">
            <a:avLst/>
          </a:prstGeom>
          <a:solidFill>
            <a:schemeClr val="bg1">
              <a:lumMod val="50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FFC000"/>
                </a:solidFill>
              </a:rPr>
              <a:t>c</a:t>
            </a:r>
            <a:endParaRPr lang="zh-CN" altLang="en-US" sz="2400" b="1" dirty="0">
              <a:solidFill>
                <a:srgbClr val="FFC000"/>
              </a:solidFill>
            </a:endParaRPr>
          </a:p>
        </p:txBody>
      </p:sp>
      <p:sp>
        <p:nvSpPr>
          <p:cNvPr id="151" name="Rectangle 10"/>
          <p:cNvSpPr>
            <a:spLocks noChangeArrowheads="1"/>
          </p:cNvSpPr>
          <p:nvPr/>
        </p:nvSpPr>
        <p:spPr bwMode="auto">
          <a:xfrm>
            <a:off x="7250667" y="5714720"/>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7030A0"/>
                </a:solidFill>
              </a:rPr>
              <a:t>f</a:t>
            </a:r>
            <a:endParaRPr lang="zh-CN" altLang="en-US" sz="2400" b="1" dirty="0">
              <a:solidFill>
                <a:srgbClr val="7030A0"/>
              </a:solidFill>
            </a:endParaRPr>
          </a:p>
        </p:txBody>
      </p:sp>
      <p:sp>
        <p:nvSpPr>
          <p:cNvPr id="152" name="Rectangle 10"/>
          <p:cNvSpPr>
            <a:spLocks noChangeArrowheads="1"/>
          </p:cNvSpPr>
          <p:nvPr/>
        </p:nvSpPr>
        <p:spPr bwMode="auto">
          <a:xfrm>
            <a:off x="5603067" y="5714720"/>
            <a:ext cx="182880" cy="182880"/>
          </a:xfrm>
          <a:prstGeom prst="rect">
            <a:avLst/>
          </a:prstGeom>
          <a:solidFill>
            <a:schemeClr val="bg1">
              <a:lumMod val="50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002060"/>
                </a:solidFill>
              </a:rPr>
              <a:t>b</a:t>
            </a:r>
            <a:endParaRPr lang="zh-CN" altLang="en-US" b="1" dirty="0">
              <a:solidFill>
                <a:srgbClr val="002060"/>
              </a:solidFill>
            </a:endParaRPr>
          </a:p>
        </p:txBody>
      </p:sp>
      <p:sp>
        <p:nvSpPr>
          <p:cNvPr id="153" name="Rectangle 10"/>
          <p:cNvSpPr>
            <a:spLocks noChangeArrowheads="1"/>
          </p:cNvSpPr>
          <p:nvPr/>
        </p:nvSpPr>
        <p:spPr bwMode="auto">
          <a:xfrm>
            <a:off x="6883227" y="5714720"/>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00B050"/>
                </a:solidFill>
              </a:rPr>
              <a:t>d</a:t>
            </a:r>
            <a:endParaRPr lang="zh-CN" altLang="en-US" b="1" dirty="0">
              <a:solidFill>
                <a:srgbClr val="00B050"/>
              </a:solidFill>
            </a:endParaRPr>
          </a:p>
        </p:txBody>
      </p:sp>
      <p:sp>
        <p:nvSpPr>
          <p:cNvPr id="154" name="Rectangle 10"/>
          <p:cNvSpPr>
            <a:spLocks noChangeArrowheads="1"/>
          </p:cNvSpPr>
          <p:nvPr/>
        </p:nvSpPr>
        <p:spPr bwMode="auto">
          <a:xfrm>
            <a:off x="7067792" y="5714720"/>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002060"/>
                </a:solidFill>
              </a:rPr>
              <a:t>e</a:t>
            </a:r>
            <a:endParaRPr lang="zh-CN" altLang="en-US" b="1" dirty="0">
              <a:solidFill>
                <a:srgbClr val="002060"/>
              </a:solidFill>
            </a:endParaRPr>
          </a:p>
        </p:txBody>
      </p:sp>
      <p:sp>
        <p:nvSpPr>
          <p:cNvPr id="158" name="TextBox 157"/>
          <p:cNvSpPr txBox="1"/>
          <p:nvPr/>
        </p:nvSpPr>
        <p:spPr>
          <a:xfrm>
            <a:off x="6156087" y="5020414"/>
            <a:ext cx="492122" cy="461665"/>
          </a:xfrm>
          <a:prstGeom prst="rect">
            <a:avLst/>
          </a:prstGeom>
          <a:noFill/>
        </p:spPr>
        <p:txBody>
          <a:bodyPr wrap="none" lIns="0" rIns="0" rtlCol="0">
            <a:spAutoFit/>
          </a:bodyPr>
          <a:lstStyle/>
          <a:p>
            <a:r>
              <a:rPr lang="en-US" altLang="zh-CN" sz="2400" dirty="0" smtClean="0"/>
              <a:t>disk</a:t>
            </a:r>
            <a:endParaRPr lang="zh-CN" altLang="en-US" sz="2400" dirty="0"/>
          </a:p>
        </p:txBody>
      </p:sp>
      <p:sp>
        <p:nvSpPr>
          <p:cNvPr id="2" name="标题 1"/>
          <p:cNvSpPr>
            <a:spLocks noGrp="1"/>
          </p:cNvSpPr>
          <p:nvPr>
            <p:ph type="title"/>
          </p:nvPr>
        </p:nvSpPr>
        <p:spPr>
          <a:xfrm>
            <a:off x="0" y="274638"/>
            <a:ext cx="9144000" cy="1143000"/>
          </a:xfrm>
        </p:spPr>
        <p:txBody>
          <a:bodyPr>
            <a:normAutofit/>
          </a:bodyPr>
          <a:lstStyle/>
          <a:p>
            <a:pPr algn="ctr"/>
            <a:r>
              <a:rPr lang="en-US" altLang="zh-CN" sz="3200" dirty="0" smtClean="0">
                <a:solidFill>
                  <a:srgbClr val="0070C0"/>
                </a:solidFill>
              </a:rPr>
              <a:t>Buffer Cache in </a:t>
            </a:r>
            <a:r>
              <a:rPr lang="en-US" altLang="zh-CN" sz="3200" dirty="0" smtClean="0">
                <a:solidFill>
                  <a:srgbClr val="FF0000"/>
                </a:solidFill>
              </a:rPr>
              <a:t>LSM-tree</a:t>
            </a:r>
            <a:endParaRPr lang="zh-CN" altLang="en-US" sz="3200" dirty="0">
              <a:solidFill>
                <a:srgbClr val="FF0000"/>
              </a:solidFill>
            </a:endParaRPr>
          </a:p>
        </p:txBody>
      </p:sp>
      <p:sp>
        <p:nvSpPr>
          <p:cNvPr id="54" name="Rectangle 9"/>
          <p:cNvSpPr>
            <a:spLocks noChangeArrowheads="1"/>
          </p:cNvSpPr>
          <p:nvPr/>
        </p:nvSpPr>
        <p:spPr bwMode="auto">
          <a:xfrm>
            <a:off x="1188584" y="2726227"/>
            <a:ext cx="1463040" cy="137160"/>
          </a:xfrm>
          <a:prstGeom prst="rect">
            <a:avLst/>
          </a:prstGeom>
          <a:solidFill>
            <a:srgbClr val="000080"/>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ndParaRPr>
          </a:p>
        </p:txBody>
      </p:sp>
      <p:sp>
        <p:nvSpPr>
          <p:cNvPr id="55" name="Rectangle 10"/>
          <p:cNvSpPr>
            <a:spLocks noChangeArrowheads="1"/>
          </p:cNvSpPr>
          <p:nvPr/>
        </p:nvSpPr>
        <p:spPr bwMode="auto">
          <a:xfrm>
            <a:off x="1559787" y="2360467"/>
            <a:ext cx="731520" cy="137160"/>
          </a:xfrm>
          <a:prstGeom prst="rect">
            <a:avLst/>
          </a:prstGeom>
          <a:solidFill>
            <a:srgbClr val="000080"/>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ndParaRPr>
          </a:p>
        </p:txBody>
      </p:sp>
      <p:sp>
        <p:nvSpPr>
          <p:cNvPr id="56" name="Rectangle 16"/>
          <p:cNvSpPr>
            <a:spLocks noChangeArrowheads="1"/>
          </p:cNvSpPr>
          <p:nvPr/>
        </p:nvSpPr>
        <p:spPr bwMode="auto">
          <a:xfrm>
            <a:off x="1828487" y="1994707"/>
            <a:ext cx="182880" cy="137160"/>
          </a:xfrm>
          <a:prstGeom prst="rect">
            <a:avLst/>
          </a:prstGeom>
          <a:solidFill>
            <a:srgbClr val="FFFF00"/>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ndParaRPr>
          </a:p>
        </p:txBody>
      </p:sp>
      <p:sp>
        <p:nvSpPr>
          <p:cNvPr id="57" name="Text Box 17"/>
          <p:cNvSpPr txBox="1">
            <a:spLocks noChangeArrowheads="1"/>
          </p:cNvSpPr>
          <p:nvPr/>
        </p:nvSpPr>
        <p:spPr bwMode="auto">
          <a:xfrm>
            <a:off x="789340" y="1755288"/>
            <a:ext cx="285335" cy="1846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r>
              <a:rPr lang="en-US" altLang="zh-CN" sz="1200" dirty="0" smtClean="0">
                <a:solidFill>
                  <a:prstClr val="black"/>
                </a:solidFill>
              </a:rPr>
              <a:t>HDD</a:t>
            </a:r>
            <a:endParaRPr lang="zh-CN" altLang="en-US" sz="1200" dirty="0">
              <a:solidFill>
                <a:prstClr val="black"/>
              </a:solidFill>
            </a:endParaRPr>
          </a:p>
        </p:txBody>
      </p:sp>
      <p:sp>
        <p:nvSpPr>
          <p:cNvPr id="58" name="Rectangle 10"/>
          <p:cNvSpPr>
            <a:spLocks noChangeArrowheads="1"/>
          </p:cNvSpPr>
          <p:nvPr/>
        </p:nvSpPr>
        <p:spPr bwMode="auto">
          <a:xfrm>
            <a:off x="414881" y="1786138"/>
            <a:ext cx="274320" cy="137160"/>
          </a:xfrm>
          <a:prstGeom prst="rect">
            <a:avLst/>
          </a:prstGeom>
          <a:solidFill>
            <a:srgbClr val="002060"/>
          </a:solidFill>
          <a:ln w="9525" cap="flat" cmpd="sng">
            <a:solidFill>
              <a:schemeClr val="tx1"/>
            </a:solidFill>
            <a:miter lim="800000"/>
            <a:headEnd/>
            <a:tailEnd/>
          </a:ln>
          <a:effectLst/>
          <a:extLst/>
        </p:spPr>
        <p:txBody>
          <a:bodyPr wrap="none" anchor="ctr"/>
          <a:lstStyle/>
          <a:p>
            <a:endParaRPr lang="zh-CN" altLang="en-US" sz="1200">
              <a:solidFill>
                <a:prstClr val="black"/>
              </a:solidFill>
            </a:endParaRPr>
          </a:p>
        </p:txBody>
      </p:sp>
      <p:sp>
        <p:nvSpPr>
          <p:cNvPr id="66" name="TextBox 65"/>
          <p:cNvSpPr txBox="1"/>
          <p:nvPr/>
        </p:nvSpPr>
        <p:spPr>
          <a:xfrm>
            <a:off x="2091911" y="1917604"/>
            <a:ext cx="157094" cy="215444"/>
          </a:xfrm>
          <a:prstGeom prst="rect">
            <a:avLst/>
          </a:prstGeom>
          <a:noFill/>
        </p:spPr>
        <p:txBody>
          <a:bodyPr wrap="none" lIns="0" tIns="0" rIns="0" bIns="0" rtlCol="0">
            <a:spAutoFit/>
          </a:bodyPr>
          <a:lstStyle/>
          <a:p>
            <a:r>
              <a:rPr lang="en-US" altLang="zh-CN" sz="1400" dirty="0" smtClean="0"/>
              <a:t>C</a:t>
            </a:r>
            <a:r>
              <a:rPr lang="en-US" altLang="zh-CN" sz="1400" baseline="-25000" dirty="0" smtClean="0"/>
              <a:t>0</a:t>
            </a:r>
            <a:endParaRPr lang="zh-CN" altLang="en-US" sz="1400" baseline="-25000" dirty="0"/>
          </a:p>
        </p:txBody>
      </p:sp>
      <p:sp>
        <p:nvSpPr>
          <p:cNvPr id="67" name="TextBox 66"/>
          <p:cNvSpPr txBox="1"/>
          <p:nvPr/>
        </p:nvSpPr>
        <p:spPr>
          <a:xfrm>
            <a:off x="2352416" y="2262521"/>
            <a:ext cx="157094" cy="215444"/>
          </a:xfrm>
          <a:prstGeom prst="rect">
            <a:avLst/>
          </a:prstGeom>
          <a:noFill/>
        </p:spPr>
        <p:txBody>
          <a:bodyPr wrap="none" lIns="0" tIns="0" rIns="0" bIns="0" rtlCol="0">
            <a:spAutoFit/>
          </a:bodyPr>
          <a:lstStyle/>
          <a:p>
            <a:r>
              <a:rPr lang="en-US" altLang="zh-CN" sz="1400" dirty="0" smtClean="0"/>
              <a:t>C</a:t>
            </a:r>
            <a:r>
              <a:rPr lang="en-US" altLang="zh-CN" sz="1400" baseline="-25000" dirty="0" smtClean="0"/>
              <a:t>1</a:t>
            </a:r>
            <a:endParaRPr lang="zh-CN" altLang="en-US" sz="1400" baseline="-25000" dirty="0"/>
          </a:p>
        </p:txBody>
      </p:sp>
      <p:sp>
        <p:nvSpPr>
          <p:cNvPr id="68" name="TextBox 67"/>
          <p:cNvSpPr txBox="1"/>
          <p:nvPr/>
        </p:nvSpPr>
        <p:spPr>
          <a:xfrm>
            <a:off x="2718749" y="2692800"/>
            <a:ext cx="157094" cy="215444"/>
          </a:xfrm>
          <a:prstGeom prst="rect">
            <a:avLst/>
          </a:prstGeom>
          <a:noFill/>
        </p:spPr>
        <p:txBody>
          <a:bodyPr wrap="none" lIns="0" tIns="0" rIns="0" bIns="0" rtlCol="0">
            <a:spAutoFit/>
          </a:bodyPr>
          <a:lstStyle/>
          <a:p>
            <a:r>
              <a:rPr lang="en-US" altLang="zh-CN" sz="1400" dirty="0" smtClean="0"/>
              <a:t>C</a:t>
            </a:r>
            <a:r>
              <a:rPr lang="en-US" altLang="zh-CN" sz="1400" baseline="-25000" dirty="0" smtClean="0"/>
              <a:t>2</a:t>
            </a:r>
            <a:endParaRPr lang="zh-CN" altLang="en-US" sz="1400" baseline="-25000" dirty="0"/>
          </a:p>
        </p:txBody>
      </p:sp>
      <p:sp>
        <p:nvSpPr>
          <p:cNvPr id="71" name="Text Box 17"/>
          <p:cNvSpPr txBox="1">
            <a:spLocks noChangeArrowheads="1"/>
          </p:cNvSpPr>
          <p:nvPr/>
        </p:nvSpPr>
        <p:spPr bwMode="auto">
          <a:xfrm>
            <a:off x="789340" y="1526522"/>
            <a:ext cx="399148" cy="1846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r>
              <a:rPr lang="en-US" altLang="zh-CN" sz="1200" dirty="0" smtClean="0">
                <a:solidFill>
                  <a:prstClr val="black"/>
                </a:solidFill>
              </a:rPr>
              <a:t>DRAM</a:t>
            </a:r>
            <a:endParaRPr lang="zh-CN" altLang="en-US" sz="1200" dirty="0">
              <a:solidFill>
                <a:prstClr val="black"/>
              </a:solidFill>
            </a:endParaRPr>
          </a:p>
        </p:txBody>
      </p:sp>
      <p:sp>
        <p:nvSpPr>
          <p:cNvPr id="73" name="Rectangle 16"/>
          <p:cNvSpPr>
            <a:spLocks noChangeArrowheads="1"/>
          </p:cNvSpPr>
          <p:nvPr/>
        </p:nvSpPr>
        <p:spPr bwMode="auto">
          <a:xfrm>
            <a:off x="416086" y="1545593"/>
            <a:ext cx="274320" cy="137160"/>
          </a:xfrm>
          <a:prstGeom prst="rect">
            <a:avLst/>
          </a:prstGeom>
          <a:solidFill>
            <a:srgbClr val="FFFF00"/>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solidFill>
                <a:prstClr val="black"/>
              </a:solidFill>
            </a:endParaRPr>
          </a:p>
        </p:txBody>
      </p:sp>
      <p:sp>
        <p:nvSpPr>
          <p:cNvPr id="119" name="TextBox 118"/>
          <p:cNvSpPr txBox="1"/>
          <p:nvPr/>
        </p:nvSpPr>
        <p:spPr>
          <a:xfrm>
            <a:off x="1513341" y="2673750"/>
            <a:ext cx="809517" cy="246221"/>
          </a:xfrm>
          <a:prstGeom prst="rect">
            <a:avLst/>
          </a:prstGeom>
          <a:noFill/>
        </p:spPr>
        <p:txBody>
          <a:bodyPr wrap="none" lIns="0" tIns="0" rIns="0" bIns="0" rtlCol="0">
            <a:spAutoFit/>
          </a:bodyPr>
          <a:lstStyle/>
          <a:p>
            <a:r>
              <a:rPr lang="en-US" altLang="zh-CN" sz="1600" b="1" dirty="0" smtClean="0">
                <a:solidFill>
                  <a:schemeClr val="bg1"/>
                </a:solidFill>
              </a:rPr>
              <a:t>a b c d e f</a:t>
            </a:r>
            <a:endParaRPr lang="zh-CN" altLang="en-US" sz="1600" b="1" dirty="0">
              <a:solidFill>
                <a:schemeClr val="bg1"/>
              </a:solidFill>
            </a:endParaRPr>
          </a:p>
        </p:txBody>
      </p:sp>
      <p:sp>
        <p:nvSpPr>
          <p:cNvPr id="89" name="TextBox 88"/>
          <p:cNvSpPr txBox="1"/>
          <p:nvPr/>
        </p:nvSpPr>
        <p:spPr>
          <a:xfrm>
            <a:off x="6177099" y="2615292"/>
            <a:ext cx="436338" cy="369332"/>
          </a:xfrm>
          <a:prstGeom prst="rect">
            <a:avLst/>
          </a:prstGeom>
          <a:noFill/>
        </p:spPr>
        <p:txBody>
          <a:bodyPr wrap="none" rtlCol="0">
            <a:spAutoFit/>
          </a:bodyPr>
          <a:lstStyle/>
          <a:p>
            <a:r>
              <a:rPr lang="en-US" altLang="zh-CN" dirty="0" smtClean="0"/>
              <a:t>a-f</a:t>
            </a:r>
            <a:endParaRPr lang="zh-CN" altLang="en-US" dirty="0"/>
          </a:p>
        </p:txBody>
      </p:sp>
      <p:sp>
        <p:nvSpPr>
          <p:cNvPr id="90" name="TextBox 89"/>
          <p:cNvSpPr txBox="1"/>
          <p:nvPr/>
        </p:nvSpPr>
        <p:spPr>
          <a:xfrm>
            <a:off x="5439878" y="3409193"/>
            <a:ext cx="463588" cy="369332"/>
          </a:xfrm>
          <a:prstGeom prst="rect">
            <a:avLst/>
          </a:prstGeom>
          <a:noFill/>
        </p:spPr>
        <p:txBody>
          <a:bodyPr wrap="none" rtlCol="0">
            <a:spAutoFit/>
          </a:bodyPr>
          <a:lstStyle/>
          <a:p>
            <a:r>
              <a:rPr lang="en-US" altLang="zh-CN" dirty="0" smtClean="0"/>
              <a:t>a-c</a:t>
            </a:r>
            <a:endParaRPr lang="zh-CN" altLang="en-US" dirty="0"/>
          </a:p>
        </p:txBody>
      </p:sp>
      <p:sp>
        <p:nvSpPr>
          <p:cNvPr id="91" name="TextBox 90"/>
          <p:cNvSpPr txBox="1"/>
          <p:nvPr/>
        </p:nvSpPr>
        <p:spPr>
          <a:xfrm>
            <a:off x="6879026" y="3409193"/>
            <a:ext cx="447558" cy="369332"/>
          </a:xfrm>
          <a:prstGeom prst="rect">
            <a:avLst/>
          </a:prstGeom>
          <a:noFill/>
        </p:spPr>
        <p:txBody>
          <a:bodyPr wrap="none" rtlCol="0">
            <a:spAutoFit/>
          </a:bodyPr>
          <a:lstStyle/>
          <a:p>
            <a:r>
              <a:rPr lang="en-US" altLang="zh-CN" dirty="0">
                <a:sym typeface="Wingdings" panose="05000000000000000000" pitchFamily="2" charset="2"/>
              </a:rPr>
              <a:t>d</a:t>
            </a:r>
            <a:r>
              <a:rPr lang="en-US" altLang="zh-CN" dirty="0" smtClean="0">
                <a:sym typeface="Wingdings" panose="05000000000000000000" pitchFamily="2" charset="2"/>
              </a:rPr>
              <a:t>-f</a:t>
            </a:r>
            <a:endParaRPr lang="zh-CN" altLang="en-US" dirty="0"/>
          </a:p>
        </p:txBody>
      </p:sp>
      <p:cxnSp>
        <p:nvCxnSpPr>
          <p:cNvPr id="92" name="直接箭头连接符 91"/>
          <p:cNvCxnSpPr>
            <a:stCxn id="89" idx="2"/>
            <a:endCxn id="90" idx="0"/>
          </p:cNvCxnSpPr>
          <p:nvPr/>
        </p:nvCxnSpPr>
        <p:spPr>
          <a:xfrm flipH="1">
            <a:off x="5671672" y="2984624"/>
            <a:ext cx="723596" cy="42456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3" name="直接箭头连接符 92"/>
          <p:cNvCxnSpPr>
            <a:stCxn id="89" idx="2"/>
            <a:endCxn id="89" idx="2"/>
          </p:cNvCxnSpPr>
          <p:nvPr/>
        </p:nvCxnSpPr>
        <p:spPr>
          <a:xfrm>
            <a:off x="6395268" y="2984624"/>
            <a:ext cx="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a:stCxn id="89" idx="2"/>
            <a:endCxn id="91" idx="0"/>
          </p:cNvCxnSpPr>
          <p:nvPr/>
        </p:nvCxnSpPr>
        <p:spPr>
          <a:xfrm>
            <a:off x="6395268" y="2984624"/>
            <a:ext cx="707537" cy="42456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0" name="直接箭头连接符 109"/>
          <p:cNvCxnSpPr>
            <a:stCxn id="90" idx="2"/>
            <a:endCxn id="149" idx="0"/>
          </p:cNvCxnSpPr>
          <p:nvPr/>
        </p:nvCxnSpPr>
        <p:spPr>
          <a:xfrm flipH="1">
            <a:off x="5511627" y="3778525"/>
            <a:ext cx="160045" cy="193619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6" name="直接箭头连接符 115"/>
          <p:cNvCxnSpPr>
            <a:stCxn id="90" idx="2"/>
            <a:endCxn id="152" idx="0"/>
          </p:cNvCxnSpPr>
          <p:nvPr/>
        </p:nvCxnSpPr>
        <p:spPr>
          <a:xfrm>
            <a:off x="5671672" y="3778525"/>
            <a:ext cx="22835" cy="193619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7" name="直接箭头连接符 116"/>
          <p:cNvCxnSpPr>
            <a:stCxn id="90" idx="2"/>
            <a:endCxn id="150" idx="0"/>
          </p:cNvCxnSpPr>
          <p:nvPr/>
        </p:nvCxnSpPr>
        <p:spPr>
          <a:xfrm>
            <a:off x="5671672" y="3778525"/>
            <a:ext cx="205715" cy="193619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5" name="直接箭头连接符 124"/>
          <p:cNvCxnSpPr>
            <a:stCxn id="91" idx="2"/>
            <a:endCxn id="153" idx="0"/>
          </p:cNvCxnSpPr>
          <p:nvPr/>
        </p:nvCxnSpPr>
        <p:spPr>
          <a:xfrm flipH="1">
            <a:off x="6974667" y="3778525"/>
            <a:ext cx="128138" cy="193619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6" name="直接箭头连接符 125"/>
          <p:cNvCxnSpPr>
            <a:stCxn id="91" idx="2"/>
            <a:endCxn id="154" idx="0"/>
          </p:cNvCxnSpPr>
          <p:nvPr/>
        </p:nvCxnSpPr>
        <p:spPr>
          <a:xfrm>
            <a:off x="7102805" y="3778525"/>
            <a:ext cx="56427" cy="193619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7" name="直接箭头连接符 126"/>
          <p:cNvCxnSpPr>
            <a:stCxn id="91" idx="2"/>
            <a:endCxn id="151" idx="0"/>
          </p:cNvCxnSpPr>
          <p:nvPr/>
        </p:nvCxnSpPr>
        <p:spPr>
          <a:xfrm>
            <a:off x="7102805" y="3778525"/>
            <a:ext cx="239302" cy="193619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1" name="直接箭头连接符 160"/>
          <p:cNvCxnSpPr>
            <a:stCxn id="68" idx="3"/>
            <a:endCxn id="89" idx="1"/>
          </p:cNvCxnSpPr>
          <p:nvPr/>
        </p:nvCxnSpPr>
        <p:spPr>
          <a:xfrm flipV="1">
            <a:off x="2875843" y="2799958"/>
            <a:ext cx="3301256" cy="56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5" name="Rectangle 16"/>
          <p:cNvSpPr>
            <a:spLocks noChangeArrowheads="1"/>
          </p:cNvSpPr>
          <p:nvPr/>
        </p:nvSpPr>
        <p:spPr bwMode="auto">
          <a:xfrm>
            <a:off x="6087147" y="3778525"/>
            <a:ext cx="182880" cy="182045"/>
          </a:xfrm>
          <a:prstGeom prst="rect">
            <a:avLst/>
          </a:prstGeom>
          <a:noFill/>
          <a:ln w="9525" cap="flat" cmpd="sng">
            <a:noFill/>
            <a:miter lim="800000"/>
            <a:headEnd/>
            <a:tailEnd/>
          </a:ln>
          <a:effectLst/>
          <a:extLst/>
        </p:spPr>
        <p:txBody>
          <a:bodyPr wrap="none" lIns="0" tIns="0" rIns="0" bIns="0" anchor="ctr"/>
          <a:lstStyle/>
          <a:p>
            <a:pPr algn="ctr"/>
            <a:r>
              <a:rPr lang="en-US" altLang="zh-CN" b="1" dirty="0" smtClean="0">
                <a:solidFill>
                  <a:srgbClr val="FF0000"/>
                </a:solidFill>
              </a:rPr>
              <a:t>a</a:t>
            </a:r>
            <a:endParaRPr lang="zh-CN" altLang="en-US" b="1" dirty="0">
              <a:solidFill>
                <a:srgbClr val="FF0000"/>
              </a:solidFill>
            </a:endParaRPr>
          </a:p>
        </p:txBody>
      </p:sp>
      <p:grpSp>
        <p:nvGrpSpPr>
          <p:cNvPr id="166" name="组合 165"/>
          <p:cNvGrpSpPr/>
          <p:nvPr/>
        </p:nvGrpSpPr>
        <p:grpSpPr>
          <a:xfrm>
            <a:off x="5904267" y="3782087"/>
            <a:ext cx="914400" cy="364089"/>
            <a:chOff x="6934328" y="3635519"/>
            <a:chExt cx="914400" cy="364089"/>
          </a:xfrm>
        </p:grpSpPr>
        <p:sp>
          <p:nvSpPr>
            <p:cNvPr id="167" name="Rectangle 10"/>
            <p:cNvSpPr>
              <a:spLocks noChangeArrowheads="1"/>
            </p:cNvSpPr>
            <p:nvPr/>
          </p:nvSpPr>
          <p:spPr bwMode="auto">
            <a:xfrm>
              <a:off x="6934328" y="3635519"/>
              <a:ext cx="914400" cy="364089"/>
            </a:xfrm>
            <a:prstGeom prst="rect">
              <a:avLst/>
            </a:prstGeom>
            <a:noFill/>
            <a:ln w="6350" cap="flat" cmpd="sng">
              <a:solidFill>
                <a:schemeClr val="tx1"/>
              </a:solidFill>
              <a:miter lim="800000"/>
              <a:headEnd/>
              <a:tailEnd/>
            </a:ln>
            <a:effectLst/>
            <a:extLst/>
          </p:spPr>
          <p:txBody>
            <a:bodyPr wrap="none" anchor="ctr"/>
            <a:lstStyle/>
            <a:p>
              <a:endParaRPr lang="zh-CN" altLang="en-US">
                <a:solidFill>
                  <a:prstClr val="black"/>
                </a:solidFill>
              </a:endParaRPr>
            </a:p>
          </p:txBody>
        </p:sp>
        <p:cxnSp>
          <p:nvCxnSpPr>
            <p:cNvPr id="168" name="直接连接符 167"/>
            <p:cNvCxnSpPr>
              <a:stCxn id="167" idx="1"/>
              <a:endCxn id="167" idx="3"/>
            </p:cNvCxnSpPr>
            <p:nvPr/>
          </p:nvCxnSpPr>
          <p:spPr>
            <a:xfrm>
              <a:off x="6934328" y="3817564"/>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直接连接符 168"/>
            <p:cNvCxnSpPr/>
            <p:nvPr/>
          </p:nvCxnSpPr>
          <p:spPr>
            <a:xfrm>
              <a:off x="7300088" y="3635519"/>
              <a:ext cx="0" cy="36408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直接连接符 169"/>
            <p:cNvCxnSpPr/>
            <p:nvPr/>
          </p:nvCxnSpPr>
          <p:spPr>
            <a:xfrm>
              <a:off x="7117208" y="3635519"/>
              <a:ext cx="0" cy="36408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直接连接符 170"/>
            <p:cNvCxnSpPr/>
            <p:nvPr/>
          </p:nvCxnSpPr>
          <p:spPr>
            <a:xfrm>
              <a:off x="7482968" y="3635519"/>
              <a:ext cx="0" cy="36408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直接连接符 171"/>
            <p:cNvCxnSpPr/>
            <p:nvPr/>
          </p:nvCxnSpPr>
          <p:spPr>
            <a:xfrm>
              <a:off x="7665848" y="3635519"/>
              <a:ext cx="0" cy="36408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80" name="TextBox 179"/>
          <p:cNvSpPr txBox="1"/>
          <p:nvPr/>
        </p:nvSpPr>
        <p:spPr>
          <a:xfrm>
            <a:off x="5778962" y="4145641"/>
            <a:ext cx="1247457" cy="338554"/>
          </a:xfrm>
          <a:prstGeom prst="rect">
            <a:avLst/>
          </a:prstGeom>
          <a:noFill/>
        </p:spPr>
        <p:txBody>
          <a:bodyPr wrap="none" rtlCol="0">
            <a:spAutoFit/>
          </a:bodyPr>
          <a:lstStyle/>
          <a:p>
            <a:r>
              <a:rPr lang="en-US" altLang="zh-CN" sz="1600" b="1" dirty="0" smtClean="0"/>
              <a:t>buffer cache</a:t>
            </a:r>
            <a:endParaRPr lang="zh-CN" altLang="en-US" sz="1600" b="1" dirty="0"/>
          </a:p>
        </p:txBody>
      </p:sp>
      <p:sp>
        <p:nvSpPr>
          <p:cNvPr id="188" name="TextBox 187"/>
          <p:cNvSpPr txBox="1"/>
          <p:nvPr/>
        </p:nvSpPr>
        <p:spPr>
          <a:xfrm>
            <a:off x="7901281" y="2637357"/>
            <a:ext cx="540404" cy="338554"/>
          </a:xfrm>
          <a:prstGeom prst="rect">
            <a:avLst/>
          </a:prstGeom>
          <a:noFill/>
        </p:spPr>
        <p:txBody>
          <a:bodyPr wrap="none" rtlCol="0">
            <a:spAutoFit/>
          </a:bodyPr>
          <a:lstStyle/>
          <a:p>
            <a:r>
              <a:rPr lang="en-US" altLang="zh-CN" sz="1600" dirty="0" smtClean="0"/>
              <a:t>root</a:t>
            </a:r>
            <a:endParaRPr lang="zh-CN" altLang="en-US" dirty="0"/>
          </a:p>
        </p:txBody>
      </p:sp>
      <p:sp>
        <p:nvSpPr>
          <p:cNvPr id="189" name="TextBox 188"/>
          <p:cNvSpPr txBox="1"/>
          <p:nvPr/>
        </p:nvSpPr>
        <p:spPr>
          <a:xfrm>
            <a:off x="7879230" y="3268095"/>
            <a:ext cx="1128707" cy="584775"/>
          </a:xfrm>
          <a:prstGeom prst="rect">
            <a:avLst/>
          </a:prstGeom>
          <a:noFill/>
        </p:spPr>
        <p:txBody>
          <a:bodyPr wrap="none" rtlCol="0">
            <a:spAutoFit/>
          </a:bodyPr>
          <a:lstStyle/>
          <a:p>
            <a:r>
              <a:rPr lang="en-US" altLang="zh-CN" sz="1600" dirty="0" smtClean="0"/>
              <a:t>multi-page </a:t>
            </a:r>
          </a:p>
          <a:p>
            <a:r>
              <a:rPr lang="en-US" altLang="zh-CN" sz="1600" dirty="0" smtClean="0"/>
              <a:t>block</a:t>
            </a:r>
            <a:endParaRPr lang="zh-CN" altLang="en-US" sz="1600" dirty="0"/>
          </a:p>
        </p:txBody>
      </p:sp>
      <p:sp>
        <p:nvSpPr>
          <p:cNvPr id="190" name="TextBox 189"/>
          <p:cNvSpPr txBox="1"/>
          <p:nvPr/>
        </p:nvSpPr>
        <p:spPr>
          <a:xfrm>
            <a:off x="7863264" y="5510715"/>
            <a:ext cx="1175194" cy="584775"/>
          </a:xfrm>
          <a:prstGeom prst="rect">
            <a:avLst/>
          </a:prstGeom>
          <a:noFill/>
        </p:spPr>
        <p:txBody>
          <a:bodyPr wrap="none" rtlCol="0">
            <a:spAutoFit/>
          </a:bodyPr>
          <a:lstStyle/>
          <a:p>
            <a:r>
              <a:rPr lang="en-US" altLang="zh-CN" sz="1600" dirty="0" smtClean="0"/>
              <a:t>single-page </a:t>
            </a:r>
          </a:p>
          <a:p>
            <a:r>
              <a:rPr lang="en-US" altLang="zh-CN" sz="1600" dirty="0" smtClean="0"/>
              <a:t>block</a:t>
            </a:r>
            <a:endParaRPr lang="zh-CN" altLang="en-US" sz="1600" dirty="0"/>
          </a:p>
        </p:txBody>
      </p:sp>
      <p:sp>
        <p:nvSpPr>
          <p:cNvPr id="3" name="TextBox 2"/>
          <p:cNvSpPr txBox="1"/>
          <p:nvPr/>
        </p:nvSpPr>
        <p:spPr>
          <a:xfrm>
            <a:off x="3587783" y="2472894"/>
            <a:ext cx="1626664" cy="369332"/>
          </a:xfrm>
          <a:prstGeom prst="rect">
            <a:avLst/>
          </a:prstGeom>
          <a:noFill/>
        </p:spPr>
        <p:txBody>
          <a:bodyPr wrap="none" rtlCol="0">
            <a:spAutoFit/>
          </a:bodyPr>
          <a:lstStyle/>
          <a:p>
            <a:r>
              <a:rPr lang="en-US" altLang="zh-CN" b="1" dirty="0" smtClean="0"/>
              <a:t>index structure</a:t>
            </a:r>
            <a:endParaRPr lang="zh-CN" altLang="en-US" b="1" dirty="0"/>
          </a:p>
        </p:txBody>
      </p:sp>
      <p:sp>
        <p:nvSpPr>
          <p:cNvPr id="4" name="TextBox 3"/>
          <p:cNvSpPr txBox="1"/>
          <p:nvPr/>
        </p:nvSpPr>
        <p:spPr>
          <a:xfrm>
            <a:off x="258426" y="2248524"/>
            <a:ext cx="599459" cy="338554"/>
          </a:xfrm>
          <a:prstGeom prst="rect">
            <a:avLst/>
          </a:prstGeom>
          <a:noFill/>
        </p:spPr>
        <p:txBody>
          <a:bodyPr wrap="none" rtlCol="0">
            <a:spAutoFit/>
          </a:bodyPr>
          <a:lstStyle/>
          <a:p>
            <a:r>
              <a:rPr lang="en-US" altLang="zh-CN" sz="1600" b="1" dirty="0"/>
              <a:t>g</a:t>
            </a:r>
            <a:r>
              <a:rPr lang="en-US" altLang="zh-CN" sz="1600" b="1" dirty="0" smtClean="0"/>
              <a:t>et </a:t>
            </a:r>
            <a:r>
              <a:rPr lang="en-US" altLang="zh-CN" sz="1600" b="1" dirty="0" smtClean="0">
                <a:solidFill>
                  <a:srgbClr val="FF0000"/>
                </a:solidFill>
              </a:rPr>
              <a:t>a</a:t>
            </a:r>
            <a:endParaRPr lang="zh-CN" altLang="en-US" sz="1600" b="1" dirty="0">
              <a:solidFill>
                <a:srgbClr val="FF0000"/>
              </a:solidFill>
            </a:endParaRPr>
          </a:p>
        </p:txBody>
      </p:sp>
      <p:cxnSp>
        <p:nvCxnSpPr>
          <p:cNvPr id="6" name="直接连接符 5"/>
          <p:cNvCxnSpPr>
            <a:stCxn id="4" idx="3"/>
            <a:endCxn id="56" idx="1"/>
          </p:cNvCxnSpPr>
          <p:nvPr/>
        </p:nvCxnSpPr>
        <p:spPr>
          <a:xfrm flipV="1">
            <a:off x="857885" y="2063287"/>
            <a:ext cx="970602" cy="35451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9" name="直接连接符 68"/>
          <p:cNvCxnSpPr>
            <a:stCxn id="4" idx="3"/>
            <a:endCxn id="55" idx="1"/>
          </p:cNvCxnSpPr>
          <p:nvPr/>
        </p:nvCxnSpPr>
        <p:spPr>
          <a:xfrm>
            <a:off x="857885" y="2417801"/>
            <a:ext cx="701902" cy="1124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2" name="直接连接符 71"/>
          <p:cNvCxnSpPr>
            <a:stCxn id="4" idx="3"/>
            <a:endCxn id="54" idx="1"/>
          </p:cNvCxnSpPr>
          <p:nvPr/>
        </p:nvCxnSpPr>
        <p:spPr>
          <a:xfrm>
            <a:off x="857885" y="2417801"/>
            <a:ext cx="330699" cy="37700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65" name="内容占位符 2"/>
          <p:cNvSpPr>
            <a:spLocks noGrp="1"/>
          </p:cNvSpPr>
          <p:nvPr>
            <p:ph idx="1"/>
          </p:nvPr>
        </p:nvSpPr>
        <p:spPr>
          <a:xfrm>
            <a:off x="123825" y="3852870"/>
            <a:ext cx="4828304" cy="2718975"/>
          </a:xfrm>
        </p:spPr>
        <p:txBody>
          <a:bodyPr>
            <a:normAutofit lnSpcReduction="10000"/>
          </a:bodyPr>
          <a:lstStyle/>
          <a:p>
            <a:pPr marL="342900" indent="-342900">
              <a:lnSpc>
                <a:spcPct val="120000"/>
              </a:lnSpc>
              <a:spcBef>
                <a:spcPts val="600"/>
              </a:spcBef>
              <a:buFont typeface="Arial" panose="020B0604020202020204" pitchFamily="34" charset="0"/>
              <a:buChar char="•"/>
            </a:pPr>
            <a:r>
              <a:rPr lang="en-US" altLang="zh-CN" dirty="0" smtClean="0"/>
              <a:t>Any future request on the same key/key range still need to go through the index</a:t>
            </a:r>
          </a:p>
          <a:p>
            <a:pPr marL="342900" indent="-342900">
              <a:lnSpc>
                <a:spcPct val="120000"/>
              </a:lnSpc>
              <a:spcBef>
                <a:spcPts val="600"/>
              </a:spcBef>
              <a:buFont typeface="Arial" panose="020B0604020202020204" pitchFamily="34" charset="0"/>
              <a:buChar char="•"/>
            </a:pPr>
            <a:r>
              <a:rPr lang="en-US" altLang="zh-CN" dirty="0" smtClean="0"/>
              <a:t>The found disk block(s) can be served from the buffer cache directly after then</a:t>
            </a:r>
          </a:p>
          <a:p>
            <a:pPr>
              <a:lnSpc>
                <a:spcPct val="120000"/>
              </a:lnSpc>
              <a:spcBef>
                <a:spcPts val="600"/>
              </a:spcBef>
            </a:pPr>
            <a:endParaRPr lang="zh-CN" altLang="en-US" dirty="0"/>
          </a:p>
        </p:txBody>
      </p:sp>
      <p:cxnSp>
        <p:nvCxnSpPr>
          <p:cNvPr id="60" name="直接箭头连接符 59"/>
          <p:cNvCxnSpPr/>
          <p:nvPr/>
        </p:nvCxnSpPr>
        <p:spPr>
          <a:xfrm flipH="1">
            <a:off x="5511627" y="3960570"/>
            <a:ext cx="666960" cy="1754150"/>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6302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5">
                                            <p:txEl>
                                              <p:pRg st="0" end="0"/>
                                            </p:txEl>
                                          </p:spTgt>
                                        </p:tgtEl>
                                        <p:attrNameLst>
                                          <p:attrName>style.visibility</p:attrName>
                                        </p:attrNameLst>
                                      </p:cBhvr>
                                      <p:to>
                                        <p:strVal val="visible"/>
                                      </p:to>
                                    </p:set>
                                    <p:animEffect transition="in" filter="fade">
                                      <p:cBhvr>
                                        <p:cTn id="7" dur="500"/>
                                        <p:tgtEl>
                                          <p:spTgt spid="65">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250"/>
                                        <p:tgtEl>
                                          <p:spTgt spid="6"/>
                                        </p:tgtEl>
                                      </p:cBhvr>
                                    </p:animEffect>
                                  </p:childTnLst>
                                </p:cTn>
                              </p:par>
                            </p:childTnLst>
                          </p:cTn>
                        </p:par>
                        <p:par>
                          <p:cTn id="16" fill="hold">
                            <p:stCondLst>
                              <p:cond delay="1250"/>
                            </p:stCondLst>
                            <p:childTnLst>
                              <p:par>
                                <p:cTn id="17" presetID="10" presetClass="entr" presetSubtype="0" fill="hold" nodeType="afterEffect">
                                  <p:stCondLst>
                                    <p:cond delay="0"/>
                                  </p:stCondLst>
                                  <p:childTnLst>
                                    <p:set>
                                      <p:cBhvr>
                                        <p:cTn id="18" dur="1" fill="hold">
                                          <p:stCondLst>
                                            <p:cond delay="0"/>
                                          </p:stCondLst>
                                        </p:cTn>
                                        <p:tgtEl>
                                          <p:spTgt spid="69"/>
                                        </p:tgtEl>
                                        <p:attrNameLst>
                                          <p:attrName>style.visibility</p:attrName>
                                        </p:attrNameLst>
                                      </p:cBhvr>
                                      <p:to>
                                        <p:strVal val="visible"/>
                                      </p:to>
                                    </p:set>
                                    <p:animEffect transition="in" filter="fade">
                                      <p:cBhvr>
                                        <p:cTn id="19" dur="250"/>
                                        <p:tgtEl>
                                          <p:spTgt spid="69"/>
                                        </p:tgtEl>
                                      </p:cBhvr>
                                    </p:animEffect>
                                  </p:childTnLst>
                                </p:cTn>
                              </p:par>
                            </p:childTnLst>
                          </p:cTn>
                        </p:par>
                        <p:par>
                          <p:cTn id="20" fill="hold">
                            <p:stCondLst>
                              <p:cond delay="1500"/>
                            </p:stCondLst>
                            <p:childTnLst>
                              <p:par>
                                <p:cTn id="21" presetID="10" presetClass="entr" presetSubtype="0" fill="hold" nodeType="afterEffect">
                                  <p:stCondLst>
                                    <p:cond delay="0"/>
                                  </p:stCondLst>
                                  <p:childTnLst>
                                    <p:set>
                                      <p:cBhvr>
                                        <p:cTn id="22" dur="1" fill="hold">
                                          <p:stCondLst>
                                            <p:cond delay="0"/>
                                          </p:stCondLst>
                                        </p:cTn>
                                        <p:tgtEl>
                                          <p:spTgt spid="72"/>
                                        </p:tgtEl>
                                        <p:attrNameLst>
                                          <p:attrName>style.visibility</p:attrName>
                                        </p:attrNameLst>
                                      </p:cBhvr>
                                      <p:to>
                                        <p:strVal val="visible"/>
                                      </p:to>
                                    </p:set>
                                    <p:animEffect transition="in" filter="fade">
                                      <p:cBhvr>
                                        <p:cTn id="23" dur="250"/>
                                        <p:tgtEl>
                                          <p:spTgt spid="72"/>
                                        </p:tgtEl>
                                      </p:cBhvr>
                                    </p:animEffect>
                                  </p:childTnLst>
                                </p:cTn>
                              </p:par>
                            </p:childTnLst>
                          </p:cTn>
                        </p:par>
                        <p:par>
                          <p:cTn id="24" fill="hold">
                            <p:stCondLst>
                              <p:cond delay="1750"/>
                            </p:stCondLst>
                            <p:childTnLst>
                              <p:par>
                                <p:cTn id="25" presetID="7" presetClass="emph" presetSubtype="2" fill="hold" nodeType="afterEffect">
                                  <p:stCondLst>
                                    <p:cond delay="0"/>
                                  </p:stCondLst>
                                  <p:childTnLst>
                                    <p:animClr clrSpc="rgb" dir="cw">
                                      <p:cBhvr>
                                        <p:cTn id="26" dur="250" fill="hold"/>
                                        <p:tgtEl>
                                          <p:spTgt spid="161"/>
                                        </p:tgtEl>
                                        <p:attrNameLst>
                                          <p:attrName>stroke.color</p:attrName>
                                        </p:attrNameLst>
                                      </p:cBhvr>
                                      <p:to>
                                        <a:srgbClr val="FF0000"/>
                                      </p:to>
                                    </p:animClr>
                                    <p:set>
                                      <p:cBhvr>
                                        <p:cTn id="27" dur="250" fill="hold"/>
                                        <p:tgtEl>
                                          <p:spTgt spid="161"/>
                                        </p:tgtEl>
                                        <p:attrNameLst>
                                          <p:attrName>stroke.on</p:attrName>
                                        </p:attrNameLst>
                                      </p:cBhvr>
                                      <p:to>
                                        <p:strVal val="true"/>
                                      </p:to>
                                    </p:set>
                                  </p:childTnLst>
                                </p:cTn>
                              </p:par>
                            </p:childTnLst>
                          </p:cTn>
                        </p:par>
                        <p:par>
                          <p:cTn id="28" fill="hold">
                            <p:stCondLst>
                              <p:cond delay="2000"/>
                            </p:stCondLst>
                            <p:childTnLst>
                              <p:par>
                                <p:cTn id="29" presetID="3" presetClass="emph" presetSubtype="2" fill="hold" grpId="0" nodeType="afterEffect">
                                  <p:stCondLst>
                                    <p:cond delay="0"/>
                                  </p:stCondLst>
                                  <p:childTnLst>
                                    <p:animClr clrSpc="rgb" dir="cw">
                                      <p:cBhvr override="childStyle">
                                        <p:cTn id="30" dur="250" fill="hold"/>
                                        <p:tgtEl>
                                          <p:spTgt spid="89"/>
                                        </p:tgtEl>
                                        <p:attrNameLst>
                                          <p:attrName>style.color</p:attrName>
                                        </p:attrNameLst>
                                      </p:cBhvr>
                                      <p:to>
                                        <a:srgbClr val="FF0000"/>
                                      </p:to>
                                    </p:animClr>
                                  </p:childTnLst>
                                </p:cTn>
                              </p:par>
                            </p:childTnLst>
                          </p:cTn>
                        </p:par>
                        <p:par>
                          <p:cTn id="31" fill="hold">
                            <p:stCondLst>
                              <p:cond delay="2250"/>
                            </p:stCondLst>
                            <p:childTnLst>
                              <p:par>
                                <p:cTn id="32" presetID="7" presetClass="emph" presetSubtype="2" fill="hold" nodeType="afterEffect">
                                  <p:stCondLst>
                                    <p:cond delay="0"/>
                                  </p:stCondLst>
                                  <p:childTnLst>
                                    <p:animClr clrSpc="rgb" dir="cw">
                                      <p:cBhvr>
                                        <p:cTn id="33" dur="250" fill="hold"/>
                                        <p:tgtEl>
                                          <p:spTgt spid="92"/>
                                        </p:tgtEl>
                                        <p:attrNameLst>
                                          <p:attrName>stroke.color</p:attrName>
                                        </p:attrNameLst>
                                      </p:cBhvr>
                                      <p:to>
                                        <a:srgbClr val="FF0000"/>
                                      </p:to>
                                    </p:animClr>
                                    <p:set>
                                      <p:cBhvr>
                                        <p:cTn id="34" dur="250" fill="hold"/>
                                        <p:tgtEl>
                                          <p:spTgt spid="92"/>
                                        </p:tgtEl>
                                        <p:attrNameLst>
                                          <p:attrName>stroke.on</p:attrName>
                                        </p:attrNameLst>
                                      </p:cBhvr>
                                      <p:to>
                                        <p:strVal val="true"/>
                                      </p:to>
                                    </p:set>
                                  </p:childTnLst>
                                </p:cTn>
                              </p:par>
                            </p:childTnLst>
                          </p:cTn>
                        </p:par>
                        <p:par>
                          <p:cTn id="35" fill="hold">
                            <p:stCondLst>
                              <p:cond delay="2500"/>
                            </p:stCondLst>
                            <p:childTnLst>
                              <p:par>
                                <p:cTn id="36" presetID="3" presetClass="emph" presetSubtype="2" fill="hold" grpId="0" nodeType="afterEffect">
                                  <p:stCondLst>
                                    <p:cond delay="0"/>
                                  </p:stCondLst>
                                  <p:childTnLst>
                                    <p:animClr clrSpc="rgb" dir="cw">
                                      <p:cBhvr override="childStyle">
                                        <p:cTn id="37" dur="250" fill="hold"/>
                                        <p:tgtEl>
                                          <p:spTgt spid="90"/>
                                        </p:tgtEl>
                                        <p:attrNameLst>
                                          <p:attrName>style.color</p:attrName>
                                        </p:attrNameLst>
                                      </p:cBhvr>
                                      <p:to>
                                        <a:srgbClr val="FF0000"/>
                                      </p:to>
                                    </p:animClr>
                                  </p:childTnLst>
                                </p:cTn>
                              </p:par>
                            </p:childTnLst>
                          </p:cTn>
                        </p:par>
                        <p:par>
                          <p:cTn id="38" fill="hold">
                            <p:stCondLst>
                              <p:cond delay="2750"/>
                            </p:stCondLst>
                            <p:childTnLst>
                              <p:par>
                                <p:cTn id="39" presetID="7" presetClass="emph" presetSubtype="2" fill="hold" nodeType="afterEffect">
                                  <p:stCondLst>
                                    <p:cond delay="0"/>
                                  </p:stCondLst>
                                  <p:childTnLst>
                                    <p:animClr clrSpc="rgb" dir="cw">
                                      <p:cBhvr>
                                        <p:cTn id="40" dur="250" fill="hold"/>
                                        <p:tgtEl>
                                          <p:spTgt spid="110"/>
                                        </p:tgtEl>
                                        <p:attrNameLst>
                                          <p:attrName>stroke.color</p:attrName>
                                        </p:attrNameLst>
                                      </p:cBhvr>
                                      <p:to>
                                        <a:srgbClr val="FF0000"/>
                                      </p:to>
                                    </p:animClr>
                                    <p:set>
                                      <p:cBhvr>
                                        <p:cTn id="41" dur="250" fill="hold"/>
                                        <p:tgtEl>
                                          <p:spTgt spid="110"/>
                                        </p:tgtEl>
                                        <p:attrNameLst>
                                          <p:attrName>stroke.on</p:attrName>
                                        </p:attrNameLst>
                                      </p:cBhvr>
                                      <p:to>
                                        <p:strVal val="true"/>
                                      </p:to>
                                    </p:se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65">
                                            <p:txEl>
                                              <p:pRg st="1" end="1"/>
                                            </p:txEl>
                                          </p:spTgt>
                                        </p:tgtEl>
                                        <p:attrNameLst>
                                          <p:attrName>style.visibility</p:attrName>
                                        </p:attrNameLst>
                                      </p:cBhvr>
                                      <p:to>
                                        <p:strVal val="visible"/>
                                      </p:to>
                                    </p:set>
                                    <p:animEffect transition="in" filter="fade">
                                      <p:cBhvr>
                                        <p:cTn id="46" dur="500"/>
                                        <p:tgtEl>
                                          <p:spTgt spid="65">
                                            <p:txEl>
                                              <p:pRg st="1" end="1"/>
                                            </p:txEl>
                                          </p:spTgt>
                                        </p:tgtEl>
                                      </p:cBhvr>
                                    </p:animEffect>
                                  </p:childTnLst>
                                </p:cTn>
                              </p:par>
                            </p:childTnLst>
                          </p:cTn>
                        </p:par>
                        <p:par>
                          <p:cTn id="47" fill="hold">
                            <p:stCondLst>
                              <p:cond delay="500"/>
                            </p:stCondLst>
                            <p:childTnLst>
                              <p:par>
                                <p:cTn id="48" presetID="34" presetClass="emph" presetSubtype="0" fill="hold" grpId="0" nodeType="afterEffect">
                                  <p:stCondLst>
                                    <p:cond delay="0"/>
                                  </p:stCondLst>
                                  <p:iterate type="lt">
                                    <p:tmPct val="10000"/>
                                  </p:iterate>
                                  <p:childTnLst>
                                    <p:animMotion origin="layout" path="M 0.0 0.0 L 0.0 -0.07213" pathEditMode="relative" ptsTypes="">
                                      <p:cBhvr>
                                        <p:cTn id="49" dur="250" accel="50000" decel="50000" autoRev="1" fill="hold">
                                          <p:stCondLst>
                                            <p:cond delay="0"/>
                                          </p:stCondLst>
                                        </p:cTn>
                                        <p:tgtEl>
                                          <p:spTgt spid="165"/>
                                        </p:tgtEl>
                                        <p:attrNameLst>
                                          <p:attrName>ppt_x</p:attrName>
                                          <p:attrName>ppt_y</p:attrName>
                                        </p:attrNameLst>
                                      </p:cBhvr>
                                    </p:animMotion>
                                    <p:animRot by="1500000">
                                      <p:cBhvr>
                                        <p:cTn id="50" dur="125" fill="hold">
                                          <p:stCondLst>
                                            <p:cond delay="0"/>
                                          </p:stCondLst>
                                        </p:cTn>
                                        <p:tgtEl>
                                          <p:spTgt spid="165"/>
                                        </p:tgtEl>
                                        <p:attrNameLst>
                                          <p:attrName>r</p:attrName>
                                        </p:attrNameLst>
                                      </p:cBhvr>
                                    </p:animRot>
                                    <p:animRot by="-1500000">
                                      <p:cBhvr>
                                        <p:cTn id="51" dur="125" fill="hold">
                                          <p:stCondLst>
                                            <p:cond delay="125"/>
                                          </p:stCondLst>
                                        </p:cTn>
                                        <p:tgtEl>
                                          <p:spTgt spid="165"/>
                                        </p:tgtEl>
                                        <p:attrNameLst>
                                          <p:attrName>r</p:attrName>
                                        </p:attrNameLst>
                                      </p:cBhvr>
                                    </p:animRot>
                                    <p:animRot by="-1500000">
                                      <p:cBhvr>
                                        <p:cTn id="52" dur="125" fill="hold">
                                          <p:stCondLst>
                                            <p:cond delay="250"/>
                                          </p:stCondLst>
                                        </p:cTn>
                                        <p:tgtEl>
                                          <p:spTgt spid="165"/>
                                        </p:tgtEl>
                                        <p:attrNameLst>
                                          <p:attrName>r</p:attrName>
                                        </p:attrNameLst>
                                      </p:cBhvr>
                                    </p:animRot>
                                    <p:animRot by="1500000">
                                      <p:cBhvr>
                                        <p:cTn id="53" dur="125" fill="hold">
                                          <p:stCondLst>
                                            <p:cond delay="375"/>
                                          </p:stCondLst>
                                        </p:cTn>
                                        <p:tgtEl>
                                          <p:spTgt spid="16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p:bldP spid="90" grpId="0"/>
      <p:bldP spid="165" grpId="0"/>
      <p:bldP spid="4" grpId="0"/>
    </p:bld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04688" y="4013657"/>
            <a:ext cx="3809685" cy="2383339"/>
          </a:xfrm>
          <a:prstGeom prst="rect">
            <a:avLst/>
          </a:prstGeom>
        </p:spPr>
      </p:pic>
      <p:grpSp>
        <p:nvGrpSpPr>
          <p:cNvPr id="145" name="组合 144"/>
          <p:cNvGrpSpPr/>
          <p:nvPr/>
        </p:nvGrpSpPr>
        <p:grpSpPr>
          <a:xfrm>
            <a:off x="3967713" y="2114208"/>
            <a:ext cx="731520" cy="182880"/>
            <a:chOff x="3245411" y="6457486"/>
            <a:chExt cx="731520" cy="182880"/>
          </a:xfrm>
        </p:grpSpPr>
        <p:sp>
          <p:nvSpPr>
            <p:cNvPr id="141" name="Rectangle 10"/>
            <p:cNvSpPr>
              <a:spLocks noChangeArrowheads="1"/>
            </p:cNvSpPr>
            <p:nvPr/>
          </p:nvSpPr>
          <p:spPr bwMode="auto">
            <a:xfrm>
              <a:off x="3245411" y="6457486"/>
              <a:ext cx="182880" cy="182880"/>
            </a:xfrm>
            <a:prstGeom prst="rect">
              <a:avLst/>
            </a:prstGeom>
            <a:solidFill>
              <a:schemeClr val="bg1"/>
            </a:solidFill>
            <a:ln w="9525" cap="flat" cmpd="sng">
              <a:noFill/>
              <a:miter lim="800000"/>
              <a:headEnd/>
              <a:tailEnd/>
            </a:ln>
            <a:effectLst/>
            <a:extLst/>
          </p:spPr>
          <p:txBody>
            <a:bodyPr wrap="none" anchor="ctr"/>
            <a:lstStyle/>
            <a:p>
              <a:pPr algn="ctr"/>
              <a:r>
                <a:rPr lang="en-US" altLang="zh-CN" b="1" dirty="0" smtClean="0">
                  <a:solidFill>
                    <a:srgbClr val="FF0000"/>
                  </a:solidFill>
                </a:rPr>
                <a:t>a</a:t>
              </a:r>
              <a:endParaRPr lang="zh-CN" altLang="en-US" sz="2400" b="1" dirty="0">
                <a:solidFill>
                  <a:srgbClr val="FF0000"/>
                </a:solidFill>
              </a:endParaRPr>
            </a:p>
          </p:txBody>
        </p:sp>
        <p:sp>
          <p:nvSpPr>
            <p:cNvPr id="142" name="Rectangle 10"/>
            <p:cNvSpPr>
              <a:spLocks noChangeArrowheads="1"/>
            </p:cNvSpPr>
            <p:nvPr/>
          </p:nvSpPr>
          <p:spPr bwMode="auto">
            <a:xfrm>
              <a:off x="3611171" y="6457486"/>
              <a:ext cx="182880" cy="182880"/>
            </a:xfrm>
            <a:prstGeom prst="rect">
              <a:avLst/>
            </a:prstGeom>
            <a:solidFill>
              <a:schemeClr val="bg1"/>
            </a:solidFill>
            <a:ln w="9525" cap="flat" cmpd="sng">
              <a:noFill/>
              <a:miter lim="800000"/>
              <a:headEnd/>
              <a:tailEnd/>
            </a:ln>
            <a:effectLst/>
            <a:extLst/>
          </p:spPr>
          <p:txBody>
            <a:bodyPr wrap="none" anchor="ctr"/>
            <a:lstStyle/>
            <a:p>
              <a:pPr algn="ctr"/>
              <a:r>
                <a:rPr lang="en-US" altLang="zh-CN" b="1" dirty="0" smtClean="0">
                  <a:solidFill>
                    <a:srgbClr val="FFC000"/>
                  </a:solidFill>
                </a:rPr>
                <a:t>c</a:t>
              </a:r>
              <a:endParaRPr lang="zh-CN" altLang="en-US" sz="2400" b="1" dirty="0">
                <a:solidFill>
                  <a:srgbClr val="FFC000"/>
                </a:solidFill>
              </a:endParaRPr>
            </a:p>
          </p:txBody>
        </p:sp>
        <p:sp>
          <p:nvSpPr>
            <p:cNvPr id="143" name="Rectangle 10"/>
            <p:cNvSpPr>
              <a:spLocks noChangeArrowheads="1"/>
            </p:cNvSpPr>
            <p:nvPr/>
          </p:nvSpPr>
          <p:spPr bwMode="auto">
            <a:xfrm>
              <a:off x="3428291" y="6457486"/>
              <a:ext cx="182880" cy="182880"/>
            </a:xfrm>
            <a:prstGeom prst="rect">
              <a:avLst/>
            </a:prstGeom>
            <a:solidFill>
              <a:schemeClr val="bg1"/>
            </a:solidFill>
            <a:ln w="9525" cap="flat" cmpd="sng">
              <a:noFill/>
              <a:miter lim="800000"/>
              <a:headEnd/>
              <a:tailEnd/>
            </a:ln>
            <a:effectLst/>
            <a:extLst/>
          </p:spPr>
          <p:txBody>
            <a:bodyPr wrap="none" anchor="ctr"/>
            <a:lstStyle/>
            <a:p>
              <a:pPr algn="ctr"/>
              <a:r>
                <a:rPr lang="en-US" altLang="zh-CN" b="1" dirty="0" smtClean="0">
                  <a:solidFill>
                    <a:srgbClr val="002060"/>
                  </a:solidFill>
                </a:rPr>
                <a:t>b</a:t>
              </a:r>
              <a:endParaRPr lang="zh-CN" altLang="en-US" b="1" dirty="0">
                <a:solidFill>
                  <a:srgbClr val="002060"/>
                </a:solidFill>
              </a:endParaRPr>
            </a:p>
          </p:txBody>
        </p:sp>
        <p:sp>
          <p:nvSpPr>
            <p:cNvPr id="144" name="Rectangle 10"/>
            <p:cNvSpPr>
              <a:spLocks noChangeArrowheads="1"/>
            </p:cNvSpPr>
            <p:nvPr/>
          </p:nvSpPr>
          <p:spPr bwMode="auto">
            <a:xfrm>
              <a:off x="3794051" y="6457486"/>
              <a:ext cx="182880" cy="182880"/>
            </a:xfrm>
            <a:prstGeom prst="rect">
              <a:avLst/>
            </a:prstGeom>
            <a:solidFill>
              <a:schemeClr val="bg1"/>
            </a:solidFill>
            <a:ln w="9525" cap="flat" cmpd="sng">
              <a:noFill/>
              <a:miter lim="800000"/>
              <a:headEnd/>
              <a:tailEnd/>
            </a:ln>
            <a:effectLst/>
            <a:extLst/>
          </p:spPr>
          <p:txBody>
            <a:bodyPr wrap="none" anchor="ctr"/>
            <a:lstStyle/>
            <a:p>
              <a:pPr algn="ctr"/>
              <a:r>
                <a:rPr lang="en-US" altLang="zh-CN" b="1" dirty="0" smtClean="0">
                  <a:solidFill>
                    <a:srgbClr val="00B050"/>
                  </a:solidFill>
                </a:rPr>
                <a:t>d</a:t>
              </a:r>
              <a:endParaRPr lang="zh-CN" altLang="en-US" b="1" dirty="0">
                <a:solidFill>
                  <a:srgbClr val="00B050"/>
                </a:solidFill>
              </a:endParaRPr>
            </a:p>
          </p:txBody>
        </p:sp>
      </p:grpSp>
      <p:sp>
        <p:nvSpPr>
          <p:cNvPr id="133" name="Rectangle 16"/>
          <p:cNvSpPr>
            <a:spLocks noChangeArrowheads="1"/>
          </p:cNvSpPr>
          <p:nvPr/>
        </p:nvSpPr>
        <p:spPr bwMode="auto">
          <a:xfrm>
            <a:off x="3792206" y="1929523"/>
            <a:ext cx="182880" cy="182045"/>
          </a:xfrm>
          <a:prstGeom prst="rect">
            <a:avLst/>
          </a:prstGeom>
          <a:noFill/>
          <a:ln w="9525" cap="flat" cmpd="sng">
            <a:noFill/>
            <a:miter lim="800000"/>
            <a:headEnd/>
            <a:tailEnd/>
          </a:ln>
          <a:effectLst/>
          <a:extLst/>
        </p:spPr>
        <p:txBody>
          <a:bodyPr wrap="none" lIns="0" tIns="0" rIns="0" bIns="0" anchor="ctr"/>
          <a:lstStyle/>
          <a:p>
            <a:pPr algn="ctr"/>
            <a:r>
              <a:rPr lang="en-US" altLang="zh-CN" b="1" dirty="0" smtClean="0">
                <a:solidFill>
                  <a:srgbClr val="FF0000"/>
                </a:solidFill>
              </a:rPr>
              <a:t>a</a:t>
            </a:r>
            <a:endParaRPr lang="zh-CN" altLang="en-US" b="1" dirty="0">
              <a:solidFill>
                <a:srgbClr val="FF0000"/>
              </a:solidFill>
            </a:endParaRPr>
          </a:p>
        </p:txBody>
      </p:sp>
      <p:sp>
        <p:nvSpPr>
          <p:cNvPr id="111" name="Rectangle 16"/>
          <p:cNvSpPr>
            <a:spLocks noChangeArrowheads="1"/>
          </p:cNvSpPr>
          <p:nvPr/>
        </p:nvSpPr>
        <p:spPr bwMode="auto">
          <a:xfrm>
            <a:off x="4158761" y="1923535"/>
            <a:ext cx="182880" cy="182045"/>
          </a:xfrm>
          <a:prstGeom prst="rect">
            <a:avLst/>
          </a:prstGeom>
          <a:solidFill>
            <a:schemeClr val="bg1"/>
          </a:solidFill>
          <a:ln w="9525" cap="flat" cmpd="sng">
            <a:noFill/>
            <a:miter lim="800000"/>
            <a:headEnd/>
            <a:tailEnd/>
          </a:ln>
          <a:effectLst/>
          <a:extLst/>
        </p:spPr>
        <p:txBody>
          <a:bodyPr wrap="none" lIns="0" tIns="0" rIns="0" bIns="0" anchor="ctr"/>
          <a:lstStyle/>
          <a:p>
            <a:pPr algn="ctr"/>
            <a:r>
              <a:rPr lang="en-US" altLang="zh-CN" b="1" dirty="0" smtClean="0">
                <a:solidFill>
                  <a:srgbClr val="FFC000"/>
                </a:solidFill>
              </a:rPr>
              <a:t>c</a:t>
            </a:r>
            <a:endParaRPr lang="zh-CN" altLang="en-US" b="1" dirty="0">
              <a:solidFill>
                <a:srgbClr val="FFC000"/>
              </a:solidFill>
            </a:endParaRPr>
          </a:p>
        </p:txBody>
      </p:sp>
      <p:sp>
        <p:nvSpPr>
          <p:cNvPr id="75" name="Rectangle 16"/>
          <p:cNvSpPr>
            <a:spLocks noChangeArrowheads="1"/>
          </p:cNvSpPr>
          <p:nvPr/>
        </p:nvSpPr>
        <p:spPr bwMode="auto">
          <a:xfrm>
            <a:off x="3788643" y="2116099"/>
            <a:ext cx="182880" cy="182045"/>
          </a:xfrm>
          <a:prstGeom prst="rect">
            <a:avLst/>
          </a:prstGeom>
          <a:solidFill>
            <a:schemeClr val="bg1"/>
          </a:solidFill>
          <a:ln w="9525" cap="flat" cmpd="sng">
            <a:noFill/>
            <a:miter lim="800000"/>
            <a:headEnd/>
            <a:tailEnd/>
          </a:ln>
          <a:effectLst/>
          <a:extLst/>
        </p:spPr>
        <p:txBody>
          <a:bodyPr wrap="none" lIns="0" tIns="0" rIns="0" bIns="0" anchor="ctr"/>
          <a:lstStyle/>
          <a:p>
            <a:pPr algn="ctr"/>
            <a:r>
              <a:rPr lang="en-US" altLang="zh-CN" b="1" dirty="0" smtClean="0">
                <a:solidFill>
                  <a:srgbClr val="002060"/>
                </a:solidFill>
              </a:rPr>
              <a:t>b</a:t>
            </a:r>
            <a:endParaRPr lang="zh-CN" altLang="en-US" b="1" dirty="0">
              <a:solidFill>
                <a:srgbClr val="002060"/>
              </a:solidFill>
            </a:endParaRPr>
          </a:p>
        </p:txBody>
      </p:sp>
      <p:sp>
        <p:nvSpPr>
          <p:cNvPr id="76" name="Rectangle 16"/>
          <p:cNvSpPr>
            <a:spLocks noChangeArrowheads="1"/>
          </p:cNvSpPr>
          <p:nvPr/>
        </p:nvSpPr>
        <p:spPr bwMode="auto">
          <a:xfrm>
            <a:off x="4519989" y="1934054"/>
            <a:ext cx="182880" cy="182045"/>
          </a:xfrm>
          <a:prstGeom prst="rect">
            <a:avLst/>
          </a:prstGeom>
          <a:noFill/>
          <a:ln w="9525" cap="flat" cmpd="sng">
            <a:noFill/>
            <a:miter lim="800000"/>
            <a:headEnd/>
            <a:tailEnd/>
          </a:ln>
          <a:effectLst/>
          <a:extLst/>
        </p:spPr>
        <p:txBody>
          <a:bodyPr wrap="none" lIns="0" tIns="0" rIns="0" bIns="0" anchor="ctr"/>
          <a:lstStyle/>
          <a:p>
            <a:pPr algn="ctr"/>
            <a:r>
              <a:rPr lang="en-US" altLang="zh-CN" b="1" dirty="0" smtClean="0">
                <a:solidFill>
                  <a:srgbClr val="00B050"/>
                </a:solidFill>
              </a:rPr>
              <a:t>d</a:t>
            </a:r>
            <a:endParaRPr lang="zh-CN" altLang="en-US" b="1" dirty="0">
              <a:solidFill>
                <a:srgbClr val="00B050"/>
              </a:solidFill>
            </a:endParaRPr>
          </a:p>
        </p:txBody>
      </p:sp>
      <p:sp>
        <p:nvSpPr>
          <p:cNvPr id="77" name="Rectangle 16"/>
          <p:cNvSpPr>
            <a:spLocks noChangeArrowheads="1"/>
          </p:cNvSpPr>
          <p:nvPr/>
        </p:nvSpPr>
        <p:spPr bwMode="auto">
          <a:xfrm>
            <a:off x="3969531" y="1932163"/>
            <a:ext cx="182880" cy="182045"/>
          </a:xfrm>
          <a:prstGeom prst="rect">
            <a:avLst/>
          </a:prstGeom>
          <a:noFill/>
          <a:ln w="9525" cap="flat" cmpd="sng">
            <a:noFill/>
            <a:miter lim="800000"/>
            <a:headEnd/>
            <a:tailEnd/>
          </a:ln>
          <a:effectLst/>
          <a:extLst/>
        </p:spPr>
        <p:txBody>
          <a:bodyPr wrap="none" lIns="0" tIns="0" rIns="0" bIns="0" anchor="ctr"/>
          <a:lstStyle/>
          <a:p>
            <a:pPr algn="ctr"/>
            <a:r>
              <a:rPr lang="en-US" altLang="zh-CN" b="1" dirty="0" smtClean="0">
                <a:solidFill>
                  <a:srgbClr val="FF0000"/>
                </a:solidFill>
              </a:rPr>
              <a:t>a</a:t>
            </a:r>
            <a:endParaRPr lang="zh-CN" altLang="en-US" b="1" dirty="0">
              <a:solidFill>
                <a:srgbClr val="FF0000"/>
              </a:solidFill>
            </a:endParaRPr>
          </a:p>
        </p:txBody>
      </p:sp>
      <p:sp>
        <p:nvSpPr>
          <p:cNvPr id="2" name="标题 1"/>
          <p:cNvSpPr>
            <a:spLocks noGrp="1"/>
          </p:cNvSpPr>
          <p:nvPr>
            <p:ph type="title"/>
          </p:nvPr>
        </p:nvSpPr>
        <p:spPr>
          <a:xfrm>
            <a:off x="0" y="274638"/>
            <a:ext cx="9144000" cy="1143000"/>
          </a:xfrm>
        </p:spPr>
        <p:txBody>
          <a:bodyPr>
            <a:normAutofit/>
          </a:bodyPr>
          <a:lstStyle/>
          <a:p>
            <a:pPr algn="ctr"/>
            <a:r>
              <a:rPr lang="en-US" altLang="zh-CN" sz="3200" dirty="0" smtClean="0">
                <a:solidFill>
                  <a:srgbClr val="FF0000"/>
                </a:solidFill>
              </a:rPr>
              <a:t>LSM-tree</a:t>
            </a:r>
            <a:r>
              <a:rPr lang="en-US" altLang="zh-CN" sz="3200" dirty="0" smtClean="0"/>
              <a:t> </a:t>
            </a:r>
            <a:r>
              <a:rPr lang="en-US" altLang="zh-CN" sz="3200" dirty="0" smtClean="0">
                <a:solidFill>
                  <a:schemeClr val="accent1"/>
                </a:solidFill>
              </a:rPr>
              <a:t>induced </a:t>
            </a:r>
            <a:r>
              <a:rPr lang="en-US" altLang="zh-CN" sz="3200" dirty="0">
                <a:solidFill>
                  <a:schemeClr val="accent1"/>
                </a:solidFill>
              </a:rPr>
              <a:t>B</a:t>
            </a:r>
            <a:r>
              <a:rPr lang="en-US" altLang="zh-CN" sz="3200" dirty="0" smtClean="0">
                <a:solidFill>
                  <a:schemeClr val="accent1"/>
                </a:solidFill>
              </a:rPr>
              <a:t>uffer Cache invalidations</a:t>
            </a:r>
            <a:endParaRPr lang="zh-CN" altLang="en-US" sz="3200" dirty="0">
              <a:solidFill>
                <a:schemeClr val="accent1"/>
              </a:solidFill>
            </a:endParaRPr>
          </a:p>
        </p:txBody>
      </p:sp>
      <p:sp>
        <p:nvSpPr>
          <p:cNvPr id="4" name="灯片编号占位符 3"/>
          <p:cNvSpPr>
            <a:spLocks noGrp="1"/>
          </p:cNvSpPr>
          <p:nvPr>
            <p:ph type="sldNum" sz="quarter" idx="4294967295"/>
          </p:nvPr>
        </p:nvSpPr>
        <p:spPr>
          <a:xfrm>
            <a:off x="6553200" y="6356350"/>
            <a:ext cx="2133600" cy="365125"/>
          </a:xfrm>
          <a:prstGeom prst="rect">
            <a:avLst/>
          </a:prstGeom>
        </p:spPr>
        <p:txBody>
          <a:bodyPr/>
          <a:lstStyle/>
          <a:p>
            <a:fld id="{8B619040-DCD5-49FA-840B-E084AB5E96E4}" type="slidenum">
              <a:rPr lang="zh-CN" altLang="en-US" smtClean="0"/>
              <a:t>58</a:t>
            </a:fld>
            <a:endParaRPr lang="zh-CN" altLang="en-US"/>
          </a:p>
        </p:txBody>
      </p:sp>
      <p:sp>
        <p:nvSpPr>
          <p:cNvPr id="72" name="内容占位符 2"/>
          <p:cNvSpPr>
            <a:spLocks noGrp="1"/>
          </p:cNvSpPr>
          <p:nvPr>
            <p:ph idx="1"/>
          </p:nvPr>
        </p:nvSpPr>
        <p:spPr>
          <a:xfrm>
            <a:off x="228600" y="4191000"/>
            <a:ext cx="4724400" cy="2365808"/>
          </a:xfrm>
        </p:spPr>
        <p:txBody>
          <a:bodyPr>
            <a:normAutofit fontScale="92500"/>
          </a:bodyPr>
          <a:lstStyle/>
          <a:p>
            <a:pPr marL="342900" indent="-342900">
              <a:lnSpc>
                <a:spcPct val="120000"/>
              </a:lnSpc>
              <a:spcBef>
                <a:spcPts val="600"/>
              </a:spcBef>
              <a:buFont typeface="Arial" panose="020B0604020202020204" pitchFamily="34" charset="0"/>
              <a:buChar char="•"/>
            </a:pPr>
            <a:r>
              <a:rPr lang="en-US" altLang="zh-CN" dirty="0" smtClean="0"/>
              <a:t>Read buffer (buffer cache) and LSM-tree write buffer (C</a:t>
            </a:r>
            <a:r>
              <a:rPr lang="en-US" altLang="zh-CN" sz="1900" dirty="0" smtClean="0"/>
              <a:t>0</a:t>
            </a:r>
            <a:r>
              <a:rPr lang="en-US" altLang="zh-CN" dirty="0" smtClean="0"/>
              <a:t>) are separate</a:t>
            </a:r>
          </a:p>
          <a:p>
            <a:pPr marL="342900" indent="-342900">
              <a:lnSpc>
                <a:spcPct val="120000"/>
              </a:lnSpc>
              <a:spcBef>
                <a:spcPts val="600"/>
              </a:spcBef>
              <a:buFont typeface="Arial" panose="020B0604020202020204" pitchFamily="34" charset="0"/>
              <a:buChar char="•"/>
            </a:pPr>
            <a:r>
              <a:rPr lang="en-US" altLang="zh-CN" dirty="0" smtClean="0"/>
              <a:t>Frequent compactions for sorting</a:t>
            </a:r>
            <a:endParaRPr lang="en-US" altLang="zh-CN" dirty="0"/>
          </a:p>
          <a:p>
            <a:pPr marL="685800" lvl="1" indent="-342900">
              <a:lnSpc>
                <a:spcPct val="120000"/>
              </a:lnSpc>
              <a:spcBef>
                <a:spcPts val="600"/>
              </a:spcBef>
              <a:buFont typeface="Wingdings" panose="05000000000000000000" pitchFamily="2" charset="2"/>
              <a:buChar char="Ø"/>
            </a:pPr>
            <a:r>
              <a:rPr lang="en-US" altLang="zh-CN" dirty="0" smtClean="0"/>
              <a:t>Referencing addresses changed</a:t>
            </a:r>
          </a:p>
          <a:p>
            <a:pPr marL="685800" lvl="1" indent="-342900">
              <a:lnSpc>
                <a:spcPct val="120000"/>
              </a:lnSpc>
              <a:spcBef>
                <a:spcPts val="600"/>
              </a:spcBef>
              <a:buFont typeface="Wingdings" panose="05000000000000000000" pitchFamily="2" charset="2"/>
              <a:buChar char="Ø"/>
            </a:pPr>
            <a:r>
              <a:rPr lang="en-US" altLang="zh-CN" dirty="0" smtClean="0"/>
              <a:t>Cache invalidations =&gt; misses</a:t>
            </a:r>
            <a:endParaRPr lang="zh-CN" altLang="en-US" dirty="0"/>
          </a:p>
        </p:txBody>
      </p:sp>
      <p:sp>
        <p:nvSpPr>
          <p:cNvPr id="6" name="TextBox 5"/>
          <p:cNvSpPr txBox="1"/>
          <p:nvPr/>
        </p:nvSpPr>
        <p:spPr>
          <a:xfrm>
            <a:off x="3782841" y="1538101"/>
            <a:ext cx="1062791" cy="338554"/>
          </a:xfrm>
          <a:prstGeom prst="rect">
            <a:avLst/>
          </a:prstGeom>
          <a:noFill/>
        </p:spPr>
        <p:txBody>
          <a:bodyPr wrap="none" lIns="0" rIns="0" rtlCol="0">
            <a:spAutoFit/>
          </a:bodyPr>
          <a:lstStyle/>
          <a:p>
            <a:r>
              <a:rPr lang="en-US" altLang="zh-CN" sz="1600" b="1" dirty="0">
                <a:solidFill>
                  <a:srgbClr val="C00000"/>
                </a:solidFill>
              </a:rPr>
              <a:t>B</a:t>
            </a:r>
            <a:r>
              <a:rPr lang="en-US" altLang="zh-CN" sz="1600" b="1" dirty="0" smtClean="0">
                <a:solidFill>
                  <a:srgbClr val="C00000"/>
                </a:solidFill>
              </a:rPr>
              <a:t>uffer cache</a:t>
            </a:r>
            <a:endParaRPr lang="zh-CN" altLang="en-US" sz="1600" b="1" dirty="0">
              <a:solidFill>
                <a:srgbClr val="C00000"/>
              </a:solidFill>
            </a:endParaRPr>
          </a:p>
        </p:txBody>
      </p:sp>
      <p:sp>
        <p:nvSpPr>
          <p:cNvPr id="8" name="流程图: 磁盘 7"/>
          <p:cNvSpPr/>
          <p:nvPr/>
        </p:nvSpPr>
        <p:spPr>
          <a:xfrm>
            <a:off x="5211783" y="2038726"/>
            <a:ext cx="2911135" cy="1580371"/>
          </a:xfrm>
          <a:prstGeom prst="flowChartMagneticDisk">
            <a:avLst/>
          </a:prstGeom>
          <a:solidFill>
            <a:schemeClr val="bg2">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Rectangle 10"/>
          <p:cNvSpPr>
            <a:spLocks noChangeArrowheads="1"/>
          </p:cNvSpPr>
          <p:nvPr/>
        </p:nvSpPr>
        <p:spPr bwMode="auto">
          <a:xfrm>
            <a:off x="5586251" y="3013731"/>
            <a:ext cx="182880" cy="182880"/>
          </a:xfrm>
          <a:prstGeom prst="rect">
            <a:avLst/>
          </a:prstGeom>
          <a:solidFill>
            <a:schemeClr val="bg1"/>
          </a:solidFill>
          <a:ln w="9525" cap="flat" cmpd="sng">
            <a:solidFill>
              <a:schemeClr val="tx1"/>
            </a:solidFill>
            <a:miter lim="800000"/>
            <a:headEnd/>
            <a:tailEnd/>
          </a:ln>
          <a:effectLst/>
          <a:extLst/>
        </p:spPr>
        <p:txBody>
          <a:bodyPr wrap="none" anchor="ctr"/>
          <a:lstStyle/>
          <a:p>
            <a:pPr algn="ctr"/>
            <a:r>
              <a:rPr lang="en-US" altLang="zh-CN" b="1" dirty="0" smtClean="0">
                <a:solidFill>
                  <a:srgbClr val="FF0000"/>
                </a:solidFill>
              </a:rPr>
              <a:t>a</a:t>
            </a:r>
            <a:endParaRPr lang="zh-CN" altLang="en-US" sz="2400" b="1" dirty="0">
              <a:solidFill>
                <a:srgbClr val="FF0000"/>
              </a:solidFill>
            </a:endParaRPr>
          </a:p>
        </p:txBody>
      </p:sp>
      <p:sp>
        <p:nvSpPr>
          <p:cNvPr id="32" name="Rectangle 10"/>
          <p:cNvSpPr>
            <a:spLocks noChangeArrowheads="1"/>
          </p:cNvSpPr>
          <p:nvPr/>
        </p:nvSpPr>
        <p:spPr bwMode="auto">
          <a:xfrm>
            <a:off x="5763688" y="3013731"/>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002060"/>
                </a:solidFill>
              </a:rPr>
              <a:t>e</a:t>
            </a:r>
            <a:endParaRPr lang="zh-CN" altLang="en-US" b="1" dirty="0">
              <a:solidFill>
                <a:srgbClr val="002060"/>
              </a:solidFill>
            </a:endParaRPr>
          </a:p>
        </p:txBody>
      </p:sp>
      <p:sp>
        <p:nvSpPr>
          <p:cNvPr id="27" name="Rectangle 10"/>
          <p:cNvSpPr>
            <a:spLocks noChangeArrowheads="1"/>
          </p:cNvSpPr>
          <p:nvPr/>
        </p:nvSpPr>
        <p:spPr bwMode="auto">
          <a:xfrm>
            <a:off x="7258369" y="3180317"/>
            <a:ext cx="182880" cy="182880"/>
          </a:xfrm>
          <a:prstGeom prst="rect">
            <a:avLst/>
          </a:prstGeom>
          <a:solidFill>
            <a:schemeClr val="bg1"/>
          </a:solidFill>
          <a:ln w="9525" cap="flat" cmpd="sng">
            <a:solidFill>
              <a:schemeClr val="tx1"/>
            </a:solidFill>
            <a:miter lim="800000"/>
            <a:headEnd/>
            <a:tailEnd/>
          </a:ln>
          <a:effectLst/>
          <a:extLst/>
        </p:spPr>
        <p:txBody>
          <a:bodyPr wrap="none" anchor="ctr"/>
          <a:lstStyle/>
          <a:p>
            <a:pPr algn="ctr"/>
            <a:r>
              <a:rPr lang="en-US" altLang="zh-CN" b="1" dirty="0" smtClean="0">
                <a:solidFill>
                  <a:srgbClr val="002060"/>
                </a:solidFill>
              </a:rPr>
              <a:t>b</a:t>
            </a:r>
            <a:endParaRPr lang="zh-CN" altLang="en-US" sz="2400" b="1" dirty="0">
              <a:solidFill>
                <a:srgbClr val="002060"/>
              </a:solidFill>
            </a:endParaRPr>
          </a:p>
        </p:txBody>
      </p:sp>
      <p:sp>
        <p:nvSpPr>
          <p:cNvPr id="28" name="Rectangle 10"/>
          <p:cNvSpPr>
            <a:spLocks noChangeArrowheads="1"/>
          </p:cNvSpPr>
          <p:nvPr/>
        </p:nvSpPr>
        <p:spPr bwMode="auto">
          <a:xfrm>
            <a:off x="7624124" y="3180317"/>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7030A0"/>
                </a:solidFill>
              </a:rPr>
              <a:t>f</a:t>
            </a:r>
            <a:endParaRPr lang="zh-CN" altLang="en-US" b="1" dirty="0">
              <a:solidFill>
                <a:srgbClr val="7030A0"/>
              </a:solidFill>
            </a:endParaRPr>
          </a:p>
        </p:txBody>
      </p:sp>
      <p:sp>
        <p:nvSpPr>
          <p:cNvPr id="30" name="Rectangle 10"/>
          <p:cNvSpPr>
            <a:spLocks noChangeArrowheads="1"/>
          </p:cNvSpPr>
          <p:nvPr/>
        </p:nvSpPr>
        <p:spPr bwMode="auto">
          <a:xfrm>
            <a:off x="7441249" y="3180317"/>
            <a:ext cx="182880" cy="182880"/>
          </a:xfrm>
          <a:prstGeom prst="rect">
            <a:avLst/>
          </a:prstGeom>
          <a:solidFill>
            <a:schemeClr val="bg1"/>
          </a:solidFill>
          <a:ln w="9525" cap="flat" cmpd="sng">
            <a:solidFill>
              <a:schemeClr val="tx1"/>
            </a:solidFill>
            <a:miter lim="800000"/>
            <a:headEnd/>
            <a:tailEnd/>
          </a:ln>
          <a:effectLst/>
          <a:extLst/>
        </p:spPr>
        <p:txBody>
          <a:bodyPr wrap="none" anchor="ctr"/>
          <a:lstStyle/>
          <a:p>
            <a:pPr algn="ctr"/>
            <a:r>
              <a:rPr lang="en-US" altLang="zh-CN" b="1" dirty="0" smtClean="0">
                <a:solidFill>
                  <a:srgbClr val="00B050"/>
                </a:solidFill>
              </a:rPr>
              <a:t>d</a:t>
            </a:r>
            <a:endParaRPr lang="zh-CN" altLang="en-US" b="1" dirty="0">
              <a:solidFill>
                <a:srgbClr val="00B050"/>
              </a:solidFill>
            </a:endParaRPr>
          </a:p>
        </p:txBody>
      </p:sp>
      <p:cxnSp>
        <p:nvCxnSpPr>
          <p:cNvPr id="13" name="直接箭头连接符 12"/>
          <p:cNvCxnSpPr>
            <a:stCxn id="111" idx="3"/>
            <a:endCxn id="114" idx="0"/>
          </p:cNvCxnSpPr>
          <p:nvPr/>
        </p:nvCxnSpPr>
        <p:spPr>
          <a:xfrm>
            <a:off x="4341641" y="2014558"/>
            <a:ext cx="2302130" cy="1355478"/>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a:stCxn id="133" idx="3"/>
            <a:endCxn id="112" idx="0"/>
          </p:cNvCxnSpPr>
          <p:nvPr/>
        </p:nvCxnSpPr>
        <p:spPr>
          <a:xfrm>
            <a:off x="3975086" y="2020546"/>
            <a:ext cx="2485805" cy="1349490"/>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81" name="Rectangle 10"/>
          <p:cNvSpPr>
            <a:spLocks noChangeArrowheads="1"/>
          </p:cNvSpPr>
          <p:nvPr/>
        </p:nvSpPr>
        <p:spPr bwMode="auto">
          <a:xfrm>
            <a:off x="6369451" y="2761971"/>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FF0000"/>
                </a:solidFill>
              </a:rPr>
              <a:t>a</a:t>
            </a:r>
            <a:endParaRPr lang="zh-CN" altLang="en-US" sz="2400" b="1" dirty="0">
              <a:solidFill>
                <a:srgbClr val="FF0000"/>
              </a:solidFill>
            </a:endParaRPr>
          </a:p>
        </p:txBody>
      </p:sp>
      <p:sp>
        <p:nvSpPr>
          <p:cNvPr id="82" name="Rectangle 10"/>
          <p:cNvSpPr>
            <a:spLocks noChangeArrowheads="1"/>
          </p:cNvSpPr>
          <p:nvPr/>
        </p:nvSpPr>
        <p:spPr bwMode="auto">
          <a:xfrm>
            <a:off x="6735211" y="2761971"/>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FFC000"/>
                </a:solidFill>
              </a:rPr>
              <a:t>c</a:t>
            </a:r>
            <a:endParaRPr lang="zh-CN" altLang="en-US" sz="2400" b="1" dirty="0">
              <a:solidFill>
                <a:srgbClr val="FFC000"/>
              </a:solidFill>
            </a:endParaRPr>
          </a:p>
        </p:txBody>
      </p:sp>
      <p:sp>
        <p:nvSpPr>
          <p:cNvPr id="83" name="Rectangle 10"/>
          <p:cNvSpPr>
            <a:spLocks noChangeArrowheads="1"/>
          </p:cNvSpPr>
          <p:nvPr/>
        </p:nvSpPr>
        <p:spPr bwMode="auto">
          <a:xfrm>
            <a:off x="7279181" y="2761971"/>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7030A0"/>
                </a:solidFill>
              </a:rPr>
              <a:t>f</a:t>
            </a:r>
            <a:endParaRPr lang="zh-CN" altLang="en-US" sz="2400" b="1" dirty="0">
              <a:solidFill>
                <a:srgbClr val="7030A0"/>
              </a:solidFill>
            </a:endParaRPr>
          </a:p>
        </p:txBody>
      </p:sp>
      <p:sp>
        <p:nvSpPr>
          <p:cNvPr id="84" name="Rectangle 10"/>
          <p:cNvSpPr>
            <a:spLocks noChangeArrowheads="1"/>
          </p:cNvSpPr>
          <p:nvPr/>
        </p:nvSpPr>
        <p:spPr bwMode="auto">
          <a:xfrm>
            <a:off x="6552331" y="2761971"/>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002060"/>
                </a:solidFill>
              </a:rPr>
              <a:t>b</a:t>
            </a:r>
            <a:endParaRPr lang="zh-CN" altLang="en-US" b="1" dirty="0">
              <a:solidFill>
                <a:srgbClr val="002060"/>
              </a:solidFill>
            </a:endParaRPr>
          </a:p>
        </p:txBody>
      </p:sp>
      <p:sp>
        <p:nvSpPr>
          <p:cNvPr id="85" name="Rectangle 10"/>
          <p:cNvSpPr>
            <a:spLocks noChangeArrowheads="1"/>
          </p:cNvSpPr>
          <p:nvPr/>
        </p:nvSpPr>
        <p:spPr bwMode="auto">
          <a:xfrm>
            <a:off x="6918091" y="2761971"/>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00B050"/>
                </a:solidFill>
              </a:rPr>
              <a:t>d</a:t>
            </a:r>
            <a:endParaRPr lang="zh-CN" altLang="en-US" b="1" dirty="0">
              <a:solidFill>
                <a:srgbClr val="00B050"/>
              </a:solidFill>
            </a:endParaRPr>
          </a:p>
        </p:txBody>
      </p:sp>
      <p:sp>
        <p:nvSpPr>
          <p:cNvPr id="86" name="Rectangle 10"/>
          <p:cNvSpPr>
            <a:spLocks noChangeArrowheads="1"/>
          </p:cNvSpPr>
          <p:nvPr/>
        </p:nvSpPr>
        <p:spPr bwMode="auto">
          <a:xfrm>
            <a:off x="7096306" y="2761971"/>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002060"/>
                </a:solidFill>
              </a:rPr>
              <a:t>e</a:t>
            </a:r>
            <a:endParaRPr lang="zh-CN" altLang="en-US" b="1" dirty="0">
              <a:solidFill>
                <a:srgbClr val="002060"/>
              </a:solidFill>
            </a:endParaRPr>
          </a:p>
        </p:txBody>
      </p:sp>
      <p:sp>
        <p:nvSpPr>
          <p:cNvPr id="54" name="Rectangle 9"/>
          <p:cNvSpPr>
            <a:spLocks noChangeArrowheads="1"/>
          </p:cNvSpPr>
          <p:nvPr/>
        </p:nvSpPr>
        <p:spPr bwMode="auto">
          <a:xfrm>
            <a:off x="1758619" y="3104169"/>
            <a:ext cx="1463040" cy="137160"/>
          </a:xfrm>
          <a:prstGeom prst="rect">
            <a:avLst/>
          </a:prstGeom>
          <a:solidFill>
            <a:srgbClr val="000080"/>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ndParaRPr>
          </a:p>
        </p:txBody>
      </p:sp>
      <p:sp>
        <p:nvSpPr>
          <p:cNvPr id="55" name="Rectangle 10"/>
          <p:cNvSpPr>
            <a:spLocks noChangeArrowheads="1"/>
          </p:cNvSpPr>
          <p:nvPr/>
        </p:nvSpPr>
        <p:spPr bwMode="auto">
          <a:xfrm>
            <a:off x="2129822" y="2738409"/>
            <a:ext cx="731520" cy="137160"/>
          </a:xfrm>
          <a:prstGeom prst="rect">
            <a:avLst/>
          </a:prstGeom>
          <a:solidFill>
            <a:srgbClr val="000080"/>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ndParaRPr>
          </a:p>
        </p:txBody>
      </p:sp>
      <p:sp>
        <p:nvSpPr>
          <p:cNvPr id="56" name="Rectangle 16"/>
          <p:cNvSpPr>
            <a:spLocks noChangeArrowheads="1"/>
          </p:cNvSpPr>
          <p:nvPr/>
        </p:nvSpPr>
        <p:spPr bwMode="auto">
          <a:xfrm>
            <a:off x="2398522" y="2372649"/>
            <a:ext cx="182880" cy="137160"/>
          </a:xfrm>
          <a:prstGeom prst="rect">
            <a:avLst/>
          </a:prstGeom>
          <a:solidFill>
            <a:srgbClr val="FFFF00"/>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ndParaRPr>
          </a:p>
        </p:txBody>
      </p:sp>
      <p:sp>
        <p:nvSpPr>
          <p:cNvPr id="57" name="Text Box 17"/>
          <p:cNvSpPr txBox="1">
            <a:spLocks noChangeArrowheads="1"/>
          </p:cNvSpPr>
          <p:nvPr/>
        </p:nvSpPr>
        <p:spPr bwMode="auto">
          <a:xfrm>
            <a:off x="1359375" y="2133230"/>
            <a:ext cx="285335" cy="1846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r>
              <a:rPr lang="en-US" altLang="zh-CN" sz="1200" dirty="0" smtClean="0">
                <a:solidFill>
                  <a:prstClr val="black"/>
                </a:solidFill>
              </a:rPr>
              <a:t>HDD</a:t>
            </a:r>
            <a:endParaRPr lang="zh-CN" altLang="en-US" sz="1200" dirty="0">
              <a:solidFill>
                <a:prstClr val="black"/>
              </a:solidFill>
            </a:endParaRPr>
          </a:p>
        </p:txBody>
      </p:sp>
      <p:sp>
        <p:nvSpPr>
          <p:cNvPr id="58" name="Rectangle 10"/>
          <p:cNvSpPr>
            <a:spLocks noChangeArrowheads="1"/>
          </p:cNvSpPr>
          <p:nvPr/>
        </p:nvSpPr>
        <p:spPr bwMode="auto">
          <a:xfrm>
            <a:off x="984916" y="2164080"/>
            <a:ext cx="274320" cy="137160"/>
          </a:xfrm>
          <a:prstGeom prst="rect">
            <a:avLst/>
          </a:prstGeom>
          <a:solidFill>
            <a:srgbClr val="002060"/>
          </a:solidFill>
          <a:ln w="9525" cap="flat" cmpd="sng">
            <a:solidFill>
              <a:schemeClr val="tx1"/>
            </a:solidFill>
            <a:miter lim="800000"/>
            <a:headEnd/>
            <a:tailEnd/>
          </a:ln>
          <a:effectLst/>
          <a:extLst/>
        </p:spPr>
        <p:txBody>
          <a:bodyPr wrap="none" anchor="ctr"/>
          <a:lstStyle/>
          <a:p>
            <a:endParaRPr lang="zh-CN" altLang="en-US" sz="1200">
              <a:solidFill>
                <a:prstClr val="black"/>
              </a:solidFill>
            </a:endParaRPr>
          </a:p>
        </p:txBody>
      </p:sp>
      <p:sp>
        <p:nvSpPr>
          <p:cNvPr id="60" name="箭头 379"/>
          <p:cNvSpPr>
            <a:spLocks noChangeShapeType="1"/>
          </p:cNvSpPr>
          <p:nvPr/>
        </p:nvSpPr>
        <p:spPr bwMode="auto">
          <a:xfrm flipH="1">
            <a:off x="1775496" y="2788103"/>
            <a:ext cx="343472" cy="305747"/>
          </a:xfrm>
          <a:custGeom>
            <a:avLst/>
            <a:gdLst>
              <a:gd name="connsiteX0" fmla="*/ 0 w 10000"/>
              <a:gd name="connsiteY0" fmla="*/ 0 h 10000"/>
              <a:gd name="connsiteX1" fmla="*/ 10000 w 10000"/>
              <a:gd name="connsiteY1" fmla="*/ 10000 h 10000"/>
              <a:gd name="connsiteX0" fmla="*/ 0 w 10000"/>
              <a:gd name="connsiteY0" fmla="*/ 0 h 10000"/>
              <a:gd name="connsiteX1" fmla="*/ 10000 w 10000"/>
              <a:gd name="connsiteY1" fmla="*/ 4196 h 10000"/>
              <a:gd name="connsiteX2" fmla="*/ 10000 w 10000"/>
              <a:gd name="connsiteY2" fmla="*/ 10000 h 10000"/>
              <a:gd name="connsiteX0" fmla="*/ 0 w 101010"/>
              <a:gd name="connsiteY0" fmla="*/ 0 h 10000"/>
              <a:gd name="connsiteX1" fmla="*/ 101010 w 101010"/>
              <a:gd name="connsiteY1" fmla="*/ 5597 h 10000"/>
              <a:gd name="connsiteX2" fmla="*/ 10000 w 101010"/>
              <a:gd name="connsiteY2" fmla="*/ 10000 h 10000"/>
              <a:gd name="connsiteX0" fmla="*/ 0 w 101031"/>
              <a:gd name="connsiteY0" fmla="*/ 0 h 10000"/>
              <a:gd name="connsiteX1" fmla="*/ 101010 w 101031"/>
              <a:gd name="connsiteY1" fmla="*/ 5597 h 10000"/>
              <a:gd name="connsiteX2" fmla="*/ 10000 w 101031"/>
              <a:gd name="connsiteY2" fmla="*/ 10000 h 10000"/>
              <a:gd name="connsiteX0" fmla="*/ 0 w 101031"/>
              <a:gd name="connsiteY0" fmla="*/ 0 h 10000"/>
              <a:gd name="connsiteX1" fmla="*/ 101010 w 101031"/>
              <a:gd name="connsiteY1" fmla="*/ 4396 h 10000"/>
              <a:gd name="connsiteX2" fmla="*/ 10000 w 101031"/>
              <a:gd name="connsiteY2" fmla="*/ 10000 h 10000"/>
              <a:gd name="connsiteX0" fmla="*/ 0 w 270965"/>
              <a:gd name="connsiteY0" fmla="*/ 0 h 9600"/>
              <a:gd name="connsiteX1" fmla="*/ 266483 w 270965"/>
              <a:gd name="connsiteY1" fmla="*/ 3996 h 9600"/>
              <a:gd name="connsiteX2" fmla="*/ 175473 w 270965"/>
              <a:gd name="connsiteY2" fmla="*/ 9600 h 9600"/>
              <a:gd name="connsiteX0" fmla="*/ 0 w 7173"/>
              <a:gd name="connsiteY0" fmla="*/ 0 h 10000"/>
              <a:gd name="connsiteX1" fmla="*/ 6782 w 7173"/>
              <a:gd name="connsiteY1" fmla="*/ 3329 h 10000"/>
              <a:gd name="connsiteX2" fmla="*/ 6476 w 7173"/>
              <a:gd name="connsiteY2" fmla="*/ 10000 h 10000"/>
              <a:gd name="connsiteX0" fmla="*/ 0 w 10912"/>
              <a:gd name="connsiteY0" fmla="*/ 0 h 9444"/>
              <a:gd name="connsiteX1" fmla="*/ 10306 w 10912"/>
              <a:gd name="connsiteY1" fmla="*/ 2773 h 9444"/>
              <a:gd name="connsiteX2" fmla="*/ 9879 w 10912"/>
              <a:gd name="connsiteY2" fmla="*/ 9444 h 9444"/>
              <a:gd name="connsiteX0" fmla="*/ 0 w 9244"/>
              <a:gd name="connsiteY0" fmla="*/ 0 h 10000"/>
              <a:gd name="connsiteX1" fmla="*/ 8405 w 9244"/>
              <a:gd name="connsiteY1" fmla="*/ 2642 h 10000"/>
              <a:gd name="connsiteX2" fmla="*/ 9053 w 9244"/>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9700"/>
              <a:gd name="connsiteY0" fmla="*/ 0 h 10589"/>
              <a:gd name="connsiteX1" fmla="*/ 8811 w 9700"/>
              <a:gd name="connsiteY1" fmla="*/ 3231 h 10589"/>
              <a:gd name="connsiteX2" fmla="*/ 9512 w 9700"/>
              <a:gd name="connsiteY2" fmla="*/ 10589 h 10589"/>
              <a:gd name="connsiteX0" fmla="*/ 0 w 10000"/>
              <a:gd name="connsiteY0" fmla="*/ 0 h 10000"/>
              <a:gd name="connsiteX1" fmla="*/ 9084 w 10000"/>
              <a:gd name="connsiteY1" fmla="*/ 3051 h 10000"/>
              <a:gd name="connsiteX2" fmla="*/ 9806 w 10000"/>
              <a:gd name="connsiteY2" fmla="*/ 10000 h 10000"/>
              <a:gd name="connsiteX0" fmla="*/ 0 w 10000"/>
              <a:gd name="connsiteY0" fmla="*/ 0 h 10000"/>
              <a:gd name="connsiteX1" fmla="*/ 9084 w 10000"/>
              <a:gd name="connsiteY1" fmla="*/ 3051 h 10000"/>
              <a:gd name="connsiteX2" fmla="*/ 9806 w 10000"/>
              <a:gd name="connsiteY2" fmla="*/ 10000 h 10000"/>
              <a:gd name="connsiteX0" fmla="*/ 0 w 10386"/>
              <a:gd name="connsiteY0" fmla="*/ 0 h 10973"/>
              <a:gd name="connsiteX1" fmla="*/ 9084 w 10386"/>
              <a:gd name="connsiteY1" fmla="*/ 3051 h 10973"/>
              <a:gd name="connsiteX2" fmla="*/ 10386 w 10386"/>
              <a:gd name="connsiteY2" fmla="*/ 10973 h 10973"/>
              <a:gd name="connsiteX0" fmla="*/ 0 w 10414"/>
              <a:gd name="connsiteY0" fmla="*/ 0 h 10973"/>
              <a:gd name="connsiteX1" fmla="*/ 9084 w 10414"/>
              <a:gd name="connsiteY1" fmla="*/ 3051 h 10973"/>
              <a:gd name="connsiteX2" fmla="*/ 10290 w 10414"/>
              <a:gd name="connsiteY2" fmla="*/ 6669 h 10973"/>
              <a:gd name="connsiteX3" fmla="*/ 10386 w 10414"/>
              <a:gd name="connsiteY3" fmla="*/ 10973 h 10973"/>
              <a:gd name="connsiteX0" fmla="*/ 0 w 10641"/>
              <a:gd name="connsiteY0" fmla="*/ 0 h 10973"/>
              <a:gd name="connsiteX1" fmla="*/ 9084 w 10641"/>
              <a:gd name="connsiteY1" fmla="*/ 3051 h 10973"/>
              <a:gd name="connsiteX2" fmla="*/ 10580 w 10641"/>
              <a:gd name="connsiteY2" fmla="*/ 6113 h 10973"/>
              <a:gd name="connsiteX3" fmla="*/ 10386 w 10641"/>
              <a:gd name="connsiteY3" fmla="*/ 10973 h 10973"/>
              <a:gd name="connsiteX0" fmla="*/ 0 w 10641"/>
              <a:gd name="connsiteY0" fmla="*/ 0 h 10973"/>
              <a:gd name="connsiteX1" fmla="*/ 7924 w 10641"/>
              <a:gd name="connsiteY1" fmla="*/ 2634 h 10973"/>
              <a:gd name="connsiteX2" fmla="*/ 10580 w 10641"/>
              <a:gd name="connsiteY2" fmla="*/ 6113 h 10973"/>
              <a:gd name="connsiteX3" fmla="*/ 10386 w 10641"/>
              <a:gd name="connsiteY3" fmla="*/ 10973 h 10973"/>
              <a:gd name="connsiteX0" fmla="*/ 0 w 11801"/>
              <a:gd name="connsiteY0" fmla="*/ 0 h 10973"/>
              <a:gd name="connsiteX1" fmla="*/ 9084 w 11801"/>
              <a:gd name="connsiteY1" fmla="*/ 2634 h 10973"/>
              <a:gd name="connsiteX2" fmla="*/ 11740 w 11801"/>
              <a:gd name="connsiteY2" fmla="*/ 6113 h 10973"/>
              <a:gd name="connsiteX3" fmla="*/ 11546 w 11801"/>
              <a:gd name="connsiteY3" fmla="*/ 10973 h 10973"/>
              <a:gd name="connsiteX0" fmla="*/ 0 w 11801"/>
              <a:gd name="connsiteY0" fmla="*/ 0 h 10973"/>
              <a:gd name="connsiteX1" fmla="*/ 9084 w 11801"/>
              <a:gd name="connsiteY1" fmla="*/ 2634 h 10973"/>
              <a:gd name="connsiteX2" fmla="*/ 11740 w 11801"/>
              <a:gd name="connsiteY2" fmla="*/ 6113 h 10973"/>
              <a:gd name="connsiteX3" fmla="*/ 11546 w 11801"/>
              <a:gd name="connsiteY3" fmla="*/ 10973 h 10973"/>
              <a:gd name="connsiteX0" fmla="*/ 0 w 11546"/>
              <a:gd name="connsiteY0" fmla="*/ 0 h 10973"/>
              <a:gd name="connsiteX1" fmla="*/ 9084 w 11546"/>
              <a:gd name="connsiteY1" fmla="*/ 2634 h 10973"/>
              <a:gd name="connsiteX2" fmla="*/ 11546 w 11546"/>
              <a:gd name="connsiteY2" fmla="*/ 10973 h 10973"/>
              <a:gd name="connsiteX0" fmla="*/ 0 w 11911"/>
              <a:gd name="connsiteY0" fmla="*/ 0 h 7741"/>
              <a:gd name="connsiteX1" fmla="*/ 9084 w 11911"/>
              <a:gd name="connsiteY1" fmla="*/ 2634 h 7741"/>
              <a:gd name="connsiteX2" fmla="*/ 11911 w 11911"/>
              <a:gd name="connsiteY2" fmla="*/ 7741 h 7741"/>
              <a:gd name="connsiteX0" fmla="*/ 0 w 10000"/>
              <a:gd name="connsiteY0" fmla="*/ 0 h 10000"/>
              <a:gd name="connsiteX1" fmla="*/ 6809 w 10000"/>
              <a:gd name="connsiteY1" fmla="*/ 2595 h 10000"/>
              <a:gd name="connsiteX2" fmla="*/ 10000 w 10000"/>
              <a:gd name="connsiteY2" fmla="*/ 10000 h 10000"/>
              <a:gd name="connsiteX0" fmla="*/ 0 w 9898"/>
              <a:gd name="connsiteY0" fmla="*/ 0 h 10404"/>
              <a:gd name="connsiteX1" fmla="*/ 6707 w 9898"/>
              <a:gd name="connsiteY1" fmla="*/ 2999 h 10404"/>
              <a:gd name="connsiteX2" fmla="*/ 9898 w 9898"/>
              <a:gd name="connsiteY2" fmla="*/ 10404 h 10404"/>
              <a:gd name="connsiteX0" fmla="*/ 0 w 10000"/>
              <a:gd name="connsiteY0" fmla="*/ 0 h 10388"/>
              <a:gd name="connsiteX1" fmla="*/ 6776 w 10000"/>
              <a:gd name="connsiteY1" fmla="*/ 2883 h 10388"/>
              <a:gd name="connsiteX2" fmla="*/ 10000 w 10000"/>
              <a:gd name="connsiteY2" fmla="*/ 10388 h 10388"/>
              <a:gd name="connsiteX0" fmla="*/ 0 w 9311"/>
              <a:gd name="connsiteY0" fmla="*/ 0 h 10388"/>
              <a:gd name="connsiteX1" fmla="*/ 6087 w 9311"/>
              <a:gd name="connsiteY1" fmla="*/ 2883 h 10388"/>
              <a:gd name="connsiteX2" fmla="*/ 9311 w 9311"/>
              <a:gd name="connsiteY2" fmla="*/ 10388 h 10388"/>
            </a:gdLst>
            <a:ahLst/>
            <a:cxnLst>
              <a:cxn ang="0">
                <a:pos x="connsiteX0" y="connsiteY0"/>
              </a:cxn>
              <a:cxn ang="0">
                <a:pos x="connsiteX1" y="connsiteY1"/>
              </a:cxn>
              <a:cxn ang="0">
                <a:pos x="connsiteX2" y="connsiteY2"/>
              </a:cxn>
            </a:cxnLst>
            <a:rect l="l" t="t" r="r" b="b"/>
            <a:pathLst>
              <a:path w="9311" h="10388">
                <a:moveTo>
                  <a:pt x="0" y="0"/>
                </a:moveTo>
                <a:cubicBezTo>
                  <a:pt x="3470" y="688"/>
                  <a:pt x="4535" y="1152"/>
                  <a:pt x="6087" y="2883"/>
                </a:cubicBezTo>
                <a:cubicBezTo>
                  <a:pt x="7639" y="4614"/>
                  <a:pt x="8876" y="8231"/>
                  <a:pt x="9311" y="10388"/>
                </a:cubicBezTo>
              </a:path>
            </a:pathLst>
          </a:custGeom>
          <a:noFill/>
          <a:ln w="12700" cap="flat"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a:solidFill>
                <a:prstClr val="black"/>
              </a:solidFill>
            </a:endParaRPr>
          </a:p>
        </p:txBody>
      </p:sp>
      <p:sp>
        <p:nvSpPr>
          <p:cNvPr id="61" name="箭头 379"/>
          <p:cNvSpPr>
            <a:spLocks noChangeShapeType="1"/>
          </p:cNvSpPr>
          <p:nvPr/>
        </p:nvSpPr>
        <p:spPr bwMode="auto">
          <a:xfrm flipH="1">
            <a:off x="2159240" y="2459447"/>
            <a:ext cx="215052" cy="273956"/>
          </a:xfrm>
          <a:custGeom>
            <a:avLst/>
            <a:gdLst>
              <a:gd name="connsiteX0" fmla="*/ 0 w 10000"/>
              <a:gd name="connsiteY0" fmla="*/ 0 h 10000"/>
              <a:gd name="connsiteX1" fmla="*/ 10000 w 10000"/>
              <a:gd name="connsiteY1" fmla="*/ 10000 h 10000"/>
              <a:gd name="connsiteX0" fmla="*/ 0 w 10000"/>
              <a:gd name="connsiteY0" fmla="*/ 0 h 10000"/>
              <a:gd name="connsiteX1" fmla="*/ 10000 w 10000"/>
              <a:gd name="connsiteY1" fmla="*/ 4196 h 10000"/>
              <a:gd name="connsiteX2" fmla="*/ 10000 w 10000"/>
              <a:gd name="connsiteY2" fmla="*/ 10000 h 10000"/>
              <a:gd name="connsiteX0" fmla="*/ 0 w 101010"/>
              <a:gd name="connsiteY0" fmla="*/ 0 h 10000"/>
              <a:gd name="connsiteX1" fmla="*/ 101010 w 101010"/>
              <a:gd name="connsiteY1" fmla="*/ 5597 h 10000"/>
              <a:gd name="connsiteX2" fmla="*/ 10000 w 101010"/>
              <a:gd name="connsiteY2" fmla="*/ 10000 h 10000"/>
              <a:gd name="connsiteX0" fmla="*/ 0 w 101031"/>
              <a:gd name="connsiteY0" fmla="*/ 0 h 10000"/>
              <a:gd name="connsiteX1" fmla="*/ 101010 w 101031"/>
              <a:gd name="connsiteY1" fmla="*/ 5597 h 10000"/>
              <a:gd name="connsiteX2" fmla="*/ 10000 w 101031"/>
              <a:gd name="connsiteY2" fmla="*/ 10000 h 10000"/>
              <a:gd name="connsiteX0" fmla="*/ 0 w 101031"/>
              <a:gd name="connsiteY0" fmla="*/ 0 h 10000"/>
              <a:gd name="connsiteX1" fmla="*/ 101010 w 101031"/>
              <a:gd name="connsiteY1" fmla="*/ 4396 h 10000"/>
              <a:gd name="connsiteX2" fmla="*/ 10000 w 101031"/>
              <a:gd name="connsiteY2" fmla="*/ 10000 h 10000"/>
              <a:gd name="connsiteX0" fmla="*/ 0 w 270965"/>
              <a:gd name="connsiteY0" fmla="*/ 0 h 9600"/>
              <a:gd name="connsiteX1" fmla="*/ 266483 w 270965"/>
              <a:gd name="connsiteY1" fmla="*/ 3996 h 9600"/>
              <a:gd name="connsiteX2" fmla="*/ 175473 w 270965"/>
              <a:gd name="connsiteY2" fmla="*/ 9600 h 9600"/>
              <a:gd name="connsiteX0" fmla="*/ 0 w 7173"/>
              <a:gd name="connsiteY0" fmla="*/ 0 h 10000"/>
              <a:gd name="connsiteX1" fmla="*/ 6782 w 7173"/>
              <a:gd name="connsiteY1" fmla="*/ 3329 h 10000"/>
              <a:gd name="connsiteX2" fmla="*/ 6476 w 7173"/>
              <a:gd name="connsiteY2" fmla="*/ 10000 h 10000"/>
              <a:gd name="connsiteX0" fmla="*/ 0 w 10912"/>
              <a:gd name="connsiteY0" fmla="*/ 0 h 9444"/>
              <a:gd name="connsiteX1" fmla="*/ 10306 w 10912"/>
              <a:gd name="connsiteY1" fmla="*/ 2773 h 9444"/>
              <a:gd name="connsiteX2" fmla="*/ 9879 w 10912"/>
              <a:gd name="connsiteY2" fmla="*/ 9444 h 9444"/>
              <a:gd name="connsiteX0" fmla="*/ 0 w 9244"/>
              <a:gd name="connsiteY0" fmla="*/ 0 h 10000"/>
              <a:gd name="connsiteX1" fmla="*/ 8405 w 9244"/>
              <a:gd name="connsiteY1" fmla="*/ 2642 h 10000"/>
              <a:gd name="connsiteX2" fmla="*/ 9053 w 9244"/>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9700"/>
              <a:gd name="connsiteY0" fmla="*/ 0 h 10589"/>
              <a:gd name="connsiteX1" fmla="*/ 8811 w 9700"/>
              <a:gd name="connsiteY1" fmla="*/ 3231 h 10589"/>
              <a:gd name="connsiteX2" fmla="*/ 9512 w 9700"/>
              <a:gd name="connsiteY2" fmla="*/ 10589 h 10589"/>
              <a:gd name="connsiteX0" fmla="*/ 0 w 10000"/>
              <a:gd name="connsiteY0" fmla="*/ 0 h 10000"/>
              <a:gd name="connsiteX1" fmla="*/ 9084 w 10000"/>
              <a:gd name="connsiteY1" fmla="*/ 3051 h 10000"/>
              <a:gd name="connsiteX2" fmla="*/ 9806 w 10000"/>
              <a:gd name="connsiteY2" fmla="*/ 10000 h 10000"/>
              <a:gd name="connsiteX0" fmla="*/ 0 w 10000"/>
              <a:gd name="connsiteY0" fmla="*/ 0 h 10000"/>
              <a:gd name="connsiteX1" fmla="*/ 9084 w 10000"/>
              <a:gd name="connsiteY1" fmla="*/ 3051 h 10000"/>
              <a:gd name="connsiteX2" fmla="*/ 9806 w 10000"/>
              <a:gd name="connsiteY2" fmla="*/ 10000 h 10000"/>
              <a:gd name="connsiteX0" fmla="*/ 0 w 10386"/>
              <a:gd name="connsiteY0" fmla="*/ 0 h 10973"/>
              <a:gd name="connsiteX1" fmla="*/ 9084 w 10386"/>
              <a:gd name="connsiteY1" fmla="*/ 3051 h 10973"/>
              <a:gd name="connsiteX2" fmla="*/ 10386 w 10386"/>
              <a:gd name="connsiteY2" fmla="*/ 10973 h 10973"/>
              <a:gd name="connsiteX0" fmla="*/ 0 w 10414"/>
              <a:gd name="connsiteY0" fmla="*/ 0 h 10973"/>
              <a:gd name="connsiteX1" fmla="*/ 9084 w 10414"/>
              <a:gd name="connsiteY1" fmla="*/ 3051 h 10973"/>
              <a:gd name="connsiteX2" fmla="*/ 10290 w 10414"/>
              <a:gd name="connsiteY2" fmla="*/ 6669 h 10973"/>
              <a:gd name="connsiteX3" fmla="*/ 10386 w 10414"/>
              <a:gd name="connsiteY3" fmla="*/ 10973 h 10973"/>
              <a:gd name="connsiteX0" fmla="*/ 0 w 10641"/>
              <a:gd name="connsiteY0" fmla="*/ 0 h 10973"/>
              <a:gd name="connsiteX1" fmla="*/ 9084 w 10641"/>
              <a:gd name="connsiteY1" fmla="*/ 3051 h 10973"/>
              <a:gd name="connsiteX2" fmla="*/ 10580 w 10641"/>
              <a:gd name="connsiteY2" fmla="*/ 6113 h 10973"/>
              <a:gd name="connsiteX3" fmla="*/ 10386 w 10641"/>
              <a:gd name="connsiteY3" fmla="*/ 10973 h 10973"/>
              <a:gd name="connsiteX0" fmla="*/ 0 w 10641"/>
              <a:gd name="connsiteY0" fmla="*/ 0 h 10973"/>
              <a:gd name="connsiteX1" fmla="*/ 7924 w 10641"/>
              <a:gd name="connsiteY1" fmla="*/ 2634 h 10973"/>
              <a:gd name="connsiteX2" fmla="*/ 10580 w 10641"/>
              <a:gd name="connsiteY2" fmla="*/ 6113 h 10973"/>
              <a:gd name="connsiteX3" fmla="*/ 10386 w 10641"/>
              <a:gd name="connsiteY3" fmla="*/ 10973 h 10973"/>
              <a:gd name="connsiteX0" fmla="*/ 0 w 11801"/>
              <a:gd name="connsiteY0" fmla="*/ 0 h 10973"/>
              <a:gd name="connsiteX1" fmla="*/ 9084 w 11801"/>
              <a:gd name="connsiteY1" fmla="*/ 2634 h 10973"/>
              <a:gd name="connsiteX2" fmla="*/ 11740 w 11801"/>
              <a:gd name="connsiteY2" fmla="*/ 6113 h 10973"/>
              <a:gd name="connsiteX3" fmla="*/ 11546 w 11801"/>
              <a:gd name="connsiteY3" fmla="*/ 10973 h 10973"/>
              <a:gd name="connsiteX0" fmla="*/ 0 w 11801"/>
              <a:gd name="connsiteY0" fmla="*/ 0 h 10973"/>
              <a:gd name="connsiteX1" fmla="*/ 9084 w 11801"/>
              <a:gd name="connsiteY1" fmla="*/ 2634 h 10973"/>
              <a:gd name="connsiteX2" fmla="*/ 11740 w 11801"/>
              <a:gd name="connsiteY2" fmla="*/ 6113 h 10973"/>
              <a:gd name="connsiteX3" fmla="*/ 11546 w 11801"/>
              <a:gd name="connsiteY3" fmla="*/ 10973 h 10973"/>
              <a:gd name="connsiteX0" fmla="*/ 0 w 11546"/>
              <a:gd name="connsiteY0" fmla="*/ 0 h 10973"/>
              <a:gd name="connsiteX1" fmla="*/ 9084 w 11546"/>
              <a:gd name="connsiteY1" fmla="*/ 2634 h 10973"/>
              <a:gd name="connsiteX2" fmla="*/ 11546 w 11546"/>
              <a:gd name="connsiteY2" fmla="*/ 10973 h 10973"/>
              <a:gd name="connsiteX0" fmla="*/ 0 w 11546"/>
              <a:gd name="connsiteY0" fmla="*/ 0 h 8367"/>
              <a:gd name="connsiteX1" fmla="*/ 9084 w 11546"/>
              <a:gd name="connsiteY1" fmla="*/ 2634 h 8367"/>
              <a:gd name="connsiteX2" fmla="*/ 11546 w 11546"/>
              <a:gd name="connsiteY2" fmla="*/ 8367 h 8367"/>
              <a:gd name="connsiteX0" fmla="*/ 0 w 10000"/>
              <a:gd name="connsiteY0" fmla="*/ 0 h 10000"/>
              <a:gd name="connsiteX1" fmla="*/ 6978 w 10000"/>
              <a:gd name="connsiteY1" fmla="*/ 3397 h 10000"/>
              <a:gd name="connsiteX2" fmla="*/ 10000 w 10000"/>
              <a:gd name="connsiteY2" fmla="*/ 10000 h 10000"/>
              <a:gd name="connsiteX0" fmla="*/ 0 w 10297"/>
              <a:gd name="connsiteY0" fmla="*/ 0 h 11744"/>
              <a:gd name="connsiteX1" fmla="*/ 6978 w 10297"/>
              <a:gd name="connsiteY1" fmla="*/ 3397 h 11744"/>
              <a:gd name="connsiteX2" fmla="*/ 10297 w 10297"/>
              <a:gd name="connsiteY2" fmla="*/ 11744 h 11744"/>
              <a:gd name="connsiteX0" fmla="*/ 0 w 9424"/>
              <a:gd name="connsiteY0" fmla="*/ 0 h 10425"/>
              <a:gd name="connsiteX1" fmla="*/ 6978 w 9424"/>
              <a:gd name="connsiteY1" fmla="*/ 3397 h 10425"/>
              <a:gd name="connsiteX2" fmla="*/ 9424 w 9424"/>
              <a:gd name="connsiteY2" fmla="*/ 10425 h 10425"/>
              <a:gd name="connsiteX0" fmla="*/ 0 w 9259"/>
              <a:gd name="connsiteY0" fmla="*/ 0 h 9297"/>
              <a:gd name="connsiteX1" fmla="*/ 6663 w 9259"/>
              <a:gd name="connsiteY1" fmla="*/ 2556 h 9297"/>
              <a:gd name="connsiteX2" fmla="*/ 9259 w 9259"/>
              <a:gd name="connsiteY2" fmla="*/ 9297 h 9297"/>
              <a:gd name="connsiteX0" fmla="*/ 0 w 9600"/>
              <a:gd name="connsiteY0" fmla="*/ 0 h 9244"/>
              <a:gd name="connsiteX1" fmla="*/ 7196 w 9600"/>
              <a:gd name="connsiteY1" fmla="*/ 2749 h 9244"/>
              <a:gd name="connsiteX2" fmla="*/ 9600 w 9600"/>
              <a:gd name="connsiteY2" fmla="*/ 9244 h 9244"/>
              <a:gd name="connsiteX0" fmla="*/ 0 w 10000"/>
              <a:gd name="connsiteY0" fmla="*/ 0 h 10000"/>
              <a:gd name="connsiteX1" fmla="*/ 6871 w 10000"/>
              <a:gd name="connsiteY1" fmla="*/ 2974 h 10000"/>
              <a:gd name="connsiteX2" fmla="*/ 10000 w 10000"/>
              <a:gd name="connsiteY2" fmla="*/ 10000 h 10000"/>
            </a:gdLst>
            <a:ahLst/>
            <a:cxnLst>
              <a:cxn ang="0">
                <a:pos x="connsiteX0" y="connsiteY0"/>
              </a:cxn>
              <a:cxn ang="0">
                <a:pos x="connsiteX1" y="connsiteY1"/>
              </a:cxn>
              <a:cxn ang="0">
                <a:pos x="connsiteX2" y="connsiteY2"/>
              </a:cxn>
            </a:cxnLst>
            <a:rect l="l" t="t" r="r" b="b"/>
            <a:pathLst>
              <a:path w="10000" h="10000">
                <a:moveTo>
                  <a:pt x="0" y="0"/>
                </a:moveTo>
                <a:cubicBezTo>
                  <a:pt x="4230" y="739"/>
                  <a:pt x="5204" y="1307"/>
                  <a:pt x="6871" y="2974"/>
                </a:cubicBezTo>
                <a:cubicBezTo>
                  <a:pt x="8538" y="4641"/>
                  <a:pt x="9470" y="7683"/>
                  <a:pt x="10000" y="10000"/>
                </a:cubicBezTo>
              </a:path>
            </a:pathLst>
          </a:custGeom>
          <a:noFill/>
          <a:ln w="12700" cap="flat"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prstClr val="black"/>
              </a:solidFill>
            </a:endParaRPr>
          </a:p>
        </p:txBody>
      </p:sp>
      <p:sp>
        <p:nvSpPr>
          <p:cNvPr id="63" name="TextBox 62"/>
          <p:cNvSpPr txBox="1"/>
          <p:nvPr/>
        </p:nvSpPr>
        <p:spPr>
          <a:xfrm>
            <a:off x="2276439" y="1795580"/>
            <a:ext cx="445315" cy="215444"/>
          </a:xfrm>
          <a:prstGeom prst="rect">
            <a:avLst/>
          </a:prstGeom>
          <a:noFill/>
        </p:spPr>
        <p:txBody>
          <a:bodyPr wrap="none" lIns="0" tIns="0" rIns="0" bIns="0" rtlCol="0">
            <a:spAutoFit/>
          </a:bodyPr>
          <a:lstStyle/>
          <a:p>
            <a:r>
              <a:rPr lang="en-US" altLang="zh-CN" sz="1400" i="1" dirty="0" smtClean="0"/>
              <a:t>writes</a:t>
            </a:r>
            <a:endParaRPr lang="zh-CN" altLang="en-US" sz="1400" i="1" dirty="0"/>
          </a:p>
        </p:txBody>
      </p:sp>
      <p:cxnSp>
        <p:nvCxnSpPr>
          <p:cNvPr id="64" name="直接箭头连接符 63"/>
          <p:cNvCxnSpPr/>
          <p:nvPr/>
        </p:nvCxnSpPr>
        <p:spPr>
          <a:xfrm flipH="1">
            <a:off x="2489963" y="2052407"/>
            <a:ext cx="5619" cy="30224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1153761" y="2706461"/>
            <a:ext cx="720967" cy="307777"/>
          </a:xfrm>
          <a:prstGeom prst="rect">
            <a:avLst/>
          </a:prstGeom>
          <a:noFill/>
        </p:spPr>
        <p:txBody>
          <a:bodyPr wrap="none" rtlCol="0">
            <a:spAutoFit/>
          </a:bodyPr>
          <a:lstStyle/>
          <a:p>
            <a:r>
              <a:rPr lang="en-US" altLang="zh-CN" sz="1400" i="1" dirty="0" smtClean="0"/>
              <a:t>merges</a:t>
            </a:r>
            <a:endParaRPr lang="zh-CN" altLang="en-US" sz="1400" i="1" dirty="0"/>
          </a:p>
        </p:txBody>
      </p:sp>
      <p:sp>
        <p:nvSpPr>
          <p:cNvPr id="66" name="TextBox 65"/>
          <p:cNvSpPr txBox="1"/>
          <p:nvPr/>
        </p:nvSpPr>
        <p:spPr>
          <a:xfrm>
            <a:off x="2643207" y="2333507"/>
            <a:ext cx="157094" cy="215444"/>
          </a:xfrm>
          <a:prstGeom prst="rect">
            <a:avLst/>
          </a:prstGeom>
          <a:noFill/>
        </p:spPr>
        <p:txBody>
          <a:bodyPr wrap="none" lIns="0" tIns="0" rIns="0" bIns="0" rtlCol="0">
            <a:spAutoFit/>
          </a:bodyPr>
          <a:lstStyle/>
          <a:p>
            <a:r>
              <a:rPr lang="en-US" altLang="zh-CN" sz="1400" dirty="0" smtClean="0"/>
              <a:t>C</a:t>
            </a:r>
            <a:r>
              <a:rPr lang="en-US" altLang="zh-CN" sz="1400" baseline="-25000" dirty="0" smtClean="0"/>
              <a:t>0</a:t>
            </a:r>
            <a:endParaRPr lang="zh-CN" altLang="en-US" sz="1400" baseline="-25000" dirty="0"/>
          </a:p>
        </p:txBody>
      </p:sp>
      <p:sp>
        <p:nvSpPr>
          <p:cNvPr id="67" name="TextBox 66"/>
          <p:cNvSpPr txBox="1"/>
          <p:nvPr/>
        </p:nvSpPr>
        <p:spPr>
          <a:xfrm>
            <a:off x="2876560" y="2694100"/>
            <a:ext cx="157094" cy="215444"/>
          </a:xfrm>
          <a:prstGeom prst="rect">
            <a:avLst/>
          </a:prstGeom>
          <a:noFill/>
        </p:spPr>
        <p:txBody>
          <a:bodyPr wrap="none" lIns="0" tIns="0" rIns="0" bIns="0" rtlCol="0">
            <a:spAutoFit/>
          </a:bodyPr>
          <a:lstStyle/>
          <a:p>
            <a:r>
              <a:rPr lang="en-US" altLang="zh-CN" sz="1400" dirty="0" smtClean="0"/>
              <a:t>C</a:t>
            </a:r>
            <a:r>
              <a:rPr lang="en-US" altLang="zh-CN" sz="1400" baseline="-25000" dirty="0" smtClean="0"/>
              <a:t>1</a:t>
            </a:r>
            <a:endParaRPr lang="zh-CN" altLang="en-US" sz="1400" baseline="-25000" dirty="0"/>
          </a:p>
        </p:txBody>
      </p:sp>
      <p:sp>
        <p:nvSpPr>
          <p:cNvPr id="68" name="TextBox 67"/>
          <p:cNvSpPr txBox="1"/>
          <p:nvPr/>
        </p:nvSpPr>
        <p:spPr>
          <a:xfrm>
            <a:off x="3224752" y="3065027"/>
            <a:ext cx="157094" cy="215444"/>
          </a:xfrm>
          <a:prstGeom prst="rect">
            <a:avLst/>
          </a:prstGeom>
          <a:noFill/>
        </p:spPr>
        <p:txBody>
          <a:bodyPr wrap="none" lIns="0" tIns="0" rIns="0" bIns="0" rtlCol="0">
            <a:spAutoFit/>
          </a:bodyPr>
          <a:lstStyle/>
          <a:p>
            <a:r>
              <a:rPr lang="en-US" altLang="zh-CN" sz="1400" dirty="0" smtClean="0"/>
              <a:t>C</a:t>
            </a:r>
            <a:r>
              <a:rPr lang="en-US" altLang="zh-CN" sz="1400" baseline="-25000" dirty="0" smtClean="0"/>
              <a:t>2</a:t>
            </a:r>
            <a:endParaRPr lang="zh-CN" altLang="en-US" sz="1400" baseline="-25000" dirty="0"/>
          </a:p>
        </p:txBody>
      </p:sp>
      <p:sp>
        <p:nvSpPr>
          <p:cNvPr id="71" name="Text Box 17"/>
          <p:cNvSpPr txBox="1">
            <a:spLocks noChangeArrowheads="1"/>
          </p:cNvSpPr>
          <p:nvPr/>
        </p:nvSpPr>
        <p:spPr bwMode="auto">
          <a:xfrm>
            <a:off x="1359375" y="1904464"/>
            <a:ext cx="399148" cy="1846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r>
              <a:rPr lang="en-US" altLang="zh-CN" sz="1200" dirty="0" smtClean="0">
                <a:solidFill>
                  <a:prstClr val="black"/>
                </a:solidFill>
              </a:rPr>
              <a:t>DRAM</a:t>
            </a:r>
            <a:endParaRPr lang="zh-CN" altLang="en-US" sz="1200" dirty="0">
              <a:solidFill>
                <a:prstClr val="black"/>
              </a:solidFill>
            </a:endParaRPr>
          </a:p>
        </p:txBody>
      </p:sp>
      <p:sp>
        <p:nvSpPr>
          <p:cNvPr id="73" name="Rectangle 16"/>
          <p:cNvSpPr>
            <a:spLocks noChangeArrowheads="1"/>
          </p:cNvSpPr>
          <p:nvPr/>
        </p:nvSpPr>
        <p:spPr bwMode="auto">
          <a:xfrm>
            <a:off x="986121" y="1923535"/>
            <a:ext cx="274320" cy="137160"/>
          </a:xfrm>
          <a:prstGeom prst="rect">
            <a:avLst/>
          </a:prstGeom>
          <a:solidFill>
            <a:srgbClr val="FFFF00"/>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solidFill>
                <a:prstClr val="black"/>
              </a:solidFill>
            </a:endParaRPr>
          </a:p>
        </p:txBody>
      </p:sp>
      <p:grpSp>
        <p:nvGrpSpPr>
          <p:cNvPr id="37" name="组合 36"/>
          <p:cNvGrpSpPr/>
          <p:nvPr/>
        </p:nvGrpSpPr>
        <p:grpSpPr>
          <a:xfrm>
            <a:off x="3788469" y="1930628"/>
            <a:ext cx="914400" cy="364089"/>
            <a:chOff x="3788469" y="1930628"/>
            <a:chExt cx="914400" cy="364089"/>
          </a:xfrm>
        </p:grpSpPr>
        <p:sp>
          <p:nvSpPr>
            <p:cNvPr id="87" name="Rectangle 10"/>
            <p:cNvSpPr>
              <a:spLocks noChangeArrowheads="1"/>
            </p:cNvSpPr>
            <p:nvPr/>
          </p:nvSpPr>
          <p:spPr bwMode="auto">
            <a:xfrm>
              <a:off x="3788469" y="1930628"/>
              <a:ext cx="914400" cy="364089"/>
            </a:xfrm>
            <a:prstGeom prst="rect">
              <a:avLst/>
            </a:prstGeom>
            <a:noFill/>
            <a:ln w="6350" cap="flat" cmpd="sng">
              <a:solidFill>
                <a:schemeClr val="tx1"/>
              </a:solidFill>
              <a:miter lim="800000"/>
              <a:headEnd/>
              <a:tailEnd/>
            </a:ln>
            <a:effectLst/>
            <a:extLst/>
          </p:spPr>
          <p:txBody>
            <a:bodyPr wrap="none" anchor="ctr"/>
            <a:lstStyle/>
            <a:p>
              <a:endParaRPr lang="zh-CN" altLang="en-US">
                <a:solidFill>
                  <a:prstClr val="black"/>
                </a:solidFill>
              </a:endParaRPr>
            </a:p>
          </p:txBody>
        </p:sp>
        <p:cxnSp>
          <p:nvCxnSpPr>
            <p:cNvPr id="98" name="直接连接符 97"/>
            <p:cNvCxnSpPr>
              <a:stCxn id="87" idx="1"/>
              <a:endCxn id="87" idx="3"/>
            </p:cNvCxnSpPr>
            <p:nvPr/>
          </p:nvCxnSpPr>
          <p:spPr>
            <a:xfrm>
              <a:off x="3788469" y="2112673"/>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a:off x="4154229" y="1930628"/>
              <a:ext cx="0" cy="36408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a:off x="3971349" y="1930628"/>
              <a:ext cx="0" cy="36408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4337109" y="1930628"/>
              <a:ext cx="0" cy="36408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a:off x="4519989" y="1930628"/>
              <a:ext cx="0" cy="36408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2" name="Rectangle 10"/>
          <p:cNvSpPr>
            <a:spLocks noChangeArrowheads="1"/>
          </p:cNvSpPr>
          <p:nvPr/>
        </p:nvSpPr>
        <p:spPr bwMode="auto">
          <a:xfrm>
            <a:off x="6369451" y="3370036"/>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FF0000"/>
                </a:solidFill>
              </a:rPr>
              <a:t>a</a:t>
            </a:r>
            <a:endParaRPr lang="zh-CN" altLang="en-US" sz="2400" b="1" dirty="0">
              <a:solidFill>
                <a:srgbClr val="FF0000"/>
              </a:solidFill>
            </a:endParaRPr>
          </a:p>
        </p:txBody>
      </p:sp>
      <p:sp>
        <p:nvSpPr>
          <p:cNvPr id="113" name="Rectangle 10"/>
          <p:cNvSpPr>
            <a:spLocks noChangeArrowheads="1"/>
          </p:cNvSpPr>
          <p:nvPr/>
        </p:nvSpPr>
        <p:spPr bwMode="auto">
          <a:xfrm>
            <a:off x="6735211" y="3369696"/>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002060"/>
                </a:solidFill>
              </a:rPr>
              <a:t>e</a:t>
            </a:r>
            <a:endParaRPr lang="zh-CN" altLang="en-US" b="1" dirty="0">
              <a:solidFill>
                <a:srgbClr val="002060"/>
              </a:solidFill>
            </a:endParaRPr>
          </a:p>
        </p:txBody>
      </p:sp>
      <p:sp>
        <p:nvSpPr>
          <p:cNvPr id="114" name="Rectangle 10"/>
          <p:cNvSpPr>
            <a:spLocks noChangeArrowheads="1"/>
          </p:cNvSpPr>
          <p:nvPr/>
        </p:nvSpPr>
        <p:spPr bwMode="auto">
          <a:xfrm>
            <a:off x="6552331" y="3370036"/>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FFC000"/>
                </a:solidFill>
              </a:rPr>
              <a:t>c</a:t>
            </a:r>
            <a:endParaRPr lang="zh-CN" altLang="en-US" sz="2400" b="1" dirty="0">
              <a:solidFill>
                <a:srgbClr val="FFC000"/>
              </a:solidFill>
            </a:endParaRPr>
          </a:p>
        </p:txBody>
      </p:sp>
      <p:sp>
        <p:nvSpPr>
          <p:cNvPr id="15" name="TextBox 14"/>
          <p:cNvSpPr txBox="1"/>
          <p:nvPr/>
        </p:nvSpPr>
        <p:spPr>
          <a:xfrm>
            <a:off x="2301848" y="2670943"/>
            <a:ext cx="250068" cy="246221"/>
          </a:xfrm>
          <a:prstGeom prst="rect">
            <a:avLst/>
          </a:prstGeom>
          <a:noFill/>
        </p:spPr>
        <p:txBody>
          <a:bodyPr wrap="none" lIns="0" tIns="0" rIns="0" bIns="0" rtlCol="0">
            <a:spAutoFit/>
          </a:bodyPr>
          <a:lstStyle/>
          <a:p>
            <a:r>
              <a:rPr lang="en-US" altLang="zh-CN" sz="1600" b="1" dirty="0" smtClean="0">
                <a:solidFill>
                  <a:schemeClr val="bg1"/>
                </a:solidFill>
              </a:rPr>
              <a:t>a e</a:t>
            </a:r>
            <a:endParaRPr lang="zh-CN" altLang="en-US" sz="1600" b="1" dirty="0">
              <a:solidFill>
                <a:schemeClr val="bg1"/>
              </a:solidFill>
            </a:endParaRPr>
          </a:p>
        </p:txBody>
      </p:sp>
      <p:sp>
        <p:nvSpPr>
          <p:cNvPr id="115" name="TextBox 114"/>
          <p:cNvSpPr txBox="1"/>
          <p:nvPr/>
        </p:nvSpPr>
        <p:spPr>
          <a:xfrm>
            <a:off x="1947233" y="3053099"/>
            <a:ext cx="451289" cy="246221"/>
          </a:xfrm>
          <a:prstGeom prst="rect">
            <a:avLst/>
          </a:prstGeom>
          <a:noFill/>
        </p:spPr>
        <p:txBody>
          <a:bodyPr wrap="square" lIns="0" tIns="0" rIns="0" bIns="0" rtlCol="0">
            <a:spAutoFit/>
          </a:bodyPr>
          <a:lstStyle/>
          <a:p>
            <a:r>
              <a:rPr lang="en-US" altLang="zh-CN" sz="1600" b="1" dirty="0" smtClean="0">
                <a:solidFill>
                  <a:schemeClr val="bg1"/>
                </a:solidFill>
              </a:rPr>
              <a:t>b d f</a:t>
            </a:r>
            <a:endParaRPr lang="zh-CN" altLang="en-US" sz="1600" b="1" dirty="0">
              <a:solidFill>
                <a:schemeClr val="bg1"/>
              </a:solidFill>
            </a:endParaRPr>
          </a:p>
        </p:txBody>
      </p:sp>
      <p:sp>
        <p:nvSpPr>
          <p:cNvPr id="39" name="矩形 38"/>
          <p:cNvSpPr/>
          <p:nvPr/>
        </p:nvSpPr>
        <p:spPr>
          <a:xfrm>
            <a:off x="2448116" y="2282904"/>
            <a:ext cx="96180" cy="276999"/>
          </a:xfrm>
          <a:prstGeom prst="rect">
            <a:avLst/>
          </a:prstGeom>
        </p:spPr>
        <p:txBody>
          <a:bodyPr wrap="none" lIns="0" tIns="0" rIns="0" bIns="0">
            <a:spAutoFit/>
          </a:bodyPr>
          <a:lstStyle/>
          <a:p>
            <a:pPr lvl="0" algn="ctr"/>
            <a:r>
              <a:rPr lang="en-US" altLang="zh-CN" b="1" dirty="0" smtClean="0"/>
              <a:t>c</a:t>
            </a:r>
            <a:endParaRPr lang="zh-CN" altLang="en-US" b="1" dirty="0"/>
          </a:p>
        </p:txBody>
      </p:sp>
      <p:sp>
        <p:nvSpPr>
          <p:cNvPr id="118" name="TextBox 117"/>
          <p:cNvSpPr txBox="1"/>
          <p:nvPr/>
        </p:nvSpPr>
        <p:spPr>
          <a:xfrm>
            <a:off x="2297246" y="2675981"/>
            <a:ext cx="383118" cy="246221"/>
          </a:xfrm>
          <a:prstGeom prst="rect">
            <a:avLst/>
          </a:prstGeom>
          <a:noFill/>
        </p:spPr>
        <p:txBody>
          <a:bodyPr wrap="none" lIns="0" tIns="0" rIns="0" bIns="0" rtlCol="0">
            <a:spAutoFit/>
          </a:bodyPr>
          <a:lstStyle/>
          <a:p>
            <a:r>
              <a:rPr lang="en-US" altLang="zh-CN" sz="1600" b="1" dirty="0" smtClean="0">
                <a:solidFill>
                  <a:schemeClr val="bg1"/>
                </a:solidFill>
              </a:rPr>
              <a:t>a c e</a:t>
            </a:r>
            <a:endParaRPr lang="zh-CN" altLang="en-US" sz="1600" b="1" dirty="0">
              <a:solidFill>
                <a:schemeClr val="bg1"/>
              </a:solidFill>
            </a:endParaRPr>
          </a:p>
        </p:txBody>
      </p:sp>
      <p:sp>
        <p:nvSpPr>
          <p:cNvPr id="119" name="TextBox 118"/>
          <p:cNvSpPr txBox="1"/>
          <p:nvPr/>
        </p:nvSpPr>
        <p:spPr>
          <a:xfrm>
            <a:off x="2137970" y="3049917"/>
            <a:ext cx="809517" cy="246221"/>
          </a:xfrm>
          <a:prstGeom prst="rect">
            <a:avLst/>
          </a:prstGeom>
          <a:noFill/>
        </p:spPr>
        <p:txBody>
          <a:bodyPr wrap="none" lIns="0" tIns="0" rIns="0" bIns="0" rtlCol="0">
            <a:spAutoFit/>
          </a:bodyPr>
          <a:lstStyle/>
          <a:p>
            <a:r>
              <a:rPr lang="en-US" altLang="zh-CN" sz="1600" b="1" dirty="0" smtClean="0">
                <a:solidFill>
                  <a:schemeClr val="bg1"/>
                </a:solidFill>
              </a:rPr>
              <a:t>a b c d e f</a:t>
            </a:r>
            <a:endParaRPr lang="zh-CN" altLang="en-US" sz="1600" b="1" dirty="0">
              <a:solidFill>
                <a:schemeClr val="bg1"/>
              </a:solidFill>
            </a:endParaRPr>
          </a:p>
        </p:txBody>
      </p:sp>
      <p:sp>
        <p:nvSpPr>
          <p:cNvPr id="5" name="TextBox 4"/>
          <p:cNvSpPr txBox="1"/>
          <p:nvPr/>
        </p:nvSpPr>
        <p:spPr>
          <a:xfrm>
            <a:off x="6415741" y="2067665"/>
            <a:ext cx="492122" cy="461665"/>
          </a:xfrm>
          <a:prstGeom prst="rect">
            <a:avLst/>
          </a:prstGeom>
          <a:noFill/>
        </p:spPr>
        <p:txBody>
          <a:bodyPr wrap="none" lIns="0" rIns="0" rtlCol="0">
            <a:spAutoFit/>
          </a:bodyPr>
          <a:lstStyle/>
          <a:p>
            <a:r>
              <a:rPr lang="en-US" altLang="zh-CN" sz="2400" dirty="0" smtClean="0"/>
              <a:t>disk</a:t>
            </a:r>
            <a:endParaRPr lang="zh-CN" altLang="en-US" sz="2400" dirty="0"/>
          </a:p>
        </p:txBody>
      </p:sp>
      <p:sp>
        <p:nvSpPr>
          <p:cNvPr id="120" name="乘号 119"/>
          <p:cNvSpPr/>
          <p:nvPr/>
        </p:nvSpPr>
        <p:spPr>
          <a:xfrm>
            <a:off x="4026621" y="1812054"/>
            <a:ext cx="247944" cy="245745"/>
          </a:xfrm>
          <a:prstGeom prst="mathMultiply">
            <a:avLst/>
          </a:prstGeom>
          <a:solidFill>
            <a:srgbClr val="FF000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乘号 138"/>
          <p:cNvSpPr/>
          <p:nvPr/>
        </p:nvSpPr>
        <p:spPr>
          <a:xfrm>
            <a:off x="4463896" y="1817586"/>
            <a:ext cx="247944" cy="245745"/>
          </a:xfrm>
          <a:prstGeom prst="mathMultiply">
            <a:avLst/>
          </a:prstGeom>
          <a:solidFill>
            <a:srgbClr val="FF000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矩形 139"/>
          <p:cNvSpPr/>
          <p:nvPr/>
        </p:nvSpPr>
        <p:spPr>
          <a:xfrm>
            <a:off x="6411637" y="4441868"/>
            <a:ext cx="754593" cy="7204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矩形 145"/>
          <p:cNvSpPr/>
          <p:nvPr/>
        </p:nvSpPr>
        <p:spPr>
          <a:xfrm>
            <a:off x="7166230" y="4297848"/>
            <a:ext cx="1596587" cy="72042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8" name="直接箭头连接符 87"/>
          <p:cNvCxnSpPr>
            <a:stCxn id="76" idx="3"/>
            <a:endCxn id="30" idx="0"/>
          </p:cNvCxnSpPr>
          <p:nvPr/>
        </p:nvCxnSpPr>
        <p:spPr>
          <a:xfrm>
            <a:off x="4702869" y="2025077"/>
            <a:ext cx="2829820" cy="1155240"/>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9" name="直接箭头连接符 88"/>
          <p:cNvCxnSpPr>
            <a:stCxn id="75" idx="3"/>
            <a:endCxn id="27" idx="0"/>
          </p:cNvCxnSpPr>
          <p:nvPr/>
        </p:nvCxnSpPr>
        <p:spPr>
          <a:xfrm>
            <a:off x="3971523" y="2207122"/>
            <a:ext cx="3378286" cy="973195"/>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0" name="直接箭头连接符 89"/>
          <p:cNvCxnSpPr>
            <a:stCxn id="77" idx="3"/>
            <a:endCxn id="31" idx="0"/>
          </p:cNvCxnSpPr>
          <p:nvPr/>
        </p:nvCxnSpPr>
        <p:spPr>
          <a:xfrm>
            <a:off x="4152411" y="2023186"/>
            <a:ext cx="1525280" cy="990545"/>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1" name="直接箭头连接符 90"/>
          <p:cNvCxnSpPr>
            <a:stCxn id="143" idx="1"/>
            <a:endCxn id="81" idx="0"/>
          </p:cNvCxnSpPr>
          <p:nvPr/>
        </p:nvCxnSpPr>
        <p:spPr>
          <a:xfrm>
            <a:off x="4150593" y="2205648"/>
            <a:ext cx="2310298" cy="556323"/>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2" name="直接箭头连接符 91"/>
          <p:cNvCxnSpPr>
            <a:stCxn id="143" idx="3"/>
            <a:endCxn id="84" idx="0"/>
          </p:cNvCxnSpPr>
          <p:nvPr/>
        </p:nvCxnSpPr>
        <p:spPr>
          <a:xfrm>
            <a:off x="4333473" y="2205648"/>
            <a:ext cx="2310298" cy="556323"/>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5" name="直接箭头连接符 94"/>
          <p:cNvCxnSpPr>
            <a:stCxn id="142" idx="3"/>
            <a:endCxn id="82" idx="0"/>
          </p:cNvCxnSpPr>
          <p:nvPr/>
        </p:nvCxnSpPr>
        <p:spPr>
          <a:xfrm>
            <a:off x="4516353" y="2205648"/>
            <a:ext cx="2310298" cy="556323"/>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1" name="直接箭头连接符 100"/>
          <p:cNvCxnSpPr>
            <a:stCxn id="144" idx="3"/>
            <a:endCxn id="85" idx="0"/>
          </p:cNvCxnSpPr>
          <p:nvPr/>
        </p:nvCxnSpPr>
        <p:spPr>
          <a:xfrm>
            <a:off x="4699233" y="2205648"/>
            <a:ext cx="2310298" cy="556323"/>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0" name="乘号 49"/>
          <p:cNvSpPr/>
          <p:nvPr/>
        </p:nvSpPr>
        <p:spPr>
          <a:xfrm>
            <a:off x="3851114" y="1809992"/>
            <a:ext cx="247944" cy="245745"/>
          </a:xfrm>
          <a:prstGeom prst="mathMultiply">
            <a:avLst/>
          </a:prstGeom>
          <a:solidFill>
            <a:srgbClr val="FF000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乘号 51"/>
          <p:cNvSpPr/>
          <p:nvPr/>
        </p:nvSpPr>
        <p:spPr>
          <a:xfrm>
            <a:off x="4190264" y="1807755"/>
            <a:ext cx="247944" cy="245745"/>
          </a:xfrm>
          <a:prstGeom prst="mathMultiply">
            <a:avLst/>
          </a:prstGeom>
          <a:solidFill>
            <a:srgbClr val="FF000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乘号 50"/>
          <p:cNvSpPr/>
          <p:nvPr/>
        </p:nvSpPr>
        <p:spPr>
          <a:xfrm>
            <a:off x="3830986" y="2006938"/>
            <a:ext cx="247944" cy="245745"/>
          </a:xfrm>
          <a:prstGeom prst="mathMultiply">
            <a:avLst/>
          </a:prstGeom>
          <a:solidFill>
            <a:srgbClr val="FF000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36440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140"/>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14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4"/>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39"/>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61"/>
                                        </p:tgtEl>
                                        <p:attrNameLst>
                                          <p:attrName>style.visibility</p:attrName>
                                        </p:attrNameLst>
                                      </p:cBhvr>
                                      <p:to>
                                        <p:strVal val="visible"/>
                                      </p:to>
                                    </p:set>
                                  </p:childTnLst>
                                </p:cTn>
                              </p:par>
                            </p:childTnLst>
                          </p:cTn>
                        </p:par>
                        <p:par>
                          <p:cTn id="26" fill="hold">
                            <p:stCondLst>
                              <p:cond delay="0"/>
                            </p:stCondLst>
                            <p:childTnLst>
                              <p:par>
                                <p:cTn id="27" presetID="1" presetClass="exit" presetSubtype="0" fill="hold" grpId="0" nodeType="afterEffect">
                                  <p:stCondLst>
                                    <p:cond delay="0"/>
                                  </p:stCondLst>
                                  <p:childTnLst>
                                    <p:set>
                                      <p:cBhvr>
                                        <p:cTn id="28" dur="1" fill="hold">
                                          <p:stCondLst>
                                            <p:cond delay="0"/>
                                          </p:stCondLst>
                                        </p:cTn>
                                        <p:tgtEl>
                                          <p:spTgt spid="15"/>
                                        </p:tgtEl>
                                        <p:attrNameLst>
                                          <p:attrName>style.visibility</p:attrName>
                                        </p:attrNameLst>
                                      </p:cBhvr>
                                      <p:to>
                                        <p:strVal val="hidden"/>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1" fill="hold">
                                          <p:stCondLst>
                                            <p:cond delay="0"/>
                                          </p:stCondLst>
                                        </p:cTn>
                                        <p:tgtEl>
                                          <p:spTgt spid="118"/>
                                        </p:tgtEl>
                                        <p:attrNameLst>
                                          <p:attrName>style.visibility</p:attrName>
                                        </p:attrNameLst>
                                      </p:cBhvr>
                                      <p:to>
                                        <p:strVal val="visible"/>
                                      </p:to>
                                    </p:set>
                                  </p:childTnLst>
                                </p:cTn>
                              </p:par>
                            </p:childTnLst>
                          </p:cTn>
                        </p:par>
                        <p:par>
                          <p:cTn id="32" fill="hold">
                            <p:stCondLst>
                              <p:cond delay="0"/>
                            </p:stCondLst>
                            <p:childTnLst>
                              <p:par>
                                <p:cTn id="33" presetID="42" presetClass="path" presetSubtype="0" accel="50000" decel="50000" fill="hold" grpId="2" nodeType="afterEffect">
                                  <p:stCondLst>
                                    <p:cond delay="0"/>
                                  </p:stCondLst>
                                  <p:childTnLst>
                                    <p:animMotion origin="layout" path="M 0.01093 0.00278 L 0.35729 0.0993 " pathEditMode="relative" rAng="0" ptsTypes="AA">
                                      <p:cBhvr>
                                        <p:cTn id="34" dur="500" fill="hold"/>
                                        <p:tgtEl>
                                          <p:spTgt spid="39"/>
                                        </p:tgtEl>
                                        <p:attrNameLst>
                                          <p:attrName>ppt_x</p:attrName>
                                          <p:attrName>ppt_y</p:attrName>
                                        </p:attrNameLst>
                                      </p:cBhvr>
                                      <p:rCtr x="17309" y="4815"/>
                                    </p:animMotion>
                                  </p:childTnLst>
                                </p:cTn>
                              </p:par>
                            </p:childTnLst>
                          </p:cTn>
                        </p:par>
                        <p:par>
                          <p:cTn id="35" fill="hold">
                            <p:stCondLst>
                              <p:cond delay="500"/>
                            </p:stCondLst>
                            <p:childTnLst>
                              <p:par>
                                <p:cTn id="36" presetID="1" presetClass="exit" presetSubtype="0" fill="hold" grpId="1" nodeType="afterEffect">
                                  <p:stCondLst>
                                    <p:cond delay="0"/>
                                  </p:stCondLst>
                                  <p:childTnLst>
                                    <p:set>
                                      <p:cBhvr>
                                        <p:cTn id="37" dur="1" fill="hold">
                                          <p:stCondLst>
                                            <p:cond delay="0"/>
                                          </p:stCondLst>
                                        </p:cTn>
                                        <p:tgtEl>
                                          <p:spTgt spid="39"/>
                                        </p:tgtEl>
                                        <p:attrNameLst>
                                          <p:attrName>style.visibility</p:attrName>
                                        </p:attrNameLst>
                                      </p:cBhvr>
                                      <p:to>
                                        <p:strVal val="hidden"/>
                                      </p:to>
                                    </p:set>
                                  </p:childTnLst>
                                </p:cTn>
                              </p:par>
                            </p:childTnLst>
                          </p:cTn>
                        </p:par>
                        <p:par>
                          <p:cTn id="38" fill="hold">
                            <p:stCondLst>
                              <p:cond delay="500"/>
                            </p:stCondLst>
                            <p:childTnLst>
                              <p:par>
                                <p:cTn id="39" presetID="10" presetClass="exit" presetSubtype="0" fill="hold" grpId="0" nodeType="afterEffect">
                                  <p:stCondLst>
                                    <p:cond delay="0"/>
                                  </p:stCondLst>
                                  <p:childTnLst>
                                    <p:animEffect transition="out" filter="fade">
                                      <p:cBhvr>
                                        <p:cTn id="40" dur="500"/>
                                        <p:tgtEl>
                                          <p:spTgt spid="31"/>
                                        </p:tgtEl>
                                      </p:cBhvr>
                                    </p:animEffect>
                                    <p:set>
                                      <p:cBhvr>
                                        <p:cTn id="41" dur="1" fill="hold">
                                          <p:stCondLst>
                                            <p:cond delay="499"/>
                                          </p:stCondLst>
                                        </p:cTn>
                                        <p:tgtEl>
                                          <p:spTgt spid="31"/>
                                        </p:tgtEl>
                                        <p:attrNameLst>
                                          <p:attrName>style.visibility</p:attrName>
                                        </p:attrNameLst>
                                      </p:cBhvr>
                                      <p:to>
                                        <p:strVal val="hidden"/>
                                      </p:to>
                                    </p:set>
                                  </p:childTnLst>
                                </p:cTn>
                              </p:par>
                              <p:par>
                                <p:cTn id="42" presetID="10" presetClass="exit" presetSubtype="0" fill="hold" grpId="0" nodeType="withEffect">
                                  <p:stCondLst>
                                    <p:cond delay="0"/>
                                  </p:stCondLst>
                                  <p:childTnLst>
                                    <p:animEffect transition="out" filter="fade">
                                      <p:cBhvr>
                                        <p:cTn id="43" dur="500"/>
                                        <p:tgtEl>
                                          <p:spTgt spid="32"/>
                                        </p:tgtEl>
                                      </p:cBhvr>
                                    </p:animEffect>
                                    <p:set>
                                      <p:cBhvr>
                                        <p:cTn id="44" dur="1" fill="hold">
                                          <p:stCondLst>
                                            <p:cond delay="499"/>
                                          </p:stCondLst>
                                        </p:cTn>
                                        <p:tgtEl>
                                          <p:spTgt spid="32"/>
                                        </p:tgtEl>
                                        <p:attrNameLst>
                                          <p:attrName>style.visibility</p:attrName>
                                        </p:attrNameLst>
                                      </p:cBhvr>
                                      <p:to>
                                        <p:strVal val="hidden"/>
                                      </p:to>
                                    </p:set>
                                  </p:childTnLst>
                                </p:cTn>
                              </p:par>
                            </p:childTnLst>
                          </p:cTn>
                        </p:par>
                        <p:par>
                          <p:cTn id="45" fill="hold">
                            <p:stCondLst>
                              <p:cond delay="1000"/>
                            </p:stCondLst>
                            <p:childTnLst>
                              <p:par>
                                <p:cTn id="46" presetID="1" presetClass="entr" presetSubtype="0" fill="hold" grpId="0" nodeType="afterEffect">
                                  <p:stCondLst>
                                    <p:cond delay="0"/>
                                  </p:stCondLst>
                                  <p:childTnLst>
                                    <p:set>
                                      <p:cBhvr>
                                        <p:cTn id="47" dur="1" fill="hold">
                                          <p:stCondLst>
                                            <p:cond delay="0"/>
                                          </p:stCondLst>
                                        </p:cTn>
                                        <p:tgtEl>
                                          <p:spTgt spid="112"/>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113"/>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114"/>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120"/>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xit" presetSubtype="0" fill="hold" grpId="0" nodeType="clickEffect">
                                  <p:stCondLst>
                                    <p:cond delay="0"/>
                                  </p:stCondLst>
                                  <p:childTnLst>
                                    <p:set>
                                      <p:cBhvr>
                                        <p:cTn id="57" dur="1" fill="hold">
                                          <p:stCondLst>
                                            <p:cond delay="0"/>
                                          </p:stCondLst>
                                        </p:cTn>
                                        <p:tgtEl>
                                          <p:spTgt spid="77"/>
                                        </p:tgtEl>
                                        <p:attrNameLst>
                                          <p:attrName>style.visibility</p:attrName>
                                        </p:attrNameLst>
                                      </p:cBhvr>
                                      <p:to>
                                        <p:strVal val="hidden"/>
                                      </p:to>
                                    </p:set>
                                  </p:childTnLst>
                                </p:cTn>
                              </p:par>
                              <p:par>
                                <p:cTn id="58" presetID="1" presetClass="exit" presetSubtype="0" fill="hold" nodeType="withEffect">
                                  <p:stCondLst>
                                    <p:cond delay="0"/>
                                  </p:stCondLst>
                                  <p:childTnLst>
                                    <p:set>
                                      <p:cBhvr>
                                        <p:cTn id="59" dur="1" fill="hold">
                                          <p:stCondLst>
                                            <p:cond delay="0"/>
                                          </p:stCondLst>
                                        </p:cTn>
                                        <p:tgtEl>
                                          <p:spTgt spid="90"/>
                                        </p:tgtEl>
                                        <p:attrNameLst>
                                          <p:attrName>style.visibility</p:attrName>
                                        </p:attrNameLst>
                                      </p:cBhvr>
                                      <p:to>
                                        <p:strVal val="hidden"/>
                                      </p:to>
                                    </p:set>
                                  </p:childTnLst>
                                </p:cTn>
                              </p:par>
                              <p:par>
                                <p:cTn id="60" presetID="1" presetClass="exit" presetSubtype="0" fill="hold" grpId="1" nodeType="withEffect">
                                  <p:stCondLst>
                                    <p:cond delay="0"/>
                                  </p:stCondLst>
                                  <p:childTnLst>
                                    <p:set>
                                      <p:cBhvr>
                                        <p:cTn id="61" dur="1" fill="hold">
                                          <p:stCondLst>
                                            <p:cond delay="0"/>
                                          </p:stCondLst>
                                        </p:cTn>
                                        <p:tgtEl>
                                          <p:spTgt spid="120"/>
                                        </p:tgtEl>
                                        <p:attrNameLst>
                                          <p:attrName>style.visibility</p:attrName>
                                        </p:attrNameLst>
                                      </p:cBhvr>
                                      <p:to>
                                        <p:strVal val="hidden"/>
                                      </p:to>
                                    </p:set>
                                  </p:childTnLst>
                                </p:cTn>
                              </p:par>
                            </p:childTnLst>
                          </p:cTn>
                        </p:par>
                        <p:par>
                          <p:cTn id="62" fill="hold">
                            <p:stCondLst>
                              <p:cond delay="0"/>
                            </p:stCondLst>
                            <p:childTnLst>
                              <p:par>
                                <p:cTn id="63" presetID="1" presetClass="entr" presetSubtype="0" fill="hold" grpId="0" nodeType="afterEffect">
                                  <p:stCondLst>
                                    <p:cond delay="0"/>
                                  </p:stCondLst>
                                  <p:childTnLst>
                                    <p:set>
                                      <p:cBhvr>
                                        <p:cTn id="64" dur="1" fill="hold">
                                          <p:stCondLst>
                                            <p:cond delay="0"/>
                                          </p:stCondLst>
                                        </p:cTn>
                                        <p:tgtEl>
                                          <p:spTgt spid="133"/>
                                        </p:tgtEl>
                                        <p:attrNameLst>
                                          <p:attrName>style.visibility</p:attrName>
                                        </p:attrNameLst>
                                      </p:cBhvr>
                                      <p:to>
                                        <p:strVal val="visible"/>
                                      </p:to>
                                    </p:set>
                                  </p:childTnLst>
                                </p:cTn>
                              </p:par>
                            </p:childTnLst>
                          </p:cTn>
                        </p:par>
                        <p:par>
                          <p:cTn id="65" fill="hold">
                            <p:stCondLst>
                              <p:cond delay="0"/>
                            </p:stCondLst>
                            <p:childTnLst>
                              <p:par>
                                <p:cTn id="66" presetID="1" presetClass="entr" presetSubtype="0" fill="hold" grpId="0" nodeType="afterEffect">
                                  <p:stCondLst>
                                    <p:cond delay="0"/>
                                  </p:stCondLst>
                                  <p:childTnLst>
                                    <p:set>
                                      <p:cBhvr>
                                        <p:cTn id="67" dur="1" fill="hold">
                                          <p:stCondLst>
                                            <p:cond delay="0"/>
                                          </p:stCondLst>
                                        </p:cTn>
                                        <p:tgtEl>
                                          <p:spTgt spid="111"/>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11"/>
                                        </p:tgtEl>
                                        <p:attrNameLst>
                                          <p:attrName>style.visibility</p:attrName>
                                        </p:attrNameLst>
                                      </p:cBhvr>
                                      <p:to>
                                        <p:strVal val="visible"/>
                                      </p:to>
                                    </p:set>
                                  </p:childTnLst>
                                </p:cTn>
                              </p:par>
                              <p:par>
                                <p:cTn id="70" presetID="1" presetClass="entr" presetSubtype="0" fill="hold" nodeType="withEffect">
                                  <p:stCondLst>
                                    <p:cond delay="0"/>
                                  </p:stCondLst>
                                  <p:childTnLst>
                                    <p:set>
                                      <p:cBhvr>
                                        <p:cTn id="71" dur="1" fill="hold">
                                          <p:stCondLst>
                                            <p:cond delay="0"/>
                                          </p:stCondLst>
                                        </p:cTn>
                                        <p:tgtEl>
                                          <p:spTgt spid="13"/>
                                        </p:tgtEl>
                                        <p:attrNameLst>
                                          <p:attrName>style.visibility</p:attrName>
                                        </p:attrNameLst>
                                      </p:cBhvr>
                                      <p:to>
                                        <p:strVal val="visible"/>
                                      </p:to>
                                    </p:set>
                                  </p:childTnLst>
                                </p:cTn>
                              </p:par>
                            </p:childTnLst>
                          </p:cTn>
                        </p:par>
                        <p:par>
                          <p:cTn id="72" fill="hold">
                            <p:stCondLst>
                              <p:cond delay="0"/>
                            </p:stCondLst>
                            <p:childTnLst>
                              <p:par>
                                <p:cTn id="73" presetID="1" presetClass="emph" presetSubtype="2" fill="hold" nodeType="afterEffect">
                                  <p:stCondLst>
                                    <p:cond delay="0"/>
                                  </p:stCondLst>
                                  <p:childTnLst>
                                    <p:animClr clrSpc="rgb" dir="cw">
                                      <p:cBhvr>
                                        <p:cTn id="74" dur="500" fill="hold"/>
                                        <p:tgtEl>
                                          <p:spTgt spid="114"/>
                                        </p:tgtEl>
                                        <p:attrNameLst>
                                          <p:attrName>fillcolor</p:attrName>
                                        </p:attrNameLst>
                                      </p:cBhvr>
                                      <p:to>
                                        <a:srgbClr val="FFFFFF"/>
                                      </p:to>
                                    </p:animClr>
                                    <p:set>
                                      <p:cBhvr>
                                        <p:cTn id="75" dur="500" fill="hold"/>
                                        <p:tgtEl>
                                          <p:spTgt spid="114"/>
                                        </p:tgtEl>
                                        <p:attrNameLst>
                                          <p:attrName>fill.type</p:attrName>
                                        </p:attrNameLst>
                                      </p:cBhvr>
                                      <p:to>
                                        <p:strVal val="solid"/>
                                      </p:to>
                                    </p:set>
                                    <p:set>
                                      <p:cBhvr>
                                        <p:cTn id="76" dur="500" fill="hold"/>
                                        <p:tgtEl>
                                          <p:spTgt spid="114"/>
                                        </p:tgtEl>
                                        <p:attrNameLst>
                                          <p:attrName>fill.on</p:attrName>
                                        </p:attrNameLst>
                                      </p:cBhvr>
                                      <p:to>
                                        <p:strVal val="true"/>
                                      </p:to>
                                    </p:set>
                                  </p:childTnLst>
                                </p:cTn>
                              </p:par>
                              <p:par>
                                <p:cTn id="77" presetID="1" presetClass="emph" presetSubtype="2" fill="hold" nodeType="withEffect">
                                  <p:stCondLst>
                                    <p:cond delay="0"/>
                                  </p:stCondLst>
                                  <p:childTnLst>
                                    <p:animClr clrSpc="rgb" dir="cw">
                                      <p:cBhvr>
                                        <p:cTn id="78" dur="500" fill="hold"/>
                                        <p:tgtEl>
                                          <p:spTgt spid="112"/>
                                        </p:tgtEl>
                                        <p:attrNameLst>
                                          <p:attrName>fillcolor</p:attrName>
                                        </p:attrNameLst>
                                      </p:cBhvr>
                                      <p:to>
                                        <a:srgbClr val="FFFFFF"/>
                                      </p:to>
                                    </p:animClr>
                                    <p:set>
                                      <p:cBhvr>
                                        <p:cTn id="79" dur="500" fill="hold"/>
                                        <p:tgtEl>
                                          <p:spTgt spid="112"/>
                                        </p:tgtEl>
                                        <p:attrNameLst>
                                          <p:attrName>fill.type</p:attrName>
                                        </p:attrNameLst>
                                      </p:cBhvr>
                                      <p:to>
                                        <p:strVal val="solid"/>
                                      </p:to>
                                    </p:set>
                                    <p:set>
                                      <p:cBhvr>
                                        <p:cTn id="80" dur="500" fill="hold"/>
                                        <p:tgtEl>
                                          <p:spTgt spid="112"/>
                                        </p:tgtEl>
                                        <p:attrNameLst>
                                          <p:attrName>fill.on</p:attrName>
                                        </p:attrNameLst>
                                      </p:cBhvr>
                                      <p:to>
                                        <p:strVal val="tru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6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6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grpId="0" nodeType="clickEffect">
                                  <p:stCondLst>
                                    <p:cond delay="0"/>
                                  </p:stCondLst>
                                  <p:childTnLst>
                                    <p:set>
                                      <p:cBhvr>
                                        <p:cTn id="90" dur="1" fill="hold">
                                          <p:stCondLst>
                                            <p:cond delay="0"/>
                                          </p:stCondLst>
                                        </p:cTn>
                                        <p:tgtEl>
                                          <p:spTgt spid="115"/>
                                        </p:tgtEl>
                                        <p:attrNameLst>
                                          <p:attrName>style.visibility</p:attrName>
                                        </p:attrNameLst>
                                      </p:cBhvr>
                                      <p:to>
                                        <p:strVal val="hidden"/>
                                      </p:to>
                                    </p:set>
                                  </p:childTnLst>
                                </p:cTn>
                              </p:par>
                            </p:childTnLst>
                          </p:cTn>
                        </p:par>
                        <p:par>
                          <p:cTn id="91" fill="hold">
                            <p:stCondLst>
                              <p:cond delay="0"/>
                            </p:stCondLst>
                            <p:childTnLst>
                              <p:par>
                                <p:cTn id="92" presetID="1" presetClass="exit" presetSubtype="0" fill="hold" grpId="1" nodeType="afterEffect">
                                  <p:stCondLst>
                                    <p:cond delay="0"/>
                                  </p:stCondLst>
                                  <p:childTnLst>
                                    <p:set>
                                      <p:cBhvr>
                                        <p:cTn id="93" dur="1" fill="hold">
                                          <p:stCondLst>
                                            <p:cond delay="0"/>
                                          </p:stCondLst>
                                        </p:cTn>
                                        <p:tgtEl>
                                          <p:spTgt spid="118"/>
                                        </p:tgtEl>
                                        <p:attrNameLst>
                                          <p:attrName>style.visibility</p:attrName>
                                        </p:attrNameLst>
                                      </p:cBhvr>
                                      <p:to>
                                        <p:strVal val="hidden"/>
                                      </p:to>
                                    </p:set>
                                  </p:childTnLst>
                                </p:cTn>
                              </p:par>
                            </p:childTnLst>
                          </p:cTn>
                        </p:par>
                        <p:par>
                          <p:cTn id="94" fill="hold">
                            <p:stCondLst>
                              <p:cond delay="0"/>
                            </p:stCondLst>
                            <p:childTnLst>
                              <p:par>
                                <p:cTn id="95" presetID="1" presetClass="entr" presetSubtype="0" fill="hold" grpId="0" nodeType="afterEffect">
                                  <p:stCondLst>
                                    <p:cond delay="0"/>
                                  </p:stCondLst>
                                  <p:childTnLst>
                                    <p:set>
                                      <p:cBhvr>
                                        <p:cTn id="96" dur="1" fill="hold">
                                          <p:stCondLst>
                                            <p:cond delay="0"/>
                                          </p:stCondLst>
                                        </p:cTn>
                                        <p:tgtEl>
                                          <p:spTgt spid="119"/>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0" presetClass="exit" presetSubtype="0" fill="hold" grpId="1" nodeType="clickEffect">
                                  <p:stCondLst>
                                    <p:cond delay="0"/>
                                  </p:stCondLst>
                                  <p:childTnLst>
                                    <p:animEffect transition="out" filter="fade">
                                      <p:cBhvr>
                                        <p:cTn id="100" dur="500"/>
                                        <p:tgtEl>
                                          <p:spTgt spid="112"/>
                                        </p:tgtEl>
                                      </p:cBhvr>
                                    </p:animEffect>
                                    <p:set>
                                      <p:cBhvr>
                                        <p:cTn id="101" dur="1" fill="hold">
                                          <p:stCondLst>
                                            <p:cond delay="499"/>
                                          </p:stCondLst>
                                        </p:cTn>
                                        <p:tgtEl>
                                          <p:spTgt spid="112"/>
                                        </p:tgtEl>
                                        <p:attrNameLst>
                                          <p:attrName>style.visibility</p:attrName>
                                        </p:attrNameLst>
                                      </p:cBhvr>
                                      <p:to>
                                        <p:strVal val="hidden"/>
                                      </p:to>
                                    </p:set>
                                  </p:childTnLst>
                                </p:cTn>
                              </p:par>
                              <p:par>
                                <p:cTn id="102" presetID="10" presetClass="exit" presetSubtype="0" fill="hold" grpId="1" nodeType="withEffect">
                                  <p:stCondLst>
                                    <p:cond delay="0"/>
                                  </p:stCondLst>
                                  <p:childTnLst>
                                    <p:animEffect transition="out" filter="fade">
                                      <p:cBhvr>
                                        <p:cTn id="103" dur="500"/>
                                        <p:tgtEl>
                                          <p:spTgt spid="113"/>
                                        </p:tgtEl>
                                      </p:cBhvr>
                                    </p:animEffect>
                                    <p:set>
                                      <p:cBhvr>
                                        <p:cTn id="104" dur="1" fill="hold">
                                          <p:stCondLst>
                                            <p:cond delay="499"/>
                                          </p:stCondLst>
                                        </p:cTn>
                                        <p:tgtEl>
                                          <p:spTgt spid="113"/>
                                        </p:tgtEl>
                                        <p:attrNameLst>
                                          <p:attrName>style.visibility</p:attrName>
                                        </p:attrNameLst>
                                      </p:cBhvr>
                                      <p:to>
                                        <p:strVal val="hidden"/>
                                      </p:to>
                                    </p:set>
                                  </p:childTnLst>
                                </p:cTn>
                              </p:par>
                              <p:par>
                                <p:cTn id="105" presetID="10" presetClass="exit" presetSubtype="0" fill="hold" grpId="1" nodeType="withEffect">
                                  <p:stCondLst>
                                    <p:cond delay="0"/>
                                  </p:stCondLst>
                                  <p:childTnLst>
                                    <p:animEffect transition="out" filter="fade">
                                      <p:cBhvr>
                                        <p:cTn id="106" dur="500"/>
                                        <p:tgtEl>
                                          <p:spTgt spid="114"/>
                                        </p:tgtEl>
                                      </p:cBhvr>
                                    </p:animEffect>
                                    <p:set>
                                      <p:cBhvr>
                                        <p:cTn id="107" dur="1" fill="hold">
                                          <p:stCondLst>
                                            <p:cond delay="499"/>
                                          </p:stCondLst>
                                        </p:cTn>
                                        <p:tgtEl>
                                          <p:spTgt spid="114"/>
                                        </p:tgtEl>
                                        <p:attrNameLst>
                                          <p:attrName>style.visibility</p:attrName>
                                        </p:attrNameLst>
                                      </p:cBhvr>
                                      <p:to>
                                        <p:strVal val="hidden"/>
                                      </p:to>
                                    </p:set>
                                  </p:childTnLst>
                                </p:cTn>
                              </p:par>
                              <p:par>
                                <p:cTn id="108" presetID="10" presetClass="exit" presetSubtype="0" fill="hold" grpId="0" nodeType="withEffect">
                                  <p:stCondLst>
                                    <p:cond delay="0"/>
                                  </p:stCondLst>
                                  <p:childTnLst>
                                    <p:animEffect transition="out" filter="fade">
                                      <p:cBhvr>
                                        <p:cTn id="109" dur="500"/>
                                        <p:tgtEl>
                                          <p:spTgt spid="27"/>
                                        </p:tgtEl>
                                      </p:cBhvr>
                                    </p:animEffect>
                                    <p:set>
                                      <p:cBhvr>
                                        <p:cTn id="110" dur="1" fill="hold">
                                          <p:stCondLst>
                                            <p:cond delay="499"/>
                                          </p:stCondLst>
                                        </p:cTn>
                                        <p:tgtEl>
                                          <p:spTgt spid="27"/>
                                        </p:tgtEl>
                                        <p:attrNameLst>
                                          <p:attrName>style.visibility</p:attrName>
                                        </p:attrNameLst>
                                      </p:cBhvr>
                                      <p:to>
                                        <p:strVal val="hidden"/>
                                      </p:to>
                                    </p:set>
                                  </p:childTnLst>
                                </p:cTn>
                              </p:par>
                              <p:par>
                                <p:cTn id="111" presetID="10" presetClass="exit" presetSubtype="0" fill="hold" grpId="0" nodeType="withEffect">
                                  <p:stCondLst>
                                    <p:cond delay="0"/>
                                  </p:stCondLst>
                                  <p:childTnLst>
                                    <p:animEffect transition="out" filter="fade">
                                      <p:cBhvr>
                                        <p:cTn id="112" dur="500"/>
                                        <p:tgtEl>
                                          <p:spTgt spid="28"/>
                                        </p:tgtEl>
                                      </p:cBhvr>
                                    </p:animEffect>
                                    <p:set>
                                      <p:cBhvr>
                                        <p:cTn id="113" dur="1" fill="hold">
                                          <p:stCondLst>
                                            <p:cond delay="499"/>
                                          </p:stCondLst>
                                        </p:cTn>
                                        <p:tgtEl>
                                          <p:spTgt spid="28"/>
                                        </p:tgtEl>
                                        <p:attrNameLst>
                                          <p:attrName>style.visibility</p:attrName>
                                        </p:attrNameLst>
                                      </p:cBhvr>
                                      <p:to>
                                        <p:strVal val="hidden"/>
                                      </p:to>
                                    </p:set>
                                  </p:childTnLst>
                                </p:cTn>
                              </p:par>
                              <p:par>
                                <p:cTn id="114" presetID="10" presetClass="exit" presetSubtype="0" fill="hold" grpId="0" nodeType="withEffect">
                                  <p:stCondLst>
                                    <p:cond delay="0"/>
                                  </p:stCondLst>
                                  <p:childTnLst>
                                    <p:animEffect transition="out" filter="fade">
                                      <p:cBhvr>
                                        <p:cTn id="115" dur="500"/>
                                        <p:tgtEl>
                                          <p:spTgt spid="30"/>
                                        </p:tgtEl>
                                      </p:cBhvr>
                                    </p:animEffect>
                                    <p:set>
                                      <p:cBhvr>
                                        <p:cTn id="116" dur="1" fill="hold">
                                          <p:stCondLst>
                                            <p:cond delay="499"/>
                                          </p:stCondLst>
                                        </p:cTn>
                                        <p:tgtEl>
                                          <p:spTgt spid="30"/>
                                        </p:tgtEl>
                                        <p:attrNameLst>
                                          <p:attrName>style.visibility</p:attrName>
                                        </p:attrNameLst>
                                      </p:cBhvr>
                                      <p:to>
                                        <p:strVal val="hidden"/>
                                      </p:to>
                                    </p:set>
                                  </p:childTnLst>
                                </p:cTn>
                              </p:par>
                            </p:childTnLst>
                          </p:cTn>
                        </p:par>
                        <p:par>
                          <p:cTn id="117" fill="hold">
                            <p:stCondLst>
                              <p:cond delay="500"/>
                            </p:stCondLst>
                            <p:childTnLst>
                              <p:par>
                                <p:cTn id="118" presetID="10" presetClass="entr" presetSubtype="0" fill="hold" grpId="0" nodeType="afterEffect">
                                  <p:stCondLst>
                                    <p:cond delay="0"/>
                                  </p:stCondLst>
                                  <p:childTnLst>
                                    <p:set>
                                      <p:cBhvr>
                                        <p:cTn id="119" dur="1" fill="hold">
                                          <p:stCondLst>
                                            <p:cond delay="0"/>
                                          </p:stCondLst>
                                        </p:cTn>
                                        <p:tgtEl>
                                          <p:spTgt spid="81"/>
                                        </p:tgtEl>
                                        <p:attrNameLst>
                                          <p:attrName>style.visibility</p:attrName>
                                        </p:attrNameLst>
                                      </p:cBhvr>
                                      <p:to>
                                        <p:strVal val="visible"/>
                                      </p:to>
                                    </p:set>
                                    <p:animEffect transition="in" filter="fade">
                                      <p:cBhvr>
                                        <p:cTn id="120" dur="500"/>
                                        <p:tgtEl>
                                          <p:spTgt spid="81"/>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84"/>
                                        </p:tgtEl>
                                        <p:attrNameLst>
                                          <p:attrName>style.visibility</p:attrName>
                                        </p:attrNameLst>
                                      </p:cBhvr>
                                      <p:to>
                                        <p:strVal val="visible"/>
                                      </p:to>
                                    </p:set>
                                    <p:animEffect transition="in" filter="fade">
                                      <p:cBhvr>
                                        <p:cTn id="123" dur="500"/>
                                        <p:tgtEl>
                                          <p:spTgt spid="84"/>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85"/>
                                        </p:tgtEl>
                                        <p:attrNameLst>
                                          <p:attrName>style.visibility</p:attrName>
                                        </p:attrNameLst>
                                      </p:cBhvr>
                                      <p:to>
                                        <p:strVal val="visible"/>
                                      </p:to>
                                    </p:set>
                                    <p:animEffect transition="in" filter="fade">
                                      <p:cBhvr>
                                        <p:cTn id="126" dur="500"/>
                                        <p:tgtEl>
                                          <p:spTgt spid="85"/>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82"/>
                                        </p:tgtEl>
                                        <p:attrNameLst>
                                          <p:attrName>style.visibility</p:attrName>
                                        </p:attrNameLst>
                                      </p:cBhvr>
                                      <p:to>
                                        <p:strVal val="visible"/>
                                      </p:to>
                                    </p:set>
                                    <p:animEffect transition="in" filter="fade">
                                      <p:cBhvr>
                                        <p:cTn id="129" dur="500"/>
                                        <p:tgtEl>
                                          <p:spTgt spid="82"/>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83"/>
                                        </p:tgtEl>
                                        <p:attrNameLst>
                                          <p:attrName>style.visibility</p:attrName>
                                        </p:attrNameLst>
                                      </p:cBhvr>
                                      <p:to>
                                        <p:strVal val="visible"/>
                                      </p:to>
                                    </p:set>
                                    <p:animEffect transition="in" filter="fade">
                                      <p:cBhvr>
                                        <p:cTn id="132" dur="500"/>
                                        <p:tgtEl>
                                          <p:spTgt spid="83"/>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86"/>
                                        </p:tgtEl>
                                        <p:attrNameLst>
                                          <p:attrName>style.visibility</p:attrName>
                                        </p:attrNameLst>
                                      </p:cBhvr>
                                      <p:to>
                                        <p:strVal val="visible"/>
                                      </p:to>
                                    </p:set>
                                    <p:animEffect transition="in" filter="fade">
                                      <p:cBhvr>
                                        <p:cTn id="135" dur="500"/>
                                        <p:tgtEl>
                                          <p:spTgt spid="86"/>
                                        </p:tgtEl>
                                      </p:cBhvr>
                                    </p:animEffect>
                                  </p:childTnLst>
                                </p:cTn>
                              </p:par>
                            </p:childTnLst>
                          </p:cTn>
                        </p:par>
                        <p:par>
                          <p:cTn id="136" fill="hold">
                            <p:stCondLst>
                              <p:cond delay="1000"/>
                            </p:stCondLst>
                            <p:childTnLst>
                              <p:par>
                                <p:cTn id="137" presetID="1" presetClass="entr" presetSubtype="0" fill="hold" grpId="0" nodeType="afterEffect">
                                  <p:stCondLst>
                                    <p:cond delay="0"/>
                                  </p:stCondLst>
                                  <p:childTnLst>
                                    <p:set>
                                      <p:cBhvr>
                                        <p:cTn id="138" dur="1" fill="hold">
                                          <p:stCondLst>
                                            <p:cond delay="0"/>
                                          </p:stCondLst>
                                        </p:cTn>
                                        <p:tgtEl>
                                          <p:spTgt spid="50"/>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51"/>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52"/>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139"/>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xit" presetSubtype="0" fill="hold" nodeType="clickEffect">
                                  <p:stCondLst>
                                    <p:cond delay="0"/>
                                  </p:stCondLst>
                                  <p:childTnLst>
                                    <p:set>
                                      <p:cBhvr>
                                        <p:cTn id="148" dur="1" fill="hold">
                                          <p:stCondLst>
                                            <p:cond delay="0"/>
                                          </p:stCondLst>
                                        </p:cTn>
                                        <p:tgtEl>
                                          <p:spTgt spid="89"/>
                                        </p:tgtEl>
                                        <p:attrNameLst>
                                          <p:attrName>style.visibility</p:attrName>
                                        </p:attrNameLst>
                                      </p:cBhvr>
                                      <p:to>
                                        <p:strVal val="hidden"/>
                                      </p:to>
                                    </p:set>
                                  </p:childTnLst>
                                </p:cTn>
                              </p:par>
                              <p:par>
                                <p:cTn id="149" presetID="1" presetClass="exit" presetSubtype="0" fill="hold" nodeType="withEffect">
                                  <p:stCondLst>
                                    <p:cond delay="0"/>
                                  </p:stCondLst>
                                  <p:childTnLst>
                                    <p:set>
                                      <p:cBhvr>
                                        <p:cTn id="150" dur="1" fill="hold">
                                          <p:stCondLst>
                                            <p:cond delay="0"/>
                                          </p:stCondLst>
                                        </p:cTn>
                                        <p:tgtEl>
                                          <p:spTgt spid="88"/>
                                        </p:tgtEl>
                                        <p:attrNameLst>
                                          <p:attrName>style.visibility</p:attrName>
                                        </p:attrNameLst>
                                      </p:cBhvr>
                                      <p:to>
                                        <p:strVal val="hidden"/>
                                      </p:to>
                                    </p:set>
                                  </p:childTnLst>
                                </p:cTn>
                              </p:par>
                              <p:par>
                                <p:cTn id="151" presetID="1" presetClass="exit" presetSubtype="0" fill="hold" nodeType="withEffect">
                                  <p:stCondLst>
                                    <p:cond delay="0"/>
                                  </p:stCondLst>
                                  <p:childTnLst>
                                    <p:set>
                                      <p:cBhvr>
                                        <p:cTn id="152" dur="1" fill="hold">
                                          <p:stCondLst>
                                            <p:cond delay="0"/>
                                          </p:stCondLst>
                                        </p:cTn>
                                        <p:tgtEl>
                                          <p:spTgt spid="11"/>
                                        </p:tgtEl>
                                        <p:attrNameLst>
                                          <p:attrName>style.visibility</p:attrName>
                                        </p:attrNameLst>
                                      </p:cBhvr>
                                      <p:to>
                                        <p:strVal val="hidden"/>
                                      </p:to>
                                    </p:set>
                                  </p:childTnLst>
                                </p:cTn>
                              </p:par>
                              <p:par>
                                <p:cTn id="153" presetID="1" presetClass="exit" presetSubtype="0" fill="hold" nodeType="withEffect">
                                  <p:stCondLst>
                                    <p:cond delay="0"/>
                                  </p:stCondLst>
                                  <p:childTnLst>
                                    <p:set>
                                      <p:cBhvr>
                                        <p:cTn id="154" dur="1" fill="hold">
                                          <p:stCondLst>
                                            <p:cond delay="0"/>
                                          </p:stCondLst>
                                        </p:cTn>
                                        <p:tgtEl>
                                          <p:spTgt spid="13"/>
                                        </p:tgtEl>
                                        <p:attrNameLst>
                                          <p:attrName>style.visibility</p:attrName>
                                        </p:attrNameLst>
                                      </p:cBhvr>
                                      <p:to>
                                        <p:strVal val="hidden"/>
                                      </p:to>
                                    </p:set>
                                  </p:childTnLst>
                                </p:cTn>
                              </p:par>
                              <p:par>
                                <p:cTn id="155" presetID="1" presetClass="exit" presetSubtype="0" fill="hold" grpId="1" nodeType="withEffect">
                                  <p:stCondLst>
                                    <p:cond delay="0"/>
                                  </p:stCondLst>
                                  <p:childTnLst>
                                    <p:set>
                                      <p:cBhvr>
                                        <p:cTn id="156" dur="1" fill="hold">
                                          <p:stCondLst>
                                            <p:cond delay="0"/>
                                          </p:stCondLst>
                                        </p:cTn>
                                        <p:tgtEl>
                                          <p:spTgt spid="133"/>
                                        </p:tgtEl>
                                        <p:attrNameLst>
                                          <p:attrName>style.visibility</p:attrName>
                                        </p:attrNameLst>
                                      </p:cBhvr>
                                      <p:to>
                                        <p:strVal val="hidden"/>
                                      </p:to>
                                    </p:set>
                                  </p:childTnLst>
                                </p:cTn>
                              </p:par>
                              <p:par>
                                <p:cTn id="157" presetID="1" presetClass="exit" presetSubtype="0" fill="hold" grpId="0" nodeType="withEffect">
                                  <p:stCondLst>
                                    <p:cond delay="0"/>
                                  </p:stCondLst>
                                  <p:childTnLst>
                                    <p:set>
                                      <p:cBhvr>
                                        <p:cTn id="158" dur="1" fill="hold">
                                          <p:stCondLst>
                                            <p:cond delay="0"/>
                                          </p:stCondLst>
                                        </p:cTn>
                                        <p:tgtEl>
                                          <p:spTgt spid="75"/>
                                        </p:tgtEl>
                                        <p:attrNameLst>
                                          <p:attrName>style.visibility</p:attrName>
                                        </p:attrNameLst>
                                      </p:cBhvr>
                                      <p:to>
                                        <p:strVal val="hidden"/>
                                      </p:to>
                                    </p:set>
                                  </p:childTnLst>
                                </p:cTn>
                              </p:par>
                              <p:par>
                                <p:cTn id="159" presetID="1" presetClass="exit" presetSubtype="0" fill="hold" grpId="1" nodeType="withEffect">
                                  <p:stCondLst>
                                    <p:cond delay="0"/>
                                  </p:stCondLst>
                                  <p:childTnLst>
                                    <p:set>
                                      <p:cBhvr>
                                        <p:cTn id="160" dur="1" fill="hold">
                                          <p:stCondLst>
                                            <p:cond delay="0"/>
                                          </p:stCondLst>
                                        </p:cTn>
                                        <p:tgtEl>
                                          <p:spTgt spid="111"/>
                                        </p:tgtEl>
                                        <p:attrNameLst>
                                          <p:attrName>style.visibility</p:attrName>
                                        </p:attrNameLst>
                                      </p:cBhvr>
                                      <p:to>
                                        <p:strVal val="hidden"/>
                                      </p:to>
                                    </p:set>
                                  </p:childTnLst>
                                </p:cTn>
                              </p:par>
                              <p:par>
                                <p:cTn id="161" presetID="1" presetClass="exit" presetSubtype="0" fill="hold" grpId="0" nodeType="withEffect">
                                  <p:stCondLst>
                                    <p:cond delay="0"/>
                                  </p:stCondLst>
                                  <p:childTnLst>
                                    <p:set>
                                      <p:cBhvr>
                                        <p:cTn id="162" dur="1" fill="hold">
                                          <p:stCondLst>
                                            <p:cond delay="0"/>
                                          </p:stCondLst>
                                        </p:cTn>
                                        <p:tgtEl>
                                          <p:spTgt spid="76"/>
                                        </p:tgtEl>
                                        <p:attrNameLst>
                                          <p:attrName>style.visibility</p:attrName>
                                        </p:attrNameLst>
                                      </p:cBhvr>
                                      <p:to>
                                        <p:strVal val="hidden"/>
                                      </p:to>
                                    </p:set>
                                  </p:childTnLst>
                                </p:cTn>
                              </p:par>
                            </p:childTnLst>
                          </p:cTn>
                        </p:par>
                        <p:par>
                          <p:cTn id="163" fill="hold">
                            <p:stCondLst>
                              <p:cond delay="0"/>
                            </p:stCondLst>
                            <p:childTnLst>
                              <p:par>
                                <p:cTn id="164" presetID="1" presetClass="exit" presetSubtype="0" fill="hold" grpId="0" nodeType="afterEffect">
                                  <p:stCondLst>
                                    <p:cond delay="0"/>
                                  </p:stCondLst>
                                  <p:childTnLst>
                                    <p:set>
                                      <p:cBhvr>
                                        <p:cTn id="165" dur="1" fill="hold">
                                          <p:stCondLst>
                                            <p:cond delay="0"/>
                                          </p:stCondLst>
                                        </p:cTn>
                                        <p:tgtEl>
                                          <p:spTgt spid="140"/>
                                        </p:tgtEl>
                                        <p:attrNameLst>
                                          <p:attrName>style.visibility</p:attrName>
                                        </p:attrNameLst>
                                      </p:cBhvr>
                                      <p:to>
                                        <p:strVal val="hidden"/>
                                      </p:to>
                                    </p:set>
                                  </p:childTnLst>
                                </p:cTn>
                              </p:par>
                            </p:childTnLst>
                          </p:cTn>
                        </p:par>
                        <p:par>
                          <p:cTn id="166" fill="hold">
                            <p:stCondLst>
                              <p:cond delay="0"/>
                            </p:stCondLst>
                            <p:childTnLst>
                              <p:par>
                                <p:cTn id="167" presetID="1" presetClass="exit" presetSubtype="0" fill="hold" grpId="1" nodeType="afterEffect">
                                  <p:stCondLst>
                                    <p:cond delay="0"/>
                                  </p:stCondLst>
                                  <p:childTnLst>
                                    <p:set>
                                      <p:cBhvr>
                                        <p:cTn id="168" dur="1" fill="hold">
                                          <p:stCondLst>
                                            <p:cond delay="0"/>
                                          </p:stCondLst>
                                        </p:cTn>
                                        <p:tgtEl>
                                          <p:spTgt spid="50"/>
                                        </p:tgtEl>
                                        <p:attrNameLst>
                                          <p:attrName>style.visibility</p:attrName>
                                        </p:attrNameLst>
                                      </p:cBhvr>
                                      <p:to>
                                        <p:strVal val="hidden"/>
                                      </p:to>
                                    </p:set>
                                  </p:childTnLst>
                                </p:cTn>
                              </p:par>
                              <p:par>
                                <p:cTn id="169" presetID="1" presetClass="exit" presetSubtype="0" fill="hold" grpId="1" nodeType="withEffect">
                                  <p:stCondLst>
                                    <p:cond delay="0"/>
                                  </p:stCondLst>
                                  <p:childTnLst>
                                    <p:set>
                                      <p:cBhvr>
                                        <p:cTn id="170" dur="1" fill="hold">
                                          <p:stCondLst>
                                            <p:cond delay="0"/>
                                          </p:stCondLst>
                                        </p:cTn>
                                        <p:tgtEl>
                                          <p:spTgt spid="51"/>
                                        </p:tgtEl>
                                        <p:attrNameLst>
                                          <p:attrName>style.visibility</p:attrName>
                                        </p:attrNameLst>
                                      </p:cBhvr>
                                      <p:to>
                                        <p:strVal val="hidden"/>
                                      </p:to>
                                    </p:set>
                                  </p:childTnLst>
                                </p:cTn>
                              </p:par>
                              <p:par>
                                <p:cTn id="171" presetID="1" presetClass="exit" presetSubtype="0" fill="hold" grpId="1" nodeType="withEffect">
                                  <p:stCondLst>
                                    <p:cond delay="0"/>
                                  </p:stCondLst>
                                  <p:childTnLst>
                                    <p:set>
                                      <p:cBhvr>
                                        <p:cTn id="172" dur="1" fill="hold">
                                          <p:stCondLst>
                                            <p:cond delay="0"/>
                                          </p:stCondLst>
                                        </p:cTn>
                                        <p:tgtEl>
                                          <p:spTgt spid="52"/>
                                        </p:tgtEl>
                                        <p:attrNameLst>
                                          <p:attrName>style.visibility</p:attrName>
                                        </p:attrNameLst>
                                      </p:cBhvr>
                                      <p:to>
                                        <p:strVal val="hidden"/>
                                      </p:to>
                                    </p:set>
                                  </p:childTnLst>
                                </p:cTn>
                              </p:par>
                              <p:par>
                                <p:cTn id="173" presetID="1" presetClass="exit" presetSubtype="0" fill="hold" grpId="1" nodeType="withEffect">
                                  <p:stCondLst>
                                    <p:cond delay="0"/>
                                  </p:stCondLst>
                                  <p:childTnLst>
                                    <p:set>
                                      <p:cBhvr>
                                        <p:cTn id="174" dur="1" fill="hold">
                                          <p:stCondLst>
                                            <p:cond delay="0"/>
                                          </p:stCondLst>
                                        </p:cTn>
                                        <p:tgtEl>
                                          <p:spTgt spid="139"/>
                                        </p:tgtEl>
                                        <p:attrNameLst>
                                          <p:attrName>style.visibility</p:attrName>
                                        </p:attrNameLst>
                                      </p:cBhvr>
                                      <p:to>
                                        <p:strVal val="hidden"/>
                                      </p:to>
                                    </p:set>
                                  </p:childTnLst>
                                </p:cTn>
                              </p:par>
                              <p:par>
                                <p:cTn id="175" presetID="10" presetClass="entr" presetSubtype="0" fill="hold" nodeType="withEffect">
                                  <p:stCondLst>
                                    <p:cond delay="0"/>
                                  </p:stCondLst>
                                  <p:childTnLst>
                                    <p:set>
                                      <p:cBhvr>
                                        <p:cTn id="176" dur="1" fill="hold">
                                          <p:stCondLst>
                                            <p:cond delay="0"/>
                                          </p:stCondLst>
                                        </p:cTn>
                                        <p:tgtEl>
                                          <p:spTgt spid="72">
                                            <p:txEl>
                                              <p:pRg st="1" end="1"/>
                                            </p:txEl>
                                          </p:spTgt>
                                        </p:tgtEl>
                                        <p:attrNameLst>
                                          <p:attrName>style.visibility</p:attrName>
                                        </p:attrNameLst>
                                      </p:cBhvr>
                                      <p:to>
                                        <p:strVal val="visible"/>
                                      </p:to>
                                    </p:set>
                                    <p:animEffect transition="in" filter="fade">
                                      <p:cBhvr>
                                        <p:cTn id="177" dur="500"/>
                                        <p:tgtEl>
                                          <p:spTgt spid="72">
                                            <p:txEl>
                                              <p:pRg st="1" end="1"/>
                                            </p:txEl>
                                          </p:spTgt>
                                        </p:tgtEl>
                                      </p:cBhvr>
                                    </p:animEffect>
                                  </p:childTnLst>
                                </p:cTn>
                              </p:par>
                              <p:par>
                                <p:cTn id="178" presetID="10" presetClass="entr" presetSubtype="0" fill="hold" nodeType="withEffect">
                                  <p:stCondLst>
                                    <p:cond delay="0"/>
                                  </p:stCondLst>
                                  <p:childTnLst>
                                    <p:set>
                                      <p:cBhvr>
                                        <p:cTn id="179" dur="1" fill="hold">
                                          <p:stCondLst>
                                            <p:cond delay="0"/>
                                          </p:stCondLst>
                                        </p:cTn>
                                        <p:tgtEl>
                                          <p:spTgt spid="72">
                                            <p:txEl>
                                              <p:pRg st="2" end="2"/>
                                            </p:txEl>
                                          </p:spTgt>
                                        </p:tgtEl>
                                        <p:attrNameLst>
                                          <p:attrName>style.visibility</p:attrName>
                                        </p:attrNameLst>
                                      </p:cBhvr>
                                      <p:to>
                                        <p:strVal val="visible"/>
                                      </p:to>
                                    </p:set>
                                    <p:animEffect transition="in" filter="fade">
                                      <p:cBhvr>
                                        <p:cTn id="180" dur="500"/>
                                        <p:tgtEl>
                                          <p:spTgt spid="72">
                                            <p:txEl>
                                              <p:pRg st="2" end="2"/>
                                            </p:txEl>
                                          </p:spTgt>
                                        </p:tgtEl>
                                      </p:cBhvr>
                                    </p:animEffect>
                                  </p:childTnLst>
                                </p:cTn>
                              </p:par>
                              <p:par>
                                <p:cTn id="181" presetID="10" presetClass="entr" presetSubtype="0" fill="hold" nodeType="withEffect">
                                  <p:stCondLst>
                                    <p:cond delay="0"/>
                                  </p:stCondLst>
                                  <p:childTnLst>
                                    <p:set>
                                      <p:cBhvr>
                                        <p:cTn id="182" dur="1" fill="hold">
                                          <p:stCondLst>
                                            <p:cond delay="0"/>
                                          </p:stCondLst>
                                        </p:cTn>
                                        <p:tgtEl>
                                          <p:spTgt spid="72">
                                            <p:txEl>
                                              <p:pRg st="3" end="3"/>
                                            </p:txEl>
                                          </p:spTgt>
                                        </p:tgtEl>
                                        <p:attrNameLst>
                                          <p:attrName>style.visibility</p:attrName>
                                        </p:attrNameLst>
                                      </p:cBhvr>
                                      <p:to>
                                        <p:strVal val="visible"/>
                                      </p:to>
                                    </p:set>
                                    <p:animEffect transition="in" filter="fade">
                                      <p:cBhvr>
                                        <p:cTn id="183" dur="500"/>
                                        <p:tgtEl>
                                          <p:spTgt spid="72">
                                            <p:txEl>
                                              <p:pRg st="3" end="3"/>
                                            </p:txEl>
                                          </p:spTgt>
                                        </p:tgtEl>
                                      </p:cBhvr>
                                    </p:animEffect>
                                  </p:childTnLst>
                                </p:cTn>
                              </p:par>
                            </p:childTnLst>
                          </p:cTn>
                        </p:par>
                      </p:childTnLst>
                    </p:cTn>
                  </p:par>
                  <p:par>
                    <p:cTn id="184" fill="hold">
                      <p:stCondLst>
                        <p:cond delay="indefinite"/>
                      </p:stCondLst>
                      <p:childTnLst>
                        <p:par>
                          <p:cTn id="185" fill="hold">
                            <p:stCondLst>
                              <p:cond delay="0"/>
                            </p:stCondLst>
                            <p:childTnLst>
                              <p:par>
                                <p:cTn id="186" presetID="1" presetClass="entr" presetSubtype="0" fill="hold" nodeType="clickEffect">
                                  <p:stCondLst>
                                    <p:cond delay="0"/>
                                  </p:stCondLst>
                                  <p:childTnLst>
                                    <p:set>
                                      <p:cBhvr>
                                        <p:cTn id="187" dur="1" fill="hold">
                                          <p:stCondLst>
                                            <p:cond delay="0"/>
                                          </p:stCondLst>
                                        </p:cTn>
                                        <p:tgtEl>
                                          <p:spTgt spid="145"/>
                                        </p:tgtEl>
                                        <p:attrNameLst>
                                          <p:attrName>style.visibility</p:attrName>
                                        </p:attrNameLst>
                                      </p:cBhvr>
                                      <p:to>
                                        <p:strVal val="visible"/>
                                      </p:to>
                                    </p:set>
                                  </p:childTnLst>
                                </p:cTn>
                              </p:par>
                              <p:par>
                                <p:cTn id="188" presetID="1" presetClass="emph" presetSubtype="2" fill="hold" nodeType="withEffect">
                                  <p:stCondLst>
                                    <p:cond delay="0"/>
                                  </p:stCondLst>
                                  <p:childTnLst>
                                    <p:animClr clrSpc="rgb" dir="cw">
                                      <p:cBhvr>
                                        <p:cTn id="189" dur="500" fill="hold"/>
                                        <p:tgtEl>
                                          <p:spTgt spid="81"/>
                                        </p:tgtEl>
                                        <p:attrNameLst>
                                          <p:attrName>fillcolor</p:attrName>
                                        </p:attrNameLst>
                                      </p:cBhvr>
                                      <p:to>
                                        <a:srgbClr val="FFFFFF"/>
                                      </p:to>
                                    </p:animClr>
                                    <p:set>
                                      <p:cBhvr>
                                        <p:cTn id="190" dur="500" fill="hold"/>
                                        <p:tgtEl>
                                          <p:spTgt spid="81"/>
                                        </p:tgtEl>
                                        <p:attrNameLst>
                                          <p:attrName>fill.type</p:attrName>
                                        </p:attrNameLst>
                                      </p:cBhvr>
                                      <p:to>
                                        <p:strVal val="solid"/>
                                      </p:to>
                                    </p:set>
                                    <p:set>
                                      <p:cBhvr>
                                        <p:cTn id="191" dur="500" fill="hold"/>
                                        <p:tgtEl>
                                          <p:spTgt spid="81"/>
                                        </p:tgtEl>
                                        <p:attrNameLst>
                                          <p:attrName>fill.on</p:attrName>
                                        </p:attrNameLst>
                                      </p:cBhvr>
                                      <p:to>
                                        <p:strVal val="true"/>
                                      </p:to>
                                    </p:set>
                                  </p:childTnLst>
                                </p:cTn>
                              </p:par>
                              <p:par>
                                <p:cTn id="192" presetID="1" presetClass="emph" presetSubtype="2" fill="hold" nodeType="withEffect">
                                  <p:stCondLst>
                                    <p:cond delay="0"/>
                                  </p:stCondLst>
                                  <p:childTnLst>
                                    <p:animClr clrSpc="rgb" dir="cw">
                                      <p:cBhvr>
                                        <p:cTn id="193" dur="500" fill="hold"/>
                                        <p:tgtEl>
                                          <p:spTgt spid="84"/>
                                        </p:tgtEl>
                                        <p:attrNameLst>
                                          <p:attrName>fillcolor</p:attrName>
                                        </p:attrNameLst>
                                      </p:cBhvr>
                                      <p:to>
                                        <a:srgbClr val="FFFFFF"/>
                                      </p:to>
                                    </p:animClr>
                                    <p:set>
                                      <p:cBhvr>
                                        <p:cTn id="194" dur="500" fill="hold"/>
                                        <p:tgtEl>
                                          <p:spTgt spid="84"/>
                                        </p:tgtEl>
                                        <p:attrNameLst>
                                          <p:attrName>fill.type</p:attrName>
                                        </p:attrNameLst>
                                      </p:cBhvr>
                                      <p:to>
                                        <p:strVal val="solid"/>
                                      </p:to>
                                    </p:set>
                                    <p:set>
                                      <p:cBhvr>
                                        <p:cTn id="195" dur="500" fill="hold"/>
                                        <p:tgtEl>
                                          <p:spTgt spid="84"/>
                                        </p:tgtEl>
                                        <p:attrNameLst>
                                          <p:attrName>fill.on</p:attrName>
                                        </p:attrNameLst>
                                      </p:cBhvr>
                                      <p:to>
                                        <p:strVal val="true"/>
                                      </p:to>
                                    </p:set>
                                  </p:childTnLst>
                                </p:cTn>
                              </p:par>
                              <p:par>
                                <p:cTn id="196" presetID="1" presetClass="emph" presetSubtype="2" fill="hold" nodeType="withEffect">
                                  <p:stCondLst>
                                    <p:cond delay="0"/>
                                  </p:stCondLst>
                                  <p:childTnLst>
                                    <p:animClr clrSpc="rgb" dir="cw">
                                      <p:cBhvr>
                                        <p:cTn id="197" dur="500" fill="hold"/>
                                        <p:tgtEl>
                                          <p:spTgt spid="85"/>
                                        </p:tgtEl>
                                        <p:attrNameLst>
                                          <p:attrName>fillcolor</p:attrName>
                                        </p:attrNameLst>
                                      </p:cBhvr>
                                      <p:to>
                                        <a:srgbClr val="FFFFFF"/>
                                      </p:to>
                                    </p:animClr>
                                    <p:set>
                                      <p:cBhvr>
                                        <p:cTn id="198" dur="500" fill="hold"/>
                                        <p:tgtEl>
                                          <p:spTgt spid="85"/>
                                        </p:tgtEl>
                                        <p:attrNameLst>
                                          <p:attrName>fill.type</p:attrName>
                                        </p:attrNameLst>
                                      </p:cBhvr>
                                      <p:to>
                                        <p:strVal val="solid"/>
                                      </p:to>
                                    </p:set>
                                    <p:set>
                                      <p:cBhvr>
                                        <p:cTn id="199" dur="500" fill="hold"/>
                                        <p:tgtEl>
                                          <p:spTgt spid="85"/>
                                        </p:tgtEl>
                                        <p:attrNameLst>
                                          <p:attrName>fill.on</p:attrName>
                                        </p:attrNameLst>
                                      </p:cBhvr>
                                      <p:to>
                                        <p:strVal val="true"/>
                                      </p:to>
                                    </p:set>
                                  </p:childTnLst>
                                </p:cTn>
                              </p:par>
                              <p:par>
                                <p:cTn id="200" presetID="1" presetClass="emph" presetSubtype="2" fill="hold" nodeType="withEffect">
                                  <p:stCondLst>
                                    <p:cond delay="0"/>
                                  </p:stCondLst>
                                  <p:childTnLst>
                                    <p:animClr clrSpc="rgb" dir="cw">
                                      <p:cBhvr>
                                        <p:cTn id="201" dur="500" fill="hold"/>
                                        <p:tgtEl>
                                          <p:spTgt spid="82"/>
                                        </p:tgtEl>
                                        <p:attrNameLst>
                                          <p:attrName>fillcolor</p:attrName>
                                        </p:attrNameLst>
                                      </p:cBhvr>
                                      <p:to>
                                        <a:srgbClr val="FFFFFF"/>
                                      </p:to>
                                    </p:animClr>
                                    <p:set>
                                      <p:cBhvr>
                                        <p:cTn id="202" dur="500" fill="hold"/>
                                        <p:tgtEl>
                                          <p:spTgt spid="82"/>
                                        </p:tgtEl>
                                        <p:attrNameLst>
                                          <p:attrName>fill.type</p:attrName>
                                        </p:attrNameLst>
                                      </p:cBhvr>
                                      <p:to>
                                        <p:strVal val="solid"/>
                                      </p:to>
                                    </p:set>
                                    <p:set>
                                      <p:cBhvr>
                                        <p:cTn id="203" dur="500" fill="hold"/>
                                        <p:tgtEl>
                                          <p:spTgt spid="82"/>
                                        </p:tgtEl>
                                        <p:attrNameLst>
                                          <p:attrName>fill.on</p:attrName>
                                        </p:attrNameLst>
                                      </p:cBhvr>
                                      <p:to>
                                        <p:strVal val="true"/>
                                      </p:to>
                                    </p:set>
                                  </p:childTnLst>
                                </p:cTn>
                              </p:par>
                            </p:childTnLst>
                          </p:cTn>
                        </p:par>
                        <p:par>
                          <p:cTn id="204" fill="hold">
                            <p:stCondLst>
                              <p:cond delay="500"/>
                            </p:stCondLst>
                            <p:childTnLst>
                              <p:par>
                                <p:cTn id="205" presetID="1" presetClass="entr" presetSubtype="0" fill="hold" nodeType="afterEffect">
                                  <p:stCondLst>
                                    <p:cond delay="0"/>
                                  </p:stCondLst>
                                  <p:childTnLst>
                                    <p:set>
                                      <p:cBhvr>
                                        <p:cTn id="206" dur="1" fill="hold">
                                          <p:stCondLst>
                                            <p:cond delay="0"/>
                                          </p:stCondLst>
                                        </p:cTn>
                                        <p:tgtEl>
                                          <p:spTgt spid="91"/>
                                        </p:tgtEl>
                                        <p:attrNameLst>
                                          <p:attrName>style.visibility</p:attrName>
                                        </p:attrNameLst>
                                      </p:cBhvr>
                                      <p:to>
                                        <p:strVal val="visible"/>
                                      </p:to>
                                    </p:set>
                                  </p:childTnLst>
                                </p:cTn>
                              </p:par>
                              <p:par>
                                <p:cTn id="207" presetID="1" presetClass="entr" presetSubtype="0" fill="hold" nodeType="withEffect">
                                  <p:stCondLst>
                                    <p:cond delay="0"/>
                                  </p:stCondLst>
                                  <p:childTnLst>
                                    <p:set>
                                      <p:cBhvr>
                                        <p:cTn id="208" dur="1" fill="hold">
                                          <p:stCondLst>
                                            <p:cond delay="0"/>
                                          </p:stCondLst>
                                        </p:cTn>
                                        <p:tgtEl>
                                          <p:spTgt spid="92"/>
                                        </p:tgtEl>
                                        <p:attrNameLst>
                                          <p:attrName>style.visibility</p:attrName>
                                        </p:attrNameLst>
                                      </p:cBhvr>
                                      <p:to>
                                        <p:strVal val="visible"/>
                                      </p:to>
                                    </p:set>
                                  </p:childTnLst>
                                </p:cTn>
                              </p:par>
                              <p:par>
                                <p:cTn id="209" presetID="1" presetClass="entr" presetSubtype="0" fill="hold" nodeType="withEffect">
                                  <p:stCondLst>
                                    <p:cond delay="0"/>
                                  </p:stCondLst>
                                  <p:childTnLst>
                                    <p:set>
                                      <p:cBhvr>
                                        <p:cTn id="210" dur="1" fill="hold">
                                          <p:stCondLst>
                                            <p:cond delay="0"/>
                                          </p:stCondLst>
                                        </p:cTn>
                                        <p:tgtEl>
                                          <p:spTgt spid="95"/>
                                        </p:tgtEl>
                                        <p:attrNameLst>
                                          <p:attrName>style.visibility</p:attrName>
                                        </p:attrNameLst>
                                      </p:cBhvr>
                                      <p:to>
                                        <p:strVal val="visible"/>
                                      </p:to>
                                    </p:set>
                                  </p:childTnLst>
                                </p:cTn>
                              </p:par>
                              <p:par>
                                <p:cTn id="211" presetID="1" presetClass="entr" presetSubtype="0" fill="hold" nodeType="withEffect">
                                  <p:stCondLst>
                                    <p:cond delay="0"/>
                                  </p:stCondLst>
                                  <p:childTnLst>
                                    <p:set>
                                      <p:cBhvr>
                                        <p:cTn id="212" dur="1" fill="hold">
                                          <p:stCondLst>
                                            <p:cond delay="0"/>
                                          </p:stCondLst>
                                        </p:cTn>
                                        <p:tgtEl>
                                          <p:spTgt spid="101"/>
                                        </p:tgtEl>
                                        <p:attrNameLst>
                                          <p:attrName>style.visibility</p:attrName>
                                        </p:attrNameLst>
                                      </p:cBhvr>
                                      <p:to>
                                        <p:strVal val="visible"/>
                                      </p:to>
                                    </p:set>
                                  </p:childTnLst>
                                </p:cTn>
                              </p:par>
                            </p:childTnLst>
                          </p:cTn>
                        </p:par>
                        <p:par>
                          <p:cTn id="213" fill="hold">
                            <p:stCondLst>
                              <p:cond delay="500"/>
                            </p:stCondLst>
                            <p:childTnLst>
                              <p:par>
                                <p:cTn id="214" presetID="10" presetClass="exit" presetSubtype="0" fill="hold" grpId="0" nodeType="afterEffect">
                                  <p:stCondLst>
                                    <p:cond delay="0"/>
                                  </p:stCondLst>
                                  <p:childTnLst>
                                    <p:animEffect transition="out" filter="fade">
                                      <p:cBhvr>
                                        <p:cTn id="215" dur="500"/>
                                        <p:tgtEl>
                                          <p:spTgt spid="146"/>
                                        </p:tgtEl>
                                      </p:cBhvr>
                                    </p:animEffect>
                                    <p:set>
                                      <p:cBhvr>
                                        <p:cTn id="216" dur="1" fill="hold">
                                          <p:stCondLst>
                                            <p:cond delay="499"/>
                                          </p:stCondLst>
                                        </p:cTn>
                                        <p:tgtEl>
                                          <p:spTgt spid="14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 grpId="0"/>
      <p:bldP spid="133" grpId="1"/>
      <p:bldP spid="111" grpId="0" animBg="1"/>
      <p:bldP spid="111" grpId="1" animBg="1"/>
      <p:bldP spid="75" grpId="0" animBg="1"/>
      <p:bldP spid="76" grpId="0"/>
      <p:bldP spid="77" grpId="0"/>
      <p:bldP spid="31" grpId="0" animBg="1"/>
      <p:bldP spid="32" grpId="0" animBg="1"/>
      <p:bldP spid="27" grpId="0" animBg="1"/>
      <p:bldP spid="28" grpId="0" animBg="1"/>
      <p:bldP spid="30" grpId="0" animBg="1"/>
      <p:bldP spid="81" grpId="0" animBg="1"/>
      <p:bldP spid="82" grpId="0" animBg="1"/>
      <p:bldP spid="83" grpId="0" animBg="1"/>
      <p:bldP spid="84" grpId="0" animBg="1"/>
      <p:bldP spid="85" grpId="0" animBg="1"/>
      <p:bldP spid="86" grpId="0" animBg="1"/>
      <p:bldP spid="60" grpId="0" animBg="1"/>
      <p:bldP spid="61" grpId="0" animBg="1"/>
      <p:bldP spid="63" grpId="0"/>
      <p:bldP spid="65" grpId="0"/>
      <p:bldP spid="112" grpId="0" animBg="1"/>
      <p:bldP spid="112" grpId="1" animBg="1"/>
      <p:bldP spid="113" grpId="0" animBg="1"/>
      <p:bldP spid="113" grpId="1" animBg="1"/>
      <p:bldP spid="114" grpId="0" animBg="1"/>
      <p:bldP spid="114" grpId="1" animBg="1"/>
      <p:bldP spid="15" grpId="0"/>
      <p:bldP spid="115" grpId="0"/>
      <p:bldP spid="39" grpId="0"/>
      <p:bldP spid="39" grpId="1"/>
      <p:bldP spid="39" grpId="2"/>
      <p:bldP spid="118" grpId="0"/>
      <p:bldP spid="118" grpId="1"/>
      <p:bldP spid="119" grpId="0"/>
      <p:bldP spid="120" grpId="0" animBg="1"/>
      <p:bldP spid="120" grpId="1" animBg="1"/>
      <p:bldP spid="139" grpId="0" animBg="1"/>
      <p:bldP spid="139" grpId="1" animBg="1"/>
      <p:bldP spid="140" grpId="0" animBg="1"/>
      <p:bldP spid="140" grpId="1" animBg="1"/>
      <p:bldP spid="146" grpId="0" animBg="1"/>
      <p:bldP spid="146" grpId="1" animBg="1"/>
      <p:bldP spid="50" grpId="0" animBg="1"/>
      <p:bldP spid="50" grpId="1" animBg="1"/>
      <p:bldP spid="52" grpId="0" animBg="1"/>
      <p:bldP spid="52" grpId="1" animBg="1"/>
      <p:bldP spid="51" grpId="0" animBg="1"/>
      <p:bldP spid="51" grpId="1" animBg="1"/>
    </p:bld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600" dirty="0" err="1" smtClean="0">
                <a:solidFill>
                  <a:srgbClr val="FF0000"/>
                </a:solidFill>
              </a:rPr>
              <a:t>LS</a:t>
            </a:r>
            <a:r>
              <a:rPr lang="en-US" altLang="zh-CN" sz="3600" dirty="0" err="1" smtClean="0"/>
              <a:t>b</a:t>
            </a:r>
            <a:r>
              <a:rPr lang="en-US" altLang="zh-CN" sz="3600" dirty="0" err="1" smtClean="0">
                <a:solidFill>
                  <a:srgbClr val="FF0000"/>
                </a:solidFill>
              </a:rPr>
              <a:t>M</a:t>
            </a:r>
            <a:r>
              <a:rPr lang="en-US" altLang="zh-CN" sz="3600" dirty="0" smtClean="0">
                <a:solidFill>
                  <a:srgbClr val="FF0000"/>
                </a:solidFill>
              </a:rPr>
              <a:t>-tree: </a:t>
            </a:r>
            <a:r>
              <a:rPr lang="en-US" altLang="zh-CN" sz="3600" dirty="0" smtClean="0">
                <a:solidFill>
                  <a:srgbClr val="0070C0"/>
                </a:solidFill>
              </a:rPr>
              <a:t>aided by a compaction buffer </a:t>
            </a:r>
            <a:endParaRPr lang="zh-CN" altLang="en-US" sz="3600" dirty="0">
              <a:solidFill>
                <a:srgbClr val="0070C0"/>
              </a:solidFill>
            </a:endParaRPr>
          </a:p>
        </p:txBody>
      </p:sp>
      <p:sp>
        <p:nvSpPr>
          <p:cNvPr id="3" name="内容占位符 2"/>
          <p:cNvSpPr>
            <a:spLocks noGrp="1"/>
          </p:cNvSpPr>
          <p:nvPr>
            <p:ph idx="1"/>
          </p:nvPr>
        </p:nvSpPr>
        <p:spPr>
          <a:xfrm>
            <a:off x="457200" y="1600200"/>
            <a:ext cx="8229600" cy="2993315"/>
          </a:xfrm>
        </p:spPr>
        <p:txBody>
          <a:bodyPr>
            <a:normAutofit/>
          </a:bodyPr>
          <a:lstStyle/>
          <a:p>
            <a:r>
              <a:rPr lang="en-US" altLang="zh-CN" dirty="0" err="1" smtClean="0"/>
              <a:t>LSbM</a:t>
            </a:r>
            <a:r>
              <a:rPr lang="en-US" altLang="zh-CN" dirty="0" smtClean="0"/>
              <a:t>-tree</a:t>
            </a:r>
          </a:p>
          <a:p>
            <a:pPr marL="685800" lvl="1" indent="-342900">
              <a:buFont typeface="Arial" panose="020B0604020202020204" pitchFamily="34" charset="0"/>
              <a:buChar char="•"/>
            </a:pPr>
            <a:r>
              <a:rPr lang="en-US" altLang="zh-CN" dirty="0" smtClean="0"/>
              <a:t>Retains all the merits of an LSM-tree by maintaining the structure</a:t>
            </a:r>
            <a:endParaRPr lang="en-US" altLang="zh-CN" b="1" dirty="0" smtClean="0"/>
          </a:p>
          <a:p>
            <a:pPr marL="685800" lvl="1" indent="-342900">
              <a:buFont typeface="Arial" panose="020B0604020202020204" pitchFamily="34" charset="0"/>
              <a:buChar char="•"/>
            </a:pPr>
            <a:r>
              <a:rPr lang="en-US" altLang="zh-CN" b="1" dirty="0"/>
              <a:t>C</a:t>
            </a:r>
            <a:r>
              <a:rPr lang="en-US" altLang="zh-CN" b="1" dirty="0" smtClean="0"/>
              <a:t>ompaction buffer </a:t>
            </a:r>
            <a:r>
              <a:rPr lang="en-US" altLang="zh-CN" dirty="0" smtClean="0"/>
              <a:t>re-enable buffer caching </a:t>
            </a:r>
          </a:p>
          <a:p>
            <a:pPr marL="971550" lvl="2" indent="-285750">
              <a:buFont typeface="Wingdings" panose="05000000000000000000" pitchFamily="2" charset="2"/>
              <a:buChar char="Ø"/>
            </a:pPr>
            <a:r>
              <a:rPr lang="en-US" altLang="zh-CN" dirty="0" smtClean="0"/>
              <a:t>Compaction buffer directly maps to buffer cache</a:t>
            </a:r>
          </a:p>
          <a:p>
            <a:pPr marL="971550" lvl="2" indent="-285750">
              <a:buFont typeface="Wingdings" panose="05000000000000000000" pitchFamily="2" charset="2"/>
              <a:buChar char="Ø"/>
            </a:pPr>
            <a:r>
              <a:rPr lang="en-US" altLang="zh-CN" dirty="0" smtClean="0"/>
              <a:t>Slow </a:t>
            </a:r>
            <a:r>
              <a:rPr lang="en-US" altLang="zh-CN" dirty="0"/>
              <a:t>d</a:t>
            </a:r>
            <a:r>
              <a:rPr lang="en-US" altLang="zh-CN" dirty="0" smtClean="0"/>
              <a:t>ata movement to reduce cache invalidations</a:t>
            </a:r>
          </a:p>
          <a:p>
            <a:pPr marL="971550" lvl="2" indent="-285750">
              <a:buFont typeface="Wingdings" panose="05000000000000000000" pitchFamily="2" charset="2"/>
              <a:buChar char="Ø"/>
            </a:pPr>
            <a:r>
              <a:rPr lang="en-US" altLang="zh-CN" dirty="0" smtClean="0"/>
              <a:t>Keep cached data in compaction buffer for cache hits  </a:t>
            </a:r>
            <a:endParaRPr lang="zh-CN" altLang="en-US" dirty="0"/>
          </a:p>
        </p:txBody>
      </p:sp>
      <p:grpSp>
        <p:nvGrpSpPr>
          <p:cNvPr id="64" name="组合 63"/>
          <p:cNvGrpSpPr/>
          <p:nvPr/>
        </p:nvGrpSpPr>
        <p:grpSpPr>
          <a:xfrm>
            <a:off x="1082179" y="4780443"/>
            <a:ext cx="3004506" cy="1808512"/>
            <a:chOff x="1082179" y="4780443"/>
            <a:chExt cx="3004506" cy="1808512"/>
          </a:xfrm>
        </p:grpSpPr>
        <p:grpSp>
          <p:nvGrpSpPr>
            <p:cNvPr id="63" name="组合 62"/>
            <p:cNvGrpSpPr/>
            <p:nvPr/>
          </p:nvGrpSpPr>
          <p:grpSpPr>
            <a:xfrm>
              <a:off x="1082179" y="4780443"/>
              <a:ext cx="3004506" cy="1808512"/>
              <a:chOff x="1082179" y="4780443"/>
              <a:chExt cx="3004506" cy="1808512"/>
            </a:xfrm>
          </p:grpSpPr>
          <p:grpSp>
            <p:nvGrpSpPr>
              <p:cNvPr id="31" name="组合 30"/>
              <p:cNvGrpSpPr/>
              <p:nvPr/>
            </p:nvGrpSpPr>
            <p:grpSpPr>
              <a:xfrm>
                <a:off x="1082179" y="4780443"/>
                <a:ext cx="3004506" cy="1808512"/>
                <a:chOff x="1082179" y="4780443"/>
                <a:chExt cx="3004506" cy="1808512"/>
              </a:xfrm>
            </p:grpSpPr>
            <p:grpSp>
              <p:nvGrpSpPr>
                <p:cNvPr id="8" name="组合 7"/>
                <p:cNvGrpSpPr/>
                <p:nvPr/>
              </p:nvGrpSpPr>
              <p:grpSpPr>
                <a:xfrm>
                  <a:off x="1082179" y="4780443"/>
                  <a:ext cx="3004506" cy="1808512"/>
                  <a:chOff x="1082179" y="4780443"/>
                  <a:chExt cx="3004506" cy="1808512"/>
                </a:xfrm>
              </p:grpSpPr>
              <p:sp>
                <p:nvSpPr>
                  <p:cNvPr id="11" name="AutoShape 4"/>
                  <p:cNvSpPr>
                    <a:spLocks noChangeArrowheads="1"/>
                  </p:cNvSpPr>
                  <p:nvPr/>
                </p:nvSpPr>
                <p:spPr bwMode="auto">
                  <a:xfrm>
                    <a:off x="1082179" y="5459554"/>
                    <a:ext cx="3004506" cy="760069"/>
                  </a:xfrm>
                  <a:prstGeom prst="triangle">
                    <a:avLst>
                      <a:gd name="adj" fmla="val 50000"/>
                    </a:avLst>
                  </a:prstGeom>
                  <a:solidFill>
                    <a:schemeClr val="bg1">
                      <a:lumMod val="75000"/>
                    </a:schemeClr>
                  </a:solidFill>
                  <a:ln w="9525" cap="flat" cmpd="sng">
                    <a:noFill/>
                    <a:prstDash val="lgDashDotDot"/>
                    <a:miter lim="800000"/>
                    <a:headEnd/>
                    <a:tailEnd/>
                  </a:ln>
                  <a:effectLst/>
                  <a:extLst/>
                </p:spPr>
                <p:txBody>
                  <a:bodyPr wrap="none" anchor="ctr"/>
                  <a:lstStyle/>
                  <a:p>
                    <a:pPr algn="ctr"/>
                    <a:endParaRPr lang="en-US" altLang="zh-CN" dirty="0">
                      <a:solidFill>
                        <a:prstClr val="black"/>
                      </a:solidFill>
                    </a:endParaRPr>
                  </a:p>
                  <a:p>
                    <a:pPr algn="ctr"/>
                    <a:endParaRPr lang="en-US" altLang="zh-CN" dirty="0">
                      <a:solidFill>
                        <a:prstClr val="black"/>
                      </a:solidFill>
                    </a:endParaRPr>
                  </a:p>
                  <a:p>
                    <a:pPr algn="ctr"/>
                    <a:endParaRPr lang="en-US" altLang="zh-CN" dirty="0">
                      <a:solidFill>
                        <a:prstClr val="black"/>
                      </a:solidFill>
                    </a:endParaRPr>
                  </a:p>
                  <a:p>
                    <a:pPr algn="ctr"/>
                    <a:endParaRPr lang="en-US" altLang="zh-CN" dirty="0">
                      <a:solidFill>
                        <a:prstClr val="black"/>
                      </a:solidFill>
                    </a:endParaRPr>
                  </a:p>
                  <a:p>
                    <a:pPr algn="ctr"/>
                    <a:endParaRPr lang="en-US" altLang="zh-CN" dirty="0">
                      <a:solidFill>
                        <a:prstClr val="black"/>
                      </a:solidFill>
                    </a:endParaRPr>
                  </a:p>
                  <a:p>
                    <a:pPr algn="ctr"/>
                    <a:endParaRPr lang="en-US" altLang="zh-CN" dirty="0">
                      <a:solidFill>
                        <a:prstClr val="black"/>
                      </a:solidFill>
                    </a:endParaRPr>
                  </a:p>
                  <a:p>
                    <a:pPr algn="ctr"/>
                    <a:endParaRPr lang="en-US" altLang="zh-CN" dirty="0">
                      <a:solidFill>
                        <a:prstClr val="black"/>
                      </a:solidFill>
                    </a:endParaRPr>
                  </a:p>
                  <a:p>
                    <a:pPr algn="ctr"/>
                    <a:endParaRPr lang="en-US" altLang="zh-CN" dirty="0">
                      <a:solidFill>
                        <a:prstClr val="black"/>
                      </a:solidFill>
                    </a:endParaRPr>
                  </a:p>
                </p:txBody>
              </p:sp>
              <p:sp>
                <p:nvSpPr>
                  <p:cNvPr id="12" name="Rectangle 9"/>
                  <p:cNvSpPr>
                    <a:spLocks noChangeArrowheads="1"/>
                  </p:cNvSpPr>
                  <p:nvPr/>
                </p:nvSpPr>
                <p:spPr bwMode="auto">
                  <a:xfrm>
                    <a:off x="1839172" y="6063441"/>
                    <a:ext cx="1463040" cy="91440"/>
                  </a:xfrm>
                  <a:prstGeom prst="rect">
                    <a:avLst/>
                  </a:prstGeom>
                  <a:solidFill>
                    <a:srgbClr val="000080"/>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ndParaRPr>
                  </a:p>
                </p:txBody>
              </p:sp>
              <p:sp>
                <p:nvSpPr>
                  <p:cNvPr id="13" name="Rectangle 10"/>
                  <p:cNvSpPr>
                    <a:spLocks noChangeArrowheads="1"/>
                  </p:cNvSpPr>
                  <p:nvPr/>
                </p:nvSpPr>
                <p:spPr bwMode="auto">
                  <a:xfrm>
                    <a:off x="2210375" y="5697681"/>
                    <a:ext cx="731520" cy="91440"/>
                  </a:xfrm>
                  <a:prstGeom prst="rect">
                    <a:avLst/>
                  </a:prstGeom>
                  <a:solidFill>
                    <a:srgbClr val="000080"/>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ndParaRPr>
                  </a:p>
                </p:txBody>
              </p:sp>
              <p:sp>
                <p:nvSpPr>
                  <p:cNvPr id="14" name="Rectangle 16"/>
                  <p:cNvSpPr>
                    <a:spLocks noChangeArrowheads="1"/>
                  </p:cNvSpPr>
                  <p:nvPr/>
                </p:nvSpPr>
                <p:spPr bwMode="auto">
                  <a:xfrm>
                    <a:off x="2479075" y="5331921"/>
                    <a:ext cx="182880" cy="91440"/>
                  </a:xfrm>
                  <a:prstGeom prst="rect">
                    <a:avLst/>
                  </a:prstGeom>
                  <a:solidFill>
                    <a:srgbClr val="FFFF00"/>
                  </a:solidFill>
                  <a:ln w="9525" cap="flat" cmpd="sng">
                    <a:solidFill>
                      <a:schemeClr val="tx1"/>
                    </a:solidFill>
                    <a:miter lim="800000"/>
                    <a:headEnd/>
                    <a:tailEnd/>
                  </a:ln>
                  <a:effectLst/>
                  <a:extLst/>
                </p:spPr>
                <p:txBody>
                  <a:bodyPr wrap="none" anchor="ctr"/>
                  <a:lstStyle/>
                  <a:p>
                    <a:endParaRPr lang="zh-CN" altLang="en-US">
                      <a:solidFill>
                        <a:prstClr val="black"/>
                      </a:solidFill>
                    </a:endParaRPr>
                  </a:p>
                </p:txBody>
              </p:sp>
              <p:sp>
                <p:nvSpPr>
                  <p:cNvPr id="28" name="TextBox 27"/>
                  <p:cNvSpPr txBox="1"/>
                  <p:nvPr/>
                </p:nvSpPr>
                <p:spPr>
                  <a:xfrm>
                    <a:off x="2356992" y="4780443"/>
                    <a:ext cx="445315" cy="215444"/>
                  </a:xfrm>
                  <a:prstGeom prst="rect">
                    <a:avLst/>
                  </a:prstGeom>
                  <a:noFill/>
                </p:spPr>
                <p:txBody>
                  <a:bodyPr wrap="none" lIns="0" tIns="0" rIns="0" bIns="0" rtlCol="0">
                    <a:spAutoFit/>
                  </a:bodyPr>
                  <a:lstStyle/>
                  <a:p>
                    <a:r>
                      <a:rPr lang="en-US" altLang="zh-CN" sz="1400" i="1" dirty="0" smtClean="0"/>
                      <a:t>writes</a:t>
                    </a:r>
                    <a:endParaRPr lang="zh-CN" altLang="en-US" sz="1400" i="1" dirty="0"/>
                  </a:p>
                </p:txBody>
              </p:sp>
              <p:cxnSp>
                <p:nvCxnSpPr>
                  <p:cNvPr id="29" name="直接箭头连接符 28"/>
                  <p:cNvCxnSpPr/>
                  <p:nvPr/>
                </p:nvCxnSpPr>
                <p:spPr>
                  <a:xfrm>
                    <a:off x="2570515" y="5011679"/>
                    <a:ext cx="2" cy="30224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2742499" y="5254818"/>
                    <a:ext cx="157094" cy="215444"/>
                  </a:xfrm>
                  <a:prstGeom prst="rect">
                    <a:avLst/>
                  </a:prstGeom>
                  <a:noFill/>
                </p:spPr>
                <p:txBody>
                  <a:bodyPr wrap="none" lIns="0" tIns="0" rIns="0" bIns="0" rtlCol="0">
                    <a:spAutoFit/>
                  </a:bodyPr>
                  <a:lstStyle/>
                  <a:p>
                    <a:r>
                      <a:rPr lang="en-US" altLang="zh-CN" sz="1400" dirty="0" smtClean="0"/>
                      <a:t>C</a:t>
                    </a:r>
                    <a:r>
                      <a:rPr lang="en-US" altLang="zh-CN" sz="1400" baseline="-25000" dirty="0" smtClean="0"/>
                      <a:t>0</a:t>
                    </a:r>
                    <a:endParaRPr lang="zh-CN" altLang="en-US" sz="1400" baseline="-25000" dirty="0"/>
                  </a:p>
                </p:txBody>
              </p:sp>
              <p:sp>
                <p:nvSpPr>
                  <p:cNvPr id="37" name="TextBox 36"/>
                  <p:cNvSpPr txBox="1"/>
                  <p:nvPr/>
                </p:nvSpPr>
                <p:spPr>
                  <a:xfrm>
                    <a:off x="3003004" y="5599735"/>
                    <a:ext cx="157094" cy="215444"/>
                  </a:xfrm>
                  <a:prstGeom prst="rect">
                    <a:avLst/>
                  </a:prstGeom>
                  <a:noFill/>
                </p:spPr>
                <p:txBody>
                  <a:bodyPr wrap="none" lIns="0" tIns="0" rIns="0" bIns="0" rtlCol="0">
                    <a:spAutoFit/>
                  </a:bodyPr>
                  <a:lstStyle/>
                  <a:p>
                    <a:r>
                      <a:rPr lang="en-US" altLang="zh-CN" sz="1400" dirty="0" smtClean="0"/>
                      <a:t>C</a:t>
                    </a:r>
                    <a:r>
                      <a:rPr lang="en-US" altLang="zh-CN" sz="1400" baseline="-25000" dirty="0" smtClean="0"/>
                      <a:t>1</a:t>
                    </a:r>
                    <a:endParaRPr lang="zh-CN" altLang="en-US" sz="1400" baseline="-25000" dirty="0"/>
                  </a:p>
                </p:txBody>
              </p:sp>
              <p:sp>
                <p:nvSpPr>
                  <p:cNvPr id="38" name="TextBox 37"/>
                  <p:cNvSpPr txBox="1"/>
                  <p:nvPr/>
                </p:nvSpPr>
                <p:spPr>
                  <a:xfrm>
                    <a:off x="3521737" y="6001439"/>
                    <a:ext cx="157094" cy="215444"/>
                  </a:xfrm>
                  <a:prstGeom prst="rect">
                    <a:avLst/>
                  </a:prstGeom>
                  <a:noFill/>
                </p:spPr>
                <p:txBody>
                  <a:bodyPr wrap="none" lIns="0" tIns="0" rIns="0" bIns="0" rtlCol="0">
                    <a:spAutoFit/>
                  </a:bodyPr>
                  <a:lstStyle/>
                  <a:p>
                    <a:r>
                      <a:rPr lang="en-US" altLang="zh-CN" sz="1400" dirty="0" smtClean="0"/>
                      <a:t>C</a:t>
                    </a:r>
                    <a:r>
                      <a:rPr lang="en-US" altLang="zh-CN" sz="1400" baseline="-25000" dirty="0" smtClean="0"/>
                      <a:t>2</a:t>
                    </a:r>
                    <a:endParaRPr lang="zh-CN" altLang="en-US" sz="1400" baseline="-25000" dirty="0"/>
                  </a:p>
                </p:txBody>
              </p:sp>
              <p:sp>
                <p:nvSpPr>
                  <p:cNvPr id="68" name="TextBox 67"/>
                  <p:cNvSpPr txBox="1"/>
                  <p:nvPr/>
                </p:nvSpPr>
                <p:spPr>
                  <a:xfrm>
                    <a:off x="1550684" y="6219623"/>
                    <a:ext cx="2128147" cy="369332"/>
                  </a:xfrm>
                  <a:prstGeom prst="rect">
                    <a:avLst/>
                  </a:prstGeom>
                  <a:noFill/>
                </p:spPr>
                <p:txBody>
                  <a:bodyPr wrap="none" rtlCol="0">
                    <a:spAutoFit/>
                  </a:bodyPr>
                  <a:lstStyle/>
                  <a:p>
                    <a:r>
                      <a:rPr lang="en-US" altLang="zh-CN" b="1" dirty="0">
                        <a:solidFill>
                          <a:srgbClr val="002060"/>
                        </a:solidFill>
                      </a:rPr>
                      <a:t>u</a:t>
                    </a:r>
                    <a:r>
                      <a:rPr lang="en-US" altLang="zh-CN" b="1" dirty="0" smtClean="0">
                        <a:solidFill>
                          <a:srgbClr val="002060"/>
                        </a:solidFill>
                      </a:rPr>
                      <a:t>nderlying LSM-tree</a:t>
                    </a:r>
                    <a:endParaRPr lang="zh-CN" altLang="en-US" b="1" dirty="0">
                      <a:solidFill>
                        <a:srgbClr val="002060"/>
                      </a:solidFill>
                    </a:endParaRPr>
                  </a:p>
                </p:txBody>
              </p:sp>
            </p:grpSp>
            <p:sp>
              <p:nvSpPr>
                <p:cNvPr id="35" name="TextBox 34"/>
                <p:cNvSpPr txBox="1"/>
                <p:nvPr/>
              </p:nvSpPr>
              <p:spPr>
                <a:xfrm>
                  <a:off x="1234314" y="5665733"/>
                  <a:ext cx="720967" cy="307777"/>
                </a:xfrm>
                <a:prstGeom prst="rect">
                  <a:avLst/>
                </a:prstGeom>
                <a:noFill/>
              </p:spPr>
              <p:txBody>
                <a:bodyPr wrap="none" rtlCol="0">
                  <a:spAutoFit/>
                </a:bodyPr>
                <a:lstStyle/>
                <a:p>
                  <a:r>
                    <a:rPr lang="en-US" altLang="zh-CN" sz="1400" i="1" dirty="0" smtClean="0"/>
                    <a:t>merges</a:t>
                  </a:r>
                  <a:endParaRPr lang="zh-CN" altLang="en-US" sz="1400" i="1" dirty="0"/>
                </a:p>
              </p:txBody>
            </p:sp>
          </p:grpSp>
          <p:sp>
            <p:nvSpPr>
              <p:cNvPr id="25" name="箭头 379"/>
              <p:cNvSpPr>
                <a:spLocks noChangeShapeType="1"/>
              </p:cNvSpPr>
              <p:nvPr/>
            </p:nvSpPr>
            <p:spPr bwMode="auto">
              <a:xfrm flipH="1">
                <a:off x="1856049" y="5747375"/>
                <a:ext cx="343472" cy="305747"/>
              </a:xfrm>
              <a:custGeom>
                <a:avLst/>
                <a:gdLst>
                  <a:gd name="connsiteX0" fmla="*/ 0 w 10000"/>
                  <a:gd name="connsiteY0" fmla="*/ 0 h 10000"/>
                  <a:gd name="connsiteX1" fmla="*/ 10000 w 10000"/>
                  <a:gd name="connsiteY1" fmla="*/ 10000 h 10000"/>
                  <a:gd name="connsiteX0" fmla="*/ 0 w 10000"/>
                  <a:gd name="connsiteY0" fmla="*/ 0 h 10000"/>
                  <a:gd name="connsiteX1" fmla="*/ 10000 w 10000"/>
                  <a:gd name="connsiteY1" fmla="*/ 4196 h 10000"/>
                  <a:gd name="connsiteX2" fmla="*/ 10000 w 10000"/>
                  <a:gd name="connsiteY2" fmla="*/ 10000 h 10000"/>
                  <a:gd name="connsiteX0" fmla="*/ 0 w 101010"/>
                  <a:gd name="connsiteY0" fmla="*/ 0 h 10000"/>
                  <a:gd name="connsiteX1" fmla="*/ 101010 w 101010"/>
                  <a:gd name="connsiteY1" fmla="*/ 5597 h 10000"/>
                  <a:gd name="connsiteX2" fmla="*/ 10000 w 101010"/>
                  <a:gd name="connsiteY2" fmla="*/ 10000 h 10000"/>
                  <a:gd name="connsiteX0" fmla="*/ 0 w 101031"/>
                  <a:gd name="connsiteY0" fmla="*/ 0 h 10000"/>
                  <a:gd name="connsiteX1" fmla="*/ 101010 w 101031"/>
                  <a:gd name="connsiteY1" fmla="*/ 5597 h 10000"/>
                  <a:gd name="connsiteX2" fmla="*/ 10000 w 101031"/>
                  <a:gd name="connsiteY2" fmla="*/ 10000 h 10000"/>
                  <a:gd name="connsiteX0" fmla="*/ 0 w 101031"/>
                  <a:gd name="connsiteY0" fmla="*/ 0 h 10000"/>
                  <a:gd name="connsiteX1" fmla="*/ 101010 w 101031"/>
                  <a:gd name="connsiteY1" fmla="*/ 4396 h 10000"/>
                  <a:gd name="connsiteX2" fmla="*/ 10000 w 101031"/>
                  <a:gd name="connsiteY2" fmla="*/ 10000 h 10000"/>
                  <a:gd name="connsiteX0" fmla="*/ 0 w 270965"/>
                  <a:gd name="connsiteY0" fmla="*/ 0 h 9600"/>
                  <a:gd name="connsiteX1" fmla="*/ 266483 w 270965"/>
                  <a:gd name="connsiteY1" fmla="*/ 3996 h 9600"/>
                  <a:gd name="connsiteX2" fmla="*/ 175473 w 270965"/>
                  <a:gd name="connsiteY2" fmla="*/ 9600 h 9600"/>
                  <a:gd name="connsiteX0" fmla="*/ 0 w 7173"/>
                  <a:gd name="connsiteY0" fmla="*/ 0 h 10000"/>
                  <a:gd name="connsiteX1" fmla="*/ 6782 w 7173"/>
                  <a:gd name="connsiteY1" fmla="*/ 3329 h 10000"/>
                  <a:gd name="connsiteX2" fmla="*/ 6476 w 7173"/>
                  <a:gd name="connsiteY2" fmla="*/ 10000 h 10000"/>
                  <a:gd name="connsiteX0" fmla="*/ 0 w 10912"/>
                  <a:gd name="connsiteY0" fmla="*/ 0 h 9444"/>
                  <a:gd name="connsiteX1" fmla="*/ 10306 w 10912"/>
                  <a:gd name="connsiteY1" fmla="*/ 2773 h 9444"/>
                  <a:gd name="connsiteX2" fmla="*/ 9879 w 10912"/>
                  <a:gd name="connsiteY2" fmla="*/ 9444 h 9444"/>
                  <a:gd name="connsiteX0" fmla="*/ 0 w 9244"/>
                  <a:gd name="connsiteY0" fmla="*/ 0 h 10000"/>
                  <a:gd name="connsiteX1" fmla="*/ 8405 w 9244"/>
                  <a:gd name="connsiteY1" fmla="*/ 2642 h 10000"/>
                  <a:gd name="connsiteX2" fmla="*/ 9053 w 9244"/>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9700"/>
                  <a:gd name="connsiteY0" fmla="*/ 0 h 10589"/>
                  <a:gd name="connsiteX1" fmla="*/ 8811 w 9700"/>
                  <a:gd name="connsiteY1" fmla="*/ 3231 h 10589"/>
                  <a:gd name="connsiteX2" fmla="*/ 9512 w 9700"/>
                  <a:gd name="connsiteY2" fmla="*/ 10589 h 10589"/>
                  <a:gd name="connsiteX0" fmla="*/ 0 w 10000"/>
                  <a:gd name="connsiteY0" fmla="*/ 0 h 10000"/>
                  <a:gd name="connsiteX1" fmla="*/ 9084 w 10000"/>
                  <a:gd name="connsiteY1" fmla="*/ 3051 h 10000"/>
                  <a:gd name="connsiteX2" fmla="*/ 9806 w 10000"/>
                  <a:gd name="connsiteY2" fmla="*/ 10000 h 10000"/>
                  <a:gd name="connsiteX0" fmla="*/ 0 w 10000"/>
                  <a:gd name="connsiteY0" fmla="*/ 0 h 10000"/>
                  <a:gd name="connsiteX1" fmla="*/ 9084 w 10000"/>
                  <a:gd name="connsiteY1" fmla="*/ 3051 h 10000"/>
                  <a:gd name="connsiteX2" fmla="*/ 9806 w 10000"/>
                  <a:gd name="connsiteY2" fmla="*/ 10000 h 10000"/>
                  <a:gd name="connsiteX0" fmla="*/ 0 w 10386"/>
                  <a:gd name="connsiteY0" fmla="*/ 0 h 10973"/>
                  <a:gd name="connsiteX1" fmla="*/ 9084 w 10386"/>
                  <a:gd name="connsiteY1" fmla="*/ 3051 h 10973"/>
                  <a:gd name="connsiteX2" fmla="*/ 10386 w 10386"/>
                  <a:gd name="connsiteY2" fmla="*/ 10973 h 10973"/>
                  <a:gd name="connsiteX0" fmla="*/ 0 w 10414"/>
                  <a:gd name="connsiteY0" fmla="*/ 0 h 10973"/>
                  <a:gd name="connsiteX1" fmla="*/ 9084 w 10414"/>
                  <a:gd name="connsiteY1" fmla="*/ 3051 h 10973"/>
                  <a:gd name="connsiteX2" fmla="*/ 10290 w 10414"/>
                  <a:gd name="connsiteY2" fmla="*/ 6669 h 10973"/>
                  <a:gd name="connsiteX3" fmla="*/ 10386 w 10414"/>
                  <a:gd name="connsiteY3" fmla="*/ 10973 h 10973"/>
                  <a:gd name="connsiteX0" fmla="*/ 0 w 10641"/>
                  <a:gd name="connsiteY0" fmla="*/ 0 h 10973"/>
                  <a:gd name="connsiteX1" fmla="*/ 9084 w 10641"/>
                  <a:gd name="connsiteY1" fmla="*/ 3051 h 10973"/>
                  <a:gd name="connsiteX2" fmla="*/ 10580 w 10641"/>
                  <a:gd name="connsiteY2" fmla="*/ 6113 h 10973"/>
                  <a:gd name="connsiteX3" fmla="*/ 10386 w 10641"/>
                  <a:gd name="connsiteY3" fmla="*/ 10973 h 10973"/>
                  <a:gd name="connsiteX0" fmla="*/ 0 w 10641"/>
                  <a:gd name="connsiteY0" fmla="*/ 0 h 10973"/>
                  <a:gd name="connsiteX1" fmla="*/ 7924 w 10641"/>
                  <a:gd name="connsiteY1" fmla="*/ 2634 h 10973"/>
                  <a:gd name="connsiteX2" fmla="*/ 10580 w 10641"/>
                  <a:gd name="connsiteY2" fmla="*/ 6113 h 10973"/>
                  <a:gd name="connsiteX3" fmla="*/ 10386 w 10641"/>
                  <a:gd name="connsiteY3" fmla="*/ 10973 h 10973"/>
                  <a:gd name="connsiteX0" fmla="*/ 0 w 11801"/>
                  <a:gd name="connsiteY0" fmla="*/ 0 h 10973"/>
                  <a:gd name="connsiteX1" fmla="*/ 9084 w 11801"/>
                  <a:gd name="connsiteY1" fmla="*/ 2634 h 10973"/>
                  <a:gd name="connsiteX2" fmla="*/ 11740 w 11801"/>
                  <a:gd name="connsiteY2" fmla="*/ 6113 h 10973"/>
                  <a:gd name="connsiteX3" fmla="*/ 11546 w 11801"/>
                  <a:gd name="connsiteY3" fmla="*/ 10973 h 10973"/>
                  <a:gd name="connsiteX0" fmla="*/ 0 w 11801"/>
                  <a:gd name="connsiteY0" fmla="*/ 0 h 10973"/>
                  <a:gd name="connsiteX1" fmla="*/ 9084 w 11801"/>
                  <a:gd name="connsiteY1" fmla="*/ 2634 h 10973"/>
                  <a:gd name="connsiteX2" fmla="*/ 11740 w 11801"/>
                  <a:gd name="connsiteY2" fmla="*/ 6113 h 10973"/>
                  <a:gd name="connsiteX3" fmla="*/ 11546 w 11801"/>
                  <a:gd name="connsiteY3" fmla="*/ 10973 h 10973"/>
                  <a:gd name="connsiteX0" fmla="*/ 0 w 11546"/>
                  <a:gd name="connsiteY0" fmla="*/ 0 h 10973"/>
                  <a:gd name="connsiteX1" fmla="*/ 9084 w 11546"/>
                  <a:gd name="connsiteY1" fmla="*/ 2634 h 10973"/>
                  <a:gd name="connsiteX2" fmla="*/ 11546 w 11546"/>
                  <a:gd name="connsiteY2" fmla="*/ 10973 h 10973"/>
                  <a:gd name="connsiteX0" fmla="*/ 0 w 11911"/>
                  <a:gd name="connsiteY0" fmla="*/ 0 h 7741"/>
                  <a:gd name="connsiteX1" fmla="*/ 9084 w 11911"/>
                  <a:gd name="connsiteY1" fmla="*/ 2634 h 7741"/>
                  <a:gd name="connsiteX2" fmla="*/ 11911 w 11911"/>
                  <a:gd name="connsiteY2" fmla="*/ 7741 h 7741"/>
                  <a:gd name="connsiteX0" fmla="*/ 0 w 10000"/>
                  <a:gd name="connsiteY0" fmla="*/ 0 h 10000"/>
                  <a:gd name="connsiteX1" fmla="*/ 6809 w 10000"/>
                  <a:gd name="connsiteY1" fmla="*/ 2595 h 10000"/>
                  <a:gd name="connsiteX2" fmla="*/ 10000 w 10000"/>
                  <a:gd name="connsiteY2" fmla="*/ 10000 h 10000"/>
                  <a:gd name="connsiteX0" fmla="*/ 0 w 9898"/>
                  <a:gd name="connsiteY0" fmla="*/ 0 h 10404"/>
                  <a:gd name="connsiteX1" fmla="*/ 6707 w 9898"/>
                  <a:gd name="connsiteY1" fmla="*/ 2999 h 10404"/>
                  <a:gd name="connsiteX2" fmla="*/ 9898 w 9898"/>
                  <a:gd name="connsiteY2" fmla="*/ 10404 h 10404"/>
                  <a:gd name="connsiteX0" fmla="*/ 0 w 10000"/>
                  <a:gd name="connsiteY0" fmla="*/ 0 h 10388"/>
                  <a:gd name="connsiteX1" fmla="*/ 6776 w 10000"/>
                  <a:gd name="connsiteY1" fmla="*/ 2883 h 10388"/>
                  <a:gd name="connsiteX2" fmla="*/ 10000 w 10000"/>
                  <a:gd name="connsiteY2" fmla="*/ 10388 h 10388"/>
                  <a:gd name="connsiteX0" fmla="*/ 0 w 9311"/>
                  <a:gd name="connsiteY0" fmla="*/ 0 h 10388"/>
                  <a:gd name="connsiteX1" fmla="*/ 6087 w 9311"/>
                  <a:gd name="connsiteY1" fmla="*/ 2883 h 10388"/>
                  <a:gd name="connsiteX2" fmla="*/ 9311 w 9311"/>
                  <a:gd name="connsiteY2" fmla="*/ 10388 h 10388"/>
                </a:gdLst>
                <a:ahLst/>
                <a:cxnLst>
                  <a:cxn ang="0">
                    <a:pos x="connsiteX0" y="connsiteY0"/>
                  </a:cxn>
                  <a:cxn ang="0">
                    <a:pos x="connsiteX1" y="connsiteY1"/>
                  </a:cxn>
                  <a:cxn ang="0">
                    <a:pos x="connsiteX2" y="connsiteY2"/>
                  </a:cxn>
                </a:cxnLst>
                <a:rect l="l" t="t" r="r" b="b"/>
                <a:pathLst>
                  <a:path w="9311" h="10388">
                    <a:moveTo>
                      <a:pt x="0" y="0"/>
                    </a:moveTo>
                    <a:cubicBezTo>
                      <a:pt x="3470" y="688"/>
                      <a:pt x="4535" y="1152"/>
                      <a:pt x="6087" y="2883"/>
                    </a:cubicBezTo>
                    <a:cubicBezTo>
                      <a:pt x="7639" y="4614"/>
                      <a:pt x="8876" y="8231"/>
                      <a:pt x="9311" y="10388"/>
                    </a:cubicBezTo>
                  </a:path>
                </a:pathLst>
              </a:custGeom>
              <a:noFill/>
              <a:ln w="12700" cap="flat"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a:solidFill>
                    <a:prstClr val="black"/>
                  </a:solidFill>
                </a:endParaRPr>
              </a:p>
            </p:txBody>
          </p:sp>
        </p:grpSp>
        <p:sp>
          <p:nvSpPr>
            <p:cNvPr id="26" name="箭头 379"/>
            <p:cNvSpPr>
              <a:spLocks noChangeShapeType="1"/>
            </p:cNvSpPr>
            <p:nvPr/>
          </p:nvSpPr>
          <p:spPr bwMode="auto">
            <a:xfrm flipH="1">
              <a:off x="2239793" y="5418719"/>
              <a:ext cx="215052" cy="273956"/>
            </a:xfrm>
            <a:custGeom>
              <a:avLst/>
              <a:gdLst>
                <a:gd name="connsiteX0" fmla="*/ 0 w 10000"/>
                <a:gd name="connsiteY0" fmla="*/ 0 h 10000"/>
                <a:gd name="connsiteX1" fmla="*/ 10000 w 10000"/>
                <a:gd name="connsiteY1" fmla="*/ 10000 h 10000"/>
                <a:gd name="connsiteX0" fmla="*/ 0 w 10000"/>
                <a:gd name="connsiteY0" fmla="*/ 0 h 10000"/>
                <a:gd name="connsiteX1" fmla="*/ 10000 w 10000"/>
                <a:gd name="connsiteY1" fmla="*/ 4196 h 10000"/>
                <a:gd name="connsiteX2" fmla="*/ 10000 w 10000"/>
                <a:gd name="connsiteY2" fmla="*/ 10000 h 10000"/>
                <a:gd name="connsiteX0" fmla="*/ 0 w 101010"/>
                <a:gd name="connsiteY0" fmla="*/ 0 h 10000"/>
                <a:gd name="connsiteX1" fmla="*/ 101010 w 101010"/>
                <a:gd name="connsiteY1" fmla="*/ 5597 h 10000"/>
                <a:gd name="connsiteX2" fmla="*/ 10000 w 101010"/>
                <a:gd name="connsiteY2" fmla="*/ 10000 h 10000"/>
                <a:gd name="connsiteX0" fmla="*/ 0 w 101031"/>
                <a:gd name="connsiteY0" fmla="*/ 0 h 10000"/>
                <a:gd name="connsiteX1" fmla="*/ 101010 w 101031"/>
                <a:gd name="connsiteY1" fmla="*/ 5597 h 10000"/>
                <a:gd name="connsiteX2" fmla="*/ 10000 w 101031"/>
                <a:gd name="connsiteY2" fmla="*/ 10000 h 10000"/>
                <a:gd name="connsiteX0" fmla="*/ 0 w 101031"/>
                <a:gd name="connsiteY0" fmla="*/ 0 h 10000"/>
                <a:gd name="connsiteX1" fmla="*/ 101010 w 101031"/>
                <a:gd name="connsiteY1" fmla="*/ 4396 h 10000"/>
                <a:gd name="connsiteX2" fmla="*/ 10000 w 101031"/>
                <a:gd name="connsiteY2" fmla="*/ 10000 h 10000"/>
                <a:gd name="connsiteX0" fmla="*/ 0 w 270965"/>
                <a:gd name="connsiteY0" fmla="*/ 0 h 9600"/>
                <a:gd name="connsiteX1" fmla="*/ 266483 w 270965"/>
                <a:gd name="connsiteY1" fmla="*/ 3996 h 9600"/>
                <a:gd name="connsiteX2" fmla="*/ 175473 w 270965"/>
                <a:gd name="connsiteY2" fmla="*/ 9600 h 9600"/>
                <a:gd name="connsiteX0" fmla="*/ 0 w 7173"/>
                <a:gd name="connsiteY0" fmla="*/ 0 h 10000"/>
                <a:gd name="connsiteX1" fmla="*/ 6782 w 7173"/>
                <a:gd name="connsiteY1" fmla="*/ 3329 h 10000"/>
                <a:gd name="connsiteX2" fmla="*/ 6476 w 7173"/>
                <a:gd name="connsiteY2" fmla="*/ 10000 h 10000"/>
                <a:gd name="connsiteX0" fmla="*/ 0 w 10912"/>
                <a:gd name="connsiteY0" fmla="*/ 0 h 9444"/>
                <a:gd name="connsiteX1" fmla="*/ 10306 w 10912"/>
                <a:gd name="connsiteY1" fmla="*/ 2773 h 9444"/>
                <a:gd name="connsiteX2" fmla="*/ 9879 w 10912"/>
                <a:gd name="connsiteY2" fmla="*/ 9444 h 9444"/>
                <a:gd name="connsiteX0" fmla="*/ 0 w 9244"/>
                <a:gd name="connsiteY0" fmla="*/ 0 h 10000"/>
                <a:gd name="connsiteX1" fmla="*/ 8405 w 9244"/>
                <a:gd name="connsiteY1" fmla="*/ 2642 h 10000"/>
                <a:gd name="connsiteX2" fmla="*/ 9053 w 9244"/>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9700"/>
                <a:gd name="connsiteY0" fmla="*/ 0 h 10589"/>
                <a:gd name="connsiteX1" fmla="*/ 8811 w 9700"/>
                <a:gd name="connsiteY1" fmla="*/ 3231 h 10589"/>
                <a:gd name="connsiteX2" fmla="*/ 9512 w 9700"/>
                <a:gd name="connsiteY2" fmla="*/ 10589 h 10589"/>
                <a:gd name="connsiteX0" fmla="*/ 0 w 10000"/>
                <a:gd name="connsiteY0" fmla="*/ 0 h 10000"/>
                <a:gd name="connsiteX1" fmla="*/ 9084 w 10000"/>
                <a:gd name="connsiteY1" fmla="*/ 3051 h 10000"/>
                <a:gd name="connsiteX2" fmla="*/ 9806 w 10000"/>
                <a:gd name="connsiteY2" fmla="*/ 10000 h 10000"/>
                <a:gd name="connsiteX0" fmla="*/ 0 w 10000"/>
                <a:gd name="connsiteY0" fmla="*/ 0 h 10000"/>
                <a:gd name="connsiteX1" fmla="*/ 9084 w 10000"/>
                <a:gd name="connsiteY1" fmla="*/ 3051 h 10000"/>
                <a:gd name="connsiteX2" fmla="*/ 9806 w 10000"/>
                <a:gd name="connsiteY2" fmla="*/ 10000 h 10000"/>
                <a:gd name="connsiteX0" fmla="*/ 0 w 10386"/>
                <a:gd name="connsiteY0" fmla="*/ 0 h 10973"/>
                <a:gd name="connsiteX1" fmla="*/ 9084 w 10386"/>
                <a:gd name="connsiteY1" fmla="*/ 3051 h 10973"/>
                <a:gd name="connsiteX2" fmla="*/ 10386 w 10386"/>
                <a:gd name="connsiteY2" fmla="*/ 10973 h 10973"/>
                <a:gd name="connsiteX0" fmla="*/ 0 w 10414"/>
                <a:gd name="connsiteY0" fmla="*/ 0 h 10973"/>
                <a:gd name="connsiteX1" fmla="*/ 9084 w 10414"/>
                <a:gd name="connsiteY1" fmla="*/ 3051 h 10973"/>
                <a:gd name="connsiteX2" fmla="*/ 10290 w 10414"/>
                <a:gd name="connsiteY2" fmla="*/ 6669 h 10973"/>
                <a:gd name="connsiteX3" fmla="*/ 10386 w 10414"/>
                <a:gd name="connsiteY3" fmla="*/ 10973 h 10973"/>
                <a:gd name="connsiteX0" fmla="*/ 0 w 10641"/>
                <a:gd name="connsiteY0" fmla="*/ 0 h 10973"/>
                <a:gd name="connsiteX1" fmla="*/ 9084 w 10641"/>
                <a:gd name="connsiteY1" fmla="*/ 3051 h 10973"/>
                <a:gd name="connsiteX2" fmla="*/ 10580 w 10641"/>
                <a:gd name="connsiteY2" fmla="*/ 6113 h 10973"/>
                <a:gd name="connsiteX3" fmla="*/ 10386 w 10641"/>
                <a:gd name="connsiteY3" fmla="*/ 10973 h 10973"/>
                <a:gd name="connsiteX0" fmla="*/ 0 w 10641"/>
                <a:gd name="connsiteY0" fmla="*/ 0 h 10973"/>
                <a:gd name="connsiteX1" fmla="*/ 7924 w 10641"/>
                <a:gd name="connsiteY1" fmla="*/ 2634 h 10973"/>
                <a:gd name="connsiteX2" fmla="*/ 10580 w 10641"/>
                <a:gd name="connsiteY2" fmla="*/ 6113 h 10973"/>
                <a:gd name="connsiteX3" fmla="*/ 10386 w 10641"/>
                <a:gd name="connsiteY3" fmla="*/ 10973 h 10973"/>
                <a:gd name="connsiteX0" fmla="*/ 0 w 11801"/>
                <a:gd name="connsiteY0" fmla="*/ 0 h 10973"/>
                <a:gd name="connsiteX1" fmla="*/ 9084 w 11801"/>
                <a:gd name="connsiteY1" fmla="*/ 2634 h 10973"/>
                <a:gd name="connsiteX2" fmla="*/ 11740 w 11801"/>
                <a:gd name="connsiteY2" fmla="*/ 6113 h 10973"/>
                <a:gd name="connsiteX3" fmla="*/ 11546 w 11801"/>
                <a:gd name="connsiteY3" fmla="*/ 10973 h 10973"/>
                <a:gd name="connsiteX0" fmla="*/ 0 w 11801"/>
                <a:gd name="connsiteY0" fmla="*/ 0 h 10973"/>
                <a:gd name="connsiteX1" fmla="*/ 9084 w 11801"/>
                <a:gd name="connsiteY1" fmla="*/ 2634 h 10973"/>
                <a:gd name="connsiteX2" fmla="*/ 11740 w 11801"/>
                <a:gd name="connsiteY2" fmla="*/ 6113 h 10973"/>
                <a:gd name="connsiteX3" fmla="*/ 11546 w 11801"/>
                <a:gd name="connsiteY3" fmla="*/ 10973 h 10973"/>
                <a:gd name="connsiteX0" fmla="*/ 0 w 11546"/>
                <a:gd name="connsiteY0" fmla="*/ 0 h 10973"/>
                <a:gd name="connsiteX1" fmla="*/ 9084 w 11546"/>
                <a:gd name="connsiteY1" fmla="*/ 2634 h 10973"/>
                <a:gd name="connsiteX2" fmla="*/ 11546 w 11546"/>
                <a:gd name="connsiteY2" fmla="*/ 10973 h 10973"/>
                <a:gd name="connsiteX0" fmla="*/ 0 w 11546"/>
                <a:gd name="connsiteY0" fmla="*/ 0 h 8367"/>
                <a:gd name="connsiteX1" fmla="*/ 9084 w 11546"/>
                <a:gd name="connsiteY1" fmla="*/ 2634 h 8367"/>
                <a:gd name="connsiteX2" fmla="*/ 11546 w 11546"/>
                <a:gd name="connsiteY2" fmla="*/ 8367 h 8367"/>
                <a:gd name="connsiteX0" fmla="*/ 0 w 10000"/>
                <a:gd name="connsiteY0" fmla="*/ 0 h 10000"/>
                <a:gd name="connsiteX1" fmla="*/ 6978 w 10000"/>
                <a:gd name="connsiteY1" fmla="*/ 3397 h 10000"/>
                <a:gd name="connsiteX2" fmla="*/ 10000 w 10000"/>
                <a:gd name="connsiteY2" fmla="*/ 10000 h 10000"/>
                <a:gd name="connsiteX0" fmla="*/ 0 w 10297"/>
                <a:gd name="connsiteY0" fmla="*/ 0 h 11744"/>
                <a:gd name="connsiteX1" fmla="*/ 6978 w 10297"/>
                <a:gd name="connsiteY1" fmla="*/ 3397 h 11744"/>
                <a:gd name="connsiteX2" fmla="*/ 10297 w 10297"/>
                <a:gd name="connsiteY2" fmla="*/ 11744 h 11744"/>
                <a:gd name="connsiteX0" fmla="*/ 0 w 9424"/>
                <a:gd name="connsiteY0" fmla="*/ 0 h 10425"/>
                <a:gd name="connsiteX1" fmla="*/ 6978 w 9424"/>
                <a:gd name="connsiteY1" fmla="*/ 3397 h 10425"/>
                <a:gd name="connsiteX2" fmla="*/ 9424 w 9424"/>
                <a:gd name="connsiteY2" fmla="*/ 10425 h 10425"/>
                <a:gd name="connsiteX0" fmla="*/ 0 w 9259"/>
                <a:gd name="connsiteY0" fmla="*/ 0 h 9297"/>
                <a:gd name="connsiteX1" fmla="*/ 6663 w 9259"/>
                <a:gd name="connsiteY1" fmla="*/ 2556 h 9297"/>
                <a:gd name="connsiteX2" fmla="*/ 9259 w 9259"/>
                <a:gd name="connsiteY2" fmla="*/ 9297 h 9297"/>
                <a:gd name="connsiteX0" fmla="*/ 0 w 9600"/>
                <a:gd name="connsiteY0" fmla="*/ 0 h 9244"/>
                <a:gd name="connsiteX1" fmla="*/ 7196 w 9600"/>
                <a:gd name="connsiteY1" fmla="*/ 2749 h 9244"/>
                <a:gd name="connsiteX2" fmla="*/ 9600 w 9600"/>
                <a:gd name="connsiteY2" fmla="*/ 9244 h 9244"/>
                <a:gd name="connsiteX0" fmla="*/ 0 w 10000"/>
                <a:gd name="connsiteY0" fmla="*/ 0 h 10000"/>
                <a:gd name="connsiteX1" fmla="*/ 6871 w 10000"/>
                <a:gd name="connsiteY1" fmla="*/ 2974 h 10000"/>
                <a:gd name="connsiteX2" fmla="*/ 10000 w 10000"/>
                <a:gd name="connsiteY2" fmla="*/ 10000 h 10000"/>
              </a:gdLst>
              <a:ahLst/>
              <a:cxnLst>
                <a:cxn ang="0">
                  <a:pos x="connsiteX0" y="connsiteY0"/>
                </a:cxn>
                <a:cxn ang="0">
                  <a:pos x="connsiteX1" y="connsiteY1"/>
                </a:cxn>
                <a:cxn ang="0">
                  <a:pos x="connsiteX2" y="connsiteY2"/>
                </a:cxn>
              </a:cxnLst>
              <a:rect l="l" t="t" r="r" b="b"/>
              <a:pathLst>
                <a:path w="10000" h="10000">
                  <a:moveTo>
                    <a:pt x="0" y="0"/>
                  </a:moveTo>
                  <a:cubicBezTo>
                    <a:pt x="4230" y="739"/>
                    <a:pt x="5204" y="1307"/>
                    <a:pt x="6871" y="2974"/>
                  </a:cubicBezTo>
                  <a:cubicBezTo>
                    <a:pt x="8538" y="4641"/>
                    <a:pt x="9470" y="7683"/>
                    <a:pt x="10000" y="10000"/>
                  </a:cubicBezTo>
                </a:path>
              </a:pathLst>
            </a:custGeom>
            <a:noFill/>
            <a:ln w="12700" cap="flat"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prstClr val="black"/>
                </a:solidFill>
              </a:endParaRPr>
            </a:p>
          </p:txBody>
        </p:sp>
      </p:grpSp>
      <p:grpSp>
        <p:nvGrpSpPr>
          <p:cNvPr id="9" name="组合 8"/>
          <p:cNvGrpSpPr/>
          <p:nvPr/>
        </p:nvGrpSpPr>
        <p:grpSpPr>
          <a:xfrm>
            <a:off x="5243120" y="5546720"/>
            <a:ext cx="2881706" cy="1011457"/>
            <a:chOff x="5243120" y="5546720"/>
            <a:chExt cx="2881706" cy="1011457"/>
          </a:xfrm>
        </p:grpSpPr>
        <p:sp>
          <p:nvSpPr>
            <p:cNvPr id="10" name="AutoShape 4"/>
            <p:cNvSpPr>
              <a:spLocks noChangeArrowheads="1"/>
            </p:cNvSpPr>
            <p:nvPr/>
          </p:nvSpPr>
          <p:spPr bwMode="auto">
            <a:xfrm>
              <a:off x="5243120" y="5546720"/>
              <a:ext cx="2881706" cy="689681"/>
            </a:xfrm>
            <a:prstGeom prst="triangle">
              <a:avLst>
                <a:gd name="adj" fmla="val 50000"/>
              </a:avLst>
            </a:prstGeom>
            <a:solidFill>
              <a:schemeClr val="bg1">
                <a:lumMod val="75000"/>
              </a:schemeClr>
            </a:solidFill>
            <a:ln w="9525" cap="flat" cmpd="sng">
              <a:noFill/>
              <a:prstDash val="lgDashDotDot"/>
              <a:miter lim="800000"/>
              <a:headEnd/>
              <a:tailEnd/>
            </a:ln>
            <a:effectLst/>
            <a:extLst/>
          </p:spPr>
          <p:txBody>
            <a:bodyPr wrap="none" anchor="ctr"/>
            <a:lstStyle/>
            <a:p>
              <a:pPr algn="ctr"/>
              <a:endParaRPr lang="en-US" altLang="zh-CN" dirty="0">
                <a:solidFill>
                  <a:prstClr val="black"/>
                </a:solidFill>
              </a:endParaRPr>
            </a:p>
            <a:p>
              <a:pPr algn="ctr"/>
              <a:endParaRPr lang="en-US" altLang="zh-CN" dirty="0">
                <a:solidFill>
                  <a:prstClr val="black"/>
                </a:solidFill>
              </a:endParaRPr>
            </a:p>
            <a:p>
              <a:pPr algn="ctr"/>
              <a:endParaRPr lang="en-US" altLang="zh-CN" dirty="0">
                <a:solidFill>
                  <a:prstClr val="black"/>
                </a:solidFill>
              </a:endParaRPr>
            </a:p>
            <a:p>
              <a:pPr algn="ctr"/>
              <a:endParaRPr lang="en-US" altLang="zh-CN" dirty="0">
                <a:solidFill>
                  <a:prstClr val="black"/>
                </a:solidFill>
              </a:endParaRPr>
            </a:p>
            <a:p>
              <a:pPr algn="ctr"/>
              <a:endParaRPr lang="en-US" altLang="zh-CN" dirty="0">
                <a:solidFill>
                  <a:prstClr val="black"/>
                </a:solidFill>
              </a:endParaRPr>
            </a:p>
            <a:p>
              <a:pPr algn="ctr"/>
              <a:endParaRPr lang="en-US" altLang="zh-CN" dirty="0">
                <a:solidFill>
                  <a:prstClr val="black"/>
                </a:solidFill>
              </a:endParaRPr>
            </a:p>
            <a:p>
              <a:pPr algn="ctr"/>
              <a:endParaRPr lang="en-US" altLang="zh-CN" dirty="0">
                <a:solidFill>
                  <a:prstClr val="black"/>
                </a:solidFill>
              </a:endParaRPr>
            </a:p>
            <a:p>
              <a:pPr algn="ctr"/>
              <a:endParaRPr lang="en-US" altLang="zh-CN" dirty="0">
                <a:solidFill>
                  <a:prstClr val="black"/>
                </a:solidFill>
              </a:endParaRPr>
            </a:p>
          </p:txBody>
        </p:sp>
        <p:sp>
          <p:nvSpPr>
            <p:cNvPr id="15" name="Rectangle 9"/>
            <p:cNvSpPr>
              <a:spLocks noChangeArrowheads="1"/>
            </p:cNvSpPr>
            <p:nvPr/>
          </p:nvSpPr>
          <p:spPr bwMode="auto">
            <a:xfrm>
              <a:off x="6149941" y="6053122"/>
              <a:ext cx="365760" cy="109378"/>
            </a:xfrm>
            <a:prstGeom prst="rect">
              <a:avLst/>
            </a:prstGeom>
            <a:solidFill>
              <a:srgbClr val="00B050"/>
            </a:solidFill>
            <a:ln w="9525" cap="flat" cmpd="sng">
              <a:solidFill>
                <a:schemeClr val="tx1"/>
              </a:solidFill>
              <a:miter lim="800000"/>
              <a:headEnd/>
              <a:tailEnd/>
            </a:ln>
            <a:effectLst/>
            <a:extLst/>
          </p:spPr>
          <p:txBody>
            <a:bodyPr wrap="none" anchor="ctr"/>
            <a:lstStyle/>
            <a:p>
              <a:endParaRPr lang="zh-CN" altLang="en-US">
                <a:solidFill>
                  <a:prstClr val="black"/>
                </a:solidFill>
              </a:endParaRPr>
            </a:p>
          </p:txBody>
        </p:sp>
        <p:sp>
          <p:nvSpPr>
            <p:cNvPr id="16" name="Rectangle 10"/>
            <p:cNvSpPr>
              <a:spLocks noChangeArrowheads="1"/>
            </p:cNvSpPr>
            <p:nvPr/>
          </p:nvSpPr>
          <p:spPr bwMode="auto">
            <a:xfrm>
              <a:off x="6383419" y="5705299"/>
              <a:ext cx="182880" cy="114321"/>
            </a:xfrm>
            <a:prstGeom prst="rect">
              <a:avLst/>
            </a:prstGeom>
            <a:solidFill>
              <a:srgbClr val="00B050"/>
            </a:solidFill>
            <a:ln w="9525" cap="flat" cmpd="sng">
              <a:solidFill>
                <a:schemeClr val="tx1"/>
              </a:solidFill>
              <a:miter lim="800000"/>
              <a:headEnd/>
              <a:tailEnd/>
            </a:ln>
            <a:effectLst/>
            <a:extLst/>
          </p:spPr>
          <p:txBody>
            <a:bodyPr wrap="none" anchor="ctr"/>
            <a:lstStyle/>
            <a:p>
              <a:endParaRPr lang="zh-CN" altLang="en-US">
                <a:solidFill>
                  <a:prstClr val="black"/>
                </a:solidFill>
              </a:endParaRPr>
            </a:p>
          </p:txBody>
        </p:sp>
        <p:sp>
          <p:nvSpPr>
            <p:cNvPr id="17" name="Rectangle 10"/>
            <p:cNvSpPr>
              <a:spLocks noChangeArrowheads="1"/>
            </p:cNvSpPr>
            <p:nvPr/>
          </p:nvSpPr>
          <p:spPr bwMode="auto">
            <a:xfrm>
              <a:off x="6600783" y="5705299"/>
              <a:ext cx="182880" cy="114321"/>
            </a:xfrm>
            <a:prstGeom prst="rect">
              <a:avLst/>
            </a:prstGeom>
            <a:solidFill>
              <a:srgbClr val="00B050"/>
            </a:solidFill>
            <a:ln w="9525" cap="flat" cmpd="sng">
              <a:solidFill>
                <a:schemeClr val="tx1"/>
              </a:solidFill>
              <a:miter lim="800000"/>
              <a:headEnd/>
              <a:tailEnd/>
            </a:ln>
            <a:effectLst/>
            <a:extLst/>
          </p:spPr>
          <p:txBody>
            <a:bodyPr wrap="none" anchor="ctr"/>
            <a:lstStyle/>
            <a:p>
              <a:endParaRPr lang="zh-CN" altLang="en-US">
                <a:solidFill>
                  <a:prstClr val="black"/>
                </a:solidFill>
              </a:endParaRPr>
            </a:p>
          </p:txBody>
        </p:sp>
        <p:sp>
          <p:nvSpPr>
            <p:cNvPr id="18" name="Rectangle 10"/>
            <p:cNvSpPr>
              <a:spLocks noChangeArrowheads="1"/>
            </p:cNvSpPr>
            <p:nvPr/>
          </p:nvSpPr>
          <p:spPr bwMode="auto">
            <a:xfrm>
              <a:off x="6817322" y="5705299"/>
              <a:ext cx="182880" cy="114321"/>
            </a:xfrm>
            <a:prstGeom prst="rect">
              <a:avLst/>
            </a:prstGeom>
            <a:solidFill>
              <a:srgbClr val="00B050"/>
            </a:solidFill>
            <a:ln w="9525" cap="flat" cmpd="sng">
              <a:solidFill>
                <a:schemeClr val="tx1"/>
              </a:solidFill>
              <a:miter lim="800000"/>
              <a:headEnd/>
              <a:tailEnd/>
            </a:ln>
            <a:effectLst/>
            <a:extLst/>
          </p:spPr>
          <p:txBody>
            <a:bodyPr wrap="none" anchor="ctr"/>
            <a:lstStyle/>
            <a:p>
              <a:endParaRPr lang="zh-CN" altLang="en-US">
                <a:solidFill>
                  <a:prstClr val="black"/>
                </a:solidFill>
              </a:endParaRPr>
            </a:p>
          </p:txBody>
        </p:sp>
        <p:sp>
          <p:nvSpPr>
            <p:cNvPr id="20" name="Rectangle 9"/>
            <p:cNvSpPr>
              <a:spLocks noChangeArrowheads="1"/>
            </p:cNvSpPr>
            <p:nvPr/>
          </p:nvSpPr>
          <p:spPr bwMode="auto">
            <a:xfrm>
              <a:off x="6548937" y="6053122"/>
              <a:ext cx="365760" cy="109378"/>
            </a:xfrm>
            <a:prstGeom prst="rect">
              <a:avLst/>
            </a:prstGeom>
            <a:solidFill>
              <a:srgbClr val="00B050"/>
            </a:solidFill>
            <a:ln w="9525" cap="flat" cmpd="sng">
              <a:solidFill>
                <a:schemeClr val="tx1"/>
              </a:solidFill>
              <a:miter lim="800000"/>
              <a:headEnd/>
              <a:tailEnd/>
            </a:ln>
            <a:effectLst/>
            <a:extLst/>
          </p:spPr>
          <p:txBody>
            <a:bodyPr wrap="none" anchor="ctr"/>
            <a:lstStyle/>
            <a:p>
              <a:endParaRPr lang="zh-CN" altLang="en-US">
                <a:solidFill>
                  <a:prstClr val="black"/>
                </a:solidFill>
              </a:endParaRPr>
            </a:p>
          </p:txBody>
        </p:sp>
        <p:sp>
          <p:nvSpPr>
            <p:cNvPr id="21" name="Rectangle 9"/>
            <p:cNvSpPr>
              <a:spLocks noChangeArrowheads="1"/>
            </p:cNvSpPr>
            <p:nvPr/>
          </p:nvSpPr>
          <p:spPr bwMode="auto">
            <a:xfrm>
              <a:off x="6957653" y="6053122"/>
              <a:ext cx="365760" cy="109378"/>
            </a:xfrm>
            <a:prstGeom prst="rect">
              <a:avLst/>
            </a:prstGeom>
            <a:solidFill>
              <a:srgbClr val="00B050"/>
            </a:solidFill>
            <a:ln w="9525" cap="flat" cmpd="sng">
              <a:solidFill>
                <a:schemeClr val="tx1"/>
              </a:solidFill>
              <a:miter lim="800000"/>
              <a:headEnd/>
              <a:tailEnd/>
            </a:ln>
            <a:effectLst/>
            <a:extLst/>
          </p:spPr>
          <p:txBody>
            <a:bodyPr wrap="none" anchor="ctr"/>
            <a:lstStyle/>
            <a:p>
              <a:endParaRPr lang="zh-CN" altLang="en-US">
                <a:solidFill>
                  <a:prstClr val="black"/>
                </a:solidFill>
              </a:endParaRPr>
            </a:p>
          </p:txBody>
        </p:sp>
        <p:sp>
          <p:nvSpPr>
            <p:cNvPr id="40" name="TextBox 39"/>
            <p:cNvSpPr txBox="1"/>
            <p:nvPr/>
          </p:nvSpPr>
          <p:spPr>
            <a:xfrm>
              <a:off x="7049287" y="5643298"/>
              <a:ext cx="158698" cy="215444"/>
            </a:xfrm>
            <a:prstGeom prst="rect">
              <a:avLst/>
            </a:prstGeom>
            <a:noFill/>
          </p:spPr>
          <p:txBody>
            <a:bodyPr wrap="none" lIns="0" tIns="0" rIns="0" bIns="0" rtlCol="0">
              <a:spAutoFit/>
            </a:bodyPr>
            <a:lstStyle/>
            <a:p>
              <a:r>
                <a:rPr lang="en-US" altLang="zh-CN" sz="1400" dirty="0" smtClean="0"/>
                <a:t>B</a:t>
              </a:r>
              <a:r>
                <a:rPr lang="en-US" altLang="zh-CN" sz="1400" baseline="-25000" dirty="0" smtClean="0"/>
                <a:t>1</a:t>
              </a:r>
              <a:endParaRPr lang="zh-CN" altLang="en-US" sz="1400" baseline="-25000" dirty="0"/>
            </a:p>
          </p:txBody>
        </p:sp>
        <p:sp>
          <p:nvSpPr>
            <p:cNvPr id="41" name="TextBox 40"/>
            <p:cNvSpPr txBox="1"/>
            <p:nvPr/>
          </p:nvSpPr>
          <p:spPr>
            <a:xfrm>
              <a:off x="7364226" y="6020957"/>
              <a:ext cx="158698" cy="215444"/>
            </a:xfrm>
            <a:prstGeom prst="rect">
              <a:avLst/>
            </a:prstGeom>
            <a:noFill/>
          </p:spPr>
          <p:txBody>
            <a:bodyPr wrap="none" lIns="0" tIns="0" rIns="0" bIns="0" rtlCol="0">
              <a:spAutoFit/>
            </a:bodyPr>
            <a:lstStyle/>
            <a:p>
              <a:r>
                <a:rPr lang="en-US" altLang="zh-CN" sz="1400" dirty="0" smtClean="0"/>
                <a:t>B</a:t>
              </a:r>
              <a:r>
                <a:rPr lang="en-US" altLang="zh-CN" sz="1400" baseline="-25000" dirty="0" smtClean="0"/>
                <a:t>2</a:t>
              </a:r>
              <a:endParaRPr lang="zh-CN" altLang="en-US" sz="1400" baseline="-25000" dirty="0"/>
            </a:p>
          </p:txBody>
        </p:sp>
        <p:sp>
          <p:nvSpPr>
            <p:cNvPr id="59" name="矩形 58"/>
            <p:cNvSpPr/>
            <p:nvPr/>
          </p:nvSpPr>
          <p:spPr>
            <a:xfrm>
              <a:off x="5914414" y="6219623"/>
              <a:ext cx="1782476" cy="338554"/>
            </a:xfrm>
            <a:prstGeom prst="rect">
              <a:avLst/>
            </a:prstGeom>
          </p:spPr>
          <p:txBody>
            <a:bodyPr wrap="none">
              <a:spAutoFit/>
            </a:bodyPr>
            <a:lstStyle/>
            <a:p>
              <a:r>
                <a:rPr lang="en-US" altLang="zh-CN" sz="1600" b="1" dirty="0">
                  <a:solidFill>
                    <a:srgbClr val="00B050"/>
                  </a:solidFill>
                </a:rPr>
                <a:t>Compaction buffer</a:t>
              </a:r>
              <a:endParaRPr lang="zh-CN" altLang="en-US" sz="1600" b="1" dirty="0">
                <a:solidFill>
                  <a:srgbClr val="00B050"/>
                </a:solidFill>
              </a:endParaRPr>
            </a:p>
          </p:txBody>
        </p:sp>
      </p:grpSp>
      <p:cxnSp>
        <p:nvCxnSpPr>
          <p:cNvPr id="5" name="曲线连接符 4"/>
          <p:cNvCxnSpPr>
            <a:stCxn id="36" idx="3"/>
          </p:cNvCxnSpPr>
          <p:nvPr/>
        </p:nvCxnSpPr>
        <p:spPr>
          <a:xfrm>
            <a:off x="2899593" y="5362540"/>
            <a:ext cx="3473233" cy="388480"/>
          </a:xfrm>
          <a:prstGeom prst="curvedConnector3">
            <a:avLst/>
          </a:prstGeom>
          <a:ln w="19050">
            <a:solidFill>
              <a:schemeClr val="tx1"/>
            </a:solidFill>
            <a:prstDash val="dash"/>
            <a:tailEnd type="arrow"/>
          </a:ln>
        </p:spPr>
        <p:style>
          <a:lnRef idx="2">
            <a:schemeClr val="accent1"/>
          </a:lnRef>
          <a:fillRef idx="0">
            <a:schemeClr val="accent1"/>
          </a:fillRef>
          <a:effectRef idx="1">
            <a:schemeClr val="accent1"/>
          </a:effectRef>
          <a:fontRef idx="minor">
            <a:schemeClr val="tx1"/>
          </a:fontRef>
        </p:style>
      </p:cxnSp>
      <p:cxnSp>
        <p:nvCxnSpPr>
          <p:cNvPr id="42" name="曲线连接符 41"/>
          <p:cNvCxnSpPr>
            <a:stCxn id="37" idx="3"/>
            <a:endCxn id="15" idx="1"/>
          </p:cNvCxnSpPr>
          <p:nvPr/>
        </p:nvCxnSpPr>
        <p:spPr>
          <a:xfrm>
            <a:off x="3160098" y="5707457"/>
            <a:ext cx="2989843" cy="400354"/>
          </a:xfrm>
          <a:prstGeom prst="curvedConnector3">
            <a:avLst/>
          </a:prstGeom>
          <a:ln w="19050">
            <a:solidFill>
              <a:schemeClr val="tx1"/>
            </a:solidFill>
            <a:prstDash val="dash"/>
            <a:tailEnd type="arrow"/>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617784" y="5291958"/>
            <a:ext cx="734496" cy="307777"/>
          </a:xfrm>
          <a:prstGeom prst="rect">
            <a:avLst/>
          </a:prstGeom>
          <a:noFill/>
        </p:spPr>
        <p:txBody>
          <a:bodyPr wrap="none" rtlCol="0">
            <a:spAutoFit/>
          </a:bodyPr>
          <a:lstStyle/>
          <a:p>
            <a:r>
              <a:rPr lang="en-US" altLang="zh-CN" sz="1400" i="1" dirty="0" smtClean="0"/>
              <a:t>append</a:t>
            </a:r>
            <a:endParaRPr lang="zh-CN" altLang="en-US" sz="1400" i="1" dirty="0"/>
          </a:p>
        </p:txBody>
      </p:sp>
      <p:grpSp>
        <p:nvGrpSpPr>
          <p:cNvPr id="4" name="组合 3"/>
          <p:cNvGrpSpPr/>
          <p:nvPr/>
        </p:nvGrpSpPr>
        <p:grpSpPr>
          <a:xfrm>
            <a:off x="7413670" y="4940655"/>
            <a:ext cx="1062791" cy="702717"/>
            <a:chOff x="7413670" y="4940655"/>
            <a:chExt cx="1062791" cy="702717"/>
          </a:xfrm>
        </p:grpSpPr>
        <p:sp>
          <p:nvSpPr>
            <p:cNvPr id="32" name="Rectangle 16"/>
            <p:cNvSpPr>
              <a:spLocks noChangeArrowheads="1"/>
            </p:cNvSpPr>
            <p:nvPr/>
          </p:nvSpPr>
          <p:spPr bwMode="auto">
            <a:xfrm>
              <a:off x="7467097" y="5461327"/>
              <a:ext cx="182880" cy="182045"/>
            </a:xfrm>
            <a:prstGeom prst="rect">
              <a:avLst/>
            </a:prstGeom>
            <a:noFill/>
            <a:ln w="9525" cap="flat" cmpd="sng">
              <a:noFill/>
              <a:miter lim="800000"/>
              <a:headEnd/>
              <a:tailEnd/>
            </a:ln>
            <a:effectLst/>
            <a:extLst/>
          </p:spPr>
          <p:txBody>
            <a:bodyPr wrap="none" lIns="0" tIns="0" rIns="0" bIns="0" anchor="ctr"/>
            <a:lstStyle/>
            <a:p>
              <a:pPr algn="ctr"/>
              <a:r>
                <a:rPr lang="en-US" altLang="zh-CN" b="1" dirty="0" smtClean="0">
                  <a:solidFill>
                    <a:srgbClr val="FFC000"/>
                  </a:solidFill>
                </a:rPr>
                <a:t>c</a:t>
              </a:r>
              <a:endParaRPr lang="zh-CN" altLang="en-US" b="1" dirty="0">
                <a:solidFill>
                  <a:srgbClr val="FFC000"/>
                </a:solidFill>
              </a:endParaRPr>
            </a:p>
          </p:txBody>
        </p:sp>
        <p:sp>
          <p:nvSpPr>
            <p:cNvPr id="39" name="Rectangle 16"/>
            <p:cNvSpPr>
              <a:spLocks noChangeArrowheads="1"/>
            </p:cNvSpPr>
            <p:nvPr/>
          </p:nvSpPr>
          <p:spPr bwMode="auto">
            <a:xfrm>
              <a:off x="7829047" y="5461327"/>
              <a:ext cx="182880" cy="182045"/>
            </a:xfrm>
            <a:prstGeom prst="rect">
              <a:avLst/>
            </a:prstGeom>
            <a:noFill/>
            <a:ln w="9525" cap="flat" cmpd="sng">
              <a:noFill/>
              <a:miter lim="800000"/>
              <a:headEnd/>
              <a:tailEnd/>
            </a:ln>
            <a:effectLst/>
            <a:extLst/>
          </p:spPr>
          <p:txBody>
            <a:bodyPr wrap="none" lIns="0" tIns="0" rIns="0" bIns="0" anchor="ctr"/>
            <a:lstStyle/>
            <a:p>
              <a:pPr algn="ctr"/>
              <a:r>
                <a:rPr lang="en-US" altLang="zh-CN" b="1" dirty="0" smtClean="0">
                  <a:solidFill>
                    <a:srgbClr val="FF0000"/>
                  </a:solidFill>
                </a:rPr>
                <a:t>a</a:t>
              </a:r>
              <a:endParaRPr lang="zh-CN" altLang="en-US" b="1" dirty="0">
                <a:solidFill>
                  <a:srgbClr val="FF0000"/>
                </a:solidFill>
              </a:endParaRPr>
            </a:p>
          </p:txBody>
        </p:sp>
        <p:sp>
          <p:nvSpPr>
            <p:cNvPr id="44" name="TextBox 43"/>
            <p:cNvSpPr txBox="1"/>
            <p:nvPr/>
          </p:nvSpPr>
          <p:spPr>
            <a:xfrm>
              <a:off x="7413670" y="4940655"/>
              <a:ext cx="1062791" cy="338554"/>
            </a:xfrm>
            <a:prstGeom prst="rect">
              <a:avLst/>
            </a:prstGeom>
            <a:noFill/>
          </p:spPr>
          <p:txBody>
            <a:bodyPr wrap="none" lIns="0" rIns="0" rtlCol="0">
              <a:spAutoFit/>
            </a:bodyPr>
            <a:lstStyle/>
            <a:p>
              <a:r>
                <a:rPr lang="en-US" altLang="zh-CN" sz="1600" b="1" dirty="0">
                  <a:solidFill>
                    <a:srgbClr val="C00000"/>
                  </a:solidFill>
                </a:rPr>
                <a:t>B</a:t>
              </a:r>
              <a:r>
                <a:rPr lang="en-US" altLang="zh-CN" sz="1600" b="1" dirty="0" smtClean="0">
                  <a:solidFill>
                    <a:srgbClr val="C00000"/>
                  </a:solidFill>
                </a:rPr>
                <a:t>uffer cache</a:t>
              </a:r>
              <a:endParaRPr lang="zh-CN" altLang="en-US" sz="1600" b="1" dirty="0">
                <a:solidFill>
                  <a:srgbClr val="C00000"/>
                </a:solidFill>
              </a:endParaRPr>
            </a:p>
          </p:txBody>
        </p:sp>
        <p:grpSp>
          <p:nvGrpSpPr>
            <p:cNvPr id="45" name="组合 44"/>
            <p:cNvGrpSpPr/>
            <p:nvPr/>
          </p:nvGrpSpPr>
          <p:grpSpPr>
            <a:xfrm>
              <a:off x="7465580" y="5279209"/>
              <a:ext cx="914400" cy="364089"/>
              <a:chOff x="3787126" y="2294582"/>
              <a:chExt cx="914400" cy="364089"/>
            </a:xfrm>
          </p:grpSpPr>
          <p:sp>
            <p:nvSpPr>
              <p:cNvPr id="46" name="Rectangle 10"/>
              <p:cNvSpPr>
                <a:spLocks noChangeArrowheads="1"/>
              </p:cNvSpPr>
              <p:nvPr/>
            </p:nvSpPr>
            <p:spPr bwMode="auto">
              <a:xfrm>
                <a:off x="3787126" y="2294582"/>
                <a:ext cx="914400" cy="364089"/>
              </a:xfrm>
              <a:prstGeom prst="rect">
                <a:avLst/>
              </a:prstGeom>
              <a:noFill/>
              <a:ln w="6350" cap="flat" cmpd="sng">
                <a:solidFill>
                  <a:schemeClr val="tx1"/>
                </a:solidFill>
                <a:miter lim="800000"/>
                <a:headEnd/>
                <a:tailEnd/>
              </a:ln>
              <a:effectLst/>
              <a:extLst/>
            </p:spPr>
            <p:txBody>
              <a:bodyPr wrap="none" anchor="ctr"/>
              <a:lstStyle/>
              <a:p>
                <a:endParaRPr lang="zh-CN" altLang="en-US">
                  <a:solidFill>
                    <a:prstClr val="black"/>
                  </a:solidFill>
                </a:endParaRPr>
              </a:p>
            </p:txBody>
          </p:sp>
          <p:cxnSp>
            <p:nvCxnSpPr>
              <p:cNvPr id="53" name="直接连接符 52"/>
              <p:cNvCxnSpPr>
                <a:stCxn id="46" idx="1"/>
                <a:endCxn id="46" idx="3"/>
              </p:cNvCxnSpPr>
              <p:nvPr/>
            </p:nvCxnSpPr>
            <p:spPr>
              <a:xfrm>
                <a:off x="3787126" y="2476627"/>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4151617" y="2298392"/>
                <a:ext cx="0" cy="356616"/>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3971912" y="2298392"/>
                <a:ext cx="0" cy="356616"/>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4336879" y="2298392"/>
                <a:ext cx="0" cy="356616"/>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4520552" y="2298392"/>
                <a:ext cx="0" cy="356616"/>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30" name="组合 29"/>
          <p:cNvGrpSpPr/>
          <p:nvPr/>
        </p:nvGrpSpPr>
        <p:grpSpPr>
          <a:xfrm>
            <a:off x="6600783" y="5552350"/>
            <a:ext cx="1319704" cy="638154"/>
            <a:chOff x="6600783" y="5552350"/>
            <a:chExt cx="1319704" cy="638154"/>
          </a:xfrm>
        </p:grpSpPr>
        <p:sp>
          <p:nvSpPr>
            <p:cNvPr id="58" name="Rectangle 16"/>
            <p:cNvSpPr>
              <a:spLocks noChangeArrowheads="1"/>
            </p:cNvSpPr>
            <p:nvPr/>
          </p:nvSpPr>
          <p:spPr bwMode="auto">
            <a:xfrm>
              <a:off x="6600783" y="5667068"/>
              <a:ext cx="182880" cy="182045"/>
            </a:xfrm>
            <a:prstGeom prst="rect">
              <a:avLst/>
            </a:prstGeom>
            <a:noFill/>
            <a:ln w="9525" cap="flat" cmpd="sng">
              <a:noFill/>
              <a:miter lim="800000"/>
              <a:headEnd/>
              <a:tailEnd/>
            </a:ln>
            <a:effectLst/>
            <a:extLst/>
          </p:spPr>
          <p:txBody>
            <a:bodyPr wrap="none" lIns="0" tIns="0" rIns="0" bIns="0" anchor="ctr"/>
            <a:lstStyle/>
            <a:p>
              <a:pPr algn="ctr"/>
              <a:r>
                <a:rPr lang="en-US" altLang="zh-CN" sz="1400" b="1" dirty="0" smtClean="0">
                  <a:solidFill>
                    <a:srgbClr val="FFC000"/>
                  </a:solidFill>
                </a:rPr>
                <a:t>c</a:t>
              </a:r>
              <a:endParaRPr lang="zh-CN" altLang="en-US" sz="1400" b="1" dirty="0">
                <a:solidFill>
                  <a:srgbClr val="FFC000"/>
                </a:solidFill>
              </a:endParaRPr>
            </a:p>
          </p:txBody>
        </p:sp>
        <p:sp>
          <p:nvSpPr>
            <p:cNvPr id="60" name="Rectangle 16"/>
            <p:cNvSpPr>
              <a:spLocks noChangeArrowheads="1"/>
            </p:cNvSpPr>
            <p:nvPr/>
          </p:nvSpPr>
          <p:spPr bwMode="auto">
            <a:xfrm>
              <a:off x="6956683" y="6008459"/>
              <a:ext cx="182880" cy="182045"/>
            </a:xfrm>
            <a:prstGeom prst="rect">
              <a:avLst/>
            </a:prstGeom>
            <a:noFill/>
            <a:ln w="9525" cap="flat" cmpd="sng">
              <a:noFill/>
              <a:miter lim="800000"/>
              <a:headEnd/>
              <a:tailEnd/>
            </a:ln>
            <a:effectLst/>
            <a:extLst/>
          </p:spPr>
          <p:txBody>
            <a:bodyPr wrap="none" lIns="0" tIns="0" rIns="0" bIns="0" anchor="ctr"/>
            <a:lstStyle/>
            <a:p>
              <a:pPr algn="ctr"/>
              <a:r>
                <a:rPr lang="en-US" altLang="zh-CN" sz="1400" b="1" dirty="0" smtClean="0">
                  <a:solidFill>
                    <a:srgbClr val="FF0000"/>
                  </a:solidFill>
                </a:rPr>
                <a:t>a</a:t>
              </a:r>
              <a:endParaRPr lang="zh-CN" altLang="en-US" b="1" dirty="0">
                <a:solidFill>
                  <a:srgbClr val="FF0000"/>
                </a:solidFill>
              </a:endParaRPr>
            </a:p>
          </p:txBody>
        </p:sp>
        <p:cxnSp>
          <p:nvCxnSpPr>
            <p:cNvPr id="61" name="直接箭头连接符 60"/>
            <p:cNvCxnSpPr>
              <a:stCxn id="58" idx="3"/>
              <a:endCxn id="32" idx="1"/>
            </p:cNvCxnSpPr>
            <p:nvPr/>
          </p:nvCxnSpPr>
          <p:spPr>
            <a:xfrm flipV="1">
              <a:off x="6783663" y="5552350"/>
              <a:ext cx="683434" cy="205741"/>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a:stCxn id="60" idx="0"/>
              <a:endCxn id="39" idx="2"/>
            </p:cNvCxnSpPr>
            <p:nvPr/>
          </p:nvCxnSpPr>
          <p:spPr>
            <a:xfrm flipV="1">
              <a:off x="7048123" y="5643372"/>
              <a:ext cx="872364" cy="365087"/>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pSp>
      <p:sp>
        <p:nvSpPr>
          <p:cNvPr id="6" name="灯片编号占位符 5"/>
          <p:cNvSpPr>
            <a:spLocks noGrp="1"/>
          </p:cNvSpPr>
          <p:nvPr>
            <p:ph type="sldNum" sz="quarter" idx="4294967295"/>
          </p:nvPr>
        </p:nvSpPr>
        <p:spPr>
          <a:xfrm>
            <a:off x="6553200" y="6356350"/>
            <a:ext cx="2133600" cy="365125"/>
          </a:xfrm>
          <a:prstGeom prst="rect">
            <a:avLst/>
          </a:prstGeom>
        </p:spPr>
        <p:txBody>
          <a:bodyPr/>
          <a:lstStyle/>
          <a:p>
            <a:fld id="{56E101D2-3CA0-ED44-B21F-D432222A9872}" type="slidenum">
              <a:rPr lang="en-US" smtClean="0"/>
              <a:t>59</a:t>
            </a:fld>
            <a:endParaRPr lang="en-US"/>
          </a:p>
        </p:txBody>
      </p:sp>
    </p:spTree>
    <p:extLst>
      <p:ext uri="{BB962C8B-B14F-4D97-AF65-F5344CB8AC3E}">
        <p14:creationId xmlns:p14="http://schemas.microsoft.com/office/powerpoint/2010/main" val="2301495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4"/>
                                        </p:tgtEl>
                                        <p:attrNameLst>
                                          <p:attrName>style.visibility</p:attrName>
                                        </p:attrNameLst>
                                      </p:cBhvr>
                                      <p:to>
                                        <p:strVal val="visible"/>
                                      </p:to>
                                    </p:set>
                                    <p:animEffect transition="in" filter="fade">
                                      <p:cBhvr>
                                        <p:cTn id="10" dur="500"/>
                                        <p:tgtEl>
                                          <p:spTgt spid="6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500"/>
                                        <p:tgtEl>
                                          <p:spTgt spid="3">
                                            <p:txEl>
                                              <p:pRg st="3" end="3"/>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childTnLst>
                                </p:cTn>
                              </p:par>
                              <p:par>
                                <p:cTn id="27" presetID="10" presetClass="entr" presetSubtype="0" fill="hold" nodeType="with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500"/>
                                        <p:tgtEl>
                                          <p:spTgt spid="3">
                                            <p:txEl>
                                              <p:pRg st="4" end="4"/>
                                            </p:txEl>
                                          </p:spTgt>
                                        </p:tgtEl>
                                      </p:cBhvr>
                                    </p:animEffect>
                                  </p:childTnLst>
                                </p:cTn>
                              </p:par>
                            </p:childTnLst>
                          </p:cTn>
                        </p:par>
                        <p:par>
                          <p:cTn id="35" fill="hold">
                            <p:stCondLst>
                              <p:cond delay="500"/>
                            </p:stCondLst>
                            <p:childTnLst>
                              <p:par>
                                <p:cTn id="36" presetID="10" presetClass="entr" presetSubtype="0" fill="hold" grpId="0" nodeType="afterEffect">
                                  <p:stCondLst>
                                    <p:cond delay="0"/>
                                  </p:stCondLst>
                                  <p:childTnLst>
                                    <p:set>
                                      <p:cBhvr>
                                        <p:cTn id="37" dur="1" fill="hold">
                                          <p:stCondLst>
                                            <p:cond delay="0"/>
                                          </p:stCondLst>
                                        </p:cTn>
                                        <p:tgtEl>
                                          <p:spTgt spid="43"/>
                                        </p:tgtEl>
                                        <p:attrNameLst>
                                          <p:attrName>style.visibility</p:attrName>
                                        </p:attrNameLst>
                                      </p:cBhvr>
                                      <p:to>
                                        <p:strVal val="visible"/>
                                      </p:to>
                                    </p:set>
                                    <p:animEffect transition="in" filter="fade">
                                      <p:cBhvr>
                                        <p:cTn id="38" dur="500"/>
                                        <p:tgtEl>
                                          <p:spTgt spid="43"/>
                                        </p:tgtEl>
                                      </p:cBhvr>
                                    </p:animEffect>
                                  </p:childTnLst>
                                </p:cTn>
                              </p:par>
                              <p:par>
                                <p:cTn id="39" presetID="10" presetClass="entr" presetSubtype="0" fill="hold" nodeType="with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fade">
                                      <p:cBhvr>
                                        <p:cTn id="41" dur="500"/>
                                        <p:tgtEl>
                                          <p:spTgt spid="5"/>
                                        </p:tgtEl>
                                      </p:cBhvr>
                                    </p:animEffect>
                                  </p:childTnLst>
                                </p:cTn>
                              </p:par>
                              <p:par>
                                <p:cTn id="42" presetID="10" presetClass="entr" presetSubtype="0" fill="hold" nodeType="with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500"/>
                                        <p:tgtEl>
                                          <p:spTgt spid="42"/>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animEffect transition="in" filter="fade">
                                      <p:cBhvr>
                                        <p:cTn id="4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组合 8"/>
          <p:cNvGrpSpPr/>
          <p:nvPr/>
        </p:nvGrpSpPr>
        <p:grpSpPr>
          <a:xfrm>
            <a:off x="1053139" y="4685465"/>
            <a:ext cx="2911135" cy="1580371"/>
            <a:chOff x="5211783" y="2038726"/>
            <a:chExt cx="2911135" cy="1580371"/>
          </a:xfrm>
          <a:solidFill>
            <a:schemeClr val="bg2">
              <a:lumMod val="20000"/>
              <a:lumOff val="80000"/>
            </a:schemeClr>
          </a:solidFill>
        </p:grpSpPr>
        <p:sp>
          <p:nvSpPr>
            <p:cNvPr id="8" name="流程图: 磁盘 7"/>
            <p:cNvSpPr/>
            <p:nvPr/>
          </p:nvSpPr>
          <p:spPr>
            <a:xfrm>
              <a:off x="5211783" y="2038726"/>
              <a:ext cx="2911135" cy="1580371"/>
            </a:xfrm>
            <a:prstGeom prst="flowChartMagneticDisk">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TextBox 4"/>
            <p:cNvSpPr txBox="1"/>
            <p:nvPr/>
          </p:nvSpPr>
          <p:spPr>
            <a:xfrm>
              <a:off x="6415741" y="2067665"/>
              <a:ext cx="492122" cy="461665"/>
            </a:xfrm>
            <a:prstGeom prst="rect">
              <a:avLst/>
            </a:prstGeom>
            <a:grpFill/>
          </p:spPr>
          <p:txBody>
            <a:bodyPr wrap="none" lIns="0" rIns="0" rtlCol="0">
              <a:spAutoFit/>
            </a:bodyPr>
            <a:lstStyle/>
            <a:p>
              <a:r>
                <a:rPr lang="en-US" altLang="zh-CN" sz="2400" dirty="0" smtClean="0"/>
                <a:t>disk</a:t>
              </a:r>
              <a:endParaRPr lang="zh-CN" altLang="en-US" sz="2400" dirty="0"/>
            </a:p>
          </p:txBody>
        </p:sp>
      </p:grpSp>
      <p:grpSp>
        <p:nvGrpSpPr>
          <p:cNvPr id="3" name="组合 2"/>
          <p:cNvGrpSpPr/>
          <p:nvPr/>
        </p:nvGrpSpPr>
        <p:grpSpPr>
          <a:xfrm>
            <a:off x="4997028" y="2071534"/>
            <a:ext cx="2026933" cy="938490"/>
            <a:chOff x="1510781" y="3526982"/>
            <a:chExt cx="2026933" cy="938490"/>
          </a:xfrm>
        </p:grpSpPr>
        <p:sp>
          <p:nvSpPr>
            <p:cNvPr id="69" name="Rectangle 10"/>
            <p:cNvSpPr>
              <a:spLocks noChangeArrowheads="1"/>
            </p:cNvSpPr>
            <p:nvPr/>
          </p:nvSpPr>
          <p:spPr bwMode="auto">
            <a:xfrm>
              <a:off x="2085428" y="3567778"/>
              <a:ext cx="199396" cy="137160"/>
            </a:xfrm>
            <a:prstGeom prst="rect">
              <a:avLst/>
            </a:prstGeom>
            <a:solidFill>
              <a:srgbClr val="92D050"/>
            </a:solidFill>
            <a:ln w="9525" cap="flat" cmpd="sng">
              <a:solidFill>
                <a:schemeClr val="tx1"/>
              </a:solidFill>
              <a:miter lim="800000"/>
              <a:headEnd/>
              <a:tailEnd/>
            </a:ln>
            <a:effectLst/>
            <a:extLst/>
          </p:spPr>
          <p:txBody>
            <a:bodyPr wrap="none" anchor="ctr"/>
            <a:lstStyle/>
            <a:p>
              <a:endParaRPr lang="zh-CN" altLang="en-US">
                <a:solidFill>
                  <a:prstClr val="black"/>
                </a:solidFill>
              </a:endParaRPr>
            </a:p>
          </p:txBody>
        </p:sp>
        <p:sp>
          <p:nvSpPr>
            <p:cNvPr id="72" name="Rectangle 10"/>
            <p:cNvSpPr>
              <a:spLocks noChangeArrowheads="1"/>
            </p:cNvSpPr>
            <p:nvPr/>
          </p:nvSpPr>
          <p:spPr bwMode="auto">
            <a:xfrm>
              <a:off x="2590253" y="3567778"/>
              <a:ext cx="199396" cy="137160"/>
            </a:xfrm>
            <a:prstGeom prst="rect">
              <a:avLst/>
            </a:prstGeom>
            <a:solidFill>
              <a:srgbClr val="92D050"/>
            </a:solidFill>
            <a:ln w="9525" cap="flat" cmpd="sng">
              <a:solidFill>
                <a:schemeClr val="tx1"/>
              </a:solidFill>
              <a:miter lim="800000"/>
              <a:headEnd/>
              <a:tailEnd/>
            </a:ln>
            <a:effectLst/>
            <a:extLst/>
          </p:spPr>
          <p:txBody>
            <a:bodyPr wrap="none" anchor="ctr"/>
            <a:lstStyle/>
            <a:p>
              <a:endParaRPr lang="zh-CN" altLang="en-US">
                <a:solidFill>
                  <a:prstClr val="black"/>
                </a:solidFill>
              </a:endParaRPr>
            </a:p>
          </p:txBody>
        </p:sp>
        <p:sp>
          <p:nvSpPr>
            <p:cNvPr id="74" name="Rectangle 10"/>
            <p:cNvSpPr>
              <a:spLocks noChangeArrowheads="1"/>
            </p:cNvSpPr>
            <p:nvPr/>
          </p:nvSpPr>
          <p:spPr bwMode="auto">
            <a:xfrm>
              <a:off x="2342603" y="3567778"/>
              <a:ext cx="199396" cy="137160"/>
            </a:xfrm>
            <a:prstGeom prst="rect">
              <a:avLst/>
            </a:prstGeom>
            <a:solidFill>
              <a:srgbClr val="92D050"/>
            </a:solidFill>
            <a:ln w="9525" cap="flat" cmpd="sng">
              <a:solidFill>
                <a:schemeClr val="tx1"/>
              </a:solidFill>
              <a:miter lim="800000"/>
              <a:headEnd/>
              <a:tailEnd/>
            </a:ln>
            <a:effectLst/>
            <a:extLst/>
          </p:spPr>
          <p:txBody>
            <a:bodyPr wrap="none" anchor="ctr"/>
            <a:lstStyle/>
            <a:p>
              <a:endParaRPr lang="zh-CN" altLang="en-US">
                <a:solidFill>
                  <a:prstClr val="black"/>
                </a:solidFill>
              </a:endParaRPr>
            </a:p>
          </p:txBody>
        </p:sp>
        <p:sp>
          <p:nvSpPr>
            <p:cNvPr id="78" name="Rectangle 9"/>
            <p:cNvSpPr>
              <a:spLocks noChangeArrowheads="1"/>
            </p:cNvSpPr>
            <p:nvPr/>
          </p:nvSpPr>
          <p:spPr bwMode="auto">
            <a:xfrm>
              <a:off x="2176300" y="3924034"/>
              <a:ext cx="556199" cy="158042"/>
            </a:xfrm>
            <a:prstGeom prst="rect">
              <a:avLst/>
            </a:prstGeom>
            <a:solidFill>
              <a:srgbClr val="92D050"/>
            </a:solidFill>
            <a:ln w="9525" cap="flat" cmpd="sng">
              <a:solidFill>
                <a:schemeClr val="tx1"/>
              </a:solidFill>
              <a:miter lim="800000"/>
              <a:headEnd/>
              <a:tailEnd/>
            </a:ln>
            <a:effectLst/>
            <a:extLst/>
          </p:spPr>
          <p:txBody>
            <a:bodyPr wrap="none" anchor="ctr"/>
            <a:lstStyle/>
            <a:p>
              <a:endParaRPr lang="zh-CN" altLang="en-US">
                <a:solidFill>
                  <a:prstClr val="black"/>
                </a:solidFill>
              </a:endParaRPr>
            </a:p>
          </p:txBody>
        </p:sp>
        <p:sp>
          <p:nvSpPr>
            <p:cNvPr id="88" name="TextBox 87"/>
            <p:cNvSpPr txBox="1"/>
            <p:nvPr/>
          </p:nvSpPr>
          <p:spPr>
            <a:xfrm>
              <a:off x="2831708" y="3526982"/>
              <a:ext cx="158698" cy="215444"/>
            </a:xfrm>
            <a:prstGeom prst="rect">
              <a:avLst/>
            </a:prstGeom>
            <a:noFill/>
          </p:spPr>
          <p:txBody>
            <a:bodyPr wrap="none" lIns="0" tIns="0" rIns="0" bIns="0" rtlCol="0">
              <a:spAutoFit/>
            </a:bodyPr>
            <a:lstStyle/>
            <a:p>
              <a:r>
                <a:rPr lang="en-US" altLang="zh-CN" sz="1400" dirty="0"/>
                <a:t>B</a:t>
              </a:r>
              <a:r>
                <a:rPr lang="en-US" altLang="zh-CN" sz="1400" baseline="-25000" dirty="0" smtClean="0"/>
                <a:t>1</a:t>
              </a:r>
              <a:endParaRPr lang="zh-CN" altLang="en-US" sz="1400" baseline="-25000" dirty="0"/>
            </a:p>
          </p:txBody>
        </p:sp>
        <p:sp>
          <p:nvSpPr>
            <p:cNvPr id="89" name="TextBox 88"/>
            <p:cNvSpPr txBox="1"/>
            <p:nvPr/>
          </p:nvSpPr>
          <p:spPr>
            <a:xfrm>
              <a:off x="3379016" y="3881061"/>
              <a:ext cx="158698" cy="215444"/>
            </a:xfrm>
            <a:prstGeom prst="rect">
              <a:avLst/>
            </a:prstGeom>
            <a:noFill/>
          </p:spPr>
          <p:txBody>
            <a:bodyPr wrap="none" lIns="0" tIns="0" rIns="0" bIns="0" rtlCol="0">
              <a:spAutoFit/>
            </a:bodyPr>
            <a:lstStyle/>
            <a:p>
              <a:r>
                <a:rPr lang="en-US" altLang="zh-CN" sz="1400" dirty="0"/>
                <a:t>B</a:t>
              </a:r>
              <a:r>
                <a:rPr lang="en-US" altLang="zh-CN" sz="1400" baseline="-25000" dirty="0" smtClean="0"/>
                <a:t>2</a:t>
              </a:r>
              <a:endParaRPr lang="zh-CN" altLang="en-US" sz="1400" baseline="-25000" dirty="0"/>
            </a:p>
          </p:txBody>
        </p:sp>
        <p:sp>
          <p:nvSpPr>
            <p:cNvPr id="94" name="Rectangle 9"/>
            <p:cNvSpPr>
              <a:spLocks noChangeArrowheads="1"/>
            </p:cNvSpPr>
            <p:nvPr/>
          </p:nvSpPr>
          <p:spPr bwMode="auto">
            <a:xfrm>
              <a:off x="1552387" y="3924035"/>
              <a:ext cx="564706" cy="158042"/>
            </a:xfrm>
            <a:prstGeom prst="rect">
              <a:avLst/>
            </a:prstGeom>
            <a:solidFill>
              <a:srgbClr val="92D050"/>
            </a:solidFill>
            <a:ln w="9525" cap="flat" cmpd="sng">
              <a:solidFill>
                <a:schemeClr val="tx1"/>
              </a:solidFill>
              <a:miter lim="800000"/>
              <a:headEnd/>
              <a:tailEnd/>
            </a:ln>
            <a:effectLst/>
            <a:extLst/>
          </p:spPr>
          <p:txBody>
            <a:bodyPr wrap="none" anchor="ctr"/>
            <a:lstStyle/>
            <a:p>
              <a:endParaRPr lang="zh-CN" altLang="en-US">
                <a:solidFill>
                  <a:prstClr val="black"/>
                </a:solidFill>
              </a:endParaRPr>
            </a:p>
          </p:txBody>
        </p:sp>
        <p:sp>
          <p:nvSpPr>
            <p:cNvPr id="96" name="Rectangle 9"/>
            <p:cNvSpPr>
              <a:spLocks noChangeArrowheads="1"/>
            </p:cNvSpPr>
            <p:nvPr/>
          </p:nvSpPr>
          <p:spPr bwMode="auto">
            <a:xfrm>
              <a:off x="2795425" y="3924034"/>
              <a:ext cx="556199" cy="158042"/>
            </a:xfrm>
            <a:prstGeom prst="rect">
              <a:avLst/>
            </a:prstGeom>
            <a:solidFill>
              <a:srgbClr val="92D050"/>
            </a:solidFill>
            <a:ln w="9525" cap="flat" cmpd="sng">
              <a:solidFill>
                <a:schemeClr val="tx1"/>
              </a:solidFill>
              <a:miter lim="800000"/>
              <a:headEnd/>
              <a:tailEnd/>
            </a:ln>
            <a:effectLst/>
            <a:extLst/>
          </p:spPr>
          <p:txBody>
            <a:bodyPr wrap="none" anchor="ctr"/>
            <a:lstStyle/>
            <a:p>
              <a:endParaRPr lang="zh-CN" altLang="en-US">
                <a:solidFill>
                  <a:prstClr val="black"/>
                </a:solidFill>
              </a:endParaRPr>
            </a:p>
          </p:txBody>
        </p:sp>
        <p:sp>
          <p:nvSpPr>
            <p:cNvPr id="4" name="TextBox 3"/>
            <p:cNvSpPr txBox="1"/>
            <p:nvPr/>
          </p:nvSpPr>
          <p:spPr>
            <a:xfrm>
              <a:off x="1510781" y="4096140"/>
              <a:ext cx="1947584" cy="369332"/>
            </a:xfrm>
            <a:prstGeom prst="rect">
              <a:avLst/>
            </a:prstGeom>
            <a:noFill/>
          </p:spPr>
          <p:txBody>
            <a:bodyPr wrap="none" rtlCol="0">
              <a:spAutoFit/>
            </a:bodyPr>
            <a:lstStyle/>
            <a:p>
              <a:r>
                <a:rPr lang="en-US" altLang="zh-CN" b="1" dirty="0"/>
                <a:t>c</a:t>
              </a:r>
              <a:r>
                <a:rPr lang="en-US" altLang="zh-CN" b="1" dirty="0" smtClean="0"/>
                <a:t>ompaction buffer</a:t>
              </a:r>
              <a:endParaRPr lang="zh-CN" altLang="en-US" b="1" dirty="0"/>
            </a:p>
          </p:txBody>
        </p:sp>
      </p:grpSp>
      <p:sp>
        <p:nvSpPr>
          <p:cNvPr id="111" name="Rectangle 16"/>
          <p:cNvSpPr>
            <a:spLocks noChangeArrowheads="1"/>
          </p:cNvSpPr>
          <p:nvPr/>
        </p:nvSpPr>
        <p:spPr bwMode="auto">
          <a:xfrm>
            <a:off x="2016797" y="4338343"/>
            <a:ext cx="182880" cy="182045"/>
          </a:xfrm>
          <a:prstGeom prst="rect">
            <a:avLst/>
          </a:prstGeom>
          <a:noFill/>
          <a:ln w="9525" cap="flat" cmpd="sng">
            <a:noFill/>
            <a:miter lim="800000"/>
            <a:headEnd/>
            <a:tailEnd/>
          </a:ln>
          <a:effectLst/>
          <a:extLst/>
        </p:spPr>
        <p:txBody>
          <a:bodyPr wrap="none" lIns="0" tIns="0" rIns="0" bIns="0" anchor="ctr"/>
          <a:lstStyle/>
          <a:p>
            <a:pPr algn="ctr"/>
            <a:r>
              <a:rPr lang="en-US" altLang="zh-CN" b="1" dirty="0" smtClean="0">
                <a:solidFill>
                  <a:srgbClr val="FFC000"/>
                </a:solidFill>
              </a:rPr>
              <a:t>c</a:t>
            </a:r>
            <a:endParaRPr lang="zh-CN" altLang="en-US" b="1" dirty="0">
              <a:solidFill>
                <a:srgbClr val="FFC000"/>
              </a:solidFill>
            </a:endParaRPr>
          </a:p>
        </p:txBody>
      </p:sp>
      <p:sp>
        <p:nvSpPr>
          <p:cNvPr id="75" name="Rectangle 16"/>
          <p:cNvSpPr>
            <a:spLocks noChangeArrowheads="1"/>
          </p:cNvSpPr>
          <p:nvPr/>
        </p:nvSpPr>
        <p:spPr bwMode="auto">
          <a:xfrm>
            <a:off x="2567133" y="4345720"/>
            <a:ext cx="182880" cy="182045"/>
          </a:xfrm>
          <a:prstGeom prst="rect">
            <a:avLst/>
          </a:prstGeom>
          <a:solidFill>
            <a:schemeClr val="bg1"/>
          </a:solidFill>
          <a:ln w="9525" cap="flat" cmpd="sng">
            <a:noFill/>
            <a:miter lim="800000"/>
            <a:headEnd/>
            <a:tailEnd/>
          </a:ln>
          <a:effectLst/>
          <a:extLst/>
        </p:spPr>
        <p:txBody>
          <a:bodyPr wrap="none" lIns="0" tIns="0" rIns="0" bIns="0" anchor="ctr"/>
          <a:lstStyle/>
          <a:p>
            <a:pPr algn="ctr"/>
            <a:r>
              <a:rPr lang="en-US" altLang="zh-CN" b="1" dirty="0" smtClean="0">
                <a:solidFill>
                  <a:srgbClr val="002060"/>
                </a:solidFill>
              </a:rPr>
              <a:t>b</a:t>
            </a:r>
            <a:endParaRPr lang="zh-CN" altLang="en-US" b="1" dirty="0">
              <a:solidFill>
                <a:srgbClr val="002060"/>
              </a:solidFill>
            </a:endParaRPr>
          </a:p>
        </p:txBody>
      </p:sp>
      <p:sp>
        <p:nvSpPr>
          <p:cNvPr id="76" name="Rectangle 16"/>
          <p:cNvSpPr>
            <a:spLocks noChangeArrowheads="1"/>
          </p:cNvSpPr>
          <p:nvPr/>
        </p:nvSpPr>
        <p:spPr bwMode="auto">
          <a:xfrm>
            <a:off x="2756770" y="4340956"/>
            <a:ext cx="182880" cy="182045"/>
          </a:xfrm>
          <a:prstGeom prst="rect">
            <a:avLst/>
          </a:prstGeom>
          <a:noFill/>
          <a:ln w="9525" cap="flat" cmpd="sng">
            <a:noFill/>
            <a:miter lim="800000"/>
            <a:headEnd/>
            <a:tailEnd/>
          </a:ln>
          <a:effectLst/>
          <a:extLst/>
        </p:spPr>
        <p:txBody>
          <a:bodyPr wrap="none" lIns="0" tIns="0" rIns="0" bIns="0" anchor="ctr"/>
          <a:lstStyle/>
          <a:p>
            <a:pPr algn="ctr"/>
            <a:r>
              <a:rPr lang="en-US" altLang="zh-CN" b="1" dirty="0" smtClean="0">
                <a:solidFill>
                  <a:srgbClr val="00B050"/>
                </a:solidFill>
              </a:rPr>
              <a:t>d</a:t>
            </a:r>
            <a:endParaRPr lang="zh-CN" altLang="en-US" b="1" dirty="0">
              <a:solidFill>
                <a:srgbClr val="00B050"/>
              </a:solidFill>
            </a:endParaRPr>
          </a:p>
        </p:txBody>
      </p:sp>
      <p:sp>
        <p:nvSpPr>
          <p:cNvPr id="77" name="Rectangle 16"/>
          <p:cNvSpPr>
            <a:spLocks noChangeArrowheads="1"/>
          </p:cNvSpPr>
          <p:nvPr/>
        </p:nvSpPr>
        <p:spPr bwMode="auto">
          <a:xfrm>
            <a:off x="2378747" y="4338343"/>
            <a:ext cx="182880" cy="182045"/>
          </a:xfrm>
          <a:prstGeom prst="rect">
            <a:avLst/>
          </a:prstGeom>
          <a:noFill/>
          <a:ln w="9525" cap="flat" cmpd="sng">
            <a:noFill/>
            <a:miter lim="800000"/>
            <a:headEnd/>
            <a:tailEnd/>
          </a:ln>
          <a:effectLst/>
          <a:extLst/>
        </p:spPr>
        <p:txBody>
          <a:bodyPr wrap="none" lIns="0" tIns="0" rIns="0" bIns="0" anchor="ctr"/>
          <a:lstStyle/>
          <a:p>
            <a:pPr algn="ctr"/>
            <a:r>
              <a:rPr lang="en-US" altLang="zh-CN" b="1" dirty="0" smtClean="0">
                <a:solidFill>
                  <a:srgbClr val="FF0000"/>
                </a:solidFill>
              </a:rPr>
              <a:t>a</a:t>
            </a:r>
            <a:endParaRPr lang="zh-CN" altLang="en-US" b="1" dirty="0">
              <a:solidFill>
                <a:srgbClr val="FF0000"/>
              </a:solidFill>
            </a:endParaRPr>
          </a:p>
        </p:txBody>
      </p:sp>
      <p:sp>
        <p:nvSpPr>
          <p:cNvPr id="2" name="标题 1"/>
          <p:cNvSpPr>
            <a:spLocks noGrp="1"/>
          </p:cNvSpPr>
          <p:nvPr>
            <p:ph type="title"/>
          </p:nvPr>
        </p:nvSpPr>
        <p:spPr>
          <a:xfrm>
            <a:off x="0" y="274638"/>
            <a:ext cx="9144000" cy="1143000"/>
          </a:xfrm>
        </p:spPr>
        <p:txBody>
          <a:bodyPr>
            <a:normAutofit/>
          </a:bodyPr>
          <a:lstStyle/>
          <a:p>
            <a:pPr algn="ctr"/>
            <a:r>
              <a:rPr lang="en-US" altLang="zh-CN" sz="2400" dirty="0" smtClean="0">
                <a:solidFill>
                  <a:srgbClr val="FF0000"/>
                </a:solidFill>
              </a:rPr>
              <a:t>Compaction Buffer:</a:t>
            </a:r>
            <a:r>
              <a:rPr lang="en-US" altLang="zh-CN" sz="2400" dirty="0" smtClean="0">
                <a:solidFill>
                  <a:srgbClr val="0070C0"/>
                </a:solidFill>
              </a:rPr>
              <a:t>  a cushion</a:t>
            </a:r>
            <a:r>
              <a:rPr lang="en-US" altLang="zh-CN" sz="900" dirty="0" smtClean="0">
                <a:solidFill>
                  <a:srgbClr val="0070C0"/>
                </a:solidFill>
              </a:rPr>
              <a:t>(</a:t>
            </a:r>
            <a:r>
              <a:rPr lang="zh-CN" altLang="en-US" sz="900" dirty="0" smtClean="0">
                <a:solidFill>
                  <a:srgbClr val="0070C0"/>
                </a:solidFill>
              </a:rPr>
              <a:t>缓冲</a:t>
            </a:r>
            <a:r>
              <a:rPr lang="en-US" altLang="zh-CN" sz="900" dirty="0" smtClean="0">
                <a:solidFill>
                  <a:srgbClr val="0070C0"/>
                </a:solidFill>
              </a:rPr>
              <a:t>) </a:t>
            </a:r>
            <a:r>
              <a:rPr lang="en-US" altLang="zh-CN" sz="2400" dirty="0" smtClean="0">
                <a:solidFill>
                  <a:srgbClr val="0070C0"/>
                </a:solidFill>
              </a:rPr>
              <a:t>between LSM-tree and cache </a:t>
            </a:r>
            <a:endParaRPr lang="zh-CN" altLang="en-US" sz="2400" dirty="0">
              <a:solidFill>
                <a:srgbClr val="0070C0"/>
              </a:solidFill>
            </a:endParaRPr>
          </a:p>
        </p:txBody>
      </p:sp>
      <p:sp>
        <p:nvSpPr>
          <p:cNvPr id="6" name="TextBox 5"/>
          <p:cNvSpPr txBox="1"/>
          <p:nvPr/>
        </p:nvSpPr>
        <p:spPr>
          <a:xfrm>
            <a:off x="1963370" y="3823975"/>
            <a:ext cx="1062791" cy="338554"/>
          </a:xfrm>
          <a:prstGeom prst="rect">
            <a:avLst/>
          </a:prstGeom>
          <a:noFill/>
        </p:spPr>
        <p:txBody>
          <a:bodyPr wrap="none" lIns="0" rIns="0" rtlCol="0">
            <a:spAutoFit/>
          </a:bodyPr>
          <a:lstStyle/>
          <a:p>
            <a:r>
              <a:rPr lang="en-US" altLang="zh-CN" sz="1600" b="1" dirty="0">
                <a:solidFill>
                  <a:srgbClr val="C00000"/>
                </a:solidFill>
              </a:rPr>
              <a:t>B</a:t>
            </a:r>
            <a:r>
              <a:rPr lang="en-US" altLang="zh-CN" sz="1600" b="1" dirty="0" smtClean="0">
                <a:solidFill>
                  <a:srgbClr val="C00000"/>
                </a:solidFill>
              </a:rPr>
              <a:t>uffer cache</a:t>
            </a:r>
            <a:endParaRPr lang="zh-CN" altLang="en-US" sz="1600" b="1" dirty="0">
              <a:solidFill>
                <a:srgbClr val="C00000"/>
              </a:solidFill>
            </a:endParaRPr>
          </a:p>
        </p:txBody>
      </p:sp>
      <p:sp>
        <p:nvSpPr>
          <p:cNvPr id="31" name="Rectangle 10"/>
          <p:cNvSpPr>
            <a:spLocks noChangeArrowheads="1"/>
          </p:cNvSpPr>
          <p:nvPr/>
        </p:nvSpPr>
        <p:spPr bwMode="auto">
          <a:xfrm>
            <a:off x="1427607" y="5660470"/>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FF0000"/>
                </a:solidFill>
              </a:rPr>
              <a:t>a</a:t>
            </a:r>
            <a:endParaRPr lang="zh-CN" altLang="en-US" sz="2400" b="1" dirty="0">
              <a:solidFill>
                <a:srgbClr val="FF0000"/>
              </a:solidFill>
            </a:endParaRPr>
          </a:p>
        </p:txBody>
      </p:sp>
      <p:sp>
        <p:nvSpPr>
          <p:cNvPr id="32" name="Rectangle 10"/>
          <p:cNvSpPr>
            <a:spLocks noChangeArrowheads="1"/>
          </p:cNvSpPr>
          <p:nvPr/>
        </p:nvSpPr>
        <p:spPr bwMode="auto">
          <a:xfrm>
            <a:off x="1605044" y="5660470"/>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002060"/>
                </a:solidFill>
              </a:rPr>
              <a:t>e</a:t>
            </a:r>
            <a:endParaRPr lang="zh-CN" altLang="en-US" b="1" dirty="0">
              <a:solidFill>
                <a:srgbClr val="002060"/>
              </a:solidFill>
            </a:endParaRPr>
          </a:p>
        </p:txBody>
      </p:sp>
      <p:sp>
        <p:nvSpPr>
          <p:cNvPr id="27" name="Rectangle 10"/>
          <p:cNvSpPr>
            <a:spLocks noChangeArrowheads="1"/>
          </p:cNvSpPr>
          <p:nvPr/>
        </p:nvSpPr>
        <p:spPr bwMode="auto">
          <a:xfrm>
            <a:off x="3099725" y="5827056"/>
            <a:ext cx="182880" cy="182880"/>
          </a:xfrm>
          <a:prstGeom prst="rect">
            <a:avLst/>
          </a:prstGeom>
          <a:solidFill>
            <a:schemeClr val="bg1"/>
          </a:solidFill>
          <a:ln w="9525" cap="flat" cmpd="sng">
            <a:solidFill>
              <a:schemeClr val="tx1"/>
            </a:solidFill>
            <a:miter lim="800000"/>
            <a:headEnd/>
            <a:tailEnd/>
          </a:ln>
          <a:effectLst/>
          <a:extLst/>
        </p:spPr>
        <p:txBody>
          <a:bodyPr wrap="none" anchor="ctr"/>
          <a:lstStyle/>
          <a:p>
            <a:pPr algn="ctr"/>
            <a:r>
              <a:rPr lang="en-US" altLang="zh-CN" b="1" dirty="0" smtClean="0">
                <a:solidFill>
                  <a:srgbClr val="002060"/>
                </a:solidFill>
              </a:rPr>
              <a:t>b</a:t>
            </a:r>
            <a:endParaRPr lang="zh-CN" altLang="en-US" sz="2400" b="1" dirty="0">
              <a:solidFill>
                <a:srgbClr val="002060"/>
              </a:solidFill>
            </a:endParaRPr>
          </a:p>
        </p:txBody>
      </p:sp>
      <p:sp>
        <p:nvSpPr>
          <p:cNvPr id="28" name="Rectangle 10"/>
          <p:cNvSpPr>
            <a:spLocks noChangeArrowheads="1"/>
          </p:cNvSpPr>
          <p:nvPr/>
        </p:nvSpPr>
        <p:spPr bwMode="auto">
          <a:xfrm>
            <a:off x="3465480" y="5827056"/>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7030A0"/>
                </a:solidFill>
              </a:rPr>
              <a:t>f</a:t>
            </a:r>
            <a:endParaRPr lang="zh-CN" altLang="en-US" b="1" dirty="0">
              <a:solidFill>
                <a:srgbClr val="7030A0"/>
              </a:solidFill>
            </a:endParaRPr>
          </a:p>
        </p:txBody>
      </p:sp>
      <p:sp>
        <p:nvSpPr>
          <p:cNvPr id="30" name="Rectangle 10"/>
          <p:cNvSpPr>
            <a:spLocks noChangeArrowheads="1"/>
          </p:cNvSpPr>
          <p:nvPr/>
        </p:nvSpPr>
        <p:spPr bwMode="auto">
          <a:xfrm>
            <a:off x="3282605" y="5827056"/>
            <a:ext cx="182880" cy="182880"/>
          </a:xfrm>
          <a:prstGeom prst="rect">
            <a:avLst/>
          </a:prstGeom>
          <a:solidFill>
            <a:schemeClr val="bg1"/>
          </a:solidFill>
          <a:ln w="9525" cap="flat" cmpd="sng">
            <a:solidFill>
              <a:schemeClr val="tx1"/>
            </a:solidFill>
            <a:miter lim="800000"/>
            <a:headEnd/>
            <a:tailEnd/>
          </a:ln>
          <a:effectLst/>
          <a:extLst/>
        </p:spPr>
        <p:txBody>
          <a:bodyPr wrap="none" anchor="ctr"/>
          <a:lstStyle/>
          <a:p>
            <a:pPr algn="ctr"/>
            <a:r>
              <a:rPr lang="en-US" altLang="zh-CN" b="1" dirty="0" smtClean="0">
                <a:solidFill>
                  <a:srgbClr val="00B050"/>
                </a:solidFill>
              </a:rPr>
              <a:t>d</a:t>
            </a:r>
            <a:endParaRPr lang="zh-CN" altLang="en-US" b="1" dirty="0">
              <a:solidFill>
                <a:srgbClr val="00B050"/>
              </a:solidFill>
            </a:endParaRPr>
          </a:p>
        </p:txBody>
      </p:sp>
      <p:cxnSp>
        <p:nvCxnSpPr>
          <p:cNvPr id="13" name="直接箭头连接符 12"/>
          <p:cNvCxnSpPr>
            <a:stCxn id="111" idx="2"/>
            <a:endCxn id="110" idx="0"/>
          </p:cNvCxnSpPr>
          <p:nvPr/>
        </p:nvCxnSpPr>
        <p:spPr>
          <a:xfrm flipH="1">
            <a:off x="1298211" y="4520388"/>
            <a:ext cx="810026" cy="888322"/>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80" name="组合 79"/>
          <p:cNvGrpSpPr/>
          <p:nvPr/>
        </p:nvGrpSpPr>
        <p:grpSpPr>
          <a:xfrm>
            <a:off x="2210807" y="5408710"/>
            <a:ext cx="1098960" cy="182880"/>
            <a:chOff x="7038330" y="1443864"/>
            <a:chExt cx="1098960" cy="182880"/>
          </a:xfrm>
        </p:grpSpPr>
        <p:sp>
          <p:nvSpPr>
            <p:cNvPr id="81" name="Rectangle 10"/>
            <p:cNvSpPr>
              <a:spLocks noChangeArrowheads="1"/>
            </p:cNvSpPr>
            <p:nvPr/>
          </p:nvSpPr>
          <p:spPr bwMode="auto">
            <a:xfrm>
              <a:off x="7038330" y="1443864"/>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FF0000"/>
                  </a:solidFill>
                </a:rPr>
                <a:t>a</a:t>
              </a:r>
              <a:endParaRPr lang="zh-CN" altLang="en-US" sz="2400" b="1" dirty="0">
                <a:solidFill>
                  <a:srgbClr val="FF0000"/>
                </a:solidFill>
              </a:endParaRPr>
            </a:p>
          </p:txBody>
        </p:sp>
        <p:sp>
          <p:nvSpPr>
            <p:cNvPr id="82" name="Rectangle 10"/>
            <p:cNvSpPr>
              <a:spLocks noChangeArrowheads="1"/>
            </p:cNvSpPr>
            <p:nvPr/>
          </p:nvSpPr>
          <p:spPr bwMode="auto">
            <a:xfrm>
              <a:off x="7404090" y="1443864"/>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FFC000"/>
                  </a:solidFill>
                </a:rPr>
                <a:t>c</a:t>
              </a:r>
              <a:endParaRPr lang="zh-CN" altLang="en-US" sz="2400" b="1" dirty="0">
                <a:solidFill>
                  <a:srgbClr val="FFC000"/>
                </a:solidFill>
              </a:endParaRPr>
            </a:p>
          </p:txBody>
        </p:sp>
        <p:sp>
          <p:nvSpPr>
            <p:cNvPr id="83" name="Rectangle 10"/>
            <p:cNvSpPr>
              <a:spLocks noChangeArrowheads="1"/>
            </p:cNvSpPr>
            <p:nvPr/>
          </p:nvSpPr>
          <p:spPr bwMode="auto">
            <a:xfrm>
              <a:off x="7954410" y="1443864"/>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7030A0"/>
                  </a:solidFill>
                </a:rPr>
                <a:t>f</a:t>
              </a:r>
              <a:endParaRPr lang="zh-CN" altLang="en-US" sz="2400" b="1" dirty="0">
                <a:solidFill>
                  <a:srgbClr val="7030A0"/>
                </a:solidFill>
              </a:endParaRPr>
            </a:p>
          </p:txBody>
        </p:sp>
        <p:sp>
          <p:nvSpPr>
            <p:cNvPr id="84" name="Rectangle 10"/>
            <p:cNvSpPr>
              <a:spLocks noChangeArrowheads="1"/>
            </p:cNvSpPr>
            <p:nvPr/>
          </p:nvSpPr>
          <p:spPr bwMode="auto">
            <a:xfrm>
              <a:off x="7221210" y="1443864"/>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002060"/>
                  </a:solidFill>
                </a:rPr>
                <a:t>b</a:t>
              </a:r>
              <a:endParaRPr lang="zh-CN" altLang="en-US" b="1" dirty="0">
                <a:solidFill>
                  <a:srgbClr val="002060"/>
                </a:solidFill>
              </a:endParaRPr>
            </a:p>
          </p:txBody>
        </p:sp>
        <p:sp>
          <p:nvSpPr>
            <p:cNvPr id="85" name="Rectangle 10"/>
            <p:cNvSpPr>
              <a:spLocks noChangeArrowheads="1"/>
            </p:cNvSpPr>
            <p:nvPr/>
          </p:nvSpPr>
          <p:spPr bwMode="auto">
            <a:xfrm>
              <a:off x="7586970" y="1443864"/>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00B050"/>
                  </a:solidFill>
                </a:rPr>
                <a:t>d</a:t>
              </a:r>
              <a:endParaRPr lang="zh-CN" altLang="en-US" b="1" dirty="0">
                <a:solidFill>
                  <a:srgbClr val="00B050"/>
                </a:solidFill>
              </a:endParaRPr>
            </a:p>
          </p:txBody>
        </p:sp>
        <p:sp>
          <p:nvSpPr>
            <p:cNvPr id="86" name="Rectangle 10"/>
            <p:cNvSpPr>
              <a:spLocks noChangeArrowheads="1"/>
            </p:cNvSpPr>
            <p:nvPr/>
          </p:nvSpPr>
          <p:spPr bwMode="auto">
            <a:xfrm>
              <a:off x="7771535" y="1443864"/>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002060"/>
                  </a:solidFill>
                </a:rPr>
                <a:t>e</a:t>
              </a:r>
              <a:endParaRPr lang="zh-CN" altLang="en-US" b="1" dirty="0">
                <a:solidFill>
                  <a:srgbClr val="002060"/>
                </a:solidFill>
              </a:endParaRPr>
            </a:p>
          </p:txBody>
        </p:sp>
      </p:grpSp>
      <p:sp>
        <p:nvSpPr>
          <p:cNvPr id="54" name="Rectangle 9"/>
          <p:cNvSpPr>
            <a:spLocks noChangeArrowheads="1"/>
          </p:cNvSpPr>
          <p:nvPr/>
        </p:nvSpPr>
        <p:spPr bwMode="auto">
          <a:xfrm>
            <a:off x="1669059" y="2484482"/>
            <a:ext cx="1463040" cy="137160"/>
          </a:xfrm>
          <a:prstGeom prst="rect">
            <a:avLst/>
          </a:prstGeom>
          <a:solidFill>
            <a:srgbClr val="000080"/>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ndParaRPr>
          </a:p>
        </p:txBody>
      </p:sp>
      <p:sp>
        <p:nvSpPr>
          <p:cNvPr id="55" name="Rectangle 10"/>
          <p:cNvSpPr>
            <a:spLocks noChangeArrowheads="1"/>
          </p:cNvSpPr>
          <p:nvPr/>
        </p:nvSpPr>
        <p:spPr bwMode="auto">
          <a:xfrm>
            <a:off x="2040262" y="2118722"/>
            <a:ext cx="731520" cy="137160"/>
          </a:xfrm>
          <a:prstGeom prst="rect">
            <a:avLst/>
          </a:prstGeom>
          <a:solidFill>
            <a:srgbClr val="000080"/>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ndParaRPr>
          </a:p>
        </p:txBody>
      </p:sp>
      <p:sp>
        <p:nvSpPr>
          <p:cNvPr id="56" name="Rectangle 16"/>
          <p:cNvSpPr>
            <a:spLocks noChangeArrowheads="1"/>
          </p:cNvSpPr>
          <p:nvPr/>
        </p:nvSpPr>
        <p:spPr bwMode="auto">
          <a:xfrm>
            <a:off x="2308962" y="1752962"/>
            <a:ext cx="182880" cy="137160"/>
          </a:xfrm>
          <a:prstGeom prst="rect">
            <a:avLst/>
          </a:prstGeom>
          <a:solidFill>
            <a:srgbClr val="FFFF00"/>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ndParaRPr>
          </a:p>
        </p:txBody>
      </p:sp>
      <p:sp>
        <p:nvSpPr>
          <p:cNvPr id="57" name="Text Box 17"/>
          <p:cNvSpPr txBox="1">
            <a:spLocks noChangeArrowheads="1"/>
          </p:cNvSpPr>
          <p:nvPr/>
        </p:nvSpPr>
        <p:spPr bwMode="auto">
          <a:xfrm>
            <a:off x="1269815" y="1513543"/>
            <a:ext cx="285335" cy="1846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r>
              <a:rPr lang="en-US" altLang="zh-CN" sz="1200" dirty="0" smtClean="0">
                <a:solidFill>
                  <a:prstClr val="black"/>
                </a:solidFill>
              </a:rPr>
              <a:t>HDD</a:t>
            </a:r>
            <a:endParaRPr lang="zh-CN" altLang="en-US" sz="1200" dirty="0">
              <a:solidFill>
                <a:prstClr val="black"/>
              </a:solidFill>
            </a:endParaRPr>
          </a:p>
        </p:txBody>
      </p:sp>
      <p:sp>
        <p:nvSpPr>
          <p:cNvPr id="58" name="Rectangle 10"/>
          <p:cNvSpPr>
            <a:spLocks noChangeArrowheads="1"/>
          </p:cNvSpPr>
          <p:nvPr/>
        </p:nvSpPr>
        <p:spPr bwMode="auto">
          <a:xfrm>
            <a:off x="895356" y="1544393"/>
            <a:ext cx="274320" cy="137160"/>
          </a:xfrm>
          <a:prstGeom prst="rect">
            <a:avLst/>
          </a:prstGeom>
          <a:solidFill>
            <a:srgbClr val="002060"/>
          </a:solidFill>
          <a:ln w="9525" cap="flat" cmpd="sng">
            <a:solidFill>
              <a:schemeClr val="tx1"/>
            </a:solidFill>
            <a:miter lim="800000"/>
            <a:headEnd/>
            <a:tailEnd/>
          </a:ln>
          <a:effectLst/>
          <a:extLst/>
        </p:spPr>
        <p:txBody>
          <a:bodyPr wrap="none" anchor="ctr"/>
          <a:lstStyle/>
          <a:p>
            <a:endParaRPr lang="zh-CN" altLang="en-US" sz="1200">
              <a:solidFill>
                <a:prstClr val="black"/>
              </a:solidFill>
            </a:endParaRPr>
          </a:p>
        </p:txBody>
      </p:sp>
      <p:sp>
        <p:nvSpPr>
          <p:cNvPr id="60" name="箭头 379"/>
          <p:cNvSpPr>
            <a:spLocks noChangeShapeType="1"/>
          </p:cNvSpPr>
          <p:nvPr/>
        </p:nvSpPr>
        <p:spPr bwMode="auto">
          <a:xfrm flipH="1">
            <a:off x="1685936" y="2168416"/>
            <a:ext cx="343472" cy="305747"/>
          </a:xfrm>
          <a:custGeom>
            <a:avLst/>
            <a:gdLst>
              <a:gd name="connsiteX0" fmla="*/ 0 w 10000"/>
              <a:gd name="connsiteY0" fmla="*/ 0 h 10000"/>
              <a:gd name="connsiteX1" fmla="*/ 10000 w 10000"/>
              <a:gd name="connsiteY1" fmla="*/ 10000 h 10000"/>
              <a:gd name="connsiteX0" fmla="*/ 0 w 10000"/>
              <a:gd name="connsiteY0" fmla="*/ 0 h 10000"/>
              <a:gd name="connsiteX1" fmla="*/ 10000 w 10000"/>
              <a:gd name="connsiteY1" fmla="*/ 4196 h 10000"/>
              <a:gd name="connsiteX2" fmla="*/ 10000 w 10000"/>
              <a:gd name="connsiteY2" fmla="*/ 10000 h 10000"/>
              <a:gd name="connsiteX0" fmla="*/ 0 w 101010"/>
              <a:gd name="connsiteY0" fmla="*/ 0 h 10000"/>
              <a:gd name="connsiteX1" fmla="*/ 101010 w 101010"/>
              <a:gd name="connsiteY1" fmla="*/ 5597 h 10000"/>
              <a:gd name="connsiteX2" fmla="*/ 10000 w 101010"/>
              <a:gd name="connsiteY2" fmla="*/ 10000 h 10000"/>
              <a:gd name="connsiteX0" fmla="*/ 0 w 101031"/>
              <a:gd name="connsiteY0" fmla="*/ 0 h 10000"/>
              <a:gd name="connsiteX1" fmla="*/ 101010 w 101031"/>
              <a:gd name="connsiteY1" fmla="*/ 5597 h 10000"/>
              <a:gd name="connsiteX2" fmla="*/ 10000 w 101031"/>
              <a:gd name="connsiteY2" fmla="*/ 10000 h 10000"/>
              <a:gd name="connsiteX0" fmla="*/ 0 w 101031"/>
              <a:gd name="connsiteY0" fmla="*/ 0 h 10000"/>
              <a:gd name="connsiteX1" fmla="*/ 101010 w 101031"/>
              <a:gd name="connsiteY1" fmla="*/ 4396 h 10000"/>
              <a:gd name="connsiteX2" fmla="*/ 10000 w 101031"/>
              <a:gd name="connsiteY2" fmla="*/ 10000 h 10000"/>
              <a:gd name="connsiteX0" fmla="*/ 0 w 270965"/>
              <a:gd name="connsiteY0" fmla="*/ 0 h 9600"/>
              <a:gd name="connsiteX1" fmla="*/ 266483 w 270965"/>
              <a:gd name="connsiteY1" fmla="*/ 3996 h 9600"/>
              <a:gd name="connsiteX2" fmla="*/ 175473 w 270965"/>
              <a:gd name="connsiteY2" fmla="*/ 9600 h 9600"/>
              <a:gd name="connsiteX0" fmla="*/ 0 w 7173"/>
              <a:gd name="connsiteY0" fmla="*/ 0 h 10000"/>
              <a:gd name="connsiteX1" fmla="*/ 6782 w 7173"/>
              <a:gd name="connsiteY1" fmla="*/ 3329 h 10000"/>
              <a:gd name="connsiteX2" fmla="*/ 6476 w 7173"/>
              <a:gd name="connsiteY2" fmla="*/ 10000 h 10000"/>
              <a:gd name="connsiteX0" fmla="*/ 0 w 10912"/>
              <a:gd name="connsiteY0" fmla="*/ 0 h 9444"/>
              <a:gd name="connsiteX1" fmla="*/ 10306 w 10912"/>
              <a:gd name="connsiteY1" fmla="*/ 2773 h 9444"/>
              <a:gd name="connsiteX2" fmla="*/ 9879 w 10912"/>
              <a:gd name="connsiteY2" fmla="*/ 9444 h 9444"/>
              <a:gd name="connsiteX0" fmla="*/ 0 w 9244"/>
              <a:gd name="connsiteY0" fmla="*/ 0 h 10000"/>
              <a:gd name="connsiteX1" fmla="*/ 8405 w 9244"/>
              <a:gd name="connsiteY1" fmla="*/ 2642 h 10000"/>
              <a:gd name="connsiteX2" fmla="*/ 9053 w 9244"/>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9700"/>
              <a:gd name="connsiteY0" fmla="*/ 0 h 10589"/>
              <a:gd name="connsiteX1" fmla="*/ 8811 w 9700"/>
              <a:gd name="connsiteY1" fmla="*/ 3231 h 10589"/>
              <a:gd name="connsiteX2" fmla="*/ 9512 w 9700"/>
              <a:gd name="connsiteY2" fmla="*/ 10589 h 10589"/>
              <a:gd name="connsiteX0" fmla="*/ 0 w 10000"/>
              <a:gd name="connsiteY0" fmla="*/ 0 h 10000"/>
              <a:gd name="connsiteX1" fmla="*/ 9084 w 10000"/>
              <a:gd name="connsiteY1" fmla="*/ 3051 h 10000"/>
              <a:gd name="connsiteX2" fmla="*/ 9806 w 10000"/>
              <a:gd name="connsiteY2" fmla="*/ 10000 h 10000"/>
              <a:gd name="connsiteX0" fmla="*/ 0 w 10000"/>
              <a:gd name="connsiteY0" fmla="*/ 0 h 10000"/>
              <a:gd name="connsiteX1" fmla="*/ 9084 w 10000"/>
              <a:gd name="connsiteY1" fmla="*/ 3051 h 10000"/>
              <a:gd name="connsiteX2" fmla="*/ 9806 w 10000"/>
              <a:gd name="connsiteY2" fmla="*/ 10000 h 10000"/>
              <a:gd name="connsiteX0" fmla="*/ 0 w 10386"/>
              <a:gd name="connsiteY0" fmla="*/ 0 h 10973"/>
              <a:gd name="connsiteX1" fmla="*/ 9084 w 10386"/>
              <a:gd name="connsiteY1" fmla="*/ 3051 h 10973"/>
              <a:gd name="connsiteX2" fmla="*/ 10386 w 10386"/>
              <a:gd name="connsiteY2" fmla="*/ 10973 h 10973"/>
              <a:gd name="connsiteX0" fmla="*/ 0 w 10414"/>
              <a:gd name="connsiteY0" fmla="*/ 0 h 10973"/>
              <a:gd name="connsiteX1" fmla="*/ 9084 w 10414"/>
              <a:gd name="connsiteY1" fmla="*/ 3051 h 10973"/>
              <a:gd name="connsiteX2" fmla="*/ 10290 w 10414"/>
              <a:gd name="connsiteY2" fmla="*/ 6669 h 10973"/>
              <a:gd name="connsiteX3" fmla="*/ 10386 w 10414"/>
              <a:gd name="connsiteY3" fmla="*/ 10973 h 10973"/>
              <a:gd name="connsiteX0" fmla="*/ 0 w 10641"/>
              <a:gd name="connsiteY0" fmla="*/ 0 h 10973"/>
              <a:gd name="connsiteX1" fmla="*/ 9084 w 10641"/>
              <a:gd name="connsiteY1" fmla="*/ 3051 h 10973"/>
              <a:gd name="connsiteX2" fmla="*/ 10580 w 10641"/>
              <a:gd name="connsiteY2" fmla="*/ 6113 h 10973"/>
              <a:gd name="connsiteX3" fmla="*/ 10386 w 10641"/>
              <a:gd name="connsiteY3" fmla="*/ 10973 h 10973"/>
              <a:gd name="connsiteX0" fmla="*/ 0 w 10641"/>
              <a:gd name="connsiteY0" fmla="*/ 0 h 10973"/>
              <a:gd name="connsiteX1" fmla="*/ 7924 w 10641"/>
              <a:gd name="connsiteY1" fmla="*/ 2634 h 10973"/>
              <a:gd name="connsiteX2" fmla="*/ 10580 w 10641"/>
              <a:gd name="connsiteY2" fmla="*/ 6113 h 10973"/>
              <a:gd name="connsiteX3" fmla="*/ 10386 w 10641"/>
              <a:gd name="connsiteY3" fmla="*/ 10973 h 10973"/>
              <a:gd name="connsiteX0" fmla="*/ 0 w 11801"/>
              <a:gd name="connsiteY0" fmla="*/ 0 h 10973"/>
              <a:gd name="connsiteX1" fmla="*/ 9084 w 11801"/>
              <a:gd name="connsiteY1" fmla="*/ 2634 h 10973"/>
              <a:gd name="connsiteX2" fmla="*/ 11740 w 11801"/>
              <a:gd name="connsiteY2" fmla="*/ 6113 h 10973"/>
              <a:gd name="connsiteX3" fmla="*/ 11546 w 11801"/>
              <a:gd name="connsiteY3" fmla="*/ 10973 h 10973"/>
              <a:gd name="connsiteX0" fmla="*/ 0 w 11801"/>
              <a:gd name="connsiteY0" fmla="*/ 0 h 10973"/>
              <a:gd name="connsiteX1" fmla="*/ 9084 w 11801"/>
              <a:gd name="connsiteY1" fmla="*/ 2634 h 10973"/>
              <a:gd name="connsiteX2" fmla="*/ 11740 w 11801"/>
              <a:gd name="connsiteY2" fmla="*/ 6113 h 10973"/>
              <a:gd name="connsiteX3" fmla="*/ 11546 w 11801"/>
              <a:gd name="connsiteY3" fmla="*/ 10973 h 10973"/>
              <a:gd name="connsiteX0" fmla="*/ 0 w 11546"/>
              <a:gd name="connsiteY0" fmla="*/ 0 h 10973"/>
              <a:gd name="connsiteX1" fmla="*/ 9084 w 11546"/>
              <a:gd name="connsiteY1" fmla="*/ 2634 h 10973"/>
              <a:gd name="connsiteX2" fmla="*/ 11546 w 11546"/>
              <a:gd name="connsiteY2" fmla="*/ 10973 h 10973"/>
              <a:gd name="connsiteX0" fmla="*/ 0 w 11911"/>
              <a:gd name="connsiteY0" fmla="*/ 0 h 7741"/>
              <a:gd name="connsiteX1" fmla="*/ 9084 w 11911"/>
              <a:gd name="connsiteY1" fmla="*/ 2634 h 7741"/>
              <a:gd name="connsiteX2" fmla="*/ 11911 w 11911"/>
              <a:gd name="connsiteY2" fmla="*/ 7741 h 7741"/>
              <a:gd name="connsiteX0" fmla="*/ 0 w 10000"/>
              <a:gd name="connsiteY0" fmla="*/ 0 h 10000"/>
              <a:gd name="connsiteX1" fmla="*/ 6809 w 10000"/>
              <a:gd name="connsiteY1" fmla="*/ 2595 h 10000"/>
              <a:gd name="connsiteX2" fmla="*/ 10000 w 10000"/>
              <a:gd name="connsiteY2" fmla="*/ 10000 h 10000"/>
              <a:gd name="connsiteX0" fmla="*/ 0 w 9898"/>
              <a:gd name="connsiteY0" fmla="*/ 0 h 10404"/>
              <a:gd name="connsiteX1" fmla="*/ 6707 w 9898"/>
              <a:gd name="connsiteY1" fmla="*/ 2999 h 10404"/>
              <a:gd name="connsiteX2" fmla="*/ 9898 w 9898"/>
              <a:gd name="connsiteY2" fmla="*/ 10404 h 10404"/>
              <a:gd name="connsiteX0" fmla="*/ 0 w 10000"/>
              <a:gd name="connsiteY0" fmla="*/ 0 h 10388"/>
              <a:gd name="connsiteX1" fmla="*/ 6776 w 10000"/>
              <a:gd name="connsiteY1" fmla="*/ 2883 h 10388"/>
              <a:gd name="connsiteX2" fmla="*/ 10000 w 10000"/>
              <a:gd name="connsiteY2" fmla="*/ 10388 h 10388"/>
              <a:gd name="connsiteX0" fmla="*/ 0 w 9311"/>
              <a:gd name="connsiteY0" fmla="*/ 0 h 10388"/>
              <a:gd name="connsiteX1" fmla="*/ 6087 w 9311"/>
              <a:gd name="connsiteY1" fmla="*/ 2883 h 10388"/>
              <a:gd name="connsiteX2" fmla="*/ 9311 w 9311"/>
              <a:gd name="connsiteY2" fmla="*/ 10388 h 10388"/>
            </a:gdLst>
            <a:ahLst/>
            <a:cxnLst>
              <a:cxn ang="0">
                <a:pos x="connsiteX0" y="connsiteY0"/>
              </a:cxn>
              <a:cxn ang="0">
                <a:pos x="connsiteX1" y="connsiteY1"/>
              </a:cxn>
              <a:cxn ang="0">
                <a:pos x="connsiteX2" y="connsiteY2"/>
              </a:cxn>
            </a:cxnLst>
            <a:rect l="l" t="t" r="r" b="b"/>
            <a:pathLst>
              <a:path w="9311" h="10388">
                <a:moveTo>
                  <a:pt x="0" y="0"/>
                </a:moveTo>
                <a:cubicBezTo>
                  <a:pt x="3470" y="688"/>
                  <a:pt x="4535" y="1152"/>
                  <a:pt x="6087" y="2883"/>
                </a:cubicBezTo>
                <a:cubicBezTo>
                  <a:pt x="7639" y="4614"/>
                  <a:pt x="8876" y="8231"/>
                  <a:pt x="9311" y="10388"/>
                </a:cubicBezTo>
              </a:path>
            </a:pathLst>
          </a:custGeom>
          <a:noFill/>
          <a:ln w="12700" cap="flat"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a:solidFill>
                <a:prstClr val="black"/>
              </a:solidFill>
            </a:endParaRPr>
          </a:p>
        </p:txBody>
      </p:sp>
      <p:sp>
        <p:nvSpPr>
          <p:cNvPr id="61" name="箭头 379"/>
          <p:cNvSpPr>
            <a:spLocks noChangeShapeType="1"/>
          </p:cNvSpPr>
          <p:nvPr/>
        </p:nvSpPr>
        <p:spPr bwMode="auto">
          <a:xfrm flipH="1">
            <a:off x="2069680" y="1839760"/>
            <a:ext cx="215052" cy="273956"/>
          </a:xfrm>
          <a:custGeom>
            <a:avLst/>
            <a:gdLst>
              <a:gd name="connsiteX0" fmla="*/ 0 w 10000"/>
              <a:gd name="connsiteY0" fmla="*/ 0 h 10000"/>
              <a:gd name="connsiteX1" fmla="*/ 10000 w 10000"/>
              <a:gd name="connsiteY1" fmla="*/ 10000 h 10000"/>
              <a:gd name="connsiteX0" fmla="*/ 0 w 10000"/>
              <a:gd name="connsiteY0" fmla="*/ 0 h 10000"/>
              <a:gd name="connsiteX1" fmla="*/ 10000 w 10000"/>
              <a:gd name="connsiteY1" fmla="*/ 4196 h 10000"/>
              <a:gd name="connsiteX2" fmla="*/ 10000 w 10000"/>
              <a:gd name="connsiteY2" fmla="*/ 10000 h 10000"/>
              <a:gd name="connsiteX0" fmla="*/ 0 w 101010"/>
              <a:gd name="connsiteY0" fmla="*/ 0 h 10000"/>
              <a:gd name="connsiteX1" fmla="*/ 101010 w 101010"/>
              <a:gd name="connsiteY1" fmla="*/ 5597 h 10000"/>
              <a:gd name="connsiteX2" fmla="*/ 10000 w 101010"/>
              <a:gd name="connsiteY2" fmla="*/ 10000 h 10000"/>
              <a:gd name="connsiteX0" fmla="*/ 0 w 101031"/>
              <a:gd name="connsiteY0" fmla="*/ 0 h 10000"/>
              <a:gd name="connsiteX1" fmla="*/ 101010 w 101031"/>
              <a:gd name="connsiteY1" fmla="*/ 5597 h 10000"/>
              <a:gd name="connsiteX2" fmla="*/ 10000 w 101031"/>
              <a:gd name="connsiteY2" fmla="*/ 10000 h 10000"/>
              <a:gd name="connsiteX0" fmla="*/ 0 w 101031"/>
              <a:gd name="connsiteY0" fmla="*/ 0 h 10000"/>
              <a:gd name="connsiteX1" fmla="*/ 101010 w 101031"/>
              <a:gd name="connsiteY1" fmla="*/ 4396 h 10000"/>
              <a:gd name="connsiteX2" fmla="*/ 10000 w 101031"/>
              <a:gd name="connsiteY2" fmla="*/ 10000 h 10000"/>
              <a:gd name="connsiteX0" fmla="*/ 0 w 270965"/>
              <a:gd name="connsiteY0" fmla="*/ 0 h 9600"/>
              <a:gd name="connsiteX1" fmla="*/ 266483 w 270965"/>
              <a:gd name="connsiteY1" fmla="*/ 3996 h 9600"/>
              <a:gd name="connsiteX2" fmla="*/ 175473 w 270965"/>
              <a:gd name="connsiteY2" fmla="*/ 9600 h 9600"/>
              <a:gd name="connsiteX0" fmla="*/ 0 w 7173"/>
              <a:gd name="connsiteY0" fmla="*/ 0 h 10000"/>
              <a:gd name="connsiteX1" fmla="*/ 6782 w 7173"/>
              <a:gd name="connsiteY1" fmla="*/ 3329 h 10000"/>
              <a:gd name="connsiteX2" fmla="*/ 6476 w 7173"/>
              <a:gd name="connsiteY2" fmla="*/ 10000 h 10000"/>
              <a:gd name="connsiteX0" fmla="*/ 0 w 10912"/>
              <a:gd name="connsiteY0" fmla="*/ 0 h 9444"/>
              <a:gd name="connsiteX1" fmla="*/ 10306 w 10912"/>
              <a:gd name="connsiteY1" fmla="*/ 2773 h 9444"/>
              <a:gd name="connsiteX2" fmla="*/ 9879 w 10912"/>
              <a:gd name="connsiteY2" fmla="*/ 9444 h 9444"/>
              <a:gd name="connsiteX0" fmla="*/ 0 w 9244"/>
              <a:gd name="connsiteY0" fmla="*/ 0 h 10000"/>
              <a:gd name="connsiteX1" fmla="*/ 8405 w 9244"/>
              <a:gd name="connsiteY1" fmla="*/ 2642 h 10000"/>
              <a:gd name="connsiteX2" fmla="*/ 9053 w 9244"/>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9700"/>
              <a:gd name="connsiteY0" fmla="*/ 0 h 10589"/>
              <a:gd name="connsiteX1" fmla="*/ 8811 w 9700"/>
              <a:gd name="connsiteY1" fmla="*/ 3231 h 10589"/>
              <a:gd name="connsiteX2" fmla="*/ 9512 w 9700"/>
              <a:gd name="connsiteY2" fmla="*/ 10589 h 10589"/>
              <a:gd name="connsiteX0" fmla="*/ 0 w 10000"/>
              <a:gd name="connsiteY0" fmla="*/ 0 h 10000"/>
              <a:gd name="connsiteX1" fmla="*/ 9084 w 10000"/>
              <a:gd name="connsiteY1" fmla="*/ 3051 h 10000"/>
              <a:gd name="connsiteX2" fmla="*/ 9806 w 10000"/>
              <a:gd name="connsiteY2" fmla="*/ 10000 h 10000"/>
              <a:gd name="connsiteX0" fmla="*/ 0 w 10000"/>
              <a:gd name="connsiteY0" fmla="*/ 0 h 10000"/>
              <a:gd name="connsiteX1" fmla="*/ 9084 w 10000"/>
              <a:gd name="connsiteY1" fmla="*/ 3051 h 10000"/>
              <a:gd name="connsiteX2" fmla="*/ 9806 w 10000"/>
              <a:gd name="connsiteY2" fmla="*/ 10000 h 10000"/>
              <a:gd name="connsiteX0" fmla="*/ 0 w 10386"/>
              <a:gd name="connsiteY0" fmla="*/ 0 h 10973"/>
              <a:gd name="connsiteX1" fmla="*/ 9084 w 10386"/>
              <a:gd name="connsiteY1" fmla="*/ 3051 h 10973"/>
              <a:gd name="connsiteX2" fmla="*/ 10386 w 10386"/>
              <a:gd name="connsiteY2" fmla="*/ 10973 h 10973"/>
              <a:gd name="connsiteX0" fmla="*/ 0 w 10414"/>
              <a:gd name="connsiteY0" fmla="*/ 0 h 10973"/>
              <a:gd name="connsiteX1" fmla="*/ 9084 w 10414"/>
              <a:gd name="connsiteY1" fmla="*/ 3051 h 10973"/>
              <a:gd name="connsiteX2" fmla="*/ 10290 w 10414"/>
              <a:gd name="connsiteY2" fmla="*/ 6669 h 10973"/>
              <a:gd name="connsiteX3" fmla="*/ 10386 w 10414"/>
              <a:gd name="connsiteY3" fmla="*/ 10973 h 10973"/>
              <a:gd name="connsiteX0" fmla="*/ 0 w 10641"/>
              <a:gd name="connsiteY0" fmla="*/ 0 h 10973"/>
              <a:gd name="connsiteX1" fmla="*/ 9084 w 10641"/>
              <a:gd name="connsiteY1" fmla="*/ 3051 h 10973"/>
              <a:gd name="connsiteX2" fmla="*/ 10580 w 10641"/>
              <a:gd name="connsiteY2" fmla="*/ 6113 h 10973"/>
              <a:gd name="connsiteX3" fmla="*/ 10386 w 10641"/>
              <a:gd name="connsiteY3" fmla="*/ 10973 h 10973"/>
              <a:gd name="connsiteX0" fmla="*/ 0 w 10641"/>
              <a:gd name="connsiteY0" fmla="*/ 0 h 10973"/>
              <a:gd name="connsiteX1" fmla="*/ 7924 w 10641"/>
              <a:gd name="connsiteY1" fmla="*/ 2634 h 10973"/>
              <a:gd name="connsiteX2" fmla="*/ 10580 w 10641"/>
              <a:gd name="connsiteY2" fmla="*/ 6113 h 10973"/>
              <a:gd name="connsiteX3" fmla="*/ 10386 w 10641"/>
              <a:gd name="connsiteY3" fmla="*/ 10973 h 10973"/>
              <a:gd name="connsiteX0" fmla="*/ 0 w 11801"/>
              <a:gd name="connsiteY0" fmla="*/ 0 h 10973"/>
              <a:gd name="connsiteX1" fmla="*/ 9084 w 11801"/>
              <a:gd name="connsiteY1" fmla="*/ 2634 h 10973"/>
              <a:gd name="connsiteX2" fmla="*/ 11740 w 11801"/>
              <a:gd name="connsiteY2" fmla="*/ 6113 h 10973"/>
              <a:gd name="connsiteX3" fmla="*/ 11546 w 11801"/>
              <a:gd name="connsiteY3" fmla="*/ 10973 h 10973"/>
              <a:gd name="connsiteX0" fmla="*/ 0 w 11801"/>
              <a:gd name="connsiteY0" fmla="*/ 0 h 10973"/>
              <a:gd name="connsiteX1" fmla="*/ 9084 w 11801"/>
              <a:gd name="connsiteY1" fmla="*/ 2634 h 10973"/>
              <a:gd name="connsiteX2" fmla="*/ 11740 w 11801"/>
              <a:gd name="connsiteY2" fmla="*/ 6113 h 10973"/>
              <a:gd name="connsiteX3" fmla="*/ 11546 w 11801"/>
              <a:gd name="connsiteY3" fmla="*/ 10973 h 10973"/>
              <a:gd name="connsiteX0" fmla="*/ 0 w 11546"/>
              <a:gd name="connsiteY0" fmla="*/ 0 h 10973"/>
              <a:gd name="connsiteX1" fmla="*/ 9084 w 11546"/>
              <a:gd name="connsiteY1" fmla="*/ 2634 h 10973"/>
              <a:gd name="connsiteX2" fmla="*/ 11546 w 11546"/>
              <a:gd name="connsiteY2" fmla="*/ 10973 h 10973"/>
              <a:gd name="connsiteX0" fmla="*/ 0 w 11546"/>
              <a:gd name="connsiteY0" fmla="*/ 0 h 8367"/>
              <a:gd name="connsiteX1" fmla="*/ 9084 w 11546"/>
              <a:gd name="connsiteY1" fmla="*/ 2634 h 8367"/>
              <a:gd name="connsiteX2" fmla="*/ 11546 w 11546"/>
              <a:gd name="connsiteY2" fmla="*/ 8367 h 8367"/>
              <a:gd name="connsiteX0" fmla="*/ 0 w 10000"/>
              <a:gd name="connsiteY0" fmla="*/ 0 h 10000"/>
              <a:gd name="connsiteX1" fmla="*/ 6978 w 10000"/>
              <a:gd name="connsiteY1" fmla="*/ 3397 h 10000"/>
              <a:gd name="connsiteX2" fmla="*/ 10000 w 10000"/>
              <a:gd name="connsiteY2" fmla="*/ 10000 h 10000"/>
              <a:gd name="connsiteX0" fmla="*/ 0 w 10297"/>
              <a:gd name="connsiteY0" fmla="*/ 0 h 11744"/>
              <a:gd name="connsiteX1" fmla="*/ 6978 w 10297"/>
              <a:gd name="connsiteY1" fmla="*/ 3397 h 11744"/>
              <a:gd name="connsiteX2" fmla="*/ 10297 w 10297"/>
              <a:gd name="connsiteY2" fmla="*/ 11744 h 11744"/>
              <a:gd name="connsiteX0" fmla="*/ 0 w 9424"/>
              <a:gd name="connsiteY0" fmla="*/ 0 h 10425"/>
              <a:gd name="connsiteX1" fmla="*/ 6978 w 9424"/>
              <a:gd name="connsiteY1" fmla="*/ 3397 h 10425"/>
              <a:gd name="connsiteX2" fmla="*/ 9424 w 9424"/>
              <a:gd name="connsiteY2" fmla="*/ 10425 h 10425"/>
              <a:gd name="connsiteX0" fmla="*/ 0 w 9259"/>
              <a:gd name="connsiteY0" fmla="*/ 0 h 9297"/>
              <a:gd name="connsiteX1" fmla="*/ 6663 w 9259"/>
              <a:gd name="connsiteY1" fmla="*/ 2556 h 9297"/>
              <a:gd name="connsiteX2" fmla="*/ 9259 w 9259"/>
              <a:gd name="connsiteY2" fmla="*/ 9297 h 9297"/>
              <a:gd name="connsiteX0" fmla="*/ 0 w 9600"/>
              <a:gd name="connsiteY0" fmla="*/ 0 h 9244"/>
              <a:gd name="connsiteX1" fmla="*/ 7196 w 9600"/>
              <a:gd name="connsiteY1" fmla="*/ 2749 h 9244"/>
              <a:gd name="connsiteX2" fmla="*/ 9600 w 9600"/>
              <a:gd name="connsiteY2" fmla="*/ 9244 h 9244"/>
              <a:gd name="connsiteX0" fmla="*/ 0 w 10000"/>
              <a:gd name="connsiteY0" fmla="*/ 0 h 10000"/>
              <a:gd name="connsiteX1" fmla="*/ 6871 w 10000"/>
              <a:gd name="connsiteY1" fmla="*/ 2974 h 10000"/>
              <a:gd name="connsiteX2" fmla="*/ 10000 w 10000"/>
              <a:gd name="connsiteY2" fmla="*/ 10000 h 10000"/>
            </a:gdLst>
            <a:ahLst/>
            <a:cxnLst>
              <a:cxn ang="0">
                <a:pos x="connsiteX0" y="connsiteY0"/>
              </a:cxn>
              <a:cxn ang="0">
                <a:pos x="connsiteX1" y="connsiteY1"/>
              </a:cxn>
              <a:cxn ang="0">
                <a:pos x="connsiteX2" y="connsiteY2"/>
              </a:cxn>
            </a:cxnLst>
            <a:rect l="l" t="t" r="r" b="b"/>
            <a:pathLst>
              <a:path w="10000" h="10000">
                <a:moveTo>
                  <a:pt x="0" y="0"/>
                </a:moveTo>
                <a:cubicBezTo>
                  <a:pt x="4230" y="739"/>
                  <a:pt x="5204" y="1307"/>
                  <a:pt x="6871" y="2974"/>
                </a:cubicBezTo>
                <a:cubicBezTo>
                  <a:pt x="8538" y="4641"/>
                  <a:pt x="9470" y="7683"/>
                  <a:pt x="10000" y="10000"/>
                </a:cubicBezTo>
              </a:path>
            </a:pathLst>
          </a:custGeom>
          <a:noFill/>
          <a:ln w="12700" cap="flat"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prstClr val="black"/>
              </a:solidFill>
            </a:endParaRPr>
          </a:p>
        </p:txBody>
      </p:sp>
      <p:sp>
        <p:nvSpPr>
          <p:cNvPr id="63" name="TextBox 62"/>
          <p:cNvSpPr txBox="1"/>
          <p:nvPr/>
        </p:nvSpPr>
        <p:spPr>
          <a:xfrm>
            <a:off x="2186879" y="1175893"/>
            <a:ext cx="445315" cy="215444"/>
          </a:xfrm>
          <a:prstGeom prst="rect">
            <a:avLst/>
          </a:prstGeom>
          <a:noFill/>
        </p:spPr>
        <p:txBody>
          <a:bodyPr wrap="none" lIns="0" tIns="0" rIns="0" bIns="0" rtlCol="0">
            <a:spAutoFit/>
          </a:bodyPr>
          <a:lstStyle/>
          <a:p>
            <a:r>
              <a:rPr lang="en-US" altLang="zh-CN" sz="1400" i="1" dirty="0" smtClean="0"/>
              <a:t>writes</a:t>
            </a:r>
            <a:endParaRPr lang="zh-CN" altLang="en-US" sz="1400" i="1" dirty="0"/>
          </a:p>
        </p:txBody>
      </p:sp>
      <p:cxnSp>
        <p:nvCxnSpPr>
          <p:cNvPr id="64" name="直接箭头连接符 63"/>
          <p:cNvCxnSpPr/>
          <p:nvPr/>
        </p:nvCxnSpPr>
        <p:spPr>
          <a:xfrm flipH="1">
            <a:off x="2400403" y="1432720"/>
            <a:ext cx="5619" cy="30224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1064201" y="2086774"/>
            <a:ext cx="720967" cy="307777"/>
          </a:xfrm>
          <a:prstGeom prst="rect">
            <a:avLst/>
          </a:prstGeom>
          <a:noFill/>
        </p:spPr>
        <p:txBody>
          <a:bodyPr wrap="none" rtlCol="0">
            <a:spAutoFit/>
          </a:bodyPr>
          <a:lstStyle/>
          <a:p>
            <a:r>
              <a:rPr lang="en-US" altLang="zh-CN" sz="1400" i="1" dirty="0" smtClean="0"/>
              <a:t>merges</a:t>
            </a:r>
            <a:endParaRPr lang="zh-CN" altLang="en-US" sz="1400" i="1" dirty="0"/>
          </a:p>
        </p:txBody>
      </p:sp>
      <p:sp>
        <p:nvSpPr>
          <p:cNvPr id="66" name="TextBox 65"/>
          <p:cNvSpPr txBox="1"/>
          <p:nvPr/>
        </p:nvSpPr>
        <p:spPr>
          <a:xfrm>
            <a:off x="2534286" y="1729199"/>
            <a:ext cx="157094" cy="215444"/>
          </a:xfrm>
          <a:prstGeom prst="rect">
            <a:avLst/>
          </a:prstGeom>
          <a:noFill/>
        </p:spPr>
        <p:txBody>
          <a:bodyPr wrap="none" lIns="0" tIns="0" rIns="0" bIns="0" rtlCol="0">
            <a:spAutoFit/>
          </a:bodyPr>
          <a:lstStyle/>
          <a:p>
            <a:r>
              <a:rPr lang="en-US" altLang="zh-CN" sz="1400" dirty="0" smtClean="0"/>
              <a:t>C</a:t>
            </a:r>
            <a:r>
              <a:rPr lang="en-US" altLang="zh-CN" sz="1400" baseline="-25000" dirty="0" smtClean="0"/>
              <a:t>0</a:t>
            </a:r>
            <a:endParaRPr lang="zh-CN" altLang="en-US" sz="1400" baseline="-25000" dirty="0"/>
          </a:p>
        </p:txBody>
      </p:sp>
      <p:sp>
        <p:nvSpPr>
          <p:cNvPr id="67" name="TextBox 66"/>
          <p:cNvSpPr txBox="1"/>
          <p:nvPr/>
        </p:nvSpPr>
        <p:spPr>
          <a:xfrm>
            <a:off x="2832891" y="2074566"/>
            <a:ext cx="157094" cy="215444"/>
          </a:xfrm>
          <a:prstGeom prst="rect">
            <a:avLst/>
          </a:prstGeom>
          <a:noFill/>
        </p:spPr>
        <p:txBody>
          <a:bodyPr wrap="none" lIns="0" tIns="0" rIns="0" bIns="0" rtlCol="0">
            <a:spAutoFit/>
          </a:bodyPr>
          <a:lstStyle/>
          <a:p>
            <a:r>
              <a:rPr lang="en-US" altLang="zh-CN" sz="1400" dirty="0" smtClean="0"/>
              <a:t>C</a:t>
            </a:r>
            <a:r>
              <a:rPr lang="en-US" altLang="zh-CN" sz="1400" baseline="-25000" dirty="0" smtClean="0"/>
              <a:t>1</a:t>
            </a:r>
            <a:endParaRPr lang="zh-CN" altLang="en-US" sz="1400" baseline="-25000" dirty="0"/>
          </a:p>
        </p:txBody>
      </p:sp>
      <p:sp>
        <p:nvSpPr>
          <p:cNvPr id="68" name="TextBox 67"/>
          <p:cNvSpPr txBox="1"/>
          <p:nvPr/>
        </p:nvSpPr>
        <p:spPr>
          <a:xfrm>
            <a:off x="3190254" y="2443996"/>
            <a:ext cx="157094" cy="215444"/>
          </a:xfrm>
          <a:prstGeom prst="rect">
            <a:avLst/>
          </a:prstGeom>
          <a:noFill/>
        </p:spPr>
        <p:txBody>
          <a:bodyPr wrap="none" lIns="0" tIns="0" rIns="0" bIns="0" rtlCol="0">
            <a:spAutoFit/>
          </a:bodyPr>
          <a:lstStyle/>
          <a:p>
            <a:r>
              <a:rPr lang="en-US" altLang="zh-CN" sz="1400" dirty="0" smtClean="0"/>
              <a:t>C</a:t>
            </a:r>
            <a:r>
              <a:rPr lang="en-US" altLang="zh-CN" sz="1400" baseline="-25000" dirty="0" smtClean="0"/>
              <a:t>2</a:t>
            </a:r>
            <a:endParaRPr lang="zh-CN" altLang="en-US" sz="1400" baseline="-25000" dirty="0"/>
          </a:p>
        </p:txBody>
      </p:sp>
      <p:sp>
        <p:nvSpPr>
          <p:cNvPr id="71" name="Text Box 17"/>
          <p:cNvSpPr txBox="1">
            <a:spLocks noChangeArrowheads="1"/>
          </p:cNvSpPr>
          <p:nvPr/>
        </p:nvSpPr>
        <p:spPr bwMode="auto">
          <a:xfrm>
            <a:off x="1269815" y="1284777"/>
            <a:ext cx="399148" cy="1846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r>
              <a:rPr lang="en-US" altLang="zh-CN" sz="1200" dirty="0" smtClean="0">
                <a:solidFill>
                  <a:prstClr val="black"/>
                </a:solidFill>
              </a:rPr>
              <a:t>DRAM</a:t>
            </a:r>
            <a:endParaRPr lang="zh-CN" altLang="en-US" sz="1200" dirty="0">
              <a:solidFill>
                <a:prstClr val="black"/>
              </a:solidFill>
            </a:endParaRPr>
          </a:p>
        </p:txBody>
      </p:sp>
      <p:sp>
        <p:nvSpPr>
          <p:cNvPr id="73" name="Rectangle 16"/>
          <p:cNvSpPr>
            <a:spLocks noChangeArrowheads="1"/>
          </p:cNvSpPr>
          <p:nvPr/>
        </p:nvSpPr>
        <p:spPr bwMode="auto">
          <a:xfrm>
            <a:off x="896561" y="1303848"/>
            <a:ext cx="274320" cy="137160"/>
          </a:xfrm>
          <a:prstGeom prst="rect">
            <a:avLst/>
          </a:prstGeom>
          <a:solidFill>
            <a:srgbClr val="FFFF00"/>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solidFill>
                <a:prstClr val="black"/>
              </a:solidFill>
            </a:endParaRPr>
          </a:p>
        </p:txBody>
      </p:sp>
      <p:grpSp>
        <p:nvGrpSpPr>
          <p:cNvPr id="37" name="组合 36"/>
          <p:cNvGrpSpPr/>
          <p:nvPr/>
        </p:nvGrpSpPr>
        <p:grpSpPr>
          <a:xfrm>
            <a:off x="2016550" y="4156225"/>
            <a:ext cx="914400" cy="364089"/>
            <a:chOff x="3788396" y="2294582"/>
            <a:chExt cx="914400" cy="364089"/>
          </a:xfrm>
        </p:grpSpPr>
        <p:sp>
          <p:nvSpPr>
            <p:cNvPr id="104" name="Rectangle 10"/>
            <p:cNvSpPr>
              <a:spLocks noChangeArrowheads="1"/>
            </p:cNvSpPr>
            <p:nvPr/>
          </p:nvSpPr>
          <p:spPr bwMode="auto">
            <a:xfrm>
              <a:off x="3788396" y="2294582"/>
              <a:ext cx="914400" cy="364089"/>
            </a:xfrm>
            <a:prstGeom prst="rect">
              <a:avLst/>
            </a:prstGeom>
            <a:noFill/>
            <a:ln w="6350" cap="flat" cmpd="sng">
              <a:solidFill>
                <a:schemeClr val="tx1"/>
              </a:solidFill>
              <a:miter lim="800000"/>
              <a:headEnd/>
              <a:tailEnd/>
            </a:ln>
            <a:effectLst/>
            <a:extLst/>
          </p:spPr>
          <p:txBody>
            <a:bodyPr wrap="none" anchor="ctr"/>
            <a:lstStyle/>
            <a:p>
              <a:endParaRPr lang="zh-CN" altLang="en-US">
                <a:solidFill>
                  <a:prstClr val="black"/>
                </a:solidFill>
              </a:endParaRPr>
            </a:p>
          </p:txBody>
        </p:sp>
        <p:cxnSp>
          <p:nvCxnSpPr>
            <p:cNvPr id="105" name="直接连接符 104"/>
            <p:cNvCxnSpPr>
              <a:stCxn id="104" idx="1"/>
              <a:endCxn id="104" idx="3"/>
            </p:cNvCxnSpPr>
            <p:nvPr/>
          </p:nvCxnSpPr>
          <p:spPr>
            <a:xfrm>
              <a:off x="3788396" y="2476627"/>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a:off x="4151617" y="2298392"/>
              <a:ext cx="0" cy="356616"/>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a:off x="3971912" y="2298392"/>
              <a:ext cx="0" cy="356616"/>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a:off x="4336879" y="2298392"/>
              <a:ext cx="0" cy="356616"/>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a:off x="4522494" y="2298392"/>
              <a:ext cx="0" cy="356616"/>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2" name="Rectangle 10"/>
          <p:cNvSpPr>
            <a:spLocks noChangeArrowheads="1"/>
          </p:cNvSpPr>
          <p:nvPr/>
        </p:nvSpPr>
        <p:spPr bwMode="auto">
          <a:xfrm>
            <a:off x="2210807" y="6016775"/>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FF0000"/>
                </a:solidFill>
              </a:rPr>
              <a:t>a</a:t>
            </a:r>
            <a:endParaRPr lang="zh-CN" altLang="en-US" sz="2400" b="1" dirty="0">
              <a:solidFill>
                <a:srgbClr val="FF0000"/>
              </a:solidFill>
            </a:endParaRPr>
          </a:p>
        </p:txBody>
      </p:sp>
      <p:sp>
        <p:nvSpPr>
          <p:cNvPr id="113" name="Rectangle 10"/>
          <p:cNvSpPr>
            <a:spLocks noChangeArrowheads="1"/>
          </p:cNvSpPr>
          <p:nvPr/>
        </p:nvSpPr>
        <p:spPr bwMode="auto">
          <a:xfrm>
            <a:off x="2576567" y="6016435"/>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002060"/>
                </a:solidFill>
              </a:rPr>
              <a:t>e</a:t>
            </a:r>
            <a:endParaRPr lang="zh-CN" altLang="en-US" b="1" dirty="0">
              <a:solidFill>
                <a:srgbClr val="002060"/>
              </a:solidFill>
            </a:endParaRPr>
          </a:p>
        </p:txBody>
      </p:sp>
      <p:sp>
        <p:nvSpPr>
          <p:cNvPr id="114" name="Rectangle 10"/>
          <p:cNvSpPr>
            <a:spLocks noChangeArrowheads="1"/>
          </p:cNvSpPr>
          <p:nvPr/>
        </p:nvSpPr>
        <p:spPr bwMode="auto">
          <a:xfrm>
            <a:off x="2393687" y="6016775"/>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FFC000"/>
                </a:solidFill>
              </a:rPr>
              <a:t>c</a:t>
            </a:r>
            <a:endParaRPr lang="zh-CN" altLang="en-US" sz="2400" b="1" dirty="0">
              <a:solidFill>
                <a:srgbClr val="FFC000"/>
              </a:solidFill>
            </a:endParaRPr>
          </a:p>
        </p:txBody>
      </p:sp>
      <p:sp>
        <p:nvSpPr>
          <p:cNvPr id="15" name="TextBox 14"/>
          <p:cNvSpPr txBox="1"/>
          <p:nvPr/>
        </p:nvSpPr>
        <p:spPr>
          <a:xfrm>
            <a:off x="2212288" y="2051256"/>
            <a:ext cx="250068" cy="246221"/>
          </a:xfrm>
          <a:prstGeom prst="rect">
            <a:avLst/>
          </a:prstGeom>
          <a:noFill/>
        </p:spPr>
        <p:txBody>
          <a:bodyPr wrap="none" lIns="0" tIns="0" rIns="0" bIns="0" rtlCol="0">
            <a:spAutoFit/>
          </a:bodyPr>
          <a:lstStyle/>
          <a:p>
            <a:r>
              <a:rPr lang="en-US" altLang="zh-CN" sz="1600" b="1" dirty="0">
                <a:solidFill>
                  <a:schemeClr val="bg1"/>
                </a:solidFill>
              </a:rPr>
              <a:t>a</a:t>
            </a:r>
            <a:r>
              <a:rPr lang="en-US" altLang="zh-CN" sz="1600" b="1" dirty="0" smtClean="0">
                <a:solidFill>
                  <a:schemeClr val="bg1"/>
                </a:solidFill>
              </a:rPr>
              <a:t> e</a:t>
            </a:r>
            <a:endParaRPr lang="zh-CN" altLang="en-US" sz="1600" b="1" dirty="0">
              <a:solidFill>
                <a:schemeClr val="bg1"/>
              </a:solidFill>
            </a:endParaRPr>
          </a:p>
        </p:txBody>
      </p:sp>
      <p:sp>
        <p:nvSpPr>
          <p:cNvPr id="115" name="TextBox 114"/>
          <p:cNvSpPr txBox="1"/>
          <p:nvPr/>
        </p:nvSpPr>
        <p:spPr>
          <a:xfrm>
            <a:off x="1857673" y="2433412"/>
            <a:ext cx="451289" cy="246221"/>
          </a:xfrm>
          <a:prstGeom prst="rect">
            <a:avLst/>
          </a:prstGeom>
          <a:noFill/>
        </p:spPr>
        <p:txBody>
          <a:bodyPr wrap="square" lIns="0" tIns="0" rIns="0" bIns="0" rtlCol="0">
            <a:spAutoFit/>
          </a:bodyPr>
          <a:lstStyle/>
          <a:p>
            <a:r>
              <a:rPr lang="en-US" altLang="zh-CN" sz="1600" b="1" dirty="0" smtClean="0">
                <a:solidFill>
                  <a:schemeClr val="bg1"/>
                </a:solidFill>
              </a:rPr>
              <a:t>b d f</a:t>
            </a:r>
            <a:endParaRPr lang="zh-CN" altLang="en-US" sz="1600" b="1" dirty="0">
              <a:solidFill>
                <a:schemeClr val="bg1"/>
              </a:solidFill>
            </a:endParaRPr>
          </a:p>
        </p:txBody>
      </p:sp>
      <p:sp>
        <p:nvSpPr>
          <p:cNvPr id="39" name="矩形 38"/>
          <p:cNvSpPr/>
          <p:nvPr/>
        </p:nvSpPr>
        <p:spPr>
          <a:xfrm>
            <a:off x="2358556" y="1663217"/>
            <a:ext cx="96180" cy="276999"/>
          </a:xfrm>
          <a:prstGeom prst="rect">
            <a:avLst/>
          </a:prstGeom>
        </p:spPr>
        <p:txBody>
          <a:bodyPr wrap="none" lIns="0" tIns="0" rIns="0" bIns="0">
            <a:spAutoFit/>
          </a:bodyPr>
          <a:lstStyle/>
          <a:p>
            <a:pPr lvl="0" algn="ctr"/>
            <a:r>
              <a:rPr lang="en-US" altLang="zh-CN" b="1" dirty="0" smtClean="0"/>
              <a:t>c</a:t>
            </a:r>
            <a:endParaRPr lang="zh-CN" altLang="en-US" b="1" dirty="0"/>
          </a:p>
        </p:txBody>
      </p:sp>
      <p:sp>
        <p:nvSpPr>
          <p:cNvPr id="119" name="TextBox 118"/>
          <p:cNvSpPr txBox="1"/>
          <p:nvPr/>
        </p:nvSpPr>
        <p:spPr>
          <a:xfrm>
            <a:off x="1998296" y="2427055"/>
            <a:ext cx="809517" cy="246221"/>
          </a:xfrm>
          <a:prstGeom prst="rect">
            <a:avLst/>
          </a:prstGeom>
          <a:noFill/>
        </p:spPr>
        <p:txBody>
          <a:bodyPr wrap="none" lIns="0" tIns="0" rIns="0" bIns="0" rtlCol="0">
            <a:spAutoFit/>
          </a:bodyPr>
          <a:lstStyle/>
          <a:p>
            <a:r>
              <a:rPr lang="en-US" altLang="zh-CN" sz="1600" b="1" dirty="0" smtClean="0">
                <a:solidFill>
                  <a:schemeClr val="bg1"/>
                </a:solidFill>
              </a:rPr>
              <a:t>a b c d e f</a:t>
            </a:r>
            <a:endParaRPr lang="zh-CN" altLang="en-US" sz="1600" b="1" dirty="0">
              <a:solidFill>
                <a:schemeClr val="bg1"/>
              </a:solidFill>
            </a:endParaRPr>
          </a:p>
        </p:txBody>
      </p:sp>
      <p:sp>
        <p:nvSpPr>
          <p:cNvPr id="90" name="TextBox 89"/>
          <p:cNvSpPr txBox="1"/>
          <p:nvPr/>
        </p:nvSpPr>
        <p:spPr>
          <a:xfrm>
            <a:off x="6060689" y="2043975"/>
            <a:ext cx="149080" cy="246221"/>
          </a:xfrm>
          <a:prstGeom prst="rect">
            <a:avLst/>
          </a:prstGeom>
          <a:noFill/>
        </p:spPr>
        <p:txBody>
          <a:bodyPr wrap="none" lIns="0" tIns="0" rIns="0" bIns="0" rtlCol="0">
            <a:spAutoFit/>
          </a:bodyPr>
          <a:lstStyle/>
          <a:p>
            <a:r>
              <a:rPr lang="en-US" altLang="zh-CN" sz="1600" b="1" dirty="0" smtClean="0">
                <a:solidFill>
                  <a:schemeClr val="bg1"/>
                </a:solidFill>
              </a:rPr>
              <a:t> e</a:t>
            </a:r>
            <a:endParaRPr lang="zh-CN" altLang="en-US" sz="1600" b="1" dirty="0">
              <a:solidFill>
                <a:schemeClr val="bg1"/>
              </a:solidFill>
            </a:endParaRPr>
          </a:p>
        </p:txBody>
      </p:sp>
      <p:sp>
        <p:nvSpPr>
          <p:cNvPr id="91" name="TextBox 90"/>
          <p:cNvSpPr txBox="1"/>
          <p:nvPr/>
        </p:nvSpPr>
        <p:spPr>
          <a:xfrm>
            <a:off x="6341910" y="2429767"/>
            <a:ext cx="451289" cy="246221"/>
          </a:xfrm>
          <a:prstGeom prst="rect">
            <a:avLst/>
          </a:prstGeom>
          <a:noFill/>
        </p:spPr>
        <p:txBody>
          <a:bodyPr wrap="square" lIns="0" tIns="0" rIns="0" bIns="0" rtlCol="0">
            <a:spAutoFit/>
          </a:bodyPr>
          <a:lstStyle/>
          <a:p>
            <a:r>
              <a:rPr lang="en-US" altLang="zh-CN" sz="1600" b="1" dirty="0" smtClean="0">
                <a:solidFill>
                  <a:schemeClr val="bg1"/>
                </a:solidFill>
              </a:rPr>
              <a:t>b d f</a:t>
            </a:r>
            <a:endParaRPr lang="zh-CN" altLang="en-US" sz="1600" b="1" dirty="0">
              <a:solidFill>
                <a:schemeClr val="bg1"/>
              </a:solidFill>
            </a:endParaRPr>
          </a:p>
        </p:txBody>
      </p:sp>
      <p:sp>
        <p:nvSpPr>
          <p:cNvPr id="92" name="TextBox 91"/>
          <p:cNvSpPr txBox="1"/>
          <p:nvPr/>
        </p:nvSpPr>
        <p:spPr>
          <a:xfrm>
            <a:off x="5874571" y="2043962"/>
            <a:ext cx="100990" cy="246221"/>
          </a:xfrm>
          <a:prstGeom prst="rect">
            <a:avLst/>
          </a:prstGeom>
          <a:noFill/>
        </p:spPr>
        <p:txBody>
          <a:bodyPr wrap="none" lIns="0" tIns="0" rIns="0" bIns="0" rtlCol="0">
            <a:spAutoFit/>
          </a:bodyPr>
          <a:lstStyle/>
          <a:p>
            <a:r>
              <a:rPr lang="en-US" altLang="zh-CN" sz="1600" b="1" dirty="0" smtClean="0">
                <a:solidFill>
                  <a:schemeClr val="bg1"/>
                </a:solidFill>
              </a:rPr>
              <a:t>a</a:t>
            </a:r>
            <a:endParaRPr lang="zh-CN" altLang="en-US" sz="1600" b="1" dirty="0">
              <a:solidFill>
                <a:schemeClr val="bg1">
                  <a:lumMod val="50000"/>
                </a:schemeClr>
              </a:solidFill>
            </a:endParaRPr>
          </a:p>
        </p:txBody>
      </p:sp>
      <p:sp>
        <p:nvSpPr>
          <p:cNvPr id="93" name="TextBox 92"/>
          <p:cNvSpPr txBox="1"/>
          <p:nvPr/>
        </p:nvSpPr>
        <p:spPr>
          <a:xfrm>
            <a:off x="5574914" y="2043975"/>
            <a:ext cx="133050" cy="246221"/>
          </a:xfrm>
          <a:prstGeom prst="rect">
            <a:avLst/>
          </a:prstGeom>
          <a:noFill/>
        </p:spPr>
        <p:txBody>
          <a:bodyPr wrap="none" lIns="0" tIns="0" rIns="0" bIns="0" rtlCol="0">
            <a:spAutoFit/>
          </a:bodyPr>
          <a:lstStyle/>
          <a:p>
            <a:r>
              <a:rPr lang="en-US" altLang="zh-CN" sz="1600" b="1" dirty="0">
                <a:solidFill>
                  <a:schemeClr val="bg1">
                    <a:lumMod val="50000"/>
                  </a:schemeClr>
                </a:solidFill>
              </a:rPr>
              <a:t> </a:t>
            </a:r>
            <a:r>
              <a:rPr lang="en-US" altLang="zh-CN" sz="1600" b="1" dirty="0">
                <a:solidFill>
                  <a:schemeClr val="bg1"/>
                </a:solidFill>
              </a:rPr>
              <a:t>c</a:t>
            </a:r>
            <a:endParaRPr lang="zh-CN" altLang="en-US" sz="1600" b="1" dirty="0">
              <a:solidFill>
                <a:schemeClr val="bg1"/>
              </a:solidFill>
            </a:endParaRPr>
          </a:p>
        </p:txBody>
      </p:sp>
      <p:sp>
        <p:nvSpPr>
          <p:cNvPr id="95" name="TextBox 94"/>
          <p:cNvSpPr txBox="1"/>
          <p:nvPr/>
        </p:nvSpPr>
        <p:spPr>
          <a:xfrm>
            <a:off x="2212046" y="2051255"/>
            <a:ext cx="451289" cy="246221"/>
          </a:xfrm>
          <a:prstGeom prst="rect">
            <a:avLst/>
          </a:prstGeom>
          <a:noFill/>
        </p:spPr>
        <p:txBody>
          <a:bodyPr wrap="square" lIns="0" tIns="0" rIns="0" bIns="0" rtlCol="0">
            <a:spAutoFit/>
          </a:bodyPr>
          <a:lstStyle/>
          <a:p>
            <a:r>
              <a:rPr lang="en-US" altLang="zh-CN" sz="1600" b="1" dirty="0" smtClean="0">
                <a:solidFill>
                  <a:schemeClr val="bg1"/>
                </a:solidFill>
              </a:rPr>
              <a:t>a c e</a:t>
            </a:r>
            <a:endParaRPr lang="zh-CN" altLang="en-US" sz="1600" b="1" dirty="0">
              <a:solidFill>
                <a:schemeClr val="bg1"/>
              </a:solidFill>
            </a:endParaRPr>
          </a:p>
        </p:txBody>
      </p:sp>
      <p:sp>
        <p:nvSpPr>
          <p:cNvPr id="97" name="Rectangle 10"/>
          <p:cNvSpPr>
            <a:spLocks noChangeArrowheads="1"/>
          </p:cNvSpPr>
          <p:nvPr/>
        </p:nvSpPr>
        <p:spPr bwMode="auto">
          <a:xfrm>
            <a:off x="1449243" y="5292770"/>
            <a:ext cx="182880" cy="182880"/>
          </a:xfrm>
          <a:prstGeom prst="rect">
            <a:avLst/>
          </a:prstGeom>
          <a:solidFill>
            <a:schemeClr val="bg1"/>
          </a:solidFill>
          <a:ln w="9525" cap="flat" cmpd="sng">
            <a:solidFill>
              <a:schemeClr val="tx1"/>
            </a:solidFill>
            <a:miter lim="800000"/>
            <a:headEnd/>
            <a:tailEnd/>
          </a:ln>
          <a:effectLst/>
          <a:extLst/>
        </p:spPr>
        <p:txBody>
          <a:bodyPr wrap="none" anchor="ctr"/>
          <a:lstStyle/>
          <a:p>
            <a:pPr algn="ctr"/>
            <a:r>
              <a:rPr lang="en-US" altLang="zh-CN" b="1" dirty="0" smtClean="0">
                <a:solidFill>
                  <a:srgbClr val="FF0000"/>
                </a:solidFill>
              </a:rPr>
              <a:t>a</a:t>
            </a:r>
            <a:endParaRPr lang="zh-CN" altLang="en-US" sz="2400" b="1" dirty="0">
              <a:solidFill>
                <a:srgbClr val="FF0000"/>
              </a:solidFill>
            </a:endParaRPr>
          </a:p>
        </p:txBody>
      </p:sp>
      <p:sp>
        <p:nvSpPr>
          <p:cNvPr id="101" name="Rectangle 10"/>
          <p:cNvSpPr>
            <a:spLocks noChangeArrowheads="1"/>
          </p:cNvSpPr>
          <p:nvPr/>
        </p:nvSpPr>
        <p:spPr bwMode="auto">
          <a:xfrm>
            <a:off x="1821974" y="5292770"/>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002060"/>
                </a:solidFill>
              </a:rPr>
              <a:t>e</a:t>
            </a:r>
            <a:endParaRPr lang="zh-CN" altLang="en-US" b="1" dirty="0">
              <a:solidFill>
                <a:srgbClr val="002060"/>
              </a:solidFill>
            </a:endParaRPr>
          </a:p>
        </p:txBody>
      </p:sp>
      <p:sp>
        <p:nvSpPr>
          <p:cNvPr id="110" name="Rectangle 10"/>
          <p:cNvSpPr>
            <a:spLocks noChangeArrowheads="1"/>
          </p:cNvSpPr>
          <p:nvPr/>
        </p:nvSpPr>
        <p:spPr bwMode="auto">
          <a:xfrm>
            <a:off x="1206771" y="5408710"/>
            <a:ext cx="182880" cy="182880"/>
          </a:xfrm>
          <a:prstGeom prst="rect">
            <a:avLst/>
          </a:prstGeom>
          <a:solidFill>
            <a:schemeClr val="bg1"/>
          </a:solidFill>
          <a:ln w="9525" cap="flat" cmpd="sng">
            <a:solidFill>
              <a:schemeClr val="tx1"/>
            </a:solidFill>
            <a:miter lim="800000"/>
            <a:headEnd/>
            <a:tailEnd/>
          </a:ln>
          <a:effectLst/>
          <a:extLst/>
        </p:spPr>
        <p:txBody>
          <a:bodyPr wrap="none" anchor="ctr"/>
          <a:lstStyle/>
          <a:p>
            <a:pPr algn="ctr"/>
            <a:r>
              <a:rPr lang="en-US" altLang="zh-CN" b="1" dirty="0" smtClean="0">
                <a:solidFill>
                  <a:srgbClr val="FFC000"/>
                </a:solidFill>
              </a:rPr>
              <a:t>c</a:t>
            </a:r>
            <a:endParaRPr lang="zh-CN" altLang="en-US" sz="2400" b="1" dirty="0">
              <a:solidFill>
                <a:srgbClr val="FFC000"/>
              </a:solidFill>
            </a:endParaRPr>
          </a:p>
        </p:txBody>
      </p:sp>
      <p:sp>
        <p:nvSpPr>
          <p:cNvPr id="126" name="TextBox 125"/>
          <p:cNvSpPr txBox="1"/>
          <p:nvPr/>
        </p:nvSpPr>
        <p:spPr>
          <a:xfrm>
            <a:off x="1420106" y="2589837"/>
            <a:ext cx="2128147" cy="369332"/>
          </a:xfrm>
          <a:prstGeom prst="rect">
            <a:avLst/>
          </a:prstGeom>
          <a:noFill/>
        </p:spPr>
        <p:txBody>
          <a:bodyPr wrap="none" rtlCol="0">
            <a:spAutoFit/>
          </a:bodyPr>
          <a:lstStyle/>
          <a:p>
            <a:r>
              <a:rPr lang="en-US" altLang="zh-CN" b="1" dirty="0"/>
              <a:t>u</a:t>
            </a:r>
            <a:r>
              <a:rPr lang="en-US" altLang="zh-CN" b="1" dirty="0" smtClean="0"/>
              <a:t>nderlying LSM-tree</a:t>
            </a:r>
            <a:endParaRPr lang="zh-CN" altLang="en-US" b="1" dirty="0"/>
          </a:p>
        </p:txBody>
      </p:sp>
      <p:sp>
        <p:nvSpPr>
          <p:cNvPr id="125" name="内容占位符 2"/>
          <p:cNvSpPr>
            <a:spLocks noGrp="1"/>
          </p:cNvSpPr>
          <p:nvPr>
            <p:ph idx="1"/>
          </p:nvPr>
        </p:nvSpPr>
        <p:spPr>
          <a:xfrm>
            <a:off x="4344861" y="3051629"/>
            <a:ext cx="4724400" cy="2700281"/>
          </a:xfrm>
        </p:spPr>
        <p:txBody>
          <a:bodyPr>
            <a:normAutofit fontScale="55000" lnSpcReduction="20000"/>
          </a:bodyPr>
          <a:lstStyle/>
          <a:p>
            <a:pPr marL="571500" indent="-571500">
              <a:lnSpc>
                <a:spcPct val="120000"/>
              </a:lnSpc>
              <a:spcBef>
                <a:spcPts val="600"/>
              </a:spcBef>
              <a:buFont typeface="Arial" panose="020B0604020202020204" pitchFamily="34" charset="0"/>
              <a:buChar char="•"/>
            </a:pPr>
            <a:r>
              <a:rPr lang="en-US" altLang="zh-CN" sz="3800" dirty="0" smtClean="0"/>
              <a:t>During a compaction from C</a:t>
            </a:r>
            <a:r>
              <a:rPr lang="en-US" altLang="zh-CN" sz="2600" dirty="0" smtClean="0"/>
              <a:t>i </a:t>
            </a:r>
            <a:r>
              <a:rPr lang="en-US" altLang="zh-CN" sz="3800" dirty="0" smtClean="0"/>
              <a:t>to C</a:t>
            </a:r>
            <a:r>
              <a:rPr lang="en-US" altLang="zh-CN" sz="2600" dirty="0" smtClean="0"/>
              <a:t>i+1</a:t>
            </a:r>
            <a:r>
              <a:rPr lang="en-US" altLang="zh-CN" sz="3800" dirty="0" smtClean="0"/>
              <a:t>, C</a:t>
            </a:r>
            <a:r>
              <a:rPr lang="en-US" altLang="zh-CN" sz="2600" dirty="0" smtClean="0"/>
              <a:t>i</a:t>
            </a:r>
            <a:r>
              <a:rPr lang="en-US" altLang="zh-CN" sz="3800" dirty="0" smtClean="0"/>
              <a:t> is also appended to B</a:t>
            </a:r>
            <a:r>
              <a:rPr lang="en-US" altLang="zh-CN" sz="2600" dirty="0" smtClean="0"/>
              <a:t>i+1</a:t>
            </a:r>
            <a:r>
              <a:rPr lang="en-US" altLang="zh-CN" sz="3800" dirty="0" smtClean="0"/>
              <a:t>  </a:t>
            </a:r>
          </a:p>
          <a:p>
            <a:pPr marL="685800" lvl="1" indent="-342900">
              <a:lnSpc>
                <a:spcPct val="120000"/>
              </a:lnSpc>
              <a:spcBef>
                <a:spcPts val="600"/>
              </a:spcBef>
              <a:buFont typeface="Wingdings" panose="05000000000000000000" pitchFamily="2" charset="2"/>
              <a:buChar char="Ø"/>
            </a:pPr>
            <a:r>
              <a:rPr lang="en-US" altLang="zh-CN" sz="2500" dirty="0" smtClean="0"/>
              <a:t>E.g. while data in </a:t>
            </a:r>
            <a:r>
              <a:rPr lang="en-US" altLang="zh-CN" sz="2500" b="1" dirty="0" smtClean="0"/>
              <a:t>C</a:t>
            </a:r>
            <a:r>
              <a:rPr lang="en-US" altLang="zh-CN" sz="1600" b="1" dirty="0" smtClean="0"/>
              <a:t>0</a:t>
            </a:r>
            <a:r>
              <a:rPr lang="en-US" altLang="zh-CN" sz="2500" dirty="0" smtClean="0"/>
              <a:t> is merged to </a:t>
            </a:r>
            <a:r>
              <a:rPr lang="en-US" altLang="zh-CN" sz="2500" b="1" dirty="0" smtClean="0"/>
              <a:t>C</a:t>
            </a:r>
            <a:r>
              <a:rPr lang="en-US" altLang="zh-CN" sz="1600" b="1" dirty="0" smtClean="0"/>
              <a:t>1</a:t>
            </a:r>
            <a:r>
              <a:rPr lang="en-US" altLang="zh-CN" sz="2500" dirty="0" smtClean="0"/>
              <a:t> in LSM-tree, it is also appended to </a:t>
            </a:r>
            <a:r>
              <a:rPr lang="en-US" altLang="zh-CN" sz="2600" b="1" dirty="0" smtClean="0">
                <a:solidFill>
                  <a:prstClr val="black"/>
                </a:solidFill>
              </a:rPr>
              <a:t>B</a:t>
            </a:r>
            <a:r>
              <a:rPr lang="en-US" altLang="zh-CN" sz="1600" b="1" dirty="0" smtClean="0">
                <a:solidFill>
                  <a:prstClr val="black"/>
                </a:solidFill>
              </a:rPr>
              <a:t>1 </a:t>
            </a:r>
            <a:r>
              <a:rPr lang="en-US" altLang="zh-CN" sz="2500" dirty="0" smtClean="0"/>
              <a:t>in compaction buffer</a:t>
            </a:r>
            <a:endParaRPr lang="en-US" altLang="zh-CN" sz="1600" b="1" dirty="0" smtClean="0"/>
          </a:p>
          <a:p>
            <a:pPr marL="571500" indent="-571500">
              <a:lnSpc>
                <a:spcPct val="120000"/>
              </a:lnSpc>
              <a:spcBef>
                <a:spcPts val="600"/>
              </a:spcBef>
              <a:buFont typeface="Arial" panose="020B0604020202020204" pitchFamily="34" charset="0"/>
              <a:buChar char="•"/>
            </a:pPr>
            <a:r>
              <a:rPr lang="en-US" altLang="zh-CN" sz="3800" dirty="0"/>
              <a:t>No additional I/O, but only index modification and additional space</a:t>
            </a:r>
          </a:p>
          <a:p>
            <a:pPr>
              <a:lnSpc>
                <a:spcPct val="120000"/>
              </a:lnSpc>
              <a:spcBef>
                <a:spcPts val="600"/>
              </a:spcBef>
            </a:pPr>
            <a:endParaRPr lang="en-US" altLang="zh-CN" sz="3800" dirty="0" smtClean="0"/>
          </a:p>
          <a:p>
            <a:pPr>
              <a:lnSpc>
                <a:spcPct val="120000"/>
              </a:lnSpc>
              <a:spcBef>
                <a:spcPts val="600"/>
              </a:spcBef>
            </a:pPr>
            <a:endParaRPr lang="en-US" altLang="zh-CN" sz="2600" b="1" dirty="0" smtClean="0"/>
          </a:p>
          <a:p>
            <a:pPr>
              <a:lnSpc>
                <a:spcPct val="120000"/>
              </a:lnSpc>
              <a:spcBef>
                <a:spcPts val="600"/>
              </a:spcBef>
            </a:pPr>
            <a:endParaRPr lang="zh-CN" altLang="en-US" dirty="0"/>
          </a:p>
        </p:txBody>
      </p:sp>
      <p:cxnSp>
        <p:nvCxnSpPr>
          <p:cNvPr id="127" name="直接箭头连接符 126"/>
          <p:cNvCxnSpPr>
            <a:stCxn id="76" idx="2"/>
            <a:endCxn id="30" idx="0"/>
          </p:cNvCxnSpPr>
          <p:nvPr/>
        </p:nvCxnSpPr>
        <p:spPr>
          <a:xfrm>
            <a:off x="2848210" y="4523001"/>
            <a:ext cx="525835" cy="1304055"/>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8" name="直接箭头连接符 127"/>
          <p:cNvCxnSpPr>
            <a:stCxn id="75" idx="2"/>
            <a:endCxn id="27" idx="0"/>
          </p:cNvCxnSpPr>
          <p:nvPr/>
        </p:nvCxnSpPr>
        <p:spPr>
          <a:xfrm>
            <a:off x="2658573" y="4527765"/>
            <a:ext cx="532592" cy="1299291"/>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0" name="直接箭头连接符 129"/>
          <p:cNvCxnSpPr>
            <a:stCxn id="77" idx="2"/>
            <a:endCxn id="97" idx="0"/>
          </p:cNvCxnSpPr>
          <p:nvPr/>
        </p:nvCxnSpPr>
        <p:spPr>
          <a:xfrm flipH="1">
            <a:off x="1540683" y="4520388"/>
            <a:ext cx="929504" cy="772382"/>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2989985" y="1952620"/>
            <a:ext cx="2672562" cy="594987"/>
            <a:chOff x="2989985" y="1952620"/>
            <a:chExt cx="2672562" cy="594987"/>
          </a:xfrm>
        </p:grpSpPr>
        <p:cxnSp>
          <p:nvCxnSpPr>
            <p:cNvPr id="10" name="曲线连接符 9"/>
            <p:cNvCxnSpPr>
              <a:stCxn id="67" idx="3"/>
              <a:endCxn id="78" idx="1"/>
            </p:cNvCxnSpPr>
            <p:nvPr/>
          </p:nvCxnSpPr>
          <p:spPr>
            <a:xfrm>
              <a:off x="2989985" y="2182288"/>
              <a:ext cx="2672562" cy="365319"/>
            </a:xfrm>
            <a:prstGeom prst="curvedConnector3">
              <a:avLst/>
            </a:prstGeom>
            <a:ln w="15875">
              <a:solidFill>
                <a:schemeClr val="tx1"/>
              </a:solidFill>
              <a:prstDash val="dash"/>
              <a:tailEnd type="arrow"/>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716522" y="1952620"/>
              <a:ext cx="814647" cy="338554"/>
            </a:xfrm>
            <a:prstGeom prst="rect">
              <a:avLst/>
            </a:prstGeom>
            <a:noFill/>
          </p:spPr>
          <p:txBody>
            <a:bodyPr wrap="none" rtlCol="0">
              <a:spAutoFit/>
            </a:bodyPr>
            <a:lstStyle/>
            <a:p>
              <a:r>
                <a:rPr lang="en-US" altLang="zh-CN" sz="1600" i="1" dirty="0" smtClean="0"/>
                <a:t>append</a:t>
              </a:r>
              <a:endParaRPr lang="zh-CN" altLang="en-US" i="1" dirty="0"/>
            </a:p>
          </p:txBody>
        </p:sp>
      </p:grpSp>
      <p:grpSp>
        <p:nvGrpSpPr>
          <p:cNvPr id="116" name="组合 115"/>
          <p:cNvGrpSpPr/>
          <p:nvPr/>
        </p:nvGrpSpPr>
        <p:grpSpPr>
          <a:xfrm>
            <a:off x="2676019" y="1591889"/>
            <a:ext cx="2895655" cy="574180"/>
            <a:chOff x="2989985" y="1925485"/>
            <a:chExt cx="2672562" cy="622122"/>
          </a:xfrm>
        </p:grpSpPr>
        <p:cxnSp>
          <p:nvCxnSpPr>
            <p:cNvPr id="117" name="曲线连接符 116"/>
            <p:cNvCxnSpPr/>
            <p:nvPr/>
          </p:nvCxnSpPr>
          <p:spPr>
            <a:xfrm>
              <a:off x="2989985" y="2182288"/>
              <a:ext cx="2672562" cy="365319"/>
            </a:xfrm>
            <a:prstGeom prst="curvedConnector3">
              <a:avLst/>
            </a:prstGeom>
            <a:ln w="15875">
              <a:solidFill>
                <a:schemeClr val="tx1"/>
              </a:solidFill>
              <a:prstDash val="dash"/>
              <a:tailEnd type="arrow"/>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3732180" y="1925485"/>
              <a:ext cx="814647" cy="338554"/>
            </a:xfrm>
            <a:prstGeom prst="rect">
              <a:avLst/>
            </a:prstGeom>
            <a:noFill/>
          </p:spPr>
          <p:txBody>
            <a:bodyPr wrap="none" rtlCol="0">
              <a:spAutoFit/>
            </a:bodyPr>
            <a:lstStyle/>
            <a:p>
              <a:r>
                <a:rPr lang="en-US" altLang="zh-CN" sz="1600" i="1" dirty="0" smtClean="0"/>
                <a:t>append</a:t>
              </a:r>
              <a:endParaRPr lang="zh-CN" altLang="en-US" i="1" dirty="0"/>
            </a:p>
          </p:txBody>
        </p:sp>
      </p:grpSp>
      <p:sp>
        <p:nvSpPr>
          <p:cNvPr id="7" name="灯片编号占位符 6"/>
          <p:cNvSpPr>
            <a:spLocks noGrp="1"/>
          </p:cNvSpPr>
          <p:nvPr>
            <p:ph type="sldNum" sz="quarter" idx="4294967295"/>
          </p:nvPr>
        </p:nvSpPr>
        <p:spPr>
          <a:xfrm>
            <a:off x="6553200" y="6356350"/>
            <a:ext cx="2133600" cy="365125"/>
          </a:xfrm>
          <a:prstGeom prst="rect">
            <a:avLst/>
          </a:prstGeom>
        </p:spPr>
        <p:txBody>
          <a:bodyPr/>
          <a:lstStyle/>
          <a:p>
            <a:fld id="{56E101D2-3CA0-ED44-B21F-D432222A9872}" type="slidenum">
              <a:rPr lang="en-US" smtClean="0"/>
              <a:t>60</a:t>
            </a:fld>
            <a:endParaRPr lang="en-US" dirty="0"/>
          </a:p>
        </p:txBody>
      </p:sp>
    </p:spTree>
    <p:extLst>
      <p:ext uri="{BB962C8B-B14F-4D97-AF65-F5344CB8AC3E}">
        <p14:creationId xmlns:p14="http://schemas.microsoft.com/office/powerpoint/2010/main" val="4182181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2"/>
                                        </p:tgtEl>
                                        <p:attrNameLst>
                                          <p:attrName>style.visibility</p:attrName>
                                        </p:attrNameLst>
                                      </p:cBhvr>
                                      <p:to>
                                        <p:strVal val="visible"/>
                                      </p:to>
                                    </p:set>
                                    <p:animEffect transition="in" filter="fade">
                                      <p:cBhvr>
                                        <p:cTn id="10" dur="500"/>
                                        <p:tgtEl>
                                          <p:spTgt spid="9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0"/>
                                        </p:tgtEl>
                                        <p:attrNameLst>
                                          <p:attrName>style.visibility</p:attrName>
                                        </p:attrNameLst>
                                      </p:cBhvr>
                                      <p:to>
                                        <p:strVal val="visible"/>
                                      </p:to>
                                    </p:set>
                                    <p:animEffect transition="in" filter="fade">
                                      <p:cBhvr>
                                        <p:cTn id="13" dur="500"/>
                                        <p:tgtEl>
                                          <p:spTgt spid="9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1"/>
                                        </p:tgtEl>
                                        <p:attrNameLst>
                                          <p:attrName>style.visibility</p:attrName>
                                        </p:attrNameLst>
                                      </p:cBhvr>
                                      <p:to>
                                        <p:strVal val="visible"/>
                                      </p:to>
                                    </p:set>
                                    <p:animEffect transition="in" filter="fade">
                                      <p:cBhvr>
                                        <p:cTn id="16" dur="500"/>
                                        <p:tgtEl>
                                          <p:spTgt spid="9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7"/>
                                        </p:tgtEl>
                                        <p:attrNameLst>
                                          <p:attrName>style.visibility</p:attrName>
                                        </p:attrNameLst>
                                      </p:cBhvr>
                                      <p:to>
                                        <p:strVal val="visible"/>
                                      </p:to>
                                    </p:set>
                                    <p:animEffect transition="in" filter="fade">
                                      <p:cBhvr>
                                        <p:cTn id="19" dur="500"/>
                                        <p:tgtEl>
                                          <p:spTgt spid="9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1"/>
                                        </p:tgtEl>
                                        <p:attrNameLst>
                                          <p:attrName>style.visibility</p:attrName>
                                        </p:attrNameLst>
                                      </p:cBhvr>
                                      <p:to>
                                        <p:strVal val="visible"/>
                                      </p:to>
                                    </p:set>
                                    <p:animEffect transition="in" filter="fade">
                                      <p:cBhvr>
                                        <p:cTn id="22" dur="500"/>
                                        <p:tgtEl>
                                          <p:spTgt spid="10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par>
                                <p:cTn id="26" presetID="10" presetClass="entr" presetSubtype="0" fill="hold" nodeType="withEffect">
                                  <p:stCondLst>
                                    <p:cond delay="0"/>
                                  </p:stCondLst>
                                  <p:childTnLst>
                                    <p:set>
                                      <p:cBhvr>
                                        <p:cTn id="27" dur="1" fill="hold">
                                          <p:stCondLst>
                                            <p:cond delay="0"/>
                                          </p:stCondLst>
                                        </p:cTn>
                                        <p:tgtEl>
                                          <p:spTgt spid="37"/>
                                        </p:tgtEl>
                                        <p:attrNameLst>
                                          <p:attrName>style.visibility</p:attrName>
                                        </p:attrNameLst>
                                      </p:cBhvr>
                                      <p:to>
                                        <p:strVal val="visible"/>
                                      </p:to>
                                    </p:set>
                                    <p:animEffect transition="in" filter="fade">
                                      <p:cBhvr>
                                        <p:cTn id="28" dur="500"/>
                                        <p:tgtEl>
                                          <p:spTgt spid="3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77"/>
                                        </p:tgtEl>
                                        <p:attrNameLst>
                                          <p:attrName>style.visibility</p:attrName>
                                        </p:attrNameLst>
                                      </p:cBhvr>
                                      <p:to>
                                        <p:strVal val="visible"/>
                                      </p:to>
                                    </p:set>
                                    <p:animEffect transition="in" filter="fade">
                                      <p:cBhvr>
                                        <p:cTn id="31" dur="500"/>
                                        <p:tgtEl>
                                          <p:spTgt spid="7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75"/>
                                        </p:tgtEl>
                                        <p:attrNameLst>
                                          <p:attrName>style.visibility</p:attrName>
                                        </p:attrNameLst>
                                      </p:cBhvr>
                                      <p:to>
                                        <p:strVal val="visible"/>
                                      </p:to>
                                    </p:set>
                                    <p:animEffect transition="in" filter="fade">
                                      <p:cBhvr>
                                        <p:cTn id="34" dur="500"/>
                                        <p:tgtEl>
                                          <p:spTgt spid="7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76"/>
                                        </p:tgtEl>
                                        <p:attrNameLst>
                                          <p:attrName>style.visibility</p:attrName>
                                        </p:attrNameLst>
                                      </p:cBhvr>
                                      <p:to>
                                        <p:strVal val="visible"/>
                                      </p:to>
                                    </p:set>
                                    <p:animEffect transition="in" filter="fade">
                                      <p:cBhvr>
                                        <p:cTn id="37" dur="500"/>
                                        <p:tgtEl>
                                          <p:spTgt spid="76"/>
                                        </p:tgtEl>
                                      </p:cBhvr>
                                    </p:animEffect>
                                  </p:childTnLst>
                                </p:cTn>
                              </p:par>
                              <p:par>
                                <p:cTn id="38" presetID="10" presetClass="entr" presetSubtype="0" fill="hold" nodeType="withEffect">
                                  <p:stCondLst>
                                    <p:cond delay="0"/>
                                  </p:stCondLst>
                                  <p:childTnLst>
                                    <p:set>
                                      <p:cBhvr>
                                        <p:cTn id="39" dur="1" fill="hold">
                                          <p:stCondLst>
                                            <p:cond delay="0"/>
                                          </p:stCondLst>
                                        </p:cTn>
                                        <p:tgtEl>
                                          <p:spTgt spid="127"/>
                                        </p:tgtEl>
                                        <p:attrNameLst>
                                          <p:attrName>style.visibility</p:attrName>
                                        </p:attrNameLst>
                                      </p:cBhvr>
                                      <p:to>
                                        <p:strVal val="visible"/>
                                      </p:to>
                                    </p:set>
                                    <p:animEffect transition="in" filter="fade">
                                      <p:cBhvr>
                                        <p:cTn id="40" dur="500"/>
                                        <p:tgtEl>
                                          <p:spTgt spid="127"/>
                                        </p:tgtEl>
                                      </p:cBhvr>
                                    </p:animEffect>
                                  </p:childTnLst>
                                </p:cTn>
                              </p:par>
                              <p:par>
                                <p:cTn id="41" presetID="10" presetClass="entr" presetSubtype="0" fill="hold" nodeType="withEffect">
                                  <p:stCondLst>
                                    <p:cond delay="0"/>
                                  </p:stCondLst>
                                  <p:childTnLst>
                                    <p:set>
                                      <p:cBhvr>
                                        <p:cTn id="42" dur="1" fill="hold">
                                          <p:stCondLst>
                                            <p:cond delay="0"/>
                                          </p:stCondLst>
                                        </p:cTn>
                                        <p:tgtEl>
                                          <p:spTgt spid="128"/>
                                        </p:tgtEl>
                                        <p:attrNameLst>
                                          <p:attrName>style.visibility</p:attrName>
                                        </p:attrNameLst>
                                      </p:cBhvr>
                                      <p:to>
                                        <p:strVal val="visible"/>
                                      </p:to>
                                    </p:set>
                                    <p:animEffect transition="in" filter="fade">
                                      <p:cBhvr>
                                        <p:cTn id="43" dur="500"/>
                                        <p:tgtEl>
                                          <p:spTgt spid="128"/>
                                        </p:tgtEl>
                                      </p:cBhvr>
                                    </p:animEffect>
                                  </p:childTnLst>
                                </p:cTn>
                              </p:par>
                              <p:par>
                                <p:cTn id="44" presetID="10" presetClass="entr" presetSubtype="0" fill="hold" nodeType="withEffect">
                                  <p:stCondLst>
                                    <p:cond delay="0"/>
                                  </p:stCondLst>
                                  <p:childTnLst>
                                    <p:set>
                                      <p:cBhvr>
                                        <p:cTn id="45" dur="1" fill="hold">
                                          <p:stCondLst>
                                            <p:cond delay="0"/>
                                          </p:stCondLst>
                                        </p:cTn>
                                        <p:tgtEl>
                                          <p:spTgt spid="130"/>
                                        </p:tgtEl>
                                        <p:attrNameLst>
                                          <p:attrName>style.visibility</p:attrName>
                                        </p:attrNameLst>
                                      </p:cBhvr>
                                      <p:to>
                                        <p:strVal val="visible"/>
                                      </p:to>
                                    </p:set>
                                    <p:animEffect transition="in" filter="fade">
                                      <p:cBhvr>
                                        <p:cTn id="46" dur="500"/>
                                        <p:tgtEl>
                                          <p:spTgt spid="130"/>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25">
                                            <p:txEl>
                                              <p:pRg st="0" end="0"/>
                                            </p:txEl>
                                          </p:spTgt>
                                        </p:tgtEl>
                                        <p:attrNameLst>
                                          <p:attrName>style.visibility</p:attrName>
                                        </p:attrNameLst>
                                      </p:cBhvr>
                                      <p:to>
                                        <p:strVal val="visible"/>
                                      </p:to>
                                    </p:set>
                                    <p:animEffect transition="in" filter="fade">
                                      <p:cBhvr>
                                        <p:cTn id="51" dur="500"/>
                                        <p:tgtEl>
                                          <p:spTgt spid="125">
                                            <p:txEl>
                                              <p:pRg st="0" end="0"/>
                                            </p:txEl>
                                          </p:spTgt>
                                        </p:tgtEl>
                                      </p:cBhvr>
                                    </p:animEffect>
                                  </p:childTnLst>
                                </p:cTn>
                              </p:par>
                              <p:par>
                                <p:cTn id="52" presetID="10" presetClass="entr" presetSubtype="0" fill="hold" nodeType="withEffect">
                                  <p:stCondLst>
                                    <p:cond delay="0"/>
                                  </p:stCondLst>
                                  <p:childTnLst>
                                    <p:set>
                                      <p:cBhvr>
                                        <p:cTn id="53" dur="1" fill="hold">
                                          <p:stCondLst>
                                            <p:cond delay="0"/>
                                          </p:stCondLst>
                                        </p:cTn>
                                        <p:tgtEl>
                                          <p:spTgt spid="125">
                                            <p:txEl>
                                              <p:pRg st="1" end="1"/>
                                            </p:txEl>
                                          </p:spTgt>
                                        </p:tgtEl>
                                        <p:attrNameLst>
                                          <p:attrName>style.visibility</p:attrName>
                                        </p:attrNameLst>
                                      </p:cBhvr>
                                      <p:to>
                                        <p:strVal val="visible"/>
                                      </p:to>
                                    </p:set>
                                    <p:animEffect transition="in" filter="fade">
                                      <p:cBhvr>
                                        <p:cTn id="54" dur="500"/>
                                        <p:tgtEl>
                                          <p:spTgt spid="125">
                                            <p:txEl>
                                              <p:pRg st="1" end="1"/>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3"/>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64"/>
                                        </p:tgtEl>
                                        <p:attrNameLst>
                                          <p:attrName>style.visibility</p:attrName>
                                        </p:attrNameLst>
                                      </p:cBhvr>
                                      <p:to>
                                        <p:strVal val="visible"/>
                                      </p:to>
                                    </p:set>
                                  </p:childTnLst>
                                </p:cTn>
                              </p:par>
                            </p:childTnLst>
                          </p:cTn>
                        </p:par>
                        <p:par>
                          <p:cTn id="61" fill="hold">
                            <p:stCondLst>
                              <p:cond delay="0"/>
                            </p:stCondLst>
                            <p:childTnLst>
                              <p:par>
                                <p:cTn id="62" presetID="1" presetClass="entr" presetSubtype="0" fill="hold" grpId="0" nodeType="afterEffect">
                                  <p:stCondLst>
                                    <p:cond delay="0"/>
                                  </p:stCondLst>
                                  <p:childTnLst>
                                    <p:set>
                                      <p:cBhvr>
                                        <p:cTn id="63" dur="1" fill="hold">
                                          <p:stCondLst>
                                            <p:cond delay="0"/>
                                          </p:stCondLst>
                                        </p:cTn>
                                        <p:tgtEl>
                                          <p:spTgt spid="39"/>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61"/>
                                        </p:tgtEl>
                                        <p:attrNameLst>
                                          <p:attrName>style.visibility</p:attrName>
                                        </p:attrNameLst>
                                      </p:cBhvr>
                                      <p:to>
                                        <p:strVal val="visible"/>
                                      </p:to>
                                    </p:set>
                                  </p:childTnLst>
                                </p:cTn>
                              </p:par>
                            </p:childTnLst>
                          </p:cTn>
                        </p:par>
                        <p:par>
                          <p:cTn id="68" fill="hold">
                            <p:stCondLst>
                              <p:cond delay="0"/>
                            </p:stCondLst>
                            <p:childTnLst>
                              <p:par>
                                <p:cTn id="69" presetID="10" presetClass="exit" presetSubtype="0" fill="hold" grpId="0" nodeType="afterEffect">
                                  <p:stCondLst>
                                    <p:cond delay="0"/>
                                  </p:stCondLst>
                                  <p:childTnLst>
                                    <p:animEffect transition="out" filter="fade">
                                      <p:cBhvr>
                                        <p:cTn id="70" dur="500"/>
                                        <p:tgtEl>
                                          <p:spTgt spid="31"/>
                                        </p:tgtEl>
                                      </p:cBhvr>
                                    </p:animEffect>
                                    <p:set>
                                      <p:cBhvr>
                                        <p:cTn id="71" dur="1" fill="hold">
                                          <p:stCondLst>
                                            <p:cond delay="499"/>
                                          </p:stCondLst>
                                        </p:cTn>
                                        <p:tgtEl>
                                          <p:spTgt spid="31"/>
                                        </p:tgtEl>
                                        <p:attrNameLst>
                                          <p:attrName>style.visibility</p:attrName>
                                        </p:attrNameLst>
                                      </p:cBhvr>
                                      <p:to>
                                        <p:strVal val="hidden"/>
                                      </p:to>
                                    </p:set>
                                  </p:childTnLst>
                                </p:cTn>
                              </p:par>
                              <p:par>
                                <p:cTn id="72" presetID="10" presetClass="exit" presetSubtype="0" fill="hold" grpId="0" nodeType="withEffect">
                                  <p:stCondLst>
                                    <p:cond delay="0"/>
                                  </p:stCondLst>
                                  <p:childTnLst>
                                    <p:animEffect transition="out" filter="fade">
                                      <p:cBhvr>
                                        <p:cTn id="73" dur="500"/>
                                        <p:tgtEl>
                                          <p:spTgt spid="32"/>
                                        </p:tgtEl>
                                      </p:cBhvr>
                                    </p:animEffect>
                                    <p:set>
                                      <p:cBhvr>
                                        <p:cTn id="74" dur="1" fill="hold">
                                          <p:stCondLst>
                                            <p:cond delay="499"/>
                                          </p:stCondLst>
                                        </p:cTn>
                                        <p:tgtEl>
                                          <p:spTgt spid="32"/>
                                        </p:tgtEl>
                                        <p:attrNameLst>
                                          <p:attrName>style.visibility</p:attrName>
                                        </p:attrNameLst>
                                      </p:cBhvr>
                                      <p:to>
                                        <p:strVal val="hidden"/>
                                      </p:to>
                                    </p:set>
                                  </p:childTnLst>
                                </p:cTn>
                              </p:par>
                            </p:childTnLst>
                          </p:cTn>
                        </p:par>
                        <p:par>
                          <p:cTn id="75" fill="hold">
                            <p:stCondLst>
                              <p:cond delay="500"/>
                            </p:stCondLst>
                            <p:childTnLst>
                              <p:par>
                                <p:cTn id="76" presetID="1" presetClass="entr" presetSubtype="0" fill="hold" grpId="0" nodeType="afterEffect">
                                  <p:stCondLst>
                                    <p:cond delay="0"/>
                                  </p:stCondLst>
                                  <p:childTnLst>
                                    <p:set>
                                      <p:cBhvr>
                                        <p:cTn id="77" dur="1" fill="hold">
                                          <p:stCondLst>
                                            <p:cond delay="0"/>
                                          </p:stCondLst>
                                        </p:cTn>
                                        <p:tgtEl>
                                          <p:spTgt spid="112"/>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113"/>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114"/>
                                        </p:tgtEl>
                                        <p:attrNameLst>
                                          <p:attrName>style.visibility</p:attrName>
                                        </p:attrNameLst>
                                      </p:cBhvr>
                                      <p:to>
                                        <p:strVal val="visible"/>
                                      </p:to>
                                    </p:set>
                                  </p:childTnLst>
                                </p:cTn>
                              </p:par>
                            </p:childTnLst>
                          </p:cTn>
                        </p:par>
                        <p:par>
                          <p:cTn id="82" fill="hold">
                            <p:stCondLst>
                              <p:cond delay="500"/>
                            </p:stCondLst>
                            <p:childTnLst>
                              <p:par>
                                <p:cTn id="83" presetID="1" presetClass="exit" presetSubtype="0" fill="hold" grpId="0" nodeType="afterEffect">
                                  <p:stCondLst>
                                    <p:cond delay="0"/>
                                  </p:stCondLst>
                                  <p:childTnLst>
                                    <p:set>
                                      <p:cBhvr>
                                        <p:cTn id="84" dur="1" fill="hold">
                                          <p:stCondLst>
                                            <p:cond delay="0"/>
                                          </p:stCondLst>
                                        </p:cTn>
                                        <p:tgtEl>
                                          <p:spTgt spid="15"/>
                                        </p:tgtEl>
                                        <p:attrNameLst>
                                          <p:attrName>style.visibility</p:attrName>
                                        </p:attrNameLst>
                                      </p:cBhvr>
                                      <p:to>
                                        <p:strVal val="hidden"/>
                                      </p:to>
                                    </p:set>
                                  </p:childTnLst>
                                </p:cTn>
                              </p:par>
                              <p:par>
                                <p:cTn id="85" presetID="10" presetClass="entr" presetSubtype="0" fill="hold" grpId="0" nodeType="withEffect">
                                  <p:stCondLst>
                                    <p:cond delay="0"/>
                                  </p:stCondLst>
                                  <p:childTnLst>
                                    <p:set>
                                      <p:cBhvr>
                                        <p:cTn id="86" dur="1" fill="hold">
                                          <p:stCondLst>
                                            <p:cond delay="0"/>
                                          </p:stCondLst>
                                        </p:cTn>
                                        <p:tgtEl>
                                          <p:spTgt spid="95"/>
                                        </p:tgtEl>
                                        <p:attrNameLst>
                                          <p:attrName>style.visibility</p:attrName>
                                        </p:attrNameLst>
                                      </p:cBhvr>
                                      <p:to>
                                        <p:strVal val="visible"/>
                                      </p:to>
                                    </p:set>
                                    <p:animEffect transition="in" filter="fade">
                                      <p:cBhvr>
                                        <p:cTn id="87" dur="500"/>
                                        <p:tgtEl>
                                          <p:spTgt spid="95"/>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116"/>
                                        </p:tgtEl>
                                        <p:attrNameLst>
                                          <p:attrName>style.visibility</p:attrName>
                                        </p:attrNameLst>
                                      </p:cBhvr>
                                      <p:to>
                                        <p:strVal val="visible"/>
                                      </p:to>
                                    </p:set>
                                    <p:animEffect transition="in" filter="fade">
                                      <p:cBhvr>
                                        <p:cTn id="92" dur="500"/>
                                        <p:tgtEl>
                                          <p:spTgt spid="116"/>
                                        </p:tgtEl>
                                      </p:cBhvr>
                                    </p:animEffect>
                                  </p:childTnLst>
                                </p:cTn>
                              </p:par>
                            </p:childTnLst>
                          </p:cTn>
                        </p:par>
                      </p:childTnLst>
                    </p:cTn>
                  </p:par>
                  <p:par>
                    <p:cTn id="93" fill="hold">
                      <p:stCondLst>
                        <p:cond delay="indefinite"/>
                      </p:stCondLst>
                      <p:childTnLst>
                        <p:par>
                          <p:cTn id="94" fill="hold">
                            <p:stCondLst>
                              <p:cond delay="0"/>
                            </p:stCondLst>
                            <p:childTnLst>
                              <p:par>
                                <p:cTn id="95" presetID="42" presetClass="path" presetSubtype="0" accel="50000" decel="50000" fill="hold" grpId="2" nodeType="clickEffect">
                                  <p:stCondLst>
                                    <p:cond delay="0"/>
                                  </p:stCondLst>
                                  <p:childTnLst>
                                    <p:animMotion origin="layout" path="M -4.44444E-6 -1.48148E-6 L 0.3566 0.05301 " pathEditMode="relative" rAng="0" ptsTypes="AA">
                                      <p:cBhvr>
                                        <p:cTn id="96" dur="750" fill="hold"/>
                                        <p:tgtEl>
                                          <p:spTgt spid="39"/>
                                        </p:tgtEl>
                                        <p:attrNameLst>
                                          <p:attrName>ppt_x</p:attrName>
                                          <p:attrName>ppt_y</p:attrName>
                                        </p:attrNameLst>
                                      </p:cBhvr>
                                      <p:rCtr x="17830" y="2639"/>
                                    </p:animMotion>
                                  </p:childTnLst>
                                </p:cTn>
                              </p:par>
                              <p:par>
                                <p:cTn id="97" presetID="10" presetClass="exit" presetSubtype="0" fill="hold" nodeType="withEffect">
                                  <p:stCondLst>
                                    <p:cond delay="0"/>
                                  </p:stCondLst>
                                  <p:childTnLst>
                                    <p:animEffect transition="out" filter="fade">
                                      <p:cBhvr>
                                        <p:cTn id="98" dur="500"/>
                                        <p:tgtEl>
                                          <p:spTgt spid="116"/>
                                        </p:tgtEl>
                                      </p:cBhvr>
                                    </p:animEffect>
                                    <p:set>
                                      <p:cBhvr>
                                        <p:cTn id="99" dur="1" fill="hold">
                                          <p:stCondLst>
                                            <p:cond delay="499"/>
                                          </p:stCondLst>
                                        </p:cTn>
                                        <p:tgtEl>
                                          <p:spTgt spid="116"/>
                                        </p:tgtEl>
                                        <p:attrNameLst>
                                          <p:attrName>style.visibility</p:attrName>
                                        </p:attrNameLst>
                                      </p:cBhvr>
                                      <p:to>
                                        <p:strVal val="hidden"/>
                                      </p:to>
                                    </p:set>
                                  </p:childTnLst>
                                </p:cTn>
                              </p:par>
                            </p:childTnLst>
                          </p:cTn>
                        </p:par>
                        <p:par>
                          <p:cTn id="100" fill="hold">
                            <p:stCondLst>
                              <p:cond delay="750"/>
                            </p:stCondLst>
                            <p:childTnLst>
                              <p:par>
                                <p:cTn id="101" presetID="1" presetClass="exit" presetSubtype="0" fill="hold" grpId="1" nodeType="afterEffect">
                                  <p:stCondLst>
                                    <p:cond delay="0"/>
                                  </p:stCondLst>
                                  <p:childTnLst>
                                    <p:set>
                                      <p:cBhvr>
                                        <p:cTn id="102" dur="1" fill="hold">
                                          <p:stCondLst>
                                            <p:cond delay="0"/>
                                          </p:stCondLst>
                                        </p:cTn>
                                        <p:tgtEl>
                                          <p:spTgt spid="39"/>
                                        </p:tgtEl>
                                        <p:attrNameLst>
                                          <p:attrName>style.visibility</p:attrName>
                                        </p:attrNameLst>
                                      </p:cBhvr>
                                      <p:to>
                                        <p:strVal val="hidden"/>
                                      </p:to>
                                    </p:set>
                                  </p:childTnLst>
                                </p:cTn>
                              </p:par>
                              <p:par>
                                <p:cTn id="103" presetID="1" presetClass="entr" presetSubtype="0" fill="hold" grpId="0" nodeType="withEffect">
                                  <p:stCondLst>
                                    <p:cond delay="0"/>
                                  </p:stCondLst>
                                  <p:childTnLst>
                                    <p:set>
                                      <p:cBhvr>
                                        <p:cTn id="104" dur="1" fill="hold">
                                          <p:stCondLst>
                                            <p:cond delay="0"/>
                                          </p:stCondLst>
                                        </p:cTn>
                                        <p:tgtEl>
                                          <p:spTgt spid="110"/>
                                        </p:tgtEl>
                                        <p:attrNameLst>
                                          <p:attrName>style.visibility</p:attrName>
                                        </p:attrNameLst>
                                      </p:cBhvr>
                                      <p:to>
                                        <p:strVal val="visible"/>
                                      </p:to>
                                    </p:set>
                                  </p:childTnLst>
                                </p:cTn>
                              </p:par>
                            </p:childTnLst>
                          </p:cTn>
                        </p:par>
                        <p:par>
                          <p:cTn id="105" fill="hold">
                            <p:stCondLst>
                              <p:cond delay="750"/>
                            </p:stCondLst>
                            <p:childTnLst>
                              <p:par>
                                <p:cTn id="106" presetID="10" presetClass="entr" presetSubtype="0" fill="hold" grpId="0" nodeType="afterEffect">
                                  <p:stCondLst>
                                    <p:cond delay="0"/>
                                  </p:stCondLst>
                                  <p:childTnLst>
                                    <p:set>
                                      <p:cBhvr>
                                        <p:cTn id="107" dur="1" fill="hold">
                                          <p:stCondLst>
                                            <p:cond delay="0"/>
                                          </p:stCondLst>
                                        </p:cTn>
                                        <p:tgtEl>
                                          <p:spTgt spid="93"/>
                                        </p:tgtEl>
                                        <p:attrNameLst>
                                          <p:attrName>style.visibility</p:attrName>
                                        </p:attrNameLst>
                                      </p:cBhvr>
                                      <p:to>
                                        <p:strVal val="visible"/>
                                      </p:to>
                                    </p:set>
                                    <p:animEffect transition="in" filter="fade">
                                      <p:cBhvr>
                                        <p:cTn id="108" dur="500"/>
                                        <p:tgtEl>
                                          <p:spTgt spid="93"/>
                                        </p:tgtEl>
                                      </p:cBhvr>
                                    </p:animEffec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111"/>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13"/>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65"/>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60"/>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0" presetClass="exit" presetSubtype="0" fill="hold" grpId="0" nodeType="clickEffect">
                                  <p:stCondLst>
                                    <p:cond delay="0"/>
                                  </p:stCondLst>
                                  <p:childTnLst>
                                    <p:animEffect transition="out" filter="fade">
                                      <p:cBhvr>
                                        <p:cTn id="124" dur="500"/>
                                        <p:tgtEl>
                                          <p:spTgt spid="115"/>
                                        </p:tgtEl>
                                      </p:cBhvr>
                                    </p:animEffect>
                                    <p:set>
                                      <p:cBhvr>
                                        <p:cTn id="125" dur="1" fill="hold">
                                          <p:stCondLst>
                                            <p:cond delay="499"/>
                                          </p:stCondLst>
                                        </p:cTn>
                                        <p:tgtEl>
                                          <p:spTgt spid="115"/>
                                        </p:tgtEl>
                                        <p:attrNameLst>
                                          <p:attrName>style.visibility</p:attrName>
                                        </p:attrNameLst>
                                      </p:cBhvr>
                                      <p:to>
                                        <p:strVal val="hidden"/>
                                      </p:to>
                                    </p:set>
                                  </p:childTnLst>
                                </p:cTn>
                              </p:par>
                            </p:childTnLst>
                          </p:cTn>
                        </p:par>
                        <p:par>
                          <p:cTn id="126" fill="hold">
                            <p:stCondLst>
                              <p:cond delay="500"/>
                            </p:stCondLst>
                            <p:childTnLst>
                              <p:par>
                                <p:cTn id="127" presetID="10" presetClass="entr" presetSubtype="0" fill="hold" grpId="0" nodeType="afterEffect">
                                  <p:stCondLst>
                                    <p:cond delay="0"/>
                                  </p:stCondLst>
                                  <p:childTnLst>
                                    <p:set>
                                      <p:cBhvr>
                                        <p:cTn id="128" dur="1" fill="hold">
                                          <p:stCondLst>
                                            <p:cond delay="0"/>
                                          </p:stCondLst>
                                        </p:cTn>
                                        <p:tgtEl>
                                          <p:spTgt spid="119"/>
                                        </p:tgtEl>
                                        <p:attrNameLst>
                                          <p:attrName>style.visibility</p:attrName>
                                        </p:attrNameLst>
                                      </p:cBhvr>
                                      <p:to>
                                        <p:strVal val="visible"/>
                                      </p:to>
                                    </p:set>
                                    <p:animEffect transition="in" filter="fade">
                                      <p:cBhvr>
                                        <p:cTn id="129" dur="500"/>
                                        <p:tgtEl>
                                          <p:spTgt spid="119"/>
                                        </p:tgtEl>
                                      </p:cBhvr>
                                    </p:animEffect>
                                  </p:childTnLst>
                                </p:cTn>
                              </p:par>
                              <p:par>
                                <p:cTn id="130" presetID="10" presetClass="entr" presetSubtype="0" fill="hold" nodeType="withEffect">
                                  <p:stCondLst>
                                    <p:cond delay="0"/>
                                  </p:stCondLst>
                                  <p:childTnLst>
                                    <p:set>
                                      <p:cBhvr>
                                        <p:cTn id="131" dur="1" fill="hold">
                                          <p:stCondLst>
                                            <p:cond delay="0"/>
                                          </p:stCondLst>
                                        </p:cTn>
                                        <p:tgtEl>
                                          <p:spTgt spid="80"/>
                                        </p:tgtEl>
                                        <p:attrNameLst>
                                          <p:attrName>style.visibility</p:attrName>
                                        </p:attrNameLst>
                                      </p:cBhvr>
                                      <p:to>
                                        <p:strVal val="visible"/>
                                      </p:to>
                                    </p:set>
                                    <p:animEffect transition="in" filter="fade">
                                      <p:cBhvr>
                                        <p:cTn id="132" dur="500"/>
                                        <p:tgtEl>
                                          <p:spTgt spid="80"/>
                                        </p:tgtEl>
                                      </p:cBhvr>
                                    </p:animEffect>
                                  </p:childTnLst>
                                </p:cTn>
                              </p:par>
                            </p:childTnLst>
                          </p:cTn>
                        </p:par>
                      </p:childTnLst>
                    </p:cTn>
                  </p:par>
                  <p:par>
                    <p:cTn id="133" fill="hold">
                      <p:stCondLst>
                        <p:cond delay="indefinite"/>
                      </p:stCondLst>
                      <p:childTnLst>
                        <p:par>
                          <p:cTn id="134" fill="hold">
                            <p:stCondLst>
                              <p:cond delay="0"/>
                            </p:stCondLst>
                            <p:childTnLst>
                              <p:par>
                                <p:cTn id="135" presetID="10" presetClass="entr" presetSubtype="0" fill="hold" nodeType="clickEffect">
                                  <p:stCondLst>
                                    <p:cond delay="0"/>
                                  </p:stCondLst>
                                  <p:childTnLst>
                                    <p:set>
                                      <p:cBhvr>
                                        <p:cTn id="136" dur="1" fill="hold">
                                          <p:stCondLst>
                                            <p:cond delay="0"/>
                                          </p:stCondLst>
                                        </p:cTn>
                                        <p:tgtEl>
                                          <p:spTgt spid="12"/>
                                        </p:tgtEl>
                                        <p:attrNameLst>
                                          <p:attrName>style.visibility</p:attrName>
                                        </p:attrNameLst>
                                      </p:cBhvr>
                                      <p:to>
                                        <p:strVal val="visible"/>
                                      </p:to>
                                    </p:set>
                                    <p:animEffect transition="in" filter="fade">
                                      <p:cBhvr>
                                        <p:cTn id="137" dur="500"/>
                                        <p:tgtEl>
                                          <p:spTgt spid="12"/>
                                        </p:tgtEl>
                                      </p:cBhvr>
                                    </p:animEffect>
                                  </p:childTnLst>
                                </p:cTn>
                              </p:par>
                              <p:par>
                                <p:cTn id="138" presetID="42" presetClass="path" presetSubtype="0" accel="50000" decel="50000" fill="hold" grpId="1" nodeType="withEffect">
                                  <p:stCondLst>
                                    <p:cond delay="0"/>
                                  </p:stCondLst>
                                  <p:childTnLst>
                                    <p:animMotion origin="layout" path="M 0.00243 -0.00324 L 0.38733 0.0532 " pathEditMode="relative" rAng="0" ptsTypes="AA">
                                      <p:cBhvr>
                                        <p:cTn id="139" dur="750" fill="hold"/>
                                        <p:tgtEl>
                                          <p:spTgt spid="95"/>
                                        </p:tgtEl>
                                        <p:attrNameLst>
                                          <p:attrName>ppt_x</p:attrName>
                                          <p:attrName>ppt_y</p:attrName>
                                        </p:attrNameLst>
                                      </p:cBhvr>
                                      <p:rCtr x="19236" y="2822"/>
                                    </p:animMotion>
                                  </p:childTnLst>
                                </p:cTn>
                              </p:par>
                              <p:par>
                                <p:cTn id="140" presetID="10" presetClass="exit" presetSubtype="0" fill="hold" nodeType="withEffect">
                                  <p:stCondLst>
                                    <p:cond delay="0"/>
                                  </p:stCondLst>
                                  <p:childTnLst>
                                    <p:animEffect transition="out" filter="fade">
                                      <p:cBhvr>
                                        <p:cTn id="141" dur="500"/>
                                        <p:tgtEl>
                                          <p:spTgt spid="12"/>
                                        </p:tgtEl>
                                      </p:cBhvr>
                                    </p:animEffect>
                                    <p:set>
                                      <p:cBhvr>
                                        <p:cTn id="142" dur="1" fill="hold">
                                          <p:stCondLst>
                                            <p:cond delay="499"/>
                                          </p:stCondLst>
                                        </p:cTn>
                                        <p:tgtEl>
                                          <p:spTgt spid="12"/>
                                        </p:tgtEl>
                                        <p:attrNameLst>
                                          <p:attrName>style.visibility</p:attrName>
                                        </p:attrNameLst>
                                      </p:cBhvr>
                                      <p:to>
                                        <p:strVal val="hidden"/>
                                      </p:to>
                                    </p:set>
                                  </p:childTnLst>
                                </p:cTn>
                              </p:par>
                            </p:childTnLst>
                          </p:cTn>
                        </p:par>
                      </p:childTnLst>
                    </p:cTn>
                  </p:par>
                  <p:par>
                    <p:cTn id="143" fill="hold">
                      <p:stCondLst>
                        <p:cond delay="indefinite"/>
                      </p:stCondLst>
                      <p:childTnLst>
                        <p:par>
                          <p:cTn id="144" fill="hold">
                            <p:stCondLst>
                              <p:cond delay="0"/>
                            </p:stCondLst>
                            <p:childTnLst>
                              <p:par>
                                <p:cTn id="145" presetID="10" presetClass="entr" presetSubtype="0" fill="hold" nodeType="clickEffect">
                                  <p:stCondLst>
                                    <p:cond delay="0"/>
                                  </p:stCondLst>
                                  <p:childTnLst>
                                    <p:set>
                                      <p:cBhvr>
                                        <p:cTn id="146" dur="1" fill="hold">
                                          <p:stCondLst>
                                            <p:cond delay="0"/>
                                          </p:stCondLst>
                                        </p:cTn>
                                        <p:tgtEl>
                                          <p:spTgt spid="125">
                                            <p:txEl>
                                              <p:pRg st="2" end="2"/>
                                            </p:txEl>
                                          </p:spTgt>
                                        </p:tgtEl>
                                        <p:attrNameLst>
                                          <p:attrName>style.visibility</p:attrName>
                                        </p:attrNameLst>
                                      </p:cBhvr>
                                      <p:to>
                                        <p:strVal val="visible"/>
                                      </p:to>
                                    </p:set>
                                    <p:animEffect transition="in" filter="fade">
                                      <p:cBhvr>
                                        <p:cTn id="147" dur="500"/>
                                        <p:tgtEl>
                                          <p:spTgt spid="12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75" grpId="0" animBg="1"/>
      <p:bldP spid="76" grpId="0"/>
      <p:bldP spid="77" grpId="0"/>
      <p:bldP spid="6" grpId="0"/>
      <p:bldP spid="31" grpId="0" animBg="1"/>
      <p:bldP spid="32" grpId="0" animBg="1"/>
      <p:bldP spid="60" grpId="0" animBg="1"/>
      <p:bldP spid="61" grpId="0" animBg="1"/>
      <p:bldP spid="63" grpId="0"/>
      <p:bldP spid="65" grpId="0"/>
      <p:bldP spid="112" grpId="0" animBg="1"/>
      <p:bldP spid="113" grpId="0" animBg="1"/>
      <p:bldP spid="114" grpId="0" animBg="1"/>
      <p:bldP spid="15" grpId="0"/>
      <p:bldP spid="115" grpId="0"/>
      <p:bldP spid="39" grpId="0"/>
      <p:bldP spid="39" grpId="1"/>
      <p:bldP spid="39" grpId="2"/>
      <p:bldP spid="119" grpId="0"/>
      <p:bldP spid="90" grpId="0"/>
      <p:bldP spid="91" grpId="0"/>
      <p:bldP spid="92" grpId="0"/>
      <p:bldP spid="93" grpId="0"/>
      <p:bldP spid="95" grpId="0"/>
      <p:bldP spid="95" grpId="1"/>
      <p:bldP spid="97" grpId="0" animBg="1"/>
      <p:bldP spid="101" grpId="0" animBg="1"/>
      <p:bldP spid="110"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9" name="内容占位符 2"/>
          <p:cNvSpPr txBox="1">
            <a:spLocks/>
          </p:cNvSpPr>
          <p:nvPr/>
        </p:nvSpPr>
        <p:spPr>
          <a:xfrm>
            <a:off x="4344861" y="3051628"/>
            <a:ext cx="4724400" cy="3442957"/>
          </a:xfrm>
          <a:prstGeom prst="rect">
            <a:avLst/>
          </a:prstGeom>
        </p:spPr>
        <p:txBody>
          <a:bodyPr vert="horz" lIns="91440" tIns="45720" rIns="91440" bIns="45720" rtlCol="0">
            <a:normAutofit fontScale="55000" lnSpcReduction="20000"/>
          </a:bodyPr>
          <a:lstStyle>
            <a:lvl1pPr marL="342900" indent="-342900" algn="l" defTabSz="457200" rtl="0" eaLnBrk="1" latinLnBrk="0" hangingPunct="1">
              <a:lnSpc>
                <a:spcPct val="100000"/>
              </a:lnSpc>
              <a:spcBef>
                <a:spcPct val="20000"/>
              </a:spcBef>
              <a:buFont typeface="Arial"/>
              <a:buChar char="•"/>
              <a:defRPr sz="3200" kern="1200">
                <a:solidFill>
                  <a:schemeClr val="tx1"/>
                </a:solidFill>
                <a:latin typeface="Arial"/>
                <a:ea typeface="+mn-ea"/>
                <a:cs typeface="Arial"/>
              </a:defRPr>
            </a:lvl1pPr>
            <a:lvl2pPr marL="742950" indent="-285750" algn="l" defTabSz="457200" rtl="0" eaLnBrk="1" latinLnBrk="0" hangingPunct="1">
              <a:lnSpc>
                <a:spcPct val="100000"/>
              </a:lnSpc>
              <a:spcBef>
                <a:spcPct val="20000"/>
              </a:spcBef>
              <a:buFont typeface="Arial"/>
              <a:buChar char="–"/>
              <a:defRPr sz="2800" kern="1200">
                <a:solidFill>
                  <a:schemeClr val="tx1"/>
                </a:solidFill>
                <a:latin typeface="Arial"/>
                <a:ea typeface="+mn-ea"/>
                <a:cs typeface="Arial"/>
              </a:defRPr>
            </a:lvl2pPr>
            <a:lvl3pPr marL="1143000" indent="-228600" algn="l" defTabSz="457200" rtl="0" eaLnBrk="1" latinLnBrk="0" hangingPunct="1">
              <a:lnSpc>
                <a:spcPct val="100000"/>
              </a:lnSpc>
              <a:spcBef>
                <a:spcPct val="20000"/>
              </a:spcBef>
              <a:buFont typeface="Arial"/>
              <a:buChar char="•"/>
              <a:defRPr sz="2400" kern="1200">
                <a:solidFill>
                  <a:schemeClr val="tx1"/>
                </a:solidFill>
                <a:latin typeface="Arial"/>
                <a:ea typeface="+mn-ea"/>
                <a:cs typeface="Arial"/>
              </a:defRPr>
            </a:lvl3pPr>
            <a:lvl4pPr marL="1600200" indent="-228600" algn="l" defTabSz="457200" rtl="0" eaLnBrk="1" latinLnBrk="0" hangingPunct="1">
              <a:lnSpc>
                <a:spcPct val="100000"/>
              </a:lnSpc>
              <a:spcBef>
                <a:spcPct val="20000"/>
              </a:spcBef>
              <a:buFont typeface="Arial"/>
              <a:buChar char="–"/>
              <a:defRPr sz="2000" kern="1200">
                <a:solidFill>
                  <a:schemeClr val="tx1"/>
                </a:solidFill>
                <a:latin typeface="Arial"/>
                <a:ea typeface="+mn-ea"/>
                <a:cs typeface="Arial"/>
              </a:defRPr>
            </a:lvl4pPr>
            <a:lvl5pPr marL="2057400" indent="-228600" algn="l" defTabSz="457200" rtl="0" eaLnBrk="1" latinLnBrk="0" hangingPunct="1">
              <a:lnSpc>
                <a:spcPct val="100000"/>
              </a:lnSpc>
              <a:spcBef>
                <a:spcPct val="20000"/>
              </a:spcBef>
              <a:buFont typeface="Arial"/>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120000"/>
              </a:lnSpc>
              <a:spcBef>
                <a:spcPts val="600"/>
              </a:spcBef>
            </a:pPr>
            <a:r>
              <a:rPr lang="en-US" altLang="zh-CN" sz="3800" dirty="0" smtClean="0"/>
              <a:t>During a compaction from C</a:t>
            </a:r>
            <a:r>
              <a:rPr lang="en-US" altLang="zh-CN" sz="2600" dirty="0" smtClean="0"/>
              <a:t>i </a:t>
            </a:r>
            <a:r>
              <a:rPr lang="en-US" altLang="zh-CN" sz="3800" dirty="0" smtClean="0"/>
              <a:t>to C</a:t>
            </a:r>
            <a:r>
              <a:rPr lang="en-US" altLang="zh-CN" sz="2600" dirty="0" smtClean="0"/>
              <a:t>i+1</a:t>
            </a:r>
            <a:r>
              <a:rPr lang="en-US" altLang="zh-CN" sz="3800" dirty="0" smtClean="0"/>
              <a:t>, C</a:t>
            </a:r>
            <a:r>
              <a:rPr lang="en-US" altLang="zh-CN" sz="2600" dirty="0" smtClean="0"/>
              <a:t>i</a:t>
            </a:r>
            <a:r>
              <a:rPr lang="en-US" altLang="zh-CN" sz="3800" dirty="0" smtClean="0"/>
              <a:t> is also appended to B</a:t>
            </a:r>
            <a:r>
              <a:rPr lang="en-US" altLang="zh-CN" sz="2600" dirty="0" smtClean="0"/>
              <a:t>i+1</a:t>
            </a:r>
            <a:r>
              <a:rPr lang="en-US" altLang="zh-CN" sz="3800" dirty="0" smtClean="0"/>
              <a:t>  </a:t>
            </a:r>
          </a:p>
          <a:p>
            <a:pPr lvl="1">
              <a:lnSpc>
                <a:spcPct val="120000"/>
              </a:lnSpc>
              <a:spcBef>
                <a:spcPts val="600"/>
              </a:spcBef>
            </a:pPr>
            <a:r>
              <a:rPr lang="en-US" altLang="zh-CN" sz="2500" dirty="0" smtClean="0"/>
              <a:t>E.g. while data in </a:t>
            </a:r>
            <a:r>
              <a:rPr lang="en-US" altLang="zh-CN" sz="2500" b="1" dirty="0" smtClean="0"/>
              <a:t>C</a:t>
            </a:r>
            <a:r>
              <a:rPr lang="en-US" altLang="zh-CN" sz="1600" b="1" dirty="0" smtClean="0"/>
              <a:t>0</a:t>
            </a:r>
            <a:r>
              <a:rPr lang="en-US" altLang="zh-CN" sz="2500" dirty="0" smtClean="0"/>
              <a:t> is merged to </a:t>
            </a:r>
            <a:r>
              <a:rPr lang="en-US" altLang="zh-CN" sz="2500" b="1" dirty="0" smtClean="0"/>
              <a:t>C</a:t>
            </a:r>
            <a:r>
              <a:rPr lang="en-US" altLang="zh-CN" sz="1600" b="1" dirty="0" smtClean="0"/>
              <a:t>1</a:t>
            </a:r>
            <a:r>
              <a:rPr lang="en-US" altLang="zh-CN" sz="2500" dirty="0" smtClean="0"/>
              <a:t> in LSM-tree, </a:t>
            </a:r>
            <a:r>
              <a:rPr lang="en-US" altLang="zh-CN" sz="2500" dirty="0"/>
              <a:t>it is also appended to </a:t>
            </a:r>
            <a:r>
              <a:rPr lang="en-US" altLang="zh-CN" sz="2600" b="1" dirty="0">
                <a:solidFill>
                  <a:prstClr val="black"/>
                </a:solidFill>
              </a:rPr>
              <a:t>B</a:t>
            </a:r>
            <a:r>
              <a:rPr lang="en-US" altLang="zh-CN" sz="1600" b="1" dirty="0">
                <a:solidFill>
                  <a:prstClr val="black"/>
                </a:solidFill>
              </a:rPr>
              <a:t>1 </a:t>
            </a:r>
            <a:r>
              <a:rPr lang="en-US" altLang="zh-CN" sz="2500" dirty="0"/>
              <a:t>in compaction </a:t>
            </a:r>
            <a:r>
              <a:rPr lang="en-US" altLang="zh-CN" sz="2500" dirty="0" smtClean="0"/>
              <a:t>buffer</a:t>
            </a:r>
            <a:endParaRPr lang="en-US" altLang="zh-CN" sz="1600" b="1" dirty="0" smtClean="0"/>
          </a:p>
          <a:p>
            <a:pPr>
              <a:lnSpc>
                <a:spcPct val="120000"/>
              </a:lnSpc>
              <a:spcBef>
                <a:spcPts val="600"/>
              </a:spcBef>
            </a:pPr>
            <a:r>
              <a:rPr lang="en-US" altLang="zh-CN" sz="3800" dirty="0" smtClean="0"/>
              <a:t>No additional I/O, but only index modification and additional space</a:t>
            </a:r>
          </a:p>
          <a:p>
            <a:pPr>
              <a:lnSpc>
                <a:spcPct val="120000"/>
              </a:lnSpc>
              <a:spcBef>
                <a:spcPts val="600"/>
              </a:spcBef>
            </a:pPr>
            <a:r>
              <a:rPr lang="en-US" altLang="zh-CN" sz="3400" dirty="0" smtClean="0"/>
              <a:t>As </a:t>
            </a:r>
            <a:r>
              <a:rPr lang="en-US" altLang="zh-CN" sz="3600" dirty="0" smtClean="0"/>
              <a:t>C</a:t>
            </a:r>
            <a:r>
              <a:rPr lang="en-US" altLang="zh-CN" sz="2400" dirty="0" smtClean="0"/>
              <a:t>i </a:t>
            </a:r>
            <a:r>
              <a:rPr lang="en-US" altLang="zh-CN" sz="3600" dirty="0" smtClean="0"/>
              <a:t>is merged into </a:t>
            </a:r>
            <a:r>
              <a:rPr lang="en-US" altLang="zh-CN" sz="3600" dirty="0"/>
              <a:t>C</a:t>
            </a:r>
            <a:r>
              <a:rPr lang="en-US" altLang="zh-CN" sz="2400" dirty="0"/>
              <a:t>i+1</a:t>
            </a:r>
            <a:r>
              <a:rPr lang="en-US" altLang="zh-CN" sz="3400" dirty="0" smtClean="0"/>
              <a:t>, </a:t>
            </a:r>
            <a:r>
              <a:rPr lang="en-US" altLang="zh-CN" sz="3400" dirty="0"/>
              <a:t>the </a:t>
            </a:r>
            <a:r>
              <a:rPr lang="en-US" altLang="zh-CN" sz="3400" dirty="0" smtClean="0"/>
              <a:t>data blocks in B</a:t>
            </a:r>
            <a:r>
              <a:rPr lang="en-US" altLang="zh-CN" sz="3600" baseline="-25000" dirty="0" smtClean="0"/>
              <a:t>i </a:t>
            </a:r>
            <a:r>
              <a:rPr lang="en-US" altLang="zh-CN" sz="3400" dirty="0" smtClean="0"/>
              <a:t>are removed </a:t>
            </a:r>
            <a:r>
              <a:rPr lang="en-US" altLang="zh-CN" sz="3400" b="1" dirty="0" smtClean="0"/>
              <a:t>gradually</a:t>
            </a:r>
            <a:endParaRPr lang="en-US" altLang="zh-CN" sz="5900" dirty="0" smtClean="0"/>
          </a:p>
          <a:p>
            <a:pPr>
              <a:lnSpc>
                <a:spcPct val="120000"/>
              </a:lnSpc>
              <a:spcBef>
                <a:spcPts val="600"/>
              </a:spcBef>
            </a:pPr>
            <a:endParaRPr lang="en-US" altLang="zh-CN" sz="2600" b="1" dirty="0" smtClean="0"/>
          </a:p>
          <a:p>
            <a:pPr>
              <a:lnSpc>
                <a:spcPct val="120000"/>
              </a:lnSpc>
              <a:spcBef>
                <a:spcPts val="600"/>
              </a:spcBef>
            </a:pPr>
            <a:endParaRPr lang="zh-CN" altLang="en-US" dirty="0"/>
          </a:p>
        </p:txBody>
      </p:sp>
      <p:grpSp>
        <p:nvGrpSpPr>
          <p:cNvPr id="9" name="组合 8"/>
          <p:cNvGrpSpPr/>
          <p:nvPr/>
        </p:nvGrpSpPr>
        <p:grpSpPr>
          <a:xfrm>
            <a:off x="1053139" y="4685465"/>
            <a:ext cx="2911135" cy="1580371"/>
            <a:chOff x="5211783" y="2038726"/>
            <a:chExt cx="2911135" cy="1580371"/>
          </a:xfrm>
          <a:solidFill>
            <a:schemeClr val="bg2">
              <a:lumMod val="20000"/>
              <a:lumOff val="80000"/>
            </a:schemeClr>
          </a:solidFill>
        </p:grpSpPr>
        <p:sp>
          <p:nvSpPr>
            <p:cNvPr id="8" name="流程图: 磁盘 7"/>
            <p:cNvSpPr/>
            <p:nvPr/>
          </p:nvSpPr>
          <p:spPr>
            <a:xfrm>
              <a:off x="5211783" y="2038726"/>
              <a:ext cx="2911135" cy="1580371"/>
            </a:xfrm>
            <a:prstGeom prst="flowChartMagneticDisk">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TextBox 4"/>
            <p:cNvSpPr txBox="1"/>
            <p:nvPr/>
          </p:nvSpPr>
          <p:spPr>
            <a:xfrm>
              <a:off x="6415741" y="2067665"/>
              <a:ext cx="492122" cy="461665"/>
            </a:xfrm>
            <a:prstGeom prst="rect">
              <a:avLst/>
            </a:prstGeom>
            <a:grpFill/>
          </p:spPr>
          <p:txBody>
            <a:bodyPr wrap="none" lIns="0" rIns="0" rtlCol="0">
              <a:spAutoFit/>
            </a:bodyPr>
            <a:lstStyle/>
            <a:p>
              <a:r>
                <a:rPr lang="en-US" altLang="zh-CN" sz="2400" dirty="0" smtClean="0"/>
                <a:t>disk</a:t>
              </a:r>
              <a:endParaRPr lang="zh-CN" altLang="en-US" sz="2400" dirty="0"/>
            </a:p>
          </p:txBody>
        </p:sp>
      </p:grpSp>
      <p:sp>
        <p:nvSpPr>
          <p:cNvPr id="111" name="Rectangle 16"/>
          <p:cNvSpPr>
            <a:spLocks noChangeArrowheads="1"/>
          </p:cNvSpPr>
          <p:nvPr/>
        </p:nvSpPr>
        <p:spPr bwMode="auto">
          <a:xfrm>
            <a:off x="2016797" y="4338343"/>
            <a:ext cx="182880" cy="182045"/>
          </a:xfrm>
          <a:prstGeom prst="rect">
            <a:avLst/>
          </a:prstGeom>
          <a:noFill/>
          <a:ln w="9525" cap="flat" cmpd="sng">
            <a:noFill/>
            <a:miter lim="800000"/>
            <a:headEnd/>
            <a:tailEnd/>
          </a:ln>
          <a:effectLst/>
          <a:extLst/>
        </p:spPr>
        <p:txBody>
          <a:bodyPr wrap="none" lIns="0" tIns="0" rIns="0" bIns="0" anchor="ctr"/>
          <a:lstStyle/>
          <a:p>
            <a:pPr algn="ctr"/>
            <a:r>
              <a:rPr lang="en-US" altLang="zh-CN" b="1" dirty="0" smtClean="0">
                <a:solidFill>
                  <a:srgbClr val="FFC000"/>
                </a:solidFill>
              </a:rPr>
              <a:t>c</a:t>
            </a:r>
            <a:endParaRPr lang="zh-CN" altLang="en-US" b="1" dirty="0">
              <a:solidFill>
                <a:srgbClr val="FFC000"/>
              </a:solidFill>
            </a:endParaRPr>
          </a:p>
        </p:txBody>
      </p:sp>
      <p:sp>
        <p:nvSpPr>
          <p:cNvPr id="75" name="Rectangle 16"/>
          <p:cNvSpPr>
            <a:spLocks noChangeArrowheads="1"/>
          </p:cNvSpPr>
          <p:nvPr/>
        </p:nvSpPr>
        <p:spPr bwMode="auto">
          <a:xfrm>
            <a:off x="2567133" y="4345720"/>
            <a:ext cx="182880" cy="182045"/>
          </a:xfrm>
          <a:prstGeom prst="rect">
            <a:avLst/>
          </a:prstGeom>
          <a:solidFill>
            <a:schemeClr val="bg1"/>
          </a:solidFill>
          <a:ln w="9525" cap="flat" cmpd="sng">
            <a:noFill/>
            <a:miter lim="800000"/>
            <a:headEnd/>
            <a:tailEnd/>
          </a:ln>
          <a:effectLst/>
          <a:extLst/>
        </p:spPr>
        <p:txBody>
          <a:bodyPr wrap="none" lIns="0" tIns="0" rIns="0" bIns="0" anchor="ctr"/>
          <a:lstStyle/>
          <a:p>
            <a:pPr algn="ctr"/>
            <a:r>
              <a:rPr lang="en-US" altLang="zh-CN" b="1" dirty="0" smtClean="0">
                <a:solidFill>
                  <a:srgbClr val="002060"/>
                </a:solidFill>
              </a:rPr>
              <a:t>b</a:t>
            </a:r>
            <a:endParaRPr lang="zh-CN" altLang="en-US" b="1" dirty="0">
              <a:solidFill>
                <a:srgbClr val="002060"/>
              </a:solidFill>
            </a:endParaRPr>
          </a:p>
        </p:txBody>
      </p:sp>
      <p:sp>
        <p:nvSpPr>
          <p:cNvPr id="76" name="Rectangle 16"/>
          <p:cNvSpPr>
            <a:spLocks noChangeArrowheads="1"/>
          </p:cNvSpPr>
          <p:nvPr/>
        </p:nvSpPr>
        <p:spPr bwMode="auto">
          <a:xfrm>
            <a:off x="2751880" y="4341902"/>
            <a:ext cx="182880" cy="182045"/>
          </a:xfrm>
          <a:prstGeom prst="rect">
            <a:avLst/>
          </a:prstGeom>
          <a:noFill/>
          <a:ln w="9525" cap="flat" cmpd="sng">
            <a:noFill/>
            <a:miter lim="800000"/>
            <a:headEnd/>
            <a:tailEnd/>
          </a:ln>
          <a:effectLst/>
          <a:extLst/>
        </p:spPr>
        <p:txBody>
          <a:bodyPr wrap="none" lIns="0" tIns="0" rIns="0" bIns="0" anchor="ctr"/>
          <a:lstStyle/>
          <a:p>
            <a:pPr algn="ctr"/>
            <a:r>
              <a:rPr lang="en-US" altLang="zh-CN" b="1" dirty="0" smtClean="0">
                <a:solidFill>
                  <a:srgbClr val="00B050"/>
                </a:solidFill>
              </a:rPr>
              <a:t>d</a:t>
            </a:r>
            <a:endParaRPr lang="zh-CN" altLang="en-US" b="1" dirty="0">
              <a:solidFill>
                <a:srgbClr val="00B050"/>
              </a:solidFill>
            </a:endParaRPr>
          </a:p>
        </p:txBody>
      </p:sp>
      <p:sp>
        <p:nvSpPr>
          <p:cNvPr id="77" name="Rectangle 16"/>
          <p:cNvSpPr>
            <a:spLocks noChangeArrowheads="1"/>
          </p:cNvSpPr>
          <p:nvPr/>
        </p:nvSpPr>
        <p:spPr bwMode="auto">
          <a:xfrm>
            <a:off x="2378747" y="4338343"/>
            <a:ext cx="182880" cy="182045"/>
          </a:xfrm>
          <a:prstGeom prst="rect">
            <a:avLst/>
          </a:prstGeom>
          <a:noFill/>
          <a:ln w="9525" cap="flat" cmpd="sng">
            <a:noFill/>
            <a:miter lim="800000"/>
            <a:headEnd/>
            <a:tailEnd/>
          </a:ln>
          <a:effectLst/>
          <a:extLst/>
        </p:spPr>
        <p:txBody>
          <a:bodyPr wrap="none" lIns="0" tIns="0" rIns="0" bIns="0" anchor="ctr"/>
          <a:lstStyle/>
          <a:p>
            <a:pPr algn="ctr"/>
            <a:r>
              <a:rPr lang="en-US" altLang="zh-CN" b="1" dirty="0" smtClean="0">
                <a:solidFill>
                  <a:srgbClr val="FF0000"/>
                </a:solidFill>
              </a:rPr>
              <a:t>a</a:t>
            </a:r>
            <a:endParaRPr lang="zh-CN" altLang="en-US" b="1" dirty="0">
              <a:solidFill>
                <a:srgbClr val="FF0000"/>
              </a:solidFill>
            </a:endParaRPr>
          </a:p>
        </p:txBody>
      </p:sp>
      <p:sp>
        <p:nvSpPr>
          <p:cNvPr id="6" name="TextBox 5"/>
          <p:cNvSpPr txBox="1"/>
          <p:nvPr/>
        </p:nvSpPr>
        <p:spPr>
          <a:xfrm>
            <a:off x="1963370" y="3821481"/>
            <a:ext cx="1062791" cy="338554"/>
          </a:xfrm>
          <a:prstGeom prst="rect">
            <a:avLst/>
          </a:prstGeom>
          <a:noFill/>
        </p:spPr>
        <p:txBody>
          <a:bodyPr wrap="none" lIns="0" rIns="0" rtlCol="0">
            <a:spAutoFit/>
          </a:bodyPr>
          <a:lstStyle/>
          <a:p>
            <a:r>
              <a:rPr lang="en-US" altLang="zh-CN" sz="1600" b="1" dirty="0">
                <a:solidFill>
                  <a:srgbClr val="C00000"/>
                </a:solidFill>
              </a:rPr>
              <a:t>B</a:t>
            </a:r>
            <a:r>
              <a:rPr lang="en-US" altLang="zh-CN" sz="1600" b="1" dirty="0" smtClean="0">
                <a:solidFill>
                  <a:srgbClr val="C00000"/>
                </a:solidFill>
              </a:rPr>
              <a:t>uffer cache</a:t>
            </a:r>
            <a:endParaRPr lang="zh-CN" altLang="en-US" sz="1600" b="1" dirty="0">
              <a:solidFill>
                <a:srgbClr val="C00000"/>
              </a:solidFill>
            </a:endParaRPr>
          </a:p>
        </p:txBody>
      </p:sp>
      <p:sp>
        <p:nvSpPr>
          <p:cNvPr id="27" name="Rectangle 10"/>
          <p:cNvSpPr>
            <a:spLocks noChangeArrowheads="1"/>
          </p:cNvSpPr>
          <p:nvPr/>
        </p:nvSpPr>
        <p:spPr bwMode="auto">
          <a:xfrm>
            <a:off x="3099725" y="5827056"/>
            <a:ext cx="182880" cy="182880"/>
          </a:xfrm>
          <a:prstGeom prst="rect">
            <a:avLst/>
          </a:prstGeom>
          <a:solidFill>
            <a:schemeClr val="bg1"/>
          </a:solidFill>
          <a:ln w="9525" cap="flat" cmpd="sng">
            <a:solidFill>
              <a:schemeClr val="tx1"/>
            </a:solidFill>
            <a:miter lim="800000"/>
            <a:headEnd/>
            <a:tailEnd/>
          </a:ln>
          <a:effectLst/>
          <a:extLst/>
        </p:spPr>
        <p:txBody>
          <a:bodyPr wrap="none" anchor="ctr"/>
          <a:lstStyle/>
          <a:p>
            <a:pPr algn="ctr"/>
            <a:r>
              <a:rPr lang="en-US" altLang="zh-CN" b="1" dirty="0" smtClean="0">
                <a:solidFill>
                  <a:srgbClr val="002060"/>
                </a:solidFill>
              </a:rPr>
              <a:t>b</a:t>
            </a:r>
            <a:endParaRPr lang="zh-CN" altLang="en-US" sz="2400" b="1" dirty="0">
              <a:solidFill>
                <a:srgbClr val="002060"/>
              </a:solidFill>
            </a:endParaRPr>
          </a:p>
        </p:txBody>
      </p:sp>
      <p:sp>
        <p:nvSpPr>
          <p:cNvPr id="28" name="Rectangle 10"/>
          <p:cNvSpPr>
            <a:spLocks noChangeArrowheads="1"/>
          </p:cNvSpPr>
          <p:nvPr/>
        </p:nvSpPr>
        <p:spPr bwMode="auto">
          <a:xfrm>
            <a:off x="3465480" y="5827056"/>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7030A0"/>
                </a:solidFill>
              </a:rPr>
              <a:t>f</a:t>
            </a:r>
            <a:endParaRPr lang="zh-CN" altLang="en-US" b="1" dirty="0">
              <a:solidFill>
                <a:srgbClr val="7030A0"/>
              </a:solidFill>
            </a:endParaRPr>
          </a:p>
        </p:txBody>
      </p:sp>
      <p:sp>
        <p:nvSpPr>
          <p:cNvPr id="30" name="Rectangle 10"/>
          <p:cNvSpPr>
            <a:spLocks noChangeArrowheads="1"/>
          </p:cNvSpPr>
          <p:nvPr/>
        </p:nvSpPr>
        <p:spPr bwMode="auto">
          <a:xfrm>
            <a:off x="3282605" y="5827056"/>
            <a:ext cx="182880" cy="182880"/>
          </a:xfrm>
          <a:prstGeom prst="rect">
            <a:avLst/>
          </a:prstGeom>
          <a:solidFill>
            <a:schemeClr val="bg1"/>
          </a:solidFill>
          <a:ln w="9525" cap="flat" cmpd="sng">
            <a:solidFill>
              <a:schemeClr val="tx1"/>
            </a:solidFill>
            <a:miter lim="800000"/>
            <a:headEnd/>
            <a:tailEnd/>
          </a:ln>
          <a:effectLst/>
          <a:extLst/>
        </p:spPr>
        <p:txBody>
          <a:bodyPr wrap="none" anchor="ctr"/>
          <a:lstStyle/>
          <a:p>
            <a:pPr algn="ctr"/>
            <a:r>
              <a:rPr lang="en-US" altLang="zh-CN" b="1" dirty="0" smtClean="0">
                <a:solidFill>
                  <a:srgbClr val="00B050"/>
                </a:solidFill>
              </a:rPr>
              <a:t>d</a:t>
            </a:r>
            <a:endParaRPr lang="zh-CN" altLang="en-US" b="1" dirty="0">
              <a:solidFill>
                <a:srgbClr val="00B050"/>
              </a:solidFill>
            </a:endParaRPr>
          </a:p>
        </p:txBody>
      </p:sp>
      <p:cxnSp>
        <p:nvCxnSpPr>
          <p:cNvPr id="13" name="直接箭头连接符 12"/>
          <p:cNvCxnSpPr>
            <a:stCxn id="111" idx="2"/>
            <a:endCxn id="110" idx="0"/>
          </p:cNvCxnSpPr>
          <p:nvPr/>
        </p:nvCxnSpPr>
        <p:spPr>
          <a:xfrm flipH="1">
            <a:off x="1298211" y="4520388"/>
            <a:ext cx="810026" cy="888322"/>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80" name="组合 79"/>
          <p:cNvGrpSpPr/>
          <p:nvPr/>
        </p:nvGrpSpPr>
        <p:grpSpPr>
          <a:xfrm>
            <a:off x="2210807" y="5408710"/>
            <a:ext cx="1098960" cy="182880"/>
            <a:chOff x="7038330" y="1443864"/>
            <a:chExt cx="1098960" cy="182880"/>
          </a:xfrm>
        </p:grpSpPr>
        <p:sp>
          <p:nvSpPr>
            <p:cNvPr id="81" name="Rectangle 10"/>
            <p:cNvSpPr>
              <a:spLocks noChangeArrowheads="1"/>
            </p:cNvSpPr>
            <p:nvPr/>
          </p:nvSpPr>
          <p:spPr bwMode="auto">
            <a:xfrm>
              <a:off x="7038330" y="1443864"/>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FF0000"/>
                  </a:solidFill>
                </a:rPr>
                <a:t>a</a:t>
              </a:r>
              <a:endParaRPr lang="zh-CN" altLang="en-US" sz="2400" b="1" dirty="0">
                <a:solidFill>
                  <a:srgbClr val="FF0000"/>
                </a:solidFill>
              </a:endParaRPr>
            </a:p>
          </p:txBody>
        </p:sp>
        <p:sp>
          <p:nvSpPr>
            <p:cNvPr id="82" name="Rectangle 10"/>
            <p:cNvSpPr>
              <a:spLocks noChangeArrowheads="1"/>
            </p:cNvSpPr>
            <p:nvPr/>
          </p:nvSpPr>
          <p:spPr bwMode="auto">
            <a:xfrm>
              <a:off x="7404090" y="1443864"/>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FFC000"/>
                  </a:solidFill>
                </a:rPr>
                <a:t>c</a:t>
              </a:r>
              <a:endParaRPr lang="zh-CN" altLang="en-US" sz="2400" b="1" dirty="0">
                <a:solidFill>
                  <a:srgbClr val="FFC000"/>
                </a:solidFill>
              </a:endParaRPr>
            </a:p>
          </p:txBody>
        </p:sp>
        <p:sp>
          <p:nvSpPr>
            <p:cNvPr id="83" name="Rectangle 10"/>
            <p:cNvSpPr>
              <a:spLocks noChangeArrowheads="1"/>
            </p:cNvSpPr>
            <p:nvPr/>
          </p:nvSpPr>
          <p:spPr bwMode="auto">
            <a:xfrm>
              <a:off x="7954410" y="1443864"/>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7030A0"/>
                  </a:solidFill>
                </a:rPr>
                <a:t>f</a:t>
              </a:r>
              <a:endParaRPr lang="zh-CN" altLang="en-US" sz="2400" b="1" dirty="0">
                <a:solidFill>
                  <a:srgbClr val="7030A0"/>
                </a:solidFill>
              </a:endParaRPr>
            </a:p>
          </p:txBody>
        </p:sp>
        <p:sp>
          <p:nvSpPr>
            <p:cNvPr id="84" name="Rectangle 10"/>
            <p:cNvSpPr>
              <a:spLocks noChangeArrowheads="1"/>
            </p:cNvSpPr>
            <p:nvPr/>
          </p:nvSpPr>
          <p:spPr bwMode="auto">
            <a:xfrm>
              <a:off x="7221210" y="1443864"/>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002060"/>
                  </a:solidFill>
                </a:rPr>
                <a:t>b</a:t>
              </a:r>
              <a:endParaRPr lang="zh-CN" altLang="en-US" b="1" dirty="0">
                <a:solidFill>
                  <a:srgbClr val="002060"/>
                </a:solidFill>
              </a:endParaRPr>
            </a:p>
          </p:txBody>
        </p:sp>
        <p:sp>
          <p:nvSpPr>
            <p:cNvPr id="85" name="Rectangle 10"/>
            <p:cNvSpPr>
              <a:spLocks noChangeArrowheads="1"/>
            </p:cNvSpPr>
            <p:nvPr/>
          </p:nvSpPr>
          <p:spPr bwMode="auto">
            <a:xfrm>
              <a:off x="7586970" y="1443864"/>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00B050"/>
                  </a:solidFill>
                </a:rPr>
                <a:t>d</a:t>
              </a:r>
              <a:endParaRPr lang="zh-CN" altLang="en-US" b="1" dirty="0">
                <a:solidFill>
                  <a:srgbClr val="00B050"/>
                </a:solidFill>
              </a:endParaRPr>
            </a:p>
          </p:txBody>
        </p:sp>
        <p:sp>
          <p:nvSpPr>
            <p:cNvPr id="86" name="Rectangle 10"/>
            <p:cNvSpPr>
              <a:spLocks noChangeArrowheads="1"/>
            </p:cNvSpPr>
            <p:nvPr/>
          </p:nvSpPr>
          <p:spPr bwMode="auto">
            <a:xfrm>
              <a:off x="7771535" y="1443864"/>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002060"/>
                  </a:solidFill>
                </a:rPr>
                <a:t>e</a:t>
              </a:r>
              <a:endParaRPr lang="zh-CN" altLang="en-US" b="1" dirty="0">
                <a:solidFill>
                  <a:srgbClr val="002060"/>
                </a:solidFill>
              </a:endParaRPr>
            </a:p>
          </p:txBody>
        </p:sp>
      </p:grpSp>
      <p:sp>
        <p:nvSpPr>
          <p:cNvPr id="54" name="Rectangle 9"/>
          <p:cNvSpPr>
            <a:spLocks noChangeArrowheads="1"/>
          </p:cNvSpPr>
          <p:nvPr/>
        </p:nvSpPr>
        <p:spPr bwMode="auto">
          <a:xfrm>
            <a:off x="1669059" y="2484482"/>
            <a:ext cx="1463040" cy="137160"/>
          </a:xfrm>
          <a:prstGeom prst="rect">
            <a:avLst/>
          </a:prstGeom>
          <a:solidFill>
            <a:srgbClr val="000080"/>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ndParaRPr>
          </a:p>
        </p:txBody>
      </p:sp>
      <p:sp>
        <p:nvSpPr>
          <p:cNvPr id="55" name="Rectangle 10"/>
          <p:cNvSpPr>
            <a:spLocks noChangeArrowheads="1"/>
          </p:cNvSpPr>
          <p:nvPr/>
        </p:nvSpPr>
        <p:spPr bwMode="auto">
          <a:xfrm>
            <a:off x="2040262" y="2118722"/>
            <a:ext cx="731520" cy="137160"/>
          </a:xfrm>
          <a:prstGeom prst="rect">
            <a:avLst/>
          </a:prstGeom>
          <a:solidFill>
            <a:srgbClr val="000080"/>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ndParaRPr>
          </a:p>
        </p:txBody>
      </p:sp>
      <p:sp>
        <p:nvSpPr>
          <p:cNvPr id="56" name="Rectangle 16"/>
          <p:cNvSpPr>
            <a:spLocks noChangeArrowheads="1"/>
          </p:cNvSpPr>
          <p:nvPr/>
        </p:nvSpPr>
        <p:spPr bwMode="auto">
          <a:xfrm>
            <a:off x="2308962" y="1752962"/>
            <a:ext cx="182880" cy="137160"/>
          </a:xfrm>
          <a:prstGeom prst="rect">
            <a:avLst/>
          </a:prstGeom>
          <a:solidFill>
            <a:srgbClr val="FFFF00"/>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ndParaRPr>
          </a:p>
        </p:txBody>
      </p:sp>
      <p:sp>
        <p:nvSpPr>
          <p:cNvPr id="57" name="Text Box 17"/>
          <p:cNvSpPr txBox="1">
            <a:spLocks noChangeArrowheads="1"/>
          </p:cNvSpPr>
          <p:nvPr/>
        </p:nvSpPr>
        <p:spPr bwMode="auto">
          <a:xfrm>
            <a:off x="1269815" y="1513543"/>
            <a:ext cx="285335" cy="1846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r>
              <a:rPr lang="en-US" altLang="zh-CN" sz="1200" dirty="0" smtClean="0">
                <a:solidFill>
                  <a:prstClr val="black"/>
                </a:solidFill>
              </a:rPr>
              <a:t>HDD</a:t>
            </a:r>
            <a:endParaRPr lang="zh-CN" altLang="en-US" sz="1200" dirty="0">
              <a:solidFill>
                <a:prstClr val="black"/>
              </a:solidFill>
            </a:endParaRPr>
          </a:p>
        </p:txBody>
      </p:sp>
      <p:sp>
        <p:nvSpPr>
          <p:cNvPr id="58" name="Rectangle 10"/>
          <p:cNvSpPr>
            <a:spLocks noChangeArrowheads="1"/>
          </p:cNvSpPr>
          <p:nvPr/>
        </p:nvSpPr>
        <p:spPr bwMode="auto">
          <a:xfrm>
            <a:off x="895356" y="1544393"/>
            <a:ext cx="274320" cy="137160"/>
          </a:xfrm>
          <a:prstGeom prst="rect">
            <a:avLst/>
          </a:prstGeom>
          <a:solidFill>
            <a:srgbClr val="002060"/>
          </a:solidFill>
          <a:ln w="9525" cap="flat" cmpd="sng">
            <a:solidFill>
              <a:schemeClr val="tx1"/>
            </a:solidFill>
            <a:miter lim="800000"/>
            <a:headEnd/>
            <a:tailEnd/>
          </a:ln>
          <a:effectLst/>
          <a:extLst/>
        </p:spPr>
        <p:txBody>
          <a:bodyPr wrap="none" anchor="ctr"/>
          <a:lstStyle/>
          <a:p>
            <a:endParaRPr lang="zh-CN" altLang="en-US" sz="1200">
              <a:solidFill>
                <a:prstClr val="black"/>
              </a:solidFill>
            </a:endParaRPr>
          </a:p>
        </p:txBody>
      </p:sp>
      <p:sp>
        <p:nvSpPr>
          <p:cNvPr id="60" name="箭头 379"/>
          <p:cNvSpPr>
            <a:spLocks noChangeShapeType="1"/>
          </p:cNvSpPr>
          <p:nvPr/>
        </p:nvSpPr>
        <p:spPr bwMode="auto">
          <a:xfrm flipH="1">
            <a:off x="1685936" y="2168416"/>
            <a:ext cx="343472" cy="305747"/>
          </a:xfrm>
          <a:custGeom>
            <a:avLst/>
            <a:gdLst>
              <a:gd name="connsiteX0" fmla="*/ 0 w 10000"/>
              <a:gd name="connsiteY0" fmla="*/ 0 h 10000"/>
              <a:gd name="connsiteX1" fmla="*/ 10000 w 10000"/>
              <a:gd name="connsiteY1" fmla="*/ 10000 h 10000"/>
              <a:gd name="connsiteX0" fmla="*/ 0 w 10000"/>
              <a:gd name="connsiteY0" fmla="*/ 0 h 10000"/>
              <a:gd name="connsiteX1" fmla="*/ 10000 w 10000"/>
              <a:gd name="connsiteY1" fmla="*/ 4196 h 10000"/>
              <a:gd name="connsiteX2" fmla="*/ 10000 w 10000"/>
              <a:gd name="connsiteY2" fmla="*/ 10000 h 10000"/>
              <a:gd name="connsiteX0" fmla="*/ 0 w 101010"/>
              <a:gd name="connsiteY0" fmla="*/ 0 h 10000"/>
              <a:gd name="connsiteX1" fmla="*/ 101010 w 101010"/>
              <a:gd name="connsiteY1" fmla="*/ 5597 h 10000"/>
              <a:gd name="connsiteX2" fmla="*/ 10000 w 101010"/>
              <a:gd name="connsiteY2" fmla="*/ 10000 h 10000"/>
              <a:gd name="connsiteX0" fmla="*/ 0 w 101031"/>
              <a:gd name="connsiteY0" fmla="*/ 0 h 10000"/>
              <a:gd name="connsiteX1" fmla="*/ 101010 w 101031"/>
              <a:gd name="connsiteY1" fmla="*/ 5597 h 10000"/>
              <a:gd name="connsiteX2" fmla="*/ 10000 w 101031"/>
              <a:gd name="connsiteY2" fmla="*/ 10000 h 10000"/>
              <a:gd name="connsiteX0" fmla="*/ 0 w 101031"/>
              <a:gd name="connsiteY0" fmla="*/ 0 h 10000"/>
              <a:gd name="connsiteX1" fmla="*/ 101010 w 101031"/>
              <a:gd name="connsiteY1" fmla="*/ 4396 h 10000"/>
              <a:gd name="connsiteX2" fmla="*/ 10000 w 101031"/>
              <a:gd name="connsiteY2" fmla="*/ 10000 h 10000"/>
              <a:gd name="connsiteX0" fmla="*/ 0 w 270965"/>
              <a:gd name="connsiteY0" fmla="*/ 0 h 9600"/>
              <a:gd name="connsiteX1" fmla="*/ 266483 w 270965"/>
              <a:gd name="connsiteY1" fmla="*/ 3996 h 9600"/>
              <a:gd name="connsiteX2" fmla="*/ 175473 w 270965"/>
              <a:gd name="connsiteY2" fmla="*/ 9600 h 9600"/>
              <a:gd name="connsiteX0" fmla="*/ 0 w 7173"/>
              <a:gd name="connsiteY0" fmla="*/ 0 h 10000"/>
              <a:gd name="connsiteX1" fmla="*/ 6782 w 7173"/>
              <a:gd name="connsiteY1" fmla="*/ 3329 h 10000"/>
              <a:gd name="connsiteX2" fmla="*/ 6476 w 7173"/>
              <a:gd name="connsiteY2" fmla="*/ 10000 h 10000"/>
              <a:gd name="connsiteX0" fmla="*/ 0 w 10912"/>
              <a:gd name="connsiteY0" fmla="*/ 0 h 9444"/>
              <a:gd name="connsiteX1" fmla="*/ 10306 w 10912"/>
              <a:gd name="connsiteY1" fmla="*/ 2773 h 9444"/>
              <a:gd name="connsiteX2" fmla="*/ 9879 w 10912"/>
              <a:gd name="connsiteY2" fmla="*/ 9444 h 9444"/>
              <a:gd name="connsiteX0" fmla="*/ 0 w 9244"/>
              <a:gd name="connsiteY0" fmla="*/ 0 h 10000"/>
              <a:gd name="connsiteX1" fmla="*/ 8405 w 9244"/>
              <a:gd name="connsiteY1" fmla="*/ 2642 h 10000"/>
              <a:gd name="connsiteX2" fmla="*/ 9053 w 9244"/>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9700"/>
              <a:gd name="connsiteY0" fmla="*/ 0 h 10589"/>
              <a:gd name="connsiteX1" fmla="*/ 8811 w 9700"/>
              <a:gd name="connsiteY1" fmla="*/ 3231 h 10589"/>
              <a:gd name="connsiteX2" fmla="*/ 9512 w 9700"/>
              <a:gd name="connsiteY2" fmla="*/ 10589 h 10589"/>
              <a:gd name="connsiteX0" fmla="*/ 0 w 10000"/>
              <a:gd name="connsiteY0" fmla="*/ 0 h 10000"/>
              <a:gd name="connsiteX1" fmla="*/ 9084 w 10000"/>
              <a:gd name="connsiteY1" fmla="*/ 3051 h 10000"/>
              <a:gd name="connsiteX2" fmla="*/ 9806 w 10000"/>
              <a:gd name="connsiteY2" fmla="*/ 10000 h 10000"/>
              <a:gd name="connsiteX0" fmla="*/ 0 w 10000"/>
              <a:gd name="connsiteY0" fmla="*/ 0 h 10000"/>
              <a:gd name="connsiteX1" fmla="*/ 9084 w 10000"/>
              <a:gd name="connsiteY1" fmla="*/ 3051 h 10000"/>
              <a:gd name="connsiteX2" fmla="*/ 9806 w 10000"/>
              <a:gd name="connsiteY2" fmla="*/ 10000 h 10000"/>
              <a:gd name="connsiteX0" fmla="*/ 0 w 10386"/>
              <a:gd name="connsiteY0" fmla="*/ 0 h 10973"/>
              <a:gd name="connsiteX1" fmla="*/ 9084 w 10386"/>
              <a:gd name="connsiteY1" fmla="*/ 3051 h 10973"/>
              <a:gd name="connsiteX2" fmla="*/ 10386 w 10386"/>
              <a:gd name="connsiteY2" fmla="*/ 10973 h 10973"/>
              <a:gd name="connsiteX0" fmla="*/ 0 w 10414"/>
              <a:gd name="connsiteY0" fmla="*/ 0 h 10973"/>
              <a:gd name="connsiteX1" fmla="*/ 9084 w 10414"/>
              <a:gd name="connsiteY1" fmla="*/ 3051 h 10973"/>
              <a:gd name="connsiteX2" fmla="*/ 10290 w 10414"/>
              <a:gd name="connsiteY2" fmla="*/ 6669 h 10973"/>
              <a:gd name="connsiteX3" fmla="*/ 10386 w 10414"/>
              <a:gd name="connsiteY3" fmla="*/ 10973 h 10973"/>
              <a:gd name="connsiteX0" fmla="*/ 0 w 10641"/>
              <a:gd name="connsiteY0" fmla="*/ 0 h 10973"/>
              <a:gd name="connsiteX1" fmla="*/ 9084 w 10641"/>
              <a:gd name="connsiteY1" fmla="*/ 3051 h 10973"/>
              <a:gd name="connsiteX2" fmla="*/ 10580 w 10641"/>
              <a:gd name="connsiteY2" fmla="*/ 6113 h 10973"/>
              <a:gd name="connsiteX3" fmla="*/ 10386 w 10641"/>
              <a:gd name="connsiteY3" fmla="*/ 10973 h 10973"/>
              <a:gd name="connsiteX0" fmla="*/ 0 w 10641"/>
              <a:gd name="connsiteY0" fmla="*/ 0 h 10973"/>
              <a:gd name="connsiteX1" fmla="*/ 7924 w 10641"/>
              <a:gd name="connsiteY1" fmla="*/ 2634 h 10973"/>
              <a:gd name="connsiteX2" fmla="*/ 10580 w 10641"/>
              <a:gd name="connsiteY2" fmla="*/ 6113 h 10973"/>
              <a:gd name="connsiteX3" fmla="*/ 10386 w 10641"/>
              <a:gd name="connsiteY3" fmla="*/ 10973 h 10973"/>
              <a:gd name="connsiteX0" fmla="*/ 0 w 11801"/>
              <a:gd name="connsiteY0" fmla="*/ 0 h 10973"/>
              <a:gd name="connsiteX1" fmla="*/ 9084 w 11801"/>
              <a:gd name="connsiteY1" fmla="*/ 2634 h 10973"/>
              <a:gd name="connsiteX2" fmla="*/ 11740 w 11801"/>
              <a:gd name="connsiteY2" fmla="*/ 6113 h 10973"/>
              <a:gd name="connsiteX3" fmla="*/ 11546 w 11801"/>
              <a:gd name="connsiteY3" fmla="*/ 10973 h 10973"/>
              <a:gd name="connsiteX0" fmla="*/ 0 w 11801"/>
              <a:gd name="connsiteY0" fmla="*/ 0 h 10973"/>
              <a:gd name="connsiteX1" fmla="*/ 9084 w 11801"/>
              <a:gd name="connsiteY1" fmla="*/ 2634 h 10973"/>
              <a:gd name="connsiteX2" fmla="*/ 11740 w 11801"/>
              <a:gd name="connsiteY2" fmla="*/ 6113 h 10973"/>
              <a:gd name="connsiteX3" fmla="*/ 11546 w 11801"/>
              <a:gd name="connsiteY3" fmla="*/ 10973 h 10973"/>
              <a:gd name="connsiteX0" fmla="*/ 0 w 11546"/>
              <a:gd name="connsiteY0" fmla="*/ 0 h 10973"/>
              <a:gd name="connsiteX1" fmla="*/ 9084 w 11546"/>
              <a:gd name="connsiteY1" fmla="*/ 2634 h 10973"/>
              <a:gd name="connsiteX2" fmla="*/ 11546 w 11546"/>
              <a:gd name="connsiteY2" fmla="*/ 10973 h 10973"/>
              <a:gd name="connsiteX0" fmla="*/ 0 w 11911"/>
              <a:gd name="connsiteY0" fmla="*/ 0 h 7741"/>
              <a:gd name="connsiteX1" fmla="*/ 9084 w 11911"/>
              <a:gd name="connsiteY1" fmla="*/ 2634 h 7741"/>
              <a:gd name="connsiteX2" fmla="*/ 11911 w 11911"/>
              <a:gd name="connsiteY2" fmla="*/ 7741 h 7741"/>
              <a:gd name="connsiteX0" fmla="*/ 0 w 10000"/>
              <a:gd name="connsiteY0" fmla="*/ 0 h 10000"/>
              <a:gd name="connsiteX1" fmla="*/ 6809 w 10000"/>
              <a:gd name="connsiteY1" fmla="*/ 2595 h 10000"/>
              <a:gd name="connsiteX2" fmla="*/ 10000 w 10000"/>
              <a:gd name="connsiteY2" fmla="*/ 10000 h 10000"/>
              <a:gd name="connsiteX0" fmla="*/ 0 w 9898"/>
              <a:gd name="connsiteY0" fmla="*/ 0 h 10404"/>
              <a:gd name="connsiteX1" fmla="*/ 6707 w 9898"/>
              <a:gd name="connsiteY1" fmla="*/ 2999 h 10404"/>
              <a:gd name="connsiteX2" fmla="*/ 9898 w 9898"/>
              <a:gd name="connsiteY2" fmla="*/ 10404 h 10404"/>
              <a:gd name="connsiteX0" fmla="*/ 0 w 10000"/>
              <a:gd name="connsiteY0" fmla="*/ 0 h 10388"/>
              <a:gd name="connsiteX1" fmla="*/ 6776 w 10000"/>
              <a:gd name="connsiteY1" fmla="*/ 2883 h 10388"/>
              <a:gd name="connsiteX2" fmla="*/ 10000 w 10000"/>
              <a:gd name="connsiteY2" fmla="*/ 10388 h 10388"/>
              <a:gd name="connsiteX0" fmla="*/ 0 w 9311"/>
              <a:gd name="connsiteY0" fmla="*/ 0 h 10388"/>
              <a:gd name="connsiteX1" fmla="*/ 6087 w 9311"/>
              <a:gd name="connsiteY1" fmla="*/ 2883 h 10388"/>
              <a:gd name="connsiteX2" fmla="*/ 9311 w 9311"/>
              <a:gd name="connsiteY2" fmla="*/ 10388 h 10388"/>
            </a:gdLst>
            <a:ahLst/>
            <a:cxnLst>
              <a:cxn ang="0">
                <a:pos x="connsiteX0" y="connsiteY0"/>
              </a:cxn>
              <a:cxn ang="0">
                <a:pos x="connsiteX1" y="connsiteY1"/>
              </a:cxn>
              <a:cxn ang="0">
                <a:pos x="connsiteX2" y="connsiteY2"/>
              </a:cxn>
            </a:cxnLst>
            <a:rect l="l" t="t" r="r" b="b"/>
            <a:pathLst>
              <a:path w="9311" h="10388">
                <a:moveTo>
                  <a:pt x="0" y="0"/>
                </a:moveTo>
                <a:cubicBezTo>
                  <a:pt x="3470" y="688"/>
                  <a:pt x="4535" y="1152"/>
                  <a:pt x="6087" y="2883"/>
                </a:cubicBezTo>
                <a:cubicBezTo>
                  <a:pt x="7639" y="4614"/>
                  <a:pt x="8876" y="8231"/>
                  <a:pt x="9311" y="10388"/>
                </a:cubicBezTo>
              </a:path>
            </a:pathLst>
          </a:custGeom>
          <a:noFill/>
          <a:ln w="12700" cap="flat"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a:solidFill>
                <a:prstClr val="black"/>
              </a:solidFill>
            </a:endParaRPr>
          </a:p>
        </p:txBody>
      </p:sp>
      <p:sp>
        <p:nvSpPr>
          <p:cNvPr id="61" name="箭头 379"/>
          <p:cNvSpPr>
            <a:spLocks noChangeShapeType="1"/>
          </p:cNvSpPr>
          <p:nvPr/>
        </p:nvSpPr>
        <p:spPr bwMode="auto">
          <a:xfrm flipH="1">
            <a:off x="2069680" y="1839760"/>
            <a:ext cx="215052" cy="273956"/>
          </a:xfrm>
          <a:custGeom>
            <a:avLst/>
            <a:gdLst>
              <a:gd name="connsiteX0" fmla="*/ 0 w 10000"/>
              <a:gd name="connsiteY0" fmla="*/ 0 h 10000"/>
              <a:gd name="connsiteX1" fmla="*/ 10000 w 10000"/>
              <a:gd name="connsiteY1" fmla="*/ 10000 h 10000"/>
              <a:gd name="connsiteX0" fmla="*/ 0 w 10000"/>
              <a:gd name="connsiteY0" fmla="*/ 0 h 10000"/>
              <a:gd name="connsiteX1" fmla="*/ 10000 w 10000"/>
              <a:gd name="connsiteY1" fmla="*/ 4196 h 10000"/>
              <a:gd name="connsiteX2" fmla="*/ 10000 w 10000"/>
              <a:gd name="connsiteY2" fmla="*/ 10000 h 10000"/>
              <a:gd name="connsiteX0" fmla="*/ 0 w 101010"/>
              <a:gd name="connsiteY0" fmla="*/ 0 h 10000"/>
              <a:gd name="connsiteX1" fmla="*/ 101010 w 101010"/>
              <a:gd name="connsiteY1" fmla="*/ 5597 h 10000"/>
              <a:gd name="connsiteX2" fmla="*/ 10000 w 101010"/>
              <a:gd name="connsiteY2" fmla="*/ 10000 h 10000"/>
              <a:gd name="connsiteX0" fmla="*/ 0 w 101031"/>
              <a:gd name="connsiteY0" fmla="*/ 0 h 10000"/>
              <a:gd name="connsiteX1" fmla="*/ 101010 w 101031"/>
              <a:gd name="connsiteY1" fmla="*/ 5597 h 10000"/>
              <a:gd name="connsiteX2" fmla="*/ 10000 w 101031"/>
              <a:gd name="connsiteY2" fmla="*/ 10000 h 10000"/>
              <a:gd name="connsiteX0" fmla="*/ 0 w 101031"/>
              <a:gd name="connsiteY0" fmla="*/ 0 h 10000"/>
              <a:gd name="connsiteX1" fmla="*/ 101010 w 101031"/>
              <a:gd name="connsiteY1" fmla="*/ 4396 h 10000"/>
              <a:gd name="connsiteX2" fmla="*/ 10000 w 101031"/>
              <a:gd name="connsiteY2" fmla="*/ 10000 h 10000"/>
              <a:gd name="connsiteX0" fmla="*/ 0 w 270965"/>
              <a:gd name="connsiteY0" fmla="*/ 0 h 9600"/>
              <a:gd name="connsiteX1" fmla="*/ 266483 w 270965"/>
              <a:gd name="connsiteY1" fmla="*/ 3996 h 9600"/>
              <a:gd name="connsiteX2" fmla="*/ 175473 w 270965"/>
              <a:gd name="connsiteY2" fmla="*/ 9600 h 9600"/>
              <a:gd name="connsiteX0" fmla="*/ 0 w 7173"/>
              <a:gd name="connsiteY0" fmla="*/ 0 h 10000"/>
              <a:gd name="connsiteX1" fmla="*/ 6782 w 7173"/>
              <a:gd name="connsiteY1" fmla="*/ 3329 h 10000"/>
              <a:gd name="connsiteX2" fmla="*/ 6476 w 7173"/>
              <a:gd name="connsiteY2" fmla="*/ 10000 h 10000"/>
              <a:gd name="connsiteX0" fmla="*/ 0 w 10912"/>
              <a:gd name="connsiteY0" fmla="*/ 0 h 9444"/>
              <a:gd name="connsiteX1" fmla="*/ 10306 w 10912"/>
              <a:gd name="connsiteY1" fmla="*/ 2773 h 9444"/>
              <a:gd name="connsiteX2" fmla="*/ 9879 w 10912"/>
              <a:gd name="connsiteY2" fmla="*/ 9444 h 9444"/>
              <a:gd name="connsiteX0" fmla="*/ 0 w 9244"/>
              <a:gd name="connsiteY0" fmla="*/ 0 h 10000"/>
              <a:gd name="connsiteX1" fmla="*/ 8405 w 9244"/>
              <a:gd name="connsiteY1" fmla="*/ 2642 h 10000"/>
              <a:gd name="connsiteX2" fmla="*/ 9053 w 9244"/>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9700"/>
              <a:gd name="connsiteY0" fmla="*/ 0 h 10589"/>
              <a:gd name="connsiteX1" fmla="*/ 8811 w 9700"/>
              <a:gd name="connsiteY1" fmla="*/ 3231 h 10589"/>
              <a:gd name="connsiteX2" fmla="*/ 9512 w 9700"/>
              <a:gd name="connsiteY2" fmla="*/ 10589 h 10589"/>
              <a:gd name="connsiteX0" fmla="*/ 0 w 10000"/>
              <a:gd name="connsiteY0" fmla="*/ 0 h 10000"/>
              <a:gd name="connsiteX1" fmla="*/ 9084 w 10000"/>
              <a:gd name="connsiteY1" fmla="*/ 3051 h 10000"/>
              <a:gd name="connsiteX2" fmla="*/ 9806 w 10000"/>
              <a:gd name="connsiteY2" fmla="*/ 10000 h 10000"/>
              <a:gd name="connsiteX0" fmla="*/ 0 w 10000"/>
              <a:gd name="connsiteY0" fmla="*/ 0 h 10000"/>
              <a:gd name="connsiteX1" fmla="*/ 9084 w 10000"/>
              <a:gd name="connsiteY1" fmla="*/ 3051 h 10000"/>
              <a:gd name="connsiteX2" fmla="*/ 9806 w 10000"/>
              <a:gd name="connsiteY2" fmla="*/ 10000 h 10000"/>
              <a:gd name="connsiteX0" fmla="*/ 0 w 10386"/>
              <a:gd name="connsiteY0" fmla="*/ 0 h 10973"/>
              <a:gd name="connsiteX1" fmla="*/ 9084 w 10386"/>
              <a:gd name="connsiteY1" fmla="*/ 3051 h 10973"/>
              <a:gd name="connsiteX2" fmla="*/ 10386 w 10386"/>
              <a:gd name="connsiteY2" fmla="*/ 10973 h 10973"/>
              <a:gd name="connsiteX0" fmla="*/ 0 w 10414"/>
              <a:gd name="connsiteY0" fmla="*/ 0 h 10973"/>
              <a:gd name="connsiteX1" fmla="*/ 9084 w 10414"/>
              <a:gd name="connsiteY1" fmla="*/ 3051 h 10973"/>
              <a:gd name="connsiteX2" fmla="*/ 10290 w 10414"/>
              <a:gd name="connsiteY2" fmla="*/ 6669 h 10973"/>
              <a:gd name="connsiteX3" fmla="*/ 10386 w 10414"/>
              <a:gd name="connsiteY3" fmla="*/ 10973 h 10973"/>
              <a:gd name="connsiteX0" fmla="*/ 0 w 10641"/>
              <a:gd name="connsiteY0" fmla="*/ 0 h 10973"/>
              <a:gd name="connsiteX1" fmla="*/ 9084 w 10641"/>
              <a:gd name="connsiteY1" fmla="*/ 3051 h 10973"/>
              <a:gd name="connsiteX2" fmla="*/ 10580 w 10641"/>
              <a:gd name="connsiteY2" fmla="*/ 6113 h 10973"/>
              <a:gd name="connsiteX3" fmla="*/ 10386 w 10641"/>
              <a:gd name="connsiteY3" fmla="*/ 10973 h 10973"/>
              <a:gd name="connsiteX0" fmla="*/ 0 w 10641"/>
              <a:gd name="connsiteY0" fmla="*/ 0 h 10973"/>
              <a:gd name="connsiteX1" fmla="*/ 7924 w 10641"/>
              <a:gd name="connsiteY1" fmla="*/ 2634 h 10973"/>
              <a:gd name="connsiteX2" fmla="*/ 10580 w 10641"/>
              <a:gd name="connsiteY2" fmla="*/ 6113 h 10973"/>
              <a:gd name="connsiteX3" fmla="*/ 10386 w 10641"/>
              <a:gd name="connsiteY3" fmla="*/ 10973 h 10973"/>
              <a:gd name="connsiteX0" fmla="*/ 0 w 11801"/>
              <a:gd name="connsiteY0" fmla="*/ 0 h 10973"/>
              <a:gd name="connsiteX1" fmla="*/ 9084 w 11801"/>
              <a:gd name="connsiteY1" fmla="*/ 2634 h 10973"/>
              <a:gd name="connsiteX2" fmla="*/ 11740 w 11801"/>
              <a:gd name="connsiteY2" fmla="*/ 6113 h 10973"/>
              <a:gd name="connsiteX3" fmla="*/ 11546 w 11801"/>
              <a:gd name="connsiteY3" fmla="*/ 10973 h 10973"/>
              <a:gd name="connsiteX0" fmla="*/ 0 w 11801"/>
              <a:gd name="connsiteY0" fmla="*/ 0 h 10973"/>
              <a:gd name="connsiteX1" fmla="*/ 9084 w 11801"/>
              <a:gd name="connsiteY1" fmla="*/ 2634 h 10973"/>
              <a:gd name="connsiteX2" fmla="*/ 11740 w 11801"/>
              <a:gd name="connsiteY2" fmla="*/ 6113 h 10973"/>
              <a:gd name="connsiteX3" fmla="*/ 11546 w 11801"/>
              <a:gd name="connsiteY3" fmla="*/ 10973 h 10973"/>
              <a:gd name="connsiteX0" fmla="*/ 0 w 11546"/>
              <a:gd name="connsiteY0" fmla="*/ 0 h 10973"/>
              <a:gd name="connsiteX1" fmla="*/ 9084 w 11546"/>
              <a:gd name="connsiteY1" fmla="*/ 2634 h 10973"/>
              <a:gd name="connsiteX2" fmla="*/ 11546 w 11546"/>
              <a:gd name="connsiteY2" fmla="*/ 10973 h 10973"/>
              <a:gd name="connsiteX0" fmla="*/ 0 w 11546"/>
              <a:gd name="connsiteY0" fmla="*/ 0 h 8367"/>
              <a:gd name="connsiteX1" fmla="*/ 9084 w 11546"/>
              <a:gd name="connsiteY1" fmla="*/ 2634 h 8367"/>
              <a:gd name="connsiteX2" fmla="*/ 11546 w 11546"/>
              <a:gd name="connsiteY2" fmla="*/ 8367 h 8367"/>
              <a:gd name="connsiteX0" fmla="*/ 0 w 10000"/>
              <a:gd name="connsiteY0" fmla="*/ 0 h 10000"/>
              <a:gd name="connsiteX1" fmla="*/ 6978 w 10000"/>
              <a:gd name="connsiteY1" fmla="*/ 3397 h 10000"/>
              <a:gd name="connsiteX2" fmla="*/ 10000 w 10000"/>
              <a:gd name="connsiteY2" fmla="*/ 10000 h 10000"/>
              <a:gd name="connsiteX0" fmla="*/ 0 w 10297"/>
              <a:gd name="connsiteY0" fmla="*/ 0 h 11744"/>
              <a:gd name="connsiteX1" fmla="*/ 6978 w 10297"/>
              <a:gd name="connsiteY1" fmla="*/ 3397 h 11744"/>
              <a:gd name="connsiteX2" fmla="*/ 10297 w 10297"/>
              <a:gd name="connsiteY2" fmla="*/ 11744 h 11744"/>
              <a:gd name="connsiteX0" fmla="*/ 0 w 9424"/>
              <a:gd name="connsiteY0" fmla="*/ 0 h 10425"/>
              <a:gd name="connsiteX1" fmla="*/ 6978 w 9424"/>
              <a:gd name="connsiteY1" fmla="*/ 3397 h 10425"/>
              <a:gd name="connsiteX2" fmla="*/ 9424 w 9424"/>
              <a:gd name="connsiteY2" fmla="*/ 10425 h 10425"/>
              <a:gd name="connsiteX0" fmla="*/ 0 w 9259"/>
              <a:gd name="connsiteY0" fmla="*/ 0 h 9297"/>
              <a:gd name="connsiteX1" fmla="*/ 6663 w 9259"/>
              <a:gd name="connsiteY1" fmla="*/ 2556 h 9297"/>
              <a:gd name="connsiteX2" fmla="*/ 9259 w 9259"/>
              <a:gd name="connsiteY2" fmla="*/ 9297 h 9297"/>
              <a:gd name="connsiteX0" fmla="*/ 0 w 9600"/>
              <a:gd name="connsiteY0" fmla="*/ 0 h 9244"/>
              <a:gd name="connsiteX1" fmla="*/ 7196 w 9600"/>
              <a:gd name="connsiteY1" fmla="*/ 2749 h 9244"/>
              <a:gd name="connsiteX2" fmla="*/ 9600 w 9600"/>
              <a:gd name="connsiteY2" fmla="*/ 9244 h 9244"/>
              <a:gd name="connsiteX0" fmla="*/ 0 w 10000"/>
              <a:gd name="connsiteY0" fmla="*/ 0 h 10000"/>
              <a:gd name="connsiteX1" fmla="*/ 6871 w 10000"/>
              <a:gd name="connsiteY1" fmla="*/ 2974 h 10000"/>
              <a:gd name="connsiteX2" fmla="*/ 10000 w 10000"/>
              <a:gd name="connsiteY2" fmla="*/ 10000 h 10000"/>
            </a:gdLst>
            <a:ahLst/>
            <a:cxnLst>
              <a:cxn ang="0">
                <a:pos x="connsiteX0" y="connsiteY0"/>
              </a:cxn>
              <a:cxn ang="0">
                <a:pos x="connsiteX1" y="connsiteY1"/>
              </a:cxn>
              <a:cxn ang="0">
                <a:pos x="connsiteX2" y="connsiteY2"/>
              </a:cxn>
            </a:cxnLst>
            <a:rect l="l" t="t" r="r" b="b"/>
            <a:pathLst>
              <a:path w="10000" h="10000">
                <a:moveTo>
                  <a:pt x="0" y="0"/>
                </a:moveTo>
                <a:cubicBezTo>
                  <a:pt x="4230" y="739"/>
                  <a:pt x="5204" y="1307"/>
                  <a:pt x="6871" y="2974"/>
                </a:cubicBezTo>
                <a:cubicBezTo>
                  <a:pt x="8538" y="4641"/>
                  <a:pt x="9470" y="7683"/>
                  <a:pt x="10000" y="10000"/>
                </a:cubicBezTo>
              </a:path>
            </a:pathLst>
          </a:custGeom>
          <a:noFill/>
          <a:ln w="12700" cap="flat"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prstClr val="black"/>
              </a:solidFill>
            </a:endParaRPr>
          </a:p>
        </p:txBody>
      </p:sp>
      <p:sp>
        <p:nvSpPr>
          <p:cNvPr id="63" name="TextBox 62"/>
          <p:cNvSpPr txBox="1"/>
          <p:nvPr/>
        </p:nvSpPr>
        <p:spPr>
          <a:xfrm>
            <a:off x="2186879" y="1175893"/>
            <a:ext cx="445315" cy="215444"/>
          </a:xfrm>
          <a:prstGeom prst="rect">
            <a:avLst/>
          </a:prstGeom>
          <a:noFill/>
        </p:spPr>
        <p:txBody>
          <a:bodyPr wrap="none" lIns="0" tIns="0" rIns="0" bIns="0" rtlCol="0">
            <a:spAutoFit/>
          </a:bodyPr>
          <a:lstStyle/>
          <a:p>
            <a:r>
              <a:rPr lang="en-US" altLang="zh-CN" sz="1400" i="1" dirty="0" smtClean="0"/>
              <a:t>writes</a:t>
            </a:r>
            <a:endParaRPr lang="zh-CN" altLang="en-US" sz="1400" i="1" dirty="0"/>
          </a:p>
        </p:txBody>
      </p:sp>
      <p:cxnSp>
        <p:nvCxnSpPr>
          <p:cNvPr id="64" name="直接箭头连接符 63"/>
          <p:cNvCxnSpPr/>
          <p:nvPr/>
        </p:nvCxnSpPr>
        <p:spPr>
          <a:xfrm flipH="1">
            <a:off x="2400403" y="1432720"/>
            <a:ext cx="5619" cy="30224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1064201" y="2086774"/>
            <a:ext cx="720967" cy="307777"/>
          </a:xfrm>
          <a:prstGeom prst="rect">
            <a:avLst/>
          </a:prstGeom>
          <a:noFill/>
        </p:spPr>
        <p:txBody>
          <a:bodyPr wrap="none" rtlCol="0">
            <a:spAutoFit/>
          </a:bodyPr>
          <a:lstStyle/>
          <a:p>
            <a:r>
              <a:rPr lang="en-US" altLang="zh-CN" sz="1400" i="1" dirty="0" smtClean="0"/>
              <a:t>merges</a:t>
            </a:r>
            <a:endParaRPr lang="zh-CN" altLang="en-US" sz="1400" i="1" dirty="0"/>
          </a:p>
        </p:txBody>
      </p:sp>
      <p:sp>
        <p:nvSpPr>
          <p:cNvPr id="66" name="TextBox 65"/>
          <p:cNvSpPr txBox="1"/>
          <p:nvPr/>
        </p:nvSpPr>
        <p:spPr>
          <a:xfrm>
            <a:off x="2534286" y="1729199"/>
            <a:ext cx="157094" cy="215444"/>
          </a:xfrm>
          <a:prstGeom prst="rect">
            <a:avLst/>
          </a:prstGeom>
          <a:noFill/>
        </p:spPr>
        <p:txBody>
          <a:bodyPr wrap="none" lIns="0" tIns="0" rIns="0" bIns="0" rtlCol="0">
            <a:spAutoFit/>
          </a:bodyPr>
          <a:lstStyle/>
          <a:p>
            <a:r>
              <a:rPr lang="en-US" altLang="zh-CN" sz="1400" dirty="0" smtClean="0"/>
              <a:t>C</a:t>
            </a:r>
            <a:r>
              <a:rPr lang="en-US" altLang="zh-CN" sz="1400" baseline="-25000" dirty="0" smtClean="0"/>
              <a:t>0</a:t>
            </a:r>
            <a:endParaRPr lang="zh-CN" altLang="en-US" sz="1400" baseline="-25000" dirty="0"/>
          </a:p>
        </p:txBody>
      </p:sp>
      <p:sp>
        <p:nvSpPr>
          <p:cNvPr id="67" name="TextBox 66"/>
          <p:cNvSpPr txBox="1"/>
          <p:nvPr/>
        </p:nvSpPr>
        <p:spPr>
          <a:xfrm>
            <a:off x="2832891" y="2074566"/>
            <a:ext cx="157094" cy="215444"/>
          </a:xfrm>
          <a:prstGeom prst="rect">
            <a:avLst/>
          </a:prstGeom>
          <a:noFill/>
        </p:spPr>
        <p:txBody>
          <a:bodyPr wrap="none" lIns="0" tIns="0" rIns="0" bIns="0" rtlCol="0">
            <a:spAutoFit/>
          </a:bodyPr>
          <a:lstStyle/>
          <a:p>
            <a:r>
              <a:rPr lang="en-US" altLang="zh-CN" sz="1400" dirty="0" smtClean="0"/>
              <a:t>C</a:t>
            </a:r>
            <a:r>
              <a:rPr lang="en-US" altLang="zh-CN" sz="1400" baseline="-25000" dirty="0" smtClean="0"/>
              <a:t>1</a:t>
            </a:r>
            <a:endParaRPr lang="zh-CN" altLang="en-US" sz="1400" baseline="-25000" dirty="0"/>
          </a:p>
        </p:txBody>
      </p:sp>
      <p:sp>
        <p:nvSpPr>
          <p:cNvPr id="68" name="TextBox 67"/>
          <p:cNvSpPr txBox="1"/>
          <p:nvPr/>
        </p:nvSpPr>
        <p:spPr>
          <a:xfrm>
            <a:off x="3190254" y="2443996"/>
            <a:ext cx="157094" cy="215444"/>
          </a:xfrm>
          <a:prstGeom prst="rect">
            <a:avLst/>
          </a:prstGeom>
          <a:noFill/>
        </p:spPr>
        <p:txBody>
          <a:bodyPr wrap="none" lIns="0" tIns="0" rIns="0" bIns="0" rtlCol="0">
            <a:spAutoFit/>
          </a:bodyPr>
          <a:lstStyle/>
          <a:p>
            <a:r>
              <a:rPr lang="en-US" altLang="zh-CN" sz="1400" dirty="0" smtClean="0"/>
              <a:t>C</a:t>
            </a:r>
            <a:r>
              <a:rPr lang="en-US" altLang="zh-CN" sz="1400" baseline="-25000" dirty="0" smtClean="0"/>
              <a:t>2</a:t>
            </a:r>
            <a:endParaRPr lang="zh-CN" altLang="en-US" sz="1400" baseline="-25000" dirty="0"/>
          </a:p>
        </p:txBody>
      </p:sp>
      <p:sp>
        <p:nvSpPr>
          <p:cNvPr id="71" name="Text Box 17"/>
          <p:cNvSpPr txBox="1">
            <a:spLocks noChangeArrowheads="1"/>
          </p:cNvSpPr>
          <p:nvPr/>
        </p:nvSpPr>
        <p:spPr bwMode="auto">
          <a:xfrm>
            <a:off x="1269815" y="1284777"/>
            <a:ext cx="399148" cy="1846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r>
              <a:rPr lang="en-US" altLang="zh-CN" sz="1200" dirty="0" smtClean="0">
                <a:solidFill>
                  <a:prstClr val="black"/>
                </a:solidFill>
              </a:rPr>
              <a:t>DRAM</a:t>
            </a:r>
            <a:endParaRPr lang="zh-CN" altLang="en-US" sz="1200" dirty="0">
              <a:solidFill>
                <a:prstClr val="black"/>
              </a:solidFill>
            </a:endParaRPr>
          </a:p>
        </p:txBody>
      </p:sp>
      <p:sp>
        <p:nvSpPr>
          <p:cNvPr id="73" name="Rectangle 16"/>
          <p:cNvSpPr>
            <a:spLocks noChangeArrowheads="1"/>
          </p:cNvSpPr>
          <p:nvPr/>
        </p:nvSpPr>
        <p:spPr bwMode="auto">
          <a:xfrm>
            <a:off x="896561" y="1303848"/>
            <a:ext cx="274320" cy="137160"/>
          </a:xfrm>
          <a:prstGeom prst="rect">
            <a:avLst/>
          </a:prstGeom>
          <a:solidFill>
            <a:srgbClr val="FFFF00"/>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solidFill>
                <a:prstClr val="black"/>
              </a:solidFill>
            </a:endParaRPr>
          </a:p>
        </p:txBody>
      </p:sp>
      <p:grpSp>
        <p:nvGrpSpPr>
          <p:cNvPr id="37" name="组合 36"/>
          <p:cNvGrpSpPr/>
          <p:nvPr/>
        </p:nvGrpSpPr>
        <p:grpSpPr>
          <a:xfrm>
            <a:off x="2010872" y="4156225"/>
            <a:ext cx="914400" cy="364089"/>
            <a:chOff x="3782718" y="2294582"/>
            <a:chExt cx="914400" cy="364089"/>
          </a:xfrm>
        </p:grpSpPr>
        <p:sp>
          <p:nvSpPr>
            <p:cNvPr id="104" name="Rectangle 10"/>
            <p:cNvSpPr>
              <a:spLocks noChangeArrowheads="1"/>
            </p:cNvSpPr>
            <p:nvPr/>
          </p:nvSpPr>
          <p:spPr bwMode="auto">
            <a:xfrm>
              <a:off x="3782718" y="2294582"/>
              <a:ext cx="914400" cy="364089"/>
            </a:xfrm>
            <a:prstGeom prst="rect">
              <a:avLst/>
            </a:prstGeom>
            <a:noFill/>
            <a:ln w="6350" cap="flat" cmpd="sng">
              <a:solidFill>
                <a:schemeClr val="tx1"/>
              </a:solidFill>
              <a:miter lim="800000"/>
              <a:headEnd/>
              <a:tailEnd/>
            </a:ln>
            <a:effectLst/>
            <a:extLst/>
          </p:spPr>
          <p:txBody>
            <a:bodyPr wrap="none" anchor="ctr"/>
            <a:lstStyle/>
            <a:p>
              <a:endParaRPr lang="zh-CN" altLang="en-US">
                <a:solidFill>
                  <a:prstClr val="black"/>
                </a:solidFill>
              </a:endParaRPr>
            </a:p>
          </p:txBody>
        </p:sp>
        <p:cxnSp>
          <p:nvCxnSpPr>
            <p:cNvPr id="105" name="直接连接符 104"/>
            <p:cNvCxnSpPr>
              <a:stCxn id="104" idx="1"/>
              <a:endCxn id="104" idx="3"/>
            </p:cNvCxnSpPr>
            <p:nvPr/>
          </p:nvCxnSpPr>
          <p:spPr>
            <a:xfrm>
              <a:off x="3782718" y="2476627"/>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a:off x="4151617" y="2298392"/>
              <a:ext cx="0" cy="356616"/>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a:off x="3961154" y="2298392"/>
              <a:ext cx="0" cy="356616"/>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a:off x="4336880" y="2298392"/>
              <a:ext cx="0" cy="356616"/>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a:off x="4522494" y="2298392"/>
              <a:ext cx="0" cy="356616"/>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2" name="Rectangle 10"/>
          <p:cNvSpPr>
            <a:spLocks noChangeArrowheads="1"/>
          </p:cNvSpPr>
          <p:nvPr/>
        </p:nvSpPr>
        <p:spPr bwMode="auto">
          <a:xfrm>
            <a:off x="2210807" y="6016775"/>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FF0000"/>
                </a:solidFill>
              </a:rPr>
              <a:t>a</a:t>
            </a:r>
            <a:endParaRPr lang="zh-CN" altLang="en-US" sz="2400" b="1" dirty="0">
              <a:solidFill>
                <a:srgbClr val="FF0000"/>
              </a:solidFill>
            </a:endParaRPr>
          </a:p>
        </p:txBody>
      </p:sp>
      <p:sp>
        <p:nvSpPr>
          <p:cNvPr id="113" name="Rectangle 10"/>
          <p:cNvSpPr>
            <a:spLocks noChangeArrowheads="1"/>
          </p:cNvSpPr>
          <p:nvPr/>
        </p:nvSpPr>
        <p:spPr bwMode="auto">
          <a:xfrm>
            <a:off x="2576567" y="6016775"/>
            <a:ext cx="182880" cy="18254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002060"/>
                </a:solidFill>
              </a:rPr>
              <a:t>e</a:t>
            </a:r>
            <a:endParaRPr lang="zh-CN" altLang="en-US" b="1" dirty="0">
              <a:solidFill>
                <a:srgbClr val="002060"/>
              </a:solidFill>
            </a:endParaRPr>
          </a:p>
        </p:txBody>
      </p:sp>
      <p:sp>
        <p:nvSpPr>
          <p:cNvPr id="114" name="Rectangle 10"/>
          <p:cNvSpPr>
            <a:spLocks noChangeArrowheads="1"/>
          </p:cNvSpPr>
          <p:nvPr/>
        </p:nvSpPr>
        <p:spPr bwMode="auto">
          <a:xfrm>
            <a:off x="2393687" y="6016775"/>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FFC000"/>
                </a:solidFill>
              </a:rPr>
              <a:t>c</a:t>
            </a:r>
            <a:endParaRPr lang="zh-CN" altLang="en-US" sz="2400" b="1" dirty="0">
              <a:solidFill>
                <a:srgbClr val="FFC000"/>
              </a:solidFill>
            </a:endParaRPr>
          </a:p>
        </p:txBody>
      </p:sp>
      <p:sp>
        <p:nvSpPr>
          <p:cNvPr id="119" name="TextBox 118"/>
          <p:cNvSpPr txBox="1"/>
          <p:nvPr/>
        </p:nvSpPr>
        <p:spPr>
          <a:xfrm>
            <a:off x="1998453" y="2433007"/>
            <a:ext cx="809517" cy="246221"/>
          </a:xfrm>
          <a:prstGeom prst="rect">
            <a:avLst/>
          </a:prstGeom>
          <a:noFill/>
        </p:spPr>
        <p:txBody>
          <a:bodyPr wrap="none" lIns="0" tIns="0" rIns="0" bIns="0" rtlCol="0">
            <a:spAutoFit/>
          </a:bodyPr>
          <a:lstStyle/>
          <a:p>
            <a:r>
              <a:rPr lang="en-US" altLang="zh-CN" sz="1600" b="1" dirty="0" smtClean="0">
                <a:solidFill>
                  <a:schemeClr val="bg1"/>
                </a:solidFill>
              </a:rPr>
              <a:t>a b c d e f</a:t>
            </a:r>
            <a:endParaRPr lang="zh-CN" altLang="en-US" sz="1600" b="1" dirty="0">
              <a:solidFill>
                <a:schemeClr val="bg1"/>
              </a:solidFill>
            </a:endParaRPr>
          </a:p>
        </p:txBody>
      </p:sp>
      <p:sp>
        <p:nvSpPr>
          <p:cNvPr id="97" name="Rectangle 10"/>
          <p:cNvSpPr>
            <a:spLocks noChangeArrowheads="1"/>
          </p:cNvSpPr>
          <p:nvPr/>
        </p:nvSpPr>
        <p:spPr bwMode="auto">
          <a:xfrm>
            <a:off x="1449243" y="5292770"/>
            <a:ext cx="182880" cy="182880"/>
          </a:xfrm>
          <a:prstGeom prst="rect">
            <a:avLst/>
          </a:prstGeom>
          <a:solidFill>
            <a:schemeClr val="bg1"/>
          </a:solidFill>
          <a:ln w="9525" cap="flat" cmpd="sng">
            <a:solidFill>
              <a:schemeClr val="tx1"/>
            </a:solidFill>
            <a:miter lim="800000"/>
            <a:headEnd/>
            <a:tailEnd/>
          </a:ln>
          <a:effectLst/>
          <a:extLst/>
        </p:spPr>
        <p:txBody>
          <a:bodyPr wrap="none" anchor="ctr"/>
          <a:lstStyle/>
          <a:p>
            <a:pPr algn="ctr"/>
            <a:r>
              <a:rPr lang="en-US" altLang="zh-CN" b="1" dirty="0" smtClean="0">
                <a:solidFill>
                  <a:srgbClr val="FF0000"/>
                </a:solidFill>
              </a:rPr>
              <a:t>a</a:t>
            </a:r>
            <a:endParaRPr lang="zh-CN" altLang="en-US" sz="2400" b="1" dirty="0">
              <a:solidFill>
                <a:srgbClr val="FF0000"/>
              </a:solidFill>
            </a:endParaRPr>
          </a:p>
        </p:txBody>
      </p:sp>
      <p:sp>
        <p:nvSpPr>
          <p:cNvPr id="101" name="Rectangle 10"/>
          <p:cNvSpPr>
            <a:spLocks noChangeArrowheads="1"/>
          </p:cNvSpPr>
          <p:nvPr/>
        </p:nvSpPr>
        <p:spPr bwMode="auto">
          <a:xfrm>
            <a:off x="1821974" y="5292770"/>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002060"/>
                </a:solidFill>
              </a:rPr>
              <a:t>e</a:t>
            </a:r>
            <a:endParaRPr lang="zh-CN" altLang="en-US" b="1" dirty="0">
              <a:solidFill>
                <a:srgbClr val="002060"/>
              </a:solidFill>
            </a:endParaRPr>
          </a:p>
        </p:txBody>
      </p:sp>
      <p:sp>
        <p:nvSpPr>
          <p:cNvPr id="110" name="Rectangle 10"/>
          <p:cNvSpPr>
            <a:spLocks noChangeArrowheads="1"/>
          </p:cNvSpPr>
          <p:nvPr/>
        </p:nvSpPr>
        <p:spPr bwMode="auto">
          <a:xfrm>
            <a:off x="1206771" y="5408710"/>
            <a:ext cx="182880" cy="182880"/>
          </a:xfrm>
          <a:prstGeom prst="rect">
            <a:avLst/>
          </a:prstGeom>
          <a:solidFill>
            <a:schemeClr val="bg1"/>
          </a:solidFill>
          <a:ln w="9525" cap="flat" cmpd="sng">
            <a:solidFill>
              <a:schemeClr val="tx1"/>
            </a:solidFill>
            <a:miter lim="800000"/>
            <a:headEnd/>
            <a:tailEnd/>
          </a:ln>
          <a:effectLst/>
          <a:extLst/>
        </p:spPr>
        <p:txBody>
          <a:bodyPr wrap="none" anchor="ctr"/>
          <a:lstStyle/>
          <a:p>
            <a:pPr algn="ctr"/>
            <a:r>
              <a:rPr lang="en-US" altLang="zh-CN" b="1" dirty="0" smtClean="0">
                <a:solidFill>
                  <a:srgbClr val="FFC000"/>
                </a:solidFill>
              </a:rPr>
              <a:t>c</a:t>
            </a:r>
            <a:endParaRPr lang="zh-CN" altLang="en-US" sz="2400" b="1" dirty="0">
              <a:solidFill>
                <a:srgbClr val="FFC000"/>
              </a:solidFill>
            </a:endParaRPr>
          </a:p>
        </p:txBody>
      </p:sp>
      <p:sp>
        <p:nvSpPr>
          <p:cNvPr id="126" name="TextBox 125"/>
          <p:cNvSpPr txBox="1"/>
          <p:nvPr/>
        </p:nvSpPr>
        <p:spPr>
          <a:xfrm>
            <a:off x="1420106" y="2589837"/>
            <a:ext cx="2128147" cy="369332"/>
          </a:xfrm>
          <a:prstGeom prst="rect">
            <a:avLst/>
          </a:prstGeom>
          <a:noFill/>
        </p:spPr>
        <p:txBody>
          <a:bodyPr wrap="none" rtlCol="0">
            <a:spAutoFit/>
          </a:bodyPr>
          <a:lstStyle/>
          <a:p>
            <a:r>
              <a:rPr lang="en-US" altLang="zh-CN" b="1" dirty="0"/>
              <a:t>u</a:t>
            </a:r>
            <a:r>
              <a:rPr lang="en-US" altLang="zh-CN" b="1" dirty="0" smtClean="0"/>
              <a:t>nderlying LSM-tree</a:t>
            </a:r>
            <a:endParaRPr lang="zh-CN" altLang="en-US" b="1" dirty="0"/>
          </a:p>
        </p:txBody>
      </p:sp>
      <p:cxnSp>
        <p:nvCxnSpPr>
          <p:cNvPr id="127" name="直接箭头连接符 126"/>
          <p:cNvCxnSpPr>
            <a:stCxn id="76" idx="2"/>
            <a:endCxn id="30" idx="0"/>
          </p:cNvCxnSpPr>
          <p:nvPr/>
        </p:nvCxnSpPr>
        <p:spPr>
          <a:xfrm>
            <a:off x="2843320" y="4523947"/>
            <a:ext cx="530725" cy="1303109"/>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8" name="直接箭头连接符 127"/>
          <p:cNvCxnSpPr>
            <a:stCxn id="75" idx="2"/>
            <a:endCxn id="27" idx="0"/>
          </p:cNvCxnSpPr>
          <p:nvPr/>
        </p:nvCxnSpPr>
        <p:spPr>
          <a:xfrm>
            <a:off x="2658573" y="4527765"/>
            <a:ext cx="532592" cy="1299291"/>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0" name="直接箭头连接符 129"/>
          <p:cNvCxnSpPr>
            <a:stCxn id="77" idx="2"/>
            <a:endCxn id="97" idx="0"/>
          </p:cNvCxnSpPr>
          <p:nvPr/>
        </p:nvCxnSpPr>
        <p:spPr>
          <a:xfrm flipH="1">
            <a:off x="1540683" y="4520388"/>
            <a:ext cx="929504" cy="772382"/>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116" name="组合 115"/>
          <p:cNvGrpSpPr/>
          <p:nvPr/>
        </p:nvGrpSpPr>
        <p:grpSpPr>
          <a:xfrm>
            <a:off x="4997028" y="2071534"/>
            <a:ext cx="2026933" cy="938389"/>
            <a:chOff x="1510781" y="3526982"/>
            <a:chExt cx="2026933" cy="938389"/>
          </a:xfrm>
        </p:grpSpPr>
        <p:sp>
          <p:nvSpPr>
            <p:cNvPr id="117" name="Rectangle 10"/>
            <p:cNvSpPr>
              <a:spLocks noChangeArrowheads="1"/>
            </p:cNvSpPr>
            <p:nvPr/>
          </p:nvSpPr>
          <p:spPr bwMode="auto">
            <a:xfrm>
              <a:off x="2085428" y="3567778"/>
              <a:ext cx="199396" cy="137160"/>
            </a:xfrm>
            <a:prstGeom prst="rect">
              <a:avLst/>
            </a:prstGeom>
            <a:solidFill>
              <a:srgbClr val="92D050"/>
            </a:solidFill>
            <a:ln w="9525" cap="flat" cmpd="sng">
              <a:solidFill>
                <a:schemeClr val="tx1"/>
              </a:solidFill>
              <a:miter lim="800000"/>
              <a:headEnd/>
              <a:tailEnd/>
            </a:ln>
            <a:effectLst/>
            <a:extLst/>
          </p:spPr>
          <p:txBody>
            <a:bodyPr wrap="none" anchor="ctr"/>
            <a:lstStyle/>
            <a:p>
              <a:endParaRPr lang="zh-CN" altLang="en-US">
                <a:solidFill>
                  <a:prstClr val="black"/>
                </a:solidFill>
              </a:endParaRPr>
            </a:p>
          </p:txBody>
        </p:sp>
        <p:sp>
          <p:nvSpPr>
            <p:cNvPr id="120" name="Rectangle 10"/>
            <p:cNvSpPr>
              <a:spLocks noChangeArrowheads="1"/>
            </p:cNvSpPr>
            <p:nvPr/>
          </p:nvSpPr>
          <p:spPr bwMode="auto">
            <a:xfrm>
              <a:off x="2590253" y="3567778"/>
              <a:ext cx="199396" cy="137160"/>
            </a:xfrm>
            <a:prstGeom prst="rect">
              <a:avLst/>
            </a:prstGeom>
            <a:solidFill>
              <a:srgbClr val="92D050"/>
            </a:solidFill>
            <a:ln w="9525" cap="flat" cmpd="sng">
              <a:solidFill>
                <a:schemeClr val="tx1"/>
              </a:solidFill>
              <a:miter lim="800000"/>
              <a:headEnd/>
              <a:tailEnd/>
            </a:ln>
            <a:effectLst/>
            <a:extLst/>
          </p:spPr>
          <p:txBody>
            <a:bodyPr wrap="none" anchor="ctr"/>
            <a:lstStyle/>
            <a:p>
              <a:endParaRPr lang="zh-CN" altLang="en-US">
                <a:solidFill>
                  <a:prstClr val="black"/>
                </a:solidFill>
              </a:endParaRPr>
            </a:p>
          </p:txBody>
        </p:sp>
        <p:sp>
          <p:nvSpPr>
            <p:cNvPr id="121" name="Rectangle 10"/>
            <p:cNvSpPr>
              <a:spLocks noChangeArrowheads="1"/>
            </p:cNvSpPr>
            <p:nvPr/>
          </p:nvSpPr>
          <p:spPr bwMode="auto">
            <a:xfrm>
              <a:off x="2342603" y="3567778"/>
              <a:ext cx="199396" cy="137160"/>
            </a:xfrm>
            <a:prstGeom prst="rect">
              <a:avLst/>
            </a:prstGeom>
            <a:solidFill>
              <a:srgbClr val="92D050"/>
            </a:solidFill>
            <a:ln w="9525" cap="flat" cmpd="sng">
              <a:solidFill>
                <a:schemeClr val="tx1"/>
              </a:solidFill>
              <a:miter lim="800000"/>
              <a:headEnd/>
              <a:tailEnd/>
            </a:ln>
            <a:effectLst/>
            <a:extLst/>
          </p:spPr>
          <p:txBody>
            <a:bodyPr wrap="none" anchor="ctr"/>
            <a:lstStyle/>
            <a:p>
              <a:endParaRPr lang="zh-CN" altLang="en-US">
                <a:solidFill>
                  <a:prstClr val="black"/>
                </a:solidFill>
              </a:endParaRPr>
            </a:p>
          </p:txBody>
        </p:sp>
        <p:sp>
          <p:nvSpPr>
            <p:cNvPr id="122" name="Rectangle 9"/>
            <p:cNvSpPr>
              <a:spLocks noChangeArrowheads="1"/>
            </p:cNvSpPr>
            <p:nvPr/>
          </p:nvSpPr>
          <p:spPr bwMode="auto">
            <a:xfrm>
              <a:off x="2176300" y="3924034"/>
              <a:ext cx="556199" cy="158042"/>
            </a:xfrm>
            <a:prstGeom prst="rect">
              <a:avLst/>
            </a:prstGeom>
            <a:solidFill>
              <a:srgbClr val="92D050"/>
            </a:solidFill>
            <a:ln w="9525" cap="flat" cmpd="sng">
              <a:solidFill>
                <a:schemeClr val="tx1"/>
              </a:solidFill>
              <a:miter lim="800000"/>
              <a:headEnd/>
              <a:tailEnd/>
            </a:ln>
            <a:effectLst/>
            <a:extLst/>
          </p:spPr>
          <p:txBody>
            <a:bodyPr wrap="none" anchor="ctr"/>
            <a:lstStyle/>
            <a:p>
              <a:endParaRPr lang="zh-CN" altLang="en-US">
                <a:solidFill>
                  <a:prstClr val="black"/>
                </a:solidFill>
              </a:endParaRPr>
            </a:p>
          </p:txBody>
        </p:sp>
        <p:sp>
          <p:nvSpPr>
            <p:cNvPr id="123" name="TextBox 122"/>
            <p:cNvSpPr txBox="1"/>
            <p:nvPr/>
          </p:nvSpPr>
          <p:spPr>
            <a:xfrm>
              <a:off x="2831708" y="3526982"/>
              <a:ext cx="158698" cy="215444"/>
            </a:xfrm>
            <a:prstGeom prst="rect">
              <a:avLst/>
            </a:prstGeom>
            <a:noFill/>
          </p:spPr>
          <p:txBody>
            <a:bodyPr wrap="none" lIns="0" tIns="0" rIns="0" bIns="0" rtlCol="0">
              <a:spAutoFit/>
            </a:bodyPr>
            <a:lstStyle/>
            <a:p>
              <a:r>
                <a:rPr lang="en-US" altLang="zh-CN" sz="1400" dirty="0"/>
                <a:t>B</a:t>
              </a:r>
              <a:r>
                <a:rPr lang="en-US" altLang="zh-CN" sz="1400" baseline="-25000" dirty="0" smtClean="0"/>
                <a:t>1</a:t>
              </a:r>
              <a:endParaRPr lang="zh-CN" altLang="en-US" sz="1400" baseline="-25000" dirty="0"/>
            </a:p>
          </p:txBody>
        </p:sp>
        <p:sp>
          <p:nvSpPr>
            <p:cNvPr id="124" name="TextBox 123"/>
            <p:cNvSpPr txBox="1"/>
            <p:nvPr/>
          </p:nvSpPr>
          <p:spPr>
            <a:xfrm>
              <a:off x="3379016" y="3881061"/>
              <a:ext cx="158698" cy="215444"/>
            </a:xfrm>
            <a:prstGeom prst="rect">
              <a:avLst/>
            </a:prstGeom>
            <a:noFill/>
          </p:spPr>
          <p:txBody>
            <a:bodyPr wrap="none" lIns="0" tIns="0" rIns="0" bIns="0" rtlCol="0">
              <a:spAutoFit/>
            </a:bodyPr>
            <a:lstStyle/>
            <a:p>
              <a:r>
                <a:rPr lang="en-US" altLang="zh-CN" sz="1400" dirty="0"/>
                <a:t>B</a:t>
              </a:r>
              <a:r>
                <a:rPr lang="en-US" altLang="zh-CN" sz="1400" baseline="-25000" dirty="0" smtClean="0"/>
                <a:t>2</a:t>
              </a:r>
              <a:endParaRPr lang="zh-CN" altLang="en-US" sz="1400" baseline="-25000" dirty="0"/>
            </a:p>
          </p:txBody>
        </p:sp>
        <p:sp>
          <p:nvSpPr>
            <p:cNvPr id="129" name="Rectangle 9"/>
            <p:cNvSpPr>
              <a:spLocks noChangeArrowheads="1"/>
            </p:cNvSpPr>
            <p:nvPr/>
          </p:nvSpPr>
          <p:spPr bwMode="auto">
            <a:xfrm>
              <a:off x="1552387" y="3924035"/>
              <a:ext cx="564706" cy="158042"/>
            </a:xfrm>
            <a:prstGeom prst="rect">
              <a:avLst/>
            </a:prstGeom>
            <a:solidFill>
              <a:srgbClr val="92D050"/>
            </a:solidFill>
            <a:ln w="9525" cap="flat" cmpd="sng">
              <a:solidFill>
                <a:schemeClr val="tx1"/>
              </a:solidFill>
              <a:miter lim="800000"/>
              <a:headEnd/>
              <a:tailEnd/>
            </a:ln>
            <a:effectLst/>
            <a:extLst/>
          </p:spPr>
          <p:txBody>
            <a:bodyPr wrap="none" anchor="ctr"/>
            <a:lstStyle/>
            <a:p>
              <a:endParaRPr lang="zh-CN" altLang="en-US">
                <a:solidFill>
                  <a:prstClr val="black"/>
                </a:solidFill>
              </a:endParaRPr>
            </a:p>
          </p:txBody>
        </p:sp>
        <p:sp>
          <p:nvSpPr>
            <p:cNvPr id="131" name="Rectangle 9"/>
            <p:cNvSpPr>
              <a:spLocks noChangeArrowheads="1"/>
            </p:cNvSpPr>
            <p:nvPr/>
          </p:nvSpPr>
          <p:spPr bwMode="auto">
            <a:xfrm>
              <a:off x="2795425" y="3924034"/>
              <a:ext cx="556199" cy="158042"/>
            </a:xfrm>
            <a:prstGeom prst="rect">
              <a:avLst/>
            </a:prstGeom>
            <a:solidFill>
              <a:srgbClr val="92D050"/>
            </a:solidFill>
            <a:ln w="9525" cap="flat" cmpd="sng">
              <a:solidFill>
                <a:schemeClr val="tx1"/>
              </a:solidFill>
              <a:miter lim="800000"/>
              <a:headEnd/>
              <a:tailEnd/>
            </a:ln>
            <a:effectLst/>
            <a:extLst/>
          </p:spPr>
          <p:txBody>
            <a:bodyPr wrap="none" anchor="ctr"/>
            <a:lstStyle/>
            <a:p>
              <a:endParaRPr lang="zh-CN" altLang="en-US">
                <a:solidFill>
                  <a:prstClr val="black"/>
                </a:solidFill>
              </a:endParaRPr>
            </a:p>
          </p:txBody>
        </p:sp>
        <p:sp>
          <p:nvSpPr>
            <p:cNvPr id="132" name="TextBox 131"/>
            <p:cNvSpPr txBox="1"/>
            <p:nvPr/>
          </p:nvSpPr>
          <p:spPr>
            <a:xfrm>
              <a:off x="1510781" y="4096039"/>
              <a:ext cx="1947584" cy="369332"/>
            </a:xfrm>
            <a:prstGeom prst="rect">
              <a:avLst/>
            </a:prstGeom>
            <a:noFill/>
          </p:spPr>
          <p:txBody>
            <a:bodyPr wrap="none" rtlCol="0">
              <a:spAutoFit/>
            </a:bodyPr>
            <a:lstStyle/>
            <a:p>
              <a:r>
                <a:rPr lang="en-US" altLang="zh-CN" b="1" dirty="0"/>
                <a:t>c</a:t>
              </a:r>
              <a:r>
                <a:rPr lang="en-US" altLang="zh-CN" b="1" dirty="0" smtClean="0"/>
                <a:t>ompaction buffer</a:t>
              </a:r>
              <a:endParaRPr lang="zh-CN" altLang="en-US" b="1" dirty="0"/>
            </a:p>
          </p:txBody>
        </p:sp>
      </p:grpSp>
      <p:sp>
        <p:nvSpPr>
          <p:cNvPr id="133" name="TextBox 132"/>
          <p:cNvSpPr txBox="1"/>
          <p:nvPr/>
        </p:nvSpPr>
        <p:spPr>
          <a:xfrm>
            <a:off x="6060689" y="2043975"/>
            <a:ext cx="149080" cy="246221"/>
          </a:xfrm>
          <a:prstGeom prst="rect">
            <a:avLst/>
          </a:prstGeom>
          <a:noFill/>
        </p:spPr>
        <p:txBody>
          <a:bodyPr wrap="none" lIns="0" tIns="0" rIns="0" bIns="0" rtlCol="0">
            <a:spAutoFit/>
          </a:bodyPr>
          <a:lstStyle/>
          <a:p>
            <a:r>
              <a:rPr lang="en-US" altLang="zh-CN" sz="1600" b="1" dirty="0" smtClean="0">
                <a:solidFill>
                  <a:schemeClr val="bg1"/>
                </a:solidFill>
              </a:rPr>
              <a:t> e</a:t>
            </a:r>
            <a:endParaRPr lang="zh-CN" altLang="en-US" sz="1600" b="1" dirty="0">
              <a:solidFill>
                <a:schemeClr val="bg1"/>
              </a:solidFill>
            </a:endParaRPr>
          </a:p>
        </p:txBody>
      </p:sp>
      <p:sp>
        <p:nvSpPr>
          <p:cNvPr id="134" name="TextBox 133"/>
          <p:cNvSpPr txBox="1"/>
          <p:nvPr/>
        </p:nvSpPr>
        <p:spPr>
          <a:xfrm>
            <a:off x="6341910" y="2429767"/>
            <a:ext cx="451289" cy="246221"/>
          </a:xfrm>
          <a:prstGeom prst="rect">
            <a:avLst/>
          </a:prstGeom>
          <a:noFill/>
        </p:spPr>
        <p:txBody>
          <a:bodyPr wrap="square" lIns="0" tIns="0" rIns="0" bIns="0" rtlCol="0">
            <a:spAutoFit/>
          </a:bodyPr>
          <a:lstStyle/>
          <a:p>
            <a:r>
              <a:rPr lang="en-US" altLang="zh-CN" sz="1600" b="1" dirty="0" smtClean="0">
                <a:solidFill>
                  <a:schemeClr val="bg1"/>
                </a:solidFill>
              </a:rPr>
              <a:t>b d f</a:t>
            </a:r>
            <a:endParaRPr lang="zh-CN" altLang="en-US" sz="1600" b="1" dirty="0">
              <a:solidFill>
                <a:schemeClr val="bg1"/>
              </a:solidFill>
            </a:endParaRPr>
          </a:p>
        </p:txBody>
      </p:sp>
      <p:sp>
        <p:nvSpPr>
          <p:cNvPr id="135" name="TextBox 134"/>
          <p:cNvSpPr txBox="1"/>
          <p:nvPr/>
        </p:nvSpPr>
        <p:spPr>
          <a:xfrm>
            <a:off x="5874571" y="2043962"/>
            <a:ext cx="100990" cy="246221"/>
          </a:xfrm>
          <a:prstGeom prst="rect">
            <a:avLst/>
          </a:prstGeom>
          <a:noFill/>
        </p:spPr>
        <p:txBody>
          <a:bodyPr wrap="none" lIns="0" tIns="0" rIns="0" bIns="0" rtlCol="0">
            <a:spAutoFit/>
          </a:bodyPr>
          <a:lstStyle/>
          <a:p>
            <a:r>
              <a:rPr lang="en-US" altLang="zh-CN" sz="1600" b="1" dirty="0" smtClean="0">
                <a:solidFill>
                  <a:schemeClr val="bg1"/>
                </a:solidFill>
              </a:rPr>
              <a:t>a</a:t>
            </a:r>
            <a:endParaRPr lang="zh-CN" altLang="en-US" sz="1600" b="1" dirty="0">
              <a:solidFill>
                <a:schemeClr val="bg1">
                  <a:lumMod val="50000"/>
                </a:schemeClr>
              </a:solidFill>
            </a:endParaRPr>
          </a:p>
        </p:txBody>
      </p:sp>
      <p:sp>
        <p:nvSpPr>
          <p:cNvPr id="136" name="TextBox 135"/>
          <p:cNvSpPr txBox="1"/>
          <p:nvPr/>
        </p:nvSpPr>
        <p:spPr>
          <a:xfrm>
            <a:off x="5574914" y="2043975"/>
            <a:ext cx="133050" cy="246221"/>
          </a:xfrm>
          <a:prstGeom prst="rect">
            <a:avLst/>
          </a:prstGeom>
          <a:noFill/>
        </p:spPr>
        <p:txBody>
          <a:bodyPr wrap="none" lIns="0" tIns="0" rIns="0" bIns="0" rtlCol="0">
            <a:spAutoFit/>
          </a:bodyPr>
          <a:lstStyle/>
          <a:p>
            <a:r>
              <a:rPr lang="en-US" altLang="zh-CN" sz="1600" b="1" dirty="0">
                <a:solidFill>
                  <a:schemeClr val="bg1">
                    <a:lumMod val="50000"/>
                  </a:schemeClr>
                </a:solidFill>
              </a:rPr>
              <a:t> </a:t>
            </a:r>
            <a:r>
              <a:rPr lang="en-US" altLang="zh-CN" sz="1600" b="1" dirty="0">
                <a:solidFill>
                  <a:schemeClr val="bg1"/>
                </a:solidFill>
              </a:rPr>
              <a:t>c</a:t>
            </a:r>
            <a:endParaRPr lang="zh-CN" altLang="en-US" sz="1600" b="1" dirty="0">
              <a:solidFill>
                <a:schemeClr val="bg1"/>
              </a:solidFill>
            </a:endParaRPr>
          </a:p>
        </p:txBody>
      </p:sp>
      <p:sp>
        <p:nvSpPr>
          <p:cNvPr id="137" name="TextBox 136"/>
          <p:cNvSpPr txBox="1"/>
          <p:nvPr/>
        </p:nvSpPr>
        <p:spPr>
          <a:xfrm>
            <a:off x="5753032" y="2414711"/>
            <a:ext cx="451289" cy="246221"/>
          </a:xfrm>
          <a:prstGeom prst="rect">
            <a:avLst/>
          </a:prstGeom>
          <a:noFill/>
        </p:spPr>
        <p:txBody>
          <a:bodyPr wrap="square" lIns="0" tIns="0" rIns="0" bIns="0" rtlCol="0">
            <a:spAutoFit/>
          </a:bodyPr>
          <a:lstStyle/>
          <a:p>
            <a:r>
              <a:rPr lang="en-US" altLang="zh-CN" sz="1600" b="1" dirty="0" smtClean="0">
                <a:solidFill>
                  <a:schemeClr val="bg1"/>
                </a:solidFill>
              </a:rPr>
              <a:t>a c e</a:t>
            </a:r>
            <a:endParaRPr lang="zh-CN" altLang="en-US" sz="1600" b="1" dirty="0">
              <a:solidFill>
                <a:schemeClr val="bg1"/>
              </a:solidFill>
            </a:endParaRPr>
          </a:p>
        </p:txBody>
      </p:sp>
      <p:sp>
        <p:nvSpPr>
          <p:cNvPr id="140" name="Rectangle 16"/>
          <p:cNvSpPr>
            <a:spLocks noChangeArrowheads="1"/>
          </p:cNvSpPr>
          <p:nvPr/>
        </p:nvSpPr>
        <p:spPr bwMode="auto">
          <a:xfrm>
            <a:off x="2378845" y="4153784"/>
            <a:ext cx="182880" cy="182045"/>
          </a:xfrm>
          <a:prstGeom prst="rect">
            <a:avLst/>
          </a:prstGeom>
          <a:noFill/>
          <a:ln w="9525" cap="flat" cmpd="sng">
            <a:noFill/>
            <a:miter lim="800000"/>
            <a:headEnd/>
            <a:tailEnd/>
          </a:ln>
          <a:effectLst/>
          <a:extLst/>
        </p:spPr>
        <p:txBody>
          <a:bodyPr wrap="none" lIns="0" tIns="0" rIns="0" bIns="0" anchor="ctr"/>
          <a:lstStyle/>
          <a:p>
            <a:pPr algn="ctr"/>
            <a:r>
              <a:rPr lang="en-US" altLang="zh-CN" b="1" dirty="0" smtClean="0">
                <a:solidFill>
                  <a:srgbClr val="FFC000"/>
                </a:solidFill>
              </a:rPr>
              <a:t>c</a:t>
            </a:r>
            <a:endParaRPr lang="zh-CN" altLang="en-US" b="1" dirty="0">
              <a:solidFill>
                <a:srgbClr val="FFC000"/>
              </a:solidFill>
            </a:endParaRPr>
          </a:p>
        </p:txBody>
      </p:sp>
      <p:sp>
        <p:nvSpPr>
          <p:cNvPr id="141" name="Rectangle 16"/>
          <p:cNvSpPr>
            <a:spLocks noChangeArrowheads="1"/>
          </p:cNvSpPr>
          <p:nvPr/>
        </p:nvSpPr>
        <p:spPr bwMode="auto">
          <a:xfrm>
            <a:off x="2195867" y="4156360"/>
            <a:ext cx="182880" cy="182045"/>
          </a:xfrm>
          <a:prstGeom prst="rect">
            <a:avLst/>
          </a:prstGeom>
          <a:noFill/>
          <a:ln w="9525" cap="flat" cmpd="sng">
            <a:noFill/>
            <a:miter lim="800000"/>
            <a:headEnd/>
            <a:tailEnd/>
          </a:ln>
          <a:effectLst/>
          <a:extLst/>
        </p:spPr>
        <p:txBody>
          <a:bodyPr wrap="none" lIns="0" tIns="0" rIns="0" bIns="0" anchor="ctr"/>
          <a:lstStyle/>
          <a:p>
            <a:pPr algn="ctr"/>
            <a:r>
              <a:rPr lang="en-US" altLang="zh-CN" b="1" dirty="0" smtClean="0">
                <a:solidFill>
                  <a:srgbClr val="FF0000"/>
                </a:solidFill>
              </a:rPr>
              <a:t>a</a:t>
            </a:r>
            <a:endParaRPr lang="zh-CN" altLang="en-US" b="1" dirty="0">
              <a:solidFill>
                <a:srgbClr val="FF0000"/>
              </a:solidFill>
            </a:endParaRPr>
          </a:p>
        </p:txBody>
      </p:sp>
      <p:cxnSp>
        <p:nvCxnSpPr>
          <p:cNvPr id="142" name="直接箭头连接符 141"/>
          <p:cNvCxnSpPr>
            <a:stCxn id="141" idx="2"/>
            <a:endCxn id="112" idx="0"/>
          </p:cNvCxnSpPr>
          <p:nvPr/>
        </p:nvCxnSpPr>
        <p:spPr>
          <a:xfrm>
            <a:off x="2287307" y="4338405"/>
            <a:ext cx="14940" cy="1678370"/>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43" name="直接箭头连接符 142"/>
          <p:cNvCxnSpPr>
            <a:stCxn id="140" idx="2"/>
            <a:endCxn id="114" idx="0"/>
          </p:cNvCxnSpPr>
          <p:nvPr/>
        </p:nvCxnSpPr>
        <p:spPr>
          <a:xfrm>
            <a:off x="2470285" y="4335829"/>
            <a:ext cx="14842" cy="1680946"/>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44" name="乘号 143"/>
          <p:cNvSpPr/>
          <p:nvPr/>
        </p:nvSpPr>
        <p:spPr>
          <a:xfrm>
            <a:off x="2076094" y="4261062"/>
            <a:ext cx="247944" cy="245745"/>
          </a:xfrm>
          <a:prstGeom prst="mathMultiply">
            <a:avLst/>
          </a:prstGeom>
          <a:solidFill>
            <a:srgbClr val="FF000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5" name="乘号 144"/>
          <p:cNvSpPr/>
          <p:nvPr/>
        </p:nvSpPr>
        <p:spPr>
          <a:xfrm>
            <a:off x="2409536" y="4252383"/>
            <a:ext cx="247944" cy="245745"/>
          </a:xfrm>
          <a:prstGeom prst="mathMultiply">
            <a:avLst/>
          </a:prstGeom>
          <a:solidFill>
            <a:srgbClr val="FF000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灯片编号占位符 2"/>
          <p:cNvSpPr>
            <a:spLocks noGrp="1"/>
          </p:cNvSpPr>
          <p:nvPr>
            <p:ph type="sldNum" sz="quarter" idx="4294967295"/>
          </p:nvPr>
        </p:nvSpPr>
        <p:spPr>
          <a:xfrm>
            <a:off x="6553200" y="6356350"/>
            <a:ext cx="2133600" cy="365125"/>
          </a:xfrm>
          <a:prstGeom prst="rect">
            <a:avLst/>
          </a:prstGeom>
        </p:spPr>
        <p:txBody>
          <a:bodyPr/>
          <a:lstStyle/>
          <a:p>
            <a:fld id="{56E101D2-3CA0-ED44-B21F-D432222A9872}" type="slidenum">
              <a:rPr lang="en-US" smtClean="0"/>
              <a:t>61</a:t>
            </a:fld>
            <a:endParaRPr lang="en-US" dirty="0"/>
          </a:p>
        </p:txBody>
      </p:sp>
      <p:sp>
        <p:nvSpPr>
          <p:cNvPr id="88" name="标题 1"/>
          <p:cNvSpPr>
            <a:spLocks noGrp="1"/>
          </p:cNvSpPr>
          <p:nvPr>
            <p:ph type="title"/>
          </p:nvPr>
        </p:nvSpPr>
        <p:spPr>
          <a:xfrm>
            <a:off x="0" y="274638"/>
            <a:ext cx="9144000" cy="1143000"/>
          </a:xfrm>
        </p:spPr>
        <p:txBody>
          <a:bodyPr>
            <a:normAutofit/>
          </a:bodyPr>
          <a:lstStyle/>
          <a:p>
            <a:pPr algn="ctr"/>
            <a:r>
              <a:rPr lang="en-US" altLang="zh-CN" sz="2400" dirty="0" smtClean="0">
                <a:solidFill>
                  <a:srgbClr val="FF0000"/>
                </a:solidFill>
              </a:rPr>
              <a:t>Compaction Buffer</a:t>
            </a:r>
            <a:r>
              <a:rPr lang="en-US" altLang="zh-CN" sz="2400" dirty="0" smtClean="0">
                <a:solidFill>
                  <a:srgbClr val="0070C0"/>
                </a:solidFill>
              </a:rPr>
              <a:t>:  a cushion between LSM-tree and cache </a:t>
            </a:r>
            <a:endParaRPr lang="zh-CN" altLang="en-US" sz="2400" dirty="0">
              <a:solidFill>
                <a:srgbClr val="0070C0"/>
              </a:solidFill>
            </a:endParaRPr>
          </a:p>
        </p:txBody>
      </p:sp>
    </p:spTree>
    <p:extLst>
      <p:ext uri="{BB962C8B-B14F-4D97-AF65-F5344CB8AC3E}">
        <p14:creationId xmlns:p14="http://schemas.microsoft.com/office/powerpoint/2010/main" val="3799249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9">
                                            <p:txEl>
                                              <p:pRg st="3" end="3"/>
                                            </p:txEl>
                                          </p:spTgt>
                                        </p:tgtEl>
                                        <p:attrNameLst>
                                          <p:attrName>style.visibility</p:attrName>
                                        </p:attrNameLst>
                                      </p:cBhvr>
                                      <p:to>
                                        <p:strVal val="visible"/>
                                      </p:to>
                                    </p:set>
                                    <p:animEffect transition="in" filter="fade">
                                      <p:cBhvr>
                                        <p:cTn id="7" dur="500"/>
                                        <p:tgtEl>
                                          <p:spTgt spid="89">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97"/>
                                        </p:tgtEl>
                                      </p:cBhvr>
                                    </p:animEffect>
                                    <p:set>
                                      <p:cBhvr>
                                        <p:cTn id="12" dur="1" fill="hold">
                                          <p:stCondLst>
                                            <p:cond delay="499"/>
                                          </p:stCondLst>
                                        </p:cTn>
                                        <p:tgtEl>
                                          <p:spTgt spid="97"/>
                                        </p:tgtEl>
                                        <p:attrNameLst>
                                          <p:attrName>style.visibility</p:attrName>
                                        </p:attrNameLst>
                                      </p:cBhvr>
                                      <p:to>
                                        <p:strVal val="hidden"/>
                                      </p:to>
                                    </p:set>
                                  </p:childTnLst>
                                </p:cTn>
                              </p:par>
                              <p:par>
                                <p:cTn id="13" presetID="10" presetClass="exit" presetSubtype="0" fill="hold" grpId="0" nodeType="withEffect">
                                  <p:stCondLst>
                                    <p:cond delay="0"/>
                                  </p:stCondLst>
                                  <p:childTnLst>
                                    <p:animEffect transition="out" filter="fade">
                                      <p:cBhvr>
                                        <p:cTn id="14" dur="500"/>
                                        <p:tgtEl>
                                          <p:spTgt spid="135"/>
                                        </p:tgtEl>
                                      </p:cBhvr>
                                    </p:animEffect>
                                    <p:set>
                                      <p:cBhvr>
                                        <p:cTn id="15" dur="1" fill="hold">
                                          <p:stCondLst>
                                            <p:cond delay="499"/>
                                          </p:stCondLst>
                                        </p:cTn>
                                        <p:tgtEl>
                                          <p:spTgt spid="135"/>
                                        </p:tgtEl>
                                        <p:attrNameLst>
                                          <p:attrName>style.visibility</p:attrName>
                                        </p:attrNameLst>
                                      </p:cBhvr>
                                      <p:to>
                                        <p:strVal val="hidden"/>
                                      </p:to>
                                    </p:set>
                                  </p:child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0"/>
                                          </p:stCondLst>
                                        </p:cTn>
                                        <p:tgtEl>
                                          <p:spTgt spid="14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xit" presetSubtype="0" fill="hold" grpId="0" nodeType="clickEffect">
                                  <p:stCondLst>
                                    <p:cond delay="0"/>
                                  </p:stCondLst>
                                  <p:childTnLst>
                                    <p:animEffect transition="out" filter="fade">
                                      <p:cBhvr>
                                        <p:cTn id="22" dur="500"/>
                                        <p:tgtEl>
                                          <p:spTgt spid="77"/>
                                        </p:tgtEl>
                                      </p:cBhvr>
                                    </p:animEffect>
                                    <p:set>
                                      <p:cBhvr>
                                        <p:cTn id="23" dur="1" fill="hold">
                                          <p:stCondLst>
                                            <p:cond delay="499"/>
                                          </p:stCondLst>
                                        </p:cTn>
                                        <p:tgtEl>
                                          <p:spTgt spid="77"/>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25" dur="500"/>
                                        <p:tgtEl>
                                          <p:spTgt spid="130"/>
                                        </p:tgtEl>
                                      </p:cBhvr>
                                    </p:animEffect>
                                    <p:set>
                                      <p:cBhvr>
                                        <p:cTn id="26" dur="1" fill="hold">
                                          <p:stCondLst>
                                            <p:cond delay="499"/>
                                          </p:stCondLst>
                                        </p:cTn>
                                        <p:tgtEl>
                                          <p:spTgt spid="130"/>
                                        </p:tgtEl>
                                        <p:attrNameLst>
                                          <p:attrName>style.visibility</p:attrName>
                                        </p:attrNameLst>
                                      </p:cBhvr>
                                      <p:to>
                                        <p:strVal val="hidden"/>
                                      </p:to>
                                    </p:set>
                                  </p:childTnLst>
                                </p:cTn>
                              </p:par>
                              <p:par>
                                <p:cTn id="27" presetID="10" presetClass="exit" presetSubtype="0" fill="hold" grpId="1" nodeType="withEffect">
                                  <p:stCondLst>
                                    <p:cond delay="0"/>
                                  </p:stCondLst>
                                  <p:childTnLst>
                                    <p:animEffect transition="out" filter="fade">
                                      <p:cBhvr>
                                        <p:cTn id="28" dur="500"/>
                                        <p:tgtEl>
                                          <p:spTgt spid="145"/>
                                        </p:tgtEl>
                                      </p:cBhvr>
                                    </p:animEffect>
                                    <p:set>
                                      <p:cBhvr>
                                        <p:cTn id="29" dur="1" fill="hold">
                                          <p:stCondLst>
                                            <p:cond delay="499"/>
                                          </p:stCondLst>
                                        </p:cTn>
                                        <p:tgtEl>
                                          <p:spTgt spid="145"/>
                                        </p:tgtEl>
                                        <p:attrNameLst>
                                          <p:attrName>style.visibility</p:attrName>
                                        </p:attrNameLst>
                                      </p:cBhvr>
                                      <p:to>
                                        <p:strVal val="hidden"/>
                                      </p:to>
                                    </p:set>
                                  </p:childTnLst>
                                </p:cTn>
                              </p:par>
                            </p:childTnLst>
                          </p:cTn>
                        </p:par>
                        <p:par>
                          <p:cTn id="30" fill="hold">
                            <p:stCondLst>
                              <p:cond delay="500"/>
                            </p:stCondLst>
                            <p:childTnLst>
                              <p:par>
                                <p:cTn id="31" presetID="1" presetClass="entr" presetSubtype="0" fill="hold" grpId="0" nodeType="afterEffect">
                                  <p:stCondLst>
                                    <p:cond delay="0"/>
                                  </p:stCondLst>
                                  <p:childTnLst>
                                    <p:set>
                                      <p:cBhvr>
                                        <p:cTn id="32" dur="1" fill="hold">
                                          <p:stCondLst>
                                            <p:cond delay="0"/>
                                          </p:stCondLst>
                                        </p:cTn>
                                        <p:tgtEl>
                                          <p:spTgt spid="14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2"/>
                                        </p:tgtEl>
                                        <p:attrNameLst>
                                          <p:attrName>style.visibility</p:attrName>
                                        </p:attrNameLst>
                                      </p:cBhvr>
                                      <p:to>
                                        <p:strVal val="visible"/>
                                      </p:to>
                                    </p:set>
                                  </p:childTnLst>
                                </p:cTn>
                              </p:par>
                              <p:par>
                                <p:cTn id="35" presetID="1" presetClass="emph" presetSubtype="2" fill="hold" nodeType="withEffect">
                                  <p:stCondLst>
                                    <p:cond delay="0"/>
                                  </p:stCondLst>
                                  <p:childTnLst>
                                    <p:animClr clrSpc="rgb" dir="cw">
                                      <p:cBhvr>
                                        <p:cTn id="36" dur="500" fill="hold"/>
                                        <p:tgtEl>
                                          <p:spTgt spid="112"/>
                                        </p:tgtEl>
                                        <p:attrNameLst>
                                          <p:attrName>fillcolor</p:attrName>
                                        </p:attrNameLst>
                                      </p:cBhvr>
                                      <p:to>
                                        <a:srgbClr val="FFFFFF"/>
                                      </p:to>
                                    </p:animClr>
                                    <p:set>
                                      <p:cBhvr>
                                        <p:cTn id="37" dur="500" fill="hold"/>
                                        <p:tgtEl>
                                          <p:spTgt spid="112"/>
                                        </p:tgtEl>
                                        <p:attrNameLst>
                                          <p:attrName>fill.type</p:attrName>
                                        </p:attrNameLst>
                                      </p:cBhvr>
                                      <p:to>
                                        <p:strVal val="solid"/>
                                      </p:to>
                                    </p:set>
                                    <p:set>
                                      <p:cBhvr>
                                        <p:cTn id="38" dur="500" fill="hold"/>
                                        <p:tgtEl>
                                          <p:spTgt spid="112"/>
                                        </p:tgtEl>
                                        <p:attrNameLst>
                                          <p:attrName>fill.on</p:attrName>
                                        </p:attrNameLst>
                                      </p:cBhvr>
                                      <p:to>
                                        <p:strVal val="true"/>
                                      </p:to>
                                    </p:set>
                                  </p:childTnLst>
                                </p:cTn>
                              </p:par>
                            </p:childTnLst>
                          </p:cTn>
                        </p:par>
                      </p:childTnLst>
                    </p:cTn>
                  </p:par>
                  <p:par>
                    <p:cTn id="39" fill="hold">
                      <p:stCondLst>
                        <p:cond delay="indefinite"/>
                      </p:stCondLst>
                      <p:childTnLst>
                        <p:par>
                          <p:cTn id="40" fill="hold">
                            <p:stCondLst>
                              <p:cond delay="0"/>
                            </p:stCondLst>
                            <p:childTnLst>
                              <p:par>
                                <p:cTn id="41" presetID="10" presetClass="exit" presetSubtype="0" fill="hold" grpId="0" nodeType="clickEffect">
                                  <p:stCondLst>
                                    <p:cond delay="0"/>
                                  </p:stCondLst>
                                  <p:childTnLst>
                                    <p:animEffect transition="out" filter="fade">
                                      <p:cBhvr>
                                        <p:cTn id="42" dur="500"/>
                                        <p:tgtEl>
                                          <p:spTgt spid="110"/>
                                        </p:tgtEl>
                                      </p:cBhvr>
                                    </p:animEffect>
                                    <p:set>
                                      <p:cBhvr>
                                        <p:cTn id="43" dur="1" fill="hold">
                                          <p:stCondLst>
                                            <p:cond delay="499"/>
                                          </p:stCondLst>
                                        </p:cTn>
                                        <p:tgtEl>
                                          <p:spTgt spid="110"/>
                                        </p:tgtEl>
                                        <p:attrNameLst>
                                          <p:attrName>style.visibility</p:attrName>
                                        </p:attrNameLst>
                                      </p:cBhvr>
                                      <p:to>
                                        <p:strVal val="hidden"/>
                                      </p:to>
                                    </p:set>
                                  </p:childTnLst>
                                </p:cTn>
                              </p:par>
                              <p:par>
                                <p:cTn id="44" presetID="10" presetClass="exit" presetSubtype="0" fill="hold" grpId="0" nodeType="withEffect">
                                  <p:stCondLst>
                                    <p:cond delay="0"/>
                                  </p:stCondLst>
                                  <p:childTnLst>
                                    <p:animEffect transition="out" filter="fade">
                                      <p:cBhvr>
                                        <p:cTn id="45" dur="500"/>
                                        <p:tgtEl>
                                          <p:spTgt spid="136"/>
                                        </p:tgtEl>
                                      </p:cBhvr>
                                    </p:animEffect>
                                    <p:set>
                                      <p:cBhvr>
                                        <p:cTn id="46" dur="1" fill="hold">
                                          <p:stCondLst>
                                            <p:cond delay="499"/>
                                          </p:stCondLst>
                                        </p:cTn>
                                        <p:tgtEl>
                                          <p:spTgt spid="136"/>
                                        </p:tgtEl>
                                        <p:attrNameLst>
                                          <p:attrName>style.visibility</p:attrName>
                                        </p:attrNameLst>
                                      </p:cBhvr>
                                      <p:to>
                                        <p:strVal val="hidden"/>
                                      </p:to>
                                    </p:set>
                                  </p:childTnLst>
                                </p:cTn>
                              </p:par>
                            </p:childTnLst>
                          </p:cTn>
                        </p:par>
                        <p:par>
                          <p:cTn id="47" fill="hold">
                            <p:stCondLst>
                              <p:cond delay="500"/>
                            </p:stCondLst>
                            <p:childTnLst>
                              <p:par>
                                <p:cTn id="48" presetID="1" presetClass="entr" presetSubtype="0" fill="hold" grpId="0" nodeType="afterEffect">
                                  <p:stCondLst>
                                    <p:cond delay="0"/>
                                  </p:stCondLst>
                                  <p:childTnLst>
                                    <p:set>
                                      <p:cBhvr>
                                        <p:cTn id="49" dur="1" fill="hold">
                                          <p:stCondLst>
                                            <p:cond delay="0"/>
                                          </p:stCondLst>
                                        </p:cTn>
                                        <p:tgtEl>
                                          <p:spTgt spid="144"/>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0" presetClass="exit" presetSubtype="0" fill="hold" grpId="0" nodeType="clickEffect">
                                  <p:stCondLst>
                                    <p:cond delay="0"/>
                                  </p:stCondLst>
                                  <p:childTnLst>
                                    <p:animEffect transition="out" filter="fade">
                                      <p:cBhvr>
                                        <p:cTn id="53" dur="500"/>
                                        <p:tgtEl>
                                          <p:spTgt spid="111"/>
                                        </p:tgtEl>
                                      </p:cBhvr>
                                    </p:animEffect>
                                    <p:set>
                                      <p:cBhvr>
                                        <p:cTn id="54" dur="1" fill="hold">
                                          <p:stCondLst>
                                            <p:cond delay="499"/>
                                          </p:stCondLst>
                                        </p:cTn>
                                        <p:tgtEl>
                                          <p:spTgt spid="111"/>
                                        </p:tgtEl>
                                        <p:attrNameLst>
                                          <p:attrName>style.visibility</p:attrName>
                                        </p:attrNameLst>
                                      </p:cBhvr>
                                      <p:to>
                                        <p:strVal val="hidden"/>
                                      </p:to>
                                    </p:set>
                                  </p:childTnLst>
                                </p:cTn>
                              </p:par>
                              <p:par>
                                <p:cTn id="55" presetID="10" presetClass="exit" presetSubtype="0" fill="hold" nodeType="withEffect">
                                  <p:stCondLst>
                                    <p:cond delay="0"/>
                                  </p:stCondLst>
                                  <p:childTnLst>
                                    <p:animEffect transition="out" filter="fade">
                                      <p:cBhvr>
                                        <p:cTn id="56" dur="500"/>
                                        <p:tgtEl>
                                          <p:spTgt spid="13"/>
                                        </p:tgtEl>
                                      </p:cBhvr>
                                    </p:animEffect>
                                    <p:set>
                                      <p:cBhvr>
                                        <p:cTn id="57" dur="1" fill="hold">
                                          <p:stCondLst>
                                            <p:cond delay="499"/>
                                          </p:stCondLst>
                                        </p:cTn>
                                        <p:tgtEl>
                                          <p:spTgt spid="13"/>
                                        </p:tgtEl>
                                        <p:attrNameLst>
                                          <p:attrName>style.visibility</p:attrName>
                                        </p:attrNameLst>
                                      </p:cBhvr>
                                      <p:to>
                                        <p:strVal val="hidden"/>
                                      </p:to>
                                    </p:set>
                                  </p:childTnLst>
                                </p:cTn>
                              </p:par>
                              <p:par>
                                <p:cTn id="58" presetID="10" presetClass="exit" presetSubtype="0" fill="hold" grpId="1" nodeType="withEffect">
                                  <p:stCondLst>
                                    <p:cond delay="0"/>
                                  </p:stCondLst>
                                  <p:childTnLst>
                                    <p:animEffect transition="out" filter="fade">
                                      <p:cBhvr>
                                        <p:cTn id="59" dur="500"/>
                                        <p:tgtEl>
                                          <p:spTgt spid="144"/>
                                        </p:tgtEl>
                                      </p:cBhvr>
                                    </p:animEffect>
                                    <p:set>
                                      <p:cBhvr>
                                        <p:cTn id="60" dur="1" fill="hold">
                                          <p:stCondLst>
                                            <p:cond delay="499"/>
                                          </p:stCondLst>
                                        </p:cTn>
                                        <p:tgtEl>
                                          <p:spTgt spid="144"/>
                                        </p:tgtEl>
                                        <p:attrNameLst>
                                          <p:attrName>style.visibility</p:attrName>
                                        </p:attrNameLst>
                                      </p:cBhvr>
                                      <p:to>
                                        <p:strVal val="hidden"/>
                                      </p:to>
                                    </p:set>
                                  </p:childTnLst>
                                </p:cTn>
                              </p:par>
                            </p:childTnLst>
                          </p:cTn>
                        </p:par>
                        <p:par>
                          <p:cTn id="61" fill="hold">
                            <p:stCondLst>
                              <p:cond delay="500"/>
                            </p:stCondLst>
                            <p:childTnLst>
                              <p:par>
                                <p:cTn id="62" presetID="10" presetClass="entr" presetSubtype="0" fill="hold" grpId="0" nodeType="afterEffect">
                                  <p:stCondLst>
                                    <p:cond delay="0"/>
                                  </p:stCondLst>
                                  <p:childTnLst>
                                    <p:set>
                                      <p:cBhvr>
                                        <p:cTn id="63" dur="1" fill="hold">
                                          <p:stCondLst>
                                            <p:cond delay="0"/>
                                          </p:stCondLst>
                                        </p:cTn>
                                        <p:tgtEl>
                                          <p:spTgt spid="140"/>
                                        </p:tgtEl>
                                        <p:attrNameLst>
                                          <p:attrName>style.visibility</p:attrName>
                                        </p:attrNameLst>
                                      </p:cBhvr>
                                      <p:to>
                                        <p:strVal val="visible"/>
                                      </p:to>
                                    </p:set>
                                    <p:animEffect transition="in" filter="fade">
                                      <p:cBhvr>
                                        <p:cTn id="64" dur="500"/>
                                        <p:tgtEl>
                                          <p:spTgt spid="140"/>
                                        </p:tgtEl>
                                      </p:cBhvr>
                                    </p:animEffect>
                                  </p:childTnLst>
                                </p:cTn>
                              </p:par>
                              <p:par>
                                <p:cTn id="65" presetID="10" presetClass="entr" presetSubtype="0" fill="hold" nodeType="withEffect">
                                  <p:stCondLst>
                                    <p:cond delay="0"/>
                                  </p:stCondLst>
                                  <p:childTnLst>
                                    <p:set>
                                      <p:cBhvr>
                                        <p:cTn id="66" dur="1" fill="hold">
                                          <p:stCondLst>
                                            <p:cond delay="0"/>
                                          </p:stCondLst>
                                        </p:cTn>
                                        <p:tgtEl>
                                          <p:spTgt spid="143"/>
                                        </p:tgtEl>
                                        <p:attrNameLst>
                                          <p:attrName>style.visibility</p:attrName>
                                        </p:attrNameLst>
                                      </p:cBhvr>
                                      <p:to>
                                        <p:strVal val="visible"/>
                                      </p:to>
                                    </p:set>
                                    <p:animEffect transition="in" filter="fade">
                                      <p:cBhvr>
                                        <p:cTn id="67" dur="500"/>
                                        <p:tgtEl>
                                          <p:spTgt spid="143"/>
                                        </p:tgtEl>
                                      </p:cBhvr>
                                    </p:animEffect>
                                  </p:childTnLst>
                                </p:cTn>
                              </p:par>
                              <p:par>
                                <p:cTn id="68" presetID="1" presetClass="emph" presetSubtype="2" fill="hold" nodeType="withEffect">
                                  <p:stCondLst>
                                    <p:cond delay="0"/>
                                  </p:stCondLst>
                                  <p:childTnLst>
                                    <p:animClr clrSpc="rgb" dir="cw">
                                      <p:cBhvr>
                                        <p:cTn id="69" dur="500" fill="hold"/>
                                        <p:tgtEl>
                                          <p:spTgt spid="114"/>
                                        </p:tgtEl>
                                        <p:attrNameLst>
                                          <p:attrName>fillcolor</p:attrName>
                                        </p:attrNameLst>
                                      </p:cBhvr>
                                      <p:to>
                                        <a:srgbClr val="FFFFFF"/>
                                      </p:to>
                                    </p:animClr>
                                    <p:set>
                                      <p:cBhvr>
                                        <p:cTn id="70" dur="500" fill="hold"/>
                                        <p:tgtEl>
                                          <p:spTgt spid="114"/>
                                        </p:tgtEl>
                                        <p:attrNameLst>
                                          <p:attrName>fill.type</p:attrName>
                                        </p:attrNameLst>
                                      </p:cBhvr>
                                      <p:to>
                                        <p:strVal val="solid"/>
                                      </p:to>
                                    </p:set>
                                    <p:set>
                                      <p:cBhvr>
                                        <p:cTn id="71" dur="500" fill="hold"/>
                                        <p:tgtEl>
                                          <p:spTgt spid="114"/>
                                        </p:tgtEl>
                                        <p:attrNameLst>
                                          <p:attrName>fill.on</p:attrName>
                                        </p:attrNameLst>
                                      </p:cBhvr>
                                      <p:to>
                                        <p:strVal val="true"/>
                                      </p:to>
                                    </p:set>
                                  </p:childTnLst>
                                </p:cTn>
                              </p:par>
                            </p:childTnLst>
                          </p:cTn>
                        </p:par>
                      </p:childTnLst>
                    </p:cTn>
                  </p:par>
                  <p:par>
                    <p:cTn id="72" fill="hold">
                      <p:stCondLst>
                        <p:cond delay="indefinite"/>
                      </p:stCondLst>
                      <p:childTnLst>
                        <p:par>
                          <p:cTn id="73" fill="hold">
                            <p:stCondLst>
                              <p:cond delay="0"/>
                            </p:stCondLst>
                            <p:childTnLst>
                              <p:par>
                                <p:cTn id="74" presetID="10" presetClass="exit" presetSubtype="0" fill="hold" grpId="0" nodeType="clickEffect">
                                  <p:stCondLst>
                                    <p:cond delay="0"/>
                                  </p:stCondLst>
                                  <p:childTnLst>
                                    <p:animEffect transition="out" filter="fade">
                                      <p:cBhvr>
                                        <p:cTn id="75" dur="500"/>
                                        <p:tgtEl>
                                          <p:spTgt spid="133"/>
                                        </p:tgtEl>
                                      </p:cBhvr>
                                    </p:animEffect>
                                    <p:set>
                                      <p:cBhvr>
                                        <p:cTn id="76" dur="1" fill="hold">
                                          <p:stCondLst>
                                            <p:cond delay="499"/>
                                          </p:stCondLst>
                                        </p:cTn>
                                        <p:tgtEl>
                                          <p:spTgt spid="133"/>
                                        </p:tgtEl>
                                        <p:attrNameLst>
                                          <p:attrName>style.visibility</p:attrName>
                                        </p:attrNameLst>
                                      </p:cBhvr>
                                      <p:to>
                                        <p:strVal val="hidden"/>
                                      </p:to>
                                    </p:set>
                                  </p:childTnLst>
                                </p:cTn>
                              </p:par>
                              <p:par>
                                <p:cTn id="77" presetID="10" presetClass="exit" presetSubtype="0" fill="hold" grpId="0" nodeType="withEffect">
                                  <p:stCondLst>
                                    <p:cond delay="0"/>
                                  </p:stCondLst>
                                  <p:childTnLst>
                                    <p:animEffect transition="out" filter="fade">
                                      <p:cBhvr>
                                        <p:cTn id="78" dur="500"/>
                                        <p:tgtEl>
                                          <p:spTgt spid="101"/>
                                        </p:tgtEl>
                                      </p:cBhvr>
                                    </p:animEffect>
                                    <p:set>
                                      <p:cBhvr>
                                        <p:cTn id="79" dur="1" fill="hold">
                                          <p:stCondLst>
                                            <p:cond delay="499"/>
                                          </p:stCondLst>
                                        </p:cTn>
                                        <p:tgtEl>
                                          <p:spTgt spid="10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77" grpId="0"/>
      <p:bldP spid="97" grpId="0" animBg="1"/>
      <p:bldP spid="101" grpId="0" animBg="1"/>
      <p:bldP spid="110" grpId="0" animBg="1"/>
      <p:bldP spid="133" grpId="0"/>
      <p:bldP spid="135" grpId="0"/>
      <p:bldP spid="136" grpId="0"/>
      <p:bldP spid="140" grpId="0"/>
      <p:bldP spid="141" grpId="0"/>
      <p:bldP spid="144" grpId="0" animBg="1"/>
      <p:bldP spid="144" grpId="1" animBg="1"/>
      <p:bldP spid="145" grpId="0" animBg="1"/>
      <p:bldP spid="145" grpId="1" animBg="1"/>
    </p:bldLst>
  </p:timing>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组合 8"/>
          <p:cNvGrpSpPr/>
          <p:nvPr/>
        </p:nvGrpSpPr>
        <p:grpSpPr>
          <a:xfrm>
            <a:off x="1053139" y="4685465"/>
            <a:ext cx="2911135" cy="1580371"/>
            <a:chOff x="5211783" y="2038726"/>
            <a:chExt cx="2911135" cy="1580371"/>
          </a:xfrm>
          <a:solidFill>
            <a:schemeClr val="bg2">
              <a:lumMod val="20000"/>
              <a:lumOff val="80000"/>
            </a:schemeClr>
          </a:solidFill>
        </p:grpSpPr>
        <p:sp>
          <p:nvSpPr>
            <p:cNvPr id="8" name="流程图: 磁盘 7"/>
            <p:cNvSpPr/>
            <p:nvPr/>
          </p:nvSpPr>
          <p:spPr>
            <a:xfrm>
              <a:off x="5211783" y="2038726"/>
              <a:ext cx="2911135" cy="1580371"/>
            </a:xfrm>
            <a:prstGeom prst="flowChartMagneticDisk">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TextBox 4"/>
            <p:cNvSpPr txBox="1"/>
            <p:nvPr/>
          </p:nvSpPr>
          <p:spPr>
            <a:xfrm>
              <a:off x="6415741" y="2067665"/>
              <a:ext cx="492122" cy="461665"/>
            </a:xfrm>
            <a:prstGeom prst="rect">
              <a:avLst/>
            </a:prstGeom>
            <a:grpFill/>
          </p:spPr>
          <p:txBody>
            <a:bodyPr wrap="none" lIns="0" rIns="0" rtlCol="0">
              <a:spAutoFit/>
            </a:bodyPr>
            <a:lstStyle/>
            <a:p>
              <a:r>
                <a:rPr lang="en-US" altLang="zh-CN" sz="2400" dirty="0" smtClean="0"/>
                <a:t>disk</a:t>
              </a:r>
              <a:endParaRPr lang="zh-CN" altLang="en-US" sz="2400" dirty="0"/>
            </a:p>
          </p:txBody>
        </p:sp>
      </p:grpSp>
      <p:sp>
        <p:nvSpPr>
          <p:cNvPr id="75" name="Rectangle 16"/>
          <p:cNvSpPr>
            <a:spLocks noChangeArrowheads="1"/>
          </p:cNvSpPr>
          <p:nvPr/>
        </p:nvSpPr>
        <p:spPr bwMode="auto">
          <a:xfrm>
            <a:off x="2567133" y="4345720"/>
            <a:ext cx="182880" cy="182045"/>
          </a:xfrm>
          <a:prstGeom prst="rect">
            <a:avLst/>
          </a:prstGeom>
          <a:solidFill>
            <a:schemeClr val="bg1"/>
          </a:solidFill>
          <a:ln w="9525" cap="flat" cmpd="sng">
            <a:noFill/>
            <a:miter lim="800000"/>
            <a:headEnd/>
            <a:tailEnd/>
          </a:ln>
          <a:effectLst/>
          <a:extLst/>
        </p:spPr>
        <p:txBody>
          <a:bodyPr wrap="none" lIns="0" tIns="0" rIns="0" bIns="0" anchor="ctr"/>
          <a:lstStyle/>
          <a:p>
            <a:pPr algn="ctr"/>
            <a:r>
              <a:rPr lang="en-US" altLang="zh-CN" b="1" dirty="0" smtClean="0">
                <a:solidFill>
                  <a:srgbClr val="002060"/>
                </a:solidFill>
              </a:rPr>
              <a:t>b</a:t>
            </a:r>
            <a:endParaRPr lang="zh-CN" altLang="en-US" b="1" dirty="0">
              <a:solidFill>
                <a:srgbClr val="002060"/>
              </a:solidFill>
            </a:endParaRPr>
          </a:p>
        </p:txBody>
      </p:sp>
      <p:sp>
        <p:nvSpPr>
          <p:cNvPr id="76" name="Rectangle 16"/>
          <p:cNvSpPr>
            <a:spLocks noChangeArrowheads="1"/>
          </p:cNvSpPr>
          <p:nvPr/>
        </p:nvSpPr>
        <p:spPr bwMode="auto">
          <a:xfrm>
            <a:off x="2748143" y="4345720"/>
            <a:ext cx="182880" cy="182045"/>
          </a:xfrm>
          <a:prstGeom prst="rect">
            <a:avLst/>
          </a:prstGeom>
          <a:noFill/>
          <a:ln w="9525" cap="flat" cmpd="sng">
            <a:noFill/>
            <a:miter lim="800000"/>
            <a:headEnd/>
            <a:tailEnd/>
          </a:ln>
          <a:effectLst/>
          <a:extLst/>
        </p:spPr>
        <p:txBody>
          <a:bodyPr wrap="none" lIns="0" tIns="0" rIns="0" bIns="0" anchor="ctr"/>
          <a:lstStyle/>
          <a:p>
            <a:pPr algn="ctr"/>
            <a:r>
              <a:rPr lang="en-US" altLang="zh-CN" b="1" dirty="0" smtClean="0">
                <a:solidFill>
                  <a:srgbClr val="00B050"/>
                </a:solidFill>
              </a:rPr>
              <a:t>d</a:t>
            </a:r>
            <a:endParaRPr lang="zh-CN" altLang="en-US" b="1" dirty="0">
              <a:solidFill>
                <a:srgbClr val="00B050"/>
              </a:solidFill>
            </a:endParaRPr>
          </a:p>
        </p:txBody>
      </p:sp>
      <p:sp>
        <p:nvSpPr>
          <p:cNvPr id="2" name="标题 1"/>
          <p:cNvSpPr>
            <a:spLocks noGrp="1"/>
          </p:cNvSpPr>
          <p:nvPr>
            <p:ph type="title"/>
          </p:nvPr>
        </p:nvSpPr>
        <p:spPr>
          <a:xfrm>
            <a:off x="0" y="274638"/>
            <a:ext cx="9144000" cy="1143000"/>
          </a:xfrm>
        </p:spPr>
        <p:txBody>
          <a:bodyPr>
            <a:normAutofit/>
          </a:bodyPr>
          <a:lstStyle/>
          <a:p>
            <a:pPr algn="ctr"/>
            <a:r>
              <a:rPr lang="en-US" altLang="zh-CN" sz="3200" dirty="0" smtClean="0">
                <a:solidFill>
                  <a:srgbClr val="0070C0"/>
                </a:solidFill>
              </a:rPr>
              <a:t> </a:t>
            </a:r>
            <a:r>
              <a:rPr lang="en-US" altLang="zh-CN" sz="3200" dirty="0" smtClean="0">
                <a:solidFill>
                  <a:srgbClr val="FF0000"/>
                </a:solidFill>
              </a:rPr>
              <a:t>Buffer Trimming</a:t>
            </a:r>
            <a:r>
              <a:rPr lang="en-US" altLang="zh-CN" sz="3200" dirty="0" smtClean="0">
                <a:solidFill>
                  <a:srgbClr val="0070C0"/>
                </a:solidFill>
              </a:rPr>
              <a:t>: Who should stay or leave?</a:t>
            </a:r>
            <a:endParaRPr lang="zh-CN" altLang="en-US" sz="3200" dirty="0">
              <a:solidFill>
                <a:srgbClr val="0070C0"/>
              </a:solidFill>
            </a:endParaRPr>
          </a:p>
        </p:txBody>
      </p:sp>
      <p:sp>
        <p:nvSpPr>
          <p:cNvPr id="6" name="TextBox 5"/>
          <p:cNvSpPr txBox="1"/>
          <p:nvPr/>
        </p:nvSpPr>
        <p:spPr>
          <a:xfrm>
            <a:off x="1953731" y="3815230"/>
            <a:ext cx="1062791" cy="338554"/>
          </a:xfrm>
          <a:prstGeom prst="rect">
            <a:avLst/>
          </a:prstGeom>
          <a:noFill/>
        </p:spPr>
        <p:txBody>
          <a:bodyPr wrap="none" lIns="0" rIns="0" rtlCol="0">
            <a:spAutoFit/>
          </a:bodyPr>
          <a:lstStyle/>
          <a:p>
            <a:r>
              <a:rPr lang="en-US" altLang="zh-CN" sz="1600" b="1" dirty="0">
                <a:solidFill>
                  <a:srgbClr val="C00000"/>
                </a:solidFill>
              </a:rPr>
              <a:t>B</a:t>
            </a:r>
            <a:r>
              <a:rPr lang="en-US" altLang="zh-CN" sz="1600" b="1" dirty="0" smtClean="0">
                <a:solidFill>
                  <a:srgbClr val="C00000"/>
                </a:solidFill>
              </a:rPr>
              <a:t>uffer cache</a:t>
            </a:r>
            <a:endParaRPr lang="zh-CN" altLang="en-US" sz="1600" b="1" dirty="0">
              <a:solidFill>
                <a:srgbClr val="C00000"/>
              </a:solidFill>
            </a:endParaRPr>
          </a:p>
        </p:txBody>
      </p:sp>
      <p:sp>
        <p:nvSpPr>
          <p:cNvPr id="27" name="Rectangle 10"/>
          <p:cNvSpPr>
            <a:spLocks noChangeArrowheads="1"/>
          </p:cNvSpPr>
          <p:nvPr/>
        </p:nvSpPr>
        <p:spPr bwMode="auto">
          <a:xfrm>
            <a:off x="3099725" y="5827056"/>
            <a:ext cx="182880" cy="182880"/>
          </a:xfrm>
          <a:prstGeom prst="rect">
            <a:avLst/>
          </a:prstGeom>
          <a:solidFill>
            <a:schemeClr val="bg1"/>
          </a:solidFill>
          <a:ln w="9525" cap="flat" cmpd="sng">
            <a:solidFill>
              <a:schemeClr val="tx1"/>
            </a:solidFill>
            <a:miter lim="800000"/>
            <a:headEnd/>
            <a:tailEnd/>
          </a:ln>
          <a:effectLst/>
          <a:extLst/>
        </p:spPr>
        <p:txBody>
          <a:bodyPr wrap="none" anchor="ctr"/>
          <a:lstStyle/>
          <a:p>
            <a:pPr algn="ctr"/>
            <a:r>
              <a:rPr lang="en-US" altLang="zh-CN" b="1" dirty="0" smtClean="0">
                <a:solidFill>
                  <a:srgbClr val="002060"/>
                </a:solidFill>
              </a:rPr>
              <a:t>b</a:t>
            </a:r>
            <a:endParaRPr lang="zh-CN" altLang="en-US" sz="2400" b="1" dirty="0">
              <a:solidFill>
                <a:srgbClr val="002060"/>
              </a:solidFill>
            </a:endParaRPr>
          </a:p>
        </p:txBody>
      </p:sp>
      <p:sp>
        <p:nvSpPr>
          <p:cNvPr id="28" name="Rectangle 10"/>
          <p:cNvSpPr>
            <a:spLocks noChangeArrowheads="1"/>
          </p:cNvSpPr>
          <p:nvPr/>
        </p:nvSpPr>
        <p:spPr bwMode="auto">
          <a:xfrm>
            <a:off x="3465480" y="5827056"/>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7030A0"/>
                </a:solidFill>
              </a:rPr>
              <a:t>f</a:t>
            </a:r>
            <a:endParaRPr lang="zh-CN" altLang="en-US" b="1" dirty="0">
              <a:solidFill>
                <a:srgbClr val="7030A0"/>
              </a:solidFill>
            </a:endParaRPr>
          </a:p>
        </p:txBody>
      </p:sp>
      <p:sp>
        <p:nvSpPr>
          <p:cNvPr id="30" name="Rectangle 10"/>
          <p:cNvSpPr>
            <a:spLocks noChangeArrowheads="1"/>
          </p:cNvSpPr>
          <p:nvPr/>
        </p:nvSpPr>
        <p:spPr bwMode="auto">
          <a:xfrm>
            <a:off x="3282605" y="5827056"/>
            <a:ext cx="182880" cy="182880"/>
          </a:xfrm>
          <a:prstGeom prst="rect">
            <a:avLst/>
          </a:prstGeom>
          <a:solidFill>
            <a:schemeClr val="bg1"/>
          </a:solidFill>
          <a:ln w="9525" cap="flat" cmpd="sng">
            <a:solidFill>
              <a:schemeClr val="tx1"/>
            </a:solidFill>
            <a:miter lim="800000"/>
            <a:headEnd/>
            <a:tailEnd/>
          </a:ln>
          <a:effectLst/>
          <a:extLst/>
        </p:spPr>
        <p:txBody>
          <a:bodyPr wrap="none" anchor="ctr"/>
          <a:lstStyle/>
          <a:p>
            <a:pPr algn="ctr"/>
            <a:r>
              <a:rPr lang="en-US" altLang="zh-CN" b="1" dirty="0" smtClean="0">
                <a:solidFill>
                  <a:srgbClr val="00B050"/>
                </a:solidFill>
              </a:rPr>
              <a:t>d</a:t>
            </a:r>
            <a:endParaRPr lang="zh-CN" altLang="en-US" b="1" dirty="0">
              <a:solidFill>
                <a:srgbClr val="00B050"/>
              </a:solidFill>
            </a:endParaRPr>
          </a:p>
        </p:txBody>
      </p:sp>
      <p:grpSp>
        <p:nvGrpSpPr>
          <p:cNvPr id="80" name="组合 79"/>
          <p:cNvGrpSpPr/>
          <p:nvPr/>
        </p:nvGrpSpPr>
        <p:grpSpPr>
          <a:xfrm>
            <a:off x="2210807" y="5408710"/>
            <a:ext cx="1098960" cy="182880"/>
            <a:chOff x="7038330" y="1443864"/>
            <a:chExt cx="1098960" cy="182880"/>
          </a:xfrm>
        </p:grpSpPr>
        <p:sp>
          <p:nvSpPr>
            <p:cNvPr id="81" name="Rectangle 10"/>
            <p:cNvSpPr>
              <a:spLocks noChangeArrowheads="1"/>
            </p:cNvSpPr>
            <p:nvPr/>
          </p:nvSpPr>
          <p:spPr bwMode="auto">
            <a:xfrm>
              <a:off x="7038330" y="1443864"/>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FF0000"/>
                  </a:solidFill>
                </a:rPr>
                <a:t>a</a:t>
              </a:r>
              <a:endParaRPr lang="zh-CN" altLang="en-US" sz="2400" b="1" dirty="0">
                <a:solidFill>
                  <a:srgbClr val="FF0000"/>
                </a:solidFill>
              </a:endParaRPr>
            </a:p>
          </p:txBody>
        </p:sp>
        <p:sp>
          <p:nvSpPr>
            <p:cNvPr id="82" name="Rectangle 10"/>
            <p:cNvSpPr>
              <a:spLocks noChangeArrowheads="1"/>
            </p:cNvSpPr>
            <p:nvPr/>
          </p:nvSpPr>
          <p:spPr bwMode="auto">
            <a:xfrm>
              <a:off x="7404090" y="1443864"/>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FFC000"/>
                  </a:solidFill>
                </a:rPr>
                <a:t>c</a:t>
              </a:r>
              <a:endParaRPr lang="zh-CN" altLang="en-US" sz="2400" b="1" dirty="0">
                <a:solidFill>
                  <a:srgbClr val="FFC000"/>
                </a:solidFill>
              </a:endParaRPr>
            </a:p>
          </p:txBody>
        </p:sp>
        <p:sp>
          <p:nvSpPr>
            <p:cNvPr id="83" name="Rectangle 10"/>
            <p:cNvSpPr>
              <a:spLocks noChangeArrowheads="1"/>
            </p:cNvSpPr>
            <p:nvPr/>
          </p:nvSpPr>
          <p:spPr bwMode="auto">
            <a:xfrm>
              <a:off x="7954410" y="1443864"/>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7030A0"/>
                  </a:solidFill>
                </a:rPr>
                <a:t>f</a:t>
              </a:r>
              <a:endParaRPr lang="zh-CN" altLang="en-US" sz="2400" b="1" dirty="0">
                <a:solidFill>
                  <a:srgbClr val="7030A0"/>
                </a:solidFill>
              </a:endParaRPr>
            </a:p>
          </p:txBody>
        </p:sp>
        <p:sp>
          <p:nvSpPr>
            <p:cNvPr id="84" name="Rectangle 10"/>
            <p:cNvSpPr>
              <a:spLocks noChangeArrowheads="1"/>
            </p:cNvSpPr>
            <p:nvPr/>
          </p:nvSpPr>
          <p:spPr bwMode="auto">
            <a:xfrm>
              <a:off x="7221210" y="1443864"/>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002060"/>
                  </a:solidFill>
                </a:rPr>
                <a:t>b</a:t>
              </a:r>
              <a:endParaRPr lang="zh-CN" altLang="en-US" b="1" dirty="0">
                <a:solidFill>
                  <a:srgbClr val="002060"/>
                </a:solidFill>
              </a:endParaRPr>
            </a:p>
          </p:txBody>
        </p:sp>
        <p:sp>
          <p:nvSpPr>
            <p:cNvPr id="85" name="Rectangle 10"/>
            <p:cNvSpPr>
              <a:spLocks noChangeArrowheads="1"/>
            </p:cNvSpPr>
            <p:nvPr/>
          </p:nvSpPr>
          <p:spPr bwMode="auto">
            <a:xfrm>
              <a:off x="7586970" y="1443864"/>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00B050"/>
                  </a:solidFill>
                </a:rPr>
                <a:t>d</a:t>
              </a:r>
              <a:endParaRPr lang="zh-CN" altLang="en-US" b="1" dirty="0">
                <a:solidFill>
                  <a:srgbClr val="00B050"/>
                </a:solidFill>
              </a:endParaRPr>
            </a:p>
          </p:txBody>
        </p:sp>
        <p:sp>
          <p:nvSpPr>
            <p:cNvPr id="86" name="Rectangle 10"/>
            <p:cNvSpPr>
              <a:spLocks noChangeArrowheads="1"/>
            </p:cNvSpPr>
            <p:nvPr/>
          </p:nvSpPr>
          <p:spPr bwMode="auto">
            <a:xfrm>
              <a:off x="7771535" y="1443864"/>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002060"/>
                  </a:solidFill>
                </a:rPr>
                <a:t>e</a:t>
              </a:r>
              <a:endParaRPr lang="zh-CN" altLang="en-US" b="1" dirty="0">
                <a:solidFill>
                  <a:srgbClr val="002060"/>
                </a:solidFill>
              </a:endParaRPr>
            </a:p>
          </p:txBody>
        </p:sp>
      </p:grpSp>
      <p:sp>
        <p:nvSpPr>
          <p:cNvPr id="54" name="Rectangle 9"/>
          <p:cNvSpPr>
            <a:spLocks noChangeArrowheads="1"/>
          </p:cNvSpPr>
          <p:nvPr/>
        </p:nvSpPr>
        <p:spPr bwMode="auto">
          <a:xfrm>
            <a:off x="1669059" y="2484482"/>
            <a:ext cx="1463040" cy="137160"/>
          </a:xfrm>
          <a:prstGeom prst="rect">
            <a:avLst/>
          </a:prstGeom>
          <a:solidFill>
            <a:srgbClr val="000080"/>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ndParaRPr>
          </a:p>
        </p:txBody>
      </p:sp>
      <p:sp>
        <p:nvSpPr>
          <p:cNvPr id="55" name="Rectangle 10"/>
          <p:cNvSpPr>
            <a:spLocks noChangeArrowheads="1"/>
          </p:cNvSpPr>
          <p:nvPr/>
        </p:nvSpPr>
        <p:spPr bwMode="auto">
          <a:xfrm>
            <a:off x="2040262" y="2118722"/>
            <a:ext cx="731520" cy="137160"/>
          </a:xfrm>
          <a:prstGeom prst="rect">
            <a:avLst/>
          </a:prstGeom>
          <a:solidFill>
            <a:srgbClr val="000080"/>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ndParaRPr>
          </a:p>
        </p:txBody>
      </p:sp>
      <p:sp>
        <p:nvSpPr>
          <p:cNvPr id="56" name="Rectangle 16"/>
          <p:cNvSpPr>
            <a:spLocks noChangeArrowheads="1"/>
          </p:cNvSpPr>
          <p:nvPr/>
        </p:nvSpPr>
        <p:spPr bwMode="auto">
          <a:xfrm>
            <a:off x="2308962" y="1752962"/>
            <a:ext cx="182880" cy="137160"/>
          </a:xfrm>
          <a:prstGeom prst="rect">
            <a:avLst/>
          </a:prstGeom>
          <a:solidFill>
            <a:srgbClr val="FFFF00"/>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prstClr val="black"/>
              </a:solidFill>
            </a:endParaRPr>
          </a:p>
        </p:txBody>
      </p:sp>
      <p:sp>
        <p:nvSpPr>
          <p:cNvPr id="57" name="Text Box 17"/>
          <p:cNvSpPr txBox="1">
            <a:spLocks noChangeArrowheads="1"/>
          </p:cNvSpPr>
          <p:nvPr/>
        </p:nvSpPr>
        <p:spPr bwMode="auto">
          <a:xfrm>
            <a:off x="1269815" y="1513543"/>
            <a:ext cx="285335" cy="1846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r>
              <a:rPr lang="en-US" altLang="zh-CN" sz="1200" dirty="0" smtClean="0">
                <a:solidFill>
                  <a:prstClr val="black"/>
                </a:solidFill>
              </a:rPr>
              <a:t>HDD</a:t>
            </a:r>
            <a:endParaRPr lang="zh-CN" altLang="en-US" sz="1200" dirty="0">
              <a:solidFill>
                <a:prstClr val="black"/>
              </a:solidFill>
            </a:endParaRPr>
          </a:p>
        </p:txBody>
      </p:sp>
      <p:sp>
        <p:nvSpPr>
          <p:cNvPr id="58" name="Rectangle 10"/>
          <p:cNvSpPr>
            <a:spLocks noChangeArrowheads="1"/>
          </p:cNvSpPr>
          <p:nvPr/>
        </p:nvSpPr>
        <p:spPr bwMode="auto">
          <a:xfrm>
            <a:off x="895356" y="1544393"/>
            <a:ext cx="274320" cy="137160"/>
          </a:xfrm>
          <a:prstGeom prst="rect">
            <a:avLst/>
          </a:prstGeom>
          <a:solidFill>
            <a:srgbClr val="002060"/>
          </a:solidFill>
          <a:ln w="9525" cap="flat" cmpd="sng">
            <a:solidFill>
              <a:schemeClr val="tx1"/>
            </a:solidFill>
            <a:miter lim="800000"/>
            <a:headEnd/>
            <a:tailEnd/>
          </a:ln>
          <a:effectLst/>
          <a:extLst/>
        </p:spPr>
        <p:txBody>
          <a:bodyPr wrap="none" anchor="ctr"/>
          <a:lstStyle/>
          <a:p>
            <a:endParaRPr lang="zh-CN" altLang="en-US" sz="1200">
              <a:solidFill>
                <a:prstClr val="black"/>
              </a:solidFill>
            </a:endParaRPr>
          </a:p>
        </p:txBody>
      </p:sp>
      <p:sp>
        <p:nvSpPr>
          <p:cNvPr id="60" name="箭头 379"/>
          <p:cNvSpPr>
            <a:spLocks noChangeShapeType="1"/>
          </p:cNvSpPr>
          <p:nvPr/>
        </p:nvSpPr>
        <p:spPr bwMode="auto">
          <a:xfrm flipH="1">
            <a:off x="1685936" y="2168416"/>
            <a:ext cx="343472" cy="305747"/>
          </a:xfrm>
          <a:custGeom>
            <a:avLst/>
            <a:gdLst>
              <a:gd name="connsiteX0" fmla="*/ 0 w 10000"/>
              <a:gd name="connsiteY0" fmla="*/ 0 h 10000"/>
              <a:gd name="connsiteX1" fmla="*/ 10000 w 10000"/>
              <a:gd name="connsiteY1" fmla="*/ 10000 h 10000"/>
              <a:gd name="connsiteX0" fmla="*/ 0 w 10000"/>
              <a:gd name="connsiteY0" fmla="*/ 0 h 10000"/>
              <a:gd name="connsiteX1" fmla="*/ 10000 w 10000"/>
              <a:gd name="connsiteY1" fmla="*/ 4196 h 10000"/>
              <a:gd name="connsiteX2" fmla="*/ 10000 w 10000"/>
              <a:gd name="connsiteY2" fmla="*/ 10000 h 10000"/>
              <a:gd name="connsiteX0" fmla="*/ 0 w 101010"/>
              <a:gd name="connsiteY0" fmla="*/ 0 h 10000"/>
              <a:gd name="connsiteX1" fmla="*/ 101010 w 101010"/>
              <a:gd name="connsiteY1" fmla="*/ 5597 h 10000"/>
              <a:gd name="connsiteX2" fmla="*/ 10000 w 101010"/>
              <a:gd name="connsiteY2" fmla="*/ 10000 h 10000"/>
              <a:gd name="connsiteX0" fmla="*/ 0 w 101031"/>
              <a:gd name="connsiteY0" fmla="*/ 0 h 10000"/>
              <a:gd name="connsiteX1" fmla="*/ 101010 w 101031"/>
              <a:gd name="connsiteY1" fmla="*/ 5597 h 10000"/>
              <a:gd name="connsiteX2" fmla="*/ 10000 w 101031"/>
              <a:gd name="connsiteY2" fmla="*/ 10000 h 10000"/>
              <a:gd name="connsiteX0" fmla="*/ 0 w 101031"/>
              <a:gd name="connsiteY0" fmla="*/ 0 h 10000"/>
              <a:gd name="connsiteX1" fmla="*/ 101010 w 101031"/>
              <a:gd name="connsiteY1" fmla="*/ 4396 h 10000"/>
              <a:gd name="connsiteX2" fmla="*/ 10000 w 101031"/>
              <a:gd name="connsiteY2" fmla="*/ 10000 h 10000"/>
              <a:gd name="connsiteX0" fmla="*/ 0 w 270965"/>
              <a:gd name="connsiteY0" fmla="*/ 0 h 9600"/>
              <a:gd name="connsiteX1" fmla="*/ 266483 w 270965"/>
              <a:gd name="connsiteY1" fmla="*/ 3996 h 9600"/>
              <a:gd name="connsiteX2" fmla="*/ 175473 w 270965"/>
              <a:gd name="connsiteY2" fmla="*/ 9600 h 9600"/>
              <a:gd name="connsiteX0" fmla="*/ 0 w 7173"/>
              <a:gd name="connsiteY0" fmla="*/ 0 h 10000"/>
              <a:gd name="connsiteX1" fmla="*/ 6782 w 7173"/>
              <a:gd name="connsiteY1" fmla="*/ 3329 h 10000"/>
              <a:gd name="connsiteX2" fmla="*/ 6476 w 7173"/>
              <a:gd name="connsiteY2" fmla="*/ 10000 h 10000"/>
              <a:gd name="connsiteX0" fmla="*/ 0 w 10912"/>
              <a:gd name="connsiteY0" fmla="*/ 0 h 9444"/>
              <a:gd name="connsiteX1" fmla="*/ 10306 w 10912"/>
              <a:gd name="connsiteY1" fmla="*/ 2773 h 9444"/>
              <a:gd name="connsiteX2" fmla="*/ 9879 w 10912"/>
              <a:gd name="connsiteY2" fmla="*/ 9444 h 9444"/>
              <a:gd name="connsiteX0" fmla="*/ 0 w 9244"/>
              <a:gd name="connsiteY0" fmla="*/ 0 h 10000"/>
              <a:gd name="connsiteX1" fmla="*/ 8405 w 9244"/>
              <a:gd name="connsiteY1" fmla="*/ 2642 h 10000"/>
              <a:gd name="connsiteX2" fmla="*/ 9053 w 9244"/>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9700"/>
              <a:gd name="connsiteY0" fmla="*/ 0 h 10589"/>
              <a:gd name="connsiteX1" fmla="*/ 8811 w 9700"/>
              <a:gd name="connsiteY1" fmla="*/ 3231 h 10589"/>
              <a:gd name="connsiteX2" fmla="*/ 9512 w 9700"/>
              <a:gd name="connsiteY2" fmla="*/ 10589 h 10589"/>
              <a:gd name="connsiteX0" fmla="*/ 0 w 10000"/>
              <a:gd name="connsiteY0" fmla="*/ 0 h 10000"/>
              <a:gd name="connsiteX1" fmla="*/ 9084 w 10000"/>
              <a:gd name="connsiteY1" fmla="*/ 3051 h 10000"/>
              <a:gd name="connsiteX2" fmla="*/ 9806 w 10000"/>
              <a:gd name="connsiteY2" fmla="*/ 10000 h 10000"/>
              <a:gd name="connsiteX0" fmla="*/ 0 w 10000"/>
              <a:gd name="connsiteY0" fmla="*/ 0 h 10000"/>
              <a:gd name="connsiteX1" fmla="*/ 9084 w 10000"/>
              <a:gd name="connsiteY1" fmla="*/ 3051 h 10000"/>
              <a:gd name="connsiteX2" fmla="*/ 9806 w 10000"/>
              <a:gd name="connsiteY2" fmla="*/ 10000 h 10000"/>
              <a:gd name="connsiteX0" fmla="*/ 0 w 10386"/>
              <a:gd name="connsiteY0" fmla="*/ 0 h 10973"/>
              <a:gd name="connsiteX1" fmla="*/ 9084 w 10386"/>
              <a:gd name="connsiteY1" fmla="*/ 3051 h 10973"/>
              <a:gd name="connsiteX2" fmla="*/ 10386 w 10386"/>
              <a:gd name="connsiteY2" fmla="*/ 10973 h 10973"/>
              <a:gd name="connsiteX0" fmla="*/ 0 w 10414"/>
              <a:gd name="connsiteY0" fmla="*/ 0 h 10973"/>
              <a:gd name="connsiteX1" fmla="*/ 9084 w 10414"/>
              <a:gd name="connsiteY1" fmla="*/ 3051 h 10973"/>
              <a:gd name="connsiteX2" fmla="*/ 10290 w 10414"/>
              <a:gd name="connsiteY2" fmla="*/ 6669 h 10973"/>
              <a:gd name="connsiteX3" fmla="*/ 10386 w 10414"/>
              <a:gd name="connsiteY3" fmla="*/ 10973 h 10973"/>
              <a:gd name="connsiteX0" fmla="*/ 0 w 10641"/>
              <a:gd name="connsiteY0" fmla="*/ 0 h 10973"/>
              <a:gd name="connsiteX1" fmla="*/ 9084 w 10641"/>
              <a:gd name="connsiteY1" fmla="*/ 3051 h 10973"/>
              <a:gd name="connsiteX2" fmla="*/ 10580 w 10641"/>
              <a:gd name="connsiteY2" fmla="*/ 6113 h 10973"/>
              <a:gd name="connsiteX3" fmla="*/ 10386 w 10641"/>
              <a:gd name="connsiteY3" fmla="*/ 10973 h 10973"/>
              <a:gd name="connsiteX0" fmla="*/ 0 w 10641"/>
              <a:gd name="connsiteY0" fmla="*/ 0 h 10973"/>
              <a:gd name="connsiteX1" fmla="*/ 7924 w 10641"/>
              <a:gd name="connsiteY1" fmla="*/ 2634 h 10973"/>
              <a:gd name="connsiteX2" fmla="*/ 10580 w 10641"/>
              <a:gd name="connsiteY2" fmla="*/ 6113 h 10973"/>
              <a:gd name="connsiteX3" fmla="*/ 10386 w 10641"/>
              <a:gd name="connsiteY3" fmla="*/ 10973 h 10973"/>
              <a:gd name="connsiteX0" fmla="*/ 0 w 11801"/>
              <a:gd name="connsiteY0" fmla="*/ 0 h 10973"/>
              <a:gd name="connsiteX1" fmla="*/ 9084 w 11801"/>
              <a:gd name="connsiteY1" fmla="*/ 2634 h 10973"/>
              <a:gd name="connsiteX2" fmla="*/ 11740 w 11801"/>
              <a:gd name="connsiteY2" fmla="*/ 6113 h 10973"/>
              <a:gd name="connsiteX3" fmla="*/ 11546 w 11801"/>
              <a:gd name="connsiteY3" fmla="*/ 10973 h 10973"/>
              <a:gd name="connsiteX0" fmla="*/ 0 w 11801"/>
              <a:gd name="connsiteY0" fmla="*/ 0 h 10973"/>
              <a:gd name="connsiteX1" fmla="*/ 9084 w 11801"/>
              <a:gd name="connsiteY1" fmla="*/ 2634 h 10973"/>
              <a:gd name="connsiteX2" fmla="*/ 11740 w 11801"/>
              <a:gd name="connsiteY2" fmla="*/ 6113 h 10973"/>
              <a:gd name="connsiteX3" fmla="*/ 11546 w 11801"/>
              <a:gd name="connsiteY3" fmla="*/ 10973 h 10973"/>
              <a:gd name="connsiteX0" fmla="*/ 0 w 11546"/>
              <a:gd name="connsiteY0" fmla="*/ 0 h 10973"/>
              <a:gd name="connsiteX1" fmla="*/ 9084 w 11546"/>
              <a:gd name="connsiteY1" fmla="*/ 2634 h 10973"/>
              <a:gd name="connsiteX2" fmla="*/ 11546 w 11546"/>
              <a:gd name="connsiteY2" fmla="*/ 10973 h 10973"/>
              <a:gd name="connsiteX0" fmla="*/ 0 w 11911"/>
              <a:gd name="connsiteY0" fmla="*/ 0 h 7741"/>
              <a:gd name="connsiteX1" fmla="*/ 9084 w 11911"/>
              <a:gd name="connsiteY1" fmla="*/ 2634 h 7741"/>
              <a:gd name="connsiteX2" fmla="*/ 11911 w 11911"/>
              <a:gd name="connsiteY2" fmla="*/ 7741 h 7741"/>
              <a:gd name="connsiteX0" fmla="*/ 0 w 10000"/>
              <a:gd name="connsiteY0" fmla="*/ 0 h 10000"/>
              <a:gd name="connsiteX1" fmla="*/ 6809 w 10000"/>
              <a:gd name="connsiteY1" fmla="*/ 2595 h 10000"/>
              <a:gd name="connsiteX2" fmla="*/ 10000 w 10000"/>
              <a:gd name="connsiteY2" fmla="*/ 10000 h 10000"/>
              <a:gd name="connsiteX0" fmla="*/ 0 w 9898"/>
              <a:gd name="connsiteY0" fmla="*/ 0 h 10404"/>
              <a:gd name="connsiteX1" fmla="*/ 6707 w 9898"/>
              <a:gd name="connsiteY1" fmla="*/ 2999 h 10404"/>
              <a:gd name="connsiteX2" fmla="*/ 9898 w 9898"/>
              <a:gd name="connsiteY2" fmla="*/ 10404 h 10404"/>
              <a:gd name="connsiteX0" fmla="*/ 0 w 10000"/>
              <a:gd name="connsiteY0" fmla="*/ 0 h 10388"/>
              <a:gd name="connsiteX1" fmla="*/ 6776 w 10000"/>
              <a:gd name="connsiteY1" fmla="*/ 2883 h 10388"/>
              <a:gd name="connsiteX2" fmla="*/ 10000 w 10000"/>
              <a:gd name="connsiteY2" fmla="*/ 10388 h 10388"/>
              <a:gd name="connsiteX0" fmla="*/ 0 w 9311"/>
              <a:gd name="connsiteY0" fmla="*/ 0 h 10388"/>
              <a:gd name="connsiteX1" fmla="*/ 6087 w 9311"/>
              <a:gd name="connsiteY1" fmla="*/ 2883 h 10388"/>
              <a:gd name="connsiteX2" fmla="*/ 9311 w 9311"/>
              <a:gd name="connsiteY2" fmla="*/ 10388 h 10388"/>
            </a:gdLst>
            <a:ahLst/>
            <a:cxnLst>
              <a:cxn ang="0">
                <a:pos x="connsiteX0" y="connsiteY0"/>
              </a:cxn>
              <a:cxn ang="0">
                <a:pos x="connsiteX1" y="connsiteY1"/>
              </a:cxn>
              <a:cxn ang="0">
                <a:pos x="connsiteX2" y="connsiteY2"/>
              </a:cxn>
            </a:cxnLst>
            <a:rect l="l" t="t" r="r" b="b"/>
            <a:pathLst>
              <a:path w="9311" h="10388">
                <a:moveTo>
                  <a:pt x="0" y="0"/>
                </a:moveTo>
                <a:cubicBezTo>
                  <a:pt x="3470" y="688"/>
                  <a:pt x="4535" y="1152"/>
                  <a:pt x="6087" y="2883"/>
                </a:cubicBezTo>
                <a:cubicBezTo>
                  <a:pt x="7639" y="4614"/>
                  <a:pt x="8876" y="8231"/>
                  <a:pt x="9311" y="10388"/>
                </a:cubicBezTo>
              </a:path>
            </a:pathLst>
          </a:custGeom>
          <a:noFill/>
          <a:ln w="12700" cap="flat"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a:solidFill>
                <a:prstClr val="black"/>
              </a:solidFill>
            </a:endParaRPr>
          </a:p>
        </p:txBody>
      </p:sp>
      <p:sp>
        <p:nvSpPr>
          <p:cNvPr id="61" name="箭头 379"/>
          <p:cNvSpPr>
            <a:spLocks noChangeShapeType="1"/>
          </p:cNvSpPr>
          <p:nvPr/>
        </p:nvSpPr>
        <p:spPr bwMode="auto">
          <a:xfrm flipH="1">
            <a:off x="2069680" y="1839760"/>
            <a:ext cx="215052" cy="273956"/>
          </a:xfrm>
          <a:custGeom>
            <a:avLst/>
            <a:gdLst>
              <a:gd name="connsiteX0" fmla="*/ 0 w 10000"/>
              <a:gd name="connsiteY0" fmla="*/ 0 h 10000"/>
              <a:gd name="connsiteX1" fmla="*/ 10000 w 10000"/>
              <a:gd name="connsiteY1" fmla="*/ 10000 h 10000"/>
              <a:gd name="connsiteX0" fmla="*/ 0 w 10000"/>
              <a:gd name="connsiteY0" fmla="*/ 0 h 10000"/>
              <a:gd name="connsiteX1" fmla="*/ 10000 w 10000"/>
              <a:gd name="connsiteY1" fmla="*/ 4196 h 10000"/>
              <a:gd name="connsiteX2" fmla="*/ 10000 w 10000"/>
              <a:gd name="connsiteY2" fmla="*/ 10000 h 10000"/>
              <a:gd name="connsiteX0" fmla="*/ 0 w 101010"/>
              <a:gd name="connsiteY0" fmla="*/ 0 h 10000"/>
              <a:gd name="connsiteX1" fmla="*/ 101010 w 101010"/>
              <a:gd name="connsiteY1" fmla="*/ 5597 h 10000"/>
              <a:gd name="connsiteX2" fmla="*/ 10000 w 101010"/>
              <a:gd name="connsiteY2" fmla="*/ 10000 h 10000"/>
              <a:gd name="connsiteX0" fmla="*/ 0 w 101031"/>
              <a:gd name="connsiteY0" fmla="*/ 0 h 10000"/>
              <a:gd name="connsiteX1" fmla="*/ 101010 w 101031"/>
              <a:gd name="connsiteY1" fmla="*/ 5597 h 10000"/>
              <a:gd name="connsiteX2" fmla="*/ 10000 w 101031"/>
              <a:gd name="connsiteY2" fmla="*/ 10000 h 10000"/>
              <a:gd name="connsiteX0" fmla="*/ 0 w 101031"/>
              <a:gd name="connsiteY0" fmla="*/ 0 h 10000"/>
              <a:gd name="connsiteX1" fmla="*/ 101010 w 101031"/>
              <a:gd name="connsiteY1" fmla="*/ 4396 h 10000"/>
              <a:gd name="connsiteX2" fmla="*/ 10000 w 101031"/>
              <a:gd name="connsiteY2" fmla="*/ 10000 h 10000"/>
              <a:gd name="connsiteX0" fmla="*/ 0 w 270965"/>
              <a:gd name="connsiteY0" fmla="*/ 0 h 9600"/>
              <a:gd name="connsiteX1" fmla="*/ 266483 w 270965"/>
              <a:gd name="connsiteY1" fmla="*/ 3996 h 9600"/>
              <a:gd name="connsiteX2" fmla="*/ 175473 w 270965"/>
              <a:gd name="connsiteY2" fmla="*/ 9600 h 9600"/>
              <a:gd name="connsiteX0" fmla="*/ 0 w 7173"/>
              <a:gd name="connsiteY0" fmla="*/ 0 h 10000"/>
              <a:gd name="connsiteX1" fmla="*/ 6782 w 7173"/>
              <a:gd name="connsiteY1" fmla="*/ 3329 h 10000"/>
              <a:gd name="connsiteX2" fmla="*/ 6476 w 7173"/>
              <a:gd name="connsiteY2" fmla="*/ 10000 h 10000"/>
              <a:gd name="connsiteX0" fmla="*/ 0 w 10912"/>
              <a:gd name="connsiteY0" fmla="*/ 0 h 9444"/>
              <a:gd name="connsiteX1" fmla="*/ 10306 w 10912"/>
              <a:gd name="connsiteY1" fmla="*/ 2773 h 9444"/>
              <a:gd name="connsiteX2" fmla="*/ 9879 w 10912"/>
              <a:gd name="connsiteY2" fmla="*/ 9444 h 9444"/>
              <a:gd name="connsiteX0" fmla="*/ 0 w 9244"/>
              <a:gd name="connsiteY0" fmla="*/ 0 h 10000"/>
              <a:gd name="connsiteX1" fmla="*/ 8405 w 9244"/>
              <a:gd name="connsiteY1" fmla="*/ 2642 h 10000"/>
              <a:gd name="connsiteX2" fmla="*/ 9053 w 9244"/>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10000"/>
              <a:gd name="connsiteY0" fmla="*/ 0 h 10000"/>
              <a:gd name="connsiteX1" fmla="*/ 9092 w 10000"/>
              <a:gd name="connsiteY1" fmla="*/ 2642 h 10000"/>
              <a:gd name="connsiteX2" fmla="*/ 9793 w 10000"/>
              <a:gd name="connsiteY2" fmla="*/ 10000 h 10000"/>
              <a:gd name="connsiteX0" fmla="*/ 0 w 9700"/>
              <a:gd name="connsiteY0" fmla="*/ 0 h 10589"/>
              <a:gd name="connsiteX1" fmla="*/ 8811 w 9700"/>
              <a:gd name="connsiteY1" fmla="*/ 3231 h 10589"/>
              <a:gd name="connsiteX2" fmla="*/ 9512 w 9700"/>
              <a:gd name="connsiteY2" fmla="*/ 10589 h 10589"/>
              <a:gd name="connsiteX0" fmla="*/ 0 w 10000"/>
              <a:gd name="connsiteY0" fmla="*/ 0 h 10000"/>
              <a:gd name="connsiteX1" fmla="*/ 9084 w 10000"/>
              <a:gd name="connsiteY1" fmla="*/ 3051 h 10000"/>
              <a:gd name="connsiteX2" fmla="*/ 9806 w 10000"/>
              <a:gd name="connsiteY2" fmla="*/ 10000 h 10000"/>
              <a:gd name="connsiteX0" fmla="*/ 0 w 10000"/>
              <a:gd name="connsiteY0" fmla="*/ 0 h 10000"/>
              <a:gd name="connsiteX1" fmla="*/ 9084 w 10000"/>
              <a:gd name="connsiteY1" fmla="*/ 3051 h 10000"/>
              <a:gd name="connsiteX2" fmla="*/ 9806 w 10000"/>
              <a:gd name="connsiteY2" fmla="*/ 10000 h 10000"/>
              <a:gd name="connsiteX0" fmla="*/ 0 w 10386"/>
              <a:gd name="connsiteY0" fmla="*/ 0 h 10973"/>
              <a:gd name="connsiteX1" fmla="*/ 9084 w 10386"/>
              <a:gd name="connsiteY1" fmla="*/ 3051 h 10973"/>
              <a:gd name="connsiteX2" fmla="*/ 10386 w 10386"/>
              <a:gd name="connsiteY2" fmla="*/ 10973 h 10973"/>
              <a:gd name="connsiteX0" fmla="*/ 0 w 10414"/>
              <a:gd name="connsiteY0" fmla="*/ 0 h 10973"/>
              <a:gd name="connsiteX1" fmla="*/ 9084 w 10414"/>
              <a:gd name="connsiteY1" fmla="*/ 3051 h 10973"/>
              <a:gd name="connsiteX2" fmla="*/ 10290 w 10414"/>
              <a:gd name="connsiteY2" fmla="*/ 6669 h 10973"/>
              <a:gd name="connsiteX3" fmla="*/ 10386 w 10414"/>
              <a:gd name="connsiteY3" fmla="*/ 10973 h 10973"/>
              <a:gd name="connsiteX0" fmla="*/ 0 w 10641"/>
              <a:gd name="connsiteY0" fmla="*/ 0 h 10973"/>
              <a:gd name="connsiteX1" fmla="*/ 9084 w 10641"/>
              <a:gd name="connsiteY1" fmla="*/ 3051 h 10973"/>
              <a:gd name="connsiteX2" fmla="*/ 10580 w 10641"/>
              <a:gd name="connsiteY2" fmla="*/ 6113 h 10973"/>
              <a:gd name="connsiteX3" fmla="*/ 10386 w 10641"/>
              <a:gd name="connsiteY3" fmla="*/ 10973 h 10973"/>
              <a:gd name="connsiteX0" fmla="*/ 0 w 10641"/>
              <a:gd name="connsiteY0" fmla="*/ 0 h 10973"/>
              <a:gd name="connsiteX1" fmla="*/ 7924 w 10641"/>
              <a:gd name="connsiteY1" fmla="*/ 2634 h 10973"/>
              <a:gd name="connsiteX2" fmla="*/ 10580 w 10641"/>
              <a:gd name="connsiteY2" fmla="*/ 6113 h 10973"/>
              <a:gd name="connsiteX3" fmla="*/ 10386 w 10641"/>
              <a:gd name="connsiteY3" fmla="*/ 10973 h 10973"/>
              <a:gd name="connsiteX0" fmla="*/ 0 w 11801"/>
              <a:gd name="connsiteY0" fmla="*/ 0 h 10973"/>
              <a:gd name="connsiteX1" fmla="*/ 9084 w 11801"/>
              <a:gd name="connsiteY1" fmla="*/ 2634 h 10973"/>
              <a:gd name="connsiteX2" fmla="*/ 11740 w 11801"/>
              <a:gd name="connsiteY2" fmla="*/ 6113 h 10973"/>
              <a:gd name="connsiteX3" fmla="*/ 11546 w 11801"/>
              <a:gd name="connsiteY3" fmla="*/ 10973 h 10973"/>
              <a:gd name="connsiteX0" fmla="*/ 0 w 11801"/>
              <a:gd name="connsiteY0" fmla="*/ 0 h 10973"/>
              <a:gd name="connsiteX1" fmla="*/ 9084 w 11801"/>
              <a:gd name="connsiteY1" fmla="*/ 2634 h 10973"/>
              <a:gd name="connsiteX2" fmla="*/ 11740 w 11801"/>
              <a:gd name="connsiteY2" fmla="*/ 6113 h 10973"/>
              <a:gd name="connsiteX3" fmla="*/ 11546 w 11801"/>
              <a:gd name="connsiteY3" fmla="*/ 10973 h 10973"/>
              <a:gd name="connsiteX0" fmla="*/ 0 w 11546"/>
              <a:gd name="connsiteY0" fmla="*/ 0 h 10973"/>
              <a:gd name="connsiteX1" fmla="*/ 9084 w 11546"/>
              <a:gd name="connsiteY1" fmla="*/ 2634 h 10973"/>
              <a:gd name="connsiteX2" fmla="*/ 11546 w 11546"/>
              <a:gd name="connsiteY2" fmla="*/ 10973 h 10973"/>
              <a:gd name="connsiteX0" fmla="*/ 0 w 11546"/>
              <a:gd name="connsiteY0" fmla="*/ 0 h 8367"/>
              <a:gd name="connsiteX1" fmla="*/ 9084 w 11546"/>
              <a:gd name="connsiteY1" fmla="*/ 2634 h 8367"/>
              <a:gd name="connsiteX2" fmla="*/ 11546 w 11546"/>
              <a:gd name="connsiteY2" fmla="*/ 8367 h 8367"/>
              <a:gd name="connsiteX0" fmla="*/ 0 w 10000"/>
              <a:gd name="connsiteY0" fmla="*/ 0 h 10000"/>
              <a:gd name="connsiteX1" fmla="*/ 6978 w 10000"/>
              <a:gd name="connsiteY1" fmla="*/ 3397 h 10000"/>
              <a:gd name="connsiteX2" fmla="*/ 10000 w 10000"/>
              <a:gd name="connsiteY2" fmla="*/ 10000 h 10000"/>
              <a:gd name="connsiteX0" fmla="*/ 0 w 10297"/>
              <a:gd name="connsiteY0" fmla="*/ 0 h 11744"/>
              <a:gd name="connsiteX1" fmla="*/ 6978 w 10297"/>
              <a:gd name="connsiteY1" fmla="*/ 3397 h 11744"/>
              <a:gd name="connsiteX2" fmla="*/ 10297 w 10297"/>
              <a:gd name="connsiteY2" fmla="*/ 11744 h 11744"/>
              <a:gd name="connsiteX0" fmla="*/ 0 w 9424"/>
              <a:gd name="connsiteY0" fmla="*/ 0 h 10425"/>
              <a:gd name="connsiteX1" fmla="*/ 6978 w 9424"/>
              <a:gd name="connsiteY1" fmla="*/ 3397 h 10425"/>
              <a:gd name="connsiteX2" fmla="*/ 9424 w 9424"/>
              <a:gd name="connsiteY2" fmla="*/ 10425 h 10425"/>
              <a:gd name="connsiteX0" fmla="*/ 0 w 9259"/>
              <a:gd name="connsiteY0" fmla="*/ 0 h 9297"/>
              <a:gd name="connsiteX1" fmla="*/ 6663 w 9259"/>
              <a:gd name="connsiteY1" fmla="*/ 2556 h 9297"/>
              <a:gd name="connsiteX2" fmla="*/ 9259 w 9259"/>
              <a:gd name="connsiteY2" fmla="*/ 9297 h 9297"/>
              <a:gd name="connsiteX0" fmla="*/ 0 w 9600"/>
              <a:gd name="connsiteY0" fmla="*/ 0 h 9244"/>
              <a:gd name="connsiteX1" fmla="*/ 7196 w 9600"/>
              <a:gd name="connsiteY1" fmla="*/ 2749 h 9244"/>
              <a:gd name="connsiteX2" fmla="*/ 9600 w 9600"/>
              <a:gd name="connsiteY2" fmla="*/ 9244 h 9244"/>
              <a:gd name="connsiteX0" fmla="*/ 0 w 10000"/>
              <a:gd name="connsiteY0" fmla="*/ 0 h 10000"/>
              <a:gd name="connsiteX1" fmla="*/ 6871 w 10000"/>
              <a:gd name="connsiteY1" fmla="*/ 2974 h 10000"/>
              <a:gd name="connsiteX2" fmla="*/ 10000 w 10000"/>
              <a:gd name="connsiteY2" fmla="*/ 10000 h 10000"/>
            </a:gdLst>
            <a:ahLst/>
            <a:cxnLst>
              <a:cxn ang="0">
                <a:pos x="connsiteX0" y="connsiteY0"/>
              </a:cxn>
              <a:cxn ang="0">
                <a:pos x="connsiteX1" y="connsiteY1"/>
              </a:cxn>
              <a:cxn ang="0">
                <a:pos x="connsiteX2" y="connsiteY2"/>
              </a:cxn>
            </a:cxnLst>
            <a:rect l="l" t="t" r="r" b="b"/>
            <a:pathLst>
              <a:path w="10000" h="10000">
                <a:moveTo>
                  <a:pt x="0" y="0"/>
                </a:moveTo>
                <a:cubicBezTo>
                  <a:pt x="4230" y="739"/>
                  <a:pt x="5204" y="1307"/>
                  <a:pt x="6871" y="2974"/>
                </a:cubicBezTo>
                <a:cubicBezTo>
                  <a:pt x="8538" y="4641"/>
                  <a:pt x="9470" y="7683"/>
                  <a:pt x="10000" y="10000"/>
                </a:cubicBezTo>
              </a:path>
            </a:pathLst>
          </a:custGeom>
          <a:noFill/>
          <a:ln w="12700" cap="flat" cmpd="sng">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prstClr val="black"/>
              </a:solidFill>
            </a:endParaRPr>
          </a:p>
        </p:txBody>
      </p:sp>
      <p:sp>
        <p:nvSpPr>
          <p:cNvPr id="63" name="TextBox 62"/>
          <p:cNvSpPr txBox="1"/>
          <p:nvPr/>
        </p:nvSpPr>
        <p:spPr>
          <a:xfrm>
            <a:off x="2186879" y="1175893"/>
            <a:ext cx="445315" cy="215444"/>
          </a:xfrm>
          <a:prstGeom prst="rect">
            <a:avLst/>
          </a:prstGeom>
          <a:noFill/>
        </p:spPr>
        <p:txBody>
          <a:bodyPr wrap="none" lIns="0" tIns="0" rIns="0" bIns="0" rtlCol="0">
            <a:spAutoFit/>
          </a:bodyPr>
          <a:lstStyle/>
          <a:p>
            <a:r>
              <a:rPr lang="en-US" altLang="zh-CN" sz="1400" i="1" dirty="0" smtClean="0"/>
              <a:t>writes</a:t>
            </a:r>
            <a:endParaRPr lang="zh-CN" altLang="en-US" sz="1400" i="1" dirty="0"/>
          </a:p>
        </p:txBody>
      </p:sp>
      <p:cxnSp>
        <p:nvCxnSpPr>
          <p:cNvPr id="64" name="直接箭头连接符 63"/>
          <p:cNvCxnSpPr/>
          <p:nvPr/>
        </p:nvCxnSpPr>
        <p:spPr>
          <a:xfrm flipH="1">
            <a:off x="2400403" y="1432720"/>
            <a:ext cx="5619" cy="30224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1064201" y="2086774"/>
            <a:ext cx="720967" cy="307777"/>
          </a:xfrm>
          <a:prstGeom prst="rect">
            <a:avLst/>
          </a:prstGeom>
          <a:noFill/>
        </p:spPr>
        <p:txBody>
          <a:bodyPr wrap="none" rtlCol="0">
            <a:spAutoFit/>
          </a:bodyPr>
          <a:lstStyle/>
          <a:p>
            <a:r>
              <a:rPr lang="en-US" altLang="zh-CN" sz="1400" i="1" dirty="0" smtClean="0"/>
              <a:t>merges</a:t>
            </a:r>
            <a:endParaRPr lang="zh-CN" altLang="en-US" sz="1400" i="1" dirty="0"/>
          </a:p>
        </p:txBody>
      </p:sp>
      <p:sp>
        <p:nvSpPr>
          <p:cNvPr id="66" name="TextBox 65"/>
          <p:cNvSpPr txBox="1"/>
          <p:nvPr/>
        </p:nvSpPr>
        <p:spPr>
          <a:xfrm>
            <a:off x="2534286" y="1729199"/>
            <a:ext cx="157094" cy="215444"/>
          </a:xfrm>
          <a:prstGeom prst="rect">
            <a:avLst/>
          </a:prstGeom>
          <a:noFill/>
        </p:spPr>
        <p:txBody>
          <a:bodyPr wrap="none" lIns="0" tIns="0" rIns="0" bIns="0" rtlCol="0">
            <a:spAutoFit/>
          </a:bodyPr>
          <a:lstStyle/>
          <a:p>
            <a:r>
              <a:rPr lang="en-US" altLang="zh-CN" sz="1400" dirty="0" smtClean="0"/>
              <a:t>C</a:t>
            </a:r>
            <a:r>
              <a:rPr lang="en-US" altLang="zh-CN" sz="1400" baseline="-25000" dirty="0" smtClean="0"/>
              <a:t>0</a:t>
            </a:r>
            <a:endParaRPr lang="zh-CN" altLang="en-US" sz="1400" baseline="-25000" dirty="0"/>
          </a:p>
        </p:txBody>
      </p:sp>
      <p:sp>
        <p:nvSpPr>
          <p:cNvPr id="67" name="TextBox 66"/>
          <p:cNvSpPr txBox="1"/>
          <p:nvPr/>
        </p:nvSpPr>
        <p:spPr>
          <a:xfrm>
            <a:off x="2832891" y="2074566"/>
            <a:ext cx="157094" cy="215444"/>
          </a:xfrm>
          <a:prstGeom prst="rect">
            <a:avLst/>
          </a:prstGeom>
          <a:noFill/>
        </p:spPr>
        <p:txBody>
          <a:bodyPr wrap="none" lIns="0" tIns="0" rIns="0" bIns="0" rtlCol="0">
            <a:spAutoFit/>
          </a:bodyPr>
          <a:lstStyle/>
          <a:p>
            <a:r>
              <a:rPr lang="en-US" altLang="zh-CN" sz="1400" dirty="0" smtClean="0"/>
              <a:t>C</a:t>
            </a:r>
            <a:r>
              <a:rPr lang="en-US" altLang="zh-CN" sz="1400" baseline="-25000" dirty="0" smtClean="0"/>
              <a:t>1</a:t>
            </a:r>
            <a:endParaRPr lang="zh-CN" altLang="en-US" sz="1400" baseline="-25000" dirty="0"/>
          </a:p>
        </p:txBody>
      </p:sp>
      <p:sp>
        <p:nvSpPr>
          <p:cNvPr id="68" name="TextBox 67"/>
          <p:cNvSpPr txBox="1"/>
          <p:nvPr/>
        </p:nvSpPr>
        <p:spPr>
          <a:xfrm>
            <a:off x="3190254" y="2443996"/>
            <a:ext cx="157094" cy="215444"/>
          </a:xfrm>
          <a:prstGeom prst="rect">
            <a:avLst/>
          </a:prstGeom>
          <a:noFill/>
        </p:spPr>
        <p:txBody>
          <a:bodyPr wrap="none" lIns="0" tIns="0" rIns="0" bIns="0" rtlCol="0">
            <a:spAutoFit/>
          </a:bodyPr>
          <a:lstStyle/>
          <a:p>
            <a:r>
              <a:rPr lang="en-US" altLang="zh-CN" sz="1400" dirty="0" smtClean="0"/>
              <a:t>C</a:t>
            </a:r>
            <a:r>
              <a:rPr lang="en-US" altLang="zh-CN" sz="1400" baseline="-25000" dirty="0" smtClean="0"/>
              <a:t>2</a:t>
            </a:r>
            <a:endParaRPr lang="zh-CN" altLang="en-US" sz="1400" baseline="-25000" dirty="0"/>
          </a:p>
        </p:txBody>
      </p:sp>
      <p:sp>
        <p:nvSpPr>
          <p:cNvPr id="71" name="Text Box 17"/>
          <p:cNvSpPr txBox="1">
            <a:spLocks noChangeArrowheads="1"/>
          </p:cNvSpPr>
          <p:nvPr/>
        </p:nvSpPr>
        <p:spPr bwMode="auto">
          <a:xfrm>
            <a:off x="1269815" y="1284777"/>
            <a:ext cx="399148" cy="1846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r>
              <a:rPr lang="en-US" altLang="zh-CN" sz="1200" dirty="0" smtClean="0">
                <a:solidFill>
                  <a:prstClr val="black"/>
                </a:solidFill>
              </a:rPr>
              <a:t>DRAM</a:t>
            </a:r>
            <a:endParaRPr lang="zh-CN" altLang="en-US" sz="1200" dirty="0">
              <a:solidFill>
                <a:prstClr val="black"/>
              </a:solidFill>
            </a:endParaRPr>
          </a:p>
        </p:txBody>
      </p:sp>
      <p:sp>
        <p:nvSpPr>
          <p:cNvPr id="73" name="Rectangle 16"/>
          <p:cNvSpPr>
            <a:spLocks noChangeArrowheads="1"/>
          </p:cNvSpPr>
          <p:nvPr/>
        </p:nvSpPr>
        <p:spPr bwMode="auto">
          <a:xfrm>
            <a:off x="896561" y="1303848"/>
            <a:ext cx="274320" cy="137160"/>
          </a:xfrm>
          <a:prstGeom prst="rect">
            <a:avLst/>
          </a:prstGeom>
          <a:solidFill>
            <a:srgbClr val="FFFF00"/>
          </a:solidFill>
          <a:ln w="9525" cap="flat" cmpd="sng">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solidFill>
                <a:prstClr val="black"/>
              </a:solidFill>
            </a:endParaRPr>
          </a:p>
        </p:txBody>
      </p:sp>
      <p:grpSp>
        <p:nvGrpSpPr>
          <p:cNvPr id="37" name="组合 36"/>
          <p:cNvGrpSpPr/>
          <p:nvPr/>
        </p:nvGrpSpPr>
        <p:grpSpPr>
          <a:xfrm>
            <a:off x="2015280" y="4156225"/>
            <a:ext cx="914400" cy="364089"/>
            <a:chOff x="3787126" y="2294582"/>
            <a:chExt cx="914400" cy="364089"/>
          </a:xfrm>
        </p:grpSpPr>
        <p:sp>
          <p:nvSpPr>
            <p:cNvPr id="104" name="Rectangle 10"/>
            <p:cNvSpPr>
              <a:spLocks noChangeArrowheads="1"/>
            </p:cNvSpPr>
            <p:nvPr/>
          </p:nvSpPr>
          <p:spPr bwMode="auto">
            <a:xfrm>
              <a:off x="3787126" y="2294582"/>
              <a:ext cx="914400" cy="364089"/>
            </a:xfrm>
            <a:prstGeom prst="rect">
              <a:avLst/>
            </a:prstGeom>
            <a:noFill/>
            <a:ln w="6350" cap="flat" cmpd="sng">
              <a:solidFill>
                <a:schemeClr val="tx1"/>
              </a:solidFill>
              <a:miter lim="800000"/>
              <a:headEnd/>
              <a:tailEnd/>
            </a:ln>
            <a:effectLst/>
            <a:extLst/>
          </p:spPr>
          <p:txBody>
            <a:bodyPr wrap="none" anchor="ctr"/>
            <a:lstStyle/>
            <a:p>
              <a:endParaRPr lang="zh-CN" altLang="en-US">
                <a:solidFill>
                  <a:prstClr val="black"/>
                </a:solidFill>
              </a:endParaRPr>
            </a:p>
          </p:txBody>
        </p:sp>
        <p:cxnSp>
          <p:nvCxnSpPr>
            <p:cNvPr id="105" name="直接连接符 104"/>
            <p:cNvCxnSpPr>
              <a:stCxn id="104" idx="1"/>
              <a:endCxn id="104" idx="3"/>
            </p:cNvCxnSpPr>
            <p:nvPr/>
          </p:nvCxnSpPr>
          <p:spPr>
            <a:xfrm>
              <a:off x="3787126" y="2476627"/>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a:off x="4159237" y="2298392"/>
              <a:ext cx="0" cy="356616"/>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a:off x="3971912" y="2298392"/>
              <a:ext cx="0" cy="356616"/>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a:off x="4336880" y="2298392"/>
              <a:ext cx="0" cy="356616"/>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a:off x="4520552" y="2298392"/>
              <a:ext cx="0" cy="356616"/>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2" name="Rectangle 10"/>
          <p:cNvSpPr>
            <a:spLocks noChangeArrowheads="1"/>
          </p:cNvSpPr>
          <p:nvPr/>
        </p:nvSpPr>
        <p:spPr bwMode="auto">
          <a:xfrm>
            <a:off x="2210807" y="6016775"/>
            <a:ext cx="182880" cy="182880"/>
          </a:xfrm>
          <a:prstGeom prst="rect">
            <a:avLst/>
          </a:prstGeom>
          <a:solidFill>
            <a:schemeClr val="bg1"/>
          </a:solidFill>
          <a:ln w="9525" cap="flat" cmpd="sng">
            <a:solidFill>
              <a:schemeClr val="tx1"/>
            </a:solidFill>
            <a:miter lim="800000"/>
            <a:headEnd/>
            <a:tailEnd/>
          </a:ln>
          <a:effectLst/>
          <a:extLst/>
        </p:spPr>
        <p:txBody>
          <a:bodyPr wrap="none" anchor="ctr"/>
          <a:lstStyle/>
          <a:p>
            <a:pPr algn="ctr"/>
            <a:r>
              <a:rPr lang="en-US" altLang="zh-CN" b="1" dirty="0" smtClean="0">
                <a:solidFill>
                  <a:srgbClr val="FF0000"/>
                </a:solidFill>
              </a:rPr>
              <a:t>a</a:t>
            </a:r>
            <a:endParaRPr lang="zh-CN" altLang="en-US" sz="2400" b="1" dirty="0">
              <a:solidFill>
                <a:srgbClr val="FF0000"/>
              </a:solidFill>
            </a:endParaRPr>
          </a:p>
        </p:txBody>
      </p:sp>
      <p:sp>
        <p:nvSpPr>
          <p:cNvPr id="113" name="Rectangle 10"/>
          <p:cNvSpPr>
            <a:spLocks noChangeArrowheads="1"/>
          </p:cNvSpPr>
          <p:nvPr/>
        </p:nvSpPr>
        <p:spPr bwMode="auto">
          <a:xfrm>
            <a:off x="2576567" y="6016435"/>
            <a:ext cx="182880" cy="182880"/>
          </a:xfrm>
          <a:prstGeom prst="rect">
            <a:avLst/>
          </a:prstGeom>
          <a:solidFill>
            <a:schemeClr val="bg1">
              <a:lumMod val="65000"/>
            </a:schemeClr>
          </a:solidFill>
          <a:ln w="9525" cap="flat" cmpd="sng">
            <a:solidFill>
              <a:schemeClr val="tx1"/>
            </a:solidFill>
            <a:miter lim="800000"/>
            <a:headEnd/>
            <a:tailEnd/>
          </a:ln>
          <a:effectLst/>
          <a:extLst/>
        </p:spPr>
        <p:txBody>
          <a:bodyPr wrap="none" anchor="ctr"/>
          <a:lstStyle/>
          <a:p>
            <a:pPr algn="ctr"/>
            <a:r>
              <a:rPr lang="en-US" altLang="zh-CN" b="1" dirty="0" smtClean="0">
                <a:solidFill>
                  <a:srgbClr val="002060"/>
                </a:solidFill>
              </a:rPr>
              <a:t>e</a:t>
            </a:r>
            <a:endParaRPr lang="zh-CN" altLang="en-US" b="1" dirty="0">
              <a:solidFill>
                <a:srgbClr val="002060"/>
              </a:solidFill>
            </a:endParaRPr>
          </a:p>
        </p:txBody>
      </p:sp>
      <p:sp>
        <p:nvSpPr>
          <p:cNvPr id="114" name="Rectangle 10"/>
          <p:cNvSpPr>
            <a:spLocks noChangeArrowheads="1"/>
          </p:cNvSpPr>
          <p:nvPr/>
        </p:nvSpPr>
        <p:spPr bwMode="auto">
          <a:xfrm>
            <a:off x="2393687" y="6016775"/>
            <a:ext cx="182880" cy="182880"/>
          </a:xfrm>
          <a:prstGeom prst="rect">
            <a:avLst/>
          </a:prstGeom>
          <a:solidFill>
            <a:schemeClr val="bg1"/>
          </a:solidFill>
          <a:ln w="9525" cap="flat" cmpd="sng">
            <a:solidFill>
              <a:schemeClr val="tx1"/>
            </a:solidFill>
            <a:miter lim="800000"/>
            <a:headEnd/>
            <a:tailEnd/>
          </a:ln>
          <a:effectLst/>
          <a:extLst/>
        </p:spPr>
        <p:txBody>
          <a:bodyPr wrap="none" anchor="ctr"/>
          <a:lstStyle/>
          <a:p>
            <a:pPr algn="ctr"/>
            <a:r>
              <a:rPr lang="en-US" altLang="zh-CN" b="1" dirty="0" smtClean="0">
                <a:solidFill>
                  <a:srgbClr val="FFC000"/>
                </a:solidFill>
              </a:rPr>
              <a:t>c</a:t>
            </a:r>
            <a:endParaRPr lang="zh-CN" altLang="en-US" sz="2400" b="1" dirty="0">
              <a:solidFill>
                <a:srgbClr val="FFC000"/>
              </a:solidFill>
            </a:endParaRPr>
          </a:p>
        </p:txBody>
      </p:sp>
      <p:sp>
        <p:nvSpPr>
          <p:cNvPr id="119" name="TextBox 118"/>
          <p:cNvSpPr txBox="1"/>
          <p:nvPr/>
        </p:nvSpPr>
        <p:spPr>
          <a:xfrm>
            <a:off x="2004522" y="2427442"/>
            <a:ext cx="809517" cy="246221"/>
          </a:xfrm>
          <a:prstGeom prst="rect">
            <a:avLst/>
          </a:prstGeom>
          <a:noFill/>
        </p:spPr>
        <p:txBody>
          <a:bodyPr wrap="none" lIns="0" tIns="0" rIns="0" bIns="0" rtlCol="0">
            <a:spAutoFit/>
          </a:bodyPr>
          <a:lstStyle/>
          <a:p>
            <a:r>
              <a:rPr lang="en-US" altLang="zh-CN" sz="1600" b="1" dirty="0" smtClean="0">
                <a:solidFill>
                  <a:schemeClr val="bg1"/>
                </a:solidFill>
              </a:rPr>
              <a:t>a b c d e f</a:t>
            </a:r>
            <a:endParaRPr lang="zh-CN" altLang="en-US" sz="1600" b="1" dirty="0">
              <a:solidFill>
                <a:schemeClr val="bg1"/>
              </a:solidFill>
            </a:endParaRPr>
          </a:p>
        </p:txBody>
      </p:sp>
      <p:sp>
        <p:nvSpPr>
          <p:cNvPr id="126" name="TextBox 125"/>
          <p:cNvSpPr txBox="1"/>
          <p:nvPr/>
        </p:nvSpPr>
        <p:spPr>
          <a:xfrm>
            <a:off x="1420106" y="2589837"/>
            <a:ext cx="2128147" cy="369332"/>
          </a:xfrm>
          <a:prstGeom prst="rect">
            <a:avLst/>
          </a:prstGeom>
          <a:noFill/>
        </p:spPr>
        <p:txBody>
          <a:bodyPr wrap="none" rtlCol="0">
            <a:spAutoFit/>
          </a:bodyPr>
          <a:lstStyle/>
          <a:p>
            <a:r>
              <a:rPr lang="en-US" altLang="zh-CN" b="1" dirty="0"/>
              <a:t>u</a:t>
            </a:r>
            <a:r>
              <a:rPr lang="en-US" altLang="zh-CN" b="1" dirty="0" smtClean="0"/>
              <a:t>nderlying LSM-tree</a:t>
            </a:r>
            <a:endParaRPr lang="zh-CN" altLang="en-US" b="1" dirty="0"/>
          </a:p>
        </p:txBody>
      </p:sp>
      <p:cxnSp>
        <p:nvCxnSpPr>
          <p:cNvPr id="127" name="直接箭头连接符 126"/>
          <p:cNvCxnSpPr>
            <a:stCxn id="76" idx="2"/>
            <a:endCxn id="30" idx="0"/>
          </p:cNvCxnSpPr>
          <p:nvPr/>
        </p:nvCxnSpPr>
        <p:spPr>
          <a:xfrm>
            <a:off x="2839583" y="4527765"/>
            <a:ext cx="534462" cy="1299291"/>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8" name="直接箭头连接符 127"/>
          <p:cNvCxnSpPr>
            <a:stCxn id="75" idx="2"/>
            <a:endCxn id="27" idx="0"/>
          </p:cNvCxnSpPr>
          <p:nvPr/>
        </p:nvCxnSpPr>
        <p:spPr>
          <a:xfrm>
            <a:off x="2658573" y="4527765"/>
            <a:ext cx="532592" cy="1299291"/>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17" name="Rectangle 10"/>
          <p:cNvSpPr>
            <a:spLocks noChangeArrowheads="1"/>
          </p:cNvSpPr>
          <p:nvPr/>
        </p:nvSpPr>
        <p:spPr bwMode="auto">
          <a:xfrm>
            <a:off x="5571675" y="2112330"/>
            <a:ext cx="199396" cy="137160"/>
          </a:xfrm>
          <a:prstGeom prst="rect">
            <a:avLst/>
          </a:prstGeom>
          <a:solidFill>
            <a:srgbClr val="92D050"/>
          </a:solidFill>
          <a:ln w="9525" cap="flat" cmpd="sng">
            <a:solidFill>
              <a:schemeClr val="tx1"/>
            </a:solidFill>
            <a:miter lim="800000"/>
            <a:headEnd/>
            <a:tailEnd/>
          </a:ln>
          <a:effectLst/>
          <a:extLst/>
        </p:spPr>
        <p:txBody>
          <a:bodyPr wrap="none" anchor="ctr"/>
          <a:lstStyle/>
          <a:p>
            <a:endParaRPr lang="zh-CN" altLang="en-US">
              <a:solidFill>
                <a:prstClr val="black"/>
              </a:solidFill>
            </a:endParaRPr>
          </a:p>
        </p:txBody>
      </p:sp>
      <p:sp>
        <p:nvSpPr>
          <p:cNvPr id="120" name="Rectangle 10"/>
          <p:cNvSpPr>
            <a:spLocks noChangeArrowheads="1"/>
          </p:cNvSpPr>
          <p:nvPr/>
        </p:nvSpPr>
        <p:spPr bwMode="auto">
          <a:xfrm>
            <a:off x="6076500" y="2112330"/>
            <a:ext cx="199396" cy="137160"/>
          </a:xfrm>
          <a:prstGeom prst="rect">
            <a:avLst/>
          </a:prstGeom>
          <a:solidFill>
            <a:srgbClr val="92D050"/>
          </a:solidFill>
          <a:ln w="9525" cap="flat" cmpd="sng">
            <a:solidFill>
              <a:schemeClr val="tx1"/>
            </a:solidFill>
            <a:miter lim="800000"/>
            <a:headEnd/>
            <a:tailEnd/>
          </a:ln>
          <a:effectLst/>
          <a:extLst/>
        </p:spPr>
        <p:txBody>
          <a:bodyPr wrap="none" anchor="ctr"/>
          <a:lstStyle/>
          <a:p>
            <a:endParaRPr lang="zh-CN" altLang="en-US">
              <a:solidFill>
                <a:prstClr val="black"/>
              </a:solidFill>
            </a:endParaRPr>
          </a:p>
        </p:txBody>
      </p:sp>
      <p:sp>
        <p:nvSpPr>
          <p:cNvPr id="121" name="Rectangle 10"/>
          <p:cNvSpPr>
            <a:spLocks noChangeArrowheads="1"/>
          </p:cNvSpPr>
          <p:nvPr/>
        </p:nvSpPr>
        <p:spPr bwMode="auto">
          <a:xfrm>
            <a:off x="5828850" y="2112330"/>
            <a:ext cx="199396" cy="137160"/>
          </a:xfrm>
          <a:prstGeom prst="rect">
            <a:avLst/>
          </a:prstGeom>
          <a:solidFill>
            <a:srgbClr val="92D050"/>
          </a:solidFill>
          <a:ln w="9525" cap="flat" cmpd="sng">
            <a:solidFill>
              <a:schemeClr val="tx1"/>
            </a:solidFill>
            <a:miter lim="800000"/>
            <a:headEnd/>
            <a:tailEnd/>
          </a:ln>
          <a:effectLst/>
          <a:extLst/>
        </p:spPr>
        <p:txBody>
          <a:bodyPr wrap="none" anchor="ctr"/>
          <a:lstStyle/>
          <a:p>
            <a:endParaRPr lang="zh-CN" altLang="en-US">
              <a:solidFill>
                <a:prstClr val="black"/>
              </a:solidFill>
            </a:endParaRPr>
          </a:p>
        </p:txBody>
      </p:sp>
      <p:sp>
        <p:nvSpPr>
          <p:cNvPr id="122" name="Rectangle 9"/>
          <p:cNvSpPr>
            <a:spLocks noChangeArrowheads="1"/>
          </p:cNvSpPr>
          <p:nvPr/>
        </p:nvSpPr>
        <p:spPr bwMode="auto">
          <a:xfrm>
            <a:off x="5662547" y="2468586"/>
            <a:ext cx="556199" cy="158042"/>
          </a:xfrm>
          <a:prstGeom prst="rect">
            <a:avLst/>
          </a:prstGeom>
          <a:solidFill>
            <a:srgbClr val="92D050"/>
          </a:solidFill>
          <a:ln w="9525" cap="flat" cmpd="sng">
            <a:solidFill>
              <a:schemeClr val="tx1"/>
            </a:solidFill>
            <a:miter lim="800000"/>
            <a:headEnd/>
            <a:tailEnd/>
          </a:ln>
          <a:effectLst/>
          <a:extLst/>
        </p:spPr>
        <p:txBody>
          <a:bodyPr wrap="none" anchor="ctr"/>
          <a:lstStyle/>
          <a:p>
            <a:endParaRPr lang="zh-CN" altLang="en-US">
              <a:solidFill>
                <a:prstClr val="black"/>
              </a:solidFill>
            </a:endParaRPr>
          </a:p>
        </p:txBody>
      </p:sp>
      <p:sp>
        <p:nvSpPr>
          <p:cNvPr id="123" name="TextBox 122"/>
          <p:cNvSpPr txBox="1"/>
          <p:nvPr/>
        </p:nvSpPr>
        <p:spPr>
          <a:xfrm>
            <a:off x="6317955" y="2071534"/>
            <a:ext cx="158698" cy="215444"/>
          </a:xfrm>
          <a:prstGeom prst="rect">
            <a:avLst/>
          </a:prstGeom>
          <a:noFill/>
        </p:spPr>
        <p:txBody>
          <a:bodyPr wrap="none" lIns="0" tIns="0" rIns="0" bIns="0" rtlCol="0">
            <a:spAutoFit/>
          </a:bodyPr>
          <a:lstStyle/>
          <a:p>
            <a:r>
              <a:rPr lang="en-US" altLang="zh-CN" sz="1400" dirty="0"/>
              <a:t>B</a:t>
            </a:r>
            <a:r>
              <a:rPr lang="en-US" altLang="zh-CN" sz="1400" baseline="-25000" dirty="0" smtClean="0"/>
              <a:t>1</a:t>
            </a:r>
            <a:endParaRPr lang="zh-CN" altLang="en-US" sz="1400" baseline="-25000" dirty="0"/>
          </a:p>
        </p:txBody>
      </p:sp>
      <p:sp>
        <p:nvSpPr>
          <p:cNvPr id="124" name="TextBox 123"/>
          <p:cNvSpPr txBox="1"/>
          <p:nvPr/>
        </p:nvSpPr>
        <p:spPr>
          <a:xfrm>
            <a:off x="6865263" y="2425613"/>
            <a:ext cx="158698" cy="215444"/>
          </a:xfrm>
          <a:prstGeom prst="rect">
            <a:avLst/>
          </a:prstGeom>
          <a:noFill/>
        </p:spPr>
        <p:txBody>
          <a:bodyPr wrap="none" lIns="0" tIns="0" rIns="0" bIns="0" rtlCol="0">
            <a:spAutoFit/>
          </a:bodyPr>
          <a:lstStyle/>
          <a:p>
            <a:r>
              <a:rPr lang="en-US" altLang="zh-CN" sz="1400" dirty="0"/>
              <a:t>B</a:t>
            </a:r>
            <a:r>
              <a:rPr lang="en-US" altLang="zh-CN" sz="1400" baseline="-25000" dirty="0" smtClean="0"/>
              <a:t>2</a:t>
            </a:r>
            <a:endParaRPr lang="zh-CN" altLang="en-US" sz="1400" baseline="-25000" dirty="0"/>
          </a:p>
        </p:txBody>
      </p:sp>
      <p:sp>
        <p:nvSpPr>
          <p:cNvPr id="129" name="Rectangle 9"/>
          <p:cNvSpPr>
            <a:spLocks noChangeArrowheads="1"/>
          </p:cNvSpPr>
          <p:nvPr/>
        </p:nvSpPr>
        <p:spPr bwMode="auto">
          <a:xfrm>
            <a:off x="5038634" y="2468587"/>
            <a:ext cx="564706" cy="158042"/>
          </a:xfrm>
          <a:prstGeom prst="rect">
            <a:avLst/>
          </a:prstGeom>
          <a:solidFill>
            <a:srgbClr val="92D050"/>
          </a:solidFill>
          <a:ln w="9525" cap="flat" cmpd="sng">
            <a:solidFill>
              <a:schemeClr val="tx1"/>
            </a:solidFill>
            <a:miter lim="800000"/>
            <a:headEnd/>
            <a:tailEnd/>
          </a:ln>
          <a:effectLst/>
          <a:extLst/>
        </p:spPr>
        <p:txBody>
          <a:bodyPr wrap="none" anchor="ctr"/>
          <a:lstStyle/>
          <a:p>
            <a:endParaRPr lang="zh-CN" altLang="en-US">
              <a:solidFill>
                <a:prstClr val="black"/>
              </a:solidFill>
            </a:endParaRPr>
          </a:p>
        </p:txBody>
      </p:sp>
      <p:sp>
        <p:nvSpPr>
          <p:cNvPr id="131" name="Rectangle 9"/>
          <p:cNvSpPr>
            <a:spLocks noChangeArrowheads="1"/>
          </p:cNvSpPr>
          <p:nvPr/>
        </p:nvSpPr>
        <p:spPr bwMode="auto">
          <a:xfrm>
            <a:off x="6281672" y="2468586"/>
            <a:ext cx="556199" cy="158042"/>
          </a:xfrm>
          <a:prstGeom prst="rect">
            <a:avLst/>
          </a:prstGeom>
          <a:solidFill>
            <a:srgbClr val="92D050"/>
          </a:solidFill>
          <a:ln w="9525" cap="flat" cmpd="sng">
            <a:solidFill>
              <a:schemeClr val="tx1"/>
            </a:solidFill>
            <a:miter lim="800000"/>
            <a:headEnd/>
            <a:tailEnd/>
          </a:ln>
          <a:effectLst/>
          <a:extLst/>
        </p:spPr>
        <p:txBody>
          <a:bodyPr wrap="none" anchor="ctr"/>
          <a:lstStyle/>
          <a:p>
            <a:endParaRPr lang="zh-CN" altLang="en-US">
              <a:solidFill>
                <a:prstClr val="black"/>
              </a:solidFill>
            </a:endParaRPr>
          </a:p>
        </p:txBody>
      </p:sp>
      <p:sp>
        <p:nvSpPr>
          <p:cNvPr id="132" name="TextBox 131"/>
          <p:cNvSpPr txBox="1"/>
          <p:nvPr/>
        </p:nvSpPr>
        <p:spPr>
          <a:xfrm>
            <a:off x="4996968" y="2639516"/>
            <a:ext cx="1947584" cy="369332"/>
          </a:xfrm>
          <a:prstGeom prst="rect">
            <a:avLst/>
          </a:prstGeom>
          <a:noFill/>
        </p:spPr>
        <p:txBody>
          <a:bodyPr wrap="none" rtlCol="0">
            <a:spAutoFit/>
          </a:bodyPr>
          <a:lstStyle/>
          <a:p>
            <a:r>
              <a:rPr lang="en-US" altLang="zh-CN" b="1" dirty="0"/>
              <a:t>c</a:t>
            </a:r>
            <a:r>
              <a:rPr lang="en-US" altLang="zh-CN" b="1" dirty="0" smtClean="0"/>
              <a:t>ompaction buffer</a:t>
            </a:r>
            <a:endParaRPr lang="zh-CN" altLang="en-US" b="1" dirty="0"/>
          </a:p>
        </p:txBody>
      </p:sp>
      <p:sp>
        <p:nvSpPr>
          <p:cNvPr id="134" name="TextBox 133"/>
          <p:cNvSpPr txBox="1"/>
          <p:nvPr/>
        </p:nvSpPr>
        <p:spPr>
          <a:xfrm>
            <a:off x="6341910" y="2429767"/>
            <a:ext cx="282477" cy="246221"/>
          </a:xfrm>
          <a:prstGeom prst="rect">
            <a:avLst/>
          </a:prstGeom>
          <a:noFill/>
        </p:spPr>
        <p:txBody>
          <a:bodyPr wrap="square" lIns="0" tIns="0" rIns="0" bIns="0" rtlCol="0">
            <a:spAutoFit/>
          </a:bodyPr>
          <a:lstStyle/>
          <a:p>
            <a:r>
              <a:rPr lang="en-US" altLang="zh-CN" sz="1600" b="1" dirty="0" smtClean="0">
                <a:solidFill>
                  <a:schemeClr val="bg1"/>
                </a:solidFill>
              </a:rPr>
              <a:t>b d </a:t>
            </a:r>
            <a:endParaRPr lang="zh-CN" altLang="en-US" sz="1600" b="1" dirty="0">
              <a:solidFill>
                <a:schemeClr val="bg1">
                  <a:lumMod val="50000"/>
                </a:schemeClr>
              </a:solidFill>
            </a:endParaRPr>
          </a:p>
        </p:txBody>
      </p:sp>
      <p:sp>
        <p:nvSpPr>
          <p:cNvPr id="140" name="Rectangle 16"/>
          <p:cNvSpPr>
            <a:spLocks noChangeArrowheads="1"/>
          </p:cNvSpPr>
          <p:nvPr/>
        </p:nvSpPr>
        <p:spPr bwMode="auto">
          <a:xfrm>
            <a:off x="2378845" y="4153784"/>
            <a:ext cx="182880" cy="182045"/>
          </a:xfrm>
          <a:prstGeom prst="rect">
            <a:avLst/>
          </a:prstGeom>
          <a:noFill/>
          <a:ln w="9525" cap="flat" cmpd="sng">
            <a:noFill/>
            <a:miter lim="800000"/>
            <a:headEnd/>
            <a:tailEnd/>
          </a:ln>
          <a:effectLst/>
          <a:extLst/>
        </p:spPr>
        <p:txBody>
          <a:bodyPr wrap="none" lIns="0" tIns="0" rIns="0" bIns="0" anchor="ctr"/>
          <a:lstStyle/>
          <a:p>
            <a:pPr algn="ctr"/>
            <a:r>
              <a:rPr lang="en-US" altLang="zh-CN" b="1" dirty="0" smtClean="0">
                <a:solidFill>
                  <a:srgbClr val="FFC000"/>
                </a:solidFill>
              </a:rPr>
              <a:t>c</a:t>
            </a:r>
            <a:endParaRPr lang="zh-CN" altLang="en-US" b="1" dirty="0">
              <a:solidFill>
                <a:srgbClr val="FFC000"/>
              </a:solidFill>
            </a:endParaRPr>
          </a:p>
        </p:txBody>
      </p:sp>
      <p:sp>
        <p:nvSpPr>
          <p:cNvPr id="141" name="Rectangle 16"/>
          <p:cNvSpPr>
            <a:spLocks noChangeArrowheads="1"/>
          </p:cNvSpPr>
          <p:nvPr/>
        </p:nvSpPr>
        <p:spPr bwMode="auto">
          <a:xfrm>
            <a:off x="2195867" y="4156360"/>
            <a:ext cx="182880" cy="182045"/>
          </a:xfrm>
          <a:prstGeom prst="rect">
            <a:avLst/>
          </a:prstGeom>
          <a:noFill/>
          <a:ln w="9525" cap="flat" cmpd="sng">
            <a:noFill/>
            <a:miter lim="800000"/>
            <a:headEnd/>
            <a:tailEnd/>
          </a:ln>
          <a:effectLst/>
          <a:extLst/>
        </p:spPr>
        <p:txBody>
          <a:bodyPr wrap="none" lIns="0" tIns="0" rIns="0" bIns="0" anchor="ctr"/>
          <a:lstStyle/>
          <a:p>
            <a:pPr algn="ctr"/>
            <a:r>
              <a:rPr lang="en-US" altLang="zh-CN" b="1" dirty="0" smtClean="0">
                <a:solidFill>
                  <a:srgbClr val="FF0000"/>
                </a:solidFill>
              </a:rPr>
              <a:t>a</a:t>
            </a:r>
            <a:endParaRPr lang="zh-CN" altLang="en-US" b="1" dirty="0">
              <a:solidFill>
                <a:srgbClr val="FF0000"/>
              </a:solidFill>
            </a:endParaRPr>
          </a:p>
        </p:txBody>
      </p:sp>
      <p:cxnSp>
        <p:nvCxnSpPr>
          <p:cNvPr id="142" name="直接箭头连接符 141"/>
          <p:cNvCxnSpPr>
            <a:stCxn id="141" idx="2"/>
            <a:endCxn id="112" idx="0"/>
          </p:cNvCxnSpPr>
          <p:nvPr/>
        </p:nvCxnSpPr>
        <p:spPr>
          <a:xfrm>
            <a:off x="2287307" y="4338405"/>
            <a:ext cx="14940" cy="1678370"/>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43" name="直接箭头连接符 142"/>
          <p:cNvCxnSpPr>
            <a:stCxn id="140" idx="2"/>
            <a:endCxn id="114" idx="0"/>
          </p:cNvCxnSpPr>
          <p:nvPr/>
        </p:nvCxnSpPr>
        <p:spPr>
          <a:xfrm>
            <a:off x="2470285" y="4335829"/>
            <a:ext cx="14842" cy="1680946"/>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88" name="TextBox 87"/>
          <p:cNvSpPr txBox="1"/>
          <p:nvPr/>
        </p:nvSpPr>
        <p:spPr>
          <a:xfrm>
            <a:off x="5753032" y="2414711"/>
            <a:ext cx="451289" cy="246221"/>
          </a:xfrm>
          <a:prstGeom prst="rect">
            <a:avLst/>
          </a:prstGeom>
          <a:noFill/>
        </p:spPr>
        <p:txBody>
          <a:bodyPr wrap="square" lIns="0" tIns="0" rIns="0" bIns="0" rtlCol="0">
            <a:spAutoFit/>
          </a:bodyPr>
          <a:lstStyle/>
          <a:p>
            <a:r>
              <a:rPr lang="en-US" altLang="zh-CN" sz="1600" b="1" dirty="0" smtClean="0">
                <a:solidFill>
                  <a:schemeClr val="bg1"/>
                </a:solidFill>
              </a:rPr>
              <a:t>a c e</a:t>
            </a:r>
            <a:endParaRPr lang="zh-CN" altLang="en-US" sz="1600" b="1" dirty="0">
              <a:solidFill>
                <a:schemeClr val="bg1"/>
              </a:solidFill>
            </a:endParaRPr>
          </a:p>
        </p:txBody>
      </p:sp>
      <p:sp>
        <p:nvSpPr>
          <p:cNvPr id="89" name="内容占位符 2"/>
          <p:cNvSpPr txBox="1">
            <a:spLocks/>
          </p:cNvSpPr>
          <p:nvPr/>
        </p:nvSpPr>
        <p:spPr>
          <a:xfrm>
            <a:off x="4419253" y="3399744"/>
            <a:ext cx="4724400" cy="3052702"/>
          </a:xfrm>
          <a:prstGeom prst="rect">
            <a:avLst/>
          </a:prstGeom>
        </p:spPr>
        <p:txBody>
          <a:bodyPr vert="horz" lIns="91440" tIns="45720" rIns="91440" bIns="45720" rtlCol="0">
            <a:normAutofit fontScale="55000" lnSpcReduction="20000"/>
          </a:bodyPr>
          <a:lstStyle>
            <a:lvl1pPr marL="342900" indent="-342900" algn="l" defTabSz="457200" rtl="0" eaLnBrk="1" latinLnBrk="0" hangingPunct="1">
              <a:lnSpc>
                <a:spcPct val="100000"/>
              </a:lnSpc>
              <a:spcBef>
                <a:spcPct val="20000"/>
              </a:spcBef>
              <a:buFont typeface="Arial"/>
              <a:buChar char="•"/>
              <a:defRPr sz="3200" kern="1200">
                <a:solidFill>
                  <a:schemeClr val="tx1"/>
                </a:solidFill>
                <a:latin typeface="Arial"/>
                <a:ea typeface="+mn-ea"/>
                <a:cs typeface="Arial"/>
              </a:defRPr>
            </a:lvl1pPr>
            <a:lvl2pPr marL="742950" indent="-285750" algn="l" defTabSz="457200" rtl="0" eaLnBrk="1" latinLnBrk="0" hangingPunct="1">
              <a:lnSpc>
                <a:spcPct val="100000"/>
              </a:lnSpc>
              <a:spcBef>
                <a:spcPct val="20000"/>
              </a:spcBef>
              <a:buFont typeface="Arial"/>
              <a:buChar char="–"/>
              <a:defRPr sz="2800" kern="1200">
                <a:solidFill>
                  <a:schemeClr val="tx1"/>
                </a:solidFill>
                <a:latin typeface="Arial"/>
                <a:ea typeface="+mn-ea"/>
                <a:cs typeface="Arial"/>
              </a:defRPr>
            </a:lvl2pPr>
            <a:lvl3pPr marL="1143000" indent="-228600" algn="l" defTabSz="457200" rtl="0" eaLnBrk="1" latinLnBrk="0" hangingPunct="1">
              <a:lnSpc>
                <a:spcPct val="100000"/>
              </a:lnSpc>
              <a:spcBef>
                <a:spcPct val="20000"/>
              </a:spcBef>
              <a:buFont typeface="Arial"/>
              <a:buChar char="•"/>
              <a:defRPr sz="2400" kern="1200">
                <a:solidFill>
                  <a:schemeClr val="tx1"/>
                </a:solidFill>
                <a:latin typeface="Arial"/>
                <a:ea typeface="+mn-ea"/>
                <a:cs typeface="Arial"/>
              </a:defRPr>
            </a:lvl3pPr>
            <a:lvl4pPr marL="1600200" indent="-228600" algn="l" defTabSz="457200" rtl="0" eaLnBrk="1" latinLnBrk="0" hangingPunct="1">
              <a:lnSpc>
                <a:spcPct val="100000"/>
              </a:lnSpc>
              <a:spcBef>
                <a:spcPct val="20000"/>
              </a:spcBef>
              <a:buFont typeface="Arial"/>
              <a:buChar char="–"/>
              <a:defRPr sz="2000" kern="1200">
                <a:solidFill>
                  <a:schemeClr val="tx1"/>
                </a:solidFill>
                <a:latin typeface="Arial"/>
                <a:ea typeface="+mn-ea"/>
                <a:cs typeface="Arial"/>
              </a:defRPr>
            </a:lvl4pPr>
            <a:lvl5pPr marL="2057400" indent="-228600" algn="l" defTabSz="457200" rtl="0" eaLnBrk="1" latinLnBrk="0" hangingPunct="1">
              <a:lnSpc>
                <a:spcPct val="100000"/>
              </a:lnSpc>
              <a:spcBef>
                <a:spcPct val="20000"/>
              </a:spcBef>
              <a:buFont typeface="Arial"/>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120000"/>
              </a:lnSpc>
              <a:spcBef>
                <a:spcPts val="600"/>
              </a:spcBef>
            </a:pPr>
            <a:r>
              <a:rPr lang="en-US" altLang="zh-CN" dirty="0" smtClean="0"/>
              <a:t>To keep  the cached data only, the compaction buffer is periodically trimmed</a:t>
            </a:r>
          </a:p>
          <a:p>
            <a:pPr>
              <a:lnSpc>
                <a:spcPct val="120000"/>
              </a:lnSpc>
              <a:spcBef>
                <a:spcPts val="600"/>
              </a:spcBef>
            </a:pPr>
            <a:r>
              <a:rPr lang="en-US" altLang="zh-CN" dirty="0" smtClean="0"/>
              <a:t>In each level, the most recently appended data blocks stay</a:t>
            </a:r>
          </a:p>
          <a:p>
            <a:pPr>
              <a:lnSpc>
                <a:spcPct val="120000"/>
              </a:lnSpc>
              <a:spcBef>
                <a:spcPts val="600"/>
              </a:spcBef>
            </a:pPr>
            <a:r>
              <a:rPr lang="en-US" altLang="zh-CN" dirty="0" smtClean="0"/>
              <a:t>For other data blocks, make them stay only if they are cached in the buffer cache</a:t>
            </a:r>
          </a:p>
          <a:p>
            <a:pPr>
              <a:lnSpc>
                <a:spcPct val="120000"/>
              </a:lnSpc>
              <a:spcBef>
                <a:spcPts val="600"/>
              </a:spcBef>
            </a:pPr>
            <a:r>
              <a:rPr lang="en-US" altLang="zh-CN" dirty="0" smtClean="0"/>
              <a:t>The removed data blocks are noted in the index for future queries</a:t>
            </a:r>
            <a:endParaRPr lang="zh-CN" altLang="en-US" dirty="0"/>
          </a:p>
        </p:txBody>
      </p:sp>
      <p:sp>
        <p:nvSpPr>
          <p:cNvPr id="90" name="下箭头 89"/>
          <p:cNvSpPr/>
          <p:nvPr/>
        </p:nvSpPr>
        <p:spPr>
          <a:xfrm>
            <a:off x="5838032" y="2249374"/>
            <a:ext cx="123203" cy="189379"/>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pSp>
        <p:nvGrpSpPr>
          <p:cNvPr id="11" name="组合 10"/>
          <p:cNvGrpSpPr/>
          <p:nvPr/>
        </p:nvGrpSpPr>
        <p:grpSpPr>
          <a:xfrm>
            <a:off x="4567151" y="1810599"/>
            <a:ext cx="1095396" cy="737008"/>
            <a:chOff x="4567151" y="1810599"/>
            <a:chExt cx="1095396" cy="737008"/>
          </a:xfrm>
        </p:grpSpPr>
        <p:sp>
          <p:nvSpPr>
            <p:cNvPr id="91" name="TextBox 90"/>
            <p:cNvSpPr txBox="1"/>
            <p:nvPr/>
          </p:nvSpPr>
          <p:spPr>
            <a:xfrm>
              <a:off x="4567151" y="1810599"/>
              <a:ext cx="830677" cy="461665"/>
            </a:xfrm>
            <a:prstGeom prst="rect">
              <a:avLst/>
            </a:prstGeom>
            <a:noFill/>
          </p:spPr>
          <p:txBody>
            <a:bodyPr wrap="none" rtlCol="0">
              <a:spAutoFit/>
            </a:bodyPr>
            <a:lstStyle/>
            <a:p>
              <a:r>
                <a:rPr lang="en-US" altLang="zh-CN" sz="1200" b="1" dirty="0" smtClean="0"/>
                <a:t>newly </a:t>
              </a:r>
            </a:p>
            <a:p>
              <a:r>
                <a:rPr lang="en-US" altLang="zh-CN" sz="1200" b="1" dirty="0" smtClean="0"/>
                <a:t>appended</a:t>
              </a:r>
              <a:endParaRPr lang="zh-CN" altLang="en-US" sz="1200" b="1" dirty="0"/>
            </a:p>
          </p:txBody>
        </p:sp>
        <p:cxnSp>
          <p:nvCxnSpPr>
            <p:cNvPr id="92" name="直接连接符 91"/>
            <p:cNvCxnSpPr>
              <a:stCxn id="91" idx="2"/>
              <a:endCxn id="122" idx="1"/>
            </p:cNvCxnSpPr>
            <p:nvPr/>
          </p:nvCxnSpPr>
          <p:spPr>
            <a:xfrm>
              <a:off x="4982490" y="2272264"/>
              <a:ext cx="680057" cy="275343"/>
            </a:xfrm>
            <a:prstGeom prst="line">
              <a:avLst/>
            </a:prstGeom>
            <a:ln w="19050">
              <a:solidFill>
                <a:schemeClr val="tx1"/>
              </a:solidFill>
              <a:headEnd type="triangle"/>
            </a:ln>
          </p:spPr>
          <p:style>
            <a:lnRef idx="2">
              <a:schemeClr val="accent1"/>
            </a:lnRef>
            <a:fillRef idx="0">
              <a:schemeClr val="accent1"/>
            </a:fillRef>
            <a:effectRef idx="1">
              <a:schemeClr val="accent1"/>
            </a:effectRef>
            <a:fontRef idx="minor">
              <a:schemeClr val="tx1"/>
            </a:fontRef>
          </p:style>
        </p:cxnSp>
      </p:grpSp>
      <p:grpSp>
        <p:nvGrpSpPr>
          <p:cNvPr id="10" name="组合 9"/>
          <p:cNvGrpSpPr/>
          <p:nvPr/>
        </p:nvGrpSpPr>
        <p:grpSpPr>
          <a:xfrm>
            <a:off x="6624387" y="2162785"/>
            <a:ext cx="1356514" cy="467206"/>
            <a:chOff x="6624387" y="2162785"/>
            <a:chExt cx="1356514" cy="467206"/>
          </a:xfrm>
        </p:grpSpPr>
        <p:sp>
          <p:nvSpPr>
            <p:cNvPr id="93" name="TextBox 92"/>
            <p:cNvSpPr txBox="1"/>
            <p:nvPr/>
          </p:nvSpPr>
          <p:spPr>
            <a:xfrm>
              <a:off x="7133553" y="2162785"/>
              <a:ext cx="847348" cy="307777"/>
            </a:xfrm>
            <a:prstGeom prst="rect">
              <a:avLst/>
            </a:prstGeom>
            <a:noFill/>
          </p:spPr>
          <p:txBody>
            <a:bodyPr wrap="none" rtlCol="0">
              <a:spAutoFit/>
            </a:bodyPr>
            <a:lstStyle/>
            <a:p>
              <a:r>
                <a:rPr lang="en-US" altLang="zh-CN" sz="1400" b="1" dirty="0" smtClean="0"/>
                <a:t>removed</a:t>
              </a:r>
              <a:endParaRPr lang="zh-CN" altLang="en-US" sz="1400" b="1" dirty="0"/>
            </a:p>
          </p:txBody>
        </p:sp>
        <p:cxnSp>
          <p:nvCxnSpPr>
            <p:cNvPr id="94" name="直接连接符 93"/>
            <p:cNvCxnSpPr>
              <a:stCxn id="93" idx="1"/>
            </p:cNvCxnSpPr>
            <p:nvPr/>
          </p:nvCxnSpPr>
          <p:spPr>
            <a:xfrm flipH="1">
              <a:off x="6708197" y="2316674"/>
              <a:ext cx="425356" cy="134837"/>
            </a:xfrm>
            <a:prstGeom prst="line">
              <a:avLst/>
            </a:prstGeom>
            <a:ln w="19050">
              <a:solidFill>
                <a:schemeClr val="tx1"/>
              </a:solidFill>
              <a:headEnd type="triangle"/>
            </a:ln>
          </p:spPr>
          <p:style>
            <a:lnRef idx="2">
              <a:schemeClr val="accent1"/>
            </a:lnRef>
            <a:fillRef idx="0">
              <a:schemeClr val="accent1"/>
            </a:fillRef>
            <a:effectRef idx="1">
              <a:schemeClr val="accent1"/>
            </a:effectRef>
            <a:fontRef idx="minor">
              <a:schemeClr val="tx1"/>
            </a:fontRef>
          </p:style>
        </p:cxnSp>
        <p:sp>
          <p:nvSpPr>
            <p:cNvPr id="7" name="矩形 6"/>
            <p:cNvSpPr/>
            <p:nvPr/>
          </p:nvSpPr>
          <p:spPr>
            <a:xfrm>
              <a:off x="6624387" y="2468586"/>
              <a:ext cx="157066" cy="16140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pSp>
      <p:sp>
        <p:nvSpPr>
          <p:cNvPr id="95" name="TextBox 94"/>
          <p:cNvSpPr txBox="1"/>
          <p:nvPr/>
        </p:nvSpPr>
        <p:spPr>
          <a:xfrm>
            <a:off x="6662461" y="2427055"/>
            <a:ext cx="141238" cy="246221"/>
          </a:xfrm>
          <a:prstGeom prst="rect">
            <a:avLst/>
          </a:prstGeom>
          <a:noFill/>
        </p:spPr>
        <p:txBody>
          <a:bodyPr wrap="square" lIns="0" tIns="0" rIns="0" bIns="0" rtlCol="0">
            <a:spAutoFit/>
          </a:bodyPr>
          <a:lstStyle/>
          <a:p>
            <a:r>
              <a:rPr lang="en-US" altLang="zh-CN" sz="1600" b="1" dirty="0" smtClean="0">
                <a:solidFill>
                  <a:schemeClr val="bg1"/>
                </a:solidFill>
              </a:rPr>
              <a:t>f</a:t>
            </a:r>
            <a:endParaRPr lang="zh-CN" altLang="en-US" sz="1600" b="1" dirty="0">
              <a:solidFill>
                <a:schemeClr val="bg1"/>
              </a:solidFill>
            </a:endParaRPr>
          </a:p>
        </p:txBody>
      </p:sp>
      <p:sp>
        <p:nvSpPr>
          <p:cNvPr id="3" name="灯片编号占位符 2"/>
          <p:cNvSpPr>
            <a:spLocks noGrp="1"/>
          </p:cNvSpPr>
          <p:nvPr>
            <p:ph type="sldNum" sz="quarter" idx="4294967295"/>
          </p:nvPr>
        </p:nvSpPr>
        <p:spPr>
          <a:xfrm>
            <a:off x="6553200" y="6356350"/>
            <a:ext cx="2133600" cy="365125"/>
          </a:xfrm>
          <a:prstGeom prst="rect">
            <a:avLst/>
          </a:prstGeom>
        </p:spPr>
        <p:txBody>
          <a:bodyPr/>
          <a:lstStyle/>
          <a:p>
            <a:fld id="{56E101D2-3CA0-ED44-B21F-D432222A9872}" type="slidenum">
              <a:rPr lang="en-US" smtClean="0"/>
              <a:t>62</a:t>
            </a:fld>
            <a:endParaRPr lang="en-US"/>
          </a:p>
        </p:txBody>
      </p:sp>
    </p:spTree>
    <p:extLst>
      <p:ext uri="{BB962C8B-B14F-4D97-AF65-F5344CB8AC3E}">
        <p14:creationId xmlns:p14="http://schemas.microsoft.com/office/powerpoint/2010/main" val="3063459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9">
                                            <p:txEl>
                                              <p:pRg st="0" end="0"/>
                                            </p:txEl>
                                          </p:spTgt>
                                        </p:tgtEl>
                                        <p:attrNameLst>
                                          <p:attrName>style.visibility</p:attrName>
                                        </p:attrNameLst>
                                      </p:cBhvr>
                                      <p:to>
                                        <p:strVal val="visible"/>
                                      </p:to>
                                    </p:set>
                                    <p:animEffect transition="in" filter="fade">
                                      <p:cBhvr>
                                        <p:cTn id="7" dur="500"/>
                                        <p:tgtEl>
                                          <p:spTgt spid="8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0"/>
                                        </p:tgtEl>
                                        <p:attrNameLst>
                                          <p:attrName>style.visibility</p:attrName>
                                        </p:attrNameLst>
                                      </p:cBhvr>
                                      <p:to>
                                        <p:strVal val="visible"/>
                                      </p:to>
                                    </p:set>
                                    <p:animEffect transition="in" filter="fade">
                                      <p:cBhvr>
                                        <p:cTn id="12" dur="500"/>
                                        <p:tgtEl>
                                          <p:spTgt spid="90"/>
                                        </p:tgtEl>
                                      </p:cBhvr>
                                    </p:animEffect>
                                  </p:childTnLst>
                                </p:cTn>
                              </p:par>
                              <p:par>
                                <p:cTn id="13" presetID="10" presetClass="entr" presetSubtype="0" fill="hold" nodeType="withEffect">
                                  <p:stCondLst>
                                    <p:cond delay="0"/>
                                  </p:stCondLst>
                                  <p:childTnLst>
                                    <p:set>
                                      <p:cBhvr>
                                        <p:cTn id="14" dur="1" fill="hold">
                                          <p:stCondLst>
                                            <p:cond delay="0"/>
                                          </p:stCondLst>
                                        </p:cTn>
                                        <p:tgtEl>
                                          <p:spTgt spid="89">
                                            <p:txEl>
                                              <p:pRg st="1" end="1"/>
                                            </p:txEl>
                                          </p:spTgt>
                                        </p:tgtEl>
                                        <p:attrNameLst>
                                          <p:attrName>style.visibility</p:attrName>
                                        </p:attrNameLst>
                                      </p:cBhvr>
                                      <p:to>
                                        <p:strVal val="visible"/>
                                      </p:to>
                                    </p:set>
                                    <p:animEffect transition="in" filter="fade">
                                      <p:cBhvr>
                                        <p:cTn id="15" dur="500"/>
                                        <p:tgtEl>
                                          <p:spTgt spid="89">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24" presetClass="emph" presetSubtype="0" fill="hold" grpId="0" nodeType="clickEffect">
                                  <p:stCondLst>
                                    <p:cond delay="0"/>
                                  </p:stCondLst>
                                  <p:childTnLst>
                                    <p:animClr clrSpc="hsl" dir="cw">
                                      <p:cBhvr override="childStyle">
                                        <p:cTn id="22" dur="500" fill="hold"/>
                                        <p:tgtEl>
                                          <p:spTgt spid="122"/>
                                        </p:tgtEl>
                                        <p:attrNameLst>
                                          <p:attrName>style.color</p:attrName>
                                        </p:attrNameLst>
                                      </p:cBhvr>
                                      <p:by>
                                        <p:hsl h="0" s="-12549" l="-25098"/>
                                      </p:by>
                                    </p:animClr>
                                    <p:animClr clrSpc="hsl" dir="cw">
                                      <p:cBhvr>
                                        <p:cTn id="23" dur="500" fill="hold"/>
                                        <p:tgtEl>
                                          <p:spTgt spid="122"/>
                                        </p:tgtEl>
                                        <p:attrNameLst>
                                          <p:attrName>fillcolor</p:attrName>
                                        </p:attrNameLst>
                                      </p:cBhvr>
                                      <p:by>
                                        <p:hsl h="0" s="-12549" l="-25098"/>
                                      </p:by>
                                    </p:animClr>
                                    <p:animClr clrSpc="hsl" dir="cw">
                                      <p:cBhvr>
                                        <p:cTn id="24" dur="500" fill="hold"/>
                                        <p:tgtEl>
                                          <p:spTgt spid="122"/>
                                        </p:tgtEl>
                                        <p:attrNameLst>
                                          <p:attrName>stroke.color</p:attrName>
                                        </p:attrNameLst>
                                      </p:cBhvr>
                                      <p:by>
                                        <p:hsl h="0" s="-12549" l="-25098"/>
                                      </p:by>
                                    </p:animClr>
                                    <p:set>
                                      <p:cBhvr>
                                        <p:cTn id="25" dur="500" fill="hold"/>
                                        <p:tgtEl>
                                          <p:spTgt spid="122"/>
                                        </p:tgtEl>
                                        <p:attrNameLst>
                                          <p:attrName>fill.type</p:attrName>
                                        </p:attrNameLst>
                                      </p:cBhvr>
                                      <p:to>
                                        <p:strVal val="solid"/>
                                      </p:to>
                                    </p:set>
                                  </p:childTnLst>
                                </p:cTn>
                              </p:par>
                            </p:childTnLst>
                          </p:cTn>
                        </p:par>
                        <p:par>
                          <p:cTn id="26" fill="hold">
                            <p:stCondLst>
                              <p:cond delay="500"/>
                            </p:stCondLst>
                            <p:childTnLst>
                              <p:par>
                                <p:cTn id="27" presetID="42" presetClass="path" presetSubtype="0" accel="50000" decel="50000" fill="hold" grpId="1" nodeType="afterEffect">
                                  <p:stCondLst>
                                    <p:cond delay="0"/>
                                  </p:stCondLst>
                                  <p:childTnLst>
                                    <p:animMotion origin="layout" path="M 1.11111E-6 3.33333E-6 L 0.06649 3.33333E-6 " pathEditMode="relative" rAng="0" ptsTypes="AA">
                                      <p:cBhvr>
                                        <p:cTn id="28" dur="500" fill="hold"/>
                                        <p:tgtEl>
                                          <p:spTgt spid="90"/>
                                        </p:tgtEl>
                                        <p:attrNameLst>
                                          <p:attrName>ppt_x</p:attrName>
                                          <p:attrName>ppt_y</p:attrName>
                                        </p:attrNameLst>
                                      </p:cBhvr>
                                      <p:rCtr x="3316" y="0"/>
                                    </p:animMotion>
                                  </p:childTnLst>
                                </p:cTn>
                              </p:par>
                              <p:par>
                                <p:cTn id="29" presetID="10" presetClass="entr" presetSubtype="0" fill="hold" nodeType="withEffect">
                                  <p:stCondLst>
                                    <p:cond delay="0"/>
                                  </p:stCondLst>
                                  <p:childTnLst>
                                    <p:set>
                                      <p:cBhvr>
                                        <p:cTn id="30" dur="1" fill="hold">
                                          <p:stCondLst>
                                            <p:cond delay="0"/>
                                          </p:stCondLst>
                                        </p:cTn>
                                        <p:tgtEl>
                                          <p:spTgt spid="89">
                                            <p:txEl>
                                              <p:pRg st="2" end="2"/>
                                            </p:txEl>
                                          </p:spTgt>
                                        </p:tgtEl>
                                        <p:attrNameLst>
                                          <p:attrName>style.visibility</p:attrName>
                                        </p:attrNameLst>
                                      </p:cBhvr>
                                      <p:to>
                                        <p:strVal val="visible"/>
                                      </p:to>
                                    </p:set>
                                    <p:animEffect transition="in" filter="fade">
                                      <p:cBhvr>
                                        <p:cTn id="31" dur="500"/>
                                        <p:tgtEl>
                                          <p:spTgt spid="89">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xit" presetSubtype="0" fill="hold" grpId="2" nodeType="clickEffect">
                                  <p:stCondLst>
                                    <p:cond delay="0"/>
                                  </p:stCondLst>
                                  <p:childTnLst>
                                    <p:animEffect transition="out" filter="fade">
                                      <p:cBhvr>
                                        <p:cTn id="35" dur="500"/>
                                        <p:tgtEl>
                                          <p:spTgt spid="90"/>
                                        </p:tgtEl>
                                      </p:cBhvr>
                                    </p:animEffect>
                                    <p:set>
                                      <p:cBhvr>
                                        <p:cTn id="36" dur="1" fill="hold">
                                          <p:stCondLst>
                                            <p:cond delay="499"/>
                                          </p:stCondLst>
                                        </p:cTn>
                                        <p:tgtEl>
                                          <p:spTgt spid="90"/>
                                        </p:tgtEl>
                                        <p:attrNameLst>
                                          <p:attrName>style.visibility</p:attrName>
                                        </p:attrNameLst>
                                      </p:cBhvr>
                                      <p:to>
                                        <p:strVal val="hidden"/>
                                      </p:to>
                                    </p:set>
                                  </p:childTnLst>
                                </p:cTn>
                              </p:par>
                              <p:par>
                                <p:cTn id="37" presetID="34" presetClass="emph" presetSubtype="0" fill="hold" grpId="0" nodeType="withEffect">
                                  <p:stCondLst>
                                    <p:cond delay="0"/>
                                  </p:stCondLst>
                                  <p:iterate type="lt">
                                    <p:tmPct val="10000"/>
                                  </p:iterate>
                                  <p:childTnLst>
                                    <p:animMotion origin="layout" path="M 0.0 0.0 L 0.0 -0.07213" pathEditMode="relative" ptsTypes="">
                                      <p:cBhvr>
                                        <p:cTn id="38" dur="250" accel="50000" decel="50000" autoRev="1" fill="hold">
                                          <p:stCondLst>
                                            <p:cond delay="0"/>
                                          </p:stCondLst>
                                        </p:cTn>
                                        <p:tgtEl>
                                          <p:spTgt spid="75"/>
                                        </p:tgtEl>
                                        <p:attrNameLst>
                                          <p:attrName>ppt_x</p:attrName>
                                          <p:attrName>ppt_y</p:attrName>
                                        </p:attrNameLst>
                                      </p:cBhvr>
                                    </p:animMotion>
                                    <p:animRot by="1500000">
                                      <p:cBhvr>
                                        <p:cTn id="39" dur="125" fill="hold">
                                          <p:stCondLst>
                                            <p:cond delay="0"/>
                                          </p:stCondLst>
                                        </p:cTn>
                                        <p:tgtEl>
                                          <p:spTgt spid="75"/>
                                        </p:tgtEl>
                                        <p:attrNameLst>
                                          <p:attrName>r</p:attrName>
                                        </p:attrNameLst>
                                      </p:cBhvr>
                                    </p:animRot>
                                    <p:animRot by="-1500000">
                                      <p:cBhvr>
                                        <p:cTn id="40" dur="125" fill="hold">
                                          <p:stCondLst>
                                            <p:cond delay="125"/>
                                          </p:stCondLst>
                                        </p:cTn>
                                        <p:tgtEl>
                                          <p:spTgt spid="75"/>
                                        </p:tgtEl>
                                        <p:attrNameLst>
                                          <p:attrName>r</p:attrName>
                                        </p:attrNameLst>
                                      </p:cBhvr>
                                    </p:animRot>
                                    <p:animRot by="-1500000">
                                      <p:cBhvr>
                                        <p:cTn id="41" dur="125" fill="hold">
                                          <p:stCondLst>
                                            <p:cond delay="250"/>
                                          </p:stCondLst>
                                        </p:cTn>
                                        <p:tgtEl>
                                          <p:spTgt spid="75"/>
                                        </p:tgtEl>
                                        <p:attrNameLst>
                                          <p:attrName>r</p:attrName>
                                        </p:attrNameLst>
                                      </p:cBhvr>
                                    </p:animRot>
                                    <p:animRot by="1500000">
                                      <p:cBhvr>
                                        <p:cTn id="42" dur="125" fill="hold">
                                          <p:stCondLst>
                                            <p:cond delay="375"/>
                                          </p:stCondLst>
                                        </p:cTn>
                                        <p:tgtEl>
                                          <p:spTgt spid="75"/>
                                        </p:tgtEl>
                                        <p:attrNameLst>
                                          <p:attrName>r</p:attrName>
                                        </p:attrNameLst>
                                      </p:cBhvr>
                                    </p:animRot>
                                  </p:childTnLst>
                                </p:cTn>
                              </p:par>
                              <p:par>
                                <p:cTn id="43" presetID="34" presetClass="emph" presetSubtype="0" fill="hold" grpId="0" nodeType="withEffect">
                                  <p:stCondLst>
                                    <p:cond delay="0"/>
                                  </p:stCondLst>
                                  <p:iterate type="lt">
                                    <p:tmPct val="10000"/>
                                  </p:iterate>
                                  <p:childTnLst>
                                    <p:animMotion origin="layout" path="M 0.0 0.0 L 0.0 -0.07213" pathEditMode="relative" ptsTypes="">
                                      <p:cBhvr>
                                        <p:cTn id="44" dur="250" accel="50000" decel="50000" autoRev="1" fill="hold">
                                          <p:stCondLst>
                                            <p:cond delay="0"/>
                                          </p:stCondLst>
                                        </p:cTn>
                                        <p:tgtEl>
                                          <p:spTgt spid="76"/>
                                        </p:tgtEl>
                                        <p:attrNameLst>
                                          <p:attrName>ppt_x</p:attrName>
                                          <p:attrName>ppt_y</p:attrName>
                                        </p:attrNameLst>
                                      </p:cBhvr>
                                    </p:animMotion>
                                    <p:animRot by="1500000">
                                      <p:cBhvr>
                                        <p:cTn id="45" dur="125" fill="hold">
                                          <p:stCondLst>
                                            <p:cond delay="0"/>
                                          </p:stCondLst>
                                        </p:cTn>
                                        <p:tgtEl>
                                          <p:spTgt spid="76"/>
                                        </p:tgtEl>
                                        <p:attrNameLst>
                                          <p:attrName>r</p:attrName>
                                        </p:attrNameLst>
                                      </p:cBhvr>
                                    </p:animRot>
                                    <p:animRot by="-1500000">
                                      <p:cBhvr>
                                        <p:cTn id="46" dur="125" fill="hold">
                                          <p:stCondLst>
                                            <p:cond delay="125"/>
                                          </p:stCondLst>
                                        </p:cTn>
                                        <p:tgtEl>
                                          <p:spTgt spid="76"/>
                                        </p:tgtEl>
                                        <p:attrNameLst>
                                          <p:attrName>r</p:attrName>
                                        </p:attrNameLst>
                                      </p:cBhvr>
                                    </p:animRot>
                                    <p:animRot by="-1500000">
                                      <p:cBhvr>
                                        <p:cTn id="47" dur="125" fill="hold">
                                          <p:stCondLst>
                                            <p:cond delay="250"/>
                                          </p:stCondLst>
                                        </p:cTn>
                                        <p:tgtEl>
                                          <p:spTgt spid="76"/>
                                        </p:tgtEl>
                                        <p:attrNameLst>
                                          <p:attrName>r</p:attrName>
                                        </p:attrNameLst>
                                      </p:cBhvr>
                                    </p:animRot>
                                    <p:animRot by="1500000">
                                      <p:cBhvr>
                                        <p:cTn id="48" dur="125" fill="hold">
                                          <p:stCondLst>
                                            <p:cond delay="375"/>
                                          </p:stCondLst>
                                        </p:cTn>
                                        <p:tgtEl>
                                          <p:spTgt spid="76"/>
                                        </p:tgtEl>
                                        <p:attrNameLst>
                                          <p:attrName>r</p:attrName>
                                        </p:attrNameLst>
                                      </p:cBhvr>
                                    </p:animRo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89">
                                            <p:txEl>
                                              <p:pRg st="3" end="3"/>
                                            </p:txEl>
                                          </p:spTgt>
                                        </p:tgtEl>
                                        <p:attrNameLst>
                                          <p:attrName>style.visibility</p:attrName>
                                        </p:attrNameLst>
                                      </p:cBhvr>
                                      <p:to>
                                        <p:strVal val="visible"/>
                                      </p:to>
                                    </p:set>
                                    <p:animEffect transition="in" filter="fade">
                                      <p:cBhvr>
                                        <p:cTn id="53" dur="500"/>
                                        <p:tgtEl>
                                          <p:spTgt spid="89">
                                            <p:txEl>
                                              <p:pRg st="3" end="3"/>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fade">
                                      <p:cBhvr>
                                        <p:cTn id="56" dur="500"/>
                                        <p:tgtEl>
                                          <p:spTgt spid="10"/>
                                        </p:tgtEl>
                                      </p:cBhvr>
                                    </p:animEffect>
                                  </p:childTnLst>
                                </p:cTn>
                              </p:par>
                              <p:par>
                                <p:cTn id="57" presetID="3" presetClass="emph" presetSubtype="2" fill="hold" nodeType="withEffect">
                                  <p:stCondLst>
                                    <p:cond delay="0"/>
                                  </p:stCondLst>
                                  <p:childTnLst>
                                    <p:animClr clrSpc="rgb" dir="cw">
                                      <p:cBhvr override="childStyle">
                                        <p:cTn id="58" dur="500" fill="hold"/>
                                        <p:tgtEl>
                                          <p:spTgt spid="95">
                                            <p:txEl>
                                              <p:pRg st="0" end="0"/>
                                            </p:txEl>
                                          </p:spTgt>
                                        </p:tgtEl>
                                        <p:attrNameLst>
                                          <p:attrName>style.color</p:attrName>
                                        </p:attrNameLst>
                                      </p:cBhvr>
                                      <p:to>
                                        <a:srgbClr val="000000"/>
                                      </p:to>
                                    </p:animClr>
                                  </p:childTnLst>
                                </p:cTn>
                              </p:par>
                              <p:par>
                                <p:cTn id="59" presetID="10" presetClass="exit" presetSubtype="0" fill="hold" grpId="0" nodeType="withEffect">
                                  <p:stCondLst>
                                    <p:cond delay="0"/>
                                  </p:stCondLst>
                                  <p:childTnLst>
                                    <p:animEffect transition="out" filter="fade">
                                      <p:cBhvr>
                                        <p:cTn id="60" dur="500"/>
                                        <p:tgtEl>
                                          <p:spTgt spid="28"/>
                                        </p:tgtEl>
                                      </p:cBhvr>
                                    </p:animEffect>
                                    <p:set>
                                      <p:cBhvr>
                                        <p:cTn id="61" dur="1" fill="hold">
                                          <p:stCondLst>
                                            <p:cond delay="499"/>
                                          </p:stCondLst>
                                        </p:cTn>
                                        <p:tgtEl>
                                          <p:spTgt spid="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animBg="1"/>
      <p:bldP spid="76" grpId="0"/>
      <p:bldP spid="28" grpId="0" animBg="1"/>
      <p:bldP spid="122" grpId="0" animBg="1"/>
      <p:bldP spid="90" grpId="0" animBg="1"/>
      <p:bldP spid="90" grpId="1" animBg="1"/>
      <p:bldP spid="90" grpId="2" animBg="1"/>
    </p:bldLst>
  </p:timing>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r>
              <a:rPr lang="en-US" altLang="zh-CN" sz="3200" smtClean="0">
                <a:solidFill>
                  <a:srgbClr val="FF0000"/>
                </a:solidFill>
              </a:rPr>
              <a:t>Birth and Death </a:t>
            </a:r>
            <a:r>
              <a:rPr lang="en-US" altLang="zh-CN" sz="3200" smtClean="0">
                <a:solidFill>
                  <a:srgbClr val="0070C0"/>
                </a:solidFill>
              </a:rPr>
              <a:t>of the compaction buffer</a:t>
            </a:r>
            <a:endParaRPr lang="zh-CN" altLang="en-US" sz="3200" smtClean="0">
              <a:solidFill>
                <a:srgbClr val="0070C0"/>
              </a:solidFill>
            </a:endParaRPr>
          </a:p>
        </p:txBody>
      </p:sp>
      <p:graphicFrame>
        <p:nvGraphicFramePr>
          <p:cNvPr id="4" name="表格 3"/>
          <p:cNvGraphicFramePr>
            <a:graphicFrameLocks noGrp="1"/>
          </p:cNvGraphicFramePr>
          <p:nvPr>
            <p:extLst/>
          </p:nvPr>
        </p:nvGraphicFramePr>
        <p:xfrm>
          <a:off x="615950" y="1725613"/>
          <a:ext cx="7962900" cy="4471987"/>
        </p:xfrm>
        <a:graphic>
          <a:graphicData uri="http://schemas.openxmlformats.org/drawingml/2006/table">
            <a:tbl>
              <a:tblPr firstRow="1" bandRow="1">
                <a:effectLst/>
                <a:tableStyleId>{B301B821-A1FF-4177-AEE7-76D212191A09}</a:tableStyleId>
              </a:tblPr>
              <a:tblGrid>
                <a:gridCol w="2031620"/>
                <a:gridCol w="5931280"/>
              </a:tblGrid>
              <a:tr h="1066979">
                <a:tc>
                  <a:txBody>
                    <a:bodyPr/>
                    <a:lstStyle/>
                    <a:p>
                      <a:r>
                        <a:rPr lang="en-US" altLang="zh-CN" sz="2800" b="1" kern="1200" dirty="0" smtClean="0">
                          <a:solidFill>
                            <a:schemeClr val="bg1"/>
                          </a:solidFill>
                          <a:latin typeface="+mn-lt"/>
                          <a:ea typeface="+mn-ea"/>
                          <a:cs typeface="+mn-cs"/>
                        </a:rPr>
                        <a:t>Workloads</a:t>
                      </a:r>
                      <a:endParaRPr lang="zh-CN" altLang="en-US" sz="2800" b="1" kern="1200" dirty="0">
                        <a:solidFill>
                          <a:schemeClr val="bg1"/>
                        </a:solidFill>
                        <a:latin typeface="+mn-lt"/>
                        <a:ea typeface="+mn-ea"/>
                        <a:cs typeface="+mn-cs"/>
                      </a:endParaRPr>
                    </a:p>
                  </a:txBody>
                  <a:tcPr marT="45728" marB="45728"/>
                </a:tc>
                <a:tc>
                  <a:txBody>
                    <a:bodyPr/>
                    <a:lstStyle/>
                    <a:p>
                      <a:r>
                        <a:rPr lang="en-US" altLang="zh-CN" sz="2800" dirty="0" smtClean="0">
                          <a:solidFill>
                            <a:srgbClr val="0070C0"/>
                          </a:solidFill>
                        </a:rPr>
                        <a:t>Dynamics</a:t>
                      </a:r>
                      <a:r>
                        <a:rPr lang="en-US" altLang="zh-CN" sz="2800" baseline="0" dirty="0" smtClean="0">
                          <a:solidFill>
                            <a:srgbClr val="0070C0"/>
                          </a:solidFill>
                        </a:rPr>
                        <a:t> in c</a:t>
                      </a:r>
                      <a:r>
                        <a:rPr lang="en-US" altLang="zh-CN" sz="2800" dirty="0" smtClean="0">
                          <a:solidFill>
                            <a:srgbClr val="0070C0"/>
                          </a:solidFill>
                        </a:rPr>
                        <a:t>ompaction buffer</a:t>
                      </a:r>
                      <a:endParaRPr lang="zh-CN" altLang="en-US" sz="2800" dirty="0">
                        <a:solidFill>
                          <a:srgbClr val="0070C0"/>
                        </a:solidFill>
                      </a:endParaRPr>
                    </a:p>
                  </a:txBody>
                  <a:tcPr marT="45728" marB="45728">
                    <a:solidFill>
                      <a:schemeClr val="bg1"/>
                    </a:solidFill>
                  </a:tcPr>
                </a:tc>
              </a:tr>
              <a:tr h="1186646">
                <a:tc>
                  <a:txBody>
                    <a:bodyPr/>
                    <a:lstStyle/>
                    <a:p>
                      <a:r>
                        <a:rPr lang="en-US" altLang="zh-CN" sz="2400" dirty="0" smtClean="0"/>
                        <a:t>Read only</a:t>
                      </a:r>
                      <a:endParaRPr lang="zh-CN" altLang="en-US" sz="2400" dirty="0"/>
                    </a:p>
                  </a:txBody>
                  <a:tcPr marT="45728" marB="45728">
                    <a:solidFill>
                      <a:schemeClr val="accent5"/>
                    </a:solidFill>
                  </a:tcPr>
                </a:tc>
                <a:tc>
                  <a:txBody>
                    <a:bodyPr/>
                    <a:lstStyle/>
                    <a:p>
                      <a:r>
                        <a:rPr lang="en-US" altLang="zh-CN" sz="2400" dirty="0" smtClean="0"/>
                        <a:t>No data</a:t>
                      </a:r>
                      <a:r>
                        <a:rPr lang="en-US" altLang="zh-CN" sz="2400" baseline="0" dirty="0" smtClean="0"/>
                        <a:t> is</a:t>
                      </a:r>
                      <a:r>
                        <a:rPr lang="en-US" altLang="zh-CN" sz="2400" dirty="0" smtClean="0"/>
                        <a:t> appended into compaction buffer</a:t>
                      </a:r>
                      <a:r>
                        <a:rPr lang="en-US" altLang="zh-CN" sz="2400" baseline="0" dirty="0" smtClean="0"/>
                        <a:t> (</a:t>
                      </a:r>
                      <a:r>
                        <a:rPr lang="en-US" altLang="zh-CN" sz="2400" baseline="0" dirty="0" smtClean="0">
                          <a:solidFill>
                            <a:srgbClr val="FF0000"/>
                          </a:solidFill>
                        </a:rPr>
                        <a:t>no birth</a:t>
                      </a:r>
                      <a:r>
                        <a:rPr lang="en-US" altLang="zh-CN" sz="2400" baseline="0" dirty="0" smtClean="0"/>
                        <a:t>) </a:t>
                      </a:r>
                      <a:endParaRPr lang="zh-CN" altLang="en-US" sz="2400" dirty="0">
                        <a:solidFill>
                          <a:srgbClr val="FF0000"/>
                        </a:solidFill>
                      </a:endParaRPr>
                    </a:p>
                  </a:txBody>
                  <a:tcPr marT="45728" marB="45728">
                    <a:solidFill>
                      <a:schemeClr val="bg1"/>
                    </a:solidFill>
                  </a:tcPr>
                </a:tc>
              </a:tr>
              <a:tr h="1097880">
                <a:tc>
                  <a:txBody>
                    <a:bodyPr/>
                    <a:lstStyle/>
                    <a:p>
                      <a:r>
                        <a:rPr lang="en-US" altLang="zh-CN" sz="2400" dirty="0" smtClean="0"/>
                        <a:t>Write only</a:t>
                      </a:r>
                      <a:endParaRPr lang="zh-CN" altLang="en-US" sz="2400" dirty="0"/>
                    </a:p>
                  </a:txBody>
                  <a:tcPr marT="45728" marB="45728">
                    <a:solidFill>
                      <a:schemeClr val="accent5"/>
                    </a:solidFill>
                  </a:tcPr>
                </a:tc>
                <a:tc>
                  <a:txBody>
                    <a:bodyPr/>
                    <a:lstStyle/>
                    <a:p>
                      <a:r>
                        <a:rPr lang="en-US" altLang="zh-CN" sz="2400" dirty="0" smtClean="0"/>
                        <a:t>All data are deleted</a:t>
                      </a:r>
                      <a:r>
                        <a:rPr lang="en-US" altLang="zh-CN" sz="2400" baseline="0" dirty="0" smtClean="0"/>
                        <a:t> from compaction buffer by the trim process (</a:t>
                      </a:r>
                      <a:r>
                        <a:rPr lang="en-US" altLang="zh-CN" sz="2400" baseline="0" dirty="0" smtClean="0">
                          <a:solidFill>
                            <a:srgbClr val="FF0000"/>
                          </a:solidFill>
                        </a:rPr>
                        <a:t>dying soon</a:t>
                      </a:r>
                      <a:r>
                        <a:rPr lang="en-US" altLang="zh-CN" sz="2400" baseline="0" dirty="0" smtClean="0"/>
                        <a:t>) </a:t>
                      </a:r>
                      <a:endParaRPr lang="zh-CN" altLang="en-US" sz="2400" dirty="0">
                        <a:solidFill>
                          <a:srgbClr val="FF0000"/>
                        </a:solidFill>
                      </a:endParaRPr>
                    </a:p>
                  </a:txBody>
                  <a:tcPr marT="45728" marB="45728">
                    <a:solidFill>
                      <a:schemeClr val="bg1"/>
                    </a:solidFill>
                  </a:tcPr>
                </a:tc>
              </a:tr>
              <a:tr h="1120482">
                <a:tc>
                  <a:txBody>
                    <a:bodyPr/>
                    <a:lstStyle/>
                    <a:p>
                      <a:r>
                        <a:rPr lang="en-US" altLang="zh-CN" sz="2400" dirty="0" smtClean="0"/>
                        <a:t>Read &amp; write</a:t>
                      </a:r>
                      <a:endParaRPr lang="zh-CN" altLang="en-US" sz="2400" dirty="0"/>
                    </a:p>
                  </a:txBody>
                  <a:tcPr marT="45728" marB="45728">
                    <a:solidFill>
                      <a:schemeClr val="accent5"/>
                    </a:solidFill>
                  </a:tcPr>
                </a:tc>
                <a:tc>
                  <a:txBody>
                    <a:bodyPr/>
                    <a:lstStyle/>
                    <a:p>
                      <a:r>
                        <a:rPr lang="en-US" altLang="zh-CN" sz="2400" dirty="0" smtClean="0"/>
                        <a:t>Only frequently visited data are kept in the compaction buffer (</a:t>
                      </a:r>
                      <a:r>
                        <a:rPr lang="en-US" altLang="zh-CN" sz="2400" dirty="0" smtClean="0">
                          <a:solidFill>
                            <a:srgbClr val="FF0000"/>
                          </a:solidFill>
                        </a:rPr>
                        <a:t>dynamically</a:t>
                      </a:r>
                      <a:r>
                        <a:rPr lang="en-US" altLang="zh-CN" sz="2400" baseline="0" dirty="0" smtClean="0">
                          <a:solidFill>
                            <a:srgbClr val="FF0000"/>
                          </a:solidFill>
                        </a:rPr>
                        <a:t> alive</a:t>
                      </a:r>
                      <a:r>
                        <a:rPr lang="en-US" altLang="zh-CN" sz="2400" baseline="0" dirty="0" smtClean="0"/>
                        <a:t>)</a:t>
                      </a:r>
                      <a:endParaRPr lang="zh-CN" altLang="en-US" sz="2400" dirty="0">
                        <a:solidFill>
                          <a:srgbClr val="FF0000"/>
                        </a:solidFill>
                      </a:endParaRPr>
                    </a:p>
                  </a:txBody>
                  <a:tcPr marT="45728" marB="45728">
                    <a:solidFill>
                      <a:schemeClr val="bg1"/>
                    </a:solidFill>
                  </a:tcPr>
                </a:tc>
              </a:tr>
            </a:tbl>
          </a:graphicData>
        </a:graphic>
      </p:graphicFrame>
    </p:spTree>
    <p:extLst>
      <p:ext uri="{BB962C8B-B14F-4D97-AF65-F5344CB8AC3E}">
        <p14:creationId xmlns:p14="http://schemas.microsoft.com/office/powerpoint/2010/main" val="36408223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ctr"/>
            <a:r>
              <a:rPr lang="en-US" altLang="zh-CN" sz="4000" dirty="0" smtClean="0">
                <a:solidFill>
                  <a:schemeClr val="accent1"/>
                </a:solidFill>
              </a:rPr>
              <a:t>Why</a:t>
            </a:r>
            <a:r>
              <a:rPr lang="en-US" altLang="zh-CN" sz="4000" dirty="0" smtClean="0"/>
              <a:t> </a:t>
            </a:r>
            <a:r>
              <a:rPr lang="en-US" altLang="zh-CN" sz="4000" dirty="0" err="1" smtClean="0">
                <a:solidFill>
                  <a:srgbClr val="FF0000"/>
                </a:solidFill>
              </a:rPr>
              <a:t>LSbM</a:t>
            </a:r>
            <a:r>
              <a:rPr lang="en-US" altLang="zh-CN" sz="4000" dirty="0" smtClean="0">
                <a:solidFill>
                  <a:srgbClr val="FF0000"/>
                </a:solidFill>
              </a:rPr>
              <a:t>-tree </a:t>
            </a:r>
            <a:r>
              <a:rPr lang="en-US" altLang="zh-CN" sz="4000" dirty="0" smtClean="0">
                <a:solidFill>
                  <a:schemeClr val="accent1"/>
                </a:solidFill>
              </a:rPr>
              <a:t>is effective? </a:t>
            </a:r>
            <a:endParaRPr lang="zh-CN" altLang="en-US" sz="4000" dirty="0">
              <a:solidFill>
                <a:schemeClr val="accent1"/>
              </a:solidFill>
            </a:endParaRPr>
          </a:p>
        </p:txBody>
      </p:sp>
      <p:sp>
        <p:nvSpPr>
          <p:cNvPr id="3" name="TextBox 2"/>
          <p:cNvSpPr txBox="1"/>
          <p:nvPr/>
        </p:nvSpPr>
        <p:spPr>
          <a:xfrm>
            <a:off x="0" y="1661711"/>
            <a:ext cx="4340352" cy="2954655"/>
          </a:xfrm>
          <a:prstGeom prst="rect">
            <a:avLst/>
          </a:prstGeom>
          <a:noFill/>
        </p:spPr>
        <p:txBody>
          <a:bodyPr wrap="square" rtlCol="0">
            <a:spAutoFit/>
          </a:bodyPr>
          <a:lstStyle/>
          <a:p>
            <a:pPr marL="285750" indent="-285750">
              <a:buFont typeface="Wingdings" panose="05000000000000000000" pitchFamily="2" charset="2"/>
              <a:buChar char="l"/>
            </a:pPr>
            <a:r>
              <a:rPr lang="en-US" altLang="zh-CN" sz="2800" b="1" dirty="0" smtClean="0">
                <a:solidFill>
                  <a:srgbClr val="0070C0"/>
                </a:solidFill>
              </a:rPr>
              <a:t>Underlying LSM-tree</a:t>
            </a:r>
          </a:p>
          <a:p>
            <a:pPr marL="742950" lvl="1" indent="-285750">
              <a:buFont typeface="Arial" panose="020B0604020202020204" pitchFamily="34" charset="0"/>
              <a:buChar char="•"/>
            </a:pPr>
            <a:r>
              <a:rPr lang="en-US" altLang="zh-CN" sz="2000" dirty="0" smtClean="0"/>
              <a:t>Contains the entire dataset</a:t>
            </a:r>
          </a:p>
          <a:p>
            <a:pPr marL="742950" lvl="1" indent="-285750">
              <a:buFont typeface="Arial" panose="020B0604020202020204" pitchFamily="34" charset="0"/>
              <a:buChar char="•"/>
            </a:pPr>
            <a:r>
              <a:rPr lang="en-US" altLang="zh-CN" sz="2000" dirty="0"/>
              <a:t>F</a:t>
            </a:r>
            <a:r>
              <a:rPr lang="en-US" altLang="zh-CN" sz="2000" dirty="0" smtClean="0"/>
              <a:t>ully sorted at each level</a:t>
            </a:r>
          </a:p>
          <a:p>
            <a:pPr marL="742950" lvl="1" indent="-285750">
              <a:buFont typeface="Arial" panose="020B0604020202020204" pitchFamily="34" charset="0"/>
              <a:buChar char="•"/>
            </a:pPr>
            <a:r>
              <a:rPr lang="en-US" altLang="zh-CN" sz="2000" dirty="0">
                <a:solidFill>
                  <a:srgbClr val="FF0000"/>
                </a:solidFill>
              </a:rPr>
              <a:t>E</a:t>
            </a:r>
            <a:r>
              <a:rPr lang="en-US" altLang="zh-CN" sz="2000" dirty="0" smtClean="0">
                <a:solidFill>
                  <a:srgbClr val="FF0000"/>
                </a:solidFill>
              </a:rPr>
              <a:t>fficient for on-disk range </a:t>
            </a:r>
            <a:r>
              <a:rPr lang="en-US" altLang="zh-CN" sz="2000" dirty="0">
                <a:solidFill>
                  <a:srgbClr val="FF0000"/>
                </a:solidFill>
              </a:rPr>
              <a:t> </a:t>
            </a:r>
            <a:r>
              <a:rPr lang="en-US" altLang="zh-CN" sz="2000" dirty="0" smtClean="0">
                <a:solidFill>
                  <a:srgbClr val="FF0000"/>
                </a:solidFill>
              </a:rPr>
              <a:t>  query</a:t>
            </a:r>
          </a:p>
          <a:p>
            <a:pPr marL="742950" lvl="1" indent="-285750">
              <a:buFont typeface="Arial" panose="020B0604020202020204" pitchFamily="34" charset="0"/>
              <a:buChar char="•"/>
            </a:pPr>
            <a:r>
              <a:rPr lang="en-US" altLang="zh-CN" sz="2000" dirty="0"/>
              <a:t>U</a:t>
            </a:r>
            <a:r>
              <a:rPr lang="en-US" altLang="zh-CN" sz="2000" dirty="0" smtClean="0"/>
              <a:t>pdated </a:t>
            </a:r>
            <a:r>
              <a:rPr lang="en-US" altLang="zh-CN" sz="2000" dirty="0"/>
              <a:t>frequently </a:t>
            </a:r>
            <a:r>
              <a:rPr lang="en-US" altLang="zh-CN" sz="2000" dirty="0" smtClean="0"/>
              <a:t>for merge</a:t>
            </a:r>
          </a:p>
          <a:p>
            <a:pPr marL="742950" lvl="1" indent="-285750">
              <a:buFont typeface="Arial" panose="020B0604020202020204" pitchFamily="34" charset="0"/>
              <a:buChar char="•"/>
            </a:pPr>
            <a:r>
              <a:rPr lang="en-US" altLang="zh-CN" sz="2000" dirty="0" smtClean="0"/>
              <a:t>LSM-tree induced buffer cache misses are high </a:t>
            </a:r>
          </a:p>
          <a:p>
            <a:pPr marL="742950" lvl="1" indent="-285750">
              <a:buFont typeface="Arial" panose="020B0604020202020204" pitchFamily="34" charset="0"/>
              <a:buChar char="•"/>
            </a:pPr>
            <a:endParaRPr lang="zh-CN" altLang="en-US" dirty="0"/>
          </a:p>
        </p:txBody>
      </p:sp>
      <p:sp>
        <p:nvSpPr>
          <p:cNvPr id="21" name="TextBox 20"/>
          <p:cNvSpPr txBox="1"/>
          <p:nvPr/>
        </p:nvSpPr>
        <p:spPr>
          <a:xfrm>
            <a:off x="4481989" y="1651120"/>
            <a:ext cx="4393119" cy="2954655"/>
          </a:xfrm>
          <a:prstGeom prst="rect">
            <a:avLst/>
          </a:prstGeom>
          <a:noFill/>
        </p:spPr>
        <p:txBody>
          <a:bodyPr wrap="square" rtlCol="0">
            <a:spAutoFit/>
          </a:bodyPr>
          <a:lstStyle/>
          <a:p>
            <a:pPr marL="285750" indent="-285750">
              <a:buFont typeface="Wingdings" panose="05000000000000000000" pitchFamily="2" charset="2"/>
              <a:buChar char="l"/>
            </a:pPr>
            <a:r>
              <a:rPr lang="en-US" altLang="zh-CN" sz="2800" b="1" dirty="0" smtClean="0">
                <a:solidFill>
                  <a:srgbClr val="0070C0"/>
                </a:solidFill>
              </a:rPr>
              <a:t>Compaction buffer</a:t>
            </a:r>
          </a:p>
          <a:p>
            <a:pPr marL="742950" lvl="1" indent="-285750">
              <a:buFont typeface="Arial" panose="020B0604020202020204" pitchFamily="34" charset="0"/>
              <a:buChar char="•"/>
            </a:pPr>
            <a:r>
              <a:rPr lang="en-US" altLang="zh-CN" sz="2000" dirty="0" smtClean="0"/>
              <a:t>Attempt to keep cached data</a:t>
            </a:r>
          </a:p>
          <a:p>
            <a:pPr marL="742950" lvl="1" indent="-285750">
              <a:buFont typeface="Arial" panose="020B0604020202020204" pitchFamily="34" charset="0"/>
              <a:buChar char="•"/>
            </a:pPr>
            <a:r>
              <a:rPr lang="en-US" altLang="zh-CN" sz="2000" dirty="0"/>
              <a:t>N</a:t>
            </a:r>
            <a:r>
              <a:rPr lang="en-US" altLang="zh-CN" sz="2000" dirty="0" smtClean="0"/>
              <a:t>ot fully sorted at each level</a:t>
            </a:r>
          </a:p>
          <a:p>
            <a:pPr marL="742950" lvl="1" indent="-285750">
              <a:buFont typeface="Arial" panose="020B0604020202020204" pitchFamily="34" charset="0"/>
              <a:buChar char="•"/>
            </a:pPr>
            <a:r>
              <a:rPr lang="en-US" altLang="zh-CN" sz="2000" dirty="0" smtClean="0"/>
              <a:t>Not be used for on-disk range query</a:t>
            </a:r>
          </a:p>
          <a:p>
            <a:pPr marL="742950" lvl="1" indent="-285750">
              <a:buFont typeface="Arial" panose="020B0604020202020204" pitchFamily="34" charset="0"/>
              <a:buChar char="•"/>
            </a:pPr>
            <a:r>
              <a:rPr lang="en-US" altLang="zh-CN" sz="2000" dirty="0"/>
              <a:t>N</a:t>
            </a:r>
            <a:r>
              <a:rPr lang="en-US" altLang="zh-CN" sz="2000" dirty="0" smtClean="0"/>
              <a:t>ot updated </a:t>
            </a:r>
            <a:r>
              <a:rPr lang="en-US" altLang="zh-CN" sz="2000" dirty="0"/>
              <a:t>frequently </a:t>
            </a:r>
            <a:endParaRPr lang="en-US" altLang="zh-CN" sz="2000" dirty="0" smtClean="0"/>
          </a:p>
          <a:p>
            <a:pPr marL="742950" lvl="1" indent="-285750">
              <a:buFont typeface="Arial" panose="020B0604020202020204" pitchFamily="34" charset="0"/>
              <a:buChar char="•"/>
            </a:pPr>
            <a:r>
              <a:rPr lang="en-US" altLang="zh-CN" sz="2000" dirty="0" smtClean="0">
                <a:solidFill>
                  <a:srgbClr val="FF0000"/>
                </a:solidFill>
              </a:rPr>
              <a:t>LSM-tree induced buffer cache misses are minimized </a:t>
            </a:r>
          </a:p>
          <a:p>
            <a:pPr marL="742950" lvl="1" indent="-285750">
              <a:buFont typeface="Arial" panose="020B0604020202020204" pitchFamily="34" charset="0"/>
              <a:buChar char="•"/>
            </a:pPr>
            <a:endParaRPr lang="zh-CN" altLang="en-US" dirty="0"/>
          </a:p>
        </p:txBody>
      </p:sp>
      <p:sp>
        <p:nvSpPr>
          <p:cNvPr id="6" name="TextBox 5"/>
          <p:cNvSpPr txBox="1"/>
          <p:nvPr/>
        </p:nvSpPr>
        <p:spPr>
          <a:xfrm>
            <a:off x="109728" y="5383445"/>
            <a:ext cx="8924544" cy="830997"/>
          </a:xfrm>
          <a:prstGeom prst="rect">
            <a:avLst/>
          </a:prstGeom>
          <a:noFill/>
        </p:spPr>
        <p:txBody>
          <a:bodyPr wrap="square" rtlCol="0">
            <a:spAutoFit/>
          </a:bodyPr>
          <a:lstStyle/>
          <a:p>
            <a:pPr algn="ctr"/>
            <a:r>
              <a:rPr lang="en-US" altLang="zh-CN" sz="2400" b="1" dirty="0" err="1" smtClean="0"/>
              <a:t>LSbM</a:t>
            </a:r>
            <a:r>
              <a:rPr lang="en-US" altLang="zh-CN" sz="2400" b="1" dirty="0" smtClean="0"/>
              <a:t> best utilizes both </a:t>
            </a:r>
            <a:r>
              <a:rPr lang="en-US" altLang="zh-CN" sz="2400" b="1" dirty="0" smtClean="0">
                <a:solidFill>
                  <a:srgbClr val="FF0000"/>
                </a:solidFill>
              </a:rPr>
              <a:t>the underlying LSM-tree </a:t>
            </a:r>
            <a:r>
              <a:rPr lang="en-US" altLang="zh-CN" sz="2400" b="1" dirty="0" smtClean="0"/>
              <a:t>and </a:t>
            </a:r>
          </a:p>
          <a:p>
            <a:pPr algn="ctr"/>
            <a:r>
              <a:rPr lang="en-US" altLang="zh-CN" sz="2400" b="1" dirty="0" smtClean="0">
                <a:solidFill>
                  <a:srgbClr val="FF0000"/>
                </a:solidFill>
              </a:rPr>
              <a:t>the compaction buffer</a:t>
            </a:r>
            <a:r>
              <a:rPr lang="en-US" altLang="zh-CN" sz="2400" b="1" dirty="0" smtClean="0"/>
              <a:t> for queries of different access patterns </a:t>
            </a:r>
            <a:endParaRPr lang="zh-CN" altLang="en-US" sz="2400" b="1" dirty="0"/>
          </a:p>
        </p:txBody>
      </p:sp>
    </p:spTree>
    <p:extLst>
      <p:ext uri="{BB962C8B-B14F-4D97-AF65-F5344CB8AC3E}">
        <p14:creationId xmlns:p14="http://schemas.microsoft.com/office/powerpoint/2010/main" val="1077847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1">
                                            <p:txEl>
                                              <p:pRg st="0" end="0"/>
                                            </p:txEl>
                                          </p:spTgt>
                                        </p:tgtEl>
                                        <p:attrNameLst>
                                          <p:attrName>style.visibility</p:attrName>
                                        </p:attrNameLst>
                                      </p:cBhvr>
                                      <p:to>
                                        <p:strVal val="visible"/>
                                      </p:to>
                                    </p:set>
                                    <p:animEffect transition="in" filter="fade">
                                      <p:cBhvr>
                                        <p:cTn id="10" dur="500"/>
                                        <p:tgtEl>
                                          <p:spTgt spid="21">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500"/>
                                        <p:tgtEl>
                                          <p:spTgt spid="3">
                                            <p:txEl>
                                              <p:p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xEl>
                                              <p:pRg st="1" end="1"/>
                                            </p:txEl>
                                          </p:spTgt>
                                        </p:tgtEl>
                                        <p:attrNameLst>
                                          <p:attrName>style.visibility</p:attrName>
                                        </p:attrNameLst>
                                      </p:cBhvr>
                                      <p:to>
                                        <p:strVal val="visible"/>
                                      </p:to>
                                    </p:set>
                                    <p:animEffect transition="in" filter="fade">
                                      <p:cBhvr>
                                        <p:cTn id="16" dur="500"/>
                                        <p:tgtEl>
                                          <p:spTgt spid="21">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1">
                                            <p:txEl>
                                              <p:pRg st="2" end="2"/>
                                            </p:txEl>
                                          </p:spTgt>
                                        </p:tgtEl>
                                        <p:attrNameLst>
                                          <p:attrName>style.visibility</p:attrName>
                                        </p:attrNameLst>
                                      </p:cBhvr>
                                      <p:to>
                                        <p:strVal val="visible"/>
                                      </p:to>
                                    </p:set>
                                    <p:animEffect transition="in" filter="fade">
                                      <p:cBhvr>
                                        <p:cTn id="21" dur="500"/>
                                        <p:tgtEl>
                                          <p:spTgt spid="21">
                                            <p:txEl>
                                              <p:pRg st="2" end="2"/>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fade">
                                      <p:cBhvr>
                                        <p:cTn id="24" dur="500"/>
                                        <p:tgtEl>
                                          <p:spTgt spid="3">
                                            <p:txEl>
                                              <p:pRg st="2" end="2"/>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21">
                                            <p:txEl>
                                              <p:pRg st="3" end="3"/>
                                            </p:txEl>
                                          </p:spTgt>
                                        </p:tgtEl>
                                        <p:attrNameLst>
                                          <p:attrName>style.visibility</p:attrName>
                                        </p:attrNameLst>
                                      </p:cBhvr>
                                      <p:to>
                                        <p:strVal val="visible"/>
                                      </p:to>
                                    </p:set>
                                    <p:animEffect transition="in" filter="fade">
                                      <p:cBhvr>
                                        <p:cTn id="30" dur="500"/>
                                        <p:tgtEl>
                                          <p:spTgt spid="21">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500"/>
                                        <p:tgtEl>
                                          <p:spTgt spid="3">
                                            <p:txEl>
                                              <p:pRg st="4" end="4"/>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21">
                                            <p:txEl>
                                              <p:pRg st="4" end="4"/>
                                            </p:txEl>
                                          </p:spTgt>
                                        </p:tgtEl>
                                        <p:attrNameLst>
                                          <p:attrName>style.visibility</p:attrName>
                                        </p:attrNameLst>
                                      </p:cBhvr>
                                      <p:to>
                                        <p:strVal val="visible"/>
                                      </p:to>
                                    </p:set>
                                    <p:animEffect transition="in" filter="fade">
                                      <p:cBhvr>
                                        <p:cTn id="38" dur="500"/>
                                        <p:tgtEl>
                                          <p:spTgt spid="21">
                                            <p:txEl>
                                              <p:pRg st="4" end="4"/>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animEffect transition="in" filter="fade">
                                      <p:cBhvr>
                                        <p:cTn id="41" dur="500"/>
                                        <p:tgtEl>
                                          <p:spTgt spid="3">
                                            <p:txEl>
                                              <p:pRg st="5" end="5"/>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21">
                                            <p:txEl>
                                              <p:pRg st="5" end="5"/>
                                            </p:txEl>
                                          </p:spTgt>
                                        </p:tgtEl>
                                        <p:attrNameLst>
                                          <p:attrName>style.visibility</p:attrName>
                                        </p:attrNameLst>
                                      </p:cBhvr>
                                      <p:to>
                                        <p:strVal val="visible"/>
                                      </p:to>
                                    </p:set>
                                    <p:animEffect transition="in" filter="fade">
                                      <p:cBhvr>
                                        <p:cTn id="44" dur="500"/>
                                        <p:tgtEl>
                                          <p:spTgt spid="21">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xit" presetSubtype="0" fill="hold" nodeType="clickEffect">
                                  <p:stCondLst>
                                    <p:cond delay="0"/>
                                  </p:stCondLst>
                                  <p:childTnLst>
                                    <p:animEffect transition="out" filter="fade">
                                      <p:cBhvr>
                                        <p:cTn id="48" dur="500"/>
                                        <p:tgtEl>
                                          <p:spTgt spid="3">
                                            <p:txEl>
                                              <p:pRg st="2" end="2"/>
                                            </p:txEl>
                                          </p:spTgt>
                                        </p:tgtEl>
                                      </p:cBhvr>
                                    </p:animEffect>
                                    <p:set>
                                      <p:cBhvr>
                                        <p:cTn id="49" dur="1" fill="hold">
                                          <p:stCondLst>
                                            <p:cond delay="499"/>
                                          </p:stCondLst>
                                        </p:cTn>
                                        <p:tgtEl>
                                          <p:spTgt spid="3">
                                            <p:txEl>
                                              <p:pRg st="2" end="2"/>
                                            </p:txEl>
                                          </p:spTgt>
                                        </p:tgtEl>
                                        <p:attrNameLst>
                                          <p:attrName>style.visibility</p:attrName>
                                        </p:attrNameLst>
                                      </p:cBhvr>
                                      <p:to>
                                        <p:strVal val="hidden"/>
                                      </p:to>
                                    </p:set>
                                  </p:childTnLst>
                                </p:cTn>
                              </p:par>
                              <p:par>
                                <p:cTn id="50" presetID="10" presetClass="exit" presetSubtype="0" fill="hold" nodeType="withEffect">
                                  <p:stCondLst>
                                    <p:cond delay="0"/>
                                  </p:stCondLst>
                                  <p:childTnLst>
                                    <p:animEffect transition="out" filter="fade">
                                      <p:cBhvr>
                                        <p:cTn id="51" dur="500"/>
                                        <p:tgtEl>
                                          <p:spTgt spid="3">
                                            <p:txEl>
                                              <p:pRg st="4" end="4"/>
                                            </p:txEl>
                                          </p:spTgt>
                                        </p:tgtEl>
                                      </p:cBhvr>
                                    </p:animEffect>
                                    <p:set>
                                      <p:cBhvr>
                                        <p:cTn id="52" dur="1" fill="hold">
                                          <p:stCondLst>
                                            <p:cond delay="499"/>
                                          </p:stCondLst>
                                        </p:cTn>
                                        <p:tgtEl>
                                          <p:spTgt spid="3">
                                            <p:txEl>
                                              <p:pRg st="4" end="4"/>
                                            </p:txEl>
                                          </p:spTgt>
                                        </p:tgtEl>
                                        <p:attrNameLst>
                                          <p:attrName>style.visibility</p:attrName>
                                        </p:attrNameLst>
                                      </p:cBhvr>
                                      <p:to>
                                        <p:strVal val="hidden"/>
                                      </p:to>
                                    </p:set>
                                  </p:childTnLst>
                                </p:cTn>
                              </p:par>
                              <p:par>
                                <p:cTn id="53" presetID="10" presetClass="exit" presetSubtype="0" fill="hold" nodeType="withEffect">
                                  <p:stCondLst>
                                    <p:cond delay="0"/>
                                  </p:stCondLst>
                                  <p:childTnLst>
                                    <p:animEffect transition="out" filter="fade">
                                      <p:cBhvr>
                                        <p:cTn id="54" dur="500"/>
                                        <p:tgtEl>
                                          <p:spTgt spid="3">
                                            <p:txEl>
                                              <p:pRg st="5" end="5"/>
                                            </p:txEl>
                                          </p:spTgt>
                                        </p:tgtEl>
                                      </p:cBhvr>
                                    </p:animEffect>
                                    <p:set>
                                      <p:cBhvr>
                                        <p:cTn id="55" dur="1" fill="hold">
                                          <p:stCondLst>
                                            <p:cond delay="499"/>
                                          </p:stCondLst>
                                        </p:cTn>
                                        <p:tgtEl>
                                          <p:spTgt spid="3">
                                            <p:txEl>
                                              <p:pRg st="5" end="5"/>
                                            </p:txEl>
                                          </p:spTgt>
                                        </p:tgtEl>
                                        <p:attrNameLst>
                                          <p:attrName>style.visibility</p:attrName>
                                        </p:attrNameLst>
                                      </p:cBhvr>
                                      <p:to>
                                        <p:strVal val="hidden"/>
                                      </p:to>
                                    </p:set>
                                  </p:childTnLst>
                                </p:cTn>
                              </p:par>
                              <p:par>
                                <p:cTn id="56" presetID="10" presetClass="exit" presetSubtype="0" fill="hold" nodeType="withEffect">
                                  <p:stCondLst>
                                    <p:cond delay="0"/>
                                  </p:stCondLst>
                                  <p:childTnLst>
                                    <p:animEffect transition="out" filter="fade">
                                      <p:cBhvr>
                                        <p:cTn id="57" dur="500"/>
                                        <p:tgtEl>
                                          <p:spTgt spid="21">
                                            <p:txEl>
                                              <p:pRg st="2" end="2"/>
                                            </p:txEl>
                                          </p:spTgt>
                                        </p:tgtEl>
                                      </p:cBhvr>
                                    </p:animEffect>
                                    <p:set>
                                      <p:cBhvr>
                                        <p:cTn id="58" dur="1" fill="hold">
                                          <p:stCondLst>
                                            <p:cond delay="499"/>
                                          </p:stCondLst>
                                        </p:cTn>
                                        <p:tgtEl>
                                          <p:spTgt spid="21">
                                            <p:txEl>
                                              <p:pRg st="2" end="2"/>
                                            </p:txEl>
                                          </p:spTgt>
                                        </p:tgtEl>
                                        <p:attrNameLst>
                                          <p:attrName>style.visibility</p:attrName>
                                        </p:attrNameLst>
                                      </p:cBhvr>
                                      <p:to>
                                        <p:strVal val="hidden"/>
                                      </p:to>
                                    </p:set>
                                  </p:childTnLst>
                                </p:cTn>
                              </p:par>
                              <p:par>
                                <p:cTn id="59" presetID="10" presetClass="exit" presetSubtype="0" fill="hold" nodeType="withEffect">
                                  <p:stCondLst>
                                    <p:cond delay="0"/>
                                  </p:stCondLst>
                                  <p:childTnLst>
                                    <p:animEffect transition="out" filter="fade">
                                      <p:cBhvr>
                                        <p:cTn id="60" dur="500"/>
                                        <p:tgtEl>
                                          <p:spTgt spid="21">
                                            <p:txEl>
                                              <p:pRg st="3" end="3"/>
                                            </p:txEl>
                                          </p:spTgt>
                                        </p:tgtEl>
                                      </p:cBhvr>
                                    </p:animEffect>
                                    <p:set>
                                      <p:cBhvr>
                                        <p:cTn id="61" dur="1" fill="hold">
                                          <p:stCondLst>
                                            <p:cond delay="499"/>
                                          </p:stCondLst>
                                        </p:cTn>
                                        <p:tgtEl>
                                          <p:spTgt spid="21">
                                            <p:txEl>
                                              <p:pRg st="3" end="3"/>
                                            </p:txEl>
                                          </p:spTgt>
                                        </p:tgtEl>
                                        <p:attrNameLst>
                                          <p:attrName>style.visibility</p:attrName>
                                        </p:attrNameLst>
                                      </p:cBhvr>
                                      <p:to>
                                        <p:strVal val="hidden"/>
                                      </p:to>
                                    </p:set>
                                  </p:childTnLst>
                                </p:cTn>
                              </p:par>
                              <p:par>
                                <p:cTn id="62" presetID="10" presetClass="exit" presetSubtype="0" fill="hold" nodeType="withEffect">
                                  <p:stCondLst>
                                    <p:cond delay="0"/>
                                  </p:stCondLst>
                                  <p:childTnLst>
                                    <p:animEffect transition="out" filter="fade">
                                      <p:cBhvr>
                                        <p:cTn id="63" dur="500"/>
                                        <p:tgtEl>
                                          <p:spTgt spid="21">
                                            <p:txEl>
                                              <p:pRg st="4" end="4"/>
                                            </p:txEl>
                                          </p:spTgt>
                                        </p:tgtEl>
                                      </p:cBhvr>
                                    </p:animEffect>
                                    <p:set>
                                      <p:cBhvr>
                                        <p:cTn id="64" dur="1" fill="hold">
                                          <p:stCondLst>
                                            <p:cond delay="499"/>
                                          </p:stCondLst>
                                        </p:cTn>
                                        <p:tgtEl>
                                          <p:spTgt spid="21">
                                            <p:txEl>
                                              <p:pRg st="4" end="4"/>
                                            </p:txEl>
                                          </p:spTgt>
                                        </p:tgtEl>
                                        <p:attrNameLst>
                                          <p:attrName>style.visibility</p:attrName>
                                        </p:attrNameLst>
                                      </p:cBhvr>
                                      <p:to>
                                        <p:strVal val="hidden"/>
                                      </p:to>
                                    </p:set>
                                  </p:childTnLst>
                                </p:cTn>
                              </p:par>
                              <p:par>
                                <p:cTn id="65" presetID="10" presetClass="exit" presetSubtype="0" fill="hold" nodeType="withEffect">
                                  <p:stCondLst>
                                    <p:cond delay="0"/>
                                  </p:stCondLst>
                                  <p:childTnLst>
                                    <p:animEffect transition="out" filter="fade">
                                      <p:cBhvr>
                                        <p:cTn id="66" dur="500"/>
                                        <p:tgtEl>
                                          <p:spTgt spid="21">
                                            <p:txEl>
                                              <p:pRg st="1" end="1"/>
                                            </p:txEl>
                                          </p:spTgt>
                                        </p:tgtEl>
                                      </p:cBhvr>
                                    </p:animEffect>
                                    <p:set>
                                      <p:cBhvr>
                                        <p:cTn id="67" dur="1" fill="hold">
                                          <p:stCondLst>
                                            <p:cond delay="499"/>
                                          </p:stCondLst>
                                        </p:cTn>
                                        <p:tgtEl>
                                          <p:spTgt spid="21">
                                            <p:txEl>
                                              <p:pRg st="1" end="1"/>
                                            </p:txEl>
                                          </p:spTgt>
                                        </p:tgtEl>
                                        <p:attrNameLst>
                                          <p:attrName>style.visibility</p:attrName>
                                        </p:attrNameLst>
                                      </p:cBhvr>
                                      <p:to>
                                        <p:strVal val="hidden"/>
                                      </p:to>
                                    </p:set>
                                  </p:childTnLst>
                                </p:cTn>
                              </p:par>
                              <p:par>
                                <p:cTn id="68" presetID="10" presetClass="exit" presetSubtype="0" fill="hold" nodeType="withEffect">
                                  <p:stCondLst>
                                    <p:cond delay="0"/>
                                  </p:stCondLst>
                                  <p:childTnLst>
                                    <p:animEffect transition="out" filter="fade">
                                      <p:cBhvr>
                                        <p:cTn id="69" dur="500"/>
                                        <p:tgtEl>
                                          <p:spTgt spid="3">
                                            <p:txEl>
                                              <p:pRg st="1" end="1"/>
                                            </p:txEl>
                                          </p:spTgt>
                                        </p:tgtEl>
                                      </p:cBhvr>
                                    </p:animEffect>
                                    <p:set>
                                      <p:cBhvr>
                                        <p:cTn id="70" dur="1" fill="hold">
                                          <p:stCondLst>
                                            <p:cond delay="499"/>
                                          </p:stCondLst>
                                        </p:cTn>
                                        <p:tgtEl>
                                          <p:spTgt spid="3">
                                            <p:txEl>
                                              <p:pRg st="1" end="1"/>
                                            </p:txEl>
                                          </p:spTgt>
                                        </p:tgtEl>
                                        <p:attrNameLst>
                                          <p:attrName>style.visibility</p:attrName>
                                        </p:attrNameLst>
                                      </p:cBhvr>
                                      <p:to>
                                        <p:strVal val="hidden"/>
                                      </p:to>
                                    </p:set>
                                  </p:childTnLst>
                                </p:cTn>
                              </p:par>
                            </p:childTnLst>
                          </p:cTn>
                        </p:par>
                        <p:par>
                          <p:cTn id="71" fill="hold">
                            <p:stCondLst>
                              <p:cond delay="500"/>
                            </p:stCondLst>
                            <p:childTnLst>
                              <p:par>
                                <p:cTn id="72" presetID="10" presetClass="entr" presetSubtype="0" fill="hold" grpId="0" nodeType="afterEffect">
                                  <p:stCondLst>
                                    <p:cond delay="0"/>
                                  </p:stCondLst>
                                  <p:childTnLst>
                                    <p:set>
                                      <p:cBhvr>
                                        <p:cTn id="73" dur="1" fill="hold">
                                          <p:stCondLst>
                                            <p:cond delay="0"/>
                                          </p:stCondLst>
                                        </p:cTn>
                                        <p:tgtEl>
                                          <p:spTgt spid="6"/>
                                        </p:tgtEl>
                                        <p:attrNameLst>
                                          <p:attrName>style.visibility</p:attrName>
                                        </p:attrNameLst>
                                      </p:cBhvr>
                                      <p:to>
                                        <p:strVal val="visible"/>
                                      </p:to>
                                    </p:set>
                                    <p:animEffect transition="in" filter="fade">
                                      <p:cBhvr>
                                        <p:cTn id="74" dur="500"/>
                                        <p:tgtEl>
                                          <p:spTgt spid="6"/>
                                        </p:tgtEl>
                                      </p:cBhvr>
                                    </p:animEffect>
                                  </p:childTnLst>
                                </p:cTn>
                              </p:par>
                              <p:par>
                                <p:cTn id="75" presetID="42" presetClass="path" presetSubtype="0" accel="50000" decel="50000" fill="hold" nodeType="withEffect">
                                  <p:stCondLst>
                                    <p:cond delay="0"/>
                                  </p:stCondLst>
                                  <p:childTnLst>
                                    <p:animMotion origin="layout" path="M 4.16667E-6 1.5244E-6 L 4.16667E-6 0.26879 " pathEditMode="relative" rAng="0" ptsTypes="AA">
                                      <p:cBhvr>
                                        <p:cTn id="76" dur="750" fill="hold"/>
                                        <p:tgtEl>
                                          <p:spTgt spid="3">
                                            <p:txEl>
                                              <p:pRg st="3" end="3"/>
                                            </p:txEl>
                                          </p:spTgt>
                                        </p:tgtEl>
                                        <p:attrNameLst>
                                          <p:attrName>ppt_x</p:attrName>
                                          <p:attrName>ppt_y</p:attrName>
                                        </p:attrNameLst>
                                      </p:cBhvr>
                                      <p:rCtr x="0" y="13440"/>
                                    </p:animMotion>
                                  </p:childTnLst>
                                </p:cTn>
                              </p:par>
                              <p:par>
                                <p:cTn id="77" presetID="42" presetClass="path" presetSubtype="0" accel="50000" decel="50000" fill="hold" nodeType="withEffect">
                                  <p:stCondLst>
                                    <p:cond delay="0"/>
                                  </p:stCondLst>
                                  <p:childTnLst>
                                    <p:animMotion origin="layout" path="M -2.5E-6 -0.00162 L -2.5E-6 0.13555 " pathEditMode="relative" rAng="0" ptsTypes="AA">
                                      <p:cBhvr>
                                        <p:cTn id="78" dur="750" fill="hold"/>
                                        <p:tgtEl>
                                          <p:spTgt spid="21">
                                            <p:txEl>
                                              <p:pRg st="5" end="5"/>
                                            </p:txEl>
                                          </p:spTgt>
                                        </p:tgtEl>
                                        <p:attrNameLst>
                                          <p:attrName>ppt_x</p:attrName>
                                          <p:attrName>ppt_y</p:attrName>
                                        </p:attrNameLst>
                                      </p:cBhvr>
                                      <p:rCtr x="0" y="684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46" name="肘形连接符 45"/>
          <p:cNvCxnSpPr>
            <a:stCxn id="11" idx="3"/>
            <a:endCxn id="82" idx="0"/>
          </p:cNvCxnSpPr>
          <p:nvPr/>
        </p:nvCxnSpPr>
        <p:spPr>
          <a:xfrm>
            <a:off x="3626256" y="2409904"/>
            <a:ext cx="1621373" cy="734338"/>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4" name="标题 1"/>
          <p:cNvSpPr>
            <a:spLocks noGrp="1"/>
          </p:cNvSpPr>
          <p:nvPr>
            <p:ph type="title"/>
          </p:nvPr>
        </p:nvSpPr>
        <p:spPr>
          <a:xfrm>
            <a:off x="0" y="6190"/>
            <a:ext cx="9144000" cy="1143000"/>
          </a:xfrm>
        </p:spPr>
        <p:txBody>
          <a:bodyPr>
            <a:normAutofit/>
          </a:bodyPr>
          <a:lstStyle/>
          <a:p>
            <a:pPr algn="ctr"/>
            <a:r>
              <a:rPr lang="en-US" altLang="zh-CN" sz="3200" dirty="0" smtClean="0">
                <a:solidFill>
                  <a:srgbClr val="0070C0"/>
                </a:solidFill>
              </a:rPr>
              <a:t>Querying </a:t>
            </a:r>
            <a:r>
              <a:rPr lang="en-US" altLang="zh-CN" sz="3200" dirty="0" smtClean="0">
                <a:solidFill>
                  <a:srgbClr val="FF0000"/>
                </a:solidFill>
              </a:rPr>
              <a:t>LSM-tree</a:t>
            </a:r>
            <a:endParaRPr lang="zh-CN" altLang="en-US" sz="3200" dirty="0">
              <a:solidFill>
                <a:srgbClr val="FF0000"/>
              </a:solidFill>
            </a:endParaRPr>
          </a:p>
        </p:txBody>
      </p:sp>
      <p:sp>
        <p:nvSpPr>
          <p:cNvPr id="5" name="圆角矩形 4"/>
          <p:cNvSpPr/>
          <p:nvPr/>
        </p:nvSpPr>
        <p:spPr>
          <a:xfrm>
            <a:off x="1830524" y="1075521"/>
            <a:ext cx="1560353" cy="587229"/>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err="1" smtClean="0">
                <a:solidFill>
                  <a:schemeClr val="tx1"/>
                </a:solidFill>
              </a:rPr>
              <a:t>i</a:t>
            </a:r>
            <a:r>
              <a:rPr lang="en-US" altLang="zh-CN" dirty="0" smtClean="0">
                <a:solidFill>
                  <a:schemeClr val="tx1"/>
                </a:solidFill>
              </a:rPr>
              <a:t>=0</a:t>
            </a:r>
            <a:endParaRPr lang="zh-CN" altLang="en-US" dirty="0">
              <a:solidFill>
                <a:schemeClr val="tx1"/>
              </a:solidFill>
            </a:endParaRPr>
          </a:p>
        </p:txBody>
      </p:sp>
      <p:sp>
        <p:nvSpPr>
          <p:cNvPr id="6" name="菱形 5"/>
          <p:cNvSpPr/>
          <p:nvPr/>
        </p:nvSpPr>
        <p:spPr>
          <a:xfrm>
            <a:off x="1595634" y="4142870"/>
            <a:ext cx="2030136" cy="901814"/>
          </a:xfrm>
          <a:prstGeom prst="diamond">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dirty="0">
                <a:solidFill>
                  <a:schemeClr val="tx1"/>
                </a:solidFill>
              </a:rPr>
              <a:t>I</a:t>
            </a:r>
            <a:r>
              <a:rPr lang="en-US" altLang="zh-CN" sz="1400" dirty="0" smtClean="0">
                <a:solidFill>
                  <a:schemeClr val="tx1"/>
                </a:solidFill>
              </a:rPr>
              <a:t>s level </a:t>
            </a:r>
            <a:r>
              <a:rPr lang="en-US" altLang="zh-CN" sz="1400" dirty="0" err="1" smtClean="0">
                <a:solidFill>
                  <a:schemeClr val="tx1"/>
                </a:solidFill>
              </a:rPr>
              <a:t>i</a:t>
            </a:r>
            <a:r>
              <a:rPr lang="en-US" altLang="zh-CN" sz="1400" dirty="0" smtClean="0">
                <a:solidFill>
                  <a:schemeClr val="tx1"/>
                </a:solidFill>
              </a:rPr>
              <a:t> the last level?</a:t>
            </a:r>
            <a:endParaRPr lang="zh-CN" altLang="en-US" sz="1400" dirty="0">
              <a:solidFill>
                <a:schemeClr val="tx1"/>
              </a:solidFill>
            </a:endParaRPr>
          </a:p>
        </p:txBody>
      </p:sp>
      <p:sp>
        <p:nvSpPr>
          <p:cNvPr id="7" name="圆角矩形 6"/>
          <p:cNvSpPr/>
          <p:nvPr/>
        </p:nvSpPr>
        <p:spPr>
          <a:xfrm>
            <a:off x="1830525" y="6134246"/>
            <a:ext cx="1560353" cy="587229"/>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smtClean="0">
                <a:solidFill>
                  <a:schemeClr val="tx1"/>
                </a:solidFill>
              </a:rPr>
              <a:t>Not found</a:t>
            </a:r>
            <a:endParaRPr lang="zh-CN" altLang="en-US" dirty="0">
              <a:solidFill>
                <a:schemeClr val="tx1"/>
              </a:solidFill>
            </a:endParaRPr>
          </a:p>
        </p:txBody>
      </p:sp>
      <p:sp>
        <p:nvSpPr>
          <p:cNvPr id="10" name="矩形 9"/>
          <p:cNvSpPr/>
          <p:nvPr/>
        </p:nvSpPr>
        <p:spPr>
          <a:xfrm>
            <a:off x="219456" y="4325329"/>
            <a:ext cx="1023841" cy="53689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err="1" smtClean="0">
                <a:solidFill>
                  <a:schemeClr val="tx1"/>
                </a:solidFill>
              </a:rPr>
              <a:t>i</a:t>
            </a:r>
            <a:r>
              <a:rPr lang="en-US" altLang="zh-CN" dirty="0" smtClean="0">
                <a:solidFill>
                  <a:schemeClr val="tx1"/>
                </a:solidFill>
              </a:rPr>
              <a:t>++</a:t>
            </a:r>
            <a:endParaRPr lang="zh-CN" altLang="en-US" dirty="0">
              <a:solidFill>
                <a:schemeClr val="tx1"/>
              </a:solidFill>
            </a:endParaRPr>
          </a:p>
        </p:txBody>
      </p:sp>
      <p:sp>
        <p:nvSpPr>
          <p:cNvPr id="11" name="菱形 10"/>
          <p:cNvSpPr/>
          <p:nvPr/>
        </p:nvSpPr>
        <p:spPr>
          <a:xfrm>
            <a:off x="1596120" y="1958997"/>
            <a:ext cx="2030136" cy="901814"/>
          </a:xfrm>
          <a:prstGeom prst="diamond">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200" dirty="0" smtClean="0">
                <a:solidFill>
                  <a:schemeClr val="tx1"/>
                </a:solidFill>
              </a:rPr>
              <a:t> Any block in </a:t>
            </a:r>
            <a:r>
              <a:rPr lang="en-US" altLang="zh-CN" sz="1200" dirty="0" smtClean="0">
                <a:solidFill>
                  <a:srgbClr val="FF0000"/>
                </a:solidFill>
              </a:rPr>
              <a:t>C</a:t>
            </a:r>
            <a:r>
              <a:rPr lang="en-US" altLang="zh-CN" sz="1200" baseline="-25000" dirty="0" smtClean="0">
                <a:solidFill>
                  <a:srgbClr val="FF0000"/>
                </a:solidFill>
              </a:rPr>
              <a:t>i</a:t>
            </a:r>
            <a:r>
              <a:rPr lang="en-US" altLang="zh-CN" sz="1200" dirty="0" smtClean="0">
                <a:solidFill>
                  <a:srgbClr val="FF0000"/>
                </a:solidFill>
              </a:rPr>
              <a:t> </a:t>
            </a:r>
            <a:r>
              <a:rPr lang="en-US" altLang="zh-CN" sz="1200" dirty="0" smtClean="0">
                <a:solidFill>
                  <a:schemeClr val="tx1"/>
                </a:solidFill>
              </a:rPr>
              <a:t>holding </a:t>
            </a:r>
            <a:r>
              <a:rPr lang="en-US" altLang="zh-CN" sz="1200" i="1" dirty="0" smtClean="0">
                <a:solidFill>
                  <a:srgbClr val="FF0000"/>
                </a:solidFill>
              </a:rPr>
              <a:t>k</a:t>
            </a:r>
            <a:r>
              <a:rPr lang="en-US" altLang="zh-CN" sz="1200" dirty="0" smtClean="0">
                <a:solidFill>
                  <a:schemeClr val="tx1"/>
                </a:solidFill>
              </a:rPr>
              <a:t>?</a:t>
            </a:r>
            <a:endParaRPr lang="zh-CN" altLang="en-US" sz="1200" baseline="-25000" dirty="0">
              <a:solidFill>
                <a:schemeClr val="tx1"/>
              </a:solidFill>
            </a:endParaRPr>
          </a:p>
        </p:txBody>
      </p:sp>
      <p:sp>
        <p:nvSpPr>
          <p:cNvPr id="12" name="TextBox 11"/>
          <p:cNvSpPr txBox="1"/>
          <p:nvPr/>
        </p:nvSpPr>
        <p:spPr>
          <a:xfrm>
            <a:off x="2611188" y="3591296"/>
            <a:ext cx="428322" cy="369332"/>
          </a:xfrm>
          <a:prstGeom prst="rect">
            <a:avLst/>
          </a:prstGeom>
          <a:noFill/>
        </p:spPr>
        <p:txBody>
          <a:bodyPr wrap="none" rtlCol="0">
            <a:spAutoFit/>
          </a:bodyPr>
          <a:lstStyle/>
          <a:p>
            <a:r>
              <a:rPr lang="en-US" altLang="zh-CN" dirty="0" smtClean="0"/>
              <a:t>no</a:t>
            </a:r>
            <a:endParaRPr lang="zh-CN" altLang="en-US" dirty="0"/>
          </a:p>
        </p:txBody>
      </p:sp>
      <p:sp>
        <p:nvSpPr>
          <p:cNvPr id="13" name="TextBox 12"/>
          <p:cNvSpPr txBox="1"/>
          <p:nvPr/>
        </p:nvSpPr>
        <p:spPr>
          <a:xfrm>
            <a:off x="1270830" y="4224445"/>
            <a:ext cx="428322" cy="369332"/>
          </a:xfrm>
          <a:prstGeom prst="rect">
            <a:avLst/>
          </a:prstGeom>
          <a:noFill/>
        </p:spPr>
        <p:txBody>
          <a:bodyPr wrap="none" rtlCol="0">
            <a:spAutoFit/>
          </a:bodyPr>
          <a:lstStyle/>
          <a:p>
            <a:r>
              <a:rPr lang="en-US" altLang="zh-CN" dirty="0" smtClean="0"/>
              <a:t>no</a:t>
            </a:r>
            <a:endParaRPr lang="zh-CN" altLang="en-US" dirty="0"/>
          </a:p>
        </p:txBody>
      </p:sp>
      <p:sp>
        <p:nvSpPr>
          <p:cNvPr id="15" name="圆角矩形 14"/>
          <p:cNvSpPr/>
          <p:nvPr/>
        </p:nvSpPr>
        <p:spPr>
          <a:xfrm>
            <a:off x="6467920" y="6134246"/>
            <a:ext cx="1560353" cy="587229"/>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2000" dirty="0">
                <a:solidFill>
                  <a:schemeClr val="tx1"/>
                </a:solidFill>
              </a:rPr>
              <a:t>F</a:t>
            </a:r>
            <a:r>
              <a:rPr lang="en-US" altLang="zh-CN" sz="2000" dirty="0" smtClean="0">
                <a:solidFill>
                  <a:schemeClr val="tx1"/>
                </a:solidFill>
              </a:rPr>
              <a:t>ound</a:t>
            </a:r>
            <a:endParaRPr lang="zh-CN" altLang="en-US" sz="2000" dirty="0">
              <a:solidFill>
                <a:schemeClr val="tx1"/>
              </a:solidFill>
            </a:endParaRPr>
          </a:p>
        </p:txBody>
      </p:sp>
      <p:cxnSp>
        <p:nvCxnSpPr>
          <p:cNvPr id="22" name="直接箭头连接符 21"/>
          <p:cNvCxnSpPr>
            <a:stCxn id="5" idx="2"/>
            <a:endCxn id="11" idx="0"/>
          </p:cNvCxnSpPr>
          <p:nvPr/>
        </p:nvCxnSpPr>
        <p:spPr>
          <a:xfrm>
            <a:off x="2610701" y="1662750"/>
            <a:ext cx="487" cy="29624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3" name="直接箭头连接符 22"/>
          <p:cNvCxnSpPr>
            <a:stCxn id="11" idx="2"/>
            <a:endCxn id="6" idx="0"/>
          </p:cNvCxnSpPr>
          <p:nvPr/>
        </p:nvCxnSpPr>
        <p:spPr>
          <a:xfrm flipH="1">
            <a:off x="2610702" y="2860811"/>
            <a:ext cx="486" cy="128205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6" name="直接箭头连接符 25"/>
          <p:cNvCxnSpPr>
            <a:stCxn id="125" idx="3"/>
            <a:endCxn id="33" idx="1"/>
          </p:cNvCxnSpPr>
          <p:nvPr/>
        </p:nvCxnSpPr>
        <p:spPr>
          <a:xfrm flipV="1">
            <a:off x="6027805" y="5455869"/>
            <a:ext cx="440113" cy="96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9" name="直接箭头连接符 28"/>
          <p:cNvCxnSpPr>
            <a:stCxn id="6" idx="1"/>
            <a:endCxn id="10" idx="3"/>
          </p:cNvCxnSpPr>
          <p:nvPr/>
        </p:nvCxnSpPr>
        <p:spPr>
          <a:xfrm flipH="1">
            <a:off x="1243297" y="4593777"/>
            <a:ext cx="352337"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0" name="直接箭头连接符 29"/>
          <p:cNvCxnSpPr>
            <a:stCxn id="6" idx="2"/>
            <a:endCxn id="7" idx="0"/>
          </p:cNvCxnSpPr>
          <p:nvPr/>
        </p:nvCxnSpPr>
        <p:spPr>
          <a:xfrm>
            <a:off x="2610702" y="5044684"/>
            <a:ext cx="0" cy="108956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4" name="肘形连接符 43"/>
          <p:cNvCxnSpPr>
            <a:stCxn id="10" idx="0"/>
            <a:endCxn id="11" idx="1"/>
          </p:cNvCxnSpPr>
          <p:nvPr/>
        </p:nvCxnSpPr>
        <p:spPr>
          <a:xfrm rot="5400000" flipH="1" flipV="1">
            <a:off x="206036" y="2935246"/>
            <a:ext cx="1915425" cy="864743"/>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2610702" y="5194531"/>
            <a:ext cx="491225" cy="369332"/>
          </a:xfrm>
          <a:prstGeom prst="rect">
            <a:avLst/>
          </a:prstGeom>
          <a:noFill/>
        </p:spPr>
        <p:txBody>
          <a:bodyPr wrap="none" rtlCol="0">
            <a:spAutoFit/>
          </a:bodyPr>
          <a:lstStyle/>
          <a:p>
            <a:r>
              <a:rPr lang="en-US" altLang="zh-CN" dirty="0" smtClean="0"/>
              <a:t>yes</a:t>
            </a:r>
            <a:endParaRPr lang="zh-CN" altLang="en-US" dirty="0"/>
          </a:p>
        </p:txBody>
      </p:sp>
      <p:sp>
        <p:nvSpPr>
          <p:cNvPr id="33" name="矩形 32"/>
          <p:cNvSpPr/>
          <p:nvPr/>
        </p:nvSpPr>
        <p:spPr>
          <a:xfrm>
            <a:off x="6467918" y="5187421"/>
            <a:ext cx="1560353" cy="53689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dirty="0" smtClean="0">
                <a:solidFill>
                  <a:schemeClr val="tx1"/>
                </a:solidFill>
              </a:rPr>
              <a:t>Parse out K-V pair from the block</a:t>
            </a:r>
            <a:endParaRPr lang="zh-CN" altLang="en-US" sz="1400" dirty="0">
              <a:solidFill>
                <a:schemeClr val="tx1"/>
              </a:solidFill>
            </a:endParaRPr>
          </a:p>
        </p:txBody>
      </p:sp>
      <p:cxnSp>
        <p:nvCxnSpPr>
          <p:cNvPr id="34" name="直接箭头连接符 33"/>
          <p:cNvCxnSpPr>
            <a:stCxn id="33" idx="2"/>
            <a:endCxn id="15" idx="0"/>
          </p:cNvCxnSpPr>
          <p:nvPr/>
        </p:nvCxnSpPr>
        <p:spPr>
          <a:xfrm>
            <a:off x="7248095" y="5724316"/>
            <a:ext cx="2" cy="40993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2" name="菱形 31"/>
          <p:cNvSpPr/>
          <p:nvPr/>
        </p:nvSpPr>
        <p:spPr>
          <a:xfrm>
            <a:off x="4200337" y="4178725"/>
            <a:ext cx="2084832" cy="693679"/>
          </a:xfrm>
          <a:prstGeom prst="diamond">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dirty="0" smtClean="0">
                <a:solidFill>
                  <a:schemeClr val="tx1"/>
                </a:solidFill>
              </a:rPr>
              <a:t>Is the block in cache?</a:t>
            </a:r>
            <a:endParaRPr lang="zh-CN" altLang="en-US" sz="1400" dirty="0">
              <a:solidFill>
                <a:schemeClr val="tx1"/>
              </a:solidFill>
            </a:endParaRPr>
          </a:p>
        </p:txBody>
      </p:sp>
      <p:cxnSp>
        <p:nvCxnSpPr>
          <p:cNvPr id="43" name="肘形连接符 42"/>
          <p:cNvCxnSpPr>
            <a:stCxn id="32" idx="3"/>
            <a:endCxn id="33" idx="0"/>
          </p:cNvCxnSpPr>
          <p:nvPr/>
        </p:nvCxnSpPr>
        <p:spPr>
          <a:xfrm>
            <a:off x="6285169" y="4525565"/>
            <a:ext cx="962926" cy="661856"/>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65" name="直接箭头连接符 64"/>
          <p:cNvCxnSpPr>
            <a:stCxn id="32" idx="2"/>
            <a:endCxn id="125" idx="0"/>
          </p:cNvCxnSpPr>
          <p:nvPr/>
        </p:nvCxnSpPr>
        <p:spPr>
          <a:xfrm>
            <a:off x="5242753" y="4872404"/>
            <a:ext cx="4876" cy="31598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3650699" y="2054248"/>
            <a:ext cx="491225" cy="369332"/>
          </a:xfrm>
          <a:prstGeom prst="rect">
            <a:avLst/>
          </a:prstGeom>
          <a:noFill/>
        </p:spPr>
        <p:txBody>
          <a:bodyPr wrap="none" rtlCol="0">
            <a:spAutoFit/>
          </a:bodyPr>
          <a:lstStyle/>
          <a:p>
            <a:r>
              <a:rPr lang="en-US" altLang="zh-CN" dirty="0" smtClean="0"/>
              <a:t>yes</a:t>
            </a:r>
            <a:endParaRPr lang="zh-CN" altLang="en-US" dirty="0"/>
          </a:p>
        </p:txBody>
      </p:sp>
      <p:sp>
        <p:nvSpPr>
          <p:cNvPr id="82" name="矩形 81"/>
          <p:cNvSpPr/>
          <p:nvPr/>
        </p:nvSpPr>
        <p:spPr>
          <a:xfrm>
            <a:off x="4467452" y="3144242"/>
            <a:ext cx="1560353" cy="53689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smtClean="0">
                <a:solidFill>
                  <a:schemeClr val="tx1"/>
                </a:solidFill>
              </a:rPr>
              <a:t>Use the block found in </a:t>
            </a:r>
            <a:r>
              <a:rPr lang="en-US" altLang="zh-CN" sz="1600" dirty="0" smtClean="0">
                <a:solidFill>
                  <a:srgbClr val="FF0000"/>
                </a:solidFill>
              </a:rPr>
              <a:t>C</a:t>
            </a:r>
            <a:r>
              <a:rPr lang="en-US" altLang="zh-CN" sz="1600" baseline="-25000" dirty="0" smtClean="0">
                <a:solidFill>
                  <a:srgbClr val="FF0000"/>
                </a:solidFill>
              </a:rPr>
              <a:t>i</a:t>
            </a:r>
            <a:endParaRPr lang="zh-CN" altLang="en-US" sz="1600" dirty="0">
              <a:solidFill>
                <a:srgbClr val="FF0000"/>
              </a:solidFill>
            </a:endParaRPr>
          </a:p>
        </p:txBody>
      </p:sp>
      <p:cxnSp>
        <p:nvCxnSpPr>
          <p:cNvPr id="118" name="直接箭头连接符 117"/>
          <p:cNvCxnSpPr>
            <a:stCxn id="82" idx="2"/>
            <a:endCxn id="32" idx="0"/>
          </p:cNvCxnSpPr>
          <p:nvPr/>
        </p:nvCxnSpPr>
        <p:spPr>
          <a:xfrm flipH="1">
            <a:off x="5242753" y="3681137"/>
            <a:ext cx="4876" cy="497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6307587" y="4201952"/>
            <a:ext cx="491225" cy="369332"/>
          </a:xfrm>
          <a:prstGeom prst="rect">
            <a:avLst/>
          </a:prstGeom>
          <a:noFill/>
        </p:spPr>
        <p:txBody>
          <a:bodyPr wrap="none" rtlCol="0">
            <a:spAutoFit/>
          </a:bodyPr>
          <a:lstStyle/>
          <a:p>
            <a:r>
              <a:rPr lang="en-US" altLang="zh-CN" dirty="0" smtClean="0"/>
              <a:t>yes</a:t>
            </a:r>
            <a:endParaRPr lang="zh-CN" altLang="en-US" dirty="0"/>
          </a:p>
        </p:txBody>
      </p:sp>
      <p:sp>
        <p:nvSpPr>
          <p:cNvPr id="124" name="TextBox 123"/>
          <p:cNvSpPr txBox="1"/>
          <p:nvPr/>
        </p:nvSpPr>
        <p:spPr>
          <a:xfrm>
            <a:off x="5247629" y="4825199"/>
            <a:ext cx="428322" cy="369332"/>
          </a:xfrm>
          <a:prstGeom prst="rect">
            <a:avLst/>
          </a:prstGeom>
          <a:noFill/>
        </p:spPr>
        <p:txBody>
          <a:bodyPr wrap="none" rtlCol="0">
            <a:spAutoFit/>
          </a:bodyPr>
          <a:lstStyle/>
          <a:p>
            <a:r>
              <a:rPr lang="en-US" altLang="zh-CN" dirty="0" smtClean="0"/>
              <a:t>no</a:t>
            </a:r>
            <a:endParaRPr lang="zh-CN" altLang="en-US" dirty="0"/>
          </a:p>
        </p:txBody>
      </p:sp>
      <p:sp>
        <p:nvSpPr>
          <p:cNvPr id="125" name="矩形 124"/>
          <p:cNvSpPr/>
          <p:nvPr/>
        </p:nvSpPr>
        <p:spPr>
          <a:xfrm>
            <a:off x="4467452" y="5188388"/>
            <a:ext cx="1560353" cy="53689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smtClean="0">
                <a:solidFill>
                  <a:schemeClr val="tx1"/>
                </a:solidFill>
              </a:rPr>
              <a:t>Load the block into cache</a:t>
            </a:r>
            <a:endParaRPr lang="zh-CN" altLang="en-US" sz="1600" dirty="0">
              <a:solidFill>
                <a:srgbClr val="FF0000"/>
              </a:solidFill>
            </a:endParaRPr>
          </a:p>
        </p:txBody>
      </p:sp>
    </p:spTree>
    <p:extLst>
      <p:ext uri="{BB962C8B-B14F-4D97-AF65-F5344CB8AC3E}">
        <p14:creationId xmlns:p14="http://schemas.microsoft.com/office/powerpoint/2010/main" val="7243692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500"/>
                                        <p:tgtEl>
                                          <p:spTgt spid="2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par>
                                <p:cTn id="25" presetID="10" presetClass="entr" presetSubtype="0" fill="hold" nodeType="with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500"/>
                                        <p:tgtEl>
                                          <p:spTgt spid="3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1"/>
                                        </p:tgtEl>
                                        <p:attrNameLst>
                                          <p:attrName>style.visibility</p:attrName>
                                        </p:attrNameLst>
                                      </p:cBhvr>
                                      <p:to>
                                        <p:strVal val="visible"/>
                                      </p:to>
                                    </p:set>
                                    <p:animEffect transition="in" filter="fade">
                                      <p:cBhvr>
                                        <p:cTn id="30" dur="500"/>
                                        <p:tgtEl>
                                          <p:spTgt spid="3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500"/>
                                        <p:tgtEl>
                                          <p:spTgt spid="7"/>
                                        </p:tgtEl>
                                      </p:cBhvr>
                                    </p:animEffect>
                                  </p:childTnLst>
                                </p:cTn>
                              </p:par>
                              <p:par>
                                <p:cTn id="34" presetID="10" presetClass="entr" presetSubtype="0" fill="hold" nodeType="with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fade">
                                      <p:cBhvr>
                                        <p:cTn id="36" dur="500"/>
                                        <p:tgtEl>
                                          <p:spTgt spid="2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par>
                                <p:cTn id="43" presetID="10" presetClass="entr" presetSubtype="0" fill="hold" nodeType="withEffect">
                                  <p:stCondLst>
                                    <p:cond delay="0"/>
                                  </p:stCondLst>
                                  <p:childTnLst>
                                    <p:set>
                                      <p:cBhvr>
                                        <p:cTn id="44" dur="1" fill="hold">
                                          <p:stCondLst>
                                            <p:cond delay="0"/>
                                          </p:stCondLst>
                                        </p:cTn>
                                        <p:tgtEl>
                                          <p:spTgt spid="44"/>
                                        </p:tgtEl>
                                        <p:attrNameLst>
                                          <p:attrName>style.visibility</p:attrName>
                                        </p:attrNameLst>
                                      </p:cBhvr>
                                      <p:to>
                                        <p:strVal val="visible"/>
                                      </p:to>
                                    </p:set>
                                    <p:animEffect transition="in" filter="fade">
                                      <p:cBhvr>
                                        <p:cTn id="45" dur="500"/>
                                        <p:tgtEl>
                                          <p:spTgt spid="4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70"/>
                                        </p:tgtEl>
                                        <p:attrNameLst>
                                          <p:attrName>style.visibility</p:attrName>
                                        </p:attrNameLst>
                                      </p:cBhvr>
                                      <p:to>
                                        <p:strVal val="visible"/>
                                      </p:to>
                                    </p:set>
                                    <p:animEffect transition="in" filter="fade">
                                      <p:cBhvr>
                                        <p:cTn id="50" dur="500"/>
                                        <p:tgtEl>
                                          <p:spTgt spid="70"/>
                                        </p:tgtEl>
                                      </p:cBhvr>
                                    </p:animEffect>
                                  </p:childTnLst>
                                </p:cTn>
                              </p:par>
                              <p:par>
                                <p:cTn id="51" presetID="10" presetClass="entr" presetSubtype="0" fill="hold" nodeType="withEffect">
                                  <p:stCondLst>
                                    <p:cond delay="0"/>
                                  </p:stCondLst>
                                  <p:childTnLst>
                                    <p:set>
                                      <p:cBhvr>
                                        <p:cTn id="52" dur="1" fill="hold">
                                          <p:stCondLst>
                                            <p:cond delay="0"/>
                                          </p:stCondLst>
                                        </p:cTn>
                                        <p:tgtEl>
                                          <p:spTgt spid="46"/>
                                        </p:tgtEl>
                                        <p:attrNameLst>
                                          <p:attrName>style.visibility</p:attrName>
                                        </p:attrNameLst>
                                      </p:cBhvr>
                                      <p:to>
                                        <p:strVal val="visible"/>
                                      </p:to>
                                    </p:set>
                                    <p:animEffect transition="in" filter="fade">
                                      <p:cBhvr>
                                        <p:cTn id="53" dur="500"/>
                                        <p:tgtEl>
                                          <p:spTgt spid="4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82"/>
                                        </p:tgtEl>
                                        <p:attrNameLst>
                                          <p:attrName>style.visibility</p:attrName>
                                        </p:attrNameLst>
                                      </p:cBhvr>
                                      <p:to>
                                        <p:strVal val="visible"/>
                                      </p:to>
                                    </p:set>
                                    <p:animEffect transition="in" filter="fade">
                                      <p:cBhvr>
                                        <p:cTn id="56" dur="500"/>
                                        <p:tgtEl>
                                          <p:spTgt spid="82"/>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18"/>
                                        </p:tgtEl>
                                        <p:attrNameLst>
                                          <p:attrName>style.visibility</p:attrName>
                                        </p:attrNameLst>
                                      </p:cBhvr>
                                      <p:to>
                                        <p:strVal val="visible"/>
                                      </p:to>
                                    </p:set>
                                    <p:animEffect transition="in" filter="fade">
                                      <p:cBhvr>
                                        <p:cTn id="61" dur="500"/>
                                        <p:tgtEl>
                                          <p:spTgt spid="118"/>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2"/>
                                        </p:tgtEl>
                                        <p:attrNameLst>
                                          <p:attrName>style.visibility</p:attrName>
                                        </p:attrNameLst>
                                      </p:cBhvr>
                                      <p:to>
                                        <p:strVal val="visible"/>
                                      </p:to>
                                    </p:set>
                                    <p:animEffect transition="in" filter="fade">
                                      <p:cBhvr>
                                        <p:cTn id="64" dur="500"/>
                                        <p:tgtEl>
                                          <p:spTgt spid="32"/>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33"/>
                                        </p:tgtEl>
                                        <p:attrNameLst>
                                          <p:attrName>style.visibility</p:attrName>
                                        </p:attrNameLst>
                                      </p:cBhvr>
                                      <p:to>
                                        <p:strVal val="visible"/>
                                      </p:to>
                                    </p:set>
                                    <p:animEffect transition="in" filter="fade">
                                      <p:cBhvr>
                                        <p:cTn id="69" dur="500"/>
                                        <p:tgtEl>
                                          <p:spTgt spid="33"/>
                                        </p:tgtEl>
                                      </p:cBhvr>
                                    </p:animEffect>
                                  </p:childTnLst>
                                </p:cTn>
                              </p:par>
                              <p:par>
                                <p:cTn id="70" presetID="10" presetClass="entr" presetSubtype="0" fill="hold" nodeType="withEffect">
                                  <p:stCondLst>
                                    <p:cond delay="0"/>
                                  </p:stCondLst>
                                  <p:childTnLst>
                                    <p:set>
                                      <p:cBhvr>
                                        <p:cTn id="71" dur="1" fill="hold">
                                          <p:stCondLst>
                                            <p:cond delay="0"/>
                                          </p:stCondLst>
                                        </p:cTn>
                                        <p:tgtEl>
                                          <p:spTgt spid="43"/>
                                        </p:tgtEl>
                                        <p:attrNameLst>
                                          <p:attrName>style.visibility</p:attrName>
                                        </p:attrNameLst>
                                      </p:cBhvr>
                                      <p:to>
                                        <p:strVal val="visible"/>
                                      </p:to>
                                    </p:set>
                                    <p:animEffect transition="in" filter="fade">
                                      <p:cBhvr>
                                        <p:cTn id="72" dur="500"/>
                                        <p:tgtEl>
                                          <p:spTgt spid="43"/>
                                        </p:tgtEl>
                                      </p:cBhvr>
                                    </p:animEffect>
                                  </p:childTnLst>
                                </p:cTn>
                              </p:par>
                              <p:par>
                                <p:cTn id="73" presetID="10" presetClass="entr" presetSubtype="0" fill="hold" nodeType="withEffect">
                                  <p:stCondLst>
                                    <p:cond delay="0"/>
                                  </p:stCondLst>
                                  <p:childTnLst>
                                    <p:set>
                                      <p:cBhvr>
                                        <p:cTn id="74" dur="1" fill="hold">
                                          <p:stCondLst>
                                            <p:cond delay="0"/>
                                          </p:stCondLst>
                                        </p:cTn>
                                        <p:tgtEl>
                                          <p:spTgt spid="34"/>
                                        </p:tgtEl>
                                        <p:attrNameLst>
                                          <p:attrName>style.visibility</p:attrName>
                                        </p:attrNameLst>
                                      </p:cBhvr>
                                      <p:to>
                                        <p:strVal val="visible"/>
                                      </p:to>
                                    </p:set>
                                    <p:animEffect transition="in" filter="fade">
                                      <p:cBhvr>
                                        <p:cTn id="75" dur="500"/>
                                        <p:tgtEl>
                                          <p:spTgt spid="34"/>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15"/>
                                        </p:tgtEl>
                                        <p:attrNameLst>
                                          <p:attrName>style.visibility</p:attrName>
                                        </p:attrNameLst>
                                      </p:cBhvr>
                                      <p:to>
                                        <p:strVal val="visible"/>
                                      </p:to>
                                    </p:set>
                                    <p:animEffect transition="in" filter="fade">
                                      <p:cBhvr>
                                        <p:cTn id="78" dur="500"/>
                                        <p:tgtEl>
                                          <p:spTgt spid="15"/>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123"/>
                                        </p:tgtEl>
                                        <p:attrNameLst>
                                          <p:attrName>style.visibility</p:attrName>
                                        </p:attrNameLst>
                                      </p:cBhvr>
                                      <p:to>
                                        <p:strVal val="visible"/>
                                      </p:to>
                                    </p:set>
                                    <p:animEffect transition="in" filter="fade">
                                      <p:cBhvr>
                                        <p:cTn id="81" dur="500"/>
                                        <p:tgtEl>
                                          <p:spTgt spid="123"/>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124"/>
                                        </p:tgtEl>
                                        <p:attrNameLst>
                                          <p:attrName>style.visibility</p:attrName>
                                        </p:attrNameLst>
                                      </p:cBhvr>
                                      <p:to>
                                        <p:strVal val="visible"/>
                                      </p:to>
                                    </p:set>
                                    <p:animEffect transition="in" filter="fade">
                                      <p:cBhvr>
                                        <p:cTn id="86" dur="500"/>
                                        <p:tgtEl>
                                          <p:spTgt spid="124"/>
                                        </p:tgtEl>
                                      </p:cBhvr>
                                    </p:animEffect>
                                  </p:childTnLst>
                                </p:cTn>
                              </p:par>
                              <p:par>
                                <p:cTn id="87" presetID="10" presetClass="entr" presetSubtype="0" fill="hold" nodeType="withEffect">
                                  <p:stCondLst>
                                    <p:cond delay="0"/>
                                  </p:stCondLst>
                                  <p:childTnLst>
                                    <p:set>
                                      <p:cBhvr>
                                        <p:cTn id="88" dur="1" fill="hold">
                                          <p:stCondLst>
                                            <p:cond delay="0"/>
                                          </p:stCondLst>
                                        </p:cTn>
                                        <p:tgtEl>
                                          <p:spTgt spid="65"/>
                                        </p:tgtEl>
                                        <p:attrNameLst>
                                          <p:attrName>style.visibility</p:attrName>
                                        </p:attrNameLst>
                                      </p:cBhvr>
                                      <p:to>
                                        <p:strVal val="visible"/>
                                      </p:to>
                                    </p:set>
                                    <p:animEffect transition="in" filter="fade">
                                      <p:cBhvr>
                                        <p:cTn id="89" dur="500"/>
                                        <p:tgtEl>
                                          <p:spTgt spid="65"/>
                                        </p:tgtEl>
                                      </p:cBhvr>
                                    </p:animEffect>
                                  </p:childTnLst>
                                </p:cTn>
                              </p:par>
                              <p:par>
                                <p:cTn id="90" presetID="10" presetClass="entr" presetSubtype="0" fill="hold" nodeType="withEffect">
                                  <p:stCondLst>
                                    <p:cond delay="0"/>
                                  </p:stCondLst>
                                  <p:childTnLst>
                                    <p:set>
                                      <p:cBhvr>
                                        <p:cTn id="91" dur="1" fill="hold">
                                          <p:stCondLst>
                                            <p:cond delay="0"/>
                                          </p:stCondLst>
                                        </p:cTn>
                                        <p:tgtEl>
                                          <p:spTgt spid="26"/>
                                        </p:tgtEl>
                                        <p:attrNameLst>
                                          <p:attrName>style.visibility</p:attrName>
                                        </p:attrNameLst>
                                      </p:cBhvr>
                                      <p:to>
                                        <p:strVal val="visible"/>
                                      </p:to>
                                    </p:set>
                                    <p:animEffect transition="in" filter="fade">
                                      <p:cBhvr>
                                        <p:cTn id="92" dur="500"/>
                                        <p:tgtEl>
                                          <p:spTgt spid="26"/>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125"/>
                                        </p:tgtEl>
                                        <p:attrNameLst>
                                          <p:attrName>style.visibility</p:attrName>
                                        </p:attrNameLst>
                                      </p:cBhvr>
                                      <p:to>
                                        <p:strVal val="visible"/>
                                      </p:to>
                                    </p:set>
                                    <p:animEffect transition="in" filter="fade">
                                      <p:cBhvr>
                                        <p:cTn id="95" dur="5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0" grpId="0" animBg="1"/>
      <p:bldP spid="11" grpId="0" animBg="1"/>
      <p:bldP spid="12" grpId="0"/>
      <p:bldP spid="13" grpId="0"/>
      <p:bldP spid="15" grpId="0" animBg="1"/>
      <p:bldP spid="31" grpId="0"/>
      <p:bldP spid="33" grpId="0" animBg="1"/>
      <p:bldP spid="32" grpId="0" animBg="1"/>
      <p:bldP spid="70" grpId="0"/>
      <p:bldP spid="82" grpId="0" animBg="1"/>
      <p:bldP spid="123" grpId="0"/>
      <p:bldP spid="124" grpId="0"/>
      <p:bldP spid="125"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46" name="肘形连接符 45"/>
          <p:cNvCxnSpPr>
            <a:stCxn id="11" idx="3"/>
            <a:endCxn id="82" idx="0"/>
          </p:cNvCxnSpPr>
          <p:nvPr/>
        </p:nvCxnSpPr>
        <p:spPr>
          <a:xfrm>
            <a:off x="3626256" y="2409904"/>
            <a:ext cx="1623117" cy="734985"/>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4" name="标题 1"/>
          <p:cNvSpPr>
            <a:spLocks noGrp="1"/>
          </p:cNvSpPr>
          <p:nvPr>
            <p:ph type="title"/>
          </p:nvPr>
        </p:nvSpPr>
        <p:spPr>
          <a:xfrm>
            <a:off x="0" y="6190"/>
            <a:ext cx="9144000" cy="1143000"/>
          </a:xfrm>
        </p:spPr>
        <p:txBody>
          <a:bodyPr>
            <a:normAutofit/>
          </a:bodyPr>
          <a:lstStyle/>
          <a:p>
            <a:pPr algn="ctr"/>
            <a:r>
              <a:rPr lang="en-US" altLang="zh-CN" sz="3200" dirty="0" smtClean="0">
                <a:solidFill>
                  <a:srgbClr val="0070C0"/>
                </a:solidFill>
              </a:rPr>
              <a:t>Querying </a:t>
            </a:r>
            <a:r>
              <a:rPr lang="en-US" altLang="zh-CN" sz="3200" dirty="0" err="1" smtClean="0">
                <a:solidFill>
                  <a:srgbClr val="FF0000"/>
                </a:solidFill>
              </a:rPr>
              <a:t>LSbM</a:t>
            </a:r>
            <a:r>
              <a:rPr lang="en-US" altLang="zh-CN" sz="3200" dirty="0" smtClean="0">
                <a:solidFill>
                  <a:srgbClr val="FF0000"/>
                </a:solidFill>
              </a:rPr>
              <a:t>-tree</a:t>
            </a:r>
            <a:endParaRPr lang="zh-CN" altLang="en-US" sz="3200" dirty="0">
              <a:solidFill>
                <a:srgbClr val="FF0000"/>
              </a:solidFill>
            </a:endParaRPr>
          </a:p>
        </p:txBody>
      </p:sp>
      <p:sp>
        <p:nvSpPr>
          <p:cNvPr id="5" name="圆角矩形 4"/>
          <p:cNvSpPr/>
          <p:nvPr/>
        </p:nvSpPr>
        <p:spPr>
          <a:xfrm>
            <a:off x="1830524" y="1075521"/>
            <a:ext cx="1560353" cy="587229"/>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err="1" smtClean="0">
                <a:solidFill>
                  <a:schemeClr val="tx1"/>
                </a:solidFill>
              </a:rPr>
              <a:t>i</a:t>
            </a:r>
            <a:r>
              <a:rPr lang="en-US" altLang="zh-CN" dirty="0" smtClean="0">
                <a:solidFill>
                  <a:schemeClr val="tx1"/>
                </a:solidFill>
              </a:rPr>
              <a:t>=0</a:t>
            </a:r>
            <a:endParaRPr lang="zh-CN" altLang="en-US" dirty="0">
              <a:solidFill>
                <a:schemeClr val="tx1"/>
              </a:solidFill>
            </a:endParaRPr>
          </a:p>
        </p:txBody>
      </p:sp>
      <p:sp>
        <p:nvSpPr>
          <p:cNvPr id="6" name="菱形 5"/>
          <p:cNvSpPr/>
          <p:nvPr/>
        </p:nvSpPr>
        <p:spPr>
          <a:xfrm>
            <a:off x="1595634" y="4142870"/>
            <a:ext cx="2030136" cy="901814"/>
          </a:xfrm>
          <a:prstGeom prst="diamond">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dirty="0">
                <a:solidFill>
                  <a:schemeClr val="tx1"/>
                </a:solidFill>
              </a:rPr>
              <a:t>I</a:t>
            </a:r>
            <a:r>
              <a:rPr lang="en-US" altLang="zh-CN" sz="1400" dirty="0" smtClean="0">
                <a:solidFill>
                  <a:schemeClr val="tx1"/>
                </a:solidFill>
              </a:rPr>
              <a:t>s level </a:t>
            </a:r>
            <a:r>
              <a:rPr lang="en-US" altLang="zh-CN" sz="1400" dirty="0" err="1" smtClean="0">
                <a:solidFill>
                  <a:schemeClr val="tx1"/>
                </a:solidFill>
              </a:rPr>
              <a:t>i</a:t>
            </a:r>
            <a:r>
              <a:rPr lang="en-US" altLang="zh-CN" sz="1400" dirty="0" smtClean="0">
                <a:solidFill>
                  <a:schemeClr val="tx1"/>
                </a:solidFill>
              </a:rPr>
              <a:t> the last level?</a:t>
            </a:r>
            <a:endParaRPr lang="zh-CN" altLang="en-US" sz="1400" dirty="0">
              <a:solidFill>
                <a:schemeClr val="tx1"/>
              </a:solidFill>
            </a:endParaRPr>
          </a:p>
        </p:txBody>
      </p:sp>
      <p:sp>
        <p:nvSpPr>
          <p:cNvPr id="7" name="圆角矩形 6"/>
          <p:cNvSpPr/>
          <p:nvPr/>
        </p:nvSpPr>
        <p:spPr>
          <a:xfrm>
            <a:off x="1830525" y="6134246"/>
            <a:ext cx="1560353" cy="587229"/>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smtClean="0">
                <a:solidFill>
                  <a:schemeClr val="tx1"/>
                </a:solidFill>
              </a:rPr>
              <a:t>Not found</a:t>
            </a:r>
            <a:endParaRPr lang="zh-CN" altLang="en-US" dirty="0">
              <a:solidFill>
                <a:schemeClr val="tx1"/>
              </a:solidFill>
            </a:endParaRPr>
          </a:p>
        </p:txBody>
      </p:sp>
      <p:sp>
        <p:nvSpPr>
          <p:cNvPr id="10" name="矩形 9"/>
          <p:cNvSpPr/>
          <p:nvPr/>
        </p:nvSpPr>
        <p:spPr>
          <a:xfrm>
            <a:off x="219456" y="4325329"/>
            <a:ext cx="1023841" cy="53689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err="1" smtClean="0">
                <a:solidFill>
                  <a:schemeClr val="tx1"/>
                </a:solidFill>
              </a:rPr>
              <a:t>i</a:t>
            </a:r>
            <a:r>
              <a:rPr lang="en-US" altLang="zh-CN" dirty="0" smtClean="0">
                <a:solidFill>
                  <a:schemeClr val="tx1"/>
                </a:solidFill>
              </a:rPr>
              <a:t>++</a:t>
            </a:r>
            <a:endParaRPr lang="zh-CN" altLang="en-US" dirty="0">
              <a:solidFill>
                <a:schemeClr val="tx1"/>
              </a:solidFill>
            </a:endParaRPr>
          </a:p>
        </p:txBody>
      </p:sp>
      <p:sp>
        <p:nvSpPr>
          <p:cNvPr id="11" name="菱形 10"/>
          <p:cNvSpPr/>
          <p:nvPr/>
        </p:nvSpPr>
        <p:spPr>
          <a:xfrm>
            <a:off x="1596120" y="1958997"/>
            <a:ext cx="2030136" cy="901814"/>
          </a:xfrm>
          <a:prstGeom prst="diamond">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200" dirty="0" smtClean="0">
                <a:solidFill>
                  <a:schemeClr val="tx1"/>
                </a:solidFill>
              </a:rPr>
              <a:t> Any block in </a:t>
            </a:r>
            <a:r>
              <a:rPr lang="en-US" altLang="zh-CN" sz="1200" dirty="0" smtClean="0">
                <a:solidFill>
                  <a:srgbClr val="FF0000"/>
                </a:solidFill>
              </a:rPr>
              <a:t>C</a:t>
            </a:r>
            <a:r>
              <a:rPr lang="en-US" altLang="zh-CN" sz="1200" baseline="-25000" dirty="0" smtClean="0">
                <a:solidFill>
                  <a:srgbClr val="FF0000"/>
                </a:solidFill>
              </a:rPr>
              <a:t>i</a:t>
            </a:r>
            <a:r>
              <a:rPr lang="en-US" altLang="zh-CN" sz="1200" dirty="0" smtClean="0">
                <a:solidFill>
                  <a:srgbClr val="FF0000"/>
                </a:solidFill>
              </a:rPr>
              <a:t> </a:t>
            </a:r>
            <a:r>
              <a:rPr lang="en-US" altLang="zh-CN" sz="1200" dirty="0" smtClean="0">
                <a:solidFill>
                  <a:schemeClr val="tx1"/>
                </a:solidFill>
              </a:rPr>
              <a:t>holding </a:t>
            </a:r>
            <a:r>
              <a:rPr lang="en-US" altLang="zh-CN" sz="1200" i="1" dirty="0" smtClean="0">
                <a:solidFill>
                  <a:srgbClr val="FF0000"/>
                </a:solidFill>
              </a:rPr>
              <a:t>k</a:t>
            </a:r>
            <a:r>
              <a:rPr lang="en-US" altLang="zh-CN" sz="1200" dirty="0" smtClean="0">
                <a:solidFill>
                  <a:schemeClr val="tx1"/>
                </a:solidFill>
              </a:rPr>
              <a:t>?</a:t>
            </a:r>
            <a:endParaRPr lang="zh-CN" altLang="en-US" sz="1200" baseline="-25000" dirty="0">
              <a:solidFill>
                <a:schemeClr val="tx1"/>
              </a:solidFill>
            </a:endParaRPr>
          </a:p>
        </p:txBody>
      </p:sp>
      <p:sp>
        <p:nvSpPr>
          <p:cNvPr id="12" name="TextBox 11"/>
          <p:cNvSpPr txBox="1"/>
          <p:nvPr/>
        </p:nvSpPr>
        <p:spPr>
          <a:xfrm>
            <a:off x="2611188" y="3591296"/>
            <a:ext cx="428322" cy="369332"/>
          </a:xfrm>
          <a:prstGeom prst="rect">
            <a:avLst/>
          </a:prstGeom>
          <a:noFill/>
        </p:spPr>
        <p:txBody>
          <a:bodyPr wrap="none" rtlCol="0">
            <a:spAutoFit/>
          </a:bodyPr>
          <a:lstStyle/>
          <a:p>
            <a:r>
              <a:rPr lang="en-US" altLang="zh-CN" dirty="0" smtClean="0"/>
              <a:t>no</a:t>
            </a:r>
            <a:endParaRPr lang="zh-CN" altLang="en-US" dirty="0"/>
          </a:p>
        </p:txBody>
      </p:sp>
      <p:sp>
        <p:nvSpPr>
          <p:cNvPr id="13" name="TextBox 12"/>
          <p:cNvSpPr txBox="1"/>
          <p:nvPr/>
        </p:nvSpPr>
        <p:spPr>
          <a:xfrm>
            <a:off x="1270830" y="4224445"/>
            <a:ext cx="428322" cy="369332"/>
          </a:xfrm>
          <a:prstGeom prst="rect">
            <a:avLst/>
          </a:prstGeom>
          <a:noFill/>
        </p:spPr>
        <p:txBody>
          <a:bodyPr wrap="none" rtlCol="0">
            <a:spAutoFit/>
          </a:bodyPr>
          <a:lstStyle/>
          <a:p>
            <a:r>
              <a:rPr lang="en-US" altLang="zh-CN" dirty="0" smtClean="0"/>
              <a:t>no</a:t>
            </a:r>
            <a:endParaRPr lang="zh-CN" altLang="en-US" dirty="0"/>
          </a:p>
        </p:txBody>
      </p:sp>
      <p:sp>
        <p:nvSpPr>
          <p:cNvPr id="14" name="矩形 13"/>
          <p:cNvSpPr/>
          <p:nvPr/>
        </p:nvSpPr>
        <p:spPr>
          <a:xfrm>
            <a:off x="4472328" y="5188388"/>
            <a:ext cx="1554089" cy="53689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smtClean="0">
                <a:solidFill>
                  <a:schemeClr val="tx1"/>
                </a:solidFill>
              </a:rPr>
              <a:t>Load the block into cache</a:t>
            </a:r>
            <a:endParaRPr lang="zh-CN" altLang="en-US" sz="1600" dirty="0">
              <a:solidFill>
                <a:srgbClr val="FF0000"/>
              </a:solidFill>
            </a:endParaRPr>
          </a:p>
        </p:txBody>
      </p:sp>
      <p:sp>
        <p:nvSpPr>
          <p:cNvPr id="15" name="圆角矩形 14"/>
          <p:cNvSpPr/>
          <p:nvPr/>
        </p:nvSpPr>
        <p:spPr>
          <a:xfrm>
            <a:off x="6467920" y="6134246"/>
            <a:ext cx="1560353" cy="587229"/>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2000" dirty="0">
                <a:solidFill>
                  <a:schemeClr val="tx1"/>
                </a:solidFill>
              </a:rPr>
              <a:t>F</a:t>
            </a:r>
            <a:r>
              <a:rPr lang="en-US" altLang="zh-CN" sz="2000" dirty="0" smtClean="0">
                <a:solidFill>
                  <a:schemeClr val="tx1"/>
                </a:solidFill>
              </a:rPr>
              <a:t>ound</a:t>
            </a:r>
            <a:endParaRPr lang="zh-CN" altLang="en-US" sz="2000" dirty="0">
              <a:solidFill>
                <a:schemeClr val="tx1"/>
              </a:solidFill>
            </a:endParaRPr>
          </a:p>
        </p:txBody>
      </p:sp>
      <p:cxnSp>
        <p:nvCxnSpPr>
          <p:cNvPr id="22" name="直接箭头连接符 21"/>
          <p:cNvCxnSpPr>
            <a:stCxn id="5" idx="2"/>
            <a:endCxn id="11" idx="0"/>
          </p:cNvCxnSpPr>
          <p:nvPr/>
        </p:nvCxnSpPr>
        <p:spPr>
          <a:xfrm>
            <a:off x="2610701" y="1662750"/>
            <a:ext cx="487" cy="29624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3" name="直接箭头连接符 22"/>
          <p:cNvCxnSpPr>
            <a:stCxn id="11" idx="2"/>
            <a:endCxn id="6" idx="0"/>
          </p:cNvCxnSpPr>
          <p:nvPr/>
        </p:nvCxnSpPr>
        <p:spPr>
          <a:xfrm flipH="1">
            <a:off x="2610702" y="2860811"/>
            <a:ext cx="486" cy="128205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6" name="直接箭头连接符 25"/>
          <p:cNvCxnSpPr>
            <a:stCxn id="14" idx="3"/>
            <a:endCxn id="33" idx="1"/>
          </p:cNvCxnSpPr>
          <p:nvPr/>
        </p:nvCxnSpPr>
        <p:spPr>
          <a:xfrm flipV="1">
            <a:off x="6026417" y="5455869"/>
            <a:ext cx="441501" cy="96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9" name="直接箭头连接符 28"/>
          <p:cNvCxnSpPr>
            <a:stCxn id="6" idx="1"/>
            <a:endCxn id="10" idx="3"/>
          </p:cNvCxnSpPr>
          <p:nvPr/>
        </p:nvCxnSpPr>
        <p:spPr>
          <a:xfrm flipH="1">
            <a:off x="1243297" y="4593777"/>
            <a:ext cx="352337"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0" name="直接箭头连接符 29"/>
          <p:cNvCxnSpPr>
            <a:stCxn id="6" idx="2"/>
            <a:endCxn id="7" idx="0"/>
          </p:cNvCxnSpPr>
          <p:nvPr/>
        </p:nvCxnSpPr>
        <p:spPr>
          <a:xfrm>
            <a:off x="2610702" y="5044684"/>
            <a:ext cx="0" cy="108956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4" name="肘形连接符 43"/>
          <p:cNvCxnSpPr>
            <a:stCxn id="10" idx="0"/>
            <a:endCxn id="11" idx="1"/>
          </p:cNvCxnSpPr>
          <p:nvPr/>
        </p:nvCxnSpPr>
        <p:spPr>
          <a:xfrm rot="5400000" flipH="1" flipV="1">
            <a:off x="206036" y="2935246"/>
            <a:ext cx="1915425" cy="864743"/>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2610702" y="5194531"/>
            <a:ext cx="491225" cy="369332"/>
          </a:xfrm>
          <a:prstGeom prst="rect">
            <a:avLst/>
          </a:prstGeom>
          <a:noFill/>
        </p:spPr>
        <p:txBody>
          <a:bodyPr wrap="none" rtlCol="0">
            <a:spAutoFit/>
          </a:bodyPr>
          <a:lstStyle/>
          <a:p>
            <a:r>
              <a:rPr lang="en-US" altLang="zh-CN" dirty="0" smtClean="0"/>
              <a:t>yes</a:t>
            </a:r>
            <a:endParaRPr lang="zh-CN" altLang="en-US" dirty="0"/>
          </a:p>
        </p:txBody>
      </p:sp>
      <p:sp>
        <p:nvSpPr>
          <p:cNvPr id="33" name="矩形 32"/>
          <p:cNvSpPr/>
          <p:nvPr/>
        </p:nvSpPr>
        <p:spPr>
          <a:xfrm>
            <a:off x="6467918" y="5187421"/>
            <a:ext cx="1560353" cy="53689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dirty="0" smtClean="0">
                <a:solidFill>
                  <a:schemeClr val="tx1"/>
                </a:solidFill>
              </a:rPr>
              <a:t>Parse out K-V pair from the block</a:t>
            </a:r>
            <a:endParaRPr lang="zh-CN" altLang="en-US" sz="1400" dirty="0">
              <a:solidFill>
                <a:schemeClr val="tx1"/>
              </a:solidFill>
            </a:endParaRPr>
          </a:p>
        </p:txBody>
      </p:sp>
      <p:cxnSp>
        <p:nvCxnSpPr>
          <p:cNvPr id="34" name="直接箭头连接符 33"/>
          <p:cNvCxnSpPr>
            <a:stCxn id="33" idx="2"/>
            <a:endCxn id="15" idx="0"/>
          </p:cNvCxnSpPr>
          <p:nvPr/>
        </p:nvCxnSpPr>
        <p:spPr>
          <a:xfrm>
            <a:off x="7248095" y="5724316"/>
            <a:ext cx="2" cy="40993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2" name="菱形 31"/>
          <p:cNvSpPr/>
          <p:nvPr/>
        </p:nvSpPr>
        <p:spPr>
          <a:xfrm>
            <a:off x="4200337" y="4178725"/>
            <a:ext cx="2084832" cy="693679"/>
          </a:xfrm>
          <a:prstGeom prst="diamond">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dirty="0" smtClean="0">
                <a:solidFill>
                  <a:schemeClr val="tx1"/>
                </a:solidFill>
              </a:rPr>
              <a:t>Is the block in cache?</a:t>
            </a:r>
            <a:endParaRPr lang="zh-CN" altLang="en-US" sz="1400" dirty="0">
              <a:solidFill>
                <a:schemeClr val="tx1"/>
              </a:solidFill>
            </a:endParaRPr>
          </a:p>
        </p:txBody>
      </p:sp>
      <p:cxnSp>
        <p:nvCxnSpPr>
          <p:cNvPr id="43" name="肘形连接符 42"/>
          <p:cNvCxnSpPr>
            <a:stCxn id="32" idx="3"/>
            <a:endCxn id="33" idx="0"/>
          </p:cNvCxnSpPr>
          <p:nvPr/>
        </p:nvCxnSpPr>
        <p:spPr>
          <a:xfrm>
            <a:off x="6285169" y="4525565"/>
            <a:ext cx="962926" cy="661856"/>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65" name="直接箭头连接符 64"/>
          <p:cNvCxnSpPr>
            <a:stCxn id="32" idx="2"/>
            <a:endCxn id="14" idx="0"/>
          </p:cNvCxnSpPr>
          <p:nvPr/>
        </p:nvCxnSpPr>
        <p:spPr>
          <a:xfrm>
            <a:off x="5242753" y="4872404"/>
            <a:ext cx="6620" cy="31598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3650699" y="2054248"/>
            <a:ext cx="491225" cy="369332"/>
          </a:xfrm>
          <a:prstGeom prst="rect">
            <a:avLst/>
          </a:prstGeom>
          <a:noFill/>
        </p:spPr>
        <p:txBody>
          <a:bodyPr wrap="none" rtlCol="0">
            <a:spAutoFit/>
          </a:bodyPr>
          <a:lstStyle/>
          <a:p>
            <a:r>
              <a:rPr lang="en-US" altLang="zh-CN" dirty="0" smtClean="0"/>
              <a:t>yes</a:t>
            </a:r>
            <a:endParaRPr lang="zh-CN" altLang="en-US" dirty="0"/>
          </a:p>
        </p:txBody>
      </p:sp>
      <p:sp>
        <p:nvSpPr>
          <p:cNvPr id="71" name="菱形 70"/>
          <p:cNvSpPr/>
          <p:nvPr/>
        </p:nvSpPr>
        <p:spPr>
          <a:xfrm>
            <a:off x="4231259" y="1958997"/>
            <a:ext cx="2030136" cy="901814"/>
          </a:xfrm>
          <a:prstGeom prst="diamond">
            <a:avLst/>
          </a:prstGeom>
          <a:solidFill>
            <a:schemeClr val="accent3"/>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200" dirty="0" smtClean="0">
                <a:solidFill>
                  <a:schemeClr val="tx1"/>
                </a:solidFill>
              </a:rPr>
              <a:t>Any block in </a:t>
            </a:r>
            <a:r>
              <a:rPr lang="en-US" altLang="zh-CN" sz="1200" dirty="0" smtClean="0">
                <a:solidFill>
                  <a:srgbClr val="FF0000"/>
                </a:solidFill>
              </a:rPr>
              <a:t>B</a:t>
            </a:r>
            <a:r>
              <a:rPr lang="en-US" altLang="zh-CN" sz="1200" baseline="-25000" dirty="0" smtClean="0">
                <a:solidFill>
                  <a:srgbClr val="FF0000"/>
                </a:solidFill>
              </a:rPr>
              <a:t>i</a:t>
            </a:r>
            <a:r>
              <a:rPr lang="en-US" altLang="zh-CN" sz="1200" dirty="0" smtClean="0">
                <a:solidFill>
                  <a:schemeClr val="tx1"/>
                </a:solidFill>
              </a:rPr>
              <a:t> holding </a:t>
            </a:r>
            <a:r>
              <a:rPr lang="en-US" altLang="zh-CN" sz="1200" i="1" dirty="0" smtClean="0">
                <a:solidFill>
                  <a:srgbClr val="FF0000"/>
                </a:solidFill>
              </a:rPr>
              <a:t>k</a:t>
            </a:r>
            <a:r>
              <a:rPr lang="en-US" altLang="zh-CN" sz="1200" dirty="0" smtClean="0">
                <a:solidFill>
                  <a:schemeClr val="tx1"/>
                </a:solidFill>
              </a:rPr>
              <a:t>?</a:t>
            </a:r>
            <a:endParaRPr lang="zh-CN" altLang="en-US" sz="1200" baseline="-25000" dirty="0">
              <a:solidFill>
                <a:schemeClr val="tx1"/>
              </a:solidFill>
            </a:endParaRPr>
          </a:p>
        </p:txBody>
      </p:sp>
      <p:sp>
        <p:nvSpPr>
          <p:cNvPr id="72" name="矩形 71"/>
          <p:cNvSpPr/>
          <p:nvPr/>
        </p:nvSpPr>
        <p:spPr>
          <a:xfrm>
            <a:off x="6688283" y="3144889"/>
            <a:ext cx="1560353" cy="536895"/>
          </a:xfrm>
          <a:prstGeom prst="rect">
            <a:avLst/>
          </a:prstGeom>
          <a:solidFill>
            <a:schemeClr val="accent3"/>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smtClean="0">
                <a:solidFill>
                  <a:schemeClr val="tx1"/>
                </a:solidFill>
              </a:rPr>
              <a:t>Use the block found in </a:t>
            </a:r>
            <a:r>
              <a:rPr lang="en-US" altLang="zh-CN" sz="1600" dirty="0" smtClean="0">
                <a:solidFill>
                  <a:srgbClr val="FF0000"/>
                </a:solidFill>
              </a:rPr>
              <a:t>B</a:t>
            </a:r>
            <a:r>
              <a:rPr lang="en-US" altLang="zh-CN" sz="1600" baseline="-25000" dirty="0" smtClean="0">
                <a:solidFill>
                  <a:srgbClr val="FF0000"/>
                </a:solidFill>
              </a:rPr>
              <a:t>i</a:t>
            </a:r>
            <a:endParaRPr lang="zh-CN" altLang="en-US" sz="1600" dirty="0">
              <a:solidFill>
                <a:srgbClr val="FF0000"/>
              </a:solidFill>
            </a:endParaRPr>
          </a:p>
        </p:txBody>
      </p:sp>
      <p:sp>
        <p:nvSpPr>
          <p:cNvPr id="73" name="TextBox 72"/>
          <p:cNvSpPr txBox="1"/>
          <p:nvPr/>
        </p:nvSpPr>
        <p:spPr>
          <a:xfrm>
            <a:off x="5243676" y="2761050"/>
            <a:ext cx="428322" cy="369332"/>
          </a:xfrm>
          <a:prstGeom prst="rect">
            <a:avLst/>
          </a:prstGeom>
          <a:noFill/>
        </p:spPr>
        <p:txBody>
          <a:bodyPr wrap="none" rtlCol="0">
            <a:spAutoFit/>
          </a:bodyPr>
          <a:lstStyle/>
          <a:p>
            <a:r>
              <a:rPr lang="en-US" altLang="zh-CN" dirty="0" smtClean="0"/>
              <a:t>no</a:t>
            </a:r>
            <a:endParaRPr lang="zh-CN" altLang="en-US" dirty="0"/>
          </a:p>
        </p:txBody>
      </p:sp>
      <p:sp>
        <p:nvSpPr>
          <p:cNvPr id="74" name="TextBox 73"/>
          <p:cNvSpPr txBox="1"/>
          <p:nvPr/>
        </p:nvSpPr>
        <p:spPr>
          <a:xfrm>
            <a:off x="6328736" y="2054248"/>
            <a:ext cx="491225" cy="369332"/>
          </a:xfrm>
          <a:prstGeom prst="rect">
            <a:avLst/>
          </a:prstGeom>
          <a:noFill/>
        </p:spPr>
        <p:txBody>
          <a:bodyPr wrap="none" rtlCol="0">
            <a:spAutoFit/>
          </a:bodyPr>
          <a:lstStyle/>
          <a:p>
            <a:r>
              <a:rPr lang="en-US" altLang="zh-CN" dirty="0" smtClean="0"/>
              <a:t>yes</a:t>
            </a:r>
            <a:endParaRPr lang="zh-CN" altLang="en-US" dirty="0"/>
          </a:p>
        </p:txBody>
      </p:sp>
      <p:cxnSp>
        <p:nvCxnSpPr>
          <p:cNvPr id="76" name="直接箭头连接符 75"/>
          <p:cNvCxnSpPr/>
          <p:nvPr/>
        </p:nvCxnSpPr>
        <p:spPr>
          <a:xfrm flipV="1">
            <a:off x="3592284" y="2404746"/>
            <a:ext cx="608053" cy="1"/>
          </a:xfrm>
          <a:prstGeom prst="straightConnector1">
            <a:avLst/>
          </a:prstGeom>
          <a:ln>
            <a:solidFill>
              <a:srgbClr val="00B050"/>
            </a:solidFill>
            <a:tailEnd type="arrow"/>
          </a:ln>
        </p:spPr>
        <p:style>
          <a:lnRef idx="2">
            <a:schemeClr val="accent1"/>
          </a:lnRef>
          <a:fillRef idx="0">
            <a:schemeClr val="accent1"/>
          </a:fillRef>
          <a:effectRef idx="1">
            <a:schemeClr val="accent1"/>
          </a:effectRef>
          <a:fontRef idx="minor">
            <a:schemeClr val="tx1"/>
          </a:fontRef>
        </p:style>
      </p:cxnSp>
      <p:cxnSp>
        <p:nvCxnSpPr>
          <p:cNvPr id="77" name="肘形连接符 76"/>
          <p:cNvCxnSpPr>
            <a:stCxn id="71" idx="3"/>
            <a:endCxn id="72" idx="0"/>
          </p:cNvCxnSpPr>
          <p:nvPr/>
        </p:nvCxnSpPr>
        <p:spPr>
          <a:xfrm>
            <a:off x="6261395" y="2409904"/>
            <a:ext cx="1207065" cy="734985"/>
          </a:xfrm>
          <a:prstGeom prst="bentConnector2">
            <a:avLst/>
          </a:prstGeom>
          <a:ln>
            <a:solidFill>
              <a:srgbClr val="00B050"/>
            </a:solidFill>
            <a:tailEnd type="arrow"/>
          </a:ln>
        </p:spPr>
        <p:style>
          <a:lnRef idx="2">
            <a:schemeClr val="accent1"/>
          </a:lnRef>
          <a:fillRef idx="0">
            <a:schemeClr val="accent1"/>
          </a:fillRef>
          <a:effectRef idx="1">
            <a:schemeClr val="accent1"/>
          </a:effectRef>
          <a:fontRef idx="minor">
            <a:schemeClr val="tx1"/>
          </a:fontRef>
        </p:style>
      </p:cxnSp>
      <p:sp>
        <p:nvSpPr>
          <p:cNvPr id="82" name="矩形 81"/>
          <p:cNvSpPr/>
          <p:nvPr/>
        </p:nvSpPr>
        <p:spPr>
          <a:xfrm>
            <a:off x="4472328" y="3144889"/>
            <a:ext cx="1554089" cy="53689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smtClean="0">
                <a:solidFill>
                  <a:schemeClr val="tx1"/>
                </a:solidFill>
              </a:rPr>
              <a:t>Use the block found in </a:t>
            </a:r>
            <a:r>
              <a:rPr lang="en-US" altLang="zh-CN" sz="1600" dirty="0" smtClean="0">
                <a:solidFill>
                  <a:srgbClr val="FF0000"/>
                </a:solidFill>
              </a:rPr>
              <a:t>C</a:t>
            </a:r>
            <a:r>
              <a:rPr lang="en-US" altLang="zh-CN" sz="1600" baseline="-25000" dirty="0" smtClean="0">
                <a:solidFill>
                  <a:srgbClr val="FF0000"/>
                </a:solidFill>
              </a:rPr>
              <a:t>i</a:t>
            </a:r>
            <a:endParaRPr lang="zh-CN" altLang="en-US" sz="1600" dirty="0">
              <a:solidFill>
                <a:srgbClr val="FF0000"/>
              </a:solidFill>
            </a:endParaRPr>
          </a:p>
        </p:txBody>
      </p:sp>
      <p:cxnSp>
        <p:nvCxnSpPr>
          <p:cNvPr id="37" name="直接箭头连接符 36"/>
          <p:cNvCxnSpPr>
            <a:stCxn id="82" idx="2"/>
            <a:endCxn id="32" idx="0"/>
          </p:cNvCxnSpPr>
          <p:nvPr/>
        </p:nvCxnSpPr>
        <p:spPr>
          <a:xfrm flipH="1">
            <a:off x="5242753" y="3681784"/>
            <a:ext cx="6620" cy="49694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307587" y="4201952"/>
            <a:ext cx="491225" cy="369332"/>
          </a:xfrm>
          <a:prstGeom prst="rect">
            <a:avLst/>
          </a:prstGeom>
          <a:noFill/>
        </p:spPr>
        <p:txBody>
          <a:bodyPr wrap="none" rtlCol="0">
            <a:spAutoFit/>
          </a:bodyPr>
          <a:lstStyle/>
          <a:p>
            <a:r>
              <a:rPr lang="en-US" altLang="zh-CN" dirty="0" smtClean="0"/>
              <a:t>yes</a:t>
            </a:r>
            <a:endParaRPr lang="zh-CN" altLang="en-US" dirty="0"/>
          </a:p>
        </p:txBody>
      </p:sp>
      <p:sp>
        <p:nvSpPr>
          <p:cNvPr id="41" name="TextBox 40"/>
          <p:cNvSpPr txBox="1"/>
          <p:nvPr/>
        </p:nvSpPr>
        <p:spPr>
          <a:xfrm>
            <a:off x="5247629" y="4825199"/>
            <a:ext cx="428322" cy="369332"/>
          </a:xfrm>
          <a:prstGeom prst="rect">
            <a:avLst/>
          </a:prstGeom>
          <a:noFill/>
        </p:spPr>
        <p:txBody>
          <a:bodyPr wrap="none" rtlCol="0">
            <a:spAutoFit/>
          </a:bodyPr>
          <a:lstStyle/>
          <a:p>
            <a:r>
              <a:rPr lang="en-US" altLang="zh-CN" dirty="0" smtClean="0"/>
              <a:t>no</a:t>
            </a:r>
            <a:endParaRPr lang="zh-CN" altLang="en-US" dirty="0"/>
          </a:p>
        </p:txBody>
      </p:sp>
      <p:cxnSp>
        <p:nvCxnSpPr>
          <p:cNvPr id="78" name="肘形连接符 77"/>
          <p:cNvCxnSpPr>
            <a:stCxn id="72" idx="2"/>
            <a:endCxn id="32" idx="0"/>
          </p:cNvCxnSpPr>
          <p:nvPr/>
        </p:nvCxnSpPr>
        <p:spPr>
          <a:xfrm rot="5400000">
            <a:off x="6107137" y="2817401"/>
            <a:ext cx="496941" cy="2225707"/>
          </a:xfrm>
          <a:prstGeom prst="bentConnector3">
            <a:avLst>
              <a:gd name="adj1" fmla="val 50000"/>
            </a:avLst>
          </a:prstGeom>
          <a:ln>
            <a:solidFill>
              <a:srgbClr val="00B050"/>
            </a:solidFill>
            <a:tailEnd type="arrow"/>
          </a:ln>
        </p:spPr>
        <p:style>
          <a:lnRef idx="2">
            <a:schemeClr val="accent1"/>
          </a:lnRef>
          <a:fillRef idx="0">
            <a:schemeClr val="accent1"/>
          </a:fillRef>
          <a:effectRef idx="1">
            <a:schemeClr val="accent1"/>
          </a:effectRef>
          <a:fontRef idx="minor">
            <a:schemeClr val="tx1"/>
          </a:fontRef>
        </p:style>
      </p:cxnSp>
      <p:cxnSp>
        <p:nvCxnSpPr>
          <p:cNvPr id="75" name="直接箭头连接符 74"/>
          <p:cNvCxnSpPr>
            <a:stCxn id="71" idx="2"/>
            <a:endCxn id="82" idx="0"/>
          </p:cNvCxnSpPr>
          <p:nvPr/>
        </p:nvCxnSpPr>
        <p:spPr>
          <a:xfrm>
            <a:off x="5246327" y="2860811"/>
            <a:ext cx="3046" cy="284078"/>
          </a:xfrm>
          <a:prstGeom prst="straightConnector1">
            <a:avLst/>
          </a:prstGeom>
          <a:ln>
            <a:solidFill>
              <a:srgbClr val="00B050"/>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617236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fade">
                                      <p:cBhvr>
                                        <p:cTn id="7" dur="500"/>
                                        <p:tgtEl>
                                          <p:spTgt spid="7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1"/>
                                        </p:tgtEl>
                                        <p:attrNameLst>
                                          <p:attrName>style.visibility</p:attrName>
                                        </p:attrNameLst>
                                      </p:cBhvr>
                                      <p:to>
                                        <p:strVal val="visible"/>
                                      </p:to>
                                    </p:set>
                                    <p:animEffect transition="in" filter="fade">
                                      <p:cBhvr>
                                        <p:cTn id="10" dur="500"/>
                                        <p:tgtEl>
                                          <p:spTgt spid="71"/>
                                        </p:tgtEl>
                                      </p:cBhvr>
                                    </p:animEffect>
                                  </p:childTnLst>
                                </p:cTn>
                              </p:par>
                              <p:par>
                                <p:cTn id="11" presetID="10" presetClass="entr" presetSubtype="0" fill="hold" nodeType="withEffect">
                                  <p:stCondLst>
                                    <p:cond delay="0"/>
                                  </p:stCondLst>
                                  <p:childTnLst>
                                    <p:set>
                                      <p:cBhvr>
                                        <p:cTn id="12" dur="1" fill="hold">
                                          <p:stCondLst>
                                            <p:cond delay="0"/>
                                          </p:stCondLst>
                                        </p:cTn>
                                        <p:tgtEl>
                                          <p:spTgt spid="75"/>
                                        </p:tgtEl>
                                        <p:attrNameLst>
                                          <p:attrName>style.visibility</p:attrName>
                                        </p:attrNameLst>
                                      </p:cBhvr>
                                      <p:to>
                                        <p:strVal val="visible"/>
                                      </p:to>
                                    </p:set>
                                    <p:animEffect transition="in" filter="fade">
                                      <p:cBhvr>
                                        <p:cTn id="13" dur="500"/>
                                        <p:tgtEl>
                                          <p:spTgt spid="7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3"/>
                                        </p:tgtEl>
                                        <p:attrNameLst>
                                          <p:attrName>style.visibility</p:attrName>
                                        </p:attrNameLst>
                                      </p:cBhvr>
                                      <p:to>
                                        <p:strVal val="visible"/>
                                      </p:to>
                                    </p:set>
                                    <p:animEffect transition="in" filter="fade">
                                      <p:cBhvr>
                                        <p:cTn id="16" dur="500"/>
                                        <p:tgtEl>
                                          <p:spTgt spid="7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4"/>
                                        </p:tgtEl>
                                        <p:attrNameLst>
                                          <p:attrName>style.visibility</p:attrName>
                                        </p:attrNameLst>
                                      </p:cBhvr>
                                      <p:to>
                                        <p:strVal val="visible"/>
                                      </p:to>
                                    </p:set>
                                    <p:animEffect transition="in" filter="fade">
                                      <p:cBhvr>
                                        <p:cTn id="21" dur="500"/>
                                        <p:tgtEl>
                                          <p:spTgt spid="74"/>
                                        </p:tgtEl>
                                      </p:cBhvr>
                                    </p:animEffect>
                                  </p:childTnLst>
                                </p:cTn>
                              </p:par>
                              <p:par>
                                <p:cTn id="22" presetID="10" presetClass="entr" presetSubtype="0" fill="hold" nodeType="withEffect">
                                  <p:stCondLst>
                                    <p:cond delay="0"/>
                                  </p:stCondLst>
                                  <p:childTnLst>
                                    <p:set>
                                      <p:cBhvr>
                                        <p:cTn id="23" dur="1" fill="hold">
                                          <p:stCondLst>
                                            <p:cond delay="0"/>
                                          </p:stCondLst>
                                        </p:cTn>
                                        <p:tgtEl>
                                          <p:spTgt spid="77"/>
                                        </p:tgtEl>
                                        <p:attrNameLst>
                                          <p:attrName>style.visibility</p:attrName>
                                        </p:attrNameLst>
                                      </p:cBhvr>
                                      <p:to>
                                        <p:strVal val="visible"/>
                                      </p:to>
                                    </p:set>
                                    <p:animEffect transition="in" filter="fade">
                                      <p:cBhvr>
                                        <p:cTn id="24" dur="500"/>
                                        <p:tgtEl>
                                          <p:spTgt spid="7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72"/>
                                        </p:tgtEl>
                                        <p:attrNameLst>
                                          <p:attrName>style.visibility</p:attrName>
                                        </p:attrNameLst>
                                      </p:cBhvr>
                                      <p:to>
                                        <p:strVal val="visible"/>
                                      </p:to>
                                    </p:set>
                                    <p:animEffect transition="in" filter="fade">
                                      <p:cBhvr>
                                        <p:cTn id="27" dur="500"/>
                                        <p:tgtEl>
                                          <p:spTgt spid="72"/>
                                        </p:tgtEl>
                                      </p:cBhvr>
                                    </p:animEffect>
                                  </p:childTnLst>
                                </p:cTn>
                              </p:par>
                              <p:par>
                                <p:cTn id="28" presetID="10" presetClass="entr" presetSubtype="0" fill="hold" nodeType="withEffect">
                                  <p:stCondLst>
                                    <p:cond delay="0"/>
                                  </p:stCondLst>
                                  <p:childTnLst>
                                    <p:set>
                                      <p:cBhvr>
                                        <p:cTn id="29" dur="1" fill="hold">
                                          <p:stCondLst>
                                            <p:cond delay="0"/>
                                          </p:stCondLst>
                                        </p:cTn>
                                        <p:tgtEl>
                                          <p:spTgt spid="78"/>
                                        </p:tgtEl>
                                        <p:attrNameLst>
                                          <p:attrName>style.visibility</p:attrName>
                                        </p:attrNameLst>
                                      </p:cBhvr>
                                      <p:to>
                                        <p:strVal val="visible"/>
                                      </p:to>
                                    </p:set>
                                    <p:animEffect transition="in" filter="fade">
                                      <p:cBhvr>
                                        <p:cTn id="30"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p:bldP spid="72" grpId="0" animBg="1"/>
      <p:bldP spid="73" grpId="0"/>
      <p:bldP spid="74"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1120588" y="2187179"/>
            <a:ext cx="7100047" cy="5017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spAutoFit/>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9pPr>
          </a:lstStyle>
          <a:p>
            <a:pPr algn="ctr" eaLnBrk="1" hangingPunct="1"/>
            <a:r>
              <a:rPr lang="zh-CN" altLang="en-US" sz="2800" dirty="0" smtClean="0">
                <a:solidFill>
                  <a:schemeClr val="accent2"/>
                </a:solidFill>
                <a:latin typeface="微软雅黑" panose="020B0503020204020204" pitchFamily="34" charset="-122"/>
                <a:ea typeface="微软雅黑" panose="020B0503020204020204" pitchFamily="34" charset="-122"/>
                <a:sym typeface="Roboto Th" pitchFamily="2" charset="0"/>
              </a:rPr>
              <a:t>系统的并发控制</a:t>
            </a:r>
            <a:endParaRPr lang="en-US" altLang="zh-CN" sz="2800" dirty="0">
              <a:solidFill>
                <a:schemeClr val="accent2"/>
              </a:solidFill>
              <a:latin typeface="微软雅黑" panose="020B0503020204020204" pitchFamily="34" charset="-122"/>
              <a:ea typeface="微软雅黑" panose="020B0503020204020204" pitchFamily="34" charset="-122"/>
              <a:sym typeface="Roboto Th" pitchFamily="2" charset="0"/>
            </a:endParaRPr>
          </a:p>
        </p:txBody>
      </p:sp>
    </p:spTree>
    <p:extLst>
      <p:ext uri="{BB962C8B-B14F-4D97-AF65-F5344CB8AC3E}">
        <p14:creationId xmlns:p14="http://schemas.microsoft.com/office/powerpoint/2010/main" val="324774973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1152118"/>
            <a:ext cx="7886700" cy="691073"/>
          </a:xfrm>
        </p:spPr>
        <p:txBody>
          <a:bodyPr>
            <a:normAutofit/>
          </a:bodyPr>
          <a:lstStyle/>
          <a:p>
            <a:pPr algn="ctr"/>
            <a:r>
              <a:rPr lang="en-US" sz="3000" b="1" dirty="0"/>
              <a:t>Concurrency Control (CC)</a:t>
            </a:r>
          </a:p>
        </p:txBody>
      </p:sp>
      <p:sp>
        <p:nvSpPr>
          <p:cNvPr id="3" name="Content Placeholder 2"/>
          <p:cNvSpPr>
            <a:spLocks noGrp="1"/>
          </p:cNvSpPr>
          <p:nvPr>
            <p:ph idx="1"/>
          </p:nvPr>
        </p:nvSpPr>
        <p:spPr>
          <a:xfrm>
            <a:off x="-1" y="1975402"/>
            <a:ext cx="9241972" cy="4055165"/>
          </a:xfrm>
        </p:spPr>
        <p:txBody>
          <a:bodyPr>
            <a:normAutofit/>
          </a:bodyPr>
          <a:lstStyle/>
          <a:p>
            <a:pPr marL="342900" indent="-342900">
              <a:buFont typeface="Arial" panose="020B0604020202020204" pitchFamily="34" charset="0"/>
              <a:buChar char="•"/>
            </a:pPr>
            <a:r>
              <a:rPr lang="en-US" b="1" dirty="0"/>
              <a:t>CC </a:t>
            </a:r>
            <a:r>
              <a:rPr lang="en-US" dirty="0" smtClean="0"/>
              <a:t>ensures correct results for concurrent operations </a:t>
            </a:r>
            <a:endParaRPr lang="en-US" b="1" dirty="0"/>
          </a:p>
          <a:p>
            <a:pPr marL="685800" lvl="1" indent="-342900">
              <a:buFont typeface="Wingdings" panose="05000000000000000000" pitchFamily="2" charset="2"/>
              <a:buChar char="Ø"/>
            </a:pPr>
            <a:r>
              <a:rPr lang="en-US" dirty="0" smtClean="0"/>
              <a:t>A b</a:t>
            </a:r>
            <a:r>
              <a:rPr lang="en-US" dirty="0"/>
              <a:t>asic component in OS, DS, multiprocessors, databases, PL, …</a:t>
            </a:r>
          </a:p>
          <a:p>
            <a:pPr marL="685800" lvl="1" indent="-342900">
              <a:buFont typeface="Wingdings" panose="05000000000000000000" pitchFamily="2" charset="2"/>
              <a:buChar char="Ø"/>
            </a:pPr>
            <a:r>
              <a:rPr lang="en-US" dirty="0"/>
              <a:t>Ensures </a:t>
            </a:r>
            <a:r>
              <a:rPr lang="en-US" b="1" dirty="0" err="1">
                <a:solidFill>
                  <a:srgbClr val="FF0000"/>
                </a:solidFill>
              </a:rPr>
              <a:t>serializability</a:t>
            </a:r>
            <a:r>
              <a:rPr lang="en-US" b="1" dirty="0">
                <a:solidFill>
                  <a:srgbClr val="FF0000"/>
                </a:solidFill>
              </a:rPr>
              <a:t> </a:t>
            </a:r>
            <a:r>
              <a:rPr lang="en-US" dirty="0"/>
              <a:t>of data accesses to the shared data sets</a:t>
            </a:r>
          </a:p>
          <a:p>
            <a:pPr marL="685800" lvl="1" indent="-342900">
              <a:buFont typeface="Wingdings" panose="05000000000000000000" pitchFamily="2" charset="2"/>
              <a:buChar char="Ø"/>
            </a:pPr>
            <a:r>
              <a:rPr lang="en-US" dirty="0" smtClean="0"/>
              <a:t>Get results fast for </a:t>
            </a:r>
            <a:r>
              <a:rPr lang="en-US" b="1" dirty="0" smtClean="0">
                <a:solidFill>
                  <a:srgbClr val="FF0000"/>
                </a:solidFill>
              </a:rPr>
              <a:t>high </a:t>
            </a:r>
            <a:r>
              <a:rPr lang="en-US" b="1" dirty="0">
                <a:solidFill>
                  <a:srgbClr val="FF0000"/>
                </a:solidFill>
              </a:rPr>
              <a:t>throughput and scalability</a:t>
            </a:r>
          </a:p>
          <a:p>
            <a:pPr marL="342900" indent="-342900">
              <a:buFont typeface="Arial" panose="020B0604020202020204" pitchFamily="34" charset="0"/>
              <a:buChar char="•"/>
            </a:pPr>
            <a:endParaRPr lang="en-US" b="1" dirty="0"/>
          </a:p>
          <a:p>
            <a:pPr marL="342900" indent="-342900">
              <a:buFont typeface="Arial" panose="020B0604020202020204" pitchFamily="34" charset="0"/>
              <a:buChar char="•"/>
            </a:pPr>
            <a:r>
              <a:rPr lang="en-US" b="1" dirty="0"/>
              <a:t>Optimistic Concurrency Control </a:t>
            </a:r>
            <a:r>
              <a:rPr lang="en-US" dirty="0"/>
              <a:t>(</a:t>
            </a:r>
            <a:r>
              <a:rPr lang="en-US" b="1" dirty="0">
                <a:solidFill>
                  <a:srgbClr val="FF0000"/>
                </a:solidFill>
              </a:rPr>
              <a:t>OCC,</a:t>
            </a:r>
            <a:r>
              <a:rPr lang="en-US" b="1" dirty="0"/>
              <a:t> </a:t>
            </a:r>
            <a:r>
              <a:rPr lang="en-US" dirty="0"/>
              <a:t>Kung and Johnson, 1981)</a:t>
            </a:r>
            <a:r>
              <a:rPr lang="en-US" b="1" dirty="0"/>
              <a:t> has been </a:t>
            </a:r>
            <a:r>
              <a:rPr lang="en-US" dirty="0" smtClean="0"/>
              <a:t>used in several production systems </a:t>
            </a:r>
            <a:endParaRPr lang="en-US" b="1" dirty="0"/>
          </a:p>
          <a:p>
            <a:pPr marL="685800" lvl="1" indent="-342900">
              <a:buFont typeface="Wingdings" panose="05000000000000000000" pitchFamily="2" charset="2"/>
              <a:buChar char="Ø"/>
            </a:pPr>
            <a:r>
              <a:rPr lang="en-US" dirty="0"/>
              <a:t>E.g., Microsoft </a:t>
            </a:r>
            <a:r>
              <a:rPr lang="en-US" dirty="0" err="1"/>
              <a:t>Hekaton</a:t>
            </a:r>
            <a:r>
              <a:rPr lang="en-US" dirty="0" smtClean="0"/>
              <a:t>, Google App Engine, </a:t>
            </a:r>
            <a:r>
              <a:rPr lang="en-US" dirty="0" err="1" smtClean="0"/>
              <a:t>CoucDB</a:t>
            </a:r>
            <a:r>
              <a:rPr lang="en-US" dirty="0" smtClean="0"/>
              <a:t>, Silo, … </a:t>
            </a:r>
            <a:endParaRPr lang="en-US" dirty="0"/>
          </a:p>
        </p:txBody>
      </p:sp>
    </p:spTree>
    <p:extLst>
      <p:ext uri="{BB962C8B-B14F-4D97-AF65-F5344CB8AC3E}">
        <p14:creationId xmlns:p14="http://schemas.microsoft.com/office/powerpoint/2010/main" val="3652243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976181"/>
            <a:ext cx="7886700" cy="3773090"/>
          </a:xfrm>
        </p:spPr>
        <p:txBody>
          <a:bodyPr>
            <a:normAutofit lnSpcReduction="10000"/>
          </a:bodyPr>
          <a:lstStyle/>
          <a:p>
            <a:pPr marL="342900" indent="-342900">
              <a:buFont typeface="Wingdings" panose="05000000000000000000" pitchFamily="2" charset="2"/>
              <a:buChar char="l"/>
            </a:pPr>
            <a:r>
              <a:rPr lang="en-US" b="1" dirty="0"/>
              <a:t>OCC executes a transaction in three phases:</a:t>
            </a:r>
          </a:p>
          <a:p>
            <a:pPr marL="685800" lvl="1" indent="-342900">
              <a:buFont typeface="Arial" panose="020B0604020202020204" pitchFamily="34" charset="0"/>
              <a:buChar char="•"/>
            </a:pPr>
            <a:r>
              <a:rPr lang="en-US" b="1" dirty="0"/>
              <a:t>Phase 1: </a:t>
            </a:r>
            <a:r>
              <a:rPr lang="en-US" b="1" dirty="0">
                <a:solidFill>
                  <a:srgbClr val="FF0000"/>
                </a:solidFill>
              </a:rPr>
              <a:t>concurrent </a:t>
            </a:r>
            <a:r>
              <a:rPr lang="en-US" b="1" dirty="0" smtClean="0">
                <a:solidFill>
                  <a:srgbClr val="FF0000"/>
                </a:solidFill>
              </a:rPr>
              <a:t>local processing</a:t>
            </a:r>
            <a:r>
              <a:rPr lang="en-US" b="1" dirty="0" smtClean="0"/>
              <a:t> </a:t>
            </a:r>
            <a:r>
              <a:rPr lang="en-US" b="1" dirty="0"/>
              <a:t> </a:t>
            </a:r>
          </a:p>
          <a:p>
            <a:pPr marL="1028700" lvl="2" indent="-342900">
              <a:buFont typeface="Wingdings" panose="05000000000000000000" pitchFamily="2" charset="2"/>
              <a:buChar char="Ø"/>
            </a:pPr>
            <a:r>
              <a:rPr lang="en-US" sz="2100" dirty="0"/>
              <a:t>Reads tuples into a read set</a:t>
            </a:r>
          </a:p>
          <a:p>
            <a:pPr marL="1028700" lvl="2" indent="-342900">
              <a:buFont typeface="Wingdings" panose="05000000000000000000" pitchFamily="2" charset="2"/>
              <a:buChar char="Ø"/>
            </a:pPr>
            <a:r>
              <a:rPr lang="en-US" sz="2100" dirty="0"/>
              <a:t>Buffers writes into a write set</a:t>
            </a:r>
          </a:p>
          <a:p>
            <a:pPr marL="685800" lvl="1" indent="-342900">
              <a:buFont typeface="Arial" panose="020B0604020202020204" pitchFamily="34" charset="0"/>
              <a:buChar char="•"/>
            </a:pPr>
            <a:r>
              <a:rPr lang="en-US" b="1" dirty="0"/>
              <a:t>Phase 2:  </a:t>
            </a:r>
            <a:r>
              <a:rPr lang="en-US" b="1" dirty="0">
                <a:solidFill>
                  <a:srgbClr val="FF0000"/>
                </a:solidFill>
              </a:rPr>
              <a:t>Validation in critical section</a:t>
            </a:r>
          </a:p>
          <a:p>
            <a:pPr marL="1028700" lvl="2" indent="-342900">
              <a:buFont typeface="Wingdings" panose="05000000000000000000" pitchFamily="2" charset="2"/>
              <a:buChar char="Ø"/>
            </a:pPr>
            <a:r>
              <a:rPr lang="en-US" sz="2100" dirty="0"/>
              <a:t>Validates whether serializability is guaranteed:</a:t>
            </a:r>
          </a:p>
          <a:p>
            <a:pPr marL="1028700" lvl="3" indent="0"/>
            <a:r>
              <a:rPr lang="en-US" sz="1950" dirty="0">
                <a:solidFill>
                  <a:srgbClr val="FF0000"/>
                </a:solidFill>
              </a:rPr>
              <a:t>	Has any tuple in the read set been modified?</a:t>
            </a:r>
          </a:p>
          <a:p>
            <a:pPr marL="685800" lvl="1" indent="-342900">
              <a:buFont typeface="Arial" panose="020B0604020202020204" pitchFamily="34" charset="0"/>
              <a:buChar char="•"/>
            </a:pPr>
            <a:r>
              <a:rPr lang="en-US" b="1" dirty="0"/>
              <a:t>Phase 3: </a:t>
            </a:r>
            <a:r>
              <a:rPr lang="en-US" b="1" dirty="0" smtClean="0">
                <a:solidFill>
                  <a:srgbClr val="FF0000"/>
                </a:solidFill>
              </a:rPr>
              <a:t>Commit the results</a:t>
            </a:r>
            <a:r>
              <a:rPr lang="en-US" b="1" dirty="0">
                <a:solidFill>
                  <a:srgbClr val="FF0000"/>
                </a:solidFill>
              </a:rPr>
              <a:t> in critical section</a:t>
            </a:r>
            <a:r>
              <a:rPr lang="en-US" dirty="0"/>
              <a:t> </a:t>
            </a:r>
            <a:r>
              <a:rPr lang="en-US" dirty="0" smtClean="0"/>
              <a:t>or abort</a:t>
            </a:r>
            <a:endParaRPr lang="en-US" dirty="0"/>
          </a:p>
          <a:p>
            <a:pPr marL="1028700" lvl="2" indent="-342900">
              <a:buFont typeface="Wingdings" panose="05000000000000000000" pitchFamily="2" charset="2"/>
              <a:buChar char="Ø"/>
            </a:pPr>
            <a:r>
              <a:rPr lang="en-US" sz="2100" dirty="0"/>
              <a:t>Aborts: aborts the transaction if validation fails</a:t>
            </a:r>
          </a:p>
          <a:p>
            <a:pPr marL="1028700" lvl="2" indent="-342900">
              <a:buFont typeface="Wingdings" panose="05000000000000000000" pitchFamily="2" charset="2"/>
              <a:buChar char="Ø"/>
            </a:pPr>
            <a:r>
              <a:rPr lang="en-US" sz="2100" dirty="0"/>
              <a:t>Commits: installs the write set and commits the transaction</a:t>
            </a:r>
          </a:p>
          <a:p>
            <a:pPr lvl="2"/>
            <a:endParaRPr lang="en-US" dirty="0"/>
          </a:p>
        </p:txBody>
      </p:sp>
      <p:sp>
        <p:nvSpPr>
          <p:cNvPr id="2" name="Title 1"/>
          <p:cNvSpPr>
            <a:spLocks noGrp="1"/>
          </p:cNvSpPr>
          <p:nvPr>
            <p:ph type="title"/>
          </p:nvPr>
        </p:nvSpPr>
        <p:spPr/>
        <p:txBody>
          <a:bodyPr>
            <a:normAutofit/>
          </a:bodyPr>
          <a:lstStyle/>
          <a:p>
            <a:pPr algn="ctr"/>
            <a:r>
              <a:rPr lang="en-US" b="1" dirty="0" smtClean="0"/>
              <a:t>OCC: How It Works</a:t>
            </a:r>
            <a:endParaRPr lang="en-US" b="1" dirty="0"/>
          </a:p>
        </p:txBody>
      </p:sp>
    </p:spTree>
    <p:extLst>
      <p:ext uri="{BB962C8B-B14F-4D97-AF65-F5344CB8AC3E}">
        <p14:creationId xmlns:p14="http://schemas.microsoft.com/office/powerpoint/2010/main" val="689384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 name="Rectangle 40"/>
          <p:cNvSpPr/>
          <p:nvPr/>
        </p:nvSpPr>
        <p:spPr>
          <a:xfrm>
            <a:off x="3339784" y="4293688"/>
            <a:ext cx="891929" cy="347609"/>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350" dirty="0">
                <a:solidFill>
                  <a:schemeClr val="tx1"/>
                </a:solidFill>
              </a:rPr>
              <a:t>Validation</a:t>
            </a:r>
          </a:p>
        </p:txBody>
      </p:sp>
      <p:sp>
        <p:nvSpPr>
          <p:cNvPr id="2" name="Title 1"/>
          <p:cNvSpPr>
            <a:spLocks noGrp="1"/>
          </p:cNvSpPr>
          <p:nvPr>
            <p:ph type="title"/>
          </p:nvPr>
        </p:nvSpPr>
        <p:spPr>
          <a:xfrm>
            <a:off x="605006" y="1131094"/>
            <a:ext cx="7886700" cy="994172"/>
          </a:xfrm>
        </p:spPr>
        <p:txBody>
          <a:bodyPr/>
          <a:lstStyle/>
          <a:p>
            <a:pPr algn="ctr"/>
            <a:r>
              <a:rPr lang="en-US" b="1" dirty="0" smtClean="0"/>
              <a:t>OCC: An Example</a:t>
            </a:r>
            <a:endParaRPr lang="en-US" b="1" dirty="0"/>
          </a:p>
        </p:txBody>
      </p:sp>
      <p:sp>
        <p:nvSpPr>
          <p:cNvPr id="42" name="Rectangle 41"/>
          <p:cNvSpPr/>
          <p:nvPr/>
        </p:nvSpPr>
        <p:spPr>
          <a:xfrm>
            <a:off x="4968268" y="3930320"/>
            <a:ext cx="923588" cy="315633"/>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350" dirty="0">
                <a:ln w="0"/>
                <a:solidFill>
                  <a:schemeClr val="tx1"/>
                </a:solidFill>
                <a:effectLst>
                  <a:outerShdw blurRad="38100" dist="19050" dir="2700000" algn="tl" rotWithShape="0">
                    <a:schemeClr val="dk1">
                      <a:alpha val="40000"/>
                    </a:schemeClr>
                  </a:outerShdw>
                </a:effectLst>
              </a:rPr>
              <a:t>Validation</a:t>
            </a:r>
          </a:p>
        </p:txBody>
      </p:sp>
      <p:sp>
        <p:nvSpPr>
          <p:cNvPr id="31" name="TextBox 30"/>
          <p:cNvSpPr txBox="1"/>
          <p:nvPr/>
        </p:nvSpPr>
        <p:spPr>
          <a:xfrm>
            <a:off x="378902" y="3241214"/>
            <a:ext cx="1100637" cy="300082"/>
          </a:xfrm>
          <a:prstGeom prst="rect">
            <a:avLst/>
          </a:prstGeom>
          <a:noFill/>
          <a:ln>
            <a:noFill/>
          </a:ln>
        </p:spPr>
        <p:txBody>
          <a:bodyPr wrap="square" rtlCol="0">
            <a:spAutoFit/>
          </a:bodyPr>
          <a:lstStyle/>
          <a:p>
            <a:r>
              <a:rPr lang="en-US" altLang="zh-CN" sz="1350"/>
              <a:t>T1’s </a:t>
            </a:r>
            <a:r>
              <a:rPr lang="en-US" altLang="zh-CN" sz="1350" dirty="0"/>
              <a:t>read set:</a:t>
            </a:r>
          </a:p>
        </p:txBody>
      </p:sp>
      <p:cxnSp>
        <p:nvCxnSpPr>
          <p:cNvPr id="6" name="Straight Connector 5"/>
          <p:cNvCxnSpPr/>
          <p:nvPr/>
        </p:nvCxnSpPr>
        <p:spPr>
          <a:xfrm>
            <a:off x="0" y="4915481"/>
            <a:ext cx="9144000" cy="18071"/>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4528054" y="1884552"/>
            <a:ext cx="19943" cy="2859488"/>
          </a:xfrm>
          <a:prstGeom prst="straightConnector1">
            <a:avLst/>
          </a:prstGeom>
          <a:ln w="31750">
            <a:headEnd w="med" len="lg"/>
            <a:tailEnd type="arrow" w="lg" len="lg"/>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4038451" y="4672774"/>
            <a:ext cx="1047235" cy="300082"/>
          </a:xfrm>
          <a:prstGeom prst="rect">
            <a:avLst/>
          </a:prstGeom>
          <a:noFill/>
        </p:spPr>
        <p:txBody>
          <a:bodyPr wrap="square" rtlCol="0">
            <a:spAutoFit/>
          </a:bodyPr>
          <a:lstStyle/>
          <a:p>
            <a:pPr algn="ctr"/>
            <a:r>
              <a:rPr lang="en-US" altLang="zh-CN" sz="1350" b="1" dirty="0"/>
              <a:t>Time</a:t>
            </a:r>
            <a:endParaRPr lang="en-US" sz="1350" b="1" dirty="0"/>
          </a:p>
        </p:txBody>
      </p:sp>
      <p:sp>
        <p:nvSpPr>
          <p:cNvPr id="54" name="Rounded Rectangular Callout 53"/>
          <p:cNvSpPr/>
          <p:nvPr/>
        </p:nvSpPr>
        <p:spPr>
          <a:xfrm>
            <a:off x="7346125" y="2337511"/>
            <a:ext cx="1706103" cy="635682"/>
          </a:xfrm>
          <a:prstGeom prst="wedgeRoundRectCallout">
            <a:avLst>
              <a:gd name="adj1" fmla="val -17135"/>
              <a:gd name="adj2" fmla="val 91299"/>
              <a:gd name="adj3" fmla="val 16667"/>
            </a:avLst>
          </a:prstGeom>
          <a:solidFill>
            <a:srgbClr val="FFC000"/>
          </a:solidFill>
          <a:ln>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200" dirty="0">
                <a:solidFill>
                  <a:schemeClr val="tx1"/>
                </a:solidFill>
              </a:rPr>
              <a:t>T2’s read set remains unchanged, thus T2 is allowed to commit</a:t>
            </a:r>
          </a:p>
        </p:txBody>
      </p:sp>
      <p:sp>
        <p:nvSpPr>
          <p:cNvPr id="55" name="Rounded Rectangular Callout 54"/>
          <p:cNvSpPr/>
          <p:nvPr/>
        </p:nvSpPr>
        <p:spPr>
          <a:xfrm>
            <a:off x="114484" y="1959065"/>
            <a:ext cx="1941356" cy="804345"/>
          </a:xfrm>
          <a:prstGeom prst="wedgeRoundRectCallout">
            <a:avLst>
              <a:gd name="adj1" fmla="val 31809"/>
              <a:gd name="adj2" fmla="val 109325"/>
              <a:gd name="adj3" fmla="val 16667"/>
            </a:avLst>
          </a:prstGeom>
          <a:solidFill>
            <a:srgbClr val="FFC000"/>
          </a:solidFill>
          <a:ln>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200" dirty="0">
                <a:solidFill>
                  <a:schemeClr val="tx1"/>
                </a:solidFill>
              </a:rPr>
              <a:t>Tuple </a:t>
            </a:r>
            <a:r>
              <a:rPr lang="en-US" sz="1200" dirty="0">
                <a:solidFill>
                  <a:srgbClr val="FF0000"/>
                </a:solidFill>
              </a:rPr>
              <a:t>A</a:t>
            </a:r>
            <a:r>
              <a:rPr lang="en-US" sz="1200" dirty="0">
                <a:solidFill>
                  <a:schemeClr val="tx1"/>
                </a:solidFill>
              </a:rPr>
              <a:t> in T1’s read set has been changed by T2, thus T1 must be </a:t>
            </a:r>
            <a:r>
              <a:rPr lang="en-US" sz="1200" dirty="0">
                <a:solidFill>
                  <a:srgbClr val="FF0000"/>
                </a:solidFill>
              </a:rPr>
              <a:t>aborted</a:t>
            </a:r>
            <a:r>
              <a:rPr lang="en-US" sz="1200" dirty="0">
                <a:solidFill>
                  <a:schemeClr val="tx1"/>
                </a:solidFill>
              </a:rPr>
              <a:t>.</a:t>
            </a:r>
          </a:p>
        </p:txBody>
      </p:sp>
      <p:grpSp>
        <p:nvGrpSpPr>
          <p:cNvPr id="17" name="Group 16"/>
          <p:cNvGrpSpPr/>
          <p:nvPr/>
        </p:nvGrpSpPr>
        <p:grpSpPr>
          <a:xfrm>
            <a:off x="2036839" y="2292735"/>
            <a:ext cx="1108201" cy="507831"/>
            <a:chOff x="2657906" y="2001271"/>
            <a:chExt cx="1477601" cy="677108"/>
          </a:xfrm>
        </p:grpSpPr>
        <p:sp>
          <p:nvSpPr>
            <p:cNvPr id="36" name="TextBox 35"/>
            <p:cNvSpPr txBox="1"/>
            <p:nvPr/>
          </p:nvSpPr>
          <p:spPr>
            <a:xfrm>
              <a:off x="3065954" y="2001271"/>
              <a:ext cx="1069553" cy="677108"/>
            </a:xfrm>
            <a:prstGeom prst="rect">
              <a:avLst/>
            </a:prstGeom>
            <a:solidFill>
              <a:srgbClr val="FFC000"/>
            </a:solidFill>
          </p:spPr>
          <p:txBody>
            <a:bodyPr wrap="square" rtlCol="0">
              <a:spAutoFit/>
            </a:bodyPr>
            <a:lstStyle/>
            <a:p>
              <a:r>
                <a:rPr lang="en-US" sz="1350" dirty="0"/>
                <a:t>B = A + B;</a:t>
              </a:r>
            </a:p>
          </p:txBody>
        </p:sp>
        <p:sp>
          <p:nvSpPr>
            <p:cNvPr id="39" name="TextBox 38"/>
            <p:cNvSpPr txBox="1"/>
            <p:nvPr/>
          </p:nvSpPr>
          <p:spPr>
            <a:xfrm>
              <a:off x="2657906" y="2012050"/>
              <a:ext cx="638952" cy="400109"/>
            </a:xfrm>
            <a:prstGeom prst="rect">
              <a:avLst/>
            </a:prstGeom>
            <a:noFill/>
          </p:spPr>
          <p:txBody>
            <a:bodyPr wrap="square" rtlCol="0">
              <a:spAutoFit/>
            </a:bodyPr>
            <a:lstStyle/>
            <a:p>
              <a:r>
                <a:rPr lang="en-US" sz="1350" b="1" dirty="0"/>
                <a:t>T1:</a:t>
              </a:r>
            </a:p>
          </p:txBody>
        </p:sp>
      </p:grpSp>
      <p:grpSp>
        <p:nvGrpSpPr>
          <p:cNvPr id="18" name="Group 17"/>
          <p:cNvGrpSpPr/>
          <p:nvPr/>
        </p:nvGrpSpPr>
        <p:grpSpPr>
          <a:xfrm>
            <a:off x="5911765" y="2298098"/>
            <a:ext cx="1349648" cy="301997"/>
            <a:chOff x="24801" y="3096195"/>
            <a:chExt cx="1685355" cy="313458"/>
          </a:xfrm>
        </p:grpSpPr>
        <p:sp>
          <p:nvSpPr>
            <p:cNvPr id="50" name="TextBox 49"/>
            <p:cNvSpPr txBox="1"/>
            <p:nvPr/>
          </p:nvSpPr>
          <p:spPr>
            <a:xfrm>
              <a:off x="456479" y="3096195"/>
              <a:ext cx="1253677" cy="311470"/>
            </a:xfrm>
            <a:prstGeom prst="rect">
              <a:avLst/>
            </a:prstGeom>
            <a:solidFill>
              <a:schemeClr val="bg1">
                <a:lumMod val="85000"/>
              </a:schemeClr>
            </a:solidFill>
          </p:spPr>
          <p:txBody>
            <a:bodyPr wrap="square" rtlCol="0">
              <a:spAutoFit/>
            </a:bodyPr>
            <a:lstStyle/>
            <a:p>
              <a:r>
                <a:rPr lang="en-US" sz="1350" dirty="0"/>
                <a:t>A = A * 1.1;</a:t>
              </a:r>
            </a:p>
          </p:txBody>
        </p:sp>
        <p:sp>
          <p:nvSpPr>
            <p:cNvPr id="57" name="TextBox 56"/>
            <p:cNvSpPr txBox="1"/>
            <p:nvPr/>
          </p:nvSpPr>
          <p:spPr>
            <a:xfrm>
              <a:off x="24801" y="3098183"/>
              <a:ext cx="574828" cy="311470"/>
            </a:xfrm>
            <a:prstGeom prst="rect">
              <a:avLst/>
            </a:prstGeom>
            <a:noFill/>
          </p:spPr>
          <p:txBody>
            <a:bodyPr wrap="square" rtlCol="0">
              <a:spAutoFit/>
            </a:bodyPr>
            <a:lstStyle/>
            <a:p>
              <a:r>
                <a:rPr lang="en-US" sz="1350" b="1" dirty="0"/>
                <a:t>T2:</a:t>
              </a:r>
            </a:p>
          </p:txBody>
        </p:sp>
      </p:grpSp>
      <p:sp>
        <p:nvSpPr>
          <p:cNvPr id="58" name="TextBox 57"/>
          <p:cNvSpPr txBox="1"/>
          <p:nvPr/>
        </p:nvSpPr>
        <p:spPr>
          <a:xfrm>
            <a:off x="390661" y="3729840"/>
            <a:ext cx="1059929" cy="507831"/>
          </a:xfrm>
          <a:prstGeom prst="rect">
            <a:avLst/>
          </a:prstGeom>
          <a:noFill/>
          <a:ln>
            <a:noFill/>
          </a:ln>
        </p:spPr>
        <p:txBody>
          <a:bodyPr wrap="square" rtlCol="0">
            <a:spAutoFit/>
          </a:bodyPr>
          <a:lstStyle/>
          <a:p>
            <a:r>
              <a:rPr lang="en-US" altLang="zh-CN" sz="1350" dirty="0"/>
              <a:t>T1’s write set:</a:t>
            </a:r>
          </a:p>
        </p:txBody>
      </p:sp>
      <p:sp>
        <p:nvSpPr>
          <p:cNvPr id="59" name="TextBox 58"/>
          <p:cNvSpPr txBox="1"/>
          <p:nvPr/>
        </p:nvSpPr>
        <p:spPr>
          <a:xfrm>
            <a:off x="6580321" y="3293329"/>
            <a:ext cx="1184603" cy="300082"/>
          </a:xfrm>
          <a:prstGeom prst="rect">
            <a:avLst/>
          </a:prstGeom>
          <a:noFill/>
          <a:ln>
            <a:noFill/>
          </a:ln>
        </p:spPr>
        <p:txBody>
          <a:bodyPr wrap="square" rtlCol="0">
            <a:spAutoFit/>
          </a:bodyPr>
          <a:lstStyle/>
          <a:p>
            <a:r>
              <a:rPr lang="en-US" altLang="zh-CN" sz="1350"/>
              <a:t>T2’s read </a:t>
            </a:r>
            <a:r>
              <a:rPr lang="en-US" altLang="zh-CN" sz="1350" dirty="0"/>
              <a:t>set:</a:t>
            </a:r>
          </a:p>
        </p:txBody>
      </p:sp>
      <p:sp>
        <p:nvSpPr>
          <p:cNvPr id="60" name="TextBox 59"/>
          <p:cNvSpPr txBox="1"/>
          <p:nvPr/>
        </p:nvSpPr>
        <p:spPr>
          <a:xfrm>
            <a:off x="6597141" y="3769132"/>
            <a:ext cx="1168356" cy="300082"/>
          </a:xfrm>
          <a:prstGeom prst="rect">
            <a:avLst/>
          </a:prstGeom>
          <a:noFill/>
          <a:ln>
            <a:noFill/>
          </a:ln>
        </p:spPr>
        <p:txBody>
          <a:bodyPr wrap="square" rtlCol="0">
            <a:spAutoFit/>
          </a:bodyPr>
          <a:lstStyle/>
          <a:p>
            <a:r>
              <a:rPr lang="en-US" altLang="zh-CN" sz="1350"/>
              <a:t>T2’s write </a:t>
            </a:r>
            <a:r>
              <a:rPr lang="en-US" altLang="zh-CN" sz="1350" dirty="0"/>
              <a:t>set:</a:t>
            </a:r>
          </a:p>
        </p:txBody>
      </p:sp>
      <p:sp>
        <p:nvSpPr>
          <p:cNvPr id="62" name="TextBox 61"/>
          <p:cNvSpPr txBox="1"/>
          <p:nvPr/>
        </p:nvSpPr>
        <p:spPr>
          <a:xfrm>
            <a:off x="3329140" y="3297481"/>
            <a:ext cx="904685" cy="300082"/>
          </a:xfrm>
          <a:prstGeom prst="rect">
            <a:avLst/>
          </a:prstGeom>
          <a:solidFill>
            <a:srgbClr val="FFC000"/>
          </a:solidFill>
        </p:spPr>
        <p:txBody>
          <a:bodyPr wrap="square" rtlCol="0">
            <a:spAutoFit/>
          </a:bodyPr>
          <a:lstStyle/>
          <a:p>
            <a:r>
              <a:rPr lang="en-US" sz="1350" dirty="0"/>
              <a:t>R(A);</a:t>
            </a:r>
          </a:p>
        </p:txBody>
      </p:sp>
      <p:sp>
        <p:nvSpPr>
          <p:cNvPr id="64" name="TextBox 63"/>
          <p:cNvSpPr txBox="1"/>
          <p:nvPr/>
        </p:nvSpPr>
        <p:spPr>
          <a:xfrm>
            <a:off x="4961544" y="3285505"/>
            <a:ext cx="934256" cy="300082"/>
          </a:xfrm>
          <a:prstGeom prst="rect">
            <a:avLst/>
          </a:prstGeom>
          <a:solidFill>
            <a:schemeClr val="bg1">
              <a:lumMod val="85000"/>
            </a:schemeClr>
          </a:solidFill>
        </p:spPr>
        <p:txBody>
          <a:bodyPr wrap="square" rtlCol="0">
            <a:spAutoFit/>
          </a:bodyPr>
          <a:lstStyle/>
          <a:p>
            <a:r>
              <a:rPr lang="en-US" sz="1350"/>
              <a:t>R(A);</a:t>
            </a:r>
            <a:endParaRPr lang="en-US" sz="1350" dirty="0"/>
          </a:p>
        </p:txBody>
      </p:sp>
      <p:sp>
        <p:nvSpPr>
          <p:cNvPr id="65" name="TextBox 64"/>
          <p:cNvSpPr txBox="1"/>
          <p:nvPr/>
        </p:nvSpPr>
        <p:spPr>
          <a:xfrm>
            <a:off x="3333058" y="3606081"/>
            <a:ext cx="900767" cy="300082"/>
          </a:xfrm>
          <a:prstGeom prst="rect">
            <a:avLst/>
          </a:prstGeom>
          <a:solidFill>
            <a:srgbClr val="FFC000"/>
          </a:solidFill>
        </p:spPr>
        <p:txBody>
          <a:bodyPr wrap="square" rtlCol="0">
            <a:spAutoFit/>
          </a:bodyPr>
          <a:lstStyle/>
          <a:p>
            <a:r>
              <a:rPr lang="en-US" sz="1350" dirty="0"/>
              <a:t>R(B);</a:t>
            </a:r>
          </a:p>
        </p:txBody>
      </p:sp>
      <p:sp>
        <p:nvSpPr>
          <p:cNvPr id="5" name="Rectangle 4"/>
          <p:cNvSpPr/>
          <p:nvPr/>
        </p:nvSpPr>
        <p:spPr>
          <a:xfrm>
            <a:off x="1542034" y="3236947"/>
            <a:ext cx="515791" cy="367422"/>
          </a:xfrm>
          <a:prstGeom prst="rect">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A (100)</a:t>
            </a:r>
          </a:p>
        </p:txBody>
      </p:sp>
      <p:sp>
        <p:nvSpPr>
          <p:cNvPr id="73" name="Rectangle 72"/>
          <p:cNvSpPr/>
          <p:nvPr/>
        </p:nvSpPr>
        <p:spPr>
          <a:xfrm>
            <a:off x="2191767" y="3228008"/>
            <a:ext cx="524907" cy="367422"/>
          </a:xfrm>
          <a:prstGeom prst="rect">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a:t>B (100)</a:t>
            </a:r>
          </a:p>
        </p:txBody>
      </p:sp>
      <p:sp>
        <p:nvSpPr>
          <p:cNvPr id="74" name="Rectangle 73"/>
          <p:cNvSpPr/>
          <p:nvPr/>
        </p:nvSpPr>
        <p:spPr>
          <a:xfrm>
            <a:off x="1539105" y="3708756"/>
            <a:ext cx="518720" cy="367422"/>
          </a:xfrm>
          <a:prstGeom prst="rect">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a:t>B (200)</a:t>
            </a:r>
          </a:p>
        </p:txBody>
      </p:sp>
      <p:sp>
        <p:nvSpPr>
          <p:cNvPr id="76" name="Rectangle 75"/>
          <p:cNvSpPr/>
          <p:nvPr/>
        </p:nvSpPr>
        <p:spPr>
          <a:xfrm>
            <a:off x="7739521" y="3240730"/>
            <a:ext cx="515480" cy="367422"/>
          </a:xfrm>
          <a:prstGeom prst="rect">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a:t>A (100)</a:t>
            </a:r>
          </a:p>
        </p:txBody>
      </p:sp>
      <p:sp>
        <p:nvSpPr>
          <p:cNvPr id="80" name="TextBox 79"/>
          <p:cNvSpPr txBox="1"/>
          <p:nvPr/>
        </p:nvSpPr>
        <p:spPr>
          <a:xfrm>
            <a:off x="3327028" y="2995453"/>
            <a:ext cx="904685" cy="300082"/>
          </a:xfrm>
          <a:prstGeom prst="rect">
            <a:avLst/>
          </a:prstGeom>
          <a:solidFill>
            <a:srgbClr val="FFC000"/>
          </a:solidFill>
        </p:spPr>
        <p:txBody>
          <a:bodyPr wrap="square" rtlCol="0">
            <a:spAutoFit/>
          </a:bodyPr>
          <a:lstStyle/>
          <a:p>
            <a:r>
              <a:rPr lang="en-US" sz="1350" dirty="0"/>
              <a:t>BEGIN</a:t>
            </a:r>
          </a:p>
        </p:txBody>
      </p:sp>
      <p:sp>
        <p:nvSpPr>
          <p:cNvPr id="81" name="TextBox 80"/>
          <p:cNvSpPr txBox="1"/>
          <p:nvPr/>
        </p:nvSpPr>
        <p:spPr>
          <a:xfrm>
            <a:off x="4957600" y="2983053"/>
            <a:ext cx="934256" cy="300082"/>
          </a:xfrm>
          <a:prstGeom prst="rect">
            <a:avLst/>
          </a:prstGeom>
          <a:solidFill>
            <a:schemeClr val="bg1">
              <a:lumMod val="85000"/>
            </a:schemeClr>
          </a:solidFill>
        </p:spPr>
        <p:txBody>
          <a:bodyPr wrap="square" rtlCol="0">
            <a:spAutoFit/>
          </a:bodyPr>
          <a:lstStyle/>
          <a:p>
            <a:r>
              <a:rPr lang="en-US" sz="1350" dirty="0"/>
              <a:t>BEGIN</a:t>
            </a:r>
          </a:p>
        </p:txBody>
      </p:sp>
      <p:graphicFrame>
        <p:nvGraphicFramePr>
          <p:cNvPr id="82" name="Table 81"/>
          <p:cNvGraphicFramePr>
            <a:graphicFrameLocks noGrp="1"/>
          </p:cNvGraphicFramePr>
          <p:nvPr>
            <p:extLst/>
          </p:nvPr>
        </p:nvGraphicFramePr>
        <p:xfrm>
          <a:off x="4016959" y="5057666"/>
          <a:ext cx="1127486" cy="815199"/>
        </p:xfrm>
        <a:graphic>
          <a:graphicData uri="http://schemas.openxmlformats.org/drawingml/2006/table">
            <a:tbl>
              <a:tblPr firstRow="1" bandRow="1">
                <a:tableStyleId>{5C22544A-7EE6-4342-B048-85BDC9FD1C3A}</a:tableStyleId>
              </a:tblPr>
              <a:tblGrid>
                <a:gridCol w="563743"/>
                <a:gridCol w="563743"/>
              </a:tblGrid>
              <a:tr h="271733">
                <a:tc>
                  <a:txBody>
                    <a:bodyPr/>
                    <a:lstStyle/>
                    <a:p>
                      <a:pPr algn="ctr"/>
                      <a:r>
                        <a:rPr lang="en-US" sz="1000" dirty="0" smtClean="0"/>
                        <a:t>ID</a:t>
                      </a:r>
                      <a:endParaRPr lang="en-US" sz="1000" dirty="0"/>
                    </a:p>
                  </a:txBody>
                  <a:tcPr marL="68580" marR="68580" marT="34290" marB="34290"/>
                </a:tc>
                <a:tc>
                  <a:txBody>
                    <a:bodyPr/>
                    <a:lstStyle/>
                    <a:p>
                      <a:pPr algn="ctr"/>
                      <a:r>
                        <a:rPr lang="en-US" sz="1000" dirty="0" smtClean="0"/>
                        <a:t>Value</a:t>
                      </a:r>
                      <a:endParaRPr lang="en-US" sz="1000" dirty="0"/>
                    </a:p>
                  </a:txBody>
                  <a:tcPr marL="68580" marR="68580" marT="34290" marB="34290"/>
                </a:tc>
              </a:tr>
              <a:tr h="271733">
                <a:tc>
                  <a:txBody>
                    <a:bodyPr/>
                    <a:lstStyle/>
                    <a:p>
                      <a:pPr algn="ctr"/>
                      <a:r>
                        <a:rPr lang="en-US" sz="1000" dirty="0" smtClean="0"/>
                        <a:t>A</a:t>
                      </a:r>
                      <a:endParaRPr lang="en-US" sz="1000" dirty="0"/>
                    </a:p>
                  </a:txBody>
                  <a:tcPr marL="68580" marR="68580" marT="34290" marB="34290"/>
                </a:tc>
                <a:tc>
                  <a:txBody>
                    <a:bodyPr/>
                    <a:lstStyle/>
                    <a:p>
                      <a:pPr algn="ctr"/>
                      <a:r>
                        <a:rPr lang="en-US" sz="1000" dirty="0" smtClean="0"/>
                        <a:t>100</a:t>
                      </a:r>
                      <a:endParaRPr lang="en-US" sz="1000" dirty="0"/>
                    </a:p>
                  </a:txBody>
                  <a:tcPr marL="68580" marR="68580" marT="34290" marB="34290"/>
                </a:tc>
              </a:tr>
              <a:tr h="271733">
                <a:tc>
                  <a:txBody>
                    <a:bodyPr/>
                    <a:lstStyle/>
                    <a:p>
                      <a:pPr algn="ctr"/>
                      <a:r>
                        <a:rPr lang="en-US" sz="1000" dirty="0" smtClean="0"/>
                        <a:t>B</a:t>
                      </a:r>
                      <a:endParaRPr lang="en-US" sz="1000" dirty="0"/>
                    </a:p>
                  </a:txBody>
                  <a:tcPr marL="68580" marR="68580" marT="34290" marB="34290"/>
                </a:tc>
                <a:tc>
                  <a:txBody>
                    <a:bodyPr/>
                    <a:lstStyle/>
                    <a:p>
                      <a:pPr algn="ctr"/>
                      <a:r>
                        <a:rPr lang="en-US" sz="1000" dirty="0" smtClean="0"/>
                        <a:t>100</a:t>
                      </a:r>
                      <a:endParaRPr lang="en-US" sz="1000" dirty="0"/>
                    </a:p>
                  </a:txBody>
                  <a:tcPr marL="68580" marR="68580" marT="34290" marB="34290"/>
                </a:tc>
              </a:tr>
            </a:tbl>
          </a:graphicData>
        </a:graphic>
      </p:graphicFrame>
      <p:sp>
        <p:nvSpPr>
          <p:cNvPr id="85" name="Rectangle 84"/>
          <p:cNvSpPr/>
          <p:nvPr/>
        </p:nvSpPr>
        <p:spPr>
          <a:xfrm>
            <a:off x="3339784" y="4297208"/>
            <a:ext cx="891929" cy="347609"/>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350" dirty="0">
                <a:solidFill>
                  <a:schemeClr val="tx1"/>
                </a:solidFill>
              </a:rPr>
              <a:t>Abort</a:t>
            </a:r>
          </a:p>
        </p:txBody>
      </p:sp>
      <p:graphicFrame>
        <p:nvGraphicFramePr>
          <p:cNvPr id="61" name="Table 60"/>
          <p:cNvGraphicFramePr>
            <a:graphicFrameLocks noGrp="1"/>
          </p:cNvGraphicFramePr>
          <p:nvPr>
            <p:extLst/>
          </p:nvPr>
        </p:nvGraphicFramePr>
        <p:xfrm>
          <a:off x="4016959" y="5055268"/>
          <a:ext cx="1127486" cy="766351"/>
        </p:xfrm>
        <a:graphic>
          <a:graphicData uri="http://schemas.openxmlformats.org/drawingml/2006/table">
            <a:tbl>
              <a:tblPr firstRow="1" bandRow="1">
                <a:tableStyleId>{5C22544A-7EE6-4342-B048-85BDC9FD1C3A}</a:tableStyleId>
              </a:tblPr>
              <a:tblGrid>
                <a:gridCol w="563743"/>
                <a:gridCol w="563743"/>
              </a:tblGrid>
              <a:tr h="222885">
                <a:tc>
                  <a:txBody>
                    <a:bodyPr/>
                    <a:lstStyle/>
                    <a:p>
                      <a:pPr algn="ctr"/>
                      <a:r>
                        <a:rPr lang="en-US" sz="1000" dirty="0" smtClean="0"/>
                        <a:t>ID</a:t>
                      </a:r>
                      <a:endParaRPr lang="en-US" sz="1000" dirty="0"/>
                    </a:p>
                  </a:txBody>
                  <a:tcPr marL="68580" marR="68580" marT="34290" marB="34290"/>
                </a:tc>
                <a:tc>
                  <a:txBody>
                    <a:bodyPr/>
                    <a:lstStyle/>
                    <a:p>
                      <a:pPr algn="ctr"/>
                      <a:r>
                        <a:rPr lang="en-US" sz="1000" dirty="0" smtClean="0"/>
                        <a:t>Value</a:t>
                      </a:r>
                      <a:endParaRPr lang="en-US" sz="1000" dirty="0"/>
                    </a:p>
                  </a:txBody>
                  <a:tcPr marL="68580" marR="68580" marT="34290" marB="34290"/>
                </a:tc>
              </a:tr>
              <a:tr h="271733">
                <a:tc>
                  <a:txBody>
                    <a:bodyPr/>
                    <a:lstStyle/>
                    <a:p>
                      <a:pPr algn="ctr"/>
                      <a:r>
                        <a:rPr lang="en-US" sz="1000" dirty="0" smtClean="0"/>
                        <a:t>A</a:t>
                      </a:r>
                      <a:endParaRPr lang="en-US" sz="1000" dirty="0"/>
                    </a:p>
                  </a:txBody>
                  <a:tcPr marL="68580" marR="68580" marT="34290" marB="34290"/>
                </a:tc>
                <a:tc>
                  <a:txBody>
                    <a:bodyPr/>
                    <a:lstStyle/>
                    <a:p>
                      <a:pPr algn="ctr"/>
                      <a:r>
                        <a:rPr lang="en-US" sz="1000" dirty="0" smtClean="0">
                          <a:solidFill>
                            <a:srgbClr val="FF0000"/>
                          </a:solidFill>
                        </a:rPr>
                        <a:t>110</a:t>
                      </a:r>
                      <a:endParaRPr lang="en-US" sz="1000" dirty="0">
                        <a:solidFill>
                          <a:srgbClr val="FF0000"/>
                        </a:solidFill>
                      </a:endParaRPr>
                    </a:p>
                  </a:txBody>
                  <a:tcPr marL="68580" marR="68580" marT="34290" marB="34290"/>
                </a:tc>
              </a:tr>
              <a:tr h="271733">
                <a:tc>
                  <a:txBody>
                    <a:bodyPr/>
                    <a:lstStyle/>
                    <a:p>
                      <a:pPr algn="ctr"/>
                      <a:r>
                        <a:rPr lang="en-US" sz="1000" dirty="0" smtClean="0"/>
                        <a:t>B</a:t>
                      </a:r>
                      <a:endParaRPr lang="en-US" sz="1000" dirty="0"/>
                    </a:p>
                  </a:txBody>
                  <a:tcPr marL="68580" marR="68580" marT="34290" marB="34290"/>
                </a:tc>
                <a:tc>
                  <a:txBody>
                    <a:bodyPr/>
                    <a:lstStyle/>
                    <a:p>
                      <a:pPr algn="ctr"/>
                      <a:r>
                        <a:rPr lang="en-US" sz="1000" dirty="0" smtClean="0"/>
                        <a:t>100</a:t>
                      </a:r>
                      <a:endParaRPr lang="en-US" sz="1000" dirty="0"/>
                    </a:p>
                  </a:txBody>
                  <a:tcPr marL="68580" marR="68580" marT="34290" marB="34290"/>
                </a:tc>
              </a:tr>
            </a:tbl>
          </a:graphicData>
        </a:graphic>
      </p:graphicFrame>
      <p:sp>
        <p:nvSpPr>
          <p:cNvPr id="77" name="Rectangle 76"/>
          <p:cNvSpPr/>
          <p:nvPr/>
        </p:nvSpPr>
        <p:spPr>
          <a:xfrm>
            <a:off x="7741964" y="3716228"/>
            <a:ext cx="513036" cy="367422"/>
          </a:xfrm>
          <a:prstGeom prst="rect">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A (110)</a:t>
            </a:r>
          </a:p>
        </p:txBody>
      </p:sp>
      <p:sp>
        <p:nvSpPr>
          <p:cNvPr id="16" name="Oval 15"/>
          <p:cNvSpPr/>
          <p:nvPr/>
        </p:nvSpPr>
        <p:spPr>
          <a:xfrm>
            <a:off x="3259184" y="2042580"/>
            <a:ext cx="1030149" cy="75680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a:t>Thread1</a:t>
            </a:r>
            <a:endParaRPr lang="en-US" sz="1350" dirty="0"/>
          </a:p>
        </p:txBody>
      </p:sp>
      <p:sp>
        <p:nvSpPr>
          <p:cNvPr id="63" name="Oval 62"/>
          <p:cNvSpPr/>
          <p:nvPr/>
        </p:nvSpPr>
        <p:spPr>
          <a:xfrm>
            <a:off x="4893688" y="2050362"/>
            <a:ext cx="1018076" cy="75680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a:t>Thread2</a:t>
            </a:r>
            <a:endParaRPr lang="en-US" sz="1350" dirty="0"/>
          </a:p>
        </p:txBody>
      </p:sp>
      <p:sp>
        <p:nvSpPr>
          <p:cNvPr id="66" name="TextBox 65"/>
          <p:cNvSpPr txBox="1"/>
          <p:nvPr/>
        </p:nvSpPr>
        <p:spPr>
          <a:xfrm>
            <a:off x="3339783" y="3922087"/>
            <a:ext cx="900767" cy="300082"/>
          </a:xfrm>
          <a:prstGeom prst="rect">
            <a:avLst/>
          </a:prstGeom>
          <a:solidFill>
            <a:srgbClr val="FFC000"/>
          </a:solidFill>
        </p:spPr>
        <p:txBody>
          <a:bodyPr wrap="square" rtlCol="0">
            <a:spAutoFit/>
          </a:bodyPr>
          <a:lstStyle/>
          <a:p>
            <a:r>
              <a:rPr lang="en-US" sz="1350" dirty="0"/>
              <a:t>W(B);</a:t>
            </a:r>
          </a:p>
        </p:txBody>
      </p:sp>
      <p:sp>
        <p:nvSpPr>
          <p:cNvPr id="72" name="TextBox 71"/>
          <p:cNvSpPr txBox="1"/>
          <p:nvPr/>
        </p:nvSpPr>
        <p:spPr>
          <a:xfrm>
            <a:off x="4968269" y="3601507"/>
            <a:ext cx="934256" cy="300082"/>
          </a:xfrm>
          <a:prstGeom prst="rect">
            <a:avLst/>
          </a:prstGeom>
          <a:solidFill>
            <a:schemeClr val="bg1">
              <a:lumMod val="85000"/>
            </a:schemeClr>
          </a:solidFill>
        </p:spPr>
        <p:txBody>
          <a:bodyPr wrap="square" rtlCol="0">
            <a:spAutoFit/>
          </a:bodyPr>
          <a:lstStyle/>
          <a:p>
            <a:r>
              <a:rPr lang="en-US" sz="1350" dirty="0"/>
              <a:t>W(A);</a:t>
            </a:r>
          </a:p>
        </p:txBody>
      </p:sp>
      <p:sp>
        <p:nvSpPr>
          <p:cNvPr id="78" name="TextBox 77"/>
          <p:cNvSpPr txBox="1"/>
          <p:nvPr/>
        </p:nvSpPr>
        <p:spPr>
          <a:xfrm>
            <a:off x="2682419" y="4987429"/>
            <a:ext cx="1405490" cy="507831"/>
          </a:xfrm>
          <a:prstGeom prst="rect">
            <a:avLst/>
          </a:prstGeom>
          <a:noFill/>
        </p:spPr>
        <p:txBody>
          <a:bodyPr wrap="square" rtlCol="0">
            <a:spAutoFit/>
          </a:bodyPr>
          <a:lstStyle/>
          <a:p>
            <a:pPr algn="ctr"/>
            <a:r>
              <a:rPr lang="en-US" altLang="zh-CN" sz="1350" b="1" dirty="0"/>
              <a:t>Database </a:t>
            </a:r>
          </a:p>
          <a:p>
            <a:pPr algn="ctr"/>
            <a:r>
              <a:rPr lang="en-US" altLang="zh-CN" sz="1350" b="1" dirty="0"/>
              <a:t>storage</a:t>
            </a:r>
            <a:endParaRPr lang="en-US" sz="1350" b="1" dirty="0"/>
          </a:p>
        </p:txBody>
      </p:sp>
      <p:sp>
        <p:nvSpPr>
          <p:cNvPr id="79" name="Rectangle 78"/>
          <p:cNvSpPr/>
          <p:nvPr/>
        </p:nvSpPr>
        <p:spPr>
          <a:xfrm>
            <a:off x="4968269" y="3927921"/>
            <a:ext cx="923588" cy="315633"/>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350" dirty="0">
                <a:ln w="0"/>
                <a:solidFill>
                  <a:schemeClr val="tx1"/>
                </a:solidFill>
                <a:effectLst>
                  <a:outerShdw blurRad="38100" dist="19050" dir="2700000" algn="tl" rotWithShape="0">
                    <a:schemeClr val="dk1">
                      <a:alpha val="40000"/>
                    </a:schemeClr>
                  </a:outerShdw>
                </a:effectLst>
              </a:rPr>
              <a:t>Commit</a:t>
            </a:r>
          </a:p>
        </p:txBody>
      </p:sp>
      <p:sp>
        <p:nvSpPr>
          <p:cNvPr id="30" name="Rounded Rectangle 29"/>
          <p:cNvSpPr/>
          <p:nvPr/>
        </p:nvSpPr>
        <p:spPr>
          <a:xfrm>
            <a:off x="200194" y="2949003"/>
            <a:ext cx="2554580" cy="1250083"/>
          </a:xfrm>
          <a:prstGeom prst="roundRect">
            <a:avLst/>
          </a:prstGeom>
          <a:noFill/>
          <a:ln>
            <a:solidFill>
              <a:schemeClr val="accent6">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sp>
        <p:nvSpPr>
          <p:cNvPr id="84" name="TextBox 83"/>
          <p:cNvSpPr txBox="1"/>
          <p:nvPr/>
        </p:nvSpPr>
        <p:spPr>
          <a:xfrm>
            <a:off x="774738" y="4238755"/>
            <a:ext cx="1405490" cy="507831"/>
          </a:xfrm>
          <a:prstGeom prst="rect">
            <a:avLst/>
          </a:prstGeom>
          <a:noFill/>
        </p:spPr>
        <p:txBody>
          <a:bodyPr wrap="square" rtlCol="0">
            <a:spAutoFit/>
          </a:bodyPr>
          <a:lstStyle/>
          <a:p>
            <a:pPr algn="ctr"/>
            <a:r>
              <a:rPr lang="en-US" altLang="zh-CN" sz="1350" b="1" dirty="0"/>
              <a:t>Thread-local memory</a:t>
            </a:r>
            <a:endParaRPr lang="en-US" sz="1350" b="1" dirty="0"/>
          </a:p>
        </p:txBody>
      </p:sp>
      <p:sp>
        <p:nvSpPr>
          <p:cNvPr id="88" name="TextBox 87"/>
          <p:cNvSpPr txBox="1"/>
          <p:nvPr/>
        </p:nvSpPr>
        <p:spPr>
          <a:xfrm>
            <a:off x="7072192" y="4314433"/>
            <a:ext cx="1405490" cy="507831"/>
          </a:xfrm>
          <a:prstGeom prst="rect">
            <a:avLst/>
          </a:prstGeom>
          <a:noFill/>
        </p:spPr>
        <p:txBody>
          <a:bodyPr wrap="square" rtlCol="0">
            <a:spAutoFit/>
          </a:bodyPr>
          <a:lstStyle/>
          <a:p>
            <a:pPr algn="ctr"/>
            <a:r>
              <a:rPr lang="en-US" altLang="zh-CN" sz="1350" b="1" dirty="0"/>
              <a:t>Thread-local memory</a:t>
            </a:r>
            <a:endParaRPr lang="en-US" sz="1350" b="1" dirty="0"/>
          </a:p>
        </p:txBody>
      </p:sp>
      <p:sp>
        <p:nvSpPr>
          <p:cNvPr id="89" name="Rounded Rectangle 88"/>
          <p:cNvSpPr/>
          <p:nvPr/>
        </p:nvSpPr>
        <p:spPr>
          <a:xfrm>
            <a:off x="6497648" y="2995870"/>
            <a:ext cx="2554580" cy="1250083"/>
          </a:xfrm>
          <a:prstGeom prst="roundRect">
            <a:avLst/>
          </a:prstGeom>
          <a:noFill/>
          <a:ln>
            <a:solidFill>
              <a:schemeClr val="accent6">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spTree>
    <p:extLst>
      <p:ext uri="{BB962C8B-B14F-4D97-AF65-F5344CB8AC3E}">
        <p14:creationId xmlns:p14="http://schemas.microsoft.com/office/powerpoint/2010/main" val="3567232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grpId="1" nodeType="withEffect">
                                  <p:stCondLst>
                                    <p:cond delay="0"/>
                                  </p:stCondLst>
                                  <p:childTnLst>
                                    <p:set>
                                      <p:cBhvr>
                                        <p:cTn id="28" dur="1" fill="hold">
                                          <p:stCondLst>
                                            <p:cond delay="0"/>
                                          </p:stCondLst>
                                        </p:cTn>
                                        <p:tgtEl>
                                          <p:spTgt spid="84"/>
                                        </p:tgtEl>
                                        <p:attrNameLst>
                                          <p:attrName>style.visibility</p:attrName>
                                        </p:attrNameLst>
                                      </p:cBhvr>
                                      <p:to>
                                        <p:strVal val="visible"/>
                                      </p:to>
                                    </p:set>
                                  </p:childTnLst>
                                </p:cTn>
                              </p:par>
                              <p:par>
                                <p:cTn id="29" presetID="1" presetClass="entr" presetSubtype="0" fill="hold" grpId="1" nodeType="withEffect">
                                  <p:stCondLst>
                                    <p:cond delay="0"/>
                                  </p:stCondLst>
                                  <p:childTnLst>
                                    <p:set>
                                      <p:cBhvr>
                                        <p:cTn id="30" dur="1" fill="hold">
                                          <p:stCondLst>
                                            <p:cond delay="0"/>
                                          </p:stCondLst>
                                        </p:cTn>
                                        <p:tgtEl>
                                          <p:spTgt spid="8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5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0" presetClass="path" presetSubtype="0" accel="50000" decel="50000" fill="hold" grpId="1" nodeType="clickEffect">
                                  <p:stCondLst>
                                    <p:cond delay="0"/>
                                  </p:stCondLst>
                                  <p:childTnLst>
                                    <p:animMotion origin="layout" path="M -0.00716 4.81481E-6 L -0.33763 0.30578 " pathEditMode="fixed" rAng="0" ptsTypes="AA">
                                      <p:cBhvr>
                                        <p:cTn id="68" dur="1000" fill="hold"/>
                                        <p:tgtEl>
                                          <p:spTgt spid="77"/>
                                        </p:tgtEl>
                                        <p:attrNameLst>
                                          <p:attrName>ppt_x</p:attrName>
                                          <p:attrName>ppt_y</p:attrName>
                                        </p:attrNameLst>
                                      </p:cBhvr>
                                      <p:rCtr x="-16523" y="15278"/>
                                    </p:animMotion>
                                  </p:childTnLst>
                                  <p:subTnLst>
                                    <p:set>
                                      <p:cBhvr override="childStyle">
                                        <p:cTn dur="1" fill="hold" display="0" masterRel="sameClick" afterEffect="1">
                                          <p:stCondLst>
                                            <p:cond evt="end" delay="0">
                                              <p:tn val="67"/>
                                            </p:cond>
                                          </p:stCondLst>
                                        </p:cTn>
                                        <p:tgtEl>
                                          <p:spTgt spid="77"/>
                                        </p:tgtEl>
                                        <p:attrNameLst>
                                          <p:attrName>style.visibility</p:attrName>
                                        </p:attrNameLst>
                                      </p:cBhvr>
                                      <p:to>
                                        <p:strVal val="hidden"/>
                                      </p:to>
                                    </p:set>
                                  </p:subTnLst>
                                </p:cTn>
                              </p:par>
                              <p:par>
                                <p:cTn id="69" presetID="1" presetClass="exit" presetSubtype="0" fill="hold" grpId="1" nodeType="withEffect">
                                  <p:stCondLst>
                                    <p:cond delay="0"/>
                                  </p:stCondLst>
                                  <p:childTnLst>
                                    <p:set>
                                      <p:cBhvr>
                                        <p:cTn id="70" dur="1" fill="hold">
                                          <p:stCondLst>
                                            <p:cond delay="0"/>
                                          </p:stCondLst>
                                        </p:cTn>
                                        <p:tgtEl>
                                          <p:spTgt spid="54"/>
                                        </p:tgtEl>
                                        <p:attrNameLst>
                                          <p:attrName>style.visibility</p:attrName>
                                        </p:attrNameLst>
                                      </p:cBhvr>
                                      <p:to>
                                        <p:strVal val="hidden"/>
                                      </p:to>
                                    </p:set>
                                  </p:childTnLst>
                                </p:cTn>
                              </p:par>
                            </p:childTnLst>
                          </p:cTn>
                        </p:par>
                        <p:par>
                          <p:cTn id="71" fill="hold">
                            <p:stCondLst>
                              <p:cond delay="1000"/>
                            </p:stCondLst>
                            <p:childTnLst>
                              <p:par>
                                <p:cTn id="72" presetID="1" presetClass="entr" presetSubtype="0" fill="hold" nodeType="afterEffect">
                                  <p:stCondLst>
                                    <p:cond delay="0"/>
                                  </p:stCondLst>
                                  <p:childTnLst>
                                    <p:set>
                                      <p:cBhvr>
                                        <p:cTn id="73" dur="1" fill="hold">
                                          <p:stCondLst>
                                            <p:cond delay="0"/>
                                          </p:stCondLst>
                                        </p:cTn>
                                        <p:tgtEl>
                                          <p:spTgt spid="61"/>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79"/>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41"/>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55"/>
                                        </p:tgtEl>
                                        <p:attrNameLst>
                                          <p:attrName>style.visibility</p:attrName>
                                        </p:attrNameLst>
                                      </p:cBhvr>
                                      <p:to>
                                        <p:strVal val="visible"/>
                                      </p:to>
                                    </p:set>
                                  </p:childTnLst>
                                </p:cTn>
                              </p:par>
                              <p:par>
                                <p:cTn id="84" presetID="35" presetClass="emph" presetSubtype="0" repeatCount="2000" fill="hold" grpId="1" nodeType="withEffect">
                                  <p:stCondLst>
                                    <p:cond delay="0"/>
                                  </p:stCondLst>
                                  <p:childTnLst>
                                    <p:anim calcmode="discrete" valueType="str">
                                      <p:cBhvr>
                                        <p:cTn id="85" dur="500" fill="hold"/>
                                        <p:tgtEl>
                                          <p:spTgt spid="5"/>
                                        </p:tgtEl>
                                        <p:attrNameLst>
                                          <p:attrName>style.visibility</p:attrName>
                                        </p:attrNameLst>
                                      </p:cBhvr>
                                      <p:tavLst>
                                        <p:tav tm="0">
                                          <p:val>
                                            <p:strVal val="hidden"/>
                                          </p:val>
                                        </p:tav>
                                        <p:tav tm="50000">
                                          <p:val>
                                            <p:strVal val="visible"/>
                                          </p:val>
                                        </p:tav>
                                      </p:tavLst>
                                    </p:anim>
                                  </p:childTnLst>
                                </p:cTn>
                              </p:par>
                              <p:par>
                                <p:cTn id="86" presetID="1" presetClass="exit" presetSubtype="0" fill="hold" grpId="1" nodeType="withEffect">
                                  <p:stCondLst>
                                    <p:cond delay="2000"/>
                                  </p:stCondLst>
                                  <p:childTnLst>
                                    <p:set>
                                      <p:cBhvr>
                                        <p:cTn id="87" dur="1" fill="hold">
                                          <p:stCondLst>
                                            <p:cond delay="0"/>
                                          </p:stCondLst>
                                        </p:cTn>
                                        <p:tgtEl>
                                          <p:spTgt spid="55"/>
                                        </p:tgtEl>
                                        <p:attrNameLst>
                                          <p:attrName>style.visibility</p:attrName>
                                        </p:attrNameLst>
                                      </p:cBhvr>
                                      <p:to>
                                        <p:strVal val="hidden"/>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85"/>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84"/>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31" grpId="0"/>
      <p:bldP spid="44" grpId="0"/>
      <p:bldP spid="54" grpId="0" animBg="1"/>
      <p:bldP spid="54" grpId="1" animBg="1"/>
      <p:bldP spid="55" grpId="0" animBg="1"/>
      <p:bldP spid="55" grpId="1" animBg="1"/>
      <p:bldP spid="58" grpId="0"/>
      <p:bldP spid="59" grpId="0"/>
      <p:bldP spid="60" grpId="0"/>
      <p:bldP spid="62" grpId="0" animBg="1"/>
      <p:bldP spid="64" grpId="0" animBg="1"/>
      <p:bldP spid="65" grpId="0" animBg="1"/>
      <p:bldP spid="5" grpId="0" animBg="1"/>
      <p:bldP spid="5" grpId="1" animBg="1"/>
      <p:bldP spid="73" grpId="0" animBg="1"/>
      <p:bldP spid="74" grpId="0" animBg="1"/>
      <p:bldP spid="76" grpId="0" animBg="1"/>
      <p:bldP spid="80" grpId="0" animBg="1"/>
      <p:bldP spid="81" grpId="0" animBg="1"/>
      <p:bldP spid="85" grpId="0" animBg="1"/>
      <p:bldP spid="77" grpId="0" animBg="1"/>
      <p:bldP spid="77" grpId="1" animBg="1"/>
      <p:bldP spid="66" grpId="0" animBg="1"/>
      <p:bldP spid="72" grpId="0" animBg="1"/>
      <p:bldP spid="79" grpId="0" animBg="1"/>
      <p:bldP spid="30" grpId="0" animBg="1"/>
      <p:bldP spid="84" grpId="0"/>
      <p:bldP spid="84" grpId="1"/>
      <p:bldP spid="88" grpId="0"/>
      <p:bldP spid="88" grpId="1"/>
      <p:bldP spid="89"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p:cNvSpPr/>
          <p:nvPr/>
        </p:nvSpPr>
        <p:spPr>
          <a:xfrm>
            <a:off x="1141964" y="3609046"/>
            <a:ext cx="7101083" cy="1904678"/>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350"/>
          </a:p>
        </p:txBody>
      </p:sp>
      <p:sp>
        <p:nvSpPr>
          <p:cNvPr id="4" name="Rectangle 3"/>
          <p:cNvSpPr/>
          <p:nvPr/>
        </p:nvSpPr>
        <p:spPr>
          <a:xfrm>
            <a:off x="1141964" y="2669510"/>
            <a:ext cx="7101083" cy="939536"/>
          </a:xfrm>
          <a:prstGeom prst="rect">
            <a:avLst/>
          </a:prstGeom>
          <a:solidFill>
            <a:schemeClr val="accent6">
              <a:lumMod val="40000"/>
              <a:lumOff val="60000"/>
            </a:schemeClr>
          </a:solidFill>
          <a:ln>
            <a:solidFill>
              <a:schemeClr val="accent6">
                <a:lumMod val="40000"/>
                <a:lumOff val="60000"/>
              </a:schemeClr>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n-US" sz="1350"/>
          </a:p>
        </p:txBody>
      </p:sp>
      <p:sp>
        <p:nvSpPr>
          <p:cNvPr id="3" name="Content Placeholder 2"/>
          <p:cNvSpPr>
            <a:spLocks noGrp="1"/>
          </p:cNvSpPr>
          <p:nvPr>
            <p:ph idx="1"/>
          </p:nvPr>
        </p:nvSpPr>
        <p:spPr>
          <a:xfrm>
            <a:off x="628650" y="1971289"/>
            <a:ext cx="7886700" cy="3794138"/>
          </a:xfrm>
        </p:spPr>
        <p:txBody>
          <a:bodyPr>
            <a:normAutofit lnSpcReduction="10000"/>
          </a:bodyPr>
          <a:lstStyle/>
          <a:p>
            <a:pPr marL="342900" indent="-342900">
              <a:buFont typeface="Arial" panose="020B0604020202020204" pitchFamily="34" charset="0"/>
              <a:buChar char="•"/>
            </a:pPr>
            <a:r>
              <a:rPr lang="en-US" dirty="0" smtClean="0"/>
              <a:t>Simple validation, which achieves high</a:t>
            </a:r>
            <a:r>
              <a:rPr lang="en-US" b="1" dirty="0" smtClean="0"/>
              <a:t> throughput and scalability at low contention</a:t>
            </a:r>
          </a:p>
          <a:p>
            <a:pPr marL="685800" lvl="1" indent="-342900">
              <a:buFont typeface="Arial" panose="020B0604020202020204" pitchFamily="34" charset="0"/>
              <a:buChar char="•"/>
            </a:pPr>
            <a:r>
              <a:rPr lang="en-US" b="1" dirty="0" smtClean="0"/>
              <a:t>Phase 1: Read</a:t>
            </a:r>
          </a:p>
          <a:p>
            <a:pPr marL="971550" lvl="2" indent="-285750">
              <a:buFont typeface="Wingdings" panose="05000000000000000000" pitchFamily="2" charset="2"/>
              <a:buChar char="Ø"/>
            </a:pPr>
            <a:r>
              <a:rPr lang="en-US" dirty="0" smtClean="0"/>
              <a:t>Reads data into a read set</a:t>
            </a:r>
          </a:p>
          <a:p>
            <a:pPr marL="971550" lvl="2" indent="-285750">
              <a:buFont typeface="Wingdings" panose="05000000000000000000" pitchFamily="2" charset="2"/>
              <a:buChar char="Ø"/>
            </a:pPr>
            <a:r>
              <a:rPr lang="en-US" dirty="0"/>
              <a:t>B</a:t>
            </a:r>
            <a:r>
              <a:rPr lang="en-US" dirty="0" smtClean="0"/>
              <a:t>uffers writes into a write set</a:t>
            </a:r>
          </a:p>
          <a:p>
            <a:pPr marL="685800" lvl="1" indent="-342900">
              <a:buFont typeface="Arial" panose="020B0604020202020204" pitchFamily="34" charset="0"/>
              <a:buChar char="•"/>
            </a:pPr>
            <a:r>
              <a:rPr lang="en-US" b="1" dirty="0" smtClean="0"/>
              <a:t>Phase 2: Validation</a:t>
            </a:r>
          </a:p>
          <a:p>
            <a:pPr marL="971550" lvl="2" indent="-285750">
              <a:buFont typeface="Wingdings" panose="05000000000000000000" pitchFamily="2" charset="2"/>
              <a:buChar char="Ø"/>
            </a:pPr>
            <a:r>
              <a:rPr lang="en-US" dirty="0" smtClean="0"/>
              <a:t>Validates whether serializability is guaranteed:</a:t>
            </a:r>
          </a:p>
          <a:p>
            <a:pPr marL="1028700" lvl="3" indent="0"/>
            <a:r>
              <a:rPr lang="en-US" sz="1950" dirty="0">
                <a:solidFill>
                  <a:srgbClr val="FF0000"/>
                </a:solidFill>
              </a:rPr>
              <a:t>Has any tuple in the read set been modified?</a:t>
            </a:r>
          </a:p>
          <a:p>
            <a:pPr marL="685800" lvl="1" indent="-342900">
              <a:buFont typeface="Arial" panose="020B0604020202020204" pitchFamily="34" charset="0"/>
              <a:buChar char="•"/>
            </a:pPr>
            <a:r>
              <a:rPr lang="en-US" b="1" dirty="0" smtClean="0"/>
              <a:t>Phase 3: Write</a:t>
            </a:r>
          </a:p>
          <a:p>
            <a:pPr marL="971550" lvl="2" indent="-285750">
              <a:buFont typeface="Wingdings" panose="05000000000000000000" pitchFamily="2" charset="2"/>
              <a:buChar char="Ø"/>
            </a:pPr>
            <a:r>
              <a:rPr lang="en-US" dirty="0"/>
              <a:t>Aborts: aborts the transaction if validation is failed</a:t>
            </a:r>
          </a:p>
          <a:p>
            <a:pPr marL="971550" lvl="2" indent="-285750">
              <a:buFont typeface="Wingdings" panose="05000000000000000000" pitchFamily="2" charset="2"/>
              <a:buChar char="Ø"/>
            </a:pPr>
            <a:r>
              <a:rPr lang="en-US" dirty="0"/>
              <a:t>Commits: installs the write set and commits the transaction</a:t>
            </a:r>
          </a:p>
        </p:txBody>
      </p:sp>
      <p:sp>
        <p:nvSpPr>
          <p:cNvPr id="2" name="Title 1"/>
          <p:cNvSpPr>
            <a:spLocks noGrp="1"/>
          </p:cNvSpPr>
          <p:nvPr>
            <p:ph type="title"/>
          </p:nvPr>
        </p:nvSpPr>
        <p:spPr/>
        <p:txBody>
          <a:bodyPr/>
          <a:lstStyle/>
          <a:p>
            <a:pPr algn="ctr"/>
            <a:r>
              <a:rPr lang="en-US" b="1" dirty="0" smtClean="0"/>
              <a:t>OCC’s Advantages</a:t>
            </a:r>
            <a:endParaRPr lang="en-US" b="1" dirty="0"/>
          </a:p>
        </p:txBody>
      </p:sp>
      <p:sp>
        <p:nvSpPr>
          <p:cNvPr id="6" name="Rounded Rectangular Callout 5"/>
          <p:cNvSpPr/>
          <p:nvPr/>
        </p:nvSpPr>
        <p:spPr>
          <a:xfrm>
            <a:off x="6590403" y="2407865"/>
            <a:ext cx="2398330" cy="635682"/>
          </a:xfrm>
          <a:prstGeom prst="wedgeRoundRectCallout">
            <a:avLst>
              <a:gd name="adj1" fmla="val -68051"/>
              <a:gd name="adj2" fmla="val 48701"/>
              <a:gd name="adj3" fmla="val 16667"/>
            </a:avLst>
          </a:prstGeom>
          <a:solidFill>
            <a:srgbClr val="FFC000"/>
          </a:solidFill>
          <a:ln>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200" dirty="0">
                <a:solidFill>
                  <a:schemeClr val="tx1"/>
                </a:solidFill>
              </a:rPr>
              <a:t>Operates in private workspace; rare inter-thread synchronization (</a:t>
            </a:r>
            <a:r>
              <a:rPr lang="en-US" sz="1200" dirty="0">
                <a:solidFill>
                  <a:srgbClr val="FF0000"/>
                </a:solidFill>
              </a:rPr>
              <a:t>optimistic</a:t>
            </a:r>
            <a:r>
              <a:rPr lang="en-US" sz="1200" dirty="0">
                <a:solidFill>
                  <a:schemeClr val="tx1"/>
                </a:solidFill>
              </a:rPr>
              <a:t>)</a:t>
            </a:r>
          </a:p>
        </p:txBody>
      </p:sp>
      <p:sp>
        <p:nvSpPr>
          <p:cNvPr id="7" name="Rounded Rectangular Callout 6"/>
          <p:cNvSpPr/>
          <p:nvPr/>
        </p:nvSpPr>
        <p:spPr>
          <a:xfrm>
            <a:off x="6815250" y="3384367"/>
            <a:ext cx="2173483" cy="636815"/>
          </a:xfrm>
          <a:prstGeom prst="wedgeRoundRectCallout">
            <a:avLst>
              <a:gd name="adj1" fmla="val -71742"/>
              <a:gd name="adj2" fmla="val 45154"/>
              <a:gd name="adj3" fmla="val 16667"/>
            </a:avLst>
          </a:prstGeom>
          <a:solidFill>
            <a:srgbClr val="FFC000"/>
          </a:solidFill>
          <a:ln>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200" dirty="0">
                <a:solidFill>
                  <a:schemeClr val="tx1"/>
                </a:solidFill>
              </a:rPr>
              <a:t>Needs synchronization, but usually very short at low contention</a:t>
            </a:r>
          </a:p>
        </p:txBody>
      </p:sp>
    </p:spTree>
    <p:extLst>
      <p:ext uri="{BB962C8B-B14F-4D97-AF65-F5344CB8AC3E}">
        <p14:creationId xmlns:p14="http://schemas.microsoft.com/office/powerpoint/2010/main" val="3136702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P spid="6" grpId="0" animBg="1"/>
      <p:bldP spid="7"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OCC’s Problem: False Aborts</a:t>
            </a:r>
          </a:p>
        </p:txBody>
      </p:sp>
      <p:grpSp>
        <p:nvGrpSpPr>
          <p:cNvPr id="25" name="Group 24"/>
          <p:cNvGrpSpPr/>
          <p:nvPr/>
        </p:nvGrpSpPr>
        <p:grpSpPr>
          <a:xfrm>
            <a:off x="2338276" y="3203571"/>
            <a:ext cx="5224574" cy="2415436"/>
            <a:chOff x="2715785" y="1753375"/>
            <a:chExt cx="6966098" cy="3220581"/>
          </a:xfrm>
        </p:grpSpPr>
        <p:sp>
          <p:nvSpPr>
            <p:cNvPr id="26" name="Rectangle 25"/>
            <p:cNvSpPr/>
            <p:nvPr/>
          </p:nvSpPr>
          <p:spPr>
            <a:xfrm>
              <a:off x="4453044" y="4594584"/>
              <a:ext cx="1189239" cy="379372"/>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350" dirty="0">
                  <a:solidFill>
                    <a:schemeClr val="tx1"/>
                  </a:solidFill>
                </a:rPr>
                <a:t>Abort</a:t>
              </a:r>
            </a:p>
          </p:txBody>
        </p:sp>
        <p:grpSp>
          <p:nvGrpSpPr>
            <p:cNvPr id="29" name="Group 28"/>
            <p:cNvGrpSpPr/>
            <p:nvPr/>
          </p:nvGrpSpPr>
          <p:grpSpPr>
            <a:xfrm>
              <a:off x="2715785" y="1913980"/>
              <a:ext cx="1477601" cy="677108"/>
              <a:chOff x="2657906" y="2001271"/>
              <a:chExt cx="1477601" cy="677108"/>
            </a:xfrm>
          </p:grpSpPr>
          <p:sp>
            <p:nvSpPr>
              <p:cNvPr id="43" name="TextBox 42"/>
              <p:cNvSpPr txBox="1"/>
              <p:nvPr/>
            </p:nvSpPr>
            <p:spPr>
              <a:xfrm>
                <a:off x="3065954" y="2001271"/>
                <a:ext cx="1069553" cy="677108"/>
              </a:xfrm>
              <a:prstGeom prst="rect">
                <a:avLst/>
              </a:prstGeom>
              <a:solidFill>
                <a:srgbClr val="FFC000"/>
              </a:solidFill>
            </p:spPr>
            <p:txBody>
              <a:bodyPr wrap="square" rtlCol="0">
                <a:spAutoFit/>
              </a:bodyPr>
              <a:lstStyle/>
              <a:p>
                <a:r>
                  <a:rPr lang="en-US" sz="1350" dirty="0"/>
                  <a:t>B = A + B;</a:t>
                </a:r>
              </a:p>
            </p:txBody>
          </p:sp>
          <p:sp>
            <p:nvSpPr>
              <p:cNvPr id="44" name="TextBox 43"/>
              <p:cNvSpPr txBox="1"/>
              <p:nvPr/>
            </p:nvSpPr>
            <p:spPr>
              <a:xfrm>
                <a:off x="2657906" y="2012050"/>
                <a:ext cx="638952" cy="400109"/>
              </a:xfrm>
              <a:prstGeom prst="rect">
                <a:avLst/>
              </a:prstGeom>
              <a:noFill/>
            </p:spPr>
            <p:txBody>
              <a:bodyPr wrap="square" rtlCol="0">
                <a:spAutoFit/>
              </a:bodyPr>
              <a:lstStyle/>
              <a:p>
                <a:r>
                  <a:rPr lang="en-US" sz="1350" b="1" dirty="0"/>
                  <a:t>T1:</a:t>
                </a:r>
              </a:p>
            </p:txBody>
          </p:sp>
        </p:grpSp>
        <p:grpSp>
          <p:nvGrpSpPr>
            <p:cNvPr id="30" name="Group 29"/>
            <p:cNvGrpSpPr/>
            <p:nvPr/>
          </p:nvGrpSpPr>
          <p:grpSpPr>
            <a:xfrm>
              <a:off x="7882353" y="1921128"/>
              <a:ext cx="1799530" cy="402663"/>
              <a:chOff x="24801" y="3096195"/>
              <a:chExt cx="1685355" cy="313458"/>
            </a:xfrm>
          </p:grpSpPr>
          <p:sp>
            <p:nvSpPr>
              <p:cNvPr id="41" name="TextBox 40"/>
              <p:cNvSpPr txBox="1"/>
              <p:nvPr/>
            </p:nvSpPr>
            <p:spPr>
              <a:xfrm>
                <a:off x="456479" y="3096195"/>
                <a:ext cx="1253677" cy="311470"/>
              </a:xfrm>
              <a:prstGeom prst="rect">
                <a:avLst/>
              </a:prstGeom>
              <a:solidFill>
                <a:schemeClr val="bg1">
                  <a:lumMod val="85000"/>
                </a:schemeClr>
              </a:solidFill>
            </p:spPr>
            <p:txBody>
              <a:bodyPr wrap="square" rtlCol="0">
                <a:spAutoFit/>
              </a:bodyPr>
              <a:lstStyle/>
              <a:p>
                <a:r>
                  <a:rPr lang="en-US" sz="1350" dirty="0"/>
                  <a:t>A = A * 1.1;</a:t>
                </a:r>
              </a:p>
            </p:txBody>
          </p:sp>
          <p:sp>
            <p:nvSpPr>
              <p:cNvPr id="42" name="TextBox 41"/>
              <p:cNvSpPr txBox="1"/>
              <p:nvPr/>
            </p:nvSpPr>
            <p:spPr>
              <a:xfrm>
                <a:off x="24801" y="3098183"/>
                <a:ext cx="574828" cy="311470"/>
              </a:xfrm>
              <a:prstGeom prst="rect">
                <a:avLst/>
              </a:prstGeom>
              <a:noFill/>
            </p:spPr>
            <p:txBody>
              <a:bodyPr wrap="square" rtlCol="0">
                <a:spAutoFit/>
              </a:bodyPr>
              <a:lstStyle/>
              <a:p>
                <a:r>
                  <a:rPr lang="en-US" sz="1350" b="1" dirty="0"/>
                  <a:t>T2:</a:t>
                </a:r>
              </a:p>
            </p:txBody>
          </p:sp>
        </p:grpSp>
        <p:sp>
          <p:nvSpPr>
            <p:cNvPr id="31" name="TextBox 30"/>
            <p:cNvSpPr txBox="1"/>
            <p:nvPr/>
          </p:nvSpPr>
          <p:spPr>
            <a:xfrm>
              <a:off x="4438853" y="3253642"/>
              <a:ext cx="1206247" cy="400109"/>
            </a:xfrm>
            <a:prstGeom prst="rect">
              <a:avLst/>
            </a:prstGeom>
            <a:solidFill>
              <a:srgbClr val="FFC000"/>
            </a:solidFill>
          </p:spPr>
          <p:txBody>
            <a:bodyPr wrap="square" rtlCol="0">
              <a:spAutoFit/>
            </a:bodyPr>
            <a:lstStyle/>
            <a:p>
              <a:r>
                <a:rPr lang="en-US" sz="1350" dirty="0"/>
                <a:t>R(A);</a:t>
              </a:r>
            </a:p>
          </p:txBody>
        </p:sp>
        <p:sp>
          <p:nvSpPr>
            <p:cNvPr id="32" name="TextBox 31"/>
            <p:cNvSpPr txBox="1"/>
            <p:nvPr/>
          </p:nvSpPr>
          <p:spPr>
            <a:xfrm>
              <a:off x="6615391" y="3237674"/>
              <a:ext cx="1245675" cy="400109"/>
            </a:xfrm>
            <a:prstGeom prst="rect">
              <a:avLst/>
            </a:prstGeom>
            <a:solidFill>
              <a:schemeClr val="bg1">
                <a:lumMod val="85000"/>
              </a:schemeClr>
            </a:solidFill>
          </p:spPr>
          <p:txBody>
            <a:bodyPr wrap="square" rtlCol="0">
              <a:spAutoFit/>
            </a:bodyPr>
            <a:lstStyle/>
            <a:p>
              <a:r>
                <a:rPr lang="en-US" sz="1350"/>
                <a:t>R(A);</a:t>
              </a:r>
              <a:endParaRPr lang="en-US" sz="1350" dirty="0"/>
            </a:p>
          </p:txBody>
        </p:sp>
        <p:sp>
          <p:nvSpPr>
            <p:cNvPr id="33" name="TextBox 32"/>
            <p:cNvSpPr txBox="1"/>
            <p:nvPr/>
          </p:nvSpPr>
          <p:spPr>
            <a:xfrm>
              <a:off x="4444078" y="3665108"/>
              <a:ext cx="1201023" cy="400109"/>
            </a:xfrm>
            <a:prstGeom prst="rect">
              <a:avLst/>
            </a:prstGeom>
            <a:solidFill>
              <a:srgbClr val="FFC000"/>
            </a:solidFill>
          </p:spPr>
          <p:txBody>
            <a:bodyPr wrap="square" rtlCol="0">
              <a:spAutoFit/>
            </a:bodyPr>
            <a:lstStyle/>
            <a:p>
              <a:r>
                <a:rPr lang="en-US" sz="1350" dirty="0"/>
                <a:t>R(B);</a:t>
              </a:r>
            </a:p>
          </p:txBody>
        </p:sp>
        <p:sp>
          <p:nvSpPr>
            <p:cNvPr id="34" name="TextBox 33"/>
            <p:cNvSpPr txBox="1"/>
            <p:nvPr/>
          </p:nvSpPr>
          <p:spPr>
            <a:xfrm>
              <a:off x="4436036" y="2850938"/>
              <a:ext cx="1206247" cy="400109"/>
            </a:xfrm>
            <a:prstGeom prst="rect">
              <a:avLst/>
            </a:prstGeom>
            <a:solidFill>
              <a:srgbClr val="FFC000"/>
            </a:solidFill>
          </p:spPr>
          <p:txBody>
            <a:bodyPr wrap="square" rtlCol="0">
              <a:spAutoFit/>
            </a:bodyPr>
            <a:lstStyle/>
            <a:p>
              <a:r>
                <a:rPr lang="en-US" sz="1350" dirty="0"/>
                <a:t>BEGIN</a:t>
              </a:r>
            </a:p>
          </p:txBody>
        </p:sp>
        <p:sp>
          <p:nvSpPr>
            <p:cNvPr id="35" name="TextBox 34"/>
            <p:cNvSpPr txBox="1"/>
            <p:nvPr/>
          </p:nvSpPr>
          <p:spPr>
            <a:xfrm>
              <a:off x="6610133" y="2834404"/>
              <a:ext cx="1245675" cy="400109"/>
            </a:xfrm>
            <a:prstGeom prst="rect">
              <a:avLst/>
            </a:prstGeom>
            <a:solidFill>
              <a:schemeClr val="bg1">
                <a:lumMod val="85000"/>
              </a:schemeClr>
            </a:solidFill>
          </p:spPr>
          <p:txBody>
            <a:bodyPr wrap="square" rtlCol="0">
              <a:spAutoFit/>
            </a:bodyPr>
            <a:lstStyle/>
            <a:p>
              <a:r>
                <a:rPr lang="en-US" sz="1350" dirty="0"/>
                <a:t>BEGIN</a:t>
              </a:r>
            </a:p>
          </p:txBody>
        </p:sp>
        <p:sp>
          <p:nvSpPr>
            <p:cNvPr id="36" name="Oval 35"/>
            <p:cNvSpPr/>
            <p:nvPr/>
          </p:nvSpPr>
          <p:spPr>
            <a:xfrm>
              <a:off x="4345579" y="1763319"/>
              <a:ext cx="1373532" cy="100906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a:t>Thread1</a:t>
              </a:r>
              <a:endParaRPr lang="en-US" sz="1350" dirty="0"/>
            </a:p>
          </p:txBody>
        </p:sp>
        <p:sp>
          <p:nvSpPr>
            <p:cNvPr id="37" name="Oval 36"/>
            <p:cNvSpPr/>
            <p:nvPr/>
          </p:nvSpPr>
          <p:spPr>
            <a:xfrm>
              <a:off x="6524917" y="1753375"/>
              <a:ext cx="1357435" cy="100906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a:t>Thread2</a:t>
              </a:r>
              <a:endParaRPr lang="en-US" sz="1350" dirty="0"/>
            </a:p>
          </p:txBody>
        </p:sp>
        <p:sp>
          <p:nvSpPr>
            <p:cNvPr id="38" name="TextBox 37"/>
            <p:cNvSpPr txBox="1"/>
            <p:nvPr/>
          </p:nvSpPr>
          <p:spPr>
            <a:xfrm>
              <a:off x="4453044" y="4086449"/>
              <a:ext cx="1201023" cy="400109"/>
            </a:xfrm>
            <a:prstGeom prst="rect">
              <a:avLst/>
            </a:prstGeom>
            <a:solidFill>
              <a:srgbClr val="FFC000"/>
            </a:solidFill>
          </p:spPr>
          <p:txBody>
            <a:bodyPr wrap="square" rtlCol="0">
              <a:spAutoFit/>
            </a:bodyPr>
            <a:lstStyle/>
            <a:p>
              <a:r>
                <a:rPr lang="en-US" sz="1350" dirty="0"/>
                <a:t>W(B);</a:t>
              </a:r>
            </a:p>
          </p:txBody>
        </p:sp>
        <p:sp>
          <p:nvSpPr>
            <p:cNvPr id="39" name="TextBox 38"/>
            <p:cNvSpPr txBox="1"/>
            <p:nvPr/>
          </p:nvSpPr>
          <p:spPr>
            <a:xfrm>
              <a:off x="6624358" y="3659009"/>
              <a:ext cx="1245675" cy="400109"/>
            </a:xfrm>
            <a:prstGeom prst="rect">
              <a:avLst/>
            </a:prstGeom>
            <a:solidFill>
              <a:schemeClr val="bg1">
                <a:lumMod val="85000"/>
              </a:schemeClr>
            </a:solidFill>
          </p:spPr>
          <p:txBody>
            <a:bodyPr wrap="square" rtlCol="0">
              <a:spAutoFit/>
            </a:bodyPr>
            <a:lstStyle/>
            <a:p>
              <a:r>
                <a:rPr lang="en-US" sz="1350" dirty="0"/>
                <a:t>W(A);</a:t>
              </a:r>
            </a:p>
          </p:txBody>
        </p:sp>
        <p:sp>
          <p:nvSpPr>
            <p:cNvPr id="40" name="Rectangle 39"/>
            <p:cNvSpPr/>
            <p:nvPr/>
          </p:nvSpPr>
          <p:spPr>
            <a:xfrm>
              <a:off x="6624358" y="4121017"/>
              <a:ext cx="1231450" cy="348996"/>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350" dirty="0">
                  <a:ln w="0"/>
                  <a:solidFill>
                    <a:schemeClr val="tx1"/>
                  </a:solidFill>
                  <a:effectLst>
                    <a:outerShdw blurRad="38100" dist="19050" dir="2700000" algn="tl" rotWithShape="0">
                      <a:schemeClr val="dk1">
                        <a:alpha val="40000"/>
                      </a:schemeClr>
                    </a:outerShdw>
                  </a:effectLst>
                </a:rPr>
                <a:t>Commit</a:t>
              </a:r>
            </a:p>
          </p:txBody>
        </p:sp>
      </p:grpSp>
      <p:cxnSp>
        <p:nvCxnSpPr>
          <p:cNvPr id="47" name="Straight Arrow Connector 46"/>
          <p:cNvCxnSpPr>
            <a:stCxn id="31" idx="3"/>
            <a:endCxn id="39" idx="1"/>
          </p:cNvCxnSpPr>
          <p:nvPr/>
        </p:nvCxnSpPr>
        <p:spPr>
          <a:xfrm>
            <a:off x="4535262" y="4478812"/>
            <a:ext cx="734444" cy="304026"/>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101601" y="4097164"/>
            <a:ext cx="3459022" cy="1477328"/>
          </a:xfrm>
          <a:prstGeom prst="rect">
            <a:avLst/>
          </a:prstGeom>
          <a:noFill/>
        </p:spPr>
        <p:txBody>
          <a:bodyPr wrap="square" rtlCol="0">
            <a:spAutoFit/>
          </a:bodyPr>
          <a:lstStyle/>
          <a:p>
            <a:pPr marL="257175" indent="-257175">
              <a:buFont typeface="Arial" panose="020B0604020202020204" pitchFamily="34" charset="0"/>
              <a:buChar char="•"/>
            </a:pPr>
            <a:r>
              <a:rPr lang="en-US" sz="1500" b="1" dirty="0">
                <a:solidFill>
                  <a:srgbClr val="FF0000"/>
                </a:solidFill>
              </a:rPr>
              <a:t>No cycle is formed</a:t>
            </a:r>
          </a:p>
          <a:p>
            <a:pPr marL="257175" indent="-257175">
              <a:buFont typeface="Arial" panose="020B0604020202020204" pitchFamily="34" charset="0"/>
              <a:buChar char="•"/>
            </a:pPr>
            <a:r>
              <a:rPr lang="en-US" sz="1500" b="1" dirty="0">
                <a:solidFill>
                  <a:srgbClr val="FF0000"/>
                </a:solidFill>
              </a:rPr>
              <a:t>OCC only allows serialized execution of </a:t>
            </a:r>
            <a:r>
              <a:rPr lang="en-US" sz="1500" b="1" dirty="0"/>
              <a:t>T2, T1</a:t>
            </a:r>
            <a:r>
              <a:rPr lang="en-US" sz="1500" b="1" dirty="0">
                <a:solidFill>
                  <a:srgbClr val="FF0000"/>
                </a:solidFill>
              </a:rPr>
              <a:t>, but is not able to recognize serialized execution of </a:t>
            </a:r>
            <a:r>
              <a:rPr lang="en-US" sz="1500" b="1" dirty="0"/>
              <a:t>T1, T2.</a:t>
            </a:r>
          </a:p>
          <a:p>
            <a:pPr marL="257175" indent="-257175">
              <a:buFont typeface="Arial" panose="020B0604020202020204" pitchFamily="34" charset="0"/>
              <a:buChar char="•"/>
            </a:pPr>
            <a:r>
              <a:rPr lang="en-US" sz="1500" b="1" dirty="0">
                <a:solidFill>
                  <a:srgbClr val="FF0000"/>
                </a:solidFill>
              </a:rPr>
              <a:t>T1 is falsely aborted.</a:t>
            </a:r>
          </a:p>
          <a:p>
            <a:pPr marL="257175" indent="-257175">
              <a:buFont typeface="Arial" panose="020B0604020202020204" pitchFamily="34" charset="0"/>
              <a:buChar char="•"/>
            </a:pPr>
            <a:r>
              <a:rPr lang="en-US" sz="1500" b="1" dirty="0">
                <a:solidFill>
                  <a:srgbClr val="FF0000"/>
                </a:solidFill>
              </a:rPr>
              <a:t>If it commits, it is serialized </a:t>
            </a:r>
            <a:r>
              <a:rPr lang="en-US" sz="1500" b="1" dirty="0"/>
              <a:t>T1, T2. </a:t>
            </a:r>
          </a:p>
        </p:txBody>
      </p:sp>
      <p:sp>
        <p:nvSpPr>
          <p:cNvPr id="49" name="TextBox 48"/>
          <p:cNvSpPr txBox="1"/>
          <p:nvPr/>
        </p:nvSpPr>
        <p:spPr>
          <a:xfrm>
            <a:off x="4741676" y="4296818"/>
            <a:ext cx="514704" cy="323165"/>
          </a:xfrm>
          <a:prstGeom prst="rect">
            <a:avLst/>
          </a:prstGeom>
          <a:noFill/>
        </p:spPr>
        <p:txBody>
          <a:bodyPr wrap="square" rtlCol="0">
            <a:spAutoFit/>
          </a:bodyPr>
          <a:lstStyle/>
          <a:p>
            <a:r>
              <a:rPr lang="en-US" sz="1500" b="1">
                <a:solidFill>
                  <a:srgbClr val="FF0000"/>
                </a:solidFill>
              </a:rPr>
              <a:t>rw</a:t>
            </a:r>
            <a:endParaRPr lang="en-US" sz="1500" b="1" dirty="0">
              <a:solidFill>
                <a:srgbClr val="FF0000"/>
              </a:solidFill>
            </a:endParaRPr>
          </a:p>
        </p:txBody>
      </p:sp>
      <p:sp>
        <p:nvSpPr>
          <p:cNvPr id="3" name="Content Placeholder 2"/>
          <p:cNvSpPr>
            <a:spLocks noGrp="1"/>
          </p:cNvSpPr>
          <p:nvPr>
            <p:ph idx="1"/>
          </p:nvPr>
        </p:nvSpPr>
        <p:spPr>
          <a:xfrm>
            <a:off x="628650" y="2043589"/>
            <a:ext cx="7886700" cy="1649524"/>
          </a:xfrm>
        </p:spPr>
        <p:txBody>
          <a:bodyPr/>
          <a:lstStyle/>
          <a:p>
            <a:r>
              <a:rPr lang="en-US" dirty="0" smtClean="0"/>
              <a:t>False abort</a:t>
            </a:r>
          </a:p>
          <a:p>
            <a:pPr lvl="1"/>
            <a:r>
              <a:rPr lang="en-US" dirty="0"/>
              <a:t>Some transactions aborted by OCC could have been allowed to commit without causing an unserializable </a:t>
            </a:r>
            <a:r>
              <a:rPr lang="en-US" dirty="0" smtClean="0"/>
              <a:t>schedule</a:t>
            </a:r>
          </a:p>
          <a:p>
            <a:endParaRPr lang="en-US" dirty="0" smtClean="0"/>
          </a:p>
        </p:txBody>
      </p:sp>
    </p:spTree>
    <p:extLst>
      <p:ext uri="{BB962C8B-B14F-4D97-AF65-F5344CB8AC3E}">
        <p14:creationId xmlns:p14="http://schemas.microsoft.com/office/powerpoint/2010/main" val="2514250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8">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8">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8">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Lst>
  </p:timing>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Issues and Challenges </a:t>
            </a:r>
            <a:endParaRPr lang="en-US" dirty="0"/>
          </a:p>
        </p:txBody>
      </p:sp>
      <p:sp>
        <p:nvSpPr>
          <p:cNvPr id="3" name="Content Placeholder 2"/>
          <p:cNvSpPr>
            <a:spLocks noGrp="1"/>
          </p:cNvSpPr>
          <p:nvPr>
            <p:ph idx="1"/>
          </p:nvPr>
        </p:nvSpPr>
        <p:spPr/>
        <p:txBody>
          <a:bodyPr/>
          <a:lstStyle/>
          <a:p>
            <a:pPr marL="342900" indent="-342900">
              <a:buFont typeface="Arial" panose="020B0604020202020204" pitchFamily="34" charset="0"/>
              <a:buChar char="•"/>
            </a:pPr>
            <a:r>
              <a:rPr lang="en-US" dirty="0" smtClean="0"/>
              <a:t>False aborts happen in high contention environment</a:t>
            </a:r>
          </a:p>
          <a:p>
            <a:pPr marL="0" indent="0"/>
            <a:endParaRPr lang="en-US" dirty="0" smtClean="0"/>
          </a:p>
          <a:p>
            <a:pPr marL="342900" indent="-342900">
              <a:buFont typeface="Arial" panose="020B0604020202020204" pitchFamily="34" charset="0"/>
              <a:buChar char="•"/>
            </a:pPr>
            <a:r>
              <a:rPr lang="en-US" dirty="0" smtClean="0"/>
              <a:t>False aborts increase latency and decrease throughput </a:t>
            </a:r>
          </a:p>
          <a:p>
            <a:pPr marL="342900" indent="-342900">
              <a:buFont typeface="Arial" panose="020B0604020202020204" pitchFamily="34" charset="0"/>
              <a:buChar char="•"/>
            </a:pPr>
            <a:endParaRPr lang="en-US" dirty="0" smtClean="0"/>
          </a:p>
          <a:p>
            <a:pPr marL="342900" indent="-342900">
              <a:buFont typeface="Arial" panose="020B0604020202020204" pitchFamily="34" charset="0"/>
              <a:buChar char="•"/>
            </a:pPr>
            <a:r>
              <a:rPr lang="en-US" dirty="0" smtClean="0"/>
              <a:t>Detecting cycles eliminates false aborts, but non-affordable </a:t>
            </a:r>
          </a:p>
          <a:p>
            <a:pPr marL="342900" indent="-342900">
              <a:buFont typeface="Arial" panose="020B0604020202020204" pitchFamily="34" charset="0"/>
              <a:buChar char="•"/>
            </a:pPr>
            <a:endParaRPr lang="en-US" dirty="0" smtClean="0"/>
          </a:p>
          <a:p>
            <a:pPr marL="342900" indent="-342900">
              <a:buFont typeface="Arial" panose="020B0604020202020204" pitchFamily="34" charset="0"/>
              <a:buChar char="•"/>
            </a:pPr>
            <a:r>
              <a:rPr lang="en-US" dirty="0" smtClean="0">
                <a:solidFill>
                  <a:srgbClr val="FF0000"/>
                </a:solidFill>
              </a:rPr>
              <a:t>Can we reduce false aborts in high contention?</a:t>
            </a:r>
            <a:endParaRPr lang="en-US" dirty="0">
              <a:solidFill>
                <a:srgbClr val="FF0000"/>
              </a:solidFill>
            </a:endParaRPr>
          </a:p>
        </p:txBody>
      </p:sp>
    </p:spTree>
    <p:extLst>
      <p:ext uri="{BB962C8B-B14F-4D97-AF65-F5344CB8AC3E}">
        <p14:creationId xmlns:p14="http://schemas.microsoft.com/office/powerpoint/2010/main" val="3252199394"/>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31573" y="853582"/>
            <a:ext cx="7886700" cy="994172"/>
          </a:xfrm>
        </p:spPr>
        <p:txBody>
          <a:bodyPr>
            <a:normAutofit/>
          </a:bodyPr>
          <a:lstStyle/>
          <a:p>
            <a:pPr algn="ctr"/>
            <a:r>
              <a:rPr lang="en-US" dirty="0" smtClean="0"/>
              <a:t>Basic Structure of </a:t>
            </a:r>
            <a:r>
              <a:rPr lang="en-US" b="1" dirty="0" smtClean="0"/>
              <a:t>BCC</a:t>
            </a:r>
            <a:endParaRPr lang="en-US" b="1" dirty="0"/>
          </a:p>
        </p:txBody>
      </p:sp>
      <p:sp>
        <p:nvSpPr>
          <p:cNvPr id="3" name="Content Placeholder 2"/>
          <p:cNvSpPr>
            <a:spLocks noGrp="1"/>
          </p:cNvSpPr>
          <p:nvPr>
            <p:ph idx="1"/>
          </p:nvPr>
        </p:nvSpPr>
        <p:spPr>
          <a:xfrm>
            <a:off x="569861" y="1890647"/>
            <a:ext cx="8063703" cy="3447399"/>
          </a:xfrm>
        </p:spPr>
        <p:txBody>
          <a:bodyPr/>
          <a:lstStyle/>
          <a:p>
            <a:pPr marL="342900" indent="-342900">
              <a:buFont typeface="Wingdings" panose="05000000000000000000" pitchFamily="2" charset="2"/>
              <a:buChar char="l"/>
            </a:pPr>
            <a:r>
              <a:rPr lang="en-US" b="1" dirty="0" smtClean="0"/>
              <a:t>BCC </a:t>
            </a:r>
            <a:r>
              <a:rPr lang="en-US" dirty="0" smtClean="0"/>
              <a:t>is OCC based, retaining its merits</a:t>
            </a:r>
          </a:p>
          <a:p>
            <a:pPr marL="342900" indent="-342900">
              <a:buFont typeface="Wingdings" panose="05000000000000000000" pitchFamily="2" charset="2"/>
              <a:buChar char="l"/>
            </a:pPr>
            <a:endParaRPr lang="en-US" b="1" dirty="0" smtClean="0"/>
          </a:p>
          <a:p>
            <a:pPr marL="342900" indent="-342900">
              <a:buFont typeface="Wingdings" panose="05000000000000000000" pitchFamily="2" charset="2"/>
              <a:buChar char="l"/>
            </a:pPr>
            <a:r>
              <a:rPr lang="en-US" dirty="0" smtClean="0"/>
              <a:t>If OCC validation fails, BCC validation checks again</a:t>
            </a:r>
            <a:endParaRPr lang="en-US" b="1" dirty="0"/>
          </a:p>
        </p:txBody>
      </p:sp>
    </p:spTree>
    <p:extLst>
      <p:ext uri="{BB962C8B-B14F-4D97-AF65-F5344CB8AC3E}">
        <p14:creationId xmlns:p14="http://schemas.microsoft.com/office/powerpoint/2010/main" val="452828560"/>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Oval 70"/>
          <p:cNvSpPr/>
          <p:nvPr/>
        </p:nvSpPr>
        <p:spPr>
          <a:xfrm>
            <a:off x="5913502" y="4628705"/>
            <a:ext cx="983619" cy="429027"/>
          </a:xfrm>
          <a:prstGeom prst="ellips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0" name="Oval 69"/>
          <p:cNvSpPr/>
          <p:nvPr/>
        </p:nvSpPr>
        <p:spPr>
          <a:xfrm>
            <a:off x="3640206" y="4603070"/>
            <a:ext cx="983619" cy="429027"/>
          </a:xfrm>
          <a:prstGeom prst="ellips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Oval 9"/>
          <p:cNvSpPr/>
          <p:nvPr/>
        </p:nvSpPr>
        <p:spPr>
          <a:xfrm>
            <a:off x="1366910" y="4603070"/>
            <a:ext cx="983619" cy="429027"/>
          </a:xfrm>
          <a:prstGeom prst="ellips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p:cNvSpPr>
            <a:spLocks noGrp="1"/>
          </p:cNvSpPr>
          <p:nvPr>
            <p:ph type="title"/>
          </p:nvPr>
        </p:nvSpPr>
        <p:spPr>
          <a:xfrm>
            <a:off x="628650" y="944533"/>
            <a:ext cx="7886700" cy="667002"/>
          </a:xfrm>
        </p:spPr>
        <p:txBody>
          <a:bodyPr/>
          <a:lstStyle/>
          <a:p>
            <a:r>
              <a:rPr lang="en-US" dirty="0" smtClean="0"/>
              <a:t>BCC Validation is Complex </a:t>
            </a:r>
            <a:endParaRPr lang="en-US" dirty="0"/>
          </a:p>
        </p:txBody>
      </p:sp>
      <p:sp>
        <p:nvSpPr>
          <p:cNvPr id="3" name="Content Placeholder 2"/>
          <p:cNvSpPr>
            <a:spLocks noGrp="1"/>
          </p:cNvSpPr>
          <p:nvPr>
            <p:ph idx="1"/>
          </p:nvPr>
        </p:nvSpPr>
        <p:spPr>
          <a:xfrm>
            <a:off x="628650" y="1973373"/>
            <a:ext cx="7886700" cy="3263504"/>
          </a:xfrm>
        </p:spPr>
        <p:txBody>
          <a:bodyPr/>
          <a:lstStyle/>
          <a:p>
            <a:r>
              <a:rPr lang="en-US" dirty="0" smtClean="0"/>
              <a:t>Goal: capture all essential patterns at the right time </a:t>
            </a:r>
          </a:p>
        </p:txBody>
      </p:sp>
      <p:sp>
        <p:nvSpPr>
          <p:cNvPr id="5" name="TextBox 4"/>
          <p:cNvSpPr txBox="1"/>
          <p:nvPr/>
        </p:nvSpPr>
        <p:spPr>
          <a:xfrm>
            <a:off x="2132605" y="5239757"/>
            <a:ext cx="3748134" cy="369332"/>
          </a:xfrm>
          <a:prstGeom prst="rect">
            <a:avLst/>
          </a:prstGeom>
          <a:noFill/>
        </p:spPr>
        <p:txBody>
          <a:bodyPr wrap="square" rtlCol="0">
            <a:spAutoFit/>
          </a:bodyPr>
          <a:lstStyle/>
          <a:p>
            <a:r>
              <a:rPr lang="en-US" b="1" dirty="0">
                <a:solidFill>
                  <a:srgbClr val="FF0000"/>
                </a:solidFill>
              </a:rPr>
              <a:t>Created at the time when T</a:t>
            </a:r>
            <a:r>
              <a:rPr lang="en-US" b="1" baseline="-25000" dirty="0">
                <a:solidFill>
                  <a:srgbClr val="FF0000"/>
                </a:solidFill>
              </a:rPr>
              <a:t>2</a:t>
            </a:r>
            <a:r>
              <a:rPr lang="en-US" b="1" dirty="0">
                <a:solidFill>
                  <a:srgbClr val="FF0000"/>
                </a:solidFill>
              </a:rPr>
              <a:t> commits</a:t>
            </a:r>
          </a:p>
        </p:txBody>
      </p:sp>
      <p:sp>
        <p:nvSpPr>
          <p:cNvPr id="42" name="TextBox 41"/>
          <p:cNvSpPr txBox="1"/>
          <p:nvPr/>
        </p:nvSpPr>
        <p:spPr>
          <a:xfrm>
            <a:off x="7117865" y="5193296"/>
            <a:ext cx="2045283" cy="646331"/>
          </a:xfrm>
          <a:prstGeom prst="rect">
            <a:avLst/>
          </a:prstGeom>
          <a:noFill/>
        </p:spPr>
        <p:txBody>
          <a:bodyPr wrap="square" rtlCol="0">
            <a:spAutoFit/>
          </a:bodyPr>
          <a:lstStyle/>
          <a:p>
            <a:pPr algn="ctr"/>
            <a:r>
              <a:rPr lang="en-US" b="1" dirty="0">
                <a:solidFill>
                  <a:srgbClr val="FF0000"/>
                </a:solidFill>
              </a:rPr>
              <a:t>Created at the time when T</a:t>
            </a:r>
            <a:r>
              <a:rPr lang="en-US" b="1" baseline="-25000" dirty="0">
                <a:solidFill>
                  <a:srgbClr val="FF0000"/>
                </a:solidFill>
              </a:rPr>
              <a:t>1</a:t>
            </a:r>
            <a:r>
              <a:rPr lang="en-US" b="1" dirty="0">
                <a:solidFill>
                  <a:srgbClr val="FF0000"/>
                </a:solidFill>
              </a:rPr>
              <a:t> commits</a:t>
            </a:r>
          </a:p>
        </p:txBody>
      </p:sp>
      <p:grpSp>
        <p:nvGrpSpPr>
          <p:cNvPr id="12" name="Group 11"/>
          <p:cNvGrpSpPr/>
          <p:nvPr/>
        </p:nvGrpSpPr>
        <p:grpSpPr>
          <a:xfrm>
            <a:off x="215113" y="2766264"/>
            <a:ext cx="2036028" cy="2127262"/>
            <a:chOff x="286817" y="2545352"/>
            <a:chExt cx="2714704" cy="2836349"/>
          </a:xfrm>
        </p:grpSpPr>
        <p:cxnSp>
          <p:nvCxnSpPr>
            <p:cNvPr id="30" name="Straight Arrow Connector 29"/>
            <p:cNvCxnSpPr>
              <a:stCxn id="6" idx="3"/>
              <a:endCxn id="76" idx="1"/>
            </p:cNvCxnSpPr>
            <p:nvPr/>
          </p:nvCxnSpPr>
          <p:spPr>
            <a:xfrm>
              <a:off x="1281386" y="3768316"/>
              <a:ext cx="719183" cy="978168"/>
            </a:xfrm>
            <a:prstGeom prst="straightConnector1">
              <a:avLst/>
            </a:prstGeom>
            <a:ln w="53975">
              <a:tailEnd type="arrow"/>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1480304" y="3774173"/>
              <a:ext cx="619124" cy="492443"/>
            </a:xfrm>
            <a:prstGeom prst="rect">
              <a:avLst/>
            </a:prstGeom>
            <a:noFill/>
          </p:spPr>
          <p:txBody>
            <a:bodyPr wrap="square" rtlCol="0">
              <a:spAutoFit/>
            </a:bodyPr>
            <a:lstStyle/>
            <a:p>
              <a:r>
                <a:rPr lang="en-US" altLang="zh-CN" b="1" dirty="0" err="1">
                  <a:solidFill>
                    <a:schemeClr val="accent1">
                      <a:lumMod val="75000"/>
                    </a:schemeClr>
                  </a:solidFill>
                </a:rPr>
                <a:t>wr</a:t>
              </a:r>
              <a:endParaRPr lang="en-US" b="1" baseline="-25000" dirty="0">
                <a:solidFill>
                  <a:schemeClr val="accent1">
                    <a:lumMod val="75000"/>
                  </a:schemeClr>
                </a:solidFill>
              </a:endParaRPr>
            </a:p>
          </p:txBody>
        </p:sp>
        <p:grpSp>
          <p:nvGrpSpPr>
            <p:cNvPr id="11" name="Group 10"/>
            <p:cNvGrpSpPr/>
            <p:nvPr/>
          </p:nvGrpSpPr>
          <p:grpSpPr>
            <a:xfrm>
              <a:off x="286817" y="2545352"/>
              <a:ext cx="994569" cy="1857490"/>
              <a:chOff x="286817" y="2545352"/>
              <a:chExt cx="994569" cy="1857490"/>
            </a:xfrm>
          </p:grpSpPr>
          <p:sp>
            <p:nvSpPr>
              <p:cNvPr id="27" name="TextBox 26"/>
              <p:cNvSpPr txBox="1"/>
              <p:nvPr/>
            </p:nvSpPr>
            <p:spPr>
              <a:xfrm>
                <a:off x="482673" y="2545352"/>
                <a:ext cx="524654" cy="841256"/>
              </a:xfrm>
              <a:prstGeom prst="rect">
                <a:avLst/>
              </a:prstGeom>
              <a:noFill/>
            </p:spPr>
            <p:txBody>
              <a:bodyPr wrap="square" rtlCol="0">
                <a:spAutoFit/>
              </a:bodyPr>
              <a:lstStyle/>
              <a:p>
                <a:r>
                  <a:rPr lang="en-US" altLang="zh-CN" sz="2100" b="1" dirty="0">
                    <a:solidFill>
                      <a:schemeClr val="accent1">
                        <a:lumMod val="75000"/>
                      </a:schemeClr>
                    </a:solidFill>
                  </a:rPr>
                  <a:t>T</a:t>
                </a:r>
                <a:r>
                  <a:rPr lang="en-US" altLang="zh-CN" sz="2100" b="1" baseline="-25000" dirty="0">
                    <a:solidFill>
                      <a:schemeClr val="accent1">
                        <a:lumMod val="75000"/>
                      </a:schemeClr>
                    </a:solidFill>
                  </a:rPr>
                  <a:t>1</a:t>
                </a:r>
                <a:endParaRPr lang="en-US" sz="2100" b="1" baseline="-25000" dirty="0">
                  <a:solidFill>
                    <a:schemeClr val="accent1">
                      <a:lumMod val="75000"/>
                    </a:schemeClr>
                  </a:solidFill>
                </a:endParaRPr>
              </a:p>
            </p:txBody>
          </p:sp>
          <p:grpSp>
            <p:nvGrpSpPr>
              <p:cNvPr id="8" name="Group 7"/>
              <p:cNvGrpSpPr/>
              <p:nvPr/>
            </p:nvGrpSpPr>
            <p:grpSpPr>
              <a:xfrm>
                <a:off x="286817" y="3171488"/>
                <a:ext cx="994569" cy="1231354"/>
                <a:chOff x="286817" y="3171488"/>
                <a:chExt cx="994569" cy="1231354"/>
              </a:xfrm>
            </p:grpSpPr>
            <p:sp>
              <p:nvSpPr>
                <p:cNvPr id="6" name="Rectangle 5"/>
                <p:cNvSpPr/>
                <p:nvPr/>
              </p:nvSpPr>
              <p:spPr>
                <a:xfrm>
                  <a:off x="287230" y="3609642"/>
                  <a:ext cx="994156" cy="31734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W(A)</a:t>
                  </a:r>
                </a:p>
              </p:txBody>
            </p:sp>
            <p:sp>
              <p:nvSpPr>
                <p:cNvPr id="43" name="Rectangle 42"/>
                <p:cNvSpPr/>
                <p:nvPr/>
              </p:nvSpPr>
              <p:spPr>
                <a:xfrm>
                  <a:off x="287230" y="4085495"/>
                  <a:ext cx="994156" cy="3173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Commit</a:t>
                  </a:r>
                </a:p>
              </p:txBody>
            </p:sp>
            <p:sp>
              <p:nvSpPr>
                <p:cNvPr id="44" name="Rectangle 43"/>
                <p:cNvSpPr/>
                <p:nvPr/>
              </p:nvSpPr>
              <p:spPr>
                <a:xfrm>
                  <a:off x="286817" y="3171488"/>
                  <a:ext cx="994156" cy="3173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Begin</a:t>
                  </a:r>
                </a:p>
              </p:txBody>
            </p:sp>
          </p:grpSp>
        </p:grpSp>
        <p:grpSp>
          <p:nvGrpSpPr>
            <p:cNvPr id="7" name="Group 6"/>
            <p:cNvGrpSpPr/>
            <p:nvPr/>
          </p:nvGrpSpPr>
          <p:grpSpPr>
            <a:xfrm>
              <a:off x="1981215" y="2545352"/>
              <a:ext cx="1020306" cy="2836349"/>
              <a:chOff x="1557881" y="2545352"/>
              <a:chExt cx="1020306" cy="2836349"/>
            </a:xfrm>
          </p:grpSpPr>
          <p:sp>
            <p:nvSpPr>
              <p:cNvPr id="24" name="TextBox 23"/>
              <p:cNvSpPr txBox="1"/>
              <p:nvPr/>
            </p:nvSpPr>
            <p:spPr>
              <a:xfrm>
                <a:off x="1895485" y="2545352"/>
                <a:ext cx="524654" cy="841256"/>
              </a:xfrm>
              <a:prstGeom prst="rect">
                <a:avLst/>
              </a:prstGeom>
              <a:noFill/>
            </p:spPr>
            <p:txBody>
              <a:bodyPr wrap="square" rtlCol="0">
                <a:spAutoFit/>
              </a:bodyPr>
              <a:lstStyle/>
              <a:p>
                <a:r>
                  <a:rPr lang="en-US" altLang="zh-CN" sz="2100" b="1" dirty="0">
                    <a:solidFill>
                      <a:schemeClr val="accent1">
                        <a:lumMod val="75000"/>
                      </a:schemeClr>
                    </a:solidFill>
                  </a:rPr>
                  <a:t>T</a:t>
                </a:r>
                <a:r>
                  <a:rPr lang="en-US" altLang="zh-CN" sz="2100" b="1" baseline="-25000" dirty="0">
                    <a:solidFill>
                      <a:schemeClr val="accent1">
                        <a:lumMod val="75000"/>
                      </a:schemeClr>
                    </a:solidFill>
                  </a:rPr>
                  <a:t>2</a:t>
                </a:r>
                <a:endParaRPr lang="en-US" sz="2100" b="1" baseline="-25000" dirty="0">
                  <a:solidFill>
                    <a:schemeClr val="accent1">
                      <a:lumMod val="75000"/>
                    </a:schemeClr>
                  </a:solidFill>
                </a:endParaRPr>
              </a:p>
            </p:txBody>
          </p:sp>
          <p:sp>
            <p:nvSpPr>
              <p:cNvPr id="75" name="Rectangle 74"/>
              <p:cNvSpPr/>
              <p:nvPr/>
            </p:nvSpPr>
            <p:spPr>
              <a:xfrm>
                <a:off x="1569971" y="3171488"/>
                <a:ext cx="994156" cy="3173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Begin</a:t>
                </a:r>
              </a:p>
            </p:txBody>
          </p:sp>
          <p:sp>
            <p:nvSpPr>
              <p:cNvPr id="76" name="Rectangle 75"/>
              <p:cNvSpPr/>
              <p:nvPr/>
            </p:nvSpPr>
            <p:spPr>
              <a:xfrm>
                <a:off x="1577235" y="4587810"/>
                <a:ext cx="994156" cy="31734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R(A)</a:t>
                </a:r>
              </a:p>
            </p:txBody>
          </p:sp>
          <p:sp>
            <p:nvSpPr>
              <p:cNvPr id="77" name="Rectangle 76"/>
              <p:cNvSpPr/>
              <p:nvPr/>
            </p:nvSpPr>
            <p:spPr>
              <a:xfrm>
                <a:off x="1584031" y="3629192"/>
                <a:ext cx="994156" cy="3173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R(B)</a:t>
                </a:r>
              </a:p>
            </p:txBody>
          </p:sp>
          <p:sp>
            <p:nvSpPr>
              <p:cNvPr id="78" name="Rectangle 77"/>
              <p:cNvSpPr/>
              <p:nvPr/>
            </p:nvSpPr>
            <p:spPr>
              <a:xfrm>
                <a:off x="1557881" y="5064354"/>
                <a:ext cx="994156" cy="3173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Commit</a:t>
                </a:r>
              </a:p>
            </p:txBody>
          </p:sp>
        </p:grpSp>
      </p:grpSp>
      <p:grpSp>
        <p:nvGrpSpPr>
          <p:cNvPr id="79" name="Group 78"/>
          <p:cNvGrpSpPr/>
          <p:nvPr/>
        </p:nvGrpSpPr>
        <p:grpSpPr>
          <a:xfrm>
            <a:off x="2463781" y="2771884"/>
            <a:ext cx="2036028" cy="2127262"/>
            <a:chOff x="286817" y="2545352"/>
            <a:chExt cx="2714704" cy="2836349"/>
          </a:xfrm>
        </p:grpSpPr>
        <p:cxnSp>
          <p:nvCxnSpPr>
            <p:cNvPr id="80" name="Straight Arrow Connector 79"/>
            <p:cNvCxnSpPr>
              <a:stCxn id="83" idx="3"/>
            </p:cNvCxnSpPr>
            <p:nvPr/>
          </p:nvCxnSpPr>
          <p:spPr>
            <a:xfrm>
              <a:off x="1281386" y="3768316"/>
              <a:ext cx="719183" cy="978168"/>
            </a:xfrm>
            <a:prstGeom prst="straightConnector1">
              <a:avLst/>
            </a:prstGeom>
            <a:ln w="53975">
              <a:tailEnd type="arrow"/>
            </a:ln>
          </p:spPr>
          <p:style>
            <a:lnRef idx="1">
              <a:schemeClr val="accent1"/>
            </a:lnRef>
            <a:fillRef idx="0">
              <a:schemeClr val="accent1"/>
            </a:fillRef>
            <a:effectRef idx="0">
              <a:schemeClr val="accent1"/>
            </a:effectRef>
            <a:fontRef idx="minor">
              <a:schemeClr val="tx1"/>
            </a:fontRef>
          </p:style>
        </p:cxnSp>
        <p:sp>
          <p:nvSpPr>
            <p:cNvPr id="81" name="TextBox 80"/>
            <p:cNvSpPr txBox="1"/>
            <p:nvPr/>
          </p:nvSpPr>
          <p:spPr>
            <a:xfrm>
              <a:off x="1446436" y="3774173"/>
              <a:ext cx="662617" cy="861775"/>
            </a:xfrm>
            <a:prstGeom prst="rect">
              <a:avLst/>
            </a:prstGeom>
            <a:noFill/>
          </p:spPr>
          <p:txBody>
            <a:bodyPr wrap="square" rtlCol="0">
              <a:spAutoFit/>
            </a:bodyPr>
            <a:lstStyle/>
            <a:p>
              <a:r>
                <a:rPr lang="en-US" altLang="zh-CN" b="1">
                  <a:solidFill>
                    <a:schemeClr val="accent1">
                      <a:lumMod val="75000"/>
                    </a:schemeClr>
                  </a:solidFill>
                </a:rPr>
                <a:t>ww</a:t>
              </a:r>
              <a:endParaRPr lang="en-US" b="1" baseline="-25000" dirty="0">
                <a:solidFill>
                  <a:schemeClr val="accent1">
                    <a:lumMod val="75000"/>
                  </a:schemeClr>
                </a:solidFill>
              </a:endParaRPr>
            </a:p>
          </p:txBody>
        </p:sp>
        <p:grpSp>
          <p:nvGrpSpPr>
            <p:cNvPr id="82" name="Group 81"/>
            <p:cNvGrpSpPr/>
            <p:nvPr/>
          </p:nvGrpSpPr>
          <p:grpSpPr>
            <a:xfrm>
              <a:off x="286817" y="2545352"/>
              <a:ext cx="994569" cy="1857490"/>
              <a:chOff x="286817" y="2545352"/>
              <a:chExt cx="994569" cy="1857490"/>
            </a:xfrm>
          </p:grpSpPr>
          <p:sp>
            <p:nvSpPr>
              <p:cNvPr id="89" name="TextBox 88"/>
              <p:cNvSpPr txBox="1"/>
              <p:nvPr/>
            </p:nvSpPr>
            <p:spPr>
              <a:xfrm>
                <a:off x="482673" y="2545352"/>
                <a:ext cx="524654" cy="841256"/>
              </a:xfrm>
              <a:prstGeom prst="rect">
                <a:avLst/>
              </a:prstGeom>
              <a:noFill/>
            </p:spPr>
            <p:txBody>
              <a:bodyPr wrap="square" rtlCol="0">
                <a:spAutoFit/>
              </a:bodyPr>
              <a:lstStyle/>
              <a:p>
                <a:r>
                  <a:rPr lang="en-US" altLang="zh-CN" sz="2100" b="1" dirty="0">
                    <a:solidFill>
                      <a:schemeClr val="accent1">
                        <a:lumMod val="75000"/>
                      </a:schemeClr>
                    </a:solidFill>
                  </a:rPr>
                  <a:t>T</a:t>
                </a:r>
                <a:r>
                  <a:rPr lang="en-US" altLang="zh-CN" sz="2100" b="1" baseline="-25000" dirty="0">
                    <a:solidFill>
                      <a:schemeClr val="accent1">
                        <a:lumMod val="75000"/>
                      </a:schemeClr>
                    </a:solidFill>
                  </a:rPr>
                  <a:t>1</a:t>
                </a:r>
                <a:endParaRPr lang="en-US" sz="2100" b="1" baseline="-25000" dirty="0">
                  <a:solidFill>
                    <a:schemeClr val="accent1">
                      <a:lumMod val="75000"/>
                    </a:schemeClr>
                  </a:solidFill>
                </a:endParaRPr>
              </a:p>
            </p:txBody>
          </p:sp>
          <p:grpSp>
            <p:nvGrpSpPr>
              <p:cNvPr id="90" name="Group 89"/>
              <p:cNvGrpSpPr/>
              <p:nvPr/>
            </p:nvGrpSpPr>
            <p:grpSpPr>
              <a:xfrm>
                <a:off x="286817" y="3171488"/>
                <a:ext cx="994569" cy="1231354"/>
                <a:chOff x="286817" y="3171488"/>
                <a:chExt cx="994569" cy="1231354"/>
              </a:xfrm>
            </p:grpSpPr>
            <p:sp>
              <p:nvSpPr>
                <p:cNvPr id="91" name="Rectangle 90"/>
                <p:cNvSpPr/>
                <p:nvPr/>
              </p:nvSpPr>
              <p:spPr>
                <a:xfrm>
                  <a:off x="287230" y="3609642"/>
                  <a:ext cx="994156" cy="31734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W(A)</a:t>
                  </a:r>
                </a:p>
              </p:txBody>
            </p:sp>
            <p:sp>
              <p:nvSpPr>
                <p:cNvPr id="92" name="Rectangle 91"/>
                <p:cNvSpPr/>
                <p:nvPr/>
              </p:nvSpPr>
              <p:spPr>
                <a:xfrm>
                  <a:off x="287230" y="4085495"/>
                  <a:ext cx="994156" cy="3173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Commit</a:t>
                  </a:r>
                </a:p>
              </p:txBody>
            </p:sp>
            <p:sp>
              <p:nvSpPr>
                <p:cNvPr id="93" name="Rectangle 92"/>
                <p:cNvSpPr/>
                <p:nvPr/>
              </p:nvSpPr>
              <p:spPr>
                <a:xfrm>
                  <a:off x="286817" y="3171488"/>
                  <a:ext cx="994156" cy="3173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Begin</a:t>
                  </a:r>
                </a:p>
              </p:txBody>
            </p:sp>
          </p:grpSp>
        </p:grpSp>
        <p:grpSp>
          <p:nvGrpSpPr>
            <p:cNvPr id="83" name="Group 82"/>
            <p:cNvGrpSpPr/>
            <p:nvPr/>
          </p:nvGrpSpPr>
          <p:grpSpPr>
            <a:xfrm>
              <a:off x="1981215" y="2545352"/>
              <a:ext cx="1020306" cy="2836349"/>
              <a:chOff x="1557881" y="2545352"/>
              <a:chExt cx="1020306" cy="2836349"/>
            </a:xfrm>
          </p:grpSpPr>
          <p:sp>
            <p:nvSpPr>
              <p:cNvPr id="84" name="TextBox 83"/>
              <p:cNvSpPr txBox="1"/>
              <p:nvPr/>
            </p:nvSpPr>
            <p:spPr>
              <a:xfrm>
                <a:off x="1895485" y="2545352"/>
                <a:ext cx="524654" cy="841256"/>
              </a:xfrm>
              <a:prstGeom prst="rect">
                <a:avLst/>
              </a:prstGeom>
              <a:noFill/>
            </p:spPr>
            <p:txBody>
              <a:bodyPr wrap="square" rtlCol="0">
                <a:spAutoFit/>
              </a:bodyPr>
              <a:lstStyle/>
              <a:p>
                <a:r>
                  <a:rPr lang="en-US" altLang="zh-CN" sz="2100" b="1" dirty="0">
                    <a:solidFill>
                      <a:schemeClr val="accent1">
                        <a:lumMod val="75000"/>
                      </a:schemeClr>
                    </a:solidFill>
                  </a:rPr>
                  <a:t>T</a:t>
                </a:r>
                <a:r>
                  <a:rPr lang="en-US" altLang="zh-CN" sz="2100" b="1" baseline="-25000" dirty="0">
                    <a:solidFill>
                      <a:schemeClr val="accent1">
                        <a:lumMod val="75000"/>
                      </a:schemeClr>
                    </a:solidFill>
                  </a:rPr>
                  <a:t>2</a:t>
                </a:r>
                <a:endParaRPr lang="en-US" sz="2100" b="1" baseline="-25000" dirty="0">
                  <a:solidFill>
                    <a:schemeClr val="accent1">
                      <a:lumMod val="75000"/>
                    </a:schemeClr>
                  </a:solidFill>
                </a:endParaRPr>
              </a:p>
            </p:txBody>
          </p:sp>
          <p:sp>
            <p:nvSpPr>
              <p:cNvPr id="85" name="Rectangle 84"/>
              <p:cNvSpPr/>
              <p:nvPr/>
            </p:nvSpPr>
            <p:spPr>
              <a:xfrm>
                <a:off x="1569971" y="3171488"/>
                <a:ext cx="994156" cy="3173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Begin</a:t>
                </a:r>
              </a:p>
            </p:txBody>
          </p:sp>
          <p:sp>
            <p:nvSpPr>
              <p:cNvPr id="86" name="Rectangle 85"/>
              <p:cNvSpPr/>
              <p:nvPr/>
            </p:nvSpPr>
            <p:spPr>
              <a:xfrm>
                <a:off x="1577235" y="4587810"/>
                <a:ext cx="994156" cy="31734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W(A)</a:t>
                </a:r>
              </a:p>
            </p:txBody>
          </p:sp>
          <p:sp>
            <p:nvSpPr>
              <p:cNvPr id="87" name="Rectangle 86"/>
              <p:cNvSpPr/>
              <p:nvPr/>
            </p:nvSpPr>
            <p:spPr>
              <a:xfrm>
                <a:off x="1584031" y="3629192"/>
                <a:ext cx="994156" cy="3173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R(B)</a:t>
                </a:r>
              </a:p>
            </p:txBody>
          </p:sp>
          <p:sp>
            <p:nvSpPr>
              <p:cNvPr id="88" name="Rectangle 87"/>
              <p:cNvSpPr/>
              <p:nvPr/>
            </p:nvSpPr>
            <p:spPr>
              <a:xfrm>
                <a:off x="1557881" y="5064354"/>
                <a:ext cx="994156" cy="3173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Commit</a:t>
                </a:r>
              </a:p>
            </p:txBody>
          </p:sp>
        </p:grpSp>
      </p:grpSp>
      <p:grpSp>
        <p:nvGrpSpPr>
          <p:cNvPr id="94" name="Group 93"/>
          <p:cNvGrpSpPr/>
          <p:nvPr/>
        </p:nvGrpSpPr>
        <p:grpSpPr>
          <a:xfrm>
            <a:off x="4763165" y="2802993"/>
            <a:ext cx="2036028" cy="2127262"/>
            <a:chOff x="286817" y="2545352"/>
            <a:chExt cx="2714704" cy="2836349"/>
          </a:xfrm>
        </p:grpSpPr>
        <p:cxnSp>
          <p:nvCxnSpPr>
            <p:cNvPr id="95" name="Straight Arrow Connector 94"/>
            <p:cNvCxnSpPr/>
            <p:nvPr/>
          </p:nvCxnSpPr>
          <p:spPr>
            <a:xfrm>
              <a:off x="1281386" y="3768316"/>
              <a:ext cx="719183" cy="978168"/>
            </a:xfrm>
            <a:prstGeom prst="straightConnector1">
              <a:avLst/>
            </a:prstGeom>
            <a:ln w="53975">
              <a:tailEnd type="arrow"/>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1480304" y="3774173"/>
              <a:ext cx="619124" cy="492443"/>
            </a:xfrm>
            <a:prstGeom prst="rect">
              <a:avLst/>
            </a:prstGeom>
            <a:noFill/>
          </p:spPr>
          <p:txBody>
            <a:bodyPr wrap="square" rtlCol="0">
              <a:spAutoFit/>
            </a:bodyPr>
            <a:lstStyle/>
            <a:p>
              <a:r>
                <a:rPr lang="en-US" altLang="zh-CN" b="1" dirty="0" err="1">
                  <a:solidFill>
                    <a:schemeClr val="accent1">
                      <a:lumMod val="75000"/>
                    </a:schemeClr>
                  </a:solidFill>
                </a:rPr>
                <a:t>rw</a:t>
              </a:r>
              <a:endParaRPr lang="en-US" b="1" baseline="-25000" dirty="0">
                <a:solidFill>
                  <a:schemeClr val="accent1">
                    <a:lumMod val="75000"/>
                  </a:schemeClr>
                </a:solidFill>
              </a:endParaRPr>
            </a:p>
          </p:txBody>
        </p:sp>
        <p:grpSp>
          <p:nvGrpSpPr>
            <p:cNvPr id="97" name="Group 96"/>
            <p:cNvGrpSpPr/>
            <p:nvPr/>
          </p:nvGrpSpPr>
          <p:grpSpPr>
            <a:xfrm>
              <a:off x="286817" y="2545352"/>
              <a:ext cx="994569" cy="1857490"/>
              <a:chOff x="286817" y="2545352"/>
              <a:chExt cx="994569" cy="1857490"/>
            </a:xfrm>
          </p:grpSpPr>
          <p:sp>
            <p:nvSpPr>
              <p:cNvPr id="104" name="TextBox 103"/>
              <p:cNvSpPr txBox="1"/>
              <p:nvPr/>
            </p:nvSpPr>
            <p:spPr>
              <a:xfrm>
                <a:off x="482673" y="2545352"/>
                <a:ext cx="524654" cy="841256"/>
              </a:xfrm>
              <a:prstGeom prst="rect">
                <a:avLst/>
              </a:prstGeom>
              <a:noFill/>
            </p:spPr>
            <p:txBody>
              <a:bodyPr wrap="square" rtlCol="0">
                <a:spAutoFit/>
              </a:bodyPr>
              <a:lstStyle/>
              <a:p>
                <a:r>
                  <a:rPr lang="en-US" altLang="zh-CN" sz="2100" b="1" dirty="0">
                    <a:solidFill>
                      <a:schemeClr val="accent1">
                        <a:lumMod val="75000"/>
                      </a:schemeClr>
                    </a:solidFill>
                  </a:rPr>
                  <a:t>T</a:t>
                </a:r>
                <a:r>
                  <a:rPr lang="en-US" altLang="zh-CN" sz="2100" b="1" baseline="-25000" dirty="0">
                    <a:solidFill>
                      <a:schemeClr val="accent1">
                        <a:lumMod val="75000"/>
                      </a:schemeClr>
                    </a:solidFill>
                  </a:rPr>
                  <a:t>1</a:t>
                </a:r>
                <a:endParaRPr lang="en-US" sz="2100" b="1" baseline="-25000" dirty="0">
                  <a:solidFill>
                    <a:schemeClr val="accent1">
                      <a:lumMod val="75000"/>
                    </a:schemeClr>
                  </a:solidFill>
                </a:endParaRPr>
              </a:p>
            </p:txBody>
          </p:sp>
          <p:grpSp>
            <p:nvGrpSpPr>
              <p:cNvPr id="105" name="Group 104"/>
              <p:cNvGrpSpPr/>
              <p:nvPr/>
            </p:nvGrpSpPr>
            <p:grpSpPr>
              <a:xfrm>
                <a:off x="286817" y="3171488"/>
                <a:ext cx="994569" cy="1231354"/>
                <a:chOff x="286817" y="3171488"/>
                <a:chExt cx="994569" cy="1231354"/>
              </a:xfrm>
            </p:grpSpPr>
            <p:sp>
              <p:nvSpPr>
                <p:cNvPr id="106" name="Rectangle 105"/>
                <p:cNvSpPr/>
                <p:nvPr/>
              </p:nvSpPr>
              <p:spPr>
                <a:xfrm>
                  <a:off x="287230" y="3609642"/>
                  <a:ext cx="994156" cy="31734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R(A)</a:t>
                  </a:r>
                </a:p>
              </p:txBody>
            </p:sp>
            <p:sp>
              <p:nvSpPr>
                <p:cNvPr id="107" name="Rectangle 106"/>
                <p:cNvSpPr/>
                <p:nvPr/>
              </p:nvSpPr>
              <p:spPr>
                <a:xfrm>
                  <a:off x="287230" y="4085495"/>
                  <a:ext cx="994156" cy="3173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Commit</a:t>
                  </a:r>
                </a:p>
              </p:txBody>
            </p:sp>
            <p:sp>
              <p:nvSpPr>
                <p:cNvPr id="108" name="Rectangle 107"/>
                <p:cNvSpPr/>
                <p:nvPr/>
              </p:nvSpPr>
              <p:spPr>
                <a:xfrm>
                  <a:off x="286817" y="3171488"/>
                  <a:ext cx="994156" cy="3173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Begin</a:t>
                  </a:r>
                </a:p>
              </p:txBody>
            </p:sp>
          </p:grpSp>
        </p:grpSp>
        <p:grpSp>
          <p:nvGrpSpPr>
            <p:cNvPr id="98" name="Group 97"/>
            <p:cNvGrpSpPr/>
            <p:nvPr/>
          </p:nvGrpSpPr>
          <p:grpSpPr>
            <a:xfrm>
              <a:off x="1981215" y="2545352"/>
              <a:ext cx="1020306" cy="2836349"/>
              <a:chOff x="1557881" y="2545352"/>
              <a:chExt cx="1020306" cy="2836349"/>
            </a:xfrm>
          </p:grpSpPr>
          <p:sp>
            <p:nvSpPr>
              <p:cNvPr id="99" name="TextBox 98"/>
              <p:cNvSpPr txBox="1"/>
              <p:nvPr/>
            </p:nvSpPr>
            <p:spPr>
              <a:xfrm>
                <a:off x="1895485" y="2545352"/>
                <a:ext cx="524654" cy="841256"/>
              </a:xfrm>
              <a:prstGeom prst="rect">
                <a:avLst/>
              </a:prstGeom>
              <a:noFill/>
            </p:spPr>
            <p:txBody>
              <a:bodyPr wrap="square" rtlCol="0">
                <a:spAutoFit/>
              </a:bodyPr>
              <a:lstStyle/>
              <a:p>
                <a:r>
                  <a:rPr lang="en-US" altLang="zh-CN" sz="2100" b="1" dirty="0">
                    <a:solidFill>
                      <a:schemeClr val="accent1">
                        <a:lumMod val="75000"/>
                      </a:schemeClr>
                    </a:solidFill>
                  </a:rPr>
                  <a:t>T</a:t>
                </a:r>
                <a:r>
                  <a:rPr lang="en-US" altLang="zh-CN" sz="2100" b="1" baseline="-25000" dirty="0">
                    <a:solidFill>
                      <a:schemeClr val="accent1">
                        <a:lumMod val="75000"/>
                      </a:schemeClr>
                    </a:solidFill>
                  </a:rPr>
                  <a:t>2</a:t>
                </a:r>
                <a:endParaRPr lang="en-US" sz="2100" b="1" baseline="-25000" dirty="0">
                  <a:solidFill>
                    <a:schemeClr val="accent1">
                      <a:lumMod val="75000"/>
                    </a:schemeClr>
                  </a:solidFill>
                </a:endParaRPr>
              </a:p>
            </p:txBody>
          </p:sp>
          <p:sp>
            <p:nvSpPr>
              <p:cNvPr id="100" name="Rectangle 99"/>
              <p:cNvSpPr/>
              <p:nvPr/>
            </p:nvSpPr>
            <p:spPr>
              <a:xfrm>
                <a:off x="1569971" y="3171488"/>
                <a:ext cx="994156" cy="3173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Begin</a:t>
                </a:r>
              </a:p>
            </p:txBody>
          </p:sp>
          <p:sp>
            <p:nvSpPr>
              <p:cNvPr id="101" name="Rectangle 100"/>
              <p:cNvSpPr/>
              <p:nvPr/>
            </p:nvSpPr>
            <p:spPr>
              <a:xfrm>
                <a:off x="1577235" y="4587810"/>
                <a:ext cx="994156" cy="31734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W(A)</a:t>
                </a:r>
              </a:p>
            </p:txBody>
          </p:sp>
          <p:sp>
            <p:nvSpPr>
              <p:cNvPr id="102" name="Rectangle 101"/>
              <p:cNvSpPr/>
              <p:nvPr/>
            </p:nvSpPr>
            <p:spPr>
              <a:xfrm>
                <a:off x="1584031" y="3629192"/>
                <a:ext cx="994156" cy="3173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R(B)</a:t>
                </a:r>
              </a:p>
            </p:txBody>
          </p:sp>
          <p:sp>
            <p:nvSpPr>
              <p:cNvPr id="103" name="Rectangle 102"/>
              <p:cNvSpPr/>
              <p:nvPr/>
            </p:nvSpPr>
            <p:spPr>
              <a:xfrm>
                <a:off x="1557881" y="5064354"/>
                <a:ext cx="994156" cy="3173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Commit</a:t>
                </a:r>
              </a:p>
            </p:txBody>
          </p:sp>
        </p:grpSp>
      </p:grpSp>
      <p:sp>
        <p:nvSpPr>
          <p:cNvPr id="72" name="Oval 71"/>
          <p:cNvSpPr/>
          <p:nvPr/>
        </p:nvSpPr>
        <p:spPr>
          <a:xfrm>
            <a:off x="6839605" y="4770536"/>
            <a:ext cx="983619" cy="429027"/>
          </a:xfrm>
          <a:prstGeom prst="ellips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5" name="Group 14"/>
          <p:cNvGrpSpPr/>
          <p:nvPr/>
        </p:nvGrpSpPr>
        <p:grpSpPr>
          <a:xfrm>
            <a:off x="6958606" y="2807086"/>
            <a:ext cx="2030931" cy="2269418"/>
            <a:chOff x="9278141" y="2599782"/>
            <a:chExt cx="2707908" cy="3025890"/>
          </a:xfrm>
        </p:grpSpPr>
        <p:grpSp>
          <p:nvGrpSpPr>
            <p:cNvPr id="109" name="Group 108"/>
            <p:cNvGrpSpPr/>
            <p:nvPr/>
          </p:nvGrpSpPr>
          <p:grpSpPr>
            <a:xfrm>
              <a:off x="9278141" y="2599782"/>
              <a:ext cx="2707908" cy="3025890"/>
              <a:chOff x="286817" y="2545352"/>
              <a:chExt cx="2707908" cy="3025890"/>
            </a:xfrm>
          </p:grpSpPr>
          <p:cxnSp>
            <p:nvCxnSpPr>
              <p:cNvPr id="110" name="Straight Arrow Connector 109"/>
              <p:cNvCxnSpPr>
                <a:stCxn id="121" idx="3"/>
              </p:cNvCxnSpPr>
              <p:nvPr/>
            </p:nvCxnSpPr>
            <p:spPr>
              <a:xfrm flipV="1">
                <a:off x="1281386" y="3721378"/>
                <a:ext cx="699829" cy="1079866"/>
              </a:xfrm>
              <a:prstGeom prst="straightConnector1">
                <a:avLst/>
              </a:prstGeom>
              <a:ln w="53975">
                <a:tailEnd type="arrow"/>
              </a:ln>
            </p:spPr>
            <p:style>
              <a:lnRef idx="1">
                <a:schemeClr val="accent1"/>
              </a:lnRef>
              <a:fillRef idx="0">
                <a:schemeClr val="accent1"/>
              </a:fillRef>
              <a:effectRef idx="0">
                <a:schemeClr val="accent1"/>
              </a:effectRef>
              <a:fontRef idx="minor">
                <a:schemeClr val="tx1"/>
              </a:fontRef>
            </p:style>
          </p:cxnSp>
          <p:sp>
            <p:nvSpPr>
              <p:cNvPr id="111" name="TextBox 110"/>
              <p:cNvSpPr txBox="1"/>
              <p:nvPr/>
            </p:nvSpPr>
            <p:spPr>
              <a:xfrm>
                <a:off x="1249389" y="3857126"/>
                <a:ext cx="619124" cy="492443"/>
              </a:xfrm>
              <a:prstGeom prst="rect">
                <a:avLst/>
              </a:prstGeom>
              <a:noFill/>
            </p:spPr>
            <p:txBody>
              <a:bodyPr wrap="square" rtlCol="0">
                <a:spAutoFit/>
              </a:bodyPr>
              <a:lstStyle/>
              <a:p>
                <a:r>
                  <a:rPr lang="en-US" altLang="zh-CN" b="1" dirty="0" err="1">
                    <a:solidFill>
                      <a:schemeClr val="accent1">
                        <a:lumMod val="75000"/>
                      </a:schemeClr>
                    </a:solidFill>
                  </a:rPr>
                  <a:t>rw</a:t>
                </a:r>
                <a:endParaRPr lang="en-US" b="1" baseline="-25000" dirty="0">
                  <a:solidFill>
                    <a:schemeClr val="accent1">
                      <a:lumMod val="75000"/>
                    </a:schemeClr>
                  </a:solidFill>
                </a:endParaRPr>
              </a:p>
            </p:txBody>
          </p:sp>
          <p:grpSp>
            <p:nvGrpSpPr>
              <p:cNvPr id="112" name="Group 111"/>
              <p:cNvGrpSpPr/>
              <p:nvPr/>
            </p:nvGrpSpPr>
            <p:grpSpPr>
              <a:xfrm>
                <a:off x="286817" y="2545352"/>
                <a:ext cx="994569" cy="3025890"/>
                <a:chOff x="286817" y="2545352"/>
                <a:chExt cx="994569" cy="3025890"/>
              </a:xfrm>
            </p:grpSpPr>
            <p:sp>
              <p:nvSpPr>
                <p:cNvPr id="119" name="TextBox 118"/>
                <p:cNvSpPr txBox="1"/>
                <p:nvPr/>
              </p:nvSpPr>
              <p:spPr>
                <a:xfrm>
                  <a:off x="482673" y="2545352"/>
                  <a:ext cx="524654" cy="841256"/>
                </a:xfrm>
                <a:prstGeom prst="rect">
                  <a:avLst/>
                </a:prstGeom>
                <a:noFill/>
              </p:spPr>
              <p:txBody>
                <a:bodyPr wrap="square" rtlCol="0">
                  <a:spAutoFit/>
                </a:bodyPr>
                <a:lstStyle/>
                <a:p>
                  <a:r>
                    <a:rPr lang="en-US" altLang="zh-CN" sz="2100" b="1" dirty="0">
                      <a:solidFill>
                        <a:schemeClr val="accent1">
                          <a:lumMod val="75000"/>
                        </a:schemeClr>
                      </a:solidFill>
                    </a:rPr>
                    <a:t>T</a:t>
                  </a:r>
                  <a:r>
                    <a:rPr lang="en-US" altLang="zh-CN" sz="2100" b="1" baseline="-25000" dirty="0">
                      <a:solidFill>
                        <a:schemeClr val="accent1">
                          <a:lumMod val="75000"/>
                        </a:schemeClr>
                      </a:solidFill>
                    </a:rPr>
                    <a:t>1</a:t>
                  </a:r>
                  <a:endParaRPr lang="en-US" sz="2100" b="1" baseline="-25000" dirty="0">
                    <a:solidFill>
                      <a:schemeClr val="accent1">
                        <a:lumMod val="75000"/>
                      </a:schemeClr>
                    </a:solidFill>
                  </a:endParaRPr>
                </a:p>
              </p:txBody>
            </p:sp>
            <p:grpSp>
              <p:nvGrpSpPr>
                <p:cNvPr id="120" name="Group 119"/>
                <p:cNvGrpSpPr/>
                <p:nvPr/>
              </p:nvGrpSpPr>
              <p:grpSpPr>
                <a:xfrm>
                  <a:off x="286817" y="3171488"/>
                  <a:ext cx="994569" cy="2399754"/>
                  <a:chOff x="286817" y="3171488"/>
                  <a:chExt cx="994569" cy="2399754"/>
                </a:xfrm>
              </p:grpSpPr>
              <p:sp>
                <p:nvSpPr>
                  <p:cNvPr id="121" name="Rectangle 120"/>
                  <p:cNvSpPr/>
                  <p:nvPr/>
                </p:nvSpPr>
                <p:spPr>
                  <a:xfrm>
                    <a:off x="287230" y="4642570"/>
                    <a:ext cx="994156" cy="31734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R(A)</a:t>
                    </a:r>
                  </a:p>
                </p:txBody>
              </p:sp>
              <p:sp>
                <p:nvSpPr>
                  <p:cNvPr id="122" name="Rectangle 121"/>
                  <p:cNvSpPr/>
                  <p:nvPr/>
                </p:nvSpPr>
                <p:spPr>
                  <a:xfrm>
                    <a:off x="287230" y="5253895"/>
                    <a:ext cx="994156" cy="3173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Commit</a:t>
                    </a:r>
                  </a:p>
                </p:txBody>
              </p:sp>
              <p:sp>
                <p:nvSpPr>
                  <p:cNvPr id="123" name="Rectangle 122"/>
                  <p:cNvSpPr/>
                  <p:nvPr/>
                </p:nvSpPr>
                <p:spPr>
                  <a:xfrm>
                    <a:off x="286817" y="3171488"/>
                    <a:ext cx="994156" cy="3173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Begin</a:t>
                    </a:r>
                  </a:p>
                </p:txBody>
              </p:sp>
            </p:grpSp>
          </p:grpSp>
          <p:grpSp>
            <p:nvGrpSpPr>
              <p:cNvPr id="113" name="Group 112"/>
              <p:cNvGrpSpPr/>
              <p:nvPr/>
            </p:nvGrpSpPr>
            <p:grpSpPr>
              <a:xfrm>
                <a:off x="1981215" y="2545352"/>
                <a:ext cx="1013510" cy="1854216"/>
                <a:chOff x="1557881" y="2545352"/>
                <a:chExt cx="1013510" cy="1854216"/>
              </a:xfrm>
            </p:grpSpPr>
            <p:sp>
              <p:nvSpPr>
                <p:cNvPr id="114" name="TextBox 113"/>
                <p:cNvSpPr txBox="1"/>
                <p:nvPr/>
              </p:nvSpPr>
              <p:spPr>
                <a:xfrm>
                  <a:off x="1895485" y="2545352"/>
                  <a:ext cx="524654" cy="841256"/>
                </a:xfrm>
                <a:prstGeom prst="rect">
                  <a:avLst/>
                </a:prstGeom>
                <a:noFill/>
              </p:spPr>
              <p:txBody>
                <a:bodyPr wrap="square" rtlCol="0">
                  <a:spAutoFit/>
                </a:bodyPr>
                <a:lstStyle/>
                <a:p>
                  <a:r>
                    <a:rPr lang="en-US" altLang="zh-CN" sz="2100" b="1" dirty="0">
                      <a:solidFill>
                        <a:schemeClr val="accent1">
                          <a:lumMod val="75000"/>
                        </a:schemeClr>
                      </a:solidFill>
                    </a:rPr>
                    <a:t>T</a:t>
                  </a:r>
                  <a:r>
                    <a:rPr lang="en-US" altLang="zh-CN" sz="2100" b="1" baseline="-25000" dirty="0">
                      <a:solidFill>
                        <a:schemeClr val="accent1">
                          <a:lumMod val="75000"/>
                        </a:schemeClr>
                      </a:solidFill>
                    </a:rPr>
                    <a:t>2</a:t>
                  </a:r>
                  <a:endParaRPr lang="en-US" sz="2100" b="1" baseline="-25000" dirty="0">
                    <a:solidFill>
                      <a:schemeClr val="accent1">
                        <a:lumMod val="75000"/>
                      </a:schemeClr>
                    </a:solidFill>
                  </a:endParaRPr>
                </a:p>
              </p:txBody>
            </p:sp>
            <p:sp>
              <p:nvSpPr>
                <p:cNvPr id="115" name="Rectangle 114"/>
                <p:cNvSpPr/>
                <p:nvPr/>
              </p:nvSpPr>
              <p:spPr>
                <a:xfrm>
                  <a:off x="1569971" y="3171488"/>
                  <a:ext cx="994156" cy="3173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Begin</a:t>
                  </a:r>
                </a:p>
              </p:txBody>
            </p:sp>
            <p:sp>
              <p:nvSpPr>
                <p:cNvPr id="116" name="Rectangle 115"/>
                <p:cNvSpPr/>
                <p:nvPr/>
              </p:nvSpPr>
              <p:spPr>
                <a:xfrm>
                  <a:off x="1577235" y="3622612"/>
                  <a:ext cx="994156" cy="31734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W(A)</a:t>
                  </a:r>
                </a:p>
              </p:txBody>
            </p:sp>
            <p:sp>
              <p:nvSpPr>
                <p:cNvPr id="118" name="Rectangle 117"/>
                <p:cNvSpPr/>
                <p:nvPr/>
              </p:nvSpPr>
              <p:spPr>
                <a:xfrm>
                  <a:off x="1557881" y="4082221"/>
                  <a:ext cx="994156" cy="3173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Commit</a:t>
                  </a:r>
                </a:p>
              </p:txBody>
            </p:sp>
          </p:grpSp>
        </p:grpSp>
        <p:sp>
          <p:nvSpPr>
            <p:cNvPr id="124" name="Rectangle 123"/>
            <p:cNvSpPr/>
            <p:nvPr/>
          </p:nvSpPr>
          <p:spPr>
            <a:xfrm>
              <a:off x="9278141" y="3688969"/>
              <a:ext cx="1081503" cy="2999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Snapshot</a:t>
              </a:r>
            </a:p>
          </p:txBody>
        </p:sp>
      </p:grpSp>
    </p:spTree>
    <p:extLst>
      <p:ext uri="{BB962C8B-B14F-4D97-AF65-F5344CB8AC3E}">
        <p14:creationId xmlns:p14="http://schemas.microsoft.com/office/powerpoint/2010/main" val="2607345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10"/>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70"/>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71"/>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5"/>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p:bldP spid="71" grpId="1" animBg="1"/>
      <p:bldP spid="70" grpId="0" animBg="1"/>
      <p:bldP spid="70" grpId="1" animBg="1"/>
      <p:bldP spid="10" grpId="0" animBg="1"/>
      <p:bldP spid="10" grpId="1" animBg="1"/>
      <p:bldP spid="5" grpId="0"/>
      <p:bldP spid="5" grpId="1"/>
      <p:bldP spid="42" grpId="0"/>
      <p:bldP spid="72"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1927654" y="2187179"/>
            <a:ext cx="5881815" cy="6248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spAutoFit/>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9pPr>
          </a:lstStyle>
          <a:p>
            <a:pPr algn="ctr" eaLnBrk="1" hangingPunct="1"/>
            <a:r>
              <a:rPr lang="en-US" altLang="zh-CN" sz="3600" dirty="0">
                <a:solidFill>
                  <a:schemeClr val="accent2"/>
                </a:solidFill>
                <a:sym typeface="Roboto Th" pitchFamily="2" charset="0"/>
              </a:rPr>
              <a:t>SSD</a:t>
            </a:r>
            <a:r>
              <a:rPr lang="zh-CN" altLang="en-US" sz="3600" dirty="0">
                <a:solidFill>
                  <a:schemeClr val="accent2"/>
                </a:solidFill>
                <a:sym typeface="Roboto Th" pitchFamily="2" charset="0"/>
              </a:rPr>
              <a:t>的基本特性及应用</a:t>
            </a:r>
            <a:endParaRPr lang="en-US" altLang="zh-CN" sz="3600" dirty="0">
              <a:solidFill>
                <a:schemeClr val="accent2"/>
              </a:solidFill>
              <a:latin typeface="微软雅黑" panose="020B0503020204020204" pitchFamily="34" charset="-122"/>
              <a:ea typeface="微软雅黑" panose="020B0503020204020204" pitchFamily="34" charset="-122"/>
              <a:sym typeface="Roboto Th" pitchFamily="2" charset="0"/>
            </a:endParaRPr>
          </a:p>
        </p:txBody>
      </p:sp>
    </p:spTree>
    <p:extLst>
      <p:ext uri="{BB962C8B-B14F-4D97-AF65-F5344CB8AC3E}">
        <p14:creationId xmlns:p14="http://schemas.microsoft.com/office/powerpoint/2010/main" val="3060996004"/>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eaLnBrk="1" hangingPunct="1"/>
            <a:r>
              <a:rPr lang="en-US" altLang="en-US" sz="4000" smtClean="0"/>
              <a:t>Flash Memory based Solid State Drive</a:t>
            </a:r>
          </a:p>
        </p:txBody>
      </p:sp>
      <p:sp>
        <p:nvSpPr>
          <p:cNvPr id="5123" name="Content Placeholder 2"/>
          <p:cNvSpPr>
            <a:spLocks noGrp="1"/>
          </p:cNvSpPr>
          <p:nvPr>
            <p:ph idx="1"/>
          </p:nvPr>
        </p:nvSpPr>
        <p:spPr>
          <a:xfrm>
            <a:off x="457200" y="1524000"/>
            <a:ext cx="8229600" cy="4800600"/>
          </a:xfrm>
        </p:spPr>
        <p:txBody>
          <a:bodyPr/>
          <a:lstStyle/>
          <a:p>
            <a:pPr marL="342900" indent="-342900" eaLnBrk="1" hangingPunct="1">
              <a:buFont typeface="Arial" panose="020B0604020202020204" pitchFamily="34" charset="0"/>
              <a:buChar char="•"/>
            </a:pPr>
            <a:r>
              <a:rPr lang="en-US" altLang="en-US" dirty="0" smtClean="0"/>
              <a:t>Solid State Drive (SSD)</a:t>
            </a:r>
          </a:p>
          <a:p>
            <a:pPr marL="685800" lvl="1" indent="-342900" eaLnBrk="1" hangingPunct="1">
              <a:buFont typeface="Wingdings" panose="05000000000000000000" pitchFamily="2" charset="2"/>
              <a:buChar char="Ø"/>
            </a:pPr>
            <a:r>
              <a:rPr lang="en-US" altLang="en-US" sz="2400" dirty="0" smtClean="0"/>
              <a:t>A </a:t>
            </a:r>
            <a:r>
              <a:rPr lang="en-US" altLang="en-US" sz="2400" b="1" dirty="0" smtClean="0">
                <a:solidFill>
                  <a:srgbClr val="C00000"/>
                </a:solidFill>
              </a:rPr>
              <a:t>semiconductor</a:t>
            </a:r>
            <a:r>
              <a:rPr lang="en-US" altLang="en-US" sz="2400" dirty="0" smtClean="0"/>
              <a:t> device</a:t>
            </a:r>
          </a:p>
          <a:p>
            <a:pPr marL="685800" lvl="1" indent="-342900" eaLnBrk="1" hangingPunct="1">
              <a:buFont typeface="Wingdings" panose="05000000000000000000" pitchFamily="2" charset="2"/>
              <a:buChar char="Ø"/>
            </a:pPr>
            <a:r>
              <a:rPr lang="en-US" altLang="en-US" sz="2400" dirty="0" smtClean="0"/>
              <a:t>Mechanical components free</a:t>
            </a:r>
          </a:p>
          <a:p>
            <a:pPr lvl="1" eaLnBrk="1" hangingPunct="1"/>
            <a:endParaRPr lang="en-US" altLang="en-US" sz="2400" dirty="0" smtClean="0"/>
          </a:p>
          <a:p>
            <a:pPr marL="342900" indent="-342900" eaLnBrk="1" hangingPunct="1">
              <a:buFont typeface="Arial" panose="020B0604020202020204" pitchFamily="34" charset="0"/>
              <a:buChar char="•"/>
            </a:pPr>
            <a:r>
              <a:rPr lang="en-US" altLang="en-US" dirty="0" smtClean="0"/>
              <a:t>Technical merits</a:t>
            </a:r>
          </a:p>
          <a:p>
            <a:pPr marL="685800" lvl="1" indent="-342900" eaLnBrk="1" hangingPunct="1">
              <a:buFont typeface="Wingdings" panose="05000000000000000000" pitchFamily="2" charset="2"/>
              <a:buChar char="Ø"/>
            </a:pPr>
            <a:r>
              <a:rPr lang="en-US" altLang="en-US" sz="2400" dirty="0" smtClean="0"/>
              <a:t>Low latency (e.g. 75µs)</a:t>
            </a:r>
          </a:p>
          <a:p>
            <a:pPr marL="685800" lvl="1" indent="-342900" eaLnBrk="1" hangingPunct="1">
              <a:buFont typeface="Wingdings" panose="05000000000000000000" pitchFamily="2" charset="2"/>
              <a:buChar char="Ø"/>
            </a:pPr>
            <a:r>
              <a:rPr lang="en-US" altLang="en-US" sz="2400" b="1" dirty="0" smtClean="0">
                <a:solidFill>
                  <a:srgbClr val="C00000"/>
                </a:solidFill>
              </a:rPr>
              <a:t>High bandwidth </a:t>
            </a:r>
            <a:r>
              <a:rPr lang="en-US" altLang="en-US" sz="2400" dirty="0" smtClean="0"/>
              <a:t>(e.g. 250MB/sec)</a:t>
            </a:r>
          </a:p>
          <a:p>
            <a:pPr marL="685800" lvl="1" indent="-342900" eaLnBrk="1" hangingPunct="1">
              <a:buFont typeface="Wingdings" panose="05000000000000000000" pitchFamily="2" charset="2"/>
              <a:buChar char="Ø"/>
            </a:pPr>
            <a:r>
              <a:rPr lang="en-US" altLang="en-US" sz="2400" b="1" dirty="0" smtClean="0">
                <a:solidFill>
                  <a:schemeClr val="tx2"/>
                </a:solidFill>
              </a:rPr>
              <a:t>Low power: </a:t>
            </a:r>
            <a:r>
              <a:rPr lang="en-US" altLang="en-US" sz="2400" dirty="0" smtClean="0"/>
              <a:t>0.06 (idle)~2.4w (active)</a:t>
            </a:r>
          </a:p>
          <a:p>
            <a:pPr marL="685800" lvl="1" indent="-342900" eaLnBrk="1" hangingPunct="1">
              <a:buFont typeface="Wingdings" panose="05000000000000000000" pitchFamily="2" charset="2"/>
              <a:buChar char="Ø"/>
            </a:pPr>
            <a:r>
              <a:rPr lang="en-US" altLang="en-US" sz="2400" dirty="0" smtClean="0"/>
              <a:t>Shock resistance</a:t>
            </a:r>
          </a:p>
          <a:p>
            <a:pPr marL="685800" lvl="1" indent="-342900" eaLnBrk="1" hangingPunct="1">
              <a:buFont typeface="Wingdings" panose="05000000000000000000" pitchFamily="2" charset="2"/>
              <a:buChar char="Ø"/>
            </a:pPr>
            <a:r>
              <a:rPr lang="en-US" altLang="en-US" sz="2400" dirty="0" smtClean="0"/>
              <a:t>Lifespan: 100GB/day </a:t>
            </a:r>
            <a:r>
              <a:rPr lang="en-US" altLang="en-US" sz="2400" dirty="0" smtClean="0">
                <a:sym typeface="Wingdings" panose="05000000000000000000" pitchFamily="2" charset="2"/>
              </a:rPr>
              <a:t> 5 years (</a:t>
            </a:r>
            <a:r>
              <a:rPr lang="en-US" altLang="en-US" sz="1800" dirty="0" smtClean="0">
                <a:sym typeface="Wingdings" panose="05000000000000000000" pitchFamily="2" charset="2"/>
              </a:rPr>
              <a:t>X25-M</a:t>
            </a:r>
            <a:r>
              <a:rPr lang="en-US" altLang="en-US" sz="2400" dirty="0" smtClean="0">
                <a:sym typeface="Wingdings" panose="05000000000000000000" pitchFamily="2" charset="2"/>
              </a:rPr>
              <a:t>)</a:t>
            </a:r>
            <a:endParaRPr lang="en-US" altLang="en-US" sz="2400" dirty="0" smtClean="0"/>
          </a:p>
          <a:p>
            <a:pPr lvl="1" eaLnBrk="1" hangingPunct="1"/>
            <a:endParaRPr lang="en-US" altLang="en-US" sz="2400" dirty="0" smtClean="0"/>
          </a:p>
          <a:p>
            <a:pPr lvl="1" eaLnBrk="1" hangingPunct="1"/>
            <a:endParaRPr lang="en-US" altLang="en-US" sz="2400" dirty="0" smtClean="0"/>
          </a:p>
        </p:txBody>
      </p:sp>
      <p:sp>
        <p:nvSpPr>
          <p:cNvPr id="13316" name="Slide Number Placeholder 6"/>
          <p:cNvSpPr>
            <a:spLocks noGrp="1"/>
          </p:cNvSpPr>
          <p:nvPr>
            <p:ph type="sldNum" sz="quarter" idx="4294967295"/>
          </p:nvPr>
        </p:nvSpPr>
        <p:spPr bwMode="auto">
          <a:xfrm>
            <a:off x="7010400" y="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 typeface="Wingdings" panose="05000000000000000000" pitchFamily="2" charset="2"/>
              <a:buNone/>
            </a:pPr>
            <a:fld id="{B44AF90E-115C-482F-884E-CE5A9EEB55B8}" type="slidenum">
              <a:rPr lang="zh-CN" altLang="en-US" sz="1200">
                <a:solidFill>
                  <a:srgbClr val="898989"/>
                </a:solidFill>
                <a:latin typeface="Verdana" panose="020B0604030504040204" pitchFamily="34" charset="0"/>
              </a:rPr>
              <a:pPr>
                <a:spcBef>
                  <a:spcPct val="50000"/>
                </a:spcBef>
                <a:buFont typeface="Wingdings" panose="05000000000000000000" pitchFamily="2" charset="2"/>
                <a:buNone/>
              </a:pPr>
              <a:t>77</a:t>
            </a:fld>
            <a:endParaRPr lang="zh-CN" altLang="en-US" sz="1200">
              <a:solidFill>
                <a:srgbClr val="898989"/>
              </a:solidFill>
              <a:latin typeface="Verdana" panose="020B0604030504040204" pitchFamily="34" charset="0"/>
            </a:endParaRPr>
          </a:p>
        </p:txBody>
      </p:sp>
      <p:pic>
        <p:nvPicPr>
          <p:cNvPr id="61441"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9800" y="2438400"/>
            <a:ext cx="2949575" cy="420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9406529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441"/>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12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123">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123">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123">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123">
                                            <p:txEl>
                                              <p:pRg st="8" end="8"/>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12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Title 1"/>
          <p:cNvSpPr>
            <a:spLocks noGrp="1"/>
          </p:cNvSpPr>
          <p:nvPr>
            <p:ph type="title"/>
          </p:nvPr>
        </p:nvSpPr>
        <p:spPr>
          <a:xfrm>
            <a:off x="0" y="274638"/>
            <a:ext cx="9144000" cy="1143000"/>
          </a:xfrm>
        </p:spPr>
        <p:txBody>
          <a:bodyPr/>
          <a:lstStyle/>
          <a:p>
            <a:pPr eaLnBrk="1" hangingPunct="1"/>
            <a:r>
              <a:rPr lang="en-US" altLang="en-US" sz="3600" smtClean="0"/>
              <a:t> SSD Internal 1: Write and Erase          </a:t>
            </a:r>
          </a:p>
        </p:txBody>
      </p:sp>
      <p:sp>
        <p:nvSpPr>
          <p:cNvPr id="28675" name="Slide Number Placeholder 4"/>
          <p:cNvSpPr>
            <a:spLocks noGrp="1"/>
          </p:cNvSpPr>
          <p:nvPr>
            <p:ph type="sldNum" sz="quarter" idx="4294967295"/>
          </p:nvPr>
        </p:nvSpPr>
        <p:spPr bwMode="auto">
          <a:xfrm>
            <a:off x="7010400" y="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 typeface="Wingdings" panose="05000000000000000000" pitchFamily="2" charset="2"/>
              <a:buNone/>
            </a:pPr>
            <a:fld id="{2CB3F656-A199-4794-98AD-C38FA3441A47}" type="slidenum">
              <a:rPr lang="zh-CN" altLang="en-US" sz="1200">
                <a:solidFill>
                  <a:srgbClr val="898989"/>
                </a:solidFill>
                <a:latin typeface="Verdana" panose="020B0604030504040204" pitchFamily="34" charset="0"/>
              </a:rPr>
              <a:pPr>
                <a:spcBef>
                  <a:spcPct val="50000"/>
                </a:spcBef>
                <a:buFont typeface="Wingdings" panose="05000000000000000000" pitchFamily="2" charset="2"/>
                <a:buNone/>
              </a:pPr>
              <a:t>78</a:t>
            </a:fld>
            <a:endParaRPr lang="zh-CN" altLang="en-US" sz="1200">
              <a:solidFill>
                <a:srgbClr val="898989"/>
              </a:solidFill>
              <a:latin typeface="Verdana" panose="020B0604030504040204" pitchFamily="34" charset="0"/>
            </a:endParaRPr>
          </a:p>
        </p:txBody>
      </p:sp>
      <p:sp>
        <p:nvSpPr>
          <p:cNvPr id="8" name="Content Placeholder 2"/>
          <p:cNvSpPr txBox="1">
            <a:spLocks/>
          </p:cNvSpPr>
          <p:nvPr/>
        </p:nvSpPr>
        <p:spPr bwMode="auto">
          <a:xfrm>
            <a:off x="333375" y="4114800"/>
            <a:ext cx="82296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r>
              <a:rPr lang="en-US" altLang="en-US" sz="2400">
                <a:solidFill>
                  <a:srgbClr val="FF0000"/>
                </a:solidFill>
              </a:rPr>
              <a:t>Data write: </a:t>
            </a:r>
            <a:r>
              <a:rPr lang="en-US" altLang="en-US" sz="2400"/>
              <a:t>data cannot be overwritten (erase before write)</a:t>
            </a:r>
          </a:p>
          <a:p>
            <a:pPr lvl="1" eaLnBrk="1" hangingPunct="1"/>
            <a:r>
              <a:rPr lang="en-US" altLang="en-US" sz="2000"/>
              <a:t>Data unit to write is </a:t>
            </a:r>
            <a:r>
              <a:rPr lang="en-US" altLang="en-US" sz="2000">
                <a:solidFill>
                  <a:srgbClr val="FF0000"/>
                </a:solidFill>
              </a:rPr>
              <a:t>page</a:t>
            </a:r>
            <a:r>
              <a:rPr lang="en-US" altLang="en-US" sz="2000"/>
              <a:t> (4K-8K), and can only write in an erased unit</a:t>
            </a:r>
          </a:p>
          <a:p>
            <a:pPr eaLnBrk="1" hangingPunct="1"/>
            <a:r>
              <a:rPr lang="en-US" altLang="en-US" sz="2400">
                <a:solidFill>
                  <a:srgbClr val="FF0000"/>
                </a:solidFill>
              </a:rPr>
              <a:t>Data Erase: </a:t>
            </a:r>
            <a:r>
              <a:rPr lang="en-US" altLang="en-US" sz="2400"/>
              <a:t>to prepare another write in SSD  </a:t>
            </a:r>
          </a:p>
          <a:p>
            <a:pPr lvl="1" eaLnBrk="1" hangingPunct="1"/>
            <a:r>
              <a:rPr lang="en-US" altLang="en-US" sz="2000"/>
              <a:t>Data unit to erase is a </a:t>
            </a:r>
            <a:r>
              <a:rPr lang="en-US" altLang="en-US" sz="2000">
                <a:solidFill>
                  <a:srgbClr val="FF0000"/>
                </a:solidFill>
              </a:rPr>
              <a:t>block</a:t>
            </a:r>
            <a:r>
              <a:rPr lang="en-US" altLang="en-US" sz="2000"/>
              <a:t> (e.g. 64-128 pages)</a:t>
            </a:r>
          </a:p>
          <a:p>
            <a:pPr lvl="1" eaLnBrk="1" hangingPunct="1"/>
            <a:r>
              <a:rPr lang="en-US" altLang="en-US" sz="2000"/>
              <a:t>Flash memory can be only </a:t>
            </a:r>
            <a:r>
              <a:rPr lang="en-US" altLang="en-US" sz="2000">
                <a:solidFill>
                  <a:srgbClr val="FF0000"/>
                </a:solidFill>
              </a:rPr>
              <a:t>programmed </a:t>
            </a:r>
            <a:r>
              <a:rPr lang="en-US" altLang="en-US" sz="2000"/>
              <a:t>and</a:t>
            </a:r>
            <a:r>
              <a:rPr lang="en-US" altLang="en-US" sz="2000">
                <a:solidFill>
                  <a:srgbClr val="FF0000"/>
                </a:solidFill>
              </a:rPr>
              <a:t> erased </a:t>
            </a:r>
            <a:r>
              <a:rPr lang="en-US" altLang="en-US" sz="2000"/>
              <a:t>a limited number of times (</a:t>
            </a:r>
            <a:r>
              <a:rPr lang="en-US" altLang="en-US" sz="2000">
                <a:solidFill>
                  <a:srgbClr val="FF0000"/>
                </a:solidFill>
              </a:rPr>
              <a:t>P/E cycles: </a:t>
            </a:r>
            <a:r>
              <a:rPr lang="en-US" altLang="en-US" sz="2000"/>
              <a:t>e.g. SLC for 100,000,  MLC for 10,000) </a:t>
            </a:r>
          </a:p>
          <a:p>
            <a:pPr eaLnBrk="1" hangingPunct="1">
              <a:buFont typeface="Arial" panose="020B0604020202020204" pitchFamily="34" charset="0"/>
              <a:buNone/>
            </a:pPr>
            <a:endParaRPr lang="en-US" altLang="en-US" sz="2400"/>
          </a:p>
          <a:p>
            <a:pPr lvl="1" eaLnBrk="1" hangingPunct="1">
              <a:buFont typeface="Arial" panose="020B0604020202020204" pitchFamily="34" charset="0"/>
              <a:buNone/>
            </a:pPr>
            <a:endParaRPr lang="en-US" altLang="en-US" sz="2400" b="1">
              <a:solidFill>
                <a:srgbClr val="0070C0"/>
              </a:solidFill>
            </a:endParaRPr>
          </a:p>
          <a:p>
            <a:pPr eaLnBrk="1" hangingPunct="1">
              <a:buFont typeface="Arial" panose="020B0604020202020204" pitchFamily="34" charset="0"/>
              <a:buNone/>
            </a:pPr>
            <a:endParaRPr lang="en-US" altLang="en-US" sz="2400"/>
          </a:p>
        </p:txBody>
      </p:sp>
      <p:pic>
        <p:nvPicPr>
          <p:cNvPr id="28677" name="Picture 2" descr="C:\Users\Xiaodong Zhang\Desktop\Documents\presentations\2013-DS-lectures\NAND_Flash_Pages_and_Blocks.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143000" y="1371600"/>
            <a:ext cx="6858000" cy="2819400"/>
          </a:xfrm>
          <a:noFill/>
        </p:spPr>
      </p:pic>
    </p:spTree>
    <p:extLst>
      <p:ext uri="{BB962C8B-B14F-4D97-AF65-F5344CB8AC3E}">
        <p14:creationId xmlns:p14="http://schemas.microsoft.com/office/powerpoint/2010/main" val="37367419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Title 1"/>
          <p:cNvSpPr>
            <a:spLocks noGrp="1"/>
          </p:cNvSpPr>
          <p:nvPr>
            <p:ph type="title"/>
          </p:nvPr>
        </p:nvSpPr>
        <p:spPr>
          <a:xfrm>
            <a:off x="0" y="76200"/>
            <a:ext cx="9144000" cy="838200"/>
          </a:xfrm>
        </p:spPr>
        <p:txBody>
          <a:bodyPr/>
          <a:lstStyle/>
          <a:p>
            <a:pPr eaLnBrk="1" hangingPunct="1"/>
            <a:r>
              <a:rPr lang="en-US" altLang="en-US" sz="3600" smtClean="0"/>
              <a:t> SSD Internal 2: Garbage Collection          </a:t>
            </a:r>
          </a:p>
        </p:txBody>
      </p:sp>
      <p:sp>
        <p:nvSpPr>
          <p:cNvPr id="29699" name="Slide Number Placeholder 4"/>
          <p:cNvSpPr>
            <a:spLocks noGrp="1"/>
          </p:cNvSpPr>
          <p:nvPr>
            <p:ph type="sldNum" sz="quarter" idx="4294967295"/>
          </p:nvPr>
        </p:nvSpPr>
        <p:spPr bwMode="auto">
          <a:xfrm>
            <a:off x="7010400" y="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 typeface="Wingdings" panose="05000000000000000000" pitchFamily="2" charset="2"/>
              <a:buNone/>
            </a:pPr>
            <a:fld id="{58EE7859-E53D-490C-AEF2-E9E4107385D2}" type="slidenum">
              <a:rPr lang="zh-CN" altLang="en-US" sz="1200">
                <a:solidFill>
                  <a:srgbClr val="898989"/>
                </a:solidFill>
                <a:latin typeface="Verdana" panose="020B0604030504040204" pitchFamily="34" charset="0"/>
              </a:rPr>
              <a:pPr>
                <a:spcBef>
                  <a:spcPct val="50000"/>
                </a:spcBef>
                <a:buFont typeface="Wingdings" panose="05000000000000000000" pitchFamily="2" charset="2"/>
                <a:buNone/>
              </a:pPr>
              <a:t>79</a:t>
            </a:fld>
            <a:endParaRPr lang="zh-CN" altLang="en-US" sz="1200">
              <a:solidFill>
                <a:srgbClr val="898989"/>
              </a:solidFill>
              <a:latin typeface="Verdana" panose="020B0604030504040204" pitchFamily="34" charset="0"/>
            </a:endParaRPr>
          </a:p>
        </p:txBody>
      </p:sp>
      <p:sp>
        <p:nvSpPr>
          <p:cNvPr id="8" name="Content Placeholder 2"/>
          <p:cNvSpPr txBox="1">
            <a:spLocks/>
          </p:cNvSpPr>
          <p:nvPr/>
        </p:nvSpPr>
        <p:spPr bwMode="auto">
          <a:xfrm>
            <a:off x="19050" y="838200"/>
            <a:ext cx="912495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r>
              <a:rPr lang="en-US" altLang="en-US" sz="2400"/>
              <a:t>As some pages in block X are no longer needed (stale), GC does</a:t>
            </a:r>
          </a:p>
          <a:p>
            <a:pPr lvl="1" eaLnBrk="1" hangingPunct="1"/>
            <a:r>
              <a:rPr lang="en-US" altLang="en-US" sz="2000"/>
              <a:t>(1) valid pages are moved to free block Y, (2) entire block X is erased </a:t>
            </a:r>
          </a:p>
          <a:p>
            <a:pPr lvl="1" eaLnBrk="1" hangingPunct="1"/>
            <a:r>
              <a:rPr lang="en-US" altLang="en-US" sz="2000"/>
              <a:t>The process is expensive and can be done as a background process</a:t>
            </a:r>
          </a:p>
          <a:p>
            <a:pPr eaLnBrk="1" hangingPunct="1">
              <a:buFont typeface="Arial" panose="020B0604020202020204" pitchFamily="34" charset="0"/>
              <a:buNone/>
            </a:pPr>
            <a:endParaRPr lang="en-US" altLang="en-US" sz="2400"/>
          </a:p>
          <a:p>
            <a:pPr lvl="1" eaLnBrk="1" hangingPunct="1">
              <a:buFont typeface="Arial" panose="020B0604020202020204" pitchFamily="34" charset="0"/>
              <a:buNone/>
            </a:pPr>
            <a:endParaRPr lang="en-US" altLang="en-US" sz="2400" b="1">
              <a:solidFill>
                <a:srgbClr val="0070C0"/>
              </a:solidFill>
            </a:endParaRPr>
          </a:p>
          <a:p>
            <a:pPr eaLnBrk="1" hangingPunct="1">
              <a:buFont typeface="Arial" panose="020B0604020202020204" pitchFamily="34" charset="0"/>
              <a:buNone/>
            </a:pPr>
            <a:endParaRPr lang="en-US" altLang="en-US" sz="2400"/>
          </a:p>
        </p:txBody>
      </p:sp>
      <p:pic>
        <p:nvPicPr>
          <p:cNvPr id="29701" name="Picture 2" descr="C:\Users\Xiaodong Zhang\Desktop\Documents\presentations\2013-DS-lectures\Garbage_Collection.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81000" y="2057400"/>
            <a:ext cx="8382000" cy="4572000"/>
          </a:xfrm>
          <a:noFill/>
        </p:spPr>
      </p:pic>
    </p:spTree>
    <p:extLst>
      <p:ext uri="{BB962C8B-B14F-4D97-AF65-F5344CB8AC3E}">
        <p14:creationId xmlns:p14="http://schemas.microsoft.com/office/powerpoint/2010/main" val="40471269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Title 1"/>
          <p:cNvSpPr>
            <a:spLocks noGrp="1"/>
          </p:cNvSpPr>
          <p:nvPr>
            <p:ph type="title"/>
          </p:nvPr>
        </p:nvSpPr>
        <p:spPr>
          <a:xfrm>
            <a:off x="533400" y="152400"/>
            <a:ext cx="8229600" cy="990600"/>
          </a:xfrm>
        </p:spPr>
        <p:txBody>
          <a:bodyPr/>
          <a:lstStyle/>
          <a:p>
            <a:pPr eaLnBrk="1" hangingPunct="1"/>
            <a:r>
              <a:rPr lang="en-US" altLang="en-US" smtClean="0"/>
              <a:t>SSD Internal 3: Write Amplification</a:t>
            </a:r>
          </a:p>
        </p:txBody>
      </p:sp>
      <p:sp>
        <p:nvSpPr>
          <p:cNvPr id="3" name="Content Placeholder 2"/>
          <p:cNvSpPr>
            <a:spLocks noGrp="1"/>
          </p:cNvSpPr>
          <p:nvPr>
            <p:ph idx="1"/>
          </p:nvPr>
        </p:nvSpPr>
        <p:spPr>
          <a:xfrm>
            <a:off x="457200" y="1524000"/>
            <a:ext cx="8229600" cy="5105400"/>
          </a:xfrm>
        </p:spPr>
        <p:txBody>
          <a:bodyPr/>
          <a:lstStyle/>
          <a:p>
            <a:pPr eaLnBrk="1" hangingPunct="1"/>
            <a:r>
              <a:rPr lang="en-US" altLang="en-US" sz="2400" b="1" dirty="0" smtClean="0">
                <a:solidFill>
                  <a:srgbClr val="C00000"/>
                </a:solidFill>
              </a:rPr>
              <a:t>Measurement</a:t>
            </a:r>
            <a:endParaRPr lang="en-US" altLang="en-US" sz="2400" dirty="0" smtClean="0"/>
          </a:p>
          <a:p>
            <a:pPr marL="685800" lvl="1" indent="-342900" eaLnBrk="1" hangingPunct="1">
              <a:buFont typeface="Wingdings" panose="05000000000000000000" pitchFamily="2" charset="2"/>
              <a:buChar char="Ø"/>
            </a:pPr>
            <a:r>
              <a:rPr lang="en-US" altLang="en-US" sz="2000" dirty="0" smtClean="0"/>
              <a:t>(data written to the flash memory) / (data written by the host) </a:t>
            </a:r>
          </a:p>
          <a:p>
            <a:pPr lvl="1" eaLnBrk="1" hangingPunct="1">
              <a:buFont typeface="Arial" panose="020B0604020202020204" pitchFamily="34" charset="0"/>
              <a:buNone/>
            </a:pPr>
            <a:endParaRPr lang="en-US" altLang="en-US" sz="2000" dirty="0" smtClean="0"/>
          </a:p>
          <a:p>
            <a:pPr eaLnBrk="1" hangingPunct="1"/>
            <a:r>
              <a:rPr lang="en-US" altLang="en-US" sz="2400" b="1" dirty="0" smtClean="0">
                <a:solidFill>
                  <a:srgbClr val="FF0000"/>
                </a:solidFill>
              </a:rPr>
              <a:t>Worst case </a:t>
            </a:r>
          </a:p>
          <a:p>
            <a:pPr marL="685800" lvl="1" indent="-342900" eaLnBrk="1" hangingPunct="1">
              <a:buFont typeface="Wingdings" panose="05000000000000000000" pitchFamily="2" charset="2"/>
              <a:buChar char="Ø"/>
            </a:pPr>
            <a:r>
              <a:rPr lang="en-US" altLang="en-US" sz="2000" dirty="0" smtClean="0"/>
              <a:t>To write a 4K page to a 512K block, where only one page is invalid</a:t>
            </a:r>
          </a:p>
          <a:p>
            <a:pPr marL="685800" lvl="1" indent="-342900" eaLnBrk="1" hangingPunct="1">
              <a:buFont typeface="Wingdings" panose="05000000000000000000" pitchFamily="2" charset="2"/>
              <a:buChar char="Ø"/>
            </a:pPr>
            <a:r>
              <a:rPr lang="en-US" altLang="en-US" sz="2000" dirty="0" smtClean="0"/>
              <a:t>Garbage collection writes 127 valid pages (508K data) to a free block, and then erase the entire block before writing the 4K page to the new block</a:t>
            </a:r>
          </a:p>
          <a:p>
            <a:pPr marL="685800" lvl="1" indent="-342900" eaLnBrk="1" hangingPunct="1">
              <a:buFont typeface="Wingdings" panose="05000000000000000000" pitchFamily="2" charset="2"/>
              <a:buChar char="Ø"/>
            </a:pPr>
            <a:r>
              <a:rPr lang="en-US" altLang="en-US" sz="2000" dirty="0" smtClean="0"/>
              <a:t> Write Amplification = 512K / 4K = 128 </a:t>
            </a:r>
          </a:p>
          <a:p>
            <a:pPr lvl="1" eaLnBrk="1" hangingPunct="1"/>
            <a:endParaRPr lang="en-US" altLang="en-US" sz="2000" dirty="0" smtClean="0"/>
          </a:p>
        </p:txBody>
      </p:sp>
      <p:sp>
        <p:nvSpPr>
          <p:cNvPr id="30724" name="Slide Number Placeholder 3"/>
          <p:cNvSpPr>
            <a:spLocks noGrp="1"/>
          </p:cNvSpPr>
          <p:nvPr>
            <p:ph type="sldNum" sz="quarter" idx="4294967295"/>
          </p:nvPr>
        </p:nvSpPr>
        <p:spPr bwMode="auto">
          <a:xfrm>
            <a:off x="7010400" y="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 typeface="Wingdings" panose="05000000000000000000" pitchFamily="2" charset="2"/>
              <a:buNone/>
            </a:pPr>
            <a:fld id="{6E4829B1-76FB-49B3-9022-CCF9A5839C51}" type="slidenum">
              <a:rPr lang="zh-CN" altLang="en-US" sz="1200">
                <a:solidFill>
                  <a:srgbClr val="898989"/>
                </a:solidFill>
                <a:latin typeface="Verdana" panose="020B0604030504040204" pitchFamily="34" charset="0"/>
              </a:rPr>
              <a:pPr>
                <a:spcBef>
                  <a:spcPct val="50000"/>
                </a:spcBef>
                <a:buFont typeface="Wingdings" panose="05000000000000000000" pitchFamily="2" charset="2"/>
                <a:buNone/>
              </a:pPr>
              <a:t>80</a:t>
            </a:fld>
            <a:endParaRPr lang="zh-CN" altLang="en-US" sz="1200">
              <a:solidFill>
                <a:srgbClr val="898989"/>
              </a:solidFill>
              <a:latin typeface="Verdana" panose="020B0604030504040204" pitchFamily="34" charset="0"/>
            </a:endParaRPr>
          </a:p>
        </p:txBody>
      </p:sp>
    </p:spTree>
    <p:extLst>
      <p:ext uri="{BB962C8B-B14F-4D97-AF65-F5344CB8AC3E}">
        <p14:creationId xmlns:p14="http://schemas.microsoft.com/office/powerpoint/2010/main" val="22814927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Title 1"/>
          <p:cNvSpPr>
            <a:spLocks noGrp="1"/>
          </p:cNvSpPr>
          <p:nvPr>
            <p:ph type="title"/>
          </p:nvPr>
        </p:nvSpPr>
        <p:spPr>
          <a:xfrm>
            <a:off x="0" y="76200"/>
            <a:ext cx="9144000" cy="838200"/>
          </a:xfrm>
        </p:spPr>
        <p:txBody>
          <a:bodyPr/>
          <a:lstStyle/>
          <a:p>
            <a:pPr eaLnBrk="1" hangingPunct="1"/>
            <a:r>
              <a:rPr lang="en-US" altLang="en-US" sz="3600" dirty="0" smtClean="0"/>
              <a:t> SSD Internal 4: Wear Leveling</a:t>
            </a:r>
            <a:r>
              <a:rPr lang="en-US" altLang="en-US" sz="1400" dirty="0" smtClean="0"/>
              <a:t>       </a:t>
            </a:r>
            <a:endParaRPr lang="en-US" altLang="en-US" sz="3600" dirty="0" smtClean="0"/>
          </a:p>
        </p:txBody>
      </p:sp>
      <p:sp>
        <p:nvSpPr>
          <p:cNvPr id="32771" name="Slide Number Placeholder 4"/>
          <p:cNvSpPr>
            <a:spLocks noGrp="1"/>
          </p:cNvSpPr>
          <p:nvPr>
            <p:ph type="sldNum" sz="quarter" idx="4294967295"/>
          </p:nvPr>
        </p:nvSpPr>
        <p:spPr bwMode="auto">
          <a:xfrm>
            <a:off x="7010400" y="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 typeface="Wingdings" panose="05000000000000000000" pitchFamily="2" charset="2"/>
              <a:buNone/>
            </a:pPr>
            <a:fld id="{08FFCEA6-2B51-49E0-800B-81D51B5AF64E}" type="slidenum">
              <a:rPr lang="zh-CN" altLang="en-US" sz="1200">
                <a:solidFill>
                  <a:srgbClr val="898989"/>
                </a:solidFill>
                <a:latin typeface="Verdana" panose="020B0604030504040204" pitchFamily="34" charset="0"/>
              </a:rPr>
              <a:pPr>
                <a:spcBef>
                  <a:spcPct val="50000"/>
                </a:spcBef>
                <a:buFont typeface="Wingdings" panose="05000000000000000000" pitchFamily="2" charset="2"/>
                <a:buNone/>
              </a:pPr>
              <a:t>81</a:t>
            </a:fld>
            <a:endParaRPr lang="zh-CN" altLang="en-US" sz="1200">
              <a:solidFill>
                <a:srgbClr val="898989"/>
              </a:solidFill>
              <a:latin typeface="Verdana" panose="020B0604030504040204" pitchFamily="34" charset="0"/>
            </a:endParaRPr>
          </a:p>
        </p:txBody>
      </p:sp>
      <p:sp>
        <p:nvSpPr>
          <p:cNvPr id="8" name="Content Placeholder 2"/>
          <p:cNvSpPr txBox="1">
            <a:spLocks/>
          </p:cNvSpPr>
          <p:nvPr/>
        </p:nvSpPr>
        <p:spPr bwMode="auto">
          <a:xfrm>
            <a:off x="19050" y="838200"/>
            <a:ext cx="912495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r>
              <a:rPr lang="en-US" altLang="en-US" sz="2400"/>
              <a:t>Balance the demand and supply between used and free block pools</a:t>
            </a:r>
          </a:p>
          <a:p>
            <a:pPr lvl="1" eaLnBrk="1" hangingPunct="1"/>
            <a:r>
              <a:rPr lang="en-US" altLang="en-US" sz="2000"/>
              <a:t>(1) upon an update request, mark the page invalid, (2) fetch an empty block from free pool, (3) update the page and return the block to the used pool</a:t>
            </a:r>
          </a:p>
          <a:p>
            <a:pPr eaLnBrk="1" hangingPunct="1">
              <a:buFont typeface="Arial" panose="020B0604020202020204" pitchFamily="34" charset="0"/>
              <a:buNone/>
            </a:pPr>
            <a:endParaRPr lang="en-US" altLang="en-US" sz="2400"/>
          </a:p>
          <a:p>
            <a:pPr lvl="1" eaLnBrk="1" hangingPunct="1">
              <a:buFont typeface="Arial" panose="020B0604020202020204" pitchFamily="34" charset="0"/>
              <a:buNone/>
            </a:pPr>
            <a:endParaRPr lang="en-US" altLang="en-US" sz="2400" b="1">
              <a:solidFill>
                <a:srgbClr val="0070C0"/>
              </a:solidFill>
            </a:endParaRPr>
          </a:p>
          <a:p>
            <a:pPr eaLnBrk="1" hangingPunct="1">
              <a:buFont typeface="Arial" panose="020B0604020202020204" pitchFamily="34" charset="0"/>
              <a:buNone/>
            </a:pPr>
            <a:endParaRPr lang="en-US" altLang="en-US" sz="2400"/>
          </a:p>
        </p:txBody>
      </p:sp>
      <p:pic>
        <p:nvPicPr>
          <p:cNvPr id="32773" name="Picture 2" descr="C:\Users\Xiaodong Zhang\Desktop\Documents\presentations\2013-DS-lectures\Windows-Live-Writer-02-Fundamentals-of-Flash-SSD-Technology_AA59-.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65163" y="2286000"/>
            <a:ext cx="7832725" cy="4144963"/>
          </a:xfrm>
          <a:noFill/>
        </p:spPr>
      </p:pic>
    </p:spTree>
    <p:extLst>
      <p:ext uri="{BB962C8B-B14F-4D97-AF65-F5344CB8AC3E}">
        <p14:creationId xmlns:p14="http://schemas.microsoft.com/office/powerpoint/2010/main" val="22640639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Title 1"/>
          <p:cNvSpPr>
            <a:spLocks noGrp="1"/>
          </p:cNvSpPr>
          <p:nvPr>
            <p:ph type="title"/>
          </p:nvPr>
        </p:nvSpPr>
        <p:spPr>
          <a:xfrm>
            <a:off x="533400" y="152400"/>
            <a:ext cx="8229600" cy="990600"/>
          </a:xfrm>
        </p:spPr>
        <p:txBody>
          <a:bodyPr/>
          <a:lstStyle/>
          <a:p>
            <a:pPr eaLnBrk="1" hangingPunct="1"/>
            <a:r>
              <a:rPr lang="en-US" altLang="en-US" smtClean="0"/>
              <a:t>SSD Internal 5: Over-Provisioning</a:t>
            </a:r>
            <a:r>
              <a:rPr lang="en-US" altLang="en-US" sz="900" smtClean="0"/>
              <a:t>(</a:t>
            </a:r>
            <a:r>
              <a:rPr lang="zh-CN" altLang="en-US" sz="900" smtClean="0"/>
              <a:t>预留空间</a:t>
            </a:r>
            <a:r>
              <a:rPr lang="en-US" altLang="en-US" sz="900" smtClean="0"/>
              <a:t>)</a:t>
            </a:r>
            <a:endParaRPr lang="en-US" altLang="en-US" smtClean="0"/>
          </a:p>
        </p:txBody>
      </p:sp>
      <p:sp>
        <p:nvSpPr>
          <p:cNvPr id="33795" name="Content Placeholder 2"/>
          <p:cNvSpPr>
            <a:spLocks noGrp="1"/>
          </p:cNvSpPr>
          <p:nvPr>
            <p:ph idx="1"/>
          </p:nvPr>
        </p:nvSpPr>
        <p:spPr>
          <a:xfrm>
            <a:off x="381000" y="990600"/>
            <a:ext cx="8229600" cy="1905000"/>
          </a:xfrm>
        </p:spPr>
        <p:txBody>
          <a:bodyPr/>
          <a:lstStyle/>
          <a:p>
            <a:pPr eaLnBrk="1" hangingPunct="1"/>
            <a:r>
              <a:rPr lang="en-US" altLang="en-US" sz="2400" b="1" smtClean="0">
                <a:solidFill>
                  <a:srgbClr val="C00000"/>
                </a:solidFill>
              </a:rPr>
              <a:t>Definition</a:t>
            </a:r>
            <a:endParaRPr lang="en-US" altLang="en-US" sz="2400" smtClean="0"/>
          </a:p>
          <a:p>
            <a:pPr lvl="1" eaLnBrk="1" hangingPunct="1"/>
            <a:r>
              <a:rPr lang="en-US" altLang="en-US" sz="2000" smtClean="0"/>
              <a:t>SSD reserves a portion of total flash memory to the controller to perform various memory management functions</a:t>
            </a:r>
          </a:p>
          <a:p>
            <a:pPr eaLnBrk="1" hangingPunct="1"/>
            <a:r>
              <a:rPr lang="en-US" altLang="en-US" sz="2400" b="1" smtClean="0">
                <a:solidFill>
                  <a:srgbClr val="FF0000"/>
                </a:solidFill>
              </a:rPr>
              <a:t>Implications</a:t>
            </a:r>
          </a:p>
          <a:p>
            <a:pPr lvl="1" eaLnBrk="1" hangingPunct="1"/>
            <a:r>
              <a:rPr lang="en-US" altLang="en-US" sz="2000" smtClean="0"/>
              <a:t>Reduce the number of garbage collections and the write amplification</a:t>
            </a:r>
          </a:p>
        </p:txBody>
      </p:sp>
      <p:sp>
        <p:nvSpPr>
          <p:cNvPr id="33796" name="Slide Number Placeholder 3"/>
          <p:cNvSpPr>
            <a:spLocks noGrp="1"/>
          </p:cNvSpPr>
          <p:nvPr>
            <p:ph type="sldNum" sz="quarter" idx="4294967295"/>
          </p:nvPr>
        </p:nvSpPr>
        <p:spPr bwMode="auto">
          <a:xfrm>
            <a:off x="7010400" y="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 typeface="Wingdings" panose="05000000000000000000" pitchFamily="2" charset="2"/>
              <a:buNone/>
            </a:pPr>
            <a:fld id="{635CF525-FC7E-4897-A344-A0B1446F8CC0}" type="slidenum">
              <a:rPr lang="zh-CN" altLang="en-US" sz="1200">
                <a:solidFill>
                  <a:srgbClr val="898989"/>
                </a:solidFill>
                <a:latin typeface="Verdana" panose="020B0604030504040204" pitchFamily="34" charset="0"/>
              </a:rPr>
              <a:pPr>
                <a:spcBef>
                  <a:spcPct val="50000"/>
                </a:spcBef>
                <a:buFont typeface="Wingdings" panose="05000000000000000000" pitchFamily="2" charset="2"/>
                <a:buNone/>
              </a:pPr>
              <a:t>82</a:t>
            </a:fld>
            <a:endParaRPr lang="zh-CN" altLang="en-US" sz="1200">
              <a:solidFill>
                <a:srgbClr val="898989"/>
              </a:solidFill>
              <a:latin typeface="Verdana" panose="020B0604030504040204" pitchFamily="34" charset="0"/>
            </a:endParaRPr>
          </a:p>
        </p:txBody>
      </p:sp>
      <p:pic>
        <p:nvPicPr>
          <p:cNvPr id="33797" name="Picture 2" descr="C:\Users\Xiaodong Zhang\Desktop\Documents\presentations\2013-DS-lectures\OP-1.bm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200400"/>
            <a:ext cx="4562475"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8" name="Picture 3" descr="C:\Users\Xiaodong Zhang\Desktop\Documents\presentations\2013-DS-lectures\OP-2.bm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62475" y="3124200"/>
            <a:ext cx="4581525" cy="306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33082893"/>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0962" name="Group 35"/>
          <p:cNvGrpSpPr>
            <a:grpSpLocks/>
          </p:cNvGrpSpPr>
          <p:nvPr/>
        </p:nvGrpSpPr>
        <p:grpSpPr bwMode="auto">
          <a:xfrm>
            <a:off x="5257800" y="2238375"/>
            <a:ext cx="3733800" cy="2970213"/>
            <a:chOff x="3793787" y="2161401"/>
            <a:chExt cx="4131013" cy="2970765"/>
          </a:xfrm>
        </p:grpSpPr>
        <p:grpSp>
          <p:nvGrpSpPr>
            <p:cNvPr id="40999" name="Group 37"/>
            <p:cNvGrpSpPr>
              <a:grpSpLocks/>
            </p:cNvGrpSpPr>
            <p:nvPr/>
          </p:nvGrpSpPr>
          <p:grpSpPr bwMode="auto">
            <a:xfrm>
              <a:off x="4724400" y="2667000"/>
              <a:ext cx="3200400" cy="1981200"/>
              <a:chOff x="533400" y="2667000"/>
              <a:chExt cx="3200400" cy="1981200"/>
            </a:xfrm>
          </p:grpSpPr>
          <p:grpSp>
            <p:nvGrpSpPr>
              <p:cNvPr id="41003" name="Group 4"/>
              <p:cNvGrpSpPr>
                <a:grpSpLocks/>
              </p:cNvGrpSpPr>
              <p:nvPr/>
            </p:nvGrpSpPr>
            <p:grpSpPr bwMode="auto">
              <a:xfrm>
                <a:off x="533400" y="2667000"/>
                <a:ext cx="3200400" cy="1981200"/>
                <a:chOff x="5867400" y="2590800"/>
                <a:chExt cx="3200400" cy="1981200"/>
              </a:xfrm>
            </p:grpSpPr>
            <p:grpSp>
              <p:nvGrpSpPr>
                <p:cNvPr id="41005" name="Group 4"/>
                <p:cNvGrpSpPr>
                  <a:grpSpLocks/>
                </p:cNvGrpSpPr>
                <p:nvPr/>
              </p:nvGrpSpPr>
              <p:grpSpPr bwMode="auto">
                <a:xfrm>
                  <a:off x="5943600" y="2667000"/>
                  <a:ext cx="3124200" cy="1905000"/>
                  <a:chOff x="5943600" y="2667000"/>
                  <a:chExt cx="3124200" cy="1905000"/>
                </a:xfrm>
              </p:grpSpPr>
              <p:sp>
                <p:nvSpPr>
                  <p:cNvPr id="45" name="Rectangle 44"/>
                  <p:cNvSpPr/>
                  <p:nvPr/>
                </p:nvSpPr>
                <p:spPr>
                  <a:xfrm>
                    <a:off x="5943195" y="2666334"/>
                    <a:ext cx="3124605" cy="1752926"/>
                  </a:xfrm>
                  <a:prstGeom prst="rect">
                    <a:avLst/>
                  </a:prstGeom>
                </p:spPr>
                <p:style>
                  <a:lnRef idx="1">
                    <a:schemeClr val="dk1"/>
                  </a:lnRef>
                  <a:fillRef idx="2">
                    <a:schemeClr val="dk1"/>
                  </a:fillRef>
                  <a:effectRef idx="1">
                    <a:schemeClr val="dk1"/>
                  </a:effectRef>
                  <a:fontRef idx="minor">
                    <a:schemeClr val="dk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Char char="Ø"/>
                      <a:defRPr/>
                    </a:pPr>
                    <a:endParaRPr lang="en-US" altLang="en-US" smtClean="0">
                      <a:solidFill>
                        <a:srgbClr val="000000"/>
                      </a:solidFill>
                      <a:latin typeface="Calibri" pitchFamily="34" charset="0"/>
                    </a:endParaRPr>
                  </a:p>
                </p:txBody>
              </p:sp>
              <p:sp>
                <p:nvSpPr>
                  <p:cNvPr id="48" name="Rectangle 47"/>
                  <p:cNvSpPr/>
                  <p:nvPr/>
                </p:nvSpPr>
                <p:spPr>
                  <a:xfrm>
                    <a:off x="6117076" y="3580904"/>
                    <a:ext cx="2782111" cy="381071"/>
                  </a:xfrm>
                  <a:prstGeom prst="rect">
                    <a:avLst/>
                  </a:prstGeom>
                  <a:ln/>
                  <a:effectLst/>
                </p:spPr>
                <p:style>
                  <a:lnRef idx="1">
                    <a:schemeClr val="dk1"/>
                  </a:lnRef>
                  <a:fillRef idx="2">
                    <a:schemeClr val="dk1"/>
                  </a:fillRef>
                  <a:effectRef idx="1">
                    <a:schemeClr val="dk1"/>
                  </a:effectRef>
                  <a:fontRef idx="minor">
                    <a:schemeClr val="dk1"/>
                  </a:fontRef>
                </p:style>
                <p:txBody>
                  <a:bodyPr/>
                  <a:lstStyle/>
                  <a:p>
                    <a:pPr algn="ctr" eaLnBrk="1" hangingPunct="1">
                      <a:lnSpc>
                        <a:spcPct val="125000"/>
                      </a:lnSpc>
                      <a:spcBef>
                        <a:spcPct val="50000"/>
                      </a:spcBef>
                      <a:spcAft>
                        <a:spcPct val="20000"/>
                      </a:spcAft>
                      <a:buFont typeface="Wingdings" pitchFamily="2" charset="2"/>
                      <a:buNone/>
                      <a:defRPr/>
                    </a:pPr>
                    <a:r>
                      <a:rPr lang="en-US" sz="1600" dirty="0"/>
                      <a:t>Block I/O layer</a:t>
                    </a:r>
                  </a:p>
                </p:txBody>
              </p:sp>
              <p:cxnSp>
                <p:nvCxnSpPr>
                  <p:cNvPr id="55" name="Straight Connector 54"/>
                  <p:cNvCxnSpPr/>
                  <p:nvPr/>
                </p:nvCxnSpPr>
                <p:spPr>
                  <a:xfrm>
                    <a:off x="5943195" y="4571688"/>
                    <a:ext cx="3124605"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cxnSp>
              <p:nvCxnSpPr>
                <p:cNvPr id="44" name="Straight Connector 6"/>
                <p:cNvCxnSpPr/>
                <p:nvPr/>
              </p:nvCxnSpPr>
              <p:spPr>
                <a:xfrm>
                  <a:off x="5867670" y="2590120"/>
                  <a:ext cx="3124606"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sp>
            <p:nvSpPr>
              <p:cNvPr id="42" name="Rectangle 41"/>
              <p:cNvSpPr/>
              <p:nvPr/>
            </p:nvSpPr>
            <p:spPr>
              <a:xfrm>
                <a:off x="783076" y="3276033"/>
                <a:ext cx="2782111" cy="381071"/>
              </a:xfrm>
              <a:prstGeom prst="rect">
                <a:avLst/>
              </a:prstGeom>
              <a:ln/>
              <a:effectLst/>
            </p:spPr>
            <p:style>
              <a:lnRef idx="1">
                <a:schemeClr val="dk1"/>
              </a:lnRef>
              <a:fillRef idx="2">
                <a:schemeClr val="dk1"/>
              </a:fillRef>
              <a:effectRef idx="1">
                <a:schemeClr val="dk1"/>
              </a:effectRef>
              <a:fontRef idx="minor">
                <a:schemeClr val="dk1"/>
              </a:fontRef>
            </p:style>
            <p:txBody>
              <a:bodyPr/>
              <a:lstStyle/>
              <a:p>
                <a:pPr algn="ctr" eaLnBrk="1" hangingPunct="1">
                  <a:lnSpc>
                    <a:spcPct val="125000"/>
                  </a:lnSpc>
                  <a:spcBef>
                    <a:spcPct val="50000"/>
                  </a:spcBef>
                  <a:spcAft>
                    <a:spcPct val="20000"/>
                  </a:spcAft>
                  <a:buFont typeface="Wingdings" pitchFamily="2" charset="2"/>
                  <a:buNone/>
                  <a:defRPr/>
                </a:pPr>
                <a:r>
                  <a:rPr lang="en-US" sz="1600" dirty="0"/>
                  <a:t>File System</a:t>
                </a:r>
              </a:p>
            </p:txBody>
          </p:sp>
        </p:grpSp>
        <p:sp>
          <p:nvSpPr>
            <p:cNvPr id="41000" name="Rectangle 37"/>
            <p:cNvSpPr>
              <a:spLocks noChangeArrowheads="1"/>
            </p:cNvSpPr>
            <p:nvPr/>
          </p:nvSpPr>
          <p:spPr bwMode="auto">
            <a:xfrm>
              <a:off x="4004200" y="3352800"/>
              <a:ext cx="7312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Wingdings" panose="05000000000000000000" pitchFamily="2" charset="2"/>
                <a:buNone/>
              </a:pPr>
              <a:r>
                <a:rPr lang="en-US" altLang="en-US" sz="1200" b="1">
                  <a:solidFill>
                    <a:srgbClr val="010000"/>
                  </a:solidFill>
                  <a:latin typeface="Verdana" panose="020B0604030504040204" pitchFamily="34" charset="0"/>
                </a:rPr>
                <a:t>OS</a:t>
              </a:r>
            </a:p>
            <a:p>
              <a:pPr algn="ctr" eaLnBrk="1" hangingPunct="1">
                <a:spcBef>
                  <a:spcPct val="0"/>
                </a:spcBef>
                <a:buFont typeface="Wingdings" panose="05000000000000000000" pitchFamily="2" charset="2"/>
                <a:buNone/>
              </a:pPr>
              <a:r>
                <a:rPr lang="en-US" altLang="en-US" sz="1200" b="1">
                  <a:solidFill>
                    <a:srgbClr val="010000"/>
                  </a:solidFill>
                  <a:latin typeface="Verdana" panose="020B0604030504040204" pitchFamily="34" charset="0"/>
                </a:rPr>
                <a:t>kernel</a:t>
              </a:r>
            </a:p>
          </p:txBody>
        </p:sp>
        <p:sp>
          <p:nvSpPr>
            <p:cNvPr id="41001" name="Rectangle 38"/>
            <p:cNvSpPr>
              <a:spLocks noChangeArrowheads="1"/>
            </p:cNvSpPr>
            <p:nvPr/>
          </p:nvSpPr>
          <p:spPr bwMode="auto">
            <a:xfrm>
              <a:off x="3793787" y="4800600"/>
              <a:ext cx="854721" cy="331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50000"/>
                </a:spcBef>
                <a:spcAft>
                  <a:spcPct val="20000"/>
                </a:spcAft>
                <a:buFont typeface="Wingdings" panose="05000000000000000000" pitchFamily="2" charset="2"/>
                <a:buNone/>
              </a:pPr>
              <a:r>
                <a:rPr lang="en-US" altLang="en-US" sz="1400" b="1">
                  <a:solidFill>
                    <a:srgbClr val="010000"/>
                  </a:solidFill>
                  <a:latin typeface="Verdana" panose="020B0604030504040204" pitchFamily="34" charset="0"/>
                </a:rPr>
                <a:t>Device</a:t>
              </a:r>
            </a:p>
          </p:txBody>
        </p:sp>
        <p:sp>
          <p:nvSpPr>
            <p:cNvPr id="41002" name="Rectangle 39"/>
            <p:cNvSpPr>
              <a:spLocks noChangeArrowheads="1"/>
            </p:cNvSpPr>
            <p:nvPr/>
          </p:nvSpPr>
          <p:spPr bwMode="auto">
            <a:xfrm>
              <a:off x="4158146" y="2161401"/>
              <a:ext cx="57579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Wingdings" panose="05000000000000000000" pitchFamily="2" charset="2"/>
                <a:buNone/>
              </a:pPr>
              <a:r>
                <a:rPr lang="en-US" altLang="en-US" sz="1200" b="1">
                  <a:solidFill>
                    <a:srgbClr val="010000"/>
                  </a:solidFill>
                  <a:latin typeface="Verdana" panose="020B0604030504040204" pitchFamily="34" charset="0"/>
                </a:rPr>
                <a:t>App.</a:t>
              </a:r>
            </a:p>
          </p:txBody>
        </p:sp>
      </p:grpSp>
      <p:sp>
        <p:nvSpPr>
          <p:cNvPr id="40963" name="Title 1"/>
          <p:cNvSpPr>
            <a:spLocks noGrp="1"/>
          </p:cNvSpPr>
          <p:nvPr>
            <p:ph type="title"/>
          </p:nvPr>
        </p:nvSpPr>
        <p:spPr/>
        <p:txBody>
          <a:bodyPr/>
          <a:lstStyle/>
          <a:p>
            <a:pPr eaLnBrk="1" hangingPunct="1"/>
            <a:r>
              <a:rPr lang="en-US" altLang="en-US" sz="3600" smtClean="0"/>
              <a:t>A Framework for a hybrid storage system</a:t>
            </a:r>
          </a:p>
        </p:txBody>
      </p:sp>
      <p:sp>
        <p:nvSpPr>
          <p:cNvPr id="40964" name="Slide Number Placeholder 3"/>
          <p:cNvSpPr>
            <a:spLocks noGrp="1"/>
          </p:cNvSpPr>
          <p:nvPr>
            <p:ph type="sldNum" sz="quarter" idx="4294967295"/>
          </p:nvPr>
        </p:nvSpPr>
        <p:spPr bwMode="auto">
          <a:xfrm>
            <a:off x="7010400" y="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 typeface="Wingdings" panose="05000000000000000000" pitchFamily="2" charset="2"/>
              <a:buNone/>
            </a:pPr>
            <a:fld id="{7265B861-183F-43BE-A787-A3D0579778CC}" type="slidenum">
              <a:rPr lang="zh-CN" altLang="en-US" sz="1200">
                <a:solidFill>
                  <a:srgbClr val="898989"/>
                </a:solidFill>
                <a:latin typeface="Verdana" panose="020B0604030504040204" pitchFamily="34" charset="0"/>
              </a:rPr>
              <a:pPr>
                <a:spcBef>
                  <a:spcPct val="50000"/>
                </a:spcBef>
                <a:buFont typeface="Wingdings" panose="05000000000000000000" pitchFamily="2" charset="2"/>
                <a:buNone/>
              </a:pPr>
              <a:t>83</a:t>
            </a:fld>
            <a:endParaRPr lang="zh-CN" altLang="en-US" sz="1200">
              <a:solidFill>
                <a:srgbClr val="898989"/>
              </a:solidFill>
              <a:latin typeface="Verdana" panose="020B0604030504040204" pitchFamily="34" charset="0"/>
            </a:endParaRPr>
          </a:p>
        </p:txBody>
      </p:sp>
      <p:grpSp>
        <p:nvGrpSpPr>
          <p:cNvPr id="6" name="Group 65"/>
          <p:cNvGrpSpPr>
            <a:grpSpLocks/>
          </p:cNvGrpSpPr>
          <p:nvPr/>
        </p:nvGrpSpPr>
        <p:grpSpPr bwMode="auto">
          <a:xfrm>
            <a:off x="6167438" y="2133600"/>
            <a:ext cx="2824162" cy="762000"/>
            <a:chOff x="6167805" y="2133600"/>
            <a:chExt cx="2823797" cy="762000"/>
          </a:xfrm>
        </p:grpSpPr>
        <p:sp>
          <p:nvSpPr>
            <p:cNvPr id="64" name="Rectangle 63"/>
            <p:cNvSpPr/>
            <p:nvPr/>
          </p:nvSpPr>
          <p:spPr>
            <a:xfrm>
              <a:off x="6167805" y="2133600"/>
              <a:ext cx="2823797" cy="457200"/>
            </a:xfrm>
            <a:prstGeom prst="rect">
              <a:avLst/>
            </a:prstGeom>
          </p:spPr>
          <p:style>
            <a:lnRef idx="1">
              <a:schemeClr val="dk1"/>
            </a:lnRef>
            <a:fillRef idx="2">
              <a:schemeClr val="dk1"/>
            </a:fillRef>
            <a:effectRef idx="1">
              <a:schemeClr val="dk1"/>
            </a:effectRef>
            <a:fontRef idx="minor">
              <a:schemeClr val="dk1"/>
            </a:fontRef>
          </p:style>
          <p:txBody>
            <a:bodyPr anchor="ctr"/>
            <a:lstStyle/>
            <a:p>
              <a:pPr algn="ctr" eaLnBrk="1" hangingPunct="1">
                <a:lnSpc>
                  <a:spcPct val="125000"/>
                </a:lnSpc>
                <a:spcBef>
                  <a:spcPct val="50000"/>
                </a:spcBef>
                <a:spcAft>
                  <a:spcPct val="20000"/>
                </a:spcAft>
                <a:buFont typeface="Wingdings" pitchFamily="2" charset="2"/>
                <a:buNone/>
                <a:defRPr/>
              </a:pPr>
              <a:r>
                <a:rPr lang="en-US" dirty="0"/>
                <a:t>Applications</a:t>
              </a:r>
            </a:p>
          </p:txBody>
        </p:sp>
        <p:cxnSp>
          <p:nvCxnSpPr>
            <p:cNvPr id="65" name="Straight Arrow Connector 64"/>
            <p:cNvCxnSpPr/>
            <p:nvPr/>
          </p:nvCxnSpPr>
          <p:spPr>
            <a:xfrm rot="5400000">
              <a:off x="7393177" y="2743200"/>
              <a:ext cx="304800"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35" name="Rectangle 34"/>
          <p:cNvSpPr/>
          <p:nvPr/>
        </p:nvSpPr>
        <p:spPr>
          <a:xfrm>
            <a:off x="6096000" y="6564313"/>
            <a:ext cx="3048000" cy="293687"/>
          </a:xfrm>
          <a:prstGeom prst="rect">
            <a:avLst/>
          </a:prstGeom>
        </p:spPr>
        <p:txBody>
          <a:bodyPr>
            <a:spAutoFit/>
          </a:bodyPr>
          <a:lstStyle/>
          <a:p>
            <a:pPr eaLnBrk="1" hangingPunct="1">
              <a:lnSpc>
                <a:spcPct val="125000"/>
              </a:lnSpc>
              <a:spcBef>
                <a:spcPct val="50000"/>
              </a:spcBef>
              <a:spcAft>
                <a:spcPct val="20000"/>
              </a:spcAft>
              <a:buFont typeface="Wingdings" pitchFamily="2" charset="2"/>
              <a:buNone/>
              <a:defRPr/>
            </a:pPr>
            <a:r>
              <a:rPr lang="en-US" sz="1050" b="1" dirty="0"/>
              <a:t>* Collaborated work at Intel® Labs</a:t>
            </a:r>
          </a:p>
        </p:txBody>
      </p:sp>
      <p:grpSp>
        <p:nvGrpSpPr>
          <p:cNvPr id="7" name="Group 59"/>
          <p:cNvGrpSpPr>
            <a:grpSpLocks/>
          </p:cNvGrpSpPr>
          <p:nvPr/>
        </p:nvGrpSpPr>
        <p:grpSpPr bwMode="auto">
          <a:xfrm>
            <a:off x="6167438" y="4114800"/>
            <a:ext cx="2824162" cy="1219200"/>
            <a:chOff x="6167805" y="4114800"/>
            <a:chExt cx="2823797" cy="1219200"/>
          </a:xfrm>
        </p:grpSpPr>
        <p:sp>
          <p:nvSpPr>
            <p:cNvPr id="43" name="Rectangle 42"/>
            <p:cNvSpPr/>
            <p:nvPr/>
          </p:nvSpPr>
          <p:spPr>
            <a:xfrm>
              <a:off x="6324947" y="4114800"/>
              <a:ext cx="2514275" cy="381000"/>
            </a:xfrm>
            <a:prstGeom prst="rect">
              <a:avLst/>
            </a:prstGeom>
            <a:effectLst/>
          </p:spPr>
          <p:style>
            <a:lnRef idx="1">
              <a:schemeClr val="dk1"/>
            </a:lnRef>
            <a:fillRef idx="2">
              <a:schemeClr val="dk1"/>
            </a:fillRef>
            <a:effectRef idx="1">
              <a:schemeClr val="dk1"/>
            </a:effectRef>
            <a:fontRef idx="minor">
              <a:schemeClr val="dk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600" dirty="0"/>
                <a:t>Block Device Driver</a:t>
              </a:r>
            </a:p>
          </p:txBody>
        </p:sp>
        <p:sp>
          <p:nvSpPr>
            <p:cNvPr id="56" name="Rectangle 55"/>
            <p:cNvSpPr/>
            <p:nvPr/>
          </p:nvSpPr>
          <p:spPr>
            <a:xfrm>
              <a:off x="6167805" y="4872038"/>
              <a:ext cx="1377772" cy="461962"/>
            </a:xfrm>
            <a:prstGeom prst="rect">
              <a:avLst/>
            </a:prstGeom>
          </p:spPr>
          <p:style>
            <a:lnRef idx="1">
              <a:schemeClr val="dk1"/>
            </a:lnRef>
            <a:fillRef idx="2">
              <a:schemeClr val="dk1"/>
            </a:fillRef>
            <a:effectRef idx="1">
              <a:schemeClr val="dk1"/>
            </a:effectRef>
            <a:fontRef idx="minor">
              <a:schemeClr val="dk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400" dirty="0"/>
                <a:t>HDD</a:t>
              </a:r>
            </a:p>
          </p:txBody>
        </p:sp>
        <p:sp>
          <p:nvSpPr>
            <p:cNvPr id="57" name="Rectangle 56"/>
            <p:cNvSpPr/>
            <p:nvPr/>
          </p:nvSpPr>
          <p:spPr>
            <a:xfrm>
              <a:off x="7613830" y="4876800"/>
              <a:ext cx="1377772" cy="457200"/>
            </a:xfrm>
            <a:prstGeom prst="rect">
              <a:avLst/>
            </a:prstGeom>
          </p:spPr>
          <p:style>
            <a:lnRef idx="1">
              <a:schemeClr val="dk1"/>
            </a:lnRef>
            <a:fillRef idx="2">
              <a:schemeClr val="dk1"/>
            </a:fillRef>
            <a:effectRef idx="1">
              <a:schemeClr val="dk1"/>
            </a:effectRef>
            <a:fontRef idx="minor">
              <a:schemeClr val="dk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600" dirty="0"/>
                <a:t>SSD</a:t>
              </a:r>
            </a:p>
          </p:txBody>
        </p:sp>
        <p:cxnSp>
          <p:nvCxnSpPr>
            <p:cNvPr id="58" name="Straight Arrow Connector 57"/>
            <p:cNvCxnSpPr/>
            <p:nvPr/>
          </p:nvCxnSpPr>
          <p:spPr>
            <a:xfrm rot="5400000">
              <a:off x="6666985" y="4685506"/>
              <a:ext cx="381000" cy="1587"/>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rot="5400000">
              <a:off x="8043169" y="4685506"/>
              <a:ext cx="381000" cy="1588"/>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8" name="Group 36"/>
          <p:cNvGrpSpPr>
            <a:grpSpLocks/>
          </p:cNvGrpSpPr>
          <p:nvPr/>
        </p:nvGrpSpPr>
        <p:grpSpPr bwMode="auto">
          <a:xfrm>
            <a:off x="6153150" y="4114800"/>
            <a:ext cx="2838450" cy="1371600"/>
            <a:chOff x="6153510" y="4114800"/>
            <a:chExt cx="2838090" cy="1371600"/>
          </a:xfrm>
        </p:grpSpPr>
        <p:grpSp>
          <p:nvGrpSpPr>
            <p:cNvPr id="40985" name="Group 31"/>
            <p:cNvGrpSpPr>
              <a:grpSpLocks/>
            </p:cNvGrpSpPr>
            <p:nvPr/>
          </p:nvGrpSpPr>
          <p:grpSpPr bwMode="auto">
            <a:xfrm>
              <a:off x="6153510" y="4784651"/>
              <a:ext cx="2838090" cy="701749"/>
              <a:chOff x="6153510" y="4784651"/>
              <a:chExt cx="2838090" cy="701749"/>
            </a:xfrm>
          </p:grpSpPr>
          <p:sp>
            <p:nvSpPr>
              <p:cNvPr id="29" name="Rectangle 28"/>
              <p:cNvSpPr/>
              <p:nvPr/>
            </p:nvSpPr>
            <p:spPr>
              <a:xfrm>
                <a:off x="6153510" y="4784725"/>
                <a:ext cx="2838090" cy="701675"/>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eaLnBrk="1" hangingPunct="1">
                  <a:spcBef>
                    <a:spcPts val="0"/>
                  </a:spcBef>
                  <a:spcAft>
                    <a:spcPts val="0"/>
                  </a:spcAft>
                  <a:buFont typeface="Wingdings" pitchFamily="2" charset="2"/>
                  <a:buNone/>
                  <a:defRPr/>
                </a:pPr>
                <a:r>
                  <a:rPr lang="en-US" sz="1400" dirty="0"/>
                  <a:t>Hybrid </a:t>
                </a:r>
              </a:p>
              <a:p>
                <a:pPr eaLnBrk="1" hangingPunct="1">
                  <a:spcBef>
                    <a:spcPts val="0"/>
                  </a:spcBef>
                  <a:spcAft>
                    <a:spcPts val="0"/>
                  </a:spcAft>
                  <a:buFont typeface="Wingdings" pitchFamily="2" charset="2"/>
                  <a:buNone/>
                  <a:defRPr/>
                </a:pPr>
                <a:r>
                  <a:rPr lang="en-US" sz="1400" dirty="0"/>
                  <a:t>Storage</a:t>
                </a:r>
              </a:p>
            </p:txBody>
          </p:sp>
          <p:sp>
            <p:nvSpPr>
              <p:cNvPr id="30" name="Rectangle 29"/>
              <p:cNvSpPr/>
              <p:nvPr/>
            </p:nvSpPr>
            <p:spPr>
              <a:xfrm>
                <a:off x="6896366" y="4940300"/>
                <a:ext cx="946030" cy="468313"/>
              </a:xfrm>
              <a:prstGeom prst="rect">
                <a:avLst/>
              </a:prstGeom>
            </p:spPr>
            <p:style>
              <a:lnRef idx="1">
                <a:schemeClr val="dk1"/>
              </a:lnRef>
              <a:fillRef idx="2">
                <a:schemeClr val="dk1"/>
              </a:fillRef>
              <a:effectRef idx="1">
                <a:schemeClr val="dk1"/>
              </a:effectRef>
              <a:fontRef idx="minor">
                <a:schemeClr val="dk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400" dirty="0"/>
                  <a:t>HDD</a:t>
                </a:r>
              </a:p>
            </p:txBody>
          </p:sp>
          <p:sp>
            <p:nvSpPr>
              <p:cNvPr id="31" name="Rectangle 30"/>
              <p:cNvSpPr/>
              <p:nvPr/>
            </p:nvSpPr>
            <p:spPr>
              <a:xfrm>
                <a:off x="7842396" y="4940300"/>
                <a:ext cx="1080951" cy="468313"/>
              </a:xfrm>
              <a:prstGeom prst="rect">
                <a:avLst/>
              </a:prstGeom>
            </p:spPr>
            <p:style>
              <a:lnRef idx="1">
                <a:schemeClr val="dk1"/>
              </a:lnRef>
              <a:fillRef idx="2">
                <a:schemeClr val="dk1"/>
              </a:fillRef>
              <a:effectRef idx="1">
                <a:schemeClr val="dk1"/>
              </a:effectRef>
              <a:fontRef idx="minor">
                <a:schemeClr val="dk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600" dirty="0"/>
                  <a:t>SSD</a:t>
                </a:r>
              </a:p>
            </p:txBody>
          </p:sp>
        </p:grpSp>
        <p:sp>
          <p:nvSpPr>
            <p:cNvPr id="33" name="Rectangle 32"/>
            <p:cNvSpPr/>
            <p:nvPr/>
          </p:nvSpPr>
          <p:spPr>
            <a:xfrm>
              <a:off x="7620174" y="4114800"/>
              <a:ext cx="1219045" cy="381000"/>
            </a:xfrm>
            <a:prstGeom prst="rect">
              <a:avLst/>
            </a:prstGeom>
            <a:effectLst/>
          </p:spPr>
          <p:style>
            <a:lnRef idx="1">
              <a:schemeClr val="dk1"/>
            </a:lnRef>
            <a:fillRef idx="2">
              <a:schemeClr val="dk1"/>
            </a:fillRef>
            <a:effectRef idx="1">
              <a:schemeClr val="dk1"/>
            </a:effectRef>
            <a:fontRef idx="minor">
              <a:schemeClr val="dk1"/>
            </a:fontRef>
          </p:style>
          <p:txBody>
            <a:bodyPr anchor="ctr"/>
            <a:lstStyle/>
            <a:p>
              <a:pPr algn="ctr" eaLnBrk="1" hangingPunct="1">
                <a:spcBef>
                  <a:spcPts val="0"/>
                </a:spcBef>
                <a:spcAft>
                  <a:spcPts val="0"/>
                </a:spcAft>
                <a:buFont typeface="Wingdings" pitchFamily="2" charset="2"/>
                <a:buNone/>
                <a:defRPr/>
              </a:pPr>
              <a:r>
                <a:rPr lang="en-US" sz="1200" dirty="0"/>
                <a:t>Block </a:t>
              </a:r>
              <a:r>
                <a:rPr lang="en-US" sz="1200" dirty="0" err="1"/>
                <a:t>Dev.Driver</a:t>
              </a:r>
              <a:endParaRPr lang="en-US" sz="1200" dirty="0"/>
            </a:p>
          </p:txBody>
        </p:sp>
        <p:sp>
          <p:nvSpPr>
            <p:cNvPr id="34" name="Rectangle 33"/>
            <p:cNvSpPr/>
            <p:nvPr/>
          </p:nvSpPr>
          <p:spPr>
            <a:xfrm>
              <a:off x="6324938" y="4114800"/>
              <a:ext cx="1295236" cy="3810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eaLnBrk="1" hangingPunct="1">
                <a:spcBef>
                  <a:spcPts val="0"/>
                </a:spcBef>
                <a:spcAft>
                  <a:spcPts val="0"/>
                </a:spcAft>
                <a:buFont typeface="Wingdings" pitchFamily="2" charset="2"/>
                <a:buNone/>
                <a:defRPr/>
              </a:pPr>
              <a:r>
                <a:rPr lang="en-US" sz="1200" dirty="0"/>
                <a:t>Hybrid </a:t>
              </a:r>
              <a:r>
                <a:rPr lang="en-US" sz="1200" dirty="0" err="1"/>
                <a:t>Dev.Driver</a:t>
              </a:r>
              <a:endParaRPr lang="en-US" sz="1200" dirty="0"/>
            </a:p>
          </p:txBody>
        </p:sp>
        <p:cxnSp>
          <p:nvCxnSpPr>
            <p:cNvPr id="36" name="Straight Arrow Connector 35"/>
            <p:cNvCxnSpPr/>
            <p:nvPr/>
          </p:nvCxnSpPr>
          <p:spPr>
            <a:xfrm rot="5400000">
              <a:off x="6820945" y="4685506"/>
              <a:ext cx="381000" cy="1588"/>
            </a:xfrm>
            <a:prstGeom prst="straightConnector1">
              <a:avLst/>
            </a:prstGeom>
            <a:ln w="254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10" name="Group 62"/>
          <p:cNvGrpSpPr>
            <a:grpSpLocks/>
          </p:cNvGrpSpPr>
          <p:nvPr/>
        </p:nvGrpSpPr>
        <p:grpSpPr bwMode="auto">
          <a:xfrm>
            <a:off x="6167438" y="2133600"/>
            <a:ext cx="2062162" cy="762000"/>
            <a:chOff x="6167805" y="2133600"/>
            <a:chExt cx="1191428" cy="762000"/>
          </a:xfrm>
        </p:grpSpPr>
        <p:sp>
          <p:nvSpPr>
            <p:cNvPr id="61" name="Rectangle 60"/>
            <p:cNvSpPr/>
            <p:nvPr/>
          </p:nvSpPr>
          <p:spPr>
            <a:xfrm>
              <a:off x="6167805" y="2133600"/>
              <a:ext cx="1191428" cy="457200"/>
            </a:xfrm>
            <a:prstGeom prst="rect">
              <a:avLst/>
            </a:prstGeom>
          </p:spPr>
          <p:style>
            <a:lnRef idx="1">
              <a:schemeClr val="dk1"/>
            </a:lnRef>
            <a:fillRef idx="2">
              <a:schemeClr val="dk1"/>
            </a:fillRef>
            <a:effectRef idx="1">
              <a:schemeClr val="dk1"/>
            </a:effectRef>
            <a:fontRef idx="minor">
              <a:schemeClr val="dk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200" dirty="0"/>
                <a:t>Applications</a:t>
              </a:r>
            </a:p>
          </p:txBody>
        </p:sp>
        <p:cxnSp>
          <p:nvCxnSpPr>
            <p:cNvPr id="62" name="Straight Arrow Connector 61"/>
            <p:cNvCxnSpPr/>
            <p:nvPr/>
          </p:nvCxnSpPr>
          <p:spPr>
            <a:xfrm rot="5400000">
              <a:off x="6629004" y="2743200"/>
              <a:ext cx="304800"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11" name="Group 66"/>
          <p:cNvGrpSpPr>
            <a:grpSpLocks/>
          </p:cNvGrpSpPr>
          <p:nvPr/>
        </p:nvGrpSpPr>
        <p:grpSpPr bwMode="auto">
          <a:xfrm>
            <a:off x="8229600" y="2133600"/>
            <a:ext cx="762000" cy="2743200"/>
            <a:chOff x="8229600" y="2133600"/>
            <a:chExt cx="762000" cy="2743200"/>
          </a:xfrm>
        </p:grpSpPr>
        <p:sp>
          <p:nvSpPr>
            <p:cNvPr id="26" name="Rectangle 25"/>
            <p:cNvSpPr/>
            <p:nvPr/>
          </p:nvSpPr>
          <p:spPr>
            <a:xfrm>
              <a:off x="8229600" y="2133600"/>
              <a:ext cx="762000" cy="4572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buFont typeface="Wingdings" pitchFamily="2" charset="2"/>
                <a:buNone/>
                <a:defRPr/>
              </a:pPr>
              <a:r>
                <a:rPr lang="en-US" altLang="en-US" sz="1400" smtClean="0">
                  <a:solidFill>
                    <a:srgbClr val="000000"/>
                  </a:solidFill>
                  <a:latin typeface="Calibri" pitchFamily="34" charset="0"/>
                </a:rPr>
                <a:t>SSD </a:t>
              </a:r>
            </a:p>
            <a:p>
              <a:pPr algn="ctr" eaLnBrk="1" hangingPunct="1">
                <a:buFont typeface="Wingdings" pitchFamily="2" charset="2"/>
                <a:buNone/>
                <a:defRPr/>
              </a:pPr>
              <a:r>
                <a:rPr lang="en-US" altLang="en-US" sz="1200" smtClean="0">
                  <a:solidFill>
                    <a:srgbClr val="000000"/>
                  </a:solidFill>
                  <a:latin typeface="Calibri" pitchFamily="34" charset="0"/>
                </a:rPr>
                <a:t>Sketcher</a:t>
              </a:r>
              <a:endParaRPr lang="en-US" altLang="en-US" sz="1400" smtClean="0">
                <a:solidFill>
                  <a:srgbClr val="000000"/>
                </a:solidFill>
                <a:latin typeface="Calibri" pitchFamily="34" charset="0"/>
              </a:endParaRPr>
            </a:p>
          </p:txBody>
        </p:sp>
        <p:cxnSp>
          <p:nvCxnSpPr>
            <p:cNvPr id="27" name="Straight Arrow Connector 26"/>
            <p:cNvCxnSpPr/>
            <p:nvPr/>
          </p:nvCxnSpPr>
          <p:spPr>
            <a:xfrm rot="5400000">
              <a:off x="7772400" y="3733800"/>
              <a:ext cx="2286000" cy="0"/>
            </a:xfrm>
            <a:prstGeom prst="straightConnector1">
              <a:avLst/>
            </a:prstGeom>
            <a:ln w="254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76" name="Content Placeholder 2"/>
          <p:cNvSpPr>
            <a:spLocks noGrp="1"/>
          </p:cNvSpPr>
          <p:nvPr>
            <p:ph idx="1"/>
          </p:nvPr>
        </p:nvSpPr>
        <p:spPr>
          <a:xfrm>
            <a:off x="381000" y="1722438"/>
            <a:ext cx="4876800" cy="4906962"/>
          </a:xfrm>
        </p:spPr>
        <p:txBody>
          <a:bodyPr/>
          <a:lstStyle/>
          <a:p>
            <a:pPr eaLnBrk="1" hangingPunct="1">
              <a:lnSpc>
                <a:spcPct val="90000"/>
              </a:lnSpc>
            </a:pPr>
            <a:r>
              <a:rPr lang="en-US" altLang="en-US" sz="2800" b="1" smtClean="0">
                <a:solidFill>
                  <a:srgbClr val="C00000"/>
                </a:solidFill>
              </a:rPr>
              <a:t>SSD Sketcher </a:t>
            </a:r>
            <a:r>
              <a:rPr lang="en-US" altLang="en-US" sz="2800" smtClean="0"/>
              <a:t>–  Detecting SSD internal structures</a:t>
            </a:r>
          </a:p>
          <a:p>
            <a:pPr eaLnBrk="1" hangingPunct="1">
              <a:lnSpc>
                <a:spcPct val="90000"/>
              </a:lnSpc>
            </a:pPr>
            <a:endParaRPr lang="en-US" altLang="en-US" sz="2800" smtClean="0"/>
          </a:p>
          <a:p>
            <a:pPr eaLnBrk="1" hangingPunct="1">
              <a:lnSpc>
                <a:spcPct val="90000"/>
              </a:lnSpc>
            </a:pPr>
            <a:r>
              <a:rPr lang="en-US" altLang="en-US" sz="2800" b="1" smtClean="0">
                <a:solidFill>
                  <a:srgbClr val="C00000"/>
                </a:solidFill>
              </a:rPr>
              <a:t>Hystor</a:t>
            </a:r>
            <a:r>
              <a:rPr lang="en-US" altLang="en-US" sz="2800" smtClean="0"/>
              <a:t> – Providing hybrid storage services</a:t>
            </a:r>
          </a:p>
          <a:p>
            <a:pPr eaLnBrk="1" hangingPunct="1">
              <a:lnSpc>
                <a:spcPct val="90000"/>
              </a:lnSpc>
            </a:pPr>
            <a:endParaRPr lang="en-US" altLang="en-US" sz="2800" smtClean="0"/>
          </a:p>
          <a:p>
            <a:pPr eaLnBrk="1" hangingPunct="1">
              <a:lnSpc>
                <a:spcPct val="90000"/>
              </a:lnSpc>
            </a:pPr>
            <a:r>
              <a:rPr lang="en-US" altLang="en-US" sz="2800" b="1" smtClean="0">
                <a:solidFill>
                  <a:srgbClr val="C00000"/>
                </a:solidFill>
              </a:rPr>
              <a:t>Prefetcher </a:t>
            </a:r>
            <a:r>
              <a:rPr lang="en-US" altLang="en-US" sz="2800" smtClean="0"/>
              <a:t>– utilizing the internal resources of SSD</a:t>
            </a:r>
          </a:p>
          <a:p>
            <a:pPr eaLnBrk="1" hangingPunct="1">
              <a:lnSpc>
                <a:spcPct val="90000"/>
              </a:lnSpc>
              <a:buFont typeface="Arial" panose="020B0604020202020204" pitchFamily="34" charset="0"/>
              <a:buNone/>
            </a:pPr>
            <a:endParaRPr lang="en-US" altLang="en-US" sz="2800" smtClean="0"/>
          </a:p>
          <a:p>
            <a:pPr eaLnBrk="1" hangingPunct="1">
              <a:lnSpc>
                <a:spcPct val="90000"/>
              </a:lnSpc>
            </a:pPr>
            <a:r>
              <a:rPr lang="en-US" altLang="en-US" sz="2800" smtClean="0"/>
              <a:t>Other efforts by applications to fully utilize parallelisms. </a:t>
            </a:r>
          </a:p>
        </p:txBody>
      </p:sp>
      <p:sp>
        <p:nvSpPr>
          <p:cNvPr id="49" name="Rectangle 48"/>
          <p:cNvSpPr/>
          <p:nvPr/>
        </p:nvSpPr>
        <p:spPr>
          <a:xfrm>
            <a:off x="6324600" y="2971800"/>
            <a:ext cx="2514600" cy="381000"/>
          </a:xfrm>
          <a:prstGeom prst="rect">
            <a:avLst/>
          </a:prstGeom>
          <a:effectLst/>
        </p:spPr>
        <p:style>
          <a:lnRef idx="1">
            <a:schemeClr val="dk1"/>
          </a:lnRef>
          <a:fillRef idx="2">
            <a:schemeClr val="dk1"/>
          </a:fillRef>
          <a:effectRef idx="1">
            <a:schemeClr val="dk1"/>
          </a:effectRef>
          <a:fontRef idx="minor">
            <a:schemeClr val="dk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600" dirty="0"/>
              <a:t>Buffer Cache</a:t>
            </a:r>
          </a:p>
        </p:txBody>
      </p:sp>
      <p:grpSp>
        <p:nvGrpSpPr>
          <p:cNvPr id="12" name="Group 52"/>
          <p:cNvGrpSpPr>
            <a:grpSpLocks/>
          </p:cNvGrpSpPr>
          <p:nvPr/>
        </p:nvGrpSpPr>
        <p:grpSpPr bwMode="auto">
          <a:xfrm>
            <a:off x="6324600" y="2590800"/>
            <a:ext cx="2514600" cy="762000"/>
            <a:chOff x="6324601" y="2590800"/>
            <a:chExt cx="2514600" cy="762000"/>
          </a:xfrm>
        </p:grpSpPr>
        <p:sp>
          <p:nvSpPr>
            <p:cNvPr id="50" name="Rectangle 49"/>
            <p:cNvSpPr/>
            <p:nvPr/>
          </p:nvSpPr>
          <p:spPr>
            <a:xfrm>
              <a:off x="6324601" y="2971800"/>
              <a:ext cx="1600200" cy="381000"/>
            </a:xfrm>
            <a:prstGeom prst="rect">
              <a:avLst/>
            </a:prstGeom>
            <a:effectLst/>
          </p:spPr>
          <p:style>
            <a:lnRef idx="1">
              <a:schemeClr val="dk1"/>
            </a:lnRef>
            <a:fillRef idx="2">
              <a:schemeClr val="dk1"/>
            </a:fillRef>
            <a:effectRef idx="1">
              <a:schemeClr val="dk1"/>
            </a:effectRef>
            <a:fontRef idx="minor">
              <a:schemeClr val="dk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600" dirty="0"/>
                <a:t>Buffer Cache</a:t>
              </a:r>
            </a:p>
          </p:txBody>
        </p:sp>
        <p:grpSp>
          <p:nvGrpSpPr>
            <p:cNvPr id="40975" name="Group 74"/>
            <p:cNvGrpSpPr>
              <a:grpSpLocks/>
            </p:cNvGrpSpPr>
            <p:nvPr/>
          </p:nvGrpSpPr>
          <p:grpSpPr bwMode="auto">
            <a:xfrm>
              <a:off x="7848600" y="2590800"/>
              <a:ext cx="990601" cy="762000"/>
              <a:chOff x="7239000" y="1828800"/>
              <a:chExt cx="990601" cy="762000"/>
            </a:xfrm>
          </p:grpSpPr>
          <p:grpSp>
            <p:nvGrpSpPr>
              <p:cNvPr id="40976" name="Group 67"/>
              <p:cNvGrpSpPr>
                <a:grpSpLocks/>
              </p:cNvGrpSpPr>
              <p:nvPr/>
            </p:nvGrpSpPr>
            <p:grpSpPr bwMode="auto">
              <a:xfrm>
                <a:off x="7315201" y="1829594"/>
                <a:ext cx="914400" cy="761206"/>
                <a:chOff x="8153401" y="1829594"/>
                <a:chExt cx="914400" cy="761206"/>
              </a:xfrm>
            </p:grpSpPr>
            <p:sp>
              <p:nvSpPr>
                <p:cNvPr id="69" name="Rectangle 68"/>
                <p:cNvSpPr/>
                <p:nvPr/>
              </p:nvSpPr>
              <p:spPr>
                <a:xfrm>
                  <a:off x="8153401" y="2209800"/>
                  <a:ext cx="914400" cy="3810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eaLnBrk="1" hangingPunct="1">
                    <a:spcBef>
                      <a:spcPts val="0"/>
                    </a:spcBef>
                    <a:spcAft>
                      <a:spcPts val="0"/>
                    </a:spcAft>
                    <a:buFont typeface="Wingdings" pitchFamily="2" charset="2"/>
                    <a:buNone/>
                    <a:defRPr/>
                  </a:pPr>
                  <a:r>
                    <a:rPr lang="en-US" sz="1200" dirty="0"/>
                    <a:t>Informed </a:t>
                  </a:r>
                  <a:r>
                    <a:rPr lang="en-US" sz="1200" dirty="0" err="1"/>
                    <a:t>Prefetcher</a:t>
                  </a:r>
                  <a:endParaRPr lang="en-US" sz="1200" dirty="0"/>
                </a:p>
              </p:txBody>
            </p:sp>
            <p:cxnSp>
              <p:nvCxnSpPr>
                <p:cNvPr id="70" name="Straight Arrow Connector 69"/>
                <p:cNvCxnSpPr>
                  <a:stCxn id="26" idx="2"/>
                </p:cNvCxnSpPr>
                <p:nvPr/>
              </p:nvCxnSpPr>
              <p:spPr>
                <a:xfrm rot="5400000">
                  <a:off x="8647908" y="2020094"/>
                  <a:ext cx="381000" cy="1587"/>
                </a:xfrm>
                <a:prstGeom prst="straightConnector1">
                  <a:avLst/>
                </a:prstGeom>
                <a:ln w="254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grpSp>
          <p:cxnSp>
            <p:nvCxnSpPr>
              <p:cNvPr id="72" name="Straight Arrow Connector 71"/>
              <p:cNvCxnSpPr/>
              <p:nvPr/>
            </p:nvCxnSpPr>
            <p:spPr>
              <a:xfrm rot="5400000">
                <a:off x="7201695" y="2018506"/>
                <a:ext cx="381000" cy="1588"/>
              </a:xfrm>
              <a:prstGeom prst="straightConnector1">
                <a:avLst/>
              </a:prstGeom>
              <a:ln w="254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a:xfrm rot="10800000">
                <a:off x="7239001" y="2362200"/>
                <a:ext cx="228600" cy="1588"/>
              </a:xfrm>
              <a:prstGeom prst="straightConnector1">
                <a:avLst/>
              </a:prstGeom>
              <a:ln w="254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5782644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6">
                                            <p:txEl>
                                              <p:pRg st="0" end="0"/>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xit" presetSubtype="0" fill="hold" nodeType="clickEffect">
                                  <p:stCondLst>
                                    <p:cond delay="0"/>
                                  </p:stCondLst>
                                  <p:childTnLst>
                                    <p:set>
                                      <p:cBhvr>
                                        <p:cTn id="16" dur="1" fill="hold">
                                          <p:stCondLst>
                                            <p:cond delay="0"/>
                                          </p:stCondLst>
                                        </p:cTn>
                                        <p:tgtEl>
                                          <p:spTgt spid="7"/>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6">
                                            <p:txEl>
                                              <p:pRg st="2" end="2"/>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xit" presetSubtype="0" fill="hold" grpId="0" nodeType="clickEffect">
                                  <p:stCondLst>
                                    <p:cond delay="0"/>
                                  </p:stCondLst>
                                  <p:childTnLst>
                                    <p:set>
                                      <p:cBhvr>
                                        <p:cTn id="24" dur="1" fill="hold">
                                          <p:stCondLst>
                                            <p:cond delay="0"/>
                                          </p:stCondLst>
                                        </p:cTn>
                                        <p:tgtEl>
                                          <p:spTgt spid="49"/>
                                        </p:tgtEl>
                                        <p:attrNameLst>
                                          <p:attrName>style.visibility</p:attrName>
                                        </p:attrNameLst>
                                      </p:cBhvr>
                                      <p:to>
                                        <p:strVal val="hidden"/>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6">
                                            <p:txEl>
                                              <p:pRg st="4" end="4"/>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build="p"/>
      <p:bldP spid="49"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pPr eaLnBrk="1" hangingPunct="1"/>
            <a:r>
              <a:rPr lang="en-US" altLang="en-US" dirty="0" smtClean="0"/>
              <a:t>Outline</a:t>
            </a:r>
          </a:p>
        </p:txBody>
      </p:sp>
      <p:sp>
        <p:nvSpPr>
          <p:cNvPr id="43012" name="Slide Number Placeholder 3"/>
          <p:cNvSpPr>
            <a:spLocks noGrp="1"/>
          </p:cNvSpPr>
          <p:nvPr>
            <p:ph type="sldNum" sz="quarter" idx="4294967295"/>
          </p:nvPr>
        </p:nvSpPr>
        <p:spPr bwMode="auto">
          <a:xfrm>
            <a:off x="7010400" y="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 typeface="Wingdings" panose="05000000000000000000" pitchFamily="2" charset="2"/>
              <a:buNone/>
            </a:pPr>
            <a:fld id="{1B41D832-D6F7-49DE-BFE3-6C2166916163}" type="slidenum">
              <a:rPr lang="zh-CN" altLang="en-US" sz="1200">
                <a:solidFill>
                  <a:srgbClr val="898989"/>
                </a:solidFill>
                <a:latin typeface="Verdana" panose="020B0604030504040204" pitchFamily="34" charset="0"/>
              </a:rPr>
              <a:pPr>
                <a:spcBef>
                  <a:spcPct val="50000"/>
                </a:spcBef>
                <a:buFont typeface="Wingdings" panose="05000000000000000000" pitchFamily="2" charset="2"/>
                <a:buNone/>
              </a:pPr>
              <a:t>84</a:t>
            </a:fld>
            <a:endParaRPr lang="zh-CN" altLang="en-US" sz="1200">
              <a:solidFill>
                <a:srgbClr val="898989"/>
              </a:solidFill>
              <a:latin typeface="Verdana" panose="020B0604030504040204" pitchFamily="34" charset="0"/>
            </a:endParaRPr>
          </a:p>
        </p:txBody>
      </p:sp>
      <p:grpSp>
        <p:nvGrpSpPr>
          <p:cNvPr id="43013" name="Group 111"/>
          <p:cNvGrpSpPr>
            <a:grpSpLocks/>
          </p:cNvGrpSpPr>
          <p:nvPr/>
        </p:nvGrpSpPr>
        <p:grpSpPr bwMode="auto">
          <a:xfrm>
            <a:off x="5276850" y="2990850"/>
            <a:ext cx="3733800" cy="3352800"/>
            <a:chOff x="5257801" y="3352800"/>
            <a:chExt cx="3733801" cy="3352800"/>
          </a:xfrm>
        </p:grpSpPr>
        <p:grpSp>
          <p:nvGrpSpPr>
            <p:cNvPr id="43014" name="Group 35"/>
            <p:cNvGrpSpPr>
              <a:grpSpLocks/>
            </p:cNvGrpSpPr>
            <p:nvPr/>
          </p:nvGrpSpPr>
          <p:grpSpPr bwMode="auto">
            <a:xfrm>
              <a:off x="5257801" y="3456801"/>
              <a:ext cx="3733801" cy="2970765"/>
              <a:chOff x="3793787" y="2161401"/>
              <a:chExt cx="4131013" cy="2970765"/>
            </a:xfrm>
          </p:grpSpPr>
          <p:grpSp>
            <p:nvGrpSpPr>
              <p:cNvPr id="43038" name="Group 37"/>
              <p:cNvGrpSpPr>
                <a:grpSpLocks/>
              </p:cNvGrpSpPr>
              <p:nvPr/>
            </p:nvGrpSpPr>
            <p:grpSpPr bwMode="auto">
              <a:xfrm>
                <a:off x="4724400" y="2667000"/>
                <a:ext cx="3200400" cy="1981200"/>
                <a:chOff x="533400" y="2667000"/>
                <a:chExt cx="3200400" cy="1981200"/>
              </a:xfrm>
            </p:grpSpPr>
            <p:grpSp>
              <p:nvGrpSpPr>
                <p:cNvPr id="43042" name="Group 4"/>
                <p:cNvGrpSpPr>
                  <a:grpSpLocks/>
                </p:cNvGrpSpPr>
                <p:nvPr/>
              </p:nvGrpSpPr>
              <p:grpSpPr bwMode="auto">
                <a:xfrm>
                  <a:off x="533400" y="2667000"/>
                  <a:ext cx="3200400" cy="1981200"/>
                  <a:chOff x="5867400" y="2590800"/>
                  <a:chExt cx="3200400" cy="1981200"/>
                </a:xfrm>
              </p:grpSpPr>
              <p:grpSp>
                <p:nvGrpSpPr>
                  <p:cNvPr id="43044" name="Group 4"/>
                  <p:cNvGrpSpPr>
                    <a:grpSpLocks/>
                  </p:cNvGrpSpPr>
                  <p:nvPr/>
                </p:nvGrpSpPr>
                <p:grpSpPr bwMode="auto">
                  <a:xfrm>
                    <a:off x="5943600" y="2667000"/>
                    <a:ext cx="3124200" cy="1905000"/>
                    <a:chOff x="5943600" y="2667000"/>
                    <a:chExt cx="3124200" cy="1905000"/>
                  </a:xfrm>
                </p:grpSpPr>
                <p:sp>
                  <p:nvSpPr>
                    <p:cNvPr id="56" name="Rectangle 55"/>
                    <p:cNvSpPr/>
                    <p:nvPr/>
                  </p:nvSpPr>
                  <p:spPr>
                    <a:xfrm>
                      <a:off x="5943195" y="2667000"/>
                      <a:ext cx="3124605" cy="1752600"/>
                    </a:xfrm>
                    <a:prstGeom prst="rect">
                      <a:avLst/>
                    </a:prstGeom>
                  </p:spPr>
                  <p:style>
                    <a:lnRef idx="1">
                      <a:schemeClr val="dk1"/>
                    </a:lnRef>
                    <a:fillRef idx="2">
                      <a:schemeClr val="dk1"/>
                    </a:fillRef>
                    <a:effectRef idx="1">
                      <a:schemeClr val="dk1"/>
                    </a:effectRef>
                    <a:fontRef idx="minor">
                      <a:schemeClr val="dk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Char char="Ø"/>
                        <a:defRPr/>
                      </a:pPr>
                      <a:endParaRPr lang="en-US" altLang="en-US" smtClean="0">
                        <a:solidFill>
                          <a:srgbClr val="000000"/>
                        </a:solidFill>
                        <a:latin typeface="Calibri" pitchFamily="34" charset="0"/>
                      </a:endParaRPr>
                    </a:p>
                  </p:txBody>
                </p:sp>
                <p:sp>
                  <p:nvSpPr>
                    <p:cNvPr id="57" name="Rectangle 56"/>
                    <p:cNvSpPr/>
                    <p:nvPr/>
                  </p:nvSpPr>
                  <p:spPr>
                    <a:xfrm>
                      <a:off x="6117076" y="3581400"/>
                      <a:ext cx="2782111" cy="381000"/>
                    </a:xfrm>
                    <a:prstGeom prst="rect">
                      <a:avLst/>
                    </a:prstGeom>
                    <a:ln/>
                    <a:effectLst/>
                  </p:spPr>
                  <p:style>
                    <a:lnRef idx="1">
                      <a:schemeClr val="dk1"/>
                    </a:lnRef>
                    <a:fillRef idx="2">
                      <a:schemeClr val="dk1"/>
                    </a:fillRef>
                    <a:effectRef idx="1">
                      <a:schemeClr val="dk1"/>
                    </a:effectRef>
                    <a:fontRef idx="minor">
                      <a:schemeClr val="dk1"/>
                    </a:fontRef>
                  </p:style>
                  <p:txBody>
                    <a:bodyPr/>
                    <a:lstStyle/>
                    <a:p>
                      <a:pPr algn="ctr" eaLnBrk="1" hangingPunct="1">
                        <a:lnSpc>
                          <a:spcPct val="125000"/>
                        </a:lnSpc>
                        <a:spcBef>
                          <a:spcPct val="50000"/>
                        </a:spcBef>
                        <a:spcAft>
                          <a:spcPct val="20000"/>
                        </a:spcAft>
                        <a:buFont typeface="Wingdings" pitchFamily="2" charset="2"/>
                        <a:buNone/>
                        <a:defRPr/>
                      </a:pPr>
                      <a:r>
                        <a:rPr lang="en-US" sz="1600" dirty="0"/>
                        <a:t>Block I/O layer</a:t>
                      </a:r>
                    </a:p>
                  </p:txBody>
                </p:sp>
                <p:cxnSp>
                  <p:nvCxnSpPr>
                    <p:cNvPr id="58" name="Straight Connector 57"/>
                    <p:cNvCxnSpPr/>
                    <p:nvPr/>
                  </p:nvCxnSpPr>
                  <p:spPr>
                    <a:xfrm>
                      <a:off x="5943195" y="4572000"/>
                      <a:ext cx="3124605"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cxnSp>
                <p:nvCxnSpPr>
                  <p:cNvPr id="55" name="Straight Connector 6"/>
                  <p:cNvCxnSpPr/>
                  <p:nvPr/>
                </p:nvCxnSpPr>
                <p:spPr>
                  <a:xfrm>
                    <a:off x="5867670" y="2590800"/>
                    <a:ext cx="3124606"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sp>
              <p:nvSpPr>
                <p:cNvPr id="53" name="Rectangle 52"/>
                <p:cNvSpPr/>
                <p:nvPr/>
              </p:nvSpPr>
              <p:spPr>
                <a:xfrm>
                  <a:off x="783076" y="3276600"/>
                  <a:ext cx="2782111" cy="381000"/>
                </a:xfrm>
                <a:prstGeom prst="rect">
                  <a:avLst/>
                </a:prstGeom>
                <a:ln/>
                <a:effectLst/>
              </p:spPr>
              <p:style>
                <a:lnRef idx="1">
                  <a:schemeClr val="dk1"/>
                </a:lnRef>
                <a:fillRef idx="2">
                  <a:schemeClr val="dk1"/>
                </a:fillRef>
                <a:effectRef idx="1">
                  <a:schemeClr val="dk1"/>
                </a:effectRef>
                <a:fontRef idx="minor">
                  <a:schemeClr val="dk1"/>
                </a:fontRef>
              </p:style>
              <p:txBody>
                <a:bodyPr/>
                <a:lstStyle/>
                <a:p>
                  <a:pPr algn="ctr" eaLnBrk="1" hangingPunct="1">
                    <a:lnSpc>
                      <a:spcPct val="125000"/>
                    </a:lnSpc>
                    <a:spcBef>
                      <a:spcPct val="50000"/>
                    </a:spcBef>
                    <a:spcAft>
                      <a:spcPct val="20000"/>
                    </a:spcAft>
                    <a:buFont typeface="Wingdings" pitchFamily="2" charset="2"/>
                    <a:buNone/>
                    <a:defRPr/>
                  </a:pPr>
                  <a:r>
                    <a:rPr lang="en-US" sz="1600" dirty="0"/>
                    <a:t>File System</a:t>
                  </a:r>
                </a:p>
              </p:txBody>
            </p:sp>
          </p:grpSp>
          <p:sp>
            <p:nvSpPr>
              <p:cNvPr id="43039" name="Rectangle 48"/>
              <p:cNvSpPr>
                <a:spLocks noChangeArrowheads="1"/>
              </p:cNvSpPr>
              <p:nvPr/>
            </p:nvSpPr>
            <p:spPr bwMode="auto">
              <a:xfrm>
                <a:off x="4004200" y="3352800"/>
                <a:ext cx="7312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Wingdings" panose="05000000000000000000" pitchFamily="2" charset="2"/>
                  <a:buNone/>
                </a:pPr>
                <a:r>
                  <a:rPr lang="en-US" altLang="en-US" sz="1200" b="1">
                    <a:solidFill>
                      <a:srgbClr val="010000"/>
                    </a:solidFill>
                    <a:latin typeface="Verdana" panose="020B0604030504040204" pitchFamily="34" charset="0"/>
                  </a:rPr>
                  <a:t>OS</a:t>
                </a:r>
              </a:p>
              <a:p>
                <a:pPr algn="ctr" eaLnBrk="1" hangingPunct="1">
                  <a:spcBef>
                    <a:spcPct val="0"/>
                  </a:spcBef>
                  <a:buFont typeface="Wingdings" panose="05000000000000000000" pitchFamily="2" charset="2"/>
                  <a:buNone/>
                </a:pPr>
                <a:r>
                  <a:rPr lang="en-US" altLang="en-US" sz="1200" b="1">
                    <a:solidFill>
                      <a:srgbClr val="010000"/>
                    </a:solidFill>
                    <a:latin typeface="Verdana" panose="020B0604030504040204" pitchFamily="34" charset="0"/>
                  </a:rPr>
                  <a:t>kernel</a:t>
                </a:r>
              </a:p>
            </p:txBody>
          </p:sp>
          <p:sp>
            <p:nvSpPr>
              <p:cNvPr id="43040" name="Rectangle 49"/>
              <p:cNvSpPr>
                <a:spLocks noChangeArrowheads="1"/>
              </p:cNvSpPr>
              <p:nvPr/>
            </p:nvSpPr>
            <p:spPr bwMode="auto">
              <a:xfrm>
                <a:off x="3793787" y="4800600"/>
                <a:ext cx="854721" cy="331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50000"/>
                  </a:spcBef>
                  <a:spcAft>
                    <a:spcPct val="20000"/>
                  </a:spcAft>
                  <a:buFont typeface="Wingdings" panose="05000000000000000000" pitchFamily="2" charset="2"/>
                  <a:buNone/>
                </a:pPr>
                <a:r>
                  <a:rPr lang="en-US" altLang="en-US" sz="1400" b="1">
                    <a:solidFill>
                      <a:srgbClr val="010000"/>
                    </a:solidFill>
                    <a:latin typeface="Verdana" panose="020B0604030504040204" pitchFamily="34" charset="0"/>
                  </a:rPr>
                  <a:t>Device</a:t>
                </a:r>
              </a:p>
            </p:txBody>
          </p:sp>
          <p:sp>
            <p:nvSpPr>
              <p:cNvPr id="43041" name="Rectangle 50"/>
              <p:cNvSpPr>
                <a:spLocks noChangeArrowheads="1"/>
              </p:cNvSpPr>
              <p:nvPr/>
            </p:nvSpPr>
            <p:spPr bwMode="auto">
              <a:xfrm>
                <a:off x="4158146" y="2161401"/>
                <a:ext cx="57579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Wingdings" panose="05000000000000000000" pitchFamily="2" charset="2"/>
                  <a:buNone/>
                </a:pPr>
                <a:r>
                  <a:rPr lang="en-US" altLang="en-US" sz="1200" b="1">
                    <a:solidFill>
                      <a:srgbClr val="010000"/>
                    </a:solidFill>
                    <a:latin typeface="Verdana" panose="020B0604030504040204" pitchFamily="34" charset="0"/>
                  </a:rPr>
                  <a:t>App.</a:t>
                </a:r>
              </a:p>
            </p:txBody>
          </p:sp>
        </p:grpSp>
        <p:grpSp>
          <p:nvGrpSpPr>
            <p:cNvPr id="43015" name="Group 36"/>
            <p:cNvGrpSpPr>
              <a:grpSpLocks/>
            </p:cNvGrpSpPr>
            <p:nvPr/>
          </p:nvGrpSpPr>
          <p:grpSpPr bwMode="auto">
            <a:xfrm>
              <a:off x="6153510" y="5334000"/>
              <a:ext cx="2838090" cy="1371600"/>
              <a:chOff x="6153510" y="4114800"/>
              <a:chExt cx="2838090" cy="1371600"/>
            </a:xfrm>
          </p:grpSpPr>
          <p:grpSp>
            <p:nvGrpSpPr>
              <p:cNvPr id="43031" name="Group 31"/>
              <p:cNvGrpSpPr>
                <a:grpSpLocks/>
              </p:cNvGrpSpPr>
              <p:nvPr/>
            </p:nvGrpSpPr>
            <p:grpSpPr bwMode="auto">
              <a:xfrm>
                <a:off x="6153510" y="4784651"/>
                <a:ext cx="2838090" cy="701749"/>
                <a:chOff x="6153510" y="4784651"/>
                <a:chExt cx="2838090" cy="701749"/>
              </a:xfrm>
            </p:grpSpPr>
            <p:sp>
              <p:nvSpPr>
                <p:cNvPr id="73" name="Rectangle 72"/>
                <p:cNvSpPr/>
                <p:nvPr/>
              </p:nvSpPr>
              <p:spPr>
                <a:xfrm>
                  <a:off x="6153151" y="4784725"/>
                  <a:ext cx="2838451" cy="701675"/>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eaLnBrk="1" hangingPunct="1">
                    <a:spcBef>
                      <a:spcPts val="0"/>
                    </a:spcBef>
                    <a:spcAft>
                      <a:spcPts val="0"/>
                    </a:spcAft>
                    <a:buFont typeface="Wingdings" pitchFamily="2" charset="2"/>
                    <a:buNone/>
                    <a:defRPr/>
                  </a:pPr>
                  <a:r>
                    <a:rPr lang="en-US" sz="1400" dirty="0"/>
                    <a:t>Hybrid </a:t>
                  </a:r>
                </a:p>
                <a:p>
                  <a:pPr eaLnBrk="1" hangingPunct="1">
                    <a:spcBef>
                      <a:spcPts val="0"/>
                    </a:spcBef>
                    <a:spcAft>
                      <a:spcPts val="0"/>
                    </a:spcAft>
                    <a:buFont typeface="Wingdings" pitchFamily="2" charset="2"/>
                    <a:buNone/>
                    <a:defRPr/>
                  </a:pPr>
                  <a:r>
                    <a:rPr lang="en-US" sz="1400" dirty="0"/>
                    <a:t>Storage</a:t>
                  </a:r>
                </a:p>
              </p:txBody>
            </p:sp>
            <p:sp>
              <p:nvSpPr>
                <p:cNvPr id="74" name="Rectangle 73"/>
                <p:cNvSpPr/>
                <p:nvPr/>
              </p:nvSpPr>
              <p:spPr>
                <a:xfrm>
                  <a:off x="6896101" y="4940300"/>
                  <a:ext cx="946150" cy="468313"/>
                </a:xfrm>
                <a:prstGeom prst="rect">
                  <a:avLst/>
                </a:prstGeom>
              </p:spPr>
              <p:style>
                <a:lnRef idx="1">
                  <a:schemeClr val="dk1"/>
                </a:lnRef>
                <a:fillRef idx="2">
                  <a:schemeClr val="dk1"/>
                </a:fillRef>
                <a:effectRef idx="1">
                  <a:schemeClr val="dk1"/>
                </a:effectRef>
                <a:fontRef idx="minor">
                  <a:schemeClr val="dk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400" dirty="0"/>
                    <a:t>HDD</a:t>
                  </a:r>
                </a:p>
              </p:txBody>
            </p:sp>
            <p:sp>
              <p:nvSpPr>
                <p:cNvPr id="75" name="Rectangle 74"/>
                <p:cNvSpPr/>
                <p:nvPr/>
              </p:nvSpPr>
              <p:spPr>
                <a:xfrm>
                  <a:off x="7842252" y="4940300"/>
                  <a:ext cx="1081088" cy="468313"/>
                </a:xfrm>
                <a:prstGeom prst="rect">
                  <a:avLst/>
                </a:prstGeom>
              </p:spPr>
              <p:style>
                <a:lnRef idx="1">
                  <a:schemeClr val="dk1"/>
                </a:lnRef>
                <a:fillRef idx="2">
                  <a:schemeClr val="dk1"/>
                </a:fillRef>
                <a:effectRef idx="1">
                  <a:schemeClr val="dk1"/>
                </a:effectRef>
                <a:fontRef idx="minor">
                  <a:schemeClr val="dk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600" dirty="0"/>
                    <a:t>SSD</a:t>
                  </a:r>
                </a:p>
              </p:txBody>
            </p:sp>
          </p:grpSp>
          <p:sp>
            <p:nvSpPr>
              <p:cNvPr id="70" name="Rectangle 69"/>
              <p:cNvSpPr/>
              <p:nvPr/>
            </p:nvSpPr>
            <p:spPr>
              <a:xfrm>
                <a:off x="7620002" y="4114800"/>
                <a:ext cx="1219200" cy="381000"/>
              </a:xfrm>
              <a:prstGeom prst="rect">
                <a:avLst/>
              </a:prstGeom>
              <a:effectLst/>
            </p:spPr>
            <p:style>
              <a:lnRef idx="1">
                <a:schemeClr val="dk1"/>
              </a:lnRef>
              <a:fillRef idx="2">
                <a:schemeClr val="dk1"/>
              </a:fillRef>
              <a:effectRef idx="1">
                <a:schemeClr val="dk1"/>
              </a:effectRef>
              <a:fontRef idx="minor">
                <a:schemeClr val="dk1"/>
              </a:fontRef>
            </p:style>
            <p:txBody>
              <a:bodyPr anchor="ctr"/>
              <a:lstStyle/>
              <a:p>
                <a:pPr algn="ctr" eaLnBrk="1" hangingPunct="1">
                  <a:spcBef>
                    <a:spcPts val="0"/>
                  </a:spcBef>
                  <a:spcAft>
                    <a:spcPts val="0"/>
                  </a:spcAft>
                  <a:buFont typeface="Wingdings" pitchFamily="2" charset="2"/>
                  <a:buNone/>
                  <a:defRPr/>
                </a:pPr>
                <a:r>
                  <a:rPr lang="en-US" sz="1200" dirty="0"/>
                  <a:t>Block </a:t>
                </a:r>
                <a:r>
                  <a:rPr lang="en-US" sz="1200" dirty="0" err="1"/>
                  <a:t>Dev.Driver</a:t>
                </a:r>
                <a:endParaRPr lang="en-US" sz="1200" dirty="0"/>
              </a:p>
            </p:txBody>
          </p:sp>
          <p:sp>
            <p:nvSpPr>
              <p:cNvPr id="71" name="Rectangle 70"/>
              <p:cNvSpPr/>
              <p:nvPr/>
            </p:nvSpPr>
            <p:spPr>
              <a:xfrm>
                <a:off x="6324601" y="4114800"/>
                <a:ext cx="1295400" cy="381000"/>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spcBef>
                    <a:spcPts val="0"/>
                  </a:spcBef>
                  <a:spcAft>
                    <a:spcPts val="0"/>
                  </a:spcAft>
                  <a:buFont typeface="Wingdings" pitchFamily="2" charset="2"/>
                  <a:buNone/>
                  <a:defRPr/>
                </a:pPr>
                <a:r>
                  <a:rPr lang="en-US" sz="1200" dirty="0"/>
                  <a:t>Hybrid </a:t>
                </a:r>
                <a:r>
                  <a:rPr lang="en-US" sz="1200" dirty="0" err="1"/>
                  <a:t>Dev.Driver</a:t>
                </a:r>
                <a:endParaRPr lang="en-US" sz="1200" dirty="0"/>
              </a:p>
            </p:txBody>
          </p:sp>
          <p:cxnSp>
            <p:nvCxnSpPr>
              <p:cNvPr id="72" name="Straight Arrow Connector 71"/>
              <p:cNvCxnSpPr/>
              <p:nvPr/>
            </p:nvCxnSpPr>
            <p:spPr>
              <a:xfrm rot="5400000">
                <a:off x="6820695" y="4685506"/>
                <a:ext cx="381000" cy="1588"/>
              </a:xfrm>
              <a:prstGeom prst="straightConnector1">
                <a:avLst/>
              </a:prstGeom>
              <a:ln w="254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43016" name="Group 62"/>
            <p:cNvGrpSpPr>
              <a:grpSpLocks/>
            </p:cNvGrpSpPr>
            <p:nvPr/>
          </p:nvGrpSpPr>
          <p:grpSpPr bwMode="auto">
            <a:xfrm>
              <a:off x="6167804" y="3352800"/>
              <a:ext cx="2061795" cy="762000"/>
              <a:chOff x="6167805" y="2133600"/>
              <a:chExt cx="1191428" cy="762000"/>
            </a:xfrm>
          </p:grpSpPr>
          <p:sp>
            <p:nvSpPr>
              <p:cNvPr id="77" name="Rectangle 76"/>
              <p:cNvSpPr/>
              <p:nvPr/>
            </p:nvSpPr>
            <p:spPr>
              <a:xfrm>
                <a:off x="6167594" y="2133600"/>
                <a:ext cx="1191641" cy="457200"/>
              </a:xfrm>
              <a:prstGeom prst="rect">
                <a:avLst/>
              </a:prstGeom>
            </p:spPr>
            <p:style>
              <a:lnRef idx="1">
                <a:schemeClr val="dk1"/>
              </a:lnRef>
              <a:fillRef idx="2">
                <a:schemeClr val="dk1"/>
              </a:fillRef>
              <a:effectRef idx="1">
                <a:schemeClr val="dk1"/>
              </a:effectRef>
              <a:fontRef idx="minor">
                <a:schemeClr val="dk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200" dirty="0"/>
                  <a:t>Applications</a:t>
                </a:r>
              </a:p>
            </p:txBody>
          </p:sp>
          <p:cxnSp>
            <p:nvCxnSpPr>
              <p:cNvPr id="78" name="Straight Arrow Connector 77"/>
              <p:cNvCxnSpPr/>
              <p:nvPr/>
            </p:nvCxnSpPr>
            <p:spPr>
              <a:xfrm rot="5400000">
                <a:off x="6628903" y="2743200"/>
                <a:ext cx="304800"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43017" name="Group 66"/>
            <p:cNvGrpSpPr>
              <a:grpSpLocks/>
            </p:cNvGrpSpPr>
            <p:nvPr/>
          </p:nvGrpSpPr>
          <p:grpSpPr bwMode="auto">
            <a:xfrm>
              <a:off x="8229600" y="3352800"/>
              <a:ext cx="762000" cy="2743200"/>
              <a:chOff x="8229600" y="2133600"/>
              <a:chExt cx="762000" cy="2743200"/>
            </a:xfrm>
          </p:grpSpPr>
          <p:sp>
            <p:nvSpPr>
              <p:cNvPr id="80" name="Rectangle 79"/>
              <p:cNvSpPr/>
              <p:nvPr/>
            </p:nvSpPr>
            <p:spPr>
              <a:xfrm>
                <a:off x="8229602" y="2133600"/>
                <a:ext cx="762000" cy="4572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buFont typeface="Wingdings" pitchFamily="2" charset="2"/>
                  <a:buNone/>
                  <a:defRPr/>
                </a:pPr>
                <a:r>
                  <a:rPr lang="en-US" altLang="en-US" sz="1400" smtClean="0">
                    <a:solidFill>
                      <a:srgbClr val="000000"/>
                    </a:solidFill>
                    <a:latin typeface="Calibri" pitchFamily="34" charset="0"/>
                  </a:rPr>
                  <a:t>SSD </a:t>
                </a:r>
              </a:p>
              <a:p>
                <a:pPr algn="ctr" eaLnBrk="1" hangingPunct="1">
                  <a:buFont typeface="Wingdings" pitchFamily="2" charset="2"/>
                  <a:buNone/>
                  <a:defRPr/>
                </a:pPr>
                <a:r>
                  <a:rPr lang="en-US" altLang="en-US" sz="1200" smtClean="0">
                    <a:solidFill>
                      <a:srgbClr val="000000"/>
                    </a:solidFill>
                    <a:latin typeface="Calibri" pitchFamily="34" charset="0"/>
                  </a:rPr>
                  <a:t>Sketcher</a:t>
                </a:r>
                <a:endParaRPr lang="en-US" altLang="en-US" sz="1400" smtClean="0">
                  <a:solidFill>
                    <a:srgbClr val="000000"/>
                  </a:solidFill>
                  <a:latin typeface="Calibri" pitchFamily="34" charset="0"/>
                </a:endParaRPr>
              </a:p>
            </p:txBody>
          </p:sp>
          <p:cxnSp>
            <p:nvCxnSpPr>
              <p:cNvPr id="81" name="Straight Arrow Connector 80"/>
              <p:cNvCxnSpPr/>
              <p:nvPr/>
            </p:nvCxnSpPr>
            <p:spPr>
              <a:xfrm rot="5400000">
                <a:off x="7772402" y="3733800"/>
                <a:ext cx="2286000" cy="0"/>
              </a:xfrm>
              <a:prstGeom prst="straightConnector1">
                <a:avLst/>
              </a:prstGeom>
              <a:ln w="254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82" name="Rectangle 81"/>
            <p:cNvSpPr/>
            <p:nvPr/>
          </p:nvSpPr>
          <p:spPr>
            <a:xfrm>
              <a:off x="6324601" y="4191000"/>
              <a:ext cx="2514601" cy="381000"/>
            </a:xfrm>
            <a:prstGeom prst="rect">
              <a:avLst/>
            </a:prstGeom>
            <a:effectLst/>
          </p:spPr>
          <p:style>
            <a:lnRef idx="1">
              <a:schemeClr val="dk1"/>
            </a:lnRef>
            <a:fillRef idx="2">
              <a:schemeClr val="dk1"/>
            </a:fillRef>
            <a:effectRef idx="1">
              <a:schemeClr val="dk1"/>
            </a:effectRef>
            <a:fontRef idx="minor">
              <a:schemeClr val="dk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600" dirty="0"/>
                <a:t>Buffer Cache</a:t>
              </a:r>
            </a:p>
          </p:txBody>
        </p:sp>
        <p:grpSp>
          <p:nvGrpSpPr>
            <p:cNvPr id="43019" name="Group 82"/>
            <p:cNvGrpSpPr>
              <a:grpSpLocks/>
            </p:cNvGrpSpPr>
            <p:nvPr/>
          </p:nvGrpSpPr>
          <p:grpSpPr bwMode="auto">
            <a:xfrm>
              <a:off x="6324600" y="3810000"/>
              <a:ext cx="2514600" cy="762000"/>
              <a:chOff x="6324601" y="2590800"/>
              <a:chExt cx="2514600" cy="762000"/>
            </a:xfrm>
          </p:grpSpPr>
          <p:sp>
            <p:nvSpPr>
              <p:cNvPr id="84" name="Rectangle 83"/>
              <p:cNvSpPr/>
              <p:nvPr/>
            </p:nvSpPr>
            <p:spPr>
              <a:xfrm>
                <a:off x="6324602" y="2971800"/>
                <a:ext cx="1600201" cy="381000"/>
              </a:xfrm>
              <a:prstGeom prst="rect">
                <a:avLst/>
              </a:prstGeom>
              <a:effectLst/>
            </p:spPr>
            <p:style>
              <a:lnRef idx="1">
                <a:schemeClr val="dk1"/>
              </a:lnRef>
              <a:fillRef idx="2">
                <a:schemeClr val="dk1"/>
              </a:fillRef>
              <a:effectRef idx="1">
                <a:schemeClr val="dk1"/>
              </a:effectRef>
              <a:fontRef idx="minor">
                <a:schemeClr val="dk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600" dirty="0"/>
                  <a:t>Buffer Cache</a:t>
                </a:r>
              </a:p>
            </p:txBody>
          </p:sp>
          <p:grpSp>
            <p:nvGrpSpPr>
              <p:cNvPr id="43021" name="Group 74"/>
              <p:cNvGrpSpPr>
                <a:grpSpLocks/>
              </p:cNvGrpSpPr>
              <p:nvPr/>
            </p:nvGrpSpPr>
            <p:grpSpPr bwMode="auto">
              <a:xfrm>
                <a:off x="7848600" y="2590800"/>
                <a:ext cx="990601" cy="762000"/>
                <a:chOff x="7239000" y="1828800"/>
                <a:chExt cx="990601" cy="762000"/>
              </a:xfrm>
            </p:grpSpPr>
            <p:grpSp>
              <p:nvGrpSpPr>
                <p:cNvPr id="43022" name="Group 67"/>
                <p:cNvGrpSpPr>
                  <a:grpSpLocks/>
                </p:cNvGrpSpPr>
                <p:nvPr/>
              </p:nvGrpSpPr>
              <p:grpSpPr bwMode="auto">
                <a:xfrm>
                  <a:off x="7315201" y="1828800"/>
                  <a:ext cx="914400" cy="762000"/>
                  <a:chOff x="8153401" y="1828800"/>
                  <a:chExt cx="914400" cy="762000"/>
                </a:xfrm>
              </p:grpSpPr>
              <p:sp>
                <p:nvSpPr>
                  <p:cNvPr id="110" name="Rectangle 109"/>
                  <p:cNvSpPr/>
                  <p:nvPr/>
                </p:nvSpPr>
                <p:spPr>
                  <a:xfrm>
                    <a:off x="8153403" y="2209800"/>
                    <a:ext cx="914400" cy="381000"/>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spcBef>
                        <a:spcPts val="0"/>
                      </a:spcBef>
                      <a:spcAft>
                        <a:spcPts val="0"/>
                      </a:spcAft>
                      <a:buFont typeface="Wingdings" pitchFamily="2" charset="2"/>
                      <a:buNone/>
                      <a:defRPr/>
                    </a:pPr>
                    <a:r>
                      <a:rPr lang="en-US" sz="1200" dirty="0"/>
                      <a:t>Informed </a:t>
                    </a:r>
                    <a:r>
                      <a:rPr lang="en-US" sz="1200" dirty="0" err="1"/>
                      <a:t>Prefetcher</a:t>
                    </a:r>
                    <a:endParaRPr lang="en-US" sz="1200" dirty="0"/>
                  </a:p>
                </p:txBody>
              </p:sp>
              <p:cxnSp>
                <p:nvCxnSpPr>
                  <p:cNvPr id="111" name="Straight Arrow Connector 110"/>
                  <p:cNvCxnSpPr/>
                  <p:nvPr/>
                </p:nvCxnSpPr>
                <p:spPr>
                  <a:xfrm rot="5400000">
                    <a:off x="8649497" y="2018506"/>
                    <a:ext cx="381000" cy="1588"/>
                  </a:xfrm>
                  <a:prstGeom prst="straightConnector1">
                    <a:avLst/>
                  </a:prstGeom>
                  <a:ln w="254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grpSp>
            <p:cxnSp>
              <p:nvCxnSpPr>
                <p:cNvPr id="108" name="Straight Arrow Connector 107"/>
                <p:cNvCxnSpPr/>
                <p:nvPr/>
              </p:nvCxnSpPr>
              <p:spPr>
                <a:xfrm rot="5400000">
                  <a:off x="7201697" y="2018506"/>
                  <a:ext cx="381000" cy="1588"/>
                </a:xfrm>
                <a:prstGeom prst="straightConnector1">
                  <a:avLst/>
                </a:prstGeom>
                <a:ln w="254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p:cNvCxnSpPr/>
                <p:nvPr/>
              </p:nvCxnSpPr>
              <p:spPr>
                <a:xfrm rot="10800000">
                  <a:off x="7239003" y="2362200"/>
                  <a:ext cx="228600" cy="1588"/>
                </a:xfrm>
                <a:prstGeom prst="straightConnector1">
                  <a:avLst/>
                </a:prstGeom>
                <a:ln w="254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grpSp>
      <p:sp>
        <p:nvSpPr>
          <p:cNvPr id="42" name="Content Placeholder 2"/>
          <p:cNvSpPr txBox="1">
            <a:spLocks/>
          </p:cNvSpPr>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lstStyle>
            <a:lvl1pPr marL="257175" indent="-257175" algn="l" defTabSz="342900" rtl="0" eaLnBrk="0" fontAlgn="base" hangingPunct="0">
              <a:spcBef>
                <a:spcPts val="600"/>
              </a:spcBef>
              <a:spcAft>
                <a:spcPct val="0"/>
              </a:spcAft>
              <a:buClr>
                <a:srgbClr val="000000"/>
              </a:buClr>
              <a:buSzPct val="100000"/>
              <a:buFont typeface="Times New Roman" panose="02020603050405020304" pitchFamily="16" charset="0"/>
              <a:defRPr sz="2400">
                <a:solidFill>
                  <a:srgbClr val="000000"/>
                </a:solidFill>
                <a:latin typeface="+mn-lt"/>
                <a:ea typeface="+mn-ea"/>
                <a:cs typeface="+mn-cs"/>
              </a:defRPr>
            </a:lvl1pPr>
            <a:lvl2pPr marL="557530" indent="-214630" algn="l" defTabSz="342900" rtl="0" eaLnBrk="0" fontAlgn="base" hangingPunct="0">
              <a:spcBef>
                <a:spcPts val="525"/>
              </a:spcBef>
              <a:spcAft>
                <a:spcPct val="0"/>
              </a:spcAft>
              <a:buClr>
                <a:srgbClr val="000000"/>
              </a:buClr>
              <a:buSzPct val="100000"/>
              <a:buFont typeface="Times New Roman" panose="02020603050405020304" pitchFamily="16" charset="0"/>
              <a:defRPr sz="2100">
                <a:solidFill>
                  <a:srgbClr val="000000"/>
                </a:solidFill>
                <a:latin typeface="+mn-lt"/>
                <a:ea typeface="+mn-ea"/>
              </a:defRPr>
            </a:lvl2pPr>
            <a:lvl3pPr marL="857250" indent="-171450" algn="l" defTabSz="342900" rtl="0" eaLnBrk="0" fontAlgn="base" hangingPunct="0">
              <a:spcBef>
                <a:spcPts val="450"/>
              </a:spcBef>
              <a:spcAft>
                <a:spcPct val="0"/>
              </a:spcAft>
              <a:buClr>
                <a:srgbClr val="000000"/>
              </a:buClr>
              <a:buSzPct val="100000"/>
              <a:buFont typeface="Times New Roman" panose="02020603050405020304" pitchFamily="16" charset="0"/>
              <a:defRPr sz="1800">
                <a:solidFill>
                  <a:srgbClr val="000000"/>
                </a:solidFill>
                <a:latin typeface="+mn-lt"/>
                <a:ea typeface="+mn-ea"/>
              </a:defRPr>
            </a:lvl3pPr>
            <a:lvl4pPr marL="1200150" indent="-171450" algn="l" defTabSz="342900" rtl="0" eaLnBrk="0" fontAlgn="base" hangingPunct="0">
              <a:spcBef>
                <a:spcPts val="375"/>
              </a:spcBef>
              <a:spcAft>
                <a:spcPct val="0"/>
              </a:spcAft>
              <a:buClr>
                <a:srgbClr val="000000"/>
              </a:buClr>
              <a:buSzPct val="100000"/>
              <a:buFont typeface="Times New Roman" panose="02020603050405020304" pitchFamily="16" charset="0"/>
              <a:defRPr sz="1500">
                <a:solidFill>
                  <a:srgbClr val="000000"/>
                </a:solidFill>
                <a:latin typeface="+mn-lt"/>
                <a:ea typeface="+mn-ea"/>
              </a:defRPr>
            </a:lvl4pPr>
            <a:lvl5pPr marL="1543050" indent="-171450" algn="l" defTabSz="342900" rtl="0" eaLnBrk="0" fontAlgn="base" hangingPunct="0">
              <a:spcBef>
                <a:spcPts val="375"/>
              </a:spcBef>
              <a:spcAft>
                <a:spcPct val="0"/>
              </a:spcAft>
              <a:buClr>
                <a:srgbClr val="000000"/>
              </a:buClr>
              <a:buSzPct val="100000"/>
              <a:buFont typeface="Times New Roman" panose="02020603050405020304" pitchFamily="16" charset="0"/>
              <a:defRPr sz="1500">
                <a:solidFill>
                  <a:srgbClr val="000000"/>
                </a:solidFill>
                <a:latin typeface="+mn-lt"/>
                <a:ea typeface="+mn-ea"/>
              </a:defRPr>
            </a:lvl5pPr>
            <a:lvl6pPr marL="1885950" indent="-171450" algn="l" defTabSz="342900" rtl="0" eaLnBrk="0" fontAlgn="base" hangingPunct="0">
              <a:spcBef>
                <a:spcPts val="375"/>
              </a:spcBef>
              <a:spcAft>
                <a:spcPct val="0"/>
              </a:spcAft>
              <a:buClr>
                <a:srgbClr val="000000"/>
              </a:buClr>
              <a:buSzPct val="100000"/>
              <a:buFont typeface="Times New Roman" panose="02020603050405020304" pitchFamily="16" charset="0"/>
              <a:defRPr sz="1500">
                <a:solidFill>
                  <a:srgbClr val="000000"/>
                </a:solidFill>
                <a:latin typeface="+mn-lt"/>
                <a:ea typeface="+mn-ea"/>
              </a:defRPr>
            </a:lvl6pPr>
            <a:lvl7pPr marL="2228850" indent="-171450" algn="l" defTabSz="342900" rtl="0" eaLnBrk="0" fontAlgn="base" hangingPunct="0">
              <a:spcBef>
                <a:spcPts val="375"/>
              </a:spcBef>
              <a:spcAft>
                <a:spcPct val="0"/>
              </a:spcAft>
              <a:buClr>
                <a:srgbClr val="000000"/>
              </a:buClr>
              <a:buSzPct val="100000"/>
              <a:buFont typeface="Times New Roman" panose="02020603050405020304" pitchFamily="16" charset="0"/>
              <a:defRPr sz="1500">
                <a:solidFill>
                  <a:srgbClr val="000000"/>
                </a:solidFill>
                <a:latin typeface="+mn-lt"/>
                <a:ea typeface="+mn-ea"/>
              </a:defRPr>
            </a:lvl7pPr>
            <a:lvl8pPr marL="2571750" indent="-171450" algn="l" defTabSz="342900" rtl="0" eaLnBrk="0" fontAlgn="base" hangingPunct="0">
              <a:spcBef>
                <a:spcPts val="375"/>
              </a:spcBef>
              <a:spcAft>
                <a:spcPct val="0"/>
              </a:spcAft>
              <a:buClr>
                <a:srgbClr val="000000"/>
              </a:buClr>
              <a:buSzPct val="100000"/>
              <a:buFont typeface="Times New Roman" panose="02020603050405020304" pitchFamily="16" charset="0"/>
              <a:defRPr sz="1500">
                <a:solidFill>
                  <a:srgbClr val="000000"/>
                </a:solidFill>
                <a:latin typeface="+mn-lt"/>
                <a:ea typeface="+mn-ea"/>
              </a:defRPr>
            </a:lvl8pPr>
            <a:lvl9pPr marL="2914650" indent="-171450" algn="l" defTabSz="342900" rtl="0" eaLnBrk="0" fontAlgn="base" hangingPunct="0">
              <a:spcBef>
                <a:spcPts val="375"/>
              </a:spcBef>
              <a:spcAft>
                <a:spcPct val="0"/>
              </a:spcAft>
              <a:buClr>
                <a:srgbClr val="000000"/>
              </a:buClr>
              <a:buSzPct val="100000"/>
              <a:buFont typeface="Times New Roman" panose="02020603050405020304" pitchFamily="16" charset="0"/>
              <a:defRPr sz="1500">
                <a:solidFill>
                  <a:srgbClr val="000000"/>
                </a:solidFill>
                <a:latin typeface="+mn-lt"/>
                <a:ea typeface="+mn-ea"/>
              </a:defRPr>
            </a:lvl9pPr>
          </a:lstStyle>
          <a:p>
            <a:pPr eaLnBrk="1" hangingPunct="1"/>
            <a:r>
              <a:rPr lang="en-US" altLang="en-US" sz="2800" kern="0" dirty="0" smtClean="0">
                <a:solidFill>
                  <a:srgbClr val="A6A6A6"/>
                </a:solidFill>
              </a:rPr>
              <a:t>Introduction</a:t>
            </a:r>
          </a:p>
          <a:p>
            <a:pPr eaLnBrk="1" hangingPunct="1"/>
            <a:r>
              <a:rPr lang="en-US" altLang="en-US" sz="2800" kern="0" dirty="0" smtClean="0"/>
              <a:t>Sketching SSD internals</a:t>
            </a:r>
          </a:p>
          <a:p>
            <a:pPr eaLnBrk="1" hangingPunct="1"/>
            <a:r>
              <a:rPr lang="en-US" altLang="en-US" sz="2800" kern="0" dirty="0" err="1" smtClean="0">
                <a:solidFill>
                  <a:srgbClr val="A6A6A6"/>
                </a:solidFill>
              </a:rPr>
              <a:t>Hystor</a:t>
            </a:r>
            <a:r>
              <a:rPr lang="en-US" altLang="en-US" sz="2800" kern="0" dirty="0" smtClean="0">
                <a:solidFill>
                  <a:srgbClr val="A6A6A6"/>
                </a:solidFill>
              </a:rPr>
              <a:t>: A hybrid storage system</a:t>
            </a:r>
          </a:p>
          <a:p>
            <a:pPr eaLnBrk="1" hangingPunct="1"/>
            <a:r>
              <a:rPr lang="en-US" altLang="en-US" sz="2800" kern="0" dirty="0" smtClean="0">
                <a:solidFill>
                  <a:srgbClr val="A6A6A6"/>
                </a:solidFill>
              </a:rPr>
              <a:t>Exploiting Internal Parallelism</a:t>
            </a:r>
          </a:p>
          <a:p>
            <a:pPr eaLnBrk="1" hangingPunct="1"/>
            <a:r>
              <a:rPr lang="en-US" altLang="en-US" sz="2800" kern="0" dirty="0" smtClean="0">
                <a:solidFill>
                  <a:srgbClr val="A6A6A6"/>
                </a:solidFill>
              </a:rPr>
              <a:t>Conclusion</a:t>
            </a:r>
          </a:p>
          <a:p>
            <a:pPr eaLnBrk="1" hangingPunct="1"/>
            <a:r>
              <a:rPr lang="en-US" altLang="en-US" sz="2800" kern="0" dirty="0" smtClean="0">
                <a:solidFill>
                  <a:srgbClr val="A6A6A6"/>
                </a:solidFill>
              </a:rPr>
              <a:t>Future Work</a:t>
            </a:r>
          </a:p>
          <a:p>
            <a:pPr eaLnBrk="1" hangingPunct="1"/>
            <a:endParaRPr lang="en-US" altLang="en-US" sz="2800" kern="0" dirty="0" smtClean="0"/>
          </a:p>
        </p:txBody>
      </p:sp>
    </p:spTree>
    <p:extLst>
      <p:ext uri="{BB962C8B-B14F-4D97-AF65-F5344CB8AC3E}">
        <p14:creationId xmlns:p14="http://schemas.microsoft.com/office/powerpoint/2010/main" val="881522397"/>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pPr eaLnBrk="1" hangingPunct="1"/>
            <a:r>
              <a:rPr lang="en-US" altLang="en-US" smtClean="0"/>
              <a:t>Physical data layout in HDD</a:t>
            </a:r>
          </a:p>
        </p:txBody>
      </p:sp>
      <p:sp>
        <p:nvSpPr>
          <p:cNvPr id="3" name="Content Placeholder 2"/>
          <p:cNvSpPr>
            <a:spLocks noGrp="1"/>
          </p:cNvSpPr>
          <p:nvPr>
            <p:ph idx="1"/>
          </p:nvPr>
        </p:nvSpPr>
        <p:spPr>
          <a:xfrm>
            <a:off x="5486400" y="1828800"/>
            <a:ext cx="3581400" cy="4525963"/>
          </a:xfrm>
        </p:spPr>
        <p:txBody>
          <a:bodyPr/>
          <a:lstStyle/>
          <a:p>
            <a:pPr marL="342900" indent="-342900" eaLnBrk="1" hangingPunct="1">
              <a:lnSpc>
                <a:spcPct val="90000"/>
              </a:lnSpc>
              <a:buFont typeface="Arial" panose="020B0604020202020204" pitchFamily="34" charset="0"/>
              <a:buChar char="•"/>
            </a:pPr>
            <a:r>
              <a:rPr lang="en-US" altLang="en-US" sz="2400" dirty="0" smtClean="0"/>
              <a:t>Data are stored on the surfaces of disk platters</a:t>
            </a:r>
          </a:p>
          <a:p>
            <a:pPr marL="342900" indent="-342900" eaLnBrk="1" hangingPunct="1">
              <a:lnSpc>
                <a:spcPct val="90000"/>
              </a:lnSpc>
              <a:buFont typeface="Arial" panose="020B0604020202020204" pitchFamily="34" charset="0"/>
              <a:buChar char="•"/>
            </a:pPr>
            <a:endParaRPr lang="en-US" altLang="en-US" sz="2400" dirty="0" smtClean="0"/>
          </a:p>
          <a:p>
            <a:pPr marL="342900" indent="-342900" eaLnBrk="1" hangingPunct="1">
              <a:lnSpc>
                <a:spcPct val="90000"/>
              </a:lnSpc>
              <a:buFont typeface="Arial" panose="020B0604020202020204" pitchFamily="34" charset="0"/>
              <a:buChar char="•"/>
            </a:pPr>
            <a:r>
              <a:rPr lang="en-US" altLang="en-US" sz="2400" dirty="0" smtClean="0"/>
              <a:t>An array of </a:t>
            </a:r>
            <a:r>
              <a:rPr lang="en-US" altLang="en-US" sz="2400" b="1" dirty="0" smtClean="0">
                <a:solidFill>
                  <a:srgbClr val="C00000"/>
                </a:solidFill>
              </a:rPr>
              <a:t>logical block addresses</a:t>
            </a:r>
            <a:r>
              <a:rPr lang="en-US" altLang="en-US" sz="2400" b="1" dirty="0" smtClean="0"/>
              <a:t> </a:t>
            </a:r>
            <a:r>
              <a:rPr lang="en-US" altLang="en-US" sz="2400" dirty="0" smtClean="0"/>
              <a:t>(LBAs) as a logical interface</a:t>
            </a:r>
          </a:p>
          <a:p>
            <a:pPr marL="342900" indent="-342900" eaLnBrk="1" hangingPunct="1">
              <a:lnSpc>
                <a:spcPct val="90000"/>
              </a:lnSpc>
              <a:buFont typeface="Arial" panose="020B0604020202020204" pitchFamily="34" charset="0"/>
              <a:buChar char="•"/>
            </a:pPr>
            <a:endParaRPr lang="en-US" altLang="en-US" sz="2400" dirty="0" smtClean="0"/>
          </a:p>
          <a:p>
            <a:pPr marL="342900" indent="-342900" eaLnBrk="1" hangingPunct="1">
              <a:lnSpc>
                <a:spcPct val="90000"/>
              </a:lnSpc>
              <a:buFont typeface="Arial" panose="020B0604020202020204" pitchFamily="34" charset="0"/>
              <a:buChar char="•"/>
            </a:pPr>
            <a:r>
              <a:rPr lang="en-US" altLang="en-US" sz="2400" dirty="0" smtClean="0"/>
              <a:t>LBAs are </a:t>
            </a:r>
            <a:r>
              <a:rPr lang="en-US" altLang="en-US" sz="2400" b="1" dirty="0" smtClean="0">
                <a:solidFill>
                  <a:srgbClr val="002060"/>
                </a:solidFill>
              </a:rPr>
              <a:t>statically</a:t>
            </a:r>
            <a:r>
              <a:rPr lang="en-US" altLang="en-US" sz="2400" dirty="0" smtClean="0"/>
              <a:t> mapped to physical block addresses (PBAs) in an almost </a:t>
            </a:r>
            <a:r>
              <a:rPr lang="en-US" altLang="en-US" sz="2400" dirty="0" err="1" smtClean="0"/>
              <a:t>consistant</a:t>
            </a:r>
            <a:r>
              <a:rPr lang="en-US" altLang="en-US" sz="2400" dirty="0" smtClean="0"/>
              <a:t> way</a:t>
            </a:r>
          </a:p>
          <a:p>
            <a:pPr eaLnBrk="1" hangingPunct="1">
              <a:lnSpc>
                <a:spcPct val="90000"/>
              </a:lnSpc>
            </a:pPr>
            <a:endParaRPr lang="en-US" altLang="en-US" sz="2400" dirty="0" smtClean="0"/>
          </a:p>
        </p:txBody>
      </p:sp>
      <p:sp>
        <p:nvSpPr>
          <p:cNvPr id="44036" name="Slide Number Placeholder 3"/>
          <p:cNvSpPr>
            <a:spLocks noGrp="1"/>
          </p:cNvSpPr>
          <p:nvPr>
            <p:ph type="sldNum" sz="quarter" idx="4294967295"/>
          </p:nvPr>
        </p:nvSpPr>
        <p:spPr bwMode="auto">
          <a:xfrm>
            <a:off x="7010400" y="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 typeface="Wingdings" panose="05000000000000000000" pitchFamily="2" charset="2"/>
              <a:buNone/>
            </a:pPr>
            <a:fld id="{6705D2F3-5AE6-45F5-96FF-D05154330184}" type="slidenum">
              <a:rPr lang="zh-CN" altLang="en-US" sz="1200">
                <a:solidFill>
                  <a:srgbClr val="898989"/>
                </a:solidFill>
                <a:latin typeface="Verdana" panose="020B0604030504040204" pitchFamily="34" charset="0"/>
              </a:rPr>
              <a:pPr>
                <a:spcBef>
                  <a:spcPct val="50000"/>
                </a:spcBef>
                <a:buFont typeface="Wingdings" panose="05000000000000000000" pitchFamily="2" charset="2"/>
                <a:buNone/>
              </a:pPr>
              <a:t>85</a:t>
            </a:fld>
            <a:endParaRPr lang="zh-CN" altLang="en-US" sz="1200">
              <a:solidFill>
                <a:srgbClr val="898989"/>
              </a:solidFill>
              <a:latin typeface="Verdana" panose="020B0604030504040204" pitchFamily="34" charset="0"/>
            </a:endParaRPr>
          </a:p>
        </p:txBody>
      </p:sp>
      <p:pic>
        <p:nvPicPr>
          <p:cNvPr id="205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2667000"/>
            <a:ext cx="3167063"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Straight Connector 8"/>
          <p:cNvCxnSpPr/>
          <p:nvPr/>
        </p:nvCxnSpPr>
        <p:spPr>
          <a:xfrm rot="5400000">
            <a:off x="-495300" y="3619500"/>
            <a:ext cx="4800600" cy="0"/>
          </a:xfrm>
          <a:prstGeom prst="line">
            <a:avLst/>
          </a:prstGeom>
          <a:ln w="50800">
            <a:solidFill>
              <a:srgbClr val="C00000"/>
            </a:solidFill>
            <a:prstDash val="sysDash"/>
          </a:ln>
        </p:spPr>
        <p:style>
          <a:lnRef idx="1">
            <a:schemeClr val="accent1"/>
          </a:lnRef>
          <a:fillRef idx="0">
            <a:schemeClr val="accent1"/>
          </a:fillRef>
          <a:effectRef idx="0">
            <a:schemeClr val="accent1"/>
          </a:effectRef>
          <a:fontRef idx="minor">
            <a:schemeClr val="tx1"/>
          </a:fontRef>
        </p:style>
      </p:cxnSp>
      <p:grpSp>
        <p:nvGrpSpPr>
          <p:cNvPr id="2" name="Group 30"/>
          <p:cNvGrpSpPr>
            <a:grpSpLocks/>
          </p:cNvGrpSpPr>
          <p:nvPr/>
        </p:nvGrpSpPr>
        <p:grpSpPr bwMode="auto">
          <a:xfrm>
            <a:off x="0" y="1371600"/>
            <a:ext cx="1820863" cy="4776788"/>
            <a:chOff x="0" y="1371600"/>
            <a:chExt cx="1821391" cy="4777430"/>
          </a:xfrm>
        </p:grpSpPr>
        <p:pic>
          <p:nvPicPr>
            <p:cNvPr id="440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352800"/>
              <a:ext cx="1040019"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44" name="Rectangle 26"/>
            <p:cNvSpPr>
              <a:spLocks noChangeArrowheads="1"/>
            </p:cNvSpPr>
            <p:nvPr/>
          </p:nvSpPr>
          <p:spPr bwMode="auto">
            <a:xfrm>
              <a:off x="228600" y="4572000"/>
              <a:ext cx="6511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50000"/>
                </a:spcBef>
                <a:spcAft>
                  <a:spcPct val="20000"/>
                </a:spcAft>
                <a:buFont typeface="Wingdings" panose="05000000000000000000" pitchFamily="2" charset="2"/>
                <a:buNone/>
              </a:pPr>
              <a:r>
                <a:rPr lang="en-US" altLang="en-US" sz="1600">
                  <a:solidFill>
                    <a:srgbClr val="010000"/>
                  </a:solidFill>
                  <a:latin typeface="Verdana" panose="020B0604030504040204" pitchFamily="34" charset="0"/>
                </a:rPr>
                <a:t>Host</a:t>
              </a:r>
            </a:p>
          </p:txBody>
        </p:sp>
        <p:grpSp>
          <p:nvGrpSpPr>
            <p:cNvPr id="44045" name="Group 9"/>
            <p:cNvGrpSpPr>
              <a:grpSpLocks/>
            </p:cNvGrpSpPr>
            <p:nvPr/>
          </p:nvGrpSpPr>
          <p:grpSpPr bwMode="auto">
            <a:xfrm>
              <a:off x="1143000" y="1371600"/>
              <a:ext cx="678391" cy="4777430"/>
              <a:chOff x="602191" y="1524000"/>
              <a:chExt cx="678391" cy="4777430"/>
            </a:xfrm>
          </p:grpSpPr>
          <p:sp>
            <p:nvSpPr>
              <p:cNvPr id="44046" name="Rectangle 10"/>
              <p:cNvSpPr>
                <a:spLocks noChangeArrowheads="1"/>
              </p:cNvSpPr>
              <p:nvPr/>
            </p:nvSpPr>
            <p:spPr bwMode="auto">
              <a:xfrm>
                <a:off x="602191" y="5867400"/>
                <a:ext cx="678391" cy="43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50000"/>
                  </a:spcBef>
                  <a:spcAft>
                    <a:spcPct val="20000"/>
                  </a:spcAft>
                  <a:buFont typeface="Wingdings" panose="05000000000000000000" pitchFamily="2" charset="2"/>
                  <a:buNone/>
                </a:pPr>
                <a:r>
                  <a:rPr lang="en-US" altLang="en-US" sz="2000">
                    <a:solidFill>
                      <a:srgbClr val="010000"/>
                    </a:solidFill>
                    <a:latin typeface="Verdana" panose="020B0604030504040204" pitchFamily="34" charset="0"/>
                  </a:rPr>
                  <a:t>LBA</a:t>
                </a:r>
              </a:p>
            </p:txBody>
          </p:sp>
          <p:grpSp>
            <p:nvGrpSpPr>
              <p:cNvPr id="44047" name="Group 34"/>
              <p:cNvGrpSpPr>
                <a:grpSpLocks/>
              </p:cNvGrpSpPr>
              <p:nvPr/>
            </p:nvGrpSpPr>
            <p:grpSpPr bwMode="auto">
              <a:xfrm>
                <a:off x="685800" y="1524000"/>
                <a:ext cx="533400" cy="4267200"/>
                <a:chOff x="685800" y="1752600"/>
                <a:chExt cx="533400" cy="4267200"/>
              </a:xfrm>
            </p:grpSpPr>
            <p:grpSp>
              <p:nvGrpSpPr>
                <p:cNvPr id="44048" name="Group 26"/>
                <p:cNvGrpSpPr>
                  <a:grpSpLocks/>
                </p:cNvGrpSpPr>
                <p:nvPr/>
              </p:nvGrpSpPr>
              <p:grpSpPr bwMode="auto">
                <a:xfrm>
                  <a:off x="685800" y="1752600"/>
                  <a:ext cx="533400" cy="3657600"/>
                  <a:chOff x="685800" y="1752600"/>
                  <a:chExt cx="533400" cy="3657600"/>
                </a:xfrm>
              </p:grpSpPr>
              <p:sp>
                <p:nvSpPr>
                  <p:cNvPr id="17" name="Rectangle 16"/>
                  <p:cNvSpPr/>
                  <p:nvPr/>
                </p:nvSpPr>
                <p:spPr>
                  <a:xfrm>
                    <a:off x="710503" y="1752600"/>
                    <a:ext cx="508148" cy="60968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a:solidFill>
                          <a:schemeClr val="tx1"/>
                        </a:solidFill>
                        <a:ea typeface="仿宋_GB2312"/>
                        <a:cs typeface="仿宋_GB2312"/>
                      </a:rPr>
                      <a:t>0</a:t>
                    </a:r>
                  </a:p>
                </p:txBody>
              </p:sp>
              <p:sp>
                <p:nvSpPr>
                  <p:cNvPr id="18" name="Rectangle 17"/>
                  <p:cNvSpPr/>
                  <p:nvPr/>
                </p:nvSpPr>
                <p:spPr>
                  <a:xfrm>
                    <a:off x="710503" y="2362282"/>
                    <a:ext cx="508148" cy="60968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a:solidFill>
                          <a:schemeClr val="tx1"/>
                        </a:solidFill>
                        <a:ea typeface="仿宋_GB2312"/>
                        <a:cs typeface="仿宋_GB2312"/>
                      </a:rPr>
                      <a:t>1</a:t>
                    </a:r>
                  </a:p>
                </p:txBody>
              </p:sp>
              <p:sp>
                <p:nvSpPr>
                  <p:cNvPr id="19" name="Rectangle 18"/>
                  <p:cNvSpPr/>
                  <p:nvPr/>
                </p:nvSpPr>
                <p:spPr>
                  <a:xfrm>
                    <a:off x="710503" y="2971964"/>
                    <a:ext cx="508148" cy="60968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a:solidFill>
                          <a:schemeClr val="tx1"/>
                        </a:solidFill>
                        <a:ea typeface="仿宋_GB2312"/>
                        <a:cs typeface="仿宋_GB2312"/>
                      </a:rPr>
                      <a:t>2</a:t>
                    </a:r>
                  </a:p>
                </p:txBody>
              </p:sp>
              <p:sp>
                <p:nvSpPr>
                  <p:cNvPr id="20" name="Rectangle 19"/>
                  <p:cNvSpPr/>
                  <p:nvPr/>
                </p:nvSpPr>
                <p:spPr>
                  <a:xfrm>
                    <a:off x="710503" y="3581646"/>
                    <a:ext cx="508148" cy="60968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a:solidFill>
                          <a:schemeClr val="tx1"/>
                        </a:solidFill>
                        <a:ea typeface="仿宋_GB2312"/>
                        <a:cs typeface="仿宋_GB2312"/>
                      </a:rPr>
                      <a:t>3</a:t>
                    </a:r>
                  </a:p>
                </p:txBody>
              </p:sp>
              <p:sp>
                <p:nvSpPr>
                  <p:cNvPr id="21" name="Rectangle 20"/>
                  <p:cNvSpPr/>
                  <p:nvPr/>
                </p:nvSpPr>
                <p:spPr>
                  <a:xfrm>
                    <a:off x="710503" y="4191327"/>
                    <a:ext cx="508148" cy="60968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a:solidFill>
                          <a:schemeClr val="tx1"/>
                        </a:solidFill>
                        <a:ea typeface="仿宋_GB2312"/>
                        <a:cs typeface="仿宋_GB2312"/>
                      </a:rPr>
                      <a:t>4</a:t>
                    </a:r>
                  </a:p>
                </p:txBody>
              </p:sp>
              <p:sp>
                <p:nvSpPr>
                  <p:cNvPr id="22" name="Rectangle 21"/>
                  <p:cNvSpPr/>
                  <p:nvPr/>
                </p:nvSpPr>
                <p:spPr>
                  <a:xfrm>
                    <a:off x="710503" y="4801009"/>
                    <a:ext cx="508148" cy="60968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a:solidFill>
                          <a:schemeClr val="tx1"/>
                        </a:solidFill>
                        <a:ea typeface="仿宋_GB2312"/>
                        <a:cs typeface="仿宋_GB2312"/>
                      </a:rPr>
                      <a:t>5</a:t>
                    </a:r>
                  </a:p>
                </p:txBody>
              </p:sp>
            </p:grpSp>
            <p:sp>
              <p:nvSpPr>
                <p:cNvPr id="15" name="Rectangle 14"/>
                <p:cNvSpPr/>
                <p:nvPr/>
              </p:nvSpPr>
              <p:spPr>
                <a:xfrm>
                  <a:off x="710503" y="5410691"/>
                  <a:ext cx="508148" cy="60968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a:solidFill>
                        <a:schemeClr val="tx1"/>
                      </a:solidFill>
                      <a:ea typeface="仿宋_GB2312"/>
                      <a:cs typeface="仿宋_GB2312"/>
                    </a:rPr>
                    <a:t>6</a:t>
                  </a:r>
                </a:p>
              </p:txBody>
            </p:sp>
          </p:grpSp>
        </p:grpSp>
      </p:grpSp>
      <p:cxnSp>
        <p:nvCxnSpPr>
          <p:cNvPr id="25" name="Straight Arrow Connector 24"/>
          <p:cNvCxnSpPr/>
          <p:nvPr/>
        </p:nvCxnSpPr>
        <p:spPr>
          <a:xfrm flipV="1">
            <a:off x="1752600" y="3048000"/>
            <a:ext cx="2514600" cy="1143000"/>
          </a:xfrm>
          <a:prstGeom prst="straightConnector1">
            <a:avLst/>
          </a:prstGeom>
          <a:ln w="50800">
            <a:solidFill>
              <a:srgbClr val="C00000"/>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79375" y="6096000"/>
            <a:ext cx="2282825" cy="371475"/>
          </a:xfrm>
          <a:prstGeom prst="rect">
            <a:avLst/>
          </a:prstGeom>
        </p:spPr>
        <p:style>
          <a:lnRef idx="1">
            <a:schemeClr val="dk1"/>
          </a:lnRef>
          <a:fillRef idx="3">
            <a:schemeClr val="dk1"/>
          </a:fillRef>
          <a:effectRef idx="2">
            <a:schemeClr val="dk1"/>
          </a:effectRef>
          <a:fontRef idx="minor">
            <a:schemeClr val="lt1"/>
          </a:fontRef>
        </p:style>
        <p:txBody>
          <a:bodyPr wrap="none">
            <a:spAutoFit/>
          </a:bodyPr>
          <a:lstStyle/>
          <a:p>
            <a:pPr eaLnBrk="1" hangingPunct="1">
              <a:lnSpc>
                <a:spcPct val="125000"/>
              </a:lnSpc>
              <a:spcBef>
                <a:spcPct val="50000"/>
              </a:spcBef>
              <a:spcAft>
                <a:spcPct val="20000"/>
              </a:spcAft>
              <a:buFont typeface="Wingdings" pitchFamily="2" charset="2"/>
              <a:buNone/>
              <a:defRPr/>
            </a:pPr>
            <a:r>
              <a:rPr lang="en-US" sz="1600" b="1" dirty="0">
                <a:latin typeface="Courier" pitchFamily="49" charset="0"/>
              </a:rPr>
              <a:t>Read (LBA, size) </a:t>
            </a:r>
          </a:p>
        </p:txBody>
      </p:sp>
      <p:sp>
        <p:nvSpPr>
          <p:cNvPr id="30" name="Rectangle 29"/>
          <p:cNvSpPr/>
          <p:nvPr/>
        </p:nvSpPr>
        <p:spPr>
          <a:xfrm>
            <a:off x="76200" y="6400800"/>
            <a:ext cx="2282825" cy="400050"/>
          </a:xfrm>
          <a:prstGeom prst="rect">
            <a:avLst/>
          </a:prstGeom>
        </p:spPr>
        <p:style>
          <a:lnRef idx="1">
            <a:schemeClr val="dk1"/>
          </a:lnRef>
          <a:fillRef idx="3">
            <a:schemeClr val="dk1"/>
          </a:fillRef>
          <a:effectRef idx="2">
            <a:schemeClr val="dk1"/>
          </a:effectRef>
          <a:fontRef idx="minor">
            <a:schemeClr val="lt1"/>
          </a:fontRef>
        </p:style>
        <p:txBody>
          <a:bodyPr wrap="none">
            <a:spAutoFit/>
          </a:bodyPr>
          <a:lstStyle/>
          <a:p>
            <a:pPr eaLnBrk="1" hangingPunct="1">
              <a:lnSpc>
                <a:spcPct val="125000"/>
              </a:lnSpc>
              <a:spcBef>
                <a:spcPct val="50000"/>
              </a:spcBef>
              <a:spcAft>
                <a:spcPct val="20000"/>
              </a:spcAft>
              <a:buFont typeface="Wingdings" pitchFamily="2" charset="2"/>
              <a:buNone/>
              <a:defRPr/>
            </a:pPr>
            <a:r>
              <a:rPr lang="en-US" sz="1600" b="1" dirty="0">
                <a:latin typeface="Courier" pitchFamily="49" charset="0"/>
              </a:rPr>
              <a:t>Write(LBA, size) </a:t>
            </a:r>
          </a:p>
        </p:txBody>
      </p:sp>
    </p:spTree>
    <p:extLst>
      <p:ext uri="{BB962C8B-B14F-4D97-AF65-F5344CB8AC3E}">
        <p14:creationId xmlns:p14="http://schemas.microsoft.com/office/powerpoint/2010/main" val="15262267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3"/>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22" presetClass="entr" presetSubtype="1"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up)">
                                      <p:cBhvr>
                                        <p:cTn id="15" dur="500"/>
                                        <p:tgtEl>
                                          <p:spTgt spid="2"/>
                                        </p:tgtEl>
                                      </p:cBhvr>
                                    </p:animEffect>
                                  </p:childTnLst>
                                </p:cTn>
                              </p:par>
                              <p:par>
                                <p:cTn id="16" presetID="22" presetClass="entr" presetSubtype="1"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up)">
                                      <p:cBhvr>
                                        <p:cTn id="18" dur="500"/>
                                        <p:tgtEl>
                                          <p:spTgt spid="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4" fill="hold" nodeType="click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wipe(down)">
                                      <p:cBhvr>
                                        <p:cTn id="3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6" grpId="0" animBg="1"/>
      <p:bldP spid="30"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 name="Group 86"/>
          <p:cNvGrpSpPr>
            <a:grpSpLocks/>
          </p:cNvGrpSpPr>
          <p:nvPr/>
        </p:nvGrpSpPr>
        <p:grpSpPr bwMode="auto">
          <a:xfrm>
            <a:off x="2209800" y="1676400"/>
            <a:ext cx="3657600" cy="4114800"/>
            <a:chOff x="2209800" y="1676400"/>
            <a:chExt cx="3657600" cy="4114800"/>
          </a:xfrm>
        </p:grpSpPr>
        <p:grpSp>
          <p:nvGrpSpPr>
            <p:cNvPr id="45107" name="Group 90"/>
            <p:cNvGrpSpPr>
              <a:grpSpLocks/>
            </p:cNvGrpSpPr>
            <p:nvPr/>
          </p:nvGrpSpPr>
          <p:grpSpPr bwMode="auto">
            <a:xfrm>
              <a:off x="2362200" y="1905000"/>
              <a:ext cx="3352798" cy="3581400"/>
              <a:chOff x="3746629" y="1447800"/>
              <a:chExt cx="4564463" cy="4800600"/>
            </a:xfrm>
          </p:grpSpPr>
          <p:grpSp>
            <p:nvGrpSpPr>
              <p:cNvPr id="45109" name="Group 83"/>
              <p:cNvGrpSpPr>
                <a:grpSpLocks/>
              </p:cNvGrpSpPr>
              <p:nvPr/>
            </p:nvGrpSpPr>
            <p:grpSpPr bwMode="auto">
              <a:xfrm>
                <a:off x="3746629" y="1447800"/>
                <a:ext cx="4564463" cy="4800600"/>
                <a:chOff x="3746629" y="1447800"/>
                <a:chExt cx="4564463" cy="4800600"/>
              </a:xfrm>
            </p:grpSpPr>
            <p:grpSp>
              <p:nvGrpSpPr>
                <p:cNvPr id="45112" name="Group 81"/>
                <p:cNvGrpSpPr>
                  <a:grpSpLocks/>
                </p:cNvGrpSpPr>
                <p:nvPr/>
              </p:nvGrpSpPr>
              <p:grpSpPr bwMode="auto">
                <a:xfrm>
                  <a:off x="4724400" y="1447800"/>
                  <a:ext cx="3586692" cy="4800600"/>
                  <a:chOff x="4191000" y="1676400"/>
                  <a:chExt cx="3586692" cy="4800600"/>
                </a:xfrm>
              </p:grpSpPr>
              <p:grpSp>
                <p:nvGrpSpPr>
                  <p:cNvPr id="45114" name="Group 61"/>
                  <p:cNvGrpSpPr>
                    <a:grpSpLocks/>
                  </p:cNvGrpSpPr>
                  <p:nvPr/>
                </p:nvGrpSpPr>
                <p:grpSpPr bwMode="auto">
                  <a:xfrm>
                    <a:off x="4191000" y="1676400"/>
                    <a:ext cx="3586692" cy="4800600"/>
                    <a:chOff x="1219200" y="1600200"/>
                    <a:chExt cx="3586692" cy="4800600"/>
                  </a:xfrm>
                </p:grpSpPr>
                <p:grpSp>
                  <p:nvGrpSpPr>
                    <p:cNvPr id="45123" name="Group 43"/>
                    <p:cNvGrpSpPr>
                      <a:grpSpLocks/>
                    </p:cNvGrpSpPr>
                    <p:nvPr/>
                  </p:nvGrpSpPr>
                  <p:grpSpPr bwMode="auto">
                    <a:xfrm>
                      <a:off x="1219200" y="1600200"/>
                      <a:ext cx="3586692" cy="4791075"/>
                      <a:chOff x="914400" y="1600200"/>
                      <a:chExt cx="3586692" cy="4791075"/>
                    </a:xfrm>
                  </p:grpSpPr>
                  <p:grpSp>
                    <p:nvGrpSpPr>
                      <p:cNvPr id="45128" name="Group 76"/>
                      <p:cNvGrpSpPr>
                        <a:grpSpLocks/>
                      </p:cNvGrpSpPr>
                      <p:nvPr/>
                    </p:nvGrpSpPr>
                    <p:grpSpPr bwMode="auto">
                      <a:xfrm>
                        <a:off x="2438400" y="5334000"/>
                        <a:ext cx="2062692" cy="1057275"/>
                        <a:chOff x="2438400" y="1600200"/>
                        <a:chExt cx="2062692" cy="1057275"/>
                      </a:xfrm>
                    </p:grpSpPr>
                    <p:pic>
                      <p:nvPicPr>
                        <p:cNvPr id="451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1600200"/>
                          <a:ext cx="1605492"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9" name="Straight Connector 78"/>
                        <p:cNvCxnSpPr/>
                        <p:nvPr/>
                      </p:nvCxnSpPr>
                      <p:spPr>
                        <a:xfrm rot="10800000" flipV="1">
                          <a:off x="2404725" y="2130763"/>
                          <a:ext cx="490594" cy="4256"/>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5129" name="Group 90"/>
                      <p:cNvGrpSpPr>
                        <a:grpSpLocks/>
                      </p:cNvGrpSpPr>
                      <p:nvPr/>
                    </p:nvGrpSpPr>
                    <p:grpSpPr bwMode="auto">
                      <a:xfrm>
                        <a:off x="914400" y="1600200"/>
                        <a:ext cx="3586692" cy="4267200"/>
                        <a:chOff x="914400" y="1600200"/>
                        <a:chExt cx="3586692" cy="4267200"/>
                      </a:xfrm>
                    </p:grpSpPr>
                    <p:grpSp>
                      <p:nvGrpSpPr>
                        <p:cNvPr id="45130" name="Group 82"/>
                        <p:cNvGrpSpPr>
                          <a:grpSpLocks/>
                        </p:cNvGrpSpPr>
                        <p:nvPr/>
                      </p:nvGrpSpPr>
                      <p:grpSpPr bwMode="auto">
                        <a:xfrm>
                          <a:off x="1295400" y="1600200"/>
                          <a:ext cx="3205692" cy="4267200"/>
                          <a:chOff x="1295400" y="1600200"/>
                          <a:chExt cx="3205692" cy="4267200"/>
                        </a:xfrm>
                      </p:grpSpPr>
                      <p:grpSp>
                        <p:nvGrpSpPr>
                          <p:cNvPr id="45132" name="Group 69"/>
                          <p:cNvGrpSpPr>
                            <a:grpSpLocks/>
                          </p:cNvGrpSpPr>
                          <p:nvPr/>
                        </p:nvGrpSpPr>
                        <p:grpSpPr bwMode="auto">
                          <a:xfrm>
                            <a:off x="2438400" y="1600200"/>
                            <a:ext cx="2062692" cy="1057275"/>
                            <a:chOff x="2438400" y="1600200"/>
                            <a:chExt cx="2062692" cy="1057275"/>
                          </a:xfrm>
                        </p:grpSpPr>
                        <p:pic>
                          <p:nvPicPr>
                            <p:cNvPr id="4514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1600200"/>
                              <a:ext cx="1605492"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8" name="Straight Connector 67"/>
                            <p:cNvCxnSpPr/>
                            <p:nvPr/>
                          </p:nvCxnSpPr>
                          <p:spPr>
                            <a:xfrm rot="10800000" flipV="1">
                              <a:off x="2404726" y="2130054"/>
                              <a:ext cx="490594" cy="4256"/>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5133" name="Group 70"/>
                          <p:cNvGrpSpPr>
                            <a:grpSpLocks/>
                          </p:cNvGrpSpPr>
                          <p:nvPr/>
                        </p:nvGrpSpPr>
                        <p:grpSpPr bwMode="auto">
                          <a:xfrm>
                            <a:off x="2438400" y="2819400"/>
                            <a:ext cx="2062692" cy="1057275"/>
                            <a:chOff x="2438400" y="1600200"/>
                            <a:chExt cx="2062692" cy="1057275"/>
                          </a:xfrm>
                        </p:grpSpPr>
                        <p:pic>
                          <p:nvPicPr>
                            <p:cNvPr id="451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1600200"/>
                              <a:ext cx="1605492"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3" name="Straight Connector 72"/>
                            <p:cNvCxnSpPr/>
                            <p:nvPr/>
                          </p:nvCxnSpPr>
                          <p:spPr>
                            <a:xfrm rot="10800000" flipV="1">
                              <a:off x="2404726" y="2130154"/>
                              <a:ext cx="490594" cy="4256"/>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5134" name="Group 73"/>
                          <p:cNvGrpSpPr>
                            <a:grpSpLocks/>
                          </p:cNvGrpSpPr>
                          <p:nvPr/>
                        </p:nvGrpSpPr>
                        <p:grpSpPr bwMode="auto">
                          <a:xfrm>
                            <a:off x="2438400" y="4114800"/>
                            <a:ext cx="2062692" cy="1057275"/>
                            <a:chOff x="2438400" y="1600200"/>
                            <a:chExt cx="2062692" cy="1057275"/>
                          </a:xfrm>
                        </p:grpSpPr>
                        <p:pic>
                          <p:nvPicPr>
                            <p:cNvPr id="4513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95600" y="1600200"/>
                              <a:ext cx="1605492"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6" name="Straight Connector 75"/>
                            <p:cNvCxnSpPr/>
                            <p:nvPr/>
                          </p:nvCxnSpPr>
                          <p:spPr>
                            <a:xfrm rot="10800000" flipV="1">
                              <a:off x="2404726" y="2130661"/>
                              <a:ext cx="490594" cy="4256"/>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1" name="Straight Connector 80"/>
                          <p:cNvCxnSpPr/>
                          <p:nvPr/>
                        </p:nvCxnSpPr>
                        <p:spPr>
                          <a:xfrm rot="5400000">
                            <a:off x="-621766" y="4017524"/>
                            <a:ext cx="3766428"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8" name="Straight Arrow Connector 87"/>
                        <p:cNvCxnSpPr/>
                        <p:nvPr/>
                      </p:nvCxnSpPr>
                      <p:spPr>
                        <a:xfrm rot="10800000">
                          <a:off x="913493" y="4038802"/>
                          <a:ext cx="382534" cy="2129"/>
                        </a:xfrm>
                        <a:prstGeom prst="straightConnector1">
                          <a:avLst/>
                        </a:prstGeom>
                        <a:ln w="635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grpSp>
                <p:sp>
                  <p:nvSpPr>
                    <p:cNvPr id="58" name="Rectangle 57"/>
                    <p:cNvSpPr/>
                    <p:nvPr/>
                  </p:nvSpPr>
                  <p:spPr>
                    <a:xfrm>
                      <a:off x="3200120" y="1600200"/>
                      <a:ext cx="1601453" cy="1066091"/>
                    </a:xfrm>
                    <a:prstGeom prst="rect">
                      <a:avLst/>
                    </a:prstGeom>
                    <a:no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Char char="Ø"/>
                        <a:defRPr/>
                      </a:pPr>
                      <a:endParaRPr lang="en-US" altLang="en-US" smtClean="0">
                        <a:solidFill>
                          <a:srgbClr val="FFFFFF"/>
                        </a:solidFill>
                        <a:latin typeface="Calibri" pitchFamily="34" charset="0"/>
                      </a:endParaRPr>
                    </a:p>
                  </p:txBody>
                </p:sp>
                <p:sp>
                  <p:nvSpPr>
                    <p:cNvPr id="59" name="Rectangle 58"/>
                    <p:cNvSpPr/>
                    <p:nvPr/>
                  </p:nvSpPr>
                  <p:spPr>
                    <a:xfrm>
                      <a:off x="3200120" y="2819502"/>
                      <a:ext cx="1601453" cy="1066090"/>
                    </a:xfrm>
                    <a:prstGeom prst="rect">
                      <a:avLst/>
                    </a:prstGeom>
                    <a:noFill/>
                    <a:ln w="635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Char char="Ø"/>
                        <a:defRPr/>
                      </a:pPr>
                      <a:endParaRPr lang="en-US" altLang="en-US" smtClean="0">
                        <a:solidFill>
                          <a:srgbClr val="FFFFFF"/>
                        </a:solidFill>
                        <a:latin typeface="Calibri" pitchFamily="34" charset="0"/>
                      </a:endParaRPr>
                    </a:p>
                  </p:txBody>
                </p:sp>
                <p:sp>
                  <p:nvSpPr>
                    <p:cNvPr id="60" name="Rectangle 59"/>
                    <p:cNvSpPr/>
                    <p:nvPr/>
                  </p:nvSpPr>
                  <p:spPr>
                    <a:xfrm>
                      <a:off x="3200120" y="4115408"/>
                      <a:ext cx="1601453" cy="1066091"/>
                    </a:xfrm>
                    <a:prstGeom prst="rect">
                      <a:avLst/>
                    </a:prstGeom>
                    <a:noFill/>
                    <a:ln w="635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Char char="Ø"/>
                        <a:defRPr/>
                      </a:pPr>
                      <a:endParaRPr lang="en-US" altLang="en-US" smtClean="0">
                        <a:solidFill>
                          <a:srgbClr val="FFFFFF"/>
                        </a:solidFill>
                        <a:latin typeface="Calibri" pitchFamily="34" charset="0"/>
                      </a:endParaRPr>
                    </a:p>
                  </p:txBody>
                </p:sp>
                <p:sp>
                  <p:nvSpPr>
                    <p:cNvPr id="61" name="Rectangle 60"/>
                    <p:cNvSpPr/>
                    <p:nvPr/>
                  </p:nvSpPr>
                  <p:spPr>
                    <a:xfrm>
                      <a:off x="3200120" y="5334710"/>
                      <a:ext cx="1601453" cy="1066090"/>
                    </a:xfrm>
                    <a:prstGeom prst="rect">
                      <a:avLst/>
                    </a:prstGeom>
                    <a:noFill/>
                    <a:ln w="6350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Char char="Ø"/>
                        <a:defRPr/>
                      </a:pPr>
                      <a:endParaRPr lang="en-US" altLang="en-US" smtClean="0">
                        <a:solidFill>
                          <a:srgbClr val="FFFFFF"/>
                        </a:solidFill>
                        <a:latin typeface="Calibri" pitchFamily="34" charset="0"/>
                      </a:endParaRPr>
                    </a:p>
                  </p:txBody>
                </p:sp>
              </p:grpSp>
              <p:sp>
                <p:nvSpPr>
                  <p:cNvPr id="66" name="Rectangle 65"/>
                  <p:cNvSpPr/>
                  <p:nvPr/>
                </p:nvSpPr>
                <p:spPr>
                  <a:xfrm>
                    <a:off x="5028641" y="1980694"/>
                    <a:ext cx="685103" cy="457503"/>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400" b="1" dirty="0">
                        <a:solidFill>
                          <a:schemeClr val="tx1"/>
                        </a:solidFill>
                      </a:rPr>
                      <a:t>ECC</a:t>
                    </a:r>
                  </a:p>
                </p:txBody>
              </p:sp>
              <p:sp>
                <p:nvSpPr>
                  <p:cNvPr id="67" name="Rectangle 66"/>
                  <p:cNvSpPr/>
                  <p:nvPr/>
                </p:nvSpPr>
                <p:spPr>
                  <a:xfrm>
                    <a:off x="5028641" y="3199995"/>
                    <a:ext cx="685103" cy="457505"/>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400" b="1" dirty="0">
                        <a:solidFill>
                          <a:schemeClr val="tx1"/>
                        </a:solidFill>
                      </a:rPr>
                      <a:t>ECC</a:t>
                    </a:r>
                  </a:p>
                </p:txBody>
              </p:sp>
              <p:sp>
                <p:nvSpPr>
                  <p:cNvPr id="69" name="Rectangle 68"/>
                  <p:cNvSpPr/>
                  <p:nvPr/>
                </p:nvSpPr>
                <p:spPr>
                  <a:xfrm>
                    <a:off x="5028641" y="4495902"/>
                    <a:ext cx="685103" cy="457503"/>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400" b="1" dirty="0">
                        <a:solidFill>
                          <a:schemeClr val="tx1"/>
                        </a:solidFill>
                      </a:rPr>
                      <a:t>ECC</a:t>
                    </a:r>
                  </a:p>
                </p:txBody>
              </p:sp>
              <p:sp>
                <p:nvSpPr>
                  <p:cNvPr id="70" name="Rectangle 69"/>
                  <p:cNvSpPr/>
                  <p:nvPr/>
                </p:nvSpPr>
                <p:spPr>
                  <a:xfrm>
                    <a:off x="5028641" y="5715203"/>
                    <a:ext cx="685103" cy="457505"/>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400" b="1" dirty="0">
                        <a:solidFill>
                          <a:schemeClr val="tx1"/>
                        </a:solidFill>
                      </a:rPr>
                      <a:t>ECC</a:t>
                    </a:r>
                  </a:p>
                </p:txBody>
              </p:sp>
              <p:cxnSp>
                <p:nvCxnSpPr>
                  <p:cNvPr id="71" name="Straight Connector 70"/>
                  <p:cNvCxnSpPr/>
                  <p:nvPr/>
                </p:nvCxnSpPr>
                <p:spPr>
                  <a:xfrm rot="10800000" flipV="1">
                    <a:off x="4570466" y="2210510"/>
                    <a:ext cx="458176" cy="4256"/>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rot="10800000" flipV="1">
                    <a:off x="4570466" y="3429811"/>
                    <a:ext cx="458176" cy="4256"/>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rot="10800000" flipV="1">
                    <a:off x="4570466" y="4719334"/>
                    <a:ext cx="458176" cy="4256"/>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rot="10800000" flipV="1">
                    <a:off x="4570466" y="5942891"/>
                    <a:ext cx="458176" cy="6383"/>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3" name="Rectangle 82"/>
                <p:cNvSpPr/>
                <p:nvPr/>
              </p:nvSpPr>
              <p:spPr>
                <a:xfrm>
                  <a:off x="3746629" y="3184187"/>
                  <a:ext cx="976865" cy="2553511"/>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400" b="1" dirty="0">
                      <a:solidFill>
                        <a:schemeClr val="tx1"/>
                      </a:solidFill>
                    </a:rPr>
                    <a:t>Controller</a:t>
                  </a:r>
                </a:p>
              </p:txBody>
            </p:sp>
          </p:grpSp>
          <p:cxnSp>
            <p:nvCxnSpPr>
              <p:cNvPr id="85" name="Straight Arrow Connector 84"/>
              <p:cNvCxnSpPr/>
              <p:nvPr/>
            </p:nvCxnSpPr>
            <p:spPr>
              <a:xfrm rot="16200000" flipV="1">
                <a:off x="3654236" y="2670127"/>
                <a:ext cx="1036300" cy="21612"/>
              </a:xfrm>
              <a:prstGeom prst="straightConnector1">
                <a:avLst/>
              </a:prstGeom>
              <a:ln w="63500">
                <a:solidFill>
                  <a:schemeClr val="tx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90" name="Rectangle 89"/>
              <p:cNvSpPr/>
              <p:nvPr/>
            </p:nvSpPr>
            <p:spPr>
              <a:xfrm>
                <a:off x="3746629" y="1754221"/>
                <a:ext cx="914191" cy="457505"/>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800" b="1" dirty="0">
                    <a:solidFill>
                      <a:schemeClr val="tx1"/>
                    </a:solidFill>
                  </a:rPr>
                  <a:t>RAM </a:t>
                </a:r>
              </a:p>
            </p:txBody>
          </p:sp>
        </p:grpSp>
        <p:sp>
          <p:nvSpPr>
            <p:cNvPr id="82" name="Rectangle 81"/>
            <p:cNvSpPr/>
            <p:nvPr/>
          </p:nvSpPr>
          <p:spPr>
            <a:xfrm>
              <a:off x="2209800" y="1676400"/>
              <a:ext cx="3657600" cy="4114800"/>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Char char="Ø"/>
                <a:defRPr/>
              </a:pPr>
              <a:endParaRPr lang="en-US" altLang="en-US" smtClean="0">
                <a:solidFill>
                  <a:srgbClr val="FFFFFF"/>
                </a:solidFill>
                <a:latin typeface="Calibri" pitchFamily="34" charset="0"/>
              </a:endParaRPr>
            </a:p>
          </p:txBody>
        </p:sp>
      </p:grpSp>
      <p:sp>
        <p:nvSpPr>
          <p:cNvPr id="45059" name="Title 1"/>
          <p:cNvSpPr>
            <a:spLocks noGrp="1"/>
          </p:cNvSpPr>
          <p:nvPr>
            <p:ph type="title"/>
          </p:nvPr>
        </p:nvSpPr>
        <p:spPr/>
        <p:txBody>
          <a:bodyPr/>
          <a:lstStyle/>
          <a:p>
            <a:pPr eaLnBrk="1" hangingPunct="1"/>
            <a:r>
              <a:rPr lang="en-US" altLang="en-US" smtClean="0"/>
              <a:t>Physical data layout in SSD</a:t>
            </a:r>
          </a:p>
        </p:txBody>
      </p:sp>
      <p:sp>
        <p:nvSpPr>
          <p:cNvPr id="45060" name="Slide Number Placeholder 3"/>
          <p:cNvSpPr>
            <a:spLocks noGrp="1"/>
          </p:cNvSpPr>
          <p:nvPr>
            <p:ph type="sldNum" sz="quarter" idx="4294967295"/>
          </p:nvPr>
        </p:nvSpPr>
        <p:spPr bwMode="auto">
          <a:xfrm>
            <a:off x="7010400" y="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 typeface="Wingdings" panose="05000000000000000000" pitchFamily="2" charset="2"/>
              <a:buNone/>
            </a:pPr>
            <a:fld id="{0D225C75-257E-44B6-9B1B-533027BAE2CF}" type="slidenum">
              <a:rPr lang="zh-CN" altLang="en-US" sz="1200">
                <a:solidFill>
                  <a:srgbClr val="898989"/>
                </a:solidFill>
                <a:latin typeface="Verdana" panose="020B0604030504040204" pitchFamily="34" charset="0"/>
              </a:rPr>
              <a:pPr>
                <a:spcBef>
                  <a:spcPct val="50000"/>
                </a:spcBef>
                <a:buFont typeface="Wingdings" panose="05000000000000000000" pitchFamily="2" charset="2"/>
                <a:buNone/>
              </a:pPr>
              <a:t>86</a:t>
            </a:fld>
            <a:endParaRPr lang="zh-CN" altLang="en-US" sz="1200">
              <a:solidFill>
                <a:srgbClr val="898989"/>
              </a:solidFill>
              <a:latin typeface="Verdana" panose="020B0604030504040204" pitchFamily="34" charset="0"/>
            </a:endParaRPr>
          </a:p>
        </p:txBody>
      </p:sp>
      <p:cxnSp>
        <p:nvCxnSpPr>
          <p:cNvPr id="135" name="Straight Connector 134"/>
          <p:cNvCxnSpPr/>
          <p:nvPr/>
        </p:nvCxnSpPr>
        <p:spPr>
          <a:xfrm rot="5400000">
            <a:off x="-1219200" y="3962400"/>
            <a:ext cx="5486400" cy="0"/>
          </a:xfrm>
          <a:prstGeom prst="line">
            <a:avLst/>
          </a:prstGeom>
          <a:ln w="5080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136" name="Rectangle 135"/>
          <p:cNvSpPr>
            <a:spLocks noChangeArrowheads="1"/>
          </p:cNvSpPr>
          <p:nvPr/>
        </p:nvSpPr>
        <p:spPr bwMode="auto">
          <a:xfrm>
            <a:off x="1520825" y="6272213"/>
            <a:ext cx="68897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50000"/>
              </a:spcBef>
              <a:spcAft>
                <a:spcPct val="20000"/>
              </a:spcAft>
              <a:buFont typeface="Wingdings" panose="05000000000000000000" pitchFamily="2" charset="2"/>
              <a:buNone/>
            </a:pPr>
            <a:r>
              <a:rPr lang="en-US" altLang="en-US" sz="2000">
                <a:solidFill>
                  <a:srgbClr val="010000"/>
                </a:solidFill>
                <a:latin typeface="Verdana" panose="020B0604030504040204" pitchFamily="34" charset="0"/>
              </a:rPr>
              <a:t>PBA</a:t>
            </a:r>
          </a:p>
        </p:txBody>
      </p:sp>
      <p:sp>
        <p:nvSpPr>
          <p:cNvPr id="137" name="Rectangle 136"/>
          <p:cNvSpPr/>
          <p:nvPr/>
        </p:nvSpPr>
        <p:spPr>
          <a:xfrm>
            <a:off x="1597025" y="5638800"/>
            <a:ext cx="533400" cy="6096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800" dirty="0">
                <a:solidFill>
                  <a:schemeClr val="bg1"/>
                </a:solidFill>
              </a:rPr>
              <a:t>91</a:t>
            </a:r>
          </a:p>
        </p:txBody>
      </p:sp>
      <p:sp>
        <p:nvSpPr>
          <p:cNvPr id="138" name="Rectangle 137"/>
          <p:cNvSpPr/>
          <p:nvPr/>
        </p:nvSpPr>
        <p:spPr>
          <a:xfrm>
            <a:off x="1597025" y="5029200"/>
            <a:ext cx="533400" cy="6096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800" dirty="0">
                <a:solidFill>
                  <a:schemeClr val="bg1"/>
                </a:solidFill>
              </a:rPr>
              <a:t>12</a:t>
            </a:r>
          </a:p>
        </p:txBody>
      </p:sp>
      <p:sp>
        <p:nvSpPr>
          <p:cNvPr id="139" name="Rectangle 138"/>
          <p:cNvSpPr/>
          <p:nvPr/>
        </p:nvSpPr>
        <p:spPr>
          <a:xfrm>
            <a:off x="1597025" y="4419600"/>
            <a:ext cx="533400" cy="609600"/>
          </a:xfrm>
          <a:prstGeom prst="rect">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800" dirty="0">
                <a:solidFill>
                  <a:schemeClr val="bg1"/>
                </a:solidFill>
              </a:rPr>
              <a:t>31</a:t>
            </a:r>
          </a:p>
        </p:txBody>
      </p:sp>
      <p:sp>
        <p:nvSpPr>
          <p:cNvPr id="140" name="Rectangle 139"/>
          <p:cNvSpPr/>
          <p:nvPr/>
        </p:nvSpPr>
        <p:spPr>
          <a:xfrm>
            <a:off x="1597025" y="3810000"/>
            <a:ext cx="533400" cy="60960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800" dirty="0">
                <a:solidFill>
                  <a:schemeClr val="bg1"/>
                </a:solidFill>
              </a:rPr>
              <a:t>28</a:t>
            </a:r>
          </a:p>
        </p:txBody>
      </p:sp>
      <p:sp>
        <p:nvSpPr>
          <p:cNvPr id="141" name="Rectangle 140"/>
          <p:cNvSpPr/>
          <p:nvPr/>
        </p:nvSpPr>
        <p:spPr>
          <a:xfrm>
            <a:off x="1597025" y="3200400"/>
            <a:ext cx="533400" cy="609600"/>
          </a:xfrm>
          <a:prstGeom prst="rect">
            <a:avLst/>
          </a:prstGeom>
          <a:solidFill>
            <a:schemeClr val="accent3">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800">
                <a:solidFill>
                  <a:schemeClr val="bg1"/>
                </a:solidFill>
                <a:ea typeface="仿宋_GB2312"/>
                <a:cs typeface="仿宋_GB2312"/>
              </a:rPr>
              <a:t>6</a:t>
            </a:r>
          </a:p>
        </p:txBody>
      </p:sp>
      <p:sp>
        <p:nvSpPr>
          <p:cNvPr id="142" name="Rectangle 141"/>
          <p:cNvSpPr/>
          <p:nvPr/>
        </p:nvSpPr>
        <p:spPr>
          <a:xfrm>
            <a:off x="1597025" y="2590800"/>
            <a:ext cx="533400" cy="6096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800">
                <a:solidFill>
                  <a:schemeClr val="bg1"/>
                </a:solidFill>
                <a:ea typeface="仿宋_GB2312"/>
                <a:cs typeface="仿宋_GB2312"/>
              </a:rPr>
              <a:t>2</a:t>
            </a:r>
          </a:p>
        </p:txBody>
      </p:sp>
      <p:sp>
        <p:nvSpPr>
          <p:cNvPr id="143" name="Rectangle 142"/>
          <p:cNvSpPr/>
          <p:nvPr/>
        </p:nvSpPr>
        <p:spPr>
          <a:xfrm>
            <a:off x="1597025" y="1981200"/>
            <a:ext cx="533400" cy="609600"/>
          </a:xfrm>
          <a:prstGeom prst="rect">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800">
                <a:solidFill>
                  <a:schemeClr val="bg1"/>
                </a:solidFill>
                <a:ea typeface="仿宋_GB2312"/>
                <a:cs typeface="仿宋_GB2312"/>
              </a:rPr>
              <a:t>1</a:t>
            </a:r>
          </a:p>
        </p:txBody>
      </p:sp>
      <p:sp>
        <p:nvSpPr>
          <p:cNvPr id="144" name="Rectangle 143"/>
          <p:cNvSpPr/>
          <p:nvPr/>
        </p:nvSpPr>
        <p:spPr>
          <a:xfrm>
            <a:off x="1597025" y="1371600"/>
            <a:ext cx="533400" cy="60960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800" dirty="0">
                <a:solidFill>
                  <a:schemeClr val="bg1"/>
                </a:solidFill>
              </a:rPr>
              <a:t>10</a:t>
            </a:r>
          </a:p>
        </p:txBody>
      </p:sp>
      <p:grpSp>
        <p:nvGrpSpPr>
          <p:cNvPr id="14" name="Group 144"/>
          <p:cNvGrpSpPr>
            <a:grpSpLocks/>
          </p:cNvGrpSpPr>
          <p:nvPr/>
        </p:nvGrpSpPr>
        <p:grpSpPr bwMode="auto">
          <a:xfrm>
            <a:off x="-152400" y="1371600"/>
            <a:ext cx="1676400" cy="5334000"/>
            <a:chOff x="152400" y="1371600"/>
            <a:chExt cx="1676400" cy="5334000"/>
          </a:xfrm>
        </p:grpSpPr>
        <p:pic>
          <p:nvPicPr>
            <p:cNvPr id="45092"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 y="3352800"/>
              <a:ext cx="1040019"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93" name="Rectangle 146"/>
            <p:cNvSpPr>
              <a:spLocks noChangeArrowheads="1"/>
            </p:cNvSpPr>
            <p:nvPr/>
          </p:nvSpPr>
          <p:spPr bwMode="auto">
            <a:xfrm>
              <a:off x="304800" y="4495800"/>
              <a:ext cx="6511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50000"/>
                </a:spcBef>
                <a:spcAft>
                  <a:spcPct val="20000"/>
                </a:spcAft>
                <a:buFont typeface="Wingdings" panose="05000000000000000000" pitchFamily="2" charset="2"/>
                <a:buNone/>
              </a:pPr>
              <a:r>
                <a:rPr lang="en-US" altLang="en-US" sz="1600">
                  <a:solidFill>
                    <a:srgbClr val="010000"/>
                  </a:solidFill>
                  <a:latin typeface="Verdana" panose="020B0604030504040204" pitchFamily="34" charset="0"/>
                </a:rPr>
                <a:t>Host</a:t>
              </a:r>
            </a:p>
          </p:txBody>
        </p:sp>
        <p:grpSp>
          <p:nvGrpSpPr>
            <p:cNvPr id="45094" name="Group 9"/>
            <p:cNvGrpSpPr>
              <a:grpSpLocks/>
            </p:cNvGrpSpPr>
            <p:nvPr/>
          </p:nvGrpSpPr>
          <p:grpSpPr bwMode="auto">
            <a:xfrm>
              <a:off x="1150409" y="1371600"/>
              <a:ext cx="678391" cy="5334000"/>
              <a:chOff x="609600" y="1524000"/>
              <a:chExt cx="678391" cy="5334000"/>
            </a:xfrm>
          </p:grpSpPr>
          <p:sp>
            <p:nvSpPr>
              <p:cNvPr id="45095" name="Rectangle 148"/>
              <p:cNvSpPr>
                <a:spLocks noChangeArrowheads="1"/>
              </p:cNvSpPr>
              <p:nvPr/>
            </p:nvSpPr>
            <p:spPr bwMode="auto">
              <a:xfrm>
                <a:off x="609600" y="6423970"/>
                <a:ext cx="678391" cy="43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50000"/>
                  </a:spcBef>
                  <a:spcAft>
                    <a:spcPct val="20000"/>
                  </a:spcAft>
                  <a:buFont typeface="Wingdings" panose="05000000000000000000" pitchFamily="2" charset="2"/>
                  <a:buNone/>
                </a:pPr>
                <a:r>
                  <a:rPr lang="en-US" altLang="en-US" sz="2000">
                    <a:solidFill>
                      <a:srgbClr val="010000"/>
                    </a:solidFill>
                    <a:latin typeface="Verdana" panose="020B0604030504040204" pitchFamily="34" charset="0"/>
                  </a:rPr>
                  <a:t>LBA</a:t>
                </a:r>
              </a:p>
            </p:txBody>
          </p:sp>
          <p:grpSp>
            <p:nvGrpSpPr>
              <p:cNvPr id="45096" name="Group 34"/>
              <p:cNvGrpSpPr>
                <a:grpSpLocks/>
              </p:cNvGrpSpPr>
              <p:nvPr/>
            </p:nvGrpSpPr>
            <p:grpSpPr bwMode="auto">
              <a:xfrm>
                <a:off x="685800" y="1524000"/>
                <a:ext cx="533400" cy="4876800"/>
                <a:chOff x="685800" y="1752600"/>
                <a:chExt cx="533400" cy="4876800"/>
              </a:xfrm>
            </p:grpSpPr>
            <p:grpSp>
              <p:nvGrpSpPr>
                <p:cNvPr id="45097" name="Group 26"/>
                <p:cNvGrpSpPr>
                  <a:grpSpLocks/>
                </p:cNvGrpSpPr>
                <p:nvPr/>
              </p:nvGrpSpPr>
              <p:grpSpPr bwMode="auto">
                <a:xfrm>
                  <a:off x="685800" y="1752600"/>
                  <a:ext cx="533400" cy="3657600"/>
                  <a:chOff x="685800" y="1752600"/>
                  <a:chExt cx="533400" cy="3657600"/>
                </a:xfrm>
              </p:grpSpPr>
              <p:sp>
                <p:nvSpPr>
                  <p:cNvPr id="155" name="Rectangle 154"/>
                  <p:cNvSpPr/>
                  <p:nvPr/>
                </p:nvSpPr>
                <p:spPr>
                  <a:xfrm>
                    <a:off x="686329" y="1752600"/>
                    <a:ext cx="533400" cy="609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a:solidFill>
                          <a:schemeClr val="tx1"/>
                        </a:solidFill>
                        <a:ea typeface="仿宋_GB2312"/>
                        <a:cs typeface="仿宋_GB2312"/>
                      </a:rPr>
                      <a:t>0</a:t>
                    </a:r>
                  </a:p>
                </p:txBody>
              </p:sp>
              <p:sp>
                <p:nvSpPr>
                  <p:cNvPr id="156" name="Rectangle 155"/>
                  <p:cNvSpPr/>
                  <p:nvPr/>
                </p:nvSpPr>
                <p:spPr>
                  <a:xfrm>
                    <a:off x="686329" y="2362200"/>
                    <a:ext cx="533400" cy="609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a:solidFill>
                          <a:schemeClr val="tx1"/>
                        </a:solidFill>
                        <a:ea typeface="仿宋_GB2312"/>
                        <a:cs typeface="仿宋_GB2312"/>
                      </a:rPr>
                      <a:t>1</a:t>
                    </a:r>
                  </a:p>
                </p:txBody>
              </p:sp>
              <p:sp>
                <p:nvSpPr>
                  <p:cNvPr id="157" name="Rectangle 156"/>
                  <p:cNvSpPr/>
                  <p:nvPr/>
                </p:nvSpPr>
                <p:spPr>
                  <a:xfrm>
                    <a:off x="686329" y="2971800"/>
                    <a:ext cx="533400" cy="609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a:solidFill>
                          <a:schemeClr val="tx1"/>
                        </a:solidFill>
                        <a:ea typeface="仿宋_GB2312"/>
                        <a:cs typeface="仿宋_GB2312"/>
                      </a:rPr>
                      <a:t>2</a:t>
                    </a:r>
                  </a:p>
                </p:txBody>
              </p:sp>
              <p:sp>
                <p:nvSpPr>
                  <p:cNvPr id="158" name="Rectangle 157"/>
                  <p:cNvSpPr/>
                  <p:nvPr/>
                </p:nvSpPr>
                <p:spPr>
                  <a:xfrm>
                    <a:off x="686329" y="3581400"/>
                    <a:ext cx="533400" cy="609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a:solidFill>
                          <a:schemeClr val="tx1"/>
                        </a:solidFill>
                        <a:ea typeface="仿宋_GB2312"/>
                        <a:cs typeface="仿宋_GB2312"/>
                      </a:rPr>
                      <a:t>3</a:t>
                    </a:r>
                  </a:p>
                </p:txBody>
              </p:sp>
              <p:sp>
                <p:nvSpPr>
                  <p:cNvPr id="159" name="Rectangle 158"/>
                  <p:cNvSpPr/>
                  <p:nvPr/>
                </p:nvSpPr>
                <p:spPr>
                  <a:xfrm>
                    <a:off x="686329" y="4191000"/>
                    <a:ext cx="533400" cy="609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a:solidFill>
                          <a:schemeClr val="tx1"/>
                        </a:solidFill>
                        <a:ea typeface="仿宋_GB2312"/>
                        <a:cs typeface="仿宋_GB2312"/>
                      </a:rPr>
                      <a:t>4</a:t>
                    </a:r>
                  </a:p>
                </p:txBody>
              </p:sp>
              <p:sp>
                <p:nvSpPr>
                  <p:cNvPr id="160" name="Rectangle 159"/>
                  <p:cNvSpPr/>
                  <p:nvPr/>
                </p:nvSpPr>
                <p:spPr>
                  <a:xfrm>
                    <a:off x="686329" y="4800600"/>
                    <a:ext cx="533400" cy="609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a:solidFill>
                          <a:schemeClr val="tx1"/>
                        </a:solidFill>
                        <a:ea typeface="仿宋_GB2312"/>
                        <a:cs typeface="仿宋_GB2312"/>
                      </a:rPr>
                      <a:t>5</a:t>
                    </a:r>
                  </a:p>
                </p:txBody>
              </p:sp>
            </p:grpSp>
            <p:grpSp>
              <p:nvGrpSpPr>
                <p:cNvPr id="45098" name="Group 27"/>
                <p:cNvGrpSpPr>
                  <a:grpSpLocks/>
                </p:cNvGrpSpPr>
                <p:nvPr/>
              </p:nvGrpSpPr>
              <p:grpSpPr bwMode="auto">
                <a:xfrm>
                  <a:off x="685800" y="5410200"/>
                  <a:ext cx="533400" cy="1219200"/>
                  <a:chOff x="3886200" y="5410200"/>
                  <a:chExt cx="533400" cy="1219200"/>
                </a:xfrm>
              </p:grpSpPr>
              <p:sp>
                <p:nvSpPr>
                  <p:cNvPr id="153" name="Rectangle 152"/>
                  <p:cNvSpPr/>
                  <p:nvPr/>
                </p:nvSpPr>
                <p:spPr>
                  <a:xfrm>
                    <a:off x="3886729" y="5410200"/>
                    <a:ext cx="533400" cy="609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a:solidFill>
                          <a:schemeClr val="tx1"/>
                        </a:solidFill>
                        <a:ea typeface="仿宋_GB2312"/>
                        <a:cs typeface="仿宋_GB2312"/>
                      </a:rPr>
                      <a:t>6</a:t>
                    </a:r>
                  </a:p>
                </p:txBody>
              </p:sp>
              <p:sp>
                <p:nvSpPr>
                  <p:cNvPr id="154" name="Rectangle 153"/>
                  <p:cNvSpPr/>
                  <p:nvPr/>
                </p:nvSpPr>
                <p:spPr>
                  <a:xfrm>
                    <a:off x="3886729" y="6019800"/>
                    <a:ext cx="533400" cy="609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a:solidFill>
                          <a:schemeClr val="tx1"/>
                        </a:solidFill>
                        <a:ea typeface="仿宋_GB2312"/>
                        <a:cs typeface="仿宋_GB2312"/>
                      </a:rPr>
                      <a:t>7</a:t>
                    </a:r>
                  </a:p>
                </p:txBody>
              </p:sp>
            </p:grpSp>
          </p:grpSp>
        </p:grpSp>
      </p:grpSp>
      <p:sp>
        <p:nvSpPr>
          <p:cNvPr id="171" name="Content Placeholder 2"/>
          <p:cNvSpPr>
            <a:spLocks noGrp="1"/>
          </p:cNvSpPr>
          <p:nvPr>
            <p:ph idx="1"/>
          </p:nvPr>
        </p:nvSpPr>
        <p:spPr>
          <a:xfrm>
            <a:off x="5867400" y="1752600"/>
            <a:ext cx="3352800" cy="4495800"/>
          </a:xfrm>
        </p:spPr>
        <p:txBody>
          <a:bodyPr/>
          <a:lstStyle/>
          <a:p>
            <a:pPr eaLnBrk="1" hangingPunct="1"/>
            <a:r>
              <a:rPr lang="en-US" altLang="en-US" sz="2400" smtClean="0"/>
              <a:t>Data are stored in flash memory chips</a:t>
            </a:r>
          </a:p>
          <a:p>
            <a:pPr eaLnBrk="1" hangingPunct="1"/>
            <a:endParaRPr lang="en-US" altLang="en-US" sz="2400" smtClean="0"/>
          </a:p>
          <a:p>
            <a:pPr eaLnBrk="1" hangingPunct="1"/>
            <a:r>
              <a:rPr lang="en-US" altLang="en-US" sz="2400" smtClean="0"/>
              <a:t>SSD uses the standard LBA interface to host</a:t>
            </a:r>
          </a:p>
          <a:p>
            <a:pPr eaLnBrk="1" hangingPunct="1"/>
            <a:endParaRPr lang="en-US" altLang="en-US" sz="2400" smtClean="0"/>
          </a:p>
          <a:p>
            <a:pPr eaLnBrk="1" hangingPunct="1"/>
            <a:r>
              <a:rPr lang="en-US" altLang="en-US" sz="2400" smtClean="0"/>
              <a:t>A mapping table tracks LBA/PBA mappings</a:t>
            </a:r>
          </a:p>
          <a:p>
            <a:pPr eaLnBrk="1" hangingPunct="1"/>
            <a:endParaRPr lang="en-US" altLang="en-US" sz="2400" smtClean="0"/>
          </a:p>
          <a:p>
            <a:pPr eaLnBrk="1" hangingPunct="1"/>
            <a:r>
              <a:rPr lang="en-US" altLang="en-US" sz="2400" smtClean="0"/>
              <a:t>Internal data mapping is </a:t>
            </a:r>
            <a:r>
              <a:rPr lang="en-US" altLang="en-US" sz="2400" b="1" smtClean="0">
                <a:solidFill>
                  <a:srgbClr val="C00000"/>
                </a:solidFill>
              </a:rPr>
              <a:t>dynamic</a:t>
            </a:r>
            <a:r>
              <a:rPr lang="en-US" altLang="en-US" sz="2400" smtClean="0"/>
              <a:t> on the fly</a:t>
            </a:r>
          </a:p>
        </p:txBody>
      </p:sp>
      <p:sp>
        <p:nvSpPr>
          <p:cNvPr id="94" name="Rectangle 93"/>
          <p:cNvSpPr/>
          <p:nvPr/>
        </p:nvSpPr>
        <p:spPr>
          <a:xfrm>
            <a:off x="1600200" y="5638800"/>
            <a:ext cx="533400" cy="6096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800" dirty="0">
                <a:solidFill>
                  <a:schemeClr val="bg1"/>
                </a:solidFill>
              </a:rPr>
              <a:t>97</a:t>
            </a:r>
          </a:p>
        </p:txBody>
      </p:sp>
      <p:sp>
        <p:nvSpPr>
          <p:cNvPr id="95" name="Rectangle 94"/>
          <p:cNvSpPr/>
          <p:nvPr/>
        </p:nvSpPr>
        <p:spPr>
          <a:xfrm>
            <a:off x="1600200" y="5029200"/>
            <a:ext cx="533400" cy="6096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800">
                <a:solidFill>
                  <a:schemeClr val="bg1"/>
                </a:solidFill>
                <a:ea typeface="仿宋_GB2312"/>
                <a:cs typeface="仿宋_GB2312"/>
              </a:rPr>
              <a:t>6</a:t>
            </a:r>
          </a:p>
        </p:txBody>
      </p:sp>
      <p:sp>
        <p:nvSpPr>
          <p:cNvPr id="96" name="Rectangle 95"/>
          <p:cNvSpPr/>
          <p:nvPr/>
        </p:nvSpPr>
        <p:spPr>
          <a:xfrm>
            <a:off x="1600200" y="4419600"/>
            <a:ext cx="533400" cy="6096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800" dirty="0">
                <a:solidFill>
                  <a:schemeClr val="bg1"/>
                </a:solidFill>
              </a:rPr>
              <a:t>55</a:t>
            </a:r>
          </a:p>
        </p:txBody>
      </p:sp>
      <p:sp>
        <p:nvSpPr>
          <p:cNvPr id="97" name="Rectangle 96"/>
          <p:cNvSpPr/>
          <p:nvPr/>
        </p:nvSpPr>
        <p:spPr>
          <a:xfrm>
            <a:off x="1600200" y="3810000"/>
            <a:ext cx="533400" cy="6096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800">
                <a:solidFill>
                  <a:schemeClr val="bg1"/>
                </a:solidFill>
                <a:ea typeface="仿宋_GB2312"/>
                <a:cs typeface="仿宋_GB2312"/>
              </a:rPr>
              <a:t>4</a:t>
            </a:r>
          </a:p>
        </p:txBody>
      </p:sp>
      <p:sp>
        <p:nvSpPr>
          <p:cNvPr id="98" name="Rectangle 97"/>
          <p:cNvSpPr/>
          <p:nvPr/>
        </p:nvSpPr>
        <p:spPr>
          <a:xfrm>
            <a:off x="1600200" y="3200400"/>
            <a:ext cx="533400" cy="6096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800" dirty="0">
                <a:solidFill>
                  <a:schemeClr val="bg1"/>
                </a:solidFill>
              </a:rPr>
              <a:t>43</a:t>
            </a:r>
          </a:p>
        </p:txBody>
      </p:sp>
      <p:sp>
        <p:nvSpPr>
          <p:cNvPr id="99" name="Rectangle 98"/>
          <p:cNvSpPr/>
          <p:nvPr/>
        </p:nvSpPr>
        <p:spPr>
          <a:xfrm>
            <a:off x="1600200" y="2590800"/>
            <a:ext cx="533400" cy="6096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800" dirty="0">
                <a:solidFill>
                  <a:schemeClr val="bg1"/>
                </a:solidFill>
              </a:rPr>
              <a:t>23</a:t>
            </a:r>
          </a:p>
        </p:txBody>
      </p:sp>
      <p:sp>
        <p:nvSpPr>
          <p:cNvPr id="100" name="Rectangle 99"/>
          <p:cNvSpPr/>
          <p:nvPr/>
        </p:nvSpPr>
        <p:spPr>
          <a:xfrm>
            <a:off x="1600200" y="1981200"/>
            <a:ext cx="533400" cy="6096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800" dirty="0">
                <a:solidFill>
                  <a:schemeClr val="bg1"/>
                </a:solidFill>
              </a:rPr>
              <a:t>21</a:t>
            </a:r>
          </a:p>
        </p:txBody>
      </p:sp>
      <p:sp>
        <p:nvSpPr>
          <p:cNvPr id="101" name="Rectangle 100"/>
          <p:cNvSpPr/>
          <p:nvPr/>
        </p:nvSpPr>
        <p:spPr>
          <a:xfrm>
            <a:off x="1600200" y="1371600"/>
            <a:ext cx="533400" cy="60960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800" dirty="0">
                <a:solidFill>
                  <a:schemeClr val="bg1"/>
                </a:solidFill>
              </a:rPr>
              <a:t>11</a:t>
            </a:r>
          </a:p>
        </p:txBody>
      </p:sp>
      <p:sp>
        <p:nvSpPr>
          <p:cNvPr id="102" name="Explosion 2 101"/>
          <p:cNvSpPr/>
          <p:nvPr/>
        </p:nvSpPr>
        <p:spPr>
          <a:xfrm>
            <a:off x="4495800" y="2895600"/>
            <a:ext cx="1143000" cy="609600"/>
          </a:xfrm>
          <a:prstGeom prst="irregularSeal2">
            <a:avLst/>
          </a:prstGeom>
          <a:ln/>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100" b="1" dirty="0">
                <a:solidFill>
                  <a:schemeClr val="bg1"/>
                </a:solidFill>
              </a:rPr>
              <a:t>Idle!</a:t>
            </a:r>
          </a:p>
        </p:txBody>
      </p:sp>
      <p:sp>
        <p:nvSpPr>
          <p:cNvPr id="103" name="Explosion 2 102"/>
          <p:cNvSpPr/>
          <p:nvPr/>
        </p:nvSpPr>
        <p:spPr>
          <a:xfrm>
            <a:off x="4572000" y="3810000"/>
            <a:ext cx="1143000" cy="685800"/>
          </a:xfrm>
          <a:prstGeom prst="irregularSeal2">
            <a:avLst/>
          </a:prstGeom>
        </p:spPr>
        <p:style>
          <a:lnRef idx="1">
            <a:schemeClr val="accent6"/>
          </a:lnRef>
          <a:fillRef idx="3">
            <a:schemeClr val="accent6"/>
          </a:fillRef>
          <a:effectRef idx="2">
            <a:schemeClr val="accent6"/>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050" b="1" dirty="0">
                <a:solidFill>
                  <a:schemeClr val="bg1"/>
                </a:solidFill>
              </a:rPr>
              <a:t>Busy!</a:t>
            </a:r>
          </a:p>
        </p:txBody>
      </p:sp>
      <p:sp>
        <p:nvSpPr>
          <p:cNvPr id="84" name="Explosion 2 83"/>
          <p:cNvSpPr/>
          <p:nvPr/>
        </p:nvSpPr>
        <p:spPr>
          <a:xfrm>
            <a:off x="4572000" y="4800600"/>
            <a:ext cx="1143000" cy="533400"/>
          </a:xfrm>
          <a:prstGeom prst="irregularSeal2">
            <a:avLst/>
          </a:prstGeom>
          <a:ln/>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200" b="1" dirty="0">
                <a:solidFill>
                  <a:schemeClr val="bg1"/>
                </a:solidFill>
              </a:rPr>
              <a:t>Idle!</a:t>
            </a:r>
          </a:p>
        </p:txBody>
      </p:sp>
      <p:sp>
        <p:nvSpPr>
          <p:cNvPr id="86" name="Explosion 2 85"/>
          <p:cNvSpPr/>
          <p:nvPr/>
        </p:nvSpPr>
        <p:spPr>
          <a:xfrm>
            <a:off x="4572000" y="2057400"/>
            <a:ext cx="1066800" cy="457200"/>
          </a:xfrm>
          <a:prstGeom prst="irregularSeal2">
            <a:avLst/>
          </a:prstGeom>
          <a:ln/>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100" b="1" dirty="0">
                <a:solidFill>
                  <a:schemeClr val="bg1"/>
                </a:solidFill>
              </a:rPr>
              <a:t>Idle!</a:t>
            </a:r>
          </a:p>
        </p:txBody>
      </p:sp>
      <p:sp>
        <p:nvSpPr>
          <p:cNvPr id="92" name="Content Placeholder 2"/>
          <p:cNvSpPr txBox="1">
            <a:spLocks/>
          </p:cNvSpPr>
          <p:nvPr/>
        </p:nvSpPr>
        <p:spPr>
          <a:xfrm>
            <a:off x="2286000" y="5943600"/>
            <a:ext cx="3581400" cy="762000"/>
          </a:xfrm>
          <a:prstGeom prst="rect">
            <a:avLst/>
          </a:prstGeom>
          <a:noFill/>
          <a:ln>
            <a:noFill/>
          </a:ln>
          <a:effectLst/>
        </p:spPr>
        <p:style>
          <a:lnRef idx="1">
            <a:schemeClr val="accent4"/>
          </a:lnRef>
          <a:fillRef idx="3">
            <a:schemeClr val="accent4"/>
          </a:fillRef>
          <a:effectRef idx="2">
            <a:schemeClr val="accent4"/>
          </a:effectRef>
          <a:fontRef idx="minor">
            <a:schemeClr val="lt1"/>
          </a:fontRef>
        </p:style>
        <p:txBody>
          <a:bodyPr anchor="ctr"/>
          <a:lstStyle/>
          <a:p>
            <a:pPr marL="285750" indent="-285750" algn="ctr" eaLnBrk="1" fontAlgn="auto" hangingPunct="1">
              <a:spcBef>
                <a:spcPct val="20000"/>
              </a:spcBef>
              <a:spcAft>
                <a:spcPts val="0"/>
              </a:spcAft>
              <a:buFont typeface="Wingdings" pitchFamily="2" charset="2"/>
              <a:buNone/>
              <a:defRPr/>
            </a:pPr>
            <a:r>
              <a:rPr lang="en-US" sz="2400" b="1" i="1" dirty="0">
                <a:solidFill>
                  <a:schemeClr val="tx2">
                    <a:lumMod val="50000"/>
                  </a:schemeClr>
                </a:solidFill>
                <a:latin typeface="Verdana" pitchFamily="34" charset="0"/>
                <a:ea typeface="Verdana" pitchFamily="34" charset="0"/>
                <a:cs typeface="Verdana" pitchFamily="34" charset="0"/>
              </a:rPr>
              <a:t>The best case</a:t>
            </a:r>
          </a:p>
        </p:txBody>
      </p:sp>
      <p:grpSp>
        <p:nvGrpSpPr>
          <p:cNvPr id="19" name="Group 106"/>
          <p:cNvGrpSpPr>
            <a:grpSpLocks/>
          </p:cNvGrpSpPr>
          <p:nvPr/>
        </p:nvGrpSpPr>
        <p:grpSpPr bwMode="auto">
          <a:xfrm>
            <a:off x="76200" y="6153150"/>
            <a:ext cx="2286000" cy="704850"/>
            <a:chOff x="76200" y="6153090"/>
            <a:chExt cx="2286000" cy="704910"/>
          </a:xfrm>
        </p:grpSpPr>
        <p:sp>
          <p:nvSpPr>
            <p:cNvPr id="105" name="Rectangle 104"/>
            <p:cNvSpPr/>
            <p:nvPr/>
          </p:nvSpPr>
          <p:spPr>
            <a:xfrm>
              <a:off x="79375" y="6153090"/>
              <a:ext cx="2282825" cy="371507"/>
            </a:xfrm>
            <a:prstGeom prst="rect">
              <a:avLst/>
            </a:prstGeom>
          </p:spPr>
          <p:style>
            <a:lnRef idx="1">
              <a:schemeClr val="dk1"/>
            </a:lnRef>
            <a:fillRef idx="3">
              <a:schemeClr val="dk1"/>
            </a:fillRef>
            <a:effectRef idx="2">
              <a:schemeClr val="dk1"/>
            </a:effectRef>
            <a:fontRef idx="minor">
              <a:schemeClr val="lt1"/>
            </a:fontRef>
          </p:style>
          <p:txBody>
            <a:bodyPr wrap="none">
              <a:spAutoFit/>
            </a:bodyPr>
            <a:lstStyle/>
            <a:p>
              <a:pPr eaLnBrk="1" hangingPunct="1">
                <a:lnSpc>
                  <a:spcPct val="125000"/>
                </a:lnSpc>
                <a:spcBef>
                  <a:spcPct val="50000"/>
                </a:spcBef>
                <a:spcAft>
                  <a:spcPct val="20000"/>
                </a:spcAft>
                <a:buFont typeface="Wingdings" pitchFamily="2" charset="2"/>
                <a:buNone/>
                <a:defRPr/>
              </a:pPr>
              <a:r>
                <a:rPr lang="en-US" sz="1600" b="1" dirty="0">
                  <a:latin typeface="Courier" pitchFamily="49" charset="0"/>
                </a:rPr>
                <a:t>Read (LBA, size) </a:t>
              </a:r>
            </a:p>
          </p:txBody>
        </p:sp>
        <p:sp>
          <p:nvSpPr>
            <p:cNvPr id="106" name="Rectangle 105"/>
            <p:cNvSpPr/>
            <p:nvPr/>
          </p:nvSpPr>
          <p:spPr>
            <a:xfrm>
              <a:off x="76200" y="6457916"/>
              <a:ext cx="2282825" cy="400084"/>
            </a:xfrm>
            <a:prstGeom prst="rect">
              <a:avLst/>
            </a:prstGeom>
          </p:spPr>
          <p:style>
            <a:lnRef idx="1">
              <a:schemeClr val="dk1"/>
            </a:lnRef>
            <a:fillRef idx="3">
              <a:schemeClr val="dk1"/>
            </a:fillRef>
            <a:effectRef idx="2">
              <a:schemeClr val="dk1"/>
            </a:effectRef>
            <a:fontRef idx="minor">
              <a:schemeClr val="lt1"/>
            </a:fontRef>
          </p:style>
          <p:txBody>
            <a:bodyPr wrap="none">
              <a:spAutoFit/>
            </a:bodyPr>
            <a:lstStyle/>
            <a:p>
              <a:pPr eaLnBrk="1" hangingPunct="1">
                <a:lnSpc>
                  <a:spcPct val="125000"/>
                </a:lnSpc>
                <a:spcBef>
                  <a:spcPct val="50000"/>
                </a:spcBef>
                <a:spcAft>
                  <a:spcPct val="20000"/>
                </a:spcAft>
                <a:buFont typeface="Wingdings" pitchFamily="2" charset="2"/>
                <a:buNone/>
                <a:defRPr/>
              </a:pPr>
              <a:r>
                <a:rPr lang="en-US" sz="1600" b="1" dirty="0">
                  <a:latin typeface="Courier" pitchFamily="49" charset="0"/>
                </a:rPr>
                <a:t>Write(LBA, size) </a:t>
              </a:r>
            </a:p>
          </p:txBody>
        </p:sp>
      </p:grpSp>
      <p:sp>
        <p:nvSpPr>
          <p:cNvPr id="91" name="Content Placeholder 2"/>
          <p:cNvSpPr txBox="1">
            <a:spLocks/>
          </p:cNvSpPr>
          <p:nvPr/>
        </p:nvSpPr>
        <p:spPr>
          <a:xfrm>
            <a:off x="2209800" y="6019800"/>
            <a:ext cx="3657600" cy="685800"/>
          </a:xfrm>
          <a:prstGeom prst="rect">
            <a:avLst/>
          </a:prstGeom>
          <a:solidFill>
            <a:schemeClr val="bg1"/>
          </a:solidFill>
          <a:ln>
            <a:noFill/>
          </a:ln>
          <a:effectLst/>
        </p:spPr>
        <p:style>
          <a:lnRef idx="1">
            <a:schemeClr val="accent4"/>
          </a:lnRef>
          <a:fillRef idx="3">
            <a:schemeClr val="accent4"/>
          </a:fillRef>
          <a:effectRef idx="2">
            <a:schemeClr val="accent4"/>
          </a:effectRef>
          <a:fontRef idx="minor">
            <a:schemeClr val="lt1"/>
          </a:fontRef>
        </p:style>
        <p:txBody>
          <a:bodyPr anchor="ctr"/>
          <a:lstStyle/>
          <a:p>
            <a:pPr marL="285750" indent="-285750" algn="ctr" eaLnBrk="1" fontAlgn="auto" hangingPunct="1">
              <a:spcBef>
                <a:spcPct val="20000"/>
              </a:spcBef>
              <a:spcAft>
                <a:spcPts val="0"/>
              </a:spcAft>
              <a:buFont typeface="Wingdings" pitchFamily="2" charset="2"/>
              <a:buNone/>
              <a:defRPr/>
            </a:pPr>
            <a:r>
              <a:rPr lang="en-US" sz="2400" b="1" i="1" dirty="0">
                <a:solidFill>
                  <a:srgbClr val="C00000"/>
                </a:solidFill>
                <a:latin typeface="Verdana" pitchFamily="34" charset="0"/>
                <a:ea typeface="Verdana" pitchFamily="34" charset="0"/>
                <a:cs typeface="Verdana" pitchFamily="34" charset="0"/>
              </a:rPr>
              <a:t>The worst case</a:t>
            </a:r>
          </a:p>
        </p:txBody>
      </p:sp>
      <p:sp>
        <p:nvSpPr>
          <p:cNvPr id="87" name="Rectangle 86"/>
          <p:cNvSpPr/>
          <p:nvPr/>
        </p:nvSpPr>
        <p:spPr>
          <a:xfrm>
            <a:off x="0" y="0"/>
            <a:ext cx="9144000" cy="6858000"/>
          </a:xfrm>
          <a:prstGeom prst="rect">
            <a:avLst/>
          </a:prstGeom>
          <a:solidFill>
            <a:schemeClr val="bg1">
              <a:lumMod val="75000"/>
              <a:alpha val="61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Char char="Ø"/>
              <a:defRPr/>
            </a:pPr>
            <a:endParaRPr lang="en-US" altLang="en-US" smtClean="0">
              <a:solidFill>
                <a:srgbClr val="FFFFFF"/>
              </a:solidFill>
              <a:latin typeface="Calibri" pitchFamily="34" charset="0"/>
            </a:endParaRPr>
          </a:p>
        </p:txBody>
      </p:sp>
      <p:sp>
        <p:nvSpPr>
          <p:cNvPr id="104" name="Content Placeholder 2"/>
          <p:cNvSpPr txBox="1">
            <a:spLocks/>
          </p:cNvSpPr>
          <p:nvPr/>
        </p:nvSpPr>
        <p:spPr>
          <a:xfrm>
            <a:off x="0" y="2514600"/>
            <a:ext cx="9144000" cy="1371600"/>
          </a:xfrm>
          <a:prstGeom prst="rect">
            <a:avLst/>
          </a:prstGeom>
          <a:solidFill>
            <a:srgbClr val="002060"/>
          </a:solidFill>
          <a:ln>
            <a:noFill/>
          </a:ln>
        </p:spPr>
        <p:style>
          <a:lnRef idx="1">
            <a:schemeClr val="accent4"/>
          </a:lnRef>
          <a:fillRef idx="3">
            <a:schemeClr val="accent4"/>
          </a:fillRef>
          <a:effectRef idx="2">
            <a:schemeClr val="accent4"/>
          </a:effectRef>
          <a:fontRef idx="minor">
            <a:schemeClr val="lt1"/>
          </a:fontRef>
        </p:style>
        <p:txBody>
          <a:bodyPr anchor="ctr">
            <a:normAutofit/>
          </a:bodyPr>
          <a:lstStyle>
            <a:lvl1pPr eaLnBrk="0" hangingPunct="0">
              <a:spcBef>
                <a:spcPct val="20000"/>
              </a:spcBef>
              <a:buFont typeface="Arial" pitchFamily="34" charset="0"/>
              <a:buChar char="•"/>
              <a:defRPr sz="3200">
                <a:solidFill>
                  <a:schemeClr val="tx1"/>
                </a:solidFill>
                <a:latin typeface="Calibri" pitchFamily="34" charset="0"/>
              </a:defRPr>
            </a:lvl1pPr>
            <a:lvl2pPr marL="742950" indent="-285750" eaLnBrk="0" hangingPunct="0">
              <a:spcBef>
                <a:spcPct val="20000"/>
              </a:spcBef>
              <a:buFont typeface="Arial" pitchFamily="34" charset="0"/>
              <a:buChar char="–"/>
              <a:defRPr sz="2800">
                <a:solidFill>
                  <a:schemeClr val="tx1"/>
                </a:solidFill>
                <a:latin typeface="Calibri"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defRPr>
            </a:lvl3pPr>
            <a:lvl4pPr marL="1600200" indent="-228600" eaLnBrk="0" hangingPunct="0">
              <a:spcBef>
                <a:spcPct val="20000"/>
              </a:spcBef>
              <a:buFont typeface="Arial" pitchFamily="34" charset="0"/>
              <a:buChar char="–"/>
              <a:defRPr sz="2000">
                <a:solidFill>
                  <a:schemeClr val="tx1"/>
                </a:solidFill>
                <a:latin typeface="Calibri"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algn="ctr" eaLnBrk="1" hangingPunct="1">
              <a:buFont typeface="Wingdings" pitchFamily="2" charset="2"/>
              <a:buNone/>
              <a:defRPr/>
            </a:pPr>
            <a:r>
              <a:rPr lang="en-US" altLang="en-US" sz="2000" b="1" i="1" smtClean="0">
                <a:solidFill>
                  <a:schemeClr val="bg1"/>
                </a:solidFill>
                <a:latin typeface="Verdana" pitchFamily="34" charset="0"/>
                <a:ea typeface="仿宋_GB2312"/>
                <a:cs typeface="仿宋_GB2312"/>
              </a:rPr>
              <a:t>The physical data mapping is an architectural feature, we must know the internal structures of SSDs. </a:t>
            </a:r>
            <a:endParaRPr lang="en-US" altLang="en-US" sz="2000" b="1" i="1" smtClean="0">
              <a:solidFill>
                <a:srgbClr val="FFFF00"/>
              </a:solidFill>
              <a:latin typeface="Verdana" pitchFamily="34" charset="0"/>
              <a:ea typeface="仿宋_GB2312"/>
              <a:cs typeface="仿宋_GB2312"/>
            </a:endParaRPr>
          </a:p>
        </p:txBody>
      </p:sp>
    </p:spTree>
    <p:extLst>
      <p:ext uri="{BB962C8B-B14F-4D97-AF65-F5344CB8AC3E}">
        <p14:creationId xmlns:p14="http://schemas.microsoft.com/office/powerpoint/2010/main" val="30755039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1">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par>
                                <p:cTn id="18" presetID="22" presetClass="entr" presetSubtype="1" fill="hold" nodeType="withEffect">
                                  <p:stCondLst>
                                    <p:cond delay="0"/>
                                  </p:stCondLst>
                                  <p:childTnLst>
                                    <p:set>
                                      <p:cBhvr>
                                        <p:cTn id="19" dur="1" fill="hold">
                                          <p:stCondLst>
                                            <p:cond delay="0"/>
                                          </p:stCondLst>
                                        </p:cTn>
                                        <p:tgtEl>
                                          <p:spTgt spid="135"/>
                                        </p:tgtEl>
                                        <p:attrNameLst>
                                          <p:attrName>style.visibility</p:attrName>
                                        </p:attrNameLst>
                                      </p:cBhvr>
                                      <p:to>
                                        <p:strVal val="visible"/>
                                      </p:to>
                                    </p:set>
                                    <p:animEffect transition="in" filter="wipe(up)">
                                      <p:cBhvr>
                                        <p:cTn id="20" dur="500"/>
                                        <p:tgtEl>
                                          <p:spTgt spid="13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subTnLst>
                                    <p:set>
                                      <p:cBhvr override="childStyle">
                                        <p:cTn dur="1" fill="hold" display="0" masterRel="nextClick" afterEffect="1"/>
                                        <p:tgtEl>
                                          <p:spTgt spid="19"/>
                                        </p:tgtEl>
                                        <p:attrNameLst>
                                          <p:attrName>style.visibility</p:attrName>
                                        </p:attrNameLst>
                                      </p:cBhvr>
                                      <p:to>
                                        <p:strVal val="hidden"/>
                                      </p:to>
                                    </p:set>
                                  </p:sub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1">
                                            <p:txEl>
                                              <p:pRg st="4" end="4"/>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136"/>
                                        </p:tgtEl>
                                        <p:attrNameLst>
                                          <p:attrName>style.visibility</p:attrName>
                                        </p:attrNameLst>
                                      </p:cBhvr>
                                      <p:to>
                                        <p:strVal val="visible"/>
                                      </p:to>
                                    </p:set>
                                    <p:animEffect transition="in" filter="wipe(up)">
                                      <p:cBhvr>
                                        <p:cTn id="33" dur="500"/>
                                        <p:tgtEl>
                                          <p:spTgt spid="136"/>
                                        </p:tgtEl>
                                      </p:cBhvr>
                                    </p:animEffect>
                                  </p:childTnLst>
                                </p:cTn>
                              </p:par>
                              <p:par>
                                <p:cTn id="34" presetID="22" presetClass="entr" presetSubtype="1" fill="hold" grpId="1" nodeType="withEffect">
                                  <p:stCondLst>
                                    <p:cond delay="0"/>
                                  </p:stCondLst>
                                  <p:childTnLst>
                                    <p:set>
                                      <p:cBhvr>
                                        <p:cTn id="35" dur="1" fill="hold">
                                          <p:stCondLst>
                                            <p:cond delay="0"/>
                                          </p:stCondLst>
                                        </p:cTn>
                                        <p:tgtEl>
                                          <p:spTgt spid="137"/>
                                        </p:tgtEl>
                                        <p:attrNameLst>
                                          <p:attrName>style.visibility</p:attrName>
                                        </p:attrNameLst>
                                      </p:cBhvr>
                                      <p:to>
                                        <p:strVal val="visible"/>
                                      </p:to>
                                    </p:set>
                                    <p:animEffect transition="in" filter="wipe(up)">
                                      <p:cBhvr>
                                        <p:cTn id="36" dur="500"/>
                                        <p:tgtEl>
                                          <p:spTgt spid="137"/>
                                        </p:tgtEl>
                                      </p:cBhvr>
                                    </p:animEffect>
                                  </p:childTnLst>
                                </p:cTn>
                              </p:par>
                              <p:par>
                                <p:cTn id="37" presetID="22" presetClass="entr" presetSubtype="1" fill="hold" grpId="1" nodeType="withEffect">
                                  <p:stCondLst>
                                    <p:cond delay="0"/>
                                  </p:stCondLst>
                                  <p:childTnLst>
                                    <p:set>
                                      <p:cBhvr>
                                        <p:cTn id="38" dur="1" fill="hold">
                                          <p:stCondLst>
                                            <p:cond delay="0"/>
                                          </p:stCondLst>
                                        </p:cTn>
                                        <p:tgtEl>
                                          <p:spTgt spid="138"/>
                                        </p:tgtEl>
                                        <p:attrNameLst>
                                          <p:attrName>style.visibility</p:attrName>
                                        </p:attrNameLst>
                                      </p:cBhvr>
                                      <p:to>
                                        <p:strVal val="visible"/>
                                      </p:to>
                                    </p:set>
                                    <p:animEffect transition="in" filter="wipe(up)">
                                      <p:cBhvr>
                                        <p:cTn id="39" dur="500"/>
                                        <p:tgtEl>
                                          <p:spTgt spid="138"/>
                                        </p:tgtEl>
                                      </p:cBhvr>
                                    </p:animEffect>
                                  </p:childTnLst>
                                </p:cTn>
                              </p:par>
                              <p:par>
                                <p:cTn id="40" presetID="22" presetClass="entr" presetSubtype="1" fill="hold" grpId="1" nodeType="withEffect">
                                  <p:stCondLst>
                                    <p:cond delay="0"/>
                                  </p:stCondLst>
                                  <p:childTnLst>
                                    <p:set>
                                      <p:cBhvr>
                                        <p:cTn id="41" dur="1" fill="hold">
                                          <p:stCondLst>
                                            <p:cond delay="0"/>
                                          </p:stCondLst>
                                        </p:cTn>
                                        <p:tgtEl>
                                          <p:spTgt spid="139"/>
                                        </p:tgtEl>
                                        <p:attrNameLst>
                                          <p:attrName>style.visibility</p:attrName>
                                        </p:attrNameLst>
                                      </p:cBhvr>
                                      <p:to>
                                        <p:strVal val="visible"/>
                                      </p:to>
                                    </p:set>
                                    <p:animEffect transition="in" filter="wipe(up)">
                                      <p:cBhvr>
                                        <p:cTn id="42" dur="500"/>
                                        <p:tgtEl>
                                          <p:spTgt spid="139"/>
                                        </p:tgtEl>
                                      </p:cBhvr>
                                    </p:animEffect>
                                  </p:childTnLst>
                                </p:cTn>
                              </p:par>
                              <p:par>
                                <p:cTn id="43" presetID="22" presetClass="entr" presetSubtype="1" fill="hold" grpId="1" nodeType="withEffect">
                                  <p:stCondLst>
                                    <p:cond delay="0"/>
                                  </p:stCondLst>
                                  <p:childTnLst>
                                    <p:set>
                                      <p:cBhvr>
                                        <p:cTn id="44" dur="1" fill="hold">
                                          <p:stCondLst>
                                            <p:cond delay="0"/>
                                          </p:stCondLst>
                                        </p:cTn>
                                        <p:tgtEl>
                                          <p:spTgt spid="140"/>
                                        </p:tgtEl>
                                        <p:attrNameLst>
                                          <p:attrName>style.visibility</p:attrName>
                                        </p:attrNameLst>
                                      </p:cBhvr>
                                      <p:to>
                                        <p:strVal val="visible"/>
                                      </p:to>
                                    </p:set>
                                    <p:animEffect transition="in" filter="wipe(up)">
                                      <p:cBhvr>
                                        <p:cTn id="45" dur="500"/>
                                        <p:tgtEl>
                                          <p:spTgt spid="140"/>
                                        </p:tgtEl>
                                      </p:cBhvr>
                                    </p:animEffect>
                                  </p:childTnLst>
                                </p:cTn>
                              </p:par>
                              <p:par>
                                <p:cTn id="46" presetID="22" presetClass="entr" presetSubtype="1" fill="hold" grpId="1" nodeType="withEffect">
                                  <p:stCondLst>
                                    <p:cond delay="0"/>
                                  </p:stCondLst>
                                  <p:childTnLst>
                                    <p:set>
                                      <p:cBhvr>
                                        <p:cTn id="47" dur="1" fill="hold">
                                          <p:stCondLst>
                                            <p:cond delay="0"/>
                                          </p:stCondLst>
                                        </p:cTn>
                                        <p:tgtEl>
                                          <p:spTgt spid="141"/>
                                        </p:tgtEl>
                                        <p:attrNameLst>
                                          <p:attrName>style.visibility</p:attrName>
                                        </p:attrNameLst>
                                      </p:cBhvr>
                                      <p:to>
                                        <p:strVal val="visible"/>
                                      </p:to>
                                    </p:set>
                                    <p:animEffect transition="in" filter="wipe(up)">
                                      <p:cBhvr>
                                        <p:cTn id="48" dur="500"/>
                                        <p:tgtEl>
                                          <p:spTgt spid="141"/>
                                        </p:tgtEl>
                                      </p:cBhvr>
                                    </p:animEffect>
                                  </p:childTnLst>
                                </p:cTn>
                              </p:par>
                              <p:par>
                                <p:cTn id="49" presetID="22" presetClass="entr" presetSubtype="1" fill="hold" grpId="1" nodeType="withEffect">
                                  <p:stCondLst>
                                    <p:cond delay="0"/>
                                  </p:stCondLst>
                                  <p:childTnLst>
                                    <p:set>
                                      <p:cBhvr>
                                        <p:cTn id="50" dur="1" fill="hold">
                                          <p:stCondLst>
                                            <p:cond delay="0"/>
                                          </p:stCondLst>
                                        </p:cTn>
                                        <p:tgtEl>
                                          <p:spTgt spid="142"/>
                                        </p:tgtEl>
                                        <p:attrNameLst>
                                          <p:attrName>style.visibility</p:attrName>
                                        </p:attrNameLst>
                                      </p:cBhvr>
                                      <p:to>
                                        <p:strVal val="visible"/>
                                      </p:to>
                                    </p:set>
                                    <p:animEffect transition="in" filter="wipe(up)">
                                      <p:cBhvr>
                                        <p:cTn id="51" dur="500"/>
                                        <p:tgtEl>
                                          <p:spTgt spid="142"/>
                                        </p:tgtEl>
                                      </p:cBhvr>
                                    </p:animEffect>
                                  </p:childTnLst>
                                </p:cTn>
                              </p:par>
                              <p:par>
                                <p:cTn id="52" presetID="22" presetClass="entr" presetSubtype="1" fill="hold" grpId="1" nodeType="withEffect">
                                  <p:stCondLst>
                                    <p:cond delay="0"/>
                                  </p:stCondLst>
                                  <p:childTnLst>
                                    <p:set>
                                      <p:cBhvr>
                                        <p:cTn id="53" dur="1" fill="hold">
                                          <p:stCondLst>
                                            <p:cond delay="0"/>
                                          </p:stCondLst>
                                        </p:cTn>
                                        <p:tgtEl>
                                          <p:spTgt spid="143"/>
                                        </p:tgtEl>
                                        <p:attrNameLst>
                                          <p:attrName>style.visibility</p:attrName>
                                        </p:attrNameLst>
                                      </p:cBhvr>
                                      <p:to>
                                        <p:strVal val="visible"/>
                                      </p:to>
                                    </p:set>
                                    <p:animEffect transition="in" filter="wipe(up)">
                                      <p:cBhvr>
                                        <p:cTn id="54" dur="500"/>
                                        <p:tgtEl>
                                          <p:spTgt spid="143"/>
                                        </p:tgtEl>
                                      </p:cBhvr>
                                    </p:animEffect>
                                  </p:childTnLst>
                                </p:cTn>
                              </p:par>
                              <p:par>
                                <p:cTn id="55" presetID="22" presetClass="entr" presetSubtype="1" fill="hold" grpId="1" nodeType="withEffect">
                                  <p:stCondLst>
                                    <p:cond delay="0"/>
                                  </p:stCondLst>
                                  <p:childTnLst>
                                    <p:set>
                                      <p:cBhvr>
                                        <p:cTn id="56" dur="1" fill="hold">
                                          <p:stCondLst>
                                            <p:cond delay="0"/>
                                          </p:stCondLst>
                                        </p:cTn>
                                        <p:tgtEl>
                                          <p:spTgt spid="144"/>
                                        </p:tgtEl>
                                        <p:attrNameLst>
                                          <p:attrName>style.visibility</p:attrName>
                                        </p:attrNameLst>
                                      </p:cBhvr>
                                      <p:to>
                                        <p:strVal val="visible"/>
                                      </p:to>
                                    </p:set>
                                    <p:animEffect transition="in" filter="wipe(up)">
                                      <p:cBhvr>
                                        <p:cTn id="57" dur="500"/>
                                        <p:tgtEl>
                                          <p:spTgt spid="14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71">
                                            <p:txEl>
                                              <p:pRg st="6" end="6"/>
                                            </p:txEl>
                                          </p:spTgt>
                                        </p:tgtEl>
                                        <p:attrNameLst>
                                          <p:attrName>style.visibility</p:attrName>
                                        </p:attrNameLst>
                                      </p:cBhvr>
                                      <p:to>
                                        <p:strVal val="visible"/>
                                      </p:to>
                                    </p:set>
                                  </p:childTnLst>
                                </p:cTn>
                              </p:par>
                            </p:childTnLst>
                          </p:cTn>
                        </p:par>
                      </p:childTnLst>
                    </p:cTn>
                  </p:par>
                  <p:par>
                    <p:cTn id="62" fill="hold" nodeType="clickPar">
                      <p:stCondLst>
                        <p:cond delay="indefinite"/>
                      </p:stCondLst>
                      <p:childTnLst>
                        <p:par>
                          <p:cTn id="63" fill="hold" nodeType="withGroup">
                            <p:stCondLst>
                              <p:cond delay="0"/>
                            </p:stCondLst>
                            <p:childTnLst>
                              <p:par>
                                <p:cTn id="64" presetID="0" presetClass="path" presetSubtype="0" accel="50000" decel="50000" fill="hold" grpId="0" nodeType="clickEffect">
                                  <p:stCondLst>
                                    <p:cond delay="0"/>
                                  </p:stCondLst>
                                  <p:childTnLst>
                                    <p:animMotion origin="layout" path="M 3.88889E-6 -4.44444E-6 L 0.31284 0.08889 " pathEditMode="relative" rAng="0" ptsTypes="AA">
                                      <p:cBhvr>
                                        <p:cTn id="65" dur="500" fill="hold"/>
                                        <p:tgtEl>
                                          <p:spTgt spid="144"/>
                                        </p:tgtEl>
                                        <p:attrNameLst>
                                          <p:attrName>ppt_x</p:attrName>
                                          <p:attrName>ppt_y</p:attrName>
                                        </p:attrNameLst>
                                      </p:cBhvr>
                                      <p:rCtr x="15600" y="4400"/>
                                    </p:animMotion>
                                  </p:childTnLst>
                                </p:cTn>
                              </p:par>
                            </p:childTnLst>
                          </p:cTn>
                        </p:par>
                        <p:par>
                          <p:cTn id="66" fill="hold" nodeType="afterGroup">
                            <p:stCondLst>
                              <p:cond delay="500"/>
                            </p:stCondLst>
                            <p:childTnLst>
                              <p:par>
                                <p:cTn id="67" presetID="0" presetClass="path" presetSubtype="0" accel="50000" decel="50000" fill="hold" grpId="0" nodeType="afterEffect">
                                  <p:stCondLst>
                                    <p:cond delay="0"/>
                                  </p:stCondLst>
                                  <p:childTnLst>
                                    <p:animMotion origin="layout" path="M 5.55556E-7 -3.33333E-6 L 0.31285 0.13334 " pathEditMode="relative" rAng="0" ptsTypes="AA">
                                      <p:cBhvr>
                                        <p:cTn id="68" dur="500" fill="hold"/>
                                        <p:tgtEl>
                                          <p:spTgt spid="143"/>
                                        </p:tgtEl>
                                        <p:attrNameLst>
                                          <p:attrName>ppt_x</p:attrName>
                                          <p:attrName>ppt_y</p:attrName>
                                        </p:attrNameLst>
                                      </p:cBhvr>
                                      <p:rCtr x="15600" y="6700"/>
                                    </p:animMotion>
                                  </p:childTnLst>
                                </p:cTn>
                              </p:par>
                            </p:childTnLst>
                          </p:cTn>
                        </p:par>
                        <p:par>
                          <p:cTn id="69" fill="hold" nodeType="afterGroup">
                            <p:stCondLst>
                              <p:cond delay="1000"/>
                            </p:stCondLst>
                            <p:childTnLst>
                              <p:par>
                                <p:cTn id="70" presetID="63" presetClass="path" presetSubtype="0" accel="50000" decel="50000" fill="hold" grpId="0" nodeType="afterEffect">
                                  <p:stCondLst>
                                    <p:cond delay="0"/>
                                  </p:stCondLst>
                                  <p:childTnLst>
                                    <p:animMotion origin="layout" path="M 3.88889E-6 -2.22222E-6 L 0.32118 0.18889 " pathEditMode="relative" rAng="0" ptsTypes="AA">
                                      <p:cBhvr>
                                        <p:cTn id="71" dur="500" fill="hold"/>
                                        <p:tgtEl>
                                          <p:spTgt spid="142"/>
                                        </p:tgtEl>
                                        <p:attrNameLst>
                                          <p:attrName>ppt_x</p:attrName>
                                          <p:attrName>ppt_y</p:attrName>
                                        </p:attrNameLst>
                                      </p:cBhvr>
                                      <p:rCtr x="16100" y="9400"/>
                                    </p:animMotion>
                                  </p:childTnLst>
                                </p:cTn>
                              </p:par>
                            </p:childTnLst>
                          </p:cTn>
                        </p:par>
                        <p:par>
                          <p:cTn id="72" fill="hold" nodeType="afterGroup">
                            <p:stCondLst>
                              <p:cond delay="1500"/>
                            </p:stCondLst>
                            <p:childTnLst>
                              <p:par>
                                <p:cTn id="73" presetID="63" presetClass="path" presetSubtype="0" accel="50000" decel="50000" fill="hold" grpId="0" nodeType="afterEffect">
                                  <p:stCondLst>
                                    <p:cond delay="0"/>
                                  </p:stCondLst>
                                  <p:childTnLst>
                                    <p:animMotion origin="layout" path="M 3.88889E-6 -1.11111E-6 L 0.32118 0.22222 " pathEditMode="relative" rAng="0" ptsTypes="AA">
                                      <p:cBhvr>
                                        <p:cTn id="74" dur="500" fill="hold"/>
                                        <p:tgtEl>
                                          <p:spTgt spid="141"/>
                                        </p:tgtEl>
                                        <p:attrNameLst>
                                          <p:attrName>ppt_x</p:attrName>
                                          <p:attrName>ppt_y</p:attrName>
                                        </p:attrNameLst>
                                      </p:cBhvr>
                                      <p:rCtr x="16100" y="11100"/>
                                    </p:animMotion>
                                  </p:childTnLst>
                                </p:cTn>
                              </p:par>
                            </p:childTnLst>
                          </p:cTn>
                        </p:par>
                        <p:par>
                          <p:cTn id="75" fill="hold" nodeType="afterGroup">
                            <p:stCondLst>
                              <p:cond delay="2000"/>
                            </p:stCondLst>
                            <p:childTnLst>
                              <p:par>
                                <p:cTn id="76" presetID="0" presetClass="path" presetSubtype="0" accel="50000" decel="50000" fill="hold" grpId="0" nodeType="afterEffect">
                                  <p:stCondLst>
                                    <p:cond delay="0"/>
                                  </p:stCondLst>
                                  <p:childTnLst>
                                    <p:animMotion origin="layout" path="M 3.88889E-6 1.11022E-16 L 0.37118 -0.26667 " pathEditMode="relative" rAng="0" ptsTypes="AA">
                                      <p:cBhvr>
                                        <p:cTn id="77" dur="500" fill="hold"/>
                                        <p:tgtEl>
                                          <p:spTgt spid="140"/>
                                        </p:tgtEl>
                                        <p:attrNameLst>
                                          <p:attrName>ppt_x</p:attrName>
                                          <p:attrName>ppt_y</p:attrName>
                                        </p:attrNameLst>
                                      </p:cBhvr>
                                      <p:rCtr x="18600" y="-13300"/>
                                    </p:animMotion>
                                  </p:childTnLst>
                                </p:cTn>
                              </p:par>
                            </p:childTnLst>
                          </p:cTn>
                        </p:par>
                        <p:par>
                          <p:cTn id="78" fill="hold" nodeType="afterGroup">
                            <p:stCondLst>
                              <p:cond delay="2500"/>
                            </p:stCondLst>
                            <p:childTnLst>
                              <p:par>
                                <p:cTn id="79" presetID="0" presetClass="path" presetSubtype="0" accel="50000" decel="50000" fill="hold" grpId="0" nodeType="afterEffect">
                                  <p:stCondLst>
                                    <p:cond delay="0"/>
                                  </p:stCondLst>
                                  <p:childTnLst>
                                    <p:animMotion origin="layout" path="M 5.55556E-7 1.11111E-6 L 0.37118 -0.23333 " pathEditMode="relative" rAng="0" ptsTypes="AA">
                                      <p:cBhvr>
                                        <p:cTn id="80" dur="500" fill="hold"/>
                                        <p:tgtEl>
                                          <p:spTgt spid="139"/>
                                        </p:tgtEl>
                                        <p:attrNameLst>
                                          <p:attrName>ppt_x</p:attrName>
                                          <p:attrName>ppt_y</p:attrName>
                                        </p:attrNameLst>
                                      </p:cBhvr>
                                      <p:rCtr x="18600" y="-11700"/>
                                    </p:animMotion>
                                  </p:childTnLst>
                                </p:cTn>
                              </p:par>
                            </p:childTnLst>
                          </p:cTn>
                        </p:par>
                        <p:par>
                          <p:cTn id="81" fill="hold" nodeType="afterGroup">
                            <p:stCondLst>
                              <p:cond delay="3000"/>
                            </p:stCondLst>
                            <p:childTnLst>
                              <p:par>
                                <p:cTn id="82" presetID="63" presetClass="path" presetSubtype="0" accel="50000" decel="50000" fill="hold" grpId="0" nodeType="afterEffect">
                                  <p:stCondLst>
                                    <p:cond delay="0"/>
                                  </p:stCondLst>
                                  <p:childTnLst>
                                    <p:animMotion origin="layout" path="M 3.88889E-6 2.22222E-6 L 0.37118 -0.16667 " pathEditMode="relative" rAng="0" ptsTypes="AA">
                                      <p:cBhvr>
                                        <p:cTn id="83" dur="500" fill="hold"/>
                                        <p:tgtEl>
                                          <p:spTgt spid="138"/>
                                        </p:tgtEl>
                                        <p:attrNameLst>
                                          <p:attrName>ppt_x</p:attrName>
                                          <p:attrName>ppt_y</p:attrName>
                                        </p:attrNameLst>
                                      </p:cBhvr>
                                      <p:rCtr x="18600" y="-8300"/>
                                    </p:animMotion>
                                  </p:childTnLst>
                                </p:cTn>
                              </p:par>
                            </p:childTnLst>
                          </p:cTn>
                        </p:par>
                        <p:par>
                          <p:cTn id="84" fill="hold" nodeType="afterGroup">
                            <p:stCondLst>
                              <p:cond delay="3500"/>
                            </p:stCondLst>
                            <p:childTnLst>
                              <p:par>
                                <p:cTn id="85" presetID="63" presetClass="path" presetSubtype="0" accel="50000" decel="50000" fill="hold" grpId="0" nodeType="afterEffect">
                                  <p:stCondLst>
                                    <p:cond delay="0"/>
                                  </p:stCondLst>
                                  <p:childTnLst>
                                    <p:animMotion origin="layout" path="M 3.88889E-6 3.33333E-6 L 0.37118 -0.13334 " pathEditMode="relative" rAng="0" ptsTypes="AA">
                                      <p:cBhvr>
                                        <p:cTn id="86" dur="500" fill="hold"/>
                                        <p:tgtEl>
                                          <p:spTgt spid="137"/>
                                        </p:tgtEl>
                                        <p:attrNameLst>
                                          <p:attrName>ppt_x</p:attrName>
                                          <p:attrName>ppt_y</p:attrName>
                                        </p:attrNameLst>
                                      </p:cBhvr>
                                      <p:rCtr x="18600" y="-6700"/>
                                    </p:animMotion>
                                  </p:childTnLst>
                                </p:cTn>
                              </p:par>
                            </p:childTnLst>
                          </p:cTn>
                        </p:par>
                        <p:par>
                          <p:cTn id="87" fill="hold" nodeType="afterGroup">
                            <p:stCondLst>
                              <p:cond delay="4000"/>
                            </p:stCondLst>
                            <p:childTnLst>
                              <p:par>
                                <p:cTn id="88" presetID="1" presetClass="entr" presetSubtype="0" fill="hold" grpId="0" nodeType="afterEffect">
                                  <p:stCondLst>
                                    <p:cond delay="0"/>
                                  </p:stCondLst>
                                  <p:childTnLst>
                                    <p:set>
                                      <p:cBhvr>
                                        <p:cTn id="89" dur="1" fill="hold">
                                          <p:stCondLst>
                                            <p:cond delay="0"/>
                                          </p:stCondLst>
                                        </p:cTn>
                                        <p:tgtEl>
                                          <p:spTgt spid="92"/>
                                        </p:tgtEl>
                                        <p:attrNameLst>
                                          <p:attrName>style.visibility</p:attrName>
                                        </p:attrNameLst>
                                      </p:cBhvr>
                                      <p:to>
                                        <p:strVal val="visible"/>
                                      </p:to>
                                    </p:set>
                                  </p:childTnLst>
                                  <p:subTnLst>
                                    <p:set>
                                      <p:cBhvr override="childStyle">
                                        <p:cTn dur="1" fill="hold" display="0" masterRel="nextClick" afterEffect="1"/>
                                        <p:tgtEl>
                                          <p:spTgt spid="92"/>
                                        </p:tgtEl>
                                        <p:attrNameLst>
                                          <p:attrName>style.visibility</p:attrName>
                                        </p:attrNameLst>
                                      </p:cBhvr>
                                      <p:to>
                                        <p:strVal val="hidden"/>
                                      </p:to>
                                    </p:set>
                                  </p:sub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1" fill="hold" grpId="1" nodeType="clickEffect">
                                  <p:stCondLst>
                                    <p:cond delay="0"/>
                                  </p:stCondLst>
                                  <p:childTnLst>
                                    <p:set>
                                      <p:cBhvr>
                                        <p:cTn id="93" dur="1" fill="hold">
                                          <p:stCondLst>
                                            <p:cond delay="0"/>
                                          </p:stCondLst>
                                        </p:cTn>
                                        <p:tgtEl>
                                          <p:spTgt spid="94"/>
                                        </p:tgtEl>
                                        <p:attrNameLst>
                                          <p:attrName>style.visibility</p:attrName>
                                        </p:attrNameLst>
                                      </p:cBhvr>
                                      <p:to>
                                        <p:strVal val="visible"/>
                                      </p:to>
                                    </p:set>
                                    <p:animEffect transition="in" filter="wipe(up)">
                                      <p:cBhvr>
                                        <p:cTn id="94" dur="500"/>
                                        <p:tgtEl>
                                          <p:spTgt spid="94"/>
                                        </p:tgtEl>
                                      </p:cBhvr>
                                    </p:animEffect>
                                  </p:childTnLst>
                                </p:cTn>
                              </p:par>
                              <p:par>
                                <p:cTn id="95" presetID="22" presetClass="entr" presetSubtype="1" fill="hold" grpId="1" nodeType="withEffect">
                                  <p:stCondLst>
                                    <p:cond delay="0"/>
                                  </p:stCondLst>
                                  <p:childTnLst>
                                    <p:set>
                                      <p:cBhvr>
                                        <p:cTn id="96" dur="1" fill="hold">
                                          <p:stCondLst>
                                            <p:cond delay="0"/>
                                          </p:stCondLst>
                                        </p:cTn>
                                        <p:tgtEl>
                                          <p:spTgt spid="95"/>
                                        </p:tgtEl>
                                        <p:attrNameLst>
                                          <p:attrName>style.visibility</p:attrName>
                                        </p:attrNameLst>
                                      </p:cBhvr>
                                      <p:to>
                                        <p:strVal val="visible"/>
                                      </p:to>
                                    </p:set>
                                    <p:animEffect transition="in" filter="wipe(up)">
                                      <p:cBhvr>
                                        <p:cTn id="97" dur="500"/>
                                        <p:tgtEl>
                                          <p:spTgt spid="95"/>
                                        </p:tgtEl>
                                      </p:cBhvr>
                                    </p:animEffect>
                                  </p:childTnLst>
                                </p:cTn>
                              </p:par>
                              <p:par>
                                <p:cTn id="98" presetID="22" presetClass="entr" presetSubtype="1" fill="hold" grpId="1" nodeType="withEffect">
                                  <p:stCondLst>
                                    <p:cond delay="0"/>
                                  </p:stCondLst>
                                  <p:childTnLst>
                                    <p:set>
                                      <p:cBhvr>
                                        <p:cTn id="99" dur="1" fill="hold">
                                          <p:stCondLst>
                                            <p:cond delay="0"/>
                                          </p:stCondLst>
                                        </p:cTn>
                                        <p:tgtEl>
                                          <p:spTgt spid="96"/>
                                        </p:tgtEl>
                                        <p:attrNameLst>
                                          <p:attrName>style.visibility</p:attrName>
                                        </p:attrNameLst>
                                      </p:cBhvr>
                                      <p:to>
                                        <p:strVal val="visible"/>
                                      </p:to>
                                    </p:set>
                                    <p:animEffect transition="in" filter="wipe(up)">
                                      <p:cBhvr>
                                        <p:cTn id="100" dur="500"/>
                                        <p:tgtEl>
                                          <p:spTgt spid="96"/>
                                        </p:tgtEl>
                                      </p:cBhvr>
                                    </p:animEffect>
                                  </p:childTnLst>
                                </p:cTn>
                              </p:par>
                              <p:par>
                                <p:cTn id="101" presetID="22" presetClass="entr" presetSubtype="1" fill="hold" grpId="1" nodeType="withEffect">
                                  <p:stCondLst>
                                    <p:cond delay="0"/>
                                  </p:stCondLst>
                                  <p:childTnLst>
                                    <p:set>
                                      <p:cBhvr>
                                        <p:cTn id="102" dur="1" fill="hold">
                                          <p:stCondLst>
                                            <p:cond delay="0"/>
                                          </p:stCondLst>
                                        </p:cTn>
                                        <p:tgtEl>
                                          <p:spTgt spid="97"/>
                                        </p:tgtEl>
                                        <p:attrNameLst>
                                          <p:attrName>style.visibility</p:attrName>
                                        </p:attrNameLst>
                                      </p:cBhvr>
                                      <p:to>
                                        <p:strVal val="visible"/>
                                      </p:to>
                                    </p:set>
                                    <p:animEffect transition="in" filter="wipe(up)">
                                      <p:cBhvr>
                                        <p:cTn id="103" dur="500"/>
                                        <p:tgtEl>
                                          <p:spTgt spid="97"/>
                                        </p:tgtEl>
                                      </p:cBhvr>
                                    </p:animEffect>
                                  </p:childTnLst>
                                </p:cTn>
                              </p:par>
                              <p:par>
                                <p:cTn id="104" presetID="22" presetClass="entr" presetSubtype="1" fill="hold" grpId="1" nodeType="withEffect">
                                  <p:stCondLst>
                                    <p:cond delay="0"/>
                                  </p:stCondLst>
                                  <p:childTnLst>
                                    <p:set>
                                      <p:cBhvr>
                                        <p:cTn id="105" dur="1" fill="hold">
                                          <p:stCondLst>
                                            <p:cond delay="0"/>
                                          </p:stCondLst>
                                        </p:cTn>
                                        <p:tgtEl>
                                          <p:spTgt spid="98"/>
                                        </p:tgtEl>
                                        <p:attrNameLst>
                                          <p:attrName>style.visibility</p:attrName>
                                        </p:attrNameLst>
                                      </p:cBhvr>
                                      <p:to>
                                        <p:strVal val="visible"/>
                                      </p:to>
                                    </p:set>
                                    <p:animEffect transition="in" filter="wipe(up)">
                                      <p:cBhvr>
                                        <p:cTn id="106" dur="500"/>
                                        <p:tgtEl>
                                          <p:spTgt spid="98"/>
                                        </p:tgtEl>
                                      </p:cBhvr>
                                    </p:animEffect>
                                  </p:childTnLst>
                                </p:cTn>
                              </p:par>
                              <p:par>
                                <p:cTn id="107" presetID="22" presetClass="entr" presetSubtype="1" fill="hold" grpId="1" nodeType="withEffect">
                                  <p:stCondLst>
                                    <p:cond delay="0"/>
                                  </p:stCondLst>
                                  <p:childTnLst>
                                    <p:set>
                                      <p:cBhvr>
                                        <p:cTn id="108" dur="1" fill="hold">
                                          <p:stCondLst>
                                            <p:cond delay="0"/>
                                          </p:stCondLst>
                                        </p:cTn>
                                        <p:tgtEl>
                                          <p:spTgt spid="99"/>
                                        </p:tgtEl>
                                        <p:attrNameLst>
                                          <p:attrName>style.visibility</p:attrName>
                                        </p:attrNameLst>
                                      </p:cBhvr>
                                      <p:to>
                                        <p:strVal val="visible"/>
                                      </p:to>
                                    </p:set>
                                    <p:animEffect transition="in" filter="wipe(up)">
                                      <p:cBhvr>
                                        <p:cTn id="109" dur="500"/>
                                        <p:tgtEl>
                                          <p:spTgt spid="99"/>
                                        </p:tgtEl>
                                      </p:cBhvr>
                                    </p:animEffect>
                                  </p:childTnLst>
                                </p:cTn>
                              </p:par>
                              <p:par>
                                <p:cTn id="110" presetID="22" presetClass="entr" presetSubtype="1" fill="hold" grpId="1" nodeType="withEffect">
                                  <p:stCondLst>
                                    <p:cond delay="0"/>
                                  </p:stCondLst>
                                  <p:childTnLst>
                                    <p:set>
                                      <p:cBhvr>
                                        <p:cTn id="111" dur="1" fill="hold">
                                          <p:stCondLst>
                                            <p:cond delay="0"/>
                                          </p:stCondLst>
                                        </p:cTn>
                                        <p:tgtEl>
                                          <p:spTgt spid="100"/>
                                        </p:tgtEl>
                                        <p:attrNameLst>
                                          <p:attrName>style.visibility</p:attrName>
                                        </p:attrNameLst>
                                      </p:cBhvr>
                                      <p:to>
                                        <p:strVal val="visible"/>
                                      </p:to>
                                    </p:set>
                                    <p:animEffect transition="in" filter="wipe(up)">
                                      <p:cBhvr>
                                        <p:cTn id="112" dur="500"/>
                                        <p:tgtEl>
                                          <p:spTgt spid="100"/>
                                        </p:tgtEl>
                                      </p:cBhvr>
                                    </p:animEffect>
                                  </p:childTnLst>
                                </p:cTn>
                              </p:par>
                              <p:par>
                                <p:cTn id="113" presetID="22" presetClass="entr" presetSubtype="1" fill="hold" grpId="1" nodeType="withEffect">
                                  <p:stCondLst>
                                    <p:cond delay="0"/>
                                  </p:stCondLst>
                                  <p:childTnLst>
                                    <p:set>
                                      <p:cBhvr>
                                        <p:cTn id="114" dur="1" fill="hold">
                                          <p:stCondLst>
                                            <p:cond delay="0"/>
                                          </p:stCondLst>
                                        </p:cTn>
                                        <p:tgtEl>
                                          <p:spTgt spid="101"/>
                                        </p:tgtEl>
                                        <p:attrNameLst>
                                          <p:attrName>style.visibility</p:attrName>
                                        </p:attrNameLst>
                                      </p:cBhvr>
                                      <p:to>
                                        <p:strVal val="visible"/>
                                      </p:to>
                                    </p:set>
                                    <p:animEffect transition="in" filter="wipe(up)">
                                      <p:cBhvr>
                                        <p:cTn id="115" dur="500"/>
                                        <p:tgtEl>
                                          <p:spTgt spid="101"/>
                                        </p:tgtEl>
                                      </p:cBhvr>
                                    </p:animEffect>
                                  </p:childTnLst>
                                </p:cTn>
                              </p:par>
                              <p:par>
                                <p:cTn id="116" presetID="1" presetClass="exit" presetSubtype="0" fill="hold" grpId="2" nodeType="withEffect">
                                  <p:stCondLst>
                                    <p:cond delay="0"/>
                                  </p:stCondLst>
                                  <p:childTnLst>
                                    <p:set>
                                      <p:cBhvr>
                                        <p:cTn id="117" dur="1" fill="hold">
                                          <p:stCondLst>
                                            <p:cond delay="0"/>
                                          </p:stCondLst>
                                        </p:cTn>
                                        <p:tgtEl>
                                          <p:spTgt spid="144"/>
                                        </p:tgtEl>
                                        <p:attrNameLst>
                                          <p:attrName>style.visibility</p:attrName>
                                        </p:attrNameLst>
                                      </p:cBhvr>
                                      <p:to>
                                        <p:strVal val="hidden"/>
                                      </p:to>
                                    </p:set>
                                  </p:childTnLst>
                                </p:cTn>
                              </p:par>
                              <p:par>
                                <p:cTn id="118" presetID="1" presetClass="exit" presetSubtype="0" fill="hold" grpId="2" nodeType="withEffect">
                                  <p:stCondLst>
                                    <p:cond delay="0"/>
                                  </p:stCondLst>
                                  <p:childTnLst>
                                    <p:set>
                                      <p:cBhvr>
                                        <p:cTn id="119" dur="1" fill="hold">
                                          <p:stCondLst>
                                            <p:cond delay="0"/>
                                          </p:stCondLst>
                                        </p:cTn>
                                        <p:tgtEl>
                                          <p:spTgt spid="143"/>
                                        </p:tgtEl>
                                        <p:attrNameLst>
                                          <p:attrName>style.visibility</p:attrName>
                                        </p:attrNameLst>
                                      </p:cBhvr>
                                      <p:to>
                                        <p:strVal val="hidden"/>
                                      </p:to>
                                    </p:set>
                                  </p:childTnLst>
                                </p:cTn>
                              </p:par>
                              <p:par>
                                <p:cTn id="120" presetID="1" presetClass="exit" presetSubtype="0" fill="hold" grpId="2" nodeType="withEffect">
                                  <p:stCondLst>
                                    <p:cond delay="0"/>
                                  </p:stCondLst>
                                  <p:childTnLst>
                                    <p:set>
                                      <p:cBhvr>
                                        <p:cTn id="121" dur="1" fill="hold">
                                          <p:stCondLst>
                                            <p:cond delay="0"/>
                                          </p:stCondLst>
                                        </p:cTn>
                                        <p:tgtEl>
                                          <p:spTgt spid="142"/>
                                        </p:tgtEl>
                                        <p:attrNameLst>
                                          <p:attrName>style.visibility</p:attrName>
                                        </p:attrNameLst>
                                      </p:cBhvr>
                                      <p:to>
                                        <p:strVal val="hidden"/>
                                      </p:to>
                                    </p:set>
                                  </p:childTnLst>
                                </p:cTn>
                              </p:par>
                              <p:par>
                                <p:cTn id="122" presetID="1" presetClass="exit" presetSubtype="0" fill="hold" grpId="2" nodeType="withEffect">
                                  <p:stCondLst>
                                    <p:cond delay="0"/>
                                  </p:stCondLst>
                                  <p:childTnLst>
                                    <p:set>
                                      <p:cBhvr>
                                        <p:cTn id="123" dur="1" fill="hold">
                                          <p:stCondLst>
                                            <p:cond delay="0"/>
                                          </p:stCondLst>
                                        </p:cTn>
                                        <p:tgtEl>
                                          <p:spTgt spid="141"/>
                                        </p:tgtEl>
                                        <p:attrNameLst>
                                          <p:attrName>style.visibility</p:attrName>
                                        </p:attrNameLst>
                                      </p:cBhvr>
                                      <p:to>
                                        <p:strVal val="hidden"/>
                                      </p:to>
                                    </p:set>
                                  </p:childTnLst>
                                </p:cTn>
                              </p:par>
                              <p:par>
                                <p:cTn id="124" presetID="1" presetClass="exit" presetSubtype="0" fill="hold" grpId="2" nodeType="withEffect">
                                  <p:stCondLst>
                                    <p:cond delay="0"/>
                                  </p:stCondLst>
                                  <p:childTnLst>
                                    <p:set>
                                      <p:cBhvr>
                                        <p:cTn id="125" dur="1" fill="hold">
                                          <p:stCondLst>
                                            <p:cond delay="0"/>
                                          </p:stCondLst>
                                        </p:cTn>
                                        <p:tgtEl>
                                          <p:spTgt spid="140"/>
                                        </p:tgtEl>
                                        <p:attrNameLst>
                                          <p:attrName>style.visibility</p:attrName>
                                        </p:attrNameLst>
                                      </p:cBhvr>
                                      <p:to>
                                        <p:strVal val="hidden"/>
                                      </p:to>
                                    </p:set>
                                  </p:childTnLst>
                                </p:cTn>
                              </p:par>
                              <p:par>
                                <p:cTn id="126" presetID="1" presetClass="exit" presetSubtype="0" fill="hold" grpId="2" nodeType="withEffect">
                                  <p:stCondLst>
                                    <p:cond delay="0"/>
                                  </p:stCondLst>
                                  <p:childTnLst>
                                    <p:set>
                                      <p:cBhvr>
                                        <p:cTn id="127" dur="1" fill="hold">
                                          <p:stCondLst>
                                            <p:cond delay="0"/>
                                          </p:stCondLst>
                                        </p:cTn>
                                        <p:tgtEl>
                                          <p:spTgt spid="139"/>
                                        </p:tgtEl>
                                        <p:attrNameLst>
                                          <p:attrName>style.visibility</p:attrName>
                                        </p:attrNameLst>
                                      </p:cBhvr>
                                      <p:to>
                                        <p:strVal val="hidden"/>
                                      </p:to>
                                    </p:set>
                                  </p:childTnLst>
                                </p:cTn>
                              </p:par>
                              <p:par>
                                <p:cTn id="128" presetID="1" presetClass="exit" presetSubtype="0" fill="hold" grpId="2" nodeType="withEffect">
                                  <p:stCondLst>
                                    <p:cond delay="0"/>
                                  </p:stCondLst>
                                  <p:childTnLst>
                                    <p:set>
                                      <p:cBhvr>
                                        <p:cTn id="129" dur="1" fill="hold">
                                          <p:stCondLst>
                                            <p:cond delay="0"/>
                                          </p:stCondLst>
                                        </p:cTn>
                                        <p:tgtEl>
                                          <p:spTgt spid="138"/>
                                        </p:tgtEl>
                                        <p:attrNameLst>
                                          <p:attrName>style.visibility</p:attrName>
                                        </p:attrNameLst>
                                      </p:cBhvr>
                                      <p:to>
                                        <p:strVal val="hidden"/>
                                      </p:to>
                                    </p:set>
                                  </p:childTnLst>
                                </p:cTn>
                              </p:par>
                              <p:par>
                                <p:cTn id="130" presetID="1" presetClass="exit" presetSubtype="0" fill="hold" grpId="2" nodeType="withEffect">
                                  <p:stCondLst>
                                    <p:cond delay="0"/>
                                  </p:stCondLst>
                                  <p:childTnLst>
                                    <p:set>
                                      <p:cBhvr>
                                        <p:cTn id="131" dur="1" fill="hold">
                                          <p:stCondLst>
                                            <p:cond delay="0"/>
                                          </p:stCondLst>
                                        </p:cTn>
                                        <p:tgtEl>
                                          <p:spTgt spid="137"/>
                                        </p:tgtEl>
                                        <p:attrNameLst>
                                          <p:attrName>style.visibility</p:attrName>
                                        </p:attrNameLst>
                                      </p:cBhvr>
                                      <p:to>
                                        <p:strVal val="hidden"/>
                                      </p:to>
                                    </p:set>
                                  </p:childTnLst>
                                </p:cTn>
                              </p:par>
                            </p:childTnLst>
                          </p:cTn>
                        </p:par>
                      </p:childTnLst>
                    </p:cTn>
                  </p:par>
                  <p:par>
                    <p:cTn id="132" fill="hold" nodeType="clickPar">
                      <p:stCondLst>
                        <p:cond delay="indefinite"/>
                      </p:stCondLst>
                      <p:childTnLst>
                        <p:par>
                          <p:cTn id="133" fill="hold" nodeType="withGroup">
                            <p:stCondLst>
                              <p:cond delay="0"/>
                            </p:stCondLst>
                            <p:childTnLst>
                              <p:par>
                                <p:cTn id="134" presetID="0" presetClass="path" presetSubtype="0" accel="50000" decel="50000" fill="hold" grpId="0" nodeType="clickEffect">
                                  <p:stCondLst>
                                    <p:cond delay="0"/>
                                  </p:stCondLst>
                                  <p:childTnLst>
                                    <p:animMotion origin="layout" path="M 5.55112E-17 -4.44444E-6 L 0.3125 0.35556 " pathEditMode="relative" rAng="0" ptsTypes="AA">
                                      <p:cBhvr>
                                        <p:cTn id="135" dur="500" fill="hold"/>
                                        <p:tgtEl>
                                          <p:spTgt spid="101"/>
                                        </p:tgtEl>
                                        <p:attrNameLst>
                                          <p:attrName>ppt_x</p:attrName>
                                          <p:attrName>ppt_y</p:attrName>
                                        </p:attrNameLst>
                                      </p:cBhvr>
                                      <p:rCtr x="15600" y="17800"/>
                                    </p:animMotion>
                                  </p:childTnLst>
                                </p:cTn>
                              </p:par>
                            </p:childTnLst>
                          </p:cTn>
                        </p:par>
                        <p:par>
                          <p:cTn id="136" fill="hold" nodeType="afterGroup">
                            <p:stCondLst>
                              <p:cond delay="500"/>
                            </p:stCondLst>
                            <p:childTnLst>
                              <p:par>
                                <p:cTn id="137" presetID="0" presetClass="path" presetSubtype="0" accel="50000" decel="50000" fill="hold" grpId="0" nodeType="afterEffect">
                                  <p:stCondLst>
                                    <p:cond delay="0"/>
                                  </p:stCondLst>
                                  <p:childTnLst>
                                    <p:animMotion origin="layout" path="M 5.55112E-17 -3.33333E-6 L 0.32917 0.26667 " pathEditMode="relative" rAng="0" ptsTypes="AA">
                                      <p:cBhvr>
                                        <p:cTn id="138" dur="500" fill="hold"/>
                                        <p:tgtEl>
                                          <p:spTgt spid="100"/>
                                        </p:tgtEl>
                                        <p:attrNameLst>
                                          <p:attrName>ppt_x</p:attrName>
                                          <p:attrName>ppt_y</p:attrName>
                                        </p:attrNameLst>
                                      </p:cBhvr>
                                      <p:rCtr x="16500" y="13300"/>
                                    </p:animMotion>
                                  </p:childTnLst>
                                </p:cTn>
                              </p:par>
                            </p:childTnLst>
                          </p:cTn>
                        </p:par>
                        <p:par>
                          <p:cTn id="139" fill="hold" nodeType="afterGroup">
                            <p:stCondLst>
                              <p:cond delay="1000"/>
                            </p:stCondLst>
                            <p:childTnLst>
                              <p:par>
                                <p:cTn id="140" presetID="63" presetClass="path" presetSubtype="0" accel="50000" decel="50000" fill="hold" grpId="0" nodeType="afterEffect">
                                  <p:stCondLst>
                                    <p:cond delay="0"/>
                                  </p:stCondLst>
                                  <p:childTnLst>
                                    <p:animMotion origin="layout" path="M 5.55112E-17 -2.22222E-6 L 0.34583 0.17778 " pathEditMode="relative" rAng="0" ptsTypes="AA">
                                      <p:cBhvr>
                                        <p:cTn id="141" dur="500" fill="hold"/>
                                        <p:tgtEl>
                                          <p:spTgt spid="99"/>
                                        </p:tgtEl>
                                        <p:attrNameLst>
                                          <p:attrName>ppt_x</p:attrName>
                                          <p:attrName>ppt_y</p:attrName>
                                        </p:attrNameLst>
                                      </p:cBhvr>
                                      <p:rCtr x="17300" y="8900"/>
                                    </p:animMotion>
                                  </p:childTnLst>
                                </p:cTn>
                              </p:par>
                            </p:childTnLst>
                          </p:cTn>
                        </p:par>
                        <p:par>
                          <p:cTn id="142" fill="hold" nodeType="afterGroup">
                            <p:stCondLst>
                              <p:cond delay="1500"/>
                            </p:stCondLst>
                            <p:childTnLst>
                              <p:par>
                                <p:cTn id="143" presetID="63" presetClass="path" presetSubtype="0" accel="50000" decel="50000" fill="hold" grpId="0" nodeType="afterEffect">
                                  <p:stCondLst>
                                    <p:cond delay="0"/>
                                  </p:stCondLst>
                                  <p:childTnLst>
                                    <p:animMotion origin="layout" path="M 5.55112E-17 -1.11111E-6 L 0.3625 0.08889 " pathEditMode="relative" rAng="0" ptsTypes="AA">
                                      <p:cBhvr>
                                        <p:cTn id="144" dur="500" fill="hold"/>
                                        <p:tgtEl>
                                          <p:spTgt spid="98"/>
                                        </p:tgtEl>
                                        <p:attrNameLst>
                                          <p:attrName>ppt_x</p:attrName>
                                          <p:attrName>ppt_y</p:attrName>
                                        </p:attrNameLst>
                                      </p:cBhvr>
                                      <p:rCtr x="18100" y="4400"/>
                                    </p:animMotion>
                                  </p:childTnLst>
                                </p:cTn>
                              </p:par>
                            </p:childTnLst>
                          </p:cTn>
                        </p:par>
                        <p:par>
                          <p:cTn id="145" fill="hold" nodeType="afterGroup">
                            <p:stCondLst>
                              <p:cond delay="2000"/>
                            </p:stCondLst>
                            <p:childTnLst>
                              <p:par>
                                <p:cTn id="146" presetID="0" presetClass="path" presetSubtype="0" accel="50000" decel="50000" fill="hold" grpId="0" nodeType="afterEffect">
                                  <p:stCondLst>
                                    <p:cond delay="0"/>
                                  </p:stCondLst>
                                  <p:childTnLst>
                                    <p:animMotion origin="layout" path="M 3.33333E-6 1.11022E-16 L 0.3875 1.11022E-16 " pathEditMode="relative" rAng="0" ptsTypes="AA">
                                      <p:cBhvr>
                                        <p:cTn id="147" dur="500" fill="hold"/>
                                        <p:tgtEl>
                                          <p:spTgt spid="97"/>
                                        </p:tgtEl>
                                        <p:attrNameLst>
                                          <p:attrName>ppt_x</p:attrName>
                                          <p:attrName>ppt_y</p:attrName>
                                        </p:attrNameLst>
                                      </p:cBhvr>
                                      <p:rCtr x="19400" y="0"/>
                                    </p:animMotion>
                                  </p:childTnLst>
                                </p:cTn>
                              </p:par>
                            </p:childTnLst>
                          </p:cTn>
                        </p:par>
                        <p:par>
                          <p:cTn id="148" fill="hold" nodeType="afterGroup">
                            <p:stCondLst>
                              <p:cond delay="2500"/>
                            </p:stCondLst>
                            <p:childTnLst>
                              <p:par>
                                <p:cTn id="149" presetID="0" presetClass="path" presetSubtype="0" accel="50000" decel="50000" fill="hold" grpId="0" nodeType="afterEffect">
                                  <p:stCondLst>
                                    <p:cond delay="0"/>
                                  </p:stCondLst>
                                  <p:childTnLst>
                                    <p:animMotion origin="layout" path="M 3.33333E-6 1.11111E-6 L 0.39583 -0.08889 " pathEditMode="relative" rAng="0" ptsTypes="AA">
                                      <p:cBhvr>
                                        <p:cTn id="150" dur="500" fill="hold"/>
                                        <p:tgtEl>
                                          <p:spTgt spid="96"/>
                                        </p:tgtEl>
                                        <p:attrNameLst>
                                          <p:attrName>ppt_x</p:attrName>
                                          <p:attrName>ppt_y</p:attrName>
                                        </p:attrNameLst>
                                      </p:cBhvr>
                                      <p:rCtr x="19800" y="-4400"/>
                                    </p:animMotion>
                                  </p:childTnLst>
                                </p:cTn>
                              </p:par>
                            </p:childTnLst>
                          </p:cTn>
                        </p:par>
                        <p:par>
                          <p:cTn id="151" fill="hold" nodeType="afterGroup">
                            <p:stCondLst>
                              <p:cond delay="3000"/>
                            </p:stCondLst>
                            <p:childTnLst>
                              <p:par>
                                <p:cTn id="152" presetID="63" presetClass="path" presetSubtype="0" accel="50000" decel="50000" fill="hold" grpId="0" nodeType="afterEffect">
                                  <p:stCondLst>
                                    <p:cond delay="0"/>
                                  </p:stCondLst>
                                  <p:childTnLst>
                                    <p:animMotion origin="layout" path="M 3.33333E-6 2.22222E-6 L 0.40416 -0.17778 " pathEditMode="relative" rAng="0" ptsTypes="AA">
                                      <p:cBhvr>
                                        <p:cTn id="153" dur="500" fill="hold"/>
                                        <p:tgtEl>
                                          <p:spTgt spid="95"/>
                                        </p:tgtEl>
                                        <p:attrNameLst>
                                          <p:attrName>ppt_x</p:attrName>
                                          <p:attrName>ppt_y</p:attrName>
                                        </p:attrNameLst>
                                      </p:cBhvr>
                                      <p:rCtr x="20200" y="-8900"/>
                                    </p:animMotion>
                                  </p:childTnLst>
                                </p:cTn>
                              </p:par>
                            </p:childTnLst>
                          </p:cTn>
                        </p:par>
                        <p:par>
                          <p:cTn id="154" fill="hold" nodeType="afterGroup">
                            <p:stCondLst>
                              <p:cond delay="3500"/>
                            </p:stCondLst>
                            <p:childTnLst>
                              <p:par>
                                <p:cTn id="155" presetID="63" presetClass="path" presetSubtype="0" accel="50000" decel="50000" fill="hold" grpId="0" nodeType="afterEffect">
                                  <p:stCondLst>
                                    <p:cond delay="0"/>
                                  </p:stCondLst>
                                  <p:childTnLst>
                                    <p:animMotion origin="layout" path="M 3.33333E-6 3.33333E-6 L 0.4125 -0.26667 " pathEditMode="relative" rAng="0" ptsTypes="AA">
                                      <p:cBhvr>
                                        <p:cTn id="156" dur="500" fill="hold"/>
                                        <p:tgtEl>
                                          <p:spTgt spid="94"/>
                                        </p:tgtEl>
                                        <p:attrNameLst>
                                          <p:attrName>ppt_x</p:attrName>
                                          <p:attrName>ppt_y</p:attrName>
                                        </p:attrNameLst>
                                      </p:cBhvr>
                                      <p:rCtr x="20600" y="-13300"/>
                                    </p:animMotion>
                                  </p:childTnLst>
                                </p:cTn>
                              </p:par>
                            </p:childTnLst>
                          </p:cTn>
                        </p:par>
                        <p:par>
                          <p:cTn id="157" fill="hold" nodeType="afterGroup">
                            <p:stCondLst>
                              <p:cond delay="4000"/>
                            </p:stCondLst>
                            <p:childTnLst>
                              <p:par>
                                <p:cTn id="158" presetID="1" presetClass="entr" presetSubtype="0" fill="hold" grpId="0" nodeType="afterEffect">
                                  <p:stCondLst>
                                    <p:cond delay="0"/>
                                  </p:stCondLst>
                                  <p:childTnLst>
                                    <p:set>
                                      <p:cBhvr>
                                        <p:cTn id="159" dur="1" fill="hold">
                                          <p:stCondLst>
                                            <p:cond delay="0"/>
                                          </p:stCondLst>
                                        </p:cTn>
                                        <p:tgtEl>
                                          <p:spTgt spid="91"/>
                                        </p:tgtEl>
                                        <p:attrNameLst>
                                          <p:attrName>style.visibility</p:attrName>
                                        </p:attrNameLst>
                                      </p:cBhvr>
                                      <p:to>
                                        <p:strVal val="visible"/>
                                      </p:to>
                                    </p:set>
                                  </p:childTnLst>
                                  <p:subTnLst>
                                    <p:set>
                                      <p:cBhvr override="childStyle">
                                        <p:cTn dur="1" fill="hold" display="0" masterRel="nextClick" afterEffect="1"/>
                                        <p:tgtEl>
                                          <p:spTgt spid="91"/>
                                        </p:tgtEl>
                                        <p:attrNameLst>
                                          <p:attrName>style.visibility</p:attrName>
                                        </p:attrNameLst>
                                      </p:cBhvr>
                                      <p:to>
                                        <p:strVal val="hidden"/>
                                      </p:to>
                                    </p:set>
                                  </p:subTnLst>
                                </p:cTn>
                              </p:par>
                            </p:childTnLst>
                          </p:cTn>
                        </p:par>
                      </p:childTnLst>
                    </p:cTn>
                  </p:par>
                  <p:par>
                    <p:cTn id="160" fill="hold" nodeType="clickPar">
                      <p:stCondLst>
                        <p:cond delay="indefinite"/>
                      </p:stCondLst>
                      <p:childTnLst>
                        <p:par>
                          <p:cTn id="161" fill="hold" nodeType="withGroup">
                            <p:stCondLst>
                              <p:cond delay="0"/>
                            </p:stCondLst>
                            <p:childTnLst>
                              <p:par>
                                <p:cTn id="162" presetID="1" presetClass="entr" presetSubtype="0" fill="hold" grpId="0" nodeType="clickEffect">
                                  <p:stCondLst>
                                    <p:cond delay="0"/>
                                  </p:stCondLst>
                                  <p:childTnLst>
                                    <p:set>
                                      <p:cBhvr>
                                        <p:cTn id="163" dur="1" fill="hold">
                                          <p:stCondLst>
                                            <p:cond delay="0"/>
                                          </p:stCondLst>
                                        </p:cTn>
                                        <p:tgtEl>
                                          <p:spTgt spid="102"/>
                                        </p:tgtEl>
                                        <p:attrNameLst>
                                          <p:attrName>style.visibility</p:attrName>
                                        </p:attrNameLst>
                                      </p:cBhvr>
                                      <p:to>
                                        <p:strVal val="visible"/>
                                      </p:to>
                                    </p:set>
                                  </p:childTnLst>
                                </p:cTn>
                              </p:par>
                            </p:childTnLst>
                          </p:cTn>
                        </p:par>
                        <p:par>
                          <p:cTn id="164" fill="hold" nodeType="afterGroup">
                            <p:stCondLst>
                              <p:cond delay="0"/>
                            </p:stCondLst>
                            <p:childTnLst>
                              <p:par>
                                <p:cTn id="165" presetID="1" presetClass="entr" presetSubtype="0" fill="hold" grpId="0" nodeType="afterEffect">
                                  <p:stCondLst>
                                    <p:cond delay="0"/>
                                  </p:stCondLst>
                                  <p:childTnLst>
                                    <p:set>
                                      <p:cBhvr>
                                        <p:cTn id="166" dur="1" fill="hold">
                                          <p:stCondLst>
                                            <p:cond delay="0"/>
                                          </p:stCondLst>
                                        </p:cTn>
                                        <p:tgtEl>
                                          <p:spTgt spid="103"/>
                                        </p:tgtEl>
                                        <p:attrNameLst>
                                          <p:attrName>style.visibility</p:attrName>
                                        </p:attrNameLst>
                                      </p:cBhvr>
                                      <p:to>
                                        <p:strVal val="visible"/>
                                      </p:to>
                                    </p:set>
                                  </p:childTnLst>
                                </p:cTn>
                              </p:par>
                            </p:childTnLst>
                          </p:cTn>
                        </p:par>
                        <p:par>
                          <p:cTn id="167" fill="hold" nodeType="afterGroup">
                            <p:stCondLst>
                              <p:cond delay="0"/>
                            </p:stCondLst>
                            <p:childTnLst>
                              <p:par>
                                <p:cTn id="168" presetID="1" presetClass="entr" presetSubtype="0" fill="hold" grpId="0" nodeType="afterEffect">
                                  <p:stCondLst>
                                    <p:cond delay="0"/>
                                  </p:stCondLst>
                                  <p:childTnLst>
                                    <p:set>
                                      <p:cBhvr>
                                        <p:cTn id="169" dur="1" fill="hold">
                                          <p:stCondLst>
                                            <p:cond delay="0"/>
                                          </p:stCondLst>
                                        </p:cTn>
                                        <p:tgtEl>
                                          <p:spTgt spid="84"/>
                                        </p:tgtEl>
                                        <p:attrNameLst>
                                          <p:attrName>style.visibility</p:attrName>
                                        </p:attrNameLst>
                                      </p:cBhvr>
                                      <p:to>
                                        <p:strVal val="visible"/>
                                      </p:to>
                                    </p:set>
                                  </p:childTnLst>
                                </p:cTn>
                              </p:par>
                            </p:childTnLst>
                          </p:cTn>
                        </p:par>
                        <p:par>
                          <p:cTn id="170" fill="hold" nodeType="afterGroup">
                            <p:stCondLst>
                              <p:cond delay="0"/>
                            </p:stCondLst>
                            <p:childTnLst>
                              <p:par>
                                <p:cTn id="171" presetID="1" presetClass="entr" presetSubtype="0" fill="hold" grpId="0" nodeType="afterEffect">
                                  <p:stCondLst>
                                    <p:cond delay="0"/>
                                  </p:stCondLst>
                                  <p:childTnLst>
                                    <p:set>
                                      <p:cBhvr>
                                        <p:cTn id="172" dur="1" fill="hold">
                                          <p:stCondLst>
                                            <p:cond delay="0"/>
                                          </p:stCondLst>
                                        </p:cTn>
                                        <p:tgtEl>
                                          <p:spTgt spid="86"/>
                                        </p:tgtEl>
                                        <p:attrNameLst>
                                          <p:attrName>style.visibility</p:attrName>
                                        </p:attrNameLst>
                                      </p:cBhvr>
                                      <p:to>
                                        <p:strVal val="visible"/>
                                      </p:to>
                                    </p:set>
                                  </p:childTnLst>
                                </p:cTn>
                              </p:par>
                            </p:childTnLst>
                          </p:cTn>
                        </p:par>
                      </p:childTnLst>
                    </p:cTn>
                  </p:par>
                  <p:par>
                    <p:cTn id="173" fill="hold" nodeType="clickPar">
                      <p:stCondLst>
                        <p:cond delay="indefinite"/>
                      </p:stCondLst>
                      <p:childTnLst>
                        <p:par>
                          <p:cTn id="174" fill="hold" nodeType="withGroup">
                            <p:stCondLst>
                              <p:cond delay="0"/>
                            </p:stCondLst>
                            <p:childTnLst>
                              <p:par>
                                <p:cTn id="175" presetID="1" presetClass="entr" presetSubtype="0" fill="hold" grpId="0" nodeType="clickEffect">
                                  <p:stCondLst>
                                    <p:cond delay="0"/>
                                  </p:stCondLst>
                                  <p:childTnLst>
                                    <p:set>
                                      <p:cBhvr>
                                        <p:cTn id="176" dur="1" fill="hold">
                                          <p:stCondLst>
                                            <p:cond delay="0"/>
                                          </p:stCondLst>
                                        </p:cTn>
                                        <p:tgtEl>
                                          <p:spTgt spid="87"/>
                                        </p:tgtEl>
                                        <p:attrNameLst>
                                          <p:attrName>style.visibility</p:attrName>
                                        </p:attrNameLst>
                                      </p:cBhvr>
                                      <p:to>
                                        <p:strVal val="visible"/>
                                      </p:to>
                                    </p:set>
                                  </p:childTnLst>
                                </p:cTn>
                              </p:par>
                            </p:childTnLst>
                          </p:cTn>
                        </p:par>
                      </p:childTnLst>
                    </p:cTn>
                  </p:par>
                  <p:par>
                    <p:cTn id="177" fill="hold" nodeType="clickPar">
                      <p:stCondLst>
                        <p:cond delay="indefinite"/>
                      </p:stCondLst>
                      <p:childTnLst>
                        <p:par>
                          <p:cTn id="178" fill="hold" nodeType="withGroup">
                            <p:stCondLst>
                              <p:cond delay="0"/>
                            </p:stCondLst>
                            <p:childTnLst>
                              <p:par>
                                <p:cTn id="179" presetID="9" presetClass="entr" presetSubtype="0" fill="hold" grpId="0" nodeType="clickEffect">
                                  <p:stCondLst>
                                    <p:cond delay="0"/>
                                  </p:stCondLst>
                                  <p:childTnLst>
                                    <p:set>
                                      <p:cBhvr>
                                        <p:cTn id="180" dur="1" fill="hold">
                                          <p:stCondLst>
                                            <p:cond delay="0"/>
                                          </p:stCondLst>
                                        </p:cTn>
                                        <p:tgtEl>
                                          <p:spTgt spid="104"/>
                                        </p:tgtEl>
                                        <p:attrNameLst>
                                          <p:attrName>style.visibility</p:attrName>
                                        </p:attrNameLst>
                                      </p:cBhvr>
                                      <p:to>
                                        <p:strVal val="visible"/>
                                      </p:to>
                                    </p:set>
                                    <p:animEffect transition="in" filter="dissolve">
                                      <p:cBhvr>
                                        <p:cTn id="181" dur="5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p:bldP spid="137" grpId="0" animBg="1"/>
      <p:bldP spid="137" grpId="1" animBg="1"/>
      <p:bldP spid="137" grpId="2" animBg="1"/>
      <p:bldP spid="138" grpId="0" animBg="1"/>
      <p:bldP spid="138" grpId="1" animBg="1"/>
      <p:bldP spid="138" grpId="2" animBg="1"/>
      <p:bldP spid="139" grpId="0" animBg="1"/>
      <p:bldP spid="139" grpId="1" animBg="1"/>
      <p:bldP spid="139" grpId="2" animBg="1"/>
      <p:bldP spid="140" grpId="0" animBg="1"/>
      <p:bldP spid="140" grpId="1" animBg="1"/>
      <p:bldP spid="140" grpId="2" animBg="1"/>
      <p:bldP spid="141" grpId="0" animBg="1"/>
      <p:bldP spid="141" grpId="1" animBg="1"/>
      <p:bldP spid="141" grpId="2" animBg="1"/>
      <p:bldP spid="142" grpId="0" animBg="1"/>
      <p:bldP spid="142" grpId="1" animBg="1"/>
      <p:bldP spid="142" grpId="2" animBg="1"/>
      <p:bldP spid="143" grpId="0" animBg="1"/>
      <p:bldP spid="143" grpId="1" animBg="1"/>
      <p:bldP spid="143" grpId="2" animBg="1"/>
      <p:bldP spid="144" grpId="0" animBg="1"/>
      <p:bldP spid="144" grpId="1" animBg="1"/>
      <p:bldP spid="144" grpId="2" animBg="1"/>
      <p:bldP spid="171" grpId="0" build="p"/>
      <p:bldP spid="94" grpId="0" animBg="1"/>
      <p:bldP spid="94" grpId="1" animBg="1"/>
      <p:bldP spid="95" grpId="0" animBg="1"/>
      <p:bldP spid="95" grpId="1" animBg="1"/>
      <p:bldP spid="96" grpId="0" animBg="1"/>
      <p:bldP spid="96" grpId="1" animBg="1"/>
      <p:bldP spid="97" grpId="0" animBg="1"/>
      <p:bldP spid="97" grpId="1" animBg="1"/>
      <p:bldP spid="98" grpId="0" animBg="1"/>
      <p:bldP spid="98" grpId="1" animBg="1"/>
      <p:bldP spid="99" grpId="0" animBg="1"/>
      <p:bldP spid="99" grpId="1" animBg="1"/>
      <p:bldP spid="100" grpId="0" animBg="1"/>
      <p:bldP spid="100" grpId="1" animBg="1"/>
      <p:bldP spid="101" grpId="0" animBg="1"/>
      <p:bldP spid="101" grpId="1" animBg="1"/>
      <p:bldP spid="102" grpId="0" animBg="1"/>
      <p:bldP spid="103" grpId="0" animBg="1"/>
      <p:bldP spid="84" grpId="0" animBg="1"/>
      <p:bldP spid="86" grpId="0" animBg="1"/>
      <p:bldP spid="92" grpId="0"/>
      <p:bldP spid="91" grpId="0" animBg="1"/>
      <p:bldP spid="87" grpId="0" animBg="1"/>
      <p:bldP spid="104"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pPr eaLnBrk="1" hangingPunct="1"/>
            <a:r>
              <a:rPr lang="en-US" altLang="en-US" sz="3600" smtClean="0"/>
              <a:t>Asking for help from SSD manufacturers?</a:t>
            </a:r>
          </a:p>
        </p:txBody>
      </p:sp>
      <p:sp>
        <p:nvSpPr>
          <p:cNvPr id="3" name="Content Placeholder 2"/>
          <p:cNvSpPr>
            <a:spLocks noGrp="1"/>
          </p:cNvSpPr>
          <p:nvPr>
            <p:ph idx="1"/>
          </p:nvPr>
        </p:nvSpPr>
        <p:spPr>
          <a:xfrm>
            <a:off x="457200" y="1600200"/>
            <a:ext cx="8153400" cy="1752600"/>
          </a:xfrm>
        </p:spPr>
        <p:txBody>
          <a:bodyPr/>
          <a:lstStyle/>
          <a:p>
            <a:pPr eaLnBrk="1" hangingPunct="1"/>
            <a:r>
              <a:rPr lang="en-US" altLang="en-US" b="1" smtClean="0">
                <a:solidFill>
                  <a:srgbClr val="C00000"/>
                </a:solidFill>
              </a:rPr>
              <a:t>Intellectual property</a:t>
            </a:r>
            <a:r>
              <a:rPr lang="en-US" altLang="en-US" smtClean="0"/>
              <a:t> issues</a:t>
            </a:r>
          </a:p>
          <a:p>
            <a:pPr eaLnBrk="1" hangingPunct="1"/>
            <a:r>
              <a:rPr lang="en-US" altLang="en-US" b="1" smtClean="0">
                <a:solidFill>
                  <a:srgbClr val="10253F"/>
                </a:solidFill>
              </a:rPr>
              <a:t>Limited unreliable info </a:t>
            </a:r>
            <a:r>
              <a:rPr lang="en-US" altLang="en-US" smtClean="0"/>
              <a:t>in specification</a:t>
            </a:r>
          </a:p>
          <a:p>
            <a:pPr eaLnBrk="1" hangingPunct="1"/>
            <a:r>
              <a:rPr lang="en-US" altLang="en-US" smtClean="0"/>
              <a:t>The strictly defined </a:t>
            </a:r>
            <a:r>
              <a:rPr lang="en-US" altLang="en-US" b="1" smtClean="0">
                <a:solidFill>
                  <a:srgbClr val="4F6228"/>
                </a:solidFill>
              </a:rPr>
              <a:t>standard </a:t>
            </a:r>
            <a:r>
              <a:rPr lang="en-US" altLang="en-US" smtClean="0"/>
              <a:t>interface</a:t>
            </a:r>
          </a:p>
          <a:p>
            <a:pPr eaLnBrk="1" hangingPunct="1"/>
            <a:endParaRPr lang="en-US" altLang="en-US" smtClean="0"/>
          </a:p>
        </p:txBody>
      </p:sp>
      <p:sp>
        <p:nvSpPr>
          <p:cNvPr id="47108" name="Slide Number Placeholder 3"/>
          <p:cNvSpPr>
            <a:spLocks noGrp="1"/>
          </p:cNvSpPr>
          <p:nvPr>
            <p:ph type="sldNum" sz="quarter" idx="4294967295"/>
          </p:nvPr>
        </p:nvSpPr>
        <p:spPr bwMode="auto">
          <a:xfrm>
            <a:off x="7010400" y="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 typeface="Wingdings" panose="05000000000000000000" pitchFamily="2" charset="2"/>
              <a:buNone/>
            </a:pPr>
            <a:fld id="{33C6032C-A864-4A20-9D23-727DFE7D55C9}" type="slidenum">
              <a:rPr lang="zh-CN" altLang="en-US" sz="1200">
                <a:solidFill>
                  <a:srgbClr val="898989"/>
                </a:solidFill>
                <a:latin typeface="Verdana" panose="020B0604030504040204" pitchFamily="34" charset="0"/>
              </a:rPr>
              <a:pPr>
                <a:spcBef>
                  <a:spcPct val="50000"/>
                </a:spcBef>
                <a:buFont typeface="Wingdings" panose="05000000000000000000" pitchFamily="2" charset="2"/>
                <a:buNone/>
              </a:pPr>
              <a:t>87</a:t>
            </a:fld>
            <a:endParaRPr lang="zh-CN" altLang="en-US" sz="1200">
              <a:solidFill>
                <a:srgbClr val="898989"/>
              </a:solidFill>
              <a:latin typeface="Verdana" panose="020B0604030504040204" pitchFamily="34" charset="0"/>
            </a:endParaRPr>
          </a:p>
        </p:txBody>
      </p:sp>
      <p:grpSp>
        <p:nvGrpSpPr>
          <p:cNvPr id="2" name="Group 11"/>
          <p:cNvGrpSpPr>
            <a:grpSpLocks/>
          </p:cNvGrpSpPr>
          <p:nvPr/>
        </p:nvGrpSpPr>
        <p:grpSpPr bwMode="auto">
          <a:xfrm>
            <a:off x="304800" y="3505200"/>
            <a:ext cx="8534400" cy="2416175"/>
            <a:chOff x="304800" y="4121458"/>
            <a:chExt cx="8534400" cy="2416483"/>
          </a:xfrm>
        </p:grpSpPr>
        <p:pic>
          <p:nvPicPr>
            <p:cNvPr id="4098" name="Picture 2"/>
            <p:cNvPicPr>
              <a:picLocks noChangeAspect="1" noChangeArrowheads="1"/>
            </p:cNvPicPr>
            <p:nvPr/>
          </p:nvPicPr>
          <p:blipFill>
            <a:blip r:embed="rId2"/>
            <a:srcRect/>
            <a:stretch>
              <a:fillRect/>
            </a:stretch>
          </p:blipFill>
          <p:spPr bwMode="auto">
            <a:xfrm>
              <a:off x="304800" y="4121458"/>
              <a:ext cx="8534400" cy="2051311"/>
            </a:xfrm>
            <a:prstGeom prst="rect">
              <a:avLst/>
            </a:prstGeom>
            <a:noFill/>
            <a:ln w="9525">
              <a:noFill/>
              <a:miter lim="800000"/>
              <a:headEnd/>
              <a:tailEnd/>
            </a:ln>
            <a:effectLst>
              <a:outerShdw blurRad="63500" sx="102000" sy="102000" algn="ctr" rotWithShape="0">
                <a:prstClr val="black">
                  <a:alpha val="40000"/>
                </a:prstClr>
              </a:outerShdw>
            </a:effectLst>
          </p:spPr>
        </p:pic>
        <p:sp>
          <p:nvSpPr>
            <p:cNvPr id="47119" name="Rectangle 10"/>
            <p:cNvSpPr>
              <a:spLocks noChangeArrowheads="1"/>
            </p:cNvSpPr>
            <p:nvPr/>
          </p:nvSpPr>
          <p:spPr bwMode="auto">
            <a:xfrm>
              <a:off x="3352800" y="6172200"/>
              <a:ext cx="2744662" cy="365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50000"/>
                </a:spcBef>
                <a:spcAft>
                  <a:spcPct val="20000"/>
                </a:spcAft>
                <a:buFont typeface="Wingdings" panose="05000000000000000000" pitchFamily="2" charset="2"/>
                <a:buNone/>
              </a:pPr>
              <a:r>
                <a:rPr lang="en-US" altLang="en-US" sz="1600">
                  <a:solidFill>
                    <a:srgbClr val="010000"/>
                  </a:solidFill>
                  <a:latin typeface="Verdana" panose="020B0604030504040204" pitchFamily="34" charset="0"/>
                </a:rPr>
                <a:t>An example specification</a:t>
              </a:r>
            </a:p>
          </p:txBody>
        </p:sp>
      </p:grpSp>
      <p:sp>
        <p:nvSpPr>
          <p:cNvPr id="10" name="Content Placeholder 2"/>
          <p:cNvSpPr txBox="1">
            <a:spLocks/>
          </p:cNvSpPr>
          <p:nvPr/>
        </p:nvSpPr>
        <p:spPr>
          <a:xfrm>
            <a:off x="0" y="5715000"/>
            <a:ext cx="9144000" cy="1143000"/>
          </a:xfrm>
          <a:prstGeom prst="rect">
            <a:avLst/>
          </a:prstGeom>
          <a:solidFill>
            <a:srgbClr val="002060"/>
          </a:solidFill>
          <a:ln>
            <a:noFill/>
          </a:ln>
        </p:spPr>
        <p:style>
          <a:lnRef idx="2">
            <a:schemeClr val="dk1"/>
          </a:lnRef>
          <a:fillRef idx="1">
            <a:schemeClr val="lt1"/>
          </a:fillRef>
          <a:effectRef idx="0">
            <a:schemeClr val="dk1"/>
          </a:effectRef>
          <a:fontRef idx="minor">
            <a:schemeClr val="dk1"/>
          </a:fontRef>
        </p:style>
        <p:txBody>
          <a:bodyPr anchor="ctr">
            <a:normAutofit/>
          </a:bodyPr>
          <a:lstStyle/>
          <a:p>
            <a:pPr marL="1588" indent="-1588" algn="ctr" eaLnBrk="1" fontAlgn="auto" hangingPunct="1">
              <a:spcBef>
                <a:spcPct val="20000"/>
              </a:spcBef>
              <a:spcAft>
                <a:spcPts val="0"/>
              </a:spcAft>
              <a:buFont typeface="Wingdings" pitchFamily="2" charset="2"/>
              <a:buNone/>
              <a:defRPr/>
            </a:pPr>
            <a:r>
              <a:rPr lang="en-US" sz="2200" b="1" i="1" dirty="0">
                <a:solidFill>
                  <a:schemeClr val="bg1"/>
                </a:solidFill>
                <a:latin typeface="Verdana" pitchFamily="34" charset="0"/>
                <a:ea typeface="Verdana" pitchFamily="34" charset="0"/>
                <a:cs typeface="Verdana" pitchFamily="34" charset="0"/>
              </a:rPr>
              <a:t>How to get the architectural-level information </a:t>
            </a:r>
            <a:r>
              <a:rPr lang="en-US" sz="2200" b="1" i="1" dirty="0">
                <a:solidFill>
                  <a:srgbClr val="FFFF00"/>
                </a:solidFill>
                <a:latin typeface="Verdana" pitchFamily="34" charset="0"/>
                <a:ea typeface="Verdana" pitchFamily="34" charset="0"/>
                <a:cs typeface="Verdana" pitchFamily="34" charset="0"/>
              </a:rPr>
              <a:t>without</a:t>
            </a:r>
            <a:r>
              <a:rPr lang="en-US" sz="2200" b="1" i="1" dirty="0">
                <a:solidFill>
                  <a:schemeClr val="bg1"/>
                </a:solidFill>
                <a:latin typeface="Verdana" pitchFamily="34" charset="0"/>
                <a:ea typeface="Verdana" pitchFamily="34" charset="0"/>
                <a:cs typeface="Verdana" pitchFamily="34" charset="0"/>
              </a:rPr>
              <a:t> modifying the interface and hardware?</a:t>
            </a:r>
          </a:p>
        </p:txBody>
      </p:sp>
      <p:grpSp>
        <p:nvGrpSpPr>
          <p:cNvPr id="4" name="Group 13"/>
          <p:cNvGrpSpPr>
            <a:grpSpLocks/>
          </p:cNvGrpSpPr>
          <p:nvPr/>
        </p:nvGrpSpPr>
        <p:grpSpPr bwMode="auto">
          <a:xfrm>
            <a:off x="1828800" y="3886200"/>
            <a:ext cx="5476875" cy="1152525"/>
            <a:chOff x="2362200" y="3962400"/>
            <a:chExt cx="5476875" cy="1152525"/>
          </a:xfrm>
        </p:grpSpPr>
        <p:grpSp>
          <p:nvGrpSpPr>
            <p:cNvPr id="47114" name="Group 13"/>
            <p:cNvGrpSpPr>
              <a:grpSpLocks/>
            </p:cNvGrpSpPr>
            <p:nvPr/>
          </p:nvGrpSpPr>
          <p:grpSpPr bwMode="auto">
            <a:xfrm>
              <a:off x="2362200" y="4038600"/>
              <a:ext cx="3429000" cy="1070783"/>
              <a:chOff x="1828800" y="4191000"/>
              <a:chExt cx="3429000" cy="1070783"/>
            </a:xfrm>
          </p:grpSpPr>
          <p:pic>
            <p:nvPicPr>
              <p:cNvPr id="4711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4267200"/>
                <a:ext cx="9525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7"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4191000"/>
                <a:ext cx="2057400" cy="1070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7115"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24600" y="3962400"/>
              <a:ext cx="15144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16" name="Straight Connector 15"/>
          <p:cNvCxnSpPr/>
          <p:nvPr/>
        </p:nvCxnSpPr>
        <p:spPr>
          <a:xfrm>
            <a:off x="685800" y="4495800"/>
            <a:ext cx="4876800" cy="0"/>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447800" y="5257800"/>
            <a:ext cx="6019800" cy="0"/>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42710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left)">
                                      <p:cBhvr>
                                        <p:cTn id="19" dur="1000"/>
                                        <p:tgtEl>
                                          <p:spTgt spid="16"/>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left)">
                                      <p:cBhvr>
                                        <p:cTn id="24" dur="1000"/>
                                        <p:tgtEl>
                                          <p:spTgt spid="17"/>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childTnLst>
                                </p:cTn>
                              </p:par>
                              <p:par>
                                <p:cTn id="29" presetID="1" presetClass="exit" presetSubtype="0" fill="hold" nodeType="withEffect">
                                  <p:stCondLst>
                                    <p:cond delay="0"/>
                                  </p:stCondLst>
                                  <p:childTnLst>
                                    <p:set>
                                      <p:cBhvr>
                                        <p:cTn id="30" dur="1" fill="hold">
                                          <p:stCondLst>
                                            <p:cond delay="0"/>
                                          </p:stCondLst>
                                        </p:cTn>
                                        <p:tgtEl>
                                          <p:spTgt spid="2"/>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16"/>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17"/>
                                        </p:tgtEl>
                                        <p:attrNameLst>
                                          <p:attrName>style.visibility</p:attrName>
                                        </p:attrNameLst>
                                      </p:cBhvr>
                                      <p:to>
                                        <p:strVal val="hidden"/>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Title 1"/>
          <p:cNvSpPr>
            <a:spLocks noGrp="1"/>
          </p:cNvSpPr>
          <p:nvPr>
            <p:ph type="title"/>
          </p:nvPr>
        </p:nvSpPr>
        <p:spPr>
          <a:xfrm>
            <a:off x="457200" y="152400"/>
            <a:ext cx="8229600" cy="1143000"/>
          </a:xfrm>
        </p:spPr>
        <p:txBody>
          <a:bodyPr/>
          <a:lstStyle/>
          <a:p>
            <a:pPr eaLnBrk="1" hangingPunct="1"/>
            <a:r>
              <a:rPr lang="en-US" altLang="en-US" smtClean="0"/>
              <a:t>Our approach</a:t>
            </a:r>
          </a:p>
        </p:txBody>
      </p:sp>
      <p:sp>
        <p:nvSpPr>
          <p:cNvPr id="3" name="Content Placeholder 2"/>
          <p:cNvSpPr>
            <a:spLocks noGrp="1"/>
          </p:cNvSpPr>
          <p:nvPr>
            <p:ph idx="1"/>
          </p:nvPr>
        </p:nvSpPr>
        <p:spPr>
          <a:xfrm>
            <a:off x="457200" y="1189038"/>
            <a:ext cx="8229600" cy="4525962"/>
          </a:xfrm>
        </p:spPr>
        <p:txBody>
          <a:bodyPr/>
          <a:lstStyle/>
          <a:p>
            <a:pPr marL="342900" indent="-342900" eaLnBrk="1" hangingPunct="1">
              <a:buFont typeface="Arial" panose="020B0604020202020204" pitchFamily="34" charset="0"/>
              <a:buChar char="•"/>
            </a:pPr>
            <a:r>
              <a:rPr lang="en-US" altLang="en-US" sz="2000" dirty="0" smtClean="0"/>
              <a:t>Treat an SSD as a </a:t>
            </a:r>
            <a:r>
              <a:rPr lang="en-US" altLang="en-US" sz="2400" b="1" dirty="0" smtClean="0"/>
              <a:t>black-box</a:t>
            </a:r>
            <a:endParaRPr lang="en-US" altLang="en-US" sz="2000" b="1" dirty="0" smtClean="0"/>
          </a:p>
          <a:p>
            <a:pPr marL="342900" indent="-342900" eaLnBrk="1" hangingPunct="1">
              <a:buFont typeface="Arial" panose="020B0604020202020204" pitchFamily="34" charset="0"/>
              <a:buChar char="•"/>
            </a:pPr>
            <a:r>
              <a:rPr lang="en-US" altLang="en-US" sz="2000" dirty="0" smtClean="0"/>
              <a:t>Assume a </a:t>
            </a:r>
            <a:r>
              <a:rPr lang="en-US" altLang="en-US" sz="2000" b="1" dirty="0" smtClean="0">
                <a:solidFill>
                  <a:srgbClr val="254061"/>
                </a:solidFill>
              </a:rPr>
              <a:t>repeatable but unknown pattern</a:t>
            </a:r>
          </a:p>
          <a:p>
            <a:pPr marL="342900" indent="-342900" eaLnBrk="1" hangingPunct="1">
              <a:buFont typeface="Arial" panose="020B0604020202020204" pitchFamily="34" charset="0"/>
              <a:buChar char="•"/>
            </a:pPr>
            <a:r>
              <a:rPr lang="en-US" altLang="en-US" sz="2000" dirty="0" smtClean="0"/>
              <a:t>Inject</a:t>
            </a:r>
            <a:r>
              <a:rPr lang="en-US" altLang="en-US" sz="1200" dirty="0"/>
              <a:t> </a:t>
            </a:r>
            <a:r>
              <a:rPr lang="en-US" altLang="en-US" sz="1200" dirty="0" smtClean="0"/>
              <a:t> </a:t>
            </a:r>
            <a:r>
              <a:rPr lang="en-US" altLang="en-US" sz="2000" dirty="0" smtClean="0"/>
              <a:t>I/O traffic to probe the device</a:t>
            </a:r>
          </a:p>
          <a:p>
            <a:pPr marL="342900" indent="-342900" eaLnBrk="1" hangingPunct="1">
              <a:buFont typeface="Arial" panose="020B0604020202020204" pitchFamily="34" charset="0"/>
              <a:buChar char="•"/>
            </a:pPr>
            <a:r>
              <a:rPr lang="en-US" altLang="en-US" sz="2000" dirty="0" smtClean="0"/>
              <a:t>Observe the reactions of SSD in B/W and latencies</a:t>
            </a:r>
          </a:p>
          <a:p>
            <a:pPr marL="342900" indent="-342900" eaLnBrk="1" hangingPunct="1">
              <a:buFont typeface="Arial" panose="020B0604020202020204" pitchFamily="34" charset="0"/>
              <a:buChar char="•"/>
            </a:pPr>
            <a:r>
              <a:rPr lang="en-US" altLang="en-US" sz="2000" dirty="0" smtClean="0"/>
              <a:t>Enumerate possible policies based on open documents*</a:t>
            </a:r>
          </a:p>
          <a:p>
            <a:pPr marL="342900" indent="-342900" eaLnBrk="1" hangingPunct="1">
              <a:buFont typeface="Arial" panose="020B0604020202020204" pitchFamily="34" charset="0"/>
              <a:buChar char="•"/>
            </a:pPr>
            <a:r>
              <a:rPr lang="en-US" altLang="en-US" sz="2400" b="1" dirty="0" smtClean="0">
                <a:solidFill>
                  <a:srgbClr val="C00000"/>
                </a:solidFill>
              </a:rPr>
              <a:t>Speculate</a:t>
            </a:r>
            <a:r>
              <a:rPr lang="en-US" altLang="en-US" sz="2400" dirty="0" smtClean="0"/>
              <a:t> </a:t>
            </a:r>
            <a:r>
              <a:rPr lang="en-US" altLang="en-US" sz="2000" dirty="0" smtClean="0"/>
              <a:t>the internal structures</a:t>
            </a:r>
          </a:p>
        </p:txBody>
      </p:sp>
      <p:sp>
        <p:nvSpPr>
          <p:cNvPr id="49156" name="Slide Number Placeholder 3"/>
          <p:cNvSpPr>
            <a:spLocks noGrp="1"/>
          </p:cNvSpPr>
          <p:nvPr>
            <p:ph type="sldNum" sz="quarter" idx="4294967295"/>
          </p:nvPr>
        </p:nvSpPr>
        <p:spPr bwMode="auto">
          <a:xfrm>
            <a:off x="7010400" y="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 typeface="Wingdings" panose="05000000000000000000" pitchFamily="2" charset="2"/>
              <a:buNone/>
            </a:pPr>
            <a:fld id="{09E2EFAB-1093-420E-8E5A-769DC656C9D6}" type="slidenum">
              <a:rPr lang="zh-CN" altLang="en-US" sz="1200">
                <a:solidFill>
                  <a:srgbClr val="898989"/>
                </a:solidFill>
                <a:latin typeface="Verdana" panose="020B0604030504040204" pitchFamily="34" charset="0"/>
              </a:rPr>
              <a:pPr>
                <a:spcBef>
                  <a:spcPct val="50000"/>
                </a:spcBef>
                <a:buFont typeface="Wingdings" panose="05000000000000000000" pitchFamily="2" charset="2"/>
                <a:buNone/>
              </a:pPr>
              <a:t>88</a:t>
            </a:fld>
            <a:endParaRPr lang="zh-CN" altLang="en-US" sz="1200">
              <a:solidFill>
                <a:srgbClr val="898989"/>
              </a:solidFill>
              <a:latin typeface="Verdana" panose="020B0604030504040204" pitchFamily="34" charset="0"/>
            </a:endParaRP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3632200"/>
            <a:ext cx="2209800" cy="302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1847850" y="3886200"/>
            <a:ext cx="1981200" cy="2667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Char char="Ø"/>
              <a:defRPr/>
            </a:pPr>
            <a:endParaRPr lang="en-US" altLang="en-US" smtClean="0">
              <a:solidFill>
                <a:srgbClr val="FFFFFF"/>
              </a:solidFill>
              <a:latin typeface="Calibri" pitchFamily="34" charset="0"/>
            </a:endParaRPr>
          </a:p>
        </p:txBody>
      </p:sp>
      <p:grpSp>
        <p:nvGrpSpPr>
          <p:cNvPr id="2" name="Group 11"/>
          <p:cNvGrpSpPr>
            <a:grpSpLocks/>
          </p:cNvGrpSpPr>
          <p:nvPr/>
        </p:nvGrpSpPr>
        <p:grpSpPr bwMode="auto">
          <a:xfrm>
            <a:off x="76200" y="4648200"/>
            <a:ext cx="1600200" cy="1652588"/>
            <a:chOff x="1524000" y="4648200"/>
            <a:chExt cx="1600200" cy="1653230"/>
          </a:xfrm>
        </p:grpSpPr>
        <p:sp>
          <p:nvSpPr>
            <p:cNvPr id="8" name="Right Arrow 7"/>
            <p:cNvSpPr/>
            <p:nvPr/>
          </p:nvSpPr>
          <p:spPr>
            <a:xfrm>
              <a:off x="1524000" y="4648200"/>
              <a:ext cx="1600200" cy="1143444"/>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Char char="Ø"/>
                <a:defRPr/>
              </a:pPr>
              <a:endParaRPr lang="en-US" altLang="en-US" smtClean="0">
                <a:solidFill>
                  <a:srgbClr val="FFFFFF"/>
                </a:solidFill>
                <a:latin typeface="Calibri" pitchFamily="34" charset="0"/>
              </a:endParaRPr>
            </a:p>
          </p:txBody>
        </p:sp>
        <p:sp>
          <p:nvSpPr>
            <p:cNvPr id="49191" name="Rectangle 10"/>
            <p:cNvSpPr>
              <a:spLocks noChangeArrowheads="1"/>
            </p:cNvSpPr>
            <p:nvPr/>
          </p:nvSpPr>
          <p:spPr bwMode="auto">
            <a:xfrm>
              <a:off x="1524000" y="5867400"/>
              <a:ext cx="1533112" cy="43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50000"/>
                </a:spcBef>
                <a:spcAft>
                  <a:spcPct val="20000"/>
                </a:spcAft>
                <a:buFont typeface="Wingdings" panose="05000000000000000000" pitchFamily="2" charset="2"/>
                <a:buNone/>
              </a:pPr>
              <a:r>
                <a:rPr lang="en-US" altLang="en-US" sz="2000">
                  <a:solidFill>
                    <a:srgbClr val="010000"/>
                  </a:solidFill>
                  <a:latin typeface="Verdana" panose="020B0604030504040204" pitchFamily="34" charset="0"/>
                </a:rPr>
                <a:t>I/O traffic </a:t>
              </a:r>
            </a:p>
          </p:txBody>
        </p:sp>
      </p:grpSp>
      <p:grpSp>
        <p:nvGrpSpPr>
          <p:cNvPr id="4" name="Group 13"/>
          <p:cNvGrpSpPr>
            <a:grpSpLocks/>
          </p:cNvGrpSpPr>
          <p:nvPr/>
        </p:nvGrpSpPr>
        <p:grpSpPr bwMode="auto">
          <a:xfrm>
            <a:off x="4038600" y="4572000"/>
            <a:ext cx="1600200" cy="2209800"/>
            <a:chOff x="6096000" y="4648200"/>
            <a:chExt cx="1600200" cy="2209800"/>
          </a:xfrm>
        </p:grpSpPr>
        <p:sp>
          <p:nvSpPr>
            <p:cNvPr id="10" name="Right Arrow 9"/>
            <p:cNvSpPr/>
            <p:nvPr/>
          </p:nvSpPr>
          <p:spPr>
            <a:xfrm>
              <a:off x="6096000" y="4648200"/>
              <a:ext cx="1600200" cy="1219200"/>
            </a:xfrm>
            <a:prstGeom prst="rightArrow">
              <a:avLst/>
            </a:prstGeom>
            <a:solidFill>
              <a:srgbClr val="00B050"/>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Char char="Ø"/>
                <a:defRPr/>
              </a:pPr>
              <a:endParaRPr lang="en-US" altLang="en-US" smtClean="0">
                <a:solidFill>
                  <a:srgbClr val="FFFFFF"/>
                </a:solidFill>
                <a:latin typeface="Calibri" pitchFamily="34" charset="0"/>
              </a:endParaRPr>
            </a:p>
          </p:txBody>
        </p:sp>
        <p:sp>
          <p:nvSpPr>
            <p:cNvPr id="49189" name="Rectangle 12"/>
            <p:cNvSpPr>
              <a:spLocks noChangeArrowheads="1"/>
            </p:cNvSpPr>
            <p:nvPr/>
          </p:nvSpPr>
          <p:spPr bwMode="auto">
            <a:xfrm>
              <a:off x="6096000" y="6334780"/>
              <a:ext cx="102624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Wingdings" panose="05000000000000000000" pitchFamily="2" charset="2"/>
                <a:buNone/>
              </a:pPr>
              <a:r>
                <a:rPr lang="en-US" altLang="en-US" sz="1400">
                  <a:solidFill>
                    <a:srgbClr val="010000"/>
                  </a:solidFill>
                  <a:latin typeface="Verdana" panose="020B0604030504040204" pitchFamily="34" charset="0"/>
                </a:rPr>
                <a:t>Latencies</a:t>
              </a:r>
            </a:p>
            <a:p>
              <a:pPr algn="ctr" eaLnBrk="1" hangingPunct="1">
                <a:spcBef>
                  <a:spcPct val="0"/>
                </a:spcBef>
                <a:buFont typeface="Wingdings" panose="05000000000000000000" pitchFamily="2" charset="2"/>
                <a:buNone/>
              </a:pPr>
              <a:r>
                <a:rPr lang="en-US" altLang="en-US" sz="1400">
                  <a:solidFill>
                    <a:srgbClr val="010000"/>
                  </a:solidFill>
                  <a:latin typeface="Verdana" panose="020B0604030504040204" pitchFamily="34" charset="0"/>
                </a:rPr>
                <a:t>B/W</a:t>
              </a:r>
            </a:p>
          </p:txBody>
        </p:sp>
      </p:grpSp>
      <p:sp>
        <p:nvSpPr>
          <p:cNvPr id="14" name="Rectangle 13"/>
          <p:cNvSpPr/>
          <p:nvPr/>
        </p:nvSpPr>
        <p:spPr>
          <a:xfrm>
            <a:off x="7154863" y="6586538"/>
            <a:ext cx="1989137" cy="271462"/>
          </a:xfrm>
          <a:prstGeom prst="rect">
            <a:avLst/>
          </a:prstGeom>
        </p:spPr>
        <p:txBody>
          <a:bodyPr wrap="none">
            <a:spAutoFit/>
          </a:bodyPr>
          <a:lstStyle/>
          <a:p>
            <a:pPr eaLnBrk="1" hangingPunct="1">
              <a:lnSpc>
                <a:spcPct val="125000"/>
              </a:lnSpc>
              <a:spcBef>
                <a:spcPct val="50000"/>
              </a:spcBef>
              <a:spcAft>
                <a:spcPct val="20000"/>
              </a:spcAft>
              <a:buFont typeface="Wingdings" pitchFamily="2" charset="2"/>
              <a:buNone/>
              <a:defRPr/>
            </a:pPr>
            <a:r>
              <a:rPr lang="en-US" sz="1050" dirty="0">
                <a:solidFill>
                  <a:schemeClr val="tx1"/>
                </a:solidFill>
              </a:rPr>
              <a:t>*USENIX’08, ISCA’09, etc.</a:t>
            </a:r>
          </a:p>
        </p:txBody>
      </p:sp>
      <p:grpSp>
        <p:nvGrpSpPr>
          <p:cNvPr id="7" name="Group 24"/>
          <p:cNvGrpSpPr>
            <a:grpSpLocks/>
          </p:cNvGrpSpPr>
          <p:nvPr/>
        </p:nvGrpSpPr>
        <p:grpSpPr bwMode="auto">
          <a:xfrm>
            <a:off x="5715000" y="4040188"/>
            <a:ext cx="1677988" cy="1201737"/>
            <a:chOff x="6628606" y="3658394"/>
            <a:chExt cx="1677194" cy="1203147"/>
          </a:xfrm>
        </p:grpSpPr>
        <p:grpSp>
          <p:nvGrpSpPr>
            <p:cNvPr id="49182" name="Group 22"/>
            <p:cNvGrpSpPr>
              <a:grpSpLocks/>
            </p:cNvGrpSpPr>
            <p:nvPr/>
          </p:nvGrpSpPr>
          <p:grpSpPr bwMode="auto">
            <a:xfrm>
              <a:off x="6628606" y="3658394"/>
              <a:ext cx="1677194" cy="838994"/>
              <a:chOff x="6628606" y="3658394"/>
              <a:chExt cx="1677194" cy="838994"/>
            </a:xfrm>
          </p:grpSpPr>
          <p:grpSp>
            <p:nvGrpSpPr>
              <p:cNvPr id="49184" name="Group 20"/>
              <p:cNvGrpSpPr>
                <a:grpSpLocks/>
              </p:cNvGrpSpPr>
              <p:nvPr/>
            </p:nvGrpSpPr>
            <p:grpSpPr bwMode="auto">
              <a:xfrm>
                <a:off x="6628606" y="3658394"/>
                <a:ext cx="1677194" cy="838994"/>
                <a:chOff x="6628606" y="3658394"/>
                <a:chExt cx="1677194" cy="838994"/>
              </a:xfrm>
            </p:grpSpPr>
            <p:cxnSp>
              <p:nvCxnSpPr>
                <p:cNvPr id="17" name="Straight Arrow Connector 16"/>
                <p:cNvCxnSpPr/>
                <p:nvPr/>
              </p:nvCxnSpPr>
              <p:spPr>
                <a:xfrm>
                  <a:off x="6630193" y="4495987"/>
                  <a:ext cx="1675607" cy="159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rot="5400000" flipH="1" flipV="1">
                  <a:off x="6209808" y="4077192"/>
                  <a:ext cx="839183" cy="1587"/>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22" name="Freeform 21"/>
              <p:cNvSpPr/>
              <p:nvPr/>
            </p:nvSpPr>
            <p:spPr>
              <a:xfrm>
                <a:off x="6720637" y="3826866"/>
                <a:ext cx="1286854" cy="524490"/>
              </a:xfrm>
              <a:custGeom>
                <a:avLst/>
                <a:gdLst>
                  <a:gd name="connsiteX0" fmla="*/ 26773 w 1287162"/>
                  <a:gd name="connsiteY0" fmla="*/ 325394 h 525161"/>
                  <a:gd name="connsiteX1" fmla="*/ 14416 w 1287162"/>
                  <a:gd name="connsiteY1" fmla="*/ 275967 h 525161"/>
                  <a:gd name="connsiteX2" fmla="*/ 113270 w 1287162"/>
                  <a:gd name="connsiteY2" fmla="*/ 41189 h 525161"/>
                  <a:gd name="connsiteX3" fmla="*/ 199768 w 1287162"/>
                  <a:gd name="connsiteY3" fmla="*/ 523102 h 525161"/>
                  <a:gd name="connsiteX4" fmla="*/ 335692 w 1287162"/>
                  <a:gd name="connsiteY4" fmla="*/ 53546 h 525161"/>
                  <a:gd name="connsiteX5" fmla="*/ 434546 w 1287162"/>
                  <a:gd name="connsiteY5" fmla="*/ 498389 h 525161"/>
                  <a:gd name="connsiteX6" fmla="*/ 521043 w 1287162"/>
                  <a:gd name="connsiteY6" fmla="*/ 53546 h 525161"/>
                  <a:gd name="connsiteX7" fmla="*/ 656968 w 1287162"/>
                  <a:gd name="connsiteY7" fmla="*/ 498389 h 525161"/>
                  <a:gd name="connsiteX8" fmla="*/ 731108 w 1287162"/>
                  <a:gd name="connsiteY8" fmla="*/ 65902 h 525161"/>
                  <a:gd name="connsiteX9" fmla="*/ 867033 w 1287162"/>
                  <a:gd name="connsiteY9" fmla="*/ 486032 h 525161"/>
                  <a:gd name="connsiteX10" fmla="*/ 928816 w 1287162"/>
                  <a:gd name="connsiteY10" fmla="*/ 78259 h 525161"/>
                  <a:gd name="connsiteX11" fmla="*/ 1089454 w 1287162"/>
                  <a:gd name="connsiteY11" fmla="*/ 461319 h 525161"/>
                  <a:gd name="connsiteX12" fmla="*/ 1163595 w 1287162"/>
                  <a:gd name="connsiteY12" fmla="*/ 78259 h 525161"/>
                  <a:gd name="connsiteX13" fmla="*/ 1287162 w 1287162"/>
                  <a:gd name="connsiteY13" fmla="*/ 486032 h 525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87162" h="525161">
                    <a:moveTo>
                      <a:pt x="26773" y="325394"/>
                    </a:moveTo>
                    <a:cubicBezTo>
                      <a:pt x="13386" y="324364"/>
                      <a:pt x="0" y="323335"/>
                      <a:pt x="14416" y="275967"/>
                    </a:cubicBezTo>
                    <a:cubicBezTo>
                      <a:pt x="28832" y="228600"/>
                      <a:pt x="82378" y="0"/>
                      <a:pt x="113270" y="41189"/>
                    </a:cubicBezTo>
                    <a:cubicBezTo>
                      <a:pt x="144162" y="82378"/>
                      <a:pt x="162698" y="521043"/>
                      <a:pt x="199768" y="523102"/>
                    </a:cubicBezTo>
                    <a:cubicBezTo>
                      <a:pt x="236838" y="525161"/>
                      <a:pt x="296562" y="57665"/>
                      <a:pt x="335692" y="53546"/>
                    </a:cubicBezTo>
                    <a:cubicBezTo>
                      <a:pt x="374822" y="49427"/>
                      <a:pt x="403654" y="498389"/>
                      <a:pt x="434546" y="498389"/>
                    </a:cubicBezTo>
                    <a:cubicBezTo>
                      <a:pt x="465438" y="498389"/>
                      <a:pt x="483973" y="53546"/>
                      <a:pt x="521043" y="53546"/>
                    </a:cubicBezTo>
                    <a:cubicBezTo>
                      <a:pt x="558113" y="53546"/>
                      <a:pt x="621957" y="496330"/>
                      <a:pt x="656968" y="498389"/>
                    </a:cubicBezTo>
                    <a:cubicBezTo>
                      <a:pt x="691979" y="500448"/>
                      <a:pt x="696097" y="67962"/>
                      <a:pt x="731108" y="65902"/>
                    </a:cubicBezTo>
                    <a:cubicBezTo>
                      <a:pt x="766119" y="63842"/>
                      <a:pt x="834082" y="483973"/>
                      <a:pt x="867033" y="486032"/>
                    </a:cubicBezTo>
                    <a:cubicBezTo>
                      <a:pt x="899984" y="488091"/>
                      <a:pt x="891746" y="82378"/>
                      <a:pt x="928816" y="78259"/>
                    </a:cubicBezTo>
                    <a:cubicBezTo>
                      <a:pt x="965886" y="74140"/>
                      <a:pt x="1050324" y="461319"/>
                      <a:pt x="1089454" y="461319"/>
                    </a:cubicBezTo>
                    <a:cubicBezTo>
                      <a:pt x="1128584" y="461319"/>
                      <a:pt x="1130644" y="74140"/>
                      <a:pt x="1163595" y="78259"/>
                    </a:cubicBezTo>
                    <a:cubicBezTo>
                      <a:pt x="1196546" y="82378"/>
                      <a:pt x="1241854" y="284205"/>
                      <a:pt x="1287162" y="486032"/>
                    </a:cubicBezTo>
                  </a:path>
                </a:pathLst>
              </a:custGeom>
              <a:ln w="19050">
                <a:solidFill>
                  <a:srgbClr val="C0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lnSpc>
                    <a:spcPct val="125000"/>
                  </a:lnSpc>
                  <a:spcBef>
                    <a:spcPct val="50000"/>
                  </a:spcBef>
                  <a:spcAft>
                    <a:spcPct val="20000"/>
                  </a:spcAft>
                  <a:buFont typeface="Wingdings" pitchFamily="2" charset="2"/>
                  <a:buChar char="Ø"/>
                  <a:defRPr/>
                </a:pPr>
                <a:endParaRPr lang="en-US">
                  <a:ea typeface="仿宋_GB2312"/>
                  <a:cs typeface="仿宋_GB2312"/>
                </a:endParaRPr>
              </a:p>
            </p:txBody>
          </p:sp>
        </p:grpSp>
        <p:sp>
          <p:nvSpPr>
            <p:cNvPr id="49183" name="Rectangle 23"/>
            <p:cNvSpPr>
              <a:spLocks noChangeArrowheads="1"/>
            </p:cNvSpPr>
            <p:nvPr/>
          </p:nvSpPr>
          <p:spPr bwMode="auto">
            <a:xfrm>
              <a:off x="6781800" y="4495800"/>
              <a:ext cx="1139864" cy="365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50000"/>
                </a:spcBef>
                <a:spcAft>
                  <a:spcPct val="20000"/>
                </a:spcAft>
                <a:buFont typeface="Wingdings" panose="05000000000000000000" pitchFamily="2" charset="2"/>
                <a:buNone/>
              </a:pPr>
              <a:r>
                <a:rPr lang="en-US" altLang="en-US" sz="1600">
                  <a:solidFill>
                    <a:srgbClr val="010000"/>
                  </a:solidFill>
                  <a:latin typeface="Verdana" panose="020B0604030504040204" pitchFamily="34" charset="0"/>
                </a:rPr>
                <a:t>Policy #1</a:t>
              </a:r>
            </a:p>
          </p:txBody>
        </p:sp>
      </p:grpSp>
      <p:grpSp>
        <p:nvGrpSpPr>
          <p:cNvPr id="12" name="Group 33"/>
          <p:cNvGrpSpPr>
            <a:grpSpLocks/>
          </p:cNvGrpSpPr>
          <p:nvPr/>
        </p:nvGrpSpPr>
        <p:grpSpPr bwMode="auto">
          <a:xfrm>
            <a:off x="5715000" y="5197475"/>
            <a:ext cx="1677988" cy="1203325"/>
            <a:chOff x="6400800" y="5121453"/>
            <a:chExt cx="1677194" cy="1203147"/>
          </a:xfrm>
        </p:grpSpPr>
        <p:grpSp>
          <p:nvGrpSpPr>
            <p:cNvPr id="49176" name="Group 25"/>
            <p:cNvGrpSpPr>
              <a:grpSpLocks/>
            </p:cNvGrpSpPr>
            <p:nvPr/>
          </p:nvGrpSpPr>
          <p:grpSpPr bwMode="auto">
            <a:xfrm>
              <a:off x="6400800" y="5121453"/>
              <a:ext cx="1677194" cy="1203147"/>
              <a:chOff x="6628606" y="3658394"/>
              <a:chExt cx="1677194" cy="1203147"/>
            </a:xfrm>
          </p:grpSpPr>
          <p:grpSp>
            <p:nvGrpSpPr>
              <p:cNvPr id="49178" name="Group 20"/>
              <p:cNvGrpSpPr>
                <a:grpSpLocks/>
              </p:cNvGrpSpPr>
              <p:nvPr/>
            </p:nvGrpSpPr>
            <p:grpSpPr bwMode="auto">
              <a:xfrm>
                <a:off x="6628606" y="3658394"/>
                <a:ext cx="1677194" cy="838994"/>
                <a:chOff x="6628606" y="3658394"/>
                <a:chExt cx="1677194" cy="838994"/>
              </a:xfrm>
            </p:grpSpPr>
            <p:cxnSp>
              <p:nvCxnSpPr>
                <p:cNvPr id="31" name="Straight Arrow Connector 30"/>
                <p:cNvCxnSpPr/>
                <p:nvPr/>
              </p:nvCxnSpPr>
              <p:spPr>
                <a:xfrm>
                  <a:off x="6630193" y="4496470"/>
                  <a:ext cx="1675607" cy="1588"/>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rot="5400000" flipH="1" flipV="1">
                  <a:off x="6210362" y="4076638"/>
                  <a:ext cx="838076" cy="1587"/>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49179" name="Rectangle 27"/>
              <p:cNvSpPr>
                <a:spLocks noChangeArrowheads="1"/>
              </p:cNvSpPr>
              <p:nvPr/>
            </p:nvSpPr>
            <p:spPr bwMode="auto">
              <a:xfrm>
                <a:off x="6781800" y="4495800"/>
                <a:ext cx="1139864" cy="365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50000"/>
                  </a:spcBef>
                  <a:spcAft>
                    <a:spcPct val="20000"/>
                  </a:spcAft>
                  <a:buFont typeface="Wingdings" panose="05000000000000000000" pitchFamily="2" charset="2"/>
                  <a:buNone/>
                </a:pPr>
                <a:r>
                  <a:rPr lang="en-US" altLang="en-US" sz="1600">
                    <a:solidFill>
                      <a:srgbClr val="010000"/>
                    </a:solidFill>
                    <a:latin typeface="Verdana" panose="020B0604030504040204" pitchFamily="34" charset="0"/>
                  </a:rPr>
                  <a:t>Policy #2</a:t>
                </a:r>
              </a:p>
            </p:txBody>
          </p:sp>
        </p:grpSp>
        <p:sp>
          <p:nvSpPr>
            <p:cNvPr id="33" name="Freeform 32"/>
            <p:cNvSpPr/>
            <p:nvPr/>
          </p:nvSpPr>
          <p:spPr>
            <a:xfrm>
              <a:off x="6499178" y="5434145"/>
              <a:ext cx="1410620" cy="365071"/>
            </a:xfrm>
            <a:custGeom>
              <a:avLst/>
              <a:gdLst>
                <a:gd name="connsiteX0" fmla="*/ 0 w 1410730"/>
                <a:gd name="connsiteY0" fmla="*/ 51486 h 364524"/>
                <a:gd name="connsiteX1" fmla="*/ 148281 w 1410730"/>
                <a:gd name="connsiteY1" fmla="*/ 51486 h 364524"/>
                <a:gd name="connsiteX2" fmla="*/ 333632 w 1410730"/>
                <a:gd name="connsiteY2" fmla="*/ 360405 h 364524"/>
                <a:gd name="connsiteX3" fmla="*/ 506627 w 1410730"/>
                <a:gd name="connsiteY3" fmla="*/ 76200 h 364524"/>
                <a:gd name="connsiteX4" fmla="*/ 840260 w 1410730"/>
                <a:gd name="connsiteY4" fmla="*/ 335691 h 364524"/>
                <a:gd name="connsiteX5" fmla="*/ 926757 w 1410730"/>
                <a:gd name="connsiteY5" fmla="*/ 39129 h 364524"/>
                <a:gd name="connsiteX6" fmla="*/ 1334530 w 1410730"/>
                <a:gd name="connsiteY6" fmla="*/ 310978 h 364524"/>
                <a:gd name="connsiteX7" fmla="*/ 1383957 w 1410730"/>
                <a:gd name="connsiteY7" fmla="*/ 51486 h 364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10730" h="364524">
                  <a:moveTo>
                    <a:pt x="0" y="51486"/>
                  </a:moveTo>
                  <a:cubicBezTo>
                    <a:pt x="46338" y="25743"/>
                    <a:pt x="92676" y="0"/>
                    <a:pt x="148281" y="51486"/>
                  </a:cubicBezTo>
                  <a:cubicBezTo>
                    <a:pt x="203886" y="102973"/>
                    <a:pt x="273908" y="356286"/>
                    <a:pt x="333632" y="360405"/>
                  </a:cubicBezTo>
                  <a:cubicBezTo>
                    <a:pt x="393356" y="364524"/>
                    <a:pt x="422189" y="80319"/>
                    <a:pt x="506627" y="76200"/>
                  </a:cubicBezTo>
                  <a:cubicBezTo>
                    <a:pt x="591065" y="72081"/>
                    <a:pt x="770238" y="341869"/>
                    <a:pt x="840260" y="335691"/>
                  </a:cubicBezTo>
                  <a:cubicBezTo>
                    <a:pt x="910282" y="329513"/>
                    <a:pt x="844379" y="43248"/>
                    <a:pt x="926757" y="39129"/>
                  </a:cubicBezTo>
                  <a:cubicBezTo>
                    <a:pt x="1009135" y="35010"/>
                    <a:pt x="1258330" y="308919"/>
                    <a:pt x="1334530" y="310978"/>
                  </a:cubicBezTo>
                  <a:cubicBezTo>
                    <a:pt x="1410730" y="313037"/>
                    <a:pt x="1397343" y="182261"/>
                    <a:pt x="1383957" y="51486"/>
                  </a:cubicBezTo>
                </a:path>
              </a:pathLst>
            </a:custGeom>
            <a:ln w="25400">
              <a:solidFill>
                <a:srgbClr val="C0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lnSpc>
                  <a:spcPct val="125000"/>
                </a:lnSpc>
                <a:spcBef>
                  <a:spcPct val="50000"/>
                </a:spcBef>
                <a:spcAft>
                  <a:spcPct val="20000"/>
                </a:spcAft>
                <a:buFont typeface="Wingdings" pitchFamily="2" charset="2"/>
                <a:buChar char="Ø"/>
                <a:defRPr/>
              </a:pPr>
              <a:endParaRPr lang="en-US">
                <a:ea typeface="仿宋_GB2312"/>
                <a:cs typeface="仿宋_GB2312"/>
              </a:endParaRPr>
            </a:p>
          </p:txBody>
        </p:sp>
      </p:grpSp>
      <p:sp>
        <p:nvSpPr>
          <p:cNvPr id="43" name="Right Arrow 42"/>
          <p:cNvSpPr/>
          <p:nvPr/>
        </p:nvSpPr>
        <p:spPr>
          <a:xfrm>
            <a:off x="7596188" y="4572000"/>
            <a:ext cx="557212" cy="1219200"/>
          </a:xfrm>
          <a:prstGeom prst="rightArrow">
            <a:avLst/>
          </a:prstGeom>
          <a:solidFill>
            <a:srgbClr val="00B050"/>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Char char="Ø"/>
              <a:defRPr/>
            </a:pPr>
            <a:endParaRPr lang="en-US" altLang="en-US" smtClean="0">
              <a:solidFill>
                <a:srgbClr val="FFFFFF"/>
              </a:solidFill>
              <a:latin typeface="Calibri" pitchFamily="34" charset="0"/>
            </a:endParaRPr>
          </a:p>
        </p:txBody>
      </p:sp>
      <p:sp>
        <p:nvSpPr>
          <p:cNvPr id="45" name="Rectangle 44"/>
          <p:cNvSpPr>
            <a:spLocks noChangeArrowheads="1"/>
          </p:cNvSpPr>
          <p:nvPr/>
        </p:nvSpPr>
        <p:spPr bwMode="auto">
          <a:xfrm>
            <a:off x="8180388" y="4953000"/>
            <a:ext cx="9413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Wingdings" panose="05000000000000000000" pitchFamily="2" charset="2"/>
              <a:buNone/>
            </a:pPr>
            <a:r>
              <a:rPr lang="en-US" altLang="en-US" sz="1600" b="1">
                <a:solidFill>
                  <a:srgbClr val="010000"/>
                </a:solidFill>
                <a:latin typeface="Verdana" panose="020B0604030504040204" pitchFamily="34" charset="0"/>
              </a:rPr>
              <a:t>Policy </a:t>
            </a:r>
          </a:p>
          <a:p>
            <a:pPr algn="ctr" eaLnBrk="1" hangingPunct="1">
              <a:spcBef>
                <a:spcPct val="0"/>
              </a:spcBef>
              <a:buFont typeface="Wingdings" panose="05000000000000000000" pitchFamily="2" charset="2"/>
              <a:buNone/>
            </a:pPr>
            <a:r>
              <a:rPr lang="en-US" altLang="en-US" sz="1600" b="1">
                <a:solidFill>
                  <a:srgbClr val="010000"/>
                </a:solidFill>
                <a:latin typeface="Verdana" panose="020B0604030504040204" pitchFamily="34" charset="0"/>
              </a:rPr>
              <a:t>#1</a:t>
            </a:r>
          </a:p>
        </p:txBody>
      </p:sp>
      <p:grpSp>
        <p:nvGrpSpPr>
          <p:cNvPr id="16" name="Group 22"/>
          <p:cNvGrpSpPr>
            <a:grpSpLocks/>
          </p:cNvGrpSpPr>
          <p:nvPr/>
        </p:nvGrpSpPr>
        <p:grpSpPr bwMode="auto">
          <a:xfrm>
            <a:off x="4191000" y="5599113"/>
            <a:ext cx="762000" cy="573087"/>
            <a:chOff x="6628606" y="3658394"/>
            <a:chExt cx="1677194" cy="838994"/>
          </a:xfrm>
        </p:grpSpPr>
        <p:grpSp>
          <p:nvGrpSpPr>
            <p:cNvPr id="49172" name="Group 20"/>
            <p:cNvGrpSpPr>
              <a:grpSpLocks/>
            </p:cNvGrpSpPr>
            <p:nvPr/>
          </p:nvGrpSpPr>
          <p:grpSpPr bwMode="auto">
            <a:xfrm>
              <a:off x="6628606" y="3658394"/>
              <a:ext cx="1677194" cy="838994"/>
              <a:chOff x="6628606" y="3658394"/>
              <a:chExt cx="1677194" cy="838994"/>
            </a:xfrm>
          </p:grpSpPr>
          <p:cxnSp>
            <p:nvCxnSpPr>
              <p:cNvPr id="51" name="Straight Arrow Connector 50"/>
              <p:cNvCxnSpPr/>
              <p:nvPr/>
            </p:nvCxnSpPr>
            <p:spPr>
              <a:xfrm>
                <a:off x="6628606" y="4495065"/>
                <a:ext cx="1677194" cy="2323"/>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rot="5400000" flipH="1" flipV="1">
                <a:off x="6209108" y="4077892"/>
                <a:ext cx="838994" cy="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50" name="Freeform 49"/>
            <p:cNvSpPr/>
            <p:nvPr/>
          </p:nvSpPr>
          <p:spPr>
            <a:xfrm>
              <a:off x="6719454" y="3825728"/>
              <a:ext cx="1289344" cy="525243"/>
            </a:xfrm>
            <a:custGeom>
              <a:avLst/>
              <a:gdLst>
                <a:gd name="connsiteX0" fmla="*/ 26773 w 1287162"/>
                <a:gd name="connsiteY0" fmla="*/ 325394 h 525161"/>
                <a:gd name="connsiteX1" fmla="*/ 14416 w 1287162"/>
                <a:gd name="connsiteY1" fmla="*/ 275967 h 525161"/>
                <a:gd name="connsiteX2" fmla="*/ 113270 w 1287162"/>
                <a:gd name="connsiteY2" fmla="*/ 41189 h 525161"/>
                <a:gd name="connsiteX3" fmla="*/ 199768 w 1287162"/>
                <a:gd name="connsiteY3" fmla="*/ 523102 h 525161"/>
                <a:gd name="connsiteX4" fmla="*/ 335692 w 1287162"/>
                <a:gd name="connsiteY4" fmla="*/ 53546 h 525161"/>
                <a:gd name="connsiteX5" fmla="*/ 434546 w 1287162"/>
                <a:gd name="connsiteY5" fmla="*/ 498389 h 525161"/>
                <a:gd name="connsiteX6" fmla="*/ 521043 w 1287162"/>
                <a:gd name="connsiteY6" fmla="*/ 53546 h 525161"/>
                <a:gd name="connsiteX7" fmla="*/ 656968 w 1287162"/>
                <a:gd name="connsiteY7" fmla="*/ 498389 h 525161"/>
                <a:gd name="connsiteX8" fmla="*/ 731108 w 1287162"/>
                <a:gd name="connsiteY8" fmla="*/ 65902 h 525161"/>
                <a:gd name="connsiteX9" fmla="*/ 867033 w 1287162"/>
                <a:gd name="connsiteY9" fmla="*/ 486032 h 525161"/>
                <a:gd name="connsiteX10" fmla="*/ 928816 w 1287162"/>
                <a:gd name="connsiteY10" fmla="*/ 78259 h 525161"/>
                <a:gd name="connsiteX11" fmla="*/ 1089454 w 1287162"/>
                <a:gd name="connsiteY11" fmla="*/ 461319 h 525161"/>
                <a:gd name="connsiteX12" fmla="*/ 1163595 w 1287162"/>
                <a:gd name="connsiteY12" fmla="*/ 78259 h 525161"/>
                <a:gd name="connsiteX13" fmla="*/ 1287162 w 1287162"/>
                <a:gd name="connsiteY13" fmla="*/ 486032 h 525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87162" h="525161">
                  <a:moveTo>
                    <a:pt x="26773" y="325394"/>
                  </a:moveTo>
                  <a:cubicBezTo>
                    <a:pt x="13386" y="324364"/>
                    <a:pt x="0" y="323335"/>
                    <a:pt x="14416" y="275967"/>
                  </a:cubicBezTo>
                  <a:cubicBezTo>
                    <a:pt x="28832" y="228600"/>
                    <a:pt x="82378" y="0"/>
                    <a:pt x="113270" y="41189"/>
                  </a:cubicBezTo>
                  <a:cubicBezTo>
                    <a:pt x="144162" y="82378"/>
                    <a:pt x="162698" y="521043"/>
                    <a:pt x="199768" y="523102"/>
                  </a:cubicBezTo>
                  <a:cubicBezTo>
                    <a:pt x="236838" y="525161"/>
                    <a:pt x="296562" y="57665"/>
                    <a:pt x="335692" y="53546"/>
                  </a:cubicBezTo>
                  <a:cubicBezTo>
                    <a:pt x="374822" y="49427"/>
                    <a:pt x="403654" y="498389"/>
                    <a:pt x="434546" y="498389"/>
                  </a:cubicBezTo>
                  <a:cubicBezTo>
                    <a:pt x="465438" y="498389"/>
                    <a:pt x="483973" y="53546"/>
                    <a:pt x="521043" y="53546"/>
                  </a:cubicBezTo>
                  <a:cubicBezTo>
                    <a:pt x="558113" y="53546"/>
                    <a:pt x="621957" y="496330"/>
                    <a:pt x="656968" y="498389"/>
                  </a:cubicBezTo>
                  <a:cubicBezTo>
                    <a:pt x="691979" y="500448"/>
                    <a:pt x="696097" y="67962"/>
                    <a:pt x="731108" y="65902"/>
                  </a:cubicBezTo>
                  <a:cubicBezTo>
                    <a:pt x="766119" y="63842"/>
                    <a:pt x="834082" y="483973"/>
                    <a:pt x="867033" y="486032"/>
                  </a:cubicBezTo>
                  <a:cubicBezTo>
                    <a:pt x="899984" y="488091"/>
                    <a:pt x="891746" y="82378"/>
                    <a:pt x="928816" y="78259"/>
                  </a:cubicBezTo>
                  <a:cubicBezTo>
                    <a:pt x="965886" y="74140"/>
                    <a:pt x="1050324" y="461319"/>
                    <a:pt x="1089454" y="461319"/>
                  </a:cubicBezTo>
                  <a:cubicBezTo>
                    <a:pt x="1128584" y="461319"/>
                    <a:pt x="1130644" y="74140"/>
                    <a:pt x="1163595" y="78259"/>
                  </a:cubicBezTo>
                  <a:cubicBezTo>
                    <a:pt x="1196546" y="82378"/>
                    <a:pt x="1241854" y="284205"/>
                    <a:pt x="1287162" y="486032"/>
                  </a:cubicBezTo>
                </a:path>
              </a:pathLst>
            </a:custGeom>
            <a:ln w="19050">
              <a:solidFill>
                <a:srgbClr val="C0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lnSpc>
                  <a:spcPct val="125000"/>
                </a:lnSpc>
                <a:spcBef>
                  <a:spcPct val="50000"/>
                </a:spcBef>
                <a:spcAft>
                  <a:spcPct val="20000"/>
                </a:spcAft>
                <a:buFont typeface="Wingdings" pitchFamily="2" charset="2"/>
                <a:buChar char="Ø"/>
                <a:defRPr/>
              </a:pPr>
              <a:endParaRPr lang="en-US">
                <a:ea typeface="仿宋_GB2312"/>
                <a:cs typeface="仿宋_GB2312"/>
              </a:endParaRPr>
            </a:p>
          </p:txBody>
        </p:sp>
      </p:grpSp>
      <p:grpSp>
        <p:nvGrpSpPr>
          <p:cNvPr id="20" name="Group 38"/>
          <p:cNvGrpSpPr>
            <a:grpSpLocks/>
          </p:cNvGrpSpPr>
          <p:nvPr/>
        </p:nvGrpSpPr>
        <p:grpSpPr bwMode="auto">
          <a:xfrm>
            <a:off x="3352800" y="3810000"/>
            <a:ext cx="4267200" cy="2514600"/>
            <a:chOff x="3352800" y="3810000"/>
            <a:chExt cx="4267200" cy="2514600"/>
          </a:xfrm>
        </p:grpSpPr>
        <p:sp>
          <p:nvSpPr>
            <p:cNvPr id="36" name="Oval 35"/>
            <p:cNvSpPr/>
            <p:nvPr/>
          </p:nvSpPr>
          <p:spPr>
            <a:xfrm>
              <a:off x="5410200" y="3810000"/>
              <a:ext cx="2209800" cy="1143000"/>
            </a:xfrm>
            <a:prstGeom prst="ellipse">
              <a:avLst/>
            </a:prstGeom>
            <a:solidFill>
              <a:srgbClr val="C00000">
                <a:alpha val="34000"/>
              </a:srgbClr>
            </a:solidFill>
            <a:ln w="508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Char char="Ø"/>
                <a:defRPr/>
              </a:pPr>
              <a:endParaRPr lang="en-US" altLang="en-US" smtClean="0">
                <a:solidFill>
                  <a:srgbClr val="FFFFFF"/>
                </a:solidFill>
                <a:latin typeface="Calibri" pitchFamily="34" charset="0"/>
              </a:endParaRPr>
            </a:p>
          </p:txBody>
        </p:sp>
        <p:sp>
          <p:nvSpPr>
            <p:cNvPr id="37" name="Oval 36"/>
            <p:cNvSpPr/>
            <p:nvPr/>
          </p:nvSpPr>
          <p:spPr>
            <a:xfrm>
              <a:off x="3810000" y="5486400"/>
              <a:ext cx="1447800" cy="838200"/>
            </a:xfrm>
            <a:prstGeom prst="ellipse">
              <a:avLst/>
            </a:prstGeom>
            <a:solidFill>
              <a:srgbClr val="C00000">
                <a:alpha val="30000"/>
              </a:srgbClr>
            </a:solidFill>
            <a:ln w="508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Char char="Ø"/>
                <a:defRPr/>
              </a:pPr>
              <a:endParaRPr lang="en-US" altLang="en-US" smtClean="0">
                <a:solidFill>
                  <a:srgbClr val="FFFFFF"/>
                </a:solidFill>
                <a:latin typeface="Calibri" pitchFamily="34" charset="0"/>
              </a:endParaRPr>
            </a:p>
          </p:txBody>
        </p:sp>
        <p:sp>
          <p:nvSpPr>
            <p:cNvPr id="38" name="Explosion 2 37"/>
            <p:cNvSpPr/>
            <p:nvPr/>
          </p:nvSpPr>
          <p:spPr>
            <a:xfrm>
              <a:off x="3352800" y="4267200"/>
              <a:ext cx="2362200" cy="1219200"/>
            </a:xfrm>
            <a:prstGeom prst="irregularSeal2">
              <a:avLst/>
            </a:prstGeom>
            <a:ln/>
          </p:spPr>
          <p:style>
            <a:lnRef idx="1">
              <a:schemeClr val="accent2"/>
            </a:lnRef>
            <a:fillRef idx="3">
              <a:schemeClr val="accent2"/>
            </a:fillRef>
            <a:effectRef idx="2">
              <a:schemeClr val="accent2"/>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solidFill>
                    <a:srgbClr val="FFFF00"/>
                  </a:solidFill>
                </a:rPr>
                <a:t>Match!</a:t>
              </a:r>
            </a:p>
          </p:txBody>
        </p:sp>
      </p:grpSp>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3886200"/>
            <a:ext cx="1905000" cy="268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722145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par>
                                <p:cTn id="21" presetID="22" presetClass="entr" presetSubtype="8" fill="hold"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500"/>
                                        <p:tgtEl>
                                          <p:spTgt spid="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childTnLst>
                                </p:cTn>
                              </p:par>
                              <p:par>
                                <p:cTn id="28" presetID="22" presetClass="entr" presetSubtype="8" fill="hold" nodeType="with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left)">
                                      <p:cBhvr>
                                        <p:cTn id="30" dur="500"/>
                                        <p:tgtEl>
                                          <p:spTgt spid="4"/>
                                        </p:tgtEl>
                                      </p:cBhvr>
                                    </p:animEffect>
                                  </p:childTnLst>
                                </p:cTn>
                              </p:par>
                              <p:par>
                                <p:cTn id="31" presetID="1"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subTnLst>
                                    <p:set>
                                      <p:cBhvr override="childStyle">
                                        <p:cTn dur="1" fill="hold" display="0" masterRel="nextClick" afterEffect="1"/>
                                        <p:tgtEl>
                                          <p:spTgt spid="20"/>
                                        </p:tgtEl>
                                        <p:attrNameLst>
                                          <p:attrName>style.visibility</p:attrName>
                                        </p:attrNameLst>
                                      </p:cBhvr>
                                      <p:to>
                                        <p:strVal val="hidden"/>
                                      </p:to>
                                    </p:set>
                                  </p:sub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45"/>
                                        </p:tgtEl>
                                        <p:attrNameLst>
                                          <p:attrName>style.visibility</p:attrName>
                                        </p:attrNameLst>
                                      </p:cBhvr>
                                      <p:to>
                                        <p:strVal val="visible"/>
                                      </p:to>
                                    </p:set>
                                    <p:animEffect transition="in" filter="wipe(left)">
                                      <p:cBhvr>
                                        <p:cTn id="51" dur="500"/>
                                        <p:tgtEl>
                                          <p:spTgt spid="45"/>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43"/>
                                        </p:tgtEl>
                                        <p:attrNameLst>
                                          <p:attrName>style.visibility</p:attrName>
                                        </p:attrNameLst>
                                      </p:cBhvr>
                                      <p:to>
                                        <p:strVal val="visible"/>
                                      </p:to>
                                    </p:set>
                                    <p:animEffect transition="in" filter="wipe(left)">
                                      <p:cBhvr>
                                        <p:cTn id="54" dur="500"/>
                                        <p:tgtEl>
                                          <p:spTgt spid="43"/>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5" end="5"/>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P spid="14" grpId="0"/>
      <p:bldP spid="43" grpId="0" animBg="1"/>
      <p:bldP spid="45" grpId="0"/>
    </p:bldLst>
  </p:timing>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 name="Group 36"/>
          <p:cNvGrpSpPr>
            <a:grpSpLocks/>
          </p:cNvGrpSpPr>
          <p:nvPr/>
        </p:nvGrpSpPr>
        <p:grpSpPr bwMode="auto">
          <a:xfrm>
            <a:off x="990600" y="1828800"/>
            <a:ext cx="2667000" cy="3886200"/>
            <a:chOff x="5181600" y="2106930"/>
            <a:chExt cx="3657600" cy="4566284"/>
          </a:xfrm>
        </p:grpSpPr>
        <p:grpSp>
          <p:nvGrpSpPr>
            <p:cNvPr id="50226" name="Group 15"/>
            <p:cNvGrpSpPr>
              <a:grpSpLocks/>
            </p:cNvGrpSpPr>
            <p:nvPr/>
          </p:nvGrpSpPr>
          <p:grpSpPr bwMode="auto">
            <a:xfrm>
              <a:off x="5181600" y="2106930"/>
              <a:ext cx="3657600" cy="4566284"/>
              <a:chOff x="5181600" y="2106930"/>
              <a:chExt cx="3657600" cy="4566284"/>
            </a:xfrm>
          </p:grpSpPr>
          <p:pic>
            <p:nvPicPr>
              <p:cNvPr id="5022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0818" y="4630963"/>
                <a:ext cx="1808382" cy="788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22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30818" y="3377474"/>
                <a:ext cx="1808382" cy="788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2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0818" y="5874506"/>
                <a:ext cx="1808382" cy="788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231"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10400" y="2106930"/>
                <a:ext cx="1828800" cy="788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23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2018" y="5867400"/>
                <a:ext cx="1808382" cy="788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233"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81600" y="2106930"/>
                <a:ext cx="1828800" cy="78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2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2018" y="3370366"/>
                <a:ext cx="1808382" cy="788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23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2018" y="4623856"/>
                <a:ext cx="1808382" cy="788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 name="Rectangle 51"/>
              <p:cNvSpPr/>
              <p:nvPr/>
            </p:nvSpPr>
            <p:spPr>
              <a:xfrm>
                <a:off x="5201195" y="3360420"/>
                <a:ext cx="3638005" cy="796489"/>
              </a:xfrm>
              <a:prstGeom prst="rect">
                <a:avLst/>
              </a:prstGeom>
              <a:noFill/>
              <a:ln w="635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Char char="Ø"/>
                  <a:defRPr/>
                </a:pPr>
                <a:endParaRPr lang="en-US" altLang="en-US" smtClean="0">
                  <a:solidFill>
                    <a:srgbClr val="FFFFFF"/>
                  </a:solidFill>
                  <a:latin typeface="Calibri" pitchFamily="34" charset="0"/>
                </a:endParaRPr>
              </a:p>
            </p:txBody>
          </p:sp>
          <p:sp>
            <p:nvSpPr>
              <p:cNvPr id="53" name="Rectangle 52"/>
              <p:cNvSpPr/>
              <p:nvPr/>
            </p:nvSpPr>
            <p:spPr>
              <a:xfrm>
                <a:off x="5201195" y="4623237"/>
                <a:ext cx="3638005" cy="796488"/>
              </a:xfrm>
              <a:prstGeom prst="rect">
                <a:avLst/>
              </a:prstGeom>
              <a:noFill/>
              <a:ln w="635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Char char="Ø"/>
                  <a:defRPr/>
                </a:pPr>
                <a:endParaRPr lang="en-US" altLang="en-US" smtClean="0">
                  <a:solidFill>
                    <a:srgbClr val="FFFFFF"/>
                  </a:solidFill>
                  <a:latin typeface="Calibri" pitchFamily="34" charset="0"/>
                </a:endParaRPr>
              </a:p>
            </p:txBody>
          </p:sp>
          <p:sp>
            <p:nvSpPr>
              <p:cNvPr id="54" name="Rectangle 53"/>
              <p:cNvSpPr/>
              <p:nvPr/>
            </p:nvSpPr>
            <p:spPr>
              <a:xfrm>
                <a:off x="5201195" y="5876726"/>
                <a:ext cx="3638005" cy="796488"/>
              </a:xfrm>
              <a:prstGeom prst="rect">
                <a:avLst/>
              </a:prstGeom>
              <a:noFill/>
              <a:ln w="6350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Char char="Ø"/>
                  <a:defRPr/>
                </a:pPr>
                <a:endParaRPr lang="en-US" altLang="en-US" smtClean="0">
                  <a:solidFill>
                    <a:srgbClr val="FFFFFF"/>
                  </a:solidFill>
                  <a:latin typeface="Calibri" pitchFamily="34" charset="0"/>
                </a:endParaRPr>
              </a:p>
            </p:txBody>
          </p:sp>
        </p:grpSp>
        <p:sp>
          <p:nvSpPr>
            <p:cNvPr id="43" name="Rectangle 42"/>
            <p:cNvSpPr/>
            <p:nvPr/>
          </p:nvSpPr>
          <p:spPr>
            <a:xfrm>
              <a:off x="5201195" y="2106930"/>
              <a:ext cx="3638005" cy="796489"/>
            </a:xfrm>
            <a:prstGeom prst="rect">
              <a:avLst/>
            </a:prstGeom>
            <a:no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Char char="Ø"/>
                <a:defRPr/>
              </a:pPr>
              <a:endParaRPr lang="en-US" altLang="en-US" smtClean="0">
                <a:solidFill>
                  <a:srgbClr val="FFFFFF"/>
                </a:solidFill>
                <a:latin typeface="Calibri" pitchFamily="34" charset="0"/>
              </a:endParaRPr>
            </a:p>
          </p:txBody>
        </p:sp>
      </p:grpSp>
      <p:sp>
        <p:nvSpPr>
          <p:cNvPr id="50179" name="Title 1"/>
          <p:cNvSpPr>
            <a:spLocks noGrp="1"/>
          </p:cNvSpPr>
          <p:nvPr>
            <p:ph type="title"/>
          </p:nvPr>
        </p:nvSpPr>
        <p:spPr/>
        <p:txBody>
          <a:bodyPr/>
          <a:lstStyle/>
          <a:p>
            <a:pPr eaLnBrk="1" hangingPunct="1"/>
            <a:r>
              <a:rPr lang="en-US" altLang="en-US" smtClean="0"/>
              <a:t>A general model</a:t>
            </a:r>
          </a:p>
        </p:txBody>
      </p:sp>
      <p:sp>
        <p:nvSpPr>
          <p:cNvPr id="50180" name="Slide Number Placeholder 3"/>
          <p:cNvSpPr>
            <a:spLocks noGrp="1"/>
          </p:cNvSpPr>
          <p:nvPr>
            <p:ph type="sldNum" sz="quarter" idx="4294967295"/>
          </p:nvPr>
        </p:nvSpPr>
        <p:spPr bwMode="auto">
          <a:xfrm>
            <a:off x="7010400" y="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 typeface="Wingdings" panose="05000000000000000000" pitchFamily="2" charset="2"/>
              <a:buNone/>
            </a:pPr>
            <a:fld id="{17BB65BB-73EF-45F6-A8AD-D3733BBE14F6}" type="slidenum">
              <a:rPr lang="zh-CN" altLang="en-US" sz="1200">
                <a:solidFill>
                  <a:srgbClr val="898989"/>
                </a:solidFill>
                <a:latin typeface="Verdana" panose="020B0604030504040204" pitchFamily="34" charset="0"/>
              </a:rPr>
              <a:pPr>
                <a:spcBef>
                  <a:spcPct val="50000"/>
                </a:spcBef>
                <a:buFont typeface="Wingdings" panose="05000000000000000000" pitchFamily="2" charset="2"/>
                <a:buNone/>
              </a:pPr>
              <a:t>89</a:t>
            </a:fld>
            <a:endParaRPr lang="zh-CN" altLang="en-US" sz="1200">
              <a:solidFill>
                <a:srgbClr val="898989"/>
              </a:solidFill>
              <a:latin typeface="Verdana" panose="020B0604030504040204" pitchFamily="34" charset="0"/>
            </a:endParaRPr>
          </a:p>
        </p:txBody>
      </p:sp>
      <p:sp>
        <p:nvSpPr>
          <p:cNvPr id="8" name="Rectangle 7"/>
          <p:cNvSpPr/>
          <p:nvPr/>
        </p:nvSpPr>
        <p:spPr>
          <a:xfrm>
            <a:off x="969963" y="1828800"/>
            <a:ext cx="2687637" cy="685800"/>
          </a:xfrm>
          <a:prstGeom prst="rect">
            <a:avLst/>
          </a:prstGeom>
          <a:solidFill>
            <a:schemeClr val="tx1"/>
          </a:solidFill>
        </p:spPr>
        <p:style>
          <a:lnRef idx="1">
            <a:schemeClr val="dk1"/>
          </a:lnRef>
          <a:fillRef idx="2">
            <a:schemeClr val="dk1"/>
          </a:fillRef>
          <a:effectRef idx="1">
            <a:schemeClr val="dk1"/>
          </a:effectRef>
          <a:fontRef idx="minor">
            <a:schemeClr val="dk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solidFill>
                  <a:schemeClr val="bg1"/>
                </a:solidFill>
              </a:rPr>
              <a:t>Domain #0</a:t>
            </a:r>
          </a:p>
        </p:txBody>
      </p:sp>
      <p:sp>
        <p:nvSpPr>
          <p:cNvPr id="13" name="Rectangle 12"/>
          <p:cNvSpPr/>
          <p:nvPr/>
        </p:nvSpPr>
        <p:spPr>
          <a:xfrm>
            <a:off x="969963" y="2895600"/>
            <a:ext cx="2687637" cy="685800"/>
          </a:xfrm>
          <a:prstGeom prst="rect">
            <a:avLst/>
          </a:prstGeom>
          <a:solidFill>
            <a:schemeClr val="tx2"/>
          </a:solidFill>
        </p:spPr>
        <p:style>
          <a:lnRef idx="1">
            <a:schemeClr val="dk1"/>
          </a:lnRef>
          <a:fillRef idx="2">
            <a:schemeClr val="dk1"/>
          </a:fillRef>
          <a:effectRef idx="1">
            <a:schemeClr val="dk1"/>
          </a:effectRef>
          <a:fontRef idx="minor">
            <a:schemeClr val="dk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solidFill>
                  <a:schemeClr val="bg1"/>
                </a:solidFill>
              </a:rPr>
              <a:t>Domain #1</a:t>
            </a:r>
          </a:p>
        </p:txBody>
      </p:sp>
      <p:sp>
        <p:nvSpPr>
          <p:cNvPr id="18" name="Rectangle 17"/>
          <p:cNvSpPr/>
          <p:nvPr/>
        </p:nvSpPr>
        <p:spPr>
          <a:xfrm>
            <a:off x="990600" y="3962400"/>
            <a:ext cx="2687638" cy="685800"/>
          </a:xfrm>
          <a:prstGeom prst="rect">
            <a:avLst/>
          </a:prstGeom>
          <a:solidFill>
            <a:srgbClr val="C00000"/>
          </a:solidFill>
        </p:spPr>
        <p:style>
          <a:lnRef idx="1">
            <a:schemeClr val="dk1"/>
          </a:lnRef>
          <a:fillRef idx="2">
            <a:schemeClr val="dk1"/>
          </a:fillRef>
          <a:effectRef idx="1">
            <a:schemeClr val="dk1"/>
          </a:effectRef>
          <a:fontRef idx="minor">
            <a:schemeClr val="dk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solidFill>
                  <a:schemeClr val="bg1"/>
                </a:solidFill>
              </a:rPr>
              <a:t>Domain #2</a:t>
            </a:r>
          </a:p>
        </p:txBody>
      </p:sp>
      <p:sp>
        <p:nvSpPr>
          <p:cNvPr id="23" name="Rectangle 22"/>
          <p:cNvSpPr/>
          <p:nvPr/>
        </p:nvSpPr>
        <p:spPr>
          <a:xfrm>
            <a:off x="990600" y="5029200"/>
            <a:ext cx="2687638" cy="685800"/>
          </a:xfrm>
          <a:prstGeom prst="rect">
            <a:avLst/>
          </a:prstGeom>
          <a:solidFill>
            <a:schemeClr val="accent3">
              <a:lumMod val="50000"/>
            </a:schemeClr>
          </a:solidFill>
        </p:spPr>
        <p:style>
          <a:lnRef idx="1">
            <a:schemeClr val="dk1"/>
          </a:lnRef>
          <a:fillRef idx="2">
            <a:schemeClr val="dk1"/>
          </a:fillRef>
          <a:effectRef idx="1">
            <a:schemeClr val="dk1"/>
          </a:effectRef>
          <a:fontRef idx="minor">
            <a:schemeClr val="dk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solidFill>
                  <a:schemeClr val="bg1"/>
                </a:solidFill>
              </a:rPr>
              <a:t>Domain #3</a:t>
            </a:r>
          </a:p>
        </p:txBody>
      </p:sp>
      <p:sp>
        <p:nvSpPr>
          <p:cNvPr id="31" name="Rectangle 30"/>
          <p:cNvSpPr/>
          <p:nvPr/>
        </p:nvSpPr>
        <p:spPr>
          <a:xfrm>
            <a:off x="990600" y="18288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0</a:t>
            </a:r>
          </a:p>
        </p:txBody>
      </p:sp>
      <p:sp>
        <p:nvSpPr>
          <p:cNvPr id="32" name="Rectangle 31"/>
          <p:cNvSpPr/>
          <p:nvPr/>
        </p:nvSpPr>
        <p:spPr>
          <a:xfrm>
            <a:off x="990600" y="28956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1</a:t>
            </a:r>
          </a:p>
        </p:txBody>
      </p:sp>
      <p:sp>
        <p:nvSpPr>
          <p:cNvPr id="33" name="Rectangle 32"/>
          <p:cNvSpPr/>
          <p:nvPr/>
        </p:nvSpPr>
        <p:spPr>
          <a:xfrm>
            <a:off x="990600" y="39624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2</a:t>
            </a:r>
          </a:p>
        </p:txBody>
      </p:sp>
      <p:sp>
        <p:nvSpPr>
          <p:cNvPr id="34" name="Rectangle 33"/>
          <p:cNvSpPr/>
          <p:nvPr/>
        </p:nvSpPr>
        <p:spPr>
          <a:xfrm>
            <a:off x="990600" y="50292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3</a:t>
            </a:r>
          </a:p>
        </p:txBody>
      </p:sp>
      <p:grpSp>
        <p:nvGrpSpPr>
          <p:cNvPr id="4" name="Group 15"/>
          <p:cNvGrpSpPr>
            <a:grpSpLocks/>
          </p:cNvGrpSpPr>
          <p:nvPr/>
        </p:nvGrpSpPr>
        <p:grpSpPr bwMode="auto">
          <a:xfrm>
            <a:off x="1524000" y="1828800"/>
            <a:ext cx="533400" cy="3886200"/>
            <a:chOff x="1447800" y="1600200"/>
            <a:chExt cx="533400" cy="3886200"/>
          </a:xfrm>
        </p:grpSpPr>
        <p:sp>
          <p:nvSpPr>
            <p:cNvPr id="17" name="Rectangle 16"/>
            <p:cNvSpPr/>
            <p:nvPr/>
          </p:nvSpPr>
          <p:spPr>
            <a:xfrm>
              <a:off x="1447800" y="16002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4</a:t>
              </a:r>
            </a:p>
          </p:txBody>
        </p:sp>
        <p:sp>
          <p:nvSpPr>
            <p:cNvPr id="19" name="Rectangle 18"/>
            <p:cNvSpPr/>
            <p:nvPr/>
          </p:nvSpPr>
          <p:spPr>
            <a:xfrm>
              <a:off x="1447800" y="26670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5</a:t>
              </a:r>
            </a:p>
          </p:txBody>
        </p:sp>
        <p:sp>
          <p:nvSpPr>
            <p:cNvPr id="20" name="Rectangle 19"/>
            <p:cNvSpPr/>
            <p:nvPr/>
          </p:nvSpPr>
          <p:spPr>
            <a:xfrm>
              <a:off x="1447800" y="37338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6</a:t>
              </a:r>
            </a:p>
          </p:txBody>
        </p:sp>
        <p:sp>
          <p:nvSpPr>
            <p:cNvPr id="21" name="Rectangle 20"/>
            <p:cNvSpPr/>
            <p:nvPr/>
          </p:nvSpPr>
          <p:spPr>
            <a:xfrm>
              <a:off x="1447800" y="48006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7</a:t>
              </a:r>
            </a:p>
          </p:txBody>
        </p:sp>
      </p:grpSp>
      <p:grpSp>
        <p:nvGrpSpPr>
          <p:cNvPr id="5" name="Group 21"/>
          <p:cNvGrpSpPr>
            <a:grpSpLocks/>
          </p:cNvGrpSpPr>
          <p:nvPr/>
        </p:nvGrpSpPr>
        <p:grpSpPr bwMode="auto">
          <a:xfrm>
            <a:off x="2057400" y="1828800"/>
            <a:ext cx="533400" cy="3886200"/>
            <a:chOff x="1447800" y="1600200"/>
            <a:chExt cx="533400" cy="3886200"/>
          </a:xfrm>
        </p:grpSpPr>
        <p:sp>
          <p:nvSpPr>
            <p:cNvPr id="24" name="Rectangle 23"/>
            <p:cNvSpPr/>
            <p:nvPr/>
          </p:nvSpPr>
          <p:spPr>
            <a:xfrm>
              <a:off x="1447800" y="16002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8</a:t>
              </a:r>
            </a:p>
          </p:txBody>
        </p:sp>
        <p:sp>
          <p:nvSpPr>
            <p:cNvPr id="25" name="Rectangle 24"/>
            <p:cNvSpPr/>
            <p:nvPr/>
          </p:nvSpPr>
          <p:spPr>
            <a:xfrm>
              <a:off x="1447800" y="26670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9</a:t>
              </a:r>
            </a:p>
          </p:txBody>
        </p:sp>
        <p:sp>
          <p:nvSpPr>
            <p:cNvPr id="26" name="Rectangle 25"/>
            <p:cNvSpPr/>
            <p:nvPr/>
          </p:nvSpPr>
          <p:spPr>
            <a:xfrm>
              <a:off x="1447800" y="37338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10</a:t>
              </a:r>
            </a:p>
          </p:txBody>
        </p:sp>
        <p:sp>
          <p:nvSpPr>
            <p:cNvPr id="27" name="Rectangle 26"/>
            <p:cNvSpPr/>
            <p:nvPr/>
          </p:nvSpPr>
          <p:spPr>
            <a:xfrm>
              <a:off x="1447800" y="48006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11</a:t>
              </a:r>
            </a:p>
          </p:txBody>
        </p:sp>
      </p:grpSp>
      <p:grpSp>
        <p:nvGrpSpPr>
          <p:cNvPr id="6" name="Group 27"/>
          <p:cNvGrpSpPr>
            <a:grpSpLocks/>
          </p:cNvGrpSpPr>
          <p:nvPr/>
        </p:nvGrpSpPr>
        <p:grpSpPr bwMode="auto">
          <a:xfrm>
            <a:off x="2590800" y="1828800"/>
            <a:ext cx="533400" cy="3886200"/>
            <a:chOff x="1447800" y="1600200"/>
            <a:chExt cx="533400" cy="3886200"/>
          </a:xfrm>
        </p:grpSpPr>
        <p:sp>
          <p:nvSpPr>
            <p:cNvPr id="29" name="Rectangle 28"/>
            <p:cNvSpPr/>
            <p:nvPr/>
          </p:nvSpPr>
          <p:spPr>
            <a:xfrm>
              <a:off x="1447800" y="16002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12</a:t>
              </a:r>
            </a:p>
          </p:txBody>
        </p:sp>
        <p:sp>
          <p:nvSpPr>
            <p:cNvPr id="30" name="Rectangle 29"/>
            <p:cNvSpPr/>
            <p:nvPr/>
          </p:nvSpPr>
          <p:spPr>
            <a:xfrm>
              <a:off x="1447800" y="26670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13</a:t>
              </a:r>
            </a:p>
          </p:txBody>
        </p:sp>
        <p:sp>
          <p:nvSpPr>
            <p:cNvPr id="35" name="Rectangle 34"/>
            <p:cNvSpPr/>
            <p:nvPr/>
          </p:nvSpPr>
          <p:spPr>
            <a:xfrm>
              <a:off x="1447800" y="37338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14</a:t>
              </a:r>
            </a:p>
          </p:txBody>
        </p:sp>
        <p:sp>
          <p:nvSpPr>
            <p:cNvPr id="36" name="Rectangle 35"/>
            <p:cNvSpPr/>
            <p:nvPr/>
          </p:nvSpPr>
          <p:spPr>
            <a:xfrm>
              <a:off x="1447800" y="48006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15</a:t>
              </a:r>
            </a:p>
          </p:txBody>
        </p:sp>
      </p:grpSp>
      <p:grpSp>
        <p:nvGrpSpPr>
          <p:cNvPr id="7" name="Group 36"/>
          <p:cNvGrpSpPr>
            <a:grpSpLocks/>
          </p:cNvGrpSpPr>
          <p:nvPr/>
        </p:nvGrpSpPr>
        <p:grpSpPr bwMode="auto">
          <a:xfrm>
            <a:off x="3124200" y="1828800"/>
            <a:ext cx="533400" cy="3886200"/>
            <a:chOff x="1447800" y="1600200"/>
            <a:chExt cx="533400" cy="3886200"/>
          </a:xfrm>
        </p:grpSpPr>
        <p:sp>
          <p:nvSpPr>
            <p:cNvPr id="38" name="Rectangle 37"/>
            <p:cNvSpPr/>
            <p:nvPr/>
          </p:nvSpPr>
          <p:spPr>
            <a:xfrm>
              <a:off x="1447800" y="16002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16</a:t>
              </a:r>
            </a:p>
          </p:txBody>
        </p:sp>
        <p:sp>
          <p:nvSpPr>
            <p:cNvPr id="39" name="Rectangle 38"/>
            <p:cNvSpPr/>
            <p:nvPr/>
          </p:nvSpPr>
          <p:spPr>
            <a:xfrm>
              <a:off x="1447800" y="26670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17</a:t>
              </a:r>
            </a:p>
          </p:txBody>
        </p:sp>
        <p:sp>
          <p:nvSpPr>
            <p:cNvPr id="40" name="Rectangle 39"/>
            <p:cNvSpPr/>
            <p:nvPr/>
          </p:nvSpPr>
          <p:spPr>
            <a:xfrm>
              <a:off x="1447800" y="37338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18</a:t>
              </a:r>
            </a:p>
          </p:txBody>
        </p:sp>
        <p:sp>
          <p:nvSpPr>
            <p:cNvPr id="41" name="Rectangle 40"/>
            <p:cNvSpPr/>
            <p:nvPr/>
          </p:nvSpPr>
          <p:spPr>
            <a:xfrm>
              <a:off x="1447800" y="48006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19</a:t>
              </a:r>
            </a:p>
          </p:txBody>
        </p:sp>
      </p:grpSp>
      <p:sp>
        <p:nvSpPr>
          <p:cNvPr id="55" name="Content Placeholder 54"/>
          <p:cNvSpPr>
            <a:spLocks noGrp="1"/>
          </p:cNvSpPr>
          <p:nvPr>
            <p:ph idx="1"/>
          </p:nvPr>
        </p:nvSpPr>
        <p:spPr>
          <a:xfrm>
            <a:off x="4267200" y="1905000"/>
            <a:ext cx="4876800" cy="4525963"/>
          </a:xfrm>
        </p:spPr>
        <p:txBody>
          <a:bodyPr/>
          <a:lstStyle/>
          <a:p>
            <a:pPr eaLnBrk="1" hangingPunct="1"/>
            <a:r>
              <a:rPr lang="en-US" altLang="en-US" b="1" smtClean="0"/>
              <a:t>Domain</a:t>
            </a:r>
          </a:p>
          <a:p>
            <a:pPr lvl="1" eaLnBrk="1" hangingPunct="1"/>
            <a:r>
              <a:rPr lang="en-US" altLang="en-US" sz="2000" smtClean="0"/>
              <a:t>A set of connected chips (how many?) </a:t>
            </a:r>
          </a:p>
          <a:p>
            <a:pPr lvl="2" eaLnBrk="1" hangingPunct="1"/>
            <a:r>
              <a:rPr lang="en-US" altLang="en-US" smtClean="0"/>
              <a:t>10x domains</a:t>
            </a:r>
          </a:p>
          <a:p>
            <a:pPr eaLnBrk="1" hangingPunct="1"/>
            <a:r>
              <a:rPr lang="en-US" altLang="en-US" b="1" smtClean="0"/>
              <a:t>Chunk</a:t>
            </a:r>
          </a:p>
          <a:p>
            <a:pPr lvl="1" eaLnBrk="1" hangingPunct="1"/>
            <a:r>
              <a:rPr lang="en-US" altLang="en-US" sz="2000" smtClean="0"/>
              <a:t>A basic unit of data block (how large?)</a:t>
            </a:r>
          </a:p>
          <a:p>
            <a:pPr lvl="2" eaLnBrk="1" hangingPunct="1"/>
            <a:r>
              <a:rPr lang="en-US" altLang="en-US" smtClean="0"/>
              <a:t>4KB (the page size)</a:t>
            </a:r>
          </a:p>
          <a:p>
            <a:pPr eaLnBrk="1" hangingPunct="1"/>
            <a:r>
              <a:rPr lang="en-US" altLang="en-US" b="1" smtClean="0"/>
              <a:t>Mapping</a:t>
            </a:r>
          </a:p>
          <a:p>
            <a:pPr lvl="1" eaLnBrk="1" hangingPunct="1"/>
            <a:r>
              <a:rPr lang="en-US" altLang="en-US" sz="2000" smtClean="0"/>
              <a:t>How chunks are allocated from their LBA to their PBA?</a:t>
            </a:r>
          </a:p>
          <a:p>
            <a:pPr lvl="2" eaLnBrk="1" hangingPunct="1"/>
            <a:r>
              <a:rPr lang="en-US" altLang="en-US" smtClean="0">
                <a:solidFill>
                  <a:srgbClr val="C00000"/>
                </a:solidFill>
              </a:rPr>
              <a:t>To be discussed later</a:t>
            </a:r>
          </a:p>
        </p:txBody>
      </p:sp>
      <p:sp>
        <p:nvSpPr>
          <p:cNvPr id="56" name="Rectangle 55"/>
          <p:cNvSpPr/>
          <p:nvPr/>
        </p:nvSpPr>
        <p:spPr>
          <a:xfrm>
            <a:off x="914400" y="1752600"/>
            <a:ext cx="609600" cy="838200"/>
          </a:xfrm>
          <a:prstGeom prst="rect">
            <a:avLst/>
          </a:prstGeom>
          <a:noFill/>
          <a:ln w="76200" cmpd="sng">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Char char="Ø"/>
              <a:defRPr/>
            </a:pPr>
            <a:endParaRPr lang="en-US" altLang="en-US" smtClean="0">
              <a:solidFill>
                <a:srgbClr val="FFFFFF"/>
              </a:solidFill>
              <a:latin typeface="Calibri" pitchFamily="34" charset="0"/>
            </a:endParaRPr>
          </a:p>
        </p:txBody>
      </p:sp>
      <p:grpSp>
        <p:nvGrpSpPr>
          <p:cNvPr id="9" name="Group 56"/>
          <p:cNvGrpSpPr>
            <a:grpSpLocks/>
          </p:cNvGrpSpPr>
          <p:nvPr/>
        </p:nvGrpSpPr>
        <p:grpSpPr bwMode="auto">
          <a:xfrm>
            <a:off x="304800" y="2209800"/>
            <a:ext cx="533400" cy="3124200"/>
            <a:chOff x="304800" y="2209800"/>
            <a:chExt cx="533400" cy="3124200"/>
          </a:xfrm>
        </p:grpSpPr>
        <p:cxnSp>
          <p:nvCxnSpPr>
            <p:cNvPr id="58" name="Straight Arrow Connector 57"/>
            <p:cNvCxnSpPr/>
            <p:nvPr/>
          </p:nvCxnSpPr>
          <p:spPr>
            <a:xfrm rot="5400000" flipH="1" flipV="1">
              <a:off x="-76200" y="2590800"/>
              <a:ext cx="1295400" cy="533400"/>
            </a:xfrm>
            <a:prstGeom prst="straightConnector1">
              <a:avLst/>
            </a:prstGeom>
            <a:ln w="4762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flipV="1">
              <a:off x="304800" y="3352800"/>
              <a:ext cx="457200" cy="381000"/>
            </a:xfrm>
            <a:prstGeom prst="straightConnector1">
              <a:avLst/>
            </a:prstGeom>
            <a:ln w="4762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a:off x="304800" y="3886200"/>
              <a:ext cx="457200" cy="304800"/>
            </a:xfrm>
            <a:prstGeom prst="straightConnector1">
              <a:avLst/>
            </a:prstGeom>
            <a:ln w="4762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rot="16200000" flipH="1">
              <a:off x="-76200" y="4495800"/>
              <a:ext cx="1219200" cy="457200"/>
            </a:xfrm>
            <a:prstGeom prst="straightConnector1">
              <a:avLst/>
            </a:prstGeom>
            <a:ln w="47625">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pic>
        <p:nvPicPr>
          <p:cNvPr id="6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0" y="3352800"/>
            <a:ext cx="48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0" y="1905000"/>
            <a:ext cx="48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00800" y="4724400"/>
            <a:ext cx="48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66"/>
          <p:cNvGrpSpPr>
            <a:grpSpLocks/>
          </p:cNvGrpSpPr>
          <p:nvPr/>
        </p:nvGrpSpPr>
        <p:grpSpPr bwMode="auto">
          <a:xfrm>
            <a:off x="685800" y="1371600"/>
            <a:ext cx="3352800" cy="4876800"/>
            <a:chOff x="685800" y="1371600"/>
            <a:chExt cx="3505200" cy="5318741"/>
          </a:xfrm>
        </p:grpSpPr>
        <p:pic>
          <p:nvPicPr>
            <p:cNvPr id="50204"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62153" y="2119553"/>
              <a:ext cx="5001106"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205" name="Rectangle 62"/>
            <p:cNvSpPr>
              <a:spLocks noChangeArrowheads="1"/>
            </p:cNvSpPr>
            <p:nvPr/>
          </p:nvSpPr>
          <p:spPr bwMode="auto">
            <a:xfrm>
              <a:off x="1600200" y="6324600"/>
              <a:ext cx="2070823" cy="365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50000"/>
                </a:spcBef>
                <a:spcAft>
                  <a:spcPct val="20000"/>
                </a:spcAft>
                <a:buFont typeface="Wingdings" panose="05000000000000000000" pitchFamily="2" charset="2"/>
                <a:buNone/>
              </a:pPr>
              <a:r>
                <a:rPr lang="en-US" altLang="en-US" sz="1600">
                  <a:solidFill>
                    <a:srgbClr val="010000"/>
                  </a:solidFill>
                  <a:latin typeface="Verdana" panose="020B0604030504040204" pitchFamily="34" charset="0"/>
                </a:rPr>
                <a:t>Intel® X25-E SSD</a:t>
              </a:r>
            </a:p>
          </p:txBody>
        </p:sp>
      </p:grpSp>
      <p:grpSp>
        <p:nvGrpSpPr>
          <p:cNvPr id="11" name="Group 74"/>
          <p:cNvGrpSpPr>
            <a:grpSpLocks/>
          </p:cNvGrpSpPr>
          <p:nvPr/>
        </p:nvGrpSpPr>
        <p:grpSpPr bwMode="auto">
          <a:xfrm>
            <a:off x="304800" y="1600200"/>
            <a:ext cx="7086600" cy="2209800"/>
            <a:chOff x="304800" y="1600200"/>
            <a:chExt cx="7086600" cy="2209800"/>
          </a:xfrm>
        </p:grpSpPr>
        <p:sp>
          <p:nvSpPr>
            <p:cNvPr id="68" name="Oval 67"/>
            <p:cNvSpPr/>
            <p:nvPr/>
          </p:nvSpPr>
          <p:spPr>
            <a:xfrm>
              <a:off x="304800" y="1600200"/>
              <a:ext cx="4114800" cy="1143000"/>
            </a:xfrm>
            <a:prstGeom prst="ellipse">
              <a:avLst/>
            </a:prstGeom>
            <a:noFill/>
            <a:ln w="508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Char char="Ø"/>
                <a:defRPr/>
              </a:pPr>
              <a:endParaRPr lang="en-US" altLang="en-US" smtClean="0">
                <a:solidFill>
                  <a:srgbClr val="FFFFFF"/>
                </a:solidFill>
                <a:latin typeface="Calibri" pitchFamily="34" charset="0"/>
              </a:endParaRPr>
            </a:p>
          </p:txBody>
        </p:sp>
        <p:sp>
          <p:nvSpPr>
            <p:cNvPr id="69" name="Rectangle 68"/>
            <p:cNvSpPr/>
            <p:nvPr/>
          </p:nvSpPr>
          <p:spPr>
            <a:xfrm>
              <a:off x="4191000" y="3124200"/>
              <a:ext cx="3200400" cy="685800"/>
            </a:xfrm>
            <a:prstGeom prst="rect">
              <a:avLst/>
            </a:prstGeom>
          </p:spPr>
          <p:style>
            <a:lnRef idx="1">
              <a:schemeClr val="accent2"/>
            </a:lnRef>
            <a:fillRef idx="3">
              <a:schemeClr val="accent2"/>
            </a:fillRef>
            <a:effectRef idx="2">
              <a:schemeClr val="accent2"/>
            </a:effectRef>
            <a:fontRef idx="minor">
              <a:schemeClr val="lt1"/>
            </a:fontRef>
          </p:style>
          <p:txBody>
            <a:bodyPr anchor="ctr"/>
            <a:lstStyle/>
            <a:p>
              <a:pPr algn="ctr" eaLnBrk="1" hangingPunct="1">
                <a:spcBef>
                  <a:spcPts val="0"/>
                </a:spcBef>
                <a:spcAft>
                  <a:spcPts val="0"/>
                </a:spcAft>
                <a:buFont typeface="Wingdings" pitchFamily="2" charset="2"/>
                <a:buNone/>
                <a:defRPr/>
              </a:pPr>
              <a:r>
                <a:rPr lang="en-US" sz="2400" dirty="0"/>
                <a:t>Resource sharing:</a:t>
              </a:r>
            </a:p>
            <a:p>
              <a:pPr algn="ctr" eaLnBrk="1" hangingPunct="1">
                <a:spcBef>
                  <a:spcPts val="0"/>
                </a:spcBef>
                <a:spcAft>
                  <a:spcPts val="0"/>
                </a:spcAft>
                <a:buFont typeface="Wingdings" pitchFamily="2" charset="2"/>
                <a:buNone/>
                <a:defRPr/>
              </a:pPr>
              <a:r>
                <a:rPr lang="en-US" sz="2400" dirty="0"/>
                <a:t>e.g. channel, ECC, et. al.</a:t>
              </a:r>
            </a:p>
          </p:txBody>
        </p:sp>
        <p:cxnSp>
          <p:nvCxnSpPr>
            <p:cNvPr id="70" name="Straight Arrow Connector 69"/>
            <p:cNvCxnSpPr>
              <a:stCxn id="69" idx="0"/>
              <a:endCxn id="68" idx="5"/>
            </p:cNvCxnSpPr>
            <p:nvPr/>
          </p:nvCxnSpPr>
          <p:spPr>
            <a:xfrm rot="16200000" flipV="1">
              <a:off x="4529931" y="1862932"/>
              <a:ext cx="547687" cy="1974850"/>
            </a:xfrm>
            <a:prstGeom prst="straightConnector1">
              <a:avLst/>
            </a:prstGeom>
            <a:ln w="47625">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671563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5">
                                            <p:txEl>
                                              <p:pRg st="0" end="0"/>
                                            </p:txEl>
                                          </p:spTgt>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55">
                                            <p:txEl>
                                              <p:pRg st="1" end="1"/>
                                            </p:txEl>
                                          </p:spTgt>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par>
                          <p:cTn id="23" fill="hold" nodeType="afterGroup">
                            <p:stCondLst>
                              <p:cond delay="500"/>
                            </p:stCondLst>
                            <p:childTnLst>
                              <p:par>
                                <p:cTn id="24" presetID="3" presetClass="entr" presetSubtype="10" fill="hold" grpId="0" nodeType="after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blinds(horizontal)">
                                      <p:cBhvr>
                                        <p:cTn id="26" dur="500"/>
                                        <p:tgtEl>
                                          <p:spTgt spid="13"/>
                                        </p:tgtEl>
                                      </p:cBhvr>
                                    </p:animEffect>
                                  </p:childTnLst>
                                </p:cTn>
                              </p:par>
                            </p:childTnLst>
                          </p:cTn>
                        </p:par>
                        <p:par>
                          <p:cTn id="27" fill="hold" nodeType="afterGroup">
                            <p:stCondLst>
                              <p:cond delay="1000"/>
                            </p:stCondLst>
                            <p:childTnLst>
                              <p:par>
                                <p:cTn id="28" presetID="3" presetClass="entr" presetSubtype="10" fill="hold" grpId="0" nodeType="after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blinds(horizontal)">
                                      <p:cBhvr>
                                        <p:cTn id="30" dur="500"/>
                                        <p:tgtEl>
                                          <p:spTgt spid="18"/>
                                        </p:tgtEl>
                                      </p:cBhvr>
                                    </p:animEffect>
                                  </p:childTnLst>
                                </p:cTn>
                              </p:par>
                            </p:childTnLst>
                          </p:cTn>
                        </p:par>
                        <p:par>
                          <p:cTn id="31" fill="hold" nodeType="afterGroup">
                            <p:stCondLst>
                              <p:cond delay="1500"/>
                            </p:stCondLst>
                            <p:childTnLst>
                              <p:par>
                                <p:cTn id="32" presetID="3" presetClass="entr" presetSubtype="10" fill="hold" grpId="0" nodeType="after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blinds(horizontal)">
                                      <p:cBhvr>
                                        <p:cTn id="34" dur="500"/>
                                        <p:tgtEl>
                                          <p:spTgt spid="23"/>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5">
                                            <p:txEl>
                                              <p:pRg st="2" end="2"/>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5">
                                            <p:txEl>
                                              <p:pRg st="3" end="3"/>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5">
                                            <p:txEl>
                                              <p:pRg st="4" end="4"/>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2"/>
                                        </p:tgtEl>
                                        <p:attrNameLst>
                                          <p:attrName>style.visibility</p:attrName>
                                        </p:attrNameLst>
                                      </p:cBhvr>
                                      <p:to>
                                        <p:strVal val="visible"/>
                                      </p:to>
                                    </p:set>
                                  </p:childTnLst>
                                </p:cTn>
                              </p:par>
                            </p:childTnLst>
                          </p:cTn>
                        </p:par>
                        <p:par>
                          <p:cTn id="49" fill="hold" nodeType="afterGroup">
                            <p:stCondLst>
                              <p:cond delay="0"/>
                            </p:stCondLst>
                            <p:childTnLst>
                              <p:par>
                                <p:cTn id="50" presetID="3" presetClass="entr" presetSubtype="10" fill="hold" grpId="0" nodeType="after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blinds(horizontal)">
                                      <p:cBhvr>
                                        <p:cTn id="52" dur="500"/>
                                        <p:tgtEl>
                                          <p:spTgt spid="33"/>
                                        </p:tgtEl>
                                      </p:cBhvr>
                                    </p:animEffect>
                                  </p:childTnLst>
                                </p:cTn>
                              </p:par>
                            </p:childTnLst>
                          </p:cTn>
                        </p:par>
                        <p:par>
                          <p:cTn id="53" fill="hold" nodeType="afterGroup">
                            <p:stCondLst>
                              <p:cond delay="500"/>
                            </p:stCondLst>
                            <p:childTnLst>
                              <p:par>
                                <p:cTn id="54" presetID="3" presetClass="entr" presetSubtype="10" fill="hold" grpId="0" nodeType="afterEffect">
                                  <p:stCondLst>
                                    <p:cond delay="0"/>
                                  </p:stCondLst>
                                  <p:childTnLst>
                                    <p:set>
                                      <p:cBhvr>
                                        <p:cTn id="55" dur="1" fill="hold">
                                          <p:stCondLst>
                                            <p:cond delay="0"/>
                                          </p:stCondLst>
                                        </p:cTn>
                                        <p:tgtEl>
                                          <p:spTgt spid="34"/>
                                        </p:tgtEl>
                                        <p:attrNameLst>
                                          <p:attrName>style.visibility</p:attrName>
                                        </p:attrNameLst>
                                      </p:cBhvr>
                                      <p:to>
                                        <p:strVal val="visible"/>
                                      </p:to>
                                    </p:set>
                                    <p:animEffect transition="in" filter="blinds(horizontal)">
                                      <p:cBhvr>
                                        <p:cTn id="56" dur="500"/>
                                        <p:tgtEl>
                                          <p:spTgt spid="34"/>
                                        </p:tgtEl>
                                      </p:cBhvr>
                                    </p:animEffect>
                                  </p:childTnLst>
                                </p:cTn>
                              </p:par>
                            </p:childTnLst>
                          </p:cTn>
                        </p:par>
                        <p:par>
                          <p:cTn id="57" fill="hold" nodeType="afterGroup">
                            <p:stCondLst>
                              <p:cond delay="1000"/>
                            </p:stCondLst>
                            <p:childTnLst>
                              <p:par>
                                <p:cTn id="58" presetID="22" presetClass="entr" presetSubtype="1" fill="hold" nodeType="afterEffect">
                                  <p:stCondLst>
                                    <p:cond delay="0"/>
                                  </p:stCondLst>
                                  <p:childTnLst>
                                    <p:set>
                                      <p:cBhvr>
                                        <p:cTn id="59" dur="1" fill="hold">
                                          <p:stCondLst>
                                            <p:cond delay="0"/>
                                          </p:stCondLst>
                                        </p:cTn>
                                        <p:tgtEl>
                                          <p:spTgt spid="4"/>
                                        </p:tgtEl>
                                        <p:attrNameLst>
                                          <p:attrName>style.visibility</p:attrName>
                                        </p:attrNameLst>
                                      </p:cBhvr>
                                      <p:to>
                                        <p:strVal val="visible"/>
                                      </p:to>
                                    </p:set>
                                    <p:animEffect transition="in" filter="wipe(up)">
                                      <p:cBhvr>
                                        <p:cTn id="60" dur="500"/>
                                        <p:tgtEl>
                                          <p:spTgt spid="4"/>
                                        </p:tgtEl>
                                      </p:cBhvr>
                                    </p:animEffect>
                                  </p:childTnLst>
                                </p:cTn>
                              </p:par>
                            </p:childTnLst>
                          </p:cTn>
                        </p:par>
                        <p:par>
                          <p:cTn id="61" fill="hold" nodeType="afterGroup">
                            <p:stCondLst>
                              <p:cond delay="1500"/>
                            </p:stCondLst>
                            <p:childTnLst>
                              <p:par>
                                <p:cTn id="62" presetID="22" presetClass="entr" presetSubtype="1" fill="hold" nodeType="afterEffect">
                                  <p:stCondLst>
                                    <p:cond delay="0"/>
                                  </p:stCondLst>
                                  <p:childTnLst>
                                    <p:set>
                                      <p:cBhvr>
                                        <p:cTn id="63" dur="1" fill="hold">
                                          <p:stCondLst>
                                            <p:cond delay="0"/>
                                          </p:stCondLst>
                                        </p:cTn>
                                        <p:tgtEl>
                                          <p:spTgt spid="5"/>
                                        </p:tgtEl>
                                        <p:attrNameLst>
                                          <p:attrName>style.visibility</p:attrName>
                                        </p:attrNameLst>
                                      </p:cBhvr>
                                      <p:to>
                                        <p:strVal val="visible"/>
                                      </p:to>
                                    </p:set>
                                    <p:animEffect transition="in" filter="wipe(up)">
                                      <p:cBhvr>
                                        <p:cTn id="64" dur="500"/>
                                        <p:tgtEl>
                                          <p:spTgt spid="5"/>
                                        </p:tgtEl>
                                      </p:cBhvr>
                                    </p:animEffect>
                                  </p:childTnLst>
                                </p:cTn>
                              </p:par>
                            </p:childTnLst>
                          </p:cTn>
                        </p:par>
                        <p:par>
                          <p:cTn id="65" fill="hold" nodeType="afterGroup">
                            <p:stCondLst>
                              <p:cond delay="2000"/>
                            </p:stCondLst>
                            <p:childTnLst>
                              <p:par>
                                <p:cTn id="66" presetID="22" presetClass="entr" presetSubtype="1" fill="hold" nodeType="afterEffect">
                                  <p:stCondLst>
                                    <p:cond delay="0"/>
                                  </p:stCondLst>
                                  <p:childTnLst>
                                    <p:set>
                                      <p:cBhvr>
                                        <p:cTn id="67" dur="1" fill="hold">
                                          <p:stCondLst>
                                            <p:cond delay="0"/>
                                          </p:stCondLst>
                                        </p:cTn>
                                        <p:tgtEl>
                                          <p:spTgt spid="6"/>
                                        </p:tgtEl>
                                        <p:attrNameLst>
                                          <p:attrName>style.visibility</p:attrName>
                                        </p:attrNameLst>
                                      </p:cBhvr>
                                      <p:to>
                                        <p:strVal val="visible"/>
                                      </p:to>
                                    </p:set>
                                    <p:animEffect transition="in" filter="wipe(up)">
                                      <p:cBhvr>
                                        <p:cTn id="68" dur="500"/>
                                        <p:tgtEl>
                                          <p:spTgt spid="6"/>
                                        </p:tgtEl>
                                      </p:cBhvr>
                                    </p:animEffect>
                                  </p:childTnLst>
                                </p:cTn>
                              </p:par>
                            </p:childTnLst>
                          </p:cTn>
                        </p:par>
                        <p:par>
                          <p:cTn id="69" fill="hold" nodeType="afterGroup">
                            <p:stCondLst>
                              <p:cond delay="2500"/>
                            </p:stCondLst>
                            <p:childTnLst>
                              <p:par>
                                <p:cTn id="70" presetID="22" presetClass="entr" presetSubtype="1" fill="hold" nodeType="afterEffect">
                                  <p:stCondLst>
                                    <p:cond delay="0"/>
                                  </p:stCondLst>
                                  <p:childTnLst>
                                    <p:set>
                                      <p:cBhvr>
                                        <p:cTn id="71" dur="1" fill="hold">
                                          <p:stCondLst>
                                            <p:cond delay="0"/>
                                          </p:stCondLst>
                                        </p:cTn>
                                        <p:tgtEl>
                                          <p:spTgt spid="7"/>
                                        </p:tgtEl>
                                        <p:attrNameLst>
                                          <p:attrName>style.visibility</p:attrName>
                                        </p:attrNameLst>
                                      </p:cBhvr>
                                      <p:to>
                                        <p:strVal val="visible"/>
                                      </p:to>
                                    </p:set>
                                    <p:animEffect transition="in" filter="wipe(up)">
                                      <p:cBhvr>
                                        <p:cTn id="72" dur="500"/>
                                        <p:tgtEl>
                                          <p:spTgt spid="7"/>
                                        </p:tgtEl>
                                      </p:cBhvr>
                                    </p:animEffect>
                                  </p:childTnLst>
                                </p:cTn>
                              </p:par>
                              <p:par>
                                <p:cTn id="73" presetID="1" presetClass="entr" presetSubtype="0" fill="hold" nodeType="withEffect">
                                  <p:stCondLst>
                                    <p:cond delay="0"/>
                                  </p:stCondLst>
                                  <p:childTnLst>
                                    <p:set>
                                      <p:cBhvr>
                                        <p:cTn id="74"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par>
                                <p:cTn id="75" presetID="1" presetClass="entr" presetSubtype="0" fill="hold" nodeType="withEffect">
                                  <p:stCondLst>
                                    <p:cond delay="0"/>
                                  </p:stCondLst>
                                  <p:childTnLst>
                                    <p:set>
                                      <p:cBhvr>
                                        <p:cTn id="76" dur="1" fill="hold">
                                          <p:stCondLst>
                                            <p:cond delay="0"/>
                                          </p:stCondLst>
                                        </p:cTn>
                                        <p:tgtEl>
                                          <p:spTgt spid="56"/>
                                        </p:tgtEl>
                                        <p:attrNameLst>
                                          <p:attrName>style.visibility</p:attrName>
                                        </p:attrNameLst>
                                      </p:cBhvr>
                                      <p:to>
                                        <p:strVal val="visible"/>
                                      </p:to>
                                    </p:set>
                                  </p:childTnLst>
                                  <p:subTnLst>
                                    <p:set>
                                      <p:cBhvr override="childStyle">
                                        <p:cTn dur="1" fill="hold" display="0" masterRel="nextClick" afterEffect="1"/>
                                        <p:tgtEl>
                                          <p:spTgt spid="56"/>
                                        </p:tgtEl>
                                        <p:attrNameLst>
                                          <p:attrName>style.visibility</p:attrName>
                                        </p:attrNameLst>
                                      </p:cBhvr>
                                      <p:to>
                                        <p:strVal val="hidden"/>
                                      </p:to>
                                    </p:set>
                                  </p:sub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55">
                                            <p:txEl>
                                              <p:pRg st="5" end="5"/>
                                            </p:txEl>
                                          </p:spTgt>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1" presetClass="entr" presetSubtype="0" fill="hold" nodeType="clickEffect">
                                  <p:stCondLst>
                                    <p:cond delay="0"/>
                                  </p:stCondLst>
                                  <p:childTnLst>
                                    <p:set>
                                      <p:cBhvr>
                                        <p:cTn id="84" dur="1" fill="hold">
                                          <p:stCondLst>
                                            <p:cond delay="0"/>
                                          </p:stCondLst>
                                        </p:cTn>
                                        <p:tgtEl>
                                          <p:spTgt spid="65"/>
                                        </p:tgtEl>
                                        <p:attrNameLst>
                                          <p:attrName>style.visibility</p:attrName>
                                        </p:attrNameLst>
                                      </p:cBhvr>
                                      <p:to>
                                        <p:strVal val="visible"/>
                                      </p:to>
                                    </p:set>
                                  </p:childTnLst>
                                </p:cTn>
                              </p:par>
                            </p:childTnLst>
                          </p:cTn>
                        </p:par>
                        <p:par>
                          <p:cTn id="85" fill="hold" nodeType="afterGroup">
                            <p:stCondLst>
                              <p:cond delay="0"/>
                            </p:stCondLst>
                            <p:childTnLst>
                              <p:par>
                                <p:cTn id="86" presetID="1" presetClass="entr" presetSubtype="0" fill="hold" nodeType="afterEffect">
                                  <p:stCondLst>
                                    <p:cond delay="200"/>
                                  </p:stCondLst>
                                  <p:childTnLst>
                                    <p:set>
                                      <p:cBhvr>
                                        <p:cTn id="87" dur="1" fill="hold">
                                          <p:stCondLst>
                                            <p:cond delay="0"/>
                                          </p:stCondLst>
                                        </p:cTn>
                                        <p:tgtEl>
                                          <p:spTgt spid="64"/>
                                        </p:tgtEl>
                                        <p:attrNameLst>
                                          <p:attrName>style.visibility</p:attrName>
                                        </p:attrNameLst>
                                      </p:cBhvr>
                                      <p:to>
                                        <p:strVal val="visible"/>
                                      </p:to>
                                    </p:set>
                                  </p:childTnLst>
                                </p:cTn>
                              </p:par>
                            </p:childTnLst>
                          </p:cTn>
                        </p:par>
                        <p:par>
                          <p:cTn id="88" fill="hold" nodeType="afterGroup">
                            <p:stCondLst>
                              <p:cond delay="200"/>
                            </p:stCondLst>
                            <p:childTnLst>
                              <p:par>
                                <p:cTn id="89" presetID="1" presetClass="entr" presetSubtype="0" fill="hold" nodeType="afterEffect">
                                  <p:stCondLst>
                                    <p:cond delay="200"/>
                                  </p:stCondLst>
                                  <p:childTnLst>
                                    <p:set>
                                      <p:cBhvr>
                                        <p:cTn id="90" dur="1" fill="hold">
                                          <p:stCondLst>
                                            <p:cond delay="0"/>
                                          </p:stCondLst>
                                        </p:cTn>
                                        <p:tgtEl>
                                          <p:spTgt spid="66"/>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nodeType="clickEffect">
                                  <p:stCondLst>
                                    <p:cond delay="0"/>
                                  </p:stCondLst>
                                  <p:childTnLst>
                                    <p:set>
                                      <p:cBhvr>
                                        <p:cTn id="94" dur="1" fill="hold">
                                          <p:stCondLst>
                                            <p:cond delay="0"/>
                                          </p:stCondLst>
                                        </p:cTn>
                                        <p:tgtEl>
                                          <p:spTgt spid="10"/>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55">
                                            <p:txEl>
                                              <p:pRg st="6" end="6"/>
                                            </p:txEl>
                                          </p:spTgt>
                                        </p:tgtEl>
                                        <p:attrNameLst>
                                          <p:attrName>style.visibility</p:attrName>
                                        </p:attrNameLst>
                                      </p:cBhvr>
                                      <p:to>
                                        <p:strVal val="visible"/>
                                      </p:to>
                                    </p:se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55">
                                            <p:txEl>
                                              <p:pRg st="7" end="7"/>
                                            </p:txEl>
                                          </p:spTgt>
                                        </p:tgtEl>
                                        <p:attrNameLst>
                                          <p:attrName>style.visibility</p:attrName>
                                        </p:attrNameLst>
                                      </p:cBhvr>
                                      <p:to>
                                        <p:strVal val="visible"/>
                                      </p:to>
                                    </p:se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5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8" grpId="0" animBg="1"/>
      <p:bldP spid="23" grpId="0" animBg="1"/>
      <p:bldP spid="31" grpId="0" animBg="1"/>
      <p:bldP spid="32" grpId="0" animBg="1"/>
      <p:bldP spid="33" grpId="0" animBg="1"/>
      <p:bldP spid="34" grpId="0" animBg="1"/>
      <p:bldP spid="55"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Title 1"/>
          <p:cNvSpPr>
            <a:spLocks noGrp="1"/>
          </p:cNvSpPr>
          <p:nvPr>
            <p:ph type="title"/>
          </p:nvPr>
        </p:nvSpPr>
        <p:spPr/>
        <p:txBody>
          <a:bodyPr/>
          <a:lstStyle/>
          <a:p>
            <a:pPr eaLnBrk="1" hangingPunct="1"/>
            <a:r>
              <a:rPr lang="en-US" altLang="en-US" smtClean="0"/>
              <a:t>LBN-based Mapping</a:t>
            </a:r>
          </a:p>
        </p:txBody>
      </p:sp>
      <p:sp>
        <p:nvSpPr>
          <p:cNvPr id="3" name="Content Placeholder 2"/>
          <p:cNvSpPr>
            <a:spLocks noGrp="1"/>
          </p:cNvSpPr>
          <p:nvPr>
            <p:ph idx="1"/>
          </p:nvPr>
        </p:nvSpPr>
        <p:spPr>
          <a:xfrm>
            <a:off x="0" y="5410200"/>
            <a:ext cx="9144000" cy="1447800"/>
          </a:xfrm>
        </p:spPr>
        <p:txBody>
          <a:bodyPr/>
          <a:lstStyle/>
          <a:p>
            <a:pPr eaLnBrk="1" hangingPunct="1"/>
            <a:r>
              <a:rPr lang="en-US" altLang="en-US" sz="2400" dirty="0" smtClean="0"/>
              <a:t>A block with a logical block number</a:t>
            </a:r>
            <a:r>
              <a:rPr lang="en-US" altLang="en-US" sz="2400" b="1" dirty="0" smtClean="0">
                <a:solidFill>
                  <a:srgbClr val="C00000"/>
                </a:solidFill>
              </a:rPr>
              <a:t> </a:t>
            </a:r>
            <a:r>
              <a:rPr lang="en-US" altLang="en-US" sz="2400" dirty="0" smtClean="0"/>
              <a:t>(</a:t>
            </a:r>
            <a:r>
              <a:rPr lang="en-US" altLang="en-US" sz="2400" b="1" i="1" dirty="0" smtClean="0">
                <a:solidFill>
                  <a:srgbClr val="C00000"/>
                </a:solidFill>
              </a:rPr>
              <a:t>LBN</a:t>
            </a:r>
            <a:r>
              <a:rPr lang="en-US" altLang="en-US" sz="2400" dirty="0" smtClean="0"/>
              <a:t>)</a:t>
            </a:r>
          </a:p>
          <a:p>
            <a:pPr eaLnBrk="1" hangingPunct="1"/>
            <a:r>
              <a:rPr lang="en-US" altLang="en-US" sz="2400" b="1" i="1" dirty="0" smtClean="0">
                <a:solidFill>
                  <a:schemeClr val="tx2"/>
                </a:solidFill>
              </a:rPr>
              <a:t>N</a:t>
            </a:r>
            <a:r>
              <a:rPr lang="en-US" altLang="en-US" sz="2400" dirty="0" smtClean="0"/>
              <a:t> domains</a:t>
            </a:r>
          </a:p>
          <a:p>
            <a:pPr eaLnBrk="1" hangingPunct="1"/>
            <a:r>
              <a:rPr lang="en-US" altLang="en-US" sz="2400" dirty="0" smtClean="0"/>
              <a:t>The mapping domain  </a:t>
            </a:r>
            <a:r>
              <a:rPr lang="en-US" altLang="en-US" sz="2400" b="1" dirty="0" smtClean="0">
                <a:solidFill>
                  <a:srgbClr val="C00000"/>
                </a:solidFill>
              </a:rPr>
              <a:t>(</a:t>
            </a:r>
            <a:r>
              <a:rPr lang="en-US" altLang="en-US" sz="2400" b="1" i="1" dirty="0" smtClean="0">
                <a:solidFill>
                  <a:srgbClr val="C00000"/>
                </a:solidFill>
              </a:rPr>
              <a:t>LBN</a:t>
            </a:r>
            <a:r>
              <a:rPr lang="en-US" altLang="en-US" sz="2400" b="1" dirty="0" smtClean="0">
                <a:solidFill>
                  <a:srgbClr val="C00000"/>
                </a:solidFill>
              </a:rPr>
              <a:t> </a:t>
            </a:r>
            <a:r>
              <a:rPr lang="en-US" altLang="en-US" sz="2400" dirty="0" smtClean="0"/>
              <a:t>mod</a:t>
            </a:r>
            <a:r>
              <a:rPr lang="en-US" altLang="en-US" sz="2400" b="1" dirty="0" smtClean="0">
                <a:solidFill>
                  <a:srgbClr val="C00000"/>
                </a:solidFill>
              </a:rPr>
              <a:t> </a:t>
            </a:r>
            <a:r>
              <a:rPr lang="en-US" altLang="en-US" sz="2400" b="1" i="1" dirty="0" smtClean="0">
                <a:solidFill>
                  <a:schemeClr val="tx2"/>
                </a:solidFill>
              </a:rPr>
              <a:t>N</a:t>
            </a:r>
            <a:r>
              <a:rPr lang="en-US" altLang="en-US" sz="2400" b="1" dirty="0" smtClean="0">
                <a:solidFill>
                  <a:srgbClr val="C00000"/>
                </a:solidFill>
              </a:rPr>
              <a:t>)</a:t>
            </a:r>
          </a:p>
          <a:p>
            <a:pPr eaLnBrk="1" hangingPunct="1"/>
            <a:endParaRPr lang="en-US" altLang="en-US" sz="2400" dirty="0" smtClean="0"/>
          </a:p>
          <a:p>
            <a:pPr lvl="2" eaLnBrk="1" hangingPunct="1">
              <a:buFont typeface="Arial" panose="020B0604020202020204" pitchFamily="34" charset="0"/>
              <a:buNone/>
            </a:pPr>
            <a:endParaRPr lang="en-US" altLang="en-US" sz="1400" dirty="0" smtClean="0"/>
          </a:p>
        </p:txBody>
      </p:sp>
      <p:sp>
        <p:nvSpPr>
          <p:cNvPr id="4" name="Rectangle 3"/>
          <p:cNvSpPr/>
          <p:nvPr/>
        </p:nvSpPr>
        <p:spPr>
          <a:xfrm>
            <a:off x="5618163" y="1852613"/>
            <a:ext cx="2687637" cy="685800"/>
          </a:xfrm>
          <a:prstGeom prst="rect">
            <a:avLst/>
          </a:prstGeom>
          <a:solidFill>
            <a:schemeClr val="tx1"/>
          </a:solidFill>
        </p:spPr>
        <p:style>
          <a:lnRef idx="1">
            <a:schemeClr val="dk1"/>
          </a:lnRef>
          <a:fillRef idx="3">
            <a:schemeClr val="dk1"/>
          </a:fillRef>
          <a:effectRef idx="2">
            <a:schemeClr val="dk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dirty="0"/>
              <a:t>Domain #0</a:t>
            </a:r>
          </a:p>
        </p:txBody>
      </p:sp>
      <p:sp>
        <p:nvSpPr>
          <p:cNvPr id="5" name="Rectangle 4"/>
          <p:cNvSpPr/>
          <p:nvPr/>
        </p:nvSpPr>
        <p:spPr>
          <a:xfrm>
            <a:off x="5618163" y="2538413"/>
            <a:ext cx="2687637" cy="685800"/>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dirty="0"/>
              <a:t>Domain #1</a:t>
            </a:r>
          </a:p>
        </p:txBody>
      </p:sp>
      <p:sp>
        <p:nvSpPr>
          <p:cNvPr id="6" name="Rectangle 5"/>
          <p:cNvSpPr/>
          <p:nvPr/>
        </p:nvSpPr>
        <p:spPr>
          <a:xfrm>
            <a:off x="5618163" y="3224213"/>
            <a:ext cx="2687637" cy="685800"/>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dirty="0"/>
              <a:t>Domain #2</a:t>
            </a:r>
          </a:p>
        </p:txBody>
      </p:sp>
      <p:sp>
        <p:nvSpPr>
          <p:cNvPr id="7" name="Rectangle 6"/>
          <p:cNvSpPr/>
          <p:nvPr/>
        </p:nvSpPr>
        <p:spPr>
          <a:xfrm>
            <a:off x="5618163" y="3910013"/>
            <a:ext cx="2687637" cy="685800"/>
          </a:xfrm>
          <a:prstGeom prst="rect">
            <a:avLst/>
          </a:prstGeom>
          <a:solidFill>
            <a:schemeClr val="accent1">
              <a:lumMod val="50000"/>
            </a:schemeClr>
          </a:solidFill>
        </p:spPr>
        <p:style>
          <a:lnRef idx="1">
            <a:schemeClr val="accent3"/>
          </a:lnRef>
          <a:fillRef idx="3">
            <a:schemeClr val="accent3"/>
          </a:fillRef>
          <a:effectRef idx="2">
            <a:schemeClr val="accent3"/>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dirty="0"/>
              <a:t>Domain #3</a:t>
            </a:r>
          </a:p>
        </p:txBody>
      </p:sp>
      <p:sp>
        <p:nvSpPr>
          <p:cNvPr id="13" name="Rectangle 12"/>
          <p:cNvSpPr/>
          <p:nvPr/>
        </p:nvSpPr>
        <p:spPr>
          <a:xfrm>
            <a:off x="3505200" y="2752725"/>
            <a:ext cx="533400" cy="685800"/>
          </a:xfrm>
          <a:prstGeom prst="rect">
            <a:avLst/>
          </a:prstGeom>
          <a:solidFill>
            <a:srgbClr val="7030A0"/>
          </a:solidFill>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6</a:t>
            </a:r>
          </a:p>
        </p:txBody>
      </p:sp>
      <p:sp>
        <p:nvSpPr>
          <p:cNvPr id="32" name="Rectangle 31"/>
          <p:cNvSpPr/>
          <p:nvPr/>
        </p:nvSpPr>
        <p:spPr>
          <a:xfrm>
            <a:off x="5618163" y="3224213"/>
            <a:ext cx="533400" cy="685800"/>
          </a:xfrm>
          <a:prstGeom prst="rect">
            <a:avLst/>
          </a:prstGeom>
          <a:solidFill>
            <a:srgbClr val="7030A0"/>
          </a:solidFill>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6</a:t>
            </a:r>
          </a:p>
        </p:txBody>
      </p:sp>
      <p:sp>
        <p:nvSpPr>
          <p:cNvPr id="33" name="Rectangle 32"/>
          <p:cNvSpPr/>
          <p:nvPr/>
        </p:nvSpPr>
        <p:spPr>
          <a:xfrm>
            <a:off x="2971800" y="2752725"/>
            <a:ext cx="533400" cy="685800"/>
          </a:xfrm>
          <a:prstGeom prst="rect">
            <a:avLst/>
          </a:prstGeom>
          <a:solidFill>
            <a:srgbClr val="7030A0"/>
          </a:solidFill>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8</a:t>
            </a:r>
          </a:p>
        </p:txBody>
      </p:sp>
      <p:sp>
        <p:nvSpPr>
          <p:cNvPr id="34" name="Rectangle 33"/>
          <p:cNvSpPr/>
          <p:nvPr/>
        </p:nvSpPr>
        <p:spPr>
          <a:xfrm>
            <a:off x="5618163" y="1852613"/>
            <a:ext cx="533400" cy="685800"/>
          </a:xfrm>
          <a:prstGeom prst="rect">
            <a:avLst/>
          </a:prstGeom>
          <a:solidFill>
            <a:srgbClr val="7030A0"/>
          </a:solidFill>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8</a:t>
            </a:r>
          </a:p>
        </p:txBody>
      </p:sp>
      <p:sp>
        <p:nvSpPr>
          <p:cNvPr id="35" name="Rectangle 34"/>
          <p:cNvSpPr/>
          <p:nvPr/>
        </p:nvSpPr>
        <p:spPr>
          <a:xfrm>
            <a:off x="2438400" y="2752725"/>
            <a:ext cx="533400" cy="685800"/>
          </a:xfrm>
          <a:prstGeom prst="rect">
            <a:avLst/>
          </a:prstGeom>
          <a:solidFill>
            <a:srgbClr val="7030A0"/>
          </a:solidFill>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3</a:t>
            </a:r>
          </a:p>
        </p:txBody>
      </p:sp>
      <p:sp>
        <p:nvSpPr>
          <p:cNvPr id="36" name="Rectangle 35"/>
          <p:cNvSpPr/>
          <p:nvPr/>
        </p:nvSpPr>
        <p:spPr>
          <a:xfrm>
            <a:off x="5618163" y="3910013"/>
            <a:ext cx="533400" cy="685800"/>
          </a:xfrm>
          <a:prstGeom prst="rect">
            <a:avLst/>
          </a:prstGeom>
          <a:solidFill>
            <a:srgbClr val="7030A0"/>
          </a:solidFill>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3</a:t>
            </a:r>
          </a:p>
        </p:txBody>
      </p:sp>
      <p:sp>
        <p:nvSpPr>
          <p:cNvPr id="37" name="Rectangle 36"/>
          <p:cNvSpPr/>
          <p:nvPr/>
        </p:nvSpPr>
        <p:spPr>
          <a:xfrm>
            <a:off x="1905000" y="2752725"/>
            <a:ext cx="533400" cy="685800"/>
          </a:xfrm>
          <a:prstGeom prst="rect">
            <a:avLst/>
          </a:prstGeom>
          <a:solidFill>
            <a:srgbClr val="7030A0"/>
          </a:solidFill>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1</a:t>
            </a:r>
          </a:p>
        </p:txBody>
      </p:sp>
      <p:sp>
        <p:nvSpPr>
          <p:cNvPr id="38" name="Rectangle 37"/>
          <p:cNvSpPr/>
          <p:nvPr/>
        </p:nvSpPr>
        <p:spPr>
          <a:xfrm>
            <a:off x="5618163" y="2538413"/>
            <a:ext cx="533400" cy="685800"/>
          </a:xfrm>
          <a:prstGeom prst="rect">
            <a:avLst/>
          </a:prstGeom>
          <a:solidFill>
            <a:srgbClr val="7030A0"/>
          </a:solidFill>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1</a:t>
            </a:r>
          </a:p>
        </p:txBody>
      </p:sp>
      <p:sp>
        <p:nvSpPr>
          <p:cNvPr id="39" name="Rectangle 38"/>
          <p:cNvSpPr/>
          <p:nvPr/>
        </p:nvSpPr>
        <p:spPr>
          <a:xfrm>
            <a:off x="1371600" y="2752725"/>
            <a:ext cx="533400" cy="685800"/>
          </a:xfrm>
          <a:prstGeom prst="rect">
            <a:avLst/>
          </a:prstGeom>
          <a:solidFill>
            <a:srgbClr val="7030A0"/>
          </a:solidFill>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solidFill>
                  <a:srgbClr val="FFFFFF"/>
                </a:solidFill>
                <a:ea typeface="仿宋_GB2312"/>
                <a:cs typeface="仿宋_GB2312"/>
              </a:rPr>
              <a:t>5</a:t>
            </a:r>
          </a:p>
        </p:txBody>
      </p:sp>
      <p:sp>
        <p:nvSpPr>
          <p:cNvPr id="40" name="Rectangle 39"/>
          <p:cNvSpPr/>
          <p:nvPr/>
        </p:nvSpPr>
        <p:spPr>
          <a:xfrm>
            <a:off x="6151563" y="2538413"/>
            <a:ext cx="533400" cy="685800"/>
          </a:xfrm>
          <a:prstGeom prst="rect">
            <a:avLst/>
          </a:prstGeom>
          <a:solidFill>
            <a:srgbClr val="7030A0"/>
          </a:solidFill>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5</a:t>
            </a:r>
          </a:p>
        </p:txBody>
      </p:sp>
      <p:grpSp>
        <p:nvGrpSpPr>
          <p:cNvPr id="2" name="Group 8"/>
          <p:cNvGrpSpPr>
            <a:grpSpLocks/>
          </p:cNvGrpSpPr>
          <p:nvPr/>
        </p:nvGrpSpPr>
        <p:grpSpPr bwMode="auto">
          <a:xfrm>
            <a:off x="152400" y="1905000"/>
            <a:ext cx="4267200" cy="587375"/>
            <a:chOff x="-990600" y="5357170"/>
            <a:chExt cx="3765176" cy="588018"/>
          </a:xfrm>
        </p:grpSpPr>
        <p:sp>
          <p:nvSpPr>
            <p:cNvPr id="52253" name="Rectangle 46"/>
            <p:cNvSpPr>
              <a:spLocks noChangeArrowheads="1"/>
            </p:cNvSpPr>
            <p:nvPr/>
          </p:nvSpPr>
          <p:spPr bwMode="auto">
            <a:xfrm>
              <a:off x="-685800" y="5357170"/>
              <a:ext cx="3082292"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50000"/>
                </a:spcBef>
                <a:spcAft>
                  <a:spcPct val="20000"/>
                </a:spcAft>
                <a:buFont typeface="Wingdings" panose="05000000000000000000" pitchFamily="2" charset="2"/>
                <a:buNone/>
              </a:pPr>
              <a:r>
                <a:rPr lang="en-US" altLang="en-US" sz="2000" b="1">
                  <a:solidFill>
                    <a:srgbClr val="C00000"/>
                  </a:solidFill>
                  <a:latin typeface="Verdana" panose="020B0604030504040204" pitchFamily="34" charset="0"/>
                </a:rPr>
                <a:t>Incoming writes (LBN)</a:t>
              </a:r>
            </a:p>
          </p:txBody>
        </p:sp>
        <p:cxnSp>
          <p:nvCxnSpPr>
            <p:cNvPr id="48" name="Straight Arrow Connector 47"/>
            <p:cNvCxnSpPr/>
            <p:nvPr/>
          </p:nvCxnSpPr>
          <p:spPr>
            <a:xfrm>
              <a:off x="-990600" y="5943599"/>
              <a:ext cx="3765176" cy="1589"/>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21" name="Rectangle 20"/>
          <p:cNvSpPr/>
          <p:nvPr/>
        </p:nvSpPr>
        <p:spPr>
          <a:xfrm>
            <a:off x="838200" y="2752725"/>
            <a:ext cx="533400" cy="685800"/>
          </a:xfrm>
          <a:prstGeom prst="rect">
            <a:avLst/>
          </a:prstGeom>
          <a:solidFill>
            <a:srgbClr val="7030A0"/>
          </a:solidFill>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11</a:t>
            </a:r>
          </a:p>
        </p:txBody>
      </p:sp>
      <p:sp>
        <p:nvSpPr>
          <p:cNvPr id="23" name="Rectangle 22"/>
          <p:cNvSpPr/>
          <p:nvPr/>
        </p:nvSpPr>
        <p:spPr>
          <a:xfrm>
            <a:off x="6151563" y="3910013"/>
            <a:ext cx="533400" cy="685800"/>
          </a:xfrm>
          <a:prstGeom prst="rect">
            <a:avLst/>
          </a:prstGeom>
          <a:solidFill>
            <a:srgbClr val="7030A0"/>
          </a:solidFill>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11</a:t>
            </a:r>
          </a:p>
        </p:txBody>
      </p:sp>
      <p:sp>
        <p:nvSpPr>
          <p:cNvPr id="52245" name="Slide Number Placeholder 3"/>
          <p:cNvSpPr>
            <a:spLocks noGrp="1"/>
          </p:cNvSpPr>
          <p:nvPr>
            <p:ph type="sldNum" sz="quarter" idx="4294967295"/>
          </p:nvPr>
        </p:nvSpPr>
        <p:spPr bwMode="auto">
          <a:xfrm>
            <a:off x="7010400" y="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 typeface="Wingdings" panose="05000000000000000000" pitchFamily="2" charset="2"/>
              <a:buNone/>
            </a:pPr>
            <a:fld id="{0B25F4E9-BC59-450F-B21F-644CE9ED920D}" type="slidenum">
              <a:rPr lang="zh-CN" altLang="en-US" sz="1200">
                <a:solidFill>
                  <a:srgbClr val="898989"/>
                </a:solidFill>
                <a:latin typeface="Verdana" panose="020B0604030504040204" pitchFamily="34" charset="0"/>
              </a:rPr>
              <a:pPr>
                <a:spcBef>
                  <a:spcPct val="50000"/>
                </a:spcBef>
                <a:buFont typeface="Wingdings" panose="05000000000000000000" pitchFamily="2" charset="2"/>
                <a:buNone/>
              </a:pPr>
              <a:t>90</a:t>
            </a:fld>
            <a:endParaRPr lang="zh-CN" altLang="en-US" sz="1200">
              <a:solidFill>
                <a:srgbClr val="898989"/>
              </a:solidFill>
              <a:latin typeface="Verdana" panose="020B0604030504040204" pitchFamily="34" charset="0"/>
            </a:endParaRPr>
          </a:p>
        </p:txBody>
      </p:sp>
      <p:sp>
        <p:nvSpPr>
          <p:cNvPr id="26" name="Rectangle 25"/>
          <p:cNvSpPr>
            <a:spLocks noChangeArrowheads="1"/>
          </p:cNvSpPr>
          <p:nvPr/>
        </p:nvSpPr>
        <p:spPr bwMode="auto">
          <a:xfrm>
            <a:off x="3505200" y="3438525"/>
            <a:ext cx="6683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Wingdings" panose="05000000000000000000" pitchFamily="2" charset="2"/>
              <a:buNone/>
            </a:pPr>
            <a:r>
              <a:rPr lang="en-US" altLang="en-US" sz="1400" b="1">
                <a:solidFill>
                  <a:srgbClr val="010000"/>
                </a:solidFill>
                <a:latin typeface="Verdana" panose="020B0604030504040204" pitchFamily="34" charset="0"/>
              </a:rPr>
              <a:t>6%4</a:t>
            </a:r>
          </a:p>
          <a:p>
            <a:pPr eaLnBrk="1" hangingPunct="1">
              <a:spcBef>
                <a:spcPct val="0"/>
              </a:spcBef>
              <a:buFont typeface="Wingdings" panose="05000000000000000000" pitchFamily="2" charset="2"/>
              <a:buNone/>
            </a:pPr>
            <a:r>
              <a:rPr lang="en-US" altLang="en-US" sz="1400" b="1">
                <a:solidFill>
                  <a:srgbClr val="010000"/>
                </a:solidFill>
                <a:latin typeface="Verdana" panose="020B0604030504040204" pitchFamily="34" charset="0"/>
              </a:rPr>
              <a:t>=</a:t>
            </a:r>
            <a:r>
              <a:rPr lang="en-US" altLang="en-US" sz="1400" b="1">
                <a:solidFill>
                  <a:srgbClr val="C00000"/>
                </a:solidFill>
                <a:latin typeface="Verdana" panose="020B0604030504040204" pitchFamily="34" charset="0"/>
              </a:rPr>
              <a:t>2</a:t>
            </a:r>
          </a:p>
        </p:txBody>
      </p:sp>
      <p:sp>
        <p:nvSpPr>
          <p:cNvPr id="28" name="Rectangle 27"/>
          <p:cNvSpPr>
            <a:spLocks noChangeArrowheads="1"/>
          </p:cNvSpPr>
          <p:nvPr/>
        </p:nvSpPr>
        <p:spPr bwMode="auto">
          <a:xfrm>
            <a:off x="2362200" y="3438525"/>
            <a:ext cx="6683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Wingdings" panose="05000000000000000000" pitchFamily="2" charset="2"/>
              <a:buNone/>
            </a:pPr>
            <a:r>
              <a:rPr lang="en-US" altLang="en-US" sz="1400" b="1">
                <a:solidFill>
                  <a:srgbClr val="010000"/>
                </a:solidFill>
                <a:latin typeface="Verdana" panose="020B0604030504040204" pitchFamily="34" charset="0"/>
              </a:rPr>
              <a:t>3%4</a:t>
            </a:r>
          </a:p>
          <a:p>
            <a:pPr eaLnBrk="1" hangingPunct="1">
              <a:spcBef>
                <a:spcPct val="0"/>
              </a:spcBef>
              <a:buFont typeface="Wingdings" panose="05000000000000000000" pitchFamily="2" charset="2"/>
              <a:buNone/>
            </a:pPr>
            <a:r>
              <a:rPr lang="en-US" altLang="en-US" sz="1400" b="1">
                <a:solidFill>
                  <a:srgbClr val="010000"/>
                </a:solidFill>
                <a:latin typeface="Verdana" panose="020B0604030504040204" pitchFamily="34" charset="0"/>
              </a:rPr>
              <a:t>=</a:t>
            </a:r>
            <a:r>
              <a:rPr lang="en-US" altLang="en-US" sz="1400" b="1">
                <a:solidFill>
                  <a:srgbClr val="C00000"/>
                </a:solidFill>
                <a:latin typeface="Verdana" panose="020B0604030504040204" pitchFamily="34" charset="0"/>
              </a:rPr>
              <a:t>3</a:t>
            </a:r>
          </a:p>
        </p:txBody>
      </p:sp>
      <p:sp>
        <p:nvSpPr>
          <p:cNvPr id="29" name="Rectangle 28"/>
          <p:cNvSpPr>
            <a:spLocks noChangeArrowheads="1"/>
          </p:cNvSpPr>
          <p:nvPr/>
        </p:nvSpPr>
        <p:spPr bwMode="auto">
          <a:xfrm>
            <a:off x="2971800" y="3438525"/>
            <a:ext cx="6683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Wingdings" panose="05000000000000000000" pitchFamily="2" charset="2"/>
              <a:buNone/>
            </a:pPr>
            <a:r>
              <a:rPr lang="en-US" altLang="en-US" sz="1400" b="1">
                <a:solidFill>
                  <a:srgbClr val="010000"/>
                </a:solidFill>
                <a:latin typeface="Verdana" panose="020B0604030504040204" pitchFamily="34" charset="0"/>
              </a:rPr>
              <a:t>8%4</a:t>
            </a:r>
          </a:p>
          <a:p>
            <a:pPr eaLnBrk="1" hangingPunct="1">
              <a:spcBef>
                <a:spcPct val="0"/>
              </a:spcBef>
              <a:buFont typeface="Wingdings" panose="05000000000000000000" pitchFamily="2" charset="2"/>
              <a:buNone/>
            </a:pPr>
            <a:r>
              <a:rPr lang="en-US" altLang="en-US" sz="1400" b="1">
                <a:solidFill>
                  <a:srgbClr val="010000"/>
                </a:solidFill>
                <a:latin typeface="Verdana" panose="020B0604030504040204" pitchFamily="34" charset="0"/>
              </a:rPr>
              <a:t>=</a:t>
            </a:r>
            <a:r>
              <a:rPr lang="en-US" altLang="en-US" sz="1400" b="1">
                <a:solidFill>
                  <a:srgbClr val="C00000"/>
                </a:solidFill>
                <a:latin typeface="Verdana" panose="020B0604030504040204" pitchFamily="34" charset="0"/>
              </a:rPr>
              <a:t>0</a:t>
            </a:r>
          </a:p>
        </p:txBody>
      </p:sp>
      <p:sp>
        <p:nvSpPr>
          <p:cNvPr id="30" name="Rectangle 29"/>
          <p:cNvSpPr>
            <a:spLocks noChangeArrowheads="1"/>
          </p:cNvSpPr>
          <p:nvPr/>
        </p:nvSpPr>
        <p:spPr bwMode="auto">
          <a:xfrm>
            <a:off x="1828800" y="3438525"/>
            <a:ext cx="6683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Wingdings" panose="05000000000000000000" pitchFamily="2" charset="2"/>
              <a:buNone/>
            </a:pPr>
            <a:r>
              <a:rPr lang="en-US" altLang="en-US" sz="1400" b="1">
                <a:solidFill>
                  <a:srgbClr val="010000"/>
                </a:solidFill>
                <a:latin typeface="Verdana" panose="020B0604030504040204" pitchFamily="34" charset="0"/>
              </a:rPr>
              <a:t>1%4</a:t>
            </a:r>
          </a:p>
          <a:p>
            <a:pPr eaLnBrk="1" hangingPunct="1">
              <a:spcBef>
                <a:spcPct val="0"/>
              </a:spcBef>
              <a:buFont typeface="Wingdings" panose="05000000000000000000" pitchFamily="2" charset="2"/>
              <a:buNone/>
            </a:pPr>
            <a:r>
              <a:rPr lang="en-US" altLang="en-US" sz="1400" b="1">
                <a:solidFill>
                  <a:srgbClr val="010000"/>
                </a:solidFill>
                <a:latin typeface="Verdana" panose="020B0604030504040204" pitchFamily="34" charset="0"/>
              </a:rPr>
              <a:t>=</a:t>
            </a:r>
            <a:r>
              <a:rPr lang="en-US" altLang="en-US" sz="1400" b="1">
                <a:solidFill>
                  <a:srgbClr val="C00000"/>
                </a:solidFill>
                <a:latin typeface="Verdana" panose="020B0604030504040204" pitchFamily="34" charset="0"/>
              </a:rPr>
              <a:t>1</a:t>
            </a:r>
          </a:p>
        </p:txBody>
      </p:sp>
      <p:sp>
        <p:nvSpPr>
          <p:cNvPr id="31" name="Rectangle 30"/>
          <p:cNvSpPr>
            <a:spLocks noChangeArrowheads="1"/>
          </p:cNvSpPr>
          <p:nvPr/>
        </p:nvSpPr>
        <p:spPr bwMode="auto">
          <a:xfrm>
            <a:off x="1371600" y="3438525"/>
            <a:ext cx="6683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Wingdings" panose="05000000000000000000" pitchFamily="2" charset="2"/>
              <a:buNone/>
            </a:pPr>
            <a:r>
              <a:rPr lang="en-US" altLang="en-US" sz="1400" b="1">
                <a:solidFill>
                  <a:srgbClr val="010000"/>
                </a:solidFill>
                <a:latin typeface="Verdana" panose="020B0604030504040204" pitchFamily="34" charset="0"/>
              </a:rPr>
              <a:t>5%4</a:t>
            </a:r>
          </a:p>
          <a:p>
            <a:pPr eaLnBrk="1" hangingPunct="1">
              <a:spcBef>
                <a:spcPct val="0"/>
              </a:spcBef>
              <a:buFont typeface="Wingdings" panose="05000000000000000000" pitchFamily="2" charset="2"/>
              <a:buNone/>
            </a:pPr>
            <a:r>
              <a:rPr lang="en-US" altLang="en-US" sz="1400" b="1">
                <a:solidFill>
                  <a:srgbClr val="010000"/>
                </a:solidFill>
                <a:latin typeface="Verdana" panose="020B0604030504040204" pitchFamily="34" charset="0"/>
              </a:rPr>
              <a:t>=</a:t>
            </a:r>
            <a:r>
              <a:rPr lang="en-US" altLang="en-US" sz="1400" b="1">
                <a:solidFill>
                  <a:srgbClr val="C00000"/>
                </a:solidFill>
                <a:latin typeface="Verdana" panose="020B0604030504040204" pitchFamily="34" charset="0"/>
              </a:rPr>
              <a:t>1</a:t>
            </a:r>
          </a:p>
        </p:txBody>
      </p:sp>
      <p:sp>
        <p:nvSpPr>
          <p:cNvPr id="41" name="Rectangle 40"/>
          <p:cNvSpPr>
            <a:spLocks noChangeArrowheads="1"/>
          </p:cNvSpPr>
          <p:nvPr/>
        </p:nvSpPr>
        <p:spPr bwMode="auto">
          <a:xfrm>
            <a:off x="838200" y="3438525"/>
            <a:ext cx="7969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Wingdings" panose="05000000000000000000" pitchFamily="2" charset="2"/>
              <a:buNone/>
            </a:pPr>
            <a:r>
              <a:rPr lang="en-US" altLang="en-US" sz="1400" b="1">
                <a:solidFill>
                  <a:srgbClr val="010000"/>
                </a:solidFill>
                <a:latin typeface="Verdana" panose="020B0604030504040204" pitchFamily="34" charset="0"/>
              </a:rPr>
              <a:t>11%4</a:t>
            </a:r>
          </a:p>
          <a:p>
            <a:pPr eaLnBrk="1" hangingPunct="1">
              <a:spcBef>
                <a:spcPct val="0"/>
              </a:spcBef>
              <a:buFont typeface="Wingdings" panose="05000000000000000000" pitchFamily="2" charset="2"/>
              <a:buNone/>
            </a:pPr>
            <a:r>
              <a:rPr lang="en-US" altLang="en-US" sz="1400" b="1">
                <a:solidFill>
                  <a:srgbClr val="010000"/>
                </a:solidFill>
                <a:latin typeface="Verdana" panose="020B0604030504040204" pitchFamily="34" charset="0"/>
              </a:rPr>
              <a:t>=</a:t>
            </a:r>
            <a:r>
              <a:rPr lang="en-US" altLang="en-US" sz="1400" b="1">
                <a:solidFill>
                  <a:srgbClr val="C00000"/>
                </a:solidFill>
                <a:latin typeface="Verdana" panose="020B0604030504040204" pitchFamily="34" charset="0"/>
              </a:rPr>
              <a:t>3</a:t>
            </a:r>
          </a:p>
        </p:txBody>
      </p:sp>
      <p:sp>
        <p:nvSpPr>
          <p:cNvPr id="42" name="Rectangle 41"/>
          <p:cNvSpPr/>
          <p:nvPr/>
        </p:nvSpPr>
        <p:spPr>
          <a:xfrm>
            <a:off x="6456363" y="4824413"/>
            <a:ext cx="896937" cy="433387"/>
          </a:xfrm>
          <a:prstGeom prst="rect">
            <a:avLst/>
          </a:prstGeom>
        </p:spPr>
        <p:txBody>
          <a:bodyPr wrap="none">
            <a:spAutoFit/>
          </a:bodyPr>
          <a:lstStyle/>
          <a:p>
            <a:pPr eaLnBrk="1" hangingPunct="1">
              <a:lnSpc>
                <a:spcPct val="125000"/>
              </a:lnSpc>
              <a:spcBef>
                <a:spcPct val="50000"/>
              </a:spcBef>
              <a:spcAft>
                <a:spcPct val="20000"/>
              </a:spcAft>
              <a:buFont typeface="Wingdings" pitchFamily="2" charset="2"/>
              <a:buNone/>
              <a:defRPr/>
            </a:pPr>
            <a:r>
              <a:rPr lang="en-US" b="1" i="1" dirty="0">
                <a:solidFill>
                  <a:schemeClr val="tx2">
                    <a:lumMod val="50000"/>
                  </a:schemeClr>
                </a:solidFill>
              </a:rPr>
              <a:t>N=4</a:t>
            </a:r>
            <a:r>
              <a:rPr lang="en-US" dirty="0"/>
              <a:t> </a:t>
            </a:r>
          </a:p>
        </p:txBody>
      </p:sp>
    </p:spTree>
    <p:extLst>
      <p:ext uri="{BB962C8B-B14F-4D97-AF65-F5344CB8AC3E}">
        <p14:creationId xmlns:p14="http://schemas.microsoft.com/office/powerpoint/2010/main" val="2104306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par>
                          <p:cTn id="19" fill="hold" nodeType="afterGroup">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par>
                          <p:cTn id="22" fill="hold" nodeType="afterGroup">
                            <p:stCondLst>
                              <p:cond delay="0"/>
                            </p:stCondLst>
                            <p:childTnLst>
                              <p:par>
                                <p:cTn id="23" presetID="1" presetClass="entr" presetSubtype="0"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par>
                          <p:cTn id="25" fill="hold" nodeType="afterGroup">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7"/>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500"/>
                                        <p:tgtEl>
                                          <p:spTgt spid="2"/>
                                        </p:tgtEl>
                                      </p:cBhvr>
                                    </p:animEffect>
                                  </p:childTnLst>
                                </p:cTn>
                              </p:par>
                              <p:par>
                                <p:cTn id="33" presetID="1" presetClass="entr" presetSubtype="0" fill="hold" grpId="0" nodeType="withEffect">
                                  <p:stCondLst>
                                    <p:cond delay="0"/>
                                  </p:stCondLst>
                                  <p:childTnLst>
                                    <p:set>
                                      <p:cBhvr>
                                        <p:cTn id="34" dur="1" fill="hold">
                                          <p:stCondLst>
                                            <p:cond delay="0"/>
                                          </p:stCondLst>
                                        </p:cTn>
                                        <p:tgtEl>
                                          <p:spTgt spid="42"/>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par>
                          <p:cTn id="39" fill="hold" nodeType="afterGroup">
                            <p:stCondLst>
                              <p:cond delay="0"/>
                            </p:stCondLst>
                            <p:childTnLst>
                              <p:par>
                                <p:cTn id="40" presetID="1" presetClass="entr" presetSubtype="0" fill="hold" grpId="0" nodeType="afterEffect">
                                  <p:stCondLst>
                                    <p:cond delay="0"/>
                                  </p:stCondLst>
                                  <p:childTnLst>
                                    <p:set>
                                      <p:cBhvr>
                                        <p:cTn id="41" dur="1" fill="hold">
                                          <p:stCondLst>
                                            <p:cond delay="0"/>
                                          </p:stCondLst>
                                        </p:cTn>
                                        <p:tgtEl>
                                          <p:spTgt spid="32"/>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26"/>
                                        </p:tgtEl>
                                        <p:attrNameLst>
                                          <p:attrName>style.visibility</p:attrName>
                                        </p:attrNameLst>
                                      </p:cBhvr>
                                      <p:to>
                                        <p:strVal val="visible"/>
                                      </p:to>
                                    </p:set>
                                  </p:childTnLst>
                                  <p:subTnLst>
                                    <p:set>
                                      <p:cBhvr override="childStyle">
                                        <p:cTn dur="1" fill="hold" display="0" masterRel="nextClick" afterEffect="1"/>
                                        <p:tgtEl>
                                          <p:spTgt spid="26"/>
                                        </p:tgtEl>
                                        <p:attrNameLst>
                                          <p:attrName>style.visibility</p:attrName>
                                        </p:attrNameLst>
                                      </p:cBhvr>
                                      <p:to>
                                        <p:strVal val="hidden"/>
                                      </p:to>
                                    </p:set>
                                  </p:sub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33"/>
                                        </p:tgtEl>
                                        <p:attrNameLst>
                                          <p:attrName>style.visibility</p:attrName>
                                        </p:attrNameLst>
                                      </p:cBhvr>
                                      <p:to>
                                        <p:strVal val="visible"/>
                                      </p:to>
                                    </p:set>
                                  </p:childTnLst>
                                </p:cTn>
                              </p:par>
                            </p:childTnLst>
                          </p:cTn>
                        </p:par>
                        <p:par>
                          <p:cTn id="48" fill="hold" nodeType="afterGroup">
                            <p:stCondLst>
                              <p:cond delay="0"/>
                            </p:stCondLst>
                            <p:childTnLst>
                              <p:par>
                                <p:cTn id="49" presetID="1" presetClass="entr" presetSubtype="0" fill="hold" grpId="0" nodeType="afterEffect">
                                  <p:stCondLst>
                                    <p:cond delay="0"/>
                                  </p:stCondLst>
                                  <p:childTnLst>
                                    <p:set>
                                      <p:cBhvr>
                                        <p:cTn id="50" dur="1" fill="hold">
                                          <p:stCondLst>
                                            <p:cond delay="0"/>
                                          </p:stCondLst>
                                        </p:cTn>
                                        <p:tgtEl>
                                          <p:spTgt spid="3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childTnLst>
                                  <p:subTnLst>
                                    <p:set>
                                      <p:cBhvr override="childStyle">
                                        <p:cTn dur="1" fill="hold" display="0" masterRel="nextClick" afterEffect="1"/>
                                        <p:tgtEl>
                                          <p:spTgt spid="29"/>
                                        </p:tgtEl>
                                        <p:attrNameLst>
                                          <p:attrName>style.visibility</p:attrName>
                                        </p:attrNameLst>
                                      </p:cBhvr>
                                      <p:to>
                                        <p:strVal val="hidden"/>
                                      </p:to>
                                    </p:set>
                                  </p:sub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5"/>
                                        </p:tgtEl>
                                        <p:attrNameLst>
                                          <p:attrName>style.visibility</p:attrName>
                                        </p:attrNameLst>
                                      </p:cBhvr>
                                      <p:to>
                                        <p:strVal val="visible"/>
                                      </p:to>
                                    </p:set>
                                  </p:childTnLst>
                                </p:cTn>
                              </p:par>
                            </p:childTnLst>
                          </p:cTn>
                        </p:par>
                        <p:par>
                          <p:cTn id="57" fill="hold" nodeType="afterGroup">
                            <p:stCondLst>
                              <p:cond delay="0"/>
                            </p:stCondLst>
                            <p:childTnLst>
                              <p:par>
                                <p:cTn id="58" presetID="1" presetClass="entr" presetSubtype="0" fill="hold" grpId="0" nodeType="afterEffect">
                                  <p:stCondLst>
                                    <p:cond delay="0"/>
                                  </p:stCondLst>
                                  <p:childTnLst>
                                    <p:set>
                                      <p:cBhvr>
                                        <p:cTn id="59" dur="1" fill="hold">
                                          <p:stCondLst>
                                            <p:cond delay="0"/>
                                          </p:stCondLst>
                                        </p:cTn>
                                        <p:tgtEl>
                                          <p:spTgt spid="36"/>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28"/>
                                        </p:tgtEl>
                                        <p:attrNameLst>
                                          <p:attrName>style.visibility</p:attrName>
                                        </p:attrNameLst>
                                      </p:cBhvr>
                                      <p:to>
                                        <p:strVal val="visible"/>
                                      </p:to>
                                    </p:set>
                                  </p:childTnLst>
                                  <p:subTnLst>
                                    <p:set>
                                      <p:cBhvr override="childStyle">
                                        <p:cTn dur="1" fill="hold" display="0" masterRel="nextClick" afterEffect="1"/>
                                        <p:tgtEl>
                                          <p:spTgt spid="28"/>
                                        </p:tgtEl>
                                        <p:attrNameLst>
                                          <p:attrName>style.visibility</p:attrName>
                                        </p:attrNameLst>
                                      </p:cBhvr>
                                      <p:to>
                                        <p:strVal val="hidden"/>
                                      </p:to>
                                    </p:set>
                                  </p:subTnLst>
                                </p:cTn>
                              </p:par>
                            </p:childTnLst>
                          </p:cTn>
                        </p:par>
                      </p:childTnLst>
                    </p:cTn>
                  </p:par>
                  <p:par>
                    <p:cTn id="62" fill="hold" nodeType="clickPar">
                      <p:stCondLst>
                        <p:cond delay="indefinite"/>
                      </p:stCondLst>
                      <p:childTnLst>
                        <p:par>
                          <p:cTn id="63" fill="hold" nodeType="withGroup">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37"/>
                                        </p:tgtEl>
                                        <p:attrNameLst>
                                          <p:attrName>style.visibility</p:attrName>
                                        </p:attrNameLst>
                                      </p:cBhvr>
                                      <p:to>
                                        <p:strVal val="visible"/>
                                      </p:to>
                                    </p:set>
                                  </p:childTnLst>
                                </p:cTn>
                              </p:par>
                            </p:childTnLst>
                          </p:cTn>
                        </p:par>
                        <p:par>
                          <p:cTn id="66" fill="hold" nodeType="afterGroup">
                            <p:stCondLst>
                              <p:cond delay="0"/>
                            </p:stCondLst>
                            <p:childTnLst>
                              <p:par>
                                <p:cTn id="67" presetID="1" presetClass="entr" presetSubtype="0" fill="hold" grpId="0" nodeType="afterEffect">
                                  <p:stCondLst>
                                    <p:cond delay="0"/>
                                  </p:stCondLst>
                                  <p:childTnLst>
                                    <p:set>
                                      <p:cBhvr>
                                        <p:cTn id="68" dur="1" fill="hold">
                                          <p:stCondLst>
                                            <p:cond delay="0"/>
                                          </p:stCondLst>
                                        </p:cTn>
                                        <p:tgtEl>
                                          <p:spTgt spid="38"/>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0"/>
                                        </p:tgtEl>
                                        <p:attrNameLst>
                                          <p:attrName>style.visibility</p:attrName>
                                        </p:attrNameLst>
                                      </p:cBhvr>
                                      <p:to>
                                        <p:strVal val="visible"/>
                                      </p:to>
                                    </p:set>
                                  </p:childTnLst>
                                  <p:subTnLst>
                                    <p:set>
                                      <p:cBhvr override="childStyle">
                                        <p:cTn dur="1" fill="hold" display="0" masterRel="nextClick" afterEffect="1"/>
                                        <p:tgtEl>
                                          <p:spTgt spid="30"/>
                                        </p:tgtEl>
                                        <p:attrNameLst>
                                          <p:attrName>style.visibility</p:attrName>
                                        </p:attrNameLst>
                                      </p:cBhvr>
                                      <p:to>
                                        <p:strVal val="hidden"/>
                                      </p:to>
                                    </p:set>
                                  </p:sub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9"/>
                                        </p:tgtEl>
                                        <p:attrNameLst>
                                          <p:attrName>style.visibility</p:attrName>
                                        </p:attrNameLst>
                                      </p:cBhvr>
                                      <p:to>
                                        <p:strVal val="visible"/>
                                      </p:to>
                                    </p:set>
                                  </p:childTnLst>
                                </p:cTn>
                              </p:par>
                            </p:childTnLst>
                          </p:cTn>
                        </p:par>
                        <p:par>
                          <p:cTn id="75" fill="hold" nodeType="afterGroup">
                            <p:stCondLst>
                              <p:cond delay="0"/>
                            </p:stCondLst>
                            <p:childTnLst>
                              <p:par>
                                <p:cTn id="76" presetID="1" presetClass="entr" presetSubtype="0" fill="hold" grpId="0" nodeType="afterEffect">
                                  <p:stCondLst>
                                    <p:cond delay="0"/>
                                  </p:stCondLst>
                                  <p:childTnLst>
                                    <p:set>
                                      <p:cBhvr>
                                        <p:cTn id="77" dur="1" fill="hold">
                                          <p:stCondLst>
                                            <p:cond delay="0"/>
                                          </p:stCondLst>
                                        </p:cTn>
                                        <p:tgtEl>
                                          <p:spTgt spid="40"/>
                                        </p:tgtEl>
                                        <p:attrNameLst>
                                          <p:attrName>style.visibility</p:attrName>
                                        </p:attrNameLst>
                                      </p:cBhvr>
                                      <p:to>
                                        <p:strVal val="visible"/>
                                      </p:to>
                                    </p:set>
                                  </p:childTnLst>
                                </p:cTn>
                              </p:par>
                              <p:par>
                                <p:cTn id="78" presetID="1" presetClass="entr" presetSubtype="0" fill="hold" nodeType="withEffect">
                                  <p:stCondLst>
                                    <p:cond delay="0"/>
                                  </p:stCondLst>
                                  <p:childTnLst>
                                    <p:set>
                                      <p:cBhvr>
                                        <p:cTn id="79" dur="1" fill="hold">
                                          <p:stCondLst>
                                            <p:cond delay="0"/>
                                          </p:stCondLst>
                                        </p:cTn>
                                        <p:tgtEl>
                                          <p:spTgt spid="31"/>
                                        </p:tgtEl>
                                        <p:attrNameLst>
                                          <p:attrName>style.visibility</p:attrName>
                                        </p:attrNameLst>
                                      </p:cBhvr>
                                      <p:to>
                                        <p:strVal val="visible"/>
                                      </p:to>
                                    </p:set>
                                  </p:childTnLst>
                                  <p:subTnLst>
                                    <p:set>
                                      <p:cBhvr override="childStyle">
                                        <p:cTn dur="1" fill="hold" display="0" masterRel="nextClick" afterEffect="1"/>
                                        <p:tgtEl>
                                          <p:spTgt spid="31"/>
                                        </p:tgtEl>
                                        <p:attrNameLst>
                                          <p:attrName>style.visibility</p:attrName>
                                        </p:attrNameLst>
                                      </p:cBhvr>
                                      <p:to>
                                        <p:strVal val="hidden"/>
                                      </p:to>
                                    </p:set>
                                  </p:subTnLst>
                                </p:cTn>
                              </p:par>
                            </p:childTnLst>
                          </p:cTn>
                        </p:par>
                      </p:childTnLst>
                    </p:cTn>
                  </p:par>
                  <p:par>
                    <p:cTn id="80" fill="hold" nodeType="clickPar">
                      <p:stCondLst>
                        <p:cond delay="indefinite"/>
                      </p:stCondLst>
                      <p:childTnLst>
                        <p:par>
                          <p:cTn id="81" fill="hold" nodeType="withGroup">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21"/>
                                        </p:tgtEl>
                                        <p:attrNameLst>
                                          <p:attrName>style.visibility</p:attrName>
                                        </p:attrNameLst>
                                      </p:cBhvr>
                                      <p:to>
                                        <p:strVal val="visible"/>
                                      </p:to>
                                    </p:set>
                                  </p:childTnLst>
                                </p:cTn>
                              </p:par>
                            </p:childTnLst>
                          </p:cTn>
                        </p:par>
                        <p:par>
                          <p:cTn id="84" fill="hold" nodeType="afterGroup">
                            <p:stCondLst>
                              <p:cond delay="0"/>
                            </p:stCondLst>
                            <p:childTnLst>
                              <p:par>
                                <p:cTn id="85" presetID="1" presetClass="entr" presetSubtype="0" fill="hold" grpId="0" nodeType="afterEffect">
                                  <p:stCondLst>
                                    <p:cond delay="0"/>
                                  </p:stCondLst>
                                  <p:childTnLst>
                                    <p:set>
                                      <p:cBhvr>
                                        <p:cTn id="86" dur="1" fill="hold">
                                          <p:stCondLst>
                                            <p:cond delay="0"/>
                                          </p:stCondLst>
                                        </p:cTn>
                                        <p:tgtEl>
                                          <p:spTgt spid="23"/>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P spid="7" grpId="0" animBg="1"/>
      <p:bldP spid="13" grpId="0" animBg="1"/>
      <p:bldP spid="32" grpId="0" animBg="1"/>
      <p:bldP spid="33" grpId="0" animBg="1"/>
      <p:bldP spid="34" grpId="0" animBg="1"/>
      <p:bldP spid="35" grpId="0" animBg="1"/>
      <p:bldP spid="36" grpId="0" animBg="1"/>
      <p:bldP spid="37" grpId="0" animBg="1"/>
      <p:bldP spid="38" grpId="0" animBg="1"/>
      <p:bldP spid="39" grpId="0" animBg="1"/>
      <p:bldP spid="40" grpId="0" animBg="1"/>
      <p:bldP spid="21" grpId="0" animBg="1"/>
      <p:bldP spid="23" grpId="0" animBg="1"/>
      <p:bldP spid="26" grpId="0"/>
      <p:bldP spid="29" grpId="0"/>
      <p:bldP spid="42" grpId="0"/>
    </p:bldLst>
  </p:timing>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pPr eaLnBrk="1" hangingPunct="1"/>
            <a:r>
              <a:rPr lang="en-US" altLang="en-US" smtClean="0"/>
              <a:t>Write-order based Mapping</a:t>
            </a:r>
          </a:p>
        </p:txBody>
      </p:sp>
      <p:sp>
        <p:nvSpPr>
          <p:cNvPr id="3" name="Content Placeholder 2"/>
          <p:cNvSpPr>
            <a:spLocks noGrp="1"/>
          </p:cNvSpPr>
          <p:nvPr>
            <p:ph idx="1"/>
          </p:nvPr>
        </p:nvSpPr>
        <p:spPr>
          <a:xfrm>
            <a:off x="0" y="5410200"/>
            <a:ext cx="9144000" cy="1447800"/>
          </a:xfrm>
        </p:spPr>
        <p:txBody>
          <a:bodyPr/>
          <a:lstStyle/>
          <a:p>
            <a:pPr eaLnBrk="1" hangingPunct="1"/>
            <a:r>
              <a:rPr lang="en-US" altLang="en-US" sz="2400" smtClean="0"/>
              <a:t>The </a:t>
            </a:r>
            <a:r>
              <a:rPr lang="en-US" altLang="en-US" sz="2400" b="1" i="1" smtClean="0">
                <a:solidFill>
                  <a:srgbClr val="C00000"/>
                </a:solidFill>
              </a:rPr>
              <a:t>T</a:t>
            </a:r>
            <a:r>
              <a:rPr lang="en-US" altLang="en-US" sz="2400" b="1" i="1" baseline="-25000" smtClean="0">
                <a:solidFill>
                  <a:srgbClr val="C00000"/>
                </a:solidFill>
              </a:rPr>
              <a:t>th</a:t>
            </a:r>
            <a:r>
              <a:rPr lang="en-US" altLang="en-US" sz="2400" smtClean="0"/>
              <a:t> block being written in a sequence</a:t>
            </a:r>
          </a:p>
          <a:p>
            <a:pPr eaLnBrk="1" hangingPunct="1"/>
            <a:r>
              <a:rPr lang="en-US" altLang="en-US" sz="2400" b="1" i="1" smtClean="0">
                <a:solidFill>
                  <a:schemeClr val="tx2"/>
                </a:solidFill>
              </a:rPr>
              <a:t>N</a:t>
            </a:r>
            <a:r>
              <a:rPr lang="en-US" altLang="en-US" sz="2400" smtClean="0"/>
              <a:t> domains</a:t>
            </a:r>
          </a:p>
          <a:p>
            <a:pPr eaLnBrk="1" hangingPunct="1"/>
            <a:r>
              <a:rPr lang="en-US" altLang="en-US" sz="2400" smtClean="0"/>
              <a:t>Domain: </a:t>
            </a:r>
            <a:r>
              <a:rPr lang="en-US" altLang="en-US" sz="2400" b="1" smtClean="0">
                <a:solidFill>
                  <a:srgbClr val="C00000"/>
                </a:solidFill>
              </a:rPr>
              <a:t>(</a:t>
            </a:r>
            <a:r>
              <a:rPr lang="en-US" altLang="en-US" sz="2400" b="1" i="1" smtClean="0">
                <a:solidFill>
                  <a:srgbClr val="C00000"/>
                </a:solidFill>
              </a:rPr>
              <a:t>T</a:t>
            </a:r>
            <a:r>
              <a:rPr lang="en-US" altLang="en-US" sz="2400" b="1" smtClean="0">
                <a:solidFill>
                  <a:srgbClr val="C00000"/>
                </a:solidFill>
              </a:rPr>
              <a:t> </a:t>
            </a:r>
            <a:r>
              <a:rPr lang="en-US" altLang="en-US" sz="2400" smtClean="0"/>
              <a:t>mod</a:t>
            </a:r>
            <a:r>
              <a:rPr lang="en-US" altLang="en-US" sz="2400" b="1" smtClean="0">
                <a:solidFill>
                  <a:srgbClr val="C00000"/>
                </a:solidFill>
              </a:rPr>
              <a:t> </a:t>
            </a:r>
            <a:r>
              <a:rPr lang="en-US" altLang="en-US" sz="2400" b="1" i="1" smtClean="0">
                <a:solidFill>
                  <a:schemeClr val="tx2"/>
                </a:solidFill>
              </a:rPr>
              <a:t>N</a:t>
            </a:r>
            <a:r>
              <a:rPr lang="en-US" altLang="en-US" sz="2400" b="1" smtClean="0">
                <a:solidFill>
                  <a:srgbClr val="C00000"/>
                </a:solidFill>
              </a:rPr>
              <a:t>)</a:t>
            </a:r>
          </a:p>
        </p:txBody>
      </p:sp>
      <p:sp>
        <p:nvSpPr>
          <p:cNvPr id="4" name="Rectangle 3"/>
          <p:cNvSpPr/>
          <p:nvPr/>
        </p:nvSpPr>
        <p:spPr>
          <a:xfrm>
            <a:off x="5638800" y="1905000"/>
            <a:ext cx="2687638" cy="685800"/>
          </a:xfrm>
          <a:prstGeom prst="rect">
            <a:avLst/>
          </a:prstGeom>
          <a:solidFill>
            <a:schemeClr val="tx1"/>
          </a:solidFill>
        </p:spPr>
        <p:style>
          <a:lnRef idx="1">
            <a:schemeClr val="dk1"/>
          </a:lnRef>
          <a:fillRef idx="3">
            <a:schemeClr val="dk1"/>
          </a:fillRef>
          <a:effectRef idx="2">
            <a:schemeClr val="dk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dirty="0"/>
              <a:t>Domain #0</a:t>
            </a:r>
          </a:p>
        </p:txBody>
      </p:sp>
      <p:sp>
        <p:nvSpPr>
          <p:cNvPr id="5" name="Rectangle 4"/>
          <p:cNvSpPr/>
          <p:nvPr/>
        </p:nvSpPr>
        <p:spPr>
          <a:xfrm>
            <a:off x="5638800" y="2590800"/>
            <a:ext cx="2687638" cy="685800"/>
          </a:xfrm>
          <a:prstGeom prst="rect">
            <a:avLst/>
          </a:prstGeom>
          <a:solidFill>
            <a:schemeClr val="accent6"/>
          </a:solidFill>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dirty="0"/>
              <a:t>Domain #1</a:t>
            </a:r>
          </a:p>
        </p:txBody>
      </p:sp>
      <p:sp>
        <p:nvSpPr>
          <p:cNvPr id="6" name="Rectangle 5"/>
          <p:cNvSpPr/>
          <p:nvPr/>
        </p:nvSpPr>
        <p:spPr>
          <a:xfrm>
            <a:off x="5638800" y="3276600"/>
            <a:ext cx="2687638" cy="685800"/>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dirty="0"/>
              <a:t>Domain #2</a:t>
            </a:r>
          </a:p>
        </p:txBody>
      </p:sp>
      <p:sp>
        <p:nvSpPr>
          <p:cNvPr id="7" name="Rectangle 6"/>
          <p:cNvSpPr/>
          <p:nvPr/>
        </p:nvSpPr>
        <p:spPr>
          <a:xfrm>
            <a:off x="5638800" y="3962400"/>
            <a:ext cx="2687638" cy="685800"/>
          </a:xfrm>
          <a:prstGeom prst="rect">
            <a:avLst/>
          </a:prstGeom>
          <a:solidFill>
            <a:schemeClr val="accent1">
              <a:lumMod val="50000"/>
            </a:schemeClr>
          </a:solidFill>
        </p:spPr>
        <p:style>
          <a:lnRef idx="1">
            <a:schemeClr val="accent3"/>
          </a:lnRef>
          <a:fillRef idx="3">
            <a:schemeClr val="accent3"/>
          </a:fillRef>
          <a:effectRef idx="2">
            <a:schemeClr val="accent3"/>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dirty="0"/>
              <a:t>Domain #3</a:t>
            </a:r>
          </a:p>
        </p:txBody>
      </p:sp>
      <p:sp>
        <p:nvSpPr>
          <p:cNvPr id="13" name="Rectangle 12"/>
          <p:cNvSpPr/>
          <p:nvPr/>
        </p:nvSpPr>
        <p:spPr>
          <a:xfrm>
            <a:off x="3276600" y="2905125"/>
            <a:ext cx="533400" cy="685800"/>
          </a:xfrm>
          <a:prstGeom prst="rect">
            <a:avLst/>
          </a:prstGeom>
          <a:solidFill>
            <a:srgbClr val="7030A0"/>
          </a:solidFill>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6</a:t>
            </a:r>
          </a:p>
        </p:txBody>
      </p:sp>
      <p:sp>
        <p:nvSpPr>
          <p:cNvPr id="32" name="Rectangle 31"/>
          <p:cNvSpPr/>
          <p:nvPr/>
        </p:nvSpPr>
        <p:spPr>
          <a:xfrm>
            <a:off x="5638800" y="1905000"/>
            <a:ext cx="533400" cy="685800"/>
          </a:xfrm>
          <a:prstGeom prst="rect">
            <a:avLst/>
          </a:prstGeom>
          <a:solidFill>
            <a:srgbClr val="7030A0"/>
          </a:solidFill>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solidFill>
                  <a:srgbClr val="FFFFFF"/>
                </a:solidFill>
                <a:ea typeface="仿宋_GB2312"/>
                <a:cs typeface="仿宋_GB2312"/>
              </a:rPr>
              <a:t>6</a:t>
            </a:r>
          </a:p>
        </p:txBody>
      </p:sp>
      <p:sp>
        <p:nvSpPr>
          <p:cNvPr id="33" name="Rectangle 32"/>
          <p:cNvSpPr/>
          <p:nvPr/>
        </p:nvSpPr>
        <p:spPr>
          <a:xfrm>
            <a:off x="2743200" y="2905125"/>
            <a:ext cx="533400" cy="685800"/>
          </a:xfrm>
          <a:prstGeom prst="rect">
            <a:avLst/>
          </a:prstGeom>
          <a:solidFill>
            <a:srgbClr val="7030A0"/>
          </a:solidFill>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8</a:t>
            </a:r>
          </a:p>
        </p:txBody>
      </p:sp>
      <p:sp>
        <p:nvSpPr>
          <p:cNvPr id="34" name="Rectangle 33"/>
          <p:cNvSpPr/>
          <p:nvPr/>
        </p:nvSpPr>
        <p:spPr>
          <a:xfrm>
            <a:off x="5638800" y="2590800"/>
            <a:ext cx="533400" cy="685800"/>
          </a:xfrm>
          <a:prstGeom prst="rect">
            <a:avLst/>
          </a:prstGeom>
          <a:solidFill>
            <a:srgbClr val="7030A0"/>
          </a:solidFill>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8</a:t>
            </a:r>
          </a:p>
        </p:txBody>
      </p:sp>
      <p:sp>
        <p:nvSpPr>
          <p:cNvPr id="35" name="Rectangle 34"/>
          <p:cNvSpPr/>
          <p:nvPr/>
        </p:nvSpPr>
        <p:spPr>
          <a:xfrm>
            <a:off x="2209800" y="2905125"/>
            <a:ext cx="533400" cy="685800"/>
          </a:xfrm>
          <a:prstGeom prst="rect">
            <a:avLst/>
          </a:prstGeom>
          <a:solidFill>
            <a:srgbClr val="7030A0"/>
          </a:solidFill>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3</a:t>
            </a:r>
          </a:p>
        </p:txBody>
      </p:sp>
      <p:sp>
        <p:nvSpPr>
          <p:cNvPr id="36" name="Rectangle 35"/>
          <p:cNvSpPr/>
          <p:nvPr/>
        </p:nvSpPr>
        <p:spPr>
          <a:xfrm>
            <a:off x="5638800" y="3276600"/>
            <a:ext cx="533400" cy="685800"/>
          </a:xfrm>
          <a:prstGeom prst="rect">
            <a:avLst/>
          </a:prstGeom>
          <a:solidFill>
            <a:srgbClr val="7030A0"/>
          </a:solidFill>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3</a:t>
            </a:r>
          </a:p>
        </p:txBody>
      </p:sp>
      <p:sp>
        <p:nvSpPr>
          <p:cNvPr id="37" name="Rectangle 36"/>
          <p:cNvSpPr/>
          <p:nvPr/>
        </p:nvSpPr>
        <p:spPr>
          <a:xfrm>
            <a:off x="1676400" y="2905125"/>
            <a:ext cx="533400" cy="685800"/>
          </a:xfrm>
          <a:prstGeom prst="rect">
            <a:avLst/>
          </a:prstGeom>
          <a:solidFill>
            <a:srgbClr val="7030A0"/>
          </a:solidFill>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1</a:t>
            </a:r>
          </a:p>
        </p:txBody>
      </p:sp>
      <p:sp>
        <p:nvSpPr>
          <p:cNvPr id="38" name="Rectangle 37"/>
          <p:cNvSpPr/>
          <p:nvPr/>
        </p:nvSpPr>
        <p:spPr>
          <a:xfrm>
            <a:off x="5638800" y="3962400"/>
            <a:ext cx="533400" cy="685800"/>
          </a:xfrm>
          <a:prstGeom prst="rect">
            <a:avLst/>
          </a:prstGeom>
          <a:solidFill>
            <a:srgbClr val="7030A0"/>
          </a:solidFill>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1</a:t>
            </a:r>
          </a:p>
        </p:txBody>
      </p:sp>
      <p:sp>
        <p:nvSpPr>
          <p:cNvPr id="39" name="Rectangle 38"/>
          <p:cNvSpPr/>
          <p:nvPr/>
        </p:nvSpPr>
        <p:spPr>
          <a:xfrm>
            <a:off x="1143000" y="2905125"/>
            <a:ext cx="533400" cy="685800"/>
          </a:xfrm>
          <a:prstGeom prst="rect">
            <a:avLst/>
          </a:prstGeom>
          <a:solidFill>
            <a:srgbClr val="7030A0"/>
          </a:solidFill>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solidFill>
                  <a:srgbClr val="FFFFFF"/>
                </a:solidFill>
                <a:ea typeface="仿宋_GB2312"/>
                <a:cs typeface="仿宋_GB2312"/>
              </a:rPr>
              <a:t>5</a:t>
            </a:r>
          </a:p>
        </p:txBody>
      </p:sp>
      <p:sp>
        <p:nvSpPr>
          <p:cNvPr id="40" name="Rectangle 39"/>
          <p:cNvSpPr/>
          <p:nvPr/>
        </p:nvSpPr>
        <p:spPr>
          <a:xfrm>
            <a:off x="6172200" y="1905000"/>
            <a:ext cx="533400" cy="685800"/>
          </a:xfrm>
          <a:prstGeom prst="rect">
            <a:avLst/>
          </a:prstGeom>
          <a:solidFill>
            <a:srgbClr val="7030A0"/>
          </a:solidFill>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5</a:t>
            </a:r>
          </a:p>
        </p:txBody>
      </p:sp>
      <p:grpSp>
        <p:nvGrpSpPr>
          <p:cNvPr id="2" name="Group 8"/>
          <p:cNvGrpSpPr>
            <a:grpSpLocks/>
          </p:cNvGrpSpPr>
          <p:nvPr/>
        </p:nvGrpSpPr>
        <p:grpSpPr bwMode="auto">
          <a:xfrm>
            <a:off x="152400" y="2057400"/>
            <a:ext cx="4191000" cy="587375"/>
            <a:chOff x="-990600" y="5357170"/>
            <a:chExt cx="3697941" cy="588018"/>
          </a:xfrm>
        </p:grpSpPr>
        <p:sp>
          <p:nvSpPr>
            <p:cNvPr id="53277" name="Rectangle 46"/>
            <p:cNvSpPr>
              <a:spLocks noChangeArrowheads="1"/>
            </p:cNvSpPr>
            <p:nvPr/>
          </p:nvSpPr>
          <p:spPr bwMode="auto">
            <a:xfrm>
              <a:off x="-685800" y="5357170"/>
              <a:ext cx="3082292"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50000"/>
                </a:spcBef>
                <a:spcAft>
                  <a:spcPct val="20000"/>
                </a:spcAft>
                <a:buFont typeface="Wingdings" panose="05000000000000000000" pitchFamily="2" charset="2"/>
                <a:buNone/>
              </a:pPr>
              <a:r>
                <a:rPr lang="en-US" altLang="en-US" sz="2000" b="1">
                  <a:solidFill>
                    <a:srgbClr val="C00000"/>
                  </a:solidFill>
                  <a:latin typeface="Verdana" panose="020B0604030504040204" pitchFamily="34" charset="0"/>
                </a:rPr>
                <a:t>Incoming writes (LBN)</a:t>
              </a:r>
            </a:p>
          </p:txBody>
        </p:sp>
        <p:cxnSp>
          <p:nvCxnSpPr>
            <p:cNvPr id="48" name="Straight Arrow Connector 47"/>
            <p:cNvCxnSpPr/>
            <p:nvPr/>
          </p:nvCxnSpPr>
          <p:spPr>
            <a:xfrm>
              <a:off x="-990600" y="5943599"/>
              <a:ext cx="3697941" cy="1589"/>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22" name="Rectangle 21"/>
          <p:cNvSpPr/>
          <p:nvPr/>
        </p:nvSpPr>
        <p:spPr>
          <a:xfrm>
            <a:off x="609600" y="2905125"/>
            <a:ext cx="533400" cy="685800"/>
          </a:xfrm>
          <a:prstGeom prst="rect">
            <a:avLst/>
          </a:prstGeom>
          <a:solidFill>
            <a:srgbClr val="7030A0"/>
          </a:solidFill>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11</a:t>
            </a:r>
          </a:p>
        </p:txBody>
      </p:sp>
      <p:sp>
        <p:nvSpPr>
          <p:cNvPr id="23" name="Rectangle 22"/>
          <p:cNvSpPr/>
          <p:nvPr/>
        </p:nvSpPr>
        <p:spPr>
          <a:xfrm>
            <a:off x="6172200" y="2590800"/>
            <a:ext cx="533400" cy="685800"/>
          </a:xfrm>
          <a:prstGeom prst="rect">
            <a:avLst/>
          </a:prstGeom>
          <a:solidFill>
            <a:srgbClr val="7030A0"/>
          </a:solidFill>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11</a:t>
            </a:r>
          </a:p>
        </p:txBody>
      </p:sp>
      <p:sp>
        <p:nvSpPr>
          <p:cNvPr id="53269" name="Slide Number Placeholder 3"/>
          <p:cNvSpPr>
            <a:spLocks noGrp="1"/>
          </p:cNvSpPr>
          <p:nvPr>
            <p:ph type="sldNum" sz="quarter" idx="4294967295"/>
          </p:nvPr>
        </p:nvSpPr>
        <p:spPr bwMode="auto">
          <a:xfrm>
            <a:off x="7010400" y="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 typeface="Wingdings" panose="05000000000000000000" pitchFamily="2" charset="2"/>
              <a:buNone/>
            </a:pPr>
            <a:fld id="{AEE2463B-DFEB-4BD1-B6D0-3BDD31199026}" type="slidenum">
              <a:rPr lang="zh-CN" altLang="en-US" sz="1200">
                <a:solidFill>
                  <a:srgbClr val="898989"/>
                </a:solidFill>
                <a:latin typeface="Verdana" panose="020B0604030504040204" pitchFamily="34" charset="0"/>
              </a:rPr>
              <a:pPr>
                <a:spcBef>
                  <a:spcPct val="50000"/>
                </a:spcBef>
                <a:buFont typeface="Wingdings" panose="05000000000000000000" pitchFamily="2" charset="2"/>
                <a:buNone/>
              </a:pPr>
              <a:t>91</a:t>
            </a:fld>
            <a:endParaRPr lang="zh-CN" altLang="en-US" sz="1200">
              <a:solidFill>
                <a:srgbClr val="898989"/>
              </a:solidFill>
              <a:latin typeface="Verdana" panose="020B0604030504040204" pitchFamily="34" charset="0"/>
            </a:endParaRPr>
          </a:p>
        </p:txBody>
      </p:sp>
      <p:sp>
        <p:nvSpPr>
          <p:cNvPr id="25" name="Rectangle 24"/>
          <p:cNvSpPr>
            <a:spLocks noChangeArrowheads="1"/>
          </p:cNvSpPr>
          <p:nvPr/>
        </p:nvSpPr>
        <p:spPr bwMode="auto">
          <a:xfrm>
            <a:off x="3276600" y="3590925"/>
            <a:ext cx="6683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Wingdings" panose="05000000000000000000" pitchFamily="2" charset="2"/>
              <a:buNone/>
            </a:pPr>
            <a:r>
              <a:rPr lang="en-US" altLang="en-US" sz="1400" b="1">
                <a:solidFill>
                  <a:srgbClr val="010000"/>
                </a:solidFill>
                <a:latin typeface="Verdana" panose="020B0604030504040204" pitchFamily="34" charset="0"/>
              </a:rPr>
              <a:t>0%4</a:t>
            </a:r>
          </a:p>
          <a:p>
            <a:pPr eaLnBrk="1" hangingPunct="1">
              <a:spcBef>
                <a:spcPct val="0"/>
              </a:spcBef>
              <a:buFont typeface="Wingdings" panose="05000000000000000000" pitchFamily="2" charset="2"/>
              <a:buNone/>
            </a:pPr>
            <a:r>
              <a:rPr lang="en-US" altLang="en-US" sz="1400" b="1">
                <a:solidFill>
                  <a:srgbClr val="010000"/>
                </a:solidFill>
                <a:latin typeface="Verdana" panose="020B0604030504040204" pitchFamily="34" charset="0"/>
              </a:rPr>
              <a:t>=</a:t>
            </a:r>
            <a:r>
              <a:rPr lang="en-US" altLang="en-US" sz="1400" b="1">
                <a:solidFill>
                  <a:srgbClr val="C00000"/>
                </a:solidFill>
                <a:latin typeface="Verdana" panose="020B0604030504040204" pitchFamily="34" charset="0"/>
              </a:rPr>
              <a:t>0</a:t>
            </a:r>
          </a:p>
        </p:txBody>
      </p:sp>
      <p:sp>
        <p:nvSpPr>
          <p:cNvPr id="26" name="Rectangle 25"/>
          <p:cNvSpPr>
            <a:spLocks noChangeArrowheads="1"/>
          </p:cNvSpPr>
          <p:nvPr/>
        </p:nvSpPr>
        <p:spPr bwMode="auto">
          <a:xfrm>
            <a:off x="2133600" y="3590925"/>
            <a:ext cx="6683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Wingdings" panose="05000000000000000000" pitchFamily="2" charset="2"/>
              <a:buNone/>
            </a:pPr>
            <a:r>
              <a:rPr lang="en-US" altLang="en-US" sz="1400" b="1">
                <a:solidFill>
                  <a:srgbClr val="010000"/>
                </a:solidFill>
                <a:latin typeface="Verdana" panose="020B0604030504040204" pitchFamily="34" charset="0"/>
              </a:rPr>
              <a:t>2%4</a:t>
            </a:r>
          </a:p>
          <a:p>
            <a:pPr eaLnBrk="1" hangingPunct="1">
              <a:spcBef>
                <a:spcPct val="0"/>
              </a:spcBef>
              <a:buFont typeface="Wingdings" panose="05000000000000000000" pitchFamily="2" charset="2"/>
              <a:buNone/>
            </a:pPr>
            <a:r>
              <a:rPr lang="en-US" altLang="en-US" sz="1400" b="1">
                <a:solidFill>
                  <a:srgbClr val="010000"/>
                </a:solidFill>
                <a:latin typeface="Verdana" panose="020B0604030504040204" pitchFamily="34" charset="0"/>
              </a:rPr>
              <a:t>=</a:t>
            </a:r>
            <a:r>
              <a:rPr lang="en-US" altLang="en-US" sz="1400" b="1">
                <a:solidFill>
                  <a:srgbClr val="C00000"/>
                </a:solidFill>
                <a:latin typeface="Verdana" panose="020B0604030504040204" pitchFamily="34" charset="0"/>
              </a:rPr>
              <a:t>2</a:t>
            </a:r>
          </a:p>
        </p:txBody>
      </p:sp>
      <p:sp>
        <p:nvSpPr>
          <p:cNvPr id="27" name="Rectangle 26"/>
          <p:cNvSpPr>
            <a:spLocks noChangeArrowheads="1"/>
          </p:cNvSpPr>
          <p:nvPr/>
        </p:nvSpPr>
        <p:spPr bwMode="auto">
          <a:xfrm>
            <a:off x="2743200" y="3590925"/>
            <a:ext cx="6683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Wingdings" panose="05000000000000000000" pitchFamily="2" charset="2"/>
              <a:buNone/>
            </a:pPr>
            <a:r>
              <a:rPr lang="en-US" altLang="en-US" sz="1400" b="1">
                <a:solidFill>
                  <a:srgbClr val="010000"/>
                </a:solidFill>
                <a:latin typeface="Verdana" panose="020B0604030504040204" pitchFamily="34" charset="0"/>
              </a:rPr>
              <a:t>1%4</a:t>
            </a:r>
          </a:p>
          <a:p>
            <a:pPr eaLnBrk="1" hangingPunct="1">
              <a:spcBef>
                <a:spcPct val="0"/>
              </a:spcBef>
              <a:buFont typeface="Wingdings" panose="05000000000000000000" pitchFamily="2" charset="2"/>
              <a:buNone/>
            </a:pPr>
            <a:r>
              <a:rPr lang="en-US" altLang="en-US" sz="1400" b="1">
                <a:solidFill>
                  <a:srgbClr val="010000"/>
                </a:solidFill>
                <a:latin typeface="Verdana" panose="020B0604030504040204" pitchFamily="34" charset="0"/>
              </a:rPr>
              <a:t>=</a:t>
            </a:r>
            <a:r>
              <a:rPr lang="en-US" altLang="en-US" sz="1400" b="1">
                <a:solidFill>
                  <a:srgbClr val="C00000"/>
                </a:solidFill>
                <a:latin typeface="Verdana" panose="020B0604030504040204" pitchFamily="34" charset="0"/>
              </a:rPr>
              <a:t>1</a:t>
            </a:r>
          </a:p>
        </p:txBody>
      </p:sp>
      <p:sp>
        <p:nvSpPr>
          <p:cNvPr id="28" name="Rectangle 27"/>
          <p:cNvSpPr>
            <a:spLocks noChangeArrowheads="1"/>
          </p:cNvSpPr>
          <p:nvPr/>
        </p:nvSpPr>
        <p:spPr bwMode="auto">
          <a:xfrm>
            <a:off x="1600200" y="3590925"/>
            <a:ext cx="6683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Wingdings" panose="05000000000000000000" pitchFamily="2" charset="2"/>
              <a:buNone/>
            </a:pPr>
            <a:r>
              <a:rPr lang="en-US" altLang="en-US" sz="1400" b="1">
                <a:solidFill>
                  <a:srgbClr val="010000"/>
                </a:solidFill>
                <a:latin typeface="Verdana" panose="020B0604030504040204" pitchFamily="34" charset="0"/>
              </a:rPr>
              <a:t>3%4</a:t>
            </a:r>
          </a:p>
          <a:p>
            <a:pPr eaLnBrk="1" hangingPunct="1">
              <a:spcBef>
                <a:spcPct val="0"/>
              </a:spcBef>
              <a:buFont typeface="Wingdings" panose="05000000000000000000" pitchFamily="2" charset="2"/>
              <a:buNone/>
            </a:pPr>
            <a:r>
              <a:rPr lang="en-US" altLang="en-US" sz="1400" b="1">
                <a:solidFill>
                  <a:srgbClr val="010000"/>
                </a:solidFill>
                <a:latin typeface="Verdana" panose="020B0604030504040204" pitchFamily="34" charset="0"/>
              </a:rPr>
              <a:t>=</a:t>
            </a:r>
            <a:r>
              <a:rPr lang="en-US" altLang="en-US" sz="1400" b="1">
                <a:solidFill>
                  <a:srgbClr val="C00000"/>
                </a:solidFill>
                <a:latin typeface="Verdana" panose="020B0604030504040204" pitchFamily="34" charset="0"/>
              </a:rPr>
              <a:t>3</a:t>
            </a:r>
          </a:p>
        </p:txBody>
      </p:sp>
      <p:sp>
        <p:nvSpPr>
          <p:cNvPr id="29" name="Rectangle 28"/>
          <p:cNvSpPr>
            <a:spLocks noChangeArrowheads="1"/>
          </p:cNvSpPr>
          <p:nvPr/>
        </p:nvSpPr>
        <p:spPr bwMode="auto">
          <a:xfrm>
            <a:off x="1143000" y="3590925"/>
            <a:ext cx="6683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Wingdings" panose="05000000000000000000" pitchFamily="2" charset="2"/>
              <a:buNone/>
            </a:pPr>
            <a:r>
              <a:rPr lang="en-US" altLang="en-US" sz="1400" b="1">
                <a:solidFill>
                  <a:srgbClr val="010000"/>
                </a:solidFill>
                <a:latin typeface="Verdana" panose="020B0604030504040204" pitchFamily="34" charset="0"/>
              </a:rPr>
              <a:t>4%4</a:t>
            </a:r>
          </a:p>
          <a:p>
            <a:pPr eaLnBrk="1" hangingPunct="1">
              <a:spcBef>
                <a:spcPct val="0"/>
              </a:spcBef>
              <a:buFont typeface="Wingdings" panose="05000000000000000000" pitchFamily="2" charset="2"/>
              <a:buNone/>
            </a:pPr>
            <a:r>
              <a:rPr lang="en-US" altLang="en-US" sz="1400" b="1">
                <a:solidFill>
                  <a:srgbClr val="010000"/>
                </a:solidFill>
                <a:latin typeface="Verdana" panose="020B0604030504040204" pitchFamily="34" charset="0"/>
              </a:rPr>
              <a:t>=</a:t>
            </a:r>
            <a:r>
              <a:rPr lang="en-US" altLang="en-US" sz="1400" b="1">
                <a:solidFill>
                  <a:srgbClr val="C00000"/>
                </a:solidFill>
                <a:latin typeface="Verdana" panose="020B0604030504040204" pitchFamily="34" charset="0"/>
              </a:rPr>
              <a:t>0</a:t>
            </a:r>
          </a:p>
        </p:txBody>
      </p:sp>
      <p:sp>
        <p:nvSpPr>
          <p:cNvPr id="30" name="Rectangle 29"/>
          <p:cNvSpPr>
            <a:spLocks noChangeArrowheads="1"/>
          </p:cNvSpPr>
          <p:nvPr/>
        </p:nvSpPr>
        <p:spPr bwMode="auto">
          <a:xfrm>
            <a:off x="609600" y="3590925"/>
            <a:ext cx="6683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Wingdings" panose="05000000000000000000" pitchFamily="2" charset="2"/>
              <a:buNone/>
            </a:pPr>
            <a:r>
              <a:rPr lang="en-US" altLang="en-US" sz="1400" b="1">
                <a:solidFill>
                  <a:srgbClr val="010000"/>
                </a:solidFill>
                <a:latin typeface="Verdana" panose="020B0604030504040204" pitchFamily="34" charset="0"/>
              </a:rPr>
              <a:t>5%4</a:t>
            </a:r>
          </a:p>
          <a:p>
            <a:pPr eaLnBrk="1" hangingPunct="1">
              <a:spcBef>
                <a:spcPct val="0"/>
              </a:spcBef>
              <a:buFont typeface="Wingdings" panose="05000000000000000000" pitchFamily="2" charset="2"/>
              <a:buNone/>
            </a:pPr>
            <a:r>
              <a:rPr lang="en-US" altLang="en-US" sz="1400" b="1">
                <a:solidFill>
                  <a:srgbClr val="010000"/>
                </a:solidFill>
                <a:latin typeface="Verdana" panose="020B0604030504040204" pitchFamily="34" charset="0"/>
              </a:rPr>
              <a:t>=</a:t>
            </a:r>
            <a:r>
              <a:rPr lang="en-US" altLang="en-US" sz="1400" b="1">
                <a:solidFill>
                  <a:srgbClr val="C00000"/>
                </a:solidFill>
                <a:latin typeface="Verdana" panose="020B0604030504040204" pitchFamily="34" charset="0"/>
              </a:rPr>
              <a:t>1</a:t>
            </a:r>
          </a:p>
        </p:txBody>
      </p:sp>
      <p:sp>
        <p:nvSpPr>
          <p:cNvPr id="31" name="Rectangle 30"/>
          <p:cNvSpPr/>
          <p:nvPr/>
        </p:nvSpPr>
        <p:spPr>
          <a:xfrm>
            <a:off x="6553200" y="4800600"/>
            <a:ext cx="896938" cy="433388"/>
          </a:xfrm>
          <a:prstGeom prst="rect">
            <a:avLst/>
          </a:prstGeom>
        </p:spPr>
        <p:txBody>
          <a:bodyPr wrap="none">
            <a:spAutoFit/>
          </a:bodyPr>
          <a:lstStyle/>
          <a:p>
            <a:pPr eaLnBrk="1" hangingPunct="1">
              <a:lnSpc>
                <a:spcPct val="125000"/>
              </a:lnSpc>
              <a:spcBef>
                <a:spcPct val="50000"/>
              </a:spcBef>
              <a:spcAft>
                <a:spcPct val="20000"/>
              </a:spcAft>
              <a:buFont typeface="Wingdings" pitchFamily="2" charset="2"/>
              <a:buNone/>
              <a:defRPr/>
            </a:pPr>
            <a:r>
              <a:rPr lang="en-US" b="1" i="1" dirty="0">
                <a:solidFill>
                  <a:schemeClr val="tx2">
                    <a:lumMod val="50000"/>
                  </a:schemeClr>
                </a:solidFill>
              </a:rPr>
              <a:t>N=4</a:t>
            </a:r>
            <a:r>
              <a:rPr lang="en-US" dirty="0"/>
              <a:t> </a:t>
            </a:r>
          </a:p>
        </p:txBody>
      </p:sp>
    </p:spTree>
    <p:extLst>
      <p:ext uri="{BB962C8B-B14F-4D97-AF65-F5344CB8AC3E}">
        <p14:creationId xmlns:p14="http://schemas.microsoft.com/office/powerpoint/2010/main" val="28851546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par>
                          <p:cTn id="19" fill="hold" nodeType="afterGroup">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par>
                          <p:cTn id="22" fill="hold" nodeType="afterGroup">
                            <p:stCondLst>
                              <p:cond delay="0"/>
                            </p:stCondLst>
                            <p:childTnLst>
                              <p:par>
                                <p:cTn id="23" presetID="1" presetClass="entr" presetSubtype="0"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par>
                          <p:cTn id="25" fill="hold" nodeType="afterGroup">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7"/>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500"/>
                                        <p:tgtEl>
                                          <p:spTgt spid="2"/>
                                        </p:tgtEl>
                                      </p:cBhvr>
                                    </p:animEffect>
                                  </p:childTnLst>
                                </p:cTn>
                              </p:par>
                              <p:par>
                                <p:cTn id="33" presetID="1" presetClass="entr" presetSubtype="0"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par>
                          <p:cTn id="39" fill="hold" nodeType="afterGroup">
                            <p:stCondLst>
                              <p:cond delay="0"/>
                            </p:stCondLst>
                            <p:childTnLst>
                              <p:par>
                                <p:cTn id="40" presetID="1" presetClass="entr" presetSubtype="0" fill="hold" grpId="0" nodeType="afterEffect">
                                  <p:stCondLst>
                                    <p:cond delay="0"/>
                                  </p:stCondLst>
                                  <p:childTnLst>
                                    <p:set>
                                      <p:cBhvr>
                                        <p:cTn id="41" dur="1" fill="hold">
                                          <p:stCondLst>
                                            <p:cond delay="0"/>
                                          </p:stCondLst>
                                        </p:cTn>
                                        <p:tgtEl>
                                          <p:spTgt spid="32"/>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25"/>
                                        </p:tgtEl>
                                        <p:attrNameLst>
                                          <p:attrName>style.visibility</p:attrName>
                                        </p:attrNameLst>
                                      </p:cBhvr>
                                      <p:to>
                                        <p:strVal val="visible"/>
                                      </p:to>
                                    </p:set>
                                  </p:childTnLst>
                                  <p:subTnLst>
                                    <p:set>
                                      <p:cBhvr override="childStyle">
                                        <p:cTn dur="1" fill="hold" display="0" masterRel="nextClick" afterEffect="1"/>
                                        <p:tgtEl>
                                          <p:spTgt spid="25"/>
                                        </p:tgtEl>
                                        <p:attrNameLst>
                                          <p:attrName>style.visibility</p:attrName>
                                        </p:attrNameLst>
                                      </p:cBhvr>
                                      <p:to>
                                        <p:strVal val="hidden"/>
                                      </p:to>
                                    </p:set>
                                  </p:sub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33"/>
                                        </p:tgtEl>
                                        <p:attrNameLst>
                                          <p:attrName>style.visibility</p:attrName>
                                        </p:attrNameLst>
                                      </p:cBhvr>
                                      <p:to>
                                        <p:strVal val="visible"/>
                                      </p:to>
                                    </p:set>
                                  </p:childTnLst>
                                </p:cTn>
                              </p:par>
                            </p:childTnLst>
                          </p:cTn>
                        </p:par>
                        <p:par>
                          <p:cTn id="48" fill="hold" nodeType="afterGroup">
                            <p:stCondLst>
                              <p:cond delay="0"/>
                            </p:stCondLst>
                            <p:childTnLst>
                              <p:par>
                                <p:cTn id="49" presetID="1" presetClass="entr" presetSubtype="0" fill="hold" grpId="0" nodeType="afterEffect">
                                  <p:stCondLst>
                                    <p:cond delay="0"/>
                                  </p:stCondLst>
                                  <p:childTnLst>
                                    <p:set>
                                      <p:cBhvr>
                                        <p:cTn id="50" dur="1" fill="hold">
                                          <p:stCondLst>
                                            <p:cond delay="0"/>
                                          </p:stCondLst>
                                        </p:cTn>
                                        <p:tgtEl>
                                          <p:spTgt spid="3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subTnLst>
                                    <p:set>
                                      <p:cBhvr override="childStyle">
                                        <p:cTn dur="1" fill="hold" display="0" masterRel="nextClick" afterEffect="1"/>
                                        <p:tgtEl>
                                          <p:spTgt spid="27"/>
                                        </p:tgtEl>
                                        <p:attrNameLst>
                                          <p:attrName>style.visibility</p:attrName>
                                        </p:attrNameLst>
                                      </p:cBhvr>
                                      <p:to>
                                        <p:strVal val="hidden"/>
                                      </p:to>
                                    </p:set>
                                  </p:sub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5"/>
                                        </p:tgtEl>
                                        <p:attrNameLst>
                                          <p:attrName>style.visibility</p:attrName>
                                        </p:attrNameLst>
                                      </p:cBhvr>
                                      <p:to>
                                        <p:strVal val="visible"/>
                                      </p:to>
                                    </p:set>
                                  </p:childTnLst>
                                </p:cTn>
                              </p:par>
                            </p:childTnLst>
                          </p:cTn>
                        </p:par>
                        <p:par>
                          <p:cTn id="57" fill="hold" nodeType="afterGroup">
                            <p:stCondLst>
                              <p:cond delay="0"/>
                            </p:stCondLst>
                            <p:childTnLst>
                              <p:par>
                                <p:cTn id="58" presetID="1" presetClass="entr" presetSubtype="0" fill="hold" grpId="0" nodeType="afterEffect">
                                  <p:stCondLst>
                                    <p:cond delay="0"/>
                                  </p:stCondLst>
                                  <p:childTnLst>
                                    <p:set>
                                      <p:cBhvr>
                                        <p:cTn id="59" dur="1" fill="hold">
                                          <p:stCondLst>
                                            <p:cond delay="0"/>
                                          </p:stCondLst>
                                        </p:cTn>
                                        <p:tgtEl>
                                          <p:spTgt spid="36"/>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26"/>
                                        </p:tgtEl>
                                        <p:attrNameLst>
                                          <p:attrName>style.visibility</p:attrName>
                                        </p:attrNameLst>
                                      </p:cBhvr>
                                      <p:to>
                                        <p:strVal val="visible"/>
                                      </p:to>
                                    </p:set>
                                  </p:childTnLst>
                                  <p:subTnLst>
                                    <p:set>
                                      <p:cBhvr override="childStyle">
                                        <p:cTn dur="1" fill="hold" display="0" masterRel="nextClick" afterEffect="1"/>
                                        <p:tgtEl>
                                          <p:spTgt spid="26"/>
                                        </p:tgtEl>
                                        <p:attrNameLst>
                                          <p:attrName>style.visibility</p:attrName>
                                        </p:attrNameLst>
                                      </p:cBhvr>
                                      <p:to>
                                        <p:strVal val="hidden"/>
                                      </p:to>
                                    </p:set>
                                  </p:subTnLst>
                                </p:cTn>
                              </p:par>
                            </p:childTnLst>
                          </p:cTn>
                        </p:par>
                      </p:childTnLst>
                    </p:cTn>
                  </p:par>
                  <p:par>
                    <p:cTn id="62" fill="hold" nodeType="clickPar">
                      <p:stCondLst>
                        <p:cond delay="indefinite"/>
                      </p:stCondLst>
                      <p:childTnLst>
                        <p:par>
                          <p:cTn id="63" fill="hold" nodeType="withGroup">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37"/>
                                        </p:tgtEl>
                                        <p:attrNameLst>
                                          <p:attrName>style.visibility</p:attrName>
                                        </p:attrNameLst>
                                      </p:cBhvr>
                                      <p:to>
                                        <p:strVal val="visible"/>
                                      </p:to>
                                    </p:set>
                                  </p:childTnLst>
                                </p:cTn>
                              </p:par>
                            </p:childTnLst>
                          </p:cTn>
                        </p:par>
                        <p:par>
                          <p:cTn id="66" fill="hold" nodeType="afterGroup">
                            <p:stCondLst>
                              <p:cond delay="0"/>
                            </p:stCondLst>
                            <p:childTnLst>
                              <p:par>
                                <p:cTn id="67" presetID="1" presetClass="entr" presetSubtype="0" fill="hold" grpId="0" nodeType="afterEffect">
                                  <p:stCondLst>
                                    <p:cond delay="0"/>
                                  </p:stCondLst>
                                  <p:childTnLst>
                                    <p:set>
                                      <p:cBhvr>
                                        <p:cTn id="68" dur="1" fill="hold">
                                          <p:stCondLst>
                                            <p:cond delay="0"/>
                                          </p:stCondLst>
                                        </p:cTn>
                                        <p:tgtEl>
                                          <p:spTgt spid="3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8"/>
                                        </p:tgtEl>
                                        <p:attrNameLst>
                                          <p:attrName>style.visibility</p:attrName>
                                        </p:attrNameLst>
                                      </p:cBhvr>
                                      <p:to>
                                        <p:strVal val="visible"/>
                                      </p:to>
                                    </p:set>
                                  </p:childTnLst>
                                  <p:subTnLst>
                                    <p:set>
                                      <p:cBhvr override="childStyle">
                                        <p:cTn dur="1" fill="hold" display="0" masterRel="nextClick" afterEffect="1"/>
                                        <p:tgtEl>
                                          <p:spTgt spid="28"/>
                                        </p:tgtEl>
                                        <p:attrNameLst>
                                          <p:attrName>style.visibility</p:attrName>
                                        </p:attrNameLst>
                                      </p:cBhvr>
                                      <p:to>
                                        <p:strVal val="hidden"/>
                                      </p:to>
                                    </p:set>
                                  </p:sub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9"/>
                                        </p:tgtEl>
                                        <p:attrNameLst>
                                          <p:attrName>style.visibility</p:attrName>
                                        </p:attrNameLst>
                                      </p:cBhvr>
                                      <p:to>
                                        <p:strVal val="visible"/>
                                      </p:to>
                                    </p:set>
                                  </p:childTnLst>
                                </p:cTn>
                              </p:par>
                            </p:childTnLst>
                          </p:cTn>
                        </p:par>
                        <p:par>
                          <p:cTn id="75" fill="hold" nodeType="afterGroup">
                            <p:stCondLst>
                              <p:cond delay="0"/>
                            </p:stCondLst>
                            <p:childTnLst>
                              <p:par>
                                <p:cTn id="76" presetID="1" presetClass="entr" presetSubtype="0" fill="hold" grpId="0" nodeType="afterEffect">
                                  <p:stCondLst>
                                    <p:cond delay="0"/>
                                  </p:stCondLst>
                                  <p:childTnLst>
                                    <p:set>
                                      <p:cBhvr>
                                        <p:cTn id="77" dur="1" fill="hold">
                                          <p:stCondLst>
                                            <p:cond delay="0"/>
                                          </p:stCondLst>
                                        </p:cTn>
                                        <p:tgtEl>
                                          <p:spTgt spid="40"/>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29"/>
                                        </p:tgtEl>
                                        <p:attrNameLst>
                                          <p:attrName>style.visibility</p:attrName>
                                        </p:attrNameLst>
                                      </p:cBhvr>
                                      <p:to>
                                        <p:strVal val="visible"/>
                                      </p:to>
                                    </p:set>
                                  </p:childTnLst>
                                  <p:subTnLst>
                                    <p:set>
                                      <p:cBhvr override="childStyle">
                                        <p:cTn dur="1" fill="hold" display="0" masterRel="nextClick" afterEffect="1"/>
                                        <p:tgtEl>
                                          <p:spTgt spid="29"/>
                                        </p:tgtEl>
                                        <p:attrNameLst>
                                          <p:attrName>style.visibility</p:attrName>
                                        </p:attrNameLst>
                                      </p:cBhvr>
                                      <p:to>
                                        <p:strVal val="hidden"/>
                                      </p:to>
                                    </p:set>
                                  </p:subTnLst>
                                </p:cTn>
                              </p:par>
                            </p:childTnLst>
                          </p:cTn>
                        </p:par>
                      </p:childTnLst>
                    </p:cTn>
                  </p:par>
                  <p:par>
                    <p:cTn id="80" fill="hold" nodeType="clickPar">
                      <p:stCondLst>
                        <p:cond delay="indefinite"/>
                      </p:stCondLst>
                      <p:childTnLst>
                        <p:par>
                          <p:cTn id="81" fill="hold" nodeType="withGroup">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22"/>
                                        </p:tgtEl>
                                        <p:attrNameLst>
                                          <p:attrName>style.visibility</p:attrName>
                                        </p:attrNameLst>
                                      </p:cBhvr>
                                      <p:to>
                                        <p:strVal val="visible"/>
                                      </p:to>
                                    </p:set>
                                  </p:childTnLst>
                                </p:cTn>
                              </p:par>
                            </p:childTnLst>
                          </p:cTn>
                        </p:par>
                        <p:par>
                          <p:cTn id="84" fill="hold" nodeType="afterGroup">
                            <p:stCondLst>
                              <p:cond delay="0"/>
                            </p:stCondLst>
                            <p:childTnLst>
                              <p:par>
                                <p:cTn id="85" presetID="1" presetClass="entr" presetSubtype="0" fill="hold" grpId="0" nodeType="afterEffect">
                                  <p:stCondLst>
                                    <p:cond delay="0"/>
                                  </p:stCondLst>
                                  <p:childTnLst>
                                    <p:set>
                                      <p:cBhvr>
                                        <p:cTn id="86" dur="1" fill="hold">
                                          <p:stCondLst>
                                            <p:cond delay="0"/>
                                          </p:stCondLst>
                                        </p:cTn>
                                        <p:tgtEl>
                                          <p:spTgt spid="23"/>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P spid="7" grpId="0" animBg="1"/>
      <p:bldP spid="13" grpId="0" animBg="1"/>
      <p:bldP spid="32" grpId="0" animBg="1"/>
      <p:bldP spid="33" grpId="0" animBg="1"/>
      <p:bldP spid="34" grpId="0" animBg="1"/>
      <p:bldP spid="35" grpId="0" animBg="1"/>
      <p:bldP spid="36" grpId="0" animBg="1"/>
      <p:bldP spid="37" grpId="0" animBg="1"/>
      <p:bldP spid="38" grpId="0" animBg="1"/>
      <p:bldP spid="39" grpId="0" animBg="1"/>
      <p:bldP spid="40" grpId="0" animBg="1"/>
      <p:bldP spid="22" grpId="0" animBg="1"/>
      <p:bldP spid="23" grpId="0" animBg="1"/>
      <p:bldP spid="25" grpId="0"/>
      <p:bldP spid="26" grpId="0"/>
      <p:bldP spid="27" grpId="0"/>
      <p:bldP spid="28" grpId="0"/>
      <p:bldP spid="29" grpId="0"/>
      <p:bldP spid="30" grpId="0"/>
      <p:bldP spid="31" grpId="0"/>
    </p:bldLst>
  </p:timing>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49857"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43200"/>
            <a:ext cx="4953000" cy="206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299" name="Title 1"/>
          <p:cNvSpPr>
            <a:spLocks noGrp="1"/>
          </p:cNvSpPr>
          <p:nvPr>
            <p:ph type="title"/>
          </p:nvPr>
        </p:nvSpPr>
        <p:spPr/>
        <p:txBody>
          <a:bodyPr/>
          <a:lstStyle/>
          <a:p>
            <a:pPr eaLnBrk="1" hangingPunct="1"/>
            <a:r>
              <a:rPr lang="en-US" altLang="en-US" smtClean="0"/>
              <a:t>Detecting the mapping policy</a:t>
            </a:r>
          </a:p>
        </p:txBody>
      </p:sp>
      <p:sp>
        <p:nvSpPr>
          <p:cNvPr id="3" name="Content Placeholder 2"/>
          <p:cNvSpPr>
            <a:spLocks noGrp="1"/>
          </p:cNvSpPr>
          <p:nvPr>
            <p:ph idx="1"/>
          </p:nvPr>
        </p:nvSpPr>
        <p:spPr>
          <a:xfrm>
            <a:off x="0" y="5791200"/>
            <a:ext cx="9144000" cy="1066800"/>
          </a:xfrm>
        </p:spPr>
        <p:txBody>
          <a:bodyPr/>
          <a:lstStyle/>
          <a:p>
            <a:pPr eaLnBrk="1" hangingPunct="1"/>
            <a:r>
              <a:rPr lang="en-US" altLang="en-US" sz="2400" b="1" smtClean="0"/>
              <a:t>Fact 1</a:t>
            </a:r>
            <a:r>
              <a:rPr lang="en-US" altLang="en-US" sz="2400" smtClean="0"/>
              <a:t>: Sequential LBN writes evenly distribute blocks across domains</a:t>
            </a:r>
          </a:p>
          <a:p>
            <a:pPr eaLnBrk="1" hangingPunct="1"/>
            <a:r>
              <a:rPr lang="en-US" altLang="en-US" sz="2400" b="1" smtClean="0"/>
              <a:t>Fact 2</a:t>
            </a:r>
            <a:r>
              <a:rPr lang="en-US" altLang="en-US" sz="2400" smtClean="0"/>
              <a:t>: Concurrent reads to two domains are faster than to 1 domain</a:t>
            </a:r>
          </a:p>
        </p:txBody>
      </p:sp>
      <p:sp>
        <p:nvSpPr>
          <p:cNvPr id="55301" name="Slide Number Placeholder 3"/>
          <p:cNvSpPr>
            <a:spLocks noGrp="1"/>
          </p:cNvSpPr>
          <p:nvPr>
            <p:ph type="sldNum" sz="quarter" idx="4294967295"/>
          </p:nvPr>
        </p:nvSpPr>
        <p:spPr bwMode="auto">
          <a:xfrm>
            <a:off x="7010400" y="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 typeface="Wingdings" panose="05000000000000000000" pitchFamily="2" charset="2"/>
              <a:buNone/>
            </a:pPr>
            <a:fld id="{D0699035-7D83-404C-89D4-E38B30302448}" type="slidenum">
              <a:rPr lang="zh-CN" altLang="en-US" sz="1200">
                <a:solidFill>
                  <a:srgbClr val="898989"/>
                </a:solidFill>
                <a:latin typeface="Verdana" panose="020B0604030504040204" pitchFamily="34" charset="0"/>
              </a:rPr>
              <a:pPr>
                <a:spcBef>
                  <a:spcPct val="50000"/>
                </a:spcBef>
                <a:buFont typeface="Wingdings" panose="05000000000000000000" pitchFamily="2" charset="2"/>
                <a:buNone/>
              </a:pPr>
              <a:t>92</a:t>
            </a:fld>
            <a:endParaRPr lang="zh-CN" altLang="en-US" sz="1200">
              <a:solidFill>
                <a:srgbClr val="898989"/>
              </a:solidFill>
              <a:latin typeface="Verdana" panose="020B0604030504040204" pitchFamily="34" charset="0"/>
            </a:endParaRPr>
          </a:p>
        </p:txBody>
      </p:sp>
      <p:sp>
        <p:nvSpPr>
          <p:cNvPr id="41" name="Rectangle 40"/>
          <p:cNvSpPr/>
          <p:nvPr/>
        </p:nvSpPr>
        <p:spPr>
          <a:xfrm>
            <a:off x="6248400" y="1752600"/>
            <a:ext cx="2687638" cy="685800"/>
          </a:xfrm>
          <a:prstGeom prst="rect">
            <a:avLst/>
          </a:prstGeom>
          <a:solidFill>
            <a:schemeClr val="tx1"/>
          </a:solidFill>
        </p:spPr>
        <p:style>
          <a:lnRef idx="1">
            <a:schemeClr val="dk1"/>
          </a:lnRef>
          <a:fillRef idx="3">
            <a:schemeClr val="dk1"/>
          </a:fillRef>
          <a:effectRef idx="2">
            <a:schemeClr val="dk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dirty="0"/>
              <a:t>Domain #0</a:t>
            </a:r>
          </a:p>
        </p:txBody>
      </p:sp>
      <p:sp>
        <p:nvSpPr>
          <p:cNvPr id="42" name="Rectangle 41"/>
          <p:cNvSpPr/>
          <p:nvPr/>
        </p:nvSpPr>
        <p:spPr>
          <a:xfrm>
            <a:off x="6248400" y="2438400"/>
            <a:ext cx="2687638" cy="685800"/>
          </a:xfrm>
          <a:prstGeom prst="rect">
            <a:avLst/>
          </a:prstGeom>
          <a:solidFill>
            <a:schemeClr val="tx2"/>
          </a:solidFill>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dirty="0"/>
              <a:t>Domain #1</a:t>
            </a:r>
          </a:p>
        </p:txBody>
      </p:sp>
      <p:sp>
        <p:nvSpPr>
          <p:cNvPr id="43" name="Rectangle 42"/>
          <p:cNvSpPr/>
          <p:nvPr/>
        </p:nvSpPr>
        <p:spPr>
          <a:xfrm>
            <a:off x="6248400" y="3124200"/>
            <a:ext cx="2687638" cy="685800"/>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dirty="0"/>
              <a:t>Domain #2</a:t>
            </a:r>
          </a:p>
        </p:txBody>
      </p:sp>
      <p:sp>
        <p:nvSpPr>
          <p:cNvPr id="44" name="Rectangle 43"/>
          <p:cNvSpPr/>
          <p:nvPr/>
        </p:nvSpPr>
        <p:spPr>
          <a:xfrm>
            <a:off x="6248400" y="3810000"/>
            <a:ext cx="2687638" cy="685800"/>
          </a:xfrm>
          <a:prstGeom prst="rect">
            <a:avLst/>
          </a:prstGeom>
          <a:solidFill>
            <a:schemeClr val="accent3">
              <a:lumMod val="50000"/>
            </a:schemeClr>
          </a:solidFill>
        </p:spPr>
        <p:style>
          <a:lnRef idx="1">
            <a:schemeClr val="accent3"/>
          </a:lnRef>
          <a:fillRef idx="3">
            <a:schemeClr val="accent3"/>
          </a:fillRef>
          <a:effectRef idx="2">
            <a:schemeClr val="accent3"/>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dirty="0"/>
              <a:t>Domain #3</a:t>
            </a:r>
          </a:p>
        </p:txBody>
      </p:sp>
      <p:grpSp>
        <p:nvGrpSpPr>
          <p:cNvPr id="2" name="Group 124"/>
          <p:cNvGrpSpPr>
            <a:grpSpLocks/>
          </p:cNvGrpSpPr>
          <p:nvPr/>
        </p:nvGrpSpPr>
        <p:grpSpPr bwMode="auto">
          <a:xfrm>
            <a:off x="6248400" y="1752600"/>
            <a:ext cx="533400" cy="2743200"/>
            <a:chOff x="3048000" y="3429000"/>
            <a:chExt cx="533400" cy="2743200"/>
          </a:xfrm>
        </p:grpSpPr>
        <p:sp>
          <p:nvSpPr>
            <p:cNvPr id="46" name="Rectangle 45"/>
            <p:cNvSpPr/>
            <p:nvPr/>
          </p:nvSpPr>
          <p:spPr>
            <a:xfrm>
              <a:off x="3048000" y="34290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0</a:t>
              </a:r>
            </a:p>
          </p:txBody>
        </p:sp>
        <p:sp>
          <p:nvSpPr>
            <p:cNvPr id="49" name="Rectangle 48"/>
            <p:cNvSpPr/>
            <p:nvPr/>
          </p:nvSpPr>
          <p:spPr>
            <a:xfrm>
              <a:off x="3048000" y="41148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1</a:t>
              </a:r>
            </a:p>
          </p:txBody>
        </p:sp>
        <p:sp>
          <p:nvSpPr>
            <p:cNvPr id="50" name="Rectangle 49"/>
            <p:cNvSpPr/>
            <p:nvPr/>
          </p:nvSpPr>
          <p:spPr>
            <a:xfrm>
              <a:off x="3048000" y="48006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2</a:t>
              </a:r>
            </a:p>
          </p:txBody>
        </p:sp>
        <p:sp>
          <p:nvSpPr>
            <p:cNvPr id="51" name="Rectangle 50"/>
            <p:cNvSpPr/>
            <p:nvPr/>
          </p:nvSpPr>
          <p:spPr>
            <a:xfrm>
              <a:off x="3048000" y="54864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3</a:t>
              </a:r>
            </a:p>
          </p:txBody>
        </p:sp>
      </p:grpSp>
      <p:grpSp>
        <p:nvGrpSpPr>
          <p:cNvPr id="4" name="Group 125"/>
          <p:cNvGrpSpPr>
            <a:grpSpLocks/>
          </p:cNvGrpSpPr>
          <p:nvPr/>
        </p:nvGrpSpPr>
        <p:grpSpPr bwMode="auto">
          <a:xfrm>
            <a:off x="6781800" y="1752600"/>
            <a:ext cx="533400" cy="2743200"/>
            <a:chOff x="3581400" y="3429000"/>
            <a:chExt cx="533400" cy="2743200"/>
          </a:xfrm>
        </p:grpSpPr>
        <p:sp>
          <p:nvSpPr>
            <p:cNvPr id="53" name="Rectangle 52"/>
            <p:cNvSpPr/>
            <p:nvPr/>
          </p:nvSpPr>
          <p:spPr>
            <a:xfrm>
              <a:off x="3581400" y="34290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4</a:t>
              </a:r>
            </a:p>
          </p:txBody>
        </p:sp>
        <p:sp>
          <p:nvSpPr>
            <p:cNvPr id="54" name="Rectangle 53"/>
            <p:cNvSpPr/>
            <p:nvPr/>
          </p:nvSpPr>
          <p:spPr>
            <a:xfrm>
              <a:off x="3581400" y="41148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5</a:t>
              </a:r>
            </a:p>
          </p:txBody>
        </p:sp>
        <p:sp>
          <p:nvSpPr>
            <p:cNvPr id="55" name="Rectangle 54"/>
            <p:cNvSpPr/>
            <p:nvPr/>
          </p:nvSpPr>
          <p:spPr>
            <a:xfrm>
              <a:off x="3581400" y="48006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6</a:t>
              </a:r>
            </a:p>
          </p:txBody>
        </p:sp>
        <p:sp>
          <p:nvSpPr>
            <p:cNvPr id="56" name="Rectangle 55"/>
            <p:cNvSpPr/>
            <p:nvPr/>
          </p:nvSpPr>
          <p:spPr>
            <a:xfrm>
              <a:off x="3581400" y="54864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7</a:t>
              </a:r>
            </a:p>
          </p:txBody>
        </p:sp>
      </p:grpSp>
      <p:grpSp>
        <p:nvGrpSpPr>
          <p:cNvPr id="5" name="Group 126"/>
          <p:cNvGrpSpPr>
            <a:grpSpLocks/>
          </p:cNvGrpSpPr>
          <p:nvPr/>
        </p:nvGrpSpPr>
        <p:grpSpPr bwMode="auto">
          <a:xfrm>
            <a:off x="7315200" y="1752600"/>
            <a:ext cx="533400" cy="2743200"/>
            <a:chOff x="4114800" y="3429000"/>
            <a:chExt cx="533400" cy="2743200"/>
          </a:xfrm>
        </p:grpSpPr>
        <p:sp>
          <p:nvSpPr>
            <p:cNvPr id="58" name="Rectangle 57"/>
            <p:cNvSpPr/>
            <p:nvPr/>
          </p:nvSpPr>
          <p:spPr>
            <a:xfrm>
              <a:off x="4114800" y="34290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8</a:t>
              </a:r>
            </a:p>
          </p:txBody>
        </p:sp>
        <p:sp>
          <p:nvSpPr>
            <p:cNvPr id="59" name="Rectangle 58"/>
            <p:cNvSpPr/>
            <p:nvPr/>
          </p:nvSpPr>
          <p:spPr>
            <a:xfrm>
              <a:off x="4114800" y="41148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9</a:t>
              </a:r>
            </a:p>
          </p:txBody>
        </p:sp>
        <p:sp>
          <p:nvSpPr>
            <p:cNvPr id="60" name="Rectangle 59"/>
            <p:cNvSpPr/>
            <p:nvPr/>
          </p:nvSpPr>
          <p:spPr>
            <a:xfrm>
              <a:off x="4114800" y="48006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10</a:t>
              </a:r>
            </a:p>
          </p:txBody>
        </p:sp>
        <p:sp>
          <p:nvSpPr>
            <p:cNvPr id="61" name="Rectangle 60"/>
            <p:cNvSpPr/>
            <p:nvPr/>
          </p:nvSpPr>
          <p:spPr>
            <a:xfrm>
              <a:off x="4114800" y="54864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11</a:t>
              </a:r>
            </a:p>
          </p:txBody>
        </p:sp>
      </p:grpSp>
      <p:grpSp>
        <p:nvGrpSpPr>
          <p:cNvPr id="6" name="Group 127"/>
          <p:cNvGrpSpPr>
            <a:grpSpLocks/>
          </p:cNvGrpSpPr>
          <p:nvPr/>
        </p:nvGrpSpPr>
        <p:grpSpPr bwMode="auto">
          <a:xfrm>
            <a:off x="7848600" y="1752600"/>
            <a:ext cx="533400" cy="2743200"/>
            <a:chOff x="4648200" y="3429000"/>
            <a:chExt cx="533400" cy="2743200"/>
          </a:xfrm>
        </p:grpSpPr>
        <p:sp>
          <p:nvSpPr>
            <p:cNvPr id="63" name="Rectangle 62"/>
            <p:cNvSpPr/>
            <p:nvPr/>
          </p:nvSpPr>
          <p:spPr>
            <a:xfrm>
              <a:off x="4648200" y="34290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12</a:t>
              </a:r>
            </a:p>
          </p:txBody>
        </p:sp>
        <p:sp>
          <p:nvSpPr>
            <p:cNvPr id="64" name="Rectangle 63"/>
            <p:cNvSpPr/>
            <p:nvPr/>
          </p:nvSpPr>
          <p:spPr>
            <a:xfrm>
              <a:off x="4648200" y="41148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13</a:t>
              </a:r>
            </a:p>
          </p:txBody>
        </p:sp>
        <p:sp>
          <p:nvSpPr>
            <p:cNvPr id="65" name="Rectangle 64"/>
            <p:cNvSpPr/>
            <p:nvPr/>
          </p:nvSpPr>
          <p:spPr>
            <a:xfrm>
              <a:off x="4648200" y="48006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14</a:t>
              </a:r>
            </a:p>
          </p:txBody>
        </p:sp>
        <p:sp>
          <p:nvSpPr>
            <p:cNvPr id="66" name="Rectangle 65"/>
            <p:cNvSpPr/>
            <p:nvPr/>
          </p:nvSpPr>
          <p:spPr>
            <a:xfrm>
              <a:off x="4648200" y="54864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15</a:t>
              </a:r>
            </a:p>
          </p:txBody>
        </p:sp>
      </p:grpSp>
      <p:grpSp>
        <p:nvGrpSpPr>
          <p:cNvPr id="7" name="Group 128"/>
          <p:cNvGrpSpPr>
            <a:grpSpLocks/>
          </p:cNvGrpSpPr>
          <p:nvPr/>
        </p:nvGrpSpPr>
        <p:grpSpPr bwMode="auto">
          <a:xfrm>
            <a:off x="8382000" y="1752600"/>
            <a:ext cx="533400" cy="2743200"/>
            <a:chOff x="5181600" y="3429000"/>
            <a:chExt cx="533400" cy="2743200"/>
          </a:xfrm>
        </p:grpSpPr>
        <p:sp>
          <p:nvSpPr>
            <p:cNvPr id="68" name="Rectangle 67"/>
            <p:cNvSpPr/>
            <p:nvPr/>
          </p:nvSpPr>
          <p:spPr>
            <a:xfrm>
              <a:off x="5181600" y="34290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16</a:t>
              </a:r>
            </a:p>
          </p:txBody>
        </p:sp>
        <p:sp>
          <p:nvSpPr>
            <p:cNvPr id="69" name="Rectangle 68"/>
            <p:cNvSpPr/>
            <p:nvPr/>
          </p:nvSpPr>
          <p:spPr>
            <a:xfrm>
              <a:off x="5181600" y="41148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17</a:t>
              </a:r>
            </a:p>
          </p:txBody>
        </p:sp>
        <p:sp>
          <p:nvSpPr>
            <p:cNvPr id="70" name="Rectangle 69"/>
            <p:cNvSpPr/>
            <p:nvPr/>
          </p:nvSpPr>
          <p:spPr>
            <a:xfrm>
              <a:off x="5181600" y="48006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18</a:t>
              </a:r>
            </a:p>
          </p:txBody>
        </p:sp>
        <p:sp>
          <p:nvSpPr>
            <p:cNvPr id="71" name="Rectangle 70"/>
            <p:cNvSpPr/>
            <p:nvPr/>
          </p:nvSpPr>
          <p:spPr>
            <a:xfrm>
              <a:off x="5181600" y="5486400"/>
              <a:ext cx="533400" cy="6858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19</a:t>
              </a:r>
            </a:p>
          </p:txBody>
        </p:sp>
      </p:grpSp>
      <p:sp>
        <p:nvSpPr>
          <p:cNvPr id="87" name="Rectangle 86"/>
          <p:cNvSpPr/>
          <p:nvPr/>
        </p:nvSpPr>
        <p:spPr>
          <a:xfrm>
            <a:off x="6019800" y="4648200"/>
            <a:ext cx="3124200" cy="40005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a:spAutoFit/>
          </a:bodyP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buFont typeface="Wingdings" pitchFamily="2" charset="2"/>
              <a:buNone/>
              <a:defRPr/>
            </a:pPr>
            <a:r>
              <a:rPr lang="en-US" altLang="en-US" b="1" smtClean="0">
                <a:solidFill>
                  <a:schemeClr val="tx1"/>
                </a:solidFill>
                <a:latin typeface="Calibri" pitchFamily="34" charset="0"/>
              </a:rPr>
              <a:t>Sequential overwrite</a:t>
            </a:r>
            <a:endParaRPr lang="en-US" altLang="en-US" b="1" smtClean="0">
              <a:solidFill>
                <a:srgbClr val="C00000"/>
              </a:solidFill>
              <a:latin typeface="Calibri" pitchFamily="34" charset="0"/>
            </a:endParaRPr>
          </a:p>
        </p:txBody>
      </p:sp>
      <p:grpSp>
        <p:nvGrpSpPr>
          <p:cNvPr id="8" name="Group 104"/>
          <p:cNvGrpSpPr>
            <a:grpSpLocks/>
          </p:cNvGrpSpPr>
          <p:nvPr/>
        </p:nvGrpSpPr>
        <p:grpSpPr bwMode="auto">
          <a:xfrm>
            <a:off x="4800600" y="1676400"/>
            <a:ext cx="1533525" cy="2108200"/>
            <a:chOff x="4410809" y="2057400"/>
            <a:chExt cx="1532791" cy="2108775"/>
          </a:xfrm>
        </p:grpSpPr>
        <p:sp>
          <p:nvSpPr>
            <p:cNvPr id="93" name="Notched Right Arrow 92"/>
            <p:cNvSpPr/>
            <p:nvPr/>
          </p:nvSpPr>
          <p:spPr>
            <a:xfrm>
              <a:off x="5029638" y="2895829"/>
              <a:ext cx="609308" cy="685987"/>
            </a:xfrm>
            <a:prstGeom prst="notchedRightArrow">
              <a:avLst/>
            </a:prstGeom>
          </p:spPr>
          <p:style>
            <a:lnRef idx="1">
              <a:schemeClr val="accent2"/>
            </a:lnRef>
            <a:fillRef idx="3">
              <a:schemeClr val="accent2"/>
            </a:fillRef>
            <a:effectRef idx="2">
              <a:schemeClr val="accent2"/>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1</a:t>
              </a:r>
            </a:p>
          </p:txBody>
        </p:sp>
        <p:sp>
          <p:nvSpPr>
            <p:cNvPr id="96" name="Notched Right Arrow 95"/>
            <p:cNvSpPr/>
            <p:nvPr/>
          </p:nvSpPr>
          <p:spPr>
            <a:xfrm>
              <a:off x="5029638" y="2057400"/>
              <a:ext cx="609308" cy="685987"/>
            </a:xfrm>
            <a:prstGeom prst="notchedRightArrow">
              <a:avLst/>
            </a:prstGeom>
          </p:spPr>
          <p:style>
            <a:lnRef idx="1">
              <a:schemeClr val="accent2"/>
            </a:lnRef>
            <a:fillRef idx="3">
              <a:schemeClr val="accent2"/>
            </a:fillRef>
            <a:effectRef idx="2">
              <a:schemeClr val="accent2"/>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0</a:t>
              </a:r>
            </a:p>
          </p:txBody>
        </p:sp>
        <p:sp>
          <p:nvSpPr>
            <p:cNvPr id="55339" name="Rectangle 101"/>
            <p:cNvSpPr>
              <a:spLocks noChangeArrowheads="1"/>
            </p:cNvSpPr>
            <p:nvPr/>
          </p:nvSpPr>
          <p:spPr bwMode="auto">
            <a:xfrm>
              <a:off x="4410809" y="3581400"/>
              <a:ext cx="153279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Wingdings" panose="05000000000000000000" pitchFamily="2" charset="2"/>
                <a:buNone/>
              </a:pPr>
              <a:r>
                <a:rPr lang="en-US" altLang="en-US" sz="1600" b="1">
                  <a:solidFill>
                    <a:srgbClr val="C00000"/>
                  </a:solidFill>
                  <a:latin typeface="Verdana" panose="020B0604030504040204" pitchFamily="34" charset="0"/>
                </a:rPr>
                <a:t>High</a:t>
              </a:r>
            </a:p>
            <a:p>
              <a:pPr algn="ctr" eaLnBrk="1" hangingPunct="1">
                <a:spcBef>
                  <a:spcPct val="0"/>
                </a:spcBef>
                <a:buFont typeface="Wingdings" panose="05000000000000000000" pitchFamily="2" charset="2"/>
                <a:buNone/>
              </a:pPr>
              <a:r>
                <a:rPr lang="en-US" altLang="en-US" sz="1600" b="1">
                  <a:solidFill>
                    <a:srgbClr val="C00000"/>
                  </a:solidFill>
                  <a:latin typeface="Verdana" panose="020B0604030504040204" pitchFamily="34" charset="0"/>
                </a:rPr>
                <a:t>Throughput</a:t>
              </a:r>
            </a:p>
          </p:txBody>
        </p:sp>
      </p:grpSp>
      <p:grpSp>
        <p:nvGrpSpPr>
          <p:cNvPr id="9" name="Group 103"/>
          <p:cNvGrpSpPr>
            <a:grpSpLocks/>
          </p:cNvGrpSpPr>
          <p:nvPr/>
        </p:nvGrpSpPr>
        <p:grpSpPr bwMode="auto">
          <a:xfrm>
            <a:off x="2590800" y="1676400"/>
            <a:ext cx="2743200" cy="685800"/>
            <a:chOff x="1981200" y="2057400"/>
            <a:chExt cx="2743200" cy="685800"/>
          </a:xfrm>
        </p:grpSpPr>
        <p:sp>
          <p:nvSpPr>
            <p:cNvPr id="98" name="Notched Right Arrow 97"/>
            <p:cNvSpPr/>
            <p:nvPr/>
          </p:nvSpPr>
          <p:spPr>
            <a:xfrm>
              <a:off x="4114800" y="2057400"/>
              <a:ext cx="609600" cy="685800"/>
            </a:xfrm>
            <a:prstGeom prst="notchedRightArrow">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0</a:t>
              </a:r>
            </a:p>
          </p:txBody>
        </p:sp>
        <p:sp>
          <p:nvSpPr>
            <p:cNvPr id="99" name="Notched Right Arrow 98"/>
            <p:cNvSpPr/>
            <p:nvPr/>
          </p:nvSpPr>
          <p:spPr>
            <a:xfrm>
              <a:off x="3505200" y="2057400"/>
              <a:ext cx="609600" cy="685800"/>
            </a:xfrm>
            <a:prstGeom prst="notchedRightArrow">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4</a:t>
              </a:r>
            </a:p>
          </p:txBody>
        </p:sp>
        <p:sp>
          <p:nvSpPr>
            <p:cNvPr id="55336" name="Rectangle 102"/>
            <p:cNvSpPr>
              <a:spLocks noChangeArrowheads="1"/>
            </p:cNvSpPr>
            <p:nvPr/>
          </p:nvSpPr>
          <p:spPr bwMode="auto">
            <a:xfrm>
              <a:off x="1981200" y="2133600"/>
              <a:ext cx="153279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Wingdings" panose="05000000000000000000" pitchFamily="2" charset="2"/>
                <a:buNone/>
              </a:pPr>
              <a:r>
                <a:rPr lang="en-US" altLang="en-US" sz="1600" b="1">
                  <a:solidFill>
                    <a:schemeClr val="tx2"/>
                  </a:solidFill>
                  <a:latin typeface="Verdana" panose="020B0604030504040204" pitchFamily="34" charset="0"/>
                </a:rPr>
                <a:t>Low</a:t>
              </a:r>
            </a:p>
            <a:p>
              <a:pPr algn="ctr" eaLnBrk="1" hangingPunct="1">
                <a:spcBef>
                  <a:spcPct val="0"/>
                </a:spcBef>
                <a:buFont typeface="Wingdings" panose="05000000000000000000" pitchFamily="2" charset="2"/>
                <a:buNone/>
              </a:pPr>
              <a:r>
                <a:rPr lang="en-US" altLang="en-US" sz="1600" b="1">
                  <a:solidFill>
                    <a:schemeClr val="tx2"/>
                  </a:solidFill>
                  <a:latin typeface="Verdana" panose="020B0604030504040204" pitchFamily="34" charset="0"/>
                </a:rPr>
                <a:t>Throughput</a:t>
              </a:r>
            </a:p>
          </p:txBody>
        </p:sp>
      </p:grpSp>
      <p:grpSp>
        <p:nvGrpSpPr>
          <p:cNvPr id="10" name="Group 14"/>
          <p:cNvGrpSpPr>
            <a:grpSpLocks/>
          </p:cNvGrpSpPr>
          <p:nvPr/>
        </p:nvGrpSpPr>
        <p:grpSpPr bwMode="auto">
          <a:xfrm>
            <a:off x="762000" y="3438525"/>
            <a:ext cx="4848225" cy="1209675"/>
            <a:chOff x="4108466" y="5584688"/>
            <a:chExt cx="4848123" cy="1209020"/>
          </a:xfrm>
        </p:grpSpPr>
        <p:cxnSp>
          <p:nvCxnSpPr>
            <p:cNvPr id="122" name="Straight Arrow Connector 121"/>
            <p:cNvCxnSpPr/>
            <p:nvPr/>
          </p:nvCxnSpPr>
          <p:spPr>
            <a:xfrm>
              <a:off x="4718053" y="5584688"/>
              <a:ext cx="1193775" cy="685429"/>
            </a:xfrm>
            <a:prstGeom prst="straightConnector1">
              <a:avLst/>
            </a:prstGeom>
            <a:ln w="38100">
              <a:solidFill>
                <a:schemeClr val="tx2"/>
              </a:solidFill>
              <a:prstDash val="solid"/>
              <a:headEnd type="arrow"/>
              <a:tailEnd type="none"/>
            </a:ln>
          </p:spPr>
          <p:style>
            <a:lnRef idx="1">
              <a:schemeClr val="accent1"/>
            </a:lnRef>
            <a:fillRef idx="0">
              <a:schemeClr val="accent1"/>
            </a:fillRef>
            <a:effectRef idx="0">
              <a:schemeClr val="accent1"/>
            </a:effectRef>
            <a:fontRef idx="minor">
              <a:schemeClr val="tx1"/>
            </a:fontRef>
          </p:style>
        </p:cxnSp>
        <p:sp>
          <p:nvSpPr>
            <p:cNvPr id="121" name="Rectangle 120"/>
            <p:cNvSpPr/>
            <p:nvPr/>
          </p:nvSpPr>
          <p:spPr>
            <a:xfrm>
              <a:off x="4108466" y="6270117"/>
              <a:ext cx="4848123" cy="523591"/>
            </a:xfrm>
            <a:prstGeom prst="rect">
              <a:avLst/>
            </a:prstGeom>
          </p:spPr>
          <p:style>
            <a:lnRef idx="1">
              <a:schemeClr val="accent1"/>
            </a:lnRef>
            <a:fillRef idx="3">
              <a:schemeClr val="accent1"/>
            </a:fillRef>
            <a:effectRef idx="2">
              <a:schemeClr val="accent1"/>
            </a:effectRef>
            <a:fontRef idx="minor">
              <a:schemeClr val="lt1"/>
            </a:fontRef>
          </p:style>
          <p:txBody>
            <a:bodyPr wrap="none">
              <a:spAutoFit/>
            </a:bodyPr>
            <a:lstStyle/>
            <a:p>
              <a:pPr algn="ctr" eaLnBrk="1" hangingPunct="1">
                <a:spcBef>
                  <a:spcPts val="0"/>
                </a:spcBef>
                <a:spcAft>
                  <a:spcPts val="0"/>
                </a:spcAft>
                <a:buFont typeface="Wingdings" pitchFamily="2" charset="2"/>
                <a:buNone/>
                <a:defRPr/>
              </a:pPr>
              <a:r>
                <a:rPr lang="en-US" sz="2800" b="1" dirty="0">
                  <a:solidFill>
                    <a:schemeClr val="bg1"/>
                  </a:solidFill>
                </a:rPr>
                <a:t>Reads in 1 domain (Low points)</a:t>
              </a:r>
            </a:p>
          </p:txBody>
        </p:sp>
      </p:grpSp>
      <p:grpSp>
        <p:nvGrpSpPr>
          <p:cNvPr id="11" name="Group 14"/>
          <p:cNvGrpSpPr>
            <a:grpSpLocks/>
          </p:cNvGrpSpPr>
          <p:nvPr/>
        </p:nvGrpSpPr>
        <p:grpSpPr bwMode="auto">
          <a:xfrm>
            <a:off x="277813" y="2133600"/>
            <a:ext cx="5056187" cy="990600"/>
            <a:chOff x="3625254" y="5181600"/>
            <a:chExt cx="5055616" cy="990600"/>
          </a:xfrm>
        </p:grpSpPr>
        <p:cxnSp>
          <p:nvCxnSpPr>
            <p:cNvPr id="79" name="Straight Arrow Connector 78"/>
            <p:cNvCxnSpPr/>
            <p:nvPr/>
          </p:nvCxnSpPr>
          <p:spPr>
            <a:xfrm rot="5400000" flipH="1" flipV="1">
              <a:off x="3891898" y="5753122"/>
              <a:ext cx="457200" cy="380957"/>
            </a:xfrm>
            <a:prstGeom prst="straightConnector1">
              <a:avLst/>
            </a:prstGeom>
            <a:ln w="38100">
              <a:solidFill>
                <a:srgbClr val="C00000"/>
              </a:solidFill>
              <a:prstDash val="solid"/>
              <a:headEnd type="arrow"/>
              <a:tailEnd type="none"/>
            </a:ln>
          </p:spPr>
          <p:style>
            <a:lnRef idx="1">
              <a:schemeClr val="accent1"/>
            </a:lnRef>
            <a:fillRef idx="0">
              <a:schemeClr val="accent1"/>
            </a:fillRef>
            <a:effectRef idx="0">
              <a:schemeClr val="accent1"/>
            </a:effectRef>
            <a:fontRef idx="minor">
              <a:schemeClr val="tx1"/>
            </a:fontRef>
          </p:style>
        </p:cxnSp>
        <p:sp>
          <p:nvSpPr>
            <p:cNvPr id="80" name="Rectangle 79"/>
            <p:cNvSpPr/>
            <p:nvPr/>
          </p:nvSpPr>
          <p:spPr>
            <a:xfrm>
              <a:off x="3625254" y="5181600"/>
              <a:ext cx="5055616" cy="523875"/>
            </a:xfrm>
            <a:prstGeom prst="rect">
              <a:avLst/>
            </a:prstGeom>
          </p:spPr>
          <p:style>
            <a:lnRef idx="1">
              <a:schemeClr val="accent2"/>
            </a:lnRef>
            <a:fillRef idx="3">
              <a:schemeClr val="accent2"/>
            </a:fillRef>
            <a:effectRef idx="2">
              <a:schemeClr val="accent2"/>
            </a:effectRef>
            <a:fontRef idx="minor">
              <a:schemeClr val="lt1"/>
            </a:fontRef>
          </p:style>
          <p:txBody>
            <a:bodyPr wrap="none">
              <a:spAutoFit/>
            </a:bodyPr>
            <a:lstStyle/>
            <a:p>
              <a:pPr algn="ctr" eaLnBrk="1" hangingPunct="1">
                <a:spcBef>
                  <a:spcPts val="0"/>
                </a:spcBef>
                <a:spcAft>
                  <a:spcPts val="0"/>
                </a:spcAft>
                <a:buFont typeface="Wingdings" pitchFamily="2" charset="2"/>
                <a:buNone/>
                <a:defRPr/>
              </a:pPr>
              <a:r>
                <a:rPr lang="en-US" sz="2800" b="1" dirty="0">
                  <a:solidFill>
                    <a:schemeClr val="bg1"/>
                  </a:solidFill>
                </a:rPr>
                <a:t>Reads in 2 domains (High points)</a:t>
              </a:r>
            </a:p>
          </p:txBody>
        </p:sp>
      </p:grpSp>
      <p:sp>
        <p:nvSpPr>
          <p:cNvPr id="89" name="Rectangle 88"/>
          <p:cNvSpPr/>
          <p:nvPr/>
        </p:nvSpPr>
        <p:spPr>
          <a:xfrm>
            <a:off x="6248400" y="1752600"/>
            <a:ext cx="533400" cy="685800"/>
          </a:xfrm>
          <a:prstGeom prst="rect">
            <a:avLst/>
          </a:prstGeom>
          <a:solidFill>
            <a:schemeClr val="bg1">
              <a:alpha val="50000"/>
            </a:schemeClr>
          </a:solidFill>
          <a:ln w="38100">
            <a:solidFill>
              <a:srgbClr val="C00000"/>
            </a:solidFill>
          </a:ln>
        </p:spPr>
        <p:style>
          <a:lnRef idx="2">
            <a:schemeClr val="accent2"/>
          </a:lnRef>
          <a:fillRef idx="1">
            <a:schemeClr val="lt1"/>
          </a:fillRef>
          <a:effectRef idx="0">
            <a:schemeClr val="accent2"/>
          </a:effectRef>
          <a:fontRef idx="minor">
            <a:schemeClr val="dk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None/>
              <a:defRPr/>
            </a:pPr>
            <a:endParaRPr lang="en-US" altLang="en-US" b="1" smtClean="0">
              <a:solidFill>
                <a:srgbClr val="000000"/>
              </a:solidFill>
              <a:latin typeface="Calibri" pitchFamily="34" charset="0"/>
            </a:endParaRPr>
          </a:p>
        </p:txBody>
      </p:sp>
      <p:sp>
        <p:nvSpPr>
          <p:cNvPr id="90" name="Rectangle 89"/>
          <p:cNvSpPr/>
          <p:nvPr/>
        </p:nvSpPr>
        <p:spPr>
          <a:xfrm>
            <a:off x="6248400" y="2438400"/>
            <a:ext cx="533400" cy="685800"/>
          </a:xfrm>
          <a:prstGeom prst="rect">
            <a:avLst/>
          </a:prstGeom>
          <a:solidFill>
            <a:schemeClr val="bg1">
              <a:alpha val="50000"/>
            </a:schemeClr>
          </a:solidFill>
          <a:ln w="38100">
            <a:solidFill>
              <a:srgbClr val="C00000"/>
            </a:solidFill>
          </a:ln>
        </p:spPr>
        <p:style>
          <a:lnRef idx="2">
            <a:schemeClr val="accent2"/>
          </a:lnRef>
          <a:fillRef idx="1">
            <a:schemeClr val="lt1"/>
          </a:fillRef>
          <a:effectRef idx="0">
            <a:schemeClr val="accent2"/>
          </a:effectRef>
          <a:fontRef idx="minor">
            <a:schemeClr val="dk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None/>
              <a:defRPr/>
            </a:pPr>
            <a:endParaRPr lang="en-US" altLang="en-US" b="1" smtClean="0">
              <a:solidFill>
                <a:srgbClr val="000000"/>
              </a:solidFill>
              <a:latin typeface="Calibri" pitchFamily="34" charset="0"/>
            </a:endParaRPr>
          </a:p>
        </p:txBody>
      </p:sp>
      <p:sp>
        <p:nvSpPr>
          <p:cNvPr id="91" name="Rectangle 90"/>
          <p:cNvSpPr/>
          <p:nvPr/>
        </p:nvSpPr>
        <p:spPr>
          <a:xfrm>
            <a:off x="6248400" y="3124200"/>
            <a:ext cx="533400" cy="685800"/>
          </a:xfrm>
          <a:prstGeom prst="rect">
            <a:avLst/>
          </a:prstGeom>
          <a:solidFill>
            <a:schemeClr val="bg1">
              <a:alpha val="50000"/>
            </a:schemeClr>
          </a:solidFill>
          <a:ln w="38100">
            <a:solidFill>
              <a:srgbClr val="C00000"/>
            </a:solidFill>
          </a:ln>
        </p:spPr>
        <p:style>
          <a:lnRef idx="2">
            <a:schemeClr val="accent2"/>
          </a:lnRef>
          <a:fillRef idx="1">
            <a:schemeClr val="lt1"/>
          </a:fillRef>
          <a:effectRef idx="0">
            <a:schemeClr val="accent2"/>
          </a:effectRef>
          <a:fontRef idx="minor">
            <a:schemeClr val="dk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None/>
              <a:defRPr/>
            </a:pPr>
            <a:endParaRPr lang="en-US" altLang="en-US" b="1" smtClean="0">
              <a:solidFill>
                <a:srgbClr val="000000"/>
              </a:solidFill>
              <a:latin typeface="Calibri" pitchFamily="34" charset="0"/>
            </a:endParaRPr>
          </a:p>
        </p:txBody>
      </p:sp>
      <p:sp>
        <p:nvSpPr>
          <p:cNvPr id="92" name="Rectangle 91"/>
          <p:cNvSpPr/>
          <p:nvPr/>
        </p:nvSpPr>
        <p:spPr>
          <a:xfrm>
            <a:off x="6248400" y="3810000"/>
            <a:ext cx="533400" cy="685800"/>
          </a:xfrm>
          <a:prstGeom prst="rect">
            <a:avLst/>
          </a:prstGeom>
          <a:solidFill>
            <a:schemeClr val="bg1">
              <a:alpha val="50000"/>
            </a:schemeClr>
          </a:solidFill>
          <a:ln w="38100">
            <a:solidFill>
              <a:srgbClr val="C00000"/>
            </a:solidFill>
          </a:ln>
        </p:spPr>
        <p:style>
          <a:lnRef idx="2">
            <a:schemeClr val="accent2"/>
          </a:lnRef>
          <a:fillRef idx="1">
            <a:schemeClr val="lt1"/>
          </a:fillRef>
          <a:effectRef idx="0">
            <a:schemeClr val="accent2"/>
          </a:effectRef>
          <a:fontRef idx="minor">
            <a:schemeClr val="dk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None/>
              <a:defRPr/>
            </a:pPr>
            <a:endParaRPr lang="en-US" altLang="en-US" b="1" smtClean="0">
              <a:solidFill>
                <a:srgbClr val="000000"/>
              </a:solidFill>
              <a:latin typeface="Calibri" pitchFamily="34" charset="0"/>
            </a:endParaRPr>
          </a:p>
        </p:txBody>
      </p:sp>
      <p:sp>
        <p:nvSpPr>
          <p:cNvPr id="94" name="Rectangle 93"/>
          <p:cNvSpPr/>
          <p:nvPr/>
        </p:nvSpPr>
        <p:spPr>
          <a:xfrm>
            <a:off x="6781800" y="3810000"/>
            <a:ext cx="533400" cy="685800"/>
          </a:xfrm>
          <a:prstGeom prst="rect">
            <a:avLst/>
          </a:prstGeom>
          <a:solidFill>
            <a:schemeClr val="bg1">
              <a:alpha val="50000"/>
            </a:schemeClr>
          </a:solidFill>
          <a:ln w="38100">
            <a:solidFill>
              <a:srgbClr val="C00000"/>
            </a:solidFill>
          </a:ln>
        </p:spPr>
        <p:style>
          <a:lnRef idx="2">
            <a:schemeClr val="accent2"/>
          </a:lnRef>
          <a:fillRef idx="1">
            <a:schemeClr val="lt1"/>
          </a:fillRef>
          <a:effectRef idx="0">
            <a:schemeClr val="accent2"/>
          </a:effectRef>
          <a:fontRef idx="minor">
            <a:schemeClr val="dk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None/>
              <a:defRPr/>
            </a:pPr>
            <a:endParaRPr lang="en-US" altLang="en-US" b="1" smtClean="0">
              <a:solidFill>
                <a:srgbClr val="000000"/>
              </a:solidFill>
              <a:latin typeface="Calibri" pitchFamily="34" charset="0"/>
            </a:endParaRPr>
          </a:p>
        </p:txBody>
      </p:sp>
      <p:sp>
        <p:nvSpPr>
          <p:cNvPr id="100" name="Rectangle 99"/>
          <p:cNvSpPr/>
          <p:nvPr/>
        </p:nvSpPr>
        <p:spPr>
          <a:xfrm>
            <a:off x="6781800" y="2438400"/>
            <a:ext cx="533400" cy="685800"/>
          </a:xfrm>
          <a:prstGeom prst="rect">
            <a:avLst/>
          </a:prstGeom>
          <a:solidFill>
            <a:schemeClr val="bg1">
              <a:alpha val="50000"/>
            </a:schemeClr>
          </a:solidFill>
          <a:ln w="38100">
            <a:solidFill>
              <a:srgbClr val="C00000"/>
            </a:solidFill>
          </a:ln>
        </p:spPr>
        <p:style>
          <a:lnRef idx="2">
            <a:schemeClr val="accent2"/>
          </a:lnRef>
          <a:fillRef idx="1">
            <a:schemeClr val="lt1"/>
          </a:fillRef>
          <a:effectRef idx="0">
            <a:schemeClr val="accent2"/>
          </a:effectRef>
          <a:fontRef idx="minor">
            <a:schemeClr val="dk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None/>
              <a:defRPr/>
            </a:pPr>
            <a:endParaRPr lang="en-US" altLang="en-US" b="1" smtClean="0">
              <a:solidFill>
                <a:srgbClr val="000000"/>
              </a:solidFill>
              <a:latin typeface="Calibri" pitchFamily="34" charset="0"/>
            </a:endParaRPr>
          </a:p>
        </p:txBody>
      </p:sp>
      <p:sp>
        <p:nvSpPr>
          <p:cNvPr id="101" name="Rectangle 100"/>
          <p:cNvSpPr/>
          <p:nvPr/>
        </p:nvSpPr>
        <p:spPr>
          <a:xfrm>
            <a:off x="6781800" y="3124200"/>
            <a:ext cx="533400" cy="685800"/>
          </a:xfrm>
          <a:prstGeom prst="rect">
            <a:avLst/>
          </a:prstGeom>
          <a:solidFill>
            <a:schemeClr val="bg1">
              <a:alpha val="50000"/>
            </a:schemeClr>
          </a:solidFill>
          <a:ln w="38100">
            <a:solidFill>
              <a:srgbClr val="C00000"/>
            </a:solidFill>
          </a:ln>
        </p:spPr>
        <p:style>
          <a:lnRef idx="2">
            <a:schemeClr val="accent2"/>
          </a:lnRef>
          <a:fillRef idx="1">
            <a:schemeClr val="lt1"/>
          </a:fillRef>
          <a:effectRef idx="0">
            <a:schemeClr val="accent2"/>
          </a:effectRef>
          <a:fontRef idx="minor">
            <a:schemeClr val="dk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None/>
              <a:defRPr/>
            </a:pPr>
            <a:endParaRPr lang="en-US" altLang="en-US" b="1" smtClean="0">
              <a:solidFill>
                <a:srgbClr val="000000"/>
              </a:solidFill>
              <a:latin typeface="Calibri" pitchFamily="34" charset="0"/>
            </a:endParaRPr>
          </a:p>
        </p:txBody>
      </p:sp>
      <p:grpSp>
        <p:nvGrpSpPr>
          <p:cNvPr id="12" name="Group 122"/>
          <p:cNvGrpSpPr>
            <a:grpSpLocks/>
          </p:cNvGrpSpPr>
          <p:nvPr/>
        </p:nvGrpSpPr>
        <p:grpSpPr bwMode="auto">
          <a:xfrm>
            <a:off x="6248400" y="1752600"/>
            <a:ext cx="1066800" cy="685800"/>
            <a:chOff x="6248400" y="1752600"/>
            <a:chExt cx="1066800" cy="685800"/>
          </a:xfrm>
        </p:grpSpPr>
        <p:sp>
          <p:nvSpPr>
            <p:cNvPr id="97" name="Rectangle 96"/>
            <p:cNvSpPr/>
            <p:nvPr/>
          </p:nvSpPr>
          <p:spPr>
            <a:xfrm>
              <a:off x="6781800" y="1752600"/>
              <a:ext cx="533400" cy="685800"/>
            </a:xfrm>
            <a:prstGeom prst="rect">
              <a:avLst/>
            </a:prstGeom>
            <a:solidFill>
              <a:schemeClr val="accent1">
                <a:alpha val="50000"/>
              </a:schemeClr>
            </a:solidFill>
            <a:ln w="38100">
              <a:solidFill>
                <a:schemeClr val="tx2">
                  <a:lumMod val="75000"/>
                </a:schemeClr>
              </a:solidFill>
            </a:ln>
          </p:spPr>
          <p:style>
            <a:lnRef idx="2">
              <a:schemeClr val="accent2"/>
            </a:lnRef>
            <a:fillRef idx="1">
              <a:schemeClr val="lt1"/>
            </a:fillRef>
            <a:effectRef idx="0">
              <a:schemeClr val="accent2"/>
            </a:effectRef>
            <a:fontRef idx="minor">
              <a:schemeClr val="dk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None/>
                <a:defRPr/>
              </a:pPr>
              <a:endParaRPr lang="en-US" altLang="en-US" b="1" smtClean="0">
                <a:solidFill>
                  <a:srgbClr val="000000"/>
                </a:solidFill>
                <a:latin typeface="Calibri" pitchFamily="34" charset="0"/>
              </a:endParaRPr>
            </a:p>
          </p:txBody>
        </p:sp>
        <p:sp>
          <p:nvSpPr>
            <p:cNvPr id="109" name="Rectangle 108"/>
            <p:cNvSpPr/>
            <p:nvPr/>
          </p:nvSpPr>
          <p:spPr>
            <a:xfrm>
              <a:off x="6248400" y="1752600"/>
              <a:ext cx="533400" cy="685800"/>
            </a:xfrm>
            <a:prstGeom prst="rect">
              <a:avLst/>
            </a:prstGeom>
            <a:solidFill>
              <a:schemeClr val="accent1">
                <a:alpha val="50000"/>
              </a:schemeClr>
            </a:solidFill>
            <a:ln w="38100">
              <a:solidFill>
                <a:schemeClr val="tx2">
                  <a:lumMod val="75000"/>
                </a:schemeClr>
              </a:solidFill>
            </a:ln>
          </p:spPr>
          <p:style>
            <a:lnRef idx="2">
              <a:schemeClr val="accent2"/>
            </a:lnRef>
            <a:fillRef idx="1">
              <a:schemeClr val="lt1"/>
            </a:fillRef>
            <a:effectRef idx="0">
              <a:schemeClr val="accent2"/>
            </a:effectRef>
            <a:fontRef idx="minor">
              <a:schemeClr val="dk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None/>
                <a:defRPr/>
              </a:pPr>
              <a:endParaRPr lang="en-US" altLang="en-US" b="1" smtClean="0">
                <a:solidFill>
                  <a:srgbClr val="000000"/>
                </a:solidFill>
                <a:latin typeface="Calibri" pitchFamily="34" charset="0"/>
              </a:endParaRPr>
            </a:p>
          </p:txBody>
        </p:sp>
      </p:grpSp>
      <p:grpSp>
        <p:nvGrpSpPr>
          <p:cNvPr id="13" name="Group 123"/>
          <p:cNvGrpSpPr>
            <a:grpSpLocks/>
          </p:cNvGrpSpPr>
          <p:nvPr/>
        </p:nvGrpSpPr>
        <p:grpSpPr bwMode="auto">
          <a:xfrm>
            <a:off x="6248400" y="1752600"/>
            <a:ext cx="1600200" cy="685800"/>
            <a:chOff x="6248400" y="1752600"/>
            <a:chExt cx="1600200" cy="685800"/>
          </a:xfrm>
        </p:grpSpPr>
        <p:sp>
          <p:nvSpPr>
            <p:cNvPr id="125" name="Rectangle 124"/>
            <p:cNvSpPr/>
            <p:nvPr/>
          </p:nvSpPr>
          <p:spPr>
            <a:xfrm>
              <a:off x="7315200" y="1752600"/>
              <a:ext cx="533400" cy="685800"/>
            </a:xfrm>
            <a:prstGeom prst="rect">
              <a:avLst/>
            </a:prstGeom>
            <a:solidFill>
              <a:schemeClr val="accent1">
                <a:alpha val="50000"/>
              </a:schemeClr>
            </a:solidFill>
            <a:ln w="38100">
              <a:solidFill>
                <a:schemeClr val="tx2">
                  <a:lumMod val="75000"/>
                </a:schemeClr>
              </a:solidFill>
            </a:ln>
          </p:spPr>
          <p:style>
            <a:lnRef idx="2">
              <a:schemeClr val="accent2"/>
            </a:lnRef>
            <a:fillRef idx="1">
              <a:schemeClr val="lt1"/>
            </a:fillRef>
            <a:effectRef idx="0">
              <a:schemeClr val="accent2"/>
            </a:effectRef>
            <a:fontRef idx="minor">
              <a:schemeClr val="dk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None/>
                <a:defRPr/>
              </a:pPr>
              <a:endParaRPr lang="en-US" altLang="en-US" b="1" smtClean="0">
                <a:solidFill>
                  <a:srgbClr val="000000"/>
                </a:solidFill>
                <a:latin typeface="Calibri" pitchFamily="34" charset="0"/>
              </a:endParaRPr>
            </a:p>
          </p:txBody>
        </p:sp>
        <p:sp>
          <p:nvSpPr>
            <p:cNvPr id="126" name="Rectangle 125"/>
            <p:cNvSpPr/>
            <p:nvPr/>
          </p:nvSpPr>
          <p:spPr>
            <a:xfrm>
              <a:off x="6248400" y="1752600"/>
              <a:ext cx="533400" cy="685800"/>
            </a:xfrm>
            <a:prstGeom prst="rect">
              <a:avLst/>
            </a:prstGeom>
            <a:solidFill>
              <a:schemeClr val="accent1">
                <a:alpha val="50000"/>
              </a:schemeClr>
            </a:solidFill>
            <a:ln w="38100">
              <a:solidFill>
                <a:schemeClr val="tx2">
                  <a:lumMod val="75000"/>
                </a:schemeClr>
              </a:solidFill>
            </a:ln>
          </p:spPr>
          <p:style>
            <a:lnRef idx="2">
              <a:schemeClr val="accent2"/>
            </a:lnRef>
            <a:fillRef idx="1">
              <a:schemeClr val="lt1"/>
            </a:fillRef>
            <a:effectRef idx="0">
              <a:schemeClr val="accent2"/>
            </a:effectRef>
            <a:fontRef idx="minor">
              <a:schemeClr val="dk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None/>
                <a:defRPr/>
              </a:pPr>
              <a:endParaRPr lang="en-US" altLang="en-US" b="1" smtClean="0">
                <a:solidFill>
                  <a:srgbClr val="000000"/>
                </a:solidFill>
                <a:latin typeface="Calibri" pitchFamily="34" charset="0"/>
              </a:endParaRPr>
            </a:p>
          </p:txBody>
        </p:sp>
      </p:grpSp>
      <p:sp>
        <p:nvSpPr>
          <p:cNvPr id="127" name="Rectangle 126"/>
          <p:cNvSpPr/>
          <p:nvPr/>
        </p:nvSpPr>
        <p:spPr>
          <a:xfrm>
            <a:off x="7315200" y="2438400"/>
            <a:ext cx="533400" cy="685800"/>
          </a:xfrm>
          <a:prstGeom prst="rect">
            <a:avLst/>
          </a:prstGeom>
          <a:solidFill>
            <a:schemeClr val="bg1">
              <a:alpha val="50000"/>
            </a:schemeClr>
          </a:solidFill>
          <a:ln w="38100">
            <a:solidFill>
              <a:srgbClr val="C00000"/>
            </a:solidFill>
          </a:ln>
        </p:spPr>
        <p:style>
          <a:lnRef idx="2">
            <a:schemeClr val="accent2"/>
          </a:lnRef>
          <a:fillRef idx="1">
            <a:schemeClr val="lt1"/>
          </a:fillRef>
          <a:effectRef idx="0">
            <a:schemeClr val="accent2"/>
          </a:effectRef>
          <a:fontRef idx="minor">
            <a:schemeClr val="dk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None/>
              <a:defRPr/>
            </a:pPr>
            <a:endParaRPr lang="en-US" altLang="en-US" b="1" smtClean="0">
              <a:solidFill>
                <a:srgbClr val="000000"/>
              </a:solidFill>
              <a:latin typeface="Calibri" pitchFamily="34" charset="0"/>
            </a:endParaRPr>
          </a:p>
        </p:txBody>
      </p:sp>
    </p:spTree>
    <p:extLst>
      <p:ext uri="{BB962C8B-B14F-4D97-AF65-F5344CB8AC3E}">
        <p14:creationId xmlns:p14="http://schemas.microsoft.com/office/powerpoint/2010/main" val="11581111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par>
                          <p:cTn id="11" fill="hold" nodeType="afterGroup">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42"/>
                                        </p:tgtEl>
                                        <p:attrNameLst>
                                          <p:attrName>style.visibility</p:attrName>
                                        </p:attrNameLst>
                                      </p:cBhvr>
                                      <p:to>
                                        <p:strVal val="visible"/>
                                      </p:to>
                                    </p:set>
                                  </p:childTnLst>
                                </p:cTn>
                              </p:par>
                            </p:childTnLst>
                          </p:cTn>
                        </p:par>
                        <p:par>
                          <p:cTn id="14" fill="hold" nodeType="afterGroup">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childTnLst>
                          </p:cTn>
                        </p:par>
                        <p:par>
                          <p:cTn id="17" fill="hold" nodeType="afterGroup">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44"/>
                                        </p:tgtEl>
                                        <p:attrNameLst>
                                          <p:attrName>style.visibility</p:attrName>
                                        </p:attrNameLst>
                                      </p:cBhvr>
                                      <p:to>
                                        <p:strVal val="visible"/>
                                      </p:to>
                                    </p:set>
                                  </p:childTnLst>
                                </p:cTn>
                              </p:par>
                            </p:childTnLst>
                          </p:cTn>
                        </p:par>
                        <p:par>
                          <p:cTn id="20" fill="hold" nodeType="afterGroup">
                            <p:stCondLst>
                              <p:cond delay="0"/>
                            </p:stCondLst>
                            <p:childTnLst>
                              <p:par>
                                <p:cTn id="21" presetID="22" presetClass="entr" presetSubtype="1"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up)">
                                      <p:cBhvr>
                                        <p:cTn id="23" dur="500"/>
                                        <p:tgtEl>
                                          <p:spTgt spid="2"/>
                                        </p:tgtEl>
                                      </p:cBhvr>
                                    </p:animEffect>
                                  </p:childTnLst>
                                </p:cTn>
                              </p:par>
                            </p:childTnLst>
                          </p:cTn>
                        </p:par>
                        <p:par>
                          <p:cTn id="24" fill="hold" nodeType="afterGroup">
                            <p:stCondLst>
                              <p:cond delay="500"/>
                            </p:stCondLst>
                            <p:childTnLst>
                              <p:par>
                                <p:cTn id="25" presetID="22" presetClass="entr" presetSubtype="1" fill="hold" nodeType="after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up)">
                                      <p:cBhvr>
                                        <p:cTn id="27" dur="500"/>
                                        <p:tgtEl>
                                          <p:spTgt spid="4"/>
                                        </p:tgtEl>
                                      </p:cBhvr>
                                    </p:animEffect>
                                  </p:childTnLst>
                                </p:cTn>
                              </p:par>
                            </p:childTnLst>
                          </p:cTn>
                        </p:par>
                        <p:par>
                          <p:cTn id="28" fill="hold" nodeType="afterGroup">
                            <p:stCondLst>
                              <p:cond delay="1000"/>
                            </p:stCondLst>
                            <p:childTnLst>
                              <p:par>
                                <p:cTn id="29" presetID="22" presetClass="entr" presetSubtype="1" fill="hold" nodeType="after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up)">
                                      <p:cBhvr>
                                        <p:cTn id="31" dur="500"/>
                                        <p:tgtEl>
                                          <p:spTgt spid="5"/>
                                        </p:tgtEl>
                                      </p:cBhvr>
                                    </p:animEffect>
                                  </p:childTnLst>
                                </p:cTn>
                              </p:par>
                            </p:childTnLst>
                          </p:cTn>
                        </p:par>
                        <p:par>
                          <p:cTn id="32" fill="hold" nodeType="afterGroup">
                            <p:stCondLst>
                              <p:cond delay="1500"/>
                            </p:stCondLst>
                            <p:childTnLst>
                              <p:par>
                                <p:cTn id="33" presetID="22" presetClass="entr" presetSubtype="1" fill="hold" nodeType="after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wipe(up)">
                                      <p:cBhvr>
                                        <p:cTn id="35" dur="500"/>
                                        <p:tgtEl>
                                          <p:spTgt spid="6"/>
                                        </p:tgtEl>
                                      </p:cBhvr>
                                    </p:animEffect>
                                  </p:childTnLst>
                                </p:cTn>
                              </p:par>
                            </p:childTnLst>
                          </p:cTn>
                        </p:par>
                        <p:par>
                          <p:cTn id="36" fill="hold" nodeType="afterGroup">
                            <p:stCondLst>
                              <p:cond delay="2000"/>
                            </p:stCondLst>
                            <p:childTnLst>
                              <p:par>
                                <p:cTn id="37" presetID="22" presetClass="entr" presetSubtype="1" fill="hold" nodeType="after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wipe(up)">
                                      <p:cBhvr>
                                        <p:cTn id="39" dur="500"/>
                                        <p:tgtEl>
                                          <p:spTgt spid="7"/>
                                        </p:tgtEl>
                                      </p:cBhvr>
                                    </p:animEffect>
                                  </p:childTnLst>
                                </p:cTn>
                              </p:par>
                              <p:par>
                                <p:cTn id="40" presetID="1" presetClass="entr" presetSubtype="0" fill="hold" grpId="0" nodeType="withEffect">
                                  <p:stCondLst>
                                    <p:cond delay="0"/>
                                  </p:stCondLst>
                                  <p:childTnLst>
                                    <p:set>
                                      <p:cBhvr>
                                        <p:cTn id="41" dur="1" fill="hold">
                                          <p:stCondLst>
                                            <p:cond delay="0"/>
                                          </p:stCondLst>
                                        </p:cTn>
                                        <p:tgtEl>
                                          <p:spTgt spid="87"/>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2" presetClass="entr" presetSubtype="8" fill="hold" nodeType="clickEffect">
                                  <p:stCondLst>
                                    <p:cond delay="0"/>
                                  </p:stCondLst>
                                  <p:childTnLst>
                                    <p:set>
                                      <p:cBhvr>
                                        <p:cTn id="49" dur="1" fill="hold">
                                          <p:stCondLst>
                                            <p:cond delay="0"/>
                                          </p:stCondLst>
                                        </p:cTn>
                                        <p:tgtEl>
                                          <p:spTgt spid="8"/>
                                        </p:tgtEl>
                                        <p:attrNameLst>
                                          <p:attrName>style.visibility</p:attrName>
                                        </p:attrNameLst>
                                      </p:cBhvr>
                                      <p:to>
                                        <p:strVal val="visible"/>
                                      </p:to>
                                    </p:set>
                                    <p:anim calcmode="lin" valueType="num">
                                      <p:cBhvr additive="base">
                                        <p:cTn id="50" dur="500" fill="hold"/>
                                        <p:tgtEl>
                                          <p:spTgt spid="8"/>
                                        </p:tgtEl>
                                        <p:attrNameLst>
                                          <p:attrName>ppt_x</p:attrName>
                                        </p:attrNameLst>
                                      </p:cBhvr>
                                      <p:tavLst>
                                        <p:tav tm="0">
                                          <p:val>
                                            <p:strVal val="0-#ppt_w/2"/>
                                          </p:val>
                                        </p:tav>
                                        <p:tav tm="100000">
                                          <p:val>
                                            <p:strVal val="#ppt_x"/>
                                          </p:val>
                                        </p:tav>
                                      </p:tavLst>
                                    </p:anim>
                                    <p:anim calcmode="lin" valueType="num">
                                      <p:cBhvr additive="base">
                                        <p:cTn id="51"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2" presetClass="entr" presetSubtype="8" fill="hold" nodeType="clickEffect">
                                  <p:stCondLst>
                                    <p:cond delay="0"/>
                                  </p:stCondLst>
                                  <p:childTnLst>
                                    <p:set>
                                      <p:cBhvr>
                                        <p:cTn id="55" dur="1" fill="hold">
                                          <p:stCondLst>
                                            <p:cond delay="0"/>
                                          </p:stCondLst>
                                        </p:cTn>
                                        <p:tgtEl>
                                          <p:spTgt spid="9"/>
                                        </p:tgtEl>
                                        <p:attrNameLst>
                                          <p:attrName>style.visibility</p:attrName>
                                        </p:attrNameLst>
                                      </p:cBhvr>
                                      <p:to>
                                        <p:strVal val="visible"/>
                                      </p:to>
                                    </p:set>
                                    <p:anim calcmode="lin" valueType="num">
                                      <p:cBhvr additive="base">
                                        <p:cTn id="56" dur="500" fill="hold"/>
                                        <p:tgtEl>
                                          <p:spTgt spid="9"/>
                                        </p:tgtEl>
                                        <p:attrNameLst>
                                          <p:attrName>ppt_x</p:attrName>
                                        </p:attrNameLst>
                                      </p:cBhvr>
                                      <p:tavLst>
                                        <p:tav tm="0">
                                          <p:val>
                                            <p:strVal val="0-#ppt_w/2"/>
                                          </p:val>
                                        </p:tav>
                                        <p:tav tm="100000">
                                          <p:val>
                                            <p:strVal val="#ppt_x"/>
                                          </p:val>
                                        </p:tav>
                                      </p:tavLst>
                                    </p:anim>
                                    <p:anim calcmode="lin" valueType="num">
                                      <p:cBhvr additive="base">
                                        <p:cTn id="57"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1" presetClass="entr" presetSubtype="0" fill="hold" nodeType="clickEffect">
                                  <p:stCondLst>
                                    <p:cond delay="0"/>
                                  </p:stCondLst>
                                  <p:childTnLst>
                                    <p:set>
                                      <p:cBhvr>
                                        <p:cTn id="61" dur="1" fill="hold">
                                          <p:stCondLst>
                                            <p:cond delay="0"/>
                                          </p:stCondLst>
                                        </p:cTn>
                                        <p:tgtEl>
                                          <p:spTgt spid="249857"/>
                                        </p:tgtEl>
                                        <p:attrNameLst>
                                          <p:attrName>style.visibility</p:attrName>
                                        </p:attrNameLst>
                                      </p:cBhvr>
                                      <p:to>
                                        <p:strVal val="visible"/>
                                      </p:to>
                                    </p:set>
                                  </p:childTnLst>
                                </p:cTn>
                              </p:par>
                            </p:childTnLst>
                          </p:cTn>
                        </p:par>
                      </p:childTnLst>
                    </p:cTn>
                  </p:par>
                  <p:par>
                    <p:cTn id="62" fill="hold" nodeType="clickPar">
                      <p:stCondLst>
                        <p:cond delay="indefinite"/>
                      </p:stCondLst>
                      <p:childTnLst>
                        <p:par>
                          <p:cTn id="63" fill="hold" nodeType="withGroup">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89"/>
                                        </p:tgtEl>
                                        <p:attrNameLst>
                                          <p:attrName>style.visibility</p:attrName>
                                        </p:attrNameLst>
                                      </p:cBhvr>
                                      <p:to>
                                        <p:strVal val="visible"/>
                                      </p:to>
                                    </p:set>
                                  </p:childTnLst>
                                </p:cTn>
                              </p:par>
                            </p:childTnLst>
                          </p:cTn>
                        </p:par>
                      </p:childTnLst>
                    </p:cTn>
                  </p:par>
                  <p:par>
                    <p:cTn id="66" fill="hold" nodeType="clickPar">
                      <p:stCondLst>
                        <p:cond delay="indefinite"/>
                      </p:stCondLst>
                      <p:childTnLst>
                        <p:par>
                          <p:cTn id="67" fill="hold" nodeType="withGroup">
                            <p:stCondLst>
                              <p:cond delay="0"/>
                            </p:stCondLst>
                            <p:childTnLst>
                              <p:par>
                                <p:cTn id="68" presetID="1" presetClass="entr" presetSubtype="0" fill="hold" nodeType="clickEffect">
                                  <p:stCondLst>
                                    <p:cond delay="0"/>
                                  </p:stCondLst>
                                  <p:childTnLst>
                                    <p:set>
                                      <p:cBhvr>
                                        <p:cTn id="69" dur="1" fill="hold">
                                          <p:stCondLst>
                                            <p:cond delay="0"/>
                                          </p:stCondLst>
                                        </p:cTn>
                                        <p:tgtEl>
                                          <p:spTgt spid="11"/>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90"/>
                                        </p:tgtEl>
                                        <p:attrNameLst>
                                          <p:attrName>style.visibility</p:attrName>
                                        </p:attrNameLst>
                                      </p:cBhvr>
                                      <p:to>
                                        <p:strVal val="visible"/>
                                      </p:to>
                                    </p:set>
                                  </p:childTnLst>
                                  <p:subTnLst>
                                    <p:set>
                                      <p:cBhvr override="childStyle">
                                        <p:cTn dur="1" fill="hold" display="0" masterRel="nextClick" afterEffect="1"/>
                                        <p:tgtEl>
                                          <p:spTgt spid="90"/>
                                        </p:tgtEl>
                                        <p:attrNameLst>
                                          <p:attrName>style.visibility</p:attrName>
                                        </p:attrNameLst>
                                      </p:cBhvr>
                                      <p:to>
                                        <p:strVal val="hidden"/>
                                      </p:to>
                                    </p:set>
                                  </p:subTnLst>
                                </p:cTn>
                              </p:par>
                            </p:childTnLst>
                          </p:cTn>
                        </p:par>
                      </p:childTnLst>
                    </p:cTn>
                  </p:par>
                  <p:par>
                    <p:cTn id="72" fill="hold" nodeType="clickPar">
                      <p:stCondLst>
                        <p:cond delay="indefinite"/>
                      </p:stCondLst>
                      <p:childTnLst>
                        <p:par>
                          <p:cTn id="73" fill="hold" nodeType="withGroup">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91"/>
                                        </p:tgtEl>
                                        <p:attrNameLst>
                                          <p:attrName>style.visibility</p:attrName>
                                        </p:attrNameLst>
                                      </p:cBhvr>
                                      <p:to>
                                        <p:strVal val="visible"/>
                                      </p:to>
                                    </p:set>
                                  </p:childTnLst>
                                  <p:subTnLst>
                                    <p:set>
                                      <p:cBhvr override="childStyle">
                                        <p:cTn dur="1" fill="hold" display="0" masterRel="nextClick" afterEffect="1"/>
                                        <p:tgtEl>
                                          <p:spTgt spid="91"/>
                                        </p:tgtEl>
                                        <p:attrNameLst>
                                          <p:attrName>style.visibility</p:attrName>
                                        </p:attrNameLst>
                                      </p:cBhvr>
                                      <p:to>
                                        <p:strVal val="hidden"/>
                                      </p:to>
                                    </p:set>
                                  </p:subTnLst>
                                </p:cTn>
                              </p:par>
                            </p:childTnLst>
                          </p:cTn>
                        </p:par>
                      </p:childTnLst>
                    </p:cTn>
                  </p:par>
                  <p:par>
                    <p:cTn id="76" fill="hold" nodeType="clickPar">
                      <p:stCondLst>
                        <p:cond delay="indefinite"/>
                      </p:stCondLst>
                      <p:childTnLst>
                        <p:par>
                          <p:cTn id="77" fill="hold" nodeType="withGroup">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92"/>
                                        </p:tgtEl>
                                        <p:attrNameLst>
                                          <p:attrName>style.visibility</p:attrName>
                                        </p:attrNameLst>
                                      </p:cBhvr>
                                      <p:to>
                                        <p:strVal val="visible"/>
                                      </p:to>
                                    </p:set>
                                  </p:childTnLst>
                                  <p:subTnLst>
                                    <p:set>
                                      <p:cBhvr override="childStyle">
                                        <p:cTn dur="1" fill="hold" display="0" masterRel="nextClick" afterEffect="1"/>
                                        <p:tgtEl>
                                          <p:spTgt spid="92"/>
                                        </p:tgtEl>
                                        <p:attrNameLst>
                                          <p:attrName>style.visibility</p:attrName>
                                        </p:attrNameLst>
                                      </p:cBhvr>
                                      <p:to>
                                        <p:strVal val="hidden"/>
                                      </p:to>
                                    </p:set>
                                  </p:subTnLst>
                                </p:cTn>
                              </p:par>
                            </p:childTnLst>
                          </p:cTn>
                        </p:par>
                      </p:childTnLst>
                    </p:cTn>
                  </p:par>
                  <p:par>
                    <p:cTn id="80" fill="hold" nodeType="clickPar">
                      <p:stCondLst>
                        <p:cond delay="indefinite"/>
                      </p:stCondLst>
                      <p:childTnLst>
                        <p:par>
                          <p:cTn id="81" fill="hold" nodeType="withGroup">
                            <p:stCondLst>
                              <p:cond delay="0"/>
                            </p:stCondLst>
                            <p:childTnLst>
                              <p:par>
                                <p:cTn id="82" presetID="1" presetClass="entr" presetSubtype="0" fill="hold" nodeType="clickEffect">
                                  <p:stCondLst>
                                    <p:cond delay="0"/>
                                  </p:stCondLst>
                                  <p:childTnLst>
                                    <p:set>
                                      <p:cBhvr>
                                        <p:cTn id="83" dur="1" fill="hold">
                                          <p:stCondLst>
                                            <p:cond delay="0"/>
                                          </p:stCondLst>
                                        </p:cTn>
                                        <p:tgtEl>
                                          <p:spTgt spid="10"/>
                                        </p:tgtEl>
                                        <p:attrNameLst>
                                          <p:attrName>style.visibility</p:attrName>
                                        </p:attrNameLst>
                                      </p:cBhvr>
                                      <p:to>
                                        <p:strVal val="visible"/>
                                      </p:to>
                                    </p:set>
                                  </p:childTnLst>
                                </p:cTn>
                              </p:par>
                              <p:par>
                                <p:cTn id="84" presetID="1" presetClass="entr" presetSubtype="0" fill="hold" nodeType="withEffect">
                                  <p:stCondLst>
                                    <p:cond delay="0"/>
                                  </p:stCondLst>
                                  <p:childTnLst>
                                    <p:set>
                                      <p:cBhvr>
                                        <p:cTn id="85"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86" fill="hold" nodeType="clickPar">
                      <p:stCondLst>
                        <p:cond delay="indefinite"/>
                      </p:stCondLst>
                      <p:childTnLst>
                        <p:par>
                          <p:cTn id="87" fill="hold" nodeType="withGroup">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100"/>
                                        </p:tgtEl>
                                        <p:attrNameLst>
                                          <p:attrName>style.visibility</p:attrName>
                                        </p:attrNameLst>
                                      </p:cBhvr>
                                      <p:to>
                                        <p:strVal val="visible"/>
                                      </p:to>
                                    </p:set>
                                  </p:childTnLst>
                                  <p:subTnLst>
                                    <p:set>
                                      <p:cBhvr override="childStyle">
                                        <p:cTn dur="1" fill="hold" display="0" masterRel="nextClick" afterEffect="1"/>
                                        <p:tgtEl>
                                          <p:spTgt spid="100"/>
                                        </p:tgtEl>
                                        <p:attrNameLst>
                                          <p:attrName>style.visibility</p:attrName>
                                        </p:attrNameLst>
                                      </p:cBhvr>
                                      <p:to>
                                        <p:strVal val="hidden"/>
                                      </p:to>
                                    </p:set>
                                  </p:subTnLst>
                                </p:cTn>
                              </p:par>
                            </p:childTnLst>
                          </p:cTn>
                        </p:par>
                      </p:childTnLst>
                    </p:cTn>
                  </p:par>
                  <p:par>
                    <p:cTn id="90" fill="hold" nodeType="clickPar">
                      <p:stCondLst>
                        <p:cond delay="indefinite"/>
                      </p:stCondLst>
                      <p:childTnLst>
                        <p:par>
                          <p:cTn id="91" fill="hold" nodeType="withGroup">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101"/>
                                        </p:tgtEl>
                                        <p:attrNameLst>
                                          <p:attrName>style.visibility</p:attrName>
                                        </p:attrNameLst>
                                      </p:cBhvr>
                                      <p:to>
                                        <p:strVal val="visible"/>
                                      </p:to>
                                    </p:set>
                                  </p:childTnLst>
                                  <p:subTnLst>
                                    <p:set>
                                      <p:cBhvr override="childStyle">
                                        <p:cTn dur="1" fill="hold" display="0" masterRel="nextClick" afterEffect="1"/>
                                        <p:tgtEl>
                                          <p:spTgt spid="101"/>
                                        </p:tgtEl>
                                        <p:attrNameLst>
                                          <p:attrName>style.visibility</p:attrName>
                                        </p:attrNameLst>
                                      </p:cBhvr>
                                      <p:to>
                                        <p:strVal val="hidden"/>
                                      </p:to>
                                    </p:set>
                                  </p:subTnLst>
                                </p:cTn>
                              </p:par>
                            </p:childTnLst>
                          </p:cTn>
                        </p:par>
                      </p:childTnLst>
                    </p:cTn>
                  </p:par>
                  <p:par>
                    <p:cTn id="94" fill="hold" nodeType="clickPar">
                      <p:stCondLst>
                        <p:cond delay="indefinite"/>
                      </p:stCondLst>
                      <p:childTnLst>
                        <p:par>
                          <p:cTn id="95" fill="hold" nodeType="withGroup">
                            <p:stCondLst>
                              <p:cond delay="0"/>
                            </p:stCondLst>
                            <p:childTnLst>
                              <p:par>
                                <p:cTn id="96" presetID="1" presetClass="entr" presetSubtype="0" fill="hold" grpId="0" nodeType="clickEffect">
                                  <p:stCondLst>
                                    <p:cond delay="0"/>
                                  </p:stCondLst>
                                  <p:childTnLst>
                                    <p:set>
                                      <p:cBhvr>
                                        <p:cTn id="97" dur="1" fill="hold">
                                          <p:stCondLst>
                                            <p:cond delay="0"/>
                                          </p:stCondLst>
                                        </p:cTn>
                                        <p:tgtEl>
                                          <p:spTgt spid="94"/>
                                        </p:tgtEl>
                                        <p:attrNameLst>
                                          <p:attrName>style.visibility</p:attrName>
                                        </p:attrNameLst>
                                      </p:cBhvr>
                                      <p:to>
                                        <p:strVal val="visible"/>
                                      </p:to>
                                    </p:set>
                                  </p:childTnLst>
                                  <p:subTnLst>
                                    <p:set>
                                      <p:cBhvr override="childStyle">
                                        <p:cTn dur="1" fill="hold" display="0" masterRel="nextClick" afterEffect="1"/>
                                        <p:tgtEl>
                                          <p:spTgt spid="94"/>
                                        </p:tgtEl>
                                        <p:attrNameLst>
                                          <p:attrName>style.visibility</p:attrName>
                                        </p:attrNameLst>
                                      </p:cBhvr>
                                      <p:to>
                                        <p:strVal val="hidden"/>
                                      </p:to>
                                    </p:set>
                                  </p:subTnLst>
                                </p:cTn>
                              </p:par>
                            </p:childTnLst>
                          </p:cTn>
                        </p:par>
                      </p:childTnLst>
                    </p:cTn>
                  </p:par>
                  <p:par>
                    <p:cTn id="98" fill="hold" nodeType="clickPar">
                      <p:stCondLst>
                        <p:cond delay="indefinite"/>
                      </p:stCondLst>
                      <p:childTnLst>
                        <p:par>
                          <p:cTn id="99" fill="hold" nodeType="withGroup">
                            <p:stCondLst>
                              <p:cond delay="0"/>
                            </p:stCondLst>
                            <p:childTnLst>
                              <p:par>
                                <p:cTn id="100" presetID="1" presetClass="entr" presetSubtype="0" fill="hold" nodeType="clickEffect">
                                  <p:stCondLst>
                                    <p:cond delay="0"/>
                                  </p:stCondLst>
                                  <p:childTnLst>
                                    <p:set>
                                      <p:cBhvr>
                                        <p:cTn id="101"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par>
                    <p:cTn id="102" fill="hold" nodeType="clickPar">
                      <p:stCondLst>
                        <p:cond delay="indefinite"/>
                      </p:stCondLst>
                      <p:childTnLst>
                        <p:par>
                          <p:cTn id="103" fill="hold" nodeType="withGroup">
                            <p:stCondLst>
                              <p:cond delay="0"/>
                            </p:stCondLst>
                            <p:childTnLst>
                              <p:par>
                                <p:cTn id="104" presetID="1" presetClass="entr" presetSubtype="0" fill="hold" grpId="0" nodeType="clickEffect">
                                  <p:stCondLst>
                                    <p:cond delay="0"/>
                                  </p:stCondLst>
                                  <p:childTnLst>
                                    <p:set>
                                      <p:cBhvr>
                                        <p:cTn id="105" dur="1" fill="hold">
                                          <p:stCondLst>
                                            <p:cond delay="0"/>
                                          </p:stCondLst>
                                        </p:cTn>
                                        <p:tgtEl>
                                          <p:spTgt spid="127"/>
                                        </p:tgtEl>
                                        <p:attrNameLst>
                                          <p:attrName>style.visibility</p:attrName>
                                        </p:attrNameLst>
                                      </p:cBhvr>
                                      <p:to>
                                        <p:strVal val="visible"/>
                                      </p:to>
                                    </p:se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1" presetClass="exit" presetSubtype="0" fill="hold" grpId="1" nodeType="clickEffect">
                                  <p:stCondLst>
                                    <p:cond delay="0"/>
                                  </p:stCondLst>
                                  <p:childTnLst>
                                    <p:set>
                                      <p:cBhvr>
                                        <p:cTn id="109" dur="1" fill="hold">
                                          <p:stCondLst>
                                            <p:cond delay="0"/>
                                          </p:stCondLst>
                                        </p:cTn>
                                        <p:tgtEl>
                                          <p:spTgt spid="94"/>
                                        </p:tgtEl>
                                        <p:attrNameLst>
                                          <p:attrName>style.visibility</p:attrName>
                                        </p:attrNameLst>
                                      </p:cBhvr>
                                      <p:to>
                                        <p:strVal val="hidden"/>
                                      </p:to>
                                    </p:set>
                                  </p:childTnLst>
                                </p:cTn>
                              </p:par>
                              <p:par>
                                <p:cTn id="110" presetID="1" presetClass="exit" presetSubtype="0" fill="hold" grpId="1" nodeType="withEffect">
                                  <p:stCondLst>
                                    <p:cond delay="0"/>
                                  </p:stCondLst>
                                  <p:childTnLst>
                                    <p:set>
                                      <p:cBhvr>
                                        <p:cTn id="111" dur="1" fill="hold">
                                          <p:stCondLst>
                                            <p:cond delay="0"/>
                                          </p:stCondLst>
                                        </p:cTn>
                                        <p:tgtEl>
                                          <p:spTgt spid="1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1" grpId="0" animBg="1"/>
      <p:bldP spid="42" grpId="0" animBg="1"/>
      <p:bldP spid="43" grpId="0" animBg="1"/>
      <p:bldP spid="44" grpId="0" animBg="1"/>
      <p:bldP spid="87" grpId="0"/>
      <p:bldP spid="89" grpId="0" animBg="1"/>
      <p:bldP spid="90" grpId="0" animBg="1"/>
      <p:bldP spid="91" grpId="0" animBg="1"/>
      <p:bldP spid="92" grpId="0" animBg="1"/>
      <p:bldP spid="94" grpId="0" animBg="1"/>
      <p:bldP spid="94" grpId="1" animBg="1"/>
      <p:bldP spid="100" grpId="0" animBg="1"/>
      <p:bldP spid="101" grpId="0" animBg="1"/>
      <p:bldP spid="127" grpId="0" animBg="1"/>
      <p:bldP spid="127" grpId="1" animBg="1"/>
    </p:bldLst>
  </p:timing>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 name="Group 97"/>
          <p:cNvGrpSpPr>
            <a:grpSpLocks/>
          </p:cNvGrpSpPr>
          <p:nvPr/>
        </p:nvGrpSpPr>
        <p:grpSpPr bwMode="auto">
          <a:xfrm>
            <a:off x="0" y="3343275"/>
            <a:ext cx="4953000" cy="2066925"/>
            <a:chOff x="0" y="3276600"/>
            <a:chExt cx="4953000" cy="2066925"/>
          </a:xfrm>
        </p:grpSpPr>
        <p:pic>
          <p:nvPicPr>
            <p:cNvPr id="56393"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276600"/>
              <a:ext cx="4953000" cy="206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94" name="Rectangle 139"/>
            <p:cNvSpPr>
              <a:spLocks noChangeArrowheads="1"/>
            </p:cNvSpPr>
            <p:nvPr/>
          </p:nvSpPr>
          <p:spPr bwMode="auto">
            <a:xfrm>
              <a:off x="1459562" y="4248090"/>
              <a:ext cx="2198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50000"/>
                </a:spcBef>
                <a:spcAft>
                  <a:spcPct val="20000"/>
                </a:spcAft>
                <a:buFont typeface="Wingdings" panose="05000000000000000000" pitchFamily="2" charset="2"/>
                <a:buNone/>
              </a:pPr>
              <a:r>
                <a:rPr lang="en-US" altLang="en-US" sz="1600" b="1">
                  <a:solidFill>
                    <a:srgbClr val="010000"/>
                  </a:solidFill>
                  <a:latin typeface="Verdana" panose="020B0604030504040204" pitchFamily="34" charset="0"/>
                </a:rPr>
                <a:t>Observed Results</a:t>
              </a:r>
            </a:p>
          </p:txBody>
        </p:sp>
      </p:grpSp>
      <p:grpSp>
        <p:nvGrpSpPr>
          <p:cNvPr id="4" name="Group 79"/>
          <p:cNvGrpSpPr>
            <a:grpSpLocks/>
          </p:cNvGrpSpPr>
          <p:nvPr/>
        </p:nvGrpSpPr>
        <p:grpSpPr bwMode="auto">
          <a:xfrm>
            <a:off x="0" y="1285875"/>
            <a:ext cx="4953000" cy="2066925"/>
            <a:chOff x="0" y="1600200"/>
            <a:chExt cx="4953000" cy="2066925"/>
          </a:xfrm>
        </p:grpSpPr>
        <p:pic>
          <p:nvPicPr>
            <p:cNvPr id="56391"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600200"/>
              <a:ext cx="4953000" cy="206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92" name="Rectangle 136"/>
            <p:cNvSpPr>
              <a:spLocks noChangeArrowheads="1"/>
            </p:cNvSpPr>
            <p:nvPr/>
          </p:nvSpPr>
          <p:spPr bwMode="auto">
            <a:xfrm>
              <a:off x="1295400" y="2581215"/>
              <a:ext cx="241925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50000"/>
                </a:spcBef>
                <a:spcAft>
                  <a:spcPct val="20000"/>
                </a:spcAft>
                <a:buFont typeface="Wingdings" panose="05000000000000000000" pitchFamily="2" charset="2"/>
                <a:buNone/>
              </a:pPr>
              <a:r>
                <a:rPr lang="en-US" altLang="en-US" sz="1600" b="1">
                  <a:solidFill>
                    <a:srgbClr val="010000"/>
                  </a:solidFill>
                  <a:latin typeface="Verdana" panose="020B0604030504040204" pitchFamily="34" charset="0"/>
                </a:rPr>
                <a:t>Anticipated Results</a:t>
              </a:r>
            </a:p>
          </p:txBody>
        </p:sp>
      </p:grpSp>
      <p:sp>
        <p:nvSpPr>
          <p:cNvPr id="56324" name="Title 1"/>
          <p:cNvSpPr>
            <a:spLocks noGrp="1"/>
          </p:cNvSpPr>
          <p:nvPr>
            <p:ph type="title"/>
          </p:nvPr>
        </p:nvSpPr>
        <p:spPr/>
        <p:txBody>
          <a:bodyPr/>
          <a:lstStyle/>
          <a:p>
            <a:pPr eaLnBrk="1" hangingPunct="1"/>
            <a:r>
              <a:rPr lang="en-US" altLang="en-US" smtClean="0"/>
              <a:t>LBN-based Mapping?</a:t>
            </a:r>
          </a:p>
        </p:txBody>
      </p:sp>
      <p:sp>
        <p:nvSpPr>
          <p:cNvPr id="3" name="Content Placeholder 2"/>
          <p:cNvSpPr>
            <a:spLocks noGrp="1"/>
          </p:cNvSpPr>
          <p:nvPr>
            <p:ph idx="1"/>
          </p:nvPr>
        </p:nvSpPr>
        <p:spPr>
          <a:xfrm>
            <a:off x="0" y="5486400"/>
            <a:ext cx="9144000" cy="1371600"/>
          </a:xfrm>
        </p:spPr>
        <p:txBody>
          <a:bodyPr/>
          <a:lstStyle/>
          <a:p>
            <a:pPr eaLnBrk="1" hangingPunct="1"/>
            <a:r>
              <a:rPr lang="en-US" altLang="en-US" sz="2400" smtClean="0"/>
              <a:t>Randomize SSD space in each domain by reordering writes of 4KB</a:t>
            </a:r>
          </a:p>
          <a:p>
            <a:pPr eaLnBrk="1" hangingPunct="1"/>
            <a:r>
              <a:rPr lang="en-US" altLang="en-US" sz="2400" smtClean="0"/>
              <a:t>Repeat the same experiment</a:t>
            </a:r>
          </a:p>
          <a:p>
            <a:pPr eaLnBrk="1" hangingPunct="1"/>
            <a:r>
              <a:rPr lang="en-US" altLang="en-US" sz="2400" smtClean="0"/>
              <a:t>LBN-based Mapping: the same pattern should reappear</a:t>
            </a:r>
          </a:p>
        </p:txBody>
      </p:sp>
      <p:sp>
        <p:nvSpPr>
          <p:cNvPr id="56326" name="Slide Number Placeholder 3"/>
          <p:cNvSpPr>
            <a:spLocks noGrp="1"/>
          </p:cNvSpPr>
          <p:nvPr>
            <p:ph type="sldNum" sz="quarter" idx="4294967295"/>
          </p:nvPr>
        </p:nvSpPr>
        <p:spPr bwMode="auto">
          <a:xfrm>
            <a:off x="7010400" y="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 typeface="Wingdings" panose="05000000000000000000" pitchFamily="2" charset="2"/>
              <a:buNone/>
            </a:pPr>
            <a:fld id="{44840FE7-3558-452A-A36B-3CFB1B92694C}" type="slidenum">
              <a:rPr lang="zh-CN" altLang="en-US" sz="1200">
                <a:solidFill>
                  <a:srgbClr val="898989"/>
                </a:solidFill>
                <a:latin typeface="Verdana" panose="020B0604030504040204" pitchFamily="34" charset="0"/>
              </a:rPr>
              <a:pPr>
                <a:spcBef>
                  <a:spcPct val="50000"/>
                </a:spcBef>
                <a:buFont typeface="Wingdings" panose="05000000000000000000" pitchFamily="2" charset="2"/>
                <a:buNone/>
              </a:pPr>
              <a:t>93</a:t>
            </a:fld>
            <a:endParaRPr lang="zh-CN" altLang="en-US" sz="1200">
              <a:solidFill>
                <a:srgbClr val="898989"/>
              </a:solidFill>
              <a:latin typeface="Verdana" panose="020B0604030504040204" pitchFamily="34" charset="0"/>
            </a:endParaRPr>
          </a:p>
        </p:txBody>
      </p:sp>
      <p:sp>
        <p:nvSpPr>
          <p:cNvPr id="41" name="Rectangle 40"/>
          <p:cNvSpPr/>
          <p:nvPr/>
        </p:nvSpPr>
        <p:spPr>
          <a:xfrm>
            <a:off x="6248400" y="1752600"/>
            <a:ext cx="2687638" cy="685800"/>
          </a:xfrm>
          <a:prstGeom prst="rect">
            <a:avLst/>
          </a:prstGeom>
          <a:solidFill>
            <a:schemeClr val="tx1"/>
          </a:solidFill>
        </p:spPr>
        <p:style>
          <a:lnRef idx="1">
            <a:schemeClr val="dk1"/>
          </a:lnRef>
          <a:fillRef idx="3">
            <a:schemeClr val="dk1"/>
          </a:fillRef>
          <a:effectRef idx="2">
            <a:schemeClr val="dk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dirty="0"/>
              <a:t>Domain #0</a:t>
            </a:r>
          </a:p>
        </p:txBody>
      </p:sp>
      <p:sp>
        <p:nvSpPr>
          <p:cNvPr id="42" name="Rectangle 41"/>
          <p:cNvSpPr/>
          <p:nvPr/>
        </p:nvSpPr>
        <p:spPr>
          <a:xfrm>
            <a:off x="6248400" y="2438400"/>
            <a:ext cx="2687638" cy="685800"/>
          </a:xfrm>
          <a:prstGeom prst="rect">
            <a:avLst/>
          </a:prstGeom>
          <a:solidFill>
            <a:schemeClr val="tx2"/>
          </a:solidFill>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dirty="0"/>
              <a:t>Domain #1</a:t>
            </a:r>
          </a:p>
        </p:txBody>
      </p:sp>
      <p:sp>
        <p:nvSpPr>
          <p:cNvPr id="43" name="Rectangle 42"/>
          <p:cNvSpPr/>
          <p:nvPr/>
        </p:nvSpPr>
        <p:spPr>
          <a:xfrm>
            <a:off x="6248400" y="3124200"/>
            <a:ext cx="2687638" cy="685800"/>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dirty="0"/>
              <a:t>Domain #2</a:t>
            </a:r>
          </a:p>
        </p:txBody>
      </p:sp>
      <p:sp>
        <p:nvSpPr>
          <p:cNvPr id="44" name="Rectangle 43"/>
          <p:cNvSpPr/>
          <p:nvPr/>
        </p:nvSpPr>
        <p:spPr>
          <a:xfrm>
            <a:off x="6248400" y="3810000"/>
            <a:ext cx="2687638" cy="685800"/>
          </a:xfrm>
          <a:prstGeom prst="rect">
            <a:avLst/>
          </a:prstGeom>
          <a:solidFill>
            <a:schemeClr val="accent3">
              <a:lumMod val="50000"/>
            </a:schemeClr>
          </a:solidFill>
        </p:spPr>
        <p:style>
          <a:lnRef idx="1">
            <a:schemeClr val="accent3"/>
          </a:lnRef>
          <a:fillRef idx="3">
            <a:schemeClr val="accent3"/>
          </a:fillRef>
          <a:effectRef idx="2">
            <a:schemeClr val="accent3"/>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dirty="0"/>
              <a:t>Domain #3</a:t>
            </a:r>
          </a:p>
        </p:txBody>
      </p:sp>
      <p:grpSp>
        <p:nvGrpSpPr>
          <p:cNvPr id="5" name="Group 96"/>
          <p:cNvGrpSpPr>
            <a:grpSpLocks/>
          </p:cNvGrpSpPr>
          <p:nvPr/>
        </p:nvGrpSpPr>
        <p:grpSpPr bwMode="auto">
          <a:xfrm>
            <a:off x="6019800" y="1752600"/>
            <a:ext cx="3124200" cy="3295650"/>
            <a:chOff x="6019800" y="1752600"/>
            <a:chExt cx="3124200" cy="3295710"/>
          </a:xfrm>
        </p:grpSpPr>
        <p:grpSp>
          <p:nvGrpSpPr>
            <p:cNvPr id="56364" name="Group 51"/>
            <p:cNvGrpSpPr>
              <a:grpSpLocks/>
            </p:cNvGrpSpPr>
            <p:nvPr/>
          </p:nvGrpSpPr>
          <p:grpSpPr bwMode="auto">
            <a:xfrm>
              <a:off x="6248400" y="1752600"/>
              <a:ext cx="2667000" cy="2743200"/>
              <a:chOff x="6248400" y="1752600"/>
              <a:chExt cx="2667000" cy="2743200"/>
            </a:xfrm>
          </p:grpSpPr>
          <p:grpSp>
            <p:nvGrpSpPr>
              <p:cNvPr id="56366" name="Group 124"/>
              <p:cNvGrpSpPr>
                <a:grpSpLocks/>
              </p:cNvGrpSpPr>
              <p:nvPr/>
            </p:nvGrpSpPr>
            <p:grpSpPr bwMode="auto">
              <a:xfrm>
                <a:off x="6248400" y="1752600"/>
                <a:ext cx="533400" cy="2743200"/>
                <a:chOff x="3048000" y="3429000"/>
                <a:chExt cx="533400" cy="2743200"/>
              </a:xfrm>
            </p:grpSpPr>
            <p:sp>
              <p:nvSpPr>
                <p:cNvPr id="46" name="Rectangle 45"/>
                <p:cNvSpPr/>
                <p:nvPr/>
              </p:nvSpPr>
              <p:spPr>
                <a:xfrm>
                  <a:off x="3048000" y="3429000"/>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0</a:t>
                  </a:r>
                </a:p>
              </p:txBody>
            </p:sp>
            <p:sp>
              <p:nvSpPr>
                <p:cNvPr id="49" name="Rectangle 48"/>
                <p:cNvSpPr/>
                <p:nvPr/>
              </p:nvSpPr>
              <p:spPr>
                <a:xfrm>
                  <a:off x="3048000" y="4114813"/>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1</a:t>
                  </a:r>
                </a:p>
              </p:txBody>
            </p:sp>
            <p:sp>
              <p:nvSpPr>
                <p:cNvPr id="50" name="Rectangle 49"/>
                <p:cNvSpPr/>
                <p:nvPr/>
              </p:nvSpPr>
              <p:spPr>
                <a:xfrm>
                  <a:off x="3048000" y="4800625"/>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2</a:t>
                  </a:r>
                </a:p>
              </p:txBody>
            </p:sp>
            <p:sp>
              <p:nvSpPr>
                <p:cNvPr id="51" name="Rectangle 50"/>
                <p:cNvSpPr/>
                <p:nvPr/>
              </p:nvSpPr>
              <p:spPr>
                <a:xfrm>
                  <a:off x="3048000" y="5486438"/>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3</a:t>
                  </a:r>
                </a:p>
              </p:txBody>
            </p:sp>
          </p:grpSp>
          <p:grpSp>
            <p:nvGrpSpPr>
              <p:cNvPr id="56367" name="Group 125"/>
              <p:cNvGrpSpPr>
                <a:grpSpLocks/>
              </p:cNvGrpSpPr>
              <p:nvPr/>
            </p:nvGrpSpPr>
            <p:grpSpPr bwMode="auto">
              <a:xfrm>
                <a:off x="6781800" y="1752600"/>
                <a:ext cx="533400" cy="2743200"/>
                <a:chOff x="3581400" y="3429000"/>
                <a:chExt cx="533400" cy="2743200"/>
              </a:xfrm>
            </p:grpSpPr>
            <p:sp>
              <p:nvSpPr>
                <p:cNvPr id="53" name="Rectangle 52"/>
                <p:cNvSpPr/>
                <p:nvPr/>
              </p:nvSpPr>
              <p:spPr>
                <a:xfrm>
                  <a:off x="3581400" y="3429000"/>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4</a:t>
                  </a:r>
                </a:p>
              </p:txBody>
            </p:sp>
            <p:sp>
              <p:nvSpPr>
                <p:cNvPr id="54" name="Rectangle 53"/>
                <p:cNvSpPr/>
                <p:nvPr/>
              </p:nvSpPr>
              <p:spPr>
                <a:xfrm>
                  <a:off x="3581400" y="4114813"/>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5</a:t>
                  </a:r>
                </a:p>
              </p:txBody>
            </p:sp>
            <p:sp>
              <p:nvSpPr>
                <p:cNvPr id="55" name="Rectangle 54"/>
                <p:cNvSpPr/>
                <p:nvPr/>
              </p:nvSpPr>
              <p:spPr>
                <a:xfrm>
                  <a:off x="3581400" y="4800625"/>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6</a:t>
                  </a:r>
                </a:p>
              </p:txBody>
            </p:sp>
            <p:sp>
              <p:nvSpPr>
                <p:cNvPr id="56" name="Rectangle 55"/>
                <p:cNvSpPr/>
                <p:nvPr/>
              </p:nvSpPr>
              <p:spPr>
                <a:xfrm>
                  <a:off x="3581400" y="5486438"/>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7</a:t>
                  </a:r>
                </a:p>
              </p:txBody>
            </p:sp>
          </p:grpSp>
          <p:grpSp>
            <p:nvGrpSpPr>
              <p:cNvPr id="56368" name="Group 126"/>
              <p:cNvGrpSpPr>
                <a:grpSpLocks/>
              </p:cNvGrpSpPr>
              <p:nvPr/>
            </p:nvGrpSpPr>
            <p:grpSpPr bwMode="auto">
              <a:xfrm>
                <a:off x="7315200" y="1752600"/>
                <a:ext cx="533400" cy="2743200"/>
                <a:chOff x="4114800" y="3429000"/>
                <a:chExt cx="533400" cy="2743200"/>
              </a:xfrm>
            </p:grpSpPr>
            <p:sp>
              <p:nvSpPr>
                <p:cNvPr id="58" name="Rectangle 57"/>
                <p:cNvSpPr/>
                <p:nvPr/>
              </p:nvSpPr>
              <p:spPr>
                <a:xfrm>
                  <a:off x="4114800" y="3429000"/>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8</a:t>
                  </a:r>
                </a:p>
              </p:txBody>
            </p:sp>
            <p:sp>
              <p:nvSpPr>
                <p:cNvPr id="59" name="Rectangle 58"/>
                <p:cNvSpPr/>
                <p:nvPr/>
              </p:nvSpPr>
              <p:spPr>
                <a:xfrm>
                  <a:off x="4114800" y="4114813"/>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9</a:t>
                  </a:r>
                </a:p>
              </p:txBody>
            </p:sp>
            <p:sp>
              <p:nvSpPr>
                <p:cNvPr id="60" name="Rectangle 59"/>
                <p:cNvSpPr/>
                <p:nvPr/>
              </p:nvSpPr>
              <p:spPr>
                <a:xfrm>
                  <a:off x="4114800" y="4800625"/>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10</a:t>
                  </a:r>
                </a:p>
              </p:txBody>
            </p:sp>
            <p:sp>
              <p:nvSpPr>
                <p:cNvPr id="61" name="Rectangle 60"/>
                <p:cNvSpPr/>
                <p:nvPr/>
              </p:nvSpPr>
              <p:spPr>
                <a:xfrm>
                  <a:off x="4114800" y="5486438"/>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11</a:t>
                  </a:r>
                </a:p>
              </p:txBody>
            </p:sp>
          </p:grpSp>
          <p:grpSp>
            <p:nvGrpSpPr>
              <p:cNvPr id="56369" name="Group 127"/>
              <p:cNvGrpSpPr>
                <a:grpSpLocks/>
              </p:cNvGrpSpPr>
              <p:nvPr/>
            </p:nvGrpSpPr>
            <p:grpSpPr bwMode="auto">
              <a:xfrm>
                <a:off x="7848600" y="1752600"/>
                <a:ext cx="533400" cy="2743200"/>
                <a:chOff x="4648200" y="3429000"/>
                <a:chExt cx="533400" cy="2743200"/>
              </a:xfrm>
            </p:grpSpPr>
            <p:sp>
              <p:nvSpPr>
                <p:cNvPr id="63" name="Rectangle 62"/>
                <p:cNvSpPr/>
                <p:nvPr/>
              </p:nvSpPr>
              <p:spPr>
                <a:xfrm>
                  <a:off x="4648200" y="3429000"/>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12</a:t>
                  </a:r>
                </a:p>
              </p:txBody>
            </p:sp>
            <p:sp>
              <p:nvSpPr>
                <p:cNvPr id="64" name="Rectangle 63"/>
                <p:cNvSpPr/>
                <p:nvPr/>
              </p:nvSpPr>
              <p:spPr>
                <a:xfrm>
                  <a:off x="4648200" y="4114813"/>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13</a:t>
                  </a:r>
                </a:p>
              </p:txBody>
            </p:sp>
            <p:sp>
              <p:nvSpPr>
                <p:cNvPr id="65" name="Rectangle 64"/>
                <p:cNvSpPr/>
                <p:nvPr/>
              </p:nvSpPr>
              <p:spPr>
                <a:xfrm>
                  <a:off x="4648200" y="4800625"/>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14</a:t>
                  </a:r>
                </a:p>
              </p:txBody>
            </p:sp>
            <p:sp>
              <p:nvSpPr>
                <p:cNvPr id="66" name="Rectangle 65"/>
                <p:cNvSpPr/>
                <p:nvPr/>
              </p:nvSpPr>
              <p:spPr>
                <a:xfrm>
                  <a:off x="4648200" y="5486438"/>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15</a:t>
                  </a:r>
                </a:p>
              </p:txBody>
            </p:sp>
          </p:grpSp>
          <p:grpSp>
            <p:nvGrpSpPr>
              <p:cNvPr id="56370" name="Group 128"/>
              <p:cNvGrpSpPr>
                <a:grpSpLocks/>
              </p:cNvGrpSpPr>
              <p:nvPr/>
            </p:nvGrpSpPr>
            <p:grpSpPr bwMode="auto">
              <a:xfrm>
                <a:off x="8382000" y="1752600"/>
                <a:ext cx="533400" cy="2743200"/>
                <a:chOff x="5181600" y="3429000"/>
                <a:chExt cx="533400" cy="2743200"/>
              </a:xfrm>
            </p:grpSpPr>
            <p:sp>
              <p:nvSpPr>
                <p:cNvPr id="68" name="Rectangle 67"/>
                <p:cNvSpPr/>
                <p:nvPr/>
              </p:nvSpPr>
              <p:spPr>
                <a:xfrm>
                  <a:off x="5181600" y="3429000"/>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16</a:t>
                  </a:r>
                </a:p>
              </p:txBody>
            </p:sp>
            <p:sp>
              <p:nvSpPr>
                <p:cNvPr id="69" name="Rectangle 68"/>
                <p:cNvSpPr/>
                <p:nvPr/>
              </p:nvSpPr>
              <p:spPr>
                <a:xfrm>
                  <a:off x="5181600" y="4114813"/>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17</a:t>
                  </a:r>
                </a:p>
              </p:txBody>
            </p:sp>
            <p:sp>
              <p:nvSpPr>
                <p:cNvPr id="70" name="Rectangle 69"/>
                <p:cNvSpPr/>
                <p:nvPr/>
              </p:nvSpPr>
              <p:spPr>
                <a:xfrm>
                  <a:off x="5181600" y="4800625"/>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18</a:t>
                  </a:r>
                </a:p>
              </p:txBody>
            </p:sp>
            <p:sp>
              <p:nvSpPr>
                <p:cNvPr id="71" name="Rectangle 70"/>
                <p:cNvSpPr/>
                <p:nvPr/>
              </p:nvSpPr>
              <p:spPr>
                <a:xfrm>
                  <a:off x="5181600" y="5486438"/>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19</a:t>
                  </a:r>
                </a:p>
              </p:txBody>
            </p:sp>
          </p:grpSp>
        </p:grpSp>
        <p:sp>
          <p:nvSpPr>
            <p:cNvPr id="87" name="Rectangle 86"/>
            <p:cNvSpPr/>
            <p:nvPr/>
          </p:nvSpPr>
          <p:spPr>
            <a:xfrm>
              <a:off x="6019800" y="4648253"/>
              <a:ext cx="3124200" cy="400057"/>
            </a:xfrm>
            <a:prstGeom prst="rect">
              <a:avLst/>
            </a:prstGeom>
            <a:noFill/>
            <a:ln>
              <a:noFill/>
            </a:ln>
          </p:spPr>
          <p:style>
            <a:lnRef idx="2">
              <a:schemeClr val="accent1"/>
            </a:lnRef>
            <a:fillRef idx="1">
              <a:schemeClr val="lt1"/>
            </a:fillRef>
            <a:effectRef idx="0">
              <a:schemeClr val="accent1"/>
            </a:effectRef>
            <a:fontRef idx="minor">
              <a:schemeClr val="dk1"/>
            </a:fontRef>
          </p:style>
          <p:txBody>
            <a:bodyPr>
              <a:spAutoFit/>
            </a:bodyP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buFont typeface="Wingdings" pitchFamily="2" charset="2"/>
                <a:buNone/>
                <a:defRPr/>
              </a:pPr>
              <a:r>
                <a:rPr lang="en-US" altLang="en-US" b="1" smtClean="0">
                  <a:solidFill>
                    <a:schemeClr val="tx1"/>
                  </a:solidFill>
                  <a:latin typeface="Calibri" pitchFamily="34" charset="0"/>
                </a:rPr>
                <a:t>Sequential overwrite</a:t>
              </a:r>
              <a:endParaRPr lang="en-US" altLang="en-US" b="1" smtClean="0">
                <a:solidFill>
                  <a:srgbClr val="C00000"/>
                </a:solidFill>
                <a:latin typeface="Calibri" pitchFamily="34" charset="0"/>
              </a:endParaRPr>
            </a:p>
          </p:txBody>
        </p:sp>
      </p:grpSp>
      <p:grpSp>
        <p:nvGrpSpPr>
          <p:cNvPr id="12" name="Group 66"/>
          <p:cNvGrpSpPr>
            <a:grpSpLocks/>
          </p:cNvGrpSpPr>
          <p:nvPr/>
        </p:nvGrpSpPr>
        <p:grpSpPr bwMode="auto">
          <a:xfrm>
            <a:off x="6248400" y="1752600"/>
            <a:ext cx="2743200" cy="3295650"/>
            <a:chOff x="1303115" y="3657600"/>
            <a:chExt cx="2743200" cy="3295710"/>
          </a:xfrm>
        </p:grpSpPr>
        <p:grpSp>
          <p:nvGrpSpPr>
            <p:cNvPr id="56342" name="Group 44"/>
            <p:cNvGrpSpPr>
              <a:grpSpLocks/>
            </p:cNvGrpSpPr>
            <p:nvPr/>
          </p:nvGrpSpPr>
          <p:grpSpPr bwMode="auto">
            <a:xfrm>
              <a:off x="1351032" y="3657600"/>
              <a:ext cx="2673153" cy="2743200"/>
              <a:chOff x="1371600" y="1752600"/>
              <a:chExt cx="2673153" cy="2743200"/>
            </a:xfrm>
          </p:grpSpPr>
          <p:sp>
            <p:nvSpPr>
              <p:cNvPr id="72" name="Rectangle 71"/>
              <p:cNvSpPr/>
              <p:nvPr/>
            </p:nvSpPr>
            <p:spPr>
              <a:xfrm>
                <a:off x="1371308" y="1752600"/>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8</a:t>
                </a:r>
              </a:p>
            </p:txBody>
          </p:sp>
          <p:sp>
            <p:nvSpPr>
              <p:cNvPr id="73" name="Rectangle 72"/>
              <p:cNvSpPr/>
              <p:nvPr/>
            </p:nvSpPr>
            <p:spPr>
              <a:xfrm>
                <a:off x="1371308" y="2438413"/>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1</a:t>
                </a:r>
              </a:p>
            </p:txBody>
          </p:sp>
          <p:sp>
            <p:nvSpPr>
              <p:cNvPr id="74" name="Rectangle 73"/>
              <p:cNvSpPr/>
              <p:nvPr/>
            </p:nvSpPr>
            <p:spPr>
              <a:xfrm>
                <a:off x="1904708" y="1752600"/>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4</a:t>
                </a:r>
              </a:p>
            </p:txBody>
          </p:sp>
          <p:sp>
            <p:nvSpPr>
              <p:cNvPr id="75" name="Rectangle 74"/>
              <p:cNvSpPr/>
              <p:nvPr/>
            </p:nvSpPr>
            <p:spPr>
              <a:xfrm>
                <a:off x="1904708" y="2438413"/>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13</a:t>
                </a:r>
              </a:p>
            </p:txBody>
          </p:sp>
          <p:sp>
            <p:nvSpPr>
              <p:cNvPr id="76" name="Rectangle 75"/>
              <p:cNvSpPr/>
              <p:nvPr/>
            </p:nvSpPr>
            <p:spPr>
              <a:xfrm>
                <a:off x="1904708" y="3124225"/>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6</a:t>
                </a:r>
              </a:p>
            </p:txBody>
          </p:sp>
          <p:sp>
            <p:nvSpPr>
              <p:cNvPr id="77" name="Rectangle 76"/>
              <p:cNvSpPr/>
              <p:nvPr/>
            </p:nvSpPr>
            <p:spPr>
              <a:xfrm>
                <a:off x="1371308" y="3124225"/>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14</a:t>
                </a:r>
              </a:p>
            </p:txBody>
          </p:sp>
          <p:sp>
            <p:nvSpPr>
              <p:cNvPr id="78" name="Rectangle 77"/>
              <p:cNvSpPr/>
              <p:nvPr/>
            </p:nvSpPr>
            <p:spPr>
              <a:xfrm>
                <a:off x="1371308" y="3810038"/>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3</a:t>
                </a:r>
              </a:p>
            </p:txBody>
          </p:sp>
          <p:sp>
            <p:nvSpPr>
              <p:cNvPr id="81" name="Rectangle 80"/>
              <p:cNvSpPr/>
              <p:nvPr/>
            </p:nvSpPr>
            <p:spPr>
              <a:xfrm>
                <a:off x="1904708" y="3810038"/>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11</a:t>
                </a:r>
              </a:p>
            </p:txBody>
          </p:sp>
          <p:sp>
            <p:nvSpPr>
              <p:cNvPr id="82" name="Rectangle 81"/>
              <p:cNvSpPr/>
              <p:nvPr/>
            </p:nvSpPr>
            <p:spPr>
              <a:xfrm>
                <a:off x="2438108" y="1752600"/>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0</a:t>
                </a:r>
              </a:p>
            </p:txBody>
          </p:sp>
          <p:sp>
            <p:nvSpPr>
              <p:cNvPr id="83" name="Rectangle 82"/>
              <p:cNvSpPr/>
              <p:nvPr/>
            </p:nvSpPr>
            <p:spPr>
              <a:xfrm>
                <a:off x="2438108" y="2438413"/>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9</a:t>
                </a:r>
              </a:p>
            </p:txBody>
          </p:sp>
          <p:sp>
            <p:nvSpPr>
              <p:cNvPr id="84" name="Rectangle 83"/>
              <p:cNvSpPr/>
              <p:nvPr/>
            </p:nvSpPr>
            <p:spPr>
              <a:xfrm>
                <a:off x="2438108" y="3124225"/>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18</a:t>
                </a:r>
              </a:p>
            </p:txBody>
          </p:sp>
          <p:sp>
            <p:nvSpPr>
              <p:cNvPr id="85" name="Rectangle 84"/>
              <p:cNvSpPr/>
              <p:nvPr/>
            </p:nvSpPr>
            <p:spPr>
              <a:xfrm>
                <a:off x="2438108" y="3810038"/>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19</a:t>
                </a:r>
              </a:p>
            </p:txBody>
          </p:sp>
          <p:sp>
            <p:nvSpPr>
              <p:cNvPr id="86" name="Rectangle 85"/>
              <p:cNvSpPr/>
              <p:nvPr/>
            </p:nvSpPr>
            <p:spPr>
              <a:xfrm>
                <a:off x="2971508" y="1752600"/>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16</a:t>
                </a:r>
              </a:p>
            </p:txBody>
          </p:sp>
          <p:sp>
            <p:nvSpPr>
              <p:cNvPr id="88" name="Rectangle 87"/>
              <p:cNvSpPr/>
              <p:nvPr/>
            </p:nvSpPr>
            <p:spPr>
              <a:xfrm>
                <a:off x="2971508" y="2438413"/>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5</a:t>
                </a:r>
              </a:p>
            </p:txBody>
          </p:sp>
          <p:sp>
            <p:nvSpPr>
              <p:cNvPr id="89" name="Rectangle 88"/>
              <p:cNvSpPr/>
              <p:nvPr/>
            </p:nvSpPr>
            <p:spPr>
              <a:xfrm>
                <a:off x="2971508" y="3124225"/>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10</a:t>
                </a:r>
              </a:p>
            </p:txBody>
          </p:sp>
          <p:sp>
            <p:nvSpPr>
              <p:cNvPr id="90" name="Rectangle 89"/>
              <p:cNvSpPr/>
              <p:nvPr/>
            </p:nvSpPr>
            <p:spPr>
              <a:xfrm>
                <a:off x="2971508" y="3810038"/>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15</a:t>
                </a:r>
              </a:p>
            </p:txBody>
          </p:sp>
          <p:sp>
            <p:nvSpPr>
              <p:cNvPr id="91" name="Rectangle 90"/>
              <p:cNvSpPr/>
              <p:nvPr/>
            </p:nvSpPr>
            <p:spPr>
              <a:xfrm>
                <a:off x="3511258" y="1752600"/>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12</a:t>
                </a:r>
              </a:p>
            </p:txBody>
          </p:sp>
          <p:sp>
            <p:nvSpPr>
              <p:cNvPr id="92" name="Rectangle 91"/>
              <p:cNvSpPr/>
              <p:nvPr/>
            </p:nvSpPr>
            <p:spPr>
              <a:xfrm>
                <a:off x="3504908" y="2438413"/>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17</a:t>
                </a:r>
              </a:p>
            </p:txBody>
          </p:sp>
          <p:sp>
            <p:nvSpPr>
              <p:cNvPr id="94" name="Rectangle 93"/>
              <p:cNvSpPr/>
              <p:nvPr/>
            </p:nvSpPr>
            <p:spPr>
              <a:xfrm>
                <a:off x="3504908" y="3124225"/>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2</a:t>
                </a:r>
              </a:p>
            </p:txBody>
          </p:sp>
          <p:sp>
            <p:nvSpPr>
              <p:cNvPr id="95" name="Rectangle 94"/>
              <p:cNvSpPr/>
              <p:nvPr/>
            </p:nvSpPr>
            <p:spPr>
              <a:xfrm>
                <a:off x="3504908" y="3810038"/>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7</a:t>
                </a:r>
              </a:p>
            </p:txBody>
          </p:sp>
        </p:grpSp>
        <p:sp>
          <p:nvSpPr>
            <p:cNvPr id="67" name="Rectangle 66"/>
            <p:cNvSpPr/>
            <p:nvPr/>
          </p:nvSpPr>
          <p:spPr>
            <a:xfrm>
              <a:off x="1303115" y="6553253"/>
              <a:ext cx="2743200" cy="400057"/>
            </a:xfrm>
            <a:prstGeom prst="rect">
              <a:avLst/>
            </a:prstGeom>
            <a:solidFill>
              <a:schemeClr val="bg1"/>
            </a:solidFill>
            <a:ln>
              <a:noFill/>
            </a:ln>
          </p:spPr>
          <p:style>
            <a:lnRef idx="2">
              <a:schemeClr val="accent1"/>
            </a:lnRef>
            <a:fillRef idx="1">
              <a:schemeClr val="lt1"/>
            </a:fillRef>
            <a:effectRef idx="0">
              <a:schemeClr val="accent1"/>
            </a:effectRef>
            <a:fontRef idx="minor">
              <a:schemeClr val="dk1"/>
            </a:fontRef>
          </p:style>
          <p:txBody>
            <a:bodyPr>
              <a:spAutoFit/>
            </a:bodyP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buFont typeface="Wingdings" pitchFamily="2" charset="2"/>
                <a:buNone/>
                <a:defRPr/>
              </a:pPr>
              <a:r>
                <a:rPr lang="en-US" altLang="en-US" b="1" smtClean="0">
                  <a:solidFill>
                    <a:schemeClr val="tx1"/>
                  </a:solidFill>
                  <a:latin typeface="Calibri" pitchFamily="34" charset="0"/>
                </a:rPr>
                <a:t>Random overwrite</a:t>
              </a:r>
              <a:endParaRPr lang="en-US" altLang="en-US" b="1" smtClean="0">
                <a:solidFill>
                  <a:srgbClr val="C00000"/>
                </a:solidFill>
                <a:latin typeface="Calibri" pitchFamily="34" charset="0"/>
              </a:endParaRPr>
            </a:p>
          </p:txBody>
        </p:sp>
      </p:grpSp>
      <p:grpSp>
        <p:nvGrpSpPr>
          <p:cNvPr id="14" name="Group 117"/>
          <p:cNvGrpSpPr>
            <a:grpSpLocks/>
          </p:cNvGrpSpPr>
          <p:nvPr/>
        </p:nvGrpSpPr>
        <p:grpSpPr bwMode="auto">
          <a:xfrm>
            <a:off x="3124200" y="609600"/>
            <a:ext cx="5867400" cy="1828800"/>
            <a:chOff x="3505200" y="381000"/>
            <a:chExt cx="5867400" cy="1828800"/>
          </a:xfrm>
        </p:grpSpPr>
        <p:sp>
          <p:nvSpPr>
            <p:cNvPr id="101" name="Rectangle 100"/>
            <p:cNvSpPr/>
            <p:nvPr/>
          </p:nvSpPr>
          <p:spPr>
            <a:xfrm>
              <a:off x="6629400" y="1524000"/>
              <a:ext cx="2743200" cy="685800"/>
            </a:xfrm>
            <a:prstGeom prst="rect">
              <a:avLst/>
            </a:prstGeom>
            <a:solidFill>
              <a:schemeClr val="bg1">
                <a:alpha val="50000"/>
              </a:schemeClr>
            </a:solidFill>
            <a:ln w="38100">
              <a:solidFill>
                <a:srgbClr val="C00000"/>
              </a:solidFill>
            </a:ln>
          </p:spPr>
          <p:style>
            <a:lnRef idx="2">
              <a:schemeClr val="accent2"/>
            </a:lnRef>
            <a:fillRef idx="1">
              <a:schemeClr val="lt1"/>
            </a:fillRef>
            <a:effectRef idx="0">
              <a:schemeClr val="accent2"/>
            </a:effectRef>
            <a:fontRef idx="minor">
              <a:schemeClr val="dk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None/>
                <a:defRPr/>
              </a:pPr>
              <a:endParaRPr lang="en-US" altLang="en-US" b="1" smtClean="0">
                <a:solidFill>
                  <a:srgbClr val="000000"/>
                </a:solidFill>
                <a:latin typeface="Calibri" pitchFamily="34" charset="0"/>
              </a:endParaRPr>
            </a:p>
          </p:txBody>
        </p:sp>
        <p:sp>
          <p:nvSpPr>
            <p:cNvPr id="104" name="Rectangle 103"/>
            <p:cNvSpPr/>
            <p:nvPr/>
          </p:nvSpPr>
          <p:spPr>
            <a:xfrm>
              <a:off x="3505200" y="1524000"/>
              <a:ext cx="2667000" cy="685800"/>
            </a:xfrm>
            <a:prstGeom prst="rect">
              <a:avLst/>
            </a:prstGeom>
            <a:solidFill>
              <a:schemeClr val="bg1">
                <a:alpha val="50000"/>
              </a:schemeClr>
            </a:solidFill>
            <a:ln w="38100">
              <a:solidFill>
                <a:srgbClr val="C00000"/>
              </a:solidFill>
            </a:ln>
          </p:spPr>
          <p:style>
            <a:lnRef idx="2">
              <a:schemeClr val="accent2"/>
            </a:lnRef>
            <a:fillRef idx="1">
              <a:schemeClr val="lt1"/>
            </a:fillRef>
            <a:effectRef idx="0">
              <a:schemeClr val="accent2"/>
            </a:effectRef>
            <a:fontRef idx="minor">
              <a:schemeClr val="dk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None/>
                <a:defRPr/>
              </a:pPr>
              <a:endParaRPr lang="en-US" altLang="en-US" b="1" smtClean="0">
                <a:solidFill>
                  <a:srgbClr val="000000"/>
                </a:solidFill>
                <a:latin typeface="Calibri" pitchFamily="34" charset="0"/>
              </a:endParaRPr>
            </a:p>
          </p:txBody>
        </p:sp>
        <p:grpSp>
          <p:nvGrpSpPr>
            <p:cNvPr id="56337" name="Group 76"/>
            <p:cNvGrpSpPr>
              <a:grpSpLocks/>
            </p:cNvGrpSpPr>
            <p:nvPr/>
          </p:nvGrpSpPr>
          <p:grpSpPr bwMode="auto">
            <a:xfrm>
              <a:off x="4884956" y="381000"/>
              <a:ext cx="3063788" cy="1188320"/>
              <a:chOff x="6637556" y="4299228"/>
              <a:chExt cx="3063788" cy="1188320"/>
            </a:xfrm>
          </p:grpSpPr>
          <p:grpSp>
            <p:nvGrpSpPr>
              <p:cNvPr id="56338" name="Group 14"/>
              <p:cNvGrpSpPr>
                <a:grpSpLocks/>
              </p:cNvGrpSpPr>
              <p:nvPr/>
            </p:nvGrpSpPr>
            <p:grpSpPr bwMode="auto">
              <a:xfrm>
                <a:off x="6637556" y="4299228"/>
                <a:ext cx="3063788" cy="1143001"/>
                <a:chOff x="4503956" y="4604028"/>
                <a:chExt cx="3063788" cy="1143001"/>
              </a:xfrm>
            </p:grpSpPr>
            <p:sp>
              <p:nvSpPr>
                <p:cNvPr id="109" name="Rectangle 108"/>
                <p:cNvSpPr/>
                <p:nvPr/>
              </p:nvSpPr>
              <p:spPr>
                <a:xfrm>
                  <a:off x="4503738" y="4604028"/>
                  <a:ext cx="3063875" cy="830263"/>
                </a:xfrm>
                <a:prstGeom prst="rect">
                  <a:avLst/>
                </a:prstGeom>
              </p:spPr>
              <p:style>
                <a:lnRef idx="1">
                  <a:schemeClr val="accent2"/>
                </a:lnRef>
                <a:fillRef idx="3">
                  <a:schemeClr val="accent2"/>
                </a:fillRef>
                <a:effectRef idx="2">
                  <a:schemeClr val="accent2"/>
                </a:effectRef>
                <a:fontRef idx="minor">
                  <a:schemeClr val="lt1"/>
                </a:fontRef>
              </p:style>
              <p:txBody>
                <a:bodyPr wrap="none">
                  <a:spAutoFit/>
                </a:bodyPr>
                <a:lstStyle/>
                <a:p>
                  <a:pPr algn="ctr" eaLnBrk="1" hangingPunct="1">
                    <a:spcBef>
                      <a:spcPts val="0"/>
                    </a:spcBef>
                    <a:spcAft>
                      <a:spcPts val="0"/>
                    </a:spcAft>
                    <a:buFont typeface="Wingdings" pitchFamily="2" charset="2"/>
                    <a:buNone/>
                    <a:defRPr/>
                  </a:pPr>
                  <a:r>
                    <a:rPr lang="en-US" sz="2400" b="1" dirty="0">
                      <a:solidFill>
                        <a:schemeClr val="bg1"/>
                      </a:solidFill>
                    </a:rPr>
                    <a:t>LBN-mapping: </a:t>
                  </a:r>
                </a:p>
                <a:p>
                  <a:pPr algn="ctr" eaLnBrk="1" hangingPunct="1">
                    <a:spcBef>
                      <a:spcPts val="0"/>
                    </a:spcBef>
                    <a:spcAft>
                      <a:spcPts val="0"/>
                    </a:spcAft>
                    <a:buFont typeface="Wingdings" pitchFamily="2" charset="2"/>
                    <a:buNone/>
                    <a:defRPr/>
                  </a:pPr>
                  <a:r>
                    <a:rPr lang="en-US" sz="2400" b="1" dirty="0">
                      <a:solidFill>
                        <a:schemeClr val="bg1"/>
                      </a:solidFill>
                    </a:rPr>
                    <a:t>The same set of blocks</a:t>
                  </a:r>
                </a:p>
              </p:txBody>
            </p:sp>
            <p:cxnSp>
              <p:nvCxnSpPr>
                <p:cNvPr id="110" name="Straight Arrow Connector 109"/>
                <p:cNvCxnSpPr>
                  <a:endCxn id="109" idx="2"/>
                </p:cNvCxnSpPr>
                <p:nvPr/>
              </p:nvCxnSpPr>
              <p:spPr>
                <a:xfrm rot="16200000" flipV="1">
                  <a:off x="5985669" y="5484297"/>
                  <a:ext cx="312737" cy="212725"/>
                </a:xfrm>
                <a:prstGeom prst="straightConnector1">
                  <a:avLst/>
                </a:prstGeom>
                <a:ln w="38100">
                  <a:solidFill>
                    <a:srgbClr val="C00000"/>
                  </a:solidFill>
                  <a:headEnd type="arrow"/>
                  <a:tailEnd type="none"/>
                </a:ln>
              </p:spPr>
              <p:style>
                <a:lnRef idx="1">
                  <a:schemeClr val="accent1"/>
                </a:lnRef>
                <a:fillRef idx="0">
                  <a:schemeClr val="accent1"/>
                </a:fillRef>
                <a:effectRef idx="0">
                  <a:schemeClr val="accent1"/>
                </a:effectRef>
                <a:fontRef idx="minor">
                  <a:schemeClr val="tx1"/>
                </a:fontRef>
              </p:style>
            </p:cxnSp>
          </p:grpSp>
          <p:cxnSp>
            <p:nvCxnSpPr>
              <p:cNvPr id="108" name="Straight Arrow Connector 107"/>
              <p:cNvCxnSpPr>
                <a:endCxn id="109" idx="2"/>
              </p:cNvCxnSpPr>
              <p:nvPr/>
            </p:nvCxnSpPr>
            <p:spPr>
              <a:xfrm rot="5400000" flipH="1" flipV="1">
                <a:off x="7868444" y="5187434"/>
                <a:ext cx="357188" cy="244475"/>
              </a:xfrm>
              <a:prstGeom prst="straightConnector1">
                <a:avLst/>
              </a:prstGeom>
              <a:ln w="38100">
                <a:solidFill>
                  <a:srgbClr val="C00000"/>
                </a:solidFill>
                <a:headEnd type="arrow"/>
                <a:tailEnd type="none"/>
              </a:ln>
            </p:spPr>
            <p:style>
              <a:lnRef idx="1">
                <a:schemeClr val="accent1"/>
              </a:lnRef>
              <a:fillRef idx="0">
                <a:schemeClr val="accent1"/>
              </a:fillRef>
              <a:effectRef idx="0">
                <a:schemeClr val="accent1"/>
              </a:effectRef>
              <a:fontRef idx="minor">
                <a:schemeClr val="tx1"/>
              </a:fontRef>
            </p:style>
          </p:cxnSp>
        </p:grpSp>
      </p:grpSp>
      <p:cxnSp>
        <p:nvCxnSpPr>
          <p:cNvPr id="142" name="Straight Connector 141"/>
          <p:cNvCxnSpPr/>
          <p:nvPr/>
        </p:nvCxnSpPr>
        <p:spPr>
          <a:xfrm>
            <a:off x="457200" y="6629400"/>
            <a:ext cx="69342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17934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5" presetClass="path" presetSubtype="0" accel="50000" decel="50000" fill="hold" nodeType="clickEffect">
                                  <p:stCondLst>
                                    <p:cond delay="0"/>
                                  </p:stCondLst>
                                  <p:childTnLst>
                                    <p:animMotion origin="layout" path="M 3.33333E-6 -3.33333E-6 L -0.3375 0.00417 " pathEditMode="relative" rAng="0" ptsTypes="AA">
                                      <p:cBhvr>
                                        <p:cTn id="10" dur="500" fill="hold"/>
                                        <p:tgtEl>
                                          <p:spTgt spid="5"/>
                                        </p:tgtEl>
                                        <p:attrNameLst>
                                          <p:attrName>ppt_x</p:attrName>
                                          <p:attrName>ppt_y</p:attrName>
                                        </p:attrNameLst>
                                      </p:cBhvr>
                                      <p:rCtr x="-16900" y="200"/>
                                    </p:animMotion>
                                  </p:childTnLst>
                                </p:cTn>
                              </p:par>
                              <p:par>
                                <p:cTn id="11" presetID="5" presetClass="entr" presetSubtype="1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checkerboard(across)">
                                      <p:cBhvr>
                                        <p:cTn id="13" dur="500"/>
                                        <p:tgtEl>
                                          <p:spTgt spid="12"/>
                                        </p:tgtEl>
                                      </p:cBhvr>
                                    </p:animEffect>
                                  </p:childTnLst>
                                </p:cTn>
                              </p:par>
                            </p:childTnLst>
                          </p:cTn>
                        </p:par>
                        <p:par>
                          <p:cTn id="14" fill="hold" nodeType="afterGroup">
                            <p:stCondLst>
                              <p:cond delay="500"/>
                            </p:stCondLst>
                            <p:childTnLst>
                              <p:par>
                                <p:cTn id="15" presetID="1" presetClass="entr" presetSubtype="0" fill="hold" nodeType="afterEffect">
                                  <p:stCondLst>
                                    <p:cond delay="0"/>
                                  </p:stCondLst>
                                  <p:childTnLst>
                                    <p:set>
                                      <p:cBhvr>
                                        <p:cTn id="16" dur="1" fill="hold">
                                          <p:stCondLst>
                                            <p:cond delay="0"/>
                                          </p:stCondLst>
                                        </p:cTn>
                                        <p:tgtEl>
                                          <p:spTgt spid="14"/>
                                        </p:tgtEl>
                                        <p:attrNameLst>
                                          <p:attrName>style.visibility</p:attrName>
                                        </p:attrNameLst>
                                      </p:cBhvr>
                                      <p:to>
                                        <p:strVal val="visible"/>
                                      </p:to>
                                    </p:se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xit" presetSubtype="0" fill="hold" nodeType="clickEffect">
                                  <p:stCondLst>
                                    <p:cond delay="0"/>
                                  </p:stCondLst>
                                  <p:childTnLst>
                                    <p:set>
                                      <p:cBhvr>
                                        <p:cTn id="20" dur="1" fill="hold">
                                          <p:stCondLst>
                                            <p:cond delay="0"/>
                                          </p:stCondLst>
                                        </p:cTn>
                                        <p:tgtEl>
                                          <p:spTgt spid="5"/>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14"/>
                                        </p:tgtEl>
                                        <p:attrNameLst>
                                          <p:attrName>style.visibility</p:attrName>
                                        </p:attrNameLst>
                                      </p:cBhvr>
                                      <p:to>
                                        <p:strVal val="hidden"/>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1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 name="Group 112"/>
          <p:cNvGrpSpPr>
            <a:grpSpLocks/>
          </p:cNvGrpSpPr>
          <p:nvPr/>
        </p:nvGrpSpPr>
        <p:grpSpPr bwMode="auto">
          <a:xfrm>
            <a:off x="0" y="1285875"/>
            <a:ext cx="4953000" cy="2066925"/>
            <a:chOff x="0" y="1600200"/>
            <a:chExt cx="4953000" cy="2066925"/>
          </a:xfrm>
        </p:grpSpPr>
        <p:pic>
          <p:nvPicPr>
            <p:cNvPr id="5845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00200"/>
              <a:ext cx="4953000" cy="206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456" name="Rectangle 115"/>
            <p:cNvSpPr>
              <a:spLocks noChangeArrowheads="1"/>
            </p:cNvSpPr>
            <p:nvPr/>
          </p:nvSpPr>
          <p:spPr bwMode="auto">
            <a:xfrm>
              <a:off x="1295400" y="2581215"/>
              <a:ext cx="241925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50000"/>
                </a:spcBef>
                <a:spcAft>
                  <a:spcPct val="20000"/>
                </a:spcAft>
                <a:buFont typeface="Wingdings" panose="05000000000000000000" pitchFamily="2" charset="2"/>
                <a:buNone/>
              </a:pPr>
              <a:r>
                <a:rPr lang="en-US" altLang="en-US" sz="1600" b="1">
                  <a:solidFill>
                    <a:srgbClr val="010000"/>
                  </a:solidFill>
                  <a:latin typeface="Verdana" panose="020B0604030504040204" pitchFamily="34" charset="0"/>
                </a:rPr>
                <a:t>Anticipated Results</a:t>
              </a:r>
            </a:p>
          </p:txBody>
        </p:sp>
      </p:grpSp>
      <p:sp>
        <p:nvSpPr>
          <p:cNvPr id="41" name="Rectangle 40"/>
          <p:cNvSpPr/>
          <p:nvPr/>
        </p:nvSpPr>
        <p:spPr>
          <a:xfrm>
            <a:off x="6248400" y="1752600"/>
            <a:ext cx="2687638" cy="685800"/>
          </a:xfrm>
          <a:prstGeom prst="rect">
            <a:avLst/>
          </a:prstGeom>
          <a:solidFill>
            <a:schemeClr val="tx1"/>
          </a:solidFill>
        </p:spPr>
        <p:style>
          <a:lnRef idx="1">
            <a:schemeClr val="dk1"/>
          </a:lnRef>
          <a:fillRef idx="3">
            <a:schemeClr val="dk1"/>
          </a:fillRef>
          <a:effectRef idx="2">
            <a:schemeClr val="dk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dirty="0"/>
              <a:t>Domain #0</a:t>
            </a:r>
          </a:p>
        </p:txBody>
      </p:sp>
      <p:sp>
        <p:nvSpPr>
          <p:cNvPr id="42" name="Rectangle 41"/>
          <p:cNvSpPr/>
          <p:nvPr/>
        </p:nvSpPr>
        <p:spPr>
          <a:xfrm>
            <a:off x="6248400" y="2438400"/>
            <a:ext cx="2687638" cy="685800"/>
          </a:xfrm>
          <a:prstGeom prst="rect">
            <a:avLst/>
          </a:prstGeom>
          <a:solidFill>
            <a:schemeClr val="tx2"/>
          </a:solidFill>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dirty="0"/>
              <a:t>Domain #1</a:t>
            </a:r>
          </a:p>
        </p:txBody>
      </p:sp>
      <p:sp>
        <p:nvSpPr>
          <p:cNvPr id="43" name="Rectangle 42"/>
          <p:cNvSpPr/>
          <p:nvPr/>
        </p:nvSpPr>
        <p:spPr>
          <a:xfrm>
            <a:off x="6248400" y="3124200"/>
            <a:ext cx="2687638" cy="685800"/>
          </a:xfrm>
          <a:prstGeom prst="rect">
            <a:avLst/>
          </a:prstGeom>
          <a:solidFill>
            <a:srgbClr val="C00000"/>
          </a:solidFill>
        </p:spPr>
        <p:style>
          <a:lnRef idx="1">
            <a:schemeClr val="accent2"/>
          </a:lnRef>
          <a:fillRef idx="3">
            <a:schemeClr val="accent2"/>
          </a:fillRef>
          <a:effectRef idx="2">
            <a:schemeClr val="accent2"/>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dirty="0"/>
              <a:t>Domain #2</a:t>
            </a:r>
          </a:p>
        </p:txBody>
      </p:sp>
      <p:sp>
        <p:nvSpPr>
          <p:cNvPr id="44" name="Rectangle 43"/>
          <p:cNvSpPr/>
          <p:nvPr/>
        </p:nvSpPr>
        <p:spPr>
          <a:xfrm>
            <a:off x="6248400" y="3810000"/>
            <a:ext cx="2687638" cy="685800"/>
          </a:xfrm>
          <a:prstGeom prst="rect">
            <a:avLst/>
          </a:prstGeom>
          <a:solidFill>
            <a:schemeClr val="accent3">
              <a:lumMod val="50000"/>
            </a:schemeClr>
          </a:solidFill>
        </p:spPr>
        <p:style>
          <a:lnRef idx="1">
            <a:schemeClr val="accent3"/>
          </a:lnRef>
          <a:fillRef idx="3">
            <a:schemeClr val="accent3"/>
          </a:fillRef>
          <a:effectRef idx="2">
            <a:schemeClr val="accent3"/>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dirty="0"/>
              <a:t>Domain #3</a:t>
            </a:r>
          </a:p>
        </p:txBody>
      </p:sp>
      <p:sp>
        <p:nvSpPr>
          <p:cNvPr id="58375" name="Title 1"/>
          <p:cNvSpPr>
            <a:spLocks noGrp="1"/>
          </p:cNvSpPr>
          <p:nvPr>
            <p:ph type="title"/>
          </p:nvPr>
        </p:nvSpPr>
        <p:spPr/>
        <p:txBody>
          <a:bodyPr/>
          <a:lstStyle/>
          <a:p>
            <a:pPr eaLnBrk="1" hangingPunct="1"/>
            <a:r>
              <a:rPr lang="en-US" altLang="en-US" smtClean="0"/>
              <a:t>Write-order based Mapping?</a:t>
            </a:r>
          </a:p>
        </p:txBody>
      </p:sp>
      <p:sp>
        <p:nvSpPr>
          <p:cNvPr id="3" name="Content Placeholder 2"/>
          <p:cNvSpPr>
            <a:spLocks noGrp="1"/>
          </p:cNvSpPr>
          <p:nvPr>
            <p:ph idx="1"/>
          </p:nvPr>
        </p:nvSpPr>
        <p:spPr>
          <a:xfrm>
            <a:off x="0" y="5486400"/>
            <a:ext cx="9144000" cy="1371600"/>
          </a:xfrm>
        </p:spPr>
        <p:txBody>
          <a:bodyPr/>
          <a:lstStyle/>
          <a:p>
            <a:pPr eaLnBrk="1" hangingPunct="1"/>
            <a:r>
              <a:rPr lang="en-US" altLang="en-US" sz="2400" smtClean="0"/>
              <a:t>Randomize SSD space by a file with random order blocks of 4KB</a:t>
            </a:r>
          </a:p>
          <a:p>
            <a:pPr eaLnBrk="1" hangingPunct="1"/>
            <a:r>
              <a:rPr lang="en-US" altLang="en-US" sz="2400" smtClean="0"/>
              <a:t>Read the blocks </a:t>
            </a:r>
            <a:r>
              <a:rPr lang="en-US" altLang="en-US" sz="2400" smtClean="0">
                <a:solidFill>
                  <a:srgbClr val="C00000"/>
                </a:solidFill>
              </a:rPr>
              <a:t>in the order of writes</a:t>
            </a:r>
          </a:p>
          <a:p>
            <a:pPr eaLnBrk="1" hangingPunct="1"/>
            <a:r>
              <a:rPr lang="en-US" altLang="en-US" sz="2400" smtClean="0"/>
              <a:t>Write-order based Mapping: Similar pattern should reappear</a:t>
            </a:r>
          </a:p>
        </p:txBody>
      </p:sp>
      <p:sp>
        <p:nvSpPr>
          <p:cNvPr id="58377" name="Slide Number Placeholder 3"/>
          <p:cNvSpPr>
            <a:spLocks noGrp="1"/>
          </p:cNvSpPr>
          <p:nvPr>
            <p:ph type="sldNum" sz="quarter" idx="4294967295"/>
          </p:nvPr>
        </p:nvSpPr>
        <p:spPr bwMode="auto">
          <a:xfrm>
            <a:off x="7010400" y="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 typeface="Wingdings" panose="05000000000000000000" pitchFamily="2" charset="2"/>
              <a:buNone/>
            </a:pPr>
            <a:fld id="{16E8E371-BF77-4BA6-9A5D-63C39AEC3ADC}" type="slidenum">
              <a:rPr lang="zh-CN" altLang="en-US" sz="1200">
                <a:solidFill>
                  <a:srgbClr val="898989"/>
                </a:solidFill>
                <a:latin typeface="Verdana" panose="020B0604030504040204" pitchFamily="34" charset="0"/>
              </a:rPr>
              <a:pPr>
                <a:spcBef>
                  <a:spcPct val="50000"/>
                </a:spcBef>
                <a:buFont typeface="Wingdings" panose="05000000000000000000" pitchFamily="2" charset="2"/>
                <a:buNone/>
              </a:pPr>
              <a:t>94</a:t>
            </a:fld>
            <a:endParaRPr lang="zh-CN" altLang="en-US" sz="1200">
              <a:solidFill>
                <a:srgbClr val="898989"/>
              </a:solidFill>
              <a:latin typeface="Verdana" panose="020B0604030504040204" pitchFamily="34" charset="0"/>
            </a:endParaRPr>
          </a:p>
        </p:txBody>
      </p:sp>
      <p:grpSp>
        <p:nvGrpSpPr>
          <p:cNvPr id="4" name="Group 128"/>
          <p:cNvGrpSpPr>
            <a:grpSpLocks/>
          </p:cNvGrpSpPr>
          <p:nvPr/>
        </p:nvGrpSpPr>
        <p:grpSpPr bwMode="auto">
          <a:xfrm>
            <a:off x="6019800" y="1752600"/>
            <a:ext cx="3124200" cy="3295650"/>
            <a:chOff x="6019800" y="1752600"/>
            <a:chExt cx="3124200" cy="3295710"/>
          </a:xfrm>
        </p:grpSpPr>
        <p:grpSp>
          <p:nvGrpSpPr>
            <p:cNvPr id="58428" name="Group 51"/>
            <p:cNvGrpSpPr>
              <a:grpSpLocks/>
            </p:cNvGrpSpPr>
            <p:nvPr/>
          </p:nvGrpSpPr>
          <p:grpSpPr bwMode="auto">
            <a:xfrm>
              <a:off x="6248400" y="1752600"/>
              <a:ext cx="2667000" cy="2743200"/>
              <a:chOff x="6248400" y="1752600"/>
              <a:chExt cx="2667000" cy="2743200"/>
            </a:xfrm>
          </p:grpSpPr>
          <p:grpSp>
            <p:nvGrpSpPr>
              <p:cNvPr id="58430" name="Group 124"/>
              <p:cNvGrpSpPr>
                <a:grpSpLocks/>
              </p:cNvGrpSpPr>
              <p:nvPr/>
            </p:nvGrpSpPr>
            <p:grpSpPr bwMode="auto">
              <a:xfrm>
                <a:off x="6248400" y="1752600"/>
                <a:ext cx="533400" cy="2743200"/>
                <a:chOff x="3048000" y="3429000"/>
                <a:chExt cx="533400" cy="2743200"/>
              </a:xfrm>
            </p:grpSpPr>
            <p:sp>
              <p:nvSpPr>
                <p:cNvPr id="158" name="Rectangle 157"/>
                <p:cNvSpPr/>
                <p:nvPr/>
              </p:nvSpPr>
              <p:spPr>
                <a:xfrm>
                  <a:off x="3048000" y="3429000"/>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0</a:t>
                  </a:r>
                </a:p>
              </p:txBody>
            </p:sp>
            <p:sp>
              <p:nvSpPr>
                <p:cNvPr id="159" name="Rectangle 158"/>
                <p:cNvSpPr/>
                <p:nvPr/>
              </p:nvSpPr>
              <p:spPr>
                <a:xfrm>
                  <a:off x="3048000" y="4114813"/>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1</a:t>
                  </a:r>
                </a:p>
              </p:txBody>
            </p:sp>
            <p:sp>
              <p:nvSpPr>
                <p:cNvPr id="160" name="Rectangle 159"/>
                <p:cNvSpPr/>
                <p:nvPr/>
              </p:nvSpPr>
              <p:spPr>
                <a:xfrm>
                  <a:off x="3048000" y="4800625"/>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2</a:t>
                  </a:r>
                </a:p>
              </p:txBody>
            </p:sp>
            <p:sp>
              <p:nvSpPr>
                <p:cNvPr id="161" name="Rectangle 160"/>
                <p:cNvSpPr/>
                <p:nvPr/>
              </p:nvSpPr>
              <p:spPr>
                <a:xfrm>
                  <a:off x="3048000" y="5486438"/>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3</a:t>
                  </a:r>
                </a:p>
              </p:txBody>
            </p:sp>
          </p:grpSp>
          <p:grpSp>
            <p:nvGrpSpPr>
              <p:cNvPr id="58431" name="Group 125"/>
              <p:cNvGrpSpPr>
                <a:grpSpLocks/>
              </p:cNvGrpSpPr>
              <p:nvPr/>
            </p:nvGrpSpPr>
            <p:grpSpPr bwMode="auto">
              <a:xfrm>
                <a:off x="6781800" y="1752600"/>
                <a:ext cx="533400" cy="2743200"/>
                <a:chOff x="3581400" y="3429000"/>
                <a:chExt cx="533400" cy="2743200"/>
              </a:xfrm>
            </p:grpSpPr>
            <p:sp>
              <p:nvSpPr>
                <p:cNvPr id="154" name="Rectangle 153"/>
                <p:cNvSpPr/>
                <p:nvPr/>
              </p:nvSpPr>
              <p:spPr>
                <a:xfrm>
                  <a:off x="3581400" y="3429000"/>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4</a:t>
                  </a:r>
                </a:p>
              </p:txBody>
            </p:sp>
            <p:sp>
              <p:nvSpPr>
                <p:cNvPr id="155" name="Rectangle 154"/>
                <p:cNvSpPr/>
                <p:nvPr/>
              </p:nvSpPr>
              <p:spPr>
                <a:xfrm>
                  <a:off x="3581400" y="4114813"/>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5</a:t>
                  </a:r>
                </a:p>
              </p:txBody>
            </p:sp>
            <p:sp>
              <p:nvSpPr>
                <p:cNvPr id="156" name="Rectangle 155"/>
                <p:cNvSpPr/>
                <p:nvPr/>
              </p:nvSpPr>
              <p:spPr>
                <a:xfrm>
                  <a:off x="3581400" y="4800625"/>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6</a:t>
                  </a:r>
                </a:p>
              </p:txBody>
            </p:sp>
            <p:sp>
              <p:nvSpPr>
                <p:cNvPr id="157" name="Rectangle 156"/>
                <p:cNvSpPr/>
                <p:nvPr/>
              </p:nvSpPr>
              <p:spPr>
                <a:xfrm>
                  <a:off x="3581400" y="5486438"/>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7</a:t>
                  </a:r>
                </a:p>
              </p:txBody>
            </p:sp>
          </p:grpSp>
          <p:grpSp>
            <p:nvGrpSpPr>
              <p:cNvPr id="58432" name="Group 126"/>
              <p:cNvGrpSpPr>
                <a:grpSpLocks/>
              </p:cNvGrpSpPr>
              <p:nvPr/>
            </p:nvGrpSpPr>
            <p:grpSpPr bwMode="auto">
              <a:xfrm>
                <a:off x="7315200" y="1752600"/>
                <a:ext cx="533400" cy="2743200"/>
                <a:chOff x="4114800" y="3429000"/>
                <a:chExt cx="533400" cy="2743200"/>
              </a:xfrm>
            </p:grpSpPr>
            <p:sp>
              <p:nvSpPr>
                <p:cNvPr id="150" name="Rectangle 149"/>
                <p:cNvSpPr/>
                <p:nvPr/>
              </p:nvSpPr>
              <p:spPr>
                <a:xfrm>
                  <a:off x="4114800" y="3429000"/>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8</a:t>
                  </a:r>
                </a:p>
              </p:txBody>
            </p:sp>
            <p:sp>
              <p:nvSpPr>
                <p:cNvPr id="151" name="Rectangle 150"/>
                <p:cNvSpPr/>
                <p:nvPr/>
              </p:nvSpPr>
              <p:spPr>
                <a:xfrm>
                  <a:off x="4114800" y="4114813"/>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9</a:t>
                  </a:r>
                </a:p>
              </p:txBody>
            </p:sp>
            <p:sp>
              <p:nvSpPr>
                <p:cNvPr id="152" name="Rectangle 151"/>
                <p:cNvSpPr/>
                <p:nvPr/>
              </p:nvSpPr>
              <p:spPr>
                <a:xfrm>
                  <a:off x="4114800" y="4800625"/>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10</a:t>
                  </a:r>
                </a:p>
              </p:txBody>
            </p:sp>
            <p:sp>
              <p:nvSpPr>
                <p:cNvPr id="153" name="Rectangle 152"/>
                <p:cNvSpPr/>
                <p:nvPr/>
              </p:nvSpPr>
              <p:spPr>
                <a:xfrm>
                  <a:off x="4114800" y="5486438"/>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11</a:t>
                  </a:r>
                </a:p>
              </p:txBody>
            </p:sp>
          </p:grpSp>
          <p:grpSp>
            <p:nvGrpSpPr>
              <p:cNvPr id="58433" name="Group 127"/>
              <p:cNvGrpSpPr>
                <a:grpSpLocks/>
              </p:cNvGrpSpPr>
              <p:nvPr/>
            </p:nvGrpSpPr>
            <p:grpSpPr bwMode="auto">
              <a:xfrm>
                <a:off x="7848600" y="1752600"/>
                <a:ext cx="533400" cy="2743200"/>
                <a:chOff x="4648200" y="3429000"/>
                <a:chExt cx="533400" cy="2743200"/>
              </a:xfrm>
            </p:grpSpPr>
            <p:sp>
              <p:nvSpPr>
                <p:cNvPr id="146" name="Rectangle 145"/>
                <p:cNvSpPr/>
                <p:nvPr/>
              </p:nvSpPr>
              <p:spPr>
                <a:xfrm>
                  <a:off x="4648200" y="3429000"/>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12</a:t>
                  </a:r>
                </a:p>
              </p:txBody>
            </p:sp>
            <p:sp>
              <p:nvSpPr>
                <p:cNvPr id="147" name="Rectangle 146"/>
                <p:cNvSpPr/>
                <p:nvPr/>
              </p:nvSpPr>
              <p:spPr>
                <a:xfrm>
                  <a:off x="4648200" y="4114813"/>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13</a:t>
                  </a:r>
                </a:p>
              </p:txBody>
            </p:sp>
            <p:sp>
              <p:nvSpPr>
                <p:cNvPr id="148" name="Rectangle 147"/>
                <p:cNvSpPr/>
                <p:nvPr/>
              </p:nvSpPr>
              <p:spPr>
                <a:xfrm>
                  <a:off x="4648200" y="4800625"/>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14</a:t>
                  </a:r>
                </a:p>
              </p:txBody>
            </p:sp>
            <p:sp>
              <p:nvSpPr>
                <p:cNvPr id="149" name="Rectangle 148"/>
                <p:cNvSpPr/>
                <p:nvPr/>
              </p:nvSpPr>
              <p:spPr>
                <a:xfrm>
                  <a:off x="4648200" y="5486438"/>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15</a:t>
                  </a:r>
                </a:p>
              </p:txBody>
            </p:sp>
          </p:grpSp>
          <p:grpSp>
            <p:nvGrpSpPr>
              <p:cNvPr id="58434" name="Group 128"/>
              <p:cNvGrpSpPr>
                <a:grpSpLocks/>
              </p:cNvGrpSpPr>
              <p:nvPr/>
            </p:nvGrpSpPr>
            <p:grpSpPr bwMode="auto">
              <a:xfrm>
                <a:off x="8382000" y="1752600"/>
                <a:ext cx="533400" cy="2743200"/>
                <a:chOff x="5181600" y="3429000"/>
                <a:chExt cx="533400" cy="2743200"/>
              </a:xfrm>
            </p:grpSpPr>
            <p:sp>
              <p:nvSpPr>
                <p:cNvPr id="141" name="Rectangle 140"/>
                <p:cNvSpPr/>
                <p:nvPr/>
              </p:nvSpPr>
              <p:spPr>
                <a:xfrm>
                  <a:off x="5181600" y="3429000"/>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16</a:t>
                  </a:r>
                </a:p>
              </p:txBody>
            </p:sp>
            <p:sp>
              <p:nvSpPr>
                <p:cNvPr id="143" name="Rectangle 142"/>
                <p:cNvSpPr/>
                <p:nvPr/>
              </p:nvSpPr>
              <p:spPr>
                <a:xfrm>
                  <a:off x="5181600" y="4114813"/>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17</a:t>
                  </a:r>
                </a:p>
              </p:txBody>
            </p:sp>
            <p:sp>
              <p:nvSpPr>
                <p:cNvPr id="144" name="Rectangle 143"/>
                <p:cNvSpPr/>
                <p:nvPr/>
              </p:nvSpPr>
              <p:spPr>
                <a:xfrm>
                  <a:off x="5181600" y="4800625"/>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18</a:t>
                  </a:r>
                </a:p>
              </p:txBody>
            </p:sp>
            <p:sp>
              <p:nvSpPr>
                <p:cNvPr id="145" name="Rectangle 144"/>
                <p:cNvSpPr/>
                <p:nvPr/>
              </p:nvSpPr>
              <p:spPr>
                <a:xfrm>
                  <a:off x="5181600" y="5486438"/>
                  <a:ext cx="533400" cy="685813"/>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19</a:t>
                  </a:r>
                </a:p>
              </p:txBody>
            </p:sp>
          </p:grpSp>
        </p:grpSp>
        <p:sp>
          <p:nvSpPr>
            <p:cNvPr id="131" name="Rectangle 130"/>
            <p:cNvSpPr/>
            <p:nvPr/>
          </p:nvSpPr>
          <p:spPr>
            <a:xfrm>
              <a:off x="6019800" y="4648253"/>
              <a:ext cx="3124200" cy="400057"/>
            </a:xfrm>
            <a:prstGeom prst="rect">
              <a:avLst/>
            </a:prstGeom>
            <a:noFill/>
            <a:ln>
              <a:noFill/>
            </a:ln>
          </p:spPr>
          <p:style>
            <a:lnRef idx="2">
              <a:schemeClr val="accent1"/>
            </a:lnRef>
            <a:fillRef idx="1">
              <a:schemeClr val="lt1"/>
            </a:fillRef>
            <a:effectRef idx="0">
              <a:schemeClr val="accent1"/>
            </a:effectRef>
            <a:fontRef idx="minor">
              <a:schemeClr val="dk1"/>
            </a:fontRef>
          </p:style>
          <p:txBody>
            <a:bodyPr>
              <a:spAutoFit/>
            </a:bodyP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buFont typeface="Wingdings" pitchFamily="2" charset="2"/>
                <a:buNone/>
                <a:defRPr/>
              </a:pPr>
              <a:r>
                <a:rPr lang="en-US" altLang="en-US" b="1" smtClean="0">
                  <a:solidFill>
                    <a:schemeClr val="tx1"/>
                  </a:solidFill>
                  <a:latin typeface="Calibri" pitchFamily="34" charset="0"/>
                </a:rPr>
                <a:t>Sequential overwrite</a:t>
              </a:r>
              <a:endParaRPr lang="en-US" altLang="en-US" b="1" smtClean="0">
                <a:solidFill>
                  <a:srgbClr val="C00000"/>
                </a:solidFill>
                <a:latin typeface="Calibri" pitchFamily="34" charset="0"/>
              </a:endParaRPr>
            </a:p>
          </p:txBody>
        </p:sp>
      </p:grpSp>
      <p:grpSp>
        <p:nvGrpSpPr>
          <p:cNvPr id="11" name="Group 66"/>
          <p:cNvGrpSpPr>
            <a:grpSpLocks/>
          </p:cNvGrpSpPr>
          <p:nvPr/>
        </p:nvGrpSpPr>
        <p:grpSpPr bwMode="auto">
          <a:xfrm>
            <a:off x="6248400" y="1752600"/>
            <a:ext cx="2743200" cy="3295650"/>
            <a:chOff x="1303115" y="3657600"/>
            <a:chExt cx="2743200" cy="3295710"/>
          </a:xfrm>
        </p:grpSpPr>
        <p:grpSp>
          <p:nvGrpSpPr>
            <p:cNvPr id="58406" name="Group 44"/>
            <p:cNvGrpSpPr>
              <a:grpSpLocks/>
            </p:cNvGrpSpPr>
            <p:nvPr/>
          </p:nvGrpSpPr>
          <p:grpSpPr bwMode="auto">
            <a:xfrm>
              <a:off x="1351032" y="3657600"/>
              <a:ext cx="2673153" cy="2743200"/>
              <a:chOff x="1371600" y="1752600"/>
              <a:chExt cx="2673153" cy="2743200"/>
            </a:xfrm>
          </p:grpSpPr>
          <p:sp>
            <p:nvSpPr>
              <p:cNvPr id="72" name="Rectangle 71"/>
              <p:cNvSpPr/>
              <p:nvPr/>
            </p:nvSpPr>
            <p:spPr>
              <a:xfrm>
                <a:off x="1371308" y="1752600"/>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8</a:t>
                </a:r>
              </a:p>
            </p:txBody>
          </p:sp>
          <p:sp>
            <p:nvSpPr>
              <p:cNvPr id="73" name="Rectangle 72"/>
              <p:cNvSpPr/>
              <p:nvPr/>
            </p:nvSpPr>
            <p:spPr>
              <a:xfrm>
                <a:off x="1371308" y="2438413"/>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4</a:t>
                </a:r>
              </a:p>
            </p:txBody>
          </p:sp>
          <p:sp>
            <p:nvSpPr>
              <p:cNvPr id="74" name="Rectangle 73"/>
              <p:cNvSpPr/>
              <p:nvPr/>
            </p:nvSpPr>
            <p:spPr>
              <a:xfrm>
                <a:off x="1904708" y="1752600"/>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1</a:t>
                </a:r>
              </a:p>
            </p:txBody>
          </p:sp>
          <p:sp>
            <p:nvSpPr>
              <p:cNvPr id="75" name="Rectangle 74"/>
              <p:cNvSpPr/>
              <p:nvPr/>
            </p:nvSpPr>
            <p:spPr>
              <a:xfrm>
                <a:off x="1904708" y="2438413"/>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14</a:t>
                </a:r>
              </a:p>
            </p:txBody>
          </p:sp>
          <p:sp>
            <p:nvSpPr>
              <p:cNvPr id="76" name="Rectangle 75"/>
              <p:cNvSpPr/>
              <p:nvPr/>
            </p:nvSpPr>
            <p:spPr>
              <a:xfrm>
                <a:off x="1904708" y="3124225"/>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6</a:t>
                </a:r>
              </a:p>
            </p:txBody>
          </p:sp>
          <p:sp>
            <p:nvSpPr>
              <p:cNvPr id="77" name="Rectangle 76"/>
              <p:cNvSpPr/>
              <p:nvPr/>
            </p:nvSpPr>
            <p:spPr>
              <a:xfrm>
                <a:off x="1371308" y="3124225"/>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13</a:t>
                </a:r>
              </a:p>
            </p:txBody>
          </p:sp>
          <p:sp>
            <p:nvSpPr>
              <p:cNvPr id="78" name="Rectangle 77"/>
              <p:cNvSpPr/>
              <p:nvPr/>
            </p:nvSpPr>
            <p:spPr>
              <a:xfrm>
                <a:off x="1371308" y="3810038"/>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10</a:t>
                </a:r>
              </a:p>
            </p:txBody>
          </p:sp>
          <p:sp>
            <p:nvSpPr>
              <p:cNvPr id="81" name="Rectangle 80"/>
              <p:cNvSpPr/>
              <p:nvPr/>
            </p:nvSpPr>
            <p:spPr>
              <a:xfrm>
                <a:off x="1904708" y="3810038"/>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11</a:t>
                </a:r>
              </a:p>
            </p:txBody>
          </p:sp>
          <p:sp>
            <p:nvSpPr>
              <p:cNvPr id="82" name="Rectangle 81"/>
              <p:cNvSpPr/>
              <p:nvPr/>
            </p:nvSpPr>
            <p:spPr>
              <a:xfrm>
                <a:off x="2438108" y="1752600"/>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0</a:t>
                </a:r>
              </a:p>
            </p:txBody>
          </p:sp>
          <p:sp>
            <p:nvSpPr>
              <p:cNvPr id="83" name="Rectangle 82"/>
              <p:cNvSpPr/>
              <p:nvPr/>
            </p:nvSpPr>
            <p:spPr>
              <a:xfrm>
                <a:off x="2438108" y="2438413"/>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9</a:t>
                </a:r>
              </a:p>
            </p:txBody>
          </p:sp>
          <p:sp>
            <p:nvSpPr>
              <p:cNvPr id="84" name="Rectangle 83"/>
              <p:cNvSpPr/>
              <p:nvPr/>
            </p:nvSpPr>
            <p:spPr>
              <a:xfrm>
                <a:off x="2438108" y="3124225"/>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18</a:t>
                </a:r>
              </a:p>
            </p:txBody>
          </p:sp>
          <p:sp>
            <p:nvSpPr>
              <p:cNvPr id="85" name="Rectangle 84"/>
              <p:cNvSpPr/>
              <p:nvPr/>
            </p:nvSpPr>
            <p:spPr>
              <a:xfrm>
                <a:off x="2438108" y="3810038"/>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19</a:t>
                </a:r>
              </a:p>
            </p:txBody>
          </p:sp>
          <p:sp>
            <p:nvSpPr>
              <p:cNvPr id="86" name="Rectangle 85"/>
              <p:cNvSpPr/>
              <p:nvPr/>
            </p:nvSpPr>
            <p:spPr>
              <a:xfrm>
                <a:off x="2971508" y="1752600"/>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16</a:t>
                </a:r>
              </a:p>
            </p:txBody>
          </p:sp>
          <p:sp>
            <p:nvSpPr>
              <p:cNvPr id="88" name="Rectangle 87"/>
              <p:cNvSpPr/>
              <p:nvPr/>
            </p:nvSpPr>
            <p:spPr>
              <a:xfrm>
                <a:off x="2971508" y="2438413"/>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5</a:t>
                </a:r>
              </a:p>
            </p:txBody>
          </p:sp>
          <p:sp>
            <p:nvSpPr>
              <p:cNvPr id="89" name="Rectangle 88"/>
              <p:cNvSpPr/>
              <p:nvPr/>
            </p:nvSpPr>
            <p:spPr>
              <a:xfrm>
                <a:off x="2971508" y="3124225"/>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3</a:t>
                </a:r>
              </a:p>
            </p:txBody>
          </p:sp>
          <p:sp>
            <p:nvSpPr>
              <p:cNvPr id="90" name="Rectangle 89"/>
              <p:cNvSpPr/>
              <p:nvPr/>
            </p:nvSpPr>
            <p:spPr>
              <a:xfrm>
                <a:off x="2971508" y="3810038"/>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15</a:t>
                </a:r>
              </a:p>
            </p:txBody>
          </p:sp>
          <p:sp>
            <p:nvSpPr>
              <p:cNvPr id="91" name="Rectangle 90"/>
              <p:cNvSpPr/>
              <p:nvPr/>
            </p:nvSpPr>
            <p:spPr>
              <a:xfrm>
                <a:off x="3511258" y="1752600"/>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12</a:t>
                </a:r>
              </a:p>
            </p:txBody>
          </p:sp>
          <p:sp>
            <p:nvSpPr>
              <p:cNvPr id="92" name="Rectangle 91"/>
              <p:cNvSpPr/>
              <p:nvPr/>
            </p:nvSpPr>
            <p:spPr>
              <a:xfrm>
                <a:off x="3504908" y="2438413"/>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dirty="0"/>
                  <a:t>17</a:t>
                </a:r>
              </a:p>
            </p:txBody>
          </p:sp>
          <p:sp>
            <p:nvSpPr>
              <p:cNvPr id="94" name="Rectangle 93"/>
              <p:cNvSpPr/>
              <p:nvPr/>
            </p:nvSpPr>
            <p:spPr>
              <a:xfrm>
                <a:off x="3504908" y="3124225"/>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2</a:t>
                </a:r>
              </a:p>
            </p:txBody>
          </p:sp>
          <p:sp>
            <p:nvSpPr>
              <p:cNvPr id="95" name="Rectangle 94"/>
              <p:cNvSpPr/>
              <p:nvPr/>
            </p:nvSpPr>
            <p:spPr>
              <a:xfrm>
                <a:off x="3504908" y="3810038"/>
                <a:ext cx="533400" cy="6858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7</a:t>
                </a:r>
              </a:p>
            </p:txBody>
          </p:sp>
        </p:grpSp>
        <p:sp>
          <p:nvSpPr>
            <p:cNvPr id="67" name="Rectangle 66"/>
            <p:cNvSpPr/>
            <p:nvPr/>
          </p:nvSpPr>
          <p:spPr>
            <a:xfrm>
              <a:off x="1303115" y="6553253"/>
              <a:ext cx="2743200" cy="400057"/>
            </a:xfrm>
            <a:prstGeom prst="rect">
              <a:avLst/>
            </a:prstGeom>
            <a:solidFill>
              <a:schemeClr val="bg1"/>
            </a:solidFill>
            <a:ln>
              <a:noFill/>
            </a:ln>
          </p:spPr>
          <p:style>
            <a:lnRef idx="2">
              <a:schemeClr val="accent1"/>
            </a:lnRef>
            <a:fillRef idx="1">
              <a:schemeClr val="lt1"/>
            </a:fillRef>
            <a:effectRef idx="0">
              <a:schemeClr val="accent1"/>
            </a:effectRef>
            <a:fontRef idx="minor">
              <a:schemeClr val="dk1"/>
            </a:fontRef>
          </p:style>
          <p:txBody>
            <a:bodyPr>
              <a:spAutoFit/>
            </a:bodyP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buFont typeface="Wingdings" pitchFamily="2" charset="2"/>
                <a:buNone/>
                <a:defRPr/>
              </a:pPr>
              <a:r>
                <a:rPr lang="en-US" altLang="en-US" b="1" smtClean="0">
                  <a:solidFill>
                    <a:schemeClr val="tx1"/>
                  </a:solidFill>
                  <a:latin typeface="Calibri" pitchFamily="34" charset="0"/>
                </a:rPr>
                <a:t>Random overwrite</a:t>
              </a:r>
              <a:endParaRPr lang="en-US" altLang="en-US" b="1" smtClean="0">
                <a:solidFill>
                  <a:srgbClr val="C00000"/>
                </a:solidFill>
                <a:latin typeface="Calibri" pitchFamily="34" charset="0"/>
              </a:endParaRPr>
            </a:p>
          </p:txBody>
        </p:sp>
      </p:grpSp>
      <p:grpSp>
        <p:nvGrpSpPr>
          <p:cNvPr id="13" name="Group 78"/>
          <p:cNvGrpSpPr>
            <a:grpSpLocks/>
          </p:cNvGrpSpPr>
          <p:nvPr/>
        </p:nvGrpSpPr>
        <p:grpSpPr bwMode="auto">
          <a:xfrm>
            <a:off x="4800600" y="1676400"/>
            <a:ext cx="1533525" cy="2108200"/>
            <a:chOff x="4410809" y="2057400"/>
            <a:chExt cx="1532791" cy="2108775"/>
          </a:xfrm>
        </p:grpSpPr>
        <p:sp>
          <p:nvSpPr>
            <p:cNvPr id="80" name="Notched Right Arrow 79"/>
            <p:cNvSpPr/>
            <p:nvPr/>
          </p:nvSpPr>
          <p:spPr>
            <a:xfrm>
              <a:off x="5029638" y="2895829"/>
              <a:ext cx="609308" cy="685987"/>
            </a:xfrm>
            <a:prstGeom prst="notchedRightArrow">
              <a:avLst/>
            </a:prstGeom>
          </p:spPr>
          <p:style>
            <a:lnRef idx="1">
              <a:schemeClr val="accent2"/>
            </a:lnRef>
            <a:fillRef idx="3">
              <a:schemeClr val="accent2"/>
            </a:fillRef>
            <a:effectRef idx="2">
              <a:schemeClr val="accent2"/>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4</a:t>
              </a:r>
            </a:p>
          </p:txBody>
        </p:sp>
        <p:sp>
          <p:nvSpPr>
            <p:cNvPr id="93" name="Notched Right Arrow 92"/>
            <p:cNvSpPr/>
            <p:nvPr/>
          </p:nvSpPr>
          <p:spPr>
            <a:xfrm>
              <a:off x="5029638" y="2057400"/>
              <a:ext cx="609308" cy="685987"/>
            </a:xfrm>
            <a:prstGeom prst="notchedRightArrow">
              <a:avLst/>
            </a:prstGeom>
          </p:spPr>
          <p:style>
            <a:lnRef idx="1">
              <a:schemeClr val="accent2"/>
            </a:lnRef>
            <a:fillRef idx="3">
              <a:schemeClr val="accent2"/>
            </a:fillRef>
            <a:effectRef idx="2">
              <a:schemeClr val="accent2"/>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8</a:t>
              </a:r>
            </a:p>
          </p:txBody>
        </p:sp>
        <p:sp>
          <p:nvSpPr>
            <p:cNvPr id="58405" name="Rectangle 95"/>
            <p:cNvSpPr>
              <a:spLocks noChangeArrowheads="1"/>
            </p:cNvSpPr>
            <p:nvPr/>
          </p:nvSpPr>
          <p:spPr bwMode="auto">
            <a:xfrm>
              <a:off x="4410809" y="3581400"/>
              <a:ext cx="153279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Wingdings" panose="05000000000000000000" pitchFamily="2" charset="2"/>
                <a:buNone/>
              </a:pPr>
              <a:r>
                <a:rPr lang="en-US" altLang="en-US" sz="1600" b="1">
                  <a:solidFill>
                    <a:srgbClr val="C00000"/>
                  </a:solidFill>
                  <a:latin typeface="Verdana" panose="020B0604030504040204" pitchFamily="34" charset="0"/>
                </a:rPr>
                <a:t>High</a:t>
              </a:r>
            </a:p>
            <a:p>
              <a:pPr algn="ctr" eaLnBrk="1" hangingPunct="1">
                <a:spcBef>
                  <a:spcPct val="0"/>
                </a:spcBef>
                <a:buFont typeface="Wingdings" panose="05000000000000000000" pitchFamily="2" charset="2"/>
                <a:buNone/>
              </a:pPr>
              <a:r>
                <a:rPr lang="en-US" altLang="en-US" sz="1600" b="1">
                  <a:solidFill>
                    <a:srgbClr val="C00000"/>
                  </a:solidFill>
                  <a:latin typeface="Verdana" panose="020B0604030504040204" pitchFamily="34" charset="0"/>
                </a:rPr>
                <a:t>Throughput</a:t>
              </a:r>
            </a:p>
          </p:txBody>
        </p:sp>
      </p:grpSp>
      <p:grpSp>
        <p:nvGrpSpPr>
          <p:cNvPr id="14" name="Group 96"/>
          <p:cNvGrpSpPr>
            <a:grpSpLocks/>
          </p:cNvGrpSpPr>
          <p:nvPr/>
        </p:nvGrpSpPr>
        <p:grpSpPr bwMode="auto">
          <a:xfrm>
            <a:off x="3276600" y="1676400"/>
            <a:ext cx="2743200" cy="685800"/>
            <a:chOff x="1981200" y="2057400"/>
            <a:chExt cx="2743200" cy="685800"/>
          </a:xfrm>
        </p:grpSpPr>
        <p:sp>
          <p:nvSpPr>
            <p:cNvPr id="98" name="Notched Right Arrow 97"/>
            <p:cNvSpPr/>
            <p:nvPr/>
          </p:nvSpPr>
          <p:spPr>
            <a:xfrm>
              <a:off x="4114800" y="2057400"/>
              <a:ext cx="609600" cy="685800"/>
            </a:xfrm>
            <a:prstGeom prst="notchedRightArrow">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8</a:t>
              </a:r>
            </a:p>
          </p:txBody>
        </p:sp>
        <p:sp>
          <p:nvSpPr>
            <p:cNvPr id="99" name="Notched Right Arrow 98"/>
            <p:cNvSpPr/>
            <p:nvPr/>
          </p:nvSpPr>
          <p:spPr>
            <a:xfrm>
              <a:off x="3505200" y="2057400"/>
              <a:ext cx="609600" cy="685800"/>
            </a:xfrm>
            <a:prstGeom prst="notchedRightArrow">
              <a:avLst/>
            </a:prstGeom>
          </p:spPr>
          <p:style>
            <a:lnRef idx="1">
              <a:schemeClr val="accent1"/>
            </a:lnRef>
            <a:fillRef idx="3">
              <a:schemeClr val="accent1"/>
            </a:fillRef>
            <a:effectRef idx="2">
              <a:schemeClr val="accent1"/>
            </a:effectRef>
            <a:fontRef idx="minor">
              <a:schemeClr val="lt1"/>
            </a:fontRef>
          </p:style>
          <p:txBody>
            <a:bodyPr anchor="ctr"/>
            <a:lstStyle/>
            <a:p>
              <a:pPr algn="ctr" eaLnBrk="1" hangingPunct="1">
                <a:lnSpc>
                  <a:spcPct val="125000"/>
                </a:lnSpc>
                <a:spcBef>
                  <a:spcPct val="50000"/>
                </a:spcBef>
                <a:spcAft>
                  <a:spcPct val="20000"/>
                </a:spcAft>
                <a:buFont typeface="Wingdings" pitchFamily="2" charset="2"/>
                <a:buNone/>
                <a:defRPr/>
              </a:pPr>
              <a:r>
                <a:rPr lang="en-US" b="1">
                  <a:solidFill>
                    <a:srgbClr val="FFFFFF"/>
                  </a:solidFill>
                  <a:ea typeface="仿宋_GB2312"/>
                  <a:cs typeface="仿宋_GB2312"/>
                </a:rPr>
                <a:t>1</a:t>
              </a:r>
            </a:p>
          </p:txBody>
        </p:sp>
        <p:sp>
          <p:nvSpPr>
            <p:cNvPr id="58402" name="Rectangle 99"/>
            <p:cNvSpPr>
              <a:spLocks noChangeArrowheads="1"/>
            </p:cNvSpPr>
            <p:nvPr/>
          </p:nvSpPr>
          <p:spPr bwMode="auto">
            <a:xfrm>
              <a:off x="1981200" y="2133600"/>
              <a:ext cx="153279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Wingdings" panose="05000000000000000000" pitchFamily="2" charset="2"/>
                <a:buNone/>
              </a:pPr>
              <a:r>
                <a:rPr lang="en-US" altLang="en-US" sz="1600" b="1">
                  <a:solidFill>
                    <a:schemeClr val="tx2"/>
                  </a:solidFill>
                  <a:latin typeface="Verdana" panose="020B0604030504040204" pitchFamily="34" charset="0"/>
                </a:rPr>
                <a:t>Low</a:t>
              </a:r>
            </a:p>
            <a:p>
              <a:pPr algn="ctr" eaLnBrk="1" hangingPunct="1">
                <a:spcBef>
                  <a:spcPct val="0"/>
                </a:spcBef>
                <a:buFont typeface="Wingdings" panose="05000000000000000000" pitchFamily="2" charset="2"/>
                <a:buNone/>
              </a:pPr>
              <a:r>
                <a:rPr lang="en-US" altLang="en-US" sz="1600" b="1">
                  <a:solidFill>
                    <a:schemeClr val="tx2"/>
                  </a:solidFill>
                  <a:latin typeface="Verdana" panose="020B0604030504040204" pitchFamily="34" charset="0"/>
                </a:rPr>
                <a:t>Throughput</a:t>
              </a:r>
            </a:p>
          </p:txBody>
        </p:sp>
      </p:grpSp>
      <p:sp>
        <p:nvSpPr>
          <p:cNvPr id="102" name="Rectangle 101"/>
          <p:cNvSpPr/>
          <p:nvPr/>
        </p:nvSpPr>
        <p:spPr>
          <a:xfrm>
            <a:off x="6248400" y="2438400"/>
            <a:ext cx="533400" cy="685800"/>
          </a:xfrm>
          <a:prstGeom prst="rect">
            <a:avLst/>
          </a:prstGeom>
          <a:solidFill>
            <a:schemeClr val="bg1">
              <a:alpha val="50000"/>
            </a:schemeClr>
          </a:solidFill>
          <a:ln w="38100">
            <a:solidFill>
              <a:srgbClr val="C00000"/>
            </a:solidFill>
          </a:ln>
        </p:spPr>
        <p:style>
          <a:lnRef idx="2">
            <a:schemeClr val="accent2"/>
          </a:lnRef>
          <a:fillRef idx="1">
            <a:schemeClr val="lt1"/>
          </a:fillRef>
          <a:effectRef idx="0">
            <a:schemeClr val="accent2"/>
          </a:effectRef>
          <a:fontRef idx="minor">
            <a:schemeClr val="dk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None/>
              <a:defRPr/>
            </a:pPr>
            <a:endParaRPr lang="en-US" altLang="en-US" b="1" smtClean="0">
              <a:solidFill>
                <a:srgbClr val="000000"/>
              </a:solidFill>
              <a:latin typeface="Calibri" pitchFamily="34" charset="0"/>
            </a:endParaRPr>
          </a:p>
        </p:txBody>
      </p:sp>
      <p:sp>
        <p:nvSpPr>
          <p:cNvPr id="103" name="Rectangle 102"/>
          <p:cNvSpPr/>
          <p:nvPr/>
        </p:nvSpPr>
        <p:spPr>
          <a:xfrm>
            <a:off x="6248400" y="3124200"/>
            <a:ext cx="533400" cy="685800"/>
          </a:xfrm>
          <a:prstGeom prst="rect">
            <a:avLst/>
          </a:prstGeom>
          <a:solidFill>
            <a:schemeClr val="bg1">
              <a:alpha val="50000"/>
            </a:schemeClr>
          </a:solidFill>
          <a:ln w="38100">
            <a:solidFill>
              <a:srgbClr val="C00000"/>
            </a:solidFill>
          </a:ln>
        </p:spPr>
        <p:style>
          <a:lnRef idx="2">
            <a:schemeClr val="accent2"/>
          </a:lnRef>
          <a:fillRef idx="1">
            <a:schemeClr val="lt1"/>
          </a:fillRef>
          <a:effectRef idx="0">
            <a:schemeClr val="accent2"/>
          </a:effectRef>
          <a:fontRef idx="minor">
            <a:schemeClr val="dk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None/>
              <a:defRPr/>
            </a:pPr>
            <a:endParaRPr lang="en-US" altLang="en-US" b="1" smtClean="0">
              <a:solidFill>
                <a:srgbClr val="000000"/>
              </a:solidFill>
              <a:latin typeface="Calibri" pitchFamily="34" charset="0"/>
            </a:endParaRPr>
          </a:p>
        </p:txBody>
      </p:sp>
      <p:sp>
        <p:nvSpPr>
          <p:cNvPr id="105" name="Rectangle 104"/>
          <p:cNvSpPr/>
          <p:nvPr/>
        </p:nvSpPr>
        <p:spPr>
          <a:xfrm>
            <a:off x="6248400" y="3810000"/>
            <a:ext cx="533400" cy="685800"/>
          </a:xfrm>
          <a:prstGeom prst="rect">
            <a:avLst/>
          </a:prstGeom>
          <a:solidFill>
            <a:schemeClr val="bg1">
              <a:alpha val="50000"/>
            </a:schemeClr>
          </a:solidFill>
          <a:ln w="38100">
            <a:solidFill>
              <a:srgbClr val="C00000"/>
            </a:solidFill>
          </a:ln>
        </p:spPr>
        <p:style>
          <a:lnRef idx="2">
            <a:schemeClr val="accent2"/>
          </a:lnRef>
          <a:fillRef idx="1">
            <a:schemeClr val="lt1"/>
          </a:fillRef>
          <a:effectRef idx="0">
            <a:schemeClr val="accent2"/>
          </a:effectRef>
          <a:fontRef idx="minor">
            <a:schemeClr val="dk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None/>
              <a:defRPr/>
            </a:pPr>
            <a:endParaRPr lang="en-US" altLang="en-US" b="1" smtClean="0">
              <a:solidFill>
                <a:srgbClr val="000000"/>
              </a:solidFill>
              <a:latin typeface="Calibri" pitchFamily="34" charset="0"/>
            </a:endParaRPr>
          </a:p>
        </p:txBody>
      </p:sp>
      <p:sp>
        <p:nvSpPr>
          <p:cNvPr id="106" name="Rectangle 105"/>
          <p:cNvSpPr/>
          <p:nvPr/>
        </p:nvSpPr>
        <p:spPr>
          <a:xfrm>
            <a:off x="6781800" y="3810000"/>
            <a:ext cx="533400" cy="685800"/>
          </a:xfrm>
          <a:prstGeom prst="rect">
            <a:avLst/>
          </a:prstGeom>
          <a:solidFill>
            <a:schemeClr val="bg1">
              <a:alpha val="50000"/>
            </a:schemeClr>
          </a:solidFill>
          <a:ln w="38100">
            <a:solidFill>
              <a:srgbClr val="C00000"/>
            </a:solidFill>
          </a:ln>
        </p:spPr>
        <p:style>
          <a:lnRef idx="2">
            <a:schemeClr val="accent2"/>
          </a:lnRef>
          <a:fillRef idx="1">
            <a:schemeClr val="lt1"/>
          </a:fillRef>
          <a:effectRef idx="0">
            <a:schemeClr val="accent2"/>
          </a:effectRef>
          <a:fontRef idx="minor">
            <a:schemeClr val="dk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None/>
              <a:defRPr/>
            </a:pPr>
            <a:endParaRPr lang="en-US" altLang="en-US" b="1" smtClean="0">
              <a:solidFill>
                <a:srgbClr val="000000"/>
              </a:solidFill>
              <a:latin typeface="Calibri" pitchFamily="34" charset="0"/>
            </a:endParaRPr>
          </a:p>
        </p:txBody>
      </p:sp>
      <p:sp>
        <p:nvSpPr>
          <p:cNvPr id="107" name="Rectangle 106"/>
          <p:cNvSpPr/>
          <p:nvPr/>
        </p:nvSpPr>
        <p:spPr>
          <a:xfrm>
            <a:off x="6781800" y="2438400"/>
            <a:ext cx="533400" cy="685800"/>
          </a:xfrm>
          <a:prstGeom prst="rect">
            <a:avLst/>
          </a:prstGeom>
          <a:solidFill>
            <a:schemeClr val="bg1">
              <a:alpha val="50000"/>
            </a:schemeClr>
          </a:solidFill>
          <a:ln w="38100">
            <a:solidFill>
              <a:srgbClr val="C00000"/>
            </a:solidFill>
          </a:ln>
        </p:spPr>
        <p:style>
          <a:lnRef idx="2">
            <a:schemeClr val="accent2"/>
          </a:lnRef>
          <a:fillRef idx="1">
            <a:schemeClr val="lt1"/>
          </a:fillRef>
          <a:effectRef idx="0">
            <a:schemeClr val="accent2"/>
          </a:effectRef>
          <a:fontRef idx="minor">
            <a:schemeClr val="dk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None/>
              <a:defRPr/>
            </a:pPr>
            <a:endParaRPr lang="en-US" altLang="en-US" b="1" smtClean="0">
              <a:solidFill>
                <a:srgbClr val="000000"/>
              </a:solidFill>
              <a:latin typeface="Calibri" pitchFamily="34" charset="0"/>
            </a:endParaRPr>
          </a:p>
        </p:txBody>
      </p:sp>
      <p:sp>
        <p:nvSpPr>
          <p:cNvPr id="111" name="Rectangle 110"/>
          <p:cNvSpPr/>
          <p:nvPr/>
        </p:nvSpPr>
        <p:spPr>
          <a:xfrm>
            <a:off x="6781800" y="3124200"/>
            <a:ext cx="533400" cy="685800"/>
          </a:xfrm>
          <a:prstGeom prst="rect">
            <a:avLst/>
          </a:prstGeom>
          <a:solidFill>
            <a:schemeClr val="bg1">
              <a:alpha val="50000"/>
            </a:schemeClr>
          </a:solidFill>
          <a:ln w="38100">
            <a:solidFill>
              <a:srgbClr val="C00000"/>
            </a:solidFill>
          </a:ln>
        </p:spPr>
        <p:style>
          <a:lnRef idx="2">
            <a:schemeClr val="accent2"/>
          </a:lnRef>
          <a:fillRef idx="1">
            <a:schemeClr val="lt1"/>
          </a:fillRef>
          <a:effectRef idx="0">
            <a:schemeClr val="accent2"/>
          </a:effectRef>
          <a:fontRef idx="minor">
            <a:schemeClr val="dk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None/>
              <a:defRPr/>
            </a:pPr>
            <a:endParaRPr lang="en-US" altLang="en-US" b="1" smtClean="0">
              <a:solidFill>
                <a:srgbClr val="000000"/>
              </a:solidFill>
              <a:latin typeface="Calibri" pitchFamily="34" charset="0"/>
            </a:endParaRPr>
          </a:p>
        </p:txBody>
      </p:sp>
      <p:sp>
        <p:nvSpPr>
          <p:cNvPr id="115" name="Rectangle 114"/>
          <p:cNvSpPr/>
          <p:nvPr/>
        </p:nvSpPr>
        <p:spPr>
          <a:xfrm>
            <a:off x="7315200" y="2438400"/>
            <a:ext cx="533400" cy="685800"/>
          </a:xfrm>
          <a:prstGeom prst="rect">
            <a:avLst/>
          </a:prstGeom>
          <a:solidFill>
            <a:schemeClr val="bg1">
              <a:alpha val="50000"/>
            </a:schemeClr>
          </a:solidFill>
          <a:ln w="38100">
            <a:solidFill>
              <a:srgbClr val="C00000"/>
            </a:solidFill>
          </a:ln>
        </p:spPr>
        <p:style>
          <a:lnRef idx="2">
            <a:schemeClr val="accent2"/>
          </a:lnRef>
          <a:fillRef idx="1">
            <a:schemeClr val="lt1"/>
          </a:fillRef>
          <a:effectRef idx="0">
            <a:schemeClr val="accent2"/>
          </a:effectRef>
          <a:fontRef idx="minor">
            <a:schemeClr val="dk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None/>
              <a:defRPr/>
            </a:pPr>
            <a:endParaRPr lang="en-US" altLang="en-US" b="1" smtClean="0">
              <a:solidFill>
                <a:srgbClr val="000000"/>
              </a:solidFill>
              <a:latin typeface="Calibri" pitchFamily="34" charset="0"/>
            </a:endParaRPr>
          </a:p>
        </p:txBody>
      </p:sp>
      <p:sp>
        <p:nvSpPr>
          <p:cNvPr id="121" name="Rectangle 120"/>
          <p:cNvSpPr/>
          <p:nvPr/>
        </p:nvSpPr>
        <p:spPr>
          <a:xfrm>
            <a:off x="6248400" y="1752600"/>
            <a:ext cx="533400" cy="685800"/>
          </a:xfrm>
          <a:prstGeom prst="rect">
            <a:avLst/>
          </a:prstGeom>
          <a:solidFill>
            <a:schemeClr val="bg1">
              <a:alpha val="50000"/>
            </a:schemeClr>
          </a:solidFill>
          <a:ln w="38100">
            <a:solidFill>
              <a:srgbClr val="C00000"/>
            </a:solidFill>
          </a:ln>
        </p:spPr>
        <p:style>
          <a:lnRef idx="2">
            <a:schemeClr val="accent2"/>
          </a:lnRef>
          <a:fillRef idx="1">
            <a:schemeClr val="lt1"/>
          </a:fillRef>
          <a:effectRef idx="0">
            <a:schemeClr val="accent2"/>
          </a:effectRef>
          <a:fontRef idx="minor">
            <a:schemeClr val="dk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None/>
              <a:defRPr/>
            </a:pPr>
            <a:endParaRPr lang="en-US" altLang="en-US" b="1" smtClean="0">
              <a:solidFill>
                <a:srgbClr val="000000"/>
              </a:solidFill>
              <a:latin typeface="Calibri" pitchFamily="34" charset="0"/>
            </a:endParaRPr>
          </a:p>
        </p:txBody>
      </p:sp>
      <p:grpSp>
        <p:nvGrpSpPr>
          <p:cNvPr id="15" name="Group 121"/>
          <p:cNvGrpSpPr>
            <a:grpSpLocks/>
          </p:cNvGrpSpPr>
          <p:nvPr/>
        </p:nvGrpSpPr>
        <p:grpSpPr bwMode="auto">
          <a:xfrm>
            <a:off x="6248400" y="1752600"/>
            <a:ext cx="1066800" cy="685800"/>
            <a:chOff x="6248400" y="1752600"/>
            <a:chExt cx="1066800" cy="685800"/>
          </a:xfrm>
        </p:grpSpPr>
        <p:sp>
          <p:nvSpPr>
            <p:cNvPr id="123" name="Rectangle 122"/>
            <p:cNvSpPr/>
            <p:nvPr/>
          </p:nvSpPr>
          <p:spPr>
            <a:xfrm>
              <a:off x="6781800" y="1752600"/>
              <a:ext cx="533400" cy="685800"/>
            </a:xfrm>
            <a:prstGeom prst="rect">
              <a:avLst/>
            </a:prstGeom>
            <a:solidFill>
              <a:schemeClr val="accent1">
                <a:alpha val="50000"/>
              </a:schemeClr>
            </a:solidFill>
            <a:ln w="38100">
              <a:solidFill>
                <a:schemeClr val="tx2">
                  <a:lumMod val="75000"/>
                </a:schemeClr>
              </a:solidFill>
            </a:ln>
          </p:spPr>
          <p:style>
            <a:lnRef idx="2">
              <a:schemeClr val="accent2"/>
            </a:lnRef>
            <a:fillRef idx="1">
              <a:schemeClr val="lt1"/>
            </a:fillRef>
            <a:effectRef idx="0">
              <a:schemeClr val="accent2"/>
            </a:effectRef>
            <a:fontRef idx="minor">
              <a:schemeClr val="dk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None/>
                <a:defRPr/>
              </a:pPr>
              <a:endParaRPr lang="en-US" altLang="en-US" b="1" smtClean="0">
                <a:solidFill>
                  <a:srgbClr val="000000"/>
                </a:solidFill>
                <a:latin typeface="Calibri" pitchFamily="34" charset="0"/>
              </a:endParaRPr>
            </a:p>
          </p:txBody>
        </p:sp>
        <p:sp>
          <p:nvSpPr>
            <p:cNvPr id="124" name="Rectangle 123"/>
            <p:cNvSpPr/>
            <p:nvPr/>
          </p:nvSpPr>
          <p:spPr>
            <a:xfrm>
              <a:off x="6248400" y="1752600"/>
              <a:ext cx="533400" cy="685800"/>
            </a:xfrm>
            <a:prstGeom prst="rect">
              <a:avLst/>
            </a:prstGeom>
            <a:solidFill>
              <a:schemeClr val="accent1">
                <a:alpha val="50000"/>
              </a:schemeClr>
            </a:solidFill>
            <a:ln w="38100">
              <a:solidFill>
                <a:schemeClr val="tx2">
                  <a:lumMod val="75000"/>
                </a:schemeClr>
              </a:solidFill>
            </a:ln>
          </p:spPr>
          <p:style>
            <a:lnRef idx="2">
              <a:schemeClr val="accent2"/>
            </a:lnRef>
            <a:fillRef idx="1">
              <a:schemeClr val="lt1"/>
            </a:fillRef>
            <a:effectRef idx="0">
              <a:schemeClr val="accent2"/>
            </a:effectRef>
            <a:fontRef idx="minor">
              <a:schemeClr val="dk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None/>
                <a:defRPr/>
              </a:pPr>
              <a:endParaRPr lang="en-US" altLang="en-US" b="1" smtClean="0">
                <a:solidFill>
                  <a:srgbClr val="000000"/>
                </a:solidFill>
                <a:latin typeface="Calibri" pitchFamily="34" charset="0"/>
              </a:endParaRPr>
            </a:p>
          </p:txBody>
        </p:sp>
      </p:grpSp>
      <p:grpSp>
        <p:nvGrpSpPr>
          <p:cNvPr id="16" name="Group 124"/>
          <p:cNvGrpSpPr>
            <a:grpSpLocks/>
          </p:cNvGrpSpPr>
          <p:nvPr/>
        </p:nvGrpSpPr>
        <p:grpSpPr bwMode="auto">
          <a:xfrm>
            <a:off x="6248400" y="1752600"/>
            <a:ext cx="1600200" cy="685800"/>
            <a:chOff x="6248400" y="1752600"/>
            <a:chExt cx="1600200" cy="685800"/>
          </a:xfrm>
        </p:grpSpPr>
        <p:sp>
          <p:nvSpPr>
            <p:cNvPr id="126" name="Rectangle 125"/>
            <p:cNvSpPr/>
            <p:nvPr/>
          </p:nvSpPr>
          <p:spPr>
            <a:xfrm>
              <a:off x="7315200" y="1752600"/>
              <a:ext cx="533400" cy="685800"/>
            </a:xfrm>
            <a:prstGeom prst="rect">
              <a:avLst/>
            </a:prstGeom>
            <a:solidFill>
              <a:schemeClr val="accent1">
                <a:alpha val="50000"/>
              </a:schemeClr>
            </a:solidFill>
            <a:ln w="38100">
              <a:solidFill>
                <a:schemeClr val="tx2">
                  <a:lumMod val="75000"/>
                </a:schemeClr>
              </a:solidFill>
            </a:ln>
          </p:spPr>
          <p:style>
            <a:lnRef idx="2">
              <a:schemeClr val="accent2"/>
            </a:lnRef>
            <a:fillRef idx="1">
              <a:schemeClr val="lt1"/>
            </a:fillRef>
            <a:effectRef idx="0">
              <a:schemeClr val="accent2"/>
            </a:effectRef>
            <a:fontRef idx="minor">
              <a:schemeClr val="dk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None/>
                <a:defRPr/>
              </a:pPr>
              <a:endParaRPr lang="en-US" altLang="en-US" b="1" smtClean="0">
                <a:solidFill>
                  <a:srgbClr val="000000"/>
                </a:solidFill>
                <a:latin typeface="Calibri" pitchFamily="34" charset="0"/>
              </a:endParaRPr>
            </a:p>
          </p:txBody>
        </p:sp>
        <p:sp>
          <p:nvSpPr>
            <p:cNvPr id="127" name="Rectangle 126"/>
            <p:cNvSpPr/>
            <p:nvPr/>
          </p:nvSpPr>
          <p:spPr>
            <a:xfrm>
              <a:off x="6248400" y="1752600"/>
              <a:ext cx="533400" cy="685800"/>
            </a:xfrm>
            <a:prstGeom prst="rect">
              <a:avLst/>
            </a:prstGeom>
            <a:solidFill>
              <a:schemeClr val="accent1">
                <a:alpha val="50000"/>
              </a:schemeClr>
            </a:solidFill>
            <a:ln w="38100">
              <a:solidFill>
                <a:schemeClr val="tx2">
                  <a:lumMod val="75000"/>
                </a:schemeClr>
              </a:solidFill>
            </a:ln>
          </p:spPr>
          <p:style>
            <a:lnRef idx="2">
              <a:schemeClr val="accent2"/>
            </a:lnRef>
            <a:fillRef idx="1">
              <a:schemeClr val="lt1"/>
            </a:fillRef>
            <a:effectRef idx="0">
              <a:schemeClr val="accent2"/>
            </a:effectRef>
            <a:fontRef idx="minor">
              <a:schemeClr val="dk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None/>
                <a:defRPr/>
              </a:pPr>
              <a:endParaRPr lang="en-US" altLang="en-US" b="1" smtClean="0">
                <a:solidFill>
                  <a:srgbClr val="000000"/>
                </a:solidFill>
                <a:latin typeface="Calibri" pitchFamily="34" charset="0"/>
              </a:endParaRPr>
            </a:p>
          </p:txBody>
        </p:sp>
      </p:grpSp>
      <p:sp>
        <p:nvSpPr>
          <p:cNvPr id="128" name="Content Placeholder 2"/>
          <p:cNvSpPr txBox="1">
            <a:spLocks/>
          </p:cNvSpPr>
          <p:nvPr/>
        </p:nvSpPr>
        <p:spPr>
          <a:xfrm>
            <a:off x="0" y="6019800"/>
            <a:ext cx="9144000" cy="838200"/>
          </a:xfrm>
          <a:prstGeom prst="rect">
            <a:avLst/>
          </a:prstGeom>
          <a:solidFill>
            <a:srgbClr val="002060"/>
          </a:solidFill>
          <a:ln>
            <a:noFill/>
          </a:ln>
        </p:spPr>
        <p:style>
          <a:lnRef idx="1">
            <a:schemeClr val="accent4"/>
          </a:lnRef>
          <a:fillRef idx="3">
            <a:schemeClr val="accent4"/>
          </a:fillRef>
          <a:effectRef idx="2">
            <a:schemeClr val="accent4"/>
          </a:effectRef>
          <a:fontRef idx="minor">
            <a:schemeClr val="lt1"/>
          </a:fontRef>
        </p:style>
        <p:txBody>
          <a:bodyPr anchor="ctr">
            <a:normAutofit/>
          </a:bodyPr>
          <a:lstStyle>
            <a:lvl1pPr eaLnBrk="0" hangingPunct="0">
              <a:spcBef>
                <a:spcPct val="20000"/>
              </a:spcBef>
              <a:buFont typeface="Arial" pitchFamily="34" charset="0"/>
              <a:buChar char="•"/>
              <a:defRPr sz="3200">
                <a:solidFill>
                  <a:schemeClr val="tx1"/>
                </a:solidFill>
                <a:latin typeface="Calibri" pitchFamily="34" charset="0"/>
              </a:defRPr>
            </a:lvl1pPr>
            <a:lvl2pPr marL="742950" indent="-285750" eaLnBrk="0" hangingPunct="0">
              <a:spcBef>
                <a:spcPct val="20000"/>
              </a:spcBef>
              <a:buFont typeface="Arial" pitchFamily="34" charset="0"/>
              <a:buChar char="–"/>
              <a:defRPr sz="2800">
                <a:solidFill>
                  <a:schemeClr val="tx1"/>
                </a:solidFill>
                <a:latin typeface="Calibri"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defRPr>
            </a:lvl3pPr>
            <a:lvl4pPr marL="1600200" indent="-228600" eaLnBrk="0" hangingPunct="0">
              <a:spcBef>
                <a:spcPct val="20000"/>
              </a:spcBef>
              <a:buFont typeface="Arial" pitchFamily="34" charset="0"/>
              <a:buChar char="–"/>
              <a:defRPr sz="2000">
                <a:solidFill>
                  <a:schemeClr val="tx1"/>
                </a:solidFill>
                <a:latin typeface="Calibri"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algn="ctr" eaLnBrk="1" hangingPunct="1">
              <a:buFont typeface="Wingdings" pitchFamily="2" charset="2"/>
              <a:buNone/>
              <a:defRPr/>
            </a:pPr>
            <a:r>
              <a:rPr lang="en-US" altLang="en-US" sz="2000" b="1" i="1" smtClean="0">
                <a:solidFill>
                  <a:schemeClr val="bg1"/>
                </a:solidFill>
                <a:latin typeface="Verdana" pitchFamily="34" charset="0"/>
                <a:ea typeface="仿宋_GB2312"/>
                <a:cs typeface="仿宋_GB2312"/>
              </a:rPr>
              <a:t>Result: Intel X25-E SSD adopts write-order-based mapping</a:t>
            </a:r>
            <a:endParaRPr lang="en-US" altLang="en-US" sz="2000" b="1" i="1" smtClean="0">
              <a:solidFill>
                <a:srgbClr val="FFFF00"/>
              </a:solidFill>
              <a:latin typeface="Verdana" pitchFamily="34" charset="0"/>
              <a:ea typeface="仿宋_GB2312"/>
              <a:cs typeface="仿宋_GB2312"/>
            </a:endParaRPr>
          </a:p>
        </p:txBody>
      </p:sp>
      <p:grpSp>
        <p:nvGrpSpPr>
          <p:cNvPr id="17" name="Group 116"/>
          <p:cNvGrpSpPr>
            <a:grpSpLocks/>
          </p:cNvGrpSpPr>
          <p:nvPr/>
        </p:nvGrpSpPr>
        <p:grpSpPr bwMode="auto">
          <a:xfrm>
            <a:off x="0" y="3276600"/>
            <a:ext cx="4953000" cy="2047875"/>
            <a:chOff x="0" y="3276600"/>
            <a:chExt cx="4953000" cy="2047875"/>
          </a:xfrm>
        </p:grpSpPr>
        <p:pic>
          <p:nvPicPr>
            <p:cNvPr id="58394"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276600"/>
              <a:ext cx="4953000" cy="204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95" name="Rectangle 108"/>
            <p:cNvSpPr>
              <a:spLocks noChangeArrowheads="1"/>
            </p:cNvSpPr>
            <p:nvPr/>
          </p:nvSpPr>
          <p:spPr bwMode="auto">
            <a:xfrm>
              <a:off x="1524000" y="4343400"/>
              <a:ext cx="2198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50000"/>
                </a:spcBef>
                <a:spcAft>
                  <a:spcPct val="20000"/>
                </a:spcAft>
                <a:buFont typeface="Wingdings" panose="05000000000000000000" pitchFamily="2" charset="2"/>
                <a:buNone/>
              </a:pPr>
              <a:r>
                <a:rPr lang="en-US" altLang="en-US" sz="1600" b="1">
                  <a:solidFill>
                    <a:srgbClr val="010000"/>
                  </a:solidFill>
                  <a:latin typeface="Verdana" panose="020B0604030504040204" pitchFamily="34" charset="0"/>
                </a:rPr>
                <a:t>Observed Results</a:t>
              </a:r>
            </a:p>
          </p:txBody>
        </p:sp>
      </p:grpSp>
    </p:spTree>
    <p:extLst>
      <p:ext uri="{BB962C8B-B14F-4D97-AF65-F5344CB8AC3E}">
        <p14:creationId xmlns:p14="http://schemas.microsoft.com/office/powerpoint/2010/main" val="15881296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5" presetClass="entr" presetSubtype="1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checkerboard(across)">
                                      <p:cBhvr>
                                        <p:cTn id="9" dur="500"/>
                                        <p:tgtEl>
                                          <p:spTgt spid="11"/>
                                        </p:tgtEl>
                                      </p:cBhvr>
                                    </p:animEffect>
                                  </p:childTnLst>
                                </p:cTn>
                              </p:par>
                              <p:par>
                                <p:cTn id="10" presetID="1" presetClass="exit" presetSubtype="0" fill="hold" nodeType="withEffect">
                                  <p:stCondLst>
                                    <p:cond delay="0"/>
                                  </p:stCondLst>
                                  <p:childTnLst>
                                    <p:set>
                                      <p:cBhvr>
                                        <p:cTn id="11" dur="1" fill="hold">
                                          <p:stCondLst>
                                            <p:cond delay="0"/>
                                          </p:stCondLst>
                                        </p:cTn>
                                        <p:tgtEl>
                                          <p:spTgt spid="4"/>
                                        </p:tgtEl>
                                        <p:attrNameLst>
                                          <p:attrName>style.visibility</p:attrName>
                                        </p:attrNameLst>
                                      </p:cBhvr>
                                      <p:to>
                                        <p:strVal val="hidden"/>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21"/>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par>
                                <p:cTn id="24" presetID="1" presetClass="entr" presetSubtype="0" fill="hold" grpId="0" nodeType="withEffect">
                                  <p:stCondLst>
                                    <p:cond delay="0"/>
                                  </p:stCondLst>
                                  <p:childTnLst>
                                    <p:set>
                                      <p:cBhvr>
                                        <p:cTn id="25" dur="1" fill="hold">
                                          <p:stCondLst>
                                            <p:cond delay="0"/>
                                          </p:stCondLst>
                                        </p:cTn>
                                        <p:tgtEl>
                                          <p:spTgt spid="102"/>
                                        </p:tgtEl>
                                        <p:attrNameLst>
                                          <p:attrName>style.visibility</p:attrName>
                                        </p:attrNameLst>
                                      </p:cBhvr>
                                      <p:to>
                                        <p:strVal val="visible"/>
                                      </p:to>
                                    </p:set>
                                  </p:childTnLst>
                                  <p:subTnLst>
                                    <p:set>
                                      <p:cBhvr override="childStyle">
                                        <p:cTn dur="1" fill="hold" display="0" masterRel="nextClick" afterEffect="1"/>
                                        <p:tgtEl>
                                          <p:spTgt spid="102"/>
                                        </p:tgtEl>
                                        <p:attrNameLst>
                                          <p:attrName>style.visibility</p:attrName>
                                        </p:attrNameLst>
                                      </p:cBhvr>
                                      <p:to>
                                        <p:strVal val="hidden"/>
                                      </p:to>
                                    </p:set>
                                  </p:sub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03"/>
                                        </p:tgtEl>
                                        <p:attrNameLst>
                                          <p:attrName>style.visibility</p:attrName>
                                        </p:attrNameLst>
                                      </p:cBhvr>
                                      <p:to>
                                        <p:strVal val="visible"/>
                                      </p:to>
                                    </p:set>
                                  </p:childTnLst>
                                  <p:subTnLst>
                                    <p:set>
                                      <p:cBhvr override="childStyle">
                                        <p:cTn dur="1" fill="hold" display="0" masterRel="nextClick" afterEffect="1"/>
                                        <p:tgtEl>
                                          <p:spTgt spid="103"/>
                                        </p:tgtEl>
                                        <p:attrNameLst>
                                          <p:attrName>style.visibility</p:attrName>
                                        </p:attrNameLst>
                                      </p:cBhvr>
                                      <p:to>
                                        <p:strVal val="hidden"/>
                                      </p:to>
                                    </p:set>
                                  </p:sub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05"/>
                                        </p:tgtEl>
                                        <p:attrNameLst>
                                          <p:attrName>style.visibility</p:attrName>
                                        </p:attrNameLst>
                                      </p:cBhvr>
                                      <p:to>
                                        <p:strVal val="visible"/>
                                      </p:to>
                                    </p:set>
                                  </p:childTnLst>
                                  <p:subTnLst>
                                    <p:set>
                                      <p:cBhvr override="childStyle">
                                        <p:cTn dur="1" fill="hold" display="0" masterRel="nextClick" afterEffect="1"/>
                                        <p:tgtEl>
                                          <p:spTgt spid="105"/>
                                        </p:tgtEl>
                                        <p:attrNameLst>
                                          <p:attrName>style.visibility</p:attrName>
                                        </p:attrNameLst>
                                      </p:cBhvr>
                                      <p:to>
                                        <p:strVal val="hidden"/>
                                      </p:to>
                                    </p:set>
                                  </p:sub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nodeType="clickEffect">
                                  <p:stCondLst>
                                    <p:cond delay="0"/>
                                  </p:stCondLst>
                                  <p:childTnLst>
                                    <p:set>
                                      <p:cBhvr>
                                        <p:cTn id="37" dur="1" fill="hold">
                                          <p:stCondLst>
                                            <p:cond delay="0"/>
                                          </p:stCondLst>
                                        </p:cTn>
                                        <p:tgtEl>
                                          <p:spTgt spid="14"/>
                                        </p:tgtEl>
                                        <p:attrNameLst>
                                          <p:attrName>style.visibility</p:attrName>
                                        </p:attrNameLst>
                                      </p:cBhvr>
                                      <p:to>
                                        <p:strVal val="visible"/>
                                      </p:to>
                                    </p:set>
                                  </p:childTnLst>
                                  <p:subTnLst>
                                    <p:set>
                                      <p:cBhvr override="childStyle">
                                        <p:cTn dur="1" fill="hold" display="0" masterRel="nextClick" afterEffect="1"/>
                                        <p:tgtEl>
                                          <p:spTgt spid="14"/>
                                        </p:tgtEl>
                                        <p:attrNameLst>
                                          <p:attrName>style.visibility</p:attrName>
                                        </p:attrNameLst>
                                      </p:cBhvr>
                                      <p:to>
                                        <p:strVal val="hidden"/>
                                      </p:to>
                                    </p:set>
                                  </p:subTnLst>
                                </p:cTn>
                              </p:par>
                              <p:par>
                                <p:cTn id="38" presetID="1" presetClass="entr" presetSubtype="0"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nodeType="clickEffect">
                                  <p:stCondLst>
                                    <p:cond delay="0"/>
                                  </p:stCondLst>
                                  <p:childTnLst>
                                    <p:set>
                                      <p:cBhvr>
                                        <p:cTn id="43" dur="1" fill="hold">
                                          <p:stCondLst>
                                            <p:cond delay="0"/>
                                          </p:stCondLst>
                                        </p:cTn>
                                        <p:tgtEl>
                                          <p:spTgt spid="2"/>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107"/>
                                        </p:tgtEl>
                                        <p:attrNameLst>
                                          <p:attrName>style.visibility</p:attrName>
                                        </p:attrNameLst>
                                      </p:cBhvr>
                                      <p:to>
                                        <p:strVal val="visible"/>
                                      </p:to>
                                    </p:set>
                                  </p:childTnLst>
                                  <p:subTnLst>
                                    <p:set>
                                      <p:cBhvr override="childStyle">
                                        <p:cTn dur="1" fill="hold" display="0" masterRel="nextClick" afterEffect="1"/>
                                        <p:tgtEl>
                                          <p:spTgt spid="107"/>
                                        </p:tgtEl>
                                        <p:attrNameLst>
                                          <p:attrName>style.visibility</p:attrName>
                                        </p:attrNameLst>
                                      </p:cBhvr>
                                      <p:to>
                                        <p:strVal val="hidden"/>
                                      </p:to>
                                    </p:set>
                                  </p:sub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11"/>
                                        </p:tgtEl>
                                        <p:attrNameLst>
                                          <p:attrName>style.visibility</p:attrName>
                                        </p:attrNameLst>
                                      </p:cBhvr>
                                      <p:to>
                                        <p:strVal val="visible"/>
                                      </p:to>
                                    </p:set>
                                  </p:childTnLst>
                                  <p:subTnLst>
                                    <p:set>
                                      <p:cBhvr override="childStyle">
                                        <p:cTn dur="1" fill="hold" display="0" masterRel="nextClick" afterEffect="1"/>
                                        <p:tgtEl>
                                          <p:spTgt spid="111"/>
                                        </p:tgtEl>
                                        <p:attrNameLst>
                                          <p:attrName>style.visibility</p:attrName>
                                        </p:attrNameLst>
                                      </p:cBhvr>
                                      <p:to>
                                        <p:strVal val="hidden"/>
                                      </p:to>
                                    </p:set>
                                  </p:sub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06"/>
                                        </p:tgtEl>
                                        <p:attrNameLst>
                                          <p:attrName>style.visibility</p:attrName>
                                        </p:attrNameLst>
                                      </p:cBhvr>
                                      <p:to>
                                        <p:strVal val="visible"/>
                                      </p:to>
                                    </p:set>
                                  </p:childTnLst>
                                  <p:subTnLst>
                                    <p:set>
                                      <p:cBhvr override="childStyle">
                                        <p:cTn dur="1" fill="hold" display="0" masterRel="nextClick" afterEffect="1"/>
                                        <p:tgtEl>
                                          <p:spTgt spid="106"/>
                                        </p:tgtEl>
                                        <p:attrNameLst>
                                          <p:attrName>style.visibility</p:attrName>
                                        </p:attrNameLst>
                                      </p:cBhvr>
                                      <p:to>
                                        <p:strVal val="hidden"/>
                                      </p:to>
                                    </p:set>
                                  </p:subTnLst>
                                </p:cTn>
                              </p:par>
                            </p:childTnLst>
                          </p:cTn>
                        </p:par>
                      </p:childTnLst>
                    </p:cTn>
                  </p:par>
                  <p:par>
                    <p:cTn id="54" fill="hold" nodeType="clickPar">
                      <p:stCondLst>
                        <p:cond delay="indefinite"/>
                      </p:stCondLst>
                      <p:childTnLst>
                        <p:par>
                          <p:cTn id="55" fill="hold" nodeType="withGroup">
                            <p:stCondLst>
                              <p:cond delay="0"/>
                            </p:stCondLst>
                            <p:childTnLst>
                              <p:par>
                                <p:cTn id="56" presetID="1" presetClass="entr" presetSubtype="0" fill="hold" nodeType="clickEffect">
                                  <p:stCondLst>
                                    <p:cond delay="0"/>
                                  </p:stCondLst>
                                  <p:childTnLst>
                                    <p:set>
                                      <p:cBhvr>
                                        <p:cTn id="57" dur="1" fill="hold">
                                          <p:stCondLst>
                                            <p:cond delay="0"/>
                                          </p:stCondLst>
                                        </p:cTn>
                                        <p:tgtEl>
                                          <p:spTgt spid="16"/>
                                        </p:tgtEl>
                                        <p:attrNameLst>
                                          <p:attrName>style.visibility</p:attrName>
                                        </p:attrNameLst>
                                      </p:cBhvr>
                                      <p:to>
                                        <p:strVal val="visible"/>
                                      </p:to>
                                    </p:se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58" fill="hold" nodeType="clickPar">
                      <p:stCondLst>
                        <p:cond delay="indefinite"/>
                      </p:stCondLst>
                      <p:childTnLst>
                        <p:par>
                          <p:cTn id="59" fill="hold" nodeType="withGroup">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15"/>
                                        </p:tgtEl>
                                        <p:attrNameLst>
                                          <p:attrName>style.visibility</p:attrName>
                                        </p:attrNameLst>
                                      </p:cBhvr>
                                      <p:to>
                                        <p:strVal val="visible"/>
                                      </p:to>
                                    </p:set>
                                  </p:childTnLst>
                                </p:cTn>
                              </p:par>
                            </p:childTnLst>
                          </p:cTn>
                        </p:par>
                      </p:childTnLst>
                    </p:cTn>
                  </p:par>
                  <p:par>
                    <p:cTn id="62" fill="hold" nodeType="clickPar">
                      <p:stCondLst>
                        <p:cond delay="indefinite"/>
                      </p:stCondLst>
                      <p:childTnLst>
                        <p:par>
                          <p:cTn id="63" fill="hold" nodeType="withGroup">
                            <p:stCondLst>
                              <p:cond delay="0"/>
                            </p:stCondLst>
                            <p:childTnLst>
                              <p:par>
                                <p:cTn id="64" presetID="1" presetClass="exit" presetSubtype="0" fill="hold" grpId="1" nodeType="clickEffect">
                                  <p:stCondLst>
                                    <p:cond delay="0"/>
                                  </p:stCondLst>
                                  <p:childTnLst>
                                    <p:set>
                                      <p:cBhvr>
                                        <p:cTn id="65" dur="1" fill="hold">
                                          <p:stCondLst>
                                            <p:cond delay="0"/>
                                          </p:stCondLst>
                                        </p:cTn>
                                        <p:tgtEl>
                                          <p:spTgt spid="106"/>
                                        </p:tgtEl>
                                        <p:attrNameLst>
                                          <p:attrName>style.visibility</p:attrName>
                                        </p:attrNameLst>
                                      </p:cBhvr>
                                      <p:to>
                                        <p:strVal val="hidden"/>
                                      </p:to>
                                    </p:set>
                                  </p:childTnLst>
                                </p:cTn>
                              </p:par>
                              <p:par>
                                <p:cTn id="66" presetID="1" presetClass="exit" presetSubtype="0" fill="hold" grpId="1" nodeType="withEffect">
                                  <p:stCondLst>
                                    <p:cond delay="0"/>
                                  </p:stCondLst>
                                  <p:childTnLst>
                                    <p:set>
                                      <p:cBhvr>
                                        <p:cTn id="67" dur="1" fill="hold">
                                          <p:stCondLst>
                                            <p:cond delay="0"/>
                                          </p:stCondLst>
                                        </p:cTn>
                                        <p:tgtEl>
                                          <p:spTgt spid="115"/>
                                        </p:tgtEl>
                                        <p:attrNameLst>
                                          <p:attrName>style.visibility</p:attrName>
                                        </p:attrNameLst>
                                      </p:cBhvr>
                                      <p:to>
                                        <p:strVal val="hidden"/>
                                      </p:to>
                                    </p:set>
                                  </p:childTnLst>
                                </p:cTn>
                              </p:par>
                            </p:childTnLst>
                          </p:cTn>
                        </p:par>
                      </p:childTnLst>
                    </p:cTn>
                  </p:par>
                  <p:par>
                    <p:cTn id="68" fill="hold" nodeType="clickPar">
                      <p:stCondLst>
                        <p:cond delay="indefinite"/>
                      </p:stCondLst>
                      <p:childTnLst>
                        <p:par>
                          <p:cTn id="69" fill="hold" nodeType="withGroup">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nodeType="withGroup">
                            <p:stCondLst>
                              <p:cond delay="0"/>
                            </p:stCondLst>
                            <p:childTnLst>
                              <p:par>
                                <p:cTn id="74" presetID="1" presetClass="entr" presetSubtype="0" fill="hold" nodeType="clickEffect">
                                  <p:stCondLst>
                                    <p:cond delay="0"/>
                                  </p:stCondLst>
                                  <p:childTnLst>
                                    <p:set>
                                      <p:cBhvr>
                                        <p:cTn id="75" dur="1" fill="hold">
                                          <p:stCondLst>
                                            <p:cond delay="0"/>
                                          </p:stCondLst>
                                        </p:cTn>
                                        <p:tgtEl>
                                          <p:spTgt spid="17"/>
                                        </p:tgtEl>
                                        <p:attrNameLst>
                                          <p:attrName>style.visibility</p:attrName>
                                        </p:attrNameLst>
                                      </p:cBhvr>
                                      <p:to>
                                        <p:strVal val="visible"/>
                                      </p:to>
                                    </p:set>
                                  </p:childTnLst>
                                </p:cTn>
                              </p:par>
                            </p:childTnLst>
                          </p:cTn>
                        </p:par>
                      </p:childTnLst>
                    </p:cTn>
                  </p:par>
                  <p:par>
                    <p:cTn id="76" fill="hold" nodeType="clickPar">
                      <p:stCondLst>
                        <p:cond delay="indefinite"/>
                      </p:stCondLst>
                      <p:childTnLst>
                        <p:par>
                          <p:cTn id="77" fill="hold" nodeType="withGroup">
                            <p:stCondLst>
                              <p:cond delay="0"/>
                            </p:stCondLst>
                            <p:childTnLst>
                              <p:par>
                                <p:cTn id="78" presetID="9" presetClass="entr" presetSubtype="0" fill="hold" grpId="0" nodeType="clickEffect">
                                  <p:stCondLst>
                                    <p:cond delay="0"/>
                                  </p:stCondLst>
                                  <p:childTnLst>
                                    <p:set>
                                      <p:cBhvr>
                                        <p:cTn id="79" dur="1" fill="hold">
                                          <p:stCondLst>
                                            <p:cond delay="0"/>
                                          </p:stCondLst>
                                        </p:cTn>
                                        <p:tgtEl>
                                          <p:spTgt spid="128"/>
                                        </p:tgtEl>
                                        <p:attrNameLst>
                                          <p:attrName>style.visibility</p:attrName>
                                        </p:attrNameLst>
                                      </p:cBhvr>
                                      <p:to>
                                        <p:strVal val="visible"/>
                                      </p:to>
                                    </p:set>
                                    <p:animEffect transition="in" filter="dissolve">
                                      <p:cBhvr>
                                        <p:cTn id="80" dur="500"/>
                                        <p:tgtEl>
                                          <p:spTgt spid="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2" grpId="0" animBg="1"/>
      <p:bldP spid="103" grpId="0" animBg="1"/>
      <p:bldP spid="105" grpId="0" animBg="1"/>
      <p:bldP spid="106" grpId="0" animBg="1"/>
      <p:bldP spid="106" grpId="1" animBg="1"/>
      <p:bldP spid="107" grpId="0" animBg="1"/>
      <p:bldP spid="111" grpId="0" animBg="1"/>
      <p:bldP spid="115" grpId="0" animBg="1"/>
      <p:bldP spid="115" grpId="1" animBg="1"/>
      <p:bldP spid="121" grpId="0" animBg="1"/>
      <p:bldP spid="128"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Title 1"/>
          <p:cNvSpPr>
            <a:spLocks noGrp="1"/>
          </p:cNvSpPr>
          <p:nvPr>
            <p:ph type="title"/>
          </p:nvPr>
        </p:nvSpPr>
        <p:spPr/>
        <p:txBody>
          <a:bodyPr/>
          <a:lstStyle/>
          <a:p>
            <a:pPr eaLnBrk="1" hangingPunct="1"/>
            <a:r>
              <a:rPr lang="en-US" altLang="en-US" sz="3600" dirty="0" smtClean="0"/>
              <a:t>Distinguishing LBN &amp; Write-order Mappings </a:t>
            </a:r>
          </a:p>
        </p:txBody>
      </p:sp>
      <p:sp>
        <p:nvSpPr>
          <p:cNvPr id="3" name="Content Placeholder 2"/>
          <p:cNvSpPr>
            <a:spLocks noGrp="1"/>
          </p:cNvSpPr>
          <p:nvPr>
            <p:ph idx="1"/>
          </p:nvPr>
        </p:nvSpPr>
        <p:spPr>
          <a:xfrm>
            <a:off x="228600" y="1600200"/>
            <a:ext cx="8686800" cy="4953000"/>
          </a:xfrm>
        </p:spPr>
        <p:txBody>
          <a:bodyPr/>
          <a:lstStyle/>
          <a:p>
            <a:pPr marL="457200" indent="-457200" eaLnBrk="1" hangingPunct="1">
              <a:lnSpc>
                <a:spcPct val="90000"/>
              </a:lnSpc>
              <a:buFont typeface="Wingdings" panose="05000000000000000000" pitchFamily="2" charset="2"/>
              <a:buChar char="l"/>
            </a:pPr>
            <a:r>
              <a:rPr lang="en-US" altLang="en-US" sz="3000" dirty="0" smtClean="0"/>
              <a:t>Write a set of blocks in a random order to SSD</a:t>
            </a:r>
          </a:p>
          <a:p>
            <a:pPr marL="800100" lvl="1" indent="-457200" eaLnBrk="1" hangingPunct="1">
              <a:lnSpc>
                <a:spcPct val="90000"/>
              </a:lnSpc>
              <a:buFont typeface="Wingdings" panose="05000000000000000000" pitchFamily="2" charset="2"/>
              <a:buChar char="Ø"/>
            </a:pPr>
            <a:r>
              <a:rPr lang="en-US" altLang="en-US" sz="2600" dirty="0" smtClean="0">
                <a:solidFill>
                  <a:srgbClr val="002060"/>
                </a:solidFill>
              </a:rPr>
              <a:t>Read them in the same random order </a:t>
            </a:r>
          </a:p>
          <a:p>
            <a:pPr marL="1028700" lvl="2" indent="-342900" eaLnBrk="1" hangingPunct="1">
              <a:lnSpc>
                <a:spcPct val="90000"/>
              </a:lnSpc>
              <a:buFont typeface="Arial" panose="020B0604020202020204" pitchFamily="34" charset="0"/>
              <a:buChar char="•"/>
            </a:pPr>
            <a:r>
              <a:rPr lang="en-US" altLang="en-US" sz="2200" dirty="0" smtClean="0">
                <a:solidFill>
                  <a:srgbClr val="FF0000"/>
                </a:solidFill>
              </a:rPr>
              <a:t>Write-order,</a:t>
            </a:r>
            <a:r>
              <a:rPr lang="en-US" altLang="en-US" sz="2200" dirty="0" smtClean="0"/>
              <a:t> If  a regular pattern flat/drop curve is observed. </a:t>
            </a:r>
          </a:p>
          <a:p>
            <a:pPr marL="1028700" lvl="2" indent="-342900" eaLnBrk="1" hangingPunct="1">
              <a:lnSpc>
                <a:spcPct val="90000"/>
              </a:lnSpc>
              <a:buFont typeface="Arial" panose="020B0604020202020204" pitchFamily="34" charset="0"/>
              <a:buChar char="•"/>
            </a:pPr>
            <a:r>
              <a:rPr lang="en-US" altLang="en-US" sz="2200" dirty="0" smtClean="0">
                <a:solidFill>
                  <a:srgbClr val="FF0000"/>
                </a:solidFill>
              </a:rPr>
              <a:t>LBA</a:t>
            </a:r>
            <a:r>
              <a:rPr lang="en-US" altLang="en-US" sz="2200" dirty="0" smtClean="0"/>
              <a:t>, if no such a regular pattern </a:t>
            </a:r>
          </a:p>
          <a:p>
            <a:pPr marL="800100" lvl="1" indent="-457200" eaLnBrk="1" hangingPunct="1">
              <a:lnSpc>
                <a:spcPct val="90000"/>
              </a:lnSpc>
              <a:buFont typeface="Wingdings" panose="05000000000000000000" pitchFamily="2" charset="2"/>
              <a:buChar char="Ø"/>
            </a:pPr>
            <a:r>
              <a:rPr lang="en-US" altLang="en-US" sz="2600" dirty="0" smtClean="0">
                <a:solidFill>
                  <a:srgbClr val="002060"/>
                </a:solidFill>
              </a:rPr>
              <a:t>Read them sequentially based on the LBA order </a:t>
            </a:r>
          </a:p>
          <a:p>
            <a:pPr marL="1028700" lvl="2" indent="-342900" eaLnBrk="1" hangingPunct="1">
              <a:lnSpc>
                <a:spcPct val="90000"/>
              </a:lnSpc>
              <a:buFont typeface="Arial" panose="020B0604020202020204" pitchFamily="34" charset="0"/>
              <a:buChar char="•"/>
            </a:pPr>
            <a:r>
              <a:rPr lang="en-US" altLang="en-US" sz="2200" dirty="0" smtClean="0">
                <a:solidFill>
                  <a:srgbClr val="FF0000"/>
                </a:solidFill>
              </a:rPr>
              <a:t>LBA,</a:t>
            </a:r>
            <a:r>
              <a:rPr lang="en-US" altLang="en-US" sz="2200" dirty="0" smtClean="0"/>
              <a:t> if a regular pattern of flat/drop curve is observed</a:t>
            </a:r>
          </a:p>
          <a:p>
            <a:pPr marL="1028700" lvl="2" indent="-342900" eaLnBrk="1" hangingPunct="1">
              <a:lnSpc>
                <a:spcPct val="90000"/>
              </a:lnSpc>
              <a:buFont typeface="Arial" panose="020B0604020202020204" pitchFamily="34" charset="0"/>
              <a:buChar char="•"/>
            </a:pPr>
            <a:r>
              <a:rPr lang="en-US" altLang="en-US" sz="2200" dirty="0" smtClean="0">
                <a:solidFill>
                  <a:srgbClr val="FF0000"/>
                </a:solidFill>
              </a:rPr>
              <a:t>Write-order, </a:t>
            </a:r>
            <a:r>
              <a:rPr lang="en-US" altLang="en-US" sz="2200" dirty="0" smtClean="0"/>
              <a:t>if no such a regular pattern</a:t>
            </a:r>
          </a:p>
          <a:p>
            <a:pPr eaLnBrk="1" hangingPunct="1">
              <a:lnSpc>
                <a:spcPct val="90000"/>
              </a:lnSpc>
            </a:pPr>
            <a:endParaRPr lang="en-US" altLang="en-US" sz="3000" dirty="0" smtClean="0"/>
          </a:p>
          <a:p>
            <a:pPr marL="457200" indent="-457200" eaLnBrk="1" hangingPunct="1">
              <a:lnSpc>
                <a:spcPct val="90000"/>
              </a:lnSpc>
              <a:buFont typeface="Wingdings" panose="05000000000000000000" pitchFamily="2" charset="2"/>
              <a:buChar char="l"/>
            </a:pPr>
            <a:r>
              <a:rPr lang="en-US" altLang="en-US" sz="3000" dirty="0" smtClean="0"/>
              <a:t>Write a set of blocks sequentially in LBA order to SSD</a:t>
            </a:r>
          </a:p>
          <a:p>
            <a:pPr marL="800100" lvl="1" indent="-457200" eaLnBrk="1" hangingPunct="1">
              <a:lnSpc>
                <a:spcPct val="90000"/>
              </a:lnSpc>
              <a:buFont typeface="Wingdings" panose="05000000000000000000" pitchFamily="2" charset="2"/>
              <a:buChar char="Ø"/>
            </a:pPr>
            <a:r>
              <a:rPr lang="en-US" altLang="en-US" sz="2600" dirty="0" smtClean="0">
                <a:solidFill>
                  <a:srgbClr val="002060"/>
                </a:solidFill>
              </a:rPr>
              <a:t>Read them sequentially</a:t>
            </a:r>
            <a:r>
              <a:rPr lang="en-US" altLang="en-US" sz="2600" dirty="0" smtClean="0">
                <a:solidFill>
                  <a:srgbClr val="C00000"/>
                </a:solidFill>
              </a:rPr>
              <a:t>, no distinction </a:t>
            </a:r>
            <a:r>
              <a:rPr lang="en-US" altLang="en-US" sz="2600" dirty="0" smtClean="0"/>
              <a:t>(regular patterns)</a:t>
            </a:r>
          </a:p>
          <a:p>
            <a:pPr marL="800100" lvl="1" indent="-457200" eaLnBrk="1" hangingPunct="1">
              <a:lnSpc>
                <a:spcPct val="90000"/>
              </a:lnSpc>
              <a:buFont typeface="Wingdings" panose="05000000000000000000" pitchFamily="2" charset="2"/>
              <a:buChar char="Ø"/>
            </a:pPr>
            <a:r>
              <a:rPr lang="en-US" altLang="en-US" sz="2600" dirty="0" smtClean="0">
                <a:solidFill>
                  <a:srgbClr val="002060"/>
                </a:solidFill>
              </a:rPr>
              <a:t>Read them randomly,  </a:t>
            </a:r>
            <a:r>
              <a:rPr lang="en-US" altLang="en-US" sz="2600" dirty="0" smtClean="0">
                <a:solidFill>
                  <a:srgbClr val="FF0000"/>
                </a:solidFill>
              </a:rPr>
              <a:t>no distinction </a:t>
            </a:r>
            <a:r>
              <a:rPr lang="en-US" altLang="en-US" sz="2600" dirty="0" smtClean="0"/>
              <a:t>(no regular patterns)</a:t>
            </a:r>
          </a:p>
          <a:p>
            <a:pPr eaLnBrk="1" hangingPunct="1">
              <a:lnSpc>
                <a:spcPct val="90000"/>
              </a:lnSpc>
            </a:pPr>
            <a:endParaRPr lang="en-US" altLang="en-US" sz="3000" dirty="0" smtClean="0"/>
          </a:p>
        </p:txBody>
      </p:sp>
      <p:sp>
        <p:nvSpPr>
          <p:cNvPr id="59396" name="Slide Number Placeholder 3"/>
          <p:cNvSpPr>
            <a:spLocks noGrp="1"/>
          </p:cNvSpPr>
          <p:nvPr>
            <p:ph type="sldNum" sz="quarter" idx="4294967295"/>
          </p:nvPr>
        </p:nvSpPr>
        <p:spPr bwMode="auto">
          <a:xfrm>
            <a:off x="7010400" y="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 typeface="Wingdings" panose="05000000000000000000" pitchFamily="2" charset="2"/>
              <a:buNone/>
            </a:pPr>
            <a:fld id="{BD38D28C-1103-4F1C-88AC-C171D9A5A0F6}" type="slidenum">
              <a:rPr lang="zh-CN" altLang="en-US" sz="1200">
                <a:solidFill>
                  <a:srgbClr val="898989"/>
                </a:solidFill>
                <a:latin typeface="Verdana" panose="020B0604030504040204" pitchFamily="34" charset="0"/>
              </a:rPr>
              <a:pPr>
                <a:spcBef>
                  <a:spcPct val="50000"/>
                </a:spcBef>
                <a:buFont typeface="Wingdings" panose="05000000000000000000" pitchFamily="2" charset="2"/>
                <a:buNone/>
              </a:pPr>
              <a:t>95</a:t>
            </a:fld>
            <a:endParaRPr lang="zh-CN" altLang="en-US" sz="1200">
              <a:solidFill>
                <a:srgbClr val="898989"/>
              </a:solidFill>
              <a:latin typeface="Verdana" panose="020B0604030504040204" pitchFamily="34" charset="0"/>
            </a:endParaRPr>
          </a:p>
        </p:txBody>
      </p:sp>
    </p:spTree>
    <p:extLst>
      <p:ext uri="{BB962C8B-B14F-4D97-AF65-F5344CB8AC3E}">
        <p14:creationId xmlns:p14="http://schemas.microsoft.com/office/powerpoint/2010/main" val="16410311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Title 1"/>
          <p:cNvSpPr>
            <a:spLocks noGrp="1"/>
          </p:cNvSpPr>
          <p:nvPr>
            <p:ph type="title"/>
          </p:nvPr>
        </p:nvSpPr>
        <p:spPr/>
        <p:txBody>
          <a:bodyPr/>
          <a:lstStyle/>
          <a:p>
            <a:pPr eaLnBrk="1" hangingPunct="1"/>
            <a:r>
              <a:rPr lang="en-US" altLang="en-US" smtClean="0"/>
              <a:t>Outline</a:t>
            </a:r>
          </a:p>
        </p:txBody>
      </p:sp>
      <p:sp>
        <p:nvSpPr>
          <p:cNvPr id="61443" name="Content Placeholder 2"/>
          <p:cNvSpPr>
            <a:spLocks noGrp="1"/>
          </p:cNvSpPr>
          <p:nvPr>
            <p:ph idx="1"/>
          </p:nvPr>
        </p:nvSpPr>
        <p:spPr/>
        <p:txBody>
          <a:bodyPr/>
          <a:lstStyle/>
          <a:p>
            <a:pPr eaLnBrk="1" hangingPunct="1"/>
            <a:r>
              <a:rPr lang="en-US" altLang="en-US" sz="2800" smtClean="0">
                <a:solidFill>
                  <a:srgbClr val="A6A6A6"/>
                </a:solidFill>
              </a:rPr>
              <a:t>Introduction</a:t>
            </a:r>
          </a:p>
          <a:p>
            <a:pPr eaLnBrk="1" hangingPunct="1"/>
            <a:r>
              <a:rPr lang="en-US" altLang="en-US" sz="2800" smtClean="0">
                <a:solidFill>
                  <a:srgbClr val="A6A6A6"/>
                </a:solidFill>
              </a:rPr>
              <a:t>Sketching SSD internals</a:t>
            </a:r>
          </a:p>
          <a:p>
            <a:pPr eaLnBrk="1" hangingPunct="1"/>
            <a:r>
              <a:rPr lang="en-US" altLang="en-US" sz="2800" smtClean="0"/>
              <a:t>Hystor: A hybrid storage system</a:t>
            </a:r>
          </a:p>
          <a:p>
            <a:pPr eaLnBrk="1" hangingPunct="1"/>
            <a:r>
              <a:rPr lang="en-US" altLang="en-US" sz="2800" smtClean="0">
                <a:solidFill>
                  <a:srgbClr val="A6A6A6"/>
                </a:solidFill>
              </a:rPr>
              <a:t>Exploiting Internal Parallelism</a:t>
            </a:r>
          </a:p>
          <a:p>
            <a:pPr eaLnBrk="1" hangingPunct="1"/>
            <a:r>
              <a:rPr lang="en-US" altLang="en-US" sz="2800" smtClean="0">
                <a:solidFill>
                  <a:srgbClr val="A6A6A6"/>
                </a:solidFill>
              </a:rPr>
              <a:t>Conclusion</a:t>
            </a:r>
          </a:p>
          <a:p>
            <a:pPr eaLnBrk="1" hangingPunct="1"/>
            <a:r>
              <a:rPr lang="en-US" altLang="en-US" sz="2800" smtClean="0">
                <a:solidFill>
                  <a:srgbClr val="A6A6A6"/>
                </a:solidFill>
              </a:rPr>
              <a:t>Future Work</a:t>
            </a:r>
          </a:p>
          <a:p>
            <a:pPr eaLnBrk="1" hangingPunct="1"/>
            <a:endParaRPr lang="en-US" altLang="en-US" sz="2800" smtClean="0"/>
          </a:p>
        </p:txBody>
      </p:sp>
      <p:sp>
        <p:nvSpPr>
          <p:cNvPr id="61444" name="Slide Number Placeholder 3"/>
          <p:cNvSpPr>
            <a:spLocks noGrp="1"/>
          </p:cNvSpPr>
          <p:nvPr>
            <p:ph type="sldNum" sz="quarter" idx="4294967295"/>
          </p:nvPr>
        </p:nvSpPr>
        <p:spPr bwMode="auto">
          <a:xfrm>
            <a:off x="7010400" y="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 typeface="Wingdings" panose="05000000000000000000" pitchFamily="2" charset="2"/>
              <a:buNone/>
            </a:pPr>
            <a:fld id="{E3B6B7CD-A4A7-489E-B7C9-8DB4185455CF}" type="slidenum">
              <a:rPr lang="zh-CN" altLang="en-US" sz="1200">
                <a:solidFill>
                  <a:srgbClr val="898989"/>
                </a:solidFill>
                <a:latin typeface="Verdana" panose="020B0604030504040204" pitchFamily="34" charset="0"/>
              </a:rPr>
              <a:pPr>
                <a:spcBef>
                  <a:spcPct val="50000"/>
                </a:spcBef>
                <a:buFont typeface="Wingdings" panose="05000000000000000000" pitchFamily="2" charset="2"/>
                <a:buNone/>
              </a:pPr>
              <a:t>96</a:t>
            </a:fld>
            <a:endParaRPr lang="zh-CN" altLang="en-US" sz="1200">
              <a:solidFill>
                <a:srgbClr val="898989"/>
              </a:solidFill>
              <a:latin typeface="Verdana" panose="020B0604030504040204" pitchFamily="34" charset="0"/>
            </a:endParaRPr>
          </a:p>
        </p:txBody>
      </p:sp>
      <p:grpSp>
        <p:nvGrpSpPr>
          <p:cNvPr id="61445" name="Group 52"/>
          <p:cNvGrpSpPr>
            <a:grpSpLocks/>
          </p:cNvGrpSpPr>
          <p:nvPr/>
        </p:nvGrpSpPr>
        <p:grpSpPr bwMode="auto">
          <a:xfrm>
            <a:off x="5257800" y="3352800"/>
            <a:ext cx="3733800" cy="3352800"/>
            <a:chOff x="5257801" y="3352800"/>
            <a:chExt cx="3733801" cy="3352800"/>
          </a:xfrm>
        </p:grpSpPr>
        <p:grpSp>
          <p:nvGrpSpPr>
            <p:cNvPr id="61446" name="Group 35"/>
            <p:cNvGrpSpPr>
              <a:grpSpLocks/>
            </p:cNvGrpSpPr>
            <p:nvPr/>
          </p:nvGrpSpPr>
          <p:grpSpPr bwMode="auto">
            <a:xfrm>
              <a:off x="5257801" y="3456801"/>
              <a:ext cx="3733801" cy="2970765"/>
              <a:chOff x="3793787" y="2161401"/>
              <a:chExt cx="4131013" cy="2970765"/>
            </a:xfrm>
          </p:grpSpPr>
          <p:grpSp>
            <p:nvGrpSpPr>
              <p:cNvPr id="61470" name="Group 37"/>
              <p:cNvGrpSpPr>
                <a:grpSpLocks/>
              </p:cNvGrpSpPr>
              <p:nvPr/>
            </p:nvGrpSpPr>
            <p:grpSpPr bwMode="auto">
              <a:xfrm>
                <a:off x="4724400" y="2667000"/>
                <a:ext cx="3200400" cy="1981200"/>
                <a:chOff x="533400" y="2667000"/>
                <a:chExt cx="3200400" cy="1981200"/>
              </a:xfrm>
            </p:grpSpPr>
            <p:grpSp>
              <p:nvGrpSpPr>
                <p:cNvPr id="61474" name="Group 4"/>
                <p:cNvGrpSpPr>
                  <a:grpSpLocks/>
                </p:cNvGrpSpPr>
                <p:nvPr/>
              </p:nvGrpSpPr>
              <p:grpSpPr bwMode="auto">
                <a:xfrm>
                  <a:off x="533400" y="2667000"/>
                  <a:ext cx="3200400" cy="1981200"/>
                  <a:chOff x="5867400" y="2590800"/>
                  <a:chExt cx="3200400" cy="1981200"/>
                </a:xfrm>
              </p:grpSpPr>
              <p:grpSp>
                <p:nvGrpSpPr>
                  <p:cNvPr id="61476" name="Group 4"/>
                  <p:cNvGrpSpPr>
                    <a:grpSpLocks/>
                  </p:cNvGrpSpPr>
                  <p:nvPr/>
                </p:nvGrpSpPr>
                <p:grpSpPr bwMode="auto">
                  <a:xfrm>
                    <a:off x="5943600" y="2667000"/>
                    <a:ext cx="3124200" cy="1905000"/>
                    <a:chOff x="5943600" y="2667000"/>
                    <a:chExt cx="3124200" cy="1905000"/>
                  </a:xfrm>
                </p:grpSpPr>
                <p:sp>
                  <p:nvSpPr>
                    <p:cNvPr id="101" name="Rectangle 100"/>
                    <p:cNvSpPr/>
                    <p:nvPr/>
                  </p:nvSpPr>
                  <p:spPr>
                    <a:xfrm>
                      <a:off x="5943195" y="2667000"/>
                      <a:ext cx="3124605" cy="1752600"/>
                    </a:xfrm>
                    <a:prstGeom prst="rect">
                      <a:avLst/>
                    </a:prstGeom>
                  </p:spPr>
                  <p:style>
                    <a:lnRef idx="1">
                      <a:schemeClr val="dk1"/>
                    </a:lnRef>
                    <a:fillRef idx="2">
                      <a:schemeClr val="dk1"/>
                    </a:fillRef>
                    <a:effectRef idx="1">
                      <a:schemeClr val="dk1"/>
                    </a:effectRef>
                    <a:fontRef idx="minor">
                      <a:schemeClr val="dk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lnSpc>
                          <a:spcPct val="125000"/>
                        </a:lnSpc>
                        <a:spcBef>
                          <a:spcPct val="50000"/>
                        </a:spcBef>
                        <a:spcAft>
                          <a:spcPct val="20000"/>
                        </a:spcAft>
                        <a:buFont typeface="Wingdings" pitchFamily="2" charset="2"/>
                        <a:buChar char="Ø"/>
                        <a:defRPr/>
                      </a:pPr>
                      <a:endParaRPr lang="en-US" altLang="en-US" smtClean="0">
                        <a:solidFill>
                          <a:srgbClr val="000000"/>
                        </a:solidFill>
                        <a:latin typeface="Calibri" pitchFamily="34" charset="0"/>
                      </a:endParaRPr>
                    </a:p>
                  </p:txBody>
                </p:sp>
                <p:sp>
                  <p:nvSpPr>
                    <p:cNvPr id="102" name="Rectangle 101"/>
                    <p:cNvSpPr/>
                    <p:nvPr/>
                  </p:nvSpPr>
                  <p:spPr>
                    <a:xfrm>
                      <a:off x="6117076" y="3581400"/>
                      <a:ext cx="2782111" cy="381000"/>
                    </a:xfrm>
                    <a:prstGeom prst="rect">
                      <a:avLst/>
                    </a:prstGeom>
                    <a:ln/>
                    <a:effectLst/>
                  </p:spPr>
                  <p:style>
                    <a:lnRef idx="1">
                      <a:schemeClr val="dk1"/>
                    </a:lnRef>
                    <a:fillRef idx="2">
                      <a:schemeClr val="dk1"/>
                    </a:fillRef>
                    <a:effectRef idx="1">
                      <a:schemeClr val="dk1"/>
                    </a:effectRef>
                    <a:fontRef idx="minor">
                      <a:schemeClr val="dk1"/>
                    </a:fontRef>
                  </p:style>
                  <p:txBody>
                    <a:bodyPr/>
                    <a:lstStyle/>
                    <a:p>
                      <a:pPr algn="ctr" eaLnBrk="1" hangingPunct="1">
                        <a:lnSpc>
                          <a:spcPct val="125000"/>
                        </a:lnSpc>
                        <a:spcBef>
                          <a:spcPct val="50000"/>
                        </a:spcBef>
                        <a:spcAft>
                          <a:spcPct val="20000"/>
                        </a:spcAft>
                        <a:buFont typeface="Wingdings" pitchFamily="2" charset="2"/>
                        <a:buNone/>
                        <a:defRPr/>
                      </a:pPr>
                      <a:r>
                        <a:rPr lang="en-US" sz="1600" dirty="0"/>
                        <a:t>Block I/O layer</a:t>
                      </a:r>
                    </a:p>
                  </p:txBody>
                </p:sp>
                <p:cxnSp>
                  <p:nvCxnSpPr>
                    <p:cNvPr id="103" name="Straight Connector 102"/>
                    <p:cNvCxnSpPr/>
                    <p:nvPr/>
                  </p:nvCxnSpPr>
                  <p:spPr>
                    <a:xfrm>
                      <a:off x="5943195" y="4572000"/>
                      <a:ext cx="3124605"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cxnSp>
                <p:nvCxnSpPr>
                  <p:cNvPr id="100" name="Straight Connector 6"/>
                  <p:cNvCxnSpPr/>
                  <p:nvPr/>
                </p:nvCxnSpPr>
                <p:spPr>
                  <a:xfrm>
                    <a:off x="5867670" y="2590800"/>
                    <a:ext cx="3124606"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sp>
              <p:nvSpPr>
                <p:cNvPr id="98" name="Rectangle 97"/>
                <p:cNvSpPr/>
                <p:nvPr/>
              </p:nvSpPr>
              <p:spPr>
                <a:xfrm>
                  <a:off x="783076" y="3276600"/>
                  <a:ext cx="2782111" cy="381000"/>
                </a:xfrm>
                <a:prstGeom prst="rect">
                  <a:avLst/>
                </a:prstGeom>
                <a:ln/>
                <a:effectLst/>
              </p:spPr>
              <p:style>
                <a:lnRef idx="1">
                  <a:schemeClr val="dk1"/>
                </a:lnRef>
                <a:fillRef idx="2">
                  <a:schemeClr val="dk1"/>
                </a:fillRef>
                <a:effectRef idx="1">
                  <a:schemeClr val="dk1"/>
                </a:effectRef>
                <a:fontRef idx="minor">
                  <a:schemeClr val="dk1"/>
                </a:fontRef>
              </p:style>
              <p:txBody>
                <a:bodyPr/>
                <a:lstStyle/>
                <a:p>
                  <a:pPr algn="ctr" eaLnBrk="1" hangingPunct="1">
                    <a:lnSpc>
                      <a:spcPct val="125000"/>
                    </a:lnSpc>
                    <a:spcBef>
                      <a:spcPct val="50000"/>
                    </a:spcBef>
                    <a:spcAft>
                      <a:spcPct val="20000"/>
                    </a:spcAft>
                    <a:buFont typeface="Wingdings" pitchFamily="2" charset="2"/>
                    <a:buNone/>
                    <a:defRPr/>
                  </a:pPr>
                  <a:r>
                    <a:rPr lang="en-US" sz="1600" dirty="0"/>
                    <a:t>File System</a:t>
                  </a:r>
                </a:p>
              </p:txBody>
            </p:sp>
          </p:grpSp>
          <p:sp>
            <p:nvSpPr>
              <p:cNvPr id="61471" name="Rectangle 78"/>
              <p:cNvSpPr>
                <a:spLocks noChangeArrowheads="1"/>
              </p:cNvSpPr>
              <p:nvPr/>
            </p:nvSpPr>
            <p:spPr bwMode="auto">
              <a:xfrm>
                <a:off x="4004200" y="3352800"/>
                <a:ext cx="7312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Wingdings" panose="05000000000000000000" pitchFamily="2" charset="2"/>
                  <a:buNone/>
                </a:pPr>
                <a:r>
                  <a:rPr lang="en-US" altLang="en-US" sz="1200" b="1">
                    <a:solidFill>
                      <a:srgbClr val="010000"/>
                    </a:solidFill>
                    <a:latin typeface="Verdana" panose="020B0604030504040204" pitchFamily="34" charset="0"/>
                  </a:rPr>
                  <a:t>OS</a:t>
                </a:r>
              </a:p>
              <a:p>
                <a:pPr algn="ctr" eaLnBrk="1" hangingPunct="1">
                  <a:spcBef>
                    <a:spcPct val="0"/>
                  </a:spcBef>
                  <a:buFont typeface="Wingdings" panose="05000000000000000000" pitchFamily="2" charset="2"/>
                  <a:buNone/>
                </a:pPr>
                <a:r>
                  <a:rPr lang="en-US" altLang="en-US" sz="1200" b="1">
                    <a:solidFill>
                      <a:srgbClr val="010000"/>
                    </a:solidFill>
                    <a:latin typeface="Verdana" panose="020B0604030504040204" pitchFamily="34" charset="0"/>
                  </a:rPr>
                  <a:t>kernel</a:t>
                </a:r>
              </a:p>
            </p:txBody>
          </p:sp>
          <p:sp>
            <p:nvSpPr>
              <p:cNvPr id="61472" name="Rectangle 79"/>
              <p:cNvSpPr>
                <a:spLocks noChangeArrowheads="1"/>
              </p:cNvSpPr>
              <p:nvPr/>
            </p:nvSpPr>
            <p:spPr bwMode="auto">
              <a:xfrm>
                <a:off x="3793787" y="4800600"/>
                <a:ext cx="854721" cy="331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50000"/>
                  </a:spcBef>
                  <a:spcAft>
                    <a:spcPct val="20000"/>
                  </a:spcAft>
                  <a:buFont typeface="Wingdings" panose="05000000000000000000" pitchFamily="2" charset="2"/>
                  <a:buNone/>
                </a:pPr>
                <a:r>
                  <a:rPr lang="en-US" altLang="en-US" sz="1400" b="1">
                    <a:solidFill>
                      <a:srgbClr val="010000"/>
                    </a:solidFill>
                    <a:latin typeface="Verdana" panose="020B0604030504040204" pitchFamily="34" charset="0"/>
                  </a:rPr>
                  <a:t>Device</a:t>
                </a:r>
              </a:p>
            </p:txBody>
          </p:sp>
          <p:sp>
            <p:nvSpPr>
              <p:cNvPr id="61473" name="Rectangle 80"/>
              <p:cNvSpPr>
                <a:spLocks noChangeArrowheads="1"/>
              </p:cNvSpPr>
              <p:nvPr/>
            </p:nvSpPr>
            <p:spPr bwMode="auto">
              <a:xfrm>
                <a:off x="4158146" y="2161401"/>
                <a:ext cx="57579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Wingdings" panose="05000000000000000000" pitchFamily="2" charset="2"/>
                  <a:buNone/>
                </a:pPr>
                <a:r>
                  <a:rPr lang="en-US" altLang="en-US" sz="1200" b="1">
                    <a:solidFill>
                      <a:srgbClr val="010000"/>
                    </a:solidFill>
                    <a:latin typeface="Verdana" panose="020B0604030504040204" pitchFamily="34" charset="0"/>
                  </a:rPr>
                  <a:t>App.</a:t>
                </a:r>
              </a:p>
            </p:txBody>
          </p:sp>
        </p:grpSp>
        <p:grpSp>
          <p:nvGrpSpPr>
            <p:cNvPr id="61447" name="Group 36"/>
            <p:cNvGrpSpPr>
              <a:grpSpLocks/>
            </p:cNvGrpSpPr>
            <p:nvPr/>
          </p:nvGrpSpPr>
          <p:grpSpPr bwMode="auto">
            <a:xfrm>
              <a:off x="6153510" y="5334000"/>
              <a:ext cx="2838090" cy="1371600"/>
              <a:chOff x="6153510" y="4114800"/>
              <a:chExt cx="2838090" cy="1371600"/>
            </a:xfrm>
          </p:grpSpPr>
          <p:grpSp>
            <p:nvGrpSpPr>
              <p:cNvPr id="61463" name="Group 31"/>
              <p:cNvGrpSpPr>
                <a:grpSpLocks/>
              </p:cNvGrpSpPr>
              <p:nvPr/>
            </p:nvGrpSpPr>
            <p:grpSpPr bwMode="auto">
              <a:xfrm>
                <a:off x="6153510" y="4784651"/>
                <a:ext cx="2838090" cy="701749"/>
                <a:chOff x="6153510" y="4784651"/>
                <a:chExt cx="2838090" cy="701749"/>
              </a:xfrm>
            </p:grpSpPr>
            <p:sp>
              <p:nvSpPr>
                <p:cNvPr id="75" name="Rectangle 74"/>
                <p:cNvSpPr/>
                <p:nvPr/>
              </p:nvSpPr>
              <p:spPr>
                <a:xfrm>
                  <a:off x="6153151" y="4784725"/>
                  <a:ext cx="2838451" cy="701675"/>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eaLnBrk="1" hangingPunct="1">
                    <a:spcBef>
                      <a:spcPts val="0"/>
                    </a:spcBef>
                    <a:spcAft>
                      <a:spcPts val="0"/>
                    </a:spcAft>
                    <a:buFont typeface="Wingdings" pitchFamily="2" charset="2"/>
                    <a:buNone/>
                    <a:defRPr/>
                  </a:pPr>
                  <a:r>
                    <a:rPr lang="en-US" sz="1400" dirty="0"/>
                    <a:t>Hybrid </a:t>
                  </a:r>
                </a:p>
                <a:p>
                  <a:pPr eaLnBrk="1" hangingPunct="1">
                    <a:spcBef>
                      <a:spcPts val="0"/>
                    </a:spcBef>
                    <a:spcAft>
                      <a:spcPts val="0"/>
                    </a:spcAft>
                    <a:buFont typeface="Wingdings" pitchFamily="2" charset="2"/>
                    <a:buNone/>
                    <a:defRPr/>
                  </a:pPr>
                  <a:r>
                    <a:rPr lang="en-US" sz="1400" dirty="0"/>
                    <a:t>Storage</a:t>
                  </a:r>
                </a:p>
              </p:txBody>
            </p:sp>
            <p:sp>
              <p:nvSpPr>
                <p:cNvPr id="76" name="Rectangle 75"/>
                <p:cNvSpPr/>
                <p:nvPr/>
              </p:nvSpPr>
              <p:spPr>
                <a:xfrm>
                  <a:off x="6896101" y="4940300"/>
                  <a:ext cx="946150" cy="468313"/>
                </a:xfrm>
                <a:prstGeom prst="rect">
                  <a:avLst/>
                </a:prstGeom>
              </p:spPr>
              <p:style>
                <a:lnRef idx="1">
                  <a:schemeClr val="dk1"/>
                </a:lnRef>
                <a:fillRef idx="2">
                  <a:schemeClr val="dk1"/>
                </a:fillRef>
                <a:effectRef idx="1">
                  <a:schemeClr val="dk1"/>
                </a:effectRef>
                <a:fontRef idx="minor">
                  <a:schemeClr val="dk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400" dirty="0"/>
                    <a:t>HDD</a:t>
                  </a:r>
                </a:p>
              </p:txBody>
            </p:sp>
            <p:sp>
              <p:nvSpPr>
                <p:cNvPr id="77" name="Rectangle 76"/>
                <p:cNvSpPr/>
                <p:nvPr/>
              </p:nvSpPr>
              <p:spPr>
                <a:xfrm>
                  <a:off x="7842252" y="4940300"/>
                  <a:ext cx="1081088" cy="468313"/>
                </a:xfrm>
                <a:prstGeom prst="rect">
                  <a:avLst/>
                </a:prstGeom>
              </p:spPr>
              <p:style>
                <a:lnRef idx="1">
                  <a:schemeClr val="dk1"/>
                </a:lnRef>
                <a:fillRef idx="2">
                  <a:schemeClr val="dk1"/>
                </a:fillRef>
                <a:effectRef idx="1">
                  <a:schemeClr val="dk1"/>
                </a:effectRef>
                <a:fontRef idx="minor">
                  <a:schemeClr val="dk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600" dirty="0"/>
                    <a:t>SSD</a:t>
                  </a:r>
                </a:p>
              </p:txBody>
            </p:sp>
          </p:grpSp>
          <p:sp>
            <p:nvSpPr>
              <p:cNvPr id="72" name="Rectangle 71"/>
              <p:cNvSpPr/>
              <p:nvPr/>
            </p:nvSpPr>
            <p:spPr>
              <a:xfrm>
                <a:off x="7620002" y="4114800"/>
                <a:ext cx="1219200" cy="381000"/>
              </a:xfrm>
              <a:prstGeom prst="rect">
                <a:avLst/>
              </a:prstGeom>
              <a:effectLst/>
            </p:spPr>
            <p:style>
              <a:lnRef idx="1">
                <a:schemeClr val="dk1"/>
              </a:lnRef>
              <a:fillRef idx="2">
                <a:schemeClr val="dk1"/>
              </a:fillRef>
              <a:effectRef idx="1">
                <a:schemeClr val="dk1"/>
              </a:effectRef>
              <a:fontRef idx="minor">
                <a:schemeClr val="dk1"/>
              </a:fontRef>
            </p:style>
            <p:txBody>
              <a:bodyPr anchor="ctr"/>
              <a:lstStyle/>
              <a:p>
                <a:pPr algn="ctr" eaLnBrk="1" hangingPunct="1">
                  <a:spcBef>
                    <a:spcPts val="0"/>
                  </a:spcBef>
                  <a:spcAft>
                    <a:spcPts val="0"/>
                  </a:spcAft>
                  <a:buFont typeface="Wingdings" pitchFamily="2" charset="2"/>
                  <a:buNone/>
                  <a:defRPr/>
                </a:pPr>
                <a:r>
                  <a:rPr lang="en-US" sz="1200" dirty="0"/>
                  <a:t>Block </a:t>
                </a:r>
                <a:r>
                  <a:rPr lang="en-US" sz="1200" dirty="0" err="1"/>
                  <a:t>Dev.Driver</a:t>
                </a:r>
                <a:endParaRPr lang="en-US" sz="1200" dirty="0"/>
              </a:p>
            </p:txBody>
          </p:sp>
          <p:sp>
            <p:nvSpPr>
              <p:cNvPr id="73" name="Rectangle 72"/>
              <p:cNvSpPr/>
              <p:nvPr/>
            </p:nvSpPr>
            <p:spPr>
              <a:xfrm>
                <a:off x="6324601" y="4114800"/>
                <a:ext cx="1295400" cy="3810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eaLnBrk="1" hangingPunct="1">
                  <a:spcBef>
                    <a:spcPts val="0"/>
                  </a:spcBef>
                  <a:spcAft>
                    <a:spcPts val="0"/>
                  </a:spcAft>
                  <a:buFont typeface="Wingdings" pitchFamily="2" charset="2"/>
                  <a:buNone/>
                  <a:defRPr/>
                </a:pPr>
                <a:r>
                  <a:rPr lang="en-US" sz="1200" dirty="0"/>
                  <a:t>Hybrid </a:t>
                </a:r>
                <a:r>
                  <a:rPr lang="en-US" sz="1200" dirty="0" err="1"/>
                  <a:t>Dev.Driver</a:t>
                </a:r>
                <a:endParaRPr lang="en-US" sz="1200" dirty="0"/>
              </a:p>
            </p:txBody>
          </p:sp>
          <p:cxnSp>
            <p:nvCxnSpPr>
              <p:cNvPr id="74" name="Straight Arrow Connector 73"/>
              <p:cNvCxnSpPr/>
              <p:nvPr/>
            </p:nvCxnSpPr>
            <p:spPr>
              <a:xfrm rot="5400000">
                <a:off x="6820695" y="4685506"/>
                <a:ext cx="381000" cy="1588"/>
              </a:xfrm>
              <a:prstGeom prst="straightConnector1">
                <a:avLst/>
              </a:prstGeom>
              <a:ln w="254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61448" name="Group 62"/>
            <p:cNvGrpSpPr>
              <a:grpSpLocks/>
            </p:cNvGrpSpPr>
            <p:nvPr/>
          </p:nvGrpSpPr>
          <p:grpSpPr bwMode="auto">
            <a:xfrm>
              <a:off x="6167804" y="3352800"/>
              <a:ext cx="2061795" cy="762000"/>
              <a:chOff x="6167805" y="2133600"/>
              <a:chExt cx="1191428" cy="762000"/>
            </a:xfrm>
          </p:grpSpPr>
          <p:sp>
            <p:nvSpPr>
              <p:cNvPr id="69" name="Rectangle 68"/>
              <p:cNvSpPr/>
              <p:nvPr/>
            </p:nvSpPr>
            <p:spPr>
              <a:xfrm>
                <a:off x="6167594" y="2133600"/>
                <a:ext cx="1191641" cy="457200"/>
              </a:xfrm>
              <a:prstGeom prst="rect">
                <a:avLst/>
              </a:prstGeom>
            </p:spPr>
            <p:style>
              <a:lnRef idx="1">
                <a:schemeClr val="dk1"/>
              </a:lnRef>
              <a:fillRef idx="2">
                <a:schemeClr val="dk1"/>
              </a:fillRef>
              <a:effectRef idx="1">
                <a:schemeClr val="dk1"/>
              </a:effectRef>
              <a:fontRef idx="minor">
                <a:schemeClr val="dk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200" dirty="0"/>
                  <a:t>Applications</a:t>
                </a:r>
              </a:p>
            </p:txBody>
          </p:sp>
          <p:cxnSp>
            <p:nvCxnSpPr>
              <p:cNvPr id="70" name="Straight Arrow Connector 69"/>
              <p:cNvCxnSpPr/>
              <p:nvPr/>
            </p:nvCxnSpPr>
            <p:spPr>
              <a:xfrm rot="5400000">
                <a:off x="6628903" y="2743200"/>
                <a:ext cx="304800"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61449" name="Group 66"/>
            <p:cNvGrpSpPr>
              <a:grpSpLocks/>
            </p:cNvGrpSpPr>
            <p:nvPr/>
          </p:nvGrpSpPr>
          <p:grpSpPr bwMode="auto">
            <a:xfrm>
              <a:off x="8229600" y="3352800"/>
              <a:ext cx="762000" cy="2743200"/>
              <a:chOff x="8229600" y="2133600"/>
              <a:chExt cx="762000" cy="2743200"/>
            </a:xfrm>
          </p:grpSpPr>
          <p:sp>
            <p:nvSpPr>
              <p:cNvPr id="67" name="Rectangle 66"/>
              <p:cNvSpPr/>
              <p:nvPr/>
            </p:nvSpPr>
            <p:spPr>
              <a:xfrm>
                <a:off x="8229602" y="2133600"/>
                <a:ext cx="762000" cy="457200"/>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lvl1pPr eaLnBrk="0" hangingPunct="0">
                  <a:defRPr sz="2000">
                    <a:solidFill>
                      <a:srgbClr val="010000"/>
                    </a:solidFill>
                    <a:latin typeface="Verdana" pitchFamily="34" charset="0"/>
                    <a:ea typeface="仿宋_GB2312"/>
                    <a:cs typeface="仿宋_GB2312"/>
                  </a:defRPr>
                </a:lvl1pPr>
                <a:lvl2pPr marL="742950" indent="-285750" eaLnBrk="0" hangingPunct="0">
                  <a:defRPr sz="2000">
                    <a:solidFill>
                      <a:srgbClr val="010000"/>
                    </a:solidFill>
                    <a:latin typeface="Verdana" pitchFamily="34" charset="0"/>
                    <a:ea typeface="仿宋_GB2312"/>
                    <a:cs typeface="仿宋_GB2312"/>
                  </a:defRPr>
                </a:lvl2pPr>
                <a:lvl3pPr marL="1143000" indent="-228600" eaLnBrk="0" hangingPunct="0">
                  <a:defRPr sz="2000">
                    <a:solidFill>
                      <a:srgbClr val="010000"/>
                    </a:solidFill>
                    <a:latin typeface="Verdana" pitchFamily="34" charset="0"/>
                    <a:ea typeface="仿宋_GB2312"/>
                    <a:cs typeface="仿宋_GB2312"/>
                  </a:defRPr>
                </a:lvl3pPr>
                <a:lvl4pPr marL="1600200" indent="-228600" eaLnBrk="0" hangingPunct="0">
                  <a:defRPr sz="2000">
                    <a:solidFill>
                      <a:srgbClr val="010000"/>
                    </a:solidFill>
                    <a:latin typeface="Verdana" pitchFamily="34" charset="0"/>
                    <a:ea typeface="仿宋_GB2312"/>
                    <a:cs typeface="仿宋_GB2312"/>
                  </a:defRPr>
                </a:lvl4pPr>
                <a:lvl5pPr marL="2057400" indent="-228600" eaLnBrk="0" hangingPunct="0">
                  <a:defRPr sz="2000">
                    <a:solidFill>
                      <a:srgbClr val="010000"/>
                    </a:solidFill>
                    <a:latin typeface="Verdana" pitchFamily="34" charset="0"/>
                    <a:ea typeface="仿宋_GB2312"/>
                    <a:cs typeface="仿宋_GB2312"/>
                  </a:defRPr>
                </a:lvl5pPr>
                <a:lvl6pPr marL="2514600" indent="-228600" eaLnBrk="0" fontAlgn="base" hangingPunct="0">
                  <a:spcBef>
                    <a:spcPct val="0"/>
                  </a:spcBef>
                  <a:spcAft>
                    <a:spcPct val="0"/>
                  </a:spcAft>
                  <a:defRPr sz="2000">
                    <a:solidFill>
                      <a:srgbClr val="010000"/>
                    </a:solidFill>
                    <a:latin typeface="Verdana" pitchFamily="34" charset="0"/>
                    <a:ea typeface="仿宋_GB2312"/>
                    <a:cs typeface="仿宋_GB2312"/>
                  </a:defRPr>
                </a:lvl6pPr>
                <a:lvl7pPr marL="2971800" indent="-228600" eaLnBrk="0" fontAlgn="base" hangingPunct="0">
                  <a:spcBef>
                    <a:spcPct val="0"/>
                  </a:spcBef>
                  <a:spcAft>
                    <a:spcPct val="0"/>
                  </a:spcAft>
                  <a:defRPr sz="2000">
                    <a:solidFill>
                      <a:srgbClr val="010000"/>
                    </a:solidFill>
                    <a:latin typeface="Verdana" pitchFamily="34" charset="0"/>
                    <a:ea typeface="仿宋_GB2312"/>
                    <a:cs typeface="仿宋_GB2312"/>
                  </a:defRPr>
                </a:lvl7pPr>
                <a:lvl8pPr marL="3429000" indent="-228600" eaLnBrk="0" fontAlgn="base" hangingPunct="0">
                  <a:spcBef>
                    <a:spcPct val="0"/>
                  </a:spcBef>
                  <a:spcAft>
                    <a:spcPct val="0"/>
                  </a:spcAft>
                  <a:defRPr sz="2000">
                    <a:solidFill>
                      <a:srgbClr val="010000"/>
                    </a:solidFill>
                    <a:latin typeface="Verdana" pitchFamily="34" charset="0"/>
                    <a:ea typeface="仿宋_GB2312"/>
                    <a:cs typeface="仿宋_GB2312"/>
                  </a:defRPr>
                </a:lvl8pPr>
                <a:lvl9pPr marL="3886200" indent="-228600" eaLnBrk="0" fontAlgn="base" hangingPunct="0">
                  <a:spcBef>
                    <a:spcPct val="0"/>
                  </a:spcBef>
                  <a:spcAft>
                    <a:spcPct val="0"/>
                  </a:spcAft>
                  <a:defRPr sz="2000">
                    <a:solidFill>
                      <a:srgbClr val="010000"/>
                    </a:solidFill>
                    <a:latin typeface="Verdana" pitchFamily="34" charset="0"/>
                    <a:ea typeface="仿宋_GB2312"/>
                    <a:cs typeface="仿宋_GB2312"/>
                  </a:defRPr>
                </a:lvl9pPr>
              </a:lstStyle>
              <a:p>
                <a:pPr algn="ctr" eaLnBrk="1" hangingPunct="1">
                  <a:buFont typeface="Wingdings" pitchFamily="2" charset="2"/>
                  <a:buNone/>
                  <a:defRPr/>
                </a:pPr>
                <a:r>
                  <a:rPr lang="en-US" altLang="en-US" sz="1400" smtClean="0">
                    <a:solidFill>
                      <a:srgbClr val="000000"/>
                    </a:solidFill>
                    <a:latin typeface="Calibri" pitchFamily="34" charset="0"/>
                  </a:rPr>
                  <a:t>SSD </a:t>
                </a:r>
              </a:p>
              <a:p>
                <a:pPr algn="ctr" eaLnBrk="1" hangingPunct="1">
                  <a:buFont typeface="Wingdings" pitchFamily="2" charset="2"/>
                  <a:buNone/>
                  <a:defRPr/>
                </a:pPr>
                <a:r>
                  <a:rPr lang="en-US" altLang="en-US" sz="1200" smtClean="0">
                    <a:solidFill>
                      <a:srgbClr val="000000"/>
                    </a:solidFill>
                    <a:latin typeface="Calibri" pitchFamily="34" charset="0"/>
                  </a:rPr>
                  <a:t>Sketcher</a:t>
                </a:r>
                <a:endParaRPr lang="en-US" altLang="en-US" sz="1400" smtClean="0">
                  <a:solidFill>
                    <a:srgbClr val="000000"/>
                  </a:solidFill>
                  <a:latin typeface="Calibri" pitchFamily="34" charset="0"/>
                </a:endParaRPr>
              </a:p>
            </p:txBody>
          </p:sp>
          <p:cxnSp>
            <p:nvCxnSpPr>
              <p:cNvPr id="68" name="Straight Arrow Connector 67"/>
              <p:cNvCxnSpPr/>
              <p:nvPr/>
            </p:nvCxnSpPr>
            <p:spPr>
              <a:xfrm rot="5400000">
                <a:off x="7772402" y="3733800"/>
                <a:ext cx="2286000" cy="0"/>
              </a:xfrm>
              <a:prstGeom prst="straightConnector1">
                <a:avLst/>
              </a:prstGeom>
              <a:ln w="254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58" name="Rectangle 57"/>
            <p:cNvSpPr/>
            <p:nvPr/>
          </p:nvSpPr>
          <p:spPr>
            <a:xfrm>
              <a:off x="6324601" y="4191000"/>
              <a:ext cx="2514601" cy="381000"/>
            </a:xfrm>
            <a:prstGeom prst="rect">
              <a:avLst/>
            </a:prstGeom>
            <a:effectLst/>
          </p:spPr>
          <p:style>
            <a:lnRef idx="1">
              <a:schemeClr val="dk1"/>
            </a:lnRef>
            <a:fillRef idx="2">
              <a:schemeClr val="dk1"/>
            </a:fillRef>
            <a:effectRef idx="1">
              <a:schemeClr val="dk1"/>
            </a:effectRef>
            <a:fontRef idx="minor">
              <a:schemeClr val="dk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600" dirty="0"/>
                <a:t>Buffer Cache</a:t>
              </a:r>
            </a:p>
          </p:txBody>
        </p:sp>
        <p:grpSp>
          <p:nvGrpSpPr>
            <p:cNvPr id="61451" name="Group 82"/>
            <p:cNvGrpSpPr>
              <a:grpSpLocks/>
            </p:cNvGrpSpPr>
            <p:nvPr/>
          </p:nvGrpSpPr>
          <p:grpSpPr bwMode="auto">
            <a:xfrm>
              <a:off x="6324600" y="3810000"/>
              <a:ext cx="2514600" cy="762000"/>
              <a:chOff x="6324601" y="2590800"/>
              <a:chExt cx="2514600" cy="762000"/>
            </a:xfrm>
          </p:grpSpPr>
          <p:sp>
            <p:nvSpPr>
              <p:cNvPr id="60" name="Rectangle 59"/>
              <p:cNvSpPr/>
              <p:nvPr/>
            </p:nvSpPr>
            <p:spPr>
              <a:xfrm>
                <a:off x="6324602" y="2971800"/>
                <a:ext cx="1600201" cy="381000"/>
              </a:xfrm>
              <a:prstGeom prst="rect">
                <a:avLst/>
              </a:prstGeom>
              <a:effectLst/>
            </p:spPr>
            <p:style>
              <a:lnRef idx="1">
                <a:schemeClr val="dk1"/>
              </a:lnRef>
              <a:fillRef idx="2">
                <a:schemeClr val="dk1"/>
              </a:fillRef>
              <a:effectRef idx="1">
                <a:schemeClr val="dk1"/>
              </a:effectRef>
              <a:fontRef idx="minor">
                <a:schemeClr val="dk1"/>
              </a:fontRef>
            </p:style>
            <p:txBody>
              <a:bodyPr anchor="ctr"/>
              <a:lstStyle/>
              <a:p>
                <a:pPr algn="ctr" eaLnBrk="1" hangingPunct="1">
                  <a:lnSpc>
                    <a:spcPct val="125000"/>
                  </a:lnSpc>
                  <a:spcBef>
                    <a:spcPct val="50000"/>
                  </a:spcBef>
                  <a:spcAft>
                    <a:spcPct val="20000"/>
                  </a:spcAft>
                  <a:buFont typeface="Wingdings" pitchFamily="2" charset="2"/>
                  <a:buNone/>
                  <a:defRPr/>
                </a:pPr>
                <a:r>
                  <a:rPr lang="en-US" sz="1600" dirty="0"/>
                  <a:t>Buffer Cache</a:t>
                </a:r>
              </a:p>
            </p:txBody>
          </p:sp>
          <p:grpSp>
            <p:nvGrpSpPr>
              <p:cNvPr id="61453" name="Group 74"/>
              <p:cNvGrpSpPr>
                <a:grpSpLocks/>
              </p:cNvGrpSpPr>
              <p:nvPr/>
            </p:nvGrpSpPr>
            <p:grpSpPr bwMode="auto">
              <a:xfrm>
                <a:off x="7848600" y="2590800"/>
                <a:ext cx="990601" cy="762000"/>
                <a:chOff x="7239000" y="1828800"/>
                <a:chExt cx="990601" cy="762000"/>
              </a:xfrm>
            </p:grpSpPr>
            <p:grpSp>
              <p:nvGrpSpPr>
                <p:cNvPr id="61454" name="Group 67"/>
                <p:cNvGrpSpPr>
                  <a:grpSpLocks/>
                </p:cNvGrpSpPr>
                <p:nvPr/>
              </p:nvGrpSpPr>
              <p:grpSpPr bwMode="auto">
                <a:xfrm>
                  <a:off x="7315201" y="1828800"/>
                  <a:ext cx="914400" cy="762000"/>
                  <a:chOff x="8153401" y="1828800"/>
                  <a:chExt cx="914400" cy="762000"/>
                </a:xfrm>
              </p:grpSpPr>
              <p:sp>
                <p:nvSpPr>
                  <p:cNvPr id="65" name="Rectangle 64"/>
                  <p:cNvSpPr/>
                  <p:nvPr/>
                </p:nvSpPr>
                <p:spPr>
                  <a:xfrm>
                    <a:off x="8153403" y="2209800"/>
                    <a:ext cx="914400" cy="381000"/>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spcBef>
                        <a:spcPts val="0"/>
                      </a:spcBef>
                      <a:spcAft>
                        <a:spcPts val="0"/>
                      </a:spcAft>
                      <a:buFont typeface="Wingdings" pitchFamily="2" charset="2"/>
                      <a:buNone/>
                      <a:defRPr/>
                    </a:pPr>
                    <a:r>
                      <a:rPr lang="en-US" sz="1200" dirty="0"/>
                      <a:t>Informed </a:t>
                    </a:r>
                    <a:r>
                      <a:rPr lang="en-US" sz="1200" dirty="0" err="1"/>
                      <a:t>Prefetcher</a:t>
                    </a:r>
                    <a:endParaRPr lang="en-US" sz="1200" dirty="0"/>
                  </a:p>
                </p:txBody>
              </p:sp>
              <p:cxnSp>
                <p:nvCxnSpPr>
                  <p:cNvPr id="66" name="Straight Arrow Connector 65"/>
                  <p:cNvCxnSpPr/>
                  <p:nvPr/>
                </p:nvCxnSpPr>
                <p:spPr>
                  <a:xfrm rot="5400000">
                    <a:off x="8573297" y="2018506"/>
                    <a:ext cx="381000" cy="1588"/>
                  </a:xfrm>
                  <a:prstGeom prst="straightConnector1">
                    <a:avLst/>
                  </a:prstGeom>
                  <a:ln w="254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grpSp>
            <p:cxnSp>
              <p:nvCxnSpPr>
                <p:cNvPr id="63" name="Straight Arrow Connector 62"/>
                <p:cNvCxnSpPr/>
                <p:nvPr/>
              </p:nvCxnSpPr>
              <p:spPr>
                <a:xfrm rot="5400000">
                  <a:off x="7201697" y="2018506"/>
                  <a:ext cx="381000" cy="1588"/>
                </a:xfrm>
                <a:prstGeom prst="straightConnector1">
                  <a:avLst/>
                </a:prstGeom>
                <a:ln w="254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rot="10800000">
                  <a:off x="7239003" y="2362200"/>
                  <a:ext cx="228600" cy="1588"/>
                </a:xfrm>
                <a:prstGeom prst="straightConnector1">
                  <a:avLst/>
                </a:prstGeom>
                <a:ln w="254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2664488835"/>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6562" name="Title 1"/>
          <p:cNvSpPr>
            <a:spLocks noGrp="1"/>
          </p:cNvSpPr>
          <p:nvPr>
            <p:ph type="title"/>
          </p:nvPr>
        </p:nvSpPr>
        <p:spPr/>
        <p:txBody>
          <a:bodyPr/>
          <a:lstStyle/>
          <a:p>
            <a:pPr eaLnBrk="1" hangingPunct="1"/>
            <a:r>
              <a:rPr lang="en-US" altLang="en-US" sz="4000" smtClean="0"/>
              <a:t>Integrating SSD and HDD together</a:t>
            </a:r>
          </a:p>
        </p:txBody>
      </p:sp>
      <p:sp>
        <p:nvSpPr>
          <p:cNvPr id="66563" name="Slide Number Placeholder 3"/>
          <p:cNvSpPr>
            <a:spLocks noGrp="1"/>
          </p:cNvSpPr>
          <p:nvPr>
            <p:ph type="sldNum" sz="quarter" idx="4294967295"/>
          </p:nvPr>
        </p:nvSpPr>
        <p:spPr bwMode="auto">
          <a:xfrm>
            <a:off x="7010400" y="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 typeface="Wingdings" panose="05000000000000000000" pitchFamily="2" charset="2"/>
              <a:buNone/>
            </a:pPr>
            <a:fld id="{CA73EFC4-6F44-4F30-80A9-707CDD898FBB}" type="slidenum">
              <a:rPr lang="zh-CN" altLang="en-US" sz="1200">
                <a:solidFill>
                  <a:srgbClr val="898989"/>
                </a:solidFill>
                <a:latin typeface="Verdana" panose="020B0604030504040204" pitchFamily="34" charset="0"/>
              </a:rPr>
              <a:pPr>
                <a:spcBef>
                  <a:spcPct val="50000"/>
                </a:spcBef>
                <a:buFont typeface="Wingdings" panose="05000000000000000000" pitchFamily="2" charset="2"/>
                <a:buNone/>
              </a:pPr>
              <a:t>97</a:t>
            </a:fld>
            <a:endParaRPr lang="zh-CN" altLang="en-US" sz="1200">
              <a:solidFill>
                <a:srgbClr val="898989"/>
              </a:solidFill>
              <a:latin typeface="Verdana" panose="020B0604030504040204" pitchFamily="34" charset="0"/>
            </a:endParaRPr>
          </a:p>
        </p:txBody>
      </p:sp>
      <p:sp>
        <p:nvSpPr>
          <p:cNvPr id="71" name="Rectangle 70"/>
          <p:cNvSpPr>
            <a:spLocks noChangeArrowheads="1"/>
          </p:cNvSpPr>
          <p:nvPr/>
        </p:nvSpPr>
        <p:spPr bwMode="auto">
          <a:xfrm>
            <a:off x="457200" y="5016500"/>
            <a:ext cx="27432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pPr>
            <a:r>
              <a:rPr lang="en-US" altLang="en-US" sz="1400">
                <a:solidFill>
                  <a:srgbClr val="010000"/>
                </a:solidFill>
                <a:latin typeface="Verdana" panose="020B0604030504040204" pitchFamily="34" charset="0"/>
              </a:rPr>
              <a:t> Conquest [USENIX’02]</a:t>
            </a:r>
          </a:p>
          <a:p>
            <a:pPr eaLnBrk="1" hangingPunct="1">
              <a:spcBef>
                <a:spcPct val="0"/>
              </a:spcBef>
            </a:pPr>
            <a:r>
              <a:rPr lang="en-US" altLang="en-US" sz="1400">
                <a:solidFill>
                  <a:srgbClr val="010000"/>
                </a:solidFill>
                <a:latin typeface="Verdana" panose="020B0604030504040204" pitchFamily="34" charset="0"/>
              </a:rPr>
              <a:t> SmartSaver [ISLPED’06]</a:t>
            </a:r>
          </a:p>
          <a:p>
            <a:pPr eaLnBrk="1" hangingPunct="1">
              <a:spcBef>
                <a:spcPct val="0"/>
              </a:spcBef>
            </a:pPr>
            <a:r>
              <a:rPr lang="en-US" altLang="en-US" sz="1400">
                <a:solidFill>
                  <a:srgbClr val="010000"/>
                </a:solidFill>
                <a:latin typeface="Verdana" panose="020B0604030504040204" pitchFamily="34" charset="0"/>
              </a:rPr>
              <a:t> ReadyBoost [MS’06]</a:t>
            </a:r>
          </a:p>
          <a:p>
            <a:pPr eaLnBrk="1" hangingPunct="1">
              <a:spcBef>
                <a:spcPct val="0"/>
              </a:spcBef>
            </a:pPr>
            <a:r>
              <a:rPr lang="en-US" altLang="en-US" sz="1400">
                <a:solidFill>
                  <a:srgbClr val="010000"/>
                </a:solidFill>
                <a:latin typeface="Verdana" panose="020B0604030504040204" pitchFamily="34" charset="0"/>
              </a:rPr>
              <a:t> TurboMemory[ToS’08] </a:t>
            </a:r>
          </a:p>
          <a:p>
            <a:pPr eaLnBrk="1" hangingPunct="1">
              <a:spcBef>
                <a:spcPct val="0"/>
              </a:spcBef>
            </a:pPr>
            <a:r>
              <a:rPr lang="en-US" altLang="en-US" sz="1400">
                <a:solidFill>
                  <a:srgbClr val="010000"/>
                </a:solidFill>
                <a:latin typeface="Verdana" panose="020B0604030504040204" pitchFamily="34" charset="0"/>
              </a:rPr>
              <a:t> L2ARC [CACM’08]</a:t>
            </a:r>
          </a:p>
          <a:p>
            <a:pPr eaLnBrk="1" hangingPunct="1">
              <a:spcBef>
                <a:spcPct val="0"/>
              </a:spcBef>
            </a:pPr>
            <a:r>
              <a:rPr lang="en-US" altLang="en-US" sz="1400">
                <a:solidFill>
                  <a:srgbClr val="010000"/>
                </a:solidFill>
                <a:latin typeface="Verdana" panose="020B0604030504040204" pitchFamily="34" charset="0"/>
              </a:rPr>
              <a:t> FlashCache [ISCA’08] </a:t>
            </a:r>
          </a:p>
          <a:p>
            <a:pPr eaLnBrk="1" hangingPunct="1">
              <a:spcBef>
                <a:spcPct val="0"/>
              </a:spcBef>
            </a:pPr>
            <a:r>
              <a:rPr lang="en-US" altLang="en-US" sz="1400">
                <a:solidFill>
                  <a:srgbClr val="010000"/>
                </a:solidFill>
                <a:latin typeface="Verdana" panose="020B0604030504040204" pitchFamily="34" charset="0"/>
              </a:rPr>
              <a:t> other …</a:t>
            </a:r>
          </a:p>
        </p:txBody>
      </p:sp>
      <p:grpSp>
        <p:nvGrpSpPr>
          <p:cNvPr id="2" name="Group 137"/>
          <p:cNvGrpSpPr/>
          <p:nvPr/>
        </p:nvGrpSpPr>
        <p:grpSpPr>
          <a:xfrm>
            <a:off x="609600" y="1219200"/>
            <a:ext cx="1981200" cy="3581400"/>
            <a:chOff x="2971800" y="1295400"/>
            <a:chExt cx="1981200" cy="3581400"/>
          </a:xfrm>
          <a:effectLst>
            <a:outerShdw blurRad="50800" dist="38100" dir="2700000" algn="tl" rotWithShape="0">
              <a:prstClr val="black">
                <a:alpha val="40000"/>
              </a:prstClr>
            </a:outerShdw>
          </a:effectLst>
        </p:grpSpPr>
        <p:sp>
          <p:nvSpPr>
            <p:cNvPr id="137" name="Content Placeholder 2"/>
            <p:cNvSpPr txBox="1">
              <a:spLocks/>
            </p:cNvSpPr>
            <p:nvPr/>
          </p:nvSpPr>
          <p:spPr>
            <a:xfrm>
              <a:off x="2971800" y="1295400"/>
              <a:ext cx="1981200" cy="3581400"/>
            </a:xfrm>
            <a:prstGeom prst="rect">
              <a:avLst/>
            </a:prstGeom>
          </p:spPr>
          <p:style>
            <a:lnRef idx="2">
              <a:schemeClr val="dk1"/>
            </a:lnRef>
            <a:fillRef idx="1">
              <a:schemeClr val="lt1"/>
            </a:fillRef>
            <a:effectRef idx="0">
              <a:schemeClr val="dk1"/>
            </a:effectRef>
            <a:fontRef idx="minor">
              <a:schemeClr val="dk1"/>
            </a:fontRef>
          </p:style>
          <p:txBody>
            <a:bodyPr>
              <a:normAutofit/>
            </a:bodyPr>
            <a:lstStyle/>
            <a:p>
              <a:pPr marL="342900" indent="-342900" eaLnBrk="1" fontAlgn="auto" hangingPunct="1">
                <a:spcBef>
                  <a:spcPct val="20000"/>
                </a:spcBef>
                <a:spcAft>
                  <a:spcPts val="0"/>
                </a:spcAft>
                <a:buFont typeface="Arial" pitchFamily="34" charset="0"/>
                <a:buChar char="•"/>
                <a:defRPr/>
              </a:pPr>
              <a:endParaRPr lang="en-US" sz="2400" dirty="0">
                <a:solidFill>
                  <a:schemeClr val="tx1"/>
                </a:solidFill>
              </a:endParaRPr>
            </a:p>
          </p:txBody>
        </p:sp>
        <p:grpSp>
          <p:nvGrpSpPr>
            <p:cNvPr id="3" name="Group 124"/>
            <p:cNvGrpSpPr/>
            <p:nvPr/>
          </p:nvGrpSpPr>
          <p:grpSpPr>
            <a:xfrm>
              <a:off x="3048000" y="1371600"/>
              <a:ext cx="1877437" cy="3355777"/>
              <a:chOff x="914400" y="1219200"/>
              <a:chExt cx="1877437" cy="3355777"/>
            </a:xfrm>
          </p:grpSpPr>
          <p:pic>
            <p:nvPicPr>
              <p:cNvPr id="264194" name="Picture 2"/>
              <p:cNvPicPr>
                <a:picLocks noChangeAspect="1" noChangeArrowheads="1"/>
              </p:cNvPicPr>
              <p:nvPr/>
            </p:nvPicPr>
            <p:blipFill>
              <a:blip r:embed="rId2" cstate="print"/>
              <a:srcRect/>
              <a:stretch>
                <a:fillRect/>
              </a:stretch>
            </p:blipFill>
            <p:spPr bwMode="auto">
              <a:xfrm>
                <a:off x="1295400" y="1219200"/>
                <a:ext cx="1143000" cy="857250"/>
              </a:xfrm>
              <a:prstGeom prst="rect">
                <a:avLst/>
              </a:prstGeom>
              <a:noFill/>
              <a:ln w="9525">
                <a:noFill/>
                <a:miter lim="800000"/>
                <a:headEnd/>
                <a:tailEnd/>
              </a:ln>
            </p:spPr>
          </p:pic>
          <p:grpSp>
            <p:nvGrpSpPr>
              <p:cNvPr id="4" name="Group 119"/>
              <p:cNvGrpSpPr/>
              <p:nvPr/>
            </p:nvGrpSpPr>
            <p:grpSpPr>
              <a:xfrm>
                <a:off x="914400" y="1828800"/>
                <a:ext cx="1877437" cy="2746177"/>
                <a:chOff x="914400" y="1905000"/>
                <a:chExt cx="1877437" cy="2746177"/>
              </a:xfrm>
            </p:grpSpPr>
            <p:grpSp>
              <p:nvGrpSpPr>
                <p:cNvPr id="5" name="Group 78"/>
                <p:cNvGrpSpPr/>
                <p:nvPr/>
              </p:nvGrpSpPr>
              <p:grpSpPr>
                <a:xfrm>
                  <a:off x="1219200" y="1905000"/>
                  <a:ext cx="1219200" cy="1219200"/>
                  <a:chOff x="1295400" y="2743200"/>
                  <a:chExt cx="1219200" cy="1219200"/>
                </a:xfrm>
              </p:grpSpPr>
              <p:pic>
                <p:nvPicPr>
                  <p:cNvPr id="82" name="Picture 2"/>
                  <p:cNvPicPr>
                    <a:picLocks noChangeAspect="1" noChangeArrowheads="1"/>
                  </p:cNvPicPr>
                  <p:nvPr/>
                </p:nvPicPr>
                <p:blipFill>
                  <a:blip r:embed="rId3" cstate="print"/>
                  <a:srcRect/>
                  <a:stretch>
                    <a:fillRect/>
                  </a:stretch>
                </p:blipFill>
                <p:spPr bwMode="auto">
                  <a:xfrm>
                    <a:off x="1295400" y="3048000"/>
                    <a:ext cx="1219200" cy="914400"/>
                  </a:xfrm>
                  <a:prstGeom prst="rect">
                    <a:avLst/>
                  </a:prstGeom>
                  <a:noFill/>
                  <a:ln w="9525">
                    <a:noFill/>
                    <a:miter lim="800000"/>
                    <a:headEnd/>
                    <a:tailEnd/>
                  </a:ln>
                </p:spPr>
              </p:pic>
              <p:cxnSp>
                <p:nvCxnSpPr>
                  <p:cNvPr id="80" name="Straight Connector 79"/>
                  <p:cNvCxnSpPr/>
                  <p:nvPr/>
                </p:nvCxnSpPr>
                <p:spPr>
                  <a:xfrm rot="5400000">
                    <a:off x="1714500" y="2933700"/>
                    <a:ext cx="381000" cy="0"/>
                  </a:xfrm>
                  <a:prstGeom prst="line">
                    <a:avLst/>
                  </a:prstGeom>
                  <a:ln w="88900">
                    <a:solidFill>
                      <a:srgbClr val="C00000"/>
                    </a:solidFill>
                    <a:prstDash val="solid"/>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grpSp>
              <p:nvGrpSpPr>
                <p:cNvPr id="6" name="Group 96"/>
                <p:cNvGrpSpPr/>
                <p:nvPr/>
              </p:nvGrpSpPr>
              <p:grpSpPr>
                <a:xfrm>
                  <a:off x="1295400" y="3048000"/>
                  <a:ext cx="1066800" cy="1371600"/>
                  <a:chOff x="1295400" y="3200400"/>
                  <a:chExt cx="1066800" cy="1371600"/>
                </a:xfrm>
              </p:grpSpPr>
              <p:pic>
                <p:nvPicPr>
                  <p:cNvPr id="85" name="Picture 2"/>
                  <p:cNvPicPr>
                    <a:picLocks noChangeAspect="1" noChangeArrowheads="1"/>
                  </p:cNvPicPr>
                  <p:nvPr/>
                </p:nvPicPr>
                <p:blipFill>
                  <a:blip r:embed="rId4" cstate="print"/>
                  <a:srcRect/>
                  <a:stretch>
                    <a:fillRect/>
                  </a:stretch>
                </p:blipFill>
                <p:spPr bwMode="auto">
                  <a:xfrm>
                    <a:off x="1295400" y="3505200"/>
                    <a:ext cx="1066800" cy="1066800"/>
                  </a:xfrm>
                  <a:prstGeom prst="rect">
                    <a:avLst/>
                  </a:prstGeom>
                  <a:noFill/>
                  <a:ln w="9525">
                    <a:noFill/>
                    <a:miter lim="800000"/>
                    <a:headEnd/>
                    <a:tailEnd/>
                  </a:ln>
                </p:spPr>
              </p:pic>
              <p:cxnSp>
                <p:nvCxnSpPr>
                  <p:cNvPr id="96" name="Straight Connector 95"/>
                  <p:cNvCxnSpPr/>
                  <p:nvPr/>
                </p:nvCxnSpPr>
                <p:spPr>
                  <a:xfrm rot="5400000">
                    <a:off x="1638300" y="3390900"/>
                    <a:ext cx="381000" cy="0"/>
                  </a:xfrm>
                  <a:prstGeom prst="line">
                    <a:avLst/>
                  </a:prstGeom>
                  <a:ln w="88900">
                    <a:solidFill>
                      <a:srgbClr val="C00000"/>
                    </a:solidFill>
                    <a:prstDash val="solid"/>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sp>
              <p:nvSpPr>
                <p:cNvPr id="100" name="Rectangle 99"/>
                <p:cNvSpPr/>
                <p:nvPr/>
              </p:nvSpPr>
              <p:spPr>
                <a:xfrm>
                  <a:off x="914400" y="4343400"/>
                  <a:ext cx="1877437" cy="307777"/>
                </a:xfrm>
                <a:prstGeom prst="rect">
                  <a:avLst/>
                </a:prstGeom>
              </p:spPr>
              <p:txBody>
                <a:bodyPr wrap="none">
                  <a:spAutoFit/>
                </a:bodyPr>
                <a:lstStyle/>
                <a:p>
                  <a:pPr eaLnBrk="1" hangingPunct="1">
                    <a:spcBef>
                      <a:spcPts val="0"/>
                    </a:spcBef>
                    <a:spcAft>
                      <a:spcPts val="0"/>
                    </a:spcAft>
                    <a:buFont typeface="Wingdings" pitchFamily="2" charset="2"/>
                    <a:buNone/>
                    <a:defRPr/>
                  </a:pPr>
                  <a:r>
                    <a:rPr lang="en-US" sz="1400" b="1" dirty="0"/>
                    <a:t>SSD-cached Disk</a:t>
                  </a:r>
                </a:p>
              </p:txBody>
            </p:sp>
          </p:grpSp>
        </p:grpSp>
      </p:grpSp>
      <p:sp>
        <p:nvSpPr>
          <p:cNvPr id="144" name="Rectangle 143"/>
          <p:cNvSpPr>
            <a:spLocks noChangeArrowheads="1"/>
          </p:cNvSpPr>
          <p:nvPr/>
        </p:nvSpPr>
        <p:spPr bwMode="auto">
          <a:xfrm>
            <a:off x="6705600" y="4953000"/>
            <a:ext cx="1524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pPr>
            <a:r>
              <a:rPr lang="en-US" altLang="en-US" sz="1800" b="1">
                <a:solidFill>
                  <a:srgbClr val="C00000"/>
                </a:solidFill>
                <a:latin typeface="Verdana" panose="020B0604030504040204" pitchFamily="34" charset="0"/>
              </a:rPr>
              <a:t> Hystor</a:t>
            </a:r>
            <a:endParaRPr lang="en-US" altLang="en-US" sz="1600" b="1">
              <a:solidFill>
                <a:srgbClr val="C00000"/>
              </a:solidFill>
              <a:latin typeface="Verdana" panose="020B0604030504040204" pitchFamily="34" charset="0"/>
            </a:endParaRPr>
          </a:p>
        </p:txBody>
      </p:sp>
      <p:grpSp>
        <p:nvGrpSpPr>
          <p:cNvPr id="7" name="Group 139"/>
          <p:cNvGrpSpPr/>
          <p:nvPr/>
        </p:nvGrpSpPr>
        <p:grpSpPr>
          <a:xfrm>
            <a:off x="3352800" y="1219200"/>
            <a:ext cx="1981200" cy="3581400"/>
            <a:chOff x="3505200" y="1295400"/>
            <a:chExt cx="1981200" cy="3581400"/>
          </a:xfrm>
          <a:effectLst>
            <a:outerShdw blurRad="50800" dist="38100" dir="2700000" algn="tl" rotWithShape="0">
              <a:prstClr val="black">
                <a:alpha val="40000"/>
              </a:prstClr>
            </a:outerShdw>
          </a:effectLst>
        </p:grpSpPr>
        <p:sp>
          <p:nvSpPr>
            <p:cNvPr id="146" name="Content Placeholder 2"/>
            <p:cNvSpPr txBox="1">
              <a:spLocks/>
            </p:cNvSpPr>
            <p:nvPr/>
          </p:nvSpPr>
          <p:spPr>
            <a:xfrm>
              <a:off x="3505200" y="1295400"/>
              <a:ext cx="1981200" cy="3581400"/>
            </a:xfrm>
            <a:prstGeom prst="rect">
              <a:avLst/>
            </a:prstGeom>
          </p:spPr>
          <p:style>
            <a:lnRef idx="2">
              <a:schemeClr val="dk1"/>
            </a:lnRef>
            <a:fillRef idx="1">
              <a:schemeClr val="lt1"/>
            </a:fillRef>
            <a:effectRef idx="0">
              <a:schemeClr val="dk1"/>
            </a:effectRef>
            <a:fontRef idx="minor">
              <a:schemeClr val="dk1"/>
            </a:fontRef>
          </p:style>
          <p:txBody>
            <a:bodyPr>
              <a:normAutofit/>
            </a:bodyPr>
            <a:lstStyle/>
            <a:p>
              <a:pPr marL="342900" indent="-342900" eaLnBrk="1" fontAlgn="auto" hangingPunct="1">
                <a:spcBef>
                  <a:spcPct val="20000"/>
                </a:spcBef>
                <a:spcAft>
                  <a:spcPts val="0"/>
                </a:spcAft>
                <a:buFont typeface="Arial" pitchFamily="34" charset="0"/>
                <a:buChar char="•"/>
                <a:defRPr/>
              </a:pPr>
              <a:endParaRPr lang="en-US" sz="2400" dirty="0">
                <a:solidFill>
                  <a:schemeClr val="tx1"/>
                </a:solidFill>
              </a:endParaRPr>
            </a:p>
          </p:txBody>
        </p:sp>
        <p:grpSp>
          <p:nvGrpSpPr>
            <p:cNvPr id="8" name="Group 126"/>
            <p:cNvGrpSpPr/>
            <p:nvPr/>
          </p:nvGrpSpPr>
          <p:grpSpPr>
            <a:xfrm>
              <a:off x="3581400" y="1368623"/>
              <a:ext cx="1877437" cy="3431977"/>
              <a:chOff x="3657600" y="1219200"/>
              <a:chExt cx="1877437" cy="3431977"/>
            </a:xfrm>
          </p:grpSpPr>
          <p:pic>
            <p:nvPicPr>
              <p:cNvPr id="148" name="Picture 2"/>
              <p:cNvPicPr>
                <a:picLocks noChangeAspect="1" noChangeArrowheads="1"/>
              </p:cNvPicPr>
              <p:nvPr/>
            </p:nvPicPr>
            <p:blipFill>
              <a:blip r:embed="rId2" cstate="print"/>
              <a:srcRect/>
              <a:stretch>
                <a:fillRect/>
              </a:stretch>
            </p:blipFill>
            <p:spPr bwMode="auto">
              <a:xfrm>
                <a:off x="4038600" y="1219200"/>
                <a:ext cx="1143000" cy="857250"/>
              </a:xfrm>
              <a:prstGeom prst="rect">
                <a:avLst/>
              </a:prstGeom>
              <a:noFill/>
              <a:ln w="9525">
                <a:noFill/>
                <a:miter lim="800000"/>
                <a:headEnd/>
                <a:tailEnd/>
              </a:ln>
            </p:spPr>
          </p:pic>
          <p:grpSp>
            <p:nvGrpSpPr>
              <p:cNvPr id="9" name="Group 120"/>
              <p:cNvGrpSpPr/>
              <p:nvPr/>
            </p:nvGrpSpPr>
            <p:grpSpPr>
              <a:xfrm>
                <a:off x="3657600" y="1828800"/>
                <a:ext cx="1877437" cy="2822377"/>
                <a:chOff x="3657600" y="1828800"/>
                <a:chExt cx="1877437" cy="2822377"/>
              </a:xfrm>
            </p:grpSpPr>
            <p:grpSp>
              <p:nvGrpSpPr>
                <p:cNvPr id="10" name="Group 104"/>
                <p:cNvGrpSpPr/>
                <p:nvPr/>
              </p:nvGrpSpPr>
              <p:grpSpPr>
                <a:xfrm>
                  <a:off x="4038600" y="1828800"/>
                  <a:ext cx="1066800" cy="1371600"/>
                  <a:chOff x="1295400" y="3200400"/>
                  <a:chExt cx="1066800" cy="1371600"/>
                </a:xfrm>
              </p:grpSpPr>
              <p:pic>
                <p:nvPicPr>
                  <p:cNvPr id="155" name="Picture 2"/>
                  <p:cNvPicPr>
                    <a:picLocks noChangeAspect="1" noChangeArrowheads="1"/>
                  </p:cNvPicPr>
                  <p:nvPr/>
                </p:nvPicPr>
                <p:blipFill>
                  <a:blip r:embed="rId4" cstate="print"/>
                  <a:srcRect/>
                  <a:stretch>
                    <a:fillRect/>
                  </a:stretch>
                </p:blipFill>
                <p:spPr bwMode="auto">
                  <a:xfrm>
                    <a:off x="1295400" y="3505200"/>
                    <a:ext cx="1066800" cy="1066800"/>
                  </a:xfrm>
                  <a:prstGeom prst="rect">
                    <a:avLst/>
                  </a:prstGeom>
                  <a:noFill/>
                  <a:ln w="9525">
                    <a:noFill/>
                    <a:miter lim="800000"/>
                    <a:headEnd/>
                    <a:tailEnd/>
                  </a:ln>
                </p:spPr>
              </p:pic>
              <p:cxnSp>
                <p:nvCxnSpPr>
                  <p:cNvPr id="156" name="Straight Connector 155"/>
                  <p:cNvCxnSpPr/>
                  <p:nvPr/>
                </p:nvCxnSpPr>
                <p:spPr>
                  <a:xfrm rot="5400000">
                    <a:off x="1638300" y="3390900"/>
                    <a:ext cx="381000" cy="0"/>
                  </a:xfrm>
                  <a:prstGeom prst="line">
                    <a:avLst/>
                  </a:prstGeom>
                  <a:ln w="88900">
                    <a:solidFill>
                      <a:srgbClr val="C00000"/>
                    </a:solidFill>
                    <a:prstDash val="solid"/>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grpSp>
              <p:nvGrpSpPr>
                <p:cNvPr id="11" name="Group 101"/>
                <p:cNvGrpSpPr/>
                <p:nvPr/>
              </p:nvGrpSpPr>
              <p:grpSpPr>
                <a:xfrm>
                  <a:off x="3962400" y="3124200"/>
                  <a:ext cx="1219200" cy="1219200"/>
                  <a:chOff x="1295400" y="2743200"/>
                  <a:chExt cx="1219200" cy="1219200"/>
                </a:xfrm>
              </p:grpSpPr>
              <p:pic>
                <p:nvPicPr>
                  <p:cNvPr id="153" name="Picture 2"/>
                  <p:cNvPicPr>
                    <a:picLocks noChangeAspect="1" noChangeArrowheads="1"/>
                  </p:cNvPicPr>
                  <p:nvPr/>
                </p:nvPicPr>
                <p:blipFill>
                  <a:blip r:embed="rId3" cstate="print"/>
                  <a:srcRect/>
                  <a:stretch>
                    <a:fillRect/>
                  </a:stretch>
                </p:blipFill>
                <p:spPr bwMode="auto">
                  <a:xfrm>
                    <a:off x="1295400" y="3048000"/>
                    <a:ext cx="1219200" cy="914400"/>
                  </a:xfrm>
                  <a:prstGeom prst="rect">
                    <a:avLst/>
                  </a:prstGeom>
                  <a:noFill/>
                  <a:ln w="9525">
                    <a:noFill/>
                    <a:miter lim="800000"/>
                    <a:headEnd/>
                    <a:tailEnd/>
                  </a:ln>
                </p:spPr>
              </p:pic>
              <p:cxnSp>
                <p:nvCxnSpPr>
                  <p:cNvPr id="154" name="Straight Connector 153"/>
                  <p:cNvCxnSpPr/>
                  <p:nvPr/>
                </p:nvCxnSpPr>
                <p:spPr>
                  <a:xfrm rot="5400000">
                    <a:off x="1714500" y="2933700"/>
                    <a:ext cx="381000" cy="0"/>
                  </a:xfrm>
                  <a:prstGeom prst="line">
                    <a:avLst/>
                  </a:prstGeom>
                  <a:ln w="88900">
                    <a:solidFill>
                      <a:srgbClr val="C00000"/>
                    </a:solidFill>
                    <a:prstDash val="solid"/>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sp>
              <p:nvSpPr>
                <p:cNvPr id="152" name="Rectangle 151"/>
                <p:cNvSpPr/>
                <p:nvPr/>
              </p:nvSpPr>
              <p:spPr>
                <a:xfrm>
                  <a:off x="3657600" y="4343400"/>
                  <a:ext cx="1877437" cy="307777"/>
                </a:xfrm>
                <a:prstGeom prst="rect">
                  <a:avLst/>
                </a:prstGeom>
              </p:spPr>
              <p:txBody>
                <a:bodyPr wrap="none">
                  <a:spAutoFit/>
                </a:bodyPr>
                <a:lstStyle/>
                <a:p>
                  <a:pPr eaLnBrk="1" hangingPunct="1">
                    <a:spcBef>
                      <a:spcPts val="0"/>
                    </a:spcBef>
                    <a:spcAft>
                      <a:spcPts val="0"/>
                    </a:spcAft>
                    <a:buFont typeface="Wingdings" pitchFamily="2" charset="2"/>
                    <a:buNone/>
                    <a:defRPr/>
                  </a:pPr>
                  <a:r>
                    <a:rPr lang="en-US" sz="1400" b="1" dirty="0"/>
                    <a:t>Disk-cached SSD</a:t>
                  </a:r>
                </a:p>
              </p:txBody>
            </p:sp>
          </p:grpSp>
        </p:grpSp>
      </p:grpSp>
      <p:grpSp>
        <p:nvGrpSpPr>
          <p:cNvPr id="12" name="Group 141"/>
          <p:cNvGrpSpPr/>
          <p:nvPr/>
        </p:nvGrpSpPr>
        <p:grpSpPr>
          <a:xfrm>
            <a:off x="5791200" y="2514600"/>
            <a:ext cx="3276600" cy="2286000"/>
            <a:chOff x="5638800" y="1752600"/>
            <a:chExt cx="3276600" cy="2286000"/>
          </a:xfrm>
          <a:effectLst>
            <a:outerShdw blurRad="50800" dist="38100" dir="2700000" algn="tl" rotWithShape="0">
              <a:prstClr val="black">
                <a:alpha val="40000"/>
              </a:prstClr>
            </a:outerShdw>
          </a:effectLst>
        </p:grpSpPr>
        <p:sp>
          <p:nvSpPr>
            <p:cNvPr id="158" name="Content Placeholder 2"/>
            <p:cNvSpPr txBox="1">
              <a:spLocks/>
            </p:cNvSpPr>
            <p:nvPr/>
          </p:nvSpPr>
          <p:spPr>
            <a:xfrm>
              <a:off x="5638800" y="1752600"/>
              <a:ext cx="3276600" cy="2286000"/>
            </a:xfrm>
            <a:prstGeom prst="rect">
              <a:avLst/>
            </a:prstGeom>
          </p:spPr>
          <p:style>
            <a:lnRef idx="2">
              <a:schemeClr val="dk1"/>
            </a:lnRef>
            <a:fillRef idx="1">
              <a:schemeClr val="lt1"/>
            </a:fillRef>
            <a:effectRef idx="0">
              <a:schemeClr val="dk1"/>
            </a:effectRef>
            <a:fontRef idx="minor">
              <a:schemeClr val="dk1"/>
            </a:fontRef>
          </p:style>
          <p:txBody>
            <a:bodyPr>
              <a:normAutofit/>
            </a:bodyPr>
            <a:lstStyle/>
            <a:p>
              <a:pPr marL="342900" indent="-342900" eaLnBrk="1" fontAlgn="auto" hangingPunct="1">
                <a:spcBef>
                  <a:spcPct val="20000"/>
                </a:spcBef>
                <a:spcAft>
                  <a:spcPts val="0"/>
                </a:spcAft>
                <a:buFont typeface="Arial" pitchFamily="34" charset="0"/>
                <a:buChar char="•"/>
                <a:defRPr/>
              </a:pPr>
              <a:endParaRPr lang="en-US" sz="2400" dirty="0">
                <a:solidFill>
                  <a:schemeClr val="tx1"/>
                </a:solidFill>
              </a:endParaRPr>
            </a:p>
          </p:txBody>
        </p:sp>
        <p:grpSp>
          <p:nvGrpSpPr>
            <p:cNvPr id="13" name="Group 134"/>
            <p:cNvGrpSpPr/>
            <p:nvPr/>
          </p:nvGrpSpPr>
          <p:grpSpPr>
            <a:xfrm>
              <a:off x="5791200" y="1812727"/>
              <a:ext cx="2971800" cy="2225873"/>
              <a:chOff x="6172200" y="1663304"/>
              <a:chExt cx="2971800" cy="2225873"/>
            </a:xfrm>
          </p:grpSpPr>
          <p:sp>
            <p:nvSpPr>
              <p:cNvPr id="160" name="Rectangle 159"/>
              <p:cNvSpPr/>
              <p:nvPr/>
            </p:nvSpPr>
            <p:spPr>
              <a:xfrm>
                <a:off x="6705600" y="3581400"/>
                <a:ext cx="1701107" cy="307777"/>
              </a:xfrm>
              <a:prstGeom prst="rect">
                <a:avLst/>
              </a:prstGeom>
            </p:spPr>
            <p:txBody>
              <a:bodyPr wrap="none">
                <a:spAutoFit/>
              </a:bodyPr>
              <a:lstStyle/>
              <a:p>
                <a:pPr eaLnBrk="1" hangingPunct="1">
                  <a:spcBef>
                    <a:spcPts val="0"/>
                  </a:spcBef>
                  <a:spcAft>
                    <a:spcPts val="0"/>
                  </a:spcAft>
                  <a:buFont typeface="Wingdings" pitchFamily="2" charset="2"/>
                  <a:buNone/>
                  <a:defRPr/>
                </a:pPr>
                <a:r>
                  <a:rPr lang="en-US" sz="1400" b="1" dirty="0"/>
                  <a:t>Hybrid Storage</a:t>
                </a:r>
              </a:p>
            </p:txBody>
          </p:sp>
          <p:grpSp>
            <p:nvGrpSpPr>
              <p:cNvPr id="14" name="Group 129"/>
              <p:cNvGrpSpPr/>
              <p:nvPr/>
            </p:nvGrpSpPr>
            <p:grpSpPr>
              <a:xfrm>
                <a:off x="6172200" y="1663304"/>
                <a:ext cx="2971800" cy="1918096"/>
                <a:chOff x="5943600" y="2120504"/>
                <a:chExt cx="2971800" cy="1918096"/>
              </a:xfrm>
            </p:grpSpPr>
            <p:pic>
              <p:nvPicPr>
                <p:cNvPr id="162" name="Picture 2"/>
                <p:cNvPicPr>
                  <a:picLocks noChangeAspect="1" noChangeArrowheads="1"/>
                </p:cNvPicPr>
                <p:nvPr/>
              </p:nvPicPr>
              <p:blipFill>
                <a:blip r:embed="rId5" cstate="print"/>
                <a:srcRect/>
                <a:stretch>
                  <a:fillRect/>
                </a:stretch>
              </p:blipFill>
              <p:spPr bwMode="auto">
                <a:xfrm>
                  <a:off x="6858000" y="2120504"/>
                  <a:ext cx="1143000" cy="778073"/>
                </a:xfrm>
                <a:prstGeom prst="rect">
                  <a:avLst/>
                </a:prstGeom>
                <a:noFill/>
                <a:ln w="9525">
                  <a:noFill/>
                  <a:miter lim="800000"/>
                  <a:headEnd/>
                  <a:tailEnd/>
                </a:ln>
              </p:spPr>
            </p:pic>
            <p:grpSp>
              <p:nvGrpSpPr>
                <p:cNvPr id="15" name="Group 121"/>
                <p:cNvGrpSpPr/>
                <p:nvPr/>
              </p:nvGrpSpPr>
              <p:grpSpPr>
                <a:xfrm>
                  <a:off x="5943600" y="2667000"/>
                  <a:ext cx="2971800" cy="1371600"/>
                  <a:chOff x="5943600" y="2590800"/>
                  <a:chExt cx="2971800" cy="1371600"/>
                </a:xfrm>
              </p:grpSpPr>
              <p:grpSp>
                <p:nvGrpSpPr>
                  <p:cNvPr id="16" name="Group 109"/>
                  <p:cNvGrpSpPr/>
                  <p:nvPr/>
                </p:nvGrpSpPr>
                <p:grpSpPr>
                  <a:xfrm>
                    <a:off x="5943600" y="2590800"/>
                    <a:ext cx="1409700" cy="1371600"/>
                    <a:chOff x="1295400" y="3200400"/>
                    <a:chExt cx="1409700" cy="1371600"/>
                  </a:xfrm>
                </p:grpSpPr>
                <p:pic>
                  <p:nvPicPr>
                    <p:cNvPr id="168" name="Picture 2"/>
                    <p:cNvPicPr>
                      <a:picLocks noChangeAspect="1" noChangeArrowheads="1"/>
                    </p:cNvPicPr>
                    <p:nvPr/>
                  </p:nvPicPr>
                  <p:blipFill>
                    <a:blip r:embed="rId4" cstate="print"/>
                    <a:srcRect/>
                    <a:stretch>
                      <a:fillRect/>
                    </a:stretch>
                  </p:blipFill>
                  <p:spPr bwMode="auto">
                    <a:xfrm>
                      <a:off x="1295400" y="3505200"/>
                      <a:ext cx="1066800" cy="1066800"/>
                    </a:xfrm>
                    <a:prstGeom prst="rect">
                      <a:avLst/>
                    </a:prstGeom>
                    <a:noFill/>
                    <a:ln w="9525">
                      <a:noFill/>
                      <a:miter lim="800000"/>
                      <a:headEnd/>
                      <a:tailEnd/>
                    </a:ln>
                  </p:spPr>
                </p:pic>
                <p:cxnSp>
                  <p:nvCxnSpPr>
                    <p:cNvPr id="169" name="Straight Connector 168"/>
                    <p:cNvCxnSpPr/>
                    <p:nvPr/>
                  </p:nvCxnSpPr>
                  <p:spPr>
                    <a:xfrm rot="5400000">
                      <a:off x="2200275" y="3133725"/>
                      <a:ext cx="438150" cy="571500"/>
                    </a:xfrm>
                    <a:prstGeom prst="line">
                      <a:avLst/>
                    </a:prstGeom>
                    <a:ln w="88900">
                      <a:solidFill>
                        <a:srgbClr val="C00000"/>
                      </a:solidFill>
                      <a:prstDash val="solid"/>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grpSp>
                <p:nvGrpSpPr>
                  <p:cNvPr id="17" name="Group 112"/>
                  <p:cNvGrpSpPr/>
                  <p:nvPr/>
                </p:nvGrpSpPr>
                <p:grpSpPr>
                  <a:xfrm>
                    <a:off x="7391400" y="2590800"/>
                    <a:ext cx="1524000" cy="1371600"/>
                    <a:chOff x="1066800" y="2819400"/>
                    <a:chExt cx="1524000" cy="1371600"/>
                  </a:xfrm>
                </p:grpSpPr>
                <p:pic>
                  <p:nvPicPr>
                    <p:cNvPr id="166" name="Picture 2"/>
                    <p:cNvPicPr>
                      <a:picLocks noChangeAspect="1" noChangeArrowheads="1"/>
                    </p:cNvPicPr>
                    <p:nvPr/>
                  </p:nvPicPr>
                  <p:blipFill>
                    <a:blip r:embed="rId3" cstate="print"/>
                    <a:srcRect/>
                    <a:stretch>
                      <a:fillRect/>
                    </a:stretch>
                  </p:blipFill>
                  <p:spPr bwMode="auto">
                    <a:xfrm>
                      <a:off x="1371600" y="3276600"/>
                      <a:ext cx="1219200" cy="914400"/>
                    </a:xfrm>
                    <a:prstGeom prst="rect">
                      <a:avLst/>
                    </a:prstGeom>
                    <a:noFill/>
                    <a:ln w="9525">
                      <a:noFill/>
                      <a:miter lim="800000"/>
                      <a:headEnd/>
                      <a:tailEnd/>
                    </a:ln>
                  </p:spPr>
                </p:pic>
                <p:cxnSp>
                  <p:nvCxnSpPr>
                    <p:cNvPr id="167" name="Straight Connector 166"/>
                    <p:cNvCxnSpPr/>
                    <p:nvPr/>
                  </p:nvCxnSpPr>
                  <p:spPr>
                    <a:xfrm rot="16200000" flipH="1">
                      <a:off x="1171575" y="2714625"/>
                      <a:ext cx="438150" cy="647700"/>
                    </a:xfrm>
                    <a:prstGeom prst="line">
                      <a:avLst/>
                    </a:prstGeom>
                    <a:ln w="88900">
                      <a:solidFill>
                        <a:srgbClr val="C00000"/>
                      </a:solidFill>
                      <a:prstDash val="solid"/>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grpSp>
          </p:grpSp>
        </p:grpSp>
      </p:grpSp>
      <p:sp>
        <p:nvSpPr>
          <p:cNvPr id="170" name="Rectangle 169"/>
          <p:cNvSpPr>
            <a:spLocks noChangeArrowheads="1"/>
          </p:cNvSpPr>
          <p:nvPr/>
        </p:nvSpPr>
        <p:spPr bwMode="auto">
          <a:xfrm>
            <a:off x="3124200" y="5029200"/>
            <a:ext cx="27432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pPr>
            <a:r>
              <a:rPr lang="en-US" altLang="en-US" sz="1400">
                <a:solidFill>
                  <a:srgbClr val="010000"/>
                </a:solidFill>
                <a:latin typeface="Verdana" panose="020B0604030504040204" pitchFamily="34" charset="0"/>
              </a:rPr>
              <a:t> Soundararajan [FAST’10]</a:t>
            </a:r>
          </a:p>
        </p:txBody>
      </p:sp>
      <p:sp>
        <p:nvSpPr>
          <p:cNvPr id="143" name="Content Placeholder 2"/>
          <p:cNvSpPr txBox="1">
            <a:spLocks/>
          </p:cNvSpPr>
          <p:nvPr/>
        </p:nvSpPr>
        <p:spPr>
          <a:xfrm>
            <a:off x="3124200" y="1219200"/>
            <a:ext cx="4876800" cy="4038600"/>
          </a:xfrm>
          <a:prstGeom prst="rect">
            <a:avLst/>
          </a:prstGeom>
        </p:spPr>
        <p:style>
          <a:lnRef idx="1">
            <a:schemeClr val="dk1"/>
          </a:lnRef>
          <a:fillRef idx="2">
            <a:schemeClr val="dk1"/>
          </a:fillRef>
          <a:effectRef idx="1">
            <a:schemeClr val="dk1"/>
          </a:effectRef>
          <a:fontRef idx="minor">
            <a:schemeClr val="dk1"/>
          </a:fontRef>
        </p:style>
        <p:txBody>
          <a:bodyPr>
            <a:normAutofit/>
          </a:bodyPr>
          <a:lstStyle>
            <a:lvl1pPr marL="342900" indent="-342900" eaLnBrk="0" hangingPunct="0">
              <a:spcBef>
                <a:spcPct val="20000"/>
              </a:spcBef>
              <a:buFont typeface="Arial" pitchFamily="34" charset="0"/>
              <a:buChar char="•"/>
              <a:defRPr sz="3200">
                <a:solidFill>
                  <a:schemeClr val="tx1"/>
                </a:solidFill>
                <a:latin typeface="Calibri" pitchFamily="34" charset="0"/>
              </a:defRPr>
            </a:lvl1pPr>
            <a:lvl2pPr marL="742950" indent="-285750" eaLnBrk="0" hangingPunct="0">
              <a:spcBef>
                <a:spcPct val="20000"/>
              </a:spcBef>
              <a:buFont typeface="Arial" pitchFamily="34" charset="0"/>
              <a:buChar char="–"/>
              <a:defRPr sz="2800">
                <a:solidFill>
                  <a:schemeClr val="tx1"/>
                </a:solidFill>
                <a:latin typeface="Calibri"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defRPr>
            </a:lvl3pPr>
            <a:lvl4pPr marL="800100" indent="-342900" eaLnBrk="0" hangingPunct="0">
              <a:spcBef>
                <a:spcPct val="20000"/>
              </a:spcBef>
              <a:buFont typeface="Arial" pitchFamily="34" charset="0"/>
              <a:buChar char="–"/>
              <a:defRPr sz="2000">
                <a:solidFill>
                  <a:schemeClr val="tx1"/>
                </a:solidFill>
                <a:latin typeface="Calibri"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eaLnBrk="1" hangingPunct="1">
              <a:lnSpc>
                <a:spcPct val="90000"/>
              </a:lnSpc>
              <a:defRPr/>
            </a:pPr>
            <a:r>
              <a:rPr lang="en-US" altLang="en-US" sz="2400" dirty="0" smtClean="0">
                <a:ea typeface="仿宋_GB2312"/>
                <a:cs typeface="仿宋_GB2312"/>
              </a:rPr>
              <a:t>Cache-based solutions</a:t>
            </a:r>
          </a:p>
          <a:p>
            <a:pPr lvl="3" eaLnBrk="1" hangingPunct="1">
              <a:lnSpc>
                <a:spcPct val="90000"/>
              </a:lnSpc>
              <a:defRPr/>
            </a:pPr>
            <a:r>
              <a:rPr lang="en-US" altLang="en-US" dirty="0" smtClean="0">
                <a:ea typeface="仿宋_GB2312"/>
                <a:cs typeface="仿宋_GB2312"/>
              </a:rPr>
              <a:t>SSD – a secondary-level cache</a:t>
            </a:r>
          </a:p>
          <a:p>
            <a:pPr lvl="3" eaLnBrk="1" hangingPunct="1">
              <a:lnSpc>
                <a:spcPct val="90000"/>
              </a:lnSpc>
              <a:defRPr/>
            </a:pPr>
            <a:r>
              <a:rPr lang="en-US" altLang="en-US" dirty="0" smtClean="0">
                <a:ea typeface="仿宋_GB2312"/>
                <a:cs typeface="仿宋_GB2312"/>
              </a:rPr>
              <a:t>HDD– the permanent storage </a:t>
            </a:r>
          </a:p>
          <a:p>
            <a:pPr lvl="3" eaLnBrk="1" hangingPunct="1">
              <a:lnSpc>
                <a:spcPct val="90000"/>
              </a:lnSpc>
              <a:defRPr/>
            </a:pPr>
            <a:r>
              <a:rPr lang="en-US" altLang="en-US" dirty="0" smtClean="0">
                <a:ea typeface="仿宋_GB2312"/>
                <a:cs typeface="仿宋_GB2312"/>
              </a:rPr>
              <a:t>Cache replacement policy</a:t>
            </a:r>
          </a:p>
          <a:p>
            <a:pPr eaLnBrk="1" hangingPunct="1">
              <a:lnSpc>
                <a:spcPct val="90000"/>
              </a:lnSpc>
              <a:defRPr/>
            </a:pPr>
            <a:r>
              <a:rPr lang="en-US" altLang="en-US" sz="2400" dirty="0" smtClean="0">
                <a:ea typeface="仿宋_GB2312"/>
                <a:cs typeface="仿宋_GB2312"/>
              </a:rPr>
              <a:t>Limitations</a:t>
            </a:r>
            <a:endParaRPr lang="en-US" altLang="en-US" sz="2800" dirty="0" smtClean="0">
              <a:ea typeface="仿宋_GB2312"/>
              <a:cs typeface="仿宋_GB2312"/>
            </a:endParaRPr>
          </a:p>
          <a:p>
            <a:pPr lvl="1" eaLnBrk="1" hangingPunct="1">
              <a:lnSpc>
                <a:spcPct val="90000"/>
              </a:lnSpc>
              <a:defRPr/>
            </a:pPr>
            <a:r>
              <a:rPr lang="en-US" altLang="en-US" sz="2000" dirty="0" smtClean="0">
                <a:ea typeface="仿宋_GB2312"/>
                <a:cs typeface="仿宋_GB2312"/>
              </a:rPr>
              <a:t>Weak locality memory misses</a:t>
            </a:r>
          </a:p>
          <a:p>
            <a:pPr lvl="1" eaLnBrk="1" hangingPunct="1">
              <a:lnSpc>
                <a:spcPct val="90000"/>
              </a:lnSpc>
              <a:defRPr/>
            </a:pPr>
            <a:r>
              <a:rPr lang="en-US" altLang="en-US" sz="2000" dirty="0" smtClean="0">
                <a:ea typeface="仿宋_GB2312"/>
                <a:cs typeface="仿宋_GB2312"/>
              </a:rPr>
              <a:t>Intensive write traffic</a:t>
            </a:r>
          </a:p>
          <a:p>
            <a:pPr lvl="1" eaLnBrk="1" hangingPunct="1">
              <a:lnSpc>
                <a:spcPct val="90000"/>
              </a:lnSpc>
              <a:defRPr/>
            </a:pPr>
            <a:r>
              <a:rPr lang="en-US" altLang="en-US" sz="2000" dirty="0" smtClean="0">
                <a:ea typeface="仿宋_GB2312"/>
                <a:cs typeface="仿宋_GB2312"/>
              </a:rPr>
              <a:t>Non-trivial system changes</a:t>
            </a:r>
          </a:p>
          <a:p>
            <a:pPr lvl="1" eaLnBrk="1" hangingPunct="1">
              <a:lnSpc>
                <a:spcPct val="90000"/>
              </a:lnSpc>
              <a:defRPr/>
            </a:pPr>
            <a:r>
              <a:rPr lang="en-US" altLang="en-US" sz="2000" dirty="0" smtClean="0">
                <a:ea typeface="仿宋_GB2312"/>
                <a:cs typeface="仿宋_GB2312"/>
              </a:rPr>
              <a:t>High-cost on-line replacement</a:t>
            </a:r>
          </a:p>
          <a:p>
            <a:pPr lvl="2" eaLnBrk="1" hangingPunct="1">
              <a:lnSpc>
                <a:spcPct val="90000"/>
              </a:lnSpc>
              <a:defRPr/>
            </a:pPr>
            <a:r>
              <a:rPr lang="en-US" altLang="en-US" sz="1900" dirty="0" smtClean="0">
                <a:ea typeface="仿宋_GB2312"/>
                <a:cs typeface="仿宋_GB2312"/>
              </a:rPr>
              <a:t>Frequent on-access updates</a:t>
            </a:r>
          </a:p>
          <a:p>
            <a:pPr lvl="2" eaLnBrk="1" hangingPunct="1">
              <a:lnSpc>
                <a:spcPct val="90000"/>
              </a:lnSpc>
              <a:defRPr/>
            </a:pPr>
            <a:r>
              <a:rPr lang="en-US" altLang="en-US" sz="1900" dirty="0" smtClean="0">
                <a:ea typeface="仿宋_GB2312"/>
                <a:cs typeface="仿宋_GB2312"/>
              </a:rPr>
              <a:t>10-20x Larger SSD space</a:t>
            </a:r>
          </a:p>
        </p:txBody>
      </p:sp>
    </p:spTree>
    <p:extLst>
      <p:ext uri="{BB962C8B-B14F-4D97-AF65-F5344CB8AC3E}">
        <p14:creationId xmlns:p14="http://schemas.microsoft.com/office/powerpoint/2010/main" val="31398222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3">
                                            <p:bg/>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3">
                                            <p:txEl>
                                              <p:pRg st="0" end="0"/>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3">
                                            <p:txEl>
                                              <p:pRg st="1" end="1"/>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3">
                                            <p:txEl>
                                              <p:pRg st="2" end="2"/>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3">
                                            <p:txEl>
                                              <p:pRg st="3" end="3"/>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3">
                                            <p:txEl>
                                              <p:pRg st="4" end="4"/>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3">
                                            <p:txEl>
                                              <p:pRg st="5" end="5"/>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3">
                                            <p:txEl>
                                              <p:pRg st="6" end="6"/>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3">
                                            <p:txEl>
                                              <p:pRg st="7" end="7"/>
                                            </p:txEl>
                                          </p:spTgt>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43">
                                            <p:txEl>
                                              <p:pRg st="8" end="8"/>
                                            </p:txEl>
                                          </p:spTgt>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43">
                                            <p:txEl>
                                              <p:pRg st="9" end="9"/>
                                            </p:txEl>
                                          </p:spTgt>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43">
                                            <p:txEl>
                                              <p:pRg st="10" end="10"/>
                                            </p:txEl>
                                          </p:spTgt>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3" presetClass="exit" presetSubtype="10" fill="hold" grpId="1" nodeType="clickEffect">
                                  <p:stCondLst>
                                    <p:cond delay="0"/>
                                  </p:stCondLst>
                                  <p:childTnLst>
                                    <p:animEffect transition="out" filter="blinds(horizontal)">
                                      <p:cBhvr>
                                        <p:cTn id="62" dur="500"/>
                                        <p:tgtEl>
                                          <p:spTgt spid="143">
                                            <p:txEl>
                                              <p:pRg st="0" end="0"/>
                                            </p:txEl>
                                          </p:spTgt>
                                        </p:tgtEl>
                                      </p:cBhvr>
                                    </p:animEffect>
                                    <p:set>
                                      <p:cBhvr>
                                        <p:cTn id="63" dur="1" fill="hold">
                                          <p:stCondLst>
                                            <p:cond delay="499"/>
                                          </p:stCondLst>
                                        </p:cTn>
                                        <p:tgtEl>
                                          <p:spTgt spid="143">
                                            <p:txEl>
                                              <p:pRg st="0" end="0"/>
                                            </p:txEl>
                                          </p:spTgt>
                                        </p:tgtEl>
                                        <p:attrNameLst>
                                          <p:attrName>style.visibility</p:attrName>
                                        </p:attrNameLst>
                                      </p:cBhvr>
                                      <p:to>
                                        <p:strVal val="hidden"/>
                                      </p:to>
                                    </p:set>
                                  </p:childTnLst>
                                </p:cTn>
                              </p:par>
                              <p:par>
                                <p:cTn id="64" presetID="3" presetClass="exit" presetSubtype="10" fill="hold" grpId="1" nodeType="withEffect">
                                  <p:stCondLst>
                                    <p:cond delay="0"/>
                                  </p:stCondLst>
                                  <p:childTnLst>
                                    <p:animEffect transition="out" filter="blinds(horizontal)">
                                      <p:cBhvr>
                                        <p:cTn id="65" dur="500"/>
                                        <p:tgtEl>
                                          <p:spTgt spid="143">
                                            <p:txEl>
                                              <p:pRg st="1" end="1"/>
                                            </p:txEl>
                                          </p:spTgt>
                                        </p:tgtEl>
                                      </p:cBhvr>
                                    </p:animEffect>
                                    <p:set>
                                      <p:cBhvr>
                                        <p:cTn id="66" dur="1" fill="hold">
                                          <p:stCondLst>
                                            <p:cond delay="499"/>
                                          </p:stCondLst>
                                        </p:cTn>
                                        <p:tgtEl>
                                          <p:spTgt spid="143">
                                            <p:txEl>
                                              <p:pRg st="1" end="1"/>
                                            </p:txEl>
                                          </p:spTgt>
                                        </p:tgtEl>
                                        <p:attrNameLst>
                                          <p:attrName>style.visibility</p:attrName>
                                        </p:attrNameLst>
                                      </p:cBhvr>
                                      <p:to>
                                        <p:strVal val="hidden"/>
                                      </p:to>
                                    </p:set>
                                  </p:childTnLst>
                                </p:cTn>
                              </p:par>
                              <p:par>
                                <p:cTn id="67" presetID="3" presetClass="exit" presetSubtype="10" fill="hold" grpId="1" nodeType="withEffect">
                                  <p:stCondLst>
                                    <p:cond delay="0"/>
                                  </p:stCondLst>
                                  <p:childTnLst>
                                    <p:animEffect transition="out" filter="blinds(horizontal)">
                                      <p:cBhvr>
                                        <p:cTn id="68" dur="500"/>
                                        <p:tgtEl>
                                          <p:spTgt spid="143">
                                            <p:txEl>
                                              <p:pRg st="2" end="2"/>
                                            </p:txEl>
                                          </p:spTgt>
                                        </p:tgtEl>
                                      </p:cBhvr>
                                    </p:animEffect>
                                    <p:set>
                                      <p:cBhvr>
                                        <p:cTn id="69" dur="1" fill="hold">
                                          <p:stCondLst>
                                            <p:cond delay="499"/>
                                          </p:stCondLst>
                                        </p:cTn>
                                        <p:tgtEl>
                                          <p:spTgt spid="143">
                                            <p:txEl>
                                              <p:pRg st="2" end="2"/>
                                            </p:txEl>
                                          </p:spTgt>
                                        </p:tgtEl>
                                        <p:attrNameLst>
                                          <p:attrName>style.visibility</p:attrName>
                                        </p:attrNameLst>
                                      </p:cBhvr>
                                      <p:to>
                                        <p:strVal val="hidden"/>
                                      </p:to>
                                    </p:set>
                                  </p:childTnLst>
                                </p:cTn>
                              </p:par>
                              <p:par>
                                <p:cTn id="70" presetID="3" presetClass="exit" presetSubtype="10" fill="hold" grpId="1" nodeType="withEffect">
                                  <p:stCondLst>
                                    <p:cond delay="0"/>
                                  </p:stCondLst>
                                  <p:childTnLst>
                                    <p:animEffect transition="out" filter="blinds(horizontal)">
                                      <p:cBhvr>
                                        <p:cTn id="71" dur="500"/>
                                        <p:tgtEl>
                                          <p:spTgt spid="143">
                                            <p:txEl>
                                              <p:pRg st="3" end="3"/>
                                            </p:txEl>
                                          </p:spTgt>
                                        </p:tgtEl>
                                      </p:cBhvr>
                                    </p:animEffect>
                                    <p:set>
                                      <p:cBhvr>
                                        <p:cTn id="72" dur="1" fill="hold">
                                          <p:stCondLst>
                                            <p:cond delay="499"/>
                                          </p:stCondLst>
                                        </p:cTn>
                                        <p:tgtEl>
                                          <p:spTgt spid="143">
                                            <p:txEl>
                                              <p:pRg st="3" end="3"/>
                                            </p:txEl>
                                          </p:spTgt>
                                        </p:tgtEl>
                                        <p:attrNameLst>
                                          <p:attrName>style.visibility</p:attrName>
                                        </p:attrNameLst>
                                      </p:cBhvr>
                                      <p:to>
                                        <p:strVal val="hidden"/>
                                      </p:to>
                                    </p:set>
                                  </p:childTnLst>
                                </p:cTn>
                              </p:par>
                              <p:par>
                                <p:cTn id="73" presetID="3" presetClass="exit" presetSubtype="10" fill="hold" grpId="1" nodeType="withEffect">
                                  <p:stCondLst>
                                    <p:cond delay="0"/>
                                  </p:stCondLst>
                                  <p:childTnLst>
                                    <p:animEffect transition="out" filter="blinds(horizontal)">
                                      <p:cBhvr>
                                        <p:cTn id="74" dur="500"/>
                                        <p:tgtEl>
                                          <p:spTgt spid="143">
                                            <p:txEl>
                                              <p:pRg st="4" end="4"/>
                                            </p:txEl>
                                          </p:spTgt>
                                        </p:tgtEl>
                                      </p:cBhvr>
                                    </p:animEffect>
                                    <p:set>
                                      <p:cBhvr>
                                        <p:cTn id="75" dur="1" fill="hold">
                                          <p:stCondLst>
                                            <p:cond delay="499"/>
                                          </p:stCondLst>
                                        </p:cTn>
                                        <p:tgtEl>
                                          <p:spTgt spid="143">
                                            <p:txEl>
                                              <p:pRg st="4" end="4"/>
                                            </p:txEl>
                                          </p:spTgt>
                                        </p:tgtEl>
                                        <p:attrNameLst>
                                          <p:attrName>style.visibility</p:attrName>
                                        </p:attrNameLst>
                                      </p:cBhvr>
                                      <p:to>
                                        <p:strVal val="hidden"/>
                                      </p:to>
                                    </p:set>
                                  </p:childTnLst>
                                </p:cTn>
                              </p:par>
                              <p:par>
                                <p:cTn id="76" presetID="3" presetClass="exit" presetSubtype="10" fill="hold" grpId="1" nodeType="withEffect">
                                  <p:stCondLst>
                                    <p:cond delay="0"/>
                                  </p:stCondLst>
                                  <p:childTnLst>
                                    <p:animEffect transition="out" filter="blinds(horizontal)">
                                      <p:cBhvr>
                                        <p:cTn id="77" dur="500"/>
                                        <p:tgtEl>
                                          <p:spTgt spid="143">
                                            <p:txEl>
                                              <p:pRg st="5" end="5"/>
                                            </p:txEl>
                                          </p:spTgt>
                                        </p:tgtEl>
                                      </p:cBhvr>
                                    </p:animEffect>
                                    <p:set>
                                      <p:cBhvr>
                                        <p:cTn id="78" dur="1" fill="hold">
                                          <p:stCondLst>
                                            <p:cond delay="499"/>
                                          </p:stCondLst>
                                        </p:cTn>
                                        <p:tgtEl>
                                          <p:spTgt spid="143">
                                            <p:txEl>
                                              <p:pRg st="5" end="5"/>
                                            </p:txEl>
                                          </p:spTgt>
                                        </p:tgtEl>
                                        <p:attrNameLst>
                                          <p:attrName>style.visibility</p:attrName>
                                        </p:attrNameLst>
                                      </p:cBhvr>
                                      <p:to>
                                        <p:strVal val="hidden"/>
                                      </p:to>
                                    </p:set>
                                  </p:childTnLst>
                                </p:cTn>
                              </p:par>
                              <p:par>
                                <p:cTn id="79" presetID="3" presetClass="exit" presetSubtype="10" fill="hold" grpId="1" nodeType="withEffect">
                                  <p:stCondLst>
                                    <p:cond delay="0"/>
                                  </p:stCondLst>
                                  <p:childTnLst>
                                    <p:animEffect transition="out" filter="blinds(horizontal)">
                                      <p:cBhvr>
                                        <p:cTn id="80" dur="500"/>
                                        <p:tgtEl>
                                          <p:spTgt spid="143">
                                            <p:txEl>
                                              <p:pRg st="6" end="6"/>
                                            </p:txEl>
                                          </p:spTgt>
                                        </p:tgtEl>
                                      </p:cBhvr>
                                    </p:animEffect>
                                    <p:set>
                                      <p:cBhvr>
                                        <p:cTn id="81" dur="1" fill="hold">
                                          <p:stCondLst>
                                            <p:cond delay="499"/>
                                          </p:stCondLst>
                                        </p:cTn>
                                        <p:tgtEl>
                                          <p:spTgt spid="143">
                                            <p:txEl>
                                              <p:pRg st="6" end="6"/>
                                            </p:txEl>
                                          </p:spTgt>
                                        </p:tgtEl>
                                        <p:attrNameLst>
                                          <p:attrName>style.visibility</p:attrName>
                                        </p:attrNameLst>
                                      </p:cBhvr>
                                      <p:to>
                                        <p:strVal val="hidden"/>
                                      </p:to>
                                    </p:set>
                                  </p:childTnLst>
                                </p:cTn>
                              </p:par>
                              <p:par>
                                <p:cTn id="82" presetID="3" presetClass="exit" presetSubtype="10" fill="hold" grpId="1" nodeType="withEffect">
                                  <p:stCondLst>
                                    <p:cond delay="0"/>
                                  </p:stCondLst>
                                  <p:childTnLst>
                                    <p:animEffect transition="out" filter="blinds(horizontal)">
                                      <p:cBhvr>
                                        <p:cTn id="83" dur="500"/>
                                        <p:tgtEl>
                                          <p:spTgt spid="143">
                                            <p:txEl>
                                              <p:pRg st="7" end="7"/>
                                            </p:txEl>
                                          </p:spTgt>
                                        </p:tgtEl>
                                      </p:cBhvr>
                                    </p:animEffect>
                                    <p:set>
                                      <p:cBhvr>
                                        <p:cTn id="84" dur="1" fill="hold">
                                          <p:stCondLst>
                                            <p:cond delay="499"/>
                                          </p:stCondLst>
                                        </p:cTn>
                                        <p:tgtEl>
                                          <p:spTgt spid="143">
                                            <p:txEl>
                                              <p:pRg st="7" end="7"/>
                                            </p:txEl>
                                          </p:spTgt>
                                        </p:tgtEl>
                                        <p:attrNameLst>
                                          <p:attrName>style.visibility</p:attrName>
                                        </p:attrNameLst>
                                      </p:cBhvr>
                                      <p:to>
                                        <p:strVal val="hidden"/>
                                      </p:to>
                                    </p:set>
                                  </p:childTnLst>
                                </p:cTn>
                              </p:par>
                              <p:par>
                                <p:cTn id="85" presetID="3" presetClass="exit" presetSubtype="10" fill="hold" grpId="1" nodeType="withEffect">
                                  <p:stCondLst>
                                    <p:cond delay="0"/>
                                  </p:stCondLst>
                                  <p:childTnLst>
                                    <p:animEffect transition="out" filter="blinds(horizontal)">
                                      <p:cBhvr>
                                        <p:cTn id="86" dur="500"/>
                                        <p:tgtEl>
                                          <p:spTgt spid="143">
                                            <p:txEl>
                                              <p:pRg st="8" end="8"/>
                                            </p:txEl>
                                          </p:spTgt>
                                        </p:tgtEl>
                                      </p:cBhvr>
                                    </p:animEffect>
                                    <p:set>
                                      <p:cBhvr>
                                        <p:cTn id="87" dur="1" fill="hold">
                                          <p:stCondLst>
                                            <p:cond delay="499"/>
                                          </p:stCondLst>
                                        </p:cTn>
                                        <p:tgtEl>
                                          <p:spTgt spid="143">
                                            <p:txEl>
                                              <p:pRg st="8" end="8"/>
                                            </p:txEl>
                                          </p:spTgt>
                                        </p:tgtEl>
                                        <p:attrNameLst>
                                          <p:attrName>style.visibility</p:attrName>
                                        </p:attrNameLst>
                                      </p:cBhvr>
                                      <p:to>
                                        <p:strVal val="hidden"/>
                                      </p:to>
                                    </p:set>
                                  </p:childTnLst>
                                </p:cTn>
                              </p:par>
                              <p:par>
                                <p:cTn id="88" presetID="3" presetClass="exit" presetSubtype="10" fill="hold" grpId="1" nodeType="withEffect">
                                  <p:stCondLst>
                                    <p:cond delay="0"/>
                                  </p:stCondLst>
                                  <p:childTnLst>
                                    <p:animEffect transition="out" filter="blinds(horizontal)">
                                      <p:cBhvr>
                                        <p:cTn id="89" dur="500"/>
                                        <p:tgtEl>
                                          <p:spTgt spid="143">
                                            <p:txEl>
                                              <p:pRg st="9" end="9"/>
                                            </p:txEl>
                                          </p:spTgt>
                                        </p:tgtEl>
                                      </p:cBhvr>
                                    </p:animEffect>
                                    <p:set>
                                      <p:cBhvr>
                                        <p:cTn id="90" dur="1" fill="hold">
                                          <p:stCondLst>
                                            <p:cond delay="499"/>
                                          </p:stCondLst>
                                        </p:cTn>
                                        <p:tgtEl>
                                          <p:spTgt spid="143">
                                            <p:txEl>
                                              <p:pRg st="9" end="9"/>
                                            </p:txEl>
                                          </p:spTgt>
                                        </p:tgtEl>
                                        <p:attrNameLst>
                                          <p:attrName>style.visibility</p:attrName>
                                        </p:attrNameLst>
                                      </p:cBhvr>
                                      <p:to>
                                        <p:strVal val="hidden"/>
                                      </p:to>
                                    </p:set>
                                  </p:childTnLst>
                                </p:cTn>
                              </p:par>
                              <p:par>
                                <p:cTn id="91" presetID="3" presetClass="exit" presetSubtype="10" fill="hold" grpId="1" nodeType="withEffect">
                                  <p:stCondLst>
                                    <p:cond delay="0"/>
                                  </p:stCondLst>
                                  <p:childTnLst>
                                    <p:animEffect transition="out" filter="blinds(horizontal)">
                                      <p:cBhvr>
                                        <p:cTn id="92" dur="500"/>
                                        <p:tgtEl>
                                          <p:spTgt spid="143">
                                            <p:txEl>
                                              <p:pRg st="10" end="10"/>
                                            </p:txEl>
                                          </p:spTgt>
                                        </p:tgtEl>
                                      </p:cBhvr>
                                    </p:animEffect>
                                    <p:set>
                                      <p:cBhvr>
                                        <p:cTn id="93" dur="1" fill="hold">
                                          <p:stCondLst>
                                            <p:cond delay="499"/>
                                          </p:stCondLst>
                                        </p:cTn>
                                        <p:tgtEl>
                                          <p:spTgt spid="143">
                                            <p:txEl>
                                              <p:pRg st="10" end="10"/>
                                            </p:txEl>
                                          </p:spTgt>
                                        </p:tgtEl>
                                        <p:attrNameLst>
                                          <p:attrName>style.visibility</p:attrName>
                                        </p:attrNameLst>
                                      </p:cBhvr>
                                      <p:to>
                                        <p:strVal val="hidden"/>
                                      </p:to>
                                    </p:set>
                                  </p:childTnLst>
                                </p:cTn>
                              </p:par>
                              <p:par>
                                <p:cTn id="94" presetID="3" presetClass="exit" presetSubtype="10" fill="hold" grpId="1" nodeType="withEffect">
                                  <p:stCondLst>
                                    <p:cond delay="0"/>
                                  </p:stCondLst>
                                  <p:childTnLst>
                                    <p:animEffect transition="out" filter="blinds(horizontal)">
                                      <p:cBhvr>
                                        <p:cTn id="95" dur="500"/>
                                        <p:tgtEl>
                                          <p:spTgt spid="143">
                                            <p:bg/>
                                          </p:spTgt>
                                        </p:tgtEl>
                                      </p:cBhvr>
                                    </p:animEffect>
                                    <p:set>
                                      <p:cBhvr>
                                        <p:cTn id="96" dur="1" fill="hold">
                                          <p:stCondLst>
                                            <p:cond delay="499"/>
                                          </p:stCondLst>
                                        </p:cTn>
                                        <p:tgtEl>
                                          <p:spTgt spid="143">
                                            <p:bg/>
                                          </p:spTgt>
                                        </p:tgtEl>
                                        <p:attrNameLst>
                                          <p:attrName>style.visibility</p:attrName>
                                        </p:attrNameLst>
                                      </p:cBhvr>
                                      <p:to>
                                        <p:strVal val="hidden"/>
                                      </p:to>
                                    </p:set>
                                  </p:childTnLst>
                                </p:cTn>
                              </p:par>
                            </p:childTnLst>
                          </p:cTn>
                        </p:par>
                      </p:childTnLst>
                    </p:cTn>
                  </p:par>
                  <p:par>
                    <p:cTn id="97" fill="hold" nodeType="clickPar">
                      <p:stCondLst>
                        <p:cond delay="indefinite"/>
                      </p:stCondLst>
                      <p:childTnLst>
                        <p:par>
                          <p:cTn id="98" fill="hold" nodeType="withGroup">
                            <p:stCondLst>
                              <p:cond delay="0"/>
                            </p:stCondLst>
                            <p:childTnLst>
                              <p:par>
                                <p:cTn id="99" presetID="1" presetClass="entr" presetSubtype="0" fill="hold" nodeType="clickEffect">
                                  <p:stCondLst>
                                    <p:cond delay="0"/>
                                  </p:stCondLst>
                                  <p:childTnLst>
                                    <p:set>
                                      <p:cBhvr>
                                        <p:cTn id="100" dur="1" fill="hold">
                                          <p:stCondLst>
                                            <p:cond delay="0"/>
                                          </p:stCondLst>
                                        </p:cTn>
                                        <p:tgtEl>
                                          <p:spTgt spid="7"/>
                                        </p:tgtEl>
                                        <p:attrNameLst>
                                          <p:attrName>style.visibility</p:attrName>
                                        </p:attrNameLst>
                                      </p:cBhvr>
                                      <p:to>
                                        <p:strVal val="visible"/>
                                      </p:to>
                                    </p:se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170"/>
                                        </p:tgtEl>
                                        <p:attrNameLst>
                                          <p:attrName>style.visibility</p:attrName>
                                        </p:attrNameLst>
                                      </p:cBhvr>
                                      <p:to>
                                        <p:strVal val="visible"/>
                                      </p:to>
                                    </p:se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1" presetClass="entr" presetSubtype="0" fill="hold" nodeType="clickEffect">
                                  <p:stCondLst>
                                    <p:cond delay="0"/>
                                  </p:stCondLst>
                                  <p:childTnLst>
                                    <p:set>
                                      <p:cBhvr>
                                        <p:cTn id="108" dur="1" fill="hold">
                                          <p:stCondLst>
                                            <p:cond delay="0"/>
                                          </p:stCondLst>
                                        </p:cTn>
                                        <p:tgtEl>
                                          <p:spTgt spid="12"/>
                                        </p:tgtEl>
                                        <p:attrNameLst>
                                          <p:attrName>style.visibility</p:attrName>
                                        </p:attrNameLst>
                                      </p:cBhvr>
                                      <p:to>
                                        <p:strVal val="visible"/>
                                      </p:to>
                                    </p:se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1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P spid="144" grpId="0"/>
      <p:bldP spid="170" grpId="0"/>
      <p:bldP spid="143" grpId="0" build="allAtOnce" animBg="1"/>
      <p:bldP spid="143" grpId="1" build="allAtOnce" animBg="1"/>
    </p:bldLst>
  </p:timing>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r>
              <a:rPr lang="en-US" altLang="en-US" sz="4000" smtClean="0"/>
              <a:t>Hystor: A cost-efficient hybrid storage*</a:t>
            </a:r>
          </a:p>
        </p:txBody>
      </p:sp>
      <p:sp>
        <p:nvSpPr>
          <p:cNvPr id="7171" name="Rectangle 3"/>
          <p:cNvSpPr>
            <a:spLocks noGrp="1" noChangeArrowheads="1"/>
          </p:cNvSpPr>
          <p:nvPr>
            <p:ph type="body" idx="1"/>
          </p:nvPr>
        </p:nvSpPr>
        <p:spPr>
          <a:xfrm>
            <a:off x="152400" y="4191000"/>
            <a:ext cx="4495800" cy="2133600"/>
          </a:xfrm>
        </p:spPr>
        <p:style>
          <a:lnRef idx="1">
            <a:schemeClr val="accent2"/>
          </a:lnRef>
          <a:fillRef idx="2">
            <a:schemeClr val="accent2"/>
          </a:fillRef>
          <a:effectRef idx="1">
            <a:schemeClr val="accent2"/>
          </a:effectRef>
          <a:fontRef idx="minor">
            <a:schemeClr val="dk1"/>
          </a:fontRef>
        </p:style>
        <p:txBody>
          <a:bodyPr>
            <a:normAutofit/>
          </a:bodyPr>
          <a:lstStyle/>
          <a:p>
            <a:pPr eaLnBrk="1" hangingPunct="1">
              <a:lnSpc>
                <a:spcPct val="90000"/>
              </a:lnSpc>
              <a:defRPr/>
            </a:pPr>
            <a:r>
              <a:rPr lang="en-US" altLang="en-US" sz="2800" dirty="0" smtClean="0">
                <a:solidFill>
                  <a:srgbClr val="000000"/>
                </a:solidFill>
              </a:rPr>
              <a:t>A small data set</a:t>
            </a:r>
          </a:p>
          <a:p>
            <a:pPr lvl="1" eaLnBrk="1" hangingPunct="1">
              <a:lnSpc>
                <a:spcPct val="90000"/>
              </a:lnSpc>
              <a:defRPr/>
            </a:pPr>
            <a:r>
              <a:rPr lang="en-US" altLang="en-US" sz="2400" b="1" dirty="0" smtClean="0">
                <a:solidFill>
                  <a:srgbClr val="002060"/>
                </a:solidFill>
              </a:rPr>
              <a:t>Semantically critical </a:t>
            </a:r>
            <a:r>
              <a:rPr lang="en-US" altLang="en-US" sz="2400" dirty="0" smtClean="0">
                <a:solidFill>
                  <a:srgbClr val="000000"/>
                </a:solidFill>
              </a:rPr>
              <a:t>– F/S metadata blocks</a:t>
            </a:r>
          </a:p>
          <a:p>
            <a:pPr lvl="1" eaLnBrk="1" hangingPunct="1">
              <a:lnSpc>
                <a:spcPct val="90000"/>
              </a:lnSpc>
              <a:defRPr/>
            </a:pPr>
            <a:r>
              <a:rPr lang="en-US" altLang="en-US" sz="2400" b="1" dirty="0" smtClean="0">
                <a:solidFill>
                  <a:srgbClr val="C00000"/>
                </a:solidFill>
              </a:rPr>
              <a:t>Performance critical </a:t>
            </a:r>
            <a:r>
              <a:rPr lang="en-US" altLang="en-US" sz="2400" dirty="0" smtClean="0">
                <a:solidFill>
                  <a:srgbClr val="000000"/>
                </a:solidFill>
              </a:rPr>
              <a:t>– High-cost data blocks</a:t>
            </a:r>
          </a:p>
          <a:p>
            <a:pPr lvl="1" eaLnBrk="1" hangingPunct="1">
              <a:lnSpc>
                <a:spcPct val="90000"/>
              </a:lnSpc>
              <a:defRPr/>
            </a:pPr>
            <a:endParaRPr lang="en-US" altLang="en-US" sz="1200" dirty="0" smtClean="0">
              <a:solidFill>
                <a:srgbClr val="000000"/>
              </a:solidFill>
            </a:endParaRPr>
          </a:p>
          <a:p>
            <a:pPr lvl="2" eaLnBrk="1" hangingPunct="1">
              <a:lnSpc>
                <a:spcPct val="90000"/>
              </a:lnSpc>
              <a:defRPr/>
            </a:pPr>
            <a:endParaRPr lang="en-US" altLang="en-US" sz="2000" dirty="0" smtClean="0">
              <a:solidFill>
                <a:srgbClr val="000000"/>
              </a:solidFill>
            </a:endParaRPr>
          </a:p>
        </p:txBody>
      </p:sp>
      <p:sp>
        <p:nvSpPr>
          <p:cNvPr id="67588" name="Slide Number Placeholder 3"/>
          <p:cNvSpPr>
            <a:spLocks noGrp="1"/>
          </p:cNvSpPr>
          <p:nvPr>
            <p:ph type="sldNum" sz="quarter" idx="4294967295"/>
          </p:nvPr>
        </p:nvSpPr>
        <p:spPr bwMode="auto">
          <a:xfrm>
            <a:off x="7010400" y="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 typeface="Wingdings" panose="05000000000000000000" pitchFamily="2" charset="2"/>
              <a:buNone/>
            </a:pPr>
            <a:fld id="{48D91E53-B241-4052-A733-A87D4857DDA4}" type="slidenum">
              <a:rPr lang="zh-CN" altLang="en-US" sz="1200">
                <a:solidFill>
                  <a:srgbClr val="898989"/>
                </a:solidFill>
                <a:latin typeface="Verdana" panose="020B0604030504040204" pitchFamily="34" charset="0"/>
              </a:rPr>
              <a:pPr>
                <a:spcBef>
                  <a:spcPct val="50000"/>
                </a:spcBef>
                <a:buFont typeface="Wingdings" panose="05000000000000000000" pitchFamily="2" charset="2"/>
                <a:buNone/>
              </a:pPr>
              <a:t>98</a:t>
            </a:fld>
            <a:endParaRPr lang="zh-CN" altLang="en-US" sz="1200">
              <a:solidFill>
                <a:srgbClr val="898989"/>
              </a:solidFill>
              <a:latin typeface="Verdana" panose="020B0604030504040204" pitchFamily="34" charset="0"/>
            </a:endParaRPr>
          </a:p>
        </p:txBody>
      </p:sp>
      <p:sp>
        <p:nvSpPr>
          <p:cNvPr id="5" name="Rectangle 4"/>
          <p:cNvSpPr/>
          <p:nvPr/>
        </p:nvSpPr>
        <p:spPr>
          <a:xfrm>
            <a:off x="6096000" y="6564313"/>
            <a:ext cx="3048000" cy="293687"/>
          </a:xfrm>
          <a:prstGeom prst="rect">
            <a:avLst/>
          </a:prstGeom>
        </p:spPr>
        <p:txBody>
          <a:bodyPr>
            <a:spAutoFit/>
          </a:bodyPr>
          <a:lstStyle/>
          <a:p>
            <a:pPr eaLnBrk="1" hangingPunct="1">
              <a:lnSpc>
                <a:spcPct val="125000"/>
              </a:lnSpc>
              <a:spcBef>
                <a:spcPct val="50000"/>
              </a:spcBef>
              <a:spcAft>
                <a:spcPct val="20000"/>
              </a:spcAft>
              <a:buFont typeface="Wingdings" pitchFamily="2" charset="2"/>
              <a:buNone/>
              <a:defRPr/>
            </a:pPr>
            <a:r>
              <a:rPr lang="en-US" sz="1050" b="1" dirty="0"/>
              <a:t>* Collaborated work at Intel® Labs</a:t>
            </a:r>
          </a:p>
        </p:txBody>
      </p:sp>
      <p:pic>
        <p:nvPicPr>
          <p:cNvPr id="675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1295400"/>
            <a:ext cx="2773363" cy="126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Rectangle 3"/>
          <p:cNvSpPr txBox="1">
            <a:spLocks noChangeArrowheads="1"/>
          </p:cNvSpPr>
          <p:nvPr/>
        </p:nvSpPr>
        <p:spPr>
          <a:xfrm>
            <a:off x="4724400" y="4191000"/>
            <a:ext cx="4191000" cy="1219200"/>
          </a:xfrm>
          <a:prstGeom prst="rect">
            <a:avLst/>
          </a:prstGeom>
        </p:spPr>
        <p:style>
          <a:lnRef idx="1">
            <a:schemeClr val="dk1"/>
          </a:lnRef>
          <a:fillRef idx="2">
            <a:schemeClr val="dk1"/>
          </a:fillRef>
          <a:effectRef idx="1">
            <a:schemeClr val="dk1"/>
          </a:effectRef>
          <a:fontRef idx="minor">
            <a:schemeClr val="dk1"/>
          </a:fontRef>
        </p:style>
        <p:txBody>
          <a:bodyPr>
            <a:normAutofit/>
          </a:bodyPr>
          <a:lstStyle>
            <a:lvl1pPr marL="342900" indent="-342900" eaLnBrk="0" hangingPunct="0">
              <a:spcBef>
                <a:spcPct val="20000"/>
              </a:spcBef>
              <a:buFont typeface="Arial" pitchFamily="34" charset="0"/>
              <a:buChar char="•"/>
              <a:defRPr sz="3200">
                <a:solidFill>
                  <a:schemeClr val="tx1"/>
                </a:solidFill>
                <a:latin typeface="Calibri" pitchFamily="34" charset="0"/>
              </a:defRPr>
            </a:lvl1pPr>
            <a:lvl2pPr marL="800100" indent="-342900" eaLnBrk="0" hangingPunct="0">
              <a:spcBef>
                <a:spcPct val="20000"/>
              </a:spcBef>
              <a:buFont typeface="Arial" pitchFamily="34" charset="0"/>
              <a:buChar char="–"/>
              <a:defRPr sz="2800">
                <a:solidFill>
                  <a:schemeClr val="tx1"/>
                </a:solidFill>
                <a:latin typeface="Calibri"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defRPr>
            </a:lvl3pPr>
            <a:lvl4pPr marL="1600200" indent="-228600" eaLnBrk="0" hangingPunct="0">
              <a:spcBef>
                <a:spcPct val="20000"/>
              </a:spcBef>
              <a:buFont typeface="Arial" pitchFamily="34" charset="0"/>
              <a:buChar char="–"/>
              <a:defRPr sz="2000">
                <a:solidFill>
                  <a:schemeClr val="tx1"/>
                </a:solidFill>
                <a:latin typeface="Calibri"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eaLnBrk="1" hangingPunct="1">
              <a:lnSpc>
                <a:spcPct val="80000"/>
              </a:lnSpc>
              <a:defRPr/>
            </a:pPr>
            <a:r>
              <a:rPr lang="en-US" altLang="en-US" sz="2800" smtClean="0">
                <a:ea typeface="仿宋_GB2312"/>
                <a:cs typeface="仿宋_GB2312"/>
              </a:rPr>
              <a:t>A large data set</a:t>
            </a:r>
          </a:p>
          <a:p>
            <a:pPr lvl="1" eaLnBrk="1" hangingPunct="1">
              <a:lnSpc>
                <a:spcPct val="80000"/>
              </a:lnSpc>
              <a:buFont typeface="Arial" pitchFamily="34" charset="0"/>
              <a:buChar char="•"/>
              <a:defRPr/>
            </a:pPr>
            <a:r>
              <a:rPr lang="en-US" altLang="en-US" smtClean="0">
                <a:ea typeface="仿宋_GB2312"/>
                <a:cs typeface="仿宋_GB2312"/>
              </a:rPr>
              <a:t>Low-priority data (e.g. movie files)</a:t>
            </a:r>
          </a:p>
          <a:p>
            <a:pPr lvl="2" eaLnBrk="1" hangingPunct="1">
              <a:lnSpc>
                <a:spcPct val="80000"/>
              </a:lnSpc>
              <a:defRPr/>
            </a:pPr>
            <a:endParaRPr lang="en-US" altLang="en-US" sz="2000" smtClean="0">
              <a:ea typeface="仿宋_GB2312"/>
              <a:cs typeface="仿宋_GB2312"/>
            </a:endParaRPr>
          </a:p>
        </p:txBody>
      </p:sp>
      <p:grpSp>
        <p:nvGrpSpPr>
          <p:cNvPr id="2" name="Group 53"/>
          <p:cNvGrpSpPr>
            <a:grpSpLocks/>
          </p:cNvGrpSpPr>
          <p:nvPr/>
        </p:nvGrpSpPr>
        <p:grpSpPr bwMode="auto">
          <a:xfrm>
            <a:off x="71438" y="2438400"/>
            <a:ext cx="4210050" cy="1560513"/>
            <a:chOff x="72106" y="2438400"/>
            <a:chExt cx="4210020" cy="1560731"/>
          </a:xfrm>
        </p:grpSpPr>
        <p:cxnSp>
          <p:nvCxnSpPr>
            <p:cNvPr id="43" name="Straight Connector 42"/>
            <p:cNvCxnSpPr/>
            <p:nvPr/>
          </p:nvCxnSpPr>
          <p:spPr>
            <a:xfrm rot="5400000">
              <a:off x="3077974" y="1799477"/>
              <a:ext cx="565229" cy="1843075"/>
            </a:xfrm>
            <a:prstGeom prst="line">
              <a:avLst/>
            </a:prstGeom>
            <a:ln w="88900">
              <a:solidFill>
                <a:srgbClr val="C00000"/>
              </a:solidFill>
              <a:prstDash val="solid"/>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nvGrpSpPr>
            <p:cNvPr id="67601" name="Group 52"/>
            <p:cNvGrpSpPr>
              <a:grpSpLocks/>
            </p:cNvGrpSpPr>
            <p:nvPr/>
          </p:nvGrpSpPr>
          <p:grpSpPr bwMode="auto">
            <a:xfrm>
              <a:off x="72106" y="2438400"/>
              <a:ext cx="3509294" cy="1560731"/>
              <a:chOff x="72106" y="2438400"/>
              <a:chExt cx="3509294" cy="1560731"/>
            </a:xfrm>
          </p:grpSpPr>
          <p:pic>
            <p:nvPicPr>
              <p:cNvPr id="6760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2438400"/>
                <a:ext cx="1371600"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603" name="Rectangle 48"/>
              <p:cNvSpPr>
                <a:spLocks noChangeArrowheads="1"/>
              </p:cNvSpPr>
              <p:nvPr/>
            </p:nvSpPr>
            <p:spPr bwMode="auto">
              <a:xfrm>
                <a:off x="72106" y="3352800"/>
                <a:ext cx="350929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Wingdings" panose="05000000000000000000" pitchFamily="2" charset="2"/>
                  <a:buNone/>
                </a:pPr>
                <a:r>
                  <a:rPr lang="en-US" altLang="en-US" sz="2000" b="1">
                    <a:solidFill>
                      <a:srgbClr val="C00000"/>
                    </a:solidFill>
                    <a:latin typeface="Verdana" panose="020B0604030504040204" pitchFamily="34" charset="0"/>
                  </a:rPr>
                  <a:t>SSD </a:t>
                </a:r>
              </a:p>
              <a:p>
                <a:pPr algn="ctr" eaLnBrk="1" hangingPunct="1">
                  <a:spcBef>
                    <a:spcPct val="0"/>
                  </a:spcBef>
                  <a:buFont typeface="Wingdings" panose="05000000000000000000" pitchFamily="2" charset="2"/>
                  <a:buNone/>
                </a:pPr>
                <a:r>
                  <a:rPr lang="en-US" altLang="en-US" sz="1600" b="1">
                    <a:solidFill>
                      <a:srgbClr val="010000"/>
                    </a:solidFill>
                    <a:latin typeface="Verdana" panose="020B0604030504040204" pitchFamily="34" charset="0"/>
                  </a:rPr>
                  <a:t>High-performance, high-cost</a:t>
                </a:r>
              </a:p>
            </p:txBody>
          </p:sp>
        </p:grpSp>
      </p:grpSp>
      <p:grpSp>
        <p:nvGrpSpPr>
          <p:cNvPr id="4" name="Group 54"/>
          <p:cNvGrpSpPr>
            <a:grpSpLocks/>
          </p:cNvGrpSpPr>
          <p:nvPr/>
        </p:nvGrpSpPr>
        <p:grpSpPr bwMode="auto">
          <a:xfrm>
            <a:off x="5029200" y="2286000"/>
            <a:ext cx="3429000" cy="1752600"/>
            <a:chOff x="5029200" y="2286000"/>
            <a:chExt cx="3429000" cy="1752600"/>
          </a:xfrm>
        </p:grpSpPr>
        <p:pic>
          <p:nvPicPr>
            <p:cNvPr id="67597"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6600" y="2286000"/>
              <a:ext cx="1371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4" name="Straight Connector 43"/>
            <p:cNvCxnSpPr/>
            <p:nvPr/>
          </p:nvCxnSpPr>
          <p:spPr>
            <a:xfrm>
              <a:off x="5029200" y="2438400"/>
              <a:ext cx="1981200" cy="533400"/>
            </a:xfrm>
            <a:prstGeom prst="line">
              <a:avLst/>
            </a:prstGeom>
            <a:ln w="88900">
              <a:solidFill>
                <a:schemeClr val="tx2"/>
              </a:solidFill>
              <a:prstDash val="solid"/>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67599" name="Rectangle 51"/>
            <p:cNvSpPr>
              <a:spLocks noChangeArrowheads="1"/>
            </p:cNvSpPr>
            <p:nvPr/>
          </p:nvSpPr>
          <p:spPr bwMode="auto">
            <a:xfrm>
              <a:off x="5410200" y="3392269"/>
              <a:ext cx="293702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Wingdings" panose="05000000000000000000" pitchFamily="2" charset="2"/>
                <a:buNone/>
              </a:pPr>
              <a:r>
                <a:rPr lang="en-US" altLang="en-US" sz="2000" b="1">
                  <a:solidFill>
                    <a:schemeClr val="tx2"/>
                  </a:solidFill>
                  <a:latin typeface="Verdana" panose="020B0604030504040204" pitchFamily="34" charset="0"/>
                </a:rPr>
                <a:t>HDD</a:t>
              </a:r>
            </a:p>
            <a:p>
              <a:pPr algn="ctr" eaLnBrk="1" hangingPunct="1">
                <a:spcBef>
                  <a:spcPct val="0"/>
                </a:spcBef>
                <a:buFont typeface="Wingdings" panose="05000000000000000000" pitchFamily="2" charset="2"/>
                <a:buNone/>
              </a:pPr>
              <a:r>
                <a:rPr lang="en-US" altLang="en-US" sz="1600" b="1">
                  <a:solidFill>
                    <a:srgbClr val="010000"/>
                  </a:solidFill>
                  <a:latin typeface="Verdana" panose="020B0604030504040204" pitchFamily="34" charset="0"/>
                </a:rPr>
                <a:t>Low-cost, high-capacity</a:t>
              </a:r>
            </a:p>
          </p:txBody>
        </p:sp>
      </p:grpSp>
      <p:sp>
        <p:nvSpPr>
          <p:cNvPr id="17" name="Rectangle 3"/>
          <p:cNvSpPr txBox="1">
            <a:spLocks noChangeArrowheads="1"/>
          </p:cNvSpPr>
          <p:nvPr/>
        </p:nvSpPr>
        <p:spPr>
          <a:xfrm>
            <a:off x="4724400" y="5562600"/>
            <a:ext cx="4191000" cy="762000"/>
          </a:xfrm>
          <a:prstGeom prst="rect">
            <a:avLst/>
          </a:prstGeom>
        </p:spPr>
        <p:style>
          <a:lnRef idx="0">
            <a:schemeClr val="dk1"/>
          </a:lnRef>
          <a:fillRef idx="3">
            <a:schemeClr val="dk1"/>
          </a:fillRef>
          <a:effectRef idx="3">
            <a:schemeClr val="dk1"/>
          </a:effectRef>
          <a:fontRef idx="minor">
            <a:schemeClr val="lt1"/>
          </a:fontRef>
        </p:style>
        <p:txBody>
          <a:bodyPr/>
          <a:lstStyle/>
          <a:p>
            <a:pPr marL="6350" lvl="2" indent="7938" eaLnBrk="1" fontAlgn="auto" hangingPunct="1">
              <a:lnSpc>
                <a:spcPct val="90000"/>
              </a:lnSpc>
              <a:spcBef>
                <a:spcPct val="20000"/>
              </a:spcBef>
              <a:spcAft>
                <a:spcPts val="0"/>
              </a:spcAft>
              <a:buFont typeface="Wingdings" pitchFamily="2" charset="2"/>
              <a:buNone/>
              <a:defRPr/>
            </a:pPr>
            <a:r>
              <a:rPr lang="en-US" dirty="0">
                <a:solidFill>
                  <a:schemeClr val="bg1"/>
                </a:solidFill>
              </a:rPr>
              <a:t>A prototype system at Intel® Labs for future storage system solution.</a:t>
            </a:r>
          </a:p>
        </p:txBody>
      </p:sp>
    </p:spTree>
    <p:extLst>
      <p:ext uri="{BB962C8B-B14F-4D97-AF65-F5344CB8AC3E}">
        <p14:creationId xmlns:p14="http://schemas.microsoft.com/office/powerpoint/2010/main" val="42199170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171">
                                            <p:bg/>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171">
                                            <p:txEl>
                                              <p:pRg st="0" end="0"/>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171">
                                            <p:txEl>
                                              <p:pRg st="1" end="1"/>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1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animBg="1"/>
      <p:bldP spid="48"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2946" name="Title 1"/>
          <p:cNvSpPr>
            <a:spLocks noGrp="1"/>
          </p:cNvSpPr>
          <p:nvPr>
            <p:ph type="title"/>
          </p:nvPr>
        </p:nvSpPr>
        <p:spPr>
          <a:xfrm>
            <a:off x="457200" y="274638"/>
            <a:ext cx="8229600" cy="868362"/>
          </a:xfrm>
        </p:spPr>
        <p:txBody>
          <a:bodyPr/>
          <a:lstStyle/>
          <a:p>
            <a:pPr eaLnBrk="1" hangingPunct="1"/>
            <a:r>
              <a:rPr lang="en-US" altLang="en-US" smtClean="0"/>
              <a:t>Impact of Hystor </a:t>
            </a:r>
          </a:p>
        </p:txBody>
      </p:sp>
      <p:sp>
        <p:nvSpPr>
          <p:cNvPr id="3" name="Content Placeholder 2"/>
          <p:cNvSpPr>
            <a:spLocks noGrp="1"/>
          </p:cNvSpPr>
          <p:nvPr>
            <p:ph idx="1"/>
          </p:nvPr>
        </p:nvSpPr>
        <p:spPr>
          <a:xfrm>
            <a:off x="0" y="1219200"/>
            <a:ext cx="9144000" cy="5486400"/>
          </a:xfrm>
        </p:spPr>
        <p:txBody>
          <a:bodyPr/>
          <a:lstStyle/>
          <a:p>
            <a:pPr eaLnBrk="1" hangingPunct="1"/>
            <a:r>
              <a:rPr lang="en-US" altLang="en-US" sz="2000" smtClean="0">
                <a:solidFill>
                  <a:srgbClr val="C00000"/>
                </a:solidFill>
              </a:rPr>
              <a:t>Hystor </a:t>
            </a:r>
            <a:r>
              <a:rPr lang="en-US" altLang="en-US" sz="2000" smtClean="0"/>
              <a:t>received the Best Paper Award in 2011 ACM International Conference on Supercomputing (ICS 2011) </a:t>
            </a:r>
          </a:p>
          <a:p>
            <a:pPr eaLnBrk="1" hangingPunct="1"/>
            <a:r>
              <a:rPr lang="en-US" altLang="en-US" sz="2000" smtClean="0">
                <a:solidFill>
                  <a:srgbClr val="C00000"/>
                </a:solidFill>
              </a:rPr>
              <a:t>Hystor</a:t>
            </a:r>
            <a:r>
              <a:rPr lang="en-US" altLang="en-US" sz="2000" smtClean="0"/>
              <a:t> has made impact on Apple hybrid storage product </a:t>
            </a:r>
            <a:r>
              <a:rPr lang="en-US" altLang="en-US" sz="2000" smtClean="0">
                <a:solidFill>
                  <a:srgbClr val="FF0000"/>
                </a:solidFill>
              </a:rPr>
              <a:t>Fusion Drive </a:t>
            </a:r>
          </a:p>
          <a:p>
            <a:pPr marL="457200" lvl="1" indent="0" eaLnBrk="1" hangingPunct="1">
              <a:buFont typeface="Arial" panose="020B0604020202020204" pitchFamily="34" charset="0"/>
              <a:buNone/>
            </a:pPr>
            <a:r>
              <a:rPr lang="en-US" altLang="en-US" sz="1800" smtClean="0"/>
              <a:t>                                              - A new storage product on the market since October 23, 2012 </a:t>
            </a:r>
          </a:p>
          <a:p>
            <a:pPr marL="457200" lvl="1" indent="0" eaLnBrk="1" hangingPunct="1">
              <a:buFont typeface="Arial" panose="020B0604020202020204" pitchFamily="34" charset="0"/>
              <a:buNone/>
            </a:pPr>
            <a:r>
              <a:rPr lang="en-US" altLang="en-US" sz="1800" smtClean="0"/>
              <a:t>                                              - Consisting of a small SSD and a large hard drive</a:t>
            </a:r>
          </a:p>
          <a:p>
            <a:pPr marL="457200" lvl="1" indent="0" eaLnBrk="1" hangingPunct="1">
              <a:buFont typeface="Arial" panose="020B0604020202020204" pitchFamily="34" charset="0"/>
              <a:buNone/>
            </a:pPr>
            <a:r>
              <a:rPr lang="en-US" altLang="en-US" sz="1800" smtClean="0"/>
              <a:t>                                              - The hybrid storage is managed by OS in a single space</a:t>
            </a:r>
          </a:p>
          <a:p>
            <a:pPr marL="457200" lvl="1" indent="0" eaLnBrk="1" hangingPunct="1">
              <a:buFont typeface="Arial" panose="020B0604020202020204" pitchFamily="34" charset="0"/>
              <a:buNone/>
            </a:pPr>
            <a:endParaRPr lang="en-US" altLang="en-US" sz="2000" smtClean="0"/>
          </a:p>
          <a:p>
            <a:pPr eaLnBrk="1" hangingPunct="1"/>
            <a:r>
              <a:rPr lang="en-US" altLang="en-US" sz="2000" smtClean="0"/>
              <a:t>Comments on </a:t>
            </a:r>
            <a:r>
              <a:rPr lang="en-US" altLang="en-US" sz="2000" smtClean="0">
                <a:solidFill>
                  <a:srgbClr val="C00000"/>
                </a:solidFill>
              </a:rPr>
              <a:t>Hystor</a:t>
            </a:r>
            <a:r>
              <a:rPr lang="en-US" altLang="en-US" sz="2000" smtClean="0"/>
              <a:t> from Apple: </a:t>
            </a:r>
          </a:p>
          <a:p>
            <a:pPr marL="457200" lvl="1" indent="0" eaLnBrk="1" hangingPunct="1"/>
            <a:r>
              <a:rPr lang="en-US" altLang="en-US" sz="1800" i="1" smtClean="0"/>
              <a:t>Hystor is a well-designed system, and its paper discussed several key systems trade-offs in details. The Apple software engineers had carefully and systematically evaluated Hystor. This work had a significant influence in the design of Apple's Fusion Drive. Some design elements and algorithms in Hystor have been directly used in Apple's Fusion Drive.</a:t>
            </a:r>
            <a:endParaRPr lang="en-US" altLang="en-US" sz="1800" smtClean="0"/>
          </a:p>
          <a:p>
            <a:pPr eaLnBrk="1" hangingPunct="1"/>
            <a:r>
              <a:rPr lang="en-US" altLang="en-US" sz="2200" smtClean="0">
                <a:solidFill>
                  <a:srgbClr val="FF0000"/>
                </a:solidFill>
              </a:rPr>
              <a:t>Steve Jobs</a:t>
            </a:r>
            <a:r>
              <a:rPr lang="en-US" altLang="en-US" sz="2200" smtClean="0"/>
              <a:t>’ Philosophy on technology transfer for Apple: </a:t>
            </a:r>
          </a:p>
          <a:p>
            <a:pPr marL="457200" lvl="1" indent="0" eaLnBrk="1" hangingPunct="1"/>
            <a:r>
              <a:rPr lang="en-US" altLang="en-US" sz="1800" i="1" smtClean="0"/>
              <a:t>Picasso had a saying “Good artists copy, great artists steal”. We have always been shameless about stealing great ideas … </a:t>
            </a:r>
          </a:p>
        </p:txBody>
      </p:sp>
      <p:sp>
        <p:nvSpPr>
          <p:cNvPr id="82948" name="Slide Number Placeholder 3"/>
          <p:cNvSpPr>
            <a:spLocks noGrp="1"/>
          </p:cNvSpPr>
          <p:nvPr>
            <p:ph type="sldNum" sz="quarter" idx="4294967295"/>
          </p:nvPr>
        </p:nvSpPr>
        <p:spPr bwMode="auto">
          <a:xfrm>
            <a:off x="7010400" y="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 typeface="Wingdings" panose="05000000000000000000" pitchFamily="2" charset="2"/>
              <a:buNone/>
            </a:pPr>
            <a:fld id="{C81F72AB-C4BE-4078-98E7-7EE4FD16963F}" type="slidenum">
              <a:rPr lang="zh-CN" altLang="en-US" sz="1200">
                <a:solidFill>
                  <a:srgbClr val="898989"/>
                </a:solidFill>
                <a:latin typeface="Verdana" panose="020B0604030504040204" pitchFamily="34" charset="0"/>
              </a:rPr>
              <a:pPr>
                <a:spcBef>
                  <a:spcPct val="50000"/>
                </a:spcBef>
                <a:buFont typeface="Wingdings" panose="05000000000000000000" pitchFamily="2" charset="2"/>
                <a:buNone/>
              </a:pPr>
              <a:t>99</a:t>
            </a:fld>
            <a:endParaRPr lang="zh-CN" altLang="en-US" sz="1200">
              <a:solidFill>
                <a:srgbClr val="898989"/>
              </a:solidFill>
              <a:latin typeface="Verdana" panose="020B0604030504040204" pitchFamily="34" charset="0"/>
            </a:endParaRPr>
          </a:p>
        </p:txBody>
      </p:sp>
      <p:pic>
        <p:nvPicPr>
          <p:cNvPr id="82949" name="Picture 2" descr="Z:\vitae\Apple-Fusion-Drive\imagesCA8Y4D6G.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286000"/>
            <a:ext cx="2438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935173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ext Box 3"/>
          <p:cNvSpPr txBox="1">
            <a:spLocks noChangeArrowheads="1"/>
          </p:cNvSpPr>
          <p:nvPr/>
        </p:nvSpPr>
        <p:spPr bwMode="auto">
          <a:xfrm>
            <a:off x="2195512" y="2187179"/>
            <a:ext cx="4806554" cy="7479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spAutoFit/>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1pPr>
            <a:lvl2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2pPr>
            <a:lvl3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3pPr>
            <a:lvl4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4pPr>
            <a:lvl5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宋体" panose="02010600030101010101" pitchFamily="2" charset="-122"/>
              </a:defRPr>
            </a:lvl9pPr>
          </a:lstStyle>
          <a:p>
            <a:pPr algn="ctr" defTabSz="342900" eaLnBrk="1" fontAlgn="base" hangingPunct="1">
              <a:spcBef>
                <a:spcPct val="0"/>
              </a:spcBef>
              <a:spcAft>
                <a:spcPct val="0"/>
              </a:spcAft>
              <a:buSzPct val="100000"/>
              <a:defRPr/>
            </a:pPr>
            <a:r>
              <a:rPr lang="zh-CN" altLang="en-US" sz="44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谢谢</a:t>
            </a:r>
            <a:endParaRPr lang="en-US" altLang="zh-CN" sz="4400" b="1" dirty="0">
              <a:solidFill>
                <a:srgbClr val="0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793714319"/>
      </p:ext>
    </p:extLst>
  </p:cSld>
  <p:clrMapOvr>
    <a:masterClrMapping/>
  </p:clrMapOvr>
  <p:transition spd="med"/>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3.3|2.7|18.3"/>
</p:tagLst>
</file>

<file path=ppt/tags/tag2.xml><?xml version="1.0" encoding="utf-8"?>
<p:tagLst xmlns:a="http://schemas.openxmlformats.org/drawingml/2006/main" xmlns:r="http://schemas.openxmlformats.org/officeDocument/2006/relationships" xmlns:p="http://schemas.openxmlformats.org/presentationml/2006/main">
  <p:tag name="TIMING" val="|5.9|35.2|7.3|39.9"/>
</p:tagLst>
</file>

<file path=ppt/theme/theme1.xml><?xml version="1.0" encoding="utf-8"?>
<a:theme xmlns:a="http://schemas.openxmlformats.org/drawingml/2006/main" name="Office 主题​​">
  <a:themeElements>
    <a:clrScheme name="Office 主题​​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kumimoji="0" lang="en-GB"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kumimoji="0" lang="en-GB" sz="1800" b="0" i="0" u="none" strike="noStrike" cap="none" normalizeH="0" baseline="0" smtClean="0">
            <a:ln>
              <a:noFill/>
            </a:ln>
            <a:solidFill>
              <a:schemeClr val="bg1"/>
            </a:solidFill>
            <a:effectLst/>
            <a:latin typeface="Arial" panose="020B0604020202020204" pitchFamily="34" charset="0"/>
            <a:ea typeface="宋体" panose="02010600030101010101" pitchFamily="2" charset="-122"/>
          </a:defRPr>
        </a:defPPr>
      </a:lstStyle>
    </a:lnDef>
  </a:objectDefaults>
  <a:extraClrSchemeLst>
    <a:extraClrScheme>
      <a:clrScheme name="Office 主题​​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主题​​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主题​​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主题​​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主题​​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主题​​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主题​​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4827</TotalTime>
  <Words>8862</Words>
  <Application>Microsoft Office PowerPoint</Application>
  <PresentationFormat>全屏显示(4:3)</PresentationFormat>
  <Paragraphs>2067</Paragraphs>
  <Slides>100</Slides>
  <Notes>55</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1</vt:i4>
      </vt:variant>
      <vt:variant>
        <vt:lpstr>幻灯片标题</vt:lpstr>
      </vt:variant>
      <vt:variant>
        <vt:i4>100</vt:i4>
      </vt:variant>
    </vt:vector>
  </HeadingPairs>
  <TitlesOfParts>
    <vt:vector size="119" baseType="lpstr">
      <vt:lpstr>Courier</vt:lpstr>
      <vt:lpstr>Monotype Sorts</vt:lpstr>
      <vt:lpstr>Roboto Th</vt:lpstr>
      <vt:lpstr>仿宋_GB2312</vt:lpstr>
      <vt:lpstr>黑体</vt:lpstr>
      <vt:lpstr>宋体</vt:lpstr>
      <vt:lpstr>微软雅黑</vt:lpstr>
      <vt:lpstr>Arial</vt:lpstr>
      <vt:lpstr>Arial Black</vt:lpstr>
      <vt:lpstr>Calibri</vt:lpstr>
      <vt:lpstr>Comic Sans MS</vt:lpstr>
      <vt:lpstr>Courier New</vt:lpstr>
      <vt:lpstr>Garamond</vt:lpstr>
      <vt:lpstr>Symbol</vt:lpstr>
      <vt:lpstr>Times New Roman</vt:lpstr>
      <vt:lpstr>Verdana</vt:lpstr>
      <vt:lpstr>Wingdings</vt:lpstr>
      <vt:lpstr>Office 主题​​</vt:lpstr>
      <vt:lpstr>Equation</vt:lpstr>
      <vt:lpstr>PowerPoint 演示文稿</vt:lpstr>
      <vt:lpstr>PowerPoint 演示文稿</vt:lpstr>
      <vt:lpstr>PowerPoint 演示文稿</vt:lpstr>
      <vt:lpstr>Major Resources in Computing and Network Systems  </vt:lpstr>
      <vt:lpstr>Data Communication in Computer Systems</vt:lpstr>
      <vt:lpstr>Latency Lags Bandwidth (CACM, Patterson)</vt:lpstr>
      <vt:lpstr>How is Resource Supply/Demand Balanced?</vt:lpstr>
      <vt:lpstr>PowerPoint 演示文稿</vt:lpstr>
      <vt:lpstr>PowerPoint 演示文稿</vt:lpstr>
      <vt:lpstr>Big Data and Power Law</vt:lpstr>
      <vt:lpstr>Zipf distribution is believed the general  model of data access patterns</vt:lpstr>
      <vt:lpstr>Distribution Changes in DVDs in Netflix 2000 to 2011</vt:lpstr>
      <vt:lpstr>Why Shifting from Highly Focused Data sets to Big Data?</vt:lpstr>
      <vt:lpstr>Research Objectives</vt:lpstr>
      <vt:lpstr>Workload summary</vt:lpstr>
      <vt:lpstr>Stretched exponential distribution</vt:lpstr>
      <vt:lpstr>Evidences: Web media systems (server logs)</vt:lpstr>
      <vt:lpstr>Evidences: Web media systems (req packets)</vt:lpstr>
      <vt:lpstr>Evidences: VoD media systems</vt:lpstr>
      <vt:lpstr>Evidences: P2P media systems</vt:lpstr>
      <vt:lpstr>Evidences: Live streaming and other systems</vt:lpstr>
      <vt:lpstr>Two Distribution Models are Based on Different Storage Requirements   </vt:lpstr>
      <vt:lpstr>PowerPoint 演示文稿</vt:lpstr>
      <vt:lpstr>MapReduce Operations on Hadoop</vt:lpstr>
      <vt:lpstr>MapReduce Operations on Hadoop</vt:lpstr>
      <vt:lpstr>MapReduce Operations on Hadoop</vt:lpstr>
      <vt:lpstr>MapReduce Operations on Hadoop</vt:lpstr>
      <vt:lpstr>MapReduce Operations on Hadoop</vt:lpstr>
      <vt:lpstr>PowerPoint 演示文稿</vt:lpstr>
      <vt:lpstr>PowerPoint 演示文稿</vt:lpstr>
      <vt:lpstr>PowerPoint 演示文稿</vt:lpstr>
      <vt:lpstr>PowerPoint 演示文稿</vt:lpstr>
      <vt:lpstr>A big data warehouse is built on top of Hadoop </vt:lpstr>
      <vt:lpstr>Hive is a data warehouse system</vt:lpstr>
      <vt:lpstr>Major Differences of Hive from Conventional Data Warehouse Systems</vt:lpstr>
      <vt:lpstr>Hive Works as a Relational DB</vt:lpstr>
      <vt:lpstr>But execution engine is MapReduce</vt:lpstr>
      <vt:lpstr>Two Critical Components under HDFS</vt:lpstr>
      <vt:lpstr>File Format: Distributed Data Placement </vt:lpstr>
      <vt:lpstr>PowerPoint 演示文稿</vt:lpstr>
      <vt:lpstr>Existing Data Placement Methods  </vt:lpstr>
      <vt:lpstr>RCFile: Partition Table into Row Groups</vt:lpstr>
      <vt:lpstr>Data Placement under HDFS </vt:lpstr>
      <vt:lpstr>Inside each Row Group</vt:lpstr>
      <vt:lpstr>RCFile: Inside each Row Group</vt:lpstr>
      <vt:lpstr>Benefits of RCFile</vt:lpstr>
      <vt:lpstr>Benefits of RCFile</vt:lpstr>
      <vt:lpstr>Query Planner in Hive</vt:lpstr>
      <vt:lpstr>PowerPoint 演示文稿</vt:lpstr>
      <vt:lpstr>Query Planner: generating optimized MR tasks </vt:lpstr>
      <vt:lpstr>PowerPoint 演示文稿</vt:lpstr>
      <vt:lpstr>New Challenges to Access Performance in Big Data   </vt:lpstr>
      <vt:lpstr>What is LSM-tree? </vt:lpstr>
      <vt:lpstr>PowerPoint 演示文稿</vt:lpstr>
      <vt:lpstr>Basic Functions of Buffer Cache</vt:lpstr>
      <vt:lpstr>Buffer Cache in LSM-tree</vt:lpstr>
      <vt:lpstr>Buffer Cache in LSM-tree</vt:lpstr>
      <vt:lpstr>LSM-tree induced Buffer Cache invalidations</vt:lpstr>
      <vt:lpstr>LSbM-tree: aided by a compaction buffer </vt:lpstr>
      <vt:lpstr>Compaction Buffer:  a cushion(缓冲) between LSM-tree and cache </vt:lpstr>
      <vt:lpstr>Compaction Buffer:  a cushion between LSM-tree and cache </vt:lpstr>
      <vt:lpstr> Buffer Trimming: Who should stay or leave?</vt:lpstr>
      <vt:lpstr>Birth and Death of the compaction buffer</vt:lpstr>
      <vt:lpstr>Why LSbM-tree is effective? </vt:lpstr>
      <vt:lpstr>Querying LSM-tree</vt:lpstr>
      <vt:lpstr>Querying LSbM-tree</vt:lpstr>
      <vt:lpstr>PowerPoint 演示文稿</vt:lpstr>
      <vt:lpstr>Concurrency Control (CC)</vt:lpstr>
      <vt:lpstr>OCC: How It Works</vt:lpstr>
      <vt:lpstr>OCC: An Example</vt:lpstr>
      <vt:lpstr>OCC’s Advantages</vt:lpstr>
      <vt:lpstr>OCC’s Problem: False Aborts</vt:lpstr>
      <vt:lpstr>Issues and Challenges </vt:lpstr>
      <vt:lpstr>Basic Structure of BCC</vt:lpstr>
      <vt:lpstr>BCC Validation is Complex </vt:lpstr>
      <vt:lpstr>PowerPoint 演示文稿</vt:lpstr>
      <vt:lpstr>Flash Memory based Solid State Drive</vt:lpstr>
      <vt:lpstr> SSD Internal 1: Write and Erase          </vt:lpstr>
      <vt:lpstr> SSD Internal 2: Garbage Collection          </vt:lpstr>
      <vt:lpstr>SSD Internal 3: Write Amplification</vt:lpstr>
      <vt:lpstr> SSD Internal 4: Wear Leveling       </vt:lpstr>
      <vt:lpstr>SSD Internal 5: Over-Provisioning(预留空间)</vt:lpstr>
      <vt:lpstr>A Framework for a hybrid storage system</vt:lpstr>
      <vt:lpstr>Outline</vt:lpstr>
      <vt:lpstr>Physical data layout in HDD</vt:lpstr>
      <vt:lpstr>Physical data layout in SSD</vt:lpstr>
      <vt:lpstr>Asking for help from SSD manufacturers?</vt:lpstr>
      <vt:lpstr>Our approach</vt:lpstr>
      <vt:lpstr>A general model</vt:lpstr>
      <vt:lpstr>LBN-based Mapping</vt:lpstr>
      <vt:lpstr>Write-order based Mapping</vt:lpstr>
      <vt:lpstr>Detecting the mapping policy</vt:lpstr>
      <vt:lpstr>LBN-based Mapping?</vt:lpstr>
      <vt:lpstr>Write-order based Mapping?</vt:lpstr>
      <vt:lpstr>Distinguishing LBN &amp; Write-order Mappings </vt:lpstr>
      <vt:lpstr>Outline</vt:lpstr>
      <vt:lpstr>Integrating SSD and HDD together</vt:lpstr>
      <vt:lpstr>Hystor: A cost-efficient hybrid storage*</vt:lpstr>
      <vt:lpstr>Impact of Hystor </vt:lpstr>
      <vt:lpstr>PowerPoint 演示文稿</vt:lpstr>
    </vt:vector>
  </TitlesOfParts>
  <Company>NKU</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Mr.Ren</dc:creator>
  <cp:lastModifiedBy>Microsoft</cp:lastModifiedBy>
  <cp:revision>355</cp:revision>
  <dcterms:created xsi:type="dcterms:W3CDTF">2015-09-20T07:16:00Z</dcterms:created>
  <dcterms:modified xsi:type="dcterms:W3CDTF">2018-10-21T12:39:41Z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2052-10.1.0.7224</vt:lpwstr>
  </property>
</Properties>
</file>