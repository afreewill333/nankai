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7"/>
  </p:notesMasterIdLst>
  <p:sldIdLst>
    <p:sldId id="256" r:id="rId2"/>
    <p:sldId id="336" r:id="rId3"/>
    <p:sldId id="322" r:id="rId4"/>
    <p:sldId id="323" r:id="rId5"/>
    <p:sldId id="257" r:id="rId6"/>
    <p:sldId id="281" r:id="rId7"/>
    <p:sldId id="308" r:id="rId8"/>
    <p:sldId id="329" r:id="rId9"/>
    <p:sldId id="282" r:id="rId10"/>
    <p:sldId id="283" r:id="rId11"/>
    <p:sldId id="286" r:id="rId12"/>
    <p:sldId id="284" r:id="rId13"/>
    <p:sldId id="285" r:id="rId14"/>
    <p:sldId id="330" r:id="rId15"/>
    <p:sldId id="331" r:id="rId16"/>
    <p:sldId id="337" r:id="rId17"/>
    <p:sldId id="332" r:id="rId18"/>
    <p:sldId id="333" r:id="rId19"/>
    <p:sldId id="334" r:id="rId20"/>
    <p:sldId id="288" r:id="rId21"/>
    <p:sldId id="289" r:id="rId22"/>
    <p:sldId id="309" r:id="rId23"/>
    <p:sldId id="310" r:id="rId24"/>
    <p:sldId id="311" r:id="rId25"/>
    <p:sldId id="325" r:id="rId26"/>
    <p:sldId id="326" r:id="rId27"/>
    <p:sldId id="327" r:id="rId28"/>
    <p:sldId id="312" r:id="rId29"/>
    <p:sldId id="313" r:id="rId30"/>
    <p:sldId id="314" r:id="rId31"/>
    <p:sldId id="315" r:id="rId32"/>
    <p:sldId id="316" r:id="rId33"/>
    <p:sldId id="328" r:id="rId34"/>
    <p:sldId id="335" r:id="rId35"/>
    <p:sldId id="290" r:id="rId36"/>
    <p:sldId id="292" r:id="rId37"/>
    <p:sldId id="291" r:id="rId38"/>
    <p:sldId id="293" r:id="rId39"/>
    <p:sldId id="294" r:id="rId40"/>
    <p:sldId id="295" r:id="rId41"/>
    <p:sldId id="296" r:id="rId42"/>
    <p:sldId id="297" r:id="rId43"/>
    <p:sldId id="298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17" r:id="rId52"/>
    <p:sldId id="318" r:id="rId53"/>
    <p:sldId id="319" r:id="rId54"/>
    <p:sldId id="320" r:id="rId55"/>
    <p:sldId id="321" r:id="rId5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8" autoAdjust="0"/>
    <p:restoredTop sz="84874" autoAdjust="0"/>
  </p:normalViewPr>
  <p:slideViewPr>
    <p:cSldViewPr>
      <p:cViewPr varScale="1">
        <p:scale>
          <a:sx n="107" d="100"/>
          <a:sy n="107" d="100"/>
        </p:scale>
        <p:origin x="138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charset="-122"/>
              </a:defRPr>
            </a:lvl1pPr>
          </a:lstStyle>
          <a:p>
            <a:pPr>
              <a:defRPr/>
            </a:pPr>
            <a:fld id="{41C53684-9EE6-41AD-8477-2D0AC1A4ADAE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charset="-122"/>
              </a:defRPr>
            </a:lvl1pPr>
          </a:lstStyle>
          <a:p>
            <a:pPr>
              <a:defRPr/>
            </a:pPr>
            <a:fld id="{D62473ED-2145-4A96-985C-0E7FA62C7F3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3512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2473ED-2145-4A96-985C-0E7FA62C7F36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831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2473ED-2145-4A96-985C-0E7FA62C7F36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261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2473ED-2145-4A96-985C-0E7FA62C7F36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246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1470025"/>
          </a:xfrm>
        </p:spPr>
        <p:txBody>
          <a:bodyPr/>
          <a:lstStyle>
            <a:lvl1pPr>
              <a:defRPr lang="zh-CN" altLang="en-US" sz="4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14530" y="3357562"/>
            <a:ext cx="4629160" cy="828684"/>
          </a:xfrm>
        </p:spPr>
        <p:txBody>
          <a:bodyPr/>
          <a:lstStyle>
            <a:lvl1pPr marL="0" indent="0" algn="ctr" fontAlgn="auto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9EBD2-0C2F-4373-B2D4-DD824BE71B6C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ea typeface="+mn-ea"/>
                <a:cs typeface="Times New Roman" pitchFamily="18" charset="0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CB39D-0449-4A3B-9F51-6C5C4A537334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57562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5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黑体" pitchFamily="2" charset="-122"/>
                <a:ea typeface="黑体" pitchFamily="2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CBDC8-F0AD-4859-AB33-3DCB3523B8BA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437FF-A30D-4D7A-840E-E8E65955EE99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85BE1-0F39-4CA1-98D1-85196E6A45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838AA-D215-421F-9383-B3EB40384AE8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503A64-0A11-4522-90A4-A5DF5948E7F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C384D-2226-4EEC-9D3C-53ACD655265F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67807-089A-42A7-89D1-05BCEC8402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12A43-6BD8-4D22-B0EB-1C4D3E9C382F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524B3-367C-4511-9526-B932D7664A7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C9BD2-D884-4031-A32B-898E4911D85E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E71EF-356F-4E22-A8B1-0594A89024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CB7B7-9ACC-428F-9DD9-176D4DCCEE80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53275-4D82-4059-8340-A0E360905A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BB4AC-DA4E-424D-BF0D-62748418592B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B75EF-EF86-4C4E-A08B-A2349FD0A3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6DF1E-1416-4D2B-B074-B4022CA8A3AD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56D16-F7C3-40B4-9A1B-6307081398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67FC052-206E-4F94-8DCB-1F8609D3032F}" type="datetimeFigureOut">
              <a:rPr lang="zh-CN" altLang="en-US"/>
              <a:pPr>
                <a:defRPr/>
              </a:pPr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875BC5E-86D5-472E-9844-C170AB3D82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微软雅黑" pitchFamily="34" charset="-122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微软雅黑" pitchFamily="34" charset="-122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微软雅黑" pitchFamily="34" charset="-122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微软雅黑" pitchFamily="34" charset="-122"/>
          <a:cs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如何进行研究和写作论文</a:t>
            </a:r>
            <a:endParaRPr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14563" y="3357563"/>
            <a:ext cx="4629150" cy="8286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dirty="0" smtClean="0"/>
              <a:t>Gang Wang, </a:t>
            </a:r>
            <a:r>
              <a:rPr lang="en-US" altLang="zh-CN" sz="2400" dirty="0" err="1" smtClean="0"/>
              <a:t>Xiaoguang</a:t>
            </a:r>
            <a:r>
              <a:rPr lang="en-US" altLang="zh-CN" sz="2400" dirty="0" smtClean="0"/>
              <a:t> Liu</a:t>
            </a:r>
          </a:p>
          <a:p>
            <a:pPr eaLnBrk="1" hangingPunct="1">
              <a:defRPr/>
            </a:pPr>
            <a:r>
              <a:rPr lang="en-US" altLang="zh-CN" sz="2400" dirty="0" err="1" smtClean="0"/>
              <a:t>Nankai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University,Tianjin,China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400" dirty="0" smtClean="0"/>
              <a:t>部分内容引自</a:t>
            </a:r>
          </a:p>
          <a:p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Eamonn</a:t>
            </a:r>
            <a:r>
              <a:rPr lang="en-US" altLang="zh-CN" sz="2400" dirty="0" smtClean="0"/>
              <a:t> Keogh, </a:t>
            </a:r>
            <a:r>
              <a:rPr lang="en-US" altLang="zh-CN" sz="2400" i="1" dirty="0" smtClean="0"/>
              <a:t>How to do good research, get it published in SIGKDD and get it cited! </a:t>
            </a:r>
            <a:r>
              <a:rPr lang="en-US" altLang="zh-CN" sz="2400" dirty="0" smtClean="0"/>
              <a:t>Tutorial in SIGKDD 2009, June 28th. 2009</a:t>
            </a:r>
          </a:p>
          <a:p>
            <a:pPr eaLnBrk="1" hangingPunct="1">
              <a:defRPr/>
            </a:pPr>
            <a:endParaRPr lang="en-US" altLang="zh-CN" sz="2400" dirty="0" smtClean="0"/>
          </a:p>
          <a:p>
            <a:pPr eaLnBrk="1" hangingPunct="1">
              <a:defRPr/>
            </a:pP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zh-CN" altLang="en-US" sz="5400" dirty="0" smtClean="0">
                <a:solidFill>
                  <a:srgbClr val="FF0000"/>
                </a:solidFill>
              </a:rPr>
              <a:t>学术道德是第一位的！</a:t>
            </a:r>
            <a:endParaRPr lang="zh-CN" altLang="en-US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12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要有独立思考和质疑精神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对于“你应该做</a:t>
            </a:r>
            <a:r>
              <a:rPr lang="en-US" altLang="zh-CN" dirty="0" smtClean="0"/>
              <a:t>…</a:t>
            </a:r>
            <a:r>
              <a:rPr lang="zh-CN" altLang="en-US" dirty="0" smtClean="0"/>
              <a:t>”或“你不应该做</a:t>
            </a:r>
            <a:r>
              <a:rPr lang="en-US" altLang="zh-CN" dirty="0" smtClean="0"/>
              <a:t>…</a:t>
            </a:r>
            <a:r>
              <a:rPr lang="zh-CN" altLang="en-US" dirty="0" smtClean="0"/>
              <a:t>”的建议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应该有自己独立的思考，要敢于质疑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建立在充分的思考和充足的论据基础上</a:t>
            </a:r>
            <a:endParaRPr lang="en-US" altLang="zh-CN" dirty="0" smtClean="0"/>
          </a:p>
          <a:p>
            <a:r>
              <a:rPr lang="zh-CN" altLang="en-US" dirty="0" smtClean="0"/>
              <a:t>我们的经验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同样资质，同样努力，“活泼”的同学往往比“听话”的同学研究成果更突出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要有独立思考和质疑精神（续）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196752"/>
            <a:ext cx="7638098" cy="4912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n w="18415" cmpd="sng">
                  <a:solidFill>
                    <a:srgbClr val="FFFFFF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Outline</a:t>
            </a:r>
            <a:endParaRPr lang="zh-CN" altLang="en-US" dirty="0" smtClean="0">
              <a:ln w="18415" cmpd="sng">
                <a:solidFill>
                  <a:srgbClr val="FFFFFF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zh-CN" alt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博士（硕士）工作目标</a:t>
            </a:r>
            <a:endParaRPr lang="en-US" altLang="zh-CN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eaLnBrk="1" hangingPunct="1"/>
            <a:endParaRPr lang="en-US" altLang="zh-CN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eaLnBrk="1" hangingPunct="1"/>
            <a:r>
              <a:rPr lang="zh-CN" alt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选题</a:t>
            </a:r>
            <a:endParaRPr lang="en-US" altLang="zh-CN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eaLnBrk="1" hangingPunct="1"/>
            <a:endParaRPr lang="en-US" altLang="zh-CN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eaLnBrk="1" hangingPunct="1"/>
            <a:r>
              <a:rPr lang="zh-CN" alt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如何写论文</a:t>
            </a:r>
            <a:endParaRPr lang="en-US" altLang="zh-CN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eaLnBrk="1" hangingPunct="1">
              <a:buNone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博士的目标是什么？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 smtClean="0"/>
              <a:t>研究  不等于  研发</a:t>
            </a:r>
            <a:endParaRPr lang="en-US" altLang="zh-CN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zh-CN" altLang="en-US" dirty="0" smtClean="0"/>
              <a:t>博士生要有创新</a:t>
            </a:r>
            <a:endParaRPr lang="en-US" altLang="zh-CN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zh-CN" altLang="en-US" dirty="0" smtClean="0"/>
              <a:t>目标：</a:t>
            </a:r>
            <a:r>
              <a:rPr lang="zh-CN" altLang="en-US" dirty="0" smtClean="0">
                <a:solidFill>
                  <a:srgbClr val="FF0000"/>
                </a:solidFill>
              </a:rPr>
              <a:t>扩展人类的知识外延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/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没有科研就没有人类的进步！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论文写作的流程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寻找问题</a:t>
            </a:r>
            <a:r>
              <a:rPr lang="en-US" altLang="zh-CN" dirty="0" smtClean="0"/>
              <a:t>/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r>
              <a:rPr lang="zh-CN" altLang="en-US" dirty="0" smtClean="0"/>
              <a:t>开始写作！</a:t>
            </a:r>
            <a:endParaRPr lang="en-US" altLang="zh-CN" dirty="0" smtClean="0"/>
          </a:p>
          <a:p>
            <a:r>
              <a:rPr lang="zh-CN" altLang="en-US" dirty="0" smtClean="0"/>
              <a:t>展开研究，求解问题</a:t>
            </a:r>
            <a:endParaRPr lang="en-US" altLang="zh-CN" dirty="0" smtClean="0"/>
          </a:p>
          <a:p>
            <a:r>
              <a:rPr lang="zh-CN" altLang="en-US" dirty="0" smtClean="0"/>
              <a:t>完成初稿的</a:t>
            </a:r>
            <a:r>
              <a:rPr lang="en-US" altLang="zh-CN" dirty="0" smtClean="0"/>
              <a:t>95%</a:t>
            </a:r>
          </a:p>
          <a:p>
            <a:r>
              <a:rPr lang="zh-CN" altLang="en-US" dirty="0" smtClean="0"/>
              <a:t>请</a:t>
            </a:r>
            <a:r>
              <a:rPr lang="en-US" altLang="zh-CN" dirty="0" smtClean="0"/>
              <a:t>mock reviewer</a:t>
            </a:r>
            <a:r>
              <a:rPr lang="zh-CN" altLang="en-US" dirty="0" smtClean="0"/>
              <a:t>评审</a:t>
            </a:r>
            <a:endParaRPr lang="en-US" altLang="zh-CN" dirty="0" smtClean="0"/>
          </a:p>
          <a:p>
            <a:r>
              <a:rPr lang="zh-CN" altLang="en-US" dirty="0" smtClean="0"/>
              <a:t>请有竞争关系的作者评审</a:t>
            </a:r>
            <a:endParaRPr lang="en-US" altLang="zh-CN" dirty="0" smtClean="0"/>
          </a:p>
          <a:p>
            <a:r>
              <a:rPr lang="zh-CN" altLang="en-US" dirty="0" smtClean="0"/>
              <a:t>修改</a:t>
            </a:r>
            <a:endParaRPr lang="en-US" altLang="zh-CN" dirty="0" smtClean="0"/>
          </a:p>
          <a:p>
            <a:r>
              <a:rPr lang="zh-CN" altLang="en-US" dirty="0" smtClean="0"/>
              <a:t>提交</a:t>
            </a:r>
            <a:endParaRPr lang="zh-CN" alt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499992" y="5229200"/>
            <a:ext cx="1512168" cy="0"/>
          </a:xfrm>
          <a:prstGeom prst="straightConnector1">
            <a:avLst/>
          </a:prstGeom>
          <a:ln w="508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84168" y="4983559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截稿前一个月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我们的经验（二）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SIGIR 2013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deadline 2013/1/28</a:t>
            </a:r>
          </a:p>
          <a:p>
            <a:pPr lvl="1"/>
            <a:r>
              <a:rPr lang="en-US" altLang="zh-CN" sz="2000" dirty="0" smtClean="0">
                <a:sym typeface="Wingdings" pitchFamily="2" charset="2"/>
              </a:rPr>
              <a:t>2013/1/17 </a:t>
            </a:r>
            <a:r>
              <a:rPr lang="zh-CN" altLang="en-US" sz="2000" dirty="0" smtClean="0"/>
              <a:t>：初稿</a:t>
            </a:r>
            <a:r>
              <a:rPr lang="en-US" altLang="zh-CN" sz="2000" dirty="0" smtClean="0"/>
              <a:t>Eric Lo</a:t>
            </a:r>
            <a:r>
              <a:rPr lang="en-US" altLang="zh-CN" sz="2000" dirty="0" smtClean="0">
                <a:sym typeface="Wingdings" pitchFamily="2" charset="2"/>
              </a:rPr>
              <a:t></a:t>
            </a:r>
            <a:r>
              <a:rPr lang="zh-CN" altLang="en-US" sz="2000" dirty="0" smtClean="0">
                <a:sym typeface="Wingdings" pitchFamily="2" charset="2"/>
              </a:rPr>
              <a:t>我们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2013/1/17~2013/1/28</a:t>
            </a:r>
          </a:p>
          <a:p>
            <a:pPr lvl="2"/>
            <a:r>
              <a:rPr lang="zh-CN" altLang="en-US" sz="1800" dirty="0" smtClean="0">
                <a:sym typeface="Wingdings" pitchFamily="2" charset="2"/>
              </a:rPr>
              <a:t>我们，</a:t>
            </a:r>
            <a:r>
              <a:rPr lang="en-US" altLang="zh-CN" sz="1800" dirty="0" smtClean="0">
                <a:sym typeface="Wingdings" pitchFamily="2" charset="2"/>
              </a:rPr>
              <a:t>mock reviewer</a:t>
            </a:r>
            <a:r>
              <a:rPr lang="zh-CN" altLang="en-US" sz="1800" dirty="0" smtClean="0">
                <a:sym typeface="Wingdings" pitchFamily="2" charset="2"/>
              </a:rPr>
              <a:t>：</a:t>
            </a:r>
            <a:r>
              <a:rPr lang="en-US" altLang="zh-CN" sz="1800" dirty="0" smtClean="0">
                <a:sym typeface="Wingdings" pitchFamily="2" charset="2"/>
              </a:rPr>
              <a:t>accept or reject</a:t>
            </a:r>
            <a:r>
              <a:rPr lang="zh-CN" altLang="en-US" sz="1800" dirty="0" smtClean="0">
                <a:sym typeface="Wingdings" pitchFamily="2" charset="2"/>
              </a:rPr>
              <a:t>？</a:t>
            </a:r>
            <a:r>
              <a:rPr lang="en-US" altLang="zh-CN" sz="1800" dirty="0" smtClean="0">
                <a:sym typeface="Wingdings" pitchFamily="2" charset="2"/>
              </a:rPr>
              <a:t>3 strong points</a:t>
            </a:r>
            <a:r>
              <a:rPr lang="zh-CN" altLang="en-US" sz="1800" dirty="0" smtClean="0">
                <a:sym typeface="Wingdings" pitchFamily="2" charset="2"/>
              </a:rPr>
              <a:t>？</a:t>
            </a:r>
            <a:r>
              <a:rPr lang="en-US" altLang="zh-CN" sz="1800" dirty="0" smtClean="0">
                <a:sym typeface="Wingdings" pitchFamily="2" charset="2"/>
              </a:rPr>
              <a:t>3 weak?</a:t>
            </a:r>
          </a:p>
          <a:p>
            <a:pPr lvl="2"/>
            <a:r>
              <a:rPr lang="en-US" altLang="zh-CN" sz="1800" dirty="0" smtClean="0">
                <a:sym typeface="Wingdings" pitchFamily="2" charset="2"/>
              </a:rPr>
              <a:t>Eric</a:t>
            </a:r>
            <a:r>
              <a:rPr lang="zh-CN" altLang="en-US" sz="1800" dirty="0" smtClean="0">
                <a:sym typeface="Wingdings" pitchFamily="2" charset="2"/>
              </a:rPr>
              <a:t>我们：讨论、修改</a:t>
            </a:r>
            <a:endParaRPr lang="en-US" altLang="zh-CN" sz="1800" dirty="0" smtClean="0">
              <a:sym typeface="Wingdings" pitchFamily="2" charset="2"/>
            </a:endParaRPr>
          </a:p>
          <a:p>
            <a:pPr lvl="1"/>
            <a:r>
              <a:rPr lang="en-US" altLang="zh-CN" sz="2000" dirty="0" smtClean="0"/>
              <a:t>2013/1/28</a:t>
            </a:r>
            <a:r>
              <a:rPr lang="zh-CN" altLang="en-US" sz="2000" dirty="0" smtClean="0"/>
              <a:t>：第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版，正式提交</a:t>
            </a:r>
            <a:endParaRPr lang="en-US" altLang="zh-CN" sz="2000" dirty="0" smtClean="0"/>
          </a:p>
          <a:p>
            <a:r>
              <a:rPr lang="en-US" altLang="zh-CN" sz="2400" dirty="0" smtClean="0"/>
              <a:t>IEEE MSST 2013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deadline 2013/2/1</a:t>
            </a:r>
          </a:p>
          <a:p>
            <a:pPr lvl="1"/>
            <a:r>
              <a:rPr lang="en-US" altLang="zh-CN" sz="2000" dirty="0" smtClean="0">
                <a:sym typeface="Wingdings" pitchFamily="2" charset="2"/>
              </a:rPr>
              <a:t>2013/1/2</a:t>
            </a:r>
            <a:r>
              <a:rPr lang="zh-CN" altLang="en-US" sz="2000" dirty="0" smtClean="0">
                <a:sym typeface="Wingdings" pitchFamily="2" charset="2"/>
              </a:rPr>
              <a:t>：朱炳鹏完成第一稿，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2013/1/2~2013/1/20</a:t>
            </a:r>
            <a:r>
              <a:rPr lang="zh-CN" altLang="en-US" sz="2000" dirty="0" smtClean="0"/>
              <a:t>：完成修改稿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2013/1/20~2013/1/25</a:t>
            </a:r>
            <a:r>
              <a:rPr lang="zh-CN" altLang="en-US" sz="2000" dirty="0" smtClean="0"/>
              <a:t>：加入可靠性分析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2013/1/25~2013/1/31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mock reviewer</a:t>
            </a:r>
            <a:r>
              <a:rPr lang="zh-CN" altLang="en-US" sz="2000" dirty="0" smtClean="0"/>
              <a:t>给出意见，继续修改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2013/2/1</a:t>
            </a:r>
            <a:r>
              <a:rPr lang="zh-CN" altLang="en-US" sz="2000" dirty="0" smtClean="0"/>
              <a:t>：正式提交</a:t>
            </a:r>
            <a:endParaRPr lang="en-US" altLang="zh-C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关于选题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 smtClean="0"/>
              <a:t>选题的过程： </a:t>
            </a:r>
            <a:r>
              <a:rPr lang="en-US" altLang="zh-CN" dirty="0" smtClean="0"/>
              <a:t>FPIC</a:t>
            </a:r>
          </a:p>
          <a:p>
            <a:pPr>
              <a:buNone/>
            </a:pPr>
            <a:r>
              <a:rPr lang="en-US" altLang="zh-CN" dirty="0" smtClean="0"/>
              <a:t> Field-&gt;Problem-&gt;Idea-&gt;Concrete work (</a:t>
            </a:r>
            <a:endParaRPr lang="zh-CN" altLang="en-US" dirty="0" smtClean="0"/>
          </a:p>
          <a:p>
            <a:pPr>
              <a:buNone/>
            </a:pPr>
            <a:r>
              <a:rPr lang="en-US" altLang="zh-CN" dirty="0" smtClean="0"/>
              <a:t> theoretical analysis, experiments, etc. )</a:t>
            </a:r>
          </a:p>
          <a:p>
            <a:pPr eaLnBrk="1" hangingPunct="1">
              <a:buNone/>
            </a:pPr>
            <a:endParaRPr lang="en-US" altLang="zh-CN" dirty="0" smtClean="0"/>
          </a:p>
          <a:p>
            <a:pPr eaLnBrk="1" hangingPunct="1"/>
            <a:endParaRPr lang="en-US" altLang="zh-CN" dirty="0" smtClean="0"/>
          </a:p>
          <a:p>
            <a:pPr eaLnBrk="1" hangingPunct="1">
              <a:buNone/>
            </a:pPr>
            <a:r>
              <a:rPr lang="en-US" altLang="zh-CN" dirty="0" smtClean="0">
                <a:solidFill>
                  <a:srgbClr val="00B050"/>
                </a:solidFill>
              </a:rPr>
              <a:t>Paper Writing-&gt;Submit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导师的职责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 smtClean="0"/>
              <a:t>导师科研经验丰富</a:t>
            </a:r>
            <a:endParaRPr lang="en-US" altLang="zh-CN" dirty="0" smtClean="0"/>
          </a:p>
          <a:p>
            <a:pPr eaLnBrk="1" hangingPunct="1">
              <a:buNone/>
            </a:pPr>
            <a:r>
              <a:rPr lang="zh-CN" altLang="en-US" dirty="0" smtClean="0"/>
              <a:t>    你提出</a:t>
            </a:r>
            <a:r>
              <a:rPr lang="en-US" altLang="zh-CN" dirty="0" smtClean="0"/>
              <a:t>problem</a:t>
            </a:r>
            <a:r>
              <a:rPr lang="zh-CN" altLang="en-US" dirty="0" smtClean="0"/>
              <a:t>，导师判定是否有价值</a:t>
            </a:r>
            <a:endParaRPr lang="en-US" altLang="zh-CN" dirty="0" smtClean="0"/>
          </a:p>
          <a:p>
            <a:pPr eaLnBrk="1" hangingPunct="1"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/>
              <a:t>你提出方法，导师判定是否可行</a:t>
            </a:r>
            <a:endParaRPr lang="en-US" altLang="zh-CN" dirty="0" smtClean="0"/>
          </a:p>
          <a:p>
            <a:pPr eaLnBrk="1" hangingPunct="1"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/>
              <a:t>导师更多</a:t>
            </a:r>
            <a:r>
              <a:rPr lang="en-US" altLang="zh-CN" dirty="0" smtClean="0"/>
              <a:t>Judge</a:t>
            </a:r>
          </a:p>
          <a:p>
            <a:pPr eaLnBrk="1" hangingPunct="1"/>
            <a:r>
              <a:rPr lang="zh-CN" altLang="en-US" dirty="0" smtClean="0"/>
              <a:t>博士 </a:t>
            </a:r>
            <a:r>
              <a:rPr lang="en-US" altLang="zh-CN" dirty="0" smtClean="0"/>
              <a:t>F   </a:t>
            </a:r>
            <a:r>
              <a:rPr lang="zh-CN" altLang="en-US" dirty="0" smtClean="0"/>
              <a:t>硕士  </a:t>
            </a:r>
            <a:r>
              <a:rPr lang="en-US" altLang="zh-CN" dirty="0" smtClean="0"/>
              <a:t>FP  </a:t>
            </a:r>
            <a:r>
              <a:rPr lang="zh-CN" altLang="en-US" dirty="0" smtClean="0"/>
              <a:t>本科 </a:t>
            </a:r>
            <a:r>
              <a:rPr lang="en-US" altLang="zh-CN" dirty="0" smtClean="0"/>
              <a:t>FPI</a:t>
            </a:r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zh-CN" altLang="en-US" dirty="0" smtClean="0">
                <a:solidFill>
                  <a:srgbClr val="FF0000"/>
                </a:solidFill>
              </a:rPr>
              <a:t>博士  自力更生！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buNone/>
            </a:pPr>
            <a:endParaRPr lang="en-US" altLang="zh-CN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从</a:t>
            </a:r>
            <a:r>
              <a:rPr lang="en-US" altLang="zh-CN" dirty="0" smtClean="0"/>
              <a:t>Field</a:t>
            </a:r>
            <a:r>
              <a:rPr lang="zh-CN" altLang="en-US" dirty="0" smtClean="0"/>
              <a:t>开始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 smtClean="0"/>
              <a:t>科学的发展，分类已经很细</a:t>
            </a:r>
            <a:endParaRPr lang="en-US" altLang="zh-CN" dirty="0" smtClean="0"/>
          </a:p>
          <a:p>
            <a:pPr eaLnBrk="1" hangingPunct="1">
              <a:buNone/>
            </a:pPr>
            <a:endParaRPr lang="en-US" altLang="zh-CN" dirty="0" smtClean="0"/>
          </a:p>
          <a:p>
            <a:pPr eaLnBrk="1" hangingPunct="1"/>
            <a:r>
              <a:rPr lang="zh-CN" altLang="en-US" dirty="0" smtClean="0"/>
              <a:t>大部分导师给你的是一个</a:t>
            </a:r>
            <a:r>
              <a:rPr lang="en-US" altLang="zh-CN" dirty="0" smtClean="0"/>
              <a:t>Field!</a:t>
            </a:r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en-US" altLang="zh-CN" dirty="0" smtClean="0"/>
              <a:t>Field </a:t>
            </a:r>
            <a:r>
              <a:rPr lang="zh-CN" altLang="en-US" dirty="0" smtClean="0"/>
              <a:t>没有好坏之分，只有活跃和不活跃</a:t>
            </a:r>
            <a:endParaRPr lang="en-US" altLang="zh-CN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zh-CN" altLang="en-US" dirty="0" smtClean="0"/>
              <a:t>任何一个</a:t>
            </a:r>
            <a:r>
              <a:rPr lang="en-US" altLang="zh-CN" dirty="0" smtClean="0"/>
              <a:t>Field</a:t>
            </a:r>
            <a:r>
              <a:rPr lang="zh-CN" altLang="en-US" dirty="0" smtClean="0"/>
              <a:t>，深入都会做出好工作</a:t>
            </a:r>
            <a:endParaRPr lang="en-US" altLang="zh-CN" dirty="0" smtClean="0"/>
          </a:p>
          <a:p>
            <a:pPr eaLnBrk="1" hangingPunct="1">
              <a:buNone/>
            </a:pPr>
            <a:endParaRPr lang="en-US" altLang="zh-CN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Field</a:t>
            </a:r>
            <a:r>
              <a:rPr lang="zh-CN" altLang="en-US" dirty="0" smtClean="0"/>
              <a:t> （</a:t>
            </a:r>
            <a:r>
              <a:rPr lang="en-US" altLang="zh-CN" dirty="0" smtClean="0"/>
              <a:t>Con.</a:t>
            </a:r>
            <a:r>
              <a:rPr lang="zh-CN" altLang="en-US" dirty="0" smtClean="0"/>
              <a:t>）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None/>
            </a:pPr>
            <a:endParaRPr lang="zh-CN" altLang="en-US" dirty="0" smtClean="0"/>
          </a:p>
          <a:p>
            <a:r>
              <a:rPr lang="zh-CN" altLang="en-US" dirty="0" smtClean="0"/>
              <a:t>阅读该领域的重要文献，了解该领域的研究历程、研究现状</a:t>
            </a:r>
          </a:p>
          <a:p>
            <a:pPr eaLnBrk="1" hangingPunct="1">
              <a:buNone/>
            </a:pPr>
            <a:endParaRPr lang="en-US" altLang="zh-CN" dirty="0" smtClean="0"/>
          </a:p>
          <a:p>
            <a:r>
              <a:rPr lang="zh-CN" altLang="en-US" dirty="0" smtClean="0"/>
              <a:t>每个领域发展的历程都是无数聪明人智慧和汗水铺就的，这里面会有一条前后衔接的线索</a:t>
            </a:r>
          </a:p>
          <a:p>
            <a:pPr>
              <a:buNone/>
            </a:pPr>
            <a:r>
              <a:rPr lang="zh-CN" altLang="en-US" dirty="0" smtClean="0">
                <a:solidFill>
                  <a:srgbClr val="00B050"/>
                </a:solidFill>
              </a:rPr>
              <a:t>某一天当你突然把头脑中杂乱的东西串成一线，你会觉得顿时豁然开朗：“啊，原来是这样！”，这时你就开始尝到研究带来的乐趣了</a:t>
            </a:r>
          </a:p>
          <a:p>
            <a:pPr eaLnBrk="1" hangingPunct="1">
              <a:buNone/>
            </a:pPr>
            <a:endParaRPr lang="en-US" altLang="zh-CN" dirty="0" smtClean="0"/>
          </a:p>
          <a:p>
            <a:pPr eaLnBrk="1" hangingPunct="1">
              <a:buNone/>
            </a:pPr>
            <a:endParaRPr lang="en-US" altLang="zh-CN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 smtClean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974" y="476672"/>
            <a:ext cx="8419062" cy="6381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研究热点的发展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2800" dirty="0"/>
              <a:t>Gartner's Hype Cycle for Emerging Technologies </a:t>
            </a:r>
            <a:endParaRPr lang="zh-CN" altLang="en-US" sz="2800" dirty="0"/>
          </a:p>
        </p:txBody>
      </p:sp>
      <p:pic>
        <p:nvPicPr>
          <p:cNvPr id="5" name="内容占位符 4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413156"/>
            <a:ext cx="7315200" cy="5415077"/>
          </a:xfrm>
        </p:spPr>
      </p:pic>
    </p:spTree>
    <p:extLst>
      <p:ext uri="{BB962C8B-B14F-4D97-AF65-F5344CB8AC3E}">
        <p14:creationId xmlns:p14="http://schemas.microsoft.com/office/powerpoint/2010/main" val="180478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smtClean="0"/>
              <a:t>Gartner's </a:t>
            </a:r>
            <a:r>
              <a:rPr lang="en-US" altLang="zh-CN" sz="2800" dirty="0"/>
              <a:t>Hype Cycle for Emerging Technologies </a:t>
            </a:r>
            <a:r>
              <a:rPr lang="en-US" altLang="zh-CN" sz="2800" dirty="0" smtClean="0"/>
              <a:t>16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414027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1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smtClean="0"/>
              <a:t>Gartner's </a:t>
            </a:r>
            <a:r>
              <a:rPr lang="en-US" altLang="zh-CN" sz="2800" dirty="0"/>
              <a:t>Hype Cycle for Emerging Technologies </a:t>
            </a:r>
            <a:r>
              <a:rPr lang="en-US" altLang="zh-CN" sz="2800" dirty="0" smtClean="0"/>
              <a:t>15</a:t>
            </a:r>
            <a:endParaRPr lang="zh-CN" altLang="en-US" sz="2800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417638"/>
            <a:ext cx="8001000" cy="5334000"/>
          </a:xfrm>
        </p:spPr>
      </p:pic>
    </p:spTree>
    <p:extLst>
      <p:ext uri="{BB962C8B-B14F-4D97-AF65-F5344CB8AC3E}">
        <p14:creationId xmlns:p14="http://schemas.microsoft.com/office/powerpoint/2010/main" val="244657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smtClean="0"/>
              <a:t>Gartner's </a:t>
            </a:r>
            <a:r>
              <a:rPr lang="en-US" altLang="zh-CN" sz="2800" dirty="0"/>
              <a:t>Hype Cycle for Emerging Technologies </a:t>
            </a:r>
            <a:r>
              <a:rPr lang="en-US" altLang="zh-CN" sz="2800" dirty="0" smtClean="0"/>
              <a:t>14</a:t>
            </a:r>
            <a:endParaRPr lang="zh-CN" altLang="en-US" sz="2800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417638"/>
            <a:ext cx="8420100" cy="5262563"/>
          </a:xfrm>
        </p:spPr>
      </p:pic>
    </p:spTree>
    <p:extLst>
      <p:ext uri="{BB962C8B-B14F-4D97-AF65-F5344CB8AC3E}">
        <p14:creationId xmlns:p14="http://schemas.microsoft.com/office/powerpoint/2010/main" val="218026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smtClean="0"/>
              <a:t>Gartner's </a:t>
            </a:r>
            <a:r>
              <a:rPr lang="en-US" altLang="zh-CN" sz="2800" dirty="0"/>
              <a:t>Hype Cycle for Emerging Technologies </a:t>
            </a:r>
            <a:r>
              <a:rPr lang="en-US" altLang="zh-CN" sz="2800" dirty="0" smtClean="0"/>
              <a:t>13</a:t>
            </a:r>
            <a:endParaRPr lang="zh-CN" altLang="en-US" sz="28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413736"/>
            <a:ext cx="8420100" cy="5262563"/>
          </a:xfrm>
        </p:spPr>
      </p:pic>
    </p:spTree>
    <p:extLst>
      <p:ext uri="{BB962C8B-B14F-4D97-AF65-F5344CB8AC3E}">
        <p14:creationId xmlns:p14="http://schemas.microsoft.com/office/powerpoint/2010/main" val="150593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smtClean="0"/>
              <a:t>Gartner's </a:t>
            </a:r>
            <a:r>
              <a:rPr lang="en-US" altLang="zh-CN" sz="2800" dirty="0"/>
              <a:t>Hype Cycle for Emerging Technologies </a:t>
            </a:r>
            <a:r>
              <a:rPr lang="en-US" altLang="zh-CN" sz="2800" dirty="0" smtClean="0"/>
              <a:t>12</a:t>
            </a:r>
            <a:endParaRPr lang="zh-CN" altLang="en-US" sz="2800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94" y="1417638"/>
            <a:ext cx="8319611" cy="5259229"/>
          </a:xfrm>
        </p:spPr>
      </p:pic>
    </p:spTree>
    <p:extLst>
      <p:ext uri="{BB962C8B-B14F-4D97-AF65-F5344CB8AC3E}">
        <p14:creationId xmlns:p14="http://schemas.microsoft.com/office/powerpoint/2010/main" val="17580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 </a:t>
            </a:r>
            <a:r>
              <a:rPr lang="zh-CN" altLang="en-US" dirty="0" smtClean="0"/>
              <a:t>如何选择</a:t>
            </a:r>
            <a:r>
              <a:rPr lang="en-US" altLang="zh-CN" dirty="0" smtClean="0"/>
              <a:t>Field</a:t>
            </a:r>
            <a:r>
              <a:rPr lang="zh-CN" altLang="en-US" dirty="0" smtClean="0"/>
              <a:t> 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None/>
            </a:pPr>
            <a:endParaRPr lang="zh-CN" altLang="en-US" dirty="0" smtClean="0"/>
          </a:p>
          <a:p>
            <a:r>
              <a:rPr lang="zh-CN" altLang="en-US" dirty="0" smtClean="0"/>
              <a:t>选择最适合你的</a:t>
            </a:r>
            <a:r>
              <a:rPr lang="en-US" altLang="zh-CN" b="1" dirty="0" smtClean="0"/>
              <a:t>topic:</a:t>
            </a:r>
          </a:p>
          <a:p>
            <a:pPr>
              <a:buNone/>
            </a:pPr>
            <a:r>
              <a:rPr lang="zh-CN" altLang="en-US" dirty="0" smtClean="0"/>
              <a:t>  ①自己的兴趣</a:t>
            </a:r>
          </a:p>
          <a:p>
            <a:pPr>
              <a:buNone/>
            </a:pPr>
            <a:r>
              <a:rPr lang="zh-CN" altLang="en-US" dirty="0" smtClean="0"/>
              <a:t>      这是最重要的！</a:t>
            </a:r>
          </a:p>
          <a:p>
            <a:pPr>
              <a:buNone/>
            </a:pPr>
            <a:r>
              <a:rPr lang="zh-CN" altLang="en-US" dirty="0" smtClean="0"/>
              <a:t>  ②自己的知识结构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 </a:t>
            </a:r>
            <a:r>
              <a:rPr lang="zh-CN" altLang="en-US" dirty="0" smtClean="0"/>
              <a:t>没有必要的知识积累，一切从头开始的话，</a:t>
            </a:r>
            <a:r>
              <a:rPr lang="en-US" altLang="zh-CN" b="1" dirty="0" smtClean="0"/>
              <a:t>……</a:t>
            </a:r>
          </a:p>
          <a:p>
            <a:pPr>
              <a:buNone/>
            </a:pPr>
            <a:r>
              <a:rPr lang="zh-CN" altLang="en-US" dirty="0" smtClean="0"/>
              <a:t>   ③能否获得必要的资源</a:t>
            </a:r>
          </a:p>
          <a:p>
            <a:pPr eaLnBrk="1" hangingPunct="1">
              <a:buNone/>
            </a:pPr>
            <a:endParaRPr lang="en-US" altLang="zh-CN" dirty="0" smtClean="0"/>
          </a:p>
          <a:p>
            <a:pPr eaLnBrk="1" hangingPunct="1">
              <a:buNone/>
            </a:pPr>
            <a:endParaRPr lang="en-US" altLang="zh-CN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 Problem</a:t>
            </a:r>
            <a:r>
              <a:rPr lang="zh-CN" altLang="en-US" dirty="0" smtClean="0"/>
              <a:t> 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None/>
            </a:pPr>
            <a:endParaRPr lang="zh-CN" altLang="en-US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“问题”是科学研究的心脏</a:t>
            </a:r>
            <a:r>
              <a:rPr lang="en-US" altLang="zh-CN" b="1" dirty="0" smtClean="0">
                <a:solidFill>
                  <a:srgbClr val="FF0000"/>
                </a:solidFill>
              </a:rPr>
              <a:t>!</a:t>
            </a:r>
          </a:p>
          <a:p>
            <a:pPr>
              <a:buNone/>
            </a:pPr>
            <a:r>
              <a:rPr lang="en-US" altLang="zh-CN" b="1" dirty="0" smtClean="0"/>
              <a:t>    </a:t>
            </a:r>
            <a:r>
              <a:rPr lang="zh-CN" altLang="en-US" b="1" dirty="0" smtClean="0"/>
              <a:t>任何有价值的研究，都是为了解决某个问题提出一个好的问题，已经成功了一半</a:t>
            </a:r>
            <a:endParaRPr lang="en-US" altLang="zh-CN" b="1" dirty="0" smtClean="0"/>
          </a:p>
          <a:p>
            <a:pPr>
              <a:buNone/>
            </a:pP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“问题”其实才是研究的真正开始</a:t>
            </a:r>
          </a:p>
          <a:p>
            <a:pPr>
              <a:buNone/>
            </a:pPr>
            <a:r>
              <a:rPr lang="en-US" altLang="zh-CN" b="1" dirty="0" smtClean="0"/>
              <a:t>      </a:t>
            </a:r>
            <a:r>
              <a:rPr lang="zh-CN" altLang="en-US" b="1" dirty="0" smtClean="0"/>
              <a:t>这可能是</a:t>
            </a:r>
            <a:r>
              <a:rPr lang="en-US" altLang="zh-CN" b="1" dirty="0" smtClean="0"/>
              <a:t>CS</a:t>
            </a:r>
            <a:r>
              <a:rPr lang="zh-CN" altLang="en-US" b="1" dirty="0" smtClean="0"/>
              <a:t>研究中最困难的部分会找问题，是具有独立研究能力的标志</a:t>
            </a:r>
            <a:endParaRPr lang="en-US" altLang="zh-CN" dirty="0" smtClean="0"/>
          </a:p>
          <a:p>
            <a:pPr eaLnBrk="1" hangingPunct="1">
              <a:buNone/>
            </a:pPr>
            <a:endParaRPr lang="en-US" altLang="zh-CN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什么是“好问题”？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重要性</a:t>
            </a:r>
            <a:endParaRPr lang="en-US" altLang="zh-CN" dirty="0" smtClean="0"/>
          </a:p>
          <a:p>
            <a:r>
              <a:rPr lang="zh-CN" altLang="en-US" dirty="0" smtClean="0"/>
              <a:t>可以获得真实数据！</a:t>
            </a:r>
            <a:endParaRPr lang="en-US" altLang="zh-CN" dirty="0" smtClean="0"/>
          </a:p>
          <a:p>
            <a:r>
              <a:rPr lang="zh-CN" altLang="en-US" dirty="0" smtClean="0"/>
              <a:t>可以递进式地取得进展</a:t>
            </a:r>
            <a:endParaRPr lang="en-US" altLang="zh-CN" dirty="0" smtClean="0"/>
          </a:p>
          <a:p>
            <a:r>
              <a:rPr lang="zh-CN" altLang="en-US" dirty="0" smtClean="0"/>
              <a:t>对“成功”有一个清晰的标准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寻找问题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阅读</a:t>
            </a:r>
            <a:r>
              <a:rPr lang="zh-CN" altLang="en-US" i="1" dirty="0" smtClean="0"/>
              <a:t>大量</a:t>
            </a:r>
            <a:r>
              <a:rPr lang="zh-CN" altLang="en-US" dirty="0" smtClean="0"/>
              <a:t>论文</a:t>
            </a:r>
            <a:endParaRPr lang="en-US" altLang="zh-CN" dirty="0" smtClean="0"/>
          </a:p>
          <a:p>
            <a:r>
              <a:rPr lang="zh-CN" altLang="en-US" dirty="0" smtClean="0"/>
              <a:t>与领域专家深入合作是丰富的问题来源！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领域专家可以很好地帮助解决</a:t>
            </a:r>
            <a:r>
              <a:rPr lang="en-US" altLang="zh-CN" dirty="0" smtClean="0"/>
              <a:t>motivation</a:t>
            </a:r>
            <a:r>
              <a:rPr lang="zh-CN" altLang="en-US" dirty="0" smtClean="0"/>
              <a:t>问题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领域专家常常有经费支持，有实习职位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领域专家作为论文的合作者，会提高可信度</a:t>
            </a:r>
            <a:endParaRPr lang="en-US" altLang="zh-CN" dirty="0" smtClean="0"/>
          </a:p>
          <a:p>
            <a:r>
              <a:rPr lang="zh-CN" altLang="en-US" dirty="0" smtClean="0"/>
              <a:t>捕捉领域专家的</a:t>
            </a:r>
            <a:r>
              <a:rPr lang="zh-CN" altLang="en-US" i="1" dirty="0" smtClean="0"/>
              <a:t>潜在</a:t>
            </a:r>
            <a:r>
              <a:rPr lang="zh-CN" altLang="en-US" dirty="0" smtClean="0"/>
              <a:t>需求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寻找问题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/>
              <a:t>你觉得</a:t>
            </a:r>
            <a:r>
              <a:rPr lang="en-US" altLang="zh-CN" sz="2400" dirty="0" smtClean="0"/>
              <a:t>idea X</a:t>
            </a:r>
            <a:r>
              <a:rPr lang="zh-CN" altLang="en-US" sz="2400" dirty="0" smtClean="0"/>
              <a:t>很好，那么你能否扩展它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使它更准确（统计意义上准确得多）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使它更快（通常需要有数量级上的差别）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把它变成</a:t>
            </a:r>
            <a:r>
              <a:rPr lang="en-US" altLang="zh-CN" sz="2000" dirty="0" smtClean="0"/>
              <a:t>anytime algorithm</a:t>
            </a:r>
          </a:p>
          <a:p>
            <a:pPr lvl="1"/>
            <a:r>
              <a:rPr lang="zh-CN" altLang="en-US" sz="2000" dirty="0" smtClean="0"/>
              <a:t>把它变成</a:t>
            </a:r>
            <a:r>
              <a:rPr lang="en-US" altLang="zh-CN" sz="2000" dirty="0" smtClean="0"/>
              <a:t>online algorithm</a:t>
            </a:r>
          </a:p>
          <a:p>
            <a:pPr lvl="1"/>
            <a:r>
              <a:rPr lang="zh-CN" altLang="en-US" sz="2000" dirty="0" smtClean="0"/>
              <a:t>适用于不同数据类型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适用于低功耗的设备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解释它为何这么好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变成分布式算法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应用在一个新设置中（</a:t>
            </a:r>
            <a:r>
              <a:rPr lang="en-US" altLang="zh-CN" sz="2000" dirty="0" smtClean="0"/>
              <a:t>industrial track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去掉一个参数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假设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变成适合外存储的算法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使它变得更简单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我们的经验（一）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种系发生算法</a:t>
            </a:r>
            <a:r>
              <a:rPr lang="en-US" altLang="zh-CN" sz="2800" dirty="0" err="1" smtClean="0"/>
              <a:t>MrBayes</a:t>
            </a:r>
            <a:r>
              <a:rPr lang="zh-CN" altLang="en-US" sz="2800" dirty="0" smtClean="0"/>
              <a:t>的并行算法研究</a:t>
            </a:r>
            <a:endParaRPr lang="en-US" altLang="zh-CN" sz="2800" dirty="0" smtClean="0"/>
          </a:p>
        </p:txBody>
      </p:sp>
      <p:pic>
        <p:nvPicPr>
          <p:cNvPr id="4" name="内容占位符 6" descr="toloverview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2100" y="2394168"/>
            <a:ext cx="3222308" cy="3627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9534" y="2356827"/>
            <a:ext cx="3660458" cy="388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我们的经验（一）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系统发育推断算法</a:t>
            </a:r>
            <a:r>
              <a:rPr lang="en-US" altLang="zh-CN" sz="2800" dirty="0" err="1" smtClean="0"/>
              <a:t>MrBayes</a:t>
            </a:r>
            <a:r>
              <a:rPr lang="zh-CN" altLang="en-US" sz="2800" dirty="0" smtClean="0"/>
              <a:t>的并行算法研究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重要性：</a:t>
            </a:r>
            <a:r>
              <a:rPr lang="en-US" altLang="zh-CN" sz="2400" dirty="0" err="1" smtClean="0"/>
              <a:t>MrBayes</a:t>
            </a:r>
            <a:r>
              <a:rPr lang="zh-CN" altLang="en-US" sz="2400" dirty="0" smtClean="0"/>
              <a:t>在相关研究中占</a:t>
            </a:r>
            <a:r>
              <a:rPr lang="en-US" altLang="zh-CN" sz="2400" dirty="0" smtClean="0"/>
              <a:t>50%</a:t>
            </a:r>
            <a:r>
              <a:rPr lang="zh-CN" altLang="en-US" sz="2400" dirty="0" smtClean="0"/>
              <a:t>以上“份额”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数据：生命科学院卜文俊老师、谢强老师研究团队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递进进展：多线程</a:t>
            </a:r>
            <a:r>
              <a:rPr lang="en-US" altLang="zh-CN" sz="2400" dirty="0" smtClean="0">
                <a:sym typeface="Wingdings" pitchFamily="2" charset="2"/>
              </a:rPr>
              <a:t></a:t>
            </a:r>
            <a:r>
              <a:rPr lang="zh-CN" altLang="en-US" sz="2400" dirty="0" smtClean="0">
                <a:sym typeface="Wingdings" pitchFamily="2" charset="2"/>
              </a:rPr>
              <a:t>多线程</a:t>
            </a:r>
            <a:r>
              <a:rPr lang="en-US" altLang="zh-CN" sz="2400" dirty="0" smtClean="0">
                <a:sym typeface="Wingdings" pitchFamily="2" charset="2"/>
              </a:rPr>
              <a:t>+MPIGPUGPU</a:t>
            </a:r>
            <a:r>
              <a:rPr lang="zh-CN" altLang="en-US" sz="2400" dirty="0" smtClean="0">
                <a:sym typeface="Wingdings" pitchFamily="2" charset="2"/>
              </a:rPr>
              <a:t>集群</a:t>
            </a:r>
            <a:endParaRPr lang="en-US" altLang="zh-CN" sz="2400" dirty="0" smtClean="0">
              <a:sym typeface="Wingdings" pitchFamily="2" charset="2"/>
            </a:endParaRPr>
          </a:p>
          <a:p>
            <a:pPr lvl="1"/>
            <a:r>
              <a:rPr lang="zh-CN" altLang="en-US" sz="2400" dirty="0" smtClean="0"/>
              <a:t>成功标准：保证正确性前提下加速计算性能</a:t>
            </a:r>
            <a:endParaRPr lang="en-US" altLang="zh-CN" sz="2400" dirty="0" smtClean="0"/>
          </a:p>
          <a:p>
            <a:pPr>
              <a:buNone/>
            </a:pP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GPU</a:t>
            </a:r>
            <a:r>
              <a:rPr lang="zh-CN" altLang="en-US" sz="2800" dirty="0" smtClean="0"/>
              <a:t>算法：</a:t>
            </a:r>
            <a:r>
              <a:rPr lang="en-US" altLang="zh-CN" sz="2800" dirty="0" smtClean="0"/>
              <a:t>Bioinformatics, Vol. 27 (9), IF: 5.323</a:t>
            </a:r>
          </a:p>
          <a:p>
            <a:pPr>
              <a:buNone/>
            </a:pPr>
            <a:r>
              <a:rPr lang="zh-CN" altLang="en-US" sz="2800" dirty="0" smtClean="0"/>
              <a:t>高伸缩性算法：</a:t>
            </a:r>
            <a:r>
              <a:rPr lang="en-US" altLang="zh-CN" sz="2800" dirty="0" smtClean="0"/>
              <a:t>MBE, Vol 30(6), IF: 10.353</a:t>
            </a:r>
          </a:p>
          <a:p>
            <a:pPr>
              <a:buNone/>
            </a:pPr>
            <a:r>
              <a:rPr lang="zh-CN" altLang="en-US" sz="2800" dirty="0" smtClean="0"/>
              <a:t>适合基因大数据的算法：</a:t>
            </a:r>
            <a:r>
              <a:rPr lang="en-US" altLang="zh-CN" sz="2800" dirty="0" smtClean="0"/>
              <a:t>MBE, </a:t>
            </a:r>
            <a:r>
              <a:rPr lang="en-US" altLang="zh-CN" sz="2800" dirty="0"/>
              <a:t>Vol </a:t>
            </a:r>
            <a:r>
              <a:rPr lang="en-US" altLang="zh-CN" sz="2800" dirty="0" smtClean="0"/>
              <a:t>30(9), </a:t>
            </a:r>
            <a:r>
              <a:rPr lang="en-US" altLang="zh-CN" sz="2800" dirty="0"/>
              <a:t>IF: </a:t>
            </a:r>
            <a:r>
              <a:rPr lang="en-US" altLang="zh-CN" sz="2800" dirty="0" smtClean="0"/>
              <a:t>13.649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我们的经验（二）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搜索引擎倒排索引求交操作并行算法的研究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重要性：搜索引擎请求处理最耗时的操作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数据：百度公司，大量公开数据集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递进进展：</a:t>
            </a:r>
            <a:r>
              <a:rPr lang="en-US" altLang="zh-CN" sz="2400" dirty="0" smtClean="0"/>
              <a:t>GPU</a:t>
            </a:r>
            <a:r>
              <a:rPr lang="zh-CN" altLang="en-US" sz="2400" dirty="0" smtClean="0"/>
              <a:t>批次算法</a:t>
            </a:r>
            <a:r>
              <a:rPr lang="en-US" altLang="zh-CN" sz="2400" dirty="0" smtClean="0">
                <a:sym typeface="Wingdings" pitchFamily="2" charset="2"/>
              </a:rPr>
              <a:t>CPU/GPU</a:t>
            </a:r>
            <a:r>
              <a:rPr lang="zh-CN" altLang="en-US" sz="2400" dirty="0" smtClean="0">
                <a:sym typeface="Wingdings" pitchFamily="2" charset="2"/>
              </a:rPr>
              <a:t>混合调度算法</a:t>
            </a:r>
            <a:r>
              <a:rPr lang="en-US" altLang="zh-CN" sz="2400" dirty="0" smtClean="0">
                <a:sym typeface="Wingdings" pitchFamily="2" charset="2"/>
              </a:rPr>
              <a:t></a:t>
            </a:r>
            <a:r>
              <a:rPr lang="zh-CN" altLang="en-US" sz="2400" dirty="0" smtClean="0">
                <a:sym typeface="Wingdings" pitchFamily="2" charset="2"/>
              </a:rPr>
              <a:t>基于线性回归的</a:t>
            </a:r>
            <a:r>
              <a:rPr lang="en-US" altLang="zh-CN" sz="2400" dirty="0" smtClean="0">
                <a:sym typeface="Wingdings" pitchFamily="2" charset="2"/>
              </a:rPr>
              <a:t>GPU</a:t>
            </a:r>
            <a:r>
              <a:rPr lang="zh-CN" altLang="en-US" sz="2400" dirty="0" smtClean="0">
                <a:sym typeface="Wingdings" pitchFamily="2" charset="2"/>
              </a:rPr>
              <a:t>求交</a:t>
            </a:r>
            <a:r>
              <a:rPr lang="en-US" altLang="zh-CN" sz="2400" dirty="0" smtClean="0">
                <a:sym typeface="Wingdings" pitchFamily="2" charset="2"/>
              </a:rPr>
              <a:t>/</a:t>
            </a:r>
            <a:r>
              <a:rPr lang="zh-CN" altLang="en-US" sz="2400" dirty="0" smtClean="0">
                <a:sym typeface="Wingdings" pitchFamily="2" charset="2"/>
              </a:rPr>
              <a:t>压缩算法</a:t>
            </a:r>
            <a:r>
              <a:rPr lang="en-US" altLang="zh-CN" sz="2400" dirty="0" smtClean="0">
                <a:sym typeface="Wingdings" panose="05000000000000000000" pitchFamily="2" charset="2"/>
              </a:rPr>
              <a:t></a:t>
            </a:r>
            <a:r>
              <a:rPr lang="zh-CN" altLang="en-US" sz="2400" dirty="0" smtClean="0">
                <a:sym typeface="Wingdings" panose="05000000000000000000" pitchFamily="2" charset="2"/>
              </a:rPr>
              <a:t>文法压缩算法</a:t>
            </a:r>
            <a:endParaRPr lang="en-US" altLang="zh-CN" sz="2400" dirty="0" smtClean="0">
              <a:sym typeface="Wingdings" pitchFamily="2" charset="2"/>
            </a:endParaRPr>
          </a:p>
          <a:p>
            <a:pPr lvl="1"/>
            <a:r>
              <a:rPr lang="zh-CN" altLang="en-US" sz="2400" dirty="0" smtClean="0"/>
              <a:t>成功标准：更高的吞吐率</a:t>
            </a:r>
            <a:endParaRPr lang="en-US" altLang="zh-CN" sz="2400" dirty="0" smtClean="0"/>
          </a:p>
          <a:p>
            <a:pPr>
              <a:buNone/>
            </a:pPr>
            <a:endParaRPr lang="en-US" altLang="zh-CN" sz="2800" dirty="0" smtClean="0"/>
          </a:p>
          <a:p>
            <a:pPr>
              <a:buNone/>
            </a:pPr>
            <a:r>
              <a:rPr lang="zh-CN" altLang="en-US" sz="2800" dirty="0" smtClean="0"/>
              <a:t>线性回归算法：</a:t>
            </a:r>
            <a:r>
              <a:rPr lang="en-US" altLang="zh-CN" sz="2800" dirty="0" smtClean="0"/>
              <a:t>VLDB 2011</a:t>
            </a:r>
          </a:p>
          <a:p>
            <a:pPr>
              <a:buNone/>
            </a:pPr>
            <a:r>
              <a:rPr lang="zh-CN" altLang="en-US" sz="2800" dirty="0" smtClean="0"/>
              <a:t>延伸</a:t>
            </a:r>
            <a:r>
              <a:rPr lang="en-US" altLang="zh-CN" sz="2800" dirty="0" smtClean="0">
                <a:sym typeface="Wingdings" pitchFamily="2" charset="2"/>
              </a:rPr>
              <a:t></a:t>
            </a:r>
            <a:r>
              <a:rPr lang="zh-CN" altLang="en-US" sz="2800" dirty="0" smtClean="0">
                <a:sym typeface="Wingdings" pitchFamily="2" charset="2"/>
              </a:rPr>
              <a:t>倒排索引</a:t>
            </a:r>
            <a:r>
              <a:rPr lang="en-US" altLang="zh-CN" sz="2800" dirty="0" smtClean="0">
                <a:sym typeface="Wingdings" pitchFamily="2" charset="2"/>
              </a:rPr>
              <a:t>cache</a:t>
            </a:r>
            <a:r>
              <a:rPr lang="zh-CN" altLang="en-US" sz="2800" dirty="0" smtClean="0">
                <a:sym typeface="Wingdings" pitchFamily="2" charset="2"/>
              </a:rPr>
              <a:t>算法</a:t>
            </a:r>
            <a:r>
              <a:rPr lang="zh-CN" altLang="en-US" sz="2800" dirty="0" smtClean="0"/>
              <a:t>：</a:t>
            </a:r>
            <a:r>
              <a:rPr lang="en-US" altLang="zh-CN" sz="2800" dirty="0" smtClean="0"/>
              <a:t>SIGIR </a:t>
            </a:r>
            <a:r>
              <a:rPr lang="en-US" altLang="zh-CN" sz="2800" dirty="0"/>
              <a:t>2013/ TOIS 2014, </a:t>
            </a:r>
            <a:r>
              <a:rPr lang="en-US" altLang="zh-CN" sz="2800" dirty="0" smtClean="0"/>
              <a:t/>
            </a:r>
            <a:br>
              <a:rPr lang="en-US" altLang="zh-CN" sz="2800" dirty="0" smtClean="0"/>
            </a:br>
            <a:r>
              <a:rPr lang="en-US" altLang="zh-CN" sz="2800" dirty="0" smtClean="0"/>
              <a:t>CIKM 2013, SIGIR 2015</a:t>
            </a:r>
          </a:p>
          <a:p>
            <a:pPr>
              <a:buNone/>
            </a:pPr>
            <a:r>
              <a:rPr lang="zh-CN" altLang="en-US" sz="2800" dirty="0" smtClean="0"/>
              <a:t>基于文法的压缩：</a:t>
            </a:r>
            <a:r>
              <a:rPr lang="en-US" altLang="zh-CN" sz="2800" dirty="0" smtClean="0"/>
              <a:t>SIGIR 2016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问题描述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smtClean="0"/>
              <a:t>X is good for Y (in the context of Z).</a:t>
            </a:r>
          </a:p>
          <a:p>
            <a:r>
              <a:rPr lang="en-US" altLang="zh-CN" sz="2800" dirty="0" smtClean="0"/>
              <a:t>X can be extended to achieve Y (in the context of Z).</a:t>
            </a:r>
          </a:p>
          <a:p>
            <a:r>
              <a:rPr lang="en-US" altLang="zh-CN" sz="2800" dirty="0" smtClean="0"/>
              <a:t>The adoption of X facilitates Y (for data in Z format).</a:t>
            </a:r>
          </a:p>
          <a:p>
            <a:r>
              <a:rPr lang="en-US" altLang="zh-CN" sz="2800" dirty="0" smtClean="0"/>
              <a:t>An X approach to the problem of Y mitigates the need for Z.</a:t>
            </a:r>
          </a:p>
          <a:p>
            <a:pPr>
              <a:buNone/>
            </a:pPr>
            <a:r>
              <a:rPr lang="en-US" altLang="zh-CN" sz="2800" dirty="0" smtClean="0"/>
              <a:t>(An anytime algorithm approach to the problem of nearest neighbor classification mitigates the need for high performance hardware)  (Ueno et al. ICDM 06)</a:t>
            </a:r>
          </a:p>
          <a:p>
            <a:pPr>
              <a:buNone/>
            </a:pPr>
            <a:r>
              <a:rPr lang="zh-CN" altLang="en-US" sz="2800" dirty="0" smtClean="0"/>
              <a:t>注意：可证伪性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数据！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真实（大）数据集会极大提高论文的机会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避免你纠缠于不切实际的方法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反馈到寻找和描述问题的阶段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5636" y="3348201"/>
            <a:ext cx="4228572" cy="3177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获取数据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自己收集</a:t>
            </a:r>
            <a:endParaRPr lang="en-US" altLang="zh-CN" dirty="0" smtClean="0"/>
          </a:p>
          <a:p>
            <a:r>
              <a:rPr lang="zh-CN" altLang="en-US" dirty="0" smtClean="0"/>
              <a:t>与领域专家合作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7" y="2778472"/>
            <a:ext cx="9142413" cy="309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开展研究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尽量避免复杂的方法</a:t>
            </a:r>
            <a:endParaRPr lang="en-US" altLang="zh-CN" dirty="0" smtClean="0"/>
          </a:p>
          <a:p>
            <a:pPr>
              <a:buNone/>
            </a:pPr>
            <a:r>
              <a:rPr lang="zh-CN" altLang="en-US" sz="2400" dirty="0" smtClean="0"/>
              <a:t>“</a:t>
            </a:r>
            <a:r>
              <a:rPr lang="en-US" altLang="zh-CN" sz="2400" dirty="0" smtClean="0"/>
              <a:t>This forecasting model integrates a case based reasoning  (CBR) technique, a Fuzzy Decision Tree (FDT), and  Genetic Algorithms (GA) to construct a decision-making  system based on historical data and technical indexes.</a:t>
            </a:r>
            <a:r>
              <a:rPr lang="zh-CN" altLang="en-US" sz="2400" dirty="0" smtClean="0"/>
              <a:t>”</a:t>
            </a:r>
            <a:endParaRPr lang="en-US" altLang="zh-CN" sz="2400" dirty="0" smtClean="0"/>
          </a:p>
          <a:p>
            <a:pPr>
              <a:buNone/>
            </a:pP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“…it reinforces our claim that our methods are very </a:t>
            </a:r>
            <a:r>
              <a:rPr lang="en-US" altLang="zh-CN" sz="2400" b="1" dirty="0" smtClean="0"/>
              <a:t>simple</a:t>
            </a:r>
            <a:r>
              <a:rPr lang="en-US" altLang="zh-CN" sz="2400" dirty="0" smtClean="0"/>
              <a:t> to implement.. ..Before explaining our </a:t>
            </a:r>
            <a:r>
              <a:rPr lang="en-US" altLang="zh-CN" sz="2400" b="1" dirty="0" smtClean="0"/>
              <a:t>simple</a:t>
            </a:r>
            <a:r>
              <a:rPr lang="en-US" altLang="zh-CN" sz="2400" dirty="0" smtClean="0"/>
              <a:t> solution this problem……we can objectively discover the anomaly using the </a:t>
            </a:r>
            <a:r>
              <a:rPr lang="en-US" altLang="zh-CN" sz="2400" b="1" dirty="0" smtClean="0"/>
              <a:t>simple</a:t>
            </a:r>
            <a:r>
              <a:rPr lang="en-US" altLang="zh-CN" sz="2400" dirty="0" smtClean="0"/>
              <a:t> algorithm…” SIGKDD04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技术手段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问题松弛</a:t>
            </a:r>
            <a:endParaRPr lang="en-US" altLang="zh-CN" dirty="0" smtClean="0"/>
          </a:p>
          <a:p>
            <a:r>
              <a:rPr lang="zh-CN" altLang="en-US" dirty="0" smtClean="0"/>
              <a:t>从其他领域寻求解决方案</a:t>
            </a:r>
            <a:endParaRPr lang="en-US" altLang="zh-CN" dirty="0" smtClean="0"/>
          </a:p>
          <a:p>
            <a:r>
              <a:rPr lang="zh-CN" altLang="en-US" dirty="0" smtClean="0"/>
              <a:t>从简单</a:t>
            </a:r>
            <a:r>
              <a:rPr lang="en-US" altLang="zh-CN" dirty="0" smtClean="0"/>
              <a:t>idea</a:t>
            </a:r>
            <a:r>
              <a:rPr lang="zh-CN" altLang="en-US" dirty="0" smtClean="0"/>
              <a:t>开始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简单</a:t>
            </a:r>
            <a:r>
              <a:rPr lang="en-US" altLang="zh-CN" dirty="0" smtClean="0"/>
              <a:t>idea</a:t>
            </a:r>
            <a:r>
              <a:rPr lang="zh-CN" altLang="en-US" dirty="0" smtClean="0"/>
              <a:t>非常奏效的情况比你想象的多得多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你的方法是最好的方法需要证明</a:t>
            </a:r>
            <a:endParaRPr lang="en-US" altLang="zh-CN" dirty="0" smtClean="0"/>
          </a:p>
          <a:p>
            <a:r>
              <a:rPr lang="zh-CN" altLang="en-US" dirty="0" smtClean="0"/>
              <a:t>避免不存在的问题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我们的经验（一）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数据中心硬盘故障预测模型的研究</a:t>
            </a:r>
            <a:endParaRPr lang="en-US" altLang="zh-CN" sz="2800" dirty="0" smtClean="0"/>
          </a:p>
          <a:p>
            <a:pPr lvl="1"/>
            <a:r>
              <a:rPr lang="zh-CN" altLang="en-US" sz="2400" dirty="0"/>
              <a:t>重要性</a:t>
            </a:r>
            <a:r>
              <a:rPr lang="zh-CN" altLang="en-US" sz="2400" dirty="0" smtClean="0"/>
              <a:t>：百度公司数据中心，</a:t>
            </a:r>
            <a:r>
              <a:rPr lang="en-US" altLang="zh-CN" sz="2400" dirty="0" smtClean="0"/>
              <a:t>8</a:t>
            </a:r>
            <a:r>
              <a:rPr lang="zh-CN" altLang="en-US" sz="2400" dirty="0"/>
              <a:t>万台服务器，百万块硬盘，</a:t>
            </a:r>
            <a:r>
              <a:rPr lang="zh-CN" altLang="en-US" sz="2400" dirty="0">
                <a:solidFill>
                  <a:srgbClr val="FF0000"/>
                </a:solidFill>
              </a:rPr>
              <a:t>每月更换</a:t>
            </a:r>
            <a:r>
              <a:rPr lang="en-US" altLang="zh-CN" sz="2400" dirty="0">
                <a:solidFill>
                  <a:srgbClr val="FF0000"/>
                </a:solidFill>
              </a:rPr>
              <a:t>3000-4000</a:t>
            </a:r>
            <a:r>
              <a:rPr lang="zh-CN" altLang="en-US" sz="2400" dirty="0">
                <a:solidFill>
                  <a:srgbClr val="FF0000"/>
                </a:solidFill>
              </a:rPr>
              <a:t>块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数据：百度公司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奇</a:t>
            </a:r>
            <a:r>
              <a:rPr lang="zh-CN" altLang="en-US" sz="2400" dirty="0" smtClean="0"/>
              <a:t>虎</a:t>
            </a:r>
            <a:r>
              <a:rPr lang="en-US" altLang="zh-CN" sz="2400" dirty="0" smtClean="0"/>
              <a:t>360</a:t>
            </a:r>
            <a:r>
              <a:rPr lang="zh-CN" altLang="en-US" sz="2400" dirty="0" smtClean="0"/>
              <a:t>公司</a:t>
            </a:r>
            <a:endParaRPr lang="en-US" altLang="zh-CN" sz="2400" dirty="0"/>
          </a:p>
          <a:p>
            <a:pPr lvl="1"/>
            <a:r>
              <a:rPr lang="zh-CN" altLang="en-US" sz="2400" dirty="0"/>
              <a:t>递进进展</a:t>
            </a:r>
            <a:r>
              <a:rPr lang="zh-CN" altLang="en-US" sz="2400" dirty="0" smtClean="0"/>
              <a:t>：新的更高效的预测模型</a:t>
            </a:r>
            <a:r>
              <a:rPr lang="en-US" altLang="zh-CN" sz="2400" dirty="0" smtClean="0">
                <a:sym typeface="Wingdings" pitchFamily="2" charset="2"/>
              </a:rPr>
              <a:t></a:t>
            </a:r>
            <a:r>
              <a:rPr lang="zh-CN" altLang="en-US" sz="2400" dirty="0" smtClean="0">
                <a:sym typeface="Wingdings" pitchFamily="2" charset="2"/>
              </a:rPr>
              <a:t>性能更稳定、更适合数据中心场景的预测模型</a:t>
            </a:r>
            <a:r>
              <a:rPr lang="en-US" altLang="zh-CN" sz="2400" dirty="0" smtClean="0">
                <a:sym typeface="Wingdings" pitchFamily="2" charset="2"/>
              </a:rPr>
              <a:t></a:t>
            </a:r>
            <a:r>
              <a:rPr lang="zh-CN" altLang="en-US" sz="2400" dirty="0" smtClean="0">
                <a:sym typeface="Wingdings" pitchFamily="2" charset="2"/>
              </a:rPr>
              <a:t>更好地挖掘问题特征，更多的预测结果</a:t>
            </a:r>
            <a:r>
              <a:rPr lang="en-US" altLang="zh-CN" sz="2400" dirty="0" smtClean="0">
                <a:sym typeface="Wingdings" pitchFamily="2" charset="2"/>
              </a:rPr>
              <a:t></a:t>
            </a:r>
            <a:r>
              <a:rPr lang="zh-CN" altLang="en-US" sz="2400" dirty="0" smtClean="0">
                <a:sym typeface="Wingdings" pitchFamily="2" charset="2"/>
              </a:rPr>
              <a:t>更好地融入云存储系统</a:t>
            </a:r>
            <a:endParaRPr lang="en-US" altLang="zh-CN" sz="2400" dirty="0">
              <a:sym typeface="Wingdings" pitchFamily="2" charset="2"/>
            </a:endParaRPr>
          </a:p>
          <a:p>
            <a:pPr lvl="1"/>
            <a:r>
              <a:rPr lang="zh-CN" altLang="en-US" sz="2400" dirty="0"/>
              <a:t>成功标准</a:t>
            </a:r>
            <a:r>
              <a:rPr lang="zh-CN" altLang="en-US" sz="2400" dirty="0" smtClean="0"/>
              <a:t>：预测准确率更高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我们的经验（一续）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数据中心硬盘故障预测模型的研究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前人研究：预测准确率</a:t>
            </a:r>
            <a:r>
              <a:rPr lang="en-US" altLang="zh-CN" sz="2400" dirty="0" smtClean="0"/>
              <a:t>60%</a:t>
            </a:r>
            <a:r>
              <a:rPr lang="zh-CN" altLang="en-US" sz="2400" dirty="0" smtClean="0"/>
              <a:t>，误报率</a:t>
            </a:r>
            <a:r>
              <a:rPr lang="en-US" altLang="zh-CN" sz="2400" dirty="0" smtClean="0"/>
              <a:t>0.5%</a:t>
            </a:r>
            <a:r>
              <a:rPr lang="zh-CN" altLang="en-US" sz="2400" dirty="0" smtClean="0"/>
              <a:t>，数据规模</a:t>
            </a:r>
            <a:endParaRPr lang="en-US" altLang="zh-CN" sz="2400" dirty="0" smtClean="0"/>
          </a:p>
          <a:p>
            <a:pPr lvl="2"/>
            <a:r>
              <a:rPr lang="en-US" altLang="zh-CN" sz="2000" dirty="0" smtClean="0"/>
              <a:t>1927</a:t>
            </a:r>
            <a:r>
              <a:rPr lang="zh-CN" altLang="en-US" sz="2000" dirty="0" smtClean="0"/>
              <a:t>块好盘，</a:t>
            </a:r>
            <a:r>
              <a:rPr lang="en-US" altLang="zh-CN" sz="2000" dirty="0" smtClean="0"/>
              <a:t>9</a:t>
            </a:r>
            <a:r>
              <a:rPr lang="zh-CN" altLang="en-US" sz="2000" dirty="0" smtClean="0"/>
              <a:t>块坏盘</a:t>
            </a:r>
            <a:endParaRPr lang="en-US" altLang="zh-CN" sz="2000" dirty="0" smtClean="0"/>
          </a:p>
          <a:p>
            <a:pPr lvl="2"/>
            <a:r>
              <a:rPr lang="en-US" altLang="zh-CN" sz="2000" dirty="0" smtClean="0"/>
              <a:t>3708</a:t>
            </a:r>
            <a:r>
              <a:rPr lang="zh-CN" altLang="en-US" sz="2000" dirty="0" smtClean="0"/>
              <a:t>块好盘，</a:t>
            </a:r>
            <a:r>
              <a:rPr lang="en-US" altLang="zh-CN" sz="2000" dirty="0" smtClean="0"/>
              <a:t>36</a:t>
            </a:r>
            <a:r>
              <a:rPr lang="zh-CN" altLang="en-US" sz="2000" dirty="0" smtClean="0"/>
              <a:t>块坏盘</a:t>
            </a:r>
            <a:endParaRPr lang="en-US" altLang="zh-CN" sz="2000" dirty="0" smtClean="0"/>
          </a:p>
          <a:p>
            <a:pPr lvl="2"/>
            <a:r>
              <a:rPr lang="en-US" altLang="zh-CN" sz="2000" dirty="0" smtClean="0"/>
              <a:t>369</a:t>
            </a:r>
            <a:r>
              <a:rPr lang="zh-CN" altLang="en-US" sz="2000" dirty="0" smtClean="0"/>
              <a:t>块硬盘，好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坏近乎一半一半</a:t>
            </a:r>
            <a:endParaRPr lang="en-US" altLang="zh-CN" sz="2000" dirty="0" smtClean="0"/>
          </a:p>
          <a:p>
            <a:pPr lvl="1"/>
            <a:r>
              <a:rPr lang="zh-CN" altLang="en-US" sz="2400" dirty="0" smtClean="0"/>
              <a:t>我们的数据规模</a:t>
            </a:r>
            <a:endParaRPr lang="en-US" altLang="zh-CN" sz="2400" dirty="0" smtClean="0"/>
          </a:p>
          <a:p>
            <a:pPr lvl="2"/>
            <a:r>
              <a:rPr lang="en-US" altLang="zh-CN" sz="2000" dirty="0" smtClean="0"/>
              <a:t>22962</a:t>
            </a:r>
            <a:r>
              <a:rPr lang="zh-CN" altLang="en-US" sz="2000" dirty="0" smtClean="0"/>
              <a:t>块好盘（一周</a:t>
            </a:r>
            <a:r>
              <a:rPr lang="en-US" altLang="zh-CN" sz="2000" dirty="0" smtClean="0"/>
              <a:t>SMART</a:t>
            </a:r>
            <a:r>
              <a:rPr lang="zh-CN" altLang="en-US" sz="2000" dirty="0" smtClean="0"/>
              <a:t>记录），</a:t>
            </a:r>
            <a:r>
              <a:rPr lang="en-US" altLang="zh-CN" sz="2000" dirty="0" smtClean="0"/>
              <a:t>433</a:t>
            </a:r>
            <a:r>
              <a:rPr lang="zh-CN" altLang="en-US" sz="2000" dirty="0" smtClean="0"/>
              <a:t>块坏盘（</a:t>
            </a:r>
            <a:r>
              <a:rPr lang="en-US" altLang="zh-CN" sz="2000" dirty="0" smtClean="0"/>
              <a:t>20</a:t>
            </a:r>
            <a:r>
              <a:rPr lang="zh-CN" altLang="en-US" sz="2000" dirty="0" smtClean="0"/>
              <a:t>天）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模型训练和使用（测试）更接近实际应用场景</a:t>
            </a:r>
            <a:endParaRPr lang="en-US" altLang="zh-CN" sz="2000" dirty="0" smtClean="0"/>
          </a:p>
          <a:p>
            <a:pPr lvl="2"/>
            <a:r>
              <a:rPr lang="en-US" altLang="zh-CN" sz="2000" dirty="0" smtClean="0"/>
              <a:t>BP-ANN</a:t>
            </a:r>
            <a:r>
              <a:rPr lang="zh-CN" altLang="en-US" sz="2000" dirty="0" smtClean="0"/>
              <a:t>模型：</a:t>
            </a:r>
            <a:r>
              <a:rPr lang="en-US" altLang="zh-CN" sz="2000" dirty="0" smtClean="0"/>
              <a:t>95%</a:t>
            </a:r>
            <a:r>
              <a:rPr lang="zh-CN" altLang="en-US" sz="2000" dirty="0" smtClean="0"/>
              <a:t>准确率，误报率</a:t>
            </a:r>
            <a:r>
              <a:rPr lang="en-US" altLang="zh-CN" sz="2000" dirty="0" smtClean="0"/>
              <a:t>0.3%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IEEE MSST 2013</a:t>
            </a:r>
          </a:p>
          <a:p>
            <a:pPr lvl="2"/>
            <a:r>
              <a:rPr lang="zh-CN" altLang="en-US" sz="2000" dirty="0" smtClean="0"/>
              <a:t>决策树：更好准确率，更好解释性，</a:t>
            </a:r>
            <a:r>
              <a:rPr lang="en-US" altLang="zh-CN" sz="2000" dirty="0" smtClean="0"/>
              <a:t>DSN 2014</a:t>
            </a:r>
          </a:p>
          <a:p>
            <a:pPr lvl="2"/>
            <a:r>
              <a:rPr lang="en-US" altLang="zh-CN" sz="2000" dirty="0" smtClean="0"/>
              <a:t>RNN</a:t>
            </a:r>
            <a:r>
              <a:rPr lang="zh-CN" altLang="en-US" sz="2000" dirty="0" smtClean="0"/>
              <a:t>：利用问题的时序特征，预测剩余寿命，</a:t>
            </a:r>
            <a:r>
              <a:rPr lang="en-US" altLang="zh-CN" sz="2000" dirty="0" smtClean="0"/>
              <a:t>IEEE TOC 2016</a:t>
            </a:r>
          </a:p>
          <a:p>
            <a:pPr lvl="2"/>
            <a:r>
              <a:rPr lang="en-US" altLang="zh-CN" sz="2000" dirty="0" smtClean="0"/>
              <a:t>GBRT</a:t>
            </a:r>
            <a:r>
              <a:rPr lang="zh-CN" altLang="en-US" sz="2000" dirty="0" smtClean="0"/>
              <a:t>：新的评价标准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数据迁移率，</a:t>
            </a:r>
            <a:r>
              <a:rPr lang="en-US" altLang="zh-CN" sz="2000" dirty="0" smtClean="0"/>
              <a:t>SRDS 2016</a:t>
            </a:r>
          </a:p>
        </p:txBody>
      </p:sp>
    </p:spTree>
    <p:extLst>
      <p:ext uri="{BB962C8B-B14F-4D97-AF65-F5344CB8AC3E}">
        <p14:creationId xmlns:p14="http://schemas.microsoft.com/office/powerpoint/2010/main" val="143125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小结 </a:t>
            </a:r>
            <a:r>
              <a:rPr lang="en-US" altLang="zh-CN" dirty="0" smtClean="0"/>
              <a:t>F</a:t>
            </a:r>
            <a:r>
              <a:rPr lang="zh-CN" altLang="en-US" dirty="0" smtClean="0"/>
              <a:t> </a:t>
            </a:r>
            <a:r>
              <a:rPr lang="en-US" altLang="zh-CN" dirty="0" smtClean="0"/>
              <a:t>P I C</a:t>
            </a:r>
            <a:r>
              <a:rPr lang="zh-CN" altLang="en-US" dirty="0" smtClean="0"/>
              <a:t> 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endParaRPr lang="zh-CN" altLang="en-US" dirty="0" smtClean="0"/>
          </a:p>
          <a:p>
            <a:r>
              <a:rPr lang="zh-CN" altLang="en-US" b="1" dirty="0" smtClean="0"/>
              <a:t>对一项具体的研究工作来说：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   –</a:t>
            </a:r>
            <a:r>
              <a:rPr lang="zh-CN" altLang="en-US" b="1" dirty="0" smtClean="0"/>
              <a:t>找到好的问题是非常重要的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   –</a:t>
            </a:r>
            <a:r>
              <a:rPr lang="zh-CN" altLang="en-US" b="1" dirty="0" smtClean="0"/>
              <a:t>有了好的</a:t>
            </a:r>
            <a:r>
              <a:rPr lang="en-US" altLang="zh-CN" b="1" dirty="0" smtClean="0"/>
              <a:t>idea</a:t>
            </a:r>
            <a:r>
              <a:rPr lang="zh-CN" altLang="en-US" b="1" dirty="0" smtClean="0"/>
              <a:t>，问题就解决了一大半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   –</a:t>
            </a:r>
            <a:r>
              <a:rPr lang="zh-CN" altLang="en-US" b="1" dirty="0" smtClean="0"/>
              <a:t>具体的工作是必不可少的</a:t>
            </a: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endParaRPr lang="zh-CN" altLang="en-US" dirty="0" smtClean="0"/>
          </a:p>
          <a:p>
            <a:pPr>
              <a:buNone/>
            </a:pPr>
            <a:r>
              <a:rPr lang="zh-CN" alt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聪明</a:t>
            </a:r>
            <a:r>
              <a:rPr lang="en-US" altLang="zh-CN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+ </a:t>
            </a:r>
            <a:r>
              <a:rPr lang="zh-CN" alt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勤奋！</a:t>
            </a:r>
            <a:endParaRPr lang="en-US" altLang="zh-CN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n w="18415" cmpd="sng">
                  <a:solidFill>
                    <a:srgbClr val="FFFFFF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Outline</a:t>
            </a:r>
            <a:endParaRPr lang="zh-CN" altLang="en-US" dirty="0" smtClean="0">
              <a:ln w="18415" cmpd="sng">
                <a:solidFill>
                  <a:srgbClr val="FFFFFF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zh-CN" alt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博士工作目标</a:t>
            </a:r>
            <a:endParaRPr lang="en-US" altLang="zh-CN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eaLnBrk="1" hangingPunct="1"/>
            <a:endParaRPr lang="en-US" altLang="zh-CN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eaLnBrk="1" hangingPunct="1"/>
            <a:r>
              <a:rPr lang="zh-CN" alt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选题</a:t>
            </a:r>
            <a:endParaRPr lang="en-US" altLang="zh-CN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eaLnBrk="1" hangingPunct="1"/>
            <a:endParaRPr lang="en-US" altLang="zh-CN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eaLnBrk="1" hangingPunct="1"/>
            <a:r>
              <a:rPr lang="zh-CN" alt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如何写论文</a:t>
            </a:r>
            <a:endParaRPr lang="en-US" altLang="zh-CN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  <a:p>
            <a:pPr eaLnBrk="1" hangingPunct="1">
              <a:buNone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 </a:t>
            </a:r>
            <a:r>
              <a:rPr lang="zh-CN" altLang="en-US" dirty="0" smtClean="0"/>
              <a:t>论文署名 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None/>
            </a:pPr>
            <a:endParaRPr lang="zh-CN" altLang="en-US" dirty="0" smtClean="0"/>
          </a:p>
          <a:p>
            <a:r>
              <a:rPr lang="zh-CN" altLang="en-US" dirty="0" smtClean="0"/>
              <a:t>一般情况，按贡献大小排序</a:t>
            </a:r>
          </a:p>
          <a:p>
            <a:pPr>
              <a:buNone/>
            </a:pPr>
            <a:r>
              <a:rPr lang="en-US" altLang="zh-CN" dirty="0" smtClean="0"/>
              <a:t>     </a:t>
            </a:r>
            <a:r>
              <a:rPr lang="zh-CN" altLang="en-US" dirty="0" smtClean="0"/>
              <a:t>如果是普通合作者，则考虑</a:t>
            </a:r>
            <a:r>
              <a:rPr lang="en-US" altLang="zh-CN" dirty="0" smtClean="0"/>
              <a:t>P, I, C</a:t>
            </a:r>
          </a:p>
          <a:p>
            <a:pPr>
              <a:buNone/>
            </a:pPr>
            <a:r>
              <a:rPr lang="en-US" altLang="zh-CN" dirty="0" smtClean="0"/>
              <a:t>     </a:t>
            </a:r>
            <a:r>
              <a:rPr lang="zh-CN" altLang="en-US" dirty="0" smtClean="0"/>
              <a:t>如果是导师给问题，则主要考虑</a:t>
            </a:r>
            <a:r>
              <a:rPr lang="en-US" altLang="zh-CN" dirty="0" smtClean="0"/>
              <a:t>I, C</a:t>
            </a:r>
          </a:p>
          <a:p>
            <a:pPr>
              <a:buNone/>
            </a:pPr>
            <a:r>
              <a:rPr lang="en-US" altLang="zh-CN" sz="2000" dirty="0" smtClean="0"/>
              <a:t>     –</a:t>
            </a:r>
            <a:r>
              <a:rPr lang="zh-CN" altLang="en-US" sz="2000" dirty="0" smtClean="0"/>
              <a:t>导师是在培养学生</a:t>
            </a:r>
          </a:p>
          <a:p>
            <a:pPr>
              <a:buNone/>
            </a:pPr>
            <a:r>
              <a:rPr lang="en-US" altLang="zh-CN" sz="2000" dirty="0" smtClean="0"/>
              <a:t>     –</a:t>
            </a:r>
            <a:r>
              <a:rPr lang="zh-CN" altLang="en-US" sz="2000" dirty="0" smtClean="0"/>
              <a:t>综合考虑</a:t>
            </a:r>
          </a:p>
          <a:p>
            <a:pPr>
              <a:buNone/>
            </a:pPr>
            <a:r>
              <a:rPr lang="en-US" altLang="zh-CN" sz="2000" dirty="0" smtClean="0"/>
              <a:t>     –</a:t>
            </a:r>
            <a:r>
              <a:rPr lang="zh-CN" altLang="en-US" sz="2000" dirty="0" smtClean="0"/>
              <a:t>提出</a:t>
            </a:r>
            <a:r>
              <a:rPr lang="en-US" altLang="zh-CN" sz="2000" dirty="0" smtClean="0"/>
              <a:t>idea</a:t>
            </a:r>
            <a:r>
              <a:rPr lang="zh-CN" altLang="en-US" sz="2000" dirty="0" smtClean="0"/>
              <a:t>的人经常成为第一作者</a:t>
            </a:r>
          </a:p>
          <a:p>
            <a:pPr>
              <a:buNone/>
            </a:pPr>
            <a:r>
              <a:rPr lang="en-US" altLang="zh-CN" dirty="0" smtClean="0"/>
              <a:t>•</a:t>
            </a:r>
            <a:r>
              <a:rPr lang="zh-CN" altLang="en-US" dirty="0" smtClean="0"/>
              <a:t>通常由第一作者执笔</a:t>
            </a:r>
          </a:p>
          <a:p>
            <a:pPr>
              <a:buNone/>
            </a:pPr>
            <a:r>
              <a:rPr lang="en-US" altLang="zh-CN" dirty="0" smtClean="0"/>
              <a:t>•</a:t>
            </a:r>
            <a:r>
              <a:rPr lang="zh-CN" altLang="en-US" dirty="0" smtClean="0"/>
              <a:t>通讯作者通常是整个研究工作的负责人</a:t>
            </a:r>
          </a:p>
          <a:p>
            <a:pPr>
              <a:buNone/>
            </a:pPr>
            <a:r>
              <a:rPr lang="en-US" altLang="zh-CN" dirty="0" smtClean="0"/>
              <a:t>•</a:t>
            </a:r>
            <a:r>
              <a:rPr lang="zh-CN" altLang="en-US" dirty="0" smtClean="0"/>
              <a:t>作者不要太多，小的贡献可以放在致谢里</a:t>
            </a:r>
          </a:p>
          <a:p>
            <a:pPr eaLnBrk="1" hangingPunct="1">
              <a:buNone/>
            </a:pPr>
            <a:endParaRPr lang="en-US" altLang="zh-CN" dirty="0" smtClean="0"/>
          </a:p>
          <a:p>
            <a:pPr eaLnBrk="1" hangingPunct="1">
              <a:buNone/>
            </a:pPr>
            <a:endParaRPr lang="en-US" altLang="zh-CN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 </a:t>
            </a:r>
            <a:r>
              <a:rPr lang="zh-CN" altLang="en-US" dirty="0" smtClean="0"/>
              <a:t>投稿目标 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None/>
            </a:pPr>
            <a:endParaRPr lang="zh-CN" altLang="en-US" dirty="0" smtClean="0"/>
          </a:p>
          <a:p>
            <a:r>
              <a:rPr lang="en-US" altLang="zh-CN" dirty="0" smtClean="0"/>
              <a:t>CCF</a:t>
            </a:r>
            <a:r>
              <a:rPr lang="zh-CN" altLang="en-US" dirty="0" smtClean="0"/>
              <a:t>推荐期刊和会议</a:t>
            </a:r>
            <a:r>
              <a:rPr lang="en-US" altLang="zh-CN" dirty="0" smtClean="0"/>
              <a:t>http://www.ccf.org.cn/sites/ccf/paiming.jsp</a:t>
            </a:r>
          </a:p>
          <a:p>
            <a:r>
              <a:rPr lang="en-US" altLang="zh-CN" dirty="0" smtClean="0"/>
              <a:t>SCI</a:t>
            </a:r>
            <a:r>
              <a:rPr lang="zh-CN" altLang="en-US" dirty="0" smtClean="0"/>
              <a:t>分区表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•</a:t>
            </a:r>
            <a:r>
              <a:rPr lang="zh-CN" altLang="en-US" dirty="0" smtClean="0"/>
              <a:t>同一工作不能在刊物上发表两次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•</a:t>
            </a:r>
            <a:r>
              <a:rPr lang="zh-CN" altLang="en-US" dirty="0" smtClean="0"/>
              <a:t>在会议上发表的工作，经过扩充后可以再投往刊物</a:t>
            </a:r>
          </a:p>
          <a:p>
            <a:pPr>
              <a:buNone/>
            </a:pPr>
            <a:r>
              <a:rPr lang="en-US" altLang="zh-CN" dirty="0" smtClean="0"/>
              <a:t>  –</a:t>
            </a:r>
            <a:r>
              <a:rPr lang="zh-CN" altLang="en-US" sz="2400" dirty="0" smtClean="0"/>
              <a:t>应该有至少</a:t>
            </a:r>
            <a:r>
              <a:rPr lang="en-US" altLang="zh-CN" sz="2400" dirty="0" smtClean="0">
                <a:solidFill>
                  <a:srgbClr val="FF0000"/>
                </a:solidFill>
              </a:rPr>
              <a:t>30%</a:t>
            </a:r>
            <a:r>
              <a:rPr lang="zh-CN" altLang="en-US" sz="2400" dirty="0" smtClean="0"/>
              <a:t>的新东西（例如更详尽的理论分析、更多的实验结果等）</a:t>
            </a:r>
          </a:p>
          <a:p>
            <a:pPr>
              <a:buNone/>
            </a:pPr>
            <a:r>
              <a:rPr lang="en-US" altLang="zh-CN" dirty="0" smtClean="0"/>
              <a:t>•</a:t>
            </a:r>
            <a:r>
              <a:rPr lang="zh-CN" altLang="en-US" dirty="0" smtClean="0">
                <a:solidFill>
                  <a:srgbClr val="FF0000"/>
                </a:solidFill>
              </a:rPr>
              <a:t>绝不要一稿多投</a:t>
            </a:r>
            <a:r>
              <a:rPr lang="en-US" altLang="zh-CN" dirty="0" smtClean="0">
                <a:solidFill>
                  <a:srgbClr val="FF0000"/>
                </a:solidFill>
              </a:rPr>
              <a:t>!</a:t>
            </a:r>
          </a:p>
          <a:p>
            <a:pPr>
              <a:buNone/>
            </a:pPr>
            <a:r>
              <a:rPr lang="en-US" altLang="zh-CN" dirty="0" smtClean="0"/>
              <a:t>   </a:t>
            </a:r>
          </a:p>
          <a:p>
            <a:pPr eaLnBrk="1" hangingPunct="1">
              <a:buNone/>
            </a:pPr>
            <a:endParaRPr lang="en-US" altLang="zh-CN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 </a:t>
            </a:r>
            <a:r>
              <a:rPr lang="zh-CN" altLang="en-US" dirty="0" smtClean="0"/>
              <a:t>论文结构 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1800" dirty="0" smtClean="0"/>
              <a:t>确定题目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介绍主题并定义术语</a:t>
            </a:r>
            <a:r>
              <a:rPr lang="en-US" altLang="zh-CN" sz="1800" dirty="0" smtClean="0"/>
              <a:t> (</a:t>
            </a:r>
            <a:r>
              <a:rPr lang="zh-CN" altLang="en-US" sz="1800" dirty="0" smtClean="0"/>
              <a:t>此阶段非形式化定义</a:t>
            </a:r>
            <a:r>
              <a:rPr lang="en-US" altLang="zh-CN" sz="1800" dirty="0" smtClean="0"/>
              <a:t>)</a:t>
            </a:r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动机：强调主题的重要性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文献综述：别人已经做了什么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指出不足：还应该做什么？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形式化地给出研究问题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解释需要的背景知识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给出形式化定义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介绍你的新算法</a:t>
            </a:r>
            <a:r>
              <a:rPr lang="en-US" altLang="zh-CN" sz="1800" dirty="0" smtClean="0"/>
              <a:t>/</a:t>
            </a:r>
            <a:r>
              <a:rPr lang="zh-CN" altLang="en-US" sz="1800" dirty="0" smtClean="0"/>
              <a:t>表示</a:t>
            </a:r>
            <a:r>
              <a:rPr lang="en-US" altLang="zh-CN" sz="1800" dirty="0" smtClean="0"/>
              <a:t>/</a:t>
            </a:r>
            <a:r>
              <a:rPr lang="zh-CN" altLang="en-US" sz="1800" dirty="0" smtClean="0"/>
              <a:t>数据结构等</a:t>
            </a:r>
            <a:r>
              <a:rPr lang="en-US" altLang="zh-CN" sz="1800" dirty="0" smtClean="0"/>
              <a:t> </a:t>
            </a:r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描述实验设置，解释想用实验说明什么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描述数据集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用图</a:t>
            </a:r>
            <a:r>
              <a:rPr lang="en-US" altLang="zh-CN" sz="1800" dirty="0" smtClean="0"/>
              <a:t>/</a:t>
            </a:r>
            <a:r>
              <a:rPr lang="zh-CN" altLang="en-US" sz="1800" dirty="0" smtClean="0"/>
              <a:t>表呈现结果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讨论结果</a:t>
            </a:r>
            <a:r>
              <a:rPr lang="en-US" altLang="zh-CN" sz="1800" dirty="0" smtClean="0"/>
              <a:t> </a:t>
            </a:r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解释矛盾的结果、意外的发现以及和他人研究结果的差异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指出研究的局限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指出重要的发现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指出未来研究的方向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/>
              <a:t>致谢</a:t>
            </a:r>
            <a:endParaRPr lang="en-US" altLang="zh-CN" sz="1800" dirty="0" smtClean="0"/>
          </a:p>
          <a:p>
            <a:pPr>
              <a:spcBef>
                <a:spcPts val="0"/>
              </a:spcBef>
            </a:pPr>
            <a:r>
              <a:rPr lang="zh-CN" altLang="en-US" sz="1800" dirty="0" smtClean="0">
                <a:solidFill>
                  <a:srgbClr val="FF0000"/>
                </a:solidFill>
              </a:rPr>
              <a:t>参考文献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 smtClean="0"/>
              <a:t>   </a:t>
            </a:r>
          </a:p>
          <a:p>
            <a:pPr eaLnBrk="1" hangingPunct="1">
              <a:spcBef>
                <a:spcPts val="0"/>
              </a:spcBef>
              <a:buNone/>
            </a:pPr>
            <a:endParaRPr lang="en-US" altLang="zh-CN" sz="1800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 Title</a:t>
            </a:r>
            <a:r>
              <a:rPr lang="zh-CN" altLang="en-US" dirty="0" smtClean="0"/>
              <a:t> 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endParaRPr lang="zh-CN" altLang="en-US" dirty="0" smtClean="0"/>
          </a:p>
          <a:p>
            <a:pPr>
              <a:buNone/>
            </a:pPr>
            <a:r>
              <a:rPr lang="en-US" altLang="zh-CN" dirty="0" smtClean="0"/>
              <a:t>•</a:t>
            </a:r>
            <a:r>
              <a:rPr lang="zh-CN" altLang="en-US" dirty="0" smtClean="0"/>
              <a:t>清楚地表达出主要工作</a:t>
            </a:r>
          </a:p>
          <a:p>
            <a:pPr>
              <a:buNone/>
            </a:pPr>
            <a:r>
              <a:rPr lang="en-US" altLang="zh-CN" dirty="0" smtClean="0"/>
              <a:t>•</a:t>
            </a:r>
            <a:r>
              <a:rPr lang="zh-CN" altLang="en-US" dirty="0" smtClean="0"/>
              <a:t>字数忌长（尽可能不要超过</a:t>
            </a:r>
            <a:r>
              <a:rPr lang="en-US" altLang="zh-CN" dirty="0" smtClean="0"/>
              <a:t>20</a:t>
            </a:r>
            <a:r>
              <a:rPr lang="zh-CN" altLang="en-US" dirty="0" smtClean="0"/>
              <a:t>字）</a:t>
            </a:r>
          </a:p>
          <a:p>
            <a:pPr>
              <a:buNone/>
            </a:pPr>
            <a:r>
              <a:rPr lang="en-US" altLang="zh-CN" dirty="0" smtClean="0"/>
              <a:t>•</a:t>
            </a:r>
            <a:r>
              <a:rPr lang="zh-CN" altLang="en-US" dirty="0" smtClean="0">
                <a:solidFill>
                  <a:srgbClr val="FF0000"/>
                </a:solidFill>
              </a:rPr>
              <a:t>有吸引力</a:t>
            </a:r>
          </a:p>
          <a:p>
            <a:pPr>
              <a:buNone/>
            </a:pPr>
            <a:r>
              <a:rPr lang="zh-CN" altLang="en-US" dirty="0" smtClean="0"/>
              <a:t>“甲地区乙时期丙昆虫交配过程的跟踪研究及其结果”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“昆虫交配后吃掉配偶的原因探讨”</a:t>
            </a:r>
          </a:p>
          <a:p>
            <a:pPr>
              <a:buNone/>
            </a:pPr>
            <a:r>
              <a:rPr lang="zh-CN" altLang="en-US" dirty="0" smtClean="0"/>
              <a:t>“昆虫求偶过程中的献身行为”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“Eat me!”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00B050"/>
                </a:solidFill>
              </a:rPr>
              <a:t>The title of a &lt;Science&gt; paper</a:t>
            </a:r>
          </a:p>
          <a:p>
            <a:pPr>
              <a:buNone/>
            </a:pPr>
            <a:r>
              <a:rPr lang="en-US" altLang="zh-CN" dirty="0" smtClean="0"/>
              <a:t>   </a:t>
            </a:r>
          </a:p>
          <a:p>
            <a:pPr eaLnBrk="1" hangingPunct="1">
              <a:buNone/>
            </a:pPr>
            <a:endParaRPr lang="en-US" altLang="zh-CN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 Abstract</a:t>
            </a:r>
            <a:r>
              <a:rPr lang="zh-CN" altLang="en-US" dirty="0" smtClean="0"/>
              <a:t> 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None/>
            </a:pPr>
            <a:endParaRPr lang="zh-CN" altLang="en-US" dirty="0" smtClean="0"/>
          </a:p>
          <a:p>
            <a:r>
              <a:rPr lang="zh-CN" altLang="en-US" b="1" dirty="0" smtClean="0"/>
              <a:t>目的：总结你的贡献</a:t>
            </a:r>
            <a:endParaRPr lang="en-US" altLang="zh-CN" b="1" dirty="0" smtClean="0"/>
          </a:p>
          <a:p>
            <a:r>
              <a:rPr lang="zh-CN" altLang="en-US" b="1" dirty="0" smtClean="0"/>
              <a:t>形式</a:t>
            </a:r>
            <a:r>
              <a:rPr lang="en-US" altLang="zh-CN" b="1" dirty="0" smtClean="0"/>
              <a:t>:</a:t>
            </a:r>
          </a:p>
          <a:p>
            <a:pPr>
              <a:buNone/>
            </a:pPr>
            <a:r>
              <a:rPr lang="en-US" altLang="zh-CN" dirty="0" smtClean="0"/>
              <a:t>     •</a:t>
            </a:r>
            <a:r>
              <a:rPr lang="zh-CN" altLang="en-US" dirty="0" smtClean="0"/>
              <a:t>问题是什么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     •</a:t>
            </a:r>
            <a:r>
              <a:rPr lang="zh-CN" altLang="en-US" sz="2800" dirty="0" smtClean="0"/>
              <a:t>你的工作是什么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     •</a:t>
            </a:r>
            <a:r>
              <a:rPr lang="zh-CN" altLang="en-US" sz="2800" dirty="0" smtClean="0"/>
              <a:t>你的工作的特点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     •</a:t>
            </a:r>
            <a:r>
              <a:rPr lang="zh-CN" altLang="en-US" sz="2800" dirty="0" smtClean="0"/>
              <a:t>你的工作的优势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     •</a:t>
            </a:r>
            <a:r>
              <a:rPr lang="zh-CN" altLang="en-US" sz="2800" dirty="0" smtClean="0"/>
              <a:t>结果</a:t>
            </a:r>
            <a:endParaRPr lang="en-US" altLang="zh-CN" sz="2800" b="1" dirty="0" smtClean="0"/>
          </a:p>
          <a:p>
            <a:pPr eaLnBrk="1" hangingPunct="1">
              <a:buNone/>
            </a:pPr>
            <a:endParaRPr lang="en-US" altLang="zh-CN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Introduction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None/>
            </a:pPr>
            <a:endParaRPr lang="zh-CN" altLang="en-US" dirty="0" smtClean="0"/>
          </a:p>
          <a:p>
            <a:r>
              <a:rPr lang="zh-CN" altLang="en-US" b="1" dirty="0" smtClean="0"/>
              <a:t>目的</a:t>
            </a:r>
            <a:r>
              <a:rPr lang="en-US" altLang="zh-CN" b="1" dirty="0" smtClean="0"/>
              <a:t>: </a:t>
            </a:r>
            <a:r>
              <a:rPr lang="zh-CN" altLang="en-US" b="1" dirty="0" smtClean="0"/>
              <a:t>背景、论文组织</a:t>
            </a:r>
            <a:endParaRPr lang="en-US" altLang="zh-CN" b="1" dirty="0" smtClean="0"/>
          </a:p>
          <a:p>
            <a:r>
              <a:rPr lang="zh-CN" altLang="en-US" b="1" dirty="0" smtClean="0"/>
              <a:t>形式</a:t>
            </a:r>
            <a:r>
              <a:rPr lang="en-US" altLang="zh-CN" b="1" dirty="0" smtClean="0"/>
              <a:t>:</a:t>
            </a:r>
          </a:p>
          <a:p>
            <a:pPr>
              <a:buNone/>
            </a:pPr>
            <a:r>
              <a:rPr lang="en-US" altLang="zh-CN" sz="2800" dirty="0" smtClean="0"/>
              <a:t>     •</a:t>
            </a:r>
            <a:r>
              <a:rPr lang="zh-CN" altLang="en-US" sz="2800" dirty="0" smtClean="0"/>
              <a:t>问题</a:t>
            </a:r>
            <a:r>
              <a:rPr lang="en-US" altLang="zh-CN" sz="2800" dirty="0" smtClean="0"/>
              <a:t>X</a:t>
            </a:r>
            <a:r>
              <a:rPr lang="zh-CN" altLang="en-US" sz="2800" dirty="0" smtClean="0"/>
              <a:t>很重要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    •</a:t>
            </a:r>
            <a:r>
              <a:rPr lang="zh-CN" altLang="en-US" sz="2800" dirty="0" smtClean="0"/>
              <a:t>对此前人已做过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C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    • A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C</a:t>
            </a:r>
            <a:r>
              <a:rPr lang="zh-CN" altLang="en-US" sz="2800" dirty="0" smtClean="0"/>
              <a:t>都有不足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    •</a:t>
            </a:r>
            <a:r>
              <a:rPr lang="zh-CN" altLang="en-US" sz="2800" dirty="0" smtClean="0"/>
              <a:t>我们的工作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    •D</a:t>
            </a:r>
            <a:r>
              <a:rPr lang="zh-CN" altLang="en-US" sz="2800" dirty="0" smtClean="0"/>
              <a:t>的特点和优势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    •</a:t>
            </a:r>
            <a:r>
              <a:rPr lang="zh-CN" altLang="en-US" sz="2800" dirty="0" smtClean="0"/>
              <a:t>结果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    •</a:t>
            </a:r>
            <a:r>
              <a:rPr lang="zh-CN" altLang="en-US" sz="2800" dirty="0" smtClean="0"/>
              <a:t>论文组织</a:t>
            </a:r>
            <a:endParaRPr lang="en-US" altLang="zh-CN" sz="2800" b="1" dirty="0" smtClean="0"/>
          </a:p>
          <a:p>
            <a:pPr eaLnBrk="1" hangingPunct="1">
              <a:buNone/>
            </a:pPr>
            <a:endParaRPr lang="en-US" altLang="zh-CN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Previous works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None/>
            </a:pPr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b="1" dirty="0" smtClean="0"/>
              <a:t>目的</a:t>
            </a:r>
            <a:r>
              <a:rPr lang="en-US" altLang="zh-CN" b="1" dirty="0" smtClean="0"/>
              <a:t>: </a:t>
            </a:r>
            <a:r>
              <a:rPr lang="zh-CN" altLang="en-US" b="1" dirty="0" smtClean="0"/>
              <a:t>你的工作的原因，与他人的不同</a:t>
            </a:r>
            <a:endParaRPr lang="en-US" altLang="zh-CN" b="1" dirty="0" smtClean="0"/>
          </a:p>
          <a:p>
            <a:r>
              <a:rPr lang="zh-CN" altLang="en-US" b="1" dirty="0" smtClean="0"/>
              <a:t>形式</a:t>
            </a:r>
            <a:r>
              <a:rPr lang="en-US" altLang="zh-CN" b="1" dirty="0" smtClean="0"/>
              <a:t>:</a:t>
            </a:r>
          </a:p>
          <a:p>
            <a:pPr>
              <a:buNone/>
            </a:pPr>
            <a:r>
              <a:rPr lang="en-US" altLang="zh-CN" dirty="0" smtClean="0"/>
              <a:t>   </a:t>
            </a:r>
            <a:r>
              <a:rPr lang="en-US" altLang="zh-CN" sz="2800" dirty="0" smtClean="0"/>
              <a:t>•</a:t>
            </a:r>
            <a:r>
              <a:rPr lang="zh-CN" altLang="en-US" sz="2800" dirty="0" smtClean="0"/>
              <a:t>前人工作</a:t>
            </a:r>
            <a:r>
              <a:rPr lang="zh-CN" altLang="en-US" sz="2800" dirty="0" smtClean="0">
                <a:solidFill>
                  <a:srgbClr val="FF0000"/>
                </a:solidFill>
              </a:rPr>
              <a:t>分类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400" dirty="0" smtClean="0"/>
              <a:t>	</a:t>
            </a:r>
            <a:r>
              <a:rPr lang="en-US" altLang="zh-CN" sz="2800" dirty="0" smtClean="0"/>
              <a:t>•</a:t>
            </a:r>
            <a:r>
              <a:rPr lang="zh-CN" altLang="en-US" sz="2800" dirty="0" smtClean="0"/>
              <a:t>每个工作一两句话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	•</a:t>
            </a:r>
            <a:r>
              <a:rPr lang="zh-CN" altLang="en-US" sz="2800" dirty="0" smtClean="0"/>
              <a:t>其优点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	•</a:t>
            </a:r>
            <a:r>
              <a:rPr lang="zh-CN" altLang="en-US" sz="2800" dirty="0" smtClean="0"/>
              <a:t>其缺点</a:t>
            </a:r>
            <a:endParaRPr lang="en-US" altLang="zh-CN" sz="2800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不要过分批评前人工作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Your contribution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endParaRPr lang="en-US" altLang="zh-CN" b="1" dirty="0" smtClean="0"/>
          </a:p>
          <a:p>
            <a:r>
              <a:rPr lang="zh-CN" altLang="en-US" b="1" dirty="0" smtClean="0"/>
              <a:t>目的</a:t>
            </a:r>
            <a:r>
              <a:rPr lang="en-US" altLang="zh-CN" b="1" dirty="0" smtClean="0"/>
              <a:t>: </a:t>
            </a:r>
            <a:r>
              <a:rPr lang="zh-CN" altLang="en-US" b="1" dirty="0" smtClean="0"/>
              <a:t>介绍你的工作</a:t>
            </a:r>
            <a:endParaRPr lang="en-US" altLang="zh-CN" b="1" dirty="0" smtClean="0"/>
          </a:p>
          <a:p>
            <a:r>
              <a:rPr lang="zh-CN" altLang="en-US" b="1" dirty="0" smtClean="0"/>
              <a:t>形式</a:t>
            </a:r>
            <a:r>
              <a:rPr lang="en-US" altLang="zh-CN" b="1" dirty="0" smtClean="0"/>
              <a:t>:</a:t>
            </a:r>
          </a:p>
          <a:p>
            <a:pPr>
              <a:buNone/>
            </a:pPr>
            <a:r>
              <a:rPr lang="en-US" altLang="zh-CN" sz="2800" dirty="0" smtClean="0"/>
              <a:t>	•</a:t>
            </a:r>
            <a:r>
              <a:rPr lang="zh-CN" altLang="en-US" sz="2800" dirty="0" smtClean="0"/>
              <a:t>动机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	•</a:t>
            </a:r>
            <a:r>
              <a:rPr lang="zh-CN" altLang="en-US" sz="2800" dirty="0" smtClean="0"/>
              <a:t>定义，符号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	•</a:t>
            </a:r>
            <a:r>
              <a:rPr lang="zh-CN" altLang="en-US" sz="2800" dirty="0" smtClean="0"/>
              <a:t>算法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		</a:t>
            </a:r>
            <a:r>
              <a:rPr lang="zh-CN" altLang="en-US" sz="2800" dirty="0" smtClean="0"/>
              <a:t>伪代码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		</a:t>
            </a:r>
            <a:r>
              <a:rPr lang="zh-CN" altLang="en-US" sz="2800" dirty="0" smtClean="0"/>
              <a:t>图解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		</a:t>
            </a:r>
            <a:r>
              <a:rPr lang="zh-CN" altLang="en-US" sz="2800" dirty="0" smtClean="0"/>
              <a:t>正文解释</a:t>
            </a:r>
            <a:endParaRPr lang="en-US" altLang="zh-CN" sz="2800" b="1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如果你是读者，你希望提什么问题？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Theoretical analysis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None/>
            </a:pPr>
            <a:endParaRPr lang="zh-CN" altLang="en-US" dirty="0" smtClean="0"/>
          </a:p>
          <a:p>
            <a:r>
              <a:rPr lang="zh-CN" altLang="en-US" b="1" dirty="0" smtClean="0"/>
              <a:t>目的</a:t>
            </a:r>
            <a:r>
              <a:rPr lang="en-US" altLang="zh-CN" b="1" dirty="0" smtClean="0"/>
              <a:t>: </a:t>
            </a:r>
            <a:r>
              <a:rPr lang="zh-CN" altLang="en-US" b="1" dirty="0" smtClean="0"/>
              <a:t>你的工作的理论上的支撑</a:t>
            </a:r>
            <a:endParaRPr lang="en-US" altLang="zh-CN" b="1" dirty="0" smtClean="0"/>
          </a:p>
          <a:p>
            <a:r>
              <a:rPr lang="zh-CN" altLang="en-US" b="1" dirty="0" smtClean="0"/>
              <a:t>形式</a:t>
            </a:r>
            <a:r>
              <a:rPr lang="en-US" altLang="zh-CN" b="1" dirty="0" smtClean="0"/>
              <a:t>:</a:t>
            </a:r>
          </a:p>
          <a:p>
            <a:pPr>
              <a:buNone/>
            </a:pPr>
            <a:r>
              <a:rPr lang="en-US" altLang="zh-CN" dirty="0" smtClean="0"/>
              <a:t>	</a:t>
            </a:r>
            <a:r>
              <a:rPr lang="en-US" altLang="zh-CN" sz="2800" dirty="0" smtClean="0"/>
              <a:t>•</a:t>
            </a:r>
            <a:r>
              <a:rPr lang="zh-CN" altLang="en-US" sz="2800" dirty="0" smtClean="0"/>
              <a:t>定义，符号（如果已有，忽略）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	•</a:t>
            </a:r>
            <a:r>
              <a:rPr lang="zh-CN" altLang="en-US" sz="2800" dirty="0" smtClean="0"/>
              <a:t>引理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	•</a:t>
            </a:r>
            <a:r>
              <a:rPr lang="zh-CN" altLang="en-US" sz="2800" dirty="0" smtClean="0"/>
              <a:t>定理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	•</a:t>
            </a:r>
            <a:r>
              <a:rPr lang="zh-CN" altLang="en-US" sz="2800" dirty="0" smtClean="0"/>
              <a:t>证明</a:t>
            </a:r>
            <a:endParaRPr lang="en-US" altLang="zh-CN" sz="2800" b="1" dirty="0" smtClean="0"/>
          </a:p>
          <a:p>
            <a:endParaRPr lang="zh-CN" altLang="en-US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将冗长的细节放在附录中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Experiments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None/>
            </a:pPr>
            <a:endParaRPr lang="zh-CN" altLang="en-US" dirty="0" smtClean="0"/>
          </a:p>
          <a:p>
            <a:r>
              <a:rPr lang="zh-CN" altLang="en-US" b="1" dirty="0" smtClean="0"/>
              <a:t>实验</a:t>
            </a:r>
            <a:r>
              <a:rPr lang="en-US" altLang="zh-CN" b="1" dirty="0" smtClean="0"/>
              <a:t>: </a:t>
            </a:r>
            <a:r>
              <a:rPr lang="zh-CN" altLang="en-US" b="1" dirty="0" smtClean="0"/>
              <a:t>你的工作在实验上的支撑</a:t>
            </a:r>
            <a:endParaRPr lang="en-US" altLang="zh-CN" b="1" dirty="0" smtClean="0"/>
          </a:p>
          <a:p>
            <a:r>
              <a:rPr lang="zh-CN" altLang="en-US" b="1" dirty="0" smtClean="0"/>
              <a:t>形式</a:t>
            </a:r>
            <a:r>
              <a:rPr lang="en-US" altLang="zh-CN" b="1" dirty="0" smtClean="0"/>
              <a:t>:</a:t>
            </a:r>
          </a:p>
          <a:p>
            <a:pPr>
              <a:buNone/>
            </a:pPr>
            <a:r>
              <a:rPr lang="en-US" altLang="zh-CN" dirty="0" smtClean="0"/>
              <a:t>	•</a:t>
            </a:r>
            <a:r>
              <a:rPr lang="zh-CN" altLang="en-US" dirty="0" smtClean="0"/>
              <a:t>实验设计</a:t>
            </a:r>
            <a:endParaRPr lang="en-US" altLang="zh-CN" sz="2800" b="1" dirty="0" smtClean="0"/>
          </a:p>
          <a:p>
            <a:pPr lvl="1"/>
            <a:r>
              <a:rPr lang="zh-CN" altLang="en-US" sz="2000" b="1" dirty="0" smtClean="0"/>
              <a:t>确保其他研究者根据你的描述能重复你的实验</a:t>
            </a:r>
            <a:endParaRPr lang="en-US" altLang="zh-CN" sz="2000" b="1" dirty="0" smtClean="0"/>
          </a:p>
          <a:p>
            <a:pPr>
              <a:buNone/>
            </a:pPr>
            <a:r>
              <a:rPr lang="en-US" altLang="zh-CN" dirty="0" smtClean="0"/>
              <a:t>	•</a:t>
            </a:r>
            <a:r>
              <a:rPr lang="zh-CN" altLang="en-US" dirty="0" smtClean="0"/>
              <a:t>比较</a:t>
            </a:r>
            <a:endParaRPr lang="en-US" altLang="zh-CN" sz="2800" b="1" dirty="0" smtClean="0"/>
          </a:p>
          <a:p>
            <a:pPr>
              <a:buNone/>
            </a:pPr>
            <a:r>
              <a:rPr lang="en-US" altLang="zh-CN" sz="2800" dirty="0" smtClean="0"/>
              <a:t>	•</a:t>
            </a:r>
            <a:r>
              <a:rPr lang="zh-CN" altLang="en-US" sz="2800" b="1" dirty="0" smtClean="0"/>
              <a:t>讨论</a:t>
            </a:r>
            <a:endParaRPr lang="en-US" altLang="zh-CN" sz="2800" b="1" dirty="0" smtClean="0"/>
          </a:p>
          <a:p>
            <a:pPr lvl="1"/>
            <a:r>
              <a:rPr lang="zh-CN" altLang="en-US" sz="2400" b="1" dirty="0" smtClean="0"/>
              <a:t>实验揭示了什么？</a:t>
            </a:r>
            <a:endParaRPr lang="en-US" altLang="zh-CN" sz="2400" b="1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将冗长的细节放在附录中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Discussion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endParaRPr lang="zh-CN" altLang="en-US" dirty="0" smtClean="0"/>
          </a:p>
          <a:p>
            <a:r>
              <a:rPr lang="zh-CN" altLang="en-US" b="1" dirty="0" smtClean="0"/>
              <a:t>目的</a:t>
            </a:r>
            <a:r>
              <a:rPr lang="en-US" altLang="zh-CN" b="1" dirty="0" smtClean="0"/>
              <a:t>: </a:t>
            </a:r>
            <a:r>
              <a:rPr lang="zh-CN" altLang="en-US" b="1" dirty="0" smtClean="0"/>
              <a:t>你的工作和非常相关的工作间的关系</a:t>
            </a:r>
            <a:endParaRPr lang="en-US" altLang="zh-CN" b="1" dirty="0" smtClean="0"/>
          </a:p>
          <a:p>
            <a:r>
              <a:rPr lang="zh-CN" altLang="en-US" b="1" dirty="0" smtClean="0"/>
              <a:t>形式</a:t>
            </a:r>
            <a:r>
              <a:rPr lang="en-US" altLang="zh-CN" b="1" dirty="0" smtClean="0"/>
              <a:t>:</a:t>
            </a:r>
          </a:p>
          <a:p>
            <a:pPr>
              <a:buNone/>
            </a:pPr>
            <a:r>
              <a:rPr lang="en-US" altLang="zh-CN" dirty="0" smtClean="0"/>
              <a:t>	•</a:t>
            </a:r>
            <a:r>
              <a:rPr lang="zh-CN" altLang="en-US" dirty="0" smtClean="0"/>
              <a:t>工作</a:t>
            </a:r>
            <a:r>
              <a:rPr lang="en-US" altLang="zh-CN" b="1" dirty="0" smtClean="0"/>
              <a:t>A</a:t>
            </a:r>
          </a:p>
          <a:p>
            <a:pPr>
              <a:buNone/>
            </a:pPr>
            <a:r>
              <a:rPr lang="en-US" altLang="zh-CN" dirty="0" smtClean="0"/>
              <a:t>		•</a:t>
            </a:r>
            <a:r>
              <a:rPr lang="zh-CN" altLang="en-US" dirty="0" smtClean="0"/>
              <a:t>为什么很相关</a:t>
            </a:r>
            <a:r>
              <a:rPr lang="en-US" altLang="zh-CN" b="1" dirty="0" smtClean="0"/>
              <a:t> </a:t>
            </a:r>
          </a:p>
          <a:p>
            <a:pPr>
              <a:buNone/>
            </a:pPr>
            <a:r>
              <a:rPr lang="en-US" altLang="zh-CN" dirty="0" smtClean="0"/>
              <a:t>		•</a:t>
            </a:r>
            <a:r>
              <a:rPr lang="zh-CN" altLang="en-US" dirty="0" smtClean="0"/>
              <a:t>和你的工作的差异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dirty="0" smtClean="0"/>
              <a:t>	•</a:t>
            </a:r>
            <a:r>
              <a:rPr lang="zh-CN" altLang="en-US" dirty="0" smtClean="0"/>
              <a:t>工作</a:t>
            </a:r>
            <a:r>
              <a:rPr lang="en-US" altLang="zh-CN" b="1" dirty="0" smtClean="0"/>
              <a:t>B</a:t>
            </a:r>
          </a:p>
          <a:p>
            <a:pPr>
              <a:buNone/>
            </a:pPr>
            <a:r>
              <a:rPr lang="en-US" altLang="zh-CN" dirty="0" smtClean="0"/>
              <a:t>		•</a:t>
            </a:r>
            <a:r>
              <a:rPr lang="zh-CN" altLang="en-US" dirty="0" smtClean="0"/>
              <a:t>为什么很相关</a:t>
            </a:r>
            <a:r>
              <a:rPr lang="en-US" altLang="zh-CN" b="1" dirty="0" smtClean="0"/>
              <a:t> </a:t>
            </a:r>
          </a:p>
          <a:p>
            <a:pPr>
              <a:buNone/>
            </a:pPr>
            <a:r>
              <a:rPr lang="en-US" altLang="zh-CN" dirty="0" smtClean="0"/>
              <a:t>		•</a:t>
            </a:r>
            <a:r>
              <a:rPr lang="zh-CN" altLang="en-US" dirty="0" smtClean="0"/>
              <a:t>和你的工作的差异</a:t>
            </a:r>
            <a:endParaRPr lang="en-US" altLang="zh-CN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Conclusion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endParaRPr lang="en-US" altLang="zh-CN" b="1" dirty="0" smtClean="0"/>
          </a:p>
          <a:p>
            <a:r>
              <a:rPr lang="zh-CN" altLang="en-US" b="1" dirty="0" smtClean="0"/>
              <a:t>目的</a:t>
            </a:r>
            <a:r>
              <a:rPr lang="en-US" altLang="zh-CN" b="1" dirty="0" smtClean="0"/>
              <a:t>: </a:t>
            </a:r>
            <a:r>
              <a:rPr lang="zh-CN" altLang="en-US" b="1" dirty="0" smtClean="0"/>
              <a:t>总结全文，展望未来工作</a:t>
            </a:r>
            <a:endParaRPr lang="en-US" altLang="zh-CN" b="1" dirty="0" smtClean="0"/>
          </a:p>
          <a:p>
            <a:r>
              <a:rPr lang="zh-CN" altLang="en-US" b="1" dirty="0" smtClean="0"/>
              <a:t>形式</a:t>
            </a:r>
            <a:r>
              <a:rPr lang="en-US" altLang="zh-CN" b="1" dirty="0" smtClean="0"/>
              <a:t>:</a:t>
            </a:r>
          </a:p>
          <a:p>
            <a:pPr>
              <a:buNone/>
            </a:pPr>
            <a:r>
              <a:rPr lang="en-US" altLang="zh-CN" dirty="0" smtClean="0"/>
              <a:t>		•</a:t>
            </a:r>
            <a:r>
              <a:rPr lang="zh-CN" altLang="en-US" dirty="0" smtClean="0"/>
              <a:t>总结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dirty="0" smtClean="0"/>
              <a:t>		•</a:t>
            </a:r>
            <a:r>
              <a:rPr lang="zh-CN" altLang="en-US" dirty="0" smtClean="0"/>
              <a:t>未来工作</a:t>
            </a: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 lvl="1"/>
            <a:r>
              <a:rPr lang="zh-CN" altLang="en-US" dirty="0" smtClean="0"/>
              <a:t>致谢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参考文献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附录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几个常见错误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endParaRPr lang="zh-CN" altLang="en-US" dirty="0" smtClean="0"/>
          </a:p>
          <a:p>
            <a:r>
              <a:rPr lang="en-US" altLang="zh-CN" b="1" dirty="0" smtClean="0"/>
              <a:t>The more, the better </a:t>
            </a:r>
          </a:p>
          <a:p>
            <a:r>
              <a:rPr lang="en-US" altLang="zh-CN" b="1" dirty="0" smtClean="0"/>
              <a:t>The more complex, the better</a:t>
            </a:r>
          </a:p>
          <a:p>
            <a:pPr>
              <a:buNone/>
            </a:pPr>
            <a:r>
              <a:rPr lang="zh-CN" altLang="en-US" sz="2400" dirty="0" smtClean="0"/>
              <a:t>    </a:t>
            </a:r>
            <a:r>
              <a:rPr lang="en-US" altLang="zh-CN" sz="2400" b="1" dirty="0" smtClean="0">
                <a:solidFill>
                  <a:srgbClr val="00B050"/>
                </a:solidFill>
              </a:rPr>
              <a:t>Mathematical language is to help you clearly express your thoughts, not to show your depth</a:t>
            </a:r>
          </a:p>
          <a:p>
            <a:r>
              <a:rPr lang="en-US" altLang="zh-CN" b="1" dirty="0" smtClean="0"/>
              <a:t>The more selling, the better</a:t>
            </a:r>
          </a:p>
          <a:p>
            <a:r>
              <a:rPr lang="en-US" altLang="zh-CN" b="1" dirty="0" smtClean="0"/>
              <a:t>The more authoritative, the better</a:t>
            </a:r>
          </a:p>
          <a:p>
            <a:r>
              <a:rPr lang="zh-CN" altLang="en-US" b="1" dirty="0" smtClean="0"/>
              <a:t>中英文差异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dirty="0" smtClean="0"/>
              <a:t>		</a:t>
            </a:r>
            <a:endParaRPr lang="en-US" altLang="zh-CN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Tricks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endParaRPr lang="zh-CN" altLang="en-US" dirty="0" smtClean="0"/>
          </a:p>
          <a:p>
            <a:r>
              <a:rPr lang="en-US" altLang="zh-CN" b="1" dirty="0" smtClean="0"/>
              <a:t>Read more, write more</a:t>
            </a:r>
          </a:p>
          <a:p>
            <a:pPr>
              <a:buNone/>
            </a:pPr>
            <a:r>
              <a:rPr lang="en-US" altLang="zh-CN" dirty="0" smtClean="0"/>
              <a:t>• </a:t>
            </a:r>
            <a:r>
              <a:rPr lang="en-US" altLang="zh-CN" b="1" dirty="0" smtClean="0"/>
              <a:t>Use good papers as samples</a:t>
            </a:r>
          </a:p>
          <a:p>
            <a:r>
              <a:rPr lang="en-US" altLang="zh-CN" b="1" dirty="0" smtClean="0"/>
              <a:t>Use simple sentences </a:t>
            </a:r>
          </a:p>
          <a:p>
            <a:pPr>
              <a:buNone/>
            </a:pPr>
            <a:r>
              <a:rPr lang="en-US" altLang="zh-CN" dirty="0" smtClean="0"/>
              <a:t>		</a:t>
            </a:r>
            <a:endParaRPr lang="en-US" altLang="zh-CN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基本原则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Don’t make the reviewer of your paper think!</a:t>
            </a:r>
          </a:p>
          <a:p>
            <a:pPr lvl="1"/>
            <a:r>
              <a:rPr lang="zh-CN" altLang="en-US" sz="2000" dirty="0" smtClean="0"/>
              <a:t>按道理审稿人不需要思考，被迫思考的话肯定不爽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审稿人可能理解错误！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如果你花几个小时时间，能让审稿人节省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分钟，是非常值得的！</a:t>
            </a:r>
            <a:endParaRPr lang="zh-CN" alt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748" y="3201796"/>
            <a:ext cx="6355556" cy="3395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第一页的重要性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 have often said reviewers make an initial impression on the first page and don’t change 80% of the time - Mike </a:t>
            </a:r>
            <a:r>
              <a:rPr lang="en-US" altLang="zh-CN" dirty="0" err="1" smtClean="0"/>
              <a:t>Pazzani</a:t>
            </a:r>
            <a:endParaRPr lang="en-US" altLang="zh-CN" dirty="0" smtClean="0"/>
          </a:p>
          <a:p>
            <a:r>
              <a:rPr lang="en-US" altLang="zh-CN" dirty="0" err="1" smtClean="0"/>
              <a:t>Xingdong</a:t>
            </a:r>
            <a:r>
              <a:rPr lang="en-US" altLang="zh-CN" dirty="0" smtClean="0"/>
              <a:t> Wu</a:t>
            </a:r>
            <a:endParaRPr lang="zh-CN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861048"/>
            <a:ext cx="7364413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第一页的重要性（续）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400" dirty="0" smtClean="0"/>
              <a:t>问题是什么</a:t>
            </a:r>
            <a:r>
              <a:rPr lang="en-US" altLang="zh-CN" sz="2400" dirty="0" smtClean="0"/>
              <a:t>?</a:t>
            </a:r>
          </a:p>
          <a:p>
            <a:pPr>
              <a:spcBef>
                <a:spcPts val="0"/>
              </a:spcBef>
            </a:pPr>
            <a:r>
              <a:rPr lang="zh-CN" altLang="en-US" sz="2400" dirty="0" smtClean="0"/>
              <a:t>它为什么有趣，为什么重要</a:t>
            </a:r>
            <a:r>
              <a:rPr lang="en-US" altLang="zh-CN" sz="2400" dirty="0" smtClean="0"/>
              <a:t>?</a:t>
            </a:r>
          </a:p>
          <a:p>
            <a:pPr>
              <a:spcBef>
                <a:spcPts val="0"/>
              </a:spcBef>
            </a:pPr>
            <a:r>
              <a:rPr lang="zh-CN" altLang="en-US" sz="2400" dirty="0" smtClean="0"/>
              <a:t>为什么很难</a:t>
            </a:r>
            <a:r>
              <a:rPr lang="en-US" altLang="zh-CN" sz="2400" dirty="0" smtClean="0"/>
              <a:t>? </a:t>
            </a:r>
            <a:r>
              <a:rPr lang="zh-CN" altLang="en-US" sz="2400" dirty="0" smtClean="0"/>
              <a:t>为什么朴素方法不行</a:t>
            </a:r>
            <a:r>
              <a:rPr lang="en-US" altLang="zh-CN" sz="2400" dirty="0" smtClean="0"/>
              <a:t>?</a:t>
            </a:r>
          </a:p>
          <a:p>
            <a:pPr>
              <a:spcBef>
                <a:spcPts val="0"/>
              </a:spcBef>
            </a:pPr>
            <a:r>
              <a:rPr lang="zh-CN" altLang="en-US" sz="2400" dirty="0" smtClean="0"/>
              <a:t>为什么还未解决</a:t>
            </a:r>
            <a:r>
              <a:rPr lang="en-US" altLang="zh-CN" sz="2400" dirty="0" smtClean="0"/>
              <a:t>? (</a:t>
            </a:r>
            <a:r>
              <a:rPr lang="zh-CN" altLang="en-US" sz="2400" dirty="0" smtClean="0"/>
              <a:t>或者，前人研究哪里有问题</a:t>
            </a:r>
            <a:r>
              <a:rPr lang="en-US" altLang="zh-CN" sz="2400" dirty="0" smtClean="0"/>
              <a:t>?)</a:t>
            </a:r>
          </a:p>
          <a:p>
            <a:pPr>
              <a:spcBef>
                <a:spcPts val="0"/>
              </a:spcBef>
            </a:pPr>
            <a:r>
              <a:rPr lang="zh-CN" altLang="en-US" sz="2400" dirty="0" smtClean="0"/>
              <a:t>我的方法和结果的关键点在哪里</a:t>
            </a:r>
            <a:r>
              <a:rPr lang="en-US" altLang="zh-CN" sz="2400" dirty="0" smtClean="0"/>
              <a:t>? </a:t>
            </a:r>
            <a:r>
              <a:rPr lang="zh-CN" altLang="en-US" sz="2400" dirty="0" smtClean="0"/>
              <a:t>也要提局限性</a:t>
            </a:r>
            <a:r>
              <a:rPr lang="en-US" altLang="zh-CN" sz="2400" dirty="0" smtClean="0"/>
              <a:t>.</a:t>
            </a:r>
          </a:p>
          <a:p>
            <a:pPr>
              <a:spcBef>
                <a:spcPts val="0"/>
              </a:spcBef>
            </a:pPr>
            <a:r>
              <a:rPr lang="zh-CN" altLang="en-US" sz="2400" dirty="0" smtClean="0"/>
              <a:t>最后一段或小节</a:t>
            </a:r>
            <a:r>
              <a:rPr lang="en-US" altLang="zh-CN" sz="2400" dirty="0" smtClean="0"/>
              <a:t>: “Summary of  Contributions”. </a:t>
            </a:r>
            <a:br>
              <a:rPr lang="en-US" altLang="zh-CN" sz="2400" dirty="0" smtClean="0"/>
            </a:br>
            <a:r>
              <a:rPr lang="zh-CN" altLang="en-US" sz="2400" dirty="0" smtClean="0"/>
              <a:t>应该以符号列表形式列出主要贡献，并指出分别在哪节。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zh-CN" altLang="en-US" sz="2400" dirty="0" smtClean="0"/>
              <a:t>这部分还起到描述论文组织的作用，节省了空间，消除了冗余。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一些技巧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/>
              <a:t>可再现</a:t>
            </a:r>
            <a:endParaRPr lang="en-US" altLang="zh-CN" sz="2000" dirty="0" smtClean="0"/>
          </a:p>
          <a:p>
            <a:r>
              <a:rPr lang="zh-CN" altLang="en-US" sz="2000" dirty="0" smtClean="0"/>
              <a:t>避免参数过多</a:t>
            </a:r>
            <a:endParaRPr lang="en-US" altLang="zh-CN" sz="2000" dirty="0" smtClean="0"/>
          </a:p>
          <a:p>
            <a:r>
              <a:rPr lang="zh-CN" altLang="en-US" sz="2000" dirty="0" smtClean="0"/>
              <a:t>方法中所做的一些选择要经过论证</a:t>
            </a:r>
            <a:endParaRPr lang="en-US" altLang="zh-CN" sz="2000" dirty="0" smtClean="0"/>
          </a:p>
          <a:p>
            <a:r>
              <a:rPr lang="zh-CN" altLang="en-US" sz="2000" dirty="0" smtClean="0"/>
              <a:t>不当用语：</a:t>
            </a:r>
            <a:r>
              <a:rPr lang="en-US" altLang="zh-CN" sz="2000" dirty="0" smtClean="0"/>
              <a:t>Optimal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Proved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Significant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It is easy to see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Actual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Theoretically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etc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In this paper</a:t>
            </a:r>
          </a:p>
          <a:p>
            <a:r>
              <a:rPr lang="zh-CN" altLang="en-US" sz="2000" dirty="0" smtClean="0"/>
              <a:t>并非人所共知的缩写第一次出现时给出全称</a:t>
            </a:r>
            <a:endParaRPr lang="en-US" altLang="zh-CN" sz="2000" dirty="0" smtClean="0"/>
          </a:p>
          <a:p>
            <a:r>
              <a:rPr lang="zh-CN" altLang="en-US" sz="2000" dirty="0" smtClean="0"/>
              <a:t>用满所有篇幅</a:t>
            </a:r>
            <a:endParaRPr lang="en-US" altLang="zh-CN" sz="2000" dirty="0" smtClean="0"/>
          </a:p>
          <a:p>
            <a:r>
              <a:rPr lang="zh-CN" altLang="en-US" sz="2000" dirty="0" smtClean="0"/>
              <a:t>使用颜色</a:t>
            </a:r>
            <a:endParaRPr lang="en-US" altLang="zh-CN" sz="2000" dirty="0" smtClean="0"/>
          </a:p>
          <a:p>
            <a:r>
              <a:rPr lang="zh-CN" altLang="en-US" sz="2000" dirty="0" smtClean="0"/>
              <a:t>忌讳夸大</a:t>
            </a:r>
            <a:endParaRPr lang="en-US" altLang="zh-CN" sz="2000" dirty="0" smtClean="0"/>
          </a:p>
          <a:p>
            <a:pPr>
              <a:buNone/>
            </a:pPr>
            <a:r>
              <a:rPr lang="en-US" altLang="zh-CN" sz="2000" i="1" dirty="0" smtClean="0"/>
              <a:t>We have shown our algorithm        be better than decision trees</a:t>
            </a:r>
          </a:p>
          <a:p>
            <a:pPr>
              <a:buNone/>
            </a:pPr>
            <a:endParaRPr lang="en-US" altLang="zh-CN" sz="2000" i="1" dirty="0" smtClean="0"/>
          </a:p>
          <a:p>
            <a:pPr lvl="0"/>
            <a:r>
              <a:rPr lang="zh-CN" altLang="en-US" sz="2000" dirty="0" smtClean="0">
                <a:solidFill>
                  <a:prstClr val="black"/>
                </a:solidFill>
              </a:rPr>
              <a:t>用主动语态</a:t>
            </a:r>
            <a:endParaRPr lang="en-US" altLang="zh-CN" sz="2000" dirty="0" smtClean="0">
              <a:solidFill>
                <a:prstClr val="black"/>
              </a:solidFill>
            </a:endParaRPr>
          </a:p>
          <a:p>
            <a:pPr lvl="0"/>
            <a:r>
              <a:rPr lang="zh-CN" altLang="en-US" sz="2000" dirty="0" smtClean="0">
                <a:solidFill>
                  <a:prstClr val="black"/>
                </a:solidFill>
              </a:rPr>
              <a:t>重视图表</a:t>
            </a:r>
            <a:endParaRPr lang="en-US" altLang="zh-CN" sz="2000" dirty="0" smtClean="0">
              <a:solidFill>
                <a:prstClr val="black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53460" y="4829090"/>
            <a:ext cx="5549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can</a:t>
            </a:r>
            <a:endParaRPr lang="zh-CN" altLang="en-US" sz="2000" i="1" dirty="0" smtClean="0">
              <a:solidFill>
                <a:srgbClr val="FF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5318" y="5132888"/>
            <a:ext cx="31695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 when the data is correlated.</a:t>
            </a:r>
            <a:endParaRPr lang="zh-CN" altLang="en-US" sz="2000" i="1" dirty="0" smtClean="0">
              <a:solidFill>
                <a:srgbClr val="FF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Top Ten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i="1" dirty="0" smtClean="0"/>
              <a:t>为了说服审稿人，你就必须以审稿人的角度思考</a:t>
            </a:r>
            <a:endParaRPr lang="en-US" altLang="zh-CN" sz="2400" i="1" dirty="0" smtClean="0"/>
          </a:p>
          <a:p>
            <a:pPr lvl="1"/>
            <a:r>
              <a:rPr lang="zh-CN" altLang="en-US" sz="2000" i="1" dirty="0" smtClean="0"/>
              <a:t>与会议领域不吻合</a:t>
            </a:r>
            <a:endParaRPr lang="en-US" altLang="zh-CN" sz="2000" i="1" dirty="0" smtClean="0"/>
          </a:p>
          <a:p>
            <a:pPr lvl="1"/>
            <a:r>
              <a:rPr lang="zh-CN" altLang="en-US" sz="2000" i="1" dirty="0" smtClean="0"/>
              <a:t>实验不可重现</a:t>
            </a:r>
            <a:endParaRPr lang="en-US" altLang="zh-CN" sz="2000" i="1" dirty="0" smtClean="0"/>
          </a:p>
          <a:p>
            <a:pPr lvl="1"/>
            <a:r>
              <a:rPr lang="zh-CN" altLang="en-US" sz="2000" i="1" dirty="0" smtClean="0"/>
              <a:t>与你的上一篇论文太像了</a:t>
            </a:r>
            <a:endParaRPr lang="en-US" altLang="zh-CN" sz="2000" i="1" dirty="0" smtClean="0"/>
          </a:p>
          <a:p>
            <a:pPr lvl="1"/>
            <a:r>
              <a:rPr lang="zh-CN" altLang="en-US" sz="2000" i="1" dirty="0" smtClean="0"/>
              <a:t>你未承认工作的不足</a:t>
            </a:r>
            <a:endParaRPr lang="en-US" altLang="zh-CN" sz="2000" i="1" dirty="0" smtClean="0"/>
          </a:p>
          <a:p>
            <a:pPr lvl="1"/>
            <a:r>
              <a:rPr lang="zh-CN" altLang="en-US" sz="2000" i="1" dirty="0" smtClean="0"/>
              <a:t>你对他人工作的贬低是不公正的</a:t>
            </a:r>
            <a:endParaRPr lang="en-US" altLang="zh-CN" sz="2000" i="1" dirty="0" smtClean="0"/>
          </a:p>
          <a:p>
            <a:pPr lvl="1"/>
            <a:r>
              <a:rPr lang="zh-CN" altLang="en-US" sz="2000" i="1" dirty="0" smtClean="0"/>
              <a:t>有更简单的解决方法，你未与</a:t>
            </a:r>
            <a:r>
              <a:rPr lang="en-US" altLang="zh-CN" sz="2000" i="1" dirty="0" smtClean="0"/>
              <a:t>X</a:t>
            </a:r>
            <a:r>
              <a:rPr lang="zh-CN" altLang="en-US" sz="2000" i="1" dirty="0" smtClean="0"/>
              <a:t>算法比较</a:t>
            </a:r>
            <a:endParaRPr lang="en-US" altLang="zh-CN" sz="2000" i="1" dirty="0" smtClean="0"/>
          </a:p>
          <a:p>
            <a:pPr lvl="1"/>
            <a:r>
              <a:rPr lang="zh-CN" altLang="en-US" sz="2000" i="1" dirty="0" smtClean="0"/>
              <a:t>你未引用这篇文献，此方法已经有人做过</a:t>
            </a:r>
            <a:r>
              <a:rPr lang="en-US" altLang="zh-CN" sz="2000" i="1" dirty="0" smtClean="0"/>
              <a:t>, see Lee 1978</a:t>
            </a:r>
          </a:p>
          <a:p>
            <a:pPr lvl="1"/>
            <a:r>
              <a:rPr lang="zh-CN" altLang="en-US" sz="2000" i="1" dirty="0" smtClean="0"/>
              <a:t>太多的参数</a:t>
            </a:r>
            <a:r>
              <a:rPr lang="en-US" altLang="zh-CN" sz="2000" i="1" dirty="0" smtClean="0"/>
              <a:t>/</a:t>
            </a:r>
            <a:r>
              <a:rPr lang="zh-CN" altLang="en-US" sz="2000" i="1" dirty="0" smtClean="0"/>
              <a:t>魔数</a:t>
            </a:r>
            <a:r>
              <a:rPr lang="en-US" altLang="zh-CN" sz="2000" i="1" dirty="0" smtClean="0"/>
              <a:t>/</a:t>
            </a:r>
            <a:r>
              <a:rPr lang="zh-CN" altLang="en-US" sz="2000" i="1" dirty="0" smtClean="0"/>
              <a:t>任意选择</a:t>
            </a:r>
            <a:endParaRPr lang="en-US" altLang="zh-CN" sz="2000" i="1" dirty="0" smtClean="0"/>
          </a:p>
          <a:p>
            <a:pPr lvl="1"/>
            <a:r>
              <a:rPr lang="zh-CN" altLang="en-US" sz="2000" i="1" dirty="0" smtClean="0"/>
              <a:t>问题没意思或不重要。</a:t>
            </a:r>
            <a:r>
              <a:rPr lang="en-US" altLang="zh-CN" sz="2000" i="1" dirty="0" smtClean="0"/>
              <a:t>Why do we care? </a:t>
            </a:r>
          </a:p>
          <a:p>
            <a:pPr lvl="1"/>
            <a:r>
              <a:rPr lang="zh-CN" altLang="en-US" sz="2000" i="1" dirty="0" smtClean="0"/>
              <a:t>写作太糟了。太多拼写错误，不清楚</a:t>
            </a:r>
            <a:r>
              <a:rPr lang="zh-CN" altLang="en-US" sz="2000" i="1" smtClean="0"/>
              <a:t>的图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bj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nbjl</Template>
  <TotalTime>2466</TotalTime>
  <Words>2447</Words>
  <Application>Microsoft Office PowerPoint</Application>
  <PresentationFormat>全屏显示(4:3)</PresentationFormat>
  <Paragraphs>407</Paragraphs>
  <Slides>55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4" baseType="lpstr">
      <vt:lpstr>黑体</vt:lpstr>
      <vt:lpstr>宋体</vt:lpstr>
      <vt:lpstr>微软雅黑</vt:lpstr>
      <vt:lpstr>Arial</vt:lpstr>
      <vt:lpstr>Calibri</vt:lpstr>
      <vt:lpstr>Times New Roman</vt:lpstr>
      <vt:lpstr>Verdana</vt:lpstr>
      <vt:lpstr>Wingdings</vt:lpstr>
      <vt:lpstr>nbjl</vt:lpstr>
      <vt:lpstr>如何进行研究和写作论文</vt:lpstr>
      <vt:lpstr>PowerPoint 演示文稿</vt:lpstr>
      <vt:lpstr>要有独立思考和质疑精神</vt:lpstr>
      <vt:lpstr>要有独立思考和质疑精神（续）</vt:lpstr>
      <vt:lpstr>Outline</vt:lpstr>
      <vt:lpstr>博士的目标是什么？</vt:lpstr>
      <vt:lpstr>论文写作的流程</vt:lpstr>
      <vt:lpstr>我们的经验（二）</vt:lpstr>
      <vt:lpstr>关于选题</vt:lpstr>
      <vt:lpstr>导师的职责</vt:lpstr>
      <vt:lpstr>从Field开始</vt:lpstr>
      <vt:lpstr>Field （Con.）</vt:lpstr>
      <vt:lpstr>PowerPoint 演示文稿</vt:lpstr>
      <vt:lpstr>研究热点的发展 Gartner's Hype Cycle for Emerging Technologies </vt:lpstr>
      <vt:lpstr>Gartner's Hype Cycle for Emerging Technologies 16</vt:lpstr>
      <vt:lpstr>Gartner's Hype Cycle for Emerging Technologies 15</vt:lpstr>
      <vt:lpstr>Gartner's Hype Cycle for Emerging Technologies 14</vt:lpstr>
      <vt:lpstr>Gartner's Hype Cycle for Emerging Technologies 13</vt:lpstr>
      <vt:lpstr>Gartner's Hype Cycle for Emerging Technologies 12</vt:lpstr>
      <vt:lpstr> 如何选择Field </vt:lpstr>
      <vt:lpstr> Problem </vt:lpstr>
      <vt:lpstr>什么是“好问题”？</vt:lpstr>
      <vt:lpstr>寻找问题</vt:lpstr>
      <vt:lpstr>寻找问题</vt:lpstr>
      <vt:lpstr>我们的经验（一）</vt:lpstr>
      <vt:lpstr>我们的经验（一）</vt:lpstr>
      <vt:lpstr>我们的经验（二）</vt:lpstr>
      <vt:lpstr>问题描述</vt:lpstr>
      <vt:lpstr>数据！</vt:lpstr>
      <vt:lpstr>获取数据</vt:lpstr>
      <vt:lpstr>开展研究</vt:lpstr>
      <vt:lpstr>技术手段</vt:lpstr>
      <vt:lpstr>我们的经验（一）</vt:lpstr>
      <vt:lpstr>我们的经验（一续）</vt:lpstr>
      <vt:lpstr>小结 F P I C </vt:lpstr>
      <vt:lpstr>Outline</vt:lpstr>
      <vt:lpstr> 论文署名 </vt:lpstr>
      <vt:lpstr> 投稿目标 </vt:lpstr>
      <vt:lpstr> 论文结构 </vt:lpstr>
      <vt:lpstr> Title </vt:lpstr>
      <vt:lpstr> Abstract </vt:lpstr>
      <vt:lpstr>Introduction</vt:lpstr>
      <vt:lpstr>Previous works</vt:lpstr>
      <vt:lpstr>Your contribution</vt:lpstr>
      <vt:lpstr>Theoretical analysis</vt:lpstr>
      <vt:lpstr>Experiments</vt:lpstr>
      <vt:lpstr>Discussion</vt:lpstr>
      <vt:lpstr>Conclusion</vt:lpstr>
      <vt:lpstr>几个常见错误</vt:lpstr>
      <vt:lpstr>Tricks</vt:lpstr>
      <vt:lpstr>基本原则</vt:lpstr>
      <vt:lpstr>第一页的重要性</vt:lpstr>
      <vt:lpstr>第一页的重要性（续）</vt:lpstr>
      <vt:lpstr>一些技巧</vt:lpstr>
      <vt:lpstr>Top Ten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 </dc:creator>
  <cp:lastModifiedBy>王 刚</cp:lastModifiedBy>
  <cp:revision>219</cp:revision>
  <dcterms:created xsi:type="dcterms:W3CDTF">2011-05-20T02:23:14Z</dcterms:created>
  <dcterms:modified xsi:type="dcterms:W3CDTF">2018-09-30T01:21:22Z</dcterms:modified>
</cp:coreProperties>
</file>